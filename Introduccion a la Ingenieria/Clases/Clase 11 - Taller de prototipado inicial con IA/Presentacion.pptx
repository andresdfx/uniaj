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lo que se califica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Prototipo v2 con IA, en salas de grupo</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5 equipos × 3 min — lo que corrigieron a mano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En la plataforma del curso · cubre las sesiones 7 a 11</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Esta sesión cierra el corte 2 (30 %).</a:t>
            </a:r>
            <a:r>
              <a:rPr sz="1100" b="0" i="1">
                <a:solidFill>
                  <a:srgbClr val="666666"/>
                </a:solidFill>
                <a:latin typeface="Calibri"/>
              </a:rPr>
              <a:t> La teoría baja a 17 minutos y la actividad a 27 para que quepan los </a:t>
            </a:r>
            <a:r>
              <a:rPr sz="1100" b="1" i="1">
                <a:solidFill>
                  <a:srgbClr val="666666"/>
                </a:solidFill>
                <a:latin typeface="Calibri"/>
              </a:rPr>
              <a:t>20 minutos de evaluación</a:t>
            </a:r>
            <a:r>
              <a:rPr sz="1100" b="0" i="1">
                <a:solidFill>
                  <a:srgbClr val="666666"/>
                </a:solidFill>
                <a:latin typeface="Calibri"/>
              </a:rPr>
              <a:t> al final, en la plataforma del curso, sobre las sesiones 7 a 11. Es además la </a:t>
            </a:r>
            <a:r>
              <a:rPr sz="1100" b="1" i="1">
                <a:solidFill>
                  <a:srgbClr val="666666"/>
                </a:solidFill>
                <a:latin typeface="Calibri"/>
              </a:rPr>
              <a:t>segunda y última sesión con asistente de IA autorizado</a:t>
            </a:r>
            <a:r>
              <a:rPr sz="1100" b="0" i="1">
                <a:solidFill>
                  <a:srgbClr val="666666"/>
                </a:solidFill>
                <a:latin typeface="Calibri"/>
              </a:rPr>
              <a:t> —la otra fue la sesión 3—, y aplica la misma regla, hoy con más peso: se entrega el prompt usado y la lista de lo que se corrigió a mano.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el entregable</a:t>
            </a:r>
            <a:r>
              <a:rPr sz="1300" b="0" i="0">
                <a:solidFill>
                  <a:srgbClr val="333333"/>
                </a:solidFill>
                <a:latin typeface="Calibri"/>
              </a:rPr>
              <a:t>. Es la prueba de que ustedes pensaron, y es lo que más pesa en la rúbrica de hoy.</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cierra el corte 2 hoy</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Al final de la sesión hay 20 minutos de evaluación del corte 2</a:t>
            </a:r>
            <a:r>
              <a:rPr sz="1400" b="0" i="0">
                <a:solidFill>
                  <a:srgbClr val="333333"/>
                </a:solidFill>
                <a:latin typeface="Calibri"/>
              </a:rPr>
              <a:t>, sobre las sesiones 7 a 11: ciclo de vida y costo del cambio, requisitos y criterios de aceptación, decisión entre alternativas y alcance mínimo, antecedentes y fuentes, prototipado y niveles de fidelidad, y uso responsable de IA. Es individual y a libro abierto: </a:t>
            </a:r>
            <a:r>
              <a:rPr sz="1400" b="1" i="0">
                <a:solidFill>
                  <a:srgbClr val="333333"/>
                </a:solidFill>
                <a:latin typeface="Calibri"/>
              </a:rPr>
              <a:t>pueden consultar sus propios documentos del equipo</a:t>
            </a:r>
            <a:r>
              <a:rPr sz="1400" b="0" i="0">
                <a:solidFill>
                  <a:srgbClr val="333333"/>
                </a:solidFill>
                <a:latin typeface="Calibri"/>
              </a:rPr>
              <a:t>.</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evaluación se aplica en la plataforma del curso</a:t>
            </a:r>
            <a:r>
              <a:rPr sz="1400" b="0" i="0">
                <a:solidFill>
                  <a:srgbClr val="333333"/>
                </a:solidFill>
                <a:latin typeface="Calibri"/>
              </a:rPr>
              <a:t>, que es la herramienta que usa este curso para las evaluaciones y </a:t>
            </a:r>
            <a:r>
              <a:rPr sz="1400" b="1" i="0">
                <a:solidFill>
                  <a:srgbClr val="333333"/>
                </a:solidFill>
                <a:latin typeface="Calibri"/>
              </a:rPr>
              <a:t>no es una plataforma oficial de la universidad</a:t>
            </a:r>
            <a:r>
              <a:rPr sz="1400" b="0" i="0">
                <a:solidFill>
                  <a:srgbClr val="333333"/>
                </a:solidFill>
                <a:latin typeface="Calibri"/>
              </a:rPr>
              <a:t>. El enlace se comparte en el chat en el momento; si algo falla, la evaluación se reprograma y se avisa por el canal del curso.</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 que se califica hoy del taller no es la variante de la IA: es lo que corrigieron.</a:t>
            </a:r>
            <a:r>
              <a:rPr sz="1400" b="0" i="0">
                <a:solidFill>
                  <a:srgbClr val="333333"/>
                </a:solidFill>
                <a:latin typeface="Calibri"/>
              </a:rPr>
              <a:t> Un equipo que entrega tal cual lo que devolvió el asistente tiene la nota más baja del corte, aunque se vea bien. Y no se le pasan datos personales a un asistente: lo que se escribe ahí sale del computador y no vuelve.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Prototipo v2 con IA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27 min en equipos · 27 min: prompt, variantes, elección, correcciones y registro · prototipo v2 + registro de prompt, variantes, correcciones y descartes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PROMPT QUE USAMOS</a:t>
            </a:r>
            <a:r>
              <a:rPr sz="1500" b="0" i="0">
                <a:solidFill>
                  <a:srgbClr val="333333"/>
                </a:solidFill>
                <a:latin typeface="Calibri"/>
              </a:rPr>
              <a:t> — El prompt completo, copiado tal cual. Tiene que incluir </a:t>
            </a:r>
            <a:r>
              <a:rPr sz="1500" b="1" i="0">
                <a:solidFill>
                  <a:srgbClr val="333333"/>
                </a:solidFill>
                <a:latin typeface="Calibri"/>
              </a:rPr>
              <a:t>el problema en una frase, quién lo usa, las restricciones y lo que está prohibido proponer</a:t>
            </a:r>
            <a:r>
              <a:rPr sz="1500" b="0" i="0">
                <a:solidFill>
                  <a:srgbClr val="333333"/>
                </a:solidFill>
                <a:latin typeface="Calibri"/>
              </a:rPr>
              <a:t>.</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LAS TRES VARIANTES</a:t>
            </a:r>
            <a:r>
              <a:rPr sz="1500" b="0" i="0">
                <a:solidFill>
                  <a:srgbClr val="333333"/>
                </a:solidFill>
                <a:latin typeface="Calibri"/>
              </a:rPr>
              <a:t> — Las tres opciones que devolvió, resumidas en dos o tres líneas cada una. </a:t>
            </a:r>
            <a:r>
              <a:rPr sz="1500" b="1" i="0">
                <a:solidFill>
                  <a:srgbClr val="333333"/>
                </a:solidFill>
                <a:latin typeface="Calibri"/>
              </a:rPr>
              <a:t>No una sola respuesta</a:t>
            </a:r>
            <a:r>
              <a:rPr sz="1500" b="0" i="0">
                <a:solidFill>
                  <a:srgbClr val="333333"/>
                </a:solidFill>
                <a:latin typeface="Calibri"/>
              </a:rPr>
              <a:t>: tres.</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QUE ELEGIMOS Y POR QUÉ</a:t>
            </a:r>
            <a:r>
              <a:rPr sz="1500" b="0" i="0">
                <a:solidFill>
                  <a:srgbClr val="333333"/>
                </a:solidFill>
                <a:latin typeface="Calibri"/>
              </a:rPr>
              <a:t> — Cuál eligieron y el criterio, apoyado en sus </a:t>
            </a:r>
            <a:r>
              <a:rPr sz="1500" b="1" i="0">
                <a:solidFill>
                  <a:srgbClr val="333333"/>
                </a:solidFill>
                <a:latin typeface="Calibri"/>
              </a:rPr>
              <a:t>requisitos y restricciones</a:t>
            </a:r>
            <a:r>
              <a:rPr sz="1500" b="0" i="0">
                <a:solidFill>
                  <a:srgbClr val="333333"/>
                </a:solidFill>
                <a:latin typeface="Calibri"/>
              </a:rPr>
              <a:t> — no en «nos gustó más».</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CORREGIMOS A MANO</a:t>
            </a:r>
            <a:r>
              <a:rPr sz="1500" b="0" i="0">
                <a:solidFill>
                  <a:srgbClr val="333333"/>
                </a:solidFill>
                <a:latin typeface="Calibri"/>
              </a:rPr>
              <a:t> — Cada corrección con </a:t>
            </a:r>
            <a:r>
              <a:rPr sz="1500" b="1" i="0">
                <a:solidFill>
                  <a:srgbClr val="333333"/>
                </a:solidFill>
                <a:latin typeface="Calibri"/>
              </a:rPr>
              <a:t>la razón y la sesión de donde sale</a:t>
            </a:r>
            <a:r>
              <a:rPr sz="1500" b="0" i="0">
                <a:solidFill>
                  <a:srgbClr val="333333"/>
                </a:solidFill>
                <a:latin typeface="Calibri"/>
              </a:rPr>
              <a:t>: qué proponía la IA, qué quedó, y por qué. Es el bloque que más pesa.</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LO QUE DESCARTAMOS Y POR QUÉ</a:t>
            </a:r>
            <a:r>
              <a:rPr sz="1500" b="0" i="0">
                <a:solidFill>
                  <a:srgbClr val="333333"/>
                </a:solidFill>
                <a:latin typeface="Calibri"/>
              </a:rPr>
              <a:t> — Las propuestas que se rechazaron completas, y el motivo: fuera del alcance, viola una restricción, viola la ley, o consume demasiado.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25 s · El prompt</a:t>
            </a:r>
          </a:p>
          <a:p>
            <a:pPr>
              <a:spcBef>
                <a:spcPts val="200"/>
              </a:spcBef>
            </a:pPr>
            <a:r>
              <a:rPr sz="1300" b="0" i="0">
                <a:solidFill>
                  <a:srgbClr val="333333"/>
                </a:solidFill>
                <a:latin typeface="Calibri"/>
              </a:rPr>
              <a:t>Lean las restricciones que pusieron. Solo esa parte.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30 s · Las tres variantes</a:t>
            </a:r>
          </a:p>
          <a:p>
            <a:pPr>
              <a:spcBef>
                <a:spcPts val="200"/>
              </a:spcBef>
            </a:pPr>
            <a:r>
              <a:rPr sz="1300" b="0" i="0">
                <a:solidFill>
                  <a:srgbClr val="333333"/>
                </a:solidFill>
                <a:latin typeface="Calibri"/>
              </a:rPr>
              <a:t>En una frase cada una.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30 s · La que eligieron</a:t>
            </a:r>
          </a:p>
          <a:p>
            <a:pPr>
              <a:spcBef>
                <a:spcPts val="200"/>
              </a:spcBef>
            </a:pPr>
            <a:r>
              <a:rPr sz="1300" b="0" i="0">
                <a:solidFill>
                  <a:srgbClr val="333333"/>
                </a:solidFill>
                <a:latin typeface="Calibri"/>
              </a:rPr>
              <a:t>Y el requisito en el que se apoyaron.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70 s · Lo que corrigieron</a:t>
            </a:r>
          </a:p>
          <a:p>
            <a:pPr>
              <a:spcBef>
                <a:spcPts val="200"/>
              </a:spcBef>
            </a:pPr>
            <a:r>
              <a:rPr sz="1300" b="0" i="0">
                <a:solidFill>
                  <a:srgbClr val="333333"/>
                </a:solidFill>
                <a:latin typeface="Calibri"/>
              </a:rPr>
              <a:t>Dos correcciones con su razón y </a:t>
            </a:r>
            <a:r>
              <a:rPr sz="1300" b="1" i="0">
                <a:solidFill>
                  <a:srgbClr val="333333"/>
                </a:solidFill>
                <a:latin typeface="Calibri"/>
              </a:rPr>
              <a:t>de qué sesión sale cada una</a:t>
            </a:r>
            <a:r>
              <a:rPr sz="1300" b="0" i="0">
                <a:solidFill>
                  <a:srgbClr val="333333"/>
                </a:solidFill>
                <a:latin typeface="Calibri"/>
              </a:rPr>
              <a:t>. Es el minuto obligatorio.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25 s · Lo que descartaron</a:t>
            </a:r>
          </a:p>
          <a:p>
            <a:pPr>
              <a:spcBef>
                <a:spcPts val="200"/>
              </a:spcBef>
            </a:pPr>
            <a:r>
              <a:rPr sz="1300" b="0" i="0">
                <a:solidFill>
                  <a:srgbClr val="333333"/>
                </a:solidFill>
                <a:latin typeface="Calibri"/>
              </a:rPr>
              <a:t>Una propuesta rechazada y el motivo.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Uso de IA para generación de ideas — completar el registro del taller (prompt, variantes, elección, correcciones con su origen, descartes y declaración del uso) en el documento del equipo.</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Corrección del prototipo: dejar el </a:t>
            </a:r>
            <a:r>
              <a:rPr sz="2000" b="1" i="0">
                <a:solidFill>
                  <a:srgbClr val="333333"/>
                </a:solidFill>
                <a:latin typeface="Calibri"/>
              </a:rPr>
              <a:t>v2 navegable</a:t>
            </a:r>
            <a:r>
              <a:rPr sz="2000" b="0" i="0">
                <a:solidFill>
                  <a:srgbClr val="333333"/>
                </a:solidFill>
                <a:latin typeface="Calibri"/>
              </a:rPr>
              <a:t> en la carpeta del equipo, con todas las correcciones aplicadas, y </a:t>
            </a:r>
            <a:r>
              <a:rPr sz="2000" b="1" i="0">
                <a:solidFill>
                  <a:srgbClr val="333333"/>
                </a:solidFill>
                <a:latin typeface="Calibri"/>
              </a:rPr>
              <a:t>conseguir a la persona ajena</a:t>
            </a:r>
            <a:r>
              <a:rPr sz="2000" b="0" i="0">
                <a:solidFill>
                  <a:srgbClr val="333333"/>
                </a:solidFill>
                <a:latin typeface="Calibri"/>
              </a:rPr>
              <a:t> que va a probarlo — solo el rol, no el nombre.</a:t>
            </a:r>
          </a:p>
          <a:p>
            <a:pPr>
              <a:spcAft>
                <a:spcPts val="800"/>
              </a:spcAft>
            </a:pPr>
            <a:r>
              <a:rPr sz="2000" b="0" i="0">
                <a:solidFill>
                  <a:srgbClr val="333333"/>
                </a:solidFill>
                <a:latin typeface="Calibri"/>
              </a:rPr>
              <a:t>–   </a:t>
            </a:r>
            <a:r>
              <a:rPr sz="2000" b="1" i="0">
                <a:solidFill>
                  <a:srgbClr val="333333"/>
                </a:solidFill>
                <a:latin typeface="Calibri"/>
              </a:rPr>
              <a:t>Clase 12 · Presentación de avances de proyectos</a:t>
            </a:r>
            <a:r>
              <a:rPr sz="2000" b="0" i="0">
                <a:solidFill>
                  <a:srgbClr val="333333"/>
                </a:solidFill>
                <a:latin typeface="Calibri"/>
              </a:rPr>
              <a:t> — arranca el </a:t>
            </a:r>
            <a:r>
              <a:rPr sz="2000" b="1" i="0">
                <a:solidFill>
                  <a:srgbClr val="333333"/>
                </a:solidFill>
                <a:latin typeface="Calibri"/>
              </a:rPr>
              <a:t>corte 3</a:t>
            </a:r>
            <a:r>
              <a:rPr sz="2000" b="0" i="0">
                <a:solidFill>
                  <a:srgbClr val="333333"/>
                </a:solidFill>
                <a:latin typeface="Calibri"/>
              </a:rPr>
              <a:t> con la </a:t>
            </a:r>
            <a:r>
              <a:rPr sz="2000" b="1" i="0">
                <a:solidFill>
                  <a:srgbClr val="333333"/>
                </a:solidFill>
                <a:latin typeface="Calibri"/>
              </a:rPr>
              <a:t>presentación de avances</a:t>
            </a:r>
            <a:r>
              <a:rPr sz="2000" b="0" i="0">
                <a:solidFill>
                  <a:srgbClr val="333333"/>
                </a:solidFill>
                <a:latin typeface="Calibri"/>
              </a:rPr>
              <a:t>: el prototipo se prueba con una persona ajena al equipo y se recibe retroalimentación entre pares.</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Para la Clase 12 traigan el prototipo v2 navegable </a:t>
            </a:r>
            <a:r>
              <a:rPr sz="2000" b="1" i="0">
                <a:solidFill>
                  <a:srgbClr val="333333"/>
                </a:solidFill>
                <a:latin typeface="Calibri"/>
              </a:rPr>
              <a:t>y la prueba ya hecha con una persona ajena al equipo</a:t>
            </a:r>
            <a:r>
              <a:rPr sz="2000" b="0" i="0">
                <a:solidFill>
                  <a:srgbClr val="333333"/>
                </a:solidFill>
                <a:latin typeface="Calibri"/>
              </a:rPr>
              <a:t>, con la lista de lo que falló. Sin esa lista no hay nada que presentar: la Clase 12 es sobre lo que salió mal, no sobre lo que se planeó.</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