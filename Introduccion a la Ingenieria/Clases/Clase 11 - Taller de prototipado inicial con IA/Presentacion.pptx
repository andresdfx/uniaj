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petición de la derecha usa los pasos 1, 2, 3 y 4. Haga que cada equipo reescriba su primera petición con esta forma antes de abrir el asistente.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MEJOR Y ADEMÁS ILEGAL</a:t>
            </a:r>
          </a:p>
          <a:p/>
          <a:p>
            <a:r>
              <a:t>El gancho de hoy es un hecho concreto y reproducible, no una hipótesis: si se le pide a un asistente que mejore un prototipo de consulta de disponibilidad de libros, con altísima probabilidad va a proponer cuentas de usuario con correo y contraseña, y avisos automáticos por correo cuando el libro esté disponible. Las dos propuestas son razonables en abstracto, están en casi todos los sistemas parecidos del mundo, y las dos son incorrectas para este proyecto: violan el requisito no funcional «sin crear cuenta» de la sesión 7 y convierten al equipo en responsable del tratamiento de datos personales bajo la Ley 1581 de 2012, que vieron en la sesión 4.</a:t>
            </a:r>
          </a:p>
          <a:p/>
          <a:p>
            <a:r>
              <a:t>El punto que hay que hacer explícito, y que es el eje de toda la sesión: el asistente no se equivocó por ser malo. Se equivocó porque nadie le dijo las restricciones. Propuso la solución promedio de internet, que es exactamente lo que hace bien; el problema es que la solución promedio no es la solución de un proyecto con restricciones locales duras. Y lo hizo con total seguridad, sin ninguna señal de advertencia, que es la parte peligrosa.</a:t>
            </a:r>
          </a:p>
          <a:p/>
          <a:p>
            <a:r>
              <a:t>Vale la pena hacerlo en vivo si el tiempo alcanza —dos minutos de pantalla compartida con un prompt sin restricciones—, porque verlo proponer la cuenta de usuario delante de todos vale más que la diapositiva. Si no alcanza, la apertura sola sirve: en el muro, la pregunta «¿cómo puede pasar eso?» produce respuestas que ya contienen la respuesta correcta.</a:t>
            </a:r>
          </a:p>
          <a:p/>
          <a:p>
            <a:r>
              <a:t>Recuerde el encuadre general del curso, que hoy se cierra: la IA está autorizada en dos sesiones de dieciséis, con la misma regla en las dos —se entrega el prompt y lo que se corrigió—. Hoy esa regla vale la mitad de la nota del taller.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HACE BIEN Y QUÉ HACE MAL: UN MAPA HONESTO</a:t>
            </a:r>
          </a:p>
          <a:p/>
          <a:p>
            <a:r>
              <a:t>Conviene ser preciso y no dar sermones, porque estos estudiantes van a trabajar con estas herramientas toda su carrera y lo que necesitan es criterio, no prohibición.</a:t>
            </a:r>
          </a:p>
          <a:p/>
          <a:p>
            <a:r>
              <a:t>Hace bien: variantes. Pedir tres maneras distintas de organizar una pantalla o diez nombres para un botón es un uso excelente. La razón es concreta: un equipo que lleva dos horas mirando su propio dibujo pierde la capacidad de ver alternativas, y abrir opciones es justo lo que más cuesta en ese momento.</a:t>
            </a:r>
          </a:p>
          <a:p/>
          <a:p>
            <a:r>
              <a:t>Hace bien: textos y casos de prueba. Rótulos, mensajes de error y, sobre todo, listas de casos que a nadie se le ocurrieron — «¿qué pasa si el usuario escribe el título con una tilde de más?», «¿qué pasa si dos personas piden el mismo libro el mismo día?». Aquí la IA es genuinamente superior a un equipo de primer semestre, porque enumerar casos es exactamente lo que hace bien. Vale la pena decírselo, porque es el uso que más les va a servir en la Clase 12.</a:t>
            </a:r>
          </a:p>
          <a:p/>
          <a:p>
            <a:r>
              <a:t>Hace mal: el contexto local. No sabe que no hay computador en el mostrador, que las voluntarias rotan, que el presupuesto es cero, que la conexión es intermitente. Y como no lo sabe, propone para un contexto que no es el suyo.</a:t>
            </a:r>
          </a:p>
          <a:p/>
          <a:p>
            <a:r>
              <a:t>Hace mal: inventar con seguridad. Esta es la característica que hay que dejar instalada para siempre, y ya la vieron en la sesión 9 con las referencias bibliográficas inexistentes: un modelo de lenguaje genera texto que suena creíble, y no tiene manera de señalar cuándo lo que suena creíble es falso. Va a proponer funciones que violan las restricciones del equipo y a veces la ley, con el mismo tono seguro con el que propone las buenas. No hay una alarma; la alarma son ustedes.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MÉTODO: CINCO PASOS Y POR QUÉ EL PRIMERO DECIDE TODO</a:t>
            </a:r>
          </a:p>
          <a:p/>
          <a:p>
            <a:r>
              <a:t>Paso 1: dar el contexto que no puede saber — el problema en una frase de la sesión 6, quién lo usa, y las restricciones. Es el paso que decide la calidad de todo lo demás, y el que los estudiantes se saltan. La diferencia entre «mejora esta pantalla de biblioteca» y un prompt de diez líneas con las cuatro restricciones escritas no es de grado: es la diferencia entre recibir la solución promedio de internet y recibir tres opciones aplicables.</a:t>
            </a:r>
          </a:p>
          <a:p/>
          <a:p>
            <a:r>
              <a:t>Paso 2: pedir variantes, no una respuesta. «Dame tres maneras distintas de…». El argumento es psicológico y hay que decirlo: una sola respuesta invita a aceptarla —está ahí, está completa, está bien escrita—; tres obligan a comparar, y comparar es donde ellos aportan. Es la matriz de decisión de la sesión 8 aplicada a lo que devuelve un asistente.</a:t>
            </a:r>
          </a:p>
          <a:p/>
          <a:p>
            <a:r>
              <a:t>Paso 3: prohibir explícitamente lo prohibido. «Sin crear cuentas de usuario, sin pedir datos personales, sin instalar nada, sin imágenes.» La regla en cuatro palabras: si no lo dice, lo va a proponer. Y aquí hay una lección de ingeniería más general que vale la pena señalar: los requisitos no funcionales que escribieron en la sesión 7 son precisamente lo que hay que poner en el prompt, porque son lo que el mundo no adivina. Un equipo que tiene sus requisitos no funcionales escritos hace un prompt bueno sin esfuerzo; uno que no los tiene, no puede.</a:t>
            </a:r>
          </a:p>
          <a:p/>
          <a:p>
            <a:r>
              <a:t>Paso 4: corregir a mano y anotar qué se corrigió. Esa lista es el entregable, y hay que decirlo sin ambigüedad porque cambia cómo trabajan: es la prueba de que pensaron, y es lo que más pesa en la rúbrica de hoy —30 de 100—. Un equipo que no corrigió nada no usó el asistente: lo obedeció.</a:t>
            </a:r>
          </a:p>
          <a:p/>
          <a:p>
            <a:r>
              <a:t>Paso 5: declarar el uso. Qué asistente, para qué, qué se aceptó y qué se descartó. El encuadre correcto no es de sospecha sino de profesión: declarar el uso de una herramienta es lo normal en ingeniería —nadie esconde que usó una calculadora o una biblioteca de código—, y esconderlo es lo que constituye la falta. En la vida laboral esto ya es requisito en muchas organizaciones, y acostumbrarse ahora les ahorra un problema después.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ANTES Y DESPUÉS, Y CÓMO CIERRA EL CORTE</a:t>
            </a:r>
          </a:p>
          <a:p/>
          <a:p>
            <a:r>
              <a:t>La diapositiva de antes y después es el corazón didáctico de la sesión, y hay que recorrerla con una insistencia: ninguna de las cinco propuestas del asistente era absurda. Cuentas de usuario, avisos por correo, reservas con historial, portadas, y un mensaje de error estándar: las cinco están en sistemas reales de bibliotecas en todo el mundo. Las cinco eran incorrectas para este proyecto, y cada una por una razón distinta que el equipo ya había escrito en una sesión anterior — el requisito «sin cuenta» de la sesión 7, la Ley 1581 de la sesión 4, el alcance mínimo de la sesión 8, el límite de 200 KB de la sesión 5, y la regla de mensajes con salida de la sesión 10.</a:t>
            </a:r>
          </a:p>
          <a:p/>
          <a:p>
            <a:r>
              <a:t>Ese es el hallazgo que hay que dejar dicho en voz alta, porque justifica todo el corte: el equipo pudo corregir al asistente porque tenía sus decisiones escritas. Un equipo sin requisitos no funcionales, sin alcance definido y sin indicador ambiental no habría tenido con qué objetar, y habría aceptado las cinco. La documentación de las sesiones 6 a 10 no era burocracia académica: es lo que hoy les permite ejercer criterio frente a una herramienta que suena más segura que ellos.</a:t>
            </a:r>
          </a:p>
          <a:p/>
          <a:p>
            <a:r>
              <a:t>El cierre del corte. Los últimos 20 minutos son la evaluación del corte 2 en ExamLab, individual y a libro abierto sobre sus propios documentos del equipo. Cubre las sesiones 7 a 11: fases y costo del cambio, requisitos y criterios de aceptación, matriz de decisión y alcance mínimo, calidad de fuentes, fidelidad de prototipos y uso responsable de IA. Que sea a libro abierto es deliberado y conviene explicarlo: premia al equipo que documentó, que es exactamente la conducta que el corte entero intentó enseñar.</a:t>
            </a:r>
          </a:p>
          <a:p/>
          <a:p>
            <a:r>
              <a:t>Hay que decir con claridad, como en la sesión 6, que ExamLab es la herramienta que usa este curso para las evaluaciones y no es una plataforma oficial de la universidad; el enlace se comparte en el chat en el momento y, si algo falla, la evaluación se reprograma y se avisa por el canal del curso. Y la advertencia final del taller, que hay que repetir aunque ya esté en la diapositiva: no se le pasan datos personales a un asistente —ni propios ni de terceros—, porque lo que se escribe ahí sale del computador y no vuelve.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11</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Taller de prototipado inicial con IA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La IA propone, ustedes deciden — y lo que corrigieron es el trabajo de ingeniería</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Hoy cierra el corte 2: la evaluación va al final, después de las exposiciones, porque cubre las cinco sesiones completas</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250670"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1879549" cy="502920"/>
          </a:xfrm>
          <a:prstGeom prst="rect">
            <a:avLst/>
          </a:prstGeom>
          <a:noFill/>
        </p:spPr>
        <p:txBody>
          <a:bodyPr wrap="square">
            <a:spAutoFit/>
          </a:bodyPr>
          <a:lstStyle/>
          <a:p>
            <a:pPr algn="ctr"/>
            <a:r>
              <a:rPr sz="1300" b="1" i="0">
                <a:solidFill>
                  <a:srgbClr val="095292"/>
                </a:solidFill>
                <a:latin typeface="Calibri"/>
              </a:rPr>
              <a:t>00:00–00:08 · 8 min</a:t>
            </a:r>
          </a:p>
        </p:txBody>
      </p:sp>
      <p:sp>
        <p:nvSpPr>
          <p:cNvPr id="9" name="TextBox 8"/>
          <p:cNvSpPr txBox="1"/>
          <p:nvPr/>
        </p:nvSpPr>
        <p:spPr>
          <a:xfrm>
            <a:off x="502920" y="2798064"/>
            <a:ext cx="1788109" cy="3099816"/>
          </a:xfrm>
          <a:prstGeom prst="rect">
            <a:avLst/>
          </a:prstGeom>
          <a:noFill/>
        </p:spPr>
        <p:txBody>
          <a:bodyPr wrap="square">
            <a:spAutoFit/>
          </a:bodyPr>
          <a:lstStyle/>
          <a:p>
            <a:pPr algn="ctr"/>
            <a:r>
              <a:rPr sz="1300" b="0" i="0">
                <a:solidFill>
                  <a:srgbClr val="333333"/>
                </a:solidFill>
                <a:latin typeface="Calibri"/>
              </a:rPr>
              <a:t>Apertura — Pregunta de entrada en el muro</a:t>
            </a:r>
          </a:p>
        </p:txBody>
      </p:sp>
      <p:sp>
        <p:nvSpPr>
          <p:cNvPr id="10" name="Rounded Rectangle 9"/>
          <p:cNvSpPr/>
          <p:nvPr/>
        </p:nvSpPr>
        <p:spPr>
          <a:xfrm>
            <a:off x="3130219"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6749" y="1563624"/>
            <a:ext cx="1879549" cy="502920"/>
          </a:xfrm>
          <a:prstGeom prst="rect">
            <a:avLst/>
          </a:prstGeom>
          <a:noFill/>
        </p:spPr>
        <p:txBody>
          <a:bodyPr wrap="square">
            <a:spAutoFit/>
          </a:bodyPr>
          <a:lstStyle/>
          <a:p>
            <a:pPr algn="ctr"/>
            <a:r>
              <a:rPr sz="1300" b="1" i="0">
                <a:solidFill>
                  <a:srgbClr val="095292"/>
                </a:solidFill>
                <a:latin typeface="Calibri"/>
              </a:rPr>
              <a:t>00:08–00:25 · 17 min</a:t>
            </a:r>
          </a:p>
        </p:txBody>
      </p:sp>
      <p:sp>
        <p:nvSpPr>
          <p:cNvPr id="12" name="TextBox 11"/>
          <p:cNvSpPr txBox="1"/>
          <p:nvPr/>
        </p:nvSpPr>
        <p:spPr>
          <a:xfrm>
            <a:off x="2382469" y="2798064"/>
            <a:ext cx="1788109" cy="3099816"/>
          </a:xfrm>
          <a:prstGeom prst="rect">
            <a:avLst/>
          </a:prstGeom>
          <a:noFill/>
        </p:spPr>
        <p:txBody>
          <a:bodyPr wrap="square">
            <a:spAutoFit/>
          </a:bodyPr>
          <a:lstStyle/>
          <a:p>
            <a:pPr algn="ctr"/>
            <a:r>
              <a:rPr sz="1300" b="0" i="0">
                <a:solidFill>
                  <a:srgbClr val="333333"/>
                </a:solidFill>
                <a:latin typeface="Calibri"/>
              </a:rPr>
              <a:t>Teoría y guía del docente — Qué hace bien y qué mal la IA, cómo se le pide y cómo se corrige</a:t>
            </a:r>
          </a:p>
        </p:txBody>
      </p:sp>
      <p:sp>
        <p:nvSpPr>
          <p:cNvPr id="13" name="Rounded Rectangle 12"/>
          <p:cNvSpPr/>
          <p:nvPr/>
        </p:nvSpPr>
        <p:spPr>
          <a:xfrm>
            <a:off x="5009769"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6298" y="1563624"/>
            <a:ext cx="1879549" cy="502920"/>
          </a:xfrm>
          <a:prstGeom prst="rect">
            <a:avLst/>
          </a:prstGeom>
          <a:noFill/>
        </p:spPr>
        <p:txBody>
          <a:bodyPr wrap="square">
            <a:spAutoFit/>
          </a:bodyPr>
          <a:lstStyle/>
          <a:p>
            <a:pPr algn="ctr"/>
            <a:r>
              <a:rPr sz="1300" b="1" i="0">
                <a:solidFill>
                  <a:srgbClr val="095292"/>
                </a:solidFill>
                <a:latin typeface="Calibri"/>
              </a:rPr>
              <a:t>00:25–00:52 · 27 min</a:t>
            </a:r>
          </a:p>
        </p:txBody>
      </p:sp>
      <p:sp>
        <p:nvSpPr>
          <p:cNvPr id="15" name="TextBox 14"/>
          <p:cNvSpPr txBox="1"/>
          <p:nvPr/>
        </p:nvSpPr>
        <p:spPr>
          <a:xfrm>
            <a:off x="4262018" y="2798064"/>
            <a:ext cx="1788109" cy="3099816"/>
          </a:xfrm>
          <a:prstGeom prst="rect">
            <a:avLst/>
          </a:prstGeom>
          <a:noFill/>
        </p:spPr>
        <p:txBody>
          <a:bodyPr wrap="square">
            <a:spAutoFit/>
          </a:bodyPr>
          <a:lstStyle/>
          <a:p>
            <a:pPr algn="ctr"/>
            <a:r>
              <a:rPr sz="1300" b="0" i="0">
                <a:solidFill>
                  <a:srgbClr val="333333"/>
                </a:solidFill>
                <a:latin typeface="Calibri"/>
              </a:rPr>
              <a:t>Actividad en equipos — opcional · la guía está en la carpeta de la clase</a:t>
            </a:r>
          </a:p>
        </p:txBody>
      </p:sp>
      <p:sp>
        <p:nvSpPr>
          <p:cNvPr id="16" name="Rounded Rectangle 15"/>
          <p:cNvSpPr/>
          <p:nvPr/>
        </p:nvSpPr>
        <p:spPr>
          <a:xfrm>
            <a:off x="6889318"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5847" y="1563624"/>
            <a:ext cx="1879549" cy="502920"/>
          </a:xfrm>
          <a:prstGeom prst="rect">
            <a:avLst/>
          </a:prstGeom>
          <a:noFill/>
        </p:spPr>
        <p:txBody>
          <a:bodyPr wrap="square">
            <a:spAutoFit/>
          </a:bodyPr>
          <a:lstStyle/>
          <a:p>
            <a:pPr algn="ctr"/>
            <a:r>
              <a:rPr sz="1300" b="1" i="0">
                <a:solidFill>
                  <a:srgbClr val="095292"/>
                </a:solidFill>
                <a:latin typeface="Calibri"/>
              </a:rPr>
              <a:t>00:52–01:07 · 15 min</a:t>
            </a:r>
          </a:p>
        </p:txBody>
      </p:sp>
      <p:sp>
        <p:nvSpPr>
          <p:cNvPr id="18" name="TextBox 17"/>
          <p:cNvSpPr txBox="1"/>
          <p:nvPr/>
        </p:nvSpPr>
        <p:spPr>
          <a:xfrm>
            <a:off x="6141567" y="2798064"/>
            <a:ext cx="1788109" cy="3099816"/>
          </a:xfrm>
          <a:prstGeom prst="rect">
            <a:avLst/>
          </a:prstGeom>
          <a:noFill/>
        </p:spPr>
        <p:txBody>
          <a:bodyPr wrap="square">
            <a:spAutoFit/>
          </a:bodyPr>
          <a:lstStyle/>
          <a:p>
            <a:pPr algn="ctr"/>
            <a:r>
              <a:rPr sz="1300" b="0" i="0">
                <a:solidFill>
                  <a:srgbClr val="333333"/>
                </a:solidFill>
                <a:latin typeface="Calibri"/>
              </a:rPr>
              <a:t>Exposiciones — de la práctica, si se hizo</a:t>
            </a:r>
          </a:p>
        </p:txBody>
      </p:sp>
      <p:sp>
        <p:nvSpPr>
          <p:cNvPr id="19" name="Rounded Rectangle 18"/>
          <p:cNvSpPr/>
          <p:nvPr/>
        </p:nvSpPr>
        <p:spPr>
          <a:xfrm>
            <a:off x="8768867"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75396" y="1563624"/>
            <a:ext cx="1879549" cy="502920"/>
          </a:xfrm>
          <a:prstGeom prst="rect">
            <a:avLst/>
          </a:prstGeom>
          <a:noFill/>
        </p:spPr>
        <p:txBody>
          <a:bodyPr wrap="square">
            <a:spAutoFit/>
          </a:bodyPr>
          <a:lstStyle/>
          <a:p>
            <a:pPr algn="ctr"/>
            <a:r>
              <a:rPr sz="1300" b="1" i="0">
                <a:solidFill>
                  <a:srgbClr val="095292"/>
                </a:solidFill>
                <a:latin typeface="Calibri"/>
              </a:rPr>
              <a:t>01:07–01:27 · 20 min</a:t>
            </a:r>
          </a:p>
        </p:txBody>
      </p:sp>
      <p:sp>
        <p:nvSpPr>
          <p:cNvPr id="21" name="TextBox 20"/>
          <p:cNvSpPr txBox="1"/>
          <p:nvPr/>
        </p:nvSpPr>
        <p:spPr>
          <a:xfrm>
            <a:off x="8021116" y="2798064"/>
            <a:ext cx="1788109" cy="3099816"/>
          </a:xfrm>
          <a:prstGeom prst="rect">
            <a:avLst/>
          </a:prstGeom>
          <a:noFill/>
        </p:spPr>
        <p:txBody>
          <a:bodyPr wrap="square">
            <a:spAutoFit/>
          </a:bodyPr>
          <a:lstStyle/>
          <a:p>
            <a:pPr algn="ctr"/>
            <a:r>
              <a:rPr sz="1300" b="0" i="0">
                <a:solidFill>
                  <a:srgbClr val="333333"/>
                </a:solidFill>
                <a:latin typeface="Calibri"/>
              </a:rPr>
              <a:t>Evaluación de corte 2 — sobre lo visto en el corte hasta hoy</a:t>
            </a:r>
          </a:p>
        </p:txBody>
      </p:sp>
      <p:sp>
        <p:nvSpPr>
          <p:cNvPr id="22" name="Rounded Rectangle 21"/>
          <p:cNvSpPr/>
          <p:nvPr/>
        </p:nvSpPr>
        <p:spPr>
          <a:xfrm>
            <a:off x="10648416"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54946" y="1563624"/>
            <a:ext cx="187954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4" name="TextBox 23"/>
          <p:cNvSpPr txBox="1"/>
          <p:nvPr/>
        </p:nvSpPr>
        <p:spPr>
          <a:xfrm>
            <a:off x="9900666" y="2798064"/>
            <a:ext cx="1788109" cy="3099816"/>
          </a:xfrm>
          <a:prstGeom prst="rect">
            <a:avLst/>
          </a:prstGeom>
          <a:noFill/>
        </p:spPr>
        <p:txBody>
          <a:bodyPr wrap="square">
            <a:spAutoFit/>
          </a:bodyPr>
          <a:lstStyle/>
          <a:p>
            <a:pPr algn="ctr"/>
            <a:r>
              <a:rPr sz="1300" b="0" i="0">
                <a:solidFill>
                  <a:srgbClr val="333333"/>
                </a:solidFill>
                <a:latin typeface="Calibri"/>
              </a:rPr>
              <a:t>Cierre — Qué queda amarrado para el corte 3</a:t>
            </a:r>
          </a:p>
        </p:txBody>
      </p:sp>
      <p:sp>
        <p:nvSpPr>
          <p:cNvPr id="25" name="TextBox 24"/>
          <p:cNvSpPr txBox="1"/>
          <p:nvPr/>
        </p:nvSpPr>
        <p:spPr>
          <a:xfrm>
            <a:off x="457200" y="5806440"/>
            <a:ext cx="11277295" cy="640080"/>
          </a:xfrm>
          <a:prstGeom prst="rect">
            <a:avLst/>
          </a:prstGeom>
          <a:noFill/>
        </p:spPr>
        <p:txBody>
          <a:bodyPr wrap="square">
            <a:spAutoFit/>
          </a:bodyPr>
          <a:lstStyle/>
          <a:p>
            <a:pPr algn="ctr"/>
            <a:r>
              <a:rPr sz="1200" b="1" i="1">
                <a:solidFill>
                  <a:srgbClr val="666666"/>
                </a:solidFill>
                <a:latin typeface="Calibri"/>
              </a:rPr>
              <a:t>Esta sesión cierra el corte 2.</a:t>
            </a:r>
            <a:r>
              <a:rPr sz="1200" b="0" i="1">
                <a:solidFill>
                  <a:srgbClr val="666666"/>
                </a:solidFill>
                <a:latin typeface="Calibri"/>
              </a:rPr>
              <a:t> La teoría baja a 17 minutos para que quepan los </a:t>
            </a:r>
            <a:r>
              <a:rPr sz="1200" b="1" i="1">
                <a:solidFill>
                  <a:srgbClr val="666666"/>
                </a:solidFill>
                <a:latin typeface="Calibri"/>
              </a:rPr>
              <a:t>20 minutos de evaluación</a:t>
            </a:r>
            <a:r>
              <a:rPr sz="1200" b="0" i="1">
                <a:solidFill>
                  <a:srgbClr val="666666"/>
                </a:solidFill>
                <a:latin typeface="Calibri"/>
              </a:rPr>
              <a:t> al final, sobre lo visto en el corte hasta hoy. Es además la </a:t>
            </a:r>
            <a:r>
              <a:rPr sz="1200" b="1" i="1">
                <a:solidFill>
                  <a:srgbClr val="666666"/>
                </a:solidFill>
                <a:latin typeface="Calibri"/>
              </a:rPr>
              <a:t>segunda y última sesión con asistente de IA autorizado</a:t>
            </a:r>
            <a:r>
              <a:rPr sz="1200" b="0" i="1">
                <a:solidFill>
                  <a:srgbClr val="666666"/>
                </a:solidFill>
                <a:latin typeface="Calibri"/>
              </a:rPr>
              <a:t> —la otra fue la sesión 3—.</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Escribir un </a:t>
            </a:r>
            <a:r>
              <a:rPr sz="2000" b="1" i="0">
                <a:solidFill>
                  <a:srgbClr val="333333"/>
                </a:solidFill>
                <a:latin typeface="Calibri"/>
              </a:rPr>
              <a:t>prompt con contexto</a:t>
            </a:r>
            <a:r>
              <a:rPr sz="2000" b="0" i="0">
                <a:solidFill>
                  <a:srgbClr val="333333"/>
                </a:solidFill>
                <a:latin typeface="Calibri"/>
              </a:rPr>
              <a:t>: problema, actores y </a:t>
            </a:r>
            <a:r>
              <a:rPr sz="2000" b="1" i="0">
                <a:solidFill>
                  <a:srgbClr val="333333"/>
                </a:solidFill>
                <a:latin typeface="Calibri"/>
              </a:rPr>
              <a:t>restricciones</a:t>
            </a:r>
            <a:r>
              <a:rPr sz="2000" b="0" i="0">
                <a:solidFill>
                  <a:srgbClr val="333333"/>
                </a:solidFill>
                <a:latin typeface="Calibri"/>
              </a:rPr>
              <a:t> del proyecto.</a:t>
            </a:r>
          </a:p>
          <a:p>
            <a:pPr>
              <a:spcAft>
                <a:spcPts val="800"/>
              </a:spcAft>
            </a:pPr>
            <a:r>
              <a:rPr sz="2000" b="0" i="0">
                <a:solidFill>
                  <a:srgbClr val="333333"/>
                </a:solidFill>
                <a:latin typeface="Calibri"/>
              </a:rPr>
              <a:t>–   Pedir </a:t>
            </a:r>
            <a:r>
              <a:rPr sz="2000" b="1" i="0">
                <a:solidFill>
                  <a:srgbClr val="333333"/>
                </a:solidFill>
                <a:latin typeface="Calibri"/>
              </a:rPr>
              <a:t>variantes</a:t>
            </a:r>
            <a:r>
              <a:rPr sz="2000" b="0" i="0">
                <a:solidFill>
                  <a:srgbClr val="333333"/>
                </a:solidFill>
                <a:latin typeface="Calibri"/>
              </a:rPr>
              <a:t> en vez de una respuesta, y elegir una con criterio propio.</a:t>
            </a:r>
          </a:p>
          <a:p>
            <a:pPr>
              <a:spcAft>
                <a:spcPts val="800"/>
              </a:spcAft>
            </a:pPr>
            <a:r>
              <a:rPr sz="2000" b="0" i="0">
                <a:solidFill>
                  <a:srgbClr val="333333"/>
                </a:solidFill>
                <a:latin typeface="Calibri"/>
              </a:rPr>
              <a:t>–   Detectar y </a:t>
            </a:r>
            <a:r>
              <a:rPr sz="2000" b="1" i="0">
                <a:solidFill>
                  <a:srgbClr val="333333"/>
                </a:solidFill>
                <a:latin typeface="Calibri"/>
              </a:rPr>
              <a:t>corregir lo que la IA no podía saber</a:t>
            </a:r>
            <a:r>
              <a:rPr sz="2000" b="0" i="0">
                <a:solidFill>
                  <a:srgbClr val="333333"/>
                </a:solidFill>
                <a:latin typeface="Calibri"/>
              </a:rPr>
              <a:t>: el contexto local y las restricciones.</a:t>
            </a:r>
          </a:p>
          <a:p>
            <a:pPr>
              <a:spcAft>
                <a:spcPts val="800"/>
              </a:spcAft>
            </a:pPr>
            <a:r>
              <a:rPr sz="2000" b="0" i="0">
                <a:solidFill>
                  <a:srgbClr val="333333"/>
                </a:solidFill>
                <a:latin typeface="Calibri"/>
              </a:rPr>
              <a:t>–   Dejar </a:t>
            </a:r>
            <a:r>
              <a:rPr sz="2000" b="1" i="0">
                <a:solidFill>
                  <a:srgbClr val="333333"/>
                </a:solidFill>
                <a:latin typeface="Calibri"/>
              </a:rPr>
              <a:t>trazabilidad del uso de IA</a:t>
            </a:r>
            <a:r>
              <a:rPr sz="2000" b="0" i="0">
                <a:solidFill>
                  <a:srgbClr val="333333"/>
                </a:solidFill>
                <a:latin typeface="Calibri"/>
              </a:rPr>
              <a:t>: el prompt, lo corregido y lo descartado.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Le pedí a un asistente que mejorara el prototipo de la biblioteca. Me devolvió algo mejor... y además ilegal. ¿Cómo puede pasar eso?</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Propuso crear cuentas de usuario y enviar avisos por correo.</a:t>
            </a:r>
          </a:p>
          <a:p>
            <a:pPr algn="ctr">
              <a:spcAft>
                <a:spcPts val="600"/>
              </a:spcAft>
            </a:pPr>
            <a:r>
              <a:rPr sz="1500" b="0" i="0">
                <a:solidFill>
                  <a:srgbClr val="269CCB"/>
                </a:solidFill>
                <a:latin typeface="Calibri"/>
              </a:rPr>
              <a:t>Nadie le dijo que el proyecto no puede pedir datos personales.</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hace bien y qué hace mal la IA en prototipado</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Hace bien: variantes</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Pedir tres maneras distintas de organizar una pantalla, o diez nombres para un botón. </a:t>
            </a:r>
            <a:r>
              <a:rPr sz="1300" b="1" i="0">
                <a:solidFill>
                  <a:srgbClr val="333333"/>
                </a:solidFill>
                <a:latin typeface="Calibri"/>
              </a:rPr>
              <a:t>Es rapidísima para abrir opciones</a:t>
            </a:r>
            <a:r>
              <a:rPr sz="1300" b="0" i="0">
                <a:solidFill>
                  <a:srgbClr val="333333"/>
                </a:solidFill>
                <a:latin typeface="Calibri"/>
              </a:rPr>
              <a:t>, que es justo lo que cuesta cuando un equipo lleva dos horas mirando su propio dibujo.</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Hace bien: textos y casos de prueba</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Rótulos, mensajes de error, y sobre todo </a:t>
            </a:r>
            <a:r>
              <a:rPr sz="1300" b="1" i="0">
                <a:solidFill>
                  <a:srgbClr val="333333"/>
                </a:solidFill>
                <a:latin typeface="Calibri"/>
              </a:rPr>
              <a:t>listas de casos que a nadie se le ocurrieron</a:t>
            </a:r>
            <a:r>
              <a:rPr sz="1300" b="0" i="0">
                <a:solidFill>
                  <a:srgbClr val="333333"/>
                </a:solidFill>
                <a:latin typeface="Calibri"/>
              </a:rPr>
              <a:t>: «¿qué pasa si el usuario escribe el título con una tilde de más?». Ahí es muy útil.</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Hace mal: el contexto local</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No sabe que no hay computador en el mostrador, que las voluntarias rotan ni que el presupuesto es cero. </a:t>
            </a:r>
            <a:r>
              <a:rPr sz="1300" b="1" i="0">
                <a:solidFill>
                  <a:srgbClr val="333333"/>
                </a:solidFill>
                <a:latin typeface="Calibri"/>
              </a:rPr>
              <a:t>Va a proponer la solución promedio de internet</a:t>
            </a:r>
            <a:r>
              <a:rPr sz="1300" b="0" i="0">
                <a:solidFill>
                  <a:srgbClr val="333333"/>
                </a:solidFill>
                <a:latin typeface="Calibri"/>
              </a:rPr>
              <a:t>, que es una solución para un contexto que no es el suyo.</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Hace mal: inventar con seguridad</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Va a proponer funciones que violan sus propias restricciones, y a veces la ley — cuentas de usuario, avisos por correo, recolección de datos— sin avisar de ninguna manera que hay un problema.</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le pide algo a la IA en este curso</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prompt sin contexto ni restricciones devuelve la solución promedio de internet, que no es la solución de su proyecto</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Dé el contexto que no puede saber</a:t>
            </a:r>
          </a:p>
          <a:p>
            <a:pPr>
              <a:spcBef>
                <a:spcPts val="200"/>
              </a:spcBef>
            </a:pPr>
            <a:r>
              <a:rPr sz="1300" b="0" i="0">
                <a:solidFill>
                  <a:srgbClr val="333333"/>
                </a:solidFill>
                <a:latin typeface="Calibri"/>
              </a:rPr>
              <a:t>El problema en una frase (sesión 6), quién lo usa, y </a:t>
            </a:r>
            <a:r>
              <a:rPr sz="1300" b="1" i="0">
                <a:solidFill>
                  <a:srgbClr val="333333"/>
                </a:solidFill>
                <a:latin typeface="Calibri"/>
              </a:rPr>
              <a:t>las restricciones</a:t>
            </a:r>
            <a:r>
              <a:rPr sz="1300" b="0" i="0">
                <a:solidFill>
                  <a:srgbClr val="333333"/>
                </a:solidFill>
                <a:latin typeface="Calibri"/>
              </a:rPr>
              <a:t> — es el paso que decide la calidad de todo lo demás.</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Pida variantes, no una respuesta</a:t>
            </a:r>
          </a:p>
          <a:p>
            <a:pPr>
              <a:spcBef>
                <a:spcPts val="200"/>
              </a:spcBef>
            </a:pPr>
            <a:r>
              <a:rPr sz="1300" b="0" i="0">
                <a:solidFill>
                  <a:srgbClr val="333333"/>
                </a:solidFill>
                <a:latin typeface="Calibri"/>
              </a:rPr>
              <a:t>«Dame tres maneras distintas de…». Una sola respuesta invita a aceptarla; tres obligan a elegir, y elegir es su trabajo.</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Prohíba explícitamente lo prohibido</a:t>
            </a:r>
          </a:p>
          <a:p>
            <a:pPr>
              <a:spcBef>
                <a:spcPts val="200"/>
              </a:spcBef>
            </a:pPr>
            <a:r>
              <a:rPr sz="1300" b="0" i="0">
                <a:solidFill>
                  <a:srgbClr val="333333"/>
                </a:solidFill>
                <a:latin typeface="Calibri"/>
              </a:rPr>
              <a:t>«Sin crear cuentas de usuario, sin pedir datos personales, sin instalar nada.» </a:t>
            </a:r>
            <a:r>
              <a:rPr sz="1300" b="1" i="0">
                <a:solidFill>
                  <a:srgbClr val="333333"/>
                </a:solidFill>
                <a:latin typeface="Calibri"/>
              </a:rPr>
              <a:t>Si no lo dice, lo va a proponer.</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Corrija a mano y anote qué corrigió</a:t>
            </a:r>
          </a:p>
          <a:p>
            <a:pPr>
              <a:spcBef>
                <a:spcPts val="200"/>
              </a:spcBef>
            </a:pPr>
            <a:r>
              <a:rPr sz="1300" b="0" i="0">
                <a:solidFill>
                  <a:srgbClr val="333333"/>
                </a:solidFill>
                <a:latin typeface="Calibri"/>
              </a:rPr>
              <a:t>Esa lista </a:t>
            </a:r>
            <a:r>
              <a:rPr sz="1300" b="1" i="0">
                <a:solidFill>
                  <a:srgbClr val="333333"/>
                </a:solidFill>
                <a:latin typeface="Calibri"/>
              </a:rPr>
              <a:t>es lo que vale</a:t>
            </a:r>
            <a:r>
              <a:rPr sz="1300" b="0" i="0">
                <a:solidFill>
                  <a:srgbClr val="333333"/>
                </a:solidFill>
                <a:latin typeface="Calibri"/>
              </a:rPr>
              <a:t>: es la prueba de que ustedes pensaron, y no la IA.</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Declare el uso</a:t>
            </a:r>
          </a:p>
          <a:p>
            <a:pPr>
              <a:spcBef>
                <a:spcPts val="200"/>
              </a:spcBef>
            </a:pPr>
            <a:r>
              <a:rPr sz="1300" b="0" i="0">
                <a:solidFill>
                  <a:srgbClr val="333333"/>
                </a:solidFill>
                <a:latin typeface="Calibri"/>
              </a:rPr>
              <a:t>En el documento: qué asistente, para qué, qué se aceptó y qué se descartó. </a:t>
            </a:r>
            <a:r>
              <a:rPr sz="1300" b="1" i="0">
                <a:solidFill>
                  <a:srgbClr val="333333"/>
                </a:solidFill>
                <a:latin typeface="Calibri"/>
              </a:rPr>
              <a:t>Declararlo es lo profesional; esconderlo es la falta.</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la misma petición, mal y bien hecha</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Petición sin contexto</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«Hazme una app de turnos».</a:t>
            </a:r>
          </a:p>
          <a:p>
            <a:pPr>
              <a:spcAft>
                <a:spcPts val="800"/>
              </a:spcAft>
            </a:pPr>
            <a:r>
              <a:rPr sz="1500" b="0" i="0">
                <a:solidFill>
                  <a:srgbClr val="333333"/>
                </a:solidFill>
                <a:latin typeface="Calibri"/>
              </a:rPr>
              <a:t>–   La IA no sabe para quién ni con qué límites.</a:t>
            </a:r>
          </a:p>
          <a:p>
            <a:pPr>
              <a:spcAft>
                <a:spcPts val="800"/>
              </a:spcAft>
            </a:pPr>
            <a:r>
              <a:rPr sz="1500" b="0" i="0">
                <a:solidFill>
                  <a:srgbClr val="333333"/>
                </a:solidFill>
                <a:latin typeface="Calibri"/>
              </a:rPr>
              <a:t>–   Devuelve registro, pagos y notificaciones.</a:t>
            </a:r>
          </a:p>
          <a:p>
            <a:pPr>
              <a:spcAft>
                <a:spcPts val="800"/>
              </a:spcAft>
            </a:pPr>
            <a:r>
              <a:rPr sz="1500" b="0" i="0">
                <a:solidFill>
                  <a:srgbClr val="333333"/>
                </a:solidFill>
                <a:latin typeface="Calibri"/>
              </a:rPr>
              <a:t>–   El equipo la copia tal cual.</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Petición del curso</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«Tienda de barrio; clientes mayores; sin computador en el mostrador».</a:t>
            </a:r>
          </a:p>
          <a:p>
            <a:pPr>
              <a:spcAft>
                <a:spcPts val="800"/>
              </a:spcAft>
            </a:pPr>
            <a:r>
              <a:rPr sz="1500" b="0" i="0">
                <a:solidFill>
                  <a:srgbClr val="333333"/>
                </a:solidFill>
                <a:latin typeface="Calibri"/>
              </a:rPr>
              <a:t>–   «Dame </a:t>
            </a:r>
            <a:r>
              <a:rPr sz="1500" b="1" i="0">
                <a:solidFill>
                  <a:srgbClr val="333333"/>
                </a:solidFill>
                <a:latin typeface="Calibri"/>
              </a:rPr>
              <a:t>tres</a:t>
            </a:r>
            <a:r>
              <a:rPr sz="1500" b="0" i="0">
                <a:solidFill>
                  <a:srgbClr val="333333"/>
                </a:solidFill>
                <a:latin typeface="Calibri"/>
              </a:rPr>
              <a:t> maneras distintas de mostrar el turno».</a:t>
            </a:r>
          </a:p>
          <a:p>
            <a:pPr>
              <a:spcAft>
                <a:spcPts val="800"/>
              </a:spcAft>
            </a:pPr>
            <a:r>
              <a:rPr sz="1500" b="0" i="0">
                <a:solidFill>
                  <a:srgbClr val="333333"/>
                </a:solidFill>
                <a:latin typeface="Calibri"/>
              </a:rPr>
              <a:t>–   «</a:t>
            </a:r>
            <a:r>
              <a:rPr sz="1500" b="1" i="0">
                <a:solidFill>
                  <a:srgbClr val="333333"/>
                </a:solidFill>
                <a:latin typeface="Calibri"/>
              </a:rPr>
              <a:t>Sin</a:t>
            </a:r>
            <a:r>
              <a:rPr sz="1500" b="0" i="0">
                <a:solidFill>
                  <a:srgbClr val="333333"/>
                </a:solidFill>
                <a:latin typeface="Calibri"/>
              </a:rPr>
              <a:t> cuentas, </a:t>
            </a:r>
            <a:r>
              <a:rPr sz="1500" b="1" i="0">
                <a:solidFill>
                  <a:srgbClr val="333333"/>
                </a:solidFill>
                <a:latin typeface="Calibri"/>
              </a:rPr>
              <a:t>sin</a:t>
            </a:r>
            <a:r>
              <a:rPr sz="1500" b="0" i="0">
                <a:solidFill>
                  <a:srgbClr val="333333"/>
                </a:solidFill>
                <a:latin typeface="Calibri"/>
              </a:rPr>
              <a:t> pedir datos personales».</a:t>
            </a:r>
          </a:p>
          <a:p>
            <a:pPr>
              <a:spcAft>
                <a:spcPts val="800"/>
              </a:spcAft>
            </a:pPr>
            <a:r>
              <a:rPr sz="1500" b="0" i="0">
                <a:solidFill>
                  <a:srgbClr val="333333"/>
                </a:solidFill>
                <a:latin typeface="Calibri"/>
              </a:rPr>
              <a:t>–   El equipo anota qué corrigió y lo declara.</a:t>
            </a:r>
          </a:p>
        </p:txBody>
      </p:sp>
      <p:pic>
        <p:nvPicPr>
          <p:cNvPr id="13" name="Picture 12" descr="sello_mal.png"/>
          <p:cNvPicPr>
            <a:picLocks noChangeAspect="1"/>
          </p:cNvPicPr>
          <p:nvPr/>
        </p:nvPicPr>
        <p:blipFill>
          <a:blip r:embed="rId2"/>
          <a:stretch>
            <a:fillRect/>
          </a:stretch>
        </p:blipFill>
        <p:spPr>
          <a:xfrm>
            <a:off x="566928" y="1316736"/>
            <a:ext cx="393192" cy="393192"/>
          </a:xfrm>
          <a:prstGeom prst="rect">
            <a:avLst/>
          </a:prstGeom>
        </p:spPr>
      </p:pic>
      <p:pic>
        <p:nvPicPr>
          <p:cNvPr id="14" name="Picture 13" descr="sello_bien.png"/>
          <p:cNvPicPr>
            <a:picLocks noChangeAspect="1"/>
          </p:cNvPicPr>
          <p:nvPr/>
        </p:nvPicPr>
        <p:blipFill>
          <a:blip r:embed="rId3"/>
          <a:stretch>
            <a:fillRect/>
          </a:stretch>
        </p:blipFill>
        <p:spPr>
          <a:xfrm>
            <a:off x="6365595" y="1316736"/>
            <a:ext cx="393192" cy="393192"/>
          </a:xfrm>
          <a:prstGeom prst="rect">
            <a:avLst/>
          </a:prstGeom>
        </p:spPr>
      </p:pic>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La variante de la IA y la corrección del equipo</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Ninguna de las cinco propuestas era absurda. Las cinco eran incorrectas para este proyecto, y el asistente no tenía manera de saberlo</a:t>
            </a:r>
          </a:p>
        </p:txBody>
      </p:sp>
      <p:sp>
        <p:nvSpPr>
          <p:cNvPr id="6" name="Rounded Rectangle 5"/>
          <p:cNvSpPr/>
          <p:nvPr/>
        </p:nvSpPr>
        <p:spPr>
          <a:xfrm>
            <a:off x="457200" y="1472184"/>
            <a:ext cx="5478627" cy="4882896"/>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5204307" cy="365760"/>
          </a:xfrm>
          <a:prstGeom prst="rect">
            <a:avLst/>
          </a:prstGeom>
          <a:noFill/>
        </p:spPr>
        <p:txBody>
          <a:bodyPr wrap="square" anchor="ctr"/>
          <a:lstStyle/>
          <a:p>
            <a:pPr algn="ctr"/>
            <a:r>
              <a:rPr sz="1600" b="1" i="0">
                <a:solidFill>
                  <a:srgbClr val="FFFFFF"/>
                </a:solidFill>
                <a:latin typeface="Calibri"/>
              </a:rPr>
              <a:t>Lo que devolvió el asistente</a:t>
            </a:r>
          </a:p>
        </p:txBody>
      </p:sp>
      <p:sp>
        <p:nvSpPr>
          <p:cNvPr id="9" name="TextBox 8"/>
          <p:cNvSpPr txBox="1"/>
          <p:nvPr/>
        </p:nvSpPr>
        <p:spPr>
          <a:xfrm>
            <a:off x="621792"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Pantalla de </a:t>
            </a:r>
            <a:r>
              <a:rPr sz="1500" b="1" i="0">
                <a:solidFill>
                  <a:srgbClr val="333333"/>
                </a:solidFill>
                <a:latin typeface="Calibri"/>
              </a:rPr>
              <a:t>registro con correo y contraseña</a:t>
            </a:r>
            <a:r>
              <a:rPr sz="1500" b="0" i="0">
                <a:solidFill>
                  <a:srgbClr val="333333"/>
                </a:solidFill>
                <a:latin typeface="Calibri"/>
              </a:rPr>
              <a:t> antes de consultar.</a:t>
            </a:r>
          </a:p>
          <a:p>
            <a:pPr>
              <a:spcAft>
                <a:spcPts val="800"/>
              </a:spcAft>
            </a:pPr>
            <a:r>
              <a:rPr sz="1500" b="0" i="0">
                <a:solidFill>
                  <a:srgbClr val="333333"/>
                </a:solidFill>
                <a:latin typeface="Calibri"/>
              </a:rPr>
              <a:t>–   </a:t>
            </a:r>
            <a:r>
              <a:rPr sz="1500" b="1" i="0">
                <a:solidFill>
                  <a:srgbClr val="333333"/>
                </a:solidFill>
                <a:latin typeface="Calibri"/>
              </a:rPr>
              <a:t>Aviso automático por correo</a:t>
            </a:r>
            <a:r>
              <a:rPr sz="1500" b="0" i="0">
                <a:solidFill>
                  <a:srgbClr val="333333"/>
                </a:solidFill>
                <a:latin typeface="Calibri"/>
              </a:rPr>
              <a:t> cuando el libro se devuelva.</a:t>
            </a:r>
          </a:p>
          <a:p>
            <a:pPr>
              <a:spcAft>
                <a:spcPts val="800"/>
              </a:spcAft>
            </a:pPr>
            <a:r>
              <a:rPr sz="1500" b="0" i="0">
                <a:solidFill>
                  <a:srgbClr val="333333"/>
                </a:solidFill>
                <a:latin typeface="Calibri"/>
              </a:rPr>
              <a:t>–   Sistema de </a:t>
            </a:r>
            <a:r>
              <a:rPr sz="1500" b="1" i="0">
                <a:solidFill>
                  <a:srgbClr val="333333"/>
                </a:solidFill>
                <a:latin typeface="Calibri"/>
              </a:rPr>
              <a:t>reservas</a:t>
            </a:r>
            <a:r>
              <a:rPr sz="1500" b="0" i="0">
                <a:solidFill>
                  <a:srgbClr val="333333"/>
                </a:solidFill>
                <a:latin typeface="Calibri"/>
              </a:rPr>
              <a:t> con historial por usuario.</a:t>
            </a:r>
          </a:p>
          <a:p>
            <a:pPr>
              <a:spcAft>
                <a:spcPts val="800"/>
              </a:spcAft>
            </a:pPr>
            <a:r>
              <a:rPr sz="1500" b="0" i="0">
                <a:solidFill>
                  <a:srgbClr val="333333"/>
                </a:solidFill>
                <a:latin typeface="Calibri"/>
              </a:rPr>
              <a:t>–   Catálogo con </a:t>
            </a:r>
            <a:r>
              <a:rPr sz="1500" b="1" i="0">
                <a:solidFill>
                  <a:srgbClr val="333333"/>
                </a:solidFill>
                <a:latin typeface="Calibri"/>
              </a:rPr>
              <a:t>imágenes de portadas</a:t>
            </a:r>
            <a:r>
              <a:rPr sz="1500" b="0" i="0">
                <a:solidFill>
                  <a:srgbClr val="333333"/>
                </a:solidFill>
                <a:latin typeface="Calibri"/>
              </a:rPr>
              <a:t>.</a:t>
            </a:r>
          </a:p>
          <a:p>
            <a:pPr>
              <a:spcAft>
                <a:spcPts val="800"/>
              </a:spcAft>
            </a:pPr>
            <a:r>
              <a:rPr sz="1500" b="0" i="0">
                <a:solidFill>
                  <a:srgbClr val="333333"/>
                </a:solidFill>
                <a:latin typeface="Calibri"/>
              </a:rPr>
              <a:t>–   Mensaje: «No se encontraron resultados».</a:t>
            </a:r>
          </a:p>
        </p:txBody>
      </p:sp>
      <p:sp>
        <p:nvSpPr>
          <p:cNvPr id="10" name="Rounded Rectangle 9"/>
          <p:cNvSpPr/>
          <p:nvPr/>
        </p:nvSpPr>
        <p:spPr>
          <a:xfrm>
            <a:off x="6255867" y="1472184"/>
            <a:ext cx="5478627" cy="488289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5867" y="1472184"/>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3027" y="1563624"/>
            <a:ext cx="5204307" cy="365760"/>
          </a:xfrm>
          <a:prstGeom prst="rect">
            <a:avLst/>
          </a:prstGeom>
          <a:noFill/>
        </p:spPr>
        <p:txBody>
          <a:bodyPr wrap="square" anchor="ctr"/>
          <a:lstStyle/>
          <a:p>
            <a:pPr algn="ctr"/>
            <a:r>
              <a:rPr sz="1600" b="1" i="0">
                <a:solidFill>
                  <a:srgbClr val="FFFFFF"/>
                </a:solidFill>
                <a:latin typeface="Calibri"/>
              </a:rPr>
              <a:t>Lo que quedó después de corregir</a:t>
            </a:r>
          </a:p>
        </p:txBody>
      </p:sp>
      <p:sp>
        <p:nvSpPr>
          <p:cNvPr id="13" name="TextBox 12"/>
          <p:cNvSpPr txBox="1"/>
          <p:nvPr/>
        </p:nvSpPr>
        <p:spPr>
          <a:xfrm>
            <a:off x="6420459"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a:t>
            </a:r>
            <a:r>
              <a:rPr sz="1500" b="1" i="0">
                <a:solidFill>
                  <a:srgbClr val="333333"/>
                </a:solidFill>
                <a:latin typeface="Calibri"/>
              </a:rPr>
              <a:t>Sin cuenta</a:t>
            </a:r>
            <a:r>
              <a:rPr sz="1500" b="0" i="0">
                <a:solidFill>
                  <a:srgbClr val="333333"/>
                </a:solidFill>
                <a:latin typeface="Calibri"/>
              </a:rPr>
              <a:t>: se consulta con un enlace. *Requisito no funcional de la sesión 7.*</a:t>
            </a:r>
          </a:p>
          <a:p>
            <a:pPr>
              <a:spcAft>
                <a:spcPts val="800"/>
              </a:spcAft>
            </a:pPr>
            <a:r>
              <a:rPr sz="1500" b="0" i="0">
                <a:solidFill>
                  <a:srgbClr val="333333"/>
                </a:solidFill>
                <a:latin typeface="Calibri"/>
              </a:rPr>
              <a:t>–   </a:t>
            </a:r>
            <a:r>
              <a:rPr sz="1500" b="1" i="0">
                <a:solidFill>
                  <a:srgbClr val="333333"/>
                </a:solidFill>
                <a:latin typeface="Calibri"/>
              </a:rPr>
              <a:t>Nada de correos</a:t>
            </a:r>
            <a:r>
              <a:rPr sz="1500" b="0" i="0">
                <a:solidFill>
                  <a:srgbClr val="333333"/>
                </a:solidFill>
                <a:latin typeface="Calibri"/>
              </a:rPr>
              <a:t>: pedir el correo es recolectar datos personales. *Ley 1581 de 2012.*</a:t>
            </a:r>
          </a:p>
          <a:p>
            <a:pPr>
              <a:spcAft>
                <a:spcPts val="800"/>
              </a:spcAft>
            </a:pPr>
            <a:r>
              <a:rPr sz="1500" b="0" i="0">
                <a:solidFill>
                  <a:srgbClr val="333333"/>
                </a:solidFill>
                <a:latin typeface="Calibri"/>
              </a:rPr>
              <a:t>–   </a:t>
            </a:r>
            <a:r>
              <a:rPr sz="1500" b="1" i="0">
                <a:solidFill>
                  <a:srgbClr val="333333"/>
                </a:solidFill>
                <a:latin typeface="Calibri"/>
              </a:rPr>
              <a:t>Sin reservas ni historial</a:t>
            </a:r>
            <a:r>
              <a:rPr sz="1500" b="0" i="0">
                <a:solidFill>
                  <a:srgbClr val="333333"/>
                </a:solidFill>
                <a:latin typeface="Calibri"/>
              </a:rPr>
              <a:t>: quedó fuera del alcance en la sesión 8.</a:t>
            </a:r>
          </a:p>
          <a:p>
            <a:pPr>
              <a:spcAft>
                <a:spcPts val="800"/>
              </a:spcAft>
            </a:pPr>
            <a:r>
              <a:rPr sz="1500" b="0" i="0">
                <a:solidFill>
                  <a:srgbClr val="333333"/>
                </a:solidFill>
                <a:latin typeface="Calibri"/>
              </a:rPr>
              <a:t>–   </a:t>
            </a:r>
            <a:r>
              <a:rPr sz="1500" b="1" i="0">
                <a:solidFill>
                  <a:srgbClr val="333333"/>
                </a:solidFill>
                <a:latin typeface="Calibri"/>
              </a:rPr>
              <a:t>Sin imágenes</a:t>
            </a:r>
            <a:r>
              <a:rPr sz="1500" b="0" i="0">
                <a:solidFill>
                  <a:srgbClr val="333333"/>
                </a:solidFill>
                <a:latin typeface="Calibri"/>
              </a:rPr>
              <a:t>: rompía el límite de 200 KB por consulta. *Indicador de la sesión 5.*</a:t>
            </a:r>
          </a:p>
          <a:p>
            <a:pPr>
              <a:spcAft>
                <a:spcPts val="800"/>
              </a:spcAft>
            </a:pPr>
            <a:r>
              <a:rPr sz="1500" b="0" i="0">
                <a:solidFill>
                  <a:srgbClr val="333333"/>
                </a:solidFill>
                <a:latin typeface="Calibri"/>
              </a:rPr>
              <a:t>–   «No encontramos «X» en la lista. Pregunte en el mostrador o intente con el autor.»</a:t>
            </a:r>
          </a:p>
        </p:txBody>
      </p:sp>
      <p:pic>
        <p:nvPicPr>
          <p:cNvPr id="14" name="Picture 13" descr="sello_mal.png"/>
          <p:cNvPicPr>
            <a:picLocks noChangeAspect="1"/>
          </p:cNvPicPr>
          <p:nvPr/>
        </p:nvPicPr>
        <p:blipFill>
          <a:blip r:embed="rId2"/>
          <a:stretch>
            <a:fillRect/>
          </a:stretch>
        </p:blipFill>
        <p:spPr>
          <a:xfrm>
            <a:off x="566928" y="1527048"/>
            <a:ext cx="393192" cy="393192"/>
          </a:xfrm>
          <a:prstGeom prst="rect">
            <a:avLst/>
          </a:prstGeom>
        </p:spPr>
      </p:pic>
      <p:pic>
        <p:nvPicPr>
          <p:cNvPr id="15" name="Picture 14" descr="sello_bien.png"/>
          <p:cNvPicPr>
            <a:picLocks noChangeAspect="1"/>
          </p:cNvPicPr>
          <p:nvPr/>
        </p:nvPicPr>
        <p:blipFill>
          <a:blip r:embed="rId3"/>
          <a:stretch>
            <a:fillRect/>
          </a:stretch>
        </p:blipFill>
        <p:spPr>
          <a:xfrm>
            <a:off x="6365595" y="1527048"/>
            <a:ext cx="393192" cy="393192"/>
          </a:xfrm>
          <a:prstGeom prst="rect">
            <a:avLst/>
          </a:prstGeom>
        </p:spPr>
      </p:pic>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Cierra el corte 2 · Nos vemos en la Clase 12</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Taller de prototipado inicial con IA · Clase 11</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Pudieron corregir al asistente porque tenían sus decisiones escritas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