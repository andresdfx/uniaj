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lo que se califica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Prototipo v2 con IA, en salas de grupo</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5 equipos × 3 min — lo que corrigieron a mano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En la plataforma del curso · cubre las sesiones 7 a 11</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Esta sesión cierra el corte 2 (30 %).</a:t>
            </a:r>
            <a:r>
              <a:rPr sz="1100" b="0" i="1">
                <a:solidFill>
                  <a:srgbClr val="666666"/>
                </a:solidFill>
                <a:latin typeface="Calibri"/>
              </a:rPr>
              <a:t> La teoría baja a 17 minutos y la actividad a 27 para que quepan los </a:t>
            </a:r>
            <a:r>
              <a:rPr sz="1100" b="1" i="1">
                <a:solidFill>
                  <a:srgbClr val="666666"/>
                </a:solidFill>
                <a:latin typeface="Calibri"/>
              </a:rPr>
              <a:t>20 minutos de evaluación</a:t>
            </a:r>
            <a:r>
              <a:rPr sz="1100" b="0" i="1">
                <a:solidFill>
                  <a:srgbClr val="666666"/>
                </a:solidFill>
                <a:latin typeface="Calibri"/>
              </a:rPr>
              <a:t> al final, en la plataforma del curso, sobre las sesiones 7 a 11. Es además la </a:t>
            </a:r>
            <a:r>
              <a:rPr sz="1100" b="1" i="1">
                <a:solidFill>
                  <a:srgbClr val="666666"/>
                </a:solidFill>
                <a:latin typeface="Calibri"/>
              </a:rPr>
              <a:t>segunda y última sesión con asistente de IA autorizado</a:t>
            </a:r>
            <a:r>
              <a:rPr sz="1100" b="0" i="1">
                <a:solidFill>
                  <a:srgbClr val="666666"/>
                </a:solidFill>
                <a:latin typeface="Calibri"/>
              </a:rPr>
              <a:t> —la otra fue la sesión 3—, y aplica la misma regla, hoy con más peso: se entrega el prompt usado y la lista de lo que se corrigió a mano.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el entregable</a:t>
            </a:r>
            <a:r>
              <a:rPr sz="1300" b="0" i="0">
                <a:solidFill>
                  <a:srgbClr val="333333"/>
                </a:solidFill>
                <a:latin typeface="Calibri"/>
              </a:rPr>
              <a:t>. Es la prueba de que ustedes pensaron, y es lo que más pesa en la rúbrica de hoy.</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cierra el corte 2 hoy</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Al final de la sesión hay 20 minutos de evaluación del corte 2</a:t>
            </a:r>
            <a:r>
              <a:rPr sz="1400" b="0" i="0">
                <a:solidFill>
                  <a:srgbClr val="333333"/>
                </a:solidFill>
                <a:latin typeface="Calibri"/>
              </a:rPr>
              <a:t>, sobre las sesiones 7 a 11: ciclo de vida y costo del cambio, requisitos y criterios de aceptación, decisión entre alternativas y alcance mínimo, antecedentes y fuentes, prototipado y niveles de fidelidad, y uso responsable de IA. Es individual y a libro abierto: </a:t>
            </a:r>
            <a:r>
              <a:rPr sz="1400" b="1" i="0">
                <a:solidFill>
                  <a:srgbClr val="333333"/>
                </a:solidFill>
                <a:latin typeface="Calibri"/>
              </a:rPr>
              <a:t>pueden consultar sus propios documentos del equipo</a:t>
            </a:r>
            <a:r>
              <a:rPr sz="1400" b="0" i="0">
                <a:solidFill>
                  <a:srgbClr val="333333"/>
                </a:solidFill>
                <a:latin typeface="Calibri"/>
              </a:rPr>
              <a:t>.</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evaluación se aplica en la plataforma del curso</a:t>
            </a:r>
            <a:r>
              <a:rPr sz="1400" b="0" i="0">
                <a:solidFill>
                  <a:srgbClr val="333333"/>
                </a:solidFill>
                <a:latin typeface="Calibri"/>
              </a:rPr>
              <a:t>, que es la herramienta que usa este curso para las evaluaciones y </a:t>
            </a:r>
            <a:r>
              <a:rPr sz="1400" b="1" i="0">
                <a:solidFill>
                  <a:srgbClr val="333333"/>
                </a:solidFill>
                <a:latin typeface="Calibri"/>
              </a:rPr>
              <a:t>no es una plataforma oficial de la universidad</a:t>
            </a:r>
            <a:r>
              <a:rPr sz="1400" b="0" i="0">
                <a:solidFill>
                  <a:srgbClr val="333333"/>
                </a:solidFill>
                <a:latin typeface="Calibri"/>
              </a:rPr>
              <a:t>. El enlace se comparte en el chat en el momento; si algo falla, la evaluación se reprograma y se avisa por el canal del curso.</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 que se califica hoy del taller no es la variante de la IA: es lo que corrigieron.</a:t>
            </a:r>
            <a:r>
              <a:rPr sz="1400" b="0" i="0">
                <a:solidFill>
                  <a:srgbClr val="333333"/>
                </a:solidFill>
                <a:latin typeface="Calibri"/>
              </a:rPr>
              <a:t> Un equipo que entrega tal cual lo que devolvió el asistente tiene la nota más baja del corte, aunque se vea bien. Y no se le pasan datos personales a un asistente: lo que se escribe ahí sale del computador y no vuelve.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de entrada: mejor y además ilegal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gancho de hoy es un hecho concreto y reproducible, no una hipótesis: si se le pide a un asistente que mejore un prototipo de consulta de disponibilidad de libros</a:t>
            </a:r>
          </a:p>
          <a:p>
            <a:pPr>
              <a:spcAft>
                <a:spcPts val="800"/>
              </a:spcAft>
            </a:pPr>
            <a:r>
              <a:rPr sz="2000" b="0" i="0">
                <a:solidFill>
                  <a:srgbClr val="333333"/>
                </a:solidFill>
                <a:latin typeface="Calibri"/>
              </a:rPr>
              <a:t>–   </a:t>
            </a:r>
            <a:r>
              <a:rPr sz="2000" b="1" i="0">
                <a:solidFill>
                  <a:srgbClr val="333333"/>
                </a:solidFill>
                <a:latin typeface="Calibri"/>
              </a:rPr>
              <a:t>con altísima probabilidad va a proponer cuentas de usuario con correo y contraseña, y avisos automáticos por correo cuando el libro esté disponible</a:t>
            </a:r>
            <a:r>
              <a:rPr sz="2000" b="0" i="0">
                <a:solidFill>
                  <a:srgbClr val="333333"/>
                </a:solidFill>
                <a:latin typeface="Calibri"/>
              </a:rPr>
              <a:t>.</a:t>
            </a:r>
          </a:p>
          <a:p>
            <a:pPr>
              <a:spcAft>
                <a:spcPts val="800"/>
              </a:spcAft>
            </a:pPr>
            <a:r>
              <a:rPr sz="2000" b="0" i="0">
                <a:solidFill>
                  <a:srgbClr val="333333"/>
                </a:solidFill>
                <a:latin typeface="Calibri"/>
              </a:rPr>
              <a:t>–   Las dos propuestas son razonables en abstracto, están en casi todos los sistemas parecidos del mundo</a:t>
            </a:r>
          </a:p>
          <a:p>
            <a:pPr>
              <a:spcAft>
                <a:spcPts val="800"/>
              </a:spcAft>
            </a:pPr>
            <a:r>
              <a:rPr sz="2000" b="0" i="0">
                <a:solidFill>
                  <a:srgbClr val="333333"/>
                </a:solidFill>
                <a:latin typeface="Calibri"/>
              </a:rPr>
              <a:t>–   Y las dos son incorrectas para este proyecto: violan el requisito no funcional «sin crear cuenta» de la sesión 7 y convierten al equipo en responsable del tratamiento de datos personales bajo la Ley 1581 de 2012, que vieron en la sesión 4.</a:t>
            </a:r>
          </a:p>
          <a:p>
            <a:pPr>
              <a:spcAft>
                <a:spcPts val="800"/>
              </a:spcAft>
            </a:pPr>
            <a:r>
              <a:rPr sz="2000" b="0" i="0">
                <a:solidFill>
                  <a:srgbClr val="333333"/>
                </a:solidFill>
                <a:latin typeface="Calibri"/>
              </a:rPr>
              <a:t>–   El punto que hay que hacer explícito, y que es el eje de toda la sesión: **el asistente no se equivocó por ser malo.</a:t>
            </a:r>
          </a:p>
          <a:p>
            <a:pPr>
              <a:spcAft>
                <a:spcPts val="800"/>
              </a:spcAft>
            </a:pPr>
            <a:r>
              <a:rPr sz="2000" b="0" i="0">
                <a:solidFill>
                  <a:srgbClr val="333333"/>
                </a:solidFill>
                <a:latin typeface="Calibri"/>
              </a:rPr>
              <a:t>–   Se equivocó porque nadie le dijo las restricciones.** Propuso la solución promedio de internet, que es exactamente lo que hace bien; el problema es que la solución promedio no es la solución de un proyecto con restricciones locales duras.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de entrada: mejor y además ilegal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lo hizo </a:t>
            </a:r>
            <a:r>
              <a:rPr sz="2000" b="1" i="0">
                <a:solidFill>
                  <a:srgbClr val="333333"/>
                </a:solidFill>
                <a:latin typeface="Calibri"/>
              </a:rPr>
              <a:t>con total seguridad</a:t>
            </a:r>
            <a:r>
              <a:rPr sz="2000" b="0" i="0">
                <a:solidFill>
                  <a:srgbClr val="333333"/>
                </a:solidFill>
                <a:latin typeface="Calibri"/>
              </a:rPr>
              <a:t>, sin ninguna señal de advertencia, que es la parte peligrosa.</a:t>
            </a:r>
          </a:p>
          <a:p>
            <a:pPr>
              <a:spcAft>
                <a:spcPts val="800"/>
              </a:spcAft>
            </a:pPr>
            <a:r>
              <a:rPr sz="2000" b="0" i="0">
                <a:solidFill>
                  <a:srgbClr val="333333"/>
                </a:solidFill>
                <a:latin typeface="Calibri"/>
              </a:rPr>
              <a:t>–   Vale la pena hacerlo en vivo si el tiempo alcanza —dos minutos de pantalla compartida con un prompt sin restricciones—, porque verlo proponer la cuenta de usuario delante de todos vale más que la diapositiva.</a:t>
            </a:r>
          </a:p>
          <a:p>
            <a:pPr>
              <a:spcAft>
                <a:spcPts val="800"/>
              </a:spcAft>
            </a:pPr>
            <a:r>
              <a:rPr sz="2000" b="0" i="0">
                <a:solidFill>
                  <a:srgbClr val="333333"/>
                </a:solidFill>
                <a:latin typeface="Calibri"/>
              </a:rPr>
              <a:t>–   Si no alcanza, la apertura sola sirve: en el muro, la pregunta «¿cómo puede pasar eso?» produce respuestas que ya contienen la respuesta correcta.</a:t>
            </a:r>
          </a:p>
          <a:p>
            <a:pPr>
              <a:spcAft>
                <a:spcPts val="800"/>
              </a:spcAft>
            </a:pPr>
            <a:r>
              <a:rPr sz="2000" b="0" i="0">
                <a:solidFill>
                  <a:srgbClr val="333333"/>
                </a:solidFill>
                <a:latin typeface="Calibri"/>
              </a:rPr>
              <a:t>–   Recuerde el encuadre general del curso, que hoy se cierra: la IA está autorizada en dos sesiones de dieciséis, con la misma regla en las dos —se entrega el prompt y lo que se corrigió—.</a:t>
            </a:r>
          </a:p>
          <a:p>
            <a:pPr>
              <a:spcAft>
                <a:spcPts val="800"/>
              </a:spcAft>
            </a:pPr>
            <a:r>
              <a:rPr sz="2000" b="0" i="0">
                <a:solidFill>
                  <a:srgbClr val="333333"/>
                </a:solidFill>
                <a:latin typeface="Calibri"/>
              </a:rPr>
              <a:t>–   Hoy esa regla vale la mitad de la nota del taller.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un mapa honesto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razón es concreta: un equipo que lleva dos horas mirando su propio dibujo pierde la capacidad de ver alternativas</a:t>
            </a:r>
          </a:p>
          <a:p>
            <a:pPr>
              <a:spcAft>
                <a:spcPts val="800"/>
              </a:spcAft>
            </a:pPr>
            <a:r>
              <a:rPr sz="2000" b="0" i="0">
                <a:solidFill>
                  <a:srgbClr val="333333"/>
                </a:solidFill>
                <a:latin typeface="Calibri"/>
              </a:rPr>
              <a:t>–   Y abrir opciones es justo lo que más cuesta en ese momento. </a:t>
            </a:r>
            <a:r>
              <a:rPr sz="2000" b="1" i="0">
                <a:solidFill>
                  <a:srgbClr val="333333"/>
                </a:solidFill>
                <a:latin typeface="Calibri"/>
              </a:rPr>
              <a:t>Hace bien: textos y casos de prueba.</a:t>
            </a:r>
            <a:r>
              <a:rPr sz="2000" b="0" i="0">
                <a:solidFill>
                  <a:srgbClr val="333333"/>
                </a:solidFill>
                <a:latin typeface="Calibri"/>
              </a:rPr>
              <a:t> Rótulos, mensajes de error y, sobre todo</a:t>
            </a:r>
          </a:p>
          <a:p>
            <a:pPr>
              <a:spcAft>
                <a:spcPts val="800"/>
              </a:spcAft>
            </a:pPr>
            <a:r>
              <a:rPr sz="2000" b="0" i="0">
                <a:solidFill>
                  <a:srgbClr val="333333"/>
                </a:solidFill>
                <a:latin typeface="Calibri"/>
              </a:rPr>
              <a:t>–   </a:t>
            </a:r>
            <a:r>
              <a:rPr sz="2000" b="1" i="0">
                <a:solidFill>
                  <a:srgbClr val="333333"/>
                </a:solidFill>
                <a:latin typeface="Calibri"/>
              </a:rPr>
              <a:t>listas de casos que a nadie se le ocurrieron</a:t>
            </a:r>
            <a:r>
              <a:rPr sz="2000" b="0" i="0">
                <a:solidFill>
                  <a:srgbClr val="333333"/>
                </a:solidFill>
                <a:latin typeface="Calibri"/>
              </a:rPr>
              <a:t> — «¿qué pasa si el usuario escribe el título con una tilde de más?», «¿qué pasa si dos personas piden el mismo libro el mismo día?».</a:t>
            </a:r>
          </a:p>
          <a:p>
            <a:pPr>
              <a:spcAft>
                <a:spcPts val="800"/>
              </a:spcAft>
            </a:pPr>
            <a:r>
              <a:rPr sz="2000" b="0" i="0">
                <a:solidFill>
                  <a:srgbClr val="333333"/>
                </a:solidFill>
                <a:latin typeface="Calibri"/>
              </a:rPr>
              <a:t>–   Aquí la IA es genuinamente superior a un equipo de primer semestre, porque enumerar casos es exactamente lo que hace bien.</a:t>
            </a:r>
          </a:p>
          <a:p>
            <a:pPr>
              <a:spcAft>
                <a:spcPts val="800"/>
              </a:spcAft>
            </a:pPr>
            <a:r>
              <a:rPr sz="2000" b="0" i="0">
                <a:solidFill>
                  <a:srgbClr val="333333"/>
                </a:solidFill>
                <a:latin typeface="Calibri"/>
              </a:rPr>
              <a:t>–   Vale la pena decírselo, porque es el uso que más les va a servir en la Clase 12. </a:t>
            </a:r>
            <a:r>
              <a:rPr sz="2000" b="1" i="0">
                <a:solidFill>
                  <a:srgbClr val="333333"/>
                </a:solidFill>
                <a:latin typeface="Calibri"/>
              </a:rPr>
              <a:t>Hace mal: el contexto local.</a:t>
            </a:r>
            <a:r>
              <a:rPr sz="2000" b="0" i="0">
                <a:solidFill>
                  <a:srgbClr val="333333"/>
                </a:solidFill>
                <a:latin typeface="Calibri"/>
              </a:rPr>
              <a:t> No sabe que no hay computador en el mostrador, que las voluntarias rotan, que el presupuesto es cero, que la conexión es intermitente.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un mapa honesto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como no lo sabe, propone para un contexto que no es el suyo. </a:t>
            </a:r>
            <a:r>
              <a:rPr sz="2000" b="1" i="0">
                <a:solidFill>
                  <a:srgbClr val="333333"/>
                </a:solidFill>
                <a:latin typeface="Calibri"/>
              </a:rPr>
              <a:t>Hace mal: inventar con seguridad.</a:t>
            </a:r>
            <a:r>
              <a:rPr sz="2000" b="0" i="0">
                <a:solidFill>
                  <a:srgbClr val="333333"/>
                </a:solidFill>
                <a:latin typeface="Calibri"/>
              </a:rPr>
              <a:t> Esta es la característica que hay que dejar instalada para siempre</a:t>
            </a:r>
          </a:p>
          <a:p>
            <a:pPr>
              <a:spcAft>
                <a:spcPts val="800"/>
              </a:spcAft>
            </a:pPr>
            <a:r>
              <a:rPr sz="2000" b="0" i="0">
                <a:solidFill>
                  <a:srgbClr val="333333"/>
                </a:solidFill>
                <a:latin typeface="Calibri"/>
              </a:rPr>
              <a:t>–   Y ya la vieron en la sesión 9 con las referencias bibliográficas inexistentes: </a:t>
            </a:r>
            <a:r>
              <a:rPr sz="2000" b="1" i="0">
                <a:solidFill>
                  <a:srgbClr val="333333"/>
                </a:solidFill>
                <a:latin typeface="Calibri"/>
              </a:rPr>
              <a:t>un modelo de lenguaje genera texto plausible, y no tiene manera de señalar cuándo lo plausible es incorrecto</a:t>
            </a:r>
            <a:r>
              <a:rPr sz="2000" b="0" i="0">
                <a:solidFill>
                  <a:srgbClr val="333333"/>
                </a:solidFill>
                <a:latin typeface="Calibri"/>
              </a:rPr>
              <a:t>.</a:t>
            </a:r>
          </a:p>
          <a:p>
            <a:pPr>
              <a:spcAft>
                <a:spcPts val="800"/>
              </a:spcAft>
            </a:pPr>
            <a:r>
              <a:rPr sz="2000" b="0" i="0">
                <a:solidFill>
                  <a:srgbClr val="333333"/>
                </a:solidFill>
                <a:latin typeface="Calibri"/>
              </a:rPr>
              <a:t>–   Va a proponer funciones que violan las restricciones del equipo y a veces la ley, con el mismo tono seguro con el que propone las buenas.</a:t>
            </a:r>
          </a:p>
          <a:p>
            <a:pPr>
              <a:spcAft>
                <a:spcPts val="800"/>
              </a:spcAft>
            </a:pPr>
            <a:r>
              <a:rPr sz="2000" b="0" i="0">
                <a:solidFill>
                  <a:srgbClr val="333333"/>
                </a:solidFill>
                <a:latin typeface="Calibri"/>
              </a:rPr>
              <a:t>–   No hay una alarma; la alarma son ustedes.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método: cinco pasos y por qué el primero decide todo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Paso 1: dar el contexto que no puede saber</a:t>
            </a:r>
            <a:r>
              <a:rPr sz="1900" b="0" i="0">
                <a:solidFill>
                  <a:srgbClr val="333333"/>
                </a:solidFill>
                <a:latin typeface="Calibri"/>
              </a:rPr>
              <a:t> — el problema en una frase de la sesión 6, quién lo usa, y las restricciones.</a:t>
            </a:r>
          </a:p>
          <a:p>
            <a:pPr>
              <a:spcAft>
                <a:spcPts val="800"/>
              </a:spcAft>
            </a:pPr>
            <a:r>
              <a:rPr sz="1900" b="0" i="0">
                <a:solidFill>
                  <a:srgbClr val="333333"/>
                </a:solidFill>
                <a:latin typeface="Calibri"/>
              </a:rPr>
              <a:t>–   Es el paso que decide la calidad de todo lo demás, y el que los estudiantes se saltan.</a:t>
            </a:r>
          </a:p>
          <a:p>
            <a:pPr>
              <a:spcAft>
                <a:spcPts val="800"/>
              </a:spcAft>
            </a:pPr>
            <a:r>
              <a:rPr sz="1900" b="0" i="0">
                <a:solidFill>
                  <a:srgbClr val="333333"/>
                </a:solidFill>
                <a:latin typeface="Calibri"/>
              </a:rPr>
              <a:t>–   La diferencia entre «mejora esta pantalla de biblioteca» y un prompt de diez líneas con las cuatro restricciones escritas no es de grado: es la diferencia entre recibir la solución promedio de internet y recibir tres opciones aplicables. </a:t>
            </a:r>
            <a:r>
              <a:rPr sz="1900" b="1" i="0">
                <a:solidFill>
                  <a:srgbClr val="333333"/>
                </a:solidFill>
                <a:latin typeface="Calibri"/>
              </a:rPr>
              <a:t>Paso 2: pedir variantes, no una respuesta.</a:t>
            </a:r>
            <a:r>
              <a:rPr sz="1900" b="0" i="0">
                <a:solidFill>
                  <a:srgbClr val="333333"/>
                </a:solidFill>
                <a:latin typeface="Calibri"/>
              </a:rPr>
              <a:t> «Dame tres maneras distintas de…».</a:t>
            </a:r>
          </a:p>
          <a:p>
            <a:pPr>
              <a:spcAft>
                <a:spcPts val="800"/>
              </a:spcAft>
            </a:pPr>
            <a:r>
              <a:rPr sz="1900" b="0" i="0">
                <a:solidFill>
                  <a:srgbClr val="333333"/>
                </a:solidFill>
                <a:latin typeface="Calibri"/>
              </a:rPr>
              <a:t>–   El argumento es psicológico y hay que decirlo: una sola respuesta invita a aceptarla —está ahí, está completa, está bien escrita—; tres obligan a comparar, y comparar es donde ellos aportan.</a:t>
            </a:r>
          </a:p>
          <a:p>
            <a:pPr>
              <a:spcAft>
                <a:spcPts val="800"/>
              </a:spcAft>
            </a:pPr>
            <a:r>
              <a:rPr sz="1900" b="0" i="0">
                <a:solidFill>
                  <a:srgbClr val="333333"/>
                </a:solidFill>
                <a:latin typeface="Calibri"/>
              </a:rPr>
              <a:t>–   Es la matriz de decisión de la sesión 8 aplicada a lo que devuelve un asistente. </a:t>
            </a:r>
            <a:r>
              <a:rPr sz="1900" b="1" i="0">
                <a:solidFill>
                  <a:srgbClr val="333333"/>
                </a:solidFill>
                <a:latin typeface="Calibri"/>
              </a:rPr>
              <a:t>Paso 3: prohibir explícitamente lo prohibido.</a:t>
            </a:r>
            <a:r>
              <a:rPr sz="1900" b="0" i="0">
                <a:solidFill>
                  <a:srgbClr val="333333"/>
                </a:solidFill>
                <a:latin typeface="Calibri"/>
              </a:rPr>
              <a:t> «Sin crear cuentas de usuario</a:t>
            </a:r>
          </a:p>
          <a:p>
            <a:pPr>
              <a:spcAft>
                <a:spcPts val="800"/>
              </a:spcAft>
            </a:pPr>
            <a:r>
              <a:rPr sz="1900" b="0" i="0">
                <a:solidFill>
                  <a:srgbClr val="333333"/>
                </a:solidFill>
                <a:latin typeface="Calibri"/>
              </a:rPr>
              <a:t>–   Sin pedir datos personales, sin instalar nada, sin imágenes.» La regla en cuatro palabras: </a:t>
            </a:r>
            <a:r>
              <a:rPr sz="1900" b="1" i="0">
                <a:solidFill>
                  <a:srgbClr val="333333"/>
                </a:solidFill>
                <a:latin typeface="Calibri"/>
              </a:rPr>
              <a:t>si no lo dice, lo va a proponer</a:t>
            </a:r>
            <a:r>
              <a:rPr sz="1900" b="0" i="0">
                <a:solidFill>
                  <a:srgbClr val="333333"/>
                </a:solidFill>
                <a:latin typeface="Calibri"/>
              </a:rPr>
              <a:t>.</a:t>
            </a:r>
          </a:p>
          <a:p>
            <a:pPr>
              <a:spcAft>
                <a:spcPts val="800"/>
              </a:spcAft>
            </a:pPr>
            <a:r>
              <a:rPr sz="1900" b="0" i="0">
                <a:solidFill>
                  <a:srgbClr val="333333"/>
                </a:solidFill>
                <a:latin typeface="Calibri"/>
              </a:rPr>
              <a:t>–   Y aquí hay una lección de ingeniería más general que vale la pena señalar: los requisitos no funcionales que escribieron en la sesión 7 son precisamente lo que hay que poner en el prompt, porque son lo que el mundo no adivina.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método: cinco pasos y por qué el primero decide todo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equipo que tiene sus requisitos no funcionales escritos hace un prompt bueno sin esfuerzo; uno que no los tiene, no puede. </a:t>
            </a:r>
            <a:r>
              <a:rPr sz="2000" b="1" i="0">
                <a:solidFill>
                  <a:srgbClr val="333333"/>
                </a:solidFill>
                <a:latin typeface="Calibri"/>
              </a:rPr>
              <a:t>Paso 4: corregir a mano y anotar qué se corrigió.</a:t>
            </a:r>
            <a:r>
              <a:rPr sz="2000" b="0" i="0">
                <a:solidFill>
                  <a:srgbClr val="333333"/>
                </a:solidFill>
                <a:latin typeface="Calibri"/>
              </a:rPr>
              <a:t> Esa lista </a:t>
            </a:r>
            <a:r>
              <a:rPr sz="2000" b="1" i="0">
                <a:solidFill>
                  <a:srgbClr val="333333"/>
                </a:solidFill>
                <a:latin typeface="Calibri"/>
              </a:rPr>
              <a:t>es el entregable</a:t>
            </a:r>
          </a:p>
          <a:p>
            <a:pPr>
              <a:spcAft>
                <a:spcPts val="800"/>
              </a:spcAft>
            </a:pPr>
            <a:r>
              <a:rPr sz="2000" b="0" i="0">
                <a:solidFill>
                  <a:srgbClr val="333333"/>
                </a:solidFill>
                <a:latin typeface="Calibri"/>
              </a:rPr>
              <a:t>–   Y hay que decirlo sin ambigüedad porque cambia cómo trabajan: es la prueba de que pensaron, y es lo que más pesa en la rúbrica de hoy —30 de 100—.</a:t>
            </a:r>
          </a:p>
          <a:p>
            <a:pPr>
              <a:spcAft>
                <a:spcPts val="800"/>
              </a:spcAft>
            </a:pPr>
            <a:r>
              <a:rPr sz="2000" b="0" i="0">
                <a:solidFill>
                  <a:srgbClr val="333333"/>
                </a:solidFill>
                <a:latin typeface="Calibri"/>
              </a:rPr>
              <a:t>–   Un equipo que no corrigió nada no usó el asistente: lo obedeció. </a:t>
            </a:r>
            <a:r>
              <a:rPr sz="2000" b="1" i="0">
                <a:solidFill>
                  <a:srgbClr val="333333"/>
                </a:solidFill>
                <a:latin typeface="Calibri"/>
              </a:rPr>
              <a:t>Paso 5: declarar el uso.</a:t>
            </a:r>
            <a:r>
              <a:rPr sz="2000" b="0" i="0">
                <a:solidFill>
                  <a:srgbClr val="333333"/>
                </a:solidFill>
                <a:latin typeface="Calibri"/>
              </a:rPr>
              <a:t> Qué asistente, para qué, qué se aceptó y qué se descartó.</a:t>
            </a:r>
          </a:p>
          <a:p>
            <a:pPr>
              <a:spcAft>
                <a:spcPts val="800"/>
              </a:spcAft>
            </a:pPr>
            <a:r>
              <a:rPr sz="2000" b="0" i="0">
                <a:solidFill>
                  <a:srgbClr val="333333"/>
                </a:solidFill>
                <a:latin typeface="Calibri"/>
              </a:rPr>
              <a:t>–   El encuadre correcto no es de sospecha sino de profesión: </a:t>
            </a:r>
            <a:r>
              <a:rPr sz="2000" b="1" i="0">
                <a:solidFill>
                  <a:srgbClr val="333333"/>
                </a:solidFill>
                <a:latin typeface="Calibri"/>
              </a:rPr>
              <a:t>declarar el uso de una herramienta es lo normal en ingeniería</a:t>
            </a:r>
            <a:r>
              <a:rPr sz="2000" b="0" i="0">
                <a:solidFill>
                  <a:srgbClr val="333333"/>
                </a:solidFill>
                <a:latin typeface="Calibri"/>
              </a:rPr>
              <a:t> —nadie esconde que usó una calculadora o una biblioteca de código—, y esconderlo es lo que constituye la falta.</a:t>
            </a:r>
          </a:p>
          <a:p>
            <a:pPr>
              <a:spcAft>
                <a:spcPts val="800"/>
              </a:spcAft>
            </a:pPr>
            <a:r>
              <a:rPr sz="2000" b="0" i="0">
                <a:solidFill>
                  <a:srgbClr val="333333"/>
                </a:solidFill>
                <a:latin typeface="Calibri"/>
              </a:rPr>
              <a:t>–   En la vida laboral esto ya es requisito en muchas organizaciones, y acostumbrarse ahora les ahorra un problema después.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antes y después, y cómo cierra el corte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 antes y después es el corazón didáctico de la sesión, y hay que recorrerla con una insistencia: </a:t>
            </a:r>
            <a:r>
              <a:rPr sz="2000" b="1" i="0">
                <a:solidFill>
                  <a:srgbClr val="333333"/>
                </a:solidFill>
                <a:latin typeface="Calibri"/>
              </a:rPr>
              <a:t>ninguna de las cinco propuestas del asistente era absurda</a:t>
            </a:r>
            <a:r>
              <a:rPr sz="2000" b="0" i="0">
                <a:solidFill>
                  <a:srgbClr val="333333"/>
                </a:solidFill>
                <a:latin typeface="Calibri"/>
              </a:rPr>
              <a:t>.</a:t>
            </a:r>
          </a:p>
          <a:p>
            <a:pPr>
              <a:spcAft>
                <a:spcPts val="800"/>
              </a:spcAft>
            </a:pPr>
            <a:r>
              <a:rPr sz="2000" b="0" i="0">
                <a:solidFill>
                  <a:srgbClr val="333333"/>
                </a:solidFill>
                <a:latin typeface="Calibri"/>
              </a:rPr>
              <a:t>–   Cuentas de usuario, avisos por correo, reservas con historial, portadas, y un mensaje de error estándar: las cinco están en sistemas reales de bibliotecas en todo el mundo. </a:t>
            </a:r>
            <a:r>
              <a:rPr sz="2000" b="1" i="0">
                <a:solidFill>
                  <a:srgbClr val="333333"/>
                </a:solidFill>
                <a:latin typeface="Calibri"/>
              </a:rPr>
              <a:t>Las cinco eran incorrectas para este proyecto</a:t>
            </a:r>
          </a:p>
          <a:p>
            <a:pPr>
              <a:spcAft>
                <a:spcPts val="800"/>
              </a:spcAft>
            </a:pPr>
            <a:r>
              <a:rPr sz="2000" b="0" i="0">
                <a:solidFill>
                  <a:srgbClr val="333333"/>
                </a:solidFill>
                <a:latin typeface="Calibri"/>
              </a:rPr>
              <a:t>–   Y cada una por una razón distinta que el equipo ya había escrito en una sesión anterior — el requisito «sin cuenta» de la sesión 7</a:t>
            </a:r>
          </a:p>
          <a:p>
            <a:pPr>
              <a:spcAft>
                <a:spcPts val="800"/>
              </a:spcAft>
            </a:pPr>
            <a:r>
              <a:rPr sz="2000" b="0" i="0">
                <a:solidFill>
                  <a:srgbClr val="333333"/>
                </a:solidFill>
                <a:latin typeface="Calibri"/>
              </a:rPr>
              <a:t>–   La Ley 1581 de la sesión 4, el alcance mínimo de la sesión 8, el límite de 200 KB de la sesión 5, y la regla de mensajes con salida de la sesión 10.</a:t>
            </a:r>
          </a:p>
          <a:p>
            <a:pPr>
              <a:spcAft>
                <a:spcPts val="800"/>
              </a:spcAft>
            </a:pPr>
            <a:r>
              <a:rPr sz="2000" b="0" i="0">
                <a:solidFill>
                  <a:srgbClr val="333333"/>
                </a:solidFill>
                <a:latin typeface="Calibri"/>
              </a:rPr>
              <a:t>–   Ese es el hallazgo que hay que dejar dicho en voz alta, porque justifica todo el corte: </a:t>
            </a:r>
            <a:r>
              <a:rPr sz="2000" b="1" i="0">
                <a:solidFill>
                  <a:srgbClr val="333333"/>
                </a:solidFill>
                <a:latin typeface="Calibri"/>
              </a:rPr>
              <a:t>el equipo pudo corregir al asistente porque tenía sus decisiones escritas.</a:t>
            </a:r>
            <a:r>
              <a:rPr sz="2000" b="0" i="0">
                <a:solidFill>
                  <a:srgbClr val="333333"/>
                </a:solidFill>
                <a:latin typeface="Calibri"/>
              </a:rPr>
              <a:t> Un equipo sin requisitos no funcionales</a:t>
            </a:r>
          </a:p>
          <a:p>
            <a:pPr>
              <a:spcAft>
                <a:spcPts val="800"/>
              </a:spcAft>
            </a:pPr>
            <a:r>
              <a:rPr sz="2000" b="0" i="0">
                <a:solidFill>
                  <a:srgbClr val="333333"/>
                </a:solidFill>
                <a:latin typeface="Calibri"/>
              </a:rPr>
              <a:t>–   Sin alcance definido y sin indicador ambiental no habría tenido con qué objetar, y habría aceptado las cinco.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antes y después, y cómo cierra el corte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documentación de las sesiones 6 a 10 no era burocracia académica: es lo que hoy les permite ejercer criterio frente a una herramienta que suena más segura que ellos. </a:t>
            </a:r>
            <a:r>
              <a:rPr sz="2000" b="1" i="0">
                <a:solidFill>
                  <a:srgbClr val="333333"/>
                </a:solidFill>
                <a:latin typeface="Calibri"/>
              </a:rPr>
              <a:t>El cierre del corte.</a:t>
            </a:r>
            <a:r>
              <a:rPr sz="2000" b="0" i="0">
                <a:solidFill>
                  <a:srgbClr val="333333"/>
                </a:solidFill>
                <a:latin typeface="Calibri"/>
              </a:rPr>
              <a:t> Los últimos 20 minutos son la evaluación del corte 2 en la plataforma del curso, individual y a libro abierto sobre sus propios documentos del equipo.</a:t>
            </a:r>
          </a:p>
          <a:p>
            <a:pPr>
              <a:spcAft>
                <a:spcPts val="800"/>
              </a:spcAft>
            </a:pPr>
            <a:r>
              <a:rPr sz="2000" b="0" i="0">
                <a:solidFill>
                  <a:srgbClr val="333333"/>
                </a:solidFill>
                <a:latin typeface="Calibri"/>
              </a:rPr>
              <a:t>–   Cubre las sesiones 7 a 11: fases y costo del cambio, requisitos y criterios de aceptación, matriz de decisión y alcance mínimo, calidad de fuentes, fidelidad de prototipos y uso responsable de IA.</a:t>
            </a:r>
          </a:p>
          <a:p>
            <a:pPr>
              <a:spcAft>
                <a:spcPts val="800"/>
              </a:spcAft>
            </a:pPr>
            <a:r>
              <a:rPr sz="2000" b="0" i="0">
                <a:solidFill>
                  <a:srgbClr val="333333"/>
                </a:solidFill>
                <a:latin typeface="Calibri"/>
              </a:rPr>
              <a:t>–   Que sea a libro abierto es deliberado y conviene explicarlo: </a:t>
            </a:r>
            <a:r>
              <a:rPr sz="2000" b="1" i="0">
                <a:solidFill>
                  <a:srgbClr val="333333"/>
                </a:solidFill>
                <a:latin typeface="Calibri"/>
              </a:rPr>
              <a:t>premia al equipo que documentó</a:t>
            </a:r>
            <a:r>
              <a:rPr sz="2000" b="0" i="0">
                <a:solidFill>
                  <a:srgbClr val="333333"/>
                </a:solidFill>
                <a:latin typeface="Calibri"/>
              </a:rPr>
              <a:t>, que es exactamente la conducta que el corte entero intentó enseñar.</a:t>
            </a:r>
          </a:p>
          <a:p>
            <a:pPr>
              <a:spcAft>
                <a:spcPts val="800"/>
              </a:spcAft>
            </a:pPr>
            <a:r>
              <a:rPr sz="2000" b="0" i="0">
                <a:solidFill>
                  <a:srgbClr val="333333"/>
                </a:solidFill>
                <a:latin typeface="Calibri"/>
              </a:rPr>
              <a:t>–   Y la advertencia final del taller, que hay que repetir aunque ya esté en la diapositiva: </a:t>
            </a:r>
            <a:r>
              <a:rPr sz="2000" b="1" i="0">
                <a:solidFill>
                  <a:srgbClr val="333333"/>
                </a:solidFill>
                <a:latin typeface="Calibri"/>
              </a:rPr>
              <a:t>no se le pasan datos personales a un asistente</a:t>
            </a:r>
            <a:r>
              <a:rPr sz="2000" b="0" i="0">
                <a:solidFill>
                  <a:srgbClr val="333333"/>
                </a:solidFill>
                <a:latin typeface="Calibri"/>
              </a:rPr>
              <a:t> —ni propios ni de terceros—, porque lo que se escribe ahí sale del computador y no vuelve.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Prototipo v2 con IA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27 min en equipos · 27 min: prompt, variantes, elección, correcciones y registro · prototipo v2 + registro de prompt, variantes, correcciones y descartes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PROMPT QUE USAMOS</a:t>
            </a:r>
            <a:r>
              <a:rPr sz="1500" b="0" i="0">
                <a:solidFill>
                  <a:srgbClr val="333333"/>
                </a:solidFill>
                <a:latin typeface="Calibri"/>
              </a:rPr>
              <a:t> — El prompt completo, copiado tal cual. Tiene que incluir </a:t>
            </a:r>
            <a:r>
              <a:rPr sz="1500" b="1" i="0">
                <a:solidFill>
                  <a:srgbClr val="333333"/>
                </a:solidFill>
                <a:latin typeface="Calibri"/>
              </a:rPr>
              <a:t>el problema en una frase, quién lo usa, las restricciones y lo que está prohibido proponer</a:t>
            </a:r>
            <a:r>
              <a:rPr sz="1500" b="0" i="0">
                <a:solidFill>
                  <a:srgbClr val="333333"/>
                </a:solidFill>
                <a:latin typeface="Calibri"/>
              </a:rPr>
              <a:t>.</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LAS TRES VARIANTES</a:t>
            </a:r>
            <a:r>
              <a:rPr sz="1500" b="0" i="0">
                <a:solidFill>
                  <a:srgbClr val="333333"/>
                </a:solidFill>
                <a:latin typeface="Calibri"/>
              </a:rPr>
              <a:t> — Las tres opciones que devolvió, resumidas en dos o tres líneas cada una. </a:t>
            </a:r>
            <a:r>
              <a:rPr sz="1500" b="1" i="0">
                <a:solidFill>
                  <a:srgbClr val="333333"/>
                </a:solidFill>
                <a:latin typeface="Calibri"/>
              </a:rPr>
              <a:t>No una sola respuesta</a:t>
            </a:r>
            <a:r>
              <a:rPr sz="1500" b="0" i="0">
                <a:solidFill>
                  <a:srgbClr val="333333"/>
                </a:solidFill>
                <a:latin typeface="Calibri"/>
              </a:rPr>
              <a:t>: tres.</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QUE ELEGIMOS Y POR QUÉ</a:t>
            </a:r>
            <a:r>
              <a:rPr sz="1500" b="0" i="0">
                <a:solidFill>
                  <a:srgbClr val="333333"/>
                </a:solidFill>
                <a:latin typeface="Calibri"/>
              </a:rPr>
              <a:t> — Cuál eligieron y el criterio, apoyado en sus </a:t>
            </a:r>
            <a:r>
              <a:rPr sz="1500" b="1" i="0">
                <a:solidFill>
                  <a:srgbClr val="333333"/>
                </a:solidFill>
                <a:latin typeface="Calibri"/>
              </a:rPr>
              <a:t>requisitos y restricciones</a:t>
            </a:r>
            <a:r>
              <a:rPr sz="1500" b="0" i="0">
                <a:solidFill>
                  <a:srgbClr val="333333"/>
                </a:solidFill>
                <a:latin typeface="Calibri"/>
              </a:rPr>
              <a:t> — no en «nos gustó más».</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CORREGIMOS A MANO</a:t>
            </a:r>
            <a:r>
              <a:rPr sz="1500" b="0" i="0">
                <a:solidFill>
                  <a:srgbClr val="333333"/>
                </a:solidFill>
                <a:latin typeface="Calibri"/>
              </a:rPr>
              <a:t> — Cada corrección con </a:t>
            </a:r>
            <a:r>
              <a:rPr sz="1500" b="1" i="0">
                <a:solidFill>
                  <a:srgbClr val="333333"/>
                </a:solidFill>
                <a:latin typeface="Calibri"/>
              </a:rPr>
              <a:t>la razón y la sesión de donde sale</a:t>
            </a:r>
            <a:r>
              <a:rPr sz="1500" b="0" i="0">
                <a:solidFill>
                  <a:srgbClr val="333333"/>
                </a:solidFill>
                <a:latin typeface="Calibri"/>
              </a:rPr>
              <a:t>: qué proponía la IA, qué quedó, y por qué. Es el bloque que más pesa.</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LO QUE DESCARTAMOS Y POR QUÉ</a:t>
            </a:r>
            <a:r>
              <a:rPr sz="1500" b="0" i="0">
                <a:solidFill>
                  <a:srgbClr val="333333"/>
                </a:solidFill>
                <a:latin typeface="Calibri"/>
              </a:rPr>
              <a:t> — Las propuestas que se rechazaron completas, y el motivo: fuera del alcance, viola una restricción, viola la ley, o consume demasiado.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25 s · El prompt</a:t>
            </a:r>
          </a:p>
          <a:p>
            <a:pPr>
              <a:spcBef>
                <a:spcPts val="200"/>
              </a:spcBef>
            </a:pPr>
            <a:r>
              <a:rPr sz="1300" b="0" i="0">
                <a:solidFill>
                  <a:srgbClr val="333333"/>
                </a:solidFill>
                <a:latin typeface="Calibri"/>
              </a:rPr>
              <a:t>Lean las restricciones que pusieron. Solo esa parte.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30 s · Las tres variantes</a:t>
            </a:r>
          </a:p>
          <a:p>
            <a:pPr>
              <a:spcBef>
                <a:spcPts val="200"/>
              </a:spcBef>
            </a:pPr>
            <a:r>
              <a:rPr sz="1300" b="0" i="0">
                <a:solidFill>
                  <a:srgbClr val="333333"/>
                </a:solidFill>
                <a:latin typeface="Calibri"/>
              </a:rPr>
              <a:t>En una frase cada una.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30 s · La que eligieron</a:t>
            </a:r>
          </a:p>
          <a:p>
            <a:pPr>
              <a:spcBef>
                <a:spcPts val="200"/>
              </a:spcBef>
            </a:pPr>
            <a:r>
              <a:rPr sz="1300" b="0" i="0">
                <a:solidFill>
                  <a:srgbClr val="333333"/>
                </a:solidFill>
                <a:latin typeface="Calibri"/>
              </a:rPr>
              <a:t>Y el requisito en el que se apoyaron.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70 s · Lo que corrigieron</a:t>
            </a:r>
          </a:p>
          <a:p>
            <a:pPr>
              <a:spcBef>
                <a:spcPts val="200"/>
              </a:spcBef>
            </a:pPr>
            <a:r>
              <a:rPr sz="1300" b="0" i="0">
                <a:solidFill>
                  <a:srgbClr val="333333"/>
                </a:solidFill>
                <a:latin typeface="Calibri"/>
              </a:rPr>
              <a:t>Dos correcciones con su razón y </a:t>
            </a:r>
            <a:r>
              <a:rPr sz="1300" b="1" i="0">
                <a:solidFill>
                  <a:srgbClr val="333333"/>
                </a:solidFill>
                <a:latin typeface="Calibri"/>
              </a:rPr>
              <a:t>de qué sesión sale cada una</a:t>
            </a:r>
            <a:r>
              <a:rPr sz="1300" b="0" i="0">
                <a:solidFill>
                  <a:srgbClr val="333333"/>
                </a:solidFill>
                <a:latin typeface="Calibri"/>
              </a:rPr>
              <a:t>. Es el minuto obligatorio.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25 s · Lo que descartaron</a:t>
            </a:r>
          </a:p>
          <a:p>
            <a:pPr>
              <a:spcBef>
                <a:spcPts val="200"/>
              </a:spcBef>
            </a:pPr>
            <a:r>
              <a:rPr sz="1300" b="0" i="0">
                <a:solidFill>
                  <a:srgbClr val="333333"/>
                </a:solidFill>
                <a:latin typeface="Calibri"/>
              </a:rPr>
              <a:t>Una propuesta rechazada y el motivo.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Uso de IA para generación de ideas — completar el registro del taller (prompt, variantes, elección, correcciones con su origen, descartes y declaración del uso) en el documento del equipo.</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Corrección del prototipo: dejar el </a:t>
            </a:r>
            <a:r>
              <a:rPr sz="2000" b="1" i="0">
                <a:solidFill>
                  <a:srgbClr val="333333"/>
                </a:solidFill>
                <a:latin typeface="Calibri"/>
              </a:rPr>
              <a:t>v2 navegable</a:t>
            </a:r>
            <a:r>
              <a:rPr sz="2000" b="0" i="0">
                <a:solidFill>
                  <a:srgbClr val="333333"/>
                </a:solidFill>
                <a:latin typeface="Calibri"/>
              </a:rPr>
              <a:t> en la carpeta del equipo, con todas las correcciones aplicadas, y </a:t>
            </a:r>
            <a:r>
              <a:rPr sz="2000" b="1" i="0">
                <a:solidFill>
                  <a:srgbClr val="333333"/>
                </a:solidFill>
                <a:latin typeface="Calibri"/>
              </a:rPr>
              <a:t>conseguir a la persona ajena</a:t>
            </a:r>
            <a:r>
              <a:rPr sz="2000" b="0" i="0">
                <a:solidFill>
                  <a:srgbClr val="333333"/>
                </a:solidFill>
                <a:latin typeface="Calibri"/>
              </a:rPr>
              <a:t> que va a probarlo — solo el rol, no el nombre.</a:t>
            </a:r>
          </a:p>
          <a:p>
            <a:pPr>
              <a:spcAft>
                <a:spcPts val="800"/>
              </a:spcAft>
            </a:pPr>
            <a:r>
              <a:rPr sz="2000" b="0" i="0">
                <a:solidFill>
                  <a:srgbClr val="333333"/>
                </a:solidFill>
                <a:latin typeface="Calibri"/>
              </a:rPr>
              <a:t>–   </a:t>
            </a:r>
            <a:r>
              <a:rPr sz="2000" b="1" i="0">
                <a:solidFill>
                  <a:srgbClr val="333333"/>
                </a:solidFill>
                <a:latin typeface="Calibri"/>
              </a:rPr>
              <a:t>Clase 12 · Presentación de avances de proyectos</a:t>
            </a:r>
            <a:r>
              <a:rPr sz="2000" b="0" i="0">
                <a:solidFill>
                  <a:srgbClr val="333333"/>
                </a:solidFill>
                <a:latin typeface="Calibri"/>
              </a:rPr>
              <a:t> — arranca el </a:t>
            </a:r>
            <a:r>
              <a:rPr sz="2000" b="1" i="0">
                <a:solidFill>
                  <a:srgbClr val="333333"/>
                </a:solidFill>
                <a:latin typeface="Calibri"/>
              </a:rPr>
              <a:t>corte 3</a:t>
            </a:r>
            <a:r>
              <a:rPr sz="2000" b="0" i="0">
                <a:solidFill>
                  <a:srgbClr val="333333"/>
                </a:solidFill>
                <a:latin typeface="Calibri"/>
              </a:rPr>
              <a:t> con la </a:t>
            </a:r>
            <a:r>
              <a:rPr sz="2000" b="1" i="0">
                <a:solidFill>
                  <a:srgbClr val="333333"/>
                </a:solidFill>
                <a:latin typeface="Calibri"/>
              </a:rPr>
              <a:t>presentación de avances</a:t>
            </a:r>
            <a:r>
              <a:rPr sz="2000" b="0" i="0">
                <a:solidFill>
                  <a:srgbClr val="333333"/>
                </a:solidFill>
                <a:latin typeface="Calibri"/>
              </a:rPr>
              <a:t>: el prototipo se prueba con una persona ajena al equipo y se recibe retroalimentación entre pares.</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Para la Clase 12 traigan el prototipo v2 navegable </a:t>
            </a:r>
            <a:r>
              <a:rPr sz="2000" b="1" i="0">
                <a:solidFill>
                  <a:srgbClr val="333333"/>
                </a:solidFill>
                <a:latin typeface="Calibri"/>
              </a:rPr>
              <a:t>y la prueba ya hecha con una persona ajena al equipo</a:t>
            </a:r>
            <a:r>
              <a:rPr sz="2000" b="0" i="0">
                <a:solidFill>
                  <a:srgbClr val="333333"/>
                </a:solidFill>
                <a:latin typeface="Calibri"/>
              </a:rPr>
              <a:t>, con la lista de lo que falló. Sin esa lista no hay nada que presentar: la Clase 12 es sobre lo que salió mal, no sobre lo que se planeó.</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