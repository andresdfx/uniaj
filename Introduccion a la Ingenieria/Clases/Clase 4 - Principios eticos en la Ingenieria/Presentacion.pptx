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Pregunte al grupo qué harían ellos antes de mostrar la columna derecha. La mayoría dirá «lo pidió el jefe»: esa es la idea que la clase viene a cambiar.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diferencia práctica es enorme para un recién graduado: una opinión de un practicante se ignora; un numeral de una ley no. Insista en que citar no es ser pedante, es protegerse.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para el grupo es: ¿en qué paso se pudo haber parado? Casi siempre responden el 4, y la respuesta más barata era el 1: no quitar los seguros físicos.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Asunto: Riesgo en la función de exportar clientes</a:t>
            </a:r>
          </a:p>
          <a:p/>
          <a:p>
            <a:r>
              <a:t>Lo que me piden: exportar la lista de clientes con cédula y celular a un archivo compartido.</a:t>
            </a:r>
          </a:p>
          <a:p/>
          <a:p>
            <a:r>
              <a:t>El riesgo: si el archivo se filtra, quedan expuestos los datos de unas 2.000 personas.</a:t>
            </a:r>
          </a:p>
          <a:p/>
          <a:p>
            <a:r>
              <a:t>Lo que propongo: exportar solo nombre y ciudad, que es lo que el reporte necesita.</a:t>
            </a:r>
          </a:p>
          <a:p/>
          <a:p>
            <a:r>
              <a:t>Quedo atento a su decisión. — Firmado, con fecha.</a:t>
            </a:r>
          </a:p>
          <a:p/>
          <a:p>
            <a:r>
              <a:t>Cinco líneas. Si el jefe insiste, la decisión ya no es suya, y queda escrito que avisó.</a:t>
            </a:r>
          </a:p>
          <a:p/>
          <a:p>
            <a:r>
              <a:t>Este es el contenido más útil de la clase para su vida laboral: no es heroísmo, es un correo de cinco líneas. Pídales que escriban uno para su propio proyecto antes de terminar.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Hágalo con el grupo pregunta por pregunta, dejando que respondan antes de mostrar cada paso. Es el mismo método que usan en el taller sobre su caso.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EL INGENIERO QUE FUE A LA CÁRCEL</a:t>
            </a:r>
          </a:p>
          <a:p/>
          <a:p>
            <a:r>
              <a:t>La apertura de hoy es un caso verdadero y conviene no revelar el nombre en el primer minuto, porque la fuerza está en la pregunta. Un ingeniero de Volkswagen escribió el software que detectaba cuándo el carro estaba en la prueba de emisiones para bajar los contaminantes solo durante el examen. El software funcionaba perfecto: hacía exactamente lo que se le pidió, sin errores. En 2017 ese ingeniero se declaró culpable en Estados Unidos y fue condenado a cuarenta meses de prisión, además de una multa.</a:t>
            </a:r>
          </a:p>
          <a:p/>
          <a:p>
            <a:r>
              <a:t>El estudiante de primer semestre trae aprendida la idea de que la responsabilidad es del jefe y que el programador ejecuta. Este caso la rompe con un hecho verificable, y por eso es mejor abrir con él que con una definición de ética. Recoja las respuestas en el muro los primeros diez minutos —van a aparecer «robó», «hackeó», «se equivocó»— y en el minuto 30, cuando llegue al caso en la tabla, muestre que ninguna era: no hubo error, no hubo robo, hubo una decisión de diseño que se ejecutó bien.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LA ÉTICA EN UNA PROFESIÓN Y QUÉ NO ES</a:t>
            </a:r>
          </a:p>
          <a:p/>
          <a:p>
            <a:r>
              <a:t>Hay tres confusiones que hay que desmontar antes de tocar cualquier caso, porque si no, la discusión del taller se vuelve una conversación de opiniones y no se puede calificar.</a:t>
            </a:r>
          </a:p>
          <a:p/>
          <a:p>
            <a:r>
              <a:t>La primera: la ética profesional no es tener buenas intenciones. Es tomar decisiones defendibles con información incompleta y poder explicar el criterio. Un ingeniero con excelentes intenciones que no preguntó a quién afecta su sistema hizo algo mal, y el resultado no mejora por su buena voluntad. Al revés, un ingeniero que detecta un riesgo y lo escribe está actuando bien aunque el proyecto igual salga mal.</a:t>
            </a:r>
          </a:p>
          <a:p/>
          <a:p>
            <a:r>
              <a:t>La segunda: no es un tema de opinión. Esta es la que más rinde en clase, porque el estudiante llega convencido de que en ética «cada uno piensa distinto». Existen códigos escritos, con principios numerados, que uno puede citar como se cita un artículo de una norma. El código de ética de ACM e IEEE Computer Society para ingeniería de software es de 1999 y tiene ocho principios; el código de ética del ingeniero en Colombia es la Ley 842 de 2003. Un veredicto que cita el numeral es un argumento; «a mí me parece que estuvo mal» no lo es. En el taller de hoy se califica exactamente esa diferencia.</a:t>
            </a:r>
          </a:p>
          <a:p/>
          <a:p>
            <a:r>
              <a:t>La tercera: la ley es el piso, no el techo. El caso de Cambridge Analytica es el mejor para mostrarlo: la interfaz que permitía a una aplicación tomar datos de los amigos del usuario estaba documentada públicamente y era permitida por las reglas de la plataforma. Era legal y es indefendible. Al revés también ocurre: algo puede ser éticamente correcto y estar prohibido por una política interna. La ley y la ética se cruzan pero no coinciden, y el ingeniero tiene que mirar las dos.</a:t>
            </a:r>
          </a:p>
          <a:p/>
          <a:p>
            <a:r>
              <a:t>Una cuarta idea, que es la que más les sirve: el momento de la ética es el momento de decidir, y casi siempre es temprano. Quitar un seguro físico de una máquina de radioterapia porque el software ya lo cubre es una decisión que cuesta una reunión; enterarse de las consecuencias cuesta vidas y una investigación de años. La ética no es lo que se hace después del desastre.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CÓDIGOS Y LAS TRES NORMAS COLOMBIANAS QUE HAY QUE SABER NOMBRAR</a:t>
            </a:r>
          </a:p>
          <a:p/>
          <a:p>
            <a:r>
              <a:t>ACM/IEEE, 1999. Ocho principios en este orden: público, cliente y empleador, producto, juicio, gestión, profesión, colegas y sí mismo. El orden importa y hay que decirlo en voz alta: el principio 1 —actuar de forma consistente con el interés público— está por encima del principio 2, que es el cliente y el empleador. Eso significa que el código ya resolvió el conflicto que el estudiante cree irresoluble: si lo que pide el jefe daña al público, el código dice cuál gana. La ACM actualizó además su código general en 2018.</a:t>
            </a:r>
          </a:p>
          <a:p/>
          <a:p>
            <a:r>
              <a:t>Ley 842 de 2003. Es el código de ética profesional de la ingeniería en Colombia y es la que aplica aquí, no las de otros países. Establece los deberes del ingeniero con la sociedad, con la profesión, con sus colegas y con sus clientes, y define las faltas y las sanciones. El punto práctico que hay que aterrizar para un estudiante de primer semestre es la matrícula profesional: en Colombia el ejercicio de la ingeniería requiere matrícula, la expide el COPNIA —Consejo Profesional Nacional de Ingeniería—, y el COPNIA puede sancionar y suspenderla. Es decir, la ética profesional aquí no es un discurso: tiene una autoridad, un procedimiento y una consecuencia sobre el derecho a ejercer.</a:t>
            </a:r>
          </a:p>
          <a:p/>
          <a:p>
            <a:r>
              <a:t>Ley 1581 de 2012 (con el Decreto 1377 de 2013) es la de protección de datos personales, y es la norma que más van a tocar en su vida laboral, empezando por el proyecto de este curso. Los principios que hay que poder nombrar: finalidad (los datos se piden para algo declarado y no se usan para otra cosa), libertad (hace falta autorización previa, expresa e informada), veracidad, transparencia, acceso restringido, seguridad y confidencialidad. Los datos sensibles —salud, biometría, orientación política, sexual o religiosa, datos de niños— tienen protección reforzada. La autoridad es la Superintendencia de Industria y Comercio. Aterrícelo en el curso: si un equipo quiere hacer un proyecto con una base de datos de pacientes de un consultorio del barrio, esta ley le aplica completa, y por eso el curso prohíbe subir nombres y cédulas.</a:t>
            </a:r>
          </a:p>
          <a:p/>
          <a:p>
            <a:r>
              <a:t>Ley 1273 de 2009 agregó al Código Penal un título sobre la protección de la información y los datos: acceso abusivo a un sistema informático, obstaculización ilegítima, interceptación de datos, daño informático, hurto por medios informáticos. La diferencia con la anterior hay que subrayarla: aquí la consecuencia es pena de prisión para la persona, no una sanción administrativa a la empresa. Es la norma que convierte en delito lo que un estudiante puede considerar una travesura —entrar a un sistema ajeno «solo para probar»— y conviene decirlo hoy, en la sesión 4, y no cuando ya pasó.</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CUATRO CASOS: QUÉ CONTAR DE CADA UNO Y CUÁL ES EL MOMENTO DE PARAR</a:t>
            </a:r>
          </a:p>
          <a:p/>
          <a:p>
            <a:r>
              <a:t>Therac-25 (1985–1987). Máquina de radioterapia de la Atomic Energy of Canada Limited. Seis accidentes conocidos con sobredosis masivas de radiación y varios muertos. Las causas son de manual y hay que contarlas completas porque son técnicas: los modelos anteriores tenían seguros físicos que impedían mecánicamente una configuración peligrosa, y en el Therac-25 se quitaron confiando en que el software lo evitaría; el software venía reutilizado de los modelos anteriores, con errores que antes quedaban tapados por esos seguros; había una condición de carrera que se disparaba cuando la operadora corregía la pantalla muy rápido, algo que hacían las operadoras expertas; los mensajes de error eran difíciles de entender («MALFUNCTION 54») y aparecían tan seguido que se ignoraban; nunca hubo revisión independiente del código; y el fabricante sostuvo al principio que la sobredosis era imposible. La investigación de Nancy Leveson y Clark Turner (1993) es la fuente canónica y está disponible. El momento de parar fue la decisión de quitar los seguros físicos: ahí, en una reunión de diseño, era gratis.</a:t>
            </a:r>
          </a:p>
          <a:p/>
          <a:p>
            <a:r>
              <a:t>Volkswagen (2015). El «defeat device»: software que reconocía las condiciones de la prueba de laboratorio y activaba el control de emisiones solo en ese momento. En circulación real el vehículo emitía óxidos de nitrógeno muy por encima del límite. Se descubrió en 2015 y el detalle que interesa aquí es judicial: el ingeniero James Liang se declaró culpable y fue condenado en 2017 a cuarenta meses de prisión y una multa; un directivo recibió una pena mayor. El momento de parar fue cuando le pidieron escribir la detección de la prueba: no hacía falta ser experto en emisiones para ver que un código cuyo propósito es comportarse distinto durante el examen existe para engañar.</a:t>
            </a:r>
          </a:p>
          <a:p/>
          <a:p>
            <a:r>
              <a:t>Boeing 737 MAX (2018–2019). El MCAS empujaba el morro hacia abajo con base en un solo sensor de ángulo de ataque, podía activarse repetidamente, y no estaba explicado en el manual de vuelo, así que los pilotos no sabían que existía. Dos accidentes —Lion Air 610 en octubre de 2018 y Ethiopian 302 en marzo de 2019— con 346 muertos en total, y la flota mundial en tierra. Un detalle que vale oro para una clase de ingeniería: la alerta que avisaba de la discrepancia entre sensores era una opción de pago. El momento de parar fue la decisión de arquitectura de depender de un sensor único en un sistema capaz de mover el avión, y la de no documentarlo para no obligar a reentrenar pilotos.</a:t>
            </a:r>
          </a:p>
          <a:p/>
          <a:p>
            <a:r>
              <a:t>Cambridge Analytica (2018). Una aplicación de cuestionarios recogía datos del usuario y de sus amigos, que nunca la instalaron ni supieron de ella, aprovechando una interfaz de la plataforma que lo permitía. Los datos de decenas de millones de personas terminaron usados para clasificar votantes con fines políticos. La consecuencia fue una multa histórica a la plataforma. El momento de parar fue el diseño de esa interfaz: alguien decidió que el consentimiento de una persona alcanzara para entregar los datos de sus contactos. Es el caso que conecta directo con la Ley 1581 y con el principio de finalidad.</a:t>
            </a:r>
          </a:p>
          <a:p/>
          <a:p>
            <a:r>
              <a:t>El hilo común hay que enunciarlo al final de la tabla: en los cuatro casos el software funcionó. No hubo un error de programación que causara el desastre —salvo parcialmente en Therac-25, y ahí el error existía desde antes y estaba tapado por un seguro que alguien decidió quitar—. Lo que falló fue lo que se pidió construir y el hecho de que nadie con información suficiente lo detuvo. Esa frase es la tesis de la clase.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DEFENSA QUE NO SIRVE Y LAS CINCO PREGUNTAS QUE SÍ</a:t>
            </a:r>
          </a:p>
          <a:p/>
          <a:p>
            <a:r>
              <a:t>«Yo solo programé lo que me pidieron» es la frase que el estudiante va a usar espontáneamente en el taller, y hay que desarmarla con hechos en vez de con sermones. Legalmente no funciona: el caso Volkswagen tiene un ingeniero condenado a prisión por ejecutar. Profesionalmente tampoco: el código ACM/IEEE pone el interés público por encima del empleador, así que el conflicto ya está resuelto en el texto.</a:t>
            </a:r>
          </a:p>
          <a:p/>
          <a:p>
            <a:r>
              <a:t>Pero la parte útil no es la condena, es la alternativa, y conviene enseñarla en términos prácticos porque el estudiante que salga a trabajar el próximo año la va a necesitar: dejar rastro y escalar temprano. Un correo corto que diga «esto que se me pide tiene este riesgo para estas personas, lo dejo por escrito y propongo esta alternativa» hace tres cosas: aumenta la probabilidad de que se corrija, obliga a quien decide a decidir de verdad, y protege a quien lo escribió. Hay que decirlo sin heroísmo: no se le está pidiendo a un practicante que renuncie, se le está pidiendo que no sea el único que sabe. La única postura que no tiene defensa posible es callar.</a:t>
            </a:r>
          </a:p>
          <a:p/>
          <a:p>
            <a:r>
              <a:t>Las cinco preguntas son el método del taller. La más potente es la tercera —«¿aguanta que se sepa?»— porque no requiere saber nada de códigos ni de leyes y descarta la mayoría de las malas ideas en diez segundos: si la decisión depende de que los afectados no se enteren, ya está juzgada. La cuarta —buscar el numeral— es la que convierte una intuición en un argumento profesional, y es la que más pesa en la rúbrica. Y la quinta —¿cuándo se pudo parar?— es la que le da a la clase valor de ingeniería y no de conferencia: en los cuatro casos hubo un momento temprano, identificable y barato, en el que una persona con la información suficiente podía cambiar el resultado.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DEFENSA QUE NO SIRVE Y LAS CINCO PREGUNTAS QUE SÍ</a:t>
            </a:r>
          </a:p>
          <a:p/>
          <a:p>
            <a:r>
              <a:t>«Yo solo programé lo que me pidieron» es la frase que el estudiante va a usar espontáneamente en el taller, y hay que desarmarla con hechos en vez de con sermones. Legalmente no funciona: el caso Volkswagen tiene un ingeniero condenado a prisión por ejecutar. Profesionalmente tampoco: el código ACM/IEEE pone el interés público por encima del empleador, así que el conflicto ya está resuelto en el texto.</a:t>
            </a:r>
          </a:p>
          <a:p/>
          <a:p>
            <a:r>
              <a:t>Pero la parte útil no es la condena, es la alternativa, y conviene enseñarla en términos prácticos porque el estudiante que salga a trabajar el próximo año la va a necesitar: dejar rastro y escalar temprano. Un correo corto que diga «esto que se me pide tiene este riesgo para estas personas, lo dejo por escrito y propongo esta alternativa» hace tres cosas: aumenta la probabilidad de que se corrija, obliga a quien decide a decidir de verdad, y protege a quien lo escribió. Hay que decirlo sin heroísmo: no se le está pidiendo a un practicante que renuncie, se le está pidiendo que no sea el único que sabe. La única postura que no tiene defensa posible es callar.</a:t>
            </a:r>
          </a:p>
          <a:p/>
          <a:p>
            <a:r>
              <a:t>Las cinco preguntas son el método del taller. La más potente es la tercera —«¿aguanta que se sepa?»— porque no requiere saber nada de códigos ni de leyes y descarta la mayoría de las malas ideas en diez segundos: si la decisión depende de que los afectados no se enteren, ya está juzgada. La cuarta —buscar el numeral— es la que convierte una intuición en un argumento profesional, y es la que más pesa en la rúbrica. Y la quinta —¿cuándo se pudo parar?— es la que le da a la clase valor de ingeniería y no de conferencia: en los cuatro casos hubo un momento temprano, identificable y barato, en el que una persona con la información suficiente podía cambiar el resultado.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4</a:t>
            </a:r>
          </a:p>
        </p:txBody>
      </p:sp>
      <p:sp>
        <p:nvSpPr>
          <p:cNvPr id="8" name="TextBox 7"/>
          <p:cNvSpPr txBox="1"/>
          <p:nvPr/>
        </p:nvSpPr>
        <p:spPr>
          <a:xfrm>
            <a:off x="731520" y="2331720"/>
            <a:ext cx="10728655" cy="1828800"/>
          </a:xfrm>
          <a:prstGeom prst="rect">
            <a:avLst/>
          </a:prstGeom>
          <a:noFill/>
        </p:spPr>
        <p:txBody>
          <a:bodyPr wrap="square" anchor="ctr"/>
          <a:lstStyle/>
          <a:p>
            <a:pPr algn="ctr"/>
            <a:r>
              <a:rPr sz="4000" b="1" i="0">
                <a:solidFill>
                  <a:srgbClr val="FFFFFF"/>
                </a:solidFill>
                <a:latin typeface="Calibri"/>
              </a:rPr>
              <a:t>Principios éticos en la Ingeniería</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Cuando el software funciona y aun así el ingeniero hizo algo mal</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 misma estructura de las 16 sesiones. El reloj de pared de su grupo está en el calendario del curso.</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8625"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2255459" cy="502920"/>
          </a:xfrm>
          <a:prstGeom prst="rect">
            <a:avLst/>
          </a:prstGeom>
          <a:noFill/>
        </p:spPr>
        <p:txBody>
          <a:bodyPr wrap="square">
            <a:spAutoFit/>
          </a:bodyPr>
          <a:lstStyle/>
          <a:p>
            <a:pPr algn="ctr"/>
            <a:r>
              <a:rPr sz="1300" b="1" i="0">
                <a:solidFill>
                  <a:srgbClr val="095292"/>
                </a:solidFill>
                <a:latin typeface="Calibri"/>
              </a:rPr>
              <a:t>00:00–00:10 · 10 min</a:t>
            </a:r>
          </a:p>
        </p:txBody>
      </p:sp>
      <p:sp>
        <p:nvSpPr>
          <p:cNvPr id="9" name="TextBox 8"/>
          <p:cNvSpPr txBox="1"/>
          <p:nvPr/>
        </p:nvSpPr>
        <p:spPr>
          <a:xfrm>
            <a:off x="502920" y="2798064"/>
            <a:ext cx="2164019" cy="3099816"/>
          </a:xfrm>
          <a:prstGeom prst="rect">
            <a:avLst/>
          </a:prstGeom>
          <a:noFill/>
        </p:spPr>
        <p:txBody>
          <a:bodyPr wrap="square">
            <a:spAutoFit/>
          </a:bodyPr>
          <a:lstStyle/>
          <a:p>
            <a:pPr algn="ctr"/>
            <a:r>
              <a:rPr sz="1300" b="0" i="0">
                <a:solidFill>
                  <a:srgbClr val="333333"/>
                </a:solidFill>
                <a:latin typeface="Calibri"/>
              </a:rPr>
              <a:t>Pregunta de entrada en el muro mientras se conectan</a:t>
            </a:r>
          </a:p>
        </p:txBody>
      </p:sp>
      <p:sp>
        <p:nvSpPr>
          <p:cNvPr id="10" name="Rounded Rectangle 9"/>
          <p:cNvSpPr/>
          <p:nvPr/>
        </p:nvSpPr>
        <p:spPr>
          <a:xfrm>
            <a:off x="3694084"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2659" y="1563624"/>
            <a:ext cx="2255459" cy="502920"/>
          </a:xfrm>
          <a:prstGeom prst="rect">
            <a:avLst/>
          </a:prstGeom>
          <a:noFill/>
        </p:spPr>
        <p:txBody>
          <a:bodyPr wrap="square">
            <a:spAutoFit/>
          </a:bodyPr>
          <a:lstStyle/>
          <a:p>
            <a:pPr algn="ctr"/>
            <a:r>
              <a:rPr sz="1300" b="1" i="0">
                <a:solidFill>
                  <a:srgbClr val="095292"/>
                </a:solidFill>
                <a:latin typeface="Calibri"/>
              </a:rPr>
              <a:t>00:10–00:55 · 45 min</a:t>
            </a:r>
          </a:p>
        </p:txBody>
      </p:sp>
      <p:sp>
        <p:nvSpPr>
          <p:cNvPr id="12" name="TextBox 11"/>
          <p:cNvSpPr txBox="1"/>
          <p:nvPr/>
        </p:nvSpPr>
        <p:spPr>
          <a:xfrm>
            <a:off x="2758379" y="2798064"/>
            <a:ext cx="2164019" cy="3099816"/>
          </a:xfrm>
          <a:prstGeom prst="rect">
            <a:avLst/>
          </a:prstGeom>
          <a:noFill/>
        </p:spPr>
        <p:txBody>
          <a:bodyPr wrap="square">
            <a:spAutoFit/>
          </a:bodyPr>
          <a:lstStyle/>
          <a:p>
            <a:pPr algn="ctr"/>
            <a:r>
              <a:rPr sz="1300" b="0" i="0">
                <a:solidFill>
                  <a:srgbClr val="333333"/>
                </a:solidFill>
                <a:latin typeface="Calibri"/>
              </a:rPr>
              <a:t>Teoría — principios, normas colombianas y cuatro casos reales</a:t>
            </a:r>
          </a:p>
        </p:txBody>
      </p:sp>
      <p:sp>
        <p:nvSpPr>
          <p:cNvPr id="13" name="Rounded Rectangle 12"/>
          <p:cNvSpPr/>
          <p:nvPr/>
        </p:nvSpPr>
        <p:spPr>
          <a:xfrm>
            <a:off x="5949543"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68118" y="1563624"/>
            <a:ext cx="2255459" cy="502920"/>
          </a:xfrm>
          <a:prstGeom prst="rect">
            <a:avLst/>
          </a:prstGeom>
          <a:noFill/>
        </p:spPr>
        <p:txBody>
          <a:bodyPr wrap="square">
            <a:spAutoFit/>
          </a:bodyPr>
          <a:lstStyle/>
          <a:p>
            <a:pPr algn="ctr"/>
            <a:r>
              <a:rPr sz="1300" b="1" i="0">
                <a:solidFill>
                  <a:srgbClr val="095292"/>
                </a:solidFill>
                <a:latin typeface="Calibri"/>
              </a:rPr>
              <a:t>00:55–01:12 · 17 min</a:t>
            </a:r>
          </a:p>
        </p:txBody>
      </p:sp>
      <p:sp>
        <p:nvSpPr>
          <p:cNvPr id="15" name="TextBox 14"/>
          <p:cNvSpPr txBox="1"/>
          <p:nvPr/>
        </p:nvSpPr>
        <p:spPr>
          <a:xfrm>
            <a:off x="5013838" y="2798064"/>
            <a:ext cx="2164019" cy="3099816"/>
          </a:xfrm>
          <a:prstGeom prst="rect">
            <a:avLst/>
          </a:prstGeom>
          <a:noFill/>
        </p:spPr>
        <p:txBody>
          <a:bodyPr wrap="square">
            <a:spAutoFit/>
          </a:bodyPr>
          <a:lstStyle/>
          <a:p>
            <a:pPr algn="ctr"/>
            <a:r>
              <a:rPr sz="1300" b="0" i="0">
                <a:solidFill>
                  <a:srgbClr val="333333"/>
                </a:solidFill>
                <a:latin typeface="Calibri"/>
              </a:rPr>
              <a:t>Práctica en equipos (opcional · la guía está en la carpeta de la clase)</a:t>
            </a:r>
          </a:p>
        </p:txBody>
      </p:sp>
      <p:sp>
        <p:nvSpPr>
          <p:cNvPr id="16" name="Rounded Rectangle 15"/>
          <p:cNvSpPr/>
          <p:nvPr/>
        </p:nvSpPr>
        <p:spPr>
          <a:xfrm>
            <a:off x="8205002"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577" y="1563624"/>
            <a:ext cx="2255459" cy="502920"/>
          </a:xfrm>
          <a:prstGeom prst="rect">
            <a:avLst/>
          </a:prstGeom>
          <a:noFill/>
        </p:spPr>
        <p:txBody>
          <a:bodyPr wrap="square">
            <a:spAutoFit/>
          </a:bodyPr>
          <a:lstStyle/>
          <a:p>
            <a:pPr algn="ctr"/>
            <a:r>
              <a:rPr sz="1300" b="1" i="0">
                <a:solidFill>
                  <a:srgbClr val="095292"/>
                </a:solidFill>
                <a:latin typeface="Calibri"/>
              </a:rPr>
              <a:t>01:12–01:27 · 15 min</a:t>
            </a:r>
          </a:p>
        </p:txBody>
      </p:sp>
      <p:sp>
        <p:nvSpPr>
          <p:cNvPr id="18" name="TextBox 17"/>
          <p:cNvSpPr txBox="1"/>
          <p:nvPr/>
        </p:nvSpPr>
        <p:spPr>
          <a:xfrm>
            <a:off x="7269297" y="2798064"/>
            <a:ext cx="2164019" cy="3099816"/>
          </a:xfrm>
          <a:prstGeom prst="rect">
            <a:avLst/>
          </a:prstGeom>
          <a:noFill/>
        </p:spPr>
        <p:txBody>
          <a:bodyPr wrap="square">
            <a:spAutoFit/>
          </a:bodyPr>
          <a:lstStyle/>
          <a:p>
            <a:pPr algn="ctr"/>
            <a:r>
              <a:rPr sz="1300" b="0" i="0">
                <a:solidFill>
                  <a:srgbClr val="333333"/>
                </a:solidFill>
                <a:latin typeface="Calibri"/>
              </a:rPr>
              <a:t>Socialización de la práctica, si se hizo</a:t>
            </a:r>
          </a:p>
        </p:txBody>
      </p:sp>
      <p:sp>
        <p:nvSpPr>
          <p:cNvPr id="19" name="Rounded Rectangle 18"/>
          <p:cNvSpPr/>
          <p:nvPr/>
        </p:nvSpPr>
        <p:spPr>
          <a:xfrm>
            <a:off x="10460461"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9036" y="1563624"/>
            <a:ext cx="2255459" cy="502920"/>
          </a:xfrm>
          <a:prstGeom prst="rect">
            <a:avLst/>
          </a:prstGeom>
          <a:noFill/>
        </p:spPr>
        <p:txBody>
          <a:bodyPr wrap="square">
            <a:spAutoFit/>
          </a:bodyPr>
          <a:lstStyle/>
          <a:p>
            <a:pPr algn="ctr"/>
            <a:r>
              <a:rPr sz="1300" b="1" i="0">
                <a:solidFill>
                  <a:srgbClr val="095292"/>
                </a:solidFill>
                <a:latin typeface="Calibri"/>
              </a:rPr>
              <a:t>01:27–01:30 · 3 min</a:t>
            </a:r>
          </a:p>
        </p:txBody>
      </p:sp>
      <p:sp>
        <p:nvSpPr>
          <p:cNvPr id="21" name="TextBox 20"/>
          <p:cNvSpPr txBox="1"/>
          <p:nvPr/>
        </p:nvSpPr>
        <p:spPr>
          <a:xfrm>
            <a:off x="9524756" y="2798064"/>
            <a:ext cx="2164019" cy="3099816"/>
          </a:xfrm>
          <a:prstGeom prst="rect">
            <a:avLst/>
          </a:prstGeom>
          <a:noFill/>
        </p:spPr>
        <p:txBody>
          <a:bodyPr wrap="square">
            <a:spAutoFit/>
          </a:bodyPr>
          <a:lstStyle/>
          <a:p>
            <a:pPr algn="ctr"/>
            <a:r>
              <a:rPr sz="1300" b="0" i="0">
                <a:solidFill>
                  <a:srgbClr val="333333"/>
                </a:solidFill>
                <a:latin typeface="Calibri"/>
              </a:rPr>
              <a:t>Una idea, la tarea y los enlaces en el chat</a:t>
            </a:r>
          </a:p>
        </p:txBody>
      </p:sp>
      <p:sp>
        <p:nvSpPr>
          <p:cNvPr id="22" name="TextBox 21"/>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3" name="TextBox 2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Distinguir un </a:t>
            </a:r>
            <a:r>
              <a:rPr sz="2000" b="1" i="0">
                <a:solidFill>
                  <a:srgbClr val="333333"/>
                </a:solidFill>
                <a:latin typeface="Calibri"/>
              </a:rPr>
              <a:t>problema ético</a:t>
            </a:r>
            <a:r>
              <a:rPr sz="2000" b="0" i="0">
                <a:solidFill>
                  <a:srgbClr val="333333"/>
                </a:solidFill>
                <a:latin typeface="Calibri"/>
              </a:rPr>
              <a:t> de un problema técnico y de un problema legal.</a:t>
            </a:r>
          </a:p>
          <a:p>
            <a:pPr>
              <a:spcAft>
                <a:spcPts val="800"/>
              </a:spcAft>
            </a:pPr>
            <a:r>
              <a:rPr sz="2000" b="0" i="0">
                <a:solidFill>
                  <a:srgbClr val="333333"/>
                </a:solidFill>
                <a:latin typeface="Calibri"/>
              </a:rPr>
              <a:t>–   Usar los principios del </a:t>
            </a:r>
            <a:r>
              <a:rPr sz="2000" b="1" i="0">
                <a:solidFill>
                  <a:srgbClr val="333333"/>
                </a:solidFill>
                <a:latin typeface="Calibri"/>
              </a:rPr>
              <a:t>código de ética de ACM/IEEE</a:t>
            </a:r>
            <a:r>
              <a:rPr sz="2000" b="0" i="0">
                <a:solidFill>
                  <a:srgbClr val="333333"/>
                </a:solidFill>
                <a:latin typeface="Calibri"/>
              </a:rPr>
              <a:t> y de la </a:t>
            </a:r>
            <a:r>
              <a:rPr sz="2000" b="1" i="0">
                <a:solidFill>
                  <a:srgbClr val="333333"/>
                </a:solidFill>
                <a:latin typeface="Calibri"/>
              </a:rPr>
              <a:t>Ley 842 de 2003</a:t>
            </a:r>
            <a:r>
              <a:rPr sz="2000" b="0" i="0">
                <a:solidFill>
                  <a:srgbClr val="333333"/>
                </a:solidFill>
                <a:latin typeface="Calibri"/>
              </a:rPr>
              <a:t> para juzgar un caso.</a:t>
            </a:r>
          </a:p>
          <a:p>
            <a:pPr>
              <a:spcAft>
                <a:spcPts val="800"/>
              </a:spcAft>
            </a:pPr>
            <a:r>
              <a:rPr sz="2000" b="0" i="0">
                <a:solidFill>
                  <a:srgbClr val="333333"/>
                </a:solidFill>
                <a:latin typeface="Calibri"/>
              </a:rPr>
              <a:t>–   Nombrar </a:t>
            </a:r>
            <a:r>
              <a:rPr sz="2000" b="1" i="0">
                <a:solidFill>
                  <a:srgbClr val="333333"/>
                </a:solidFill>
                <a:latin typeface="Calibri"/>
              </a:rPr>
              <a:t>tres normas colombianas</a:t>
            </a:r>
            <a:r>
              <a:rPr sz="2000" b="0" i="0">
                <a:solidFill>
                  <a:srgbClr val="333333"/>
                </a:solidFill>
                <a:latin typeface="Calibri"/>
              </a:rPr>
              <a:t> que obligan al ingeniero de sistemas, y qué exige cada una.</a:t>
            </a:r>
          </a:p>
          <a:p>
            <a:pPr>
              <a:spcAft>
                <a:spcPts val="800"/>
              </a:spcAft>
            </a:pPr>
            <a:r>
              <a:rPr sz="2000" b="0" i="0">
                <a:solidFill>
                  <a:srgbClr val="333333"/>
                </a:solidFill>
                <a:latin typeface="Calibri"/>
              </a:rPr>
              <a:t>–   Identificar en un caso real </a:t>
            </a:r>
            <a:r>
              <a:rPr sz="2000" b="1" i="0">
                <a:solidFill>
                  <a:srgbClr val="333333"/>
                </a:solidFill>
                <a:latin typeface="Calibri"/>
              </a:rPr>
              <a:t>el momento en que se pudo parar</a:t>
            </a:r>
            <a:r>
              <a:rPr sz="2000" b="0" i="0">
                <a:solidFill>
                  <a:srgbClr val="333333"/>
                </a:solidFill>
                <a:latin typeface="Calibri"/>
              </a:rPr>
              <a:t> y quién tenía que hablar.</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Un ingeniero escribió el código que le pidieron, funcionó perfecto, y terminó en la cárcel. ¿Cómo llega alguien ahí?</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Pasó de verdad: 40 meses de prisión, y el software no tenía un solo error.</a:t>
            </a:r>
          </a:p>
          <a:p>
            <a:pPr algn="ctr">
              <a:spcAft>
                <a:spcPts val="600"/>
              </a:spcAft>
            </a:pPr>
            <a:r>
              <a:rPr sz="1500" b="0" i="0">
                <a:solidFill>
                  <a:srgbClr val="269CCB"/>
                </a:solidFill>
                <a:latin typeface="Calibri"/>
              </a:rPr>
              <a:t>Hoy vemos por qué «yo solo programé lo que me pidieron» no es una defensa.</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Tres cosas que se confunden</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Lo que la gente cree que es la ética</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Ser buena persona y tener buenas intenciones.</a:t>
            </a:r>
          </a:p>
          <a:p>
            <a:pPr>
              <a:spcAft>
                <a:spcPts val="800"/>
              </a:spcAft>
            </a:pPr>
            <a:r>
              <a:rPr sz="1500" b="0" i="0">
                <a:solidFill>
                  <a:srgbClr val="333333"/>
                </a:solidFill>
                <a:latin typeface="Calibri"/>
              </a:rPr>
              <a:t>–   Un tema de opinión: cada uno tiene la suya.</a:t>
            </a:r>
          </a:p>
          <a:p>
            <a:pPr>
              <a:spcAft>
                <a:spcPts val="800"/>
              </a:spcAft>
            </a:pPr>
            <a:r>
              <a:rPr sz="1500" b="0" i="0">
                <a:solidFill>
                  <a:srgbClr val="333333"/>
                </a:solidFill>
                <a:latin typeface="Calibri"/>
              </a:rPr>
              <a:t>–   Algo que se ve al final, cuando ya pasó el daño.</a:t>
            </a:r>
          </a:p>
          <a:p>
            <a:pPr>
              <a:spcAft>
                <a:spcPts val="800"/>
              </a:spcAft>
            </a:pPr>
            <a:r>
              <a:rPr sz="1500" b="0" i="0">
                <a:solidFill>
                  <a:srgbClr val="333333"/>
                </a:solidFill>
                <a:latin typeface="Calibri"/>
              </a:rPr>
              <a:t>–   Responsabilidad del jefe, que fue el que decidió.</a:t>
            </a:r>
          </a:p>
          <a:p>
            <a:pPr>
              <a:spcAft>
                <a:spcPts val="800"/>
              </a:spcAft>
            </a:pPr>
            <a:r>
              <a:rPr sz="1500" b="0" i="0">
                <a:solidFill>
                  <a:srgbClr val="333333"/>
                </a:solidFill>
                <a:latin typeface="Calibri"/>
              </a:rPr>
              <a:t>–   Lo mismo que la ley: si es legal, está bien.</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Lo que es en una profesión</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a:t>
            </a:r>
            <a:r>
              <a:rPr sz="1500" b="1" i="0">
                <a:solidFill>
                  <a:srgbClr val="333333"/>
                </a:solidFill>
                <a:latin typeface="Calibri"/>
              </a:rPr>
              <a:t>Decidir bien con información incompleta</a:t>
            </a:r>
            <a:r>
              <a:rPr sz="1500" b="0" i="0">
                <a:solidFill>
                  <a:srgbClr val="333333"/>
                </a:solidFill>
                <a:latin typeface="Calibri"/>
              </a:rPr>
              <a:t> y poder explicar por qué.</a:t>
            </a:r>
          </a:p>
          <a:p>
            <a:pPr>
              <a:spcAft>
                <a:spcPts val="800"/>
              </a:spcAft>
            </a:pPr>
            <a:r>
              <a:rPr sz="1500" b="0" i="0">
                <a:solidFill>
                  <a:srgbClr val="333333"/>
                </a:solidFill>
                <a:latin typeface="Calibri"/>
              </a:rPr>
              <a:t>–   Hay </a:t>
            </a:r>
            <a:r>
              <a:rPr sz="1500" b="1" i="0">
                <a:solidFill>
                  <a:srgbClr val="333333"/>
                </a:solidFill>
                <a:latin typeface="Calibri"/>
              </a:rPr>
              <a:t>códigos escritos</a:t>
            </a:r>
            <a:r>
              <a:rPr sz="1500" b="0" i="0">
                <a:solidFill>
                  <a:srgbClr val="333333"/>
                </a:solidFill>
                <a:latin typeface="Calibri"/>
              </a:rPr>
              <a:t> con principios y numerales que se citan.</a:t>
            </a:r>
          </a:p>
          <a:p>
            <a:pPr>
              <a:spcAft>
                <a:spcPts val="800"/>
              </a:spcAft>
            </a:pPr>
            <a:r>
              <a:rPr sz="1500" b="0" i="0">
                <a:solidFill>
                  <a:srgbClr val="333333"/>
                </a:solidFill>
                <a:latin typeface="Calibri"/>
              </a:rPr>
              <a:t>–   Se ve </a:t>
            </a:r>
            <a:r>
              <a:rPr sz="1500" b="1" i="0">
                <a:solidFill>
                  <a:srgbClr val="333333"/>
                </a:solidFill>
                <a:latin typeface="Calibri"/>
              </a:rPr>
              <a:t>en el momento de decidir</a:t>
            </a:r>
            <a:r>
              <a:rPr sz="1500" b="0" i="0">
                <a:solidFill>
                  <a:srgbClr val="333333"/>
                </a:solidFill>
                <a:latin typeface="Calibri"/>
              </a:rPr>
              <a:t>, que casi siempre es temprano y barato.</a:t>
            </a:r>
          </a:p>
          <a:p>
            <a:pPr>
              <a:spcAft>
                <a:spcPts val="800"/>
              </a:spcAft>
            </a:pPr>
            <a:r>
              <a:rPr sz="1500" b="0" i="0">
                <a:solidFill>
                  <a:srgbClr val="333333"/>
                </a:solidFill>
                <a:latin typeface="Calibri"/>
              </a:rPr>
              <a:t>–   El que firma responde, y </a:t>
            </a:r>
            <a:r>
              <a:rPr sz="1500" b="1" i="0">
                <a:solidFill>
                  <a:srgbClr val="333333"/>
                </a:solidFill>
                <a:latin typeface="Calibri"/>
              </a:rPr>
              <a:t>el que ejecuta también</a:t>
            </a:r>
            <a:r>
              <a:rPr sz="1500" b="0" i="0">
                <a:solidFill>
                  <a:srgbClr val="333333"/>
                </a:solidFill>
                <a:latin typeface="Calibri"/>
              </a:rPr>
              <a:t>: hay ingenieros presos.</a:t>
            </a:r>
          </a:p>
          <a:p>
            <a:pPr>
              <a:spcAft>
                <a:spcPts val="800"/>
              </a:spcAft>
            </a:pPr>
            <a:r>
              <a:rPr sz="1500" b="0" i="0">
                <a:solidFill>
                  <a:srgbClr val="333333"/>
                </a:solidFill>
                <a:latin typeface="Calibri"/>
              </a:rPr>
              <a:t>–   La ley es el </a:t>
            </a:r>
            <a:r>
              <a:rPr sz="1500" b="1" i="0">
                <a:solidFill>
                  <a:srgbClr val="333333"/>
                </a:solidFill>
                <a:latin typeface="Calibri"/>
              </a:rPr>
              <a:t>mínimo</a:t>
            </a:r>
            <a:r>
              <a:rPr sz="1500" b="0" i="0">
                <a:solidFill>
                  <a:srgbClr val="333333"/>
                </a:solidFill>
                <a:latin typeface="Calibri"/>
              </a:rPr>
              <a:t>. Muchas cosas legales son indefendibles.</a:t>
            </a:r>
          </a:p>
        </p:txBody>
      </p:sp>
      <p:pic>
        <p:nvPicPr>
          <p:cNvPr id="13" name="Picture 12" descr="sello_mal.png"/>
          <p:cNvPicPr>
            <a:picLocks noChangeAspect="1"/>
          </p:cNvPicPr>
          <p:nvPr/>
        </p:nvPicPr>
        <p:blipFill>
          <a:blip r:embed="rId2"/>
          <a:stretch>
            <a:fillRect/>
          </a:stretch>
        </p:blipFill>
        <p:spPr>
          <a:xfrm>
            <a:off x="566928" y="1316736"/>
            <a:ext cx="393192" cy="393192"/>
          </a:xfrm>
          <a:prstGeom prst="rect">
            <a:avLst/>
          </a:prstGeom>
        </p:spPr>
      </p:pic>
      <p:pic>
        <p:nvPicPr>
          <p:cNvPr id="14" name="Picture 13" descr="sello_bien.png"/>
          <p:cNvPicPr>
            <a:picLocks noChangeAspect="1"/>
          </p:cNvPicPr>
          <p:nvPr/>
        </p:nvPicPr>
        <p:blipFill>
          <a:blip r:embed="rId3"/>
          <a:stretch>
            <a:fillRect/>
          </a:stretch>
        </p:blipFill>
        <p:spPr>
          <a:xfrm>
            <a:off x="6365595" y="1316736"/>
            <a:ext cx="393192" cy="393192"/>
          </a:xfrm>
          <a:prstGeom prst="rect">
            <a:avLst/>
          </a:prstGeom>
        </p:spPr>
      </p:pic>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el mismo pedido, decidido de dos maneras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jefe pide: «guarden la cédula y el celular de todos los clientes, por si acaso».</a:t>
            </a:r>
          </a:p>
        </p:txBody>
      </p:sp>
      <p:sp>
        <p:nvSpPr>
          <p:cNvPr id="6" name="Rounded Rectangle 5"/>
          <p:cNvSpPr/>
          <p:nvPr/>
        </p:nvSpPr>
        <p:spPr>
          <a:xfrm>
            <a:off x="457200" y="1472184"/>
            <a:ext cx="5478627" cy="4882896"/>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72184"/>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63624"/>
            <a:ext cx="5204307" cy="365760"/>
          </a:xfrm>
          <a:prstGeom prst="rect">
            <a:avLst/>
          </a:prstGeom>
          <a:noFill/>
        </p:spPr>
        <p:txBody>
          <a:bodyPr wrap="square" anchor="ctr"/>
          <a:lstStyle/>
          <a:p>
            <a:pPr algn="ctr"/>
            <a:r>
              <a:rPr sz="1600" b="1" i="0">
                <a:solidFill>
                  <a:srgbClr val="FFFFFF"/>
                </a:solidFill>
                <a:latin typeface="Calibri"/>
              </a:rPr>
              <a:t>Decisión que no se defiende</a:t>
            </a:r>
          </a:p>
        </p:txBody>
      </p:sp>
      <p:sp>
        <p:nvSpPr>
          <p:cNvPr id="9" name="TextBox 8"/>
          <p:cNvSpPr txBox="1"/>
          <p:nvPr/>
        </p:nvSpPr>
        <p:spPr>
          <a:xfrm>
            <a:off x="621792"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«Lo pidió el jefe, entonces se hace».</a:t>
            </a:r>
          </a:p>
          <a:p>
            <a:pPr>
              <a:spcAft>
                <a:spcPts val="800"/>
              </a:spcAft>
            </a:pPr>
            <a:r>
              <a:rPr sz="1500" b="0" i="0">
                <a:solidFill>
                  <a:srgbClr val="333333"/>
                </a:solidFill>
                <a:latin typeface="Calibri"/>
              </a:rPr>
              <a:t>–   «Es legal: nadie ha dicho que no».</a:t>
            </a:r>
          </a:p>
          <a:p>
            <a:pPr>
              <a:spcAft>
                <a:spcPts val="800"/>
              </a:spcAft>
            </a:pPr>
            <a:r>
              <a:rPr sz="1500" b="0" i="0">
                <a:solidFill>
                  <a:srgbClr val="333333"/>
                </a:solidFill>
                <a:latin typeface="Calibri"/>
              </a:rPr>
              <a:t>–   «Cada uno opina distinto sobre los datos».</a:t>
            </a:r>
          </a:p>
          <a:p>
            <a:pPr>
              <a:spcAft>
                <a:spcPts val="800"/>
              </a:spcAft>
            </a:pPr>
            <a:r>
              <a:rPr sz="1500" b="0" i="0">
                <a:solidFill>
                  <a:srgbClr val="333333"/>
                </a:solidFill>
                <a:latin typeface="Calibri"/>
              </a:rPr>
              <a:t>–   Se guarda todo y nadie sabe para qué.</a:t>
            </a:r>
          </a:p>
        </p:txBody>
      </p:sp>
      <p:sp>
        <p:nvSpPr>
          <p:cNvPr id="10" name="Rounded Rectangle 9"/>
          <p:cNvSpPr/>
          <p:nvPr/>
        </p:nvSpPr>
        <p:spPr>
          <a:xfrm>
            <a:off x="6255867" y="1472184"/>
            <a:ext cx="5478627" cy="488289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55867" y="1472184"/>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3027" y="1563624"/>
            <a:ext cx="5204307" cy="365760"/>
          </a:xfrm>
          <a:prstGeom prst="rect">
            <a:avLst/>
          </a:prstGeom>
          <a:noFill/>
        </p:spPr>
        <p:txBody>
          <a:bodyPr wrap="square" anchor="ctr"/>
          <a:lstStyle/>
          <a:p>
            <a:pPr algn="ctr"/>
            <a:r>
              <a:rPr sz="1600" b="1" i="0">
                <a:solidFill>
                  <a:srgbClr val="FFFFFF"/>
                </a:solidFill>
                <a:latin typeface="Calibri"/>
              </a:rPr>
              <a:t>Decisión que sí se defiende</a:t>
            </a:r>
          </a:p>
        </p:txBody>
      </p:sp>
      <p:sp>
        <p:nvSpPr>
          <p:cNvPr id="13" name="TextBox 12"/>
          <p:cNvSpPr txBox="1"/>
          <p:nvPr/>
        </p:nvSpPr>
        <p:spPr>
          <a:xfrm>
            <a:off x="6420459"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Se pregunta </a:t>
            </a:r>
            <a:r>
              <a:rPr sz="1500" b="1" i="0">
                <a:solidFill>
                  <a:srgbClr val="333333"/>
                </a:solidFill>
                <a:latin typeface="Calibri"/>
              </a:rPr>
              <a:t>para qué</a:t>
            </a:r>
            <a:r>
              <a:rPr sz="1500" b="0" i="0">
                <a:solidFill>
                  <a:srgbClr val="333333"/>
                </a:solidFill>
                <a:latin typeface="Calibri"/>
              </a:rPr>
              <a:t> se va a usar cada dato.</a:t>
            </a:r>
          </a:p>
          <a:p>
            <a:pPr>
              <a:spcAft>
                <a:spcPts val="800"/>
              </a:spcAft>
            </a:pPr>
            <a:r>
              <a:rPr sz="1500" b="0" i="0">
                <a:solidFill>
                  <a:srgbClr val="333333"/>
                </a:solidFill>
                <a:latin typeface="Calibri"/>
              </a:rPr>
              <a:t>–   Se guarda </a:t>
            </a:r>
            <a:r>
              <a:rPr sz="1500" b="1" i="0">
                <a:solidFill>
                  <a:srgbClr val="333333"/>
                </a:solidFill>
                <a:latin typeface="Calibri"/>
              </a:rPr>
              <a:t>solo lo que se usa</a:t>
            </a:r>
            <a:r>
              <a:rPr sz="1500" b="0" i="0">
                <a:solidFill>
                  <a:srgbClr val="333333"/>
                </a:solidFill>
                <a:latin typeface="Calibri"/>
              </a:rPr>
              <a:t>, y el cliente lo sabe.</a:t>
            </a:r>
          </a:p>
          <a:p>
            <a:pPr>
              <a:spcAft>
                <a:spcPts val="800"/>
              </a:spcAft>
            </a:pPr>
            <a:r>
              <a:rPr sz="1500" b="0" i="0">
                <a:solidFill>
                  <a:srgbClr val="333333"/>
                </a:solidFill>
                <a:latin typeface="Calibri"/>
              </a:rPr>
              <a:t>–   Se cita la </a:t>
            </a:r>
            <a:r>
              <a:rPr sz="1500" b="1" i="0">
                <a:solidFill>
                  <a:srgbClr val="333333"/>
                </a:solidFill>
                <a:latin typeface="Calibri"/>
              </a:rPr>
              <a:t>Ley 1581 de 2012</a:t>
            </a:r>
            <a:r>
              <a:rPr sz="1500" b="0" i="0">
                <a:solidFill>
                  <a:srgbClr val="333333"/>
                </a:solidFill>
                <a:latin typeface="Calibri"/>
              </a:rPr>
              <a:t>, no una opinión.</a:t>
            </a:r>
          </a:p>
          <a:p>
            <a:pPr>
              <a:spcAft>
                <a:spcPts val="800"/>
              </a:spcAft>
            </a:pPr>
            <a:r>
              <a:rPr sz="1500" b="0" i="0">
                <a:solidFill>
                  <a:srgbClr val="333333"/>
                </a:solidFill>
                <a:latin typeface="Calibri"/>
              </a:rPr>
              <a:t>–   Queda escrito </a:t>
            </a:r>
            <a:r>
              <a:rPr sz="1500" b="1" i="0">
                <a:solidFill>
                  <a:srgbClr val="333333"/>
                </a:solidFill>
                <a:latin typeface="Calibri"/>
              </a:rPr>
              <a:t>quién lo decidió y por qué</a:t>
            </a:r>
            <a:r>
              <a:rPr sz="1500" b="0" i="0">
                <a:solidFill>
                  <a:srgbClr val="333333"/>
                </a:solidFill>
                <a:latin typeface="Calibri"/>
              </a:rPr>
              <a:t>.</a:t>
            </a:r>
          </a:p>
        </p:txBody>
      </p:sp>
      <p:pic>
        <p:nvPicPr>
          <p:cNvPr id="14" name="Picture 13" descr="sello_mal.png"/>
          <p:cNvPicPr>
            <a:picLocks noChangeAspect="1"/>
          </p:cNvPicPr>
          <p:nvPr/>
        </p:nvPicPr>
        <p:blipFill>
          <a:blip r:embed="rId2"/>
          <a:stretch>
            <a:fillRect/>
          </a:stretch>
        </p:blipFill>
        <p:spPr>
          <a:xfrm>
            <a:off x="566928" y="1527048"/>
            <a:ext cx="393192" cy="393192"/>
          </a:xfrm>
          <a:prstGeom prst="rect">
            <a:avLst/>
          </a:prstGeom>
        </p:spPr>
      </p:pic>
      <p:pic>
        <p:nvPicPr>
          <p:cNvPr id="15" name="Picture 14" descr="sello_bien.png"/>
          <p:cNvPicPr>
            <a:picLocks noChangeAspect="1"/>
          </p:cNvPicPr>
          <p:nvPr/>
        </p:nvPicPr>
        <p:blipFill>
          <a:blip r:embed="rId3"/>
          <a:stretch>
            <a:fillRect/>
          </a:stretch>
        </p:blipFill>
        <p:spPr>
          <a:xfrm>
            <a:off x="6365595" y="1527048"/>
            <a:ext cx="393192" cy="393192"/>
          </a:xfrm>
          <a:prstGeom prst="rect">
            <a:avLst/>
          </a:prstGeom>
        </p:spPr>
      </p:pic>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Los principios que sí están escritos</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ACM/IEEE · Código de Ética del Ingeniero de Software (1999)</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Ocho principios: </a:t>
            </a:r>
            <a:r>
              <a:rPr sz="1300" b="1" i="0">
                <a:solidFill>
                  <a:srgbClr val="333333"/>
                </a:solidFill>
                <a:latin typeface="Calibri"/>
              </a:rPr>
              <a:t>público</a:t>
            </a:r>
            <a:r>
              <a:rPr sz="1300" b="0" i="0">
                <a:solidFill>
                  <a:srgbClr val="333333"/>
                </a:solidFill>
                <a:latin typeface="Calibri"/>
              </a:rPr>
              <a:t>, cliente y empleador, producto, juicio, gestión, profesión, colegas y sí mismo. El primero manda sobre los otros siete: «actuar de forma consistente con el </a:t>
            </a:r>
            <a:r>
              <a:rPr sz="1300" b="1" i="0">
                <a:solidFill>
                  <a:srgbClr val="333333"/>
                </a:solidFill>
                <a:latin typeface="Calibri"/>
              </a:rPr>
              <a:t>interés público</a:t>
            </a:r>
            <a:r>
              <a:rPr sz="1300" b="0" i="0">
                <a:solidFill>
                  <a:srgbClr val="333333"/>
                </a:solidFill>
                <a:latin typeface="Calibri"/>
              </a:rPr>
              <a:t>».</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Ley 842 de 2003 · Colombia</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0" i="0">
                <a:solidFill>
                  <a:srgbClr val="333333"/>
                </a:solidFill>
                <a:latin typeface="Calibri"/>
              </a:rPr>
              <a:t>Código de ética profesional de la ingeniería. Obliga a los deberes con la sociedad, la dignidad de la profesión y el ejercicio con </a:t>
            </a:r>
            <a:r>
              <a:rPr sz="1300" b="1" i="0">
                <a:solidFill>
                  <a:srgbClr val="333333"/>
                </a:solidFill>
                <a:latin typeface="Calibri"/>
              </a:rPr>
              <a:t>matrícula profesional</a:t>
            </a:r>
            <a:r>
              <a:rPr sz="1300" b="0" i="0">
                <a:solidFill>
                  <a:srgbClr val="333333"/>
                </a:solidFill>
                <a:latin typeface="Calibri"/>
              </a:rPr>
              <a:t> (COPNIA), que es la que se puede suspender.</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Ley 1581 de 2012 · Datos personales</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Principios de finalidad, libertad, veracidad, seguridad y acceso restringido. </a:t>
            </a:r>
            <a:r>
              <a:rPr sz="1300" b="1" i="0">
                <a:solidFill>
                  <a:srgbClr val="333333"/>
                </a:solidFill>
                <a:latin typeface="Calibri"/>
              </a:rPr>
              <a:t>Nada de datos personales sin autorización previa</a:t>
            </a:r>
            <a:r>
              <a:rPr sz="1300" b="0" i="0">
                <a:solidFill>
                  <a:srgbClr val="333333"/>
                </a:solidFill>
                <a:latin typeface="Calibri"/>
              </a:rPr>
              <a:t>, y los datos sensibles (salud, biometría, orientación) tienen protección reforzada.</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Ley 1273 de 2009 · Delitos informáticos</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Metió al Código Penal el acceso abusivo a un sistema informático, la interceptación de datos y el hurto por medios informáticos. Aquí </a:t>
            </a:r>
            <a:r>
              <a:rPr sz="1300" b="1" i="0">
                <a:solidFill>
                  <a:srgbClr val="333333"/>
                </a:solidFill>
                <a:latin typeface="Calibri"/>
              </a:rPr>
              <a:t>la sanción es cárcel</a:t>
            </a:r>
            <a:r>
              <a:rPr sz="1300" b="0" i="0">
                <a:solidFill>
                  <a:srgbClr val="333333"/>
                </a:solidFill>
                <a:latin typeface="Calibri"/>
              </a:rPr>
              <a:t>, no una multa a la empresa.</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opinar o citar un principio</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 misma objeción, dicha de dos formas. Solo una se puede sostener en una reunión.</a:t>
            </a:r>
          </a:p>
        </p:txBody>
      </p:sp>
      <p:sp>
        <p:nvSpPr>
          <p:cNvPr id="6" name="Rounded Rectangle 5"/>
          <p:cNvSpPr/>
          <p:nvPr/>
        </p:nvSpPr>
        <p:spPr>
          <a:xfrm>
            <a:off x="457200" y="1472184"/>
            <a:ext cx="5478627" cy="4882896"/>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72184"/>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63624"/>
            <a:ext cx="5204307" cy="365760"/>
          </a:xfrm>
          <a:prstGeom prst="rect">
            <a:avLst/>
          </a:prstGeom>
          <a:noFill/>
        </p:spPr>
        <p:txBody>
          <a:bodyPr wrap="square" anchor="ctr"/>
          <a:lstStyle/>
          <a:p>
            <a:pPr algn="ctr"/>
            <a:r>
              <a:rPr sz="1600" b="1" i="0">
                <a:solidFill>
                  <a:srgbClr val="FFFFFF"/>
                </a:solidFill>
                <a:latin typeface="Calibri"/>
              </a:rPr>
              <a:t>Una opinión</a:t>
            </a:r>
          </a:p>
        </p:txBody>
      </p:sp>
      <p:sp>
        <p:nvSpPr>
          <p:cNvPr id="9" name="TextBox 8"/>
          <p:cNvSpPr txBox="1"/>
          <p:nvPr/>
        </p:nvSpPr>
        <p:spPr>
          <a:xfrm>
            <a:off x="621792"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«A mí no me parece bien guardar esos datos».</a:t>
            </a:r>
          </a:p>
          <a:p>
            <a:pPr>
              <a:spcAft>
                <a:spcPts val="800"/>
              </a:spcAft>
            </a:pPr>
            <a:r>
              <a:rPr sz="1500" b="0" i="0">
                <a:solidFill>
                  <a:srgbClr val="333333"/>
                </a:solidFill>
                <a:latin typeface="Calibri"/>
              </a:rPr>
              <a:t>–   Se puede responder con otra opinión.</a:t>
            </a:r>
          </a:p>
          <a:p>
            <a:pPr>
              <a:spcAft>
                <a:spcPts val="800"/>
              </a:spcAft>
            </a:pPr>
            <a:r>
              <a:rPr sz="1500" b="0" i="0">
                <a:solidFill>
                  <a:srgbClr val="333333"/>
                </a:solidFill>
                <a:latin typeface="Calibri"/>
              </a:rPr>
              <a:t>–   Pesa según quién la diga.</a:t>
            </a:r>
          </a:p>
        </p:txBody>
      </p:sp>
      <p:sp>
        <p:nvSpPr>
          <p:cNvPr id="10" name="Rounded Rectangle 9"/>
          <p:cNvSpPr/>
          <p:nvPr/>
        </p:nvSpPr>
        <p:spPr>
          <a:xfrm>
            <a:off x="6255867" y="1472184"/>
            <a:ext cx="5478627" cy="488289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55867" y="1472184"/>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3027" y="1563624"/>
            <a:ext cx="5204307" cy="365760"/>
          </a:xfrm>
          <a:prstGeom prst="rect">
            <a:avLst/>
          </a:prstGeom>
          <a:noFill/>
        </p:spPr>
        <p:txBody>
          <a:bodyPr wrap="square" anchor="ctr"/>
          <a:lstStyle/>
          <a:p>
            <a:pPr algn="ctr"/>
            <a:r>
              <a:rPr sz="1600" b="1" i="0">
                <a:solidFill>
                  <a:srgbClr val="FFFFFF"/>
                </a:solidFill>
                <a:latin typeface="Calibri"/>
              </a:rPr>
              <a:t>Un principio citado</a:t>
            </a:r>
          </a:p>
        </p:txBody>
      </p:sp>
      <p:sp>
        <p:nvSpPr>
          <p:cNvPr id="13" name="TextBox 12"/>
          <p:cNvSpPr txBox="1"/>
          <p:nvPr/>
        </p:nvSpPr>
        <p:spPr>
          <a:xfrm>
            <a:off x="6420459"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«La </a:t>
            </a:r>
            <a:r>
              <a:rPr sz="1500" b="1" i="0">
                <a:solidFill>
                  <a:srgbClr val="333333"/>
                </a:solidFill>
                <a:latin typeface="Calibri"/>
              </a:rPr>
              <a:t>Ley 1581 de 2012</a:t>
            </a:r>
            <a:r>
              <a:rPr sz="1500" b="0" i="0">
                <a:solidFill>
                  <a:srgbClr val="333333"/>
                </a:solidFill>
                <a:latin typeface="Calibri"/>
              </a:rPr>
              <a:t> exige finalidad y consentimiento».</a:t>
            </a:r>
          </a:p>
          <a:p>
            <a:pPr>
              <a:spcAft>
                <a:spcPts val="800"/>
              </a:spcAft>
            </a:pPr>
            <a:r>
              <a:rPr sz="1500" b="0" i="0">
                <a:solidFill>
                  <a:srgbClr val="333333"/>
                </a:solidFill>
                <a:latin typeface="Calibri"/>
              </a:rPr>
              <a:t>–   «No podemos guardar datos que no usamos sin decirle al cliente para qué».</a:t>
            </a:r>
          </a:p>
          <a:p>
            <a:pPr>
              <a:spcAft>
                <a:spcPts val="800"/>
              </a:spcAft>
            </a:pPr>
            <a:r>
              <a:rPr sz="1500" b="0" i="0">
                <a:solidFill>
                  <a:srgbClr val="333333"/>
                </a:solidFill>
                <a:latin typeface="Calibri"/>
              </a:rPr>
              <a:t>–   Pesa lo mismo la diga quien la diga.</a:t>
            </a:r>
          </a:p>
        </p:txBody>
      </p:sp>
      <p:pic>
        <p:nvPicPr>
          <p:cNvPr id="14" name="Picture 13" descr="sello_mal.png"/>
          <p:cNvPicPr>
            <a:picLocks noChangeAspect="1"/>
          </p:cNvPicPr>
          <p:nvPr/>
        </p:nvPicPr>
        <p:blipFill>
          <a:blip r:embed="rId2"/>
          <a:stretch>
            <a:fillRect/>
          </a:stretch>
        </p:blipFill>
        <p:spPr>
          <a:xfrm>
            <a:off x="566928" y="1527048"/>
            <a:ext cx="393192" cy="393192"/>
          </a:xfrm>
          <a:prstGeom prst="rect">
            <a:avLst/>
          </a:prstGeom>
        </p:spPr>
      </p:pic>
      <p:pic>
        <p:nvPicPr>
          <p:cNvPr id="15" name="Picture 14" descr="sello_bien.png"/>
          <p:cNvPicPr>
            <a:picLocks noChangeAspect="1"/>
          </p:cNvPicPr>
          <p:nvPr/>
        </p:nvPicPr>
        <p:blipFill>
          <a:blip r:embed="rId3"/>
          <a:stretch>
            <a:fillRect/>
          </a:stretch>
        </p:blipFill>
        <p:spPr>
          <a:xfrm>
            <a:off x="6365595" y="1527048"/>
            <a:ext cx="393192" cy="393192"/>
          </a:xfrm>
          <a:prstGeom prst="rect">
            <a:avLst/>
          </a:prstGeom>
        </p:spPr>
      </p:pic>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Cuatro casos donde el software funcionó</a:t>
            </a:r>
          </a:p>
        </p:txBody>
      </p:sp>
      <p:graphicFrame>
        <p:nvGraphicFramePr>
          <p:cNvPr id="5" name="Table 4"/>
          <p:cNvGraphicFramePr>
            <a:graphicFrameLocks noGrp="1"/>
          </p:cNvGraphicFramePr>
          <p:nvPr/>
        </p:nvGraphicFramePr>
        <p:xfrm>
          <a:off x="457200" y="1216152"/>
          <a:ext cx="8961120" cy="1920240"/>
        </p:xfrm>
        <a:graphic>
          <a:graphicData uri="http://schemas.openxmlformats.org/drawingml/2006/table">
            <a:tbl>
              <a:tblPr firstRow="1" bandRow="1">
                <a:tableStyleId>{5C22544A-7EE6-4342-B048-85BDC9FD1C3A}</a:tableStyleId>
              </a:tblPr>
              <a:tblGrid>
                <a:gridCol w="1371600"/>
                <a:gridCol w="3657600"/>
                <a:gridCol w="3931920"/>
              </a:tblGrid>
              <a:tr h="384048">
                <a:tc>
                  <a:txBody>
                    <a:bodyPr/>
                    <a:lstStyle/>
                    <a:p>
                      <a:r>
                        <a:rPr sz="1200" b="1" i="0">
                          <a:solidFill>
                            <a:srgbClr val="FFFFFF"/>
                          </a:solidFill>
                          <a:latin typeface="Calibri"/>
                        </a:rPr>
                        <a:t>Caso</a:t>
                      </a:r>
                    </a:p>
                  </a:txBody>
                  <a:tcPr>
                    <a:solidFill>
                      <a:srgbClr val="095292"/>
                    </a:solidFill>
                  </a:tcPr>
                </a:tc>
                <a:tc>
                  <a:txBody>
                    <a:bodyPr/>
                    <a:lstStyle/>
                    <a:p>
                      <a:r>
                        <a:rPr sz="1200" b="1" i="0">
                          <a:solidFill>
                            <a:srgbClr val="FFFFFF"/>
                          </a:solidFill>
                          <a:latin typeface="Calibri"/>
                        </a:rPr>
                        <a:t>Qué pasó</a:t>
                      </a:r>
                    </a:p>
                  </a:txBody>
                  <a:tcPr>
                    <a:solidFill>
                      <a:srgbClr val="095292"/>
                    </a:solidFill>
                  </a:tcPr>
                </a:tc>
                <a:tc>
                  <a:txBody>
                    <a:bodyPr/>
                    <a:lstStyle/>
                    <a:p>
                      <a:r>
                        <a:rPr sz="1200" b="1" i="0">
                          <a:solidFill>
                            <a:srgbClr val="FFFFFF"/>
                          </a:solidFill>
                          <a:latin typeface="Calibri"/>
                        </a:rPr>
                        <a:t>La decisión que lo causó</a:t>
                      </a:r>
                    </a:p>
                  </a:txBody>
                  <a:tcPr>
                    <a:solidFill>
                      <a:srgbClr val="095292"/>
                    </a:solidFill>
                  </a:tcPr>
                </a:tc>
              </a:tr>
              <a:tr h="384048">
                <a:tc>
                  <a:txBody>
                    <a:bodyPr/>
                    <a:lstStyle/>
                    <a:p>
                      <a:r>
                        <a:rPr sz="1200" b="0" i="0">
                          <a:solidFill>
                            <a:srgbClr val="333333"/>
                          </a:solidFill>
                          <a:latin typeface="Calibri"/>
                        </a:rPr>
                        <a:t>Therac-25
1985–1987</a:t>
                      </a:r>
                    </a:p>
                  </a:txBody>
                  <a:tcPr>
                    <a:solidFill>
                      <a:srgbClr val="FFFFFF"/>
                    </a:solidFill>
                  </a:tcPr>
                </a:tc>
                <a:tc>
                  <a:txBody>
                    <a:bodyPr/>
                    <a:lstStyle/>
                    <a:p>
                      <a:r>
                        <a:rPr sz="1200" b="0" i="0">
                          <a:solidFill>
                            <a:srgbClr val="333333"/>
                          </a:solidFill>
                          <a:latin typeface="Calibri"/>
                        </a:rPr>
                        <a:t>Una máquina de radioterapia entregó sobredosis masivas de radiación. Seis accidentes conocidos, con muertos.</a:t>
                      </a:r>
                    </a:p>
                  </a:txBody>
                  <a:tcPr>
                    <a:solidFill>
                      <a:srgbClr val="FFFFFF"/>
                    </a:solidFill>
                  </a:tcPr>
                </a:tc>
                <a:tc>
                  <a:txBody>
                    <a:bodyPr/>
                    <a:lstStyle/>
                    <a:p>
                      <a:r>
                        <a:rPr sz="1200" b="0" i="0">
                          <a:solidFill>
                            <a:srgbClr val="333333"/>
                          </a:solidFill>
                          <a:latin typeface="Calibri"/>
                        </a:rPr>
                        <a:t>Se quitaron los </a:t>
                      </a:r>
                      <a:r>
                        <a:rPr sz="1200" b="1" i="0">
                          <a:solidFill>
                            <a:srgbClr val="333333"/>
                          </a:solidFill>
                          <a:latin typeface="Calibri"/>
                        </a:rPr>
                        <a:t>seguros físicos</a:t>
                      </a:r>
                      <a:r>
                        <a:rPr sz="1200" b="0" i="0">
                          <a:solidFill>
                            <a:srgbClr val="333333"/>
                          </a:solidFill>
                          <a:latin typeface="Calibri"/>
                        </a:rPr>
                        <a:t> de los modelos anteriores y se confió solo en el software. Nadie lo revisó de forma independiente.</a:t>
                      </a:r>
                    </a:p>
                  </a:txBody>
                  <a:tcPr>
                    <a:solidFill>
                      <a:srgbClr val="FFFFFF"/>
                    </a:solidFill>
                  </a:tcPr>
                </a:tc>
              </a:tr>
              <a:tr h="384048">
                <a:tc>
                  <a:txBody>
                    <a:bodyPr/>
                    <a:lstStyle/>
                    <a:p>
                      <a:r>
                        <a:rPr sz="1200" b="0" i="0">
                          <a:solidFill>
                            <a:srgbClr val="333333"/>
                          </a:solidFill>
                          <a:latin typeface="Calibri"/>
                        </a:rPr>
                        <a:t>Volkswagen
2015</a:t>
                      </a:r>
                    </a:p>
                  </a:txBody>
                  <a:tcPr>
                    <a:solidFill>
                      <a:srgbClr val="F2F2F2"/>
                    </a:solidFill>
                  </a:tcPr>
                </a:tc>
                <a:tc>
                  <a:txBody>
                    <a:bodyPr/>
                    <a:lstStyle/>
                    <a:p>
                      <a:r>
                        <a:rPr sz="1200" b="0" i="0">
                          <a:solidFill>
                            <a:srgbClr val="333333"/>
                          </a:solidFill>
                          <a:latin typeface="Calibri"/>
                        </a:rPr>
                        <a:t>Un software detectaba la prueba de emisiones y bajaba los contaminantes solo durante el examen. En la calle, muchas veces el límite.</a:t>
                      </a:r>
                    </a:p>
                  </a:txBody>
                  <a:tcPr>
                    <a:solidFill>
                      <a:srgbClr val="F2F2F2"/>
                    </a:solidFill>
                  </a:tcPr>
                </a:tc>
                <a:tc>
                  <a:txBody>
                    <a:bodyPr/>
                    <a:lstStyle/>
                    <a:p>
                      <a:r>
                        <a:rPr sz="1200" b="0" i="0">
                          <a:solidFill>
                            <a:srgbClr val="333333"/>
                          </a:solidFill>
                          <a:latin typeface="Calibri"/>
                        </a:rPr>
                        <a:t>Un ingeniero programó exactamente lo que le pidieron. </a:t>
                      </a:r>
                      <a:r>
                        <a:rPr sz="1200" b="1" i="0">
                          <a:solidFill>
                            <a:srgbClr val="333333"/>
                          </a:solidFill>
                          <a:latin typeface="Calibri"/>
                        </a:rPr>
                        <a:t>Se declaró culpable y recibió 40 meses de prisión.</a:t>
                      </a:r>
                    </a:p>
                  </a:txBody>
                  <a:tcPr>
                    <a:solidFill>
                      <a:srgbClr val="F2F2F2"/>
                    </a:solidFill>
                  </a:tcPr>
                </a:tc>
              </a:tr>
              <a:tr h="384048">
                <a:tc>
                  <a:txBody>
                    <a:bodyPr/>
                    <a:lstStyle/>
                    <a:p>
                      <a:r>
                        <a:rPr sz="1200" b="0" i="0">
                          <a:solidFill>
                            <a:srgbClr val="333333"/>
                          </a:solidFill>
                          <a:latin typeface="Calibri"/>
                        </a:rPr>
                        <a:t>Boeing 737 MAX
2018–2019</a:t>
                      </a:r>
                    </a:p>
                  </a:txBody>
                  <a:tcPr>
                    <a:solidFill>
                      <a:srgbClr val="FFFFFF"/>
                    </a:solidFill>
                  </a:tcPr>
                </a:tc>
                <a:tc>
                  <a:txBody>
                    <a:bodyPr/>
                    <a:lstStyle/>
                    <a:p>
                      <a:r>
                        <a:rPr sz="1200" b="0" i="0">
                          <a:solidFill>
                            <a:srgbClr val="333333"/>
                          </a:solidFill>
                          <a:latin typeface="Calibri"/>
                        </a:rPr>
                        <a:t>Un sistema automático empujaba el morro del avión hacia abajo. Dos accidentes, 346 muertos, la flota en tierra.</a:t>
                      </a:r>
                    </a:p>
                  </a:txBody>
                  <a:tcPr>
                    <a:solidFill>
                      <a:srgbClr val="FFFFFF"/>
                    </a:solidFill>
                  </a:tcPr>
                </a:tc>
                <a:tc>
                  <a:txBody>
                    <a:bodyPr/>
                    <a:lstStyle/>
                    <a:p>
                      <a:r>
                        <a:rPr sz="1200" b="0" i="0">
                          <a:solidFill>
                            <a:srgbClr val="333333"/>
                          </a:solidFill>
                          <a:latin typeface="Calibri"/>
                        </a:rPr>
                        <a:t>El sistema dependía de </a:t>
                      </a:r>
                      <a:r>
                        <a:rPr sz="1200" b="1" i="0">
                          <a:solidFill>
                            <a:srgbClr val="333333"/>
                          </a:solidFill>
                          <a:latin typeface="Calibri"/>
                        </a:rPr>
                        <a:t>un solo sensor</a:t>
                      </a:r>
                      <a:r>
                        <a:rPr sz="1200" b="0" i="0">
                          <a:solidFill>
                            <a:srgbClr val="333333"/>
                          </a:solidFill>
                          <a:latin typeface="Calibri"/>
                        </a:rPr>
                        <a:t> y no se explicó en el manual de vuelo. La alerta que avisaba era un accesorio opcional.</a:t>
                      </a:r>
                    </a:p>
                  </a:txBody>
                  <a:tcPr>
                    <a:solidFill>
                      <a:srgbClr val="FFFFFF"/>
                    </a:solidFill>
                  </a:tcPr>
                </a:tc>
              </a:tr>
              <a:tr h="384048">
                <a:tc>
                  <a:txBody>
                    <a:bodyPr/>
                    <a:lstStyle/>
                    <a:p>
                      <a:r>
                        <a:rPr sz="1200" b="0" i="0">
                          <a:solidFill>
                            <a:srgbClr val="333333"/>
                          </a:solidFill>
                          <a:latin typeface="Calibri"/>
                        </a:rPr>
                        <a:t>Cambridge Analytica
2018</a:t>
                      </a:r>
                    </a:p>
                  </a:txBody>
                  <a:tcPr>
                    <a:solidFill>
                      <a:srgbClr val="F2F2F2"/>
                    </a:solidFill>
                  </a:tcPr>
                </a:tc>
                <a:tc>
                  <a:txBody>
                    <a:bodyPr/>
                    <a:lstStyle/>
                    <a:p>
                      <a:r>
                        <a:rPr sz="1200" b="0" i="0">
                          <a:solidFill>
                            <a:srgbClr val="333333"/>
                          </a:solidFill>
                          <a:latin typeface="Calibri"/>
                        </a:rPr>
                        <a:t>Datos de decenas de millones de personas usados para clasificar votantes con fines políticos sin que ellas lo supieran.</a:t>
                      </a:r>
                    </a:p>
                  </a:txBody>
                  <a:tcPr>
                    <a:solidFill>
                      <a:srgbClr val="F2F2F2"/>
                    </a:solidFill>
                  </a:tcPr>
                </a:tc>
                <a:tc>
                  <a:txBody>
                    <a:bodyPr/>
                    <a:lstStyle/>
                    <a:p>
                      <a:r>
                        <a:rPr sz="1200" b="0" i="0">
                          <a:solidFill>
                            <a:srgbClr val="333333"/>
                          </a:solidFill>
                          <a:latin typeface="Calibri"/>
                        </a:rPr>
                        <a:t>Una interfaz permitía a una aplicación tomar datos </a:t>
                      </a:r>
                      <a:r>
                        <a:rPr sz="1200" b="1" i="0">
                          <a:solidFill>
                            <a:srgbClr val="333333"/>
                          </a:solidFill>
                          <a:latin typeface="Calibri"/>
                        </a:rPr>
                        <a:t>de los amigos</a:t>
                      </a:r>
                      <a:r>
                        <a:rPr sz="1200" b="0" i="0">
                          <a:solidFill>
                            <a:srgbClr val="333333"/>
                          </a:solidFill>
                          <a:latin typeface="Calibri"/>
                        </a:rPr>
                        <a:t> del usuario. Era legal, estaba documentado, y nadie preguntó si debía existir.</a:t>
                      </a:r>
                    </a:p>
                  </a:txBody>
                  <a:tcPr>
                    <a:solidFill>
                      <a:srgbClr val="F2F2F2"/>
                    </a:solidFill>
                  </a:tcPr>
                </a:tc>
              </a:tr>
            </a:tbl>
          </a:graphicData>
        </a:graphic>
      </p:graphicFrame>
      <p:sp>
        <p:nvSpPr>
          <p:cNvPr id="6" name="TextBox 5"/>
          <p:cNvSpPr txBox="1"/>
          <p:nvPr/>
        </p:nvSpPr>
        <p:spPr>
          <a:xfrm>
            <a:off x="457200" y="3794760"/>
            <a:ext cx="11277295" cy="457200"/>
          </a:xfrm>
          <a:prstGeom prst="rect">
            <a:avLst/>
          </a:prstGeom>
          <a:noFill/>
        </p:spPr>
        <p:txBody>
          <a:bodyPr wrap="square">
            <a:spAutoFit/>
          </a:bodyPr>
          <a:lstStyle/>
          <a:p>
            <a:r>
              <a:rPr sz="1100" b="0" i="1">
                <a:solidFill>
                  <a:srgbClr val="666666"/>
                </a:solidFill>
                <a:latin typeface="Calibri"/>
              </a:rPr>
              <a:t>En los cuatro, el código hizo lo que se le pidió. El problema fue lo que se le pidió, y que nadie con la información suficiente lo detuvo.</a:t>
            </a:r>
          </a:p>
        </p:txBody>
      </p:sp>
      <p:sp>
        <p:nvSpPr>
          <p:cNvPr id="7" name="TextBox 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qué falló en el Therac-25, paso a paso</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Una máquina de radioterapia que dio sobredosis. Cada paso parecía razonable.</a:t>
            </a:r>
          </a:p>
        </p:txBody>
      </p:sp>
      <p:sp>
        <p:nvSpPr>
          <p:cNvPr id="6" name="Rounded Rectangle 5"/>
          <p:cNvSpPr/>
          <p:nvPr/>
        </p:nvSpPr>
        <p:spPr>
          <a:xfrm>
            <a:off x="5934611" y="1399031"/>
            <a:ext cx="5735574" cy="4617720"/>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herac25-paso1.png"/>
          <p:cNvPicPr>
            <a:picLocks noChangeAspect="1"/>
          </p:cNvPicPr>
          <p:nvPr/>
        </p:nvPicPr>
        <p:blipFill>
          <a:blip r:embed="rId2"/>
          <a:stretch>
            <a:fillRect/>
          </a:stretch>
        </p:blipFill>
        <p:spPr>
          <a:xfrm>
            <a:off x="6007763" y="1472184"/>
            <a:ext cx="5589270" cy="4471416"/>
          </a:xfrm>
          <a:prstGeom prst="rect">
            <a:avLst/>
          </a:prstGeom>
        </p:spPr>
      </p:pic>
      <p:pic>
        <p:nvPicPr>
          <p:cNvPr id="8" name="Picture 7" descr="therac25-paso2.png"/>
          <p:cNvPicPr>
            <a:picLocks noChangeAspect="1"/>
          </p:cNvPicPr>
          <p:nvPr/>
        </p:nvPicPr>
        <p:blipFill>
          <a:blip r:embed="rId3"/>
          <a:stretch>
            <a:fillRect/>
          </a:stretch>
        </p:blipFill>
        <p:spPr>
          <a:xfrm>
            <a:off x="6007763" y="1472184"/>
            <a:ext cx="5589270" cy="4471416"/>
          </a:xfrm>
          <a:prstGeom prst="rect">
            <a:avLst/>
          </a:prstGeom>
        </p:spPr>
      </p:pic>
      <p:pic>
        <p:nvPicPr>
          <p:cNvPr id="9" name="Picture 8" descr="therac25-paso3.png"/>
          <p:cNvPicPr>
            <a:picLocks noChangeAspect="1"/>
          </p:cNvPicPr>
          <p:nvPr/>
        </p:nvPicPr>
        <p:blipFill>
          <a:blip r:embed="rId4"/>
          <a:stretch>
            <a:fillRect/>
          </a:stretch>
        </p:blipFill>
        <p:spPr>
          <a:xfrm>
            <a:off x="6007763" y="1472184"/>
            <a:ext cx="5589270" cy="4471416"/>
          </a:xfrm>
          <a:prstGeom prst="rect">
            <a:avLst/>
          </a:prstGeom>
        </p:spPr>
      </p:pic>
      <p:pic>
        <p:nvPicPr>
          <p:cNvPr id="10" name="Picture 9" descr="therac25-paso4.png"/>
          <p:cNvPicPr>
            <a:picLocks noChangeAspect="1"/>
          </p:cNvPicPr>
          <p:nvPr/>
        </p:nvPicPr>
        <p:blipFill>
          <a:blip r:embed="rId5"/>
          <a:stretch>
            <a:fillRect/>
          </a:stretch>
        </p:blipFill>
        <p:spPr>
          <a:xfrm>
            <a:off x="6007763" y="1472184"/>
            <a:ext cx="5589270" cy="4471416"/>
          </a:xfrm>
          <a:prstGeom prst="rect">
            <a:avLst/>
          </a:prstGeom>
        </p:spPr>
      </p:pic>
      <p:pic>
        <p:nvPicPr>
          <p:cNvPr id="11" name="Picture 10" descr="therac25-paso5.png"/>
          <p:cNvPicPr>
            <a:picLocks noChangeAspect="1"/>
          </p:cNvPicPr>
          <p:nvPr/>
        </p:nvPicPr>
        <p:blipFill>
          <a:blip r:embed="rId6"/>
          <a:stretch>
            <a:fillRect/>
          </a:stretch>
        </p:blipFill>
        <p:spPr>
          <a:xfrm>
            <a:off x="6007763" y="1472184"/>
            <a:ext cx="5589270" cy="4471416"/>
          </a:xfrm>
          <a:prstGeom prst="rect">
            <a:avLst/>
          </a:prstGeom>
        </p:spPr>
      </p:pic>
      <p:sp>
        <p:nvSpPr>
          <p:cNvPr id="23" name="TextBox 2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24" name="TextBox 23"/>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1 · Se quitaron los seguros:</a:t>
            </a:r>
            <a:r>
              <a:rPr sz="2000" b="0" i="0">
                <a:solidFill>
                  <a:srgbClr val="333333"/>
                </a:solidFill>
                <a:latin typeface="Calibri"/>
              </a:rPr>
              <a:t> Los modelos viejos tenían frenos físicos. En el nuevo se quitaron: «el software lo evita».</a:t>
            </a:r>
          </a:p>
          <a:p>
            <a:pPr>
              <a:spcAft>
                <a:spcPts val="800"/>
              </a:spcAft>
            </a:pPr>
            <a:r>
              <a:rPr sz="2000" b="0" i="0">
                <a:solidFill>
                  <a:srgbClr val="333333"/>
                </a:solidFill>
                <a:latin typeface="Calibri"/>
              </a:rPr>
              <a:t>–   </a:t>
            </a:r>
            <a:r>
              <a:rPr sz="2000" b="1" i="0">
                <a:solidFill>
                  <a:srgbClr val="333333"/>
                </a:solidFill>
                <a:latin typeface="Calibri"/>
              </a:rPr>
              <a:t>2 · Se reutilizó el código:</a:t>
            </a:r>
            <a:r>
              <a:rPr sz="2000" b="0" i="0">
                <a:solidFill>
                  <a:srgbClr val="333333"/>
                </a:solidFill>
                <a:latin typeface="Calibri"/>
              </a:rPr>
              <a:t> El software venía de los modelos viejos, con errores que antes tapaban esos frenos.</a:t>
            </a:r>
          </a:p>
          <a:p>
            <a:pPr>
              <a:spcAft>
                <a:spcPts val="800"/>
              </a:spcAft>
            </a:pPr>
            <a:r>
              <a:rPr sz="2000" b="0" i="0">
                <a:solidFill>
                  <a:srgbClr val="333333"/>
                </a:solidFill>
                <a:latin typeface="Calibri"/>
              </a:rPr>
              <a:t>–   </a:t>
            </a:r>
            <a:r>
              <a:rPr sz="2000" b="1" i="0">
                <a:solidFill>
                  <a:srgbClr val="333333"/>
                </a:solidFill>
                <a:latin typeface="Calibri"/>
              </a:rPr>
              <a:t>3 · Apareció la falla:</a:t>
            </a:r>
            <a:r>
              <a:rPr sz="2000" b="0" i="0">
                <a:solidFill>
                  <a:srgbClr val="333333"/>
                </a:solidFill>
                <a:latin typeface="Calibri"/>
              </a:rPr>
              <a:t> Si la operadora corregía la pantalla muy rápido, la máquina quedaba mal configurada.</a:t>
            </a:r>
          </a:p>
        </p:txBody>
      </p:sp>
      <p:sp>
        <p:nvSpPr>
          <p:cNvPr id="25" name="TextBox 2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«Yo solo programé lo que me pidieron»</a:t>
            </a:r>
          </a:p>
        </p:txBody>
      </p:sp>
      <p:sp>
        <p:nvSpPr>
          <p:cNvPr id="5" name="Rounded Rectangle 4"/>
          <p:cNvSpPr/>
          <p:nvPr/>
        </p:nvSpPr>
        <p:spPr>
          <a:xfrm>
            <a:off x="457200" y="1261872"/>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No funciona legalmente.</a:t>
            </a:r>
            <a:r>
              <a:rPr sz="1400" b="0" i="0">
                <a:solidFill>
                  <a:srgbClr val="333333"/>
                </a:solidFill>
                <a:latin typeface="Calibri"/>
              </a:rPr>
              <a:t> En el caso Volkswagen un ingeniero que ejecutó la orden se declaró culpable y fue condenado a prisión, además de la multa. La orden de un superior no traslada la responsabilidad penal.</a:t>
            </a:r>
          </a:p>
        </p:txBody>
      </p:sp>
      <p:sp>
        <p:nvSpPr>
          <p:cNvPr id="8" name="Rounded Rectangle 7"/>
          <p:cNvSpPr/>
          <p:nvPr/>
        </p:nvSpPr>
        <p:spPr>
          <a:xfrm>
            <a:off x="457200" y="2478024"/>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No funciona profesionalmente.</a:t>
            </a:r>
            <a:r>
              <a:rPr sz="1400" b="0" i="0">
                <a:solidFill>
                  <a:srgbClr val="333333"/>
                </a:solidFill>
                <a:latin typeface="Calibri"/>
              </a:rPr>
              <a:t> El primer principio del código ACM/IEEE pone el interés público </a:t>
            </a:r>
            <a:r>
              <a:rPr sz="1400" b="1" i="0">
                <a:solidFill>
                  <a:srgbClr val="333333"/>
                </a:solidFill>
                <a:latin typeface="Calibri"/>
              </a:rPr>
              <a:t>por encima</a:t>
            </a:r>
            <a:r>
              <a:rPr sz="1400" b="0" i="0">
                <a:solidFill>
                  <a:srgbClr val="333333"/>
                </a:solidFill>
                <a:latin typeface="Calibri"/>
              </a:rPr>
              <a:t> del cliente y del empleador. Si hay conflicto, el código ya decidió cuál gana.</a:t>
            </a:r>
          </a:p>
        </p:txBody>
      </p:sp>
      <p:sp>
        <p:nvSpPr>
          <p:cNvPr id="11" name="Rounded Rectangle 10"/>
          <p:cNvSpPr/>
          <p:nvPr/>
        </p:nvSpPr>
        <p:spPr>
          <a:xfrm>
            <a:off x="457200" y="369417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269CCB"/>
                </a:solidFill>
                <a:latin typeface="Calibri"/>
              </a:rPr>
              <a:t>Info</a:t>
            </a:r>
          </a:p>
          <a:p>
            <a:pPr>
              <a:spcBef>
                <a:spcPts val="400"/>
              </a:spcBef>
            </a:pPr>
            <a:r>
              <a:rPr sz="1400" b="1" i="0">
                <a:solidFill>
                  <a:srgbClr val="333333"/>
                </a:solidFill>
                <a:latin typeface="Calibri"/>
              </a:rPr>
              <a:t>Lo que sí funciona: dejar rastro y escalar temprano.</a:t>
            </a:r>
            <a:r>
              <a:rPr sz="1400" b="0" i="0">
                <a:solidFill>
                  <a:srgbClr val="333333"/>
                </a:solidFill>
                <a:latin typeface="Calibri"/>
              </a:rPr>
              <a:t> Un correo que diga «esto que me piden tiene este riesgo para estos afectados, lo dejo por escrito» cambia el caso, ayuda a que se corrija y protege a quien lo escribió. Callar por escrito no existe.</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el correo que deja rastro</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correo-rastr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Asunto:</a:t>
            </a:r>
            <a:r>
              <a:rPr sz="2000" b="0" i="0">
                <a:solidFill>
                  <a:srgbClr val="333333"/>
                </a:solidFill>
                <a:latin typeface="Calibri"/>
              </a:rPr>
              <a:t> Riesgo en la función de exportar clientes</a:t>
            </a:r>
          </a:p>
          <a:p>
            <a:pPr>
              <a:spcAft>
                <a:spcPts val="800"/>
              </a:spcAft>
            </a:pPr>
            <a:r>
              <a:rPr sz="2000" b="0" i="0">
                <a:solidFill>
                  <a:srgbClr val="333333"/>
                </a:solidFill>
                <a:latin typeface="Calibri"/>
              </a:rPr>
              <a:t>–   </a:t>
            </a:r>
            <a:r>
              <a:rPr sz="2000" b="1" i="0">
                <a:solidFill>
                  <a:srgbClr val="333333"/>
                </a:solidFill>
                <a:latin typeface="Calibri"/>
              </a:rPr>
              <a:t>Lo que me piden:</a:t>
            </a:r>
            <a:r>
              <a:rPr sz="2000" b="0" i="0">
                <a:solidFill>
                  <a:srgbClr val="333333"/>
                </a:solidFill>
                <a:latin typeface="Calibri"/>
              </a:rPr>
              <a:t> exportar la lista de clientes con cédula y celular a un archivo compartido.</a:t>
            </a:r>
          </a:p>
          <a:p>
            <a:pPr>
              <a:spcAft>
                <a:spcPts val="800"/>
              </a:spcAft>
            </a:pPr>
            <a:r>
              <a:rPr sz="2000" b="0" i="0">
                <a:solidFill>
                  <a:srgbClr val="333333"/>
                </a:solidFill>
                <a:latin typeface="Calibri"/>
              </a:rPr>
              <a:t>–   </a:t>
            </a:r>
            <a:r>
              <a:rPr sz="2000" b="1" i="0">
                <a:solidFill>
                  <a:srgbClr val="333333"/>
                </a:solidFill>
                <a:latin typeface="Calibri"/>
              </a:rPr>
              <a:t>El riesgo:</a:t>
            </a:r>
            <a:r>
              <a:rPr sz="2000" b="0" i="0">
                <a:solidFill>
                  <a:srgbClr val="333333"/>
                </a:solidFill>
                <a:latin typeface="Calibri"/>
              </a:rPr>
              <a:t> si el archivo se filtra, quedan expuestos los datos de unas 2.000 personas.</a:t>
            </a:r>
          </a:p>
          <a:p>
            <a:pPr>
              <a:spcAft>
                <a:spcPts val="800"/>
              </a:spcAft>
            </a:pPr>
            <a:r>
              <a:rPr sz="2000" b="0" i="0">
                <a:solidFill>
                  <a:srgbClr val="333333"/>
                </a:solidFill>
                <a:latin typeface="Calibri"/>
              </a:rPr>
              <a:t>–   </a:t>
            </a:r>
            <a:r>
              <a:rPr sz="2000" b="1" i="0">
                <a:solidFill>
                  <a:srgbClr val="333333"/>
                </a:solidFill>
                <a:latin typeface="Calibri"/>
              </a:rPr>
              <a:t>Lo que propongo:</a:t>
            </a:r>
            <a:r>
              <a:rPr sz="2000" b="0" i="0">
                <a:solidFill>
                  <a:srgbClr val="333333"/>
                </a:solidFill>
                <a:latin typeface="Calibri"/>
              </a:rPr>
              <a:t> exportar solo nombre y ciudad, que es lo que el reporte necesita.</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Cinco preguntas para decidir sin ser experto</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Ninguna requiere ser abogado. La 3 es la que más rápido descarta una mala idea</a:t>
            </a:r>
          </a:p>
        </p:txBody>
      </p:sp>
      <p:sp>
        <p:nvSpPr>
          <p:cNvPr id="6" name="Rounded Rectangle 5"/>
          <p:cNvSpPr/>
          <p:nvPr/>
        </p:nvSpPr>
        <p:spPr>
          <a:xfrm>
            <a:off x="5934611" y="1399031"/>
            <a:ext cx="5735574" cy="4617720"/>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inco-preguntas-paso1.png"/>
          <p:cNvPicPr>
            <a:picLocks noChangeAspect="1"/>
          </p:cNvPicPr>
          <p:nvPr/>
        </p:nvPicPr>
        <p:blipFill>
          <a:blip r:embed="rId2"/>
          <a:stretch>
            <a:fillRect/>
          </a:stretch>
        </p:blipFill>
        <p:spPr>
          <a:xfrm>
            <a:off x="6007763" y="1472184"/>
            <a:ext cx="5589270" cy="4471416"/>
          </a:xfrm>
          <a:prstGeom prst="rect">
            <a:avLst/>
          </a:prstGeom>
        </p:spPr>
      </p:pic>
      <p:pic>
        <p:nvPicPr>
          <p:cNvPr id="8" name="Picture 7" descr="cinco-preguntas-paso2.png"/>
          <p:cNvPicPr>
            <a:picLocks noChangeAspect="1"/>
          </p:cNvPicPr>
          <p:nvPr/>
        </p:nvPicPr>
        <p:blipFill>
          <a:blip r:embed="rId3"/>
          <a:stretch>
            <a:fillRect/>
          </a:stretch>
        </p:blipFill>
        <p:spPr>
          <a:xfrm>
            <a:off x="6007763" y="1472184"/>
            <a:ext cx="5589270" cy="4471416"/>
          </a:xfrm>
          <a:prstGeom prst="rect">
            <a:avLst/>
          </a:prstGeom>
        </p:spPr>
      </p:pic>
      <p:pic>
        <p:nvPicPr>
          <p:cNvPr id="9" name="Picture 8" descr="cinco-preguntas-paso3.png"/>
          <p:cNvPicPr>
            <a:picLocks noChangeAspect="1"/>
          </p:cNvPicPr>
          <p:nvPr/>
        </p:nvPicPr>
        <p:blipFill>
          <a:blip r:embed="rId4"/>
          <a:stretch>
            <a:fillRect/>
          </a:stretch>
        </p:blipFill>
        <p:spPr>
          <a:xfrm>
            <a:off x="6007763" y="1472184"/>
            <a:ext cx="5589270" cy="4471416"/>
          </a:xfrm>
          <a:prstGeom prst="rect">
            <a:avLst/>
          </a:prstGeom>
        </p:spPr>
      </p:pic>
      <p:pic>
        <p:nvPicPr>
          <p:cNvPr id="10" name="Picture 9" descr="cinco-preguntas-paso4.png"/>
          <p:cNvPicPr>
            <a:picLocks noChangeAspect="1"/>
          </p:cNvPicPr>
          <p:nvPr/>
        </p:nvPicPr>
        <p:blipFill>
          <a:blip r:embed="rId5"/>
          <a:stretch>
            <a:fillRect/>
          </a:stretch>
        </p:blipFill>
        <p:spPr>
          <a:xfrm>
            <a:off x="6007763" y="1472184"/>
            <a:ext cx="5589270" cy="4471416"/>
          </a:xfrm>
          <a:prstGeom prst="rect">
            <a:avLst/>
          </a:prstGeom>
        </p:spPr>
      </p:pic>
      <p:pic>
        <p:nvPicPr>
          <p:cNvPr id="11" name="Picture 10" descr="cinco-preguntas-paso5.png"/>
          <p:cNvPicPr>
            <a:picLocks noChangeAspect="1"/>
          </p:cNvPicPr>
          <p:nvPr/>
        </p:nvPicPr>
        <p:blipFill>
          <a:blip r:embed="rId6"/>
          <a:stretch>
            <a:fillRect/>
          </a:stretch>
        </p:blipFill>
        <p:spPr>
          <a:xfrm>
            <a:off x="6007763" y="1472184"/>
            <a:ext cx="5589270" cy="4471416"/>
          </a:xfrm>
          <a:prstGeom prst="rect">
            <a:avLst/>
          </a:prstGeom>
        </p:spPr>
      </p:pic>
      <p:sp>
        <p:nvSpPr>
          <p:cNvPr id="23" name="TextBox 2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24" name="TextBox 23"/>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1 · ¿Quién se puede dañar?:</a:t>
            </a:r>
            <a:r>
              <a:rPr sz="2000" b="0" i="0">
                <a:solidFill>
                  <a:srgbClr val="333333"/>
                </a:solidFill>
                <a:latin typeface="Calibri"/>
              </a:rPr>
              <a:t> Nómbrelo. Si la respuesta es «nadie», busque de nuevo: siempre hay alguien que no está en la reunión.</a:t>
            </a:r>
          </a:p>
          <a:p>
            <a:pPr>
              <a:spcAft>
                <a:spcPts val="800"/>
              </a:spcAft>
            </a:pPr>
            <a:r>
              <a:rPr sz="2000" b="0" i="0">
                <a:solidFill>
                  <a:srgbClr val="333333"/>
                </a:solidFill>
                <a:latin typeface="Calibri"/>
              </a:rPr>
              <a:t>–   </a:t>
            </a:r>
            <a:r>
              <a:rPr sz="2000" b="1" i="0">
                <a:solidFill>
                  <a:srgbClr val="333333"/>
                </a:solidFill>
                <a:latin typeface="Calibri"/>
              </a:rPr>
              <a:t>2 · ¿Lo sabe y lo aceptó?:</a:t>
            </a:r>
            <a:r>
              <a:rPr sz="2000" b="0" i="0">
                <a:solidFill>
                  <a:srgbClr val="333333"/>
                </a:solidFill>
                <a:latin typeface="Calibri"/>
              </a:rPr>
              <a:t> Consentimiento informado. Si el afectado no sabe que existe el sistema, ya hay un problema.</a:t>
            </a:r>
          </a:p>
          <a:p>
            <a:pPr>
              <a:spcAft>
                <a:spcPts val="800"/>
              </a:spcAft>
            </a:pPr>
            <a:r>
              <a:rPr sz="2000" b="0" i="0">
                <a:solidFill>
                  <a:srgbClr val="333333"/>
                </a:solidFill>
                <a:latin typeface="Calibri"/>
              </a:rPr>
              <a:t>–   </a:t>
            </a:r>
            <a:r>
              <a:rPr sz="2000" b="1" i="0">
                <a:solidFill>
                  <a:srgbClr val="333333"/>
                </a:solidFill>
                <a:latin typeface="Calibri"/>
              </a:rPr>
              <a:t>3 · ¿Aguanta que se sepa?:</a:t>
            </a:r>
            <a:r>
              <a:rPr sz="2000" b="0" i="0">
                <a:solidFill>
                  <a:srgbClr val="333333"/>
                </a:solidFill>
                <a:latin typeface="Calibri"/>
              </a:rPr>
              <a:t> Si esto sale publicado mañana con su nombre, ¿lo defiende? Es la prueba más rápida que existe.</a:t>
            </a:r>
          </a:p>
        </p:txBody>
      </p:sp>
      <p:sp>
        <p:nvSpPr>
          <p:cNvPr id="25" name="TextBox 2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resuelto: la app que vende la ubicación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Una app de domicilios quiere vender a anunciantes por dónde se mueven sus usuarios.</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1 · ¿Quién se daña?</a:t>
            </a:r>
          </a:p>
          <a:p>
            <a:pPr>
              <a:spcBef>
                <a:spcPts val="200"/>
              </a:spcBef>
            </a:pPr>
            <a:r>
              <a:rPr sz="1300" b="0" i="0">
                <a:solidFill>
                  <a:srgbClr val="333333"/>
                </a:solidFill>
                <a:latin typeface="Calibri"/>
              </a:rPr>
              <a:t>Los usuarios: un tercero sabe dónde viven, trabajan y estudian.</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2 · ¿Lo saben?</a:t>
            </a:r>
          </a:p>
          <a:p>
            <a:pPr>
              <a:spcBef>
                <a:spcPts val="200"/>
              </a:spcBef>
            </a:pPr>
            <a:r>
              <a:rPr sz="1300" b="0" i="0">
                <a:solidFill>
                  <a:srgbClr val="333333"/>
                </a:solidFill>
                <a:latin typeface="Calibri"/>
              </a:rPr>
              <a:t>No. Aceptaron unos términos que nadie lee. No es consentimiento informado.</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3 · ¿Aguanta que se sepa?</a:t>
            </a:r>
          </a:p>
          <a:p>
            <a:pPr>
              <a:spcBef>
                <a:spcPts val="200"/>
              </a:spcBef>
            </a:pPr>
            <a:r>
              <a:rPr sz="1300" b="0" i="0">
                <a:solidFill>
                  <a:srgbClr val="333333"/>
                </a:solidFill>
                <a:latin typeface="Calibri"/>
              </a:rPr>
              <a:t>Si mañana sale en el noticiero, la empresa no lo defiende.</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4 · ¿Qué dice la norma?</a:t>
            </a:r>
          </a:p>
          <a:p>
            <a:pPr>
              <a:spcBef>
                <a:spcPts val="200"/>
              </a:spcBef>
            </a:pPr>
            <a:r>
              <a:rPr sz="1300" b="0" i="0">
                <a:solidFill>
                  <a:srgbClr val="333333"/>
                </a:solidFill>
                <a:latin typeface="Calibri"/>
              </a:rPr>
              <a:t>La Ley 1581 de 2012: el dato se usa para lo que se pidió, no para venderlo.</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5 · ¿Cuándo se para?</a:t>
            </a:r>
          </a:p>
          <a:p>
            <a:pPr>
              <a:spcBef>
                <a:spcPts val="200"/>
              </a:spcBef>
            </a:pPr>
            <a:r>
              <a:rPr sz="1300" b="0" i="0">
                <a:solidFill>
                  <a:srgbClr val="333333"/>
                </a:solidFill>
                <a:latin typeface="Calibri"/>
              </a:rPr>
              <a:t>Ahora, en el diseño. Después de vender los datos ya no se pueden recoger.</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Nos vemos en la sesión 5</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Principios éticos en la Ingeniería · Clase 4</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En los cuatro casos el software funcionó. Falló lo que se pidió construir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