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Principios éticos en la Ingeniería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Cuando el software funciona y aun así el ingeniero hizo algo mal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— principios, normas colombianas y cuatro casos reales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— comité de ética: juzgar un caso con el código en la mano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el veredicto y el momento en que se pudo parar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problema ético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 problema técnico y de un problema legal.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Usar los principios del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código de ética de ACM/IEEE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de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Ley 842 de 2003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juzgar un caso.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tres normas colombianas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obligan al ingeniero de sistemas, y qué exige cada una.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Identificar en un caso real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momento en que se pudo parar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quién tenía que hablar.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Un ingeniero escribió el código que le pidieron, funcionó perfecto, y terminó en la cárcel. ¿Cómo llega alguien ahí?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Pasó de verdad: 40 meses de prisión, y el software no tenía un solo error.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vemos por qué «yo solo programé lo que me pidieron» no es una defensa.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Tres cosas que se confunden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la gente cree que es la ética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Ser buena persona y tener buenas intenciones.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tema de opinión: cada uno tiene la suya.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Algo que se ve al final, cuando ya pasó el daño.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Responsabilidad del jefe, que fue el que decidió.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 mismo que la ley: si es legal, está bien.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es en una profesión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Decidir bien con información incompleta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poder explicar por qué.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Hay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códigos escritos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 principios y numerales que se citan.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ve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en el momento de decidir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que casi siempre es temprano y barato.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que firma responde,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el que ejecuta también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hay ingenieros presos.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ley es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mínimo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 Muchas cosas legales son indefendibles.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principios que sí están escritos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ACM/IEEE · Código de Ética del Ingeniero de Software (1999)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Ocho principios: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público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cliente y empleador, producto, juicio, gestión, profesión, colegas y sí mismo. El primero manda sobre los otros siete: «actuar de forma consistente con el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interés público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Ley 842 de 2003 · Colombia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Código de ética profesional de la ingeniería. Obliga a los deberes con la sociedad, la dignidad de la profesión y el ejercicio con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matrícula profesional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(COPNIA), que es la que se puede suspender.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Ley 1581 de 2012 · Datos personales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Principios de finalidad, libertad, veracidad, seguridad y acceso restringido.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Nada de datos personales sin autorización previa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y los datos sensibles (salud, biometría, orientación) tienen protección reforzada.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Ley 1273 de 2009 · Delitos informáticos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Metió al Código Penal el acceso abusivo a un sistema informático, la interceptación de datos y el hurto por medios informáticos. Aquí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sanción es cárcel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no una multa a la empresa.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casos donde el software funcionó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657600"/>
                <a:gridCol w="393192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Caso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pasó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La decisión que lo causó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Therac-25
1985–1987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Una máquina de radioterapia entregó sobredosis masivas de radiación. Seis accidentes conocidos, con muertos.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Se quitaron los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seguros físicos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de los modelos anteriores y se confió solo en el software. Nadie lo revisó de forma independiente.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Volkswagen
2015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software detectaba la prueba de emisiones y bajaba los contaminantes solo durante el examen. En la calle, muchas veces el límite.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ingeniero programó exactamente lo que le pidieron.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Se declaró culpable y recibió 40 meses de prisión.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Boeing 737 MAX
2018–2019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sistema automático empujaba el morro del avión hacia abajo. Dos accidentes, 346 muertos, la flota en tierra.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sistema dependía de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un solo sensor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y no se explicó en el manual de vuelo. La alerta que avisaba era un accesorio opcional.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Cambridge Analytica
2018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Datos de decenas de millones de personas usados para perfilamiento político sin que ellas lo supieran.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Una interfaz permitía a una aplicación tomar datos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de los amigos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del usuario. Era legal, estaba documentado, y nadie preguntó si debía existir.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En los cuatro, el código hizo lo que se le pidió. El problema fue lo que se le pidió, y que nadie con la información suficiente lo detuvo.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«Yo solo programé lo que me pidieron»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funciona legalmente.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En el caso Volkswagen un ingeniero que ejecutó la orden se declaró culpable y fue condenado a prisión, además de la multa. La orden de un superior no traslada la responsabilidad penal.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funciona profesionalmente.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El primer principio del código ACM/IEEE pone el interés público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por encima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del cliente y del empleador. Si hay conflicto, el código ya decidió cuál gana.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Lo que sí funciona: dejar rastro y escalar temprano.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Un correo que diga «esto que me piden tiene este riesgo para estos afectados, lo dejo por escrito» cambia el caso, ayuda a que se corrija y protege a quien lo escribió. Callar por escrito no existe.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Cinco preguntas para decidir sin ser experto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Ninguna requiere ser abogado. La 3 es la que más rápido descarta una mala idea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¿Quién se puede dañar?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Nómbrelo. Si la respuesta es «nadie», busque de nuevo: siempre hay alguien que no está en la reunión.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¿Lo sabe y lo aceptó?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Consentimiento informado. Si el afectado no sabe que existe el sistema, ya hay un problema.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¿Aguanta que se sepa?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Si esto sale publicado mañana con su nombre, ¿lo defiende? Es la prueba más rápida que existe.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¿Qué dice el código?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Busque el numeral. Citar un principio escrito es más fuerte que dar una opinión.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¿Cuándo se puede parar?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Encuentre el momento más temprano y más barato. Después de entregar cuesta cien veces más.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el ingeniero que fue a la cárcel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apertura de hoy es un caso verdadero y conviene no revelar el nombre en el primer minuto, porque la fuerza está en la pregunta.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software funcionaba perfecto: hacía exactamente lo que se le pidió, sin errores.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2017 ese ingeniero se declaró culpable en Estados Unidos y fue condenado a cuarenta meses de prisión, además de una multa.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estudiante de primer semestre tiene interiorizada la idea de que la responsabilidad es del jefe y que el programador ejecuta.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el ingeniero que fue a la cárcel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Este caso la rompe con un hecho verificable, y por eso es mejor abrir con él que con una definición de ética.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Recoja las respuestas en el muro los primeros diez minutos —van a aparecer «robó», «hackeó», «se equivocó»— y en el minuto 30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llegue al caso en la tabla, muestre que ninguna era: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hubo error, no hubo robo, hubo una decisión de diseño que se ejecutó bien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la ética en una profesión y qué no es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tres confusiones que hay que desmontar antes de tocar cualquier caso, porque si 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discusión del taller se vuelve una conversación de opiniones y no se puede calificar.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primera: la ética profesional no es tener buenas intenciones.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tomar decisiones defendibles con información incompleta y poder explicar el criterio.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código de ética de ACM e IEEE Computer Society para ingeniería de software es de 1999 y tiene ocho principios; el código de ética del ingeniero en Colombia es la Ley 842 de 2003.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veredicto que cita el numeral es un argumento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«a mí me parece que estuvo mal» no lo 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taller de hoy se califica exactamente esa diferencia. **La tercera: la ley es el piso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la ética en una profesión y qué no es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el techo.** El caso de Cambridge Analytica es el mejor para mostrarlo: la interfaz que permitía a una aplicación tomar datos de los amigos del usuario estaba documentada públicamente y era permitida por las reglas de la plataforma.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Era legal y es indefendible.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revés también ocurre: algo puede ser éticamente correcto y estar prohibido por una política interna.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Quitar un seguro físico de una máquina de radioterapia porque el software ya lo cubre es una decisión que cuesta una reunión; enterarse de las consecuencias cuesta vidas y una investigación de años.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ética no es lo que se hace después del desastre.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códigos y las tres normas colombianas que hay que saber nombrar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ACM/IEEE, 1999.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Ocho principios en este orden: público, cliente y empleador, producto, juicio, gestión, profesión, colegas y sí mismo.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orden importa y hay que decirlo en voz alta: el principio 1 —actuar de forma consistente con el interés público—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está por encima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principio 2, que es el cliente y el empleador.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práctico que hay que aterrizar para un estudiante de primer semestre es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matrícula profesional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en Colombia el ejercicio de la ingeniería requiere matrícula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expide el COPNIA —Consejo Profesional Nacional de Ingeniería—, y el COPNIA puede sancionar y suspenderla.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decir, la ética profesional aquí no es un discurso: tiene una autoridad, un procedimiento y una consecuencia sobre el derecho a ejercer.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Ley 1581 de 2012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(con el Decreto 1377 de 2013) es la de protección de datos personales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códigos y las tres normas colombianas que hay que saber nombrar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 la norma que más van a tocar en su vida laboral, empezando por el proyecto de este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principios que hay que poder nombrar: finalidad (los datos se piden para algo declarado y no se usan para otra cosa)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Libertad (hace falta autorización previa, expresa e informada), veracidad, transparencia, acceso restringido, seguridad y confidencialidad.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autoridad es la Superintendencia de Industria y Comercio.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Aterrícelo en el curso: si un equipo quiere hacer un proyecto con una base de datos de pacientes de un consultorio del barrio, esta ley le aplica completa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eso el curso prohíbe subir nombres y cédulas.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Ley 1273 de 2009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agregó al Código Penal un título sobre la protección de la información y los datos: acceso abusivo a un sistema informático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códigos y las tres normas colombianas que hay que saber nombrar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Obstaculización ilegítima, interceptación de datos, daño informático, hurto por medios informáticos.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diferencia con la anterior hay que subrayarla: aquí la consecuencia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pena de prisión para la persona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una sanción administrativa a la empresa.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norma que convierte en delito lo que un estudiante puede considerar una travesura —entrar a un sistema ajeno «solo para probar»— y conviene decirlo hoy, en la sesión 4, y no cuando ya pasó.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casos: qué contar de cada uno y cuál es el momento de parar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Therac-25 (1985–1987).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Máquina de radioterapia de la Atomic Energy of Canada Limited.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causas son de manual y hay que contarlas completas porque son técnicas: los modelos anteriores tenían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seguros físicos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impedían mecánicamente una configuración peligrosa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el Therac-25 se quitaron confiando en que el software lo evitaría; el software venía reutilizado de los modelos anteriores, con errores que antes quedaban tapados por esos seguros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Había una condición de carrera que se disparaba cuando la operadora corregía la pantalla muy rápido, algo que hacían las operadoras expertas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mensajes de error eran crípticos («MALFUNCTION 54») y aparecían tan seguido que se ignoraban; nunca hubo revisión independiente del código; y el fabricante sostuvo al principio que la sobredosis era imposible.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casos: qué contar de cada uno y cuál es el momento de parar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investigación de Nancy Leveson y Clark Turner (1993) es la fuente canónica y está disponible.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momento de parar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fue la decisión de quitar los seguros físicos: ahí, en una reunión de diseño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Era gratis.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Volkswagen (2015).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«defeat device»: software que reconocía las condiciones de la prueba de laboratorio y activaba el control de emisiones solo en ese momento.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descubrió en 2015 y el detalle que interesa aquí es judicial: el ingeniero James Liang se declaró culpable y fue condenado en 2017 a cuarenta meses de prisión y una multa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directivo recibió una pena mayor.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momento de parar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fue cuando le pidieron escribir la detección de la prueba: no hacía falta ser experto en emisiones para ver que un código cuyo propósito es comportarse distinto durante el examen existe para engañar.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Boeing 737 MAX (2018–2019).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MCAS empujaba el morro hacia abajo con base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solo sensor de ángulo de ataque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podía activarse repetidamente, y no estaba explicado en el manual de vuelo, así que los pilotos no sabían que existía.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casos: qué contar de cada uno y cuál es el momento de parar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accidentes —Lion Air 610 en octubre de 2018 y Ethiopian 302 en marzo de 2019— con 346 muertos en total, y la flota mundial en tierra.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detalle que vale oro para una clase de ingeniería: la alerta que avisaba de la discrepancia entre sensores era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opción de pago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momento de parar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fue la decisión de arquitectura de depender de un sensor único en un sistema capaz de mover el avión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de no documentarlo para no obligar a reentrenar pilotos.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Cambridge Analytica (2018).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Una aplicación de cuestionarios recogía datos del usuario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 de sus amigos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nunca la instalaron ni supieron de ella, aprovechando una interfaz de la plataforma que lo permitía.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fue una multa histórica a la plataforma.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momento de parar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fue el diseño de esa interfaz: alguien decidió que el consentimiento de una persona alcanzara para entregar los datos de sus contactos.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casos: qué contar de cada uno y cuál es el momento de parar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caso que conecta directo con la Ley 1581 y con el principio de finalidad.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hilo común hay que enunciarlo al final de la tabla: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los cuatro casos el software funcionó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hubo un error de programación que causara el desastre —salvo parcialmente en Therac-25, y ahí el error existía desde antes y estaba tapado por un seguro que alguien decidió quitar—.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defensa que no sirve y las cinco preguntas que sí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«Yo solo programé lo que me pidieron» es la frase que el estudiante va a usar espontáneamente en el taller, y hay que desarmarla con hechos en vez de con moralina.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Legalmente no funciona: el caso Volkswagen tiene un ingeniero condenado a prisión por ejecutar.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Profesionalmente tampoco: el código ACM/IEEE pone el interés público por encima del empleador, así que el conflicto ya está resuelto en el texto.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la parte útil no es la condena, es la alternativa, y conviene enseñarla en términos prácticos porque el estudiante que salga a trabajar el próximo año la va a necesitar: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dejar rastro y escalar temprano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defensa que no sirve y las cinco preguntas que sí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correo corto que diga «esto que se me pide tiene este riesgo para estas personas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dejo por escrito y propongo esta alternativa» hace tres cosas: aumenta la probabilidad de que se corrija, obliga a quien decide a decidir de verdad, y protege a quien lo escribió.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única postura que no tiene defensa posible es callar.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cinco preguntas son el método del taller.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más potente es la tercera —«¿aguanta que se sepa?»— porque no requiere saber nada de códigos ni de leyes y descarta la mayoría de las malas ideas en diez segundos: si la decisión depende de que los afectados no se enteren, ya está juzgada.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Comité de ética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un caso por equipo, del 1 al 5 · acta del comité con el numeral citado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HECHOS, SIN ADJETIVOS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pasó, en cinco líneas máximo: qué sistema era, qué hizo, a quién afectó y cómo se supo. Sin opinión todavía.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QUIÉN DECIDIÓ QUÉ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 decisión concreta que causó el daño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quién la tomó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(el rol: el diseñador, el gerente de producto, el ingeniero que ejecutó). Si fueron varias personas en cadena, escriban la cadena.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NUMERAL QUE SE VIOLÓ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Cite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literalmente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al menos un principio del código ACM/IEEE o un artículo de la Ley 842 de 2003, la Ley 1581 de 2012 o la Ley 1273 de 2009, y explique en dos líneas por qué aplica a este caso.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MOMENTO EN QUE SE PUDO PARAR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momento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más temprano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que alguien con la información disponible podía cambiar el resultado, y qué debía hacer exactamente ahí (a quién decirle qué, y por escrito o no).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REGLA QUE SE LLEVAN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regla en una frase, escrita para ustedes mismos, que evite repetir esto en el proyecto de este curso. Tiene que ser verificable.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Los hechos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pasó, sin adjetivos. Cinco líneas dichas en medio minuto.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Quién decidió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 decisión y el rol de quien la tomó. No «la empresa».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El numeral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Lea el principio o el artículo y diga por qué aplica. Es lo que más pesa.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El momento de parar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Cuándo y qué había que hacer. Es el minuto obligatorio.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10 s · La regla propia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frase, verificable, para su propio proyecto.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Lectura del código ético — el código ACM/IEEE completo, los ocho principios, y los deberes del ingeniero frente a la sociedad de la Ley 842 de 2003.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Análisis crítico del código ético: media página sobre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principio que su equipo cree difícil de cumplir en la práctica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con el motivo.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5 · El rol del ingeniero en el contexto ambiental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el impacto ambiental del software, que es el daño que no tiene una víctima con nombre y que casi nadie mide.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Traigan leído el código de ética y la regla propia de hoy escrita en el documento del equipo. En la sesión 6 esa regla entra en la ficha del problema del proyecto.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Principios éticos en la Ingeniería · Clase 4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En los cuatro casos el software funcionó. Falló lo que se pidió construir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