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notesMaster" Target="notesMasters/notesMaster1.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Deténgase en la frontera y pregunte: ¿el bus que toma el paciente es parte del sistema de citas? No hay respuesta única, y esa es la lección: la frontera la decide el ingeniero y la tiene que poder defender.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TEXTO COMPLETO DE LA LÁMINA (se proyecta resumido):</a:t>
            </a:r>
          </a:p>
          <a:p/>
          <a:p>
            <a:r>
              <a:t>Un equipo construye una app de citas impecable: rápida, bonita y sin errores.</a:t>
            </a:r>
          </a:p>
          <a:p/>
          <a:p>
            <a:r>
              <a:t>A las 5 de la mañana la fila de la EPS sigue igual. ¿Por qué?</a:t>
            </a:r>
          </a:p>
          <a:p/>
          <a:p>
            <a:r>
              <a:t>Las personas de la fila no tienen datos en el celular, o no confían en la app.</a:t>
            </a:r>
          </a:p>
          <a:p/>
          <a:p>
            <a:r>
              <a:t>La secretaria sigue anotando en el cuaderno, porque el sistema nuevo le duplica el trabajo.</a:t>
            </a:r>
          </a:p>
          <a:p/>
          <a:p>
            <a:r>
              <a:t>El software funcionó y el problema siguió. En este curso, ese proyecto fracasó.</a:t>
            </a:r>
          </a:p>
          <a:p/>
          <a:p>
            <a:r>
              <a:t>Un proyecto se juzga por si el problema del entorno se redujo y se puede medir, no por si la app funciona.</a:t>
            </a:r>
          </a:p>
          <a:p/>
          <a:p>
            <a:r>
              <a:t>Este es el caso más importante de la clase: deje que el grupo diga por qué creen que la fila no se movió antes de mostrar las razones. Casi siempre aparecen solas.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vecino que madrugaba es el actor que siempre se olvida y el que más importa: el sistema le empeoró la vida sin consultarlo. La Clase 13, sobre impacto social, es una hora entera buscando a ese actor.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paso 5 es el hallazgo: la mayoría de los sistemas del entorno no se enteran de que les salió mal. Encontrar eso en su propio proyecto suele ser la mejor oportunidad de mejora, porque casi siempre es barata.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PREGUNTA DE ENTRADA Y POR QUÉ ESOS TRES EJEMPLOS</a:t>
            </a:r>
          </a:p>
          <a:p/>
          <a:p>
            <a:r>
              <a:t>La pregunta de apertura junta un semáforo, la matrícula de la universidad y la fila de una EPS a propósito: son tres cosas que el estudiante no clasificaría junto y que comparten exactamente lo que la clase quiere mostrar. En los tres hay entradas, un proceso, salidas y personas afectadas; en los tres el software existe pero es la parte pequeña; y en los tres el problema real está en la coordinación entre partes, no en el código.</a:t>
            </a:r>
          </a:p>
          <a:p/>
          <a:p>
            <a:r>
              <a:t>El semáforo sirve para desactivar la idea de que un sistema es un programa: un semáforo mal sincronizado produce trancón aunque su temporizador funcione perfecto. La matrícula sirve porque la viven: el sistema de matrícula incluye la plataforma, pero también el pago en el banco, la cola de la ventanilla y la persona que revisa un documento. Y la fila de la EPS sirve porque es el caso donde es más visible que un sistema puede funcionar según su diseño y ser injusto: si las citas se asignan por orden de llegada física, el sistema está premiando a quien puede madrugar.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ES UN SISTEMA Y POR QUÉ LA FRONTERA ES LA DECISIÓN DIFÍCIL</a:t>
            </a:r>
          </a:p>
          <a:p/>
          <a:p>
            <a:r>
              <a:t>La definición operativa que sirve para todo el curso es corta: un sistema es un conjunto de partes que interactúan para cumplir un propósito, de modo que si se le quita una parte deja de cumplirlo. Lo importante de esa definición no son las palabras sino la consecuencia: el propósito es lo primero que hay que poder decir. Si un equipo no puede decir para qué existe el sistema en una frase, todavía no lo entendió, y ningún diagrama lo va a salvar.</a:t>
            </a:r>
          </a:p>
          <a:p/>
          <a:p>
            <a:r>
              <a:t>Los cinco elementos se explican con un ejemplo concreto y de una sola pasada. En el sistema de citas de un consultorio: las entradas son las solicitudes de cita, la disponibilidad del médico y los datos del paciente; el proceso es asignar, confirmar y recordar; las salidas son la cita asignada, el paciente atendido y el registro de lo que pasó; la retroalimentación es que un paciente que no llegó libera un cupo y eso debería cambiar la asignación. La frontera es lo que hay que discutir: ¿el transporte del paciente es parte del sistema? Si el 30 % de las citas se pierden porque la gente no logra llegar, dejar el transporte fuera de la frontera hace que el sistema funcione en el papel y falle en la vida.</a:t>
            </a:r>
          </a:p>
          <a:p/>
          <a:p>
            <a:r>
              <a:t>Ese punto —toda frontera es una decisión y hay que poder defenderla— es el que hay que dejar clavado. El estudiante de primer semestre tiende a creer que la frontera viene dada por el problema. No viene dada: la pone el ingeniero, y de ella depende qué se puede mejorar. Una frontera muy estrecha produce sistemas que no sirven; una muy ancha produce proyectos que no se acaban. En la sesión 6, cuando cada equipo escriba el problema de su proyecto, la frontera va a ser el campo que más discusión genere, y hoy es donde se aprende a ponerla.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SISTEMA NO ES EL SOFTWARE: LA CONFUSIÓN QUE HACE FRACASAR PROYECTOS</a:t>
            </a:r>
          </a:p>
          <a:p/>
          <a:p>
            <a:r>
              <a:t>La diapositiva del antes y después es el centro pedagógico de la sesión y conviene dictarla despacio, línea por línea, dejando que el grupo reconozca su propia forma de pensar en la columna izquierda. Casi todos llegan a primer semestre con la mirada de programador, y no por ignorancia: es la que el entorno premia. La columna derecha es la que la carrera enseña.</a:t>
            </a:r>
          </a:p>
          <a:p/>
          <a:p>
            <a:r>
              <a:t>El ejemplo de las citas médicas conviene desarrollarlo hasta el final porque muestra el fracaso completo. Un equipo con mirada de programador construye una app de citas impecable: sin errores, rápida, bonita. Y la fila de las cinco de la mañana no se mueve, porque las personas que hacen esa fila no tienen datos en el celular, o no confían en la app, o la secretaria sigue apuntando en el cuaderno porque el sistema nuevo le duplica el trabajo. El software funciona y el problema sigue. En la lógica de este curso, ese proyecto fracasó, y no por un error técnico.</a:t>
            </a:r>
          </a:p>
          <a:p/>
          <a:p>
            <a:r>
              <a:t>De ahí sale el criterio de éxito que se usa en todo el semestre y que hay que enunciar hoy con esas palabras: un proyecto de este curso se juzga por si el problema del entorno se redujo y se puede medir, no por si el prototipo funciona. Es la razón por la que el bloque «problema del entorno» pesó el 30 % en la sesión 1 y por la que la sesión 6 exige una línea base con una cifra.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ACTORES, REQUISITOS Y RETROALIMENTACIÓN: LOS TRES QUE SE OLVIDAN</a:t>
            </a:r>
          </a:p>
          <a:p/>
          <a:p>
            <a:r>
              <a:t>El concepto de actor hay que estirarlo más allá del usuario, porque ahí está la falla que más cuesta. En el sistema de citas los actores obvios son el paciente y la secretaria. Los que se olvidan son el médico (cuya agenda se llena distinto), quien paga el servicio (que quiere menos cupos perdidos) y el vecino que antes conseguía cita madrugando y ahora no la consigue. Ese último es el más importante para el curso, porque es un actor al que el sistema le empeoró la vida sin que nadie lo consultara. La Clase 13, sobre impacto social, es básicamente una hora dedicada a buscar a ese actor.</a:t>
            </a:r>
          </a:p>
          <a:p/>
          <a:p>
            <a:r>
              <a:t>Requisito contra deseo es la distinción práctica que más van a usar. La regla es operativa: es requisito si sin eso el sistema no cumple su propósito; es deseo si lo mejora. Y hay que advertir el fenómeno social: todo el mundo presenta sus deseos como requisitos, no por mala fe, sino porque desde dentro de su trabajo todo parece indispensable. Separarlos no es un trámite: es lo que permite entregar algo en un semestre en vez de nada en dos años.</a:t>
            </a:r>
          </a:p>
          <a:p/>
          <a:p>
            <a:r>
              <a:t>La retroalimentación es la más abstracta y la que más rinde cuando se aterriza con una pregunta única: ¿cómo se entera este sistema de que le salió mal? En la mayoría de los sistemas del entorno que los equipos van a mirar, la respuesta honesta es «no se entera», o «se entera cuando alguien reclama». Encontrar eso ya es un hallazgo de ingeniería y suele ser la mejor oportunidad de mejora del proyecto, porque casi siempre es barata: un registro, un conteo, una pregunta al final del proceso.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ASISTENTE DE IA: CÓMO USARLO HOY SIN QUE HAGA EL TRABAJO</a:t>
            </a:r>
          </a:p>
          <a:p/>
          <a:p>
            <a:r>
              <a:t>Esta es una de las dos sesiones donde el Plan de curso autoriza IA, y conviene presentarla bien porque de cómo se haga hoy depende cómo la usen todo el semestre. La postura del curso no es prohibirla ni celebrarla: es usarla y verificarla. El asistente es bueno dándole estructura a algo que el equipo ya entiende, y es bueno sugiriendo actores que se pasaron por alto. Es malo, y de una manera peligrosa, en todo lo local y lo cuantitativo.</a:t>
            </a:r>
          </a:p>
          <a:p/>
          <a:p>
            <a:r>
              <a:t>El punto que hay que subrayar es el mecanismo de la falla: el asistente no avisa cuando está inventando. Escribe «el tiempo promedio de espera en las EPS colombianas es de 47 minutos» con el mismo tono con que escribe algo correcto. Va a inventar cifras, nombres de dependencias municipales y números de leyes. Es exactamente el tipo de dato que un estudiante de primer semestre no puede distinguir, y por eso el entregable de hoy no es el texto de la IA: es la lista de lo que el equipo detectó y corrigió.</a:t>
            </a:r>
          </a:p>
          <a:p/>
          <a:p>
            <a:r>
              <a:t>En la práctica: el equipo escribe su prompt, pega la respuesta, y luego marca en el documento cada cosa que cambió y por qué. Tres correcciones bien argumentadas valen más que un texto largo. Y hay una consecuencia útil que conviene decirles: la IA solo se puede verificar si uno sabe del tema, así que la herramienta no reemplaza aprender el contenido, lo hace más necesario. Ese argumento funciona mejor que una prohibición.</a:t>
            </a:r>
          </a:p>
          <a:p/>
          <a:p>
            <a:r>
              <a:t>El método de cinco pasos de la otra diapositiva es el orden de trabajo del taller, y el paso 4 —seguir un caso real de la entrada a la salida— es el que produce los hallazgos. Los huecos de un sistema no aparecen mirando el diagrama; aparecen cuando uno intenta pasar un caso concreto por él y se topa con un paso que nadie sabe quién hace.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ASISTENTE DE IA: CÓMO USARLO HOY SIN QUE HAGA EL TRABAJO</a:t>
            </a:r>
          </a:p>
          <a:p/>
          <a:p>
            <a:r>
              <a:t>Esta es una de las dos sesiones donde el Plan de curso autoriza IA, y conviene presentarla bien porque de cómo se haga hoy depende cómo la usen todo el semestre. La postura del curso no es prohibirla ni celebrarla: es usarla y verificarla. El asistente es bueno dándole estructura a algo que el equipo ya entiende, y es bueno sugiriendo actores que se pasaron por alto. Es malo, y de una manera peligrosa, en todo lo local y lo cuantitativo.</a:t>
            </a:r>
          </a:p>
          <a:p/>
          <a:p>
            <a:r>
              <a:t>El punto que hay que subrayar es el mecanismo de la falla: el asistente no avisa cuando está inventando. Escribe «el tiempo promedio de espera en las EPS colombianas es de 47 minutos» con el mismo tono con que escribe algo correcto. Va a inventar cifras, nombres de dependencias municipales y números de leyes. Es exactamente el tipo de dato que un estudiante de primer semestre no puede distinguir, y por eso el entregable de hoy no es el texto de la IA: es la lista de lo que el equipo detectó y corrigió.</a:t>
            </a:r>
          </a:p>
          <a:p/>
          <a:p>
            <a:r>
              <a:t>En la práctica: el equipo escribe su prompt, pega la respuesta, y luego marca en el documento cada cosa que cambió y por qué. Tres correcciones bien argumentadas valen más que un texto largo. Y hay una consecuencia útil que conviene decirles: la IA solo se puede verificar si uno sabe del tema, así que la herramienta no reemplaza aprender el contenido, lo hace más necesario. Ese argumento funciona mejor que una prohibición.</a:t>
            </a:r>
          </a:p>
          <a:p/>
          <a:p>
            <a:r>
              <a:t>El método de cinco pasos de la otra diapositiva es el orden de trabajo del taller, y el paso 4 —seguir un caso real de la entrada a la salida— es el que produce los hallazgos. Los huecos de un sistema no aparecen mirando el diagrama; aparecen cuando uno intenta pasar un caso concreto por él y se topa con un paso que nadie sabe quién hace.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notesSlide" Target="../notesSlides/notes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
            <a:ext cx="12191695" cy="50292"/>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uniajc_blanco.png"/>
          <p:cNvPicPr>
            <a:picLocks noChangeAspect="1"/>
          </p:cNvPicPr>
          <p:nvPr/>
        </p:nvPicPr>
        <p:blipFill>
          <a:blip r:embed="rId2"/>
          <a:stretch>
            <a:fillRect/>
          </a:stretch>
        </p:blipFill>
        <p:spPr>
          <a:xfrm>
            <a:off x="502920" y="384048"/>
            <a:ext cx="2011680" cy="876815"/>
          </a:xfrm>
          <a:prstGeom prst="rect">
            <a:avLst/>
          </a:prstGeom>
        </p:spPr>
      </p:pic>
      <p:sp>
        <p:nvSpPr>
          <p:cNvPr id="6" name="Rounded Rectangle 5"/>
          <p:cNvSpPr/>
          <p:nvPr/>
        </p:nvSpPr>
        <p:spPr>
          <a:xfrm>
            <a:off x="10042855" y="384048"/>
            <a:ext cx="1691640" cy="38404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42855" y="384048"/>
            <a:ext cx="1691640" cy="384048"/>
          </a:xfrm>
          <a:prstGeom prst="rect">
            <a:avLst/>
          </a:prstGeom>
          <a:noFill/>
        </p:spPr>
        <p:txBody>
          <a:bodyPr wrap="square" anchor="ctr"/>
          <a:lstStyle/>
          <a:p>
            <a:pPr algn="ctr"/>
            <a:r>
              <a:rPr sz="1400" b="1" i="0">
                <a:solidFill>
                  <a:srgbClr val="FFFFFF"/>
                </a:solidFill>
                <a:latin typeface="Calibri"/>
              </a:rPr>
              <a:t>Clase 3</a:t>
            </a:r>
          </a:p>
        </p:txBody>
      </p:sp>
      <p:sp>
        <p:nvSpPr>
          <p:cNvPr id="8" name="TextBox 7"/>
          <p:cNvSpPr txBox="1"/>
          <p:nvPr/>
        </p:nvSpPr>
        <p:spPr>
          <a:xfrm>
            <a:off x="731520" y="2331720"/>
            <a:ext cx="10728655" cy="1828800"/>
          </a:xfrm>
          <a:prstGeom prst="rect">
            <a:avLst/>
          </a:prstGeom>
          <a:noFill/>
        </p:spPr>
        <p:txBody>
          <a:bodyPr wrap="square" anchor="ctr"/>
          <a:lstStyle/>
          <a:p>
            <a:pPr algn="ctr"/>
            <a:r>
              <a:rPr sz="3400" b="1" i="0">
                <a:solidFill>
                  <a:srgbClr val="FFFFFF"/>
                </a:solidFill>
                <a:latin typeface="Calibri"/>
              </a:rPr>
              <a:t>Fundamentos básicos de la Ingeniería de Sistemas</a:t>
            </a:r>
          </a:p>
        </p:txBody>
      </p:sp>
      <p:sp>
        <p:nvSpPr>
          <p:cNvPr id="9" name="Rectangle 8"/>
          <p:cNvSpPr/>
          <p:nvPr/>
        </p:nvSpPr>
        <p:spPr>
          <a:xfrm>
            <a:off x="4632807" y="4206240"/>
            <a:ext cx="2926080" cy="50292"/>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361688"/>
            <a:ext cx="10728655" cy="640080"/>
          </a:xfrm>
          <a:prstGeom prst="rect">
            <a:avLst/>
          </a:prstGeom>
          <a:noFill/>
        </p:spPr>
        <p:txBody>
          <a:bodyPr wrap="square">
            <a:spAutoFit/>
          </a:bodyPr>
          <a:lstStyle/>
          <a:p>
            <a:pPr algn="ctr"/>
            <a:r>
              <a:rPr sz="1800" b="0" i="0">
                <a:solidFill>
                  <a:srgbClr val="B8D8EE"/>
                </a:solidFill>
                <a:latin typeface="Calibri"/>
              </a:rPr>
              <a:t>Qué es un sistema, y por qué el software es solo una parte</a:t>
            </a:r>
          </a:p>
        </p:txBody>
      </p:sp>
      <p:sp>
        <p:nvSpPr>
          <p:cNvPr id="11" name="TextBox 10"/>
          <p:cNvSpPr txBox="1"/>
          <p:nvPr/>
        </p:nvSpPr>
        <p:spPr>
          <a:xfrm>
            <a:off x="11094415" y="6419088"/>
            <a:ext cx="548640" cy="274320"/>
          </a:xfrm>
          <a:prstGeom prst="rect">
            <a:avLst/>
          </a:prstGeom>
          <a:noFill/>
        </p:spPr>
        <p:txBody>
          <a:bodyPr wrap="square">
            <a:spAutoFit/>
          </a:bodyPr>
          <a:lstStyle/>
          <a:p>
            <a:pPr algn="r"/>
            <a:r>
              <a:rPr sz="1100" b="1" i="0">
                <a:solidFill>
                  <a:srgbClr val="7EB8D4"/>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70432"/>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384048"/>
          </a:xfrm>
          <a:prstGeom prst="rect">
            <a:avLst/>
          </a:prstGeom>
          <a:noFill/>
        </p:spPr>
        <p:txBody>
          <a:bodyPr wrap="square">
            <a:spAutoFit/>
          </a:bodyPr>
          <a:lstStyle/>
          <a:p>
            <a:r>
              <a:rPr sz="2600" b="1" i="0">
                <a:solidFill>
                  <a:srgbClr val="FFFFFF"/>
                </a:solidFill>
                <a:latin typeface="Calibri"/>
              </a:rPr>
              <a:t>Agenda de hoy (90 min)</a:t>
            </a:r>
          </a:p>
        </p:txBody>
      </p:sp>
      <p:sp>
        <p:nvSpPr>
          <p:cNvPr id="5" name="TextBox 4"/>
          <p:cNvSpPr txBox="1"/>
          <p:nvPr/>
        </p:nvSpPr>
        <p:spPr>
          <a:xfrm>
            <a:off x="457200" y="566928"/>
            <a:ext cx="11277295" cy="411480"/>
          </a:xfrm>
          <a:prstGeom prst="rect">
            <a:avLst/>
          </a:prstGeom>
          <a:noFill/>
        </p:spPr>
        <p:txBody>
          <a:bodyPr wrap="square">
            <a:spAutoFit/>
          </a:bodyPr>
          <a:lstStyle/>
          <a:p>
            <a:r>
              <a:rPr sz="1400" b="0" i="0">
                <a:solidFill>
                  <a:srgbClr val="B8D8EE"/>
                </a:solidFill>
                <a:latin typeface="Calibri"/>
              </a:rPr>
              <a:t>La misma estructura de las 16 sesiones. El reloj de pared de su grupo está en el calendario del curso.</a:t>
            </a:r>
          </a:p>
        </p:txBody>
      </p:sp>
      <p:sp>
        <p:nvSpPr>
          <p:cNvPr id="6" name="Rectangle 5"/>
          <p:cNvSpPr/>
          <p:nvPr/>
        </p:nvSpPr>
        <p:spPr>
          <a:xfrm>
            <a:off x="457200" y="2386584"/>
            <a:ext cx="11277295" cy="7315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438625" y="2276856"/>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63624"/>
            <a:ext cx="2255459" cy="502920"/>
          </a:xfrm>
          <a:prstGeom prst="rect">
            <a:avLst/>
          </a:prstGeom>
          <a:noFill/>
        </p:spPr>
        <p:txBody>
          <a:bodyPr wrap="square">
            <a:spAutoFit/>
          </a:bodyPr>
          <a:lstStyle/>
          <a:p>
            <a:pPr algn="ctr"/>
            <a:r>
              <a:rPr sz="1300" b="1" i="0">
                <a:solidFill>
                  <a:srgbClr val="095292"/>
                </a:solidFill>
                <a:latin typeface="Calibri"/>
              </a:rPr>
              <a:t>00:00–00:10 · 10 min</a:t>
            </a:r>
          </a:p>
        </p:txBody>
      </p:sp>
      <p:sp>
        <p:nvSpPr>
          <p:cNvPr id="9" name="TextBox 8"/>
          <p:cNvSpPr txBox="1"/>
          <p:nvPr/>
        </p:nvSpPr>
        <p:spPr>
          <a:xfrm>
            <a:off x="502920" y="2798064"/>
            <a:ext cx="2164019" cy="3099816"/>
          </a:xfrm>
          <a:prstGeom prst="rect">
            <a:avLst/>
          </a:prstGeom>
          <a:noFill/>
        </p:spPr>
        <p:txBody>
          <a:bodyPr wrap="square">
            <a:spAutoFit/>
          </a:bodyPr>
          <a:lstStyle/>
          <a:p>
            <a:pPr algn="ctr"/>
            <a:r>
              <a:rPr sz="1300" b="0" i="0">
                <a:solidFill>
                  <a:srgbClr val="333333"/>
                </a:solidFill>
                <a:latin typeface="Calibri"/>
              </a:rPr>
              <a:t>Pregunta de entrada en el muro mientras se conectan</a:t>
            </a:r>
          </a:p>
        </p:txBody>
      </p:sp>
      <p:sp>
        <p:nvSpPr>
          <p:cNvPr id="10" name="Rounded Rectangle 9"/>
          <p:cNvSpPr/>
          <p:nvPr/>
        </p:nvSpPr>
        <p:spPr>
          <a:xfrm>
            <a:off x="3694084" y="2276856"/>
            <a:ext cx="292608" cy="29260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12659" y="1563624"/>
            <a:ext cx="2255459" cy="502920"/>
          </a:xfrm>
          <a:prstGeom prst="rect">
            <a:avLst/>
          </a:prstGeom>
          <a:noFill/>
        </p:spPr>
        <p:txBody>
          <a:bodyPr wrap="square">
            <a:spAutoFit/>
          </a:bodyPr>
          <a:lstStyle/>
          <a:p>
            <a:pPr algn="ctr"/>
            <a:r>
              <a:rPr sz="1300" b="1" i="0">
                <a:solidFill>
                  <a:srgbClr val="095292"/>
                </a:solidFill>
                <a:latin typeface="Calibri"/>
              </a:rPr>
              <a:t>00:10–00:55 · 45 min</a:t>
            </a:r>
          </a:p>
        </p:txBody>
      </p:sp>
      <p:sp>
        <p:nvSpPr>
          <p:cNvPr id="12" name="TextBox 11"/>
          <p:cNvSpPr txBox="1"/>
          <p:nvPr/>
        </p:nvSpPr>
        <p:spPr>
          <a:xfrm>
            <a:off x="2758379" y="2798064"/>
            <a:ext cx="2164019" cy="3099816"/>
          </a:xfrm>
          <a:prstGeom prst="rect">
            <a:avLst/>
          </a:prstGeom>
          <a:noFill/>
        </p:spPr>
        <p:txBody>
          <a:bodyPr wrap="square">
            <a:spAutoFit/>
          </a:bodyPr>
          <a:lstStyle/>
          <a:p>
            <a:pPr algn="ctr"/>
            <a:r>
              <a:rPr sz="1300" b="0" i="0">
                <a:solidFill>
                  <a:srgbClr val="333333"/>
                </a:solidFill>
                <a:latin typeface="Calibri"/>
              </a:rPr>
              <a:t>Teoría — sistema, frontera, actores y retroalimentación</a:t>
            </a:r>
          </a:p>
        </p:txBody>
      </p:sp>
      <p:sp>
        <p:nvSpPr>
          <p:cNvPr id="13" name="Rounded Rectangle 12"/>
          <p:cNvSpPr/>
          <p:nvPr/>
        </p:nvSpPr>
        <p:spPr>
          <a:xfrm>
            <a:off x="5949543" y="2276856"/>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68118" y="1563624"/>
            <a:ext cx="2255459" cy="502920"/>
          </a:xfrm>
          <a:prstGeom prst="rect">
            <a:avLst/>
          </a:prstGeom>
          <a:noFill/>
        </p:spPr>
        <p:txBody>
          <a:bodyPr wrap="square">
            <a:spAutoFit/>
          </a:bodyPr>
          <a:lstStyle/>
          <a:p>
            <a:pPr algn="ctr"/>
            <a:r>
              <a:rPr sz="1300" b="1" i="0">
                <a:solidFill>
                  <a:srgbClr val="095292"/>
                </a:solidFill>
                <a:latin typeface="Calibri"/>
              </a:rPr>
              <a:t>00:55–01:12 · 17 min</a:t>
            </a:r>
          </a:p>
        </p:txBody>
      </p:sp>
      <p:sp>
        <p:nvSpPr>
          <p:cNvPr id="15" name="TextBox 14"/>
          <p:cNvSpPr txBox="1"/>
          <p:nvPr/>
        </p:nvSpPr>
        <p:spPr>
          <a:xfrm>
            <a:off x="5013838" y="2798064"/>
            <a:ext cx="2164019" cy="3099816"/>
          </a:xfrm>
          <a:prstGeom prst="rect">
            <a:avLst/>
          </a:prstGeom>
          <a:noFill/>
        </p:spPr>
        <p:txBody>
          <a:bodyPr wrap="square">
            <a:spAutoFit/>
          </a:bodyPr>
          <a:lstStyle/>
          <a:p>
            <a:pPr algn="ctr"/>
            <a:r>
              <a:rPr sz="1300" b="0" i="0">
                <a:solidFill>
                  <a:srgbClr val="333333"/>
                </a:solidFill>
                <a:latin typeface="Calibri"/>
              </a:rPr>
              <a:t>Práctica en equipos (opcional · la guía está en la carpeta de la clase)</a:t>
            </a:r>
          </a:p>
        </p:txBody>
      </p:sp>
      <p:sp>
        <p:nvSpPr>
          <p:cNvPr id="16" name="Rounded Rectangle 15"/>
          <p:cNvSpPr/>
          <p:nvPr/>
        </p:nvSpPr>
        <p:spPr>
          <a:xfrm>
            <a:off x="8205002" y="2276856"/>
            <a:ext cx="292608" cy="29260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23577" y="1563624"/>
            <a:ext cx="2255459" cy="502920"/>
          </a:xfrm>
          <a:prstGeom prst="rect">
            <a:avLst/>
          </a:prstGeom>
          <a:noFill/>
        </p:spPr>
        <p:txBody>
          <a:bodyPr wrap="square">
            <a:spAutoFit/>
          </a:bodyPr>
          <a:lstStyle/>
          <a:p>
            <a:pPr algn="ctr"/>
            <a:r>
              <a:rPr sz="1300" b="1" i="0">
                <a:solidFill>
                  <a:srgbClr val="095292"/>
                </a:solidFill>
                <a:latin typeface="Calibri"/>
              </a:rPr>
              <a:t>01:12–01:27 · 15 min</a:t>
            </a:r>
          </a:p>
        </p:txBody>
      </p:sp>
      <p:sp>
        <p:nvSpPr>
          <p:cNvPr id="18" name="TextBox 17"/>
          <p:cNvSpPr txBox="1"/>
          <p:nvPr/>
        </p:nvSpPr>
        <p:spPr>
          <a:xfrm>
            <a:off x="7269297" y="2798064"/>
            <a:ext cx="2164019" cy="3099816"/>
          </a:xfrm>
          <a:prstGeom prst="rect">
            <a:avLst/>
          </a:prstGeom>
          <a:noFill/>
        </p:spPr>
        <p:txBody>
          <a:bodyPr wrap="square">
            <a:spAutoFit/>
          </a:bodyPr>
          <a:lstStyle/>
          <a:p>
            <a:pPr algn="ctr"/>
            <a:r>
              <a:rPr sz="1300" b="0" i="0">
                <a:solidFill>
                  <a:srgbClr val="333333"/>
                </a:solidFill>
                <a:latin typeface="Calibri"/>
              </a:rPr>
              <a:t>Socialización de la práctica, si se hizo</a:t>
            </a:r>
          </a:p>
        </p:txBody>
      </p:sp>
      <p:sp>
        <p:nvSpPr>
          <p:cNvPr id="19" name="Rounded Rectangle 18"/>
          <p:cNvSpPr/>
          <p:nvPr/>
        </p:nvSpPr>
        <p:spPr>
          <a:xfrm>
            <a:off x="10460461" y="2276856"/>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79036" y="1563624"/>
            <a:ext cx="2255459" cy="502920"/>
          </a:xfrm>
          <a:prstGeom prst="rect">
            <a:avLst/>
          </a:prstGeom>
          <a:noFill/>
        </p:spPr>
        <p:txBody>
          <a:bodyPr wrap="square">
            <a:spAutoFit/>
          </a:bodyPr>
          <a:lstStyle/>
          <a:p>
            <a:pPr algn="ctr"/>
            <a:r>
              <a:rPr sz="1300" b="1" i="0">
                <a:solidFill>
                  <a:srgbClr val="095292"/>
                </a:solidFill>
                <a:latin typeface="Calibri"/>
              </a:rPr>
              <a:t>01:27–01:30 · 3 min</a:t>
            </a:r>
          </a:p>
        </p:txBody>
      </p:sp>
      <p:sp>
        <p:nvSpPr>
          <p:cNvPr id="21" name="TextBox 20"/>
          <p:cNvSpPr txBox="1"/>
          <p:nvPr/>
        </p:nvSpPr>
        <p:spPr>
          <a:xfrm>
            <a:off x="9524756" y="2798064"/>
            <a:ext cx="2164019" cy="3099816"/>
          </a:xfrm>
          <a:prstGeom prst="rect">
            <a:avLst/>
          </a:prstGeom>
          <a:noFill/>
        </p:spPr>
        <p:txBody>
          <a:bodyPr wrap="square">
            <a:spAutoFit/>
          </a:bodyPr>
          <a:lstStyle/>
          <a:p>
            <a:pPr algn="ctr"/>
            <a:r>
              <a:rPr sz="1300" b="0" i="0">
                <a:solidFill>
                  <a:srgbClr val="333333"/>
                </a:solidFill>
                <a:latin typeface="Calibri"/>
              </a:rPr>
              <a:t>Una idea, la tarea y los enlaces en el chat</a:t>
            </a:r>
          </a:p>
        </p:txBody>
      </p:sp>
      <p:sp>
        <p:nvSpPr>
          <p:cNvPr id="22" name="TextBox 21"/>
          <p:cNvSpPr txBox="1"/>
          <p:nvPr/>
        </p:nvSpPr>
        <p:spPr>
          <a:xfrm>
            <a:off x="457200" y="5806440"/>
            <a:ext cx="11277295" cy="640080"/>
          </a:xfrm>
          <a:prstGeom prst="rect">
            <a:avLst/>
          </a:prstGeom>
          <a:noFill/>
        </p:spPr>
        <p:txBody>
          <a:bodyPr wrap="square">
            <a:spAutoFit/>
          </a:bodyPr>
          <a:lstStyle/>
          <a:p>
            <a:pPr algn="ctr"/>
            <a:r>
              <a:rPr sz="1200" b="0" i="1">
                <a:solidFill>
                  <a:srgbClr val="666666"/>
                </a:solidFill>
                <a:latin typeface="Calibri"/>
              </a:rPr>
              <a:t>Solo el bloque de </a:t>
            </a:r>
            <a:r>
              <a:rPr sz="1200" b="1" i="1">
                <a:solidFill>
                  <a:srgbClr val="666666"/>
                </a:solidFill>
                <a:latin typeface="Calibri"/>
              </a:rPr>
              <a:t>esta</a:t>
            </a:r>
            <a:r>
              <a:rPr sz="1200" b="0" i="1">
                <a:solidFill>
                  <a:srgbClr val="666666"/>
                </a:solidFill>
                <a:latin typeface="Calibri"/>
              </a:rPr>
              <a:t> clase · 120 min</a:t>
            </a:r>
          </a:p>
        </p:txBody>
      </p:sp>
      <p:sp>
        <p:nvSpPr>
          <p:cNvPr id="23" name="TextBox 22"/>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Objetivos de la sesión</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Definir </a:t>
            </a:r>
            <a:r>
              <a:rPr sz="2000" b="1" i="0">
                <a:solidFill>
                  <a:srgbClr val="333333"/>
                </a:solidFill>
                <a:latin typeface="Calibri"/>
              </a:rPr>
              <a:t>sistema</a:t>
            </a:r>
            <a:r>
              <a:rPr sz="2000" b="0" i="0">
                <a:solidFill>
                  <a:srgbClr val="333333"/>
                </a:solidFill>
                <a:latin typeface="Calibri"/>
              </a:rPr>
              <a:t> con sus cinco elementos: entradas, proceso, salidas, retroalimentación y frontera.</a:t>
            </a:r>
          </a:p>
          <a:p>
            <a:pPr>
              <a:spcAft>
                <a:spcPts val="800"/>
              </a:spcAft>
            </a:pPr>
            <a:r>
              <a:rPr sz="2000" b="0" i="0">
                <a:solidFill>
                  <a:srgbClr val="333333"/>
                </a:solidFill>
                <a:latin typeface="Calibri"/>
              </a:rPr>
              <a:t>–   Distinguir el </a:t>
            </a:r>
            <a:r>
              <a:rPr sz="2000" b="1" i="0">
                <a:solidFill>
                  <a:srgbClr val="333333"/>
                </a:solidFill>
                <a:latin typeface="Calibri"/>
              </a:rPr>
              <a:t>sistema</a:t>
            </a:r>
            <a:r>
              <a:rPr sz="2000" b="0" i="0">
                <a:solidFill>
                  <a:srgbClr val="333333"/>
                </a:solidFill>
                <a:latin typeface="Calibri"/>
              </a:rPr>
              <a:t> del </a:t>
            </a:r>
            <a:r>
              <a:rPr sz="2000" b="1" i="0">
                <a:solidFill>
                  <a:srgbClr val="333333"/>
                </a:solidFill>
                <a:latin typeface="Calibri"/>
              </a:rPr>
              <a:t>software</a:t>
            </a:r>
            <a:r>
              <a:rPr sz="2000" b="0" i="0">
                <a:solidFill>
                  <a:srgbClr val="333333"/>
                </a:solidFill>
                <a:latin typeface="Calibri"/>
              </a:rPr>
              <a:t> que lo soporta, y decir por qué confundirlos hace fracasar proyectos.</a:t>
            </a:r>
          </a:p>
          <a:p>
            <a:pPr>
              <a:spcAft>
                <a:spcPts val="800"/>
              </a:spcAft>
            </a:pPr>
            <a:r>
              <a:rPr sz="2000" b="0" i="0">
                <a:solidFill>
                  <a:srgbClr val="333333"/>
                </a:solidFill>
                <a:latin typeface="Calibri"/>
              </a:rPr>
              <a:t>–   Identificar los </a:t>
            </a:r>
            <a:r>
              <a:rPr sz="2000" b="1" i="0">
                <a:solidFill>
                  <a:srgbClr val="333333"/>
                </a:solidFill>
                <a:latin typeface="Calibri"/>
              </a:rPr>
              <a:t>actores</a:t>
            </a:r>
            <a:r>
              <a:rPr sz="2000" b="0" i="0">
                <a:solidFill>
                  <a:srgbClr val="333333"/>
                </a:solidFill>
                <a:latin typeface="Calibri"/>
              </a:rPr>
              <a:t> de un sistema, incluidos los que no lo usan pero sí lo sufren.</a:t>
            </a:r>
          </a:p>
          <a:p>
            <a:pPr>
              <a:spcAft>
                <a:spcPts val="800"/>
              </a:spcAft>
            </a:pPr>
            <a:r>
              <a:rPr sz="2000" b="0" i="0">
                <a:solidFill>
                  <a:srgbClr val="333333"/>
                </a:solidFill>
                <a:latin typeface="Calibri"/>
              </a:rPr>
              <a:t>–   Usar un asistente de IA para descomponer un sistema y </a:t>
            </a:r>
            <a:r>
              <a:rPr sz="2000" b="1" i="0">
                <a:solidFill>
                  <a:srgbClr val="333333"/>
                </a:solidFill>
                <a:latin typeface="Calibri"/>
              </a:rPr>
              <a:t>corregir a mano lo que inventó</a:t>
            </a:r>
            <a:r>
              <a:rPr sz="2000" b="0" i="0">
                <a:solidFill>
                  <a:srgbClr val="333333"/>
                </a:solidFill>
                <a:latin typeface="Calibri"/>
              </a:rPr>
              <a:t>.</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_uniajc_blanco.png"/>
          <p:cNvPicPr>
            <a:picLocks noChangeAspect="1"/>
          </p:cNvPicPr>
          <p:nvPr/>
        </p:nvPicPr>
        <p:blipFill>
          <a:blip r:embed="rId2"/>
          <a:stretch>
            <a:fillRect/>
          </a:stretch>
        </p:blipFill>
        <p:spPr>
          <a:xfrm>
            <a:off x="10134295" y="320040"/>
            <a:ext cx="1645920" cy="717394"/>
          </a:xfrm>
          <a:prstGeom prst="rect">
            <a:avLst/>
          </a:prstGeom>
        </p:spPr>
      </p:pic>
      <p:sp>
        <p:nvSpPr>
          <p:cNvPr id="5" name="TextBox 4"/>
          <p:cNvSpPr txBox="1"/>
          <p:nvPr/>
        </p:nvSpPr>
        <p:spPr>
          <a:xfrm>
            <a:off x="685800" y="1280160"/>
            <a:ext cx="10820095" cy="365760"/>
          </a:xfrm>
          <a:prstGeom prst="rect">
            <a:avLst/>
          </a:prstGeom>
          <a:noFill/>
        </p:spPr>
        <p:txBody>
          <a:bodyPr wrap="square">
            <a:spAutoFit/>
          </a:bodyPr>
          <a:lstStyle/>
          <a:p>
            <a:pPr algn="ctr"/>
            <a:r>
              <a:rPr sz="1400" b="1" i="0">
                <a:solidFill>
                  <a:srgbClr val="269CCB"/>
                </a:solidFill>
                <a:latin typeface="Calibri"/>
              </a:rPr>
              <a:t>Pregunta de entrada</a:t>
            </a:r>
          </a:p>
        </p:txBody>
      </p:sp>
      <p:sp>
        <p:nvSpPr>
          <p:cNvPr id="6" name="TextBox 5"/>
          <p:cNvSpPr txBox="1"/>
          <p:nvPr/>
        </p:nvSpPr>
        <p:spPr>
          <a:xfrm>
            <a:off x="685800" y="1828800"/>
            <a:ext cx="10820095" cy="2011680"/>
          </a:xfrm>
          <a:prstGeom prst="rect">
            <a:avLst/>
          </a:prstGeom>
          <a:noFill/>
        </p:spPr>
        <p:txBody>
          <a:bodyPr wrap="square" anchor="ctr"/>
          <a:lstStyle/>
          <a:p>
            <a:pPr algn="ctr"/>
            <a:r>
              <a:rPr sz="2800" b="1" i="0">
                <a:solidFill>
                  <a:srgbClr val="FFFFFF"/>
                </a:solidFill>
                <a:latin typeface="Calibri"/>
              </a:rPr>
              <a:t>¿Qué tienen en común un semáforo, la matrícula de la UNIAJC y la fila de una EPS?</a:t>
            </a:r>
          </a:p>
        </p:txBody>
      </p:sp>
      <p:sp>
        <p:nvSpPr>
          <p:cNvPr id="7" name="TextBox 6"/>
          <p:cNvSpPr txBox="1"/>
          <p:nvPr/>
        </p:nvSpPr>
        <p:spPr>
          <a:xfrm>
            <a:off x="822960" y="4114800"/>
            <a:ext cx="10545775" cy="1645920"/>
          </a:xfrm>
          <a:prstGeom prst="rect">
            <a:avLst/>
          </a:prstGeom>
          <a:noFill/>
        </p:spPr>
        <p:txBody>
          <a:bodyPr wrap="square">
            <a:spAutoFit/>
          </a:bodyPr>
          <a:lstStyle/>
          <a:p>
            <a:pPr algn="ctr">
              <a:spcAft>
                <a:spcPts val="600"/>
              </a:spcAft>
            </a:pPr>
            <a:r>
              <a:rPr sz="1500" b="0" i="0">
                <a:solidFill>
                  <a:srgbClr val="269CCB"/>
                </a:solidFill>
                <a:latin typeface="Calibri"/>
              </a:rPr>
              <a:t>Los tres son sistemas, y en los tres el software es la parte más pequeña del problema.</a:t>
            </a:r>
          </a:p>
          <a:p>
            <a:pPr algn="ctr">
              <a:spcAft>
                <a:spcPts val="600"/>
              </a:spcAft>
            </a:pPr>
            <a:r>
              <a:rPr sz="1500" b="0" i="0">
                <a:solidFill>
                  <a:srgbClr val="269CCB"/>
                </a:solidFill>
                <a:latin typeface="Calibri"/>
              </a:rPr>
              <a:t>Hoy aprendemos a ver el sistema completo, que es lo que distingue a un ingeniero de sistemas de alguien que solo programa.</a:t>
            </a:r>
          </a:p>
        </p:txBody>
      </p:sp>
      <p:sp>
        <p:nvSpPr>
          <p:cNvPr id="8" name="TextBox 7"/>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70432"/>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384048"/>
          </a:xfrm>
          <a:prstGeom prst="rect">
            <a:avLst/>
          </a:prstGeom>
          <a:noFill/>
        </p:spPr>
        <p:txBody>
          <a:bodyPr wrap="square">
            <a:spAutoFit/>
          </a:bodyPr>
          <a:lstStyle/>
          <a:p>
            <a:r>
              <a:rPr sz="2600" b="1" i="0">
                <a:solidFill>
                  <a:srgbClr val="FFFFFF"/>
                </a:solidFill>
                <a:latin typeface="Calibri"/>
              </a:rPr>
              <a:t>Los cinco elementos de un sistema</a:t>
            </a:r>
          </a:p>
        </p:txBody>
      </p:sp>
      <p:sp>
        <p:nvSpPr>
          <p:cNvPr id="5" name="TextBox 4"/>
          <p:cNvSpPr txBox="1"/>
          <p:nvPr/>
        </p:nvSpPr>
        <p:spPr>
          <a:xfrm>
            <a:off x="457200" y="566928"/>
            <a:ext cx="11277295" cy="411480"/>
          </a:xfrm>
          <a:prstGeom prst="rect">
            <a:avLst/>
          </a:prstGeom>
          <a:noFill/>
        </p:spPr>
        <p:txBody>
          <a:bodyPr wrap="square">
            <a:spAutoFit/>
          </a:bodyPr>
          <a:lstStyle/>
          <a:p>
            <a:r>
              <a:rPr sz="1400" b="0" i="0">
                <a:solidFill>
                  <a:srgbClr val="B8D8EE"/>
                </a:solidFill>
                <a:latin typeface="Calibri"/>
              </a:rPr>
              <a:t>Un sistema es un conjunto de partes que interactúan para un propósito. Confundir el software con el sistema es la causa más común de proyectos que funcionan y no sirven</a:t>
            </a:r>
          </a:p>
        </p:txBody>
      </p:sp>
      <p:sp>
        <p:nvSpPr>
          <p:cNvPr id="6" name="Rounded Rectangle 5"/>
          <p:cNvSpPr/>
          <p:nvPr/>
        </p:nvSpPr>
        <p:spPr>
          <a:xfrm>
            <a:off x="5934611" y="1399031"/>
            <a:ext cx="5735574" cy="4617720"/>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inco-elementos-paso1.png"/>
          <p:cNvPicPr>
            <a:picLocks noChangeAspect="1"/>
          </p:cNvPicPr>
          <p:nvPr/>
        </p:nvPicPr>
        <p:blipFill>
          <a:blip r:embed="rId2"/>
          <a:stretch>
            <a:fillRect/>
          </a:stretch>
        </p:blipFill>
        <p:spPr>
          <a:xfrm>
            <a:off x="6007763" y="1472184"/>
            <a:ext cx="5589270" cy="4471416"/>
          </a:xfrm>
          <a:prstGeom prst="rect">
            <a:avLst/>
          </a:prstGeom>
        </p:spPr>
      </p:pic>
      <p:pic>
        <p:nvPicPr>
          <p:cNvPr id="8" name="Picture 7" descr="cinco-elementos-paso2.png"/>
          <p:cNvPicPr>
            <a:picLocks noChangeAspect="1"/>
          </p:cNvPicPr>
          <p:nvPr/>
        </p:nvPicPr>
        <p:blipFill>
          <a:blip r:embed="rId3"/>
          <a:stretch>
            <a:fillRect/>
          </a:stretch>
        </p:blipFill>
        <p:spPr>
          <a:xfrm>
            <a:off x="6007763" y="1472184"/>
            <a:ext cx="5589270" cy="4471416"/>
          </a:xfrm>
          <a:prstGeom prst="rect">
            <a:avLst/>
          </a:prstGeom>
        </p:spPr>
      </p:pic>
      <p:pic>
        <p:nvPicPr>
          <p:cNvPr id="9" name="Picture 8" descr="cinco-elementos-paso3.png"/>
          <p:cNvPicPr>
            <a:picLocks noChangeAspect="1"/>
          </p:cNvPicPr>
          <p:nvPr/>
        </p:nvPicPr>
        <p:blipFill>
          <a:blip r:embed="rId4"/>
          <a:stretch>
            <a:fillRect/>
          </a:stretch>
        </p:blipFill>
        <p:spPr>
          <a:xfrm>
            <a:off x="6007763" y="1472184"/>
            <a:ext cx="5589270" cy="4471416"/>
          </a:xfrm>
          <a:prstGeom prst="rect">
            <a:avLst/>
          </a:prstGeom>
        </p:spPr>
      </p:pic>
      <p:pic>
        <p:nvPicPr>
          <p:cNvPr id="10" name="Picture 9" descr="cinco-elementos-paso4.png"/>
          <p:cNvPicPr>
            <a:picLocks noChangeAspect="1"/>
          </p:cNvPicPr>
          <p:nvPr/>
        </p:nvPicPr>
        <p:blipFill>
          <a:blip r:embed="rId5"/>
          <a:stretch>
            <a:fillRect/>
          </a:stretch>
        </p:blipFill>
        <p:spPr>
          <a:xfrm>
            <a:off x="6007763" y="1472184"/>
            <a:ext cx="5589270" cy="4471416"/>
          </a:xfrm>
          <a:prstGeom prst="rect">
            <a:avLst/>
          </a:prstGeom>
        </p:spPr>
      </p:pic>
      <p:sp>
        <p:nvSpPr>
          <p:cNvPr id="18" name="TextBox 17"/>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9" name="TextBox 18"/>
          <p:cNvSpPr txBox="1"/>
          <p:nvPr/>
        </p:nvSpPr>
        <p:spPr>
          <a:xfrm>
            <a:off x="457200" y="1563624"/>
            <a:ext cx="5093061" cy="4837176"/>
          </a:xfrm>
          <a:prstGeom prst="rect">
            <a:avLst/>
          </a:prstGeom>
          <a:noFill/>
        </p:spPr>
        <p:txBody>
          <a:bodyPr wrap="square">
            <a:spAutoFit/>
          </a:bodyPr>
          <a:lstStyle/>
          <a:p>
            <a:pPr>
              <a:spcAft>
                <a:spcPts val="800"/>
              </a:spcAft>
            </a:pPr>
            <a:r>
              <a:rPr sz="2000" b="0" i="0">
                <a:solidFill>
                  <a:srgbClr val="333333"/>
                </a:solidFill>
                <a:latin typeface="Calibri"/>
              </a:rPr>
              <a:t>–   </a:t>
            </a:r>
            <a:r>
              <a:rPr sz="2000" b="1" i="0">
                <a:solidFill>
                  <a:srgbClr val="333333"/>
                </a:solidFill>
                <a:latin typeface="Calibri"/>
              </a:rPr>
              <a:t>ENTRADAS:</a:t>
            </a:r>
            <a:r>
              <a:rPr sz="2000" b="0" i="0">
                <a:solidFill>
                  <a:srgbClr val="333333"/>
                </a:solidFill>
                <a:latin typeface="Calibri"/>
              </a:rPr>
              <a:t> Lo que llega: datos, dinero, personas, materiales</a:t>
            </a:r>
          </a:p>
          <a:p>
            <a:pPr>
              <a:spcAft>
                <a:spcPts val="800"/>
              </a:spcAft>
            </a:pPr>
            <a:r>
              <a:rPr sz="2000" b="0" i="0">
                <a:solidFill>
                  <a:srgbClr val="333333"/>
                </a:solidFill>
                <a:latin typeface="Calibri"/>
              </a:rPr>
              <a:t>–   </a:t>
            </a:r>
            <a:r>
              <a:rPr sz="2000" b="1" i="0">
                <a:solidFill>
                  <a:srgbClr val="333333"/>
                </a:solidFill>
                <a:latin typeface="Calibri"/>
              </a:rPr>
              <a:t>PROCESO:</a:t>
            </a:r>
            <a:r>
              <a:rPr sz="2000" b="0" i="0">
                <a:solidFill>
                  <a:srgbClr val="333333"/>
                </a:solidFill>
                <a:latin typeface="Calibri"/>
              </a:rPr>
              <a:t> Lo que se hace con eso. Aquí vive el software, si hay. </a:t>
            </a:r>
            <a:r>
              <a:rPr sz="2000" b="1" i="0">
                <a:solidFill>
                  <a:srgbClr val="333333"/>
                </a:solidFill>
                <a:latin typeface="Calibri"/>
              </a:rPr>
              <a:t>Casi nunca es todo el sistema</a:t>
            </a:r>
          </a:p>
          <a:p>
            <a:pPr>
              <a:spcAft>
                <a:spcPts val="800"/>
              </a:spcAft>
            </a:pPr>
            <a:r>
              <a:rPr sz="2000" b="0" i="0">
                <a:solidFill>
                  <a:srgbClr val="333333"/>
                </a:solidFill>
                <a:latin typeface="Calibri"/>
              </a:rPr>
              <a:t>–   </a:t>
            </a:r>
            <a:r>
              <a:rPr sz="2000" b="1" i="0">
                <a:solidFill>
                  <a:srgbClr val="333333"/>
                </a:solidFill>
                <a:latin typeface="Calibri"/>
              </a:rPr>
              <a:t>SALIDAS:</a:t>
            </a:r>
            <a:r>
              <a:rPr sz="2000" b="0" i="0">
                <a:solidFill>
                  <a:srgbClr val="333333"/>
                </a:solidFill>
                <a:latin typeface="Calibri"/>
              </a:rPr>
              <a:t> Lo que produce: decisiones, documentos, servicio prestado</a:t>
            </a:r>
          </a:p>
          <a:p>
            <a:pPr>
              <a:spcAft>
                <a:spcPts val="800"/>
              </a:spcAft>
            </a:pPr>
            <a:r>
              <a:rPr sz="2000" b="0" i="0">
                <a:solidFill>
                  <a:srgbClr val="333333"/>
                </a:solidFill>
                <a:latin typeface="Calibri"/>
              </a:rPr>
              <a:t>–   </a:t>
            </a:r>
            <a:r>
              <a:rPr sz="2000" b="1" i="0">
                <a:solidFill>
                  <a:srgbClr val="333333"/>
                </a:solidFill>
                <a:latin typeface="Calibri"/>
              </a:rPr>
              <a:t>RETROALIMENTACIÓN:</a:t>
            </a:r>
            <a:r>
              <a:rPr sz="2000" b="0" i="0">
                <a:solidFill>
                  <a:srgbClr val="333333"/>
                </a:solidFill>
                <a:latin typeface="Calibri"/>
              </a:rPr>
              <a:t> La salida vuelve como entrada y corrige el proceso</a:t>
            </a:r>
          </a:p>
        </p:txBody>
      </p:sp>
      <p:sp>
        <p:nvSpPr>
          <p:cNvPr id="20" name="TextBox 19"/>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5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70432"/>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384048"/>
          </a:xfrm>
          <a:prstGeom prst="rect">
            <a:avLst/>
          </a:prstGeom>
          <a:noFill/>
        </p:spPr>
        <p:txBody>
          <a:bodyPr wrap="square">
            <a:spAutoFit/>
          </a:bodyPr>
          <a:lstStyle/>
          <a:p>
            <a:r>
              <a:rPr sz="2600" b="1" i="0">
                <a:solidFill>
                  <a:srgbClr val="FFFFFF"/>
                </a:solidFill>
                <a:latin typeface="Calibri"/>
              </a:rPr>
              <a:t>Ejemplo resuelto: el sistema de citas de un consultorio</a:t>
            </a:r>
          </a:p>
        </p:txBody>
      </p:sp>
      <p:sp>
        <p:nvSpPr>
          <p:cNvPr id="5" name="TextBox 4"/>
          <p:cNvSpPr txBox="1"/>
          <p:nvPr/>
        </p:nvSpPr>
        <p:spPr>
          <a:xfrm>
            <a:off x="457200" y="566928"/>
            <a:ext cx="11277295" cy="411480"/>
          </a:xfrm>
          <a:prstGeom prst="rect">
            <a:avLst/>
          </a:prstGeom>
          <a:noFill/>
        </p:spPr>
        <p:txBody>
          <a:bodyPr wrap="square">
            <a:spAutoFit/>
          </a:bodyPr>
          <a:lstStyle/>
          <a:p>
            <a:r>
              <a:rPr sz="1400" b="0" i="0">
                <a:solidFill>
                  <a:srgbClr val="B8D8EE"/>
                </a:solidFill>
                <a:latin typeface="Calibri"/>
              </a:rPr>
              <a:t>Los cinco elementos, uno por uno, sobre un caso que todos conocen.</a:t>
            </a:r>
          </a:p>
        </p:txBody>
      </p:sp>
      <p:sp>
        <p:nvSpPr>
          <p:cNvPr id="6" name="Rounded Rectangle 5"/>
          <p:cNvSpPr/>
          <p:nvPr/>
        </p:nvSpPr>
        <p:spPr>
          <a:xfrm>
            <a:off x="457200" y="1444752"/>
            <a:ext cx="11277295" cy="908913"/>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94360" y="1679752"/>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679752"/>
            <a:ext cx="438912" cy="438912"/>
          </a:xfrm>
          <a:prstGeom prst="rect">
            <a:avLst/>
          </a:prstGeom>
          <a:noFill/>
        </p:spPr>
        <p:txBody>
          <a:bodyPr wrap="square" anchor="ctr"/>
          <a:lstStyle/>
          <a:p>
            <a:pPr algn="ctr"/>
            <a:r>
              <a:rPr sz="1600" b="1" i="0">
                <a:solidFill>
                  <a:srgbClr val="FFFFFF"/>
                </a:solidFill>
                <a:latin typeface="Calibri"/>
              </a:rPr>
              <a:t>1</a:t>
            </a:r>
          </a:p>
        </p:txBody>
      </p:sp>
      <p:sp>
        <p:nvSpPr>
          <p:cNvPr id="9" name="TextBox 8"/>
          <p:cNvSpPr txBox="1"/>
          <p:nvPr/>
        </p:nvSpPr>
        <p:spPr>
          <a:xfrm>
            <a:off x="1188720" y="1536192"/>
            <a:ext cx="10271455" cy="744321"/>
          </a:xfrm>
          <a:prstGeom prst="rect">
            <a:avLst/>
          </a:prstGeom>
          <a:noFill/>
        </p:spPr>
        <p:txBody>
          <a:bodyPr wrap="square" anchor="ctr"/>
          <a:lstStyle/>
          <a:p>
            <a:r>
              <a:rPr sz="1500" b="1" i="0">
                <a:solidFill>
                  <a:srgbClr val="095292"/>
                </a:solidFill>
                <a:latin typeface="Calibri"/>
              </a:rPr>
              <a:t>Entradas</a:t>
            </a:r>
          </a:p>
          <a:p>
            <a:pPr>
              <a:spcBef>
                <a:spcPts val="200"/>
              </a:spcBef>
            </a:pPr>
            <a:r>
              <a:rPr sz="1300" b="0" i="0">
                <a:solidFill>
                  <a:srgbClr val="333333"/>
                </a:solidFill>
                <a:latin typeface="Calibri"/>
              </a:rPr>
              <a:t>Las solicitudes de cita, la agenda disponible del médico y los datos del paciente.</a:t>
            </a:r>
          </a:p>
        </p:txBody>
      </p:sp>
      <p:sp>
        <p:nvSpPr>
          <p:cNvPr id="10" name="Rounded Rectangle 9"/>
          <p:cNvSpPr/>
          <p:nvPr/>
        </p:nvSpPr>
        <p:spPr>
          <a:xfrm>
            <a:off x="457200" y="2445105"/>
            <a:ext cx="11277295" cy="908913"/>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94360" y="2680106"/>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680106"/>
            <a:ext cx="438912" cy="438912"/>
          </a:xfrm>
          <a:prstGeom prst="rect">
            <a:avLst/>
          </a:prstGeom>
          <a:noFill/>
        </p:spPr>
        <p:txBody>
          <a:bodyPr wrap="square" anchor="ctr"/>
          <a:lstStyle/>
          <a:p>
            <a:pPr algn="ctr"/>
            <a:r>
              <a:rPr sz="1600" b="1" i="0">
                <a:solidFill>
                  <a:srgbClr val="FFFFFF"/>
                </a:solidFill>
                <a:latin typeface="Calibri"/>
              </a:rPr>
              <a:t>2</a:t>
            </a:r>
          </a:p>
        </p:txBody>
      </p:sp>
      <p:sp>
        <p:nvSpPr>
          <p:cNvPr id="13" name="TextBox 12"/>
          <p:cNvSpPr txBox="1"/>
          <p:nvPr/>
        </p:nvSpPr>
        <p:spPr>
          <a:xfrm>
            <a:off x="1188720" y="2536545"/>
            <a:ext cx="10271455" cy="744321"/>
          </a:xfrm>
          <a:prstGeom prst="rect">
            <a:avLst/>
          </a:prstGeom>
          <a:noFill/>
        </p:spPr>
        <p:txBody>
          <a:bodyPr wrap="square" anchor="ctr"/>
          <a:lstStyle/>
          <a:p>
            <a:r>
              <a:rPr sz="1500" b="1" i="0">
                <a:solidFill>
                  <a:srgbClr val="095292"/>
                </a:solidFill>
                <a:latin typeface="Calibri"/>
              </a:rPr>
              <a:t>Proceso</a:t>
            </a:r>
          </a:p>
          <a:p>
            <a:pPr>
              <a:spcBef>
                <a:spcPts val="200"/>
              </a:spcBef>
            </a:pPr>
            <a:r>
              <a:rPr sz="1300" b="0" i="0">
                <a:solidFill>
                  <a:srgbClr val="333333"/>
                </a:solidFill>
                <a:latin typeface="Calibri"/>
              </a:rPr>
              <a:t>Asignar la cita, confirmarla y recordarla. Aquí está el software, si hay.</a:t>
            </a:r>
          </a:p>
        </p:txBody>
      </p:sp>
      <p:sp>
        <p:nvSpPr>
          <p:cNvPr id="14" name="Rounded Rectangle 13"/>
          <p:cNvSpPr/>
          <p:nvPr/>
        </p:nvSpPr>
        <p:spPr>
          <a:xfrm>
            <a:off x="457200" y="3445459"/>
            <a:ext cx="11277295" cy="908913"/>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94360" y="3680460"/>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680460"/>
            <a:ext cx="438912" cy="438912"/>
          </a:xfrm>
          <a:prstGeom prst="rect">
            <a:avLst/>
          </a:prstGeom>
          <a:noFill/>
        </p:spPr>
        <p:txBody>
          <a:bodyPr wrap="square" anchor="ctr"/>
          <a:lstStyle/>
          <a:p>
            <a:pPr algn="ctr"/>
            <a:r>
              <a:rPr sz="1600" b="1" i="0">
                <a:solidFill>
                  <a:srgbClr val="FFFFFF"/>
                </a:solidFill>
                <a:latin typeface="Calibri"/>
              </a:rPr>
              <a:t>3</a:t>
            </a:r>
          </a:p>
        </p:txBody>
      </p:sp>
      <p:sp>
        <p:nvSpPr>
          <p:cNvPr id="17" name="TextBox 16"/>
          <p:cNvSpPr txBox="1"/>
          <p:nvPr/>
        </p:nvSpPr>
        <p:spPr>
          <a:xfrm>
            <a:off x="1188720" y="3536899"/>
            <a:ext cx="10271455" cy="744321"/>
          </a:xfrm>
          <a:prstGeom prst="rect">
            <a:avLst/>
          </a:prstGeom>
          <a:noFill/>
        </p:spPr>
        <p:txBody>
          <a:bodyPr wrap="square" anchor="ctr"/>
          <a:lstStyle/>
          <a:p>
            <a:r>
              <a:rPr sz="1500" b="1" i="0">
                <a:solidFill>
                  <a:srgbClr val="095292"/>
                </a:solidFill>
                <a:latin typeface="Calibri"/>
              </a:rPr>
              <a:t>Salidas</a:t>
            </a:r>
          </a:p>
          <a:p>
            <a:pPr>
              <a:spcBef>
                <a:spcPts val="200"/>
              </a:spcBef>
            </a:pPr>
            <a:r>
              <a:rPr sz="1300" b="0" i="0">
                <a:solidFill>
                  <a:srgbClr val="333333"/>
                </a:solidFill>
                <a:latin typeface="Calibri"/>
              </a:rPr>
              <a:t>La cita asignada, el paciente atendido y el registro de lo que pasó.</a:t>
            </a:r>
          </a:p>
        </p:txBody>
      </p:sp>
      <p:sp>
        <p:nvSpPr>
          <p:cNvPr id="18" name="Rounded Rectangle 17"/>
          <p:cNvSpPr/>
          <p:nvPr/>
        </p:nvSpPr>
        <p:spPr>
          <a:xfrm>
            <a:off x="457200" y="4445812"/>
            <a:ext cx="11277295" cy="908913"/>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94360" y="4680813"/>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4680813"/>
            <a:ext cx="438912" cy="438912"/>
          </a:xfrm>
          <a:prstGeom prst="rect">
            <a:avLst/>
          </a:prstGeom>
          <a:noFill/>
        </p:spPr>
        <p:txBody>
          <a:bodyPr wrap="square" anchor="ctr"/>
          <a:lstStyle/>
          <a:p>
            <a:pPr algn="ctr"/>
            <a:r>
              <a:rPr sz="1600" b="1" i="0">
                <a:solidFill>
                  <a:srgbClr val="FFFFFF"/>
                </a:solidFill>
                <a:latin typeface="Calibri"/>
              </a:rPr>
              <a:t>4</a:t>
            </a:r>
          </a:p>
        </p:txBody>
      </p:sp>
      <p:sp>
        <p:nvSpPr>
          <p:cNvPr id="21" name="TextBox 20"/>
          <p:cNvSpPr txBox="1"/>
          <p:nvPr/>
        </p:nvSpPr>
        <p:spPr>
          <a:xfrm>
            <a:off x="1188720" y="4537252"/>
            <a:ext cx="10271455" cy="744321"/>
          </a:xfrm>
          <a:prstGeom prst="rect">
            <a:avLst/>
          </a:prstGeom>
          <a:noFill/>
        </p:spPr>
        <p:txBody>
          <a:bodyPr wrap="square" anchor="ctr"/>
          <a:lstStyle/>
          <a:p>
            <a:r>
              <a:rPr sz="1500" b="1" i="0">
                <a:solidFill>
                  <a:srgbClr val="095292"/>
                </a:solidFill>
                <a:latin typeface="Calibri"/>
              </a:rPr>
              <a:t>Retroalimentación</a:t>
            </a:r>
          </a:p>
          <a:p>
            <a:pPr>
              <a:spcBef>
                <a:spcPts val="200"/>
              </a:spcBef>
            </a:pPr>
            <a:r>
              <a:rPr sz="1300" b="0" i="0">
                <a:solidFill>
                  <a:srgbClr val="333333"/>
                </a:solidFill>
                <a:latin typeface="Calibri"/>
              </a:rPr>
              <a:t>Si un paciente no llega, ese cupo se libera y debería cambiar cómo se asignan las próximas citas.</a:t>
            </a:r>
          </a:p>
        </p:txBody>
      </p:sp>
      <p:sp>
        <p:nvSpPr>
          <p:cNvPr id="22" name="Rounded Rectangle 21"/>
          <p:cNvSpPr/>
          <p:nvPr/>
        </p:nvSpPr>
        <p:spPr>
          <a:xfrm>
            <a:off x="457200" y="5446166"/>
            <a:ext cx="11277295" cy="908913"/>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94360" y="5681167"/>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 y="5681167"/>
            <a:ext cx="438912" cy="438912"/>
          </a:xfrm>
          <a:prstGeom prst="rect">
            <a:avLst/>
          </a:prstGeom>
          <a:noFill/>
        </p:spPr>
        <p:txBody>
          <a:bodyPr wrap="square" anchor="ctr"/>
          <a:lstStyle/>
          <a:p>
            <a:pPr algn="ctr"/>
            <a:r>
              <a:rPr sz="1600" b="1" i="0">
                <a:solidFill>
                  <a:srgbClr val="FFFFFF"/>
                </a:solidFill>
                <a:latin typeface="Calibri"/>
              </a:rPr>
              <a:t>5</a:t>
            </a:r>
          </a:p>
        </p:txBody>
      </p:sp>
      <p:sp>
        <p:nvSpPr>
          <p:cNvPr id="25" name="TextBox 24"/>
          <p:cNvSpPr txBox="1"/>
          <p:nvPr/>
        </p:nvSpPr>
        <p:spPr>
          <a:xfrm>
            <a:off x="1188720" y="5537606"/>
            <a:ext cx="10271455" cy="744321"/>
          </a:xfrm>
          <a:prstGeom prst="rect">
            <a:avLst/>
          </a:prstGeom>
          <a:noFill/>
        </p:spPr>
        <p:txBody>
          <a:bodyPr wrap="square" anchor="ctr"/>
          <a:lstStyle/>
          <a:p>
            <a:r>
              <a:rPr sz="1400" b="1" i="0">
                <a:solidFill>
                  <a:srgbClr val="095292"/>
                </a:solidFill>
                <a:latin typeface="Calibri"/>
              </a:rPr>
              <a:t>Frontera</a:t>
            </a:r>
          </a:p>
          <a:p>
            <a:pPr>
              <a:spcBef>
                <a:spcPts val="200"/>
              </a:spcBef>
            </a:pPr>
            <a:r>
              <a:rPr sz="1200" b="0" i="0">
                <a:solidFill>
                  <a:srgbClr val="333333"/>
                </a:solidFill>
                <a:latin typeface="Calibri"/>
              </a:rPr>
              <a:t>¿El transporte del paciente es parte del sistema? Si el 30 % pierde la cita por no poder llegar, dejarlo fuera hace que el sistema funcione solo en el papel.</a:t>
            </a:r>
          </a:p>
        </p:txBody>
      </p:sp>
      <p:sp>
        <p:nvSpPr>
          <p:cNvPr id="26" name="TextBox 2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Mirar el software o mirar el sistema</a:t>
            </a:r>
          </a:p>
        </p:txBody>
      </p:sp>
      <p:sp>
        <p:nvSpPr>
          <p:cNvPr id="5" name="Rounded Rectangle 4"/>
          <p:cNvSpPr/>
          <p:nvPr/>
        </p:nvSpPr>
        <p:spPr>
          <a:xfrm>
            <a:off x="457200" y="1261872"/>
            <a:ext cx="5478627" cy="5093208"/>
          </a:xfrm>
          <a:prstGeom prst="roundRect">
            <a:avLst>
              <a:gd name="adj" fmla="val 12000"/>
            </a:avLst>
          </a:prstGeom>
          <a:solidFill>
            <a:srgbClr val="FB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5478627" cy="502920"/>
          </a:xfrm>
          <a:prstGeom prst="rect">
            <a:avLst/>
          </a:prstGeom>
          <a:solidFill>
            <a:srgbClr val="A0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353312"/>
            <a:ext cx="5204307" cy="365760"/>
          </a:xfrm>
          <a:prstGeom prst="rect">
            <a:avLst/>
          </a:prstGeom>
          <a:noFill/>
        </p:spPr>
        <p:txBody>
          <a:bodyPr wrap="square" anchor="ctr"/>
          <a:lstStyle/>
          <a:p>
            <a:pPr algn="ctr"/>
            <a:r>
              <a:rPr sz="1600" b="1" i="0">
                <a:solidFill>
                  <a:srgbClr val="FFFFFF"/>
                </a:solidFill>
                <a:latin typeface="Calibri"/>
              </a:rPr>
              <a:t>Mirada de programador</a:t>
            </a:r>
          </a:p>
        </p:txBody>
      </p:sp>
      <p:sp>
        <p:nvSpPr>
          <p:cNvPr id="8" name="TextBox 7"/>
          <p:cNvSpPr txBox="1"/>
          <p:nvPr/>
        </p:nvSpPr>
        <p:spPr>
          <a:xfrm>
            <a:off x="621792" y="1901952"/>
            <a:ext cx="5158587" cy="4498848"/>
          </a:xfrm>
          <a:prstGeom prst="rect">
            <a:avLst/>
          </a:prstGeom>
          <a:noFill/>
        </p:spPr>
        <p:txBody>
          <a:bodyPr wrap="square">
            <a:spAutoFit/>
          </a:bodyPr>
          <a:lstStyle/>
          <a:p>
            <a:pPr>
              <a:spcAft>
                <a:spcPts val="800"/>
              </a:spcAft>
            </a:pPr>
            <a:r>
              <a:rPr sz="1500" b="0" i="0">
                <a:solidFill>
                  <a:srgbClr val="333333"/>
                </a:solidFill>
                <a:latin typeface="Calibri"/>
              </a:rPr>
              <a:t>–   «Hay que hacer una app para las citas».</a:t>
            </a:r>
          </a:p>
          <a:p>
            <a:pPr>
              <a:spcAft>
                <a:spcPts val="800"/>
              </a:spcAft>
            </a:pPr>
            <a:r>
              <a:rPr sz="1500" b="0" i="0">
                <a:solidFill>
                  <a:srgbClr val="333333"/>
                </a:solidFill>
                <a:latin typeface="Calibri"/>
              </a:rPr>
              <a:t>–   El usuario es quien abre la pantalla.</a:t>
            </a:r>
          </a:p>
          <a:p>
            <a:pPr>
              <a:spcAft>
                <a:spcPts val="800"/>
              </a:spcAft>
            </a:pPr>
            <a:r>
              <a:rPr sz="1500" b="0" i="0">
                <a:solidFill>
                  <a:srgbClr val="333333"/>
                </a:solidFill>
                <a:latin typeface="Calibri"/>
              </a:rPr>
              <a:t>–   Termina cuando el código funciona.</a:t>
            </a:r>
          </a:p>
          <a:p>
            <a:pPr>
              <a:spcAft>
                <a:spcPts val="800"/>
              </a:spcAft>
            </a:pPr>
            <a:r>
              <a:rPr sz="1500" b="0" i="0">
                <a:solidFill>
                  <a:srgbClr val="333333"/>
                </a:solidFill>
                <a:latin typeface="Calibri"/>
              </a:rPr>
              <a:t>–   El éxito es que no haya errores.</a:t>
            </a:r>
          </a:p>
          <a:p>
            <a:pPr>
              <a:spcAft>
                <a:spcPts val="800"/>
              </a:spcAft>
            </a:pPr>
            <a:r>
              <a:rPr sz="1500" b="0" i="0">
                <a:solidFill>
                  <a:srgbClr val="333333"/>
                </a:solidFill>
                <a:latin typeface="Calibri"/>
              </a:rPr>
              <a:t>–   Lo que no está en la pantalla no existe.</a:t>
            </a:r>
          </a:p>
        </p:txBody>
      </p:sp>
      <p:sp>
        <p:nvSpPr>
          <p:cNvPr id="9" name="Rounded Rectangle 8"/>
          <p:cNvSpPr/>
          <p:nvPr/>
        </p:nvSpPr>
        <p:spPr>
          <a:xfrm>
            <a:off x="6255867" y="1261872"/>
            <a:ext cx="5478627" cy="5093208"/>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55867" y="1261872"/>
            <a:ext cx="5478627" cy="5029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93027" y="1353312"/>
            <a:ext cx="5204307" cy="365760"/>
          </a:xfrm>
          <a:prstGeom prst="rect">
            <a:avLst/>
          </a:prstGeom>
          <a:noFill/>
        </p:spPr>
        <p:txBody>
          <a:bodyPr wrap="square" anchor="ctr"/>
          <a:lstStyle/>
          <a:p>
            <a:pPr algn="ctr"/>
            <a:r>
              <a:rPr sz="1600" b="1" i="0">
                <a:solidFill>
                  <a:srgbClr val="FFFFFF"/>
                </a:solidFill>
                <a:latin typeface="Calibri"/>
              </a:rPr>
              <a:t>Mirada de ingeniero de sistemas</a:t>
            </a:r>
          </a:p>
        </p:txBody>
      </p:sp>
      <p:sp>
        <p:nvSpPr>
          <p:cNvPr id="12" name="TextBox 11"/>
          <p:cNvSpPr txBox="1"/>
          <p:nvPr/>
        </p:nvSpPr>
        <p:spPr>
          <a:xfrm>
            <a:off x="6420459" y="1901952"/>
            <a:ext cx="5158587" cy="4498848"/>
          </a:xfrm>
          <a:prstGeom prst="rect">
            <a:avLst/>
          </a:prstGeom>
          <a:noFill/>
        </p:spPr>
        <p:txBody>
          <a:bodyPr wrap="square">
            <a:spAutoFit/>
          </a:bodyPr>
          <a:lstStyle/>
          <a:p>
            <a:pPr>
              <a:spcAft>
                <a:spcPts val="800"/>
              </a:spcAft>
            </a:pPr>
            <a:r>
              <a:rPr sz="1500" b="0" i="0">
                <a:solidFill>
                  <a:srgbClr val="333333"/>
                </a:solidFill>
                <a:latin typeface="Calibri"/>
              </a:rPr>
              <a:t>–   «Hay 40 personas en fila a las 5 a. m. porque las citas se asignan por orden de llegada».</a:t>
            </a:r>
          </a:p>
          <a:p>
            <a:pPr>
              <a:spcAft>
                <a:spcPts val="800"/>
              </a:spcAft>
            </a:pPr>
            <a:r>
              <a:rPr sz="1500" b="0" i="0">
                <a:solidFill>
                  <a:srgbClr val="333333"/>
                </a:solidFill>
                <a:latin typeface="Calibri"/>
              </a:rPr>
              <a:t>–   Los actores son el paciente, la secretaria, el médico y quien paga.</a:t>
            </a:r>
          </a:p>
          <a:p>
            <a:pPr>
              <a:spcAft>
                <a:spcPts val="800"/>
              </a:spcAft>
            </a:pPr>
            <a:r>
              <a:rPr sz="1500" b="0" i="0">
                <a:solidFill>
                  <a:srgbClr val="333333"/>
                </a:solidFill>
                <a:latin typeface="Calibri"/>
              </a:rPr>
              <a:t>–   Termina cuando </a:t>
            </a:r>
            <a:r>
              <a:rPr sz="1500" b="1" i="0">
                <a:solidFill>
                  <a:srgbClr val="333333"/>
                </a:solidFill>
                <a:latin typeface="Calibri"/>
              </a:rPr>
              <a:t>la fila se acortó</a:t>
            </a:r>
            <a:r>
              <a:rPr sz="1500" b="0" i="0">
                <a:solidFill>
                  <a:srgbClr val="333333"/>
                </a:solidFill>
                <a:latin typeface="Calibri"/>
              </a:rPr>
              <a:t>, o se sabe por qué no.</a:t>
            </a:r>
          </a:p>
          <a:p>
            <a:pPr>
              <a:spcAft>
                <a:spcPts val="800"/>
              </a:spcAft>
            </a:pPr>
            <a:r>
              <a:rPr sz="1500" b="0" i="0">
                <a:solidFill>
                  <a:srgbClr val="333333"/>
                </a:solidFill>
                <a:latin typeface="Calibri"/>
              </a:rPr>
              <a:t>–   El éxito es que </a:t>
            </a:r>
            <a:r>
              <a:rPr sz="1500" b="1" i="0">
                <a:solidFill>
                  <a:srgbClr val="333333"/>
                </a:solidFill>
                <a:latin typeface="Calibri"/>
              </a:rPr>
              <a:t>el problema del entorno se redujo</a:t>
            </a:r>
            <a:r>
              <a:rPr sz="1500" b="0" i="0">
                <a:solidFill>
                  <a:srgbClr val="333333"/>
                </a:solidFill>
                <a:latin typeface="Calibri"/>
              </a:rPr>
              <a:t>, y se puede medir.</a:t>
            </a:r>
          </a:p>
          <a:p>
            <a:pPr>
              <a:spcAft>
                <a:spcPts val="800"/>
              </a:spcAft>
            </a:pPr>
            <a:r>
              <a:rPr sz="1500" b="0" i="0">
                <a:solidFill>
                  <a:srgbClr val="333333"/>
                </a:solidFill>
                <a:latin typeface="Calibri"/>
              </a:rPr>
              <a:t>–   Lo que pasa antes y después de la pantalla es parte del sistema.</a:t>
            </a:r>
          </a:p>
        </p:txBody>
      </p:sp>
      <p:pic>
        <p:nvPicPr>
          <p:cNvPr id="13" name="Picture 12" descr="sello_mal.png"/>
          <p:cNvPicPr>
            <a:picLocks noChangeAspect="1"/>
          </p:cNvPicPr>
          <p:nvPr/>
        </p:nvPicPr>
        <p:blipFill>
          <a:blip r:embed="rId2"/>
          <a:stretch>
            <a:fillRect/>
          </a:stretch>
        </p:blipFill>
        <p:spPr>
          <a:xfrm>
            <a:off x="566928" y="1316736"/>
            <a:ext cx="393192" cy="393192"/>
          </a:xfrm>
          <a:prstGeom prst="rect">
            <a:avLst/>
          </a:prstGeom>
        </p:spPr>
      </p:pic>
      <p:pic>
        <p:nvPicPr>
          <p:cNvPr id="14" name="Picture 13" descr="sello_bien.png"/>
          <p:cNvPicPr>
            <a:picLocks noChangeAspect="1"/>
          </p:cNvPicPr>
          <p:nvPr/>
        </p:nvPicPr>
        <p:blipFill>
          <a:blip r:embed="rId3"/>
          <a:stretch>
            <a:fillRect/>
          </a:stretch>
        </p:blipFill>
        <p:spPr>
          <a:xfrm>
            <a:off x="6365595" y="1316736"/>
            <a:ext cx="393192" cy="393192"/>
          </a:xfrm>
          <a:prstGeom prst="rect">
            <a:avLst/>
          </a:prstGeom>
        </p:spPr>
      </p:pic>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Ejemplo: la app que funcionó y la fila que no se movió</a:t>
            </a:r>
          </a:p>
        </p:txBody>
      </p:sp>
      <p:sp>
        <p:nvSpPr>
          <p:cNvPr id="5" name="Rounded Rectangle 4"/>
          <p:cNvSpPr/>
          <p:nvPr/>
        </p:nvSpPr>
        <p:spPr>
          <a:xfrm>
            <a:off x="5797149" y="1343926"/>
            <a:ext cx="6010497" cy="4837658"/>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lus-app-fila-paso1.png"/>
          <p:cNvPicPr>
            <a:picLocks noChangeAspect="1"/>
          </p:cNvPicPr>
          <p:nvPr/>
        </p:nvPicPr>
        <p:blipFill>
          <a:blip r:embed="rId2"/>
          <a:stretch>
            <a:fillRect/>
          </a:stretch>
        </p:blipFill>
        <p:spPr>
          <a:xfrm>
            <a:off x="5870301" y="1417078"/>
            <a:ext cx="5864193" cy="4691354"/>
          </a:xfrm>
          <a:prstGeom prst="rect">
            <a:avLst/>
          </a:prstGeom>
        </p:spPr>
      </p:pic>
      <p:sp>
        <p:nvSpPr>
          <p:cNvPr id="7" name="TextBox 6"/>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Un equipo construye una </a:t>
            </a:r>
            <a:r>
              <a:rPr sz="2000" b="1" i="0">
                <a:solidFill>
                  <a:srgbClr val="333333"/>
                </a:solidFill>
                <a:latin typeface="Calibri"/>
              </a:rPr>
              <a:t>app de citas impecable</a:t>
            </a:r>
            <a:r>
              <a:rPr sz="2000" b="0" i="0">
                <a:solidFill>
                  <a:srgbClr val="333333"/>
                </a:solidFill>
                <a:latin typeface="Calibri"/>
              </a:rPr>
              <a:t>: rápida, bonita y sin errores.</a:t>
            </a:r>
          </a:p>
          <a:p>
            <a:pPr>
              <a:spcAft>
                <a:spcPts val="800"/>
              </a:spcAft>
            </a:pPr>
            <a:r>
              <a:rPr sz="2000" b="0" i="0">
                <a:solidFill>
                  <a:srgbClr val="333333"/>
                </a:solidFill>
                <a:latin typeface="Calibri"/>
              </a:rPr>
              <a:t>–   A las 5 de la mañana </a:t>
            </a:r>
            <a:r>
              <a:rPr sz="2000" b="1" i="0">
                <a:solidFill>
                  <a:srgbClr val="333333"/>
                </a:solidFill>
                <a:latin typeface="Calibri"/>
              </a:rPr>
              <a:t>la fila de la EPS sigue igual</a:t>
            </a:r>
            <a:r>
              <a:rPr sz="2000" b="0" i="0">
                <a:solidFill>
                  <a:srgbClr val="333333"/>
                </a:solidFill>
                <a:latin typeface="Calibri"/>
              </a:rPr>
              <a:t>. ¿Por qué?</a:t>
            </a:r>
          </a:p>
          <a:p>
            <a:pPr>
              <a:spcAft>
                <a:spcPts val="800"/>
              </a:spcAft>
            </a:pPr>
            <a:r>
              <a:rPr sz="2000" b="0" i="0">
                <a:solidFill>
                  <a:srgbClr val="333333"/>
                </a:solidFill>
                <a:latin typeface="Calibri"/>
              </a:rPr>
              <a:t>–   Las personas de la fila </a:t>
            </a:r>
            <a:r>
              <a:rPr sz="2000" b="1" i="0">
                <a:solidFill>
                  <a:srgbClr val="333333"/>
                </a:solidFill>
                <a:latin typeface="Calibri"/>
              </a:rPr>
              <a:t>no tienen datos en el celular</a:t>
            </a:r>
            <a:r>
              <a:rPr sz="2000" b="0" i="0">
                <a:solidFill>
                  <a:srgbClr val="333333"/>
                </a:solidFill>
                <a:latin typeface="Calibri"/>
              </a:rPr>
              <a:t>, o no confían en la app.</a:t>
            </a:r>
          </a:p>
          <a:p>
            <a:pPr>
              <a:spcAft>
                <a:spcPts val="800"/>
              </a:spcAft>
            </a:pPr>
            <a:r>
              <a:rPr sz="2000" b="0" i="0">
                <a:solidFill>
                  <a:srgbClr val="333333"/>
                </a:solidFill>
                <a:latin typeface="Calibri"/>
              </a:rPr>
              <a:t>–   La secretaria </a:t>
            </a:r>
            <a:r>
              <a:rPr sz="2000" b="1" i="0">
                <a:solidFill>
                  <a:srgbClr val="333333"/>
                </a:solidFill>
                <a:latin typeface="Calibri"/>
              </a:rPr>
              <a:t>sigue anotando en el cuaderno</a:t>
            </a:r>
            <a:r>
              <a:rPr sz="2000" b="0" i="0">
                <a:solidFill>
                  <a:srgbClr val="333333"/>
                </a:solidFill>
                <a:latin typeface="Calibri"/>
              </a:rPr>
              <a:t>, porque el sistema nuevo le duplica el trabajo.</a:t>
            </a:r>
          </a:p>
        </p:txBody>
      </p:sp>
      <p:sp>
        <p:nvSpPr>
          <p:cNvPr id="8" name="TextBox 7"/>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Cuatro conceptos que se usan todo el semestre</a:t>
            </a:r>
          </a:p>
        </p:txBody>
      </p:sp>
      <p:sp>
        <p:nvSpPr>
          <p:cNvPr id="5" name="Rounded Rectangle 4"/>
          <p:cNvSpPr/>
          <p:nvPr/>
        </p:nvSpPr>
        <p:spPr>
          <a:xfrm>
            <a:off x="457200" y="1261872"/>
            <a:ext cx="5547207" cy="246430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5547207" cy="9144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1490472"/>
            <a:ext cx="5218023" cy="411480"/>
          </a:xfrm>
          <a:prstGeom prst="rect">
            <a:avLst/>
          </a:prstGeom>
          <a:noFill/>
        </p:spPr>
        <p:txBody>
          <a:bodyPr wrap="square">
            <a:spAutoFit/>
          </a:bodyPr>
          <a:lstStyle/>
          <a:p>
            <a:r>
              <a:rPr sz="1500" b="1" i="0">
                <a:solidFill>
                  <a:srgbClr val="095292"/>
                </a:solidFill>
                <a:latin typeface="Calibri"/>
              </a:rPr>
              <a:t>Frontera del sistema</a:t>
            </a:r>
          </a:p>
        </p:txBody>
      </p:sp>
      <p:sp>
        <p:nvSpPr>
          <p:cNvPr id="8" name="TextBox 7"/>
          <p:cNvSpPr txBox="1"/>
          <p:nvPr/>
        </p:nvSpPr>
        <p:spPr>
          <a:xfrm>
            <a:off x="621792" y="1947672"/>
            <a:ext cx="5218023" cy="1595628"/>
          </a:xfrm>
          <a:prstGeom prst="rect">
            <a:avLst/>
          </a:prstGeom>
          <a:noFill/>
        </p:spPr>
        <p:txBody>
          <a:bodyPr wrap="square">
            <a:spAutoFit/>
          </a:bodyPr>
          <a:lstStyle/>
          <a:p>
            <a:r>
              <a:rPr sz="1300" b="0" i="0">
                <a:solidFill>
                  <a:srgbClr val="333333"/>
                </a:solidFill>
                <a:latin typeface="Calibri"/>
              </a:rPr>
              <a:t>Qué se decide incluir y qué se deja fuera. Si la fila de la EPS empieza en la casa del paciente, el transporte es parte del sistema. </a:t>
            </a:r>
            <a:r>
              <a:rPr sz="1300" b="1" i="0">
                <a:solidFill>
                  <a:srgbClr val="333333"/>
                </a:solidFill>
                <a:latin typeface="Calibri"/>
              </a:rPr>
              <a:t>Toda frontera es una decisión, y hay que poder defenderla.</a:t>
            </a:r>
          </a:p>
        </p:txBody>
      </p:sp>
      <p:sp>
        <p:nvSpPr>
          <p:cNvPr id="9" name="Rounded Rectangle 8"/>
          <p:cNvSpPr/>
          <p:nvPr/>
        </p:nvSpPr>
        <p:spPr>
          <a:xfrm>
            <a:off x="6187287" y="1261872"/>
            <a:ext cx="5547207" cy="246430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87287" y="1261872"/>
            <a:ext cx="5547207" cy="9144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1879" y="1490472"/>
            <a:ext cx="5218023" cy="411480"/>
          </a:xfrm>
          <a:prstGeom prst="rect">
            <a:avLst/>
          </a:prstGeom>
          <a:noFill/>
        </p:spPr>
        <p:txBody>
          <a:bodyPr wrap="square">
            <a:spAutoFit/>
          </a:bodyPr>
          <a:lstStyle/>
          <a:p>
            <a:r>
              <a:rPr sz="1500" b="1" i="0">
                <a:solidFill>
                  <a:srgbClr val="095292"/>
                </a:solidFill>
                <a:latin typeface="Calibri"/>
              </a:rPr>
              <a:t>Actor (o interesado)</a:t>
            </a:r>
          </a:p>
        </p:txBody>
      </p:sp>
      <p:sp>
        <p:nvSpPr>
          <p:cNvPr id="12" name="TextBox 11"/>
          <p:cNvSpPr txBox="1"/>
          <p:nvPr/>
        </p:nvSpPr>
        <p:spPr>
          <a:xfrm>
            <a:off x="6351879" y="1947672"/>
            <a:ext cx="5218023" cy="1595628"/>
          </a:xfrm>
          <a:prstGeom prst="rect">
            <a:avLst/>
          </a:prstGeom>
          <a:noFill/>
        </p:spPr>
        <p:txBody>
          <a:bodyPr wrap="square">
            <a:spAutoFit/>
          </a:bodyPr>
          <a:lstStyle/>
          <a:p>
            <a:r>
              <a:rPr sz="1300" b="0" i="0">
                <a:solidFill>
                  <a:srgbClr val="333333"/>
                </a:solidFill>
                <a:latin typeface="Calibri"/>
              </a:rPr>
              <a:t>Cualquiera afectado por el sistema, </a:t>
            </a:r>
            <a:r>
              <a:rPr sz="1300" b="1" i="0">
                <a:solidFill>
                  <a:srgbClr val="333333"/>
                </a:solidFill>
                <a:latin typeface="Calibri"/>
              </a:rPr>
              <a:t>use o no</a:t>
            </a:r>
            <a:r>
              <a:rPr sz="1300" b="0" i="0">
                <a:solidFill>
                  <a:srgbClr val="333333"/>
                </a:solidFill>
                <a:latin typeface="Calibri"/>
              </a:rPr>
              <a:t> la pantalla. La secretaria que digita, el médico que recibe, el vecino que ya no consigue cita. Olvidar actores es la falla más costosa.</a:t>
            </a:r>
          </a:p>
        </p:txBody>
      </p:sp>
      <p:sp>
        <p:nvSpPr>
          <p:cNvPr id="13" name="Rounded Rectangle 12"/>
          <p:cNvSpPr/>
          <p:nvPr/>
        </p:nvSpPr>
        <p:spPr>
          <a:xfrm>
            <a:off x="457200" y="3890772"/>
            <a:ext cx="5547207" cy="246430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890772"/>
            <a:ext cx="5547207" cy="91440"/>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 y="4119372"/>
            <a:ext cx="5218023" cy="411480"/>
          </a:xfrm>
          <a:prstGeom prst="rect">
            <a:avLst/>
          </a:prstGeom>
          <a:noFill/>
        </p:spPr>
        <p:txBody>
          <a:bodyPr wrap="square">
            <a:spAutoFit/>
          </a:bodyPr>
          <a:lstStyle/>
          <a:p>
            <a:r>
              <a:rPr sz="1500" b="1" i="0">
                <a:solidFill>
                  <a:srgbClr val="095292"/>
                </a:solidFill>
                <a:latin typeface="Calibri"/>
              </a:rPr>
              <a:t>Requisito vs. deseo</a:t>
            </a:r>
          </a:p>
        </p:txBody>
      </p:sp>
      <p:sp>
        <p:nvSpPr>
          <p:cNvPr id="16" name="TextBox 15"/>
          <p:cNvSpPr txBox="1"/>
          <p:nvPr/>
        </p:nvSpPr>
        <p:spPr>
          <a:xfrm>
            <a:off x="621792" y="4576572"/>
            <a:ext cx="5218023" cy="1595628"/>
          </a:xfrm>
          <a:prstGeom prst="rect">
            <a:avLst/>
          </a:prstGeom>
          <a:noFill/>
        </p:spPr>
        <p:txBody>
          <a:bodyPr wrap="square">
            <a:spAutoFit/>
          </a:bodyPr>
          <a:lstStyle/>
          <a:p>
            <a:r>
              <a:rPr sz="1300" b="0" i="0">
                <a:solidFill>
                  <a:srgbClr val="333333"/>
                </a:solidFill>
                <a:latin typeface="Calibri"/>
              </a:rPr>
              <a:t>Requisito: sin eso el sistema no sirve para su propósito. Deseo: mejoraría, y se puede posponer. </a:t>
            </a:r>
            <a:r>
              <a:rPr sz="1300" b="1" i="0">
                <a:solidFill>
                  <a:srgbClr val="333333"/>
                </a:solidFill>
                <a:latin typeface="Calibri"/>
              </a:rPr>
              <a:t>Todo el mundo presenta sus deseos como requisitos</a:t>
            </a:r>
            <a:r>
              <a:rPr sz="1300" b="0" i="0">
                <a:solidFill>
                  <a:srgbClr val="333333"/>
                </a:solidFill>
                <a:latin typeface="Calibri"/>
              </a:rPr>
              <a:t>; separarlos es trabajo del ingeniero.</a:t>
            </a:r>
          </a:p>
        </p:txBody>
      </p:sp>
      <p:sp>
        <p:nvSpPr>
          <p:cNvPr id="17" name="Rounded Rectangle 16"/>
          <p:cNvSpPr/>
          <p:nvPr/>
        </p:nvSpPr>
        <p:spPr>
          <a:xfrm>
            <a:off x="6187287" y="3890772"/>
            <a:ext cx="5547207" cy="246430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87287" y="3890772"/>
            <a:ext cx="5547207" cy="9144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1879" y="4119372"/>
            <a:ext cx="5218023" cy="411480"/>
          </a:xfrm>
          <a:prstGeom prst="rect">
            <a:avLst/>
          </a:prstGeom>
          <a:noFill/>
        </p:spPr>
        <p:txBody>
          <a:bodyPr wrap="square">
            <a:spAutoFit/>
          </a:bodyPr>
          <a:lstStyle/>
          <a:p>
            <a:r>
              <a:rPr sz="1500" b="1" i="0">
                <a:solidFill>
                  <a:srgbClr val="095292"/>
                </a:solidFill>
                <a:latin typeface="Calibri"/>
              </a:rPr>
              <a:t>Retroalimentación</a:t>
            </a:r>
          </a:p>
        </p:txBody>
      </p:sp>
      <p:sp>
        <p:nvSpPr>
          <p:cNvPr id="20" name="TextBox 19"/>
          <p:cNvSpPr txBox="1"/>
          <p:nvPr/>
        </p:nvSpPr>
        <p:spPr>
          <a:xfrm>
            <a:off x="6351879" y="4576572"/>
            <a:ext cx="5218023" cy="1595628"/>
          </a:xfrm>
          <a:prstGeom prst="rect">
            <a:avLst/>
          </a:prstGeom>
          <a:noFill/>
        </p:spPr>
        <p:txBody>
          <a:bodyPr wrap="square">
            <a:spAutoFit/>
          </a:bodyPr>
          <a:lstStyle/>
          <a:p>
            <a:r>
              <a:rPr sz="1300" b="0" i="0">
                <a:solidFill>
                  <a:srgbClr val="333333"/>
                </a:solidFill>
                <a:latin typeface="Calibri"/>
              </a:rPr>
              <a:t>Cuando la salida vuelve a entrar y corrige el proceso. Sin ella un sistema no aprende: repite el mismo error para siempre y nadie se enteró.</a:t>
            </a:r>
          </a:p>
        </p:txBody>
      </p:sp>
      <p:sp>
        <p:nvSpPr>
          <p:cNvPr id="21" name="TextBox 20"/>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Ejemplo: todos los actores del sistema de citas</a:t>
            </a:r>
          </a:p>
        </p:txBody>
      </p:sp>
      <p:sp>
        <p:nvSpPr>
          <p:cNvPr id="5" name="Rounded Rectangle 4"/>
          <p:cNvSpPr/>
          <p:nvPr/>
        </p:nvSpPr>
        <p:spPr>
          <a:xfrm>
            <a:off x="457200" y="1261872"/>
            <a:ext cx="3637178" cy="246430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3637178" cy="9144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1490472"/>
            <a:ext cx="3307994" cy="411480"/>
          </a:xfrm>
          <a:prstGeom prst="rect">
            <a:avLst/>
          </a:prstGeom>
          <a:noFill/>
        </p:spPr>
        <p:txBody>
          <a:bodyPr wrap="square">
            <a:spAutoFit/>
          </a:bodyPr>
          <a:lstStyle/>
          <a:p>
            <a:r>
              <a:rPr sz="1500" b="1" i="0">
                <a:solidFill>
                  <a:srgbClr val="095292"/>
                </a:solidFill>
                <a:latin typeface="Calibri"/>
              </a:rPr>
              <a:t>El paciente</a:t>
            </a:r>
          </a:p>
        </p:txBody>
      </p:sp>
      <p:sp>
        <p:nvSpPr>
          <p:cNvPr id="8" name="TextBox 7"/>
          <p:cNvSpPr txBox="1"/>
          <p:nvPr/>
        </p:nvSpPr>
        <p:spPr>
          <a:xfrm>
            <a:off x="621792" y="1947672"/>
            <a:ext cx="3307994" cy="1595628"/>
          </a:xfrm>
          <a:prstGeom prst="rect">
            <a:avLst/>
          </a:prstGeom>
          <a:noFill/>
        </p:spPr>
        <p:txBody>
          <a:bodyPr wrap="square">
            <a:spAutoFit/>
          </a:bodyPr>
          <a:lstStyle/>
          <a:p>
            <a:r>
              <a:rPr sz="1300" b="0" i="0">
                <a:solidFill>
                  <a:srgbClr val="333333"/>
                </a:solidFill>
                <a:latin typeface="Calibri"/>
              </a:rPr>
              <a:t>Pide la cita. Es el actor que todos ven.</a:t>
            </a:r>
          </a:p>
        </p:txBody>
      </p:sp>
      <p:sp>
        <p:nvSpPr>
          <p:cNvPr id="9" name="Rounded Rectangle 8"/>
          <p:cNvSpPr/>
          <p:nvPr/>
        </p:nvSpPr>
        <p:spPr>
          <a:xfrm>
            <a:off x="4277258" y="1261872"/>
            <a:ext cx="3637178" cy="246430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77258" y="1261872"/>
            <a:ext cx="3637178" cy="9144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41850" y="1490472"/>
            <a:ext cx="3307994" cy="411480"/>
          </a:xfrm>
          <a:prstGeom prst="rect">
            <a:avLst/>
          </a:prstGeom>
          <a:noFill/>
        </p:spPr>
        <p:txBody>
          <a:bodyPr wrap="square">
            <a:spAutoFit/>
          </a:bodyPr>
          <a:lstStyle/>
          <a:p>
            <a:r>
              <a:rPr sz="1500" b="1" i="0">
                <a:solidFill>
                  <a:srgbClr val="095292"/>
                </a:solidFill>
                <a:latin typeface="Calibri"/>
              </a:rPr>
              <a:t>La secretaria</a:t>
            </a:r>
          </a:p>
        </p:txBody>
      </p:sp>
      <p:sp>
        <p:nvSpPr>
          <p:cNvPr id="12" name="TextBox 11"/>
          <p:cNvSpPr txBox="1"/>
          <p:nvPr/>
        </p:nvSpPr>
        <p:spPr>
          <a:xfrm>
            <a:off x="4441850" y="1947672"/>
            <a:ext cx="3307994" cy="1595628"/>
          </a:xfrm>
          <a:prstGeom prst="rect">
            <a:avLst/>
          </a:prstGeom>
          <a:noFill/>
        </p:spPr>
        <p:txBody>
          <a:bodyPr wrap="square">
            <a:spAutoFit/>
          </a:bodyPr>
          <a:lstStyle/>
          <a:p>
            <a:r>
              <a:rPr sz="1300" b="0" i="0">
                <a:solidFill>
                  <a:srgbClr val="333333"/>
                </a:solidFill>
                <a:latin typeface="Calibri"/>
              </a:rPr>
              <a:t>Asigna y confirma. Si el sistema le complica el trabajo, vuelve al cuaderno.</a:t>
            </a:r>
          </a:p>
        </p:txBody>
      </p:sp>
      <p:sp>
        <p:nvSpPr>
          <p:cNvPr id="13" name="Rounded Rectangle 12"/>
          <p:cNvSpPr/>
          <p:nvPr/>
        </p:nvSpPr>
        <p:spPr>
          <a:xfrm>
            <a:off x="8097316" y="1261872"/>
            <a:ext cx="3637178" cy="246430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97316" y="1261872"/>
            <a:ext cx="3637178" cy="91440"/>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61908" y="1490472"/>
            <a:ext cx="3307994" cy="411480"/>
          </a:xfrm>
          <a:prstGeom prst="rect">
            <a:avLst/>
          </a:prstGeom>
          <a:noFill/>
        </p:spPr>
        <p:txBody>
          <a:bodyPr wrap="square">
            <a:spAutoFit/>
          </a:bodyPr>
          <a:lstStyle/>
          <a:p>
            <a:r>
              <a:rPr sz="1500" b="1" i="0">
                <a:solidFill>
                  <a:srgbClr val="095292"/>
                </a:solidFill>
                <a:latin typeface="Calibri"/>
              </a:rPr>
              <a:t>El médico</a:t>
            </a:r>
          </a:p>
        </p:txBody>
      </p:sp>
      <p:sp>
        <p:nvSpPr>
          <p:cNvPr id="16" name="TextBox 15"/>
          <p:cNvSpPr txBox="1"/>
          <p:nvPr/>
        </p:nvSpPr>
        <p:spPr>
          <a:xfrm>
            <a:off x="8261908" y="1947672"/>
            <a:ext cx="3307994" cy="1595628"/>
          </a:xfrm>
          <a:prstGeom prst="rect">
            <a:avLst/>
          </a:prstGeom>
          <a:noFill/>
        </p:spPr>
        <p:txBody>
          <a:bodyPr wrap="square">
            <a:spAutoFit/>
          </a:bodyPr>
          <a:lstStyle/>
          <a:p>
            <a:r>
              <a:rPr sz="1300" b="0" i="0">
                <a:solidFill>
                  <a:srgbClr val="333333"/>
                </a:solidFill>
                <a:latin typeface="Calibri"/>
              </a:rPr>
              <a:t>Su agenda se llena distinto según cómo se asignen las citas.</a:t>
            </a:r>
          </a:p>
        </p:txBody>
      </p:sp>
      <p:sp>
        <p:nvSpPr>
          <p:cNvPr id="17" name="Rounded Rectangle 16"/>
          <p:cNvSpPr/>
          <p:nvPr/>
        </p:nvSpPr>
        <p:spPr>
          <a:xfrm>
            <a:off x="457200" y="3890772"/>
            <a:ext cx="3637178" cy="246430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3890772"/>
            <a:ext cx="3637178" cy="9144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 y="4119372"/>
            <a:ext cx="3307994" cy="411480"/>
          </a:xfrm>
          <a:prstGeom prst="rect">
            <a:avLst/>
          </a:prstGeom>
          <a:noFill/>
        </p:spPr>
        <p:txBody>
          <a:bodyPr wrap="square">
            <a:spAutoFit/>
          </a:bodyPr>
          <a:lstStyle/>
          <a:p>
            <a:r>
              <a:rPr sz="1500" b="1" i="0">
                <a:solidFill>
                  <a:srgbClr val="095292"/>
                </a:solidFill>
                <a:latin typeface="Calibri"/>
              </a:rPr>
              <a:t>Quien paga</a:t>
            </a:r>
          </a:p>
        </p:txBody>
      </p:sp>
      <p:sp>
        <p:nvSpPr>
          <p:cNvPr id="20" name="TextBox 19"/>
          <p:cNvSpPr txBox="1"/>
          <p:nvPr/>
        </p:nvSpPr>
        <p:spPr>
          <a:xfrm>
            <a:off x="621792" y="4576572"/>
            <a:ext cx="3307994" cy="1595628"/>
          </a:xfrm>
          <a:prstGeom prst="rect">
            <a:avLst/>
          </a:prstGeom>
          <a:noFill/>
        </p:spPr>
        <p:txBody>
          <a:bodyPr wrap="square">
            <a:spAutoFit/>
          </a:bodyPr>
          <a:lstStyle/>
          <a:p>
            <a:r>
              <a:rPr sz="1300" b="0" i="0">
                <a:solidFill>
                  <a:srgbClr val="333333"/>
                </a:solidFill>
                <a:latin typeface="Calibri"/>
              </a:rPr>
              <a:t>La EPS o el consultorio: quiere menos cupos perdidos.</a:t>
            </a:r>
          </a:p>
        </p:txBody>
      </p:sp>
      <p:sp>
        <p:nvSpPr>
          <p:cNvPr id="21" name="Rounded Rectangle 20"/>
          <p:cNvSpPr/>
          <p:nvPr/>
        </p:nvSpPr>
        <p:spPr>
          <a:xfrm>
            <a:off x="4277258" y="3890772"/>
            <a:ext cx="3637178" cy="246430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277258" y="3890772"/>
            <a:ext cx="3637178" cy="9144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41850" y="4119372"/>
            <a:ext cx="3307994" cy="411480"/>
          </a:xfrm>
          <a:prstGeom prst="rect">
            <a:avLst/>
          </a:prstGeom>
          <a:noFill/>
        </p:spPr>
        <p:txBody>
          <a:bodyPr wrap="square">
            <a:spAutoFit/>
          </a:bodyPr>
          <a:lstStyle/>
          <a:p>
            <a:r>
              <a:rPr sz="1500" b="1" i="0">
                <a:solidFill>
                  <a:srgbClr val="095292"/>
                </a:solidFill>
                <a:latin typeface="Calibri"/>
              </a:rPr>
              <a:t>El vecino que madrugaba</a:t>
            </a:r>
          </a:p>
        </p:txBody>
      </p:sp>
      <p:sp>
        <p:nvSpPr>
          <p:cNvPr id="24" name="TextBox 23"/>
          <p:cNvSpPr txBox="1"/>
          <p:nvPr/>
        </p:nvSpPr>
        <p:spPr>
          <a:xfrm>
            <a:off x="4441850" y="4576572"/>
            <a:ext cx="3307994" cy="1595628"/>
          </a:xfrm>
          <a:prstGeom prst="rect">
            <a:avLst/>
          </a:prstGeom>
          <a:noFill/>
        </p:spPr>
        <p:txBody>
          <a:bodyPr wrap="square">
            <a:spAutoFit/>
          </a:bodyPr>
          <a:lstStyle/>
          <a:p>
            <a:r>
              <a:rPr sz="1300" b="0" i="0">
                <a:solidFill>
                  <a:srgbClr val="333333"/>
                </a:solidFill>
                <a:latin typeface="Calibri"/>
              </a:rPr>
              <a:t>Antes conseguía cita llegando temprano. Con el sistema nuevo, ya no. </a:t>
            </a:r>
            <a:r>
              <a:rPr sz="1300" b="1" i="0">
                <a:solidFill>
                  <a:srgbClr val="333333"/>
                </a:solidFill>
                <a:latin typeface="Calibri"/>
              </a:rPr>
              <a:t>Nadie le preguntó.</a:t>
            </a:r>
          </a:p>
        </p:txBody>
      </p:sp>
      <p:sp>
        <p:nvSpPr>
          <p:cNvPr id="25" name="Rounded Rectangle 24"/>
          <p:cNvSpPr/>
          <p:nvPr/>
        </p:nvSpPr>
        <p:spPr>
          <a:xfrm>
            <a:off x="8097316" y="3890772"/>
            <a:ext cx="3637178" cy="246430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097316" y="3890772"/>
            <a:ext cx="3637178" cy="91440"/>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61908" y="4119372"/>
            <a:ext cx="3307994" cy="411480"/>
          </a:xfrm>
          <a:prstGeom prst="rect">
            <a:avLst/>
          </a:prstGeom>
          <a:noFill/>
        </p:spPr>
        <p:txBody>
          <a:bodyPr wrap="square">
            <a:spAutoFit/>
          </a:bodyPr>
          <a:lstStyle/>
          <a:p>
            <a:r>
              <a:rPr sz="1500" b="1" i="0">
                <a:solidFill>
                  <a:srgbClr val="095292"/>
                </a:solidFill>
                <a:latin typeface="Calibri"/>
              </a:rPr>
              <a:t>La pregunta clave</a:t>
            </a:r>
          </a:p>
        </p:txBody>
      </p:sp>
      <p:sp>
        <p:nvSpPr>
          <p:cNvPr id="28" name="TextBox 27"/>
          <p:cNvSpPr txBox="1"/>
          <p:nvPr/>
        </p:nvSpPr>
        <p:spPr>
          <a:xfrm>
            <a:off x="8261908" y="4576572"/>
            <a:ext cx="3307994" cy="1595628"/>
          </a:xfrm>
          <a:prstGeom prst="rect">
            <a:avLst/>
          </a:prstGeom>
          <a:noFill/>
        </p:spPr>
        <p:txBody>
          <a:bodyPr wrap="square">
            <a:spAutoFit/>
          </a:bodyPr>
          <a:lstStyle/>
          <a:p>
            <a:r>
              <a:rPr sz="1300" b="0" i="0">
                <a:solidFill>
                  <a:srgbClr val="333333"/>
                </a:solidFill>
                <a:latin typeface="Calibri"/>
              </a:rPr>
              <a:t>¿Quién más se ve afectado aunque nunca abra la pantalla?</a:t>
            </a:r>
          </a:p>
        </p:txBody>
      </p:sp>
      <p:sp>
        <p:nvSpPr>
          <p:cNvPr id="29" name="TextBox 28"/>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70432"/>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384048"/>
          </a:xfrm>
          <a:prstGeom prst="rect">
            <a:avLst/>
          </a:prstGeom>
          <a:noFill/>
        </p:spPr>
        <p:txBody>
          <a:bodyPr wrap="square">
            <a:spAutoFit/>
          </a:bodyPr>
          <a:lstStyle/>
          <a:p>
            <a:r>
              <a:rPr sz="2600" b="1" i="0">
                <a:solidFill>
                  <a:srgbClr val="FFFFFF"/>
                </a:solidFill>
                <a:latin typeface="Calibri"/>
              </a:rPr>
              <a:t>Cómo se descompone un sistema en cinco pasos</a:t>
            </a:r>
          </a:p>
        </p:txBody>
      </p:sp>
      <p:sp>
        <p:nvSpPr>
          <p:cNvPr id="5" name="TextBox 4"/>
          <p:cNvSpPr txBox="1"/>
          <p:nvPr/>
        </p:nvSpPr>
        <p:spPr>
          <a:xfrm>
            <a:off x="457200" y="566928"/>
            <a:ext cx="11277295" cy="411480"/>
          </a:xfrm>
          <a:prstGeom prst="rect">
            <a:avLst/>
          </a:prstGeom>
          <a:noFill/>
        </p:spPr>
        <p:txBody>
          <a:bodyPr wrap="square">
            <a:spAutoFit/>
          </a:bodyPr>
          <a:lstStyle/>
          <a:p>
            <a:r>
              <a:rPr sz="1400" b="0" i="0">
                <a:solidFill>
                  <a:srgbClr val="B8D8EE"/>
                </a:solidFill>
                <a:latin typeface="Calibri"/>
              </a:rPr>
              <a:t>Es el método del taller de hoy y el que se aplica al proyecto en la sesión 6</a:t>
            </a:r>
          </a:p>
        </p:txBody>
      </p:sp>
      <p:sp>
        <p:nvSpPr>
          <p:cNvPr id="6" name="Rounded Rectangle 5"/>
          <p:cNvSpPr/>
          <p:nvPr/>
        </p:nvSpPr>
        <p:spPr>
          <a:xfrm>
            <a:off x="457200" y="1444752"/>
            <a:ext cx="11277295" cy="908913"/>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94360" y="1679752"/>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679752"/>
            <a:ext cx="438912" cy="438912"/>
          </a:xfrm>
          <a:prstGeom prst="rect">
            <a:avLst/>
          </a:prstGeom>
          <a:noFill/>
        </p:spPr>
        <p:txBody>
          <a:bodyPr wrap="square" anchor="ctr"/>
          <a:lstStyle/>
          <a:p>
            <a:pPr algn="ctr"/>
            <a:r>
              <a:rPr sz="1600" b="1" i="0">
                <a:solidFill>
                  <a:srgbClr val="FFFFFF"/>
                </a:solidFill>
                <a:latin typeface="Calibri"/>
              </a:rPr>
              <a:t>1</a:t>
            </a:r>
          </a:p>
        </p:txBody>
      </p:sp>
      <p:sp>
        <p:nvSpPr>
          <p:cNvPr id="9" name="TextBox 8"/>
          <p:cNvSpPr txBox="1"/>
          <p:nvPr/>
        </p:nvSpPr>
        <p:spPr>
          <a:xfrm>
            <a:off x="1188720" y="1536192"/>
            <a:ext cx="10271455" cy="744321"/>
          </a:xfrm>
          <a:prstGeom prst="rect">
            <a:avLst/>
          </a:prstGeom>
          <a:noFill/>
        </p:spPr>
        <p:txBody>
          <a:bodyPr wrap="square" anchor="ctr"/>
          <a:lstStyle/>
          <a:p>
            <a:r>
              <a:rPr sz="1500" b="1" i="0">
                <a:solidFill>
                  <a:srgbClr val="095292"/>
                </a:solidFill>
                <a:latin typeface="Calibri"/>
              </a:rPr>
              <a:t>1 · Nombre el propósito</a:t>
            </a:r>
          </a:p>
          <a:p>
            <a:pPr>
              <a:spcBef>
                <a:spcPts val="200"/>
              </a:spcBef>
            </a:pPr>
            <a:r>
              <a:rPr sz="1300" b="0" i="0">
                <a:solidFill>
                  <a:srgbClr val="333333"/>
                </a:solidFill>
                <a:latin typeface="Calibri"/>
              </a:rPr>
              <a:t>Para qué existe, en una frase. Si no puede, no ha entendido el sistema.</a:t>
            </a:r>
          </a:p>
        </p:txBody>
      </p:sp>
      <p:sp>
        <p:nvSpPr>
          <p:cNvPr id="10" name="Rounded Rectangle 9"/>
          <p:cNvSpPr/>
          <p:nvPr/>
        </p:nvSpPr>
        <p:spPr>
          <a:xfrm>
            <a:off x="457200" y="2445105"/>
            <a:ext cx="11277295" cy="908913"/>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94360" y="2680106"/>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680106"/>
            <a:ext cx="438912" cy="438912"/>
          </a:xfrm>
          <a:prstGeom prst="rect">
            <a:avLst/>
          </a:prstGeom>
          <a:noFill/>
        </p:spPr>
        <p:txBody>
          <a:bodyPr wrap="square" anchor="ctr"/>
          <a:lstStyle/>
          <a:p>
            <a:pPr algn="ctr"/>
            <a:r>
              <a:rPr sz="1600" b="1" i="0">
                <a:solidFill>
                  <a:srgbClr val="FFFFFF"/>
                </a:solidFill>
                <a:latin typeface="Calibri"/>
              </a:rPr>
              <a:t>2</a:t>
            </a:r>
          </a:p>
        </p:txBody>
      </p:sp>
      <p:sp>
        <p:nvSpPr>
          <p:cNvPr id="13" name="TextBox 12"/>
          <p:cNvSpPr txBox="1"/>
          <p:nvPr/>
        </p:nvSpPr>
        <p:spPr>
          <a:xfrm>
            <a:off x="1188720" y="2536545"/>
            <a:ext cx="10271455" cy="744321"/>
          </a:xfrm>
          <a:prstGeom prst="rect">
            <a:avLst/>
          </a:prstGeom>
          <a:noFill/>
        </p:spPr>
        <p:txBody>
          <a:bodyPr wrap="square" anchor="ctr"/>
          <a:lstStyle/>
          <a:p>
            <a:r>
              <a:rPr sz="1500" b="1" i="0">
                <a:solidFill>
                  <a:srgbClr val="095292"/>
                </a:solidFill>
                <a:latin typeface="Calibri"/>
              </a:rPr>
              <a:t>2 · Dibuje la frontera</a:t>
            </a:r>
          </a:p>
          <a:p>
            <a:pPr>
              <a:spcBef>
                <a:spcPts val="200"/>
              </a:spcBef>
            </a:pPr>
            <a:r>
              <a:rPr sz="1300" b="0" i="0">
                <a:solidFill>
                  <a:srgbClr val="333333"/>
                </a:solidFill>
                <a:latin typeface="Calibri"/>
              </a:rPr>
              <a:t>Qué queda dentro y qué fuera, y por qué. Escriba la razón.</a:t>
            </a:r>
          </a:p>
        </p:txBody>
      </p:sp>
      <p:sp>
        <p:nvSpPr>
          <p:cNvPr id="14" name="Rounded Rectangle 13"/>
          <p:cNvSpPr/>
          <p:nvPr/>
        </p:nvSpPr>
        <p:spPr>
          <a:xfrm>
            <a:off x="457200" y="3445459"/>
            <a:ext cx="11277295" cy="908913"/>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94360" y="3680460"/>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680460"/>
            <a:ext cx="438912" cy="438912"/>
          </a:xfrm>
          <a:prstGeom prst="rect">
            <a:avLst/>
          </a:prstGeom>
          <a:noFill/>
        </p:spPr>
        <p:txBody>
          <a:bodyPr wrap="square" anchor="ctr"/>
          <a:lstStyle/>
          <a:p>
            <a:pPr algn="ctr"/>
            <a:r>
              <a:rPr sz="1600" b="1" i="0">
                <a:solidFill>
                  <a:srgbClr val="FFFFFF"/>
                </a:solidFill>
                <a:latin typeface="Calibri"/>
              </a:rPr>
              <a:t>3</a:t>
            </a:r>
          </a:p>
        </p:txBody>
      </p:sp>
      <p:sp>
        <p:nvSpPr>
          <p:cNvPr id="17" name="TextBox 16"/>
          <p:cNvSpPr txBox="1"/>
          <p:nvPr/>
        </p:nvSpPr>
        <p:spPr>
          <a:xfrm>
            <a:off x="1188720" y="3536899"/>
            <a:ext cx="10271455" cy="744321"/>
          </a:xfrm>
          <a:prstGeom prst="rect">
            <a:avLst/>
          </a:prstGeom>
          <a:noFill/>
        </p:spPr>
        <p:txBody>
          <a:bodyPr wrap="square" anchor="ctr"/>
          <a:lstStyle/>
          <a:p>
            <a:r>
              <a:rPr sz="1500" b="1" i="0">
                <a:solidFill>
                  <a:srgbClr val="095292"/>
                </a:solidFill>
                <a:latin typeface="Calibri"/>
              </a:rPr>
              <a:t>3 · Liste los actores</a:t>
            </a:r>
          </a:p>
          <a:p>
            <a:pPr>
              <a:spcBef>
                <a:spcPts val="200"/>
              </a:spcBef>
            </a:pPr>
            <a:r>
              <a:rPr sz="1300" b="0" i="0">
                <a:solidFill>
                  <a:srgbClr val="333333"/>
                </a:solidFill>
                <a:latin typeface="Calibri"/>
              </a:rPr>
              <a:t>Todos, incluidos los que no usan nada y sí sufren el resultado.</a:t>
            </a:r>
          </a:p>
        </p:txBody>
      </p:sp>
      <p:sp>
        <p:nvSpPr>
          <p:cNvPr id="18" name="Rounded Rectangle 17"/>
          <p:cNvSpPr/>
          <p:nvPr/>
        </p:nvSpPr>
        <p:spPr>
          <a:xfrm>
            <a:off x="457200" y="4445812"/>
            <a:ext cx="11277295" cy="908913"/>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94360" y="4680813"/>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4680813"/>
            <a:ext cx="438912" cy="438912"/>
          </a:xfrm>
          <a:prstGeom prst="rect">
            <a:avLst/>
          </a:prstGeom>
          <a:noFill/>
        </p:spPr>
        <p:txBody>
          <a:bodyPr wrap="square" anchor="ctr"/>
          <a:lstStyle/>
          <a:p>
            <a:pPr algn="ctr"/>
            <a:r>
              <a:rPr sz="1600" b="1" i="0">
                <a:solidFill>
                  <a:srgbClr val="FFFFFF"/>
                </a:solidFill>
                <a:latin typeface="Calibri"/>
              </a:rPr>
              <a:t>4</a:t>
            </a:r>
          </a:p>
        </p:txBody>
      </p:sp>
      <p:sp>
        <p:nvSpPr>
          <p:cNvPr id="21" name="TextBox 20"/>
          <p:cNvSpPr txBox="1"/>
          <p:nvPr/>
        </p:nvSpPr>
        <p:spPr>
          <a:xfrm>
            <a:off x="1188720" y="4537252"/>
            <a:ext cx="10271455" cy="744321"/>
          </a:xfrm>
          <a:prstGeom prst="rect">
            <a:avLst/>
          </a:prstGeom>
          <a:noFill/>
        </p:spPr>
        <p:txBody>
          <a:bodyPr wrap="square" anchor="ctr"/>
          <a:lstStyle/>
          <a:p>
            <a:r>
              <a:rPr sz="1500" b="1" i="0">
                <a:solidFill>
                  <a:srgbClr val="095292"/>
                </a:solidFill>
                <a:latin typeface="Calibri"/>
              </a:rPr>
              <a:t>4 · Siga una entrada</a:t>
            </a:r>
          </a:p>
          <a:p>
            <a:pPr>
              <a:spcBef>
                <a:spcPts val="200"/>
              </a:spcBef>
            </a:pPr>
            <a:r>
              <a:rPr sz="1300" b="0" i="0">
                <a:solidFill>
                  <a:srgbClr val="333333"/>
                </a:solidFill>
                <a:latin typeface="Calibri"/>
              </a:rPr>
              <a:t>Tome un caso real y sígalo de la entrada a la salida. Ahí aparecen los huecos.</a:t>
            </a:r>
          </a:p>
        </p:txBody>
      </p:sp>
      <p:sp>
        <p:nvSpPr>
          <p:cNvPr id="22" name="Rounded Rectangle 21"/>
          <p:cNvSpPr/>
          <p:nvPr/>
        </p:nvSpPr>
        <p:spPr>
          <a:xfrm>
            <a:off x="457200" y="5446166"/>
            <a:ext cx="11277295" cy="908913"/>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94360" y="5681167"/>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 y="5681167"/>
            <a:ext cx="438912" cy="438912"/>
          </a:xfrm>
          <a:prstGeom prst="rect">
            <a:avLst/>
          </a:prstGeom>
          <a:noFill/>
        </p:spPr>
        <p:txBody>
          <a:bodyPr wrap="square" anchor="ctr"/>
          <a:lstStyle/>
          <a:p>
            <a:pPr algn="ctr"/>
            <a:r>
              <a:rPr sz="1600" b="1" i="0">
                <a:solidFill>
                  <a:srgbClr val="FFFFFF"/>
                </a:solidFill>
                <a:latin typeface="Calibri"/>
              </a:rPr>
              <a:t>5</a:t>
            </a:r>
          </a:p>
        </p:txBody>
      </p:sp>
      <p:sp>
        <p:nvSpPr>
          <p:cNvPr id="25" name="TextBox 24"/>
          <p:cNvSpPr txBox="1"/>
          <p:nvPr/>
        </p:nvSpPr>
        <p:spPr>
          <a:xfrm>
            <a:off x="1188720" y="5537606"/>
            <a:ext cx="10271455" cy="744321"/>
          </a:xfrm>
          <a:prstGeom prst="rect">
            <a:avLst/>
          </a:prstGeom>
          <a:noFill/>
        </p:spPr>
        <p:txBody>
          <a:bodyPr wrap="square" anchor="ctr"/>
          <a:lstStyle/>
          <a:p>
            <a:r>
              <a:rPr sz="1500" b="1" i="0">
                <a:solidFill>
                  <a:srgbClr val="095292"/>
                </a:solidFill>
                <a:latin typeface="Calibri"/>
              </a:rPr>
              <a:t>5 · Busque la retroalimentación</a:t>
            </a:r>
          </a:p>
          <a:p>
            <a:pPr>
              <a:spcBef>
                <a:spcPts val="200"/>
              </a:spcBef>
            </a:pPr>
            <a:r>
              <a:rPr sz="1300" b="0" i="0">
                <a:solidFill>
                  <a:srgbClr val="333333"/>
                </a:solidFill>
                <a:latin typeface="Calibri"/>
              </a:rPr>
              <a:t>¿Cómo se enteran de que salió mal? Si no hay respuesta, ese es el hallazgo.</a:t>
            </a:r>
          </a:p>
        </p:txBody>
      </p:sp>
      <p:sp>
        <p:nvSpPr>
          <p:cNvPr id="26" name="TextBox 2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70432"/>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384048"/>
          </a:xfrm>
          <a:prstGeom prst="rect">
            <a:avLst/>
          </a:prstGeom>
          <a:noFill/>
        </p:spPr>
        <p:txBody>
          <a:bodyPr wrap="square">
            <a:spAutoFit/>
          </a:bodyPr>
          <a:lstStyle/>
          <a:p>
            <a:r>
              <a:rPr sz="2600" b="1" i="0">
                <a:solidFill>
                  <a:srgbClr val="FFFFFF"/>
                </a:solidFill>
                <a:latin typeface="Calibri"/>
              </a:rPr>
              <a:t>Ejemplo resuelto: el semáforo de una esquina, en cinco pasos</a:t>
            </a:r>
          </a:p>
        </p:txBody>
      </p:sp>
      <p:sp>
        <p:nvSpPr>
          <p:cNvPr id="5" name="TextBox 4"/>
          <p:cNvSpPr txBox="1"/>
          <p:nvPr/>
        </p:nvSpPr>
        <p:spPr>
          <a:xfrm>
            <a:off x="457200" y="566928"/>
            <a:ext cx="11277295" cy="411480"/>
          </a:xfrm>
          <a:prstGeom prst="rect">
            <a:avLst/>
          </a:prstGeom>
          <a:noFill/>
        </p:spPr>
        <p:txBody>
          <a:bodyPr wrap="square">
            <a:spAutoFit/>
          </a:bodyPr>
          <a:lstStyle/>
          <a:p>
            <a:r>
              <a:rPr sz="1400" b="0" i="0">
                <a:solidFill>
                  <a:srgbClr val="B8D8EE"/>
                </a:solidFill>
                <a:latin typeface="Calibri"/>
              </a:rPr>
              <a:t>El mismo método del taller, sobre un sistema que ven todos los días.</a:t>
            </a:r>
          </a:p>
        </p:txBody>
      </p:sp>
      <p:sp>
        <p:nvSpPr>
          <p:cNvPr id="6" name="Rounded Rectangle 5"/>
          <p:cNvSpPr/>
          <p:nvPr/>
        </p:nvSpPr>
        <p:spPr>
          <a:xfrm>
            <a:off x="5934611" y="1399031"/>
            <a:ext cx="5735574" cy="4617720"/>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emaforo-paso1.png"/>
          <p:cNvPicPr>
            <a:picLocks noChangeAspect="1"/>
          </p:cNvPicPr>
          <p:nvPr/>
        </p:nvPicPr>
        <p:blipFill>
          <a:blip r:embed="rId2"/>
          <a:stretch>
            <a:fillRect/>
          </a:stretch>
        </p:blipFill>
        <p:spPr>
          <a:xfrm>
            <a:off x="6007763" y="1472184"/>
            <a:ext cx="5589270" cy="4471416"/>
          </a:xfrm>
          <a:prstGeom prst="rect">
            <a:avLst/>
          </a:prstGeom>
        </p:spPr>
      </p:pic>
      <p:pic>
        <p:nvPicPr>
          <p:cNvPr id="8" name="Picture 7" descr="semaforo-paso2.png"/>
          <p:cNvPicPr>
            <a:picLocks noChangeAspect="1"/>
          </p:cNvPicPr>
          <p:nvPr/>
        </p:nvPicPr>
        <p:blipFill>
          <a:blip r:embed="rId3"/>
          <a:stretch>
            <a:fillRect/>
          </a:stretch>
        </p:blipFill>
        <p:spPr>
          <a:xfrm>
            <a:off x="6007763" y="1472184"/>
            <a:ext cx="5589270" cy="4471416"/>
          </a:xfrm>
          <a:prstGeom prst="rect">
            <a:avLst/>
          </a:prstGeom>
        </p:spPr>
      </p:pic>
      <p:pic>
        <p:nvPicPr>
          <p:cNvPr id="9" name="Picture 8" descr="semaforo-paso3.png"/>
          <p:cNvPicPr>
            <a:picLocks noChangeAspect="1"/>
          </p:cNvPicPr>
          <p:nvPr/>
        </p:nvPicPr>
        <p:blipFill>
          <a:blip r:embed="rId4"/>
          <a:stretch>
            <a:fillRect/>
          </a:stretch>
        </p:blipFill>
        <p:spPr>
          <a:xfrm>
            <a:off x="6007763" y="1472184"/>
            <a:ext cx="5589270" cy="4471416"/>
          </a:xfrm>
          <a:prstGeom prst="rect">
            <a:avLst/>
          </a:prstGeom>
        </p:spPr>
      </p:pic>
      <p:pic>
        <p:nvPicPr>
          <p:cNvPr id="10" name="Picture 9" descr="semaforo-paso4.png"/>
          <p:cNvPicPr>
            <a:picLocks noChangeAspect="1"/>
          </p:cNvPicPr>
          <p:nvPr/>
        </p:nvPicPr>
        <p:blipFill>
          <a:blip r:embed="rId5"/>
          <a:stretch>
            <a:fillRect/>
          </a:stretch>
        </p:blipFill>
        <p:spPr>
          <a:xfrm>
            <a:off x="6007763" y="1472184"/>
            <a:ext cx="5589270" cy="4471416"/>
          </a:xfrm>
          <a:prstGeom prst="rect">
            <a:avLst/>
          </a:prstGeom>
        </p:spPr>
      </p:pic>
      <p:pic>
        <p:nvPicPr>
          <p:cNvPr id="11" name="Picture 10" descr="semaforo-paso5.png"/>
          <p:cNvPicPr>
            <a:picLocks noChangeAspect="1"/>
          </p:cNvPicPr>
          <p:nvPr/>
        </p:nvPicPr>
        <p:blipFill>
          <a:blip r:embed="rId6"/>
          <a:stretch>
            <a:fillRect/>
          </a:stretch>
        </p:blipFill>
        <p:spPr>
          <a:xfrm>
            <a:off x="6007763" y="1472184"/>
            <a:ext cx="5589270" cy="4471416"/>
          </a:xfrm>
          <a:prstGeom prst="rect">
            <a:avLst/>
          </a:prstGeom>
        </p:spPr>
      </p:pic>
      <p:sp>
        <p:nvSpPr>
          <p:cNvPr id="23" name="TextBox 2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24" name="TextBox 23"/>
          <p:cNvSpPr txBox="1"/>
          <p:nvPr/>
        </p:nvSpPr>
        <p:spPr>
          <a:xfrm>
            <a:off x="457200" y="1563624"/>
            <a:ext cx="5093061" cy="4837176"/>
          </a:xfrm>
          <a:prstGeom prst="rect">
            <a:avLst/>
          </a:prstGeom>
          <a:noFill/>
        </p:spPr>
        <p:txBody>
          <a:bodyPr wrap="square">
            <a:spAutoFit/>
          </a:bodyPr>
          <a:lstStyle/>
          <a:p>
            <a:pPr>
              <a:spcAft>
                <a:spcPts val="800"/>
              </a:spcAft>
            </a:pPr>
            <a:r>
              <a:rPr sz="2000" b="0" i="0">
                <a:solidFill>
                  <a:srgbClr val="333333"/>
                </a:solidFill>
                <a:latin typeface="Calibri"/>
              </a:rPr>
              <a:t>–   </a:t>
            </a:r>
            <a:r>
              <a:rPr sz="2000" b="1" i="0">
                <a:solidFill>
                  <a:srgbClr val="333333"/>
                </a:solidFill>
                <a:latin typeface="Calibri"/>
              </a:rPr>
              <a:t>1 · Propósito:</a:t>
            </a:r>
            <a:r>
              <a:rPr sz="2000" b="0" i="0">
                <a:solidFill>
                  <a:srgbClr val="333333"/>
                </a:solidFill>
                <a:latin typeface="Calibri"/>
              </a:rPr>
              <a:t> Que carros y peatones crucen la esquina sin chocar y sin esperar de más.</a:t>
            </a:r>
          </a:p>
          <a:p>
            <a:pPr>
              <a:spcAft>
                <a:spcPts val="800"/>
              </a:spcAft>
            </a:pPr>
            <a:r>
              <a:rPr sz="2000" b="0" i="0">
                <a:solidFill>
                  <a:srgbClr val="333333"/>
                </a:solidFill>
                <a:latin typeface="Calibri"/>
              </a:rPr>
              <a:t>–   </a:t>
            </a:r>
            <a:r>
              <a:rPr sz="2000" b="1" i="0">
                <a:solidFill>
                  <a:srgbClr val="333333"/>
                </a:solidFill>
                <a:latin typeface="Calibri"/>
              </a:rPr>
              <a:t>2 · Frontera:</a:t>
            </a:r>
            <a:r>
              <a:rPr sz="2000" b="0" i="0">
                <a:solidFill>
                  <a:srgbClr val="333333"/>
                </a:solidFill>
                <a:latin typeface="Calibri"/>
              </a:rPr>
              <a:t> Dentro: el semáforo, la esquina y quienes la cruzan.</a:t>
            </a:r>
          </a:p>
          <a:p>
            <a:pPr>
              <a:spcAft>
                <a:spcPts val="800"/>
              </a:spcAft>
            </a:pPr>
            <a:r>
              <a:rPr sz="2000" b="0" i="0">
                <a:solidFill>
                  <a:srgbClr val="333333"/>
                </a:solidFill>
                <a:latin typeface="Calibri"/>
              </a:rPr>
              <a:t>–   </a:t>
            </a:r>
            <a:r>
              <a:rPr sz="2000" b="1" i="0">
                <a:solidFill>
                  <a:srgbClr val="333333"/>
                </a:solidFill>
                <a:latin typeface="Calibri"/>
              </a:rPr>
              <a:t>3 · Actores:</a:t>
            </a:r>
            <a:r>
              <a:rPr sz="2000" b="0" i="0">
                <a:solidFill>
                  <a:srgbClr val="333333"/>
                </a:solidFill>
                <a:latin typeface="Calibri"/>
              </a:rPr>
              <a:t> Conductores, peatones, el agente de tránsito y el vecino que vive en la esquina y aguanta el ruido.</a:t>
            </a:r>
          </a:p>
          <a:p>
            <a:pPr>
              <a:spcAft>
                <a:spcPts val="800"/>
              </a:spcAft>
            </a:pPr>
            <a:r>
              <a:rPr sz="2000" b="0" i="0">
                <a:solidFill>
                  <a:srgbClr val="333333"/>
                </a:solidFill>
                <a:latin typeface="Calibri"/>
              </a:rPr>
              <a:t>–   </a:t>
            </a:r>
            <a:r>
              <a:rPr sz="2000" b="1" i="0">
                <a:solidFill>
                  <a:srgbClr val="333333"/>
                </a:solidFill>
                <a:latin typeface="Calibri"/>
              </a:rPr>
              <a:t>4 · Seguir una entrada:</a:t>
            </a:r>
            <a:r>
              <a:rPr sz="2000" b="0" i="0">
                <a:solidFill>
                  <a:srgbClr val="333333"/>
                </a:solidFill>
                <a:latin typeface="Calibri"/>
              </a:rPr>
              <a:t> Un peatón llega a las 6 p. m. Espera 90 segundos. ¿Es mucho? Depende de cuántos carros pasan.</a:t>
            </a:r>
          </a:p>
        </p:txBody>
      </p:sp>
      <p:sp>
        <p:nvSpPr>
          <p:cNvPr id="25" name="TextBox 2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5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5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El asistente de IA: qué hace bien y en qué miente</a:t>
            </a:r>
          </a:p>
        </p:txBody>
      </p:sp>
      <p:sp>
        <p:nvSpPr>
          <p:cNvPr id="5" name="Rounded Rectangle 4"/>
          <p:cNvSpPr/>
          <p:nvPr/>
        </p:nvSpPr>
        <p:spPr>
          <a:xfrm>
            <a:off x="457200" y="1261872"/>
            <a:ext cx="11277295" cy="1051560"/>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28016" cy="105156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399031"/>
            <a:ext cx="10774375" cy="822959"/>
          </a:xfrm>
          <a:prstGeom prst="rect">
            <a:avLst/>
          </a:prstGeom>
          <a:noFill/>
        </p:spPr>
        <p:txBody>
          <a:bodyPr wrap="square">
            <a:spAutoFit/>
          </a:bodyPr>
          <a:lstStyle/>
          <a:p>
            <a:r>
              <a:rPr sz="1200" b="1" i="0">
                <a:solidFill>
                  <a:srgbClr val="269CCB"/>
                </a:solidFill>
                <a:latin typeface="Calibri"/>
              </a:rPr>
              <a:t>Info</a:t>
            </a:r>
          </a:p>
          <a:p>
            <a:pPr>
              <a:spcBef>
                <a:spcPts val="400"/>
              </a:spcBef>
            </a:pPr>
            <a:r>
              <a:rPr sz="1400" b="1" i="0">
                <a:solidFill>
                  <a:srgbClr val="333333"/>
                </a:solidFill>
                <a:latin typeface="Calibri"/>
              </a:rPr>
              <a:t>Hace bien:</a:t>
            </a:r>
            <a:r>
              <a:rPr sz="1400" b="0" i="0">
                <a:solidFill>
                  <a:srgbClr val="333333"/>
                </a:solidFill>
                <a:latin typeface="Calibri"/>
              </a:rPr>
              <a:t> darle estructura rápida a algo que usted ya entiende. Si le describe el sistema, arma entradas, proceso y salidas en segundos, y suele sugerir actores que a usted se le pasaron.</a:t>
            </a:r>
          </a:p>
        </p:txBody>
      </p:sp>
      <p:sp>
        <p:nvSpPr>
          <p:cNvPr id="8" name="Rounded Rectangle 7"/>
          <p:cNvSpPr/>
          <p:nvPr/>
        </p:nvSpPr>
        <p:spPr>
          <a:xfrm>
            <a:off x="457200" y="2478024"/>
            <a:ext cx="11277295" cy="1051560"/>
          </a:xfrm>
          <a:prstGeom prst="roundRect">
            <a:avLst>
              <a:gd name="adj" fmla="val 12000"/>
            </a:avLst>
          </a:prstGeom>
          <a:solidFill>
            <a:srgbClr val="FB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478024"/>
            <a:ext cx="128016" cy="1051560"/>
          </a:xfrm>
          <a:prstGeom prst="rect">
            <a:avLst/>
          </a:prstGeom>
          <a:solidFill>
            <a:srgbClr val="A0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615184"/>
            <a:ext cx="10774375" cy="822959"/>
          </a:xfrm>
          <a:prstGeom prst="rect">
            <a:avLst/>
          </a:prstGeom>
          <a:noFill/>
        </p:spPr>
        <p:txBody>
          <a:bodyPr wrap="square">
            <a:spAutoFit/>
          </a:bodyPr>
          <a:lstStyle/>
          <a:p>
            <a:r>
              <a:rPr sz="1200" b="1" i="0">
                <a:solidFill>
                  <a:srgbClr val="A02030"/>
                </a:solidFill>
                <a:latin typeface="Calibri"/>
              </a:rPr>
              <a:t>Atención</a:t>
            </a:r>
          </a:p>
          <a:p>
            <a:pPr>
              <a:spcBef>
                <a:spcPts val="400"/>
              </a:spcBef>
            </a:pPr>
            <a:r>
              <a:rPr sz="1400" b="1" i="0">
                <a:solidFill>
                  <a:srgbClr val="333333"/>
                </a:solidFill>
                <a:latin typeface="Calibri"/>
              </a:rPr>
              <a:t>Miente con confianza en lo local y en lo cuantitativo.</a:t>
            </a:r>
            <a:r>
              <a:rPr sz="1400" b="0" i="0">
                <a:solidFill>
                  <a:srgbClr val="333333"/>
                </a:solidFill>
                <a:latin typeface="Calibri"/>
              </a:rPr>
              <a:t> Va a inventar cifras («el tiempo promedio de espera es de 45 minutos»), nombres de dependencias y normas colombianas que no existen. Lo escribe con el mismo tono que lo verdadero: </a:t>
            </a:r>
            <a:r>
              <a:rPr sz="1400" b="1" i="0">
                <a:solidFill>
                  <a:srgbClr val="333333"/>
                </a:solidFill>
                <a:latin typeface="Calibri"/>
              </a:rPr>
              <a:t>no hay señal de que está inventando</a:t>
            </a:r>
            <a:r>
              <a:rPr sz="1400" b="0" i="0">
                <a:solidFill>
                  <a:srgbClr val="333333"/>
                </a:solidFill>
                <a:latin typeface="Calibri"/>
              </a:rPr>
              <a:t>.</a:t>
            </a:r>
          </a:p>
        </p:txBody>
      </p:sp>
      <p:sp>
        <p:nvSpPr>
          <p:cNvPr id="11" name="Rounded Rectangle 10"/>
          <p:cNvSpPr/>
          <p:nvPr/>
        </p:nvSpPr>
        <p:spPr>
          <a:xfrm>
            <a:off x="457200" y="3694176"/>
            <a:ext cx="11277295" cy="1051560"/>
          </a:xfrm>
          <a:prstGeom prst="roundRect">
            <a:avLst>
              <a:gd name="adj" fmla="val 12000"/>
            </a:avLst>
          </a:prstGeom>
          <a:solidFill>
            <a:srgbClr val="FFF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3694176"/>
            <a:ext cx="128016" cy="1051560"/>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831336"/>
            <a:ext cx="10774375" cy="822959"/>
          </a:xfrm>
          <a:prstGeom prst="rect">
            <a:avLst/>
          </a:prstGeom>
          <a:noFill/>
        </p:spPr>
        <p:txBody>
          <a:bodyPr wrap="square">
            <a:spAutoFit/>
          </a:bodyPr>
          <a:lstStyle/>
          <a:p>
            <a:r>
              <a:rPr sz="1200" b="1" i="0">
                <a:solidFill>
                  <a:srgbClr val="FFD000"/>
                </a:solidFill>
                <a:latin typeface="Calibri"/>
              </a:rPr>
              <a:t>Aclaración</a:t>
            </a:r>
          </a:p>
          <a:p>
            <a:pPr>
              <a:spcBef>
                <a:spcPts val="400"/>
              </a:spcBef>
            </a:pPr>
            <a:r>
              <a:rPr sz="1400" b="1" i="0">
                <a:solidFill>
                  <a:srgbClr val="333333"/>
                </a:solidFill>
                <a:latin typeface="Calibri"/>
              </a:rPr>
              <a:t>Por eso, al usar IA, se guardan el prompt y la corrección.</a:t>
            </a:r>
            <a:r>
              <a:rPr sz="1400" b="0" i="0">
                <a:solidFill>
                  <a:srgbClr val="333333"/>
                </a:solidFill>
                <a:latin typeface="Calibri"/>
              </a:rPr>
              <a:t> Lo valioso es lo que ustedes detectaron que estaba mal. Un texto de IA pegado sin correcciones no vale nada, y no por castigo: es que no muestra ningún trabajo de ingeniería.</a:t>
            </a:r>
          </a:p>
        </p:txBody>
      </p:sp>
      <p:sp>
        <p:nvSpPr>
          <p:cNvPr id="14" name="TextBox 13"/>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uniajc_color.png"/>
          <p:cNvPicPr>
            <a:picLocks noChangeAspect="1"/>
          </p:cNvPicPr>
          <p:nvPr/>
        </p:nvPicPr>
        <p:blipFill>
          <a:blip r:embed="rId2"/>
          <a:stretch>
            <a:fillRect/>
          </a:stretch>
        </p:blipFill>
        <p:spPr>
          <a:xfrm>
            <a:off x="10271455" y="5998464"/>
            <a:ext cx="1463040" cy="643233"/>
          </a:xfrm>
          <a:prstGeom prst="rect">
            <a:avLst/>
          </a:prstGeom>
        </p:spPr>
      </p:pic>
      <p:sp>
        <p:nvSpPr>
          <p:cNvPr id="4" name="TextBox 3"/>
          <p:cNvSpPr txBox="1"/>
          <p:nvPr/>
        </p:nvSpPr>
        <p:spPr>
          <a:xfrm>
            <a:off x="457200" y="1737360"/>
            <a:ext cx="11277295" cy="1097280"/>
          </a:xfrm>
          <a:prstGeom prst="rect">
            <a:avLst/>
          </a:prstGeom>
          <a:noFill/>
        </p:spPr>
        <p:txBody>
          <a:bodyPr wrap="square" anchor="ctr"/>
          <a:lstStyle/>
          <a:p>
            <a:pPr algn="ctr"/>
            <a:r>
              <a:rPr sz="3400" b="1" i="0">
                <a:solidFill>
                  <a:srgbClr val="095292"/>
                </a:solidFill>
                <a:latin typeface="Calibri"/>
              </a:rPr>
              <a:t>Nos vemos en la sesión 4</a:t>
            </a:r>
          </a:p>
        </p:txBody>
      </p:sp>
      <p:sp>
        <p:nvSpPr>
          <p:cNvPr id="5" name="TextBox 4"/>
          <p:cNvSpPr txBox="1"/>
          <p:nvPr/>
        </p:nvSpPr>
        <p:spPr>
          <a:xfrm>
            <a:off x="457200" y="3017520"/>
            <a:ext cx="11277295" cy="1645920"/>
          </a:xfrm>
          <a:prstGeom prst="rect">
            <a:avLst/>
          </a:prstGeom>
          <a:noFill/>
        </p:spPr>
        <p:txBody>
          <a:bodyPr wrap="square">
            <a:spAutoFit/>
          </a:bodyPr>
          <a:lstStyle/>
          <a:p>
            <a:pPr algn="ctr">
              <a:spcAft>
                <a:spcPts val="600"/>
              </a:spcAft>
            </a:pPr>
            <a:r>
              <a:rPr sz="1600" b="0" i="0">
                <a:solidFill>
                  <a:srgbClr val="333333"/>
                </a:solidFill>
                <a:latin typeface="Calibri"/>
              </a:rPr>
              <a:t>Fundamentos básicos de la Ingeniería de Sistemas · Clase 3</a:t>
            </a:r>
          </a:p>
          <a:p>
            <a:pPr algn="ctr">
              <a:spcAft>
                <a:spcPts val="600"/>
              </a:spcAft>
            </a:pPr>
            <a:r>
              <a:rPr sz="1600" b="0" i="0">
                <a:solidFill>
                  <a:srgbClr val="333333"/>
                </a:solidFill>
                <a:latin typeface="Calibri"/>
              </a:rPr>
              <a:t>FI300101 · UNIAJC · Ingeniería de Sistemas</a:t>
            </a:r>
          </a:p>
        </p:txBody>
      </p:sp>
      <p:sp>
        <p:nvSpPr>
          <p:cNvPr id="6" name="TextBox 5"/>
          <p:cNvSpPr txBox="1"/>
          <p:nvPr/>
        </p:nvSpPr>
        <p:spPr>
          <a:xfrm>
            <a:off x="457200" y="4754880"/>
            <a:ext cx="11277295" cy="640080"/>
          </a:xfrm>
          <a:prstGeom prst="rect">
            <a:avLst/>
          </a:prstGeom>
          <a:noFill/>
        </p:spPr>
        <p:txBody>
          <a:bodyPr wrap="square">
            <a:spAutoFit/>
          </a:bodyPr>
          <a:lstStyle/>
          <a:p>
            <a:pPr algn="ctr"/>
            <a:r>
              <a:rPr sz="2000" b="1" i="0">
                <a:solidFill>
                  <a:srgbClr val="269CCB"/>
                </a:solidFill>
                <a:latin typeface="Calibri"/>
              </a:rPr>
              <a:t>El sistema no es el software: el software es una parte del proceso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