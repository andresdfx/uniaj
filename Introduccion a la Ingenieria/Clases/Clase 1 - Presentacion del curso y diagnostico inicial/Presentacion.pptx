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DE ENTRADA Y PARA QUÉ SIRVEN LOS PRIMEROS DIEZ MINUTOS</a:t>
            </a:r>
          </a:p>
          <a:p/>
          <a:p>
            <a:r>
              <a:t>Los diez minutos de apertura existen porque el curso es virtual y entrar a una sesión nunca es instantáneo: hay quien viene de trabajar, quien pelea con el micrófono y quien entra desde el celular. Si se arranca a la hora exacta, la mitad del curso se pierde la primera explicación y hay que repetirla en pedazos cada vez que alguien entra. Pero esperar en silencio convierte diez minutos en tiempo muerto dieciséis veces al semestre, que son casi tres horas. La solución es que la pregunta de entrada quede en pantalla compartida desde el primer minuto y quien va entrando la responda en el muro del curso, sin crear cuenta.</a:t>
            </a:r>
          </a:p>
          <a:p/>
          <a:p>
            <a:r>
              <a:t>La pregunta de hoy es deliberadamente ingenua: «¿qué crees que hace un ingeniero de sistemas un martes a las 10 de la mañana?». No se busca la respuesta correcta, se busca el punto de partida. En un grupo de primer semestre las respuestas se agrupan casi siempre en tres montones: programar frente a un computador, arreglar computadores y algo vago sobre tecnología. Ese resultado es el material de la clase: al minuto 40, cuando se contrasten los cinco campos de acción, el docente vuelve al muro y muestra que ninguna de las respuestas del curso mencionó negociar un plazo, revisar un permiso mal puesto o decidir qué se recorta. Ese contraste hace el trabajo que un discurso sobre «el amplio campo de acción de la profesión» no hace.</a:t>
            </a:r>
          </a:p>
          <a:p/>
          <a:p>
            <a:r>
              <a:t>Nota operativa: no se corrige ninguna respuesta del muro en voz alta ni se señala a quien la escribió. Es el primer día de universidad de varios de ellos y el muro tiene que quedar como un lugar donde se puede escribir sin costo. Lo que se comenta es el patrón del conjunto, nunca una respuesta individual.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LA EVALUACIÓN DIAGNÓSTICA Y POR QUÉ SE DICE EN VOZ ALTA QUE NO TIENE NOTA</a:t>
            </a:r>
          </a:p>
          <a:p/>
          <a:p>
            <a:r>
              <a:t>El Plan de curso asigna a la sesión 1 una evaluación diagnóstica, y conviene entender para qué sirve antes de aplicarla, porque aplicada mal produce el efecto contrario al que busca. Un diagnóstico no mide conocimiento para calificarlo: mide de dónde parte el grupo para poder ajustar lo que sigue. Sus resultados cambian decisiones concretas del docente. Si la mayoría del grupo no distingue ingeniería de programación, la sesión 3 necesita más tiempo en análisis de caso y menos en herramientas. Si media clase entra solo con datos del celular, las actividades no pueden pedir subir video ni abrir cinco pestañas a la vez, y las salas de grupo se arman mezclando a quien tiene buena conexión con quien no la tiene. Si nadie ha usado una herramienta de diagramación, la sesión 2 empieza con cinco minutos de manejo de la herramienta y no se da por sabido.</a:t>
            </a:r>
          </a:p>
          <a:p/>
          <a:p>
            <a:r>
              <a:t>Hay que decir tres cosas en voz alta antes de repartirlo, y decirlas sin adornos. Primera: no tiene nota, ni suma ni resta. Segunda: no se espera que sepan las respuestas, y si supieran todo el curso no tendría razón de existir. Tercera: quien responde lo que cree que el profesor quiere oír arruina el instrumento, porque el docente va a planear las quince sesiones siguientes con esos datos. La tercera es la que hay que insistir: en primer semestre el reflejo aprendido en el colegio es adivinar la respuesta esperada, y ese reflejo hay que desactivarlo el primer día.</a:t>
            </a:r>
          </a:p>
          <a:p/>
          <a:p>
            <a:r>
              <a:t>Los últimos tres ítems del diagnóstico no son de contenido sino de condiciones de trabajo: computador propio, conexión en casa y horas de trabajo remunerado a la semana. Se preguntan porque determinan si el trabajo independiente semanal es viable tal como está planeado, y porque los equipos se pueden conformar mezclando condiciones en vez de dejar que se agrupen por afinidad y quede un equipo entero sin acceso a un computador. Estos tres ítems se responden de forma agregada: el docente necesita el conteo del grupo, no una ficha personal de cada estudiante. Conviene decirlo así, y no recoger nada que no se vaya a usar.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INGENIERÍA NO ES PROGRAMACIÓN: LA CONFUSIÓN QUE HAY QUE DESARMAR EL PRIMER DÍA</a:t>
            </a:r>
          </a:p>
          <a:p/>
          <a:p>
            <a:r>
              <a:t>La creencia con la que llega casi todo el grupo es que Ingeniería de Sistemas es programar, y no es una creencia tonta: el mercado laboral, las series y los avisos de empleo la refuerzan. El problema es que si no se desarma hoy, produce dos efectos predecibles y costosos. El primero es que el estudiante que ya programa un poco concluye que este curso no le enseña nada y se desconecta, cuando es justamente el curso que le va a mostrar que su habilidad no responde ninguna de las preguntas que hacen fracasar los proyectos. El segundo es que el estudiante que no ha programado nunca concluye que se equivocó de carrera y empieza a considerar el retiro en las primeras semanas, que es cuando ocurre la mayor parte de la deserción de primer semestre.</a:t>
            </a:r>
          </a:p>
          <a:p/>
          <a:p>
            <a:r>
              <a:t>El desarme se hace con una comparación, no con una afirmación de autoridad. Programar es escribir las instrucciones que un computador ejecuta; es una habilidad que se aprende, que hoy además tiene asistentes que escriben buena parte del código, y que en cuatro de los cinco campos de acción de esta carrera se usa poco. La ingeniería es lo que va antes y después: decidir qué hay que construir, con qué restricciones, a costa de qué, y responder por lo que pase cuando funcione. Un ejemplo que aterriza en veinte segundos: dos equipos escriben el mismo programa de reservas con el mismo lenguaje; uno decide guardar los datos en el computador del cliente y el otro en un servidor compartido. El código se parece; las consecuencias no se parecen en nada cuando el cliente cambia de celular o cuando dos personas reservan el mismo turno al mismo tiempo. Esa diferencia es la ingeniería, y no está en el código.</a:t>
            </a:r>
          </a:p>
          <a:p/>
          <a:p>
            <a:r>
              <a:t>La segunda confusión, más frecuente en Cali de lo que uno esperaría, es con el soporte técnico: instalar sistemas operativos, cambiar memorias, limpiar equipos. Hay que responderla con respeto explícito, porque en el salón hay estudiantes que se pagan la carrera haciendo exactamente eso, y descalificar su trabajo el primer día los deja fuera. La formulación correcta es que el soporte técnico es un oficio válido, necesario y distinto, que no requiere cinco años de universidad, y que este programa forma para decidir qué sistema construir y por qué, no para mantener el que ya existe. Quien hoy hace soporte tiene una ventaja real en este curso: ya vio de primera mano lo que pasa cuando un sistema se diseñó mal.</a:t>
            </a:r>
          </a:p>
          <a:p/>
          <a:p>
            <a:r>
              <a:t>La tercera creencia es la del lenguaje: que el mejor ingeniero es el que sabe más lenguajes de programación. Un lenguaje se aprende en semanas y la lista de lenguajes de moda cambia cada pocos años; decidir con criterio toma años y no caduca. Vale cerrar diciendo qué se evalúa en este curso, porque el estudiante necesita saberlo hoy: no se evalúa saber, se evalúa argumentar una decisión y decir su precio.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LA INGENIERÍA: PROBLEMA, RESTRICCIÓN Y CONSECUENCIA</a:t>
            </a:r>
          </a:p>
          <a:p/>
          <a:p>
            <a:r>
              <a:t>La definición que sostiene todo el semestre cabe en una frase: la ingeniería es el oficio de decidir cómo resolver un problema real con recursos limitados, y responder por las consecuencias de esa decisión. Las tres palabras que hacen el trabajo son problema, restricción y consecuencia, y conviene desarrollar cada una en voz alta porque los estudiantes van a usarlas las dieciséis sesiones.</a:t>
            </a:r>
          </a:p>
          <a:p/>
          <a:p>
            <a:r>
              <a:t>Problema significa que a alguien concreto le duele algo. «Mejorar la movilidad de Cali» no es un problema en este sentido, es un titular: no dice a quién, ni qué pierde, ni cuánto. «El auxiliar de la biblioteca lleva los préstamos en una hoja de cálculo que solo él puede abrir, y el semestre pasado se perdieron treinta y ocho cobros de multa porque nadie vio los vencimientos» sí es un problema: tiene un afectado con rol, una situación observable y una magnitud. La prueba rápida para saber si un enunciado es un problema o un deseo es preguntar si serviría igual para otro sistema cualquiera; si sirve igual, todavía no es un problema.</a:t>
            </a:r>
          </a:p>
          <a:p/>
          <a:p>
            <a:r>
              <a:t>Restricción es lo que hace que el oficio exista. Cualquiera resuelve un problema con tiempo infinito, dinero infinito y gente infinita; el trabajo aparece cuando hay tres meses, dos personas y ningún presupuesto. Las restricciones típicas son tiempo, dinero, personas disponibles, energía, capacidad de red, y también la ley: una solución que trate datos personales de terceros en Colombia está sujeta a la normativa de protección de datos, y eso limita el diseño igual que limita un presupuesto. Si un estudiante presenta una propuesta sin nombrar ninguna restricción, no presentó una propuesta de ingeniería.</a:t>
            </a:r>
          </a:p>
          <a:p/>
          <a:p>
            <a:r>
              <a:t>Consecuencia es la palabra que este programa toma en serio y muchos cursos técnicos no. Toda decisión de diseño reparte beneficios y costos entre personas distintas: un sistema de turnos que solo funciona en aplicación móvil excluye a quien no tiene teléfono con datos; un modelo que decide a quién se le aprueba un crédito hereda el sesgo de los datos con los que se entrenó; un servicio que se despliega sin apagar los servidores que dejó de usar gasta energía indefinidamente. Es útil dar un dato concreto porque el estudiante lo recuerda: según la Agencia Internacional de Energía, los centros de datos consumieron en 2024 alrededor del 1,5 % de la electricidad mundial, y esa cifra viene creciendo con la demanda de inteligencia artificial. El software no es inmaterial: se paga en kilovatios. Este hilo es el que abren las sesiones 4 y 5, dedicadas a ética y a sostenibilidad.</a:t>
            </a:r>
          </a:p>
          <a:p/>
          <a:p>
            <a:r>
              <a:t>Sobre la palabra «sistemas» conviene una aclaración breve y no extenderse, porque el detalle histórico es el tema de la sesión 2. La expresión ingeniería de sistemas nace en los años cuarenta en proyectos de telecomunicaciones y defensa que se volvieron demasiado grandes para una sola especialidad: había que coordinar decisiones que ninguna disciplina individual podía tomar sola. En Colombia el título de Ingeniería de Sistemas se orienta sobre todo a computación, software y datos, más cerca de lo que en el mundo anglosajón se llama ingeniería de software o computación que de la ingeniería de sistemas original. Vale decirlo hoy porque el estudiante que busque «systems engineering» en internet va a encontrar otra cosa y conviene que sepa por qué.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CINCO CAMPOS DE ACCIÓN, Y POR QUÉ SE SORTEAN EN VEZ DE ELEGIRSE</a:t>
            </a:r>
          </a:p>
          <a:p/>
          <a:p>
            <a:r>
              <a:t>Los cinco campos que este curso usa como mapa del perfil son desarrollo de software, datos e inteligencia artificial, infraestructura y nube, ciberseguridad, y gestión de proyectos y consultoría. No son las únicas categorías posibles ni una taxonomía oficial: son cinco divisiones reconocibles en las ofertas de empleo del país y, sobre todo, son cinco, que es exactamente el número de equipos del curso. Conviene decir en clase que es un mapa práctico y no una verdad, porque un estudiante puede preguntar por robótica, videojuegos o bioinformática, y la respuesta honesta es que son combinaciones de estos cinco vistas desde un dominio de aplicación.</a:t>
            </a:r>
          </a:p>
          <a:p/>
          <a:p>
            <a:r>
              <a:t>De cada campo el docente necesita poder decir dos cosas sin leer: qué hace alguien de ese campo en un día de trabajo, y qué se rompe si lo hace mal. Desarrollo de software traduce una necesidad en un programa que funciona y se puede mantener; si se hace mal, queda un sistema que funciona para quien lo escribió y no para quien lo usa, y se abandona. Datos e inteligencia artificial reúne información dispersa y construye con ella algo que ayude a decidir; si se hace mal, un modelo entrenado con datos sesgados repite el sesgo a escala y con apariencia de objetividad, que es peor que no tener modelo. Infraestructura y nube decide dónde corre el sistema y qué pasa cuando algo se cae; si se hace mal, un solo fallo borra años de información porque el respaldo existía en el papel pero nunca se probó. Ciberseguridad busca cómo podría ser atacado el sistema antes de que otro lo encuentre; si se hace mal, se filtran datos personales que no se pueden devolver, y el daño lo sufre la persona afectada, no la empresa. Gestión de proyectos coordina gente, plazos y dinero, y traduce entre quien tiene el problema y quien construye; si se hace mal, se promete un alcance imposible y se entrega tarde, incompleto, o a costa de la salud del equipo.</a:t>
            </a:r>
          </a:p>
          <a:p/>
          <a:p>
            <a:r>
              <a:t>Hay una confusión asociada a cada campo que conviene nombrar porque los estudiantes la traen. Que desarrollar es solo escribir código, cuando escribir es la parte corta. Que la inteligencia artificial decide sola, cuando decide sobre los datos que alguien eligió darle. Que la nube es internet o el disco de otra persona, cuando es un modelo de pago por uso en el que cada decisión de diseño cambia la factura. Que ciberseguridad es un antivirus, cuando la mayoría de las fugas empieza en un permiso mal configurado. Y que gestión de proyectos es el puesto de quien no hace nada técnico, cuando sin criterio técnico es imposible decidir qué se recorta sin romper el resto.</a:t>
            </a:r>
          </a:p>
          <a:p/>
          <a:p>
            <a:r>
              <a:t>El campo de cada equipo se sortea delante del curso y no se elige, y la razón hay que darla porque alguien va a protestar. En primer semestre nadie tiene todavía información para elegir bien: elegir se parecería a repartirse por lo que suena mejor, y en la práctica los cinco equipos pedirían inteligencia artificial. Sortear garantiza que las cinco exposiciones cubran el mapa completo y que ningún campo quede sin explorar. Vale añadir, porque tranquiliza, que el campo sorteado no compromete el proyecto del semestre: es el objeto de la ficha de hoy, no el tema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MÉTODO DEL CURSO Y EL PROYECTO QUE SE EVALÚA</a:t>
            </a:r>
          </a:p>
          <a:p/>
          <a:p>
            <a:r>
              <a:t>El curso corre con la estrategia de Aprendizaje Basado en Proyectos, y eso tiene una consecuencia que hay que declarar hoy: la teoría de cada sesión entra porque el proyecto la necesita, no al revés. El proyecto es una propuesta de mejora tecnológica para un problema real del entorno del equipo, y no exige programar nada: exige diseñarla, evaluar su impacto y defenderla. Que no se programe es deliberado y conviene explicarlo, porque el estudiante que ya programa va a querer construir: en primer semestre el grupo todavía no tiene las herramientas técnicas, y si el proyecto se juzgara por lo construido, ganaría quien llegó sabiendo y el curso no habría enseñado nada.</a:t>
            </a:r>
          </a:p>
          <a:p/>
          <a:p>
            <a:r>
              <a:t>El método tiene cuatro pasos y son los mismos cuatro que la ficha de hoy practica en miniatura. Observar el entorno hasta encontrar algo que funciona mal para alguien concreto. Medir el dolor con un número, aunque sea estimado, porque sin número no hay contra qué comparar la solución después. Decidir una solución y decir su precio, es decir, qué se sacrifica, porque toda solución sacrifica algo y la propuesta correcta es la que lo dice. Y responder por las consecuencias: quién gana, quién pierde, qué energía gasta, qué datos toca.</a:t>
            </a:r>
          </a:p>
          <a:p/>
          <a:p>
            <a:r>
              <a:t>El arco del semestre conviene tenerlo claro para poder responder cuándo se hace cada cosa. En la sesión 6 se entrega el problema y la propuesta inicial, y ahí cierra el primer corte. Entre las sesiones 7 y 11 entra el ciclo de vida de un proyecto y se produce un prototipo, con lo que cierra el segundo corte. Entre las 12 y la 14 se evalúa el impacto de la propuesta y se ensaya. La 15 es la exposición final y la 16 el informe. Todo eso descansa sobre lo que se escriba hoy en el bloque «problema del entorno» de la ficha, y por eso ese bloque vale el treinta por ciento de la actividad de hoy: es la semilla, y una semilla vaga produce cinco meses de proyecto vago.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MÉTODO DEL CURSO Y EL PROYECTO QUE SE EVALÚA</a:t>
            </a:r>
          </a:p>
          <a:p/>
          <a:p>
            <a:r>
              <a:t>El curso corre con la estrategia de Aprendizaje Basado en Proyectos, y eso tiene una consecuencia que hay que declarar hoy: la teoría de cada sesión entra porque el proyecto la necesita, no al revés. El proyecto es una propuesta de mejora tecnológica para un problema real del entorno del equipo, y no exige programar nada: exige diseñarla, evaluar su impacto y defenderla. Que no se programe es deliberado y conviene explicarlo, porque el estudiante que ya programa va a querer construir: en primer semestre el grupo todavía no tiene las herramientas técnicas, y si el proyecto se juzgara por lo construido, ganaría quien llegó sabiendo y el curso no habría enseñado nada.</a:t>
            </a:r>
          </a:p>
          <a:p/>
          <a:p>
            <a:r>
              <a:t>El método tiene cuatro pasos y son los mismos cuatro que la ficha de hoy practica en miniatura. Observar el entorno hasta encontrar algo que funciona mal para alguien concreto. Medir el dolor con un número, aunque sea estimado, porque sin número no hay contra qué comparar la solución después. Decidir una solución y decir su precio, es decir, qué se sacrifica, porque toda solución sacrifica algo y la propuesta correcta es la que lo dice. Y responder por las consecuencias: quién gana, quién pierde, qué energía gasta, qué datos toca.</a:t>
            </a:r>
          </a:p>
          <a:p/>
          <a:p>
            <a:r>
              <a:t>El arco del semestre conviene tenerlo claro para poder responder cuándo se hace cada cosa. En la sesión 6 se entrega el problema y la propuesta inicial, y ahí cierra el primer corte. Entre las sesiones 7 y 11 entra el ciclo de vida de un proyecto y se produce un prototipo, con lo que cierra el segundo corte. Entre las 12 y la 14 se evalúa el impacto de la propuesta y se ensaya. La 15 es la exposición final y la 16 el informe. Todo eso descansa sobre lo que se escriba hoy en el bloque «problema del entorno» de la ficha, y por eso ese bloque vale el treinta por ciento de la actividad de hoy: es la semilla, y una semilla vaga produce cinco meses de proyecto vago.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EQUIPOS: POR QUÉ CINCO, POR QUÉ ESTABLES Y QUÉ QUEDA LISTO HOY</a:t>
            </a:r>
          </a:p>
          <a:p/>
          <a:p>
            <a:r>
              <a:t>El número de equipos es fijo en cinco y el tamaño es lo que varía con la cantidad de matriculados. La aritmética es la razón y conviene mostrarla en pantalla, porque planteada así nadie discute: cinco equipos por tres minutos son quince minutos de exposición, y el bloque de noventa minutos ya tiene comprometidos diez de apertura, cuarenta y cinco de teoría, diecisiete de actividad y tres de cierre. Si en vez del número se fijara el tamaño —«de cuatro en cuatro», que es lo que se hace por costumbre—, un grupo de treinta y cinco matriculados daría nueve equipos y veintisiete minutos de exposición, y la sesión se pasaría doce minutos todas las semanas. La única excepción prevista es un grupo con menos de diez matriculados, donde se baja a cuatro equipos y los tres minutos liberados se suman a la actividad.</a:t>
            </a:r>
          </a:p>
          <a:p/>
          <a:p>
            <a:r>
              <a:t>Los equipos son estables todo el semestre porque el proyecto es del equipo: cambiar de equipo en la sesión nueve significa empezar el proyecto de cero con cinco sesiones por delante. Lo que rota es el vocero, cada sesión, y se anota en la bitácora del equipo. Esa rotación no es un detalle administrativo: es lo que impide que exponga siempre el mismo y que los demás lleguen a la sesión quince sin haber hablado nunca en público. Con quince sesiones y cinco integrantes, cada persona expone al menos dos veces.</a:t>
            </a:r>
          </a:p>
          <a:p/>
          <a:p>
            <a:r>
              <a:t>Al conformar los equipos hoy conviene mezclar en vez de dejar que se agrupen por afinidad, y hay dos criterios concretos. El primero es el acceso a un computador: si los equipos se forman por amistad, es probable que quede un equipo entero sin equipo propio, y ese equipo va a arrastrar el problema quince semanas. Los tres últimos ítems del diagnóstico dan justamente ese dato. El segundo es la jornada laboral: un equipo en el que las cinco personas trabajan de día no va a poder reunirse fuera de clase, así que conviene repartir. Con eso, tres cosas tienen que quedar listas antes del cierre de hoy: los integrantes de cada equipo, la carpeta compartida en la nube con permiso de lectura para el docente, y el vocero de la sesión.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1</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Presentación del curso y diagnóstico inicial</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¿Qué hace un ingeniero de sistemas y para qué sirve lo que hace?</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Agenda de hoy (90 min)</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El reloj arranca 10 min después de la hora oficial de su grupo. La estructura es la misma las 16 sesiones.</a:t>
            </a:r>
          </a:p>
        </p:txBody>
      </p:sp>
      <p:sp>
        <p:nvSpPr>
          <p:cNvPr id="6" name="Rectangle 5"/>
          <p:cNvSpPr/>
          <p:nvPr/>
        </p:nvSpPr>
        <p:spPr>
          <a:xfrm>
            <a:off x="457200" y="2386584"/>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250670"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63624"/>
            <a:ext cx="1879549" cy="502920"/>
          </a:xfrm>
          <a:prstGeom prst="rect">
            <a:avLst/>
          </a:prstGeom>
          <a:noFill/>
        </p:spPr>
        <p:txBody>
          <a:bodyPr wrap="square">
            <a:spAutoFit/>
          </a:bodyPr>
          <a:lstStyle/>
          <a:p>
            <a:pPr algn="ctr"/>
            <a:r>
              <a:rPr sz="1300" b="1" i="0">
                <a:solidFill>
                  <a:srgbClr val="095292"/>
                </a:solidFill>
                <a:latin typeface="Calibri"/>
              </a:rPr>
              <a:t>00:00–00:10 · 10 min</a:t>
            </a:r>
          </a:p>
        </p:txBody>
      </p:sp>
      <p:sp>
        <p:nvSpPr>
          <p:cNvPr id="9" name="TextBox 8"/>
          <p:cNvSpPr txBox="1"/>
          <p:nvPr/>
        </p:nvSpPr>
        <p:spPr>
          <a:xfrm>
            <a:off x="502920" y="2798064"/>
            <a:ext cx="1788109" cy="3099816"/>
          </a:xfrm>
          <a:prstGeom prst="rect">
            <a:avLst/>
          </a:prstGeom>
          <a:noFill/>
        </p:spPr>
        <p:txBody>
          <a:bodyPr wrap="square">
            <a:spAutoFit/>
          </a:bodyPr>
          <a:lstStyle/>
          <a:p>
            <a:pPr algn="ctr"/>
            <a:r>
              <a:rPr sz="1300" b="1" i="0">
                <a:solidFill>
                  <a:srgbClr val="333333"/>
                </a:solidFill>
                <a:latin typeface="Calibri"/>
              </a:rPr>
              <a:t>Apertura</a:t>
            </a:r>
            <a:r>
              <a:rPr sz="1300" b="0" i="0">
                <a:solidFill>
                  <a:srgbClr val="333333"/>
                </a:solidFill>
                <a:latin typeface="Calibri"/>
              </a:rPr>
              <a:t> — pregunta de entrada en el muro mientras llegan</a:t>
            </a:r>
          </a:p>
        </p:txBody>
      </p:sp>
      <p:sp>
        <p:nvSpPr>
          <p:cNvPr id="10" name="Rounded Rectangle 9"/>
          <p:cNvSpPr/>
          <p:nvPr/>
        </p:nvSpPr>
        <p:spPr>
          <a:xfrm>
            <a:off x="3130219"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36749" y="1563624"/>
            <a:ext cx="1879549" cy="502920"/>
          </a:xfrm>
          <a:prstGeom prst="rect">
            <a:avLst/>
          </a:prstGeom>
          <a:noFill/>
        </p:spPr>
        <p:txBody>
          <a:bodyPr wrap="square">
            <a:spAutoFit/>
          </a:bodyPr>
          <a:lstStyle/>
          <a:p>
            <a:pPr algn="ctr"/>
            <a:r>
              <a:rPr sz="1300" b="1" i="0">
                <a:solidFill>
                  <a:srgbClr val="095292"/>
                </a:solidFill>
                <a:latin typeface="Calibri"/>
              </a:rPr>
              <a:t>00:10–00:40 · 30 min</a:t>
            </a:r>
          </a:p>
        </p:txBody>
      </p:sp>
      <p:sp>
        <p:nvSpPr>
          <p:cNvPr id="12" name="TextBox 11"/>
          <p:cNvSpPr txBox="1"/>
          <p:nvPr/>
        </p:nvSpPr>
        <p:spPr>
          <a:xfrm>
            <a:off x="2382469" y="2798064"/>
            <a:ext cx="1788109" cy="3099816"/>
          </a:xfrm>
          <a:prstGeom prst="rect">
            <a:avLst/>
          </a:prstGeom>
          <a:noFill/>
        </p:spPr>
        <p:txBody>
          <a:bodyPr wrap="square">
            <a:spAutoFit/>
          </a:bodyPr>
          <a:lstStyle/>
          <a:p>
            <a:pPr algn="ctr"/>
            <a:r>
              <a:rPr sz="1300" b="1" i="0">
                <a:solidFill>
                  <a:srgbClr val="333333"/>
                </a:solidFill>
                <a:latin typeface="Calibri"/>
              </a:rPr>
              <a:t>Encuadre + tema</a:t>
            </a:r>
            <a:r>
              <a:rPr sz="1300" b="0" i="0">
                <a:solidFill>
                  <a:srgbClr val="333333"/>
                </a:solidFill>
                <a:latin typeface="Calibri"/>
              </a:rPr>
              <a:t> — de qué es este curso y qué es la ingeniería</a:t>
            </a:r>
          </a:p>
        </p:txBody>
      </p:sp>
      <p:sp>
        <p:nvSpPr>
          <p:cNvPr id="13" name="Rounded Rectangle 12"/>
          <p:cNvSpPr/>
          <p:nvPr/>
        </p:nvSpPr>
        <p:spPr>
          <a:xfrm>
            <a:off x="5009769"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16298" y="1563624"/>
            <a:ext cx="1879549" cy="502920"/>
          </a:xfrm>
          <a:prstGeom prst="rect">
            <a:avLst/>
          </a:prstGeom>
          <a:noFill/>
        </p:spPr>
        <p:txBody>
          <a:bodyPr wrap="square">
            <a:spAutoFit/>
          </a:bodyPr>
          <a:lstStyle/>
          <a:p>
            <a:pPr algn="ctr"/>
            <a:r>
              <a:rPr sz="1300" b="1" i="0">
                <a:solidFill>
                  <a:srgbClr val="095292"/>
                </a:solidFill>
                <a:latin typeface="Calibri"/>
              </a:rPr>
              <a:t>00:40–00:55 · 15 min</a:t>
            </a:r>
          </a:p>
        </p:txBody>
      </p:sp>
      <p:sp>
        <p:nvSpPr>
          <p:cNvPr id="15" name="TextBox 14"/>
          <p:cNvSpPr txBox="1"/>
          <p:nvPr/>
        </p:nvSpPr>
        <p:spPr>
          <a:xfrm>
            <a:off x="4262018" y="2798064"/>
            <a:ext cx="1788109" cy="3099816"/>
          </a:xfrm>
          <a:prstGeom prst="rect">
            <a:avLst/>
          </a:prstGeom>
          <a:noFill/>
        </p:spPr>
        <p:txBody>
          <a:bodyPr wrap="square">
            <a:spAutoFit/>
          </a:bodyPr>
          <a:lstStyle/>
          <a:p>
            <a:pPr algn="ctr"/>
            <a:r>
              <a:rPr sz="1300" b="1" i="0">
                <a:solidFill>
                  <a:srgbClr val="333333"/>
                </a:solidFill>
                <a:latin typeface="Calibri"/>
              </a:rPr>
              <a:t>Diagnóstico</a:t>
            </a:r>
            <a:r>
              <a:rPr sz="1300" b="0" i="0">
                <a:solidFill>
                  <a:srgbClr val="333333"/>
                </a:solidFill>
                <a:latin typeface="Calibri"/>
              </a:rPr>
              <a:t> — 13 preguntas, no tiene nota</a:t>
            </a:r>
          </a:p>
        </p:txBody>
      </p:sp>
      <p:sp>
        <p:nvSpPr>
          <p:cNvPr id="16" name="Rounded Rectangle 15"/>
          <p:cNvSpPr/>
          <p:nvPr/>
        </p:nvSpPr>
        <p:spPr>
          <a:xfrm>
            <a:off x="6889318"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5847" y="1563624"/>
            <a:ext cx="1879549" cy="502920"/>
          </a:xfrm>
          <a:prstGeom prst="rect">
            <a:avLst/>
          </a:prstGeom>
          <a:noFill/>
        </p:spPr>
        <p:txBody>
          <a:bodyPr wrap="square">
            <a:spAutoFit/>
          </a:bodyPr>
          <a:lstStyle/>
          <a:p>
            <a:pPr algn="ctr"/>
            <a:r>
              <a:rPr sz="1300" b="1" i="0">
                <a:solidFill>
                  <a:srgbClr val="095292"/>
                </a:solidFill>
                <a:latin typeface="Calibri"/>
              </a:rPr>
              <a:t>00:55–01:12 · 17 min</a:t>
            </a:r>
          </a:p>
        </p:txBody>
      </p:sp>
      <p:sp>
        <p:nvSpPr>
          <p:cNvPr id="18" name="TextBox 17"/>
          <p:cNvSpPr txBox="1"/>
          <p:nvPr/>
        </p:nvSpPr>
        <p:spPr>
          <a:xfrm>
            <a:off x="6141567" y="2798064"/>
            <a:ext cx="1788109" cy="3099816"/>
          </a:xfrm>
          <a:prstGeom prst="rect">
            <a:avLst/>
          </a:prstGeom>
          <a:noFill/>
        </p:spPr>
        <p:txBody>
          <a:bodyPr wrap="square">
            <a:spAutoFit/>
          </a:bodyPr>
          <a:lstStyle/>
          <a:p>
            <a:pPr algn="ctr"/>
            <a:r>
              <a:rPr sz="1300" b="1" i="0">
                <a:solidFill>
                  <a:srgbClr val="333333"/>
                </a:solidFill>
                <a:latin typeface="Calibri"/>
              </a:rPr>
              <a:t>Práctica en equipos</a:t>
            </a:r>
            <a:r>
              <a:rPr sz="1300" b="0" i="0">
                <a:solidFill>
                  <a:srgbClr val="333333"/>
                </a:solidFill>
                <a:latin typeface="Calibri"/>
              </a:rPr>
              <a:t> — opcional · la guía está en la carpeta de la clase</a:t>
            </a:r>
          </a:p>
        </p:txBody>
      </p:sp>
      <p:sp>
        <p:nvSpPr>
          <p:cNvPr id="19" name="Rounded Rectangle 18"/>
          <p:cNvSpPr/>
          <p:nvPr/>
        </p:nvSpPr>
        <p:spPr>
          <a:xfrm>
            <a:off x="8768867"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75396" y="1563624"/>
            <a:ext cx="1879549" cy="502920"/>
          </a:xfrm>
          <a:prstGeom prst="rect">
            <a:avLst/>
          </a:prstGeom>
          <a:noFill/>
        </p:spPr>
        <p:txBody>
          <a:bodyPr wrap="square">
            <a:spAutoFit/>
          </a:bodyPr>
          <a:lstStyle/>
          <a:p>
            <a:pPr algn="ctr"/>
            <a:r>
              <a:rPr sz="1300" b="1" i="0">
                <a:solidFill>
                  <a:srgbClr val="095292"/>
                </a:solidFill>
                <a:latin typeface="Calibri"/>
              </a:rPr>
              <a:t>01:12–01:27 · 15 min</a:t>
            </a:r>
          </a:p>
        </p:txBody>
      </p:sp>
      <p:sp>
        <p:nvSpPr>
          <p:cNvPr id="21" name="TextBox 20"/>
          <p:cNvSpPr txBox="1"/>
          <p:nvPr/>
        </p:nvSpPr>
        <p:spPr>
          <a:xfrm>
            <a:off x="8021116" y="2798064"/>
            <a:ext cx="1788109" cy="3099816"/>
          </a:xfrm>
          <a:prstGeom prst="rect">
            <a:avLst/>
          </a:prstGeom>
          <a:noFill/>
        </p:spPr>
        <p:txBody>
          <a:bodyPr wrap="square">
            <a:spAutoFit/>
          </a:bodyPr>
          <a:lstStyle/>
          <a:p>
            <a:pPr algn="ctr"/>
            <a:r>
              <a:rPr sz="1300" b="1" i="0">
                <a:solidFill>
                  <a:srgbClr val="333333"/>
                </a:solidFill>
                <a:latin typeface="Calibri"/>
              </a:rPr>
              <a:t>Socialización</a:t>
            </a:r>
            <a:r>
              <a:rPr sz="1300" b="0" i="0">
                <a:solidFill>
                  <a:srgbClr val="333333"/>
                </a:solidFill>
                <a:latin typeface="Calibri"/>
              </a:rPr>
              <a:t> — de la práctica, si se hizo</a:t>
            </a:r>
          </a:p>
        </p:txBody>
      </p:sp>
      <p:sp>
        <p:nvSpPr>
          <p:cNvPr id="22" name="Rounded Rectangle 21"/>
          <p:cNvSpPr/>
          <p:nvPr/>
        </p:nvSpPr>
        <p:spPr>
          <a:xfrm>
            <a:off x="10648416"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54946" y="1563624"/>
            <a:ext cx="1879549" cy="502920"/>
          </a:xfrm>
          <a:prstGeom prst="rect">
            <a:avLst/>
          </a:prstGeom>
          <a:noFill/>
        </p:spPr>
        <p:txBody>
          <a:bodyPr wrap="square">
            <a:spAutoFit/>
          </a:bodyPr>
          <a:lstStyle/>
          <a:p>
            <a:pPr algn="ctr"/>
            <a:r>
              <a:rPr sz="1300" b="1" i="0">
                <a:solidFill>
                  <a:srgbClr val="095292"/>
                </a:solidFill>
                <a:latin typeface="Calibri"/>
              </a:rPr>
              <a:t>01:27–01:30 · 3 min</a:t>
            </a:r>
          </a:p>
        </p:txBody>
      </p:sp>
      <p:sp>
        <p:nvSpPr>
          <p:cNvPr id="24" name="TextBox 23"/>
          <p:cNvSpPr txBox="1"/>
          <p:nvPr/>
        </p:nvSpPr>
        <p:spPr>
          <a:xfrm>
            <a:off x="9900666" y="2798064"/>
            <a:ext cx="1788109" cy="3099816"/>
          </a:xfrm>
          <a:prstGeom prst="rect">
            <a:avLst/>
          </a:prstGeom>
          <a:noFill/>
        </p:spPr>
        <p:txBody>
          <a:bodyPr wrap="square">
            <a:spAutoFit/>
          </a:bodyPr>
          <a:lstStyle/>
          <a:p>
            <a:pPr algn="ctr"/>
            <a:r>
              <a:rPr sz="1300" b="1" i="0">
                <a:solidFill>
                  <a:srgbClr val="333333"/>
                </a:solidFill>
                <a:latin typeface="Calibri"/>
              </a:rPr>
              <a:t>Cierre</a:t>
            </a:r>
            <a:r>
              <a:rPr sz="1300" b="0" i="0">
                <a:solidFill>
                  <a:srgbClr val="333333"/>
                </a:solidFill>
                <a:latin typeface="Calibri"/>
              </a:rPr>
              <a:t> — una idea y el tema de la sesión 2</a:t>
            </a:r>
          </a:p>
        </p:txBody>
      </p:sp>
      <p:sp>
        <p:nvSpPr>
          <p:cNvPr id="25" name="TextBox 24"/>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Bloque de </a:t>
            </a:r>
            <a:r>
              <a:rPr sz="1200" b="1" i="1">
                <a:solidFill>
                  <a:srgbClr val="666666"/>
                </a:solidFill>
                <a:latin typeface="Calibri"/>
              </a:rPr>
              <a:t>90 min</a:t>
            </a:r>
            <a:r>
              <a:rPr sz="1200" b="0" i="1">
                <a:solidFill>
                  <a:srgbClr val="666666"/>
                </a:solidFill>
                <a:latin typeface="Calibri"/>
              </a:rPr>
              <a:t> · hoy los 45 min de teoría se reparten entre encuadre (30) y diagnóstico (15)</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sesión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Distinguir la </a:t>
            </a:r>
            <a:r>
              <a:rPr sz="2000" b="1" i="0">
                <a:solidFill>
                  <a:srgbClr val="333333"/>
                </a:solidFill>
                <a:latin typeface="Calibri"/>
              </a:rPr>
              <a:t>Ingeniería de Sistemas</a:t>
            </a:r>
            <a:r>
              <a:rPr sz="2000" b="0" i="0">
                <a:solidFill>
                  <a:srgbClr val="333333"/>
                </a:solidFill>
                <a:latin typeface="Calibri"/>
              </a:rPr>
              <a:t> de la programación, y la </a:t>
            </a:r>
            <a:r>
              <a:rPr sz="2000" b="1" i="0">
                <a:solidFill>
                  <a:srgbClr val="333333"/>
                </a:solidFill>
                <a:latin typeface="Calibri"/>
              </a:rPr>
              <a:t>decisión de ingeniería</a:t>
            </a:r>
            <a:r>
              <a:rPr sz="2000" b="0" i="0">
                <a:solidFill>
                  <a:srgbClr val="333333"/>
                </a:solidFill>
                <a:latin typeface="Calibri"/>
              </a:rPr>
              <a:t> del conocimiento técnico que la soporta.</a:t>
            </a:r>
          </a:p>
          <a:p>
            <a:pPr>
              <a:spcAft>
                <a:spcPts val="800"/>
              </a:spcAft>
            </a:pPr>
            <a:r>
              <a:rPr sz="2000" b="0" i="0">
                <a:solidFill>
                  <a:srgbClr val="333333"/>
                </a:solidFill>
                <a:latin typeface="Calibri"/>
              </a:rPr>
              <a:t>–   Nombrar los </a:t>
            </a:r>
            <a:r>
              <a:rPr sz="2000" b="1" i="0">
                <a:solidFill>
                  <a:srgbClr val="333333"/>
                </a:solidFill>
                <a:latin typeface="Calibri"/>
              </a:rPr>
              <a:t>cinco campos de acción</a:t>
            </a:r>
            <a:r>
              <a:rPr sz="2000" b="0" i="0">
                <a:solidFill>
                  <a:srgbClr val="333333"/>
                </a:solidFill>
                <a:latin typeface="Calibri"/>
              </a:rPr>
              <a:t> del programa y decir, con un ejemplo, qué hace alguien que trabaja en cada uno.</a:t>
            </a:r>
          </a:p>
          <a:p>
            <a:pPr>
              <a:spcAft>
                <a:spcPts val="800"/>
              </a:spcAft>
            </a:pPr>
            <a:r>
              <a:rPr sz="2000" b="0" i="0">
                <a:solidFill>
                  <a:srgbClr val="333333"/>
                </a:solidFill>
                <a:latin typeface="Calibri"/>
              </a:rPr>
              <a:t>–   Detectar </a:t>
            </a:r>
            <a:r>
              <a:rPr sz="2000" b="1" i="0">
                <a:solidFill>
                  <a:srgbClr val="333333"/>
                </a:solidFill>
                <a:latin typeface="Calibri"/>
              </a:rPr>
              <a:t>un problema del entorno</a:t>
            </a:r>
            <a:r>
              <a:rPr sz="2000" b="0" i="0">
                <a:solidFill>
                  <a:srgbClr val="333333"/>
                </a:solidFill>
                <a:latin typeface="Calibri"/>
              </a:rPr>
              <a:t> propio y escribirlo con afectado y magnitud: es la semilla del proyecto que se evalúa en la sesión 6.</a:t>
            </a:r>
          </a:p>
          <a:p>
            <a:pPr>
              <a:spcAft>
                <a:spcPts val="800"/>
              </a:spcAft>
            </a:pPr>
            <a:r>
              <a:rPr sz="2000" b="0" i="0">
                <a:solidFill>
                  <a:srgbClr val="333333"/>
                </a:solidFill>
                <a:latin typeface="Calibri"/>
              </a:rPr>
              <a:t>–   Quedar en un </a:t>
            </a:r>
            <a:r>
              <a:rPr sz="2000" b="1" i="0">
                <a:solidFill>
                  <a:srgbClr val="333333"/>
                </a:solidFill>
                <a:latin typeface="Calibri"/>
              </a:rPr>
              <a:t>equipo estable</a:t>
            </a:r>
            <a:r>
              <a:rPr sz="2000" b="0" i="0">
                <a:solidFill>
                  <a:srgbClr val="333333"/>
                </a:solidFill>
                <a:latin typeface="Calibri"/>
              </a:rPr>
              <a:t> de los cinco del curso, con carpeta en la nube y vocero de la primera sesión definidos.</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10134295" y="320040"/>
            <a:ext cx="1645920" cy="717394"/>
          </a:xfrm>
          <a:prstGeom prst="rect">
            <a:avLst/>
          </a:prstGeom>
        </p:spPr>
      </p:pic>
      <p:sp>
        <p:nvSpPr>
          <p:cNvPr id="5" name="TextBox 4"/>
          <p:cNvSpPr txBox="1"/>
          <p:nvPr/>
        </p:nvSpPr>
        <p:spPr>
          <a:xfrm>
            <a:off x="685800" y="1280160"/>
            <a:ext cx="10820095" cy="365760"/>
          </a:xfrm>
          <a:prstGeom prst="rect">
            <a:avLst/>
          </a:prstGeom>
          <a:noFill/>
        </p:spPr>
        <p:txBody>
          <a:bodyPr wrap="square">
            <a:spAutoFit/>
          </a:bodyPr>
          <a:lstStyle/>
          <a:p>
            <a:pPr algn="ctr"/>
            <a:r>
              <a:rPr sz="1400" b="1" i="0">
                <a:solidFill>
                  <a:srgbClr val="269CCB"/>
                </a:solidFill>
                <a:latin typeface="Calibri"/>
              </a:rPr>
              <a:t>Pregunta de entrada</a:t>
            </a:r>
          </a:p>
        </p:txBody>
      </p:sp>
      <p:sp>
        <p:nvSpPr>
          <p:cNvPr id="6" name="TextBox 5"/>
          <p:cNvSpPr txBox="1"/>
          <p:nvPr/>
        </p:nvSpPr>
        <p:spPr>
          <a:xfrm>
            <a:off x="685800" y="1828800"/>
            <a:ext cx="10820095" cy="2011680"/>
          </a:xfrm>
          <a:prstGeom prst="rect">
            <a:avLst/>
          </a:prstGeom>
          <a:noFill/>
        </p:spPr>
        <p:txBody>
          <a:bodyPr wrap="square" anchor="ctr"/>
          <a:lstStyle/>
          <a:p>
            <a:pPr algn="ctr"/>
            <a:r>
              <a:rPr sz="2800" b="1" i="0">
                <a:solidFill>
                  <a:srgbClr val="FFFFFF"/>
                </a:solidFill>
                <a:latin typeface="Calibri"/>
              </a:rPr>
              <a:t>¿Qué hace un ingeniero de sistemas un martes a las 10 de la mañana?</a:t>
            </a:r>
          </a:p>
        </p:txBody>
      </p:sp>
      <p:sp>
        <p:nvSpPr>
          <p:cNvPr id="7" name="TextBox 6"/>
          <p:cNvSpPr txBox="1"/>
          <p:nvPr/>
        </p:nvSpPr>
        <p:spPr>
          <a:xfrm>
            <a:off x="822960" y="4114800"/>
            <a:ext cx="10545775" cy="1645920"/>
          </a:xfrm>
          <a:prstGeom prst="rect">
            <a:avLst/>
          </a:prstGeom>
          <a:noFill/>
        </p:spPr>
        <p:txBody>
          <a:bodyPr wrap="square">
            <a:spAutoFit/>
          </a:bodyPr>
          <a:lstStyle/>
          <a:p>
            <a:pPr algn="ctr">
              <a:spcAft>
                <a:spcPts val="600"/>
              </a:spcAft>
            </a:pPr>
            <a:r>
              <a:rPr sz="1500" b="0" i="0">
                <a:solidFill>
                  <a:srgbClr val="269CCB"/>
                </a:solidFill>
                <a:latin typeface="Calibri"/>
              </a:rPr>
              <a:t>Escríbanlo en el muro del curso, en una frase, desde el celular.</a:t>
            </a:r>
          </a:p>
          <a:p>
            <a:pPr algn="ctr">
              <a:spcAft>
                <a:spcPts val="600"/>
              </a:spcAft>
            </a:pPr>
            <a:r>
              <a:rPr sz="1500" b="0" i="0">
                <a:solidFill>
                  <a:srgbClr val="269CCB"/>
                </a:solidFill>
                <a:latin typeface="Calibri"/>
              </a:rPr>
              <a:t>No hay respuesta correcta. Volvemos a este muro en 30 minutos.</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diagnóstico de hoy: qué es y qué no es</a:t>
            </a:r>
          </a:p>
        </p:txBody>
      </p:sp>
      <p:sp>
        <p:nvSpPr>
          <p:cNvPr id="5" name="Rounded Rectangle 4"/>
          <p:cNvSpPr/>
          <p:nvPr/>
        </p:nvSpPr>
        <p:spPr>
          <a:xfrm>
            <a:off x="457200" y="1261872"/>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28016" cy="105156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99031"/>
            <a:ext cx="10774375" cy="822959"/>
          </a:xfrm>
          <a:prstGeom prst="rect">
            <a:avLst/>
          </a:prstGeom>
          <a:noFill/>
        </p:spPr>
        <p:txBody>
          <a:bodyPr wrap="square">
            <a:spAutoFit/>
          </a:bodyPr>
          <a:lstStyle/>
          <a:p>
            <a:r>
              <a:rPr sz="1200" b="1" i="0">
                <a:solidFill>
                  <a:srgbClr val="269CCB"/>
                </a:solidFill>
                <a:latin typeface="Calibri"/>
              </a:rPr>
              <a:t>Info</a:t>
            </a:r>
          </a:p>
          <a:p>
            <a:pPr>
              <a:spcBef>
                <a:spcPts val="400"/>
              </a:spcBef>
            </a:pPr>
            <a:r>
              <a:rPr sz="1400" b="1" i="0">
                <a:solidFill>
                  <a:srgbClr val="333333"/>
                </a:solidFill>
                <a:latin typeface="Calibri"/>
              </a:rPr>
              <a:t>Son 13 preguntas y 15 minutos.</a:t>
            </a:r>
            <a:r>
              <a:rPr sz="1400" b="0" i="0">
                <a:solidFill>
                  <a:srgbClr val="333333"/>
                </a:solidFill>
                <a:latin typeface="Calibri"/>
              </a:rPr>
              <a:t> Tres bloques: qué creen que es la ingeniería, qué saben ya, y en qué condiciones van a trabajar este semestre.</a:t>
            </a:r>
          </a:p>
        </p:txBody>
      </p:sp>
      <p:sp>
        <p:nvSpPr>
          <p:cNvPr id="8" name="Rounded Rectangle 7"/>
          <p:cNvSpPr/>
          <p:nvPr/>
        </p:nvSpPr>
        <p:spPr>
          <a:xfrm>
            <a:off x="457200" y="2478024"/>
            <a:ext cx="11277295" cy="1051560"/>
          </a:xfrm>
          <a:prstGeom prst="roundRect">
            <a:avLst>
              <a:gd name="adj" fmla="val 12000"/>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78024"/>
            <a:ext cx="128016" cy="105156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15184"/>
            <a:ext cx="10774375" cy="822959"/>
          </a:xfrm>
          <a:prstGeom prst="rect">
            <a:avLst/>
          </a:prstGeom>
          <a:noFill/>
        </p:spPr>
        <p:txBody>
          <a:bodyPr wrap="square">
            <a:spAutoFit/>
          </a:bodyPr>
          <a:lstStyle/>
          <a:p>
            <a:r>
              <a:rPr sz="1200" b="1" i="0">
                <a:solidFill>
                  <a:srgbClr val="FFD000"/>
                </a:solidFill>
                <a:latin typeface="Calibri"/>
              </a:rPr>
              <a:t>Aclaración</a:t>
            </a:r>
          </a:p>
          <a:p>
            <a:pPr>
              <a:spcBef>
                <a:spcPts val="400"/>
              </a:spcBef>
            </a:pPr>
            <a:r>
              <a:rPr sz="1400" b="1" i="0">
                <a:solidFill>
                  <a:srgbClr val="333333"/>
                </a:solidFill>
                <a:latin typeface="Calibri"/>
              </a:rPr>
              <a:t>No tiene nota. Ni suma ni resta.</a:t>
            </a:r>
            <a:r>
              <a:rPr sz="1400" b="0" i="0">
                <a:solidFill>
                  <a:srgbClr val="333333"/>
                </a:solidFill>
                <a:latin typeface="Calibri"/>
              </a:rPr>
              <a:t> No se espera que sepan las respuestas: si las supieran, este curso no tendría razón de existir. «No sé» es una respuesta válida y útil.</a:t>
            </a:r>
          </a:p>
        </p:txBody>
      </p:sp>
      <p:sp>
        <p:nvSpPr>
          <p:cNvPr id="11" name="Rounded Rectangle 10"/>
          <p:cNvSpPr/>
          <p:nvPr/>
        </p:nvSpPr>
        <p:spPr>
          <a:xfrm>
            <a:off x="457200" y="3694176"/>
            <a:ext cx="11277295" cy="1051560"/>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94176"/>
            <a:ext cx="128016" cy="105156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831336"/>
            <a:ext cx="10774375" cy="822959"/>
          </a:xfrm>
          <a:prstGeom prst="rect">
            <a:avLst/>
          </a:prstGeom>
          <a:noFill/>
        </p:spPr>
        <p:txBody>
          <a:bodyPr wrap="square">
            <a:spAutoFit/>
          </a:bodyPr>
          <a:lstStyle/>
          <a:p>
            <a:r>
              <a:rPr sz="1200" b="1" i="0">
                <a:solidFill>
                  <a:srgbClr val="A02030"/>
                </a:solidFill>
                <a:latin typeface="Calibri"/>
              </a:rPr>
              <a:t>Atención</a:t>
            </a:r>
          </a:p>
          <a:p>
            <a:pPr>
              <a:spcBef>
                <a:spcPts val="400"/>
              </a:spcBef>
            </a:pPr>
            <a:r>
              <a:rPr sz="1400" b="1" i="0">
                <a:solidFill>
                  <a:srgbClr val="333333"/>
                </a:solidFill>
                <a:latin typeface="Calibri"/>
              </a:rPr>
              <a:t>No respondan lo que creen que el profesor quiere leer.</a:t>
            </a:r>
            <a:r>
              <a:rPr sz="1400" b="0" i="0">
                <a:solidFill>
                  <a:srgbClr val="333333"/>
                </a:solidFill>
                <a:latin typeface="Calibri"/>
              </a:rPr>
              <a:t> Con estos datos se planean las 15 sesiones que siguen: una respuesta de adorno hace que el curso se planee mal.</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Ingeniería de Sistemas no es programación</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La confusión más costosa del primer semestre · se desarma hoy</a:t>
            </a:r>
          </a:p>
        </p:txBody>
      </p:sp>
      <p:sp>
        <p:nvSpPr>
          <p:cNvPr id="6" name="Rounded Rectangle 5"/>
          <p:cNvSpPr/>
          <p:nvPr/>
        </p:nvSpPr>
        <p:spPr>
          <a:xfrm>
            <a:off x="457200" y="1472184"/>
            <a:ext cx="5478627" cy="4882896"/>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72184"/>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63624"/>
            <a:ext cx="5204307" cy="365760"/>
          </a:xfrm>
          <a:prstGeom prst="rect">
            <a:avLst/>
          </a:prstGeom>
          <a:noFill/>
        </p:spPr>
        <p:txBody>
          <a:bodyPr wrap="square" anchor="ctr"/>
          <a:lstStyle/>
          <a:p>
            <a:pPr algn="ctr"/>
            <a:r>
              <a:rPr sz="1600" b="1" i="0">
                <a:solidFill>
                  <a:srgbClr val="FFFFFF"/>
                </a:solidFill>
                <a:latin typeface="Calibri"/>
              </a:rPr>
              <a:t>Lo que casi todos creen</a:t>
            </a:r>
          </a:p>
        </p:txBody>
      </p:sp>
      <p:sp>
        <p:nvSpPr>
          <p:cNvPr id="9" name="TextBox 8"/>
          <p:cNvSpPr txBox="1"/>
          <p:nvPr/>
        </p:nvSpPr>
        <p:spPr>
          <a:xfrm>
            <a:off x="621792" y="2112263"/>
            <a:ext cx="5158587" cy="4288536"/>
          </a:xfrm>
          <a:prstGeom prst="rect">
            <a:avLst/>
          </a:prstGeom>
          <a:noFill/>
        </p:spPr>
        <p:txBody>
          <a:bodyPr wrap="square">
            <a:spAutoFit/>
          </a:bodyPr>
          <a:lstStyle/>
          <a:p>
            <a:pPr>
              <a:spcAft>
                <a:spcPts val="800"/>
              </a:spcAft>
            </a:pPr>
            <a:r>
              <a:rPr sz="1300" b="0" i="0">
                <a:solidFill>
                  <a:srgbClr val="333333"/>
                </a:solidFill>
                <a:latin typeface="Calibri"/>
              </a:rPr>
              <a:t>–   «Es programar todo el día.»</a:t>
            </a:r>
          </a:p>
          <a:p>
            <a:pPr>
              <a:spcAft>
                <a:spcPts val="800"/>
              </a:spcAft>
            </a:pPr>
            <a:r>
              <a:rPr sz="1300" b="0" i="0">
                <a:solidFill>
                  <a:srgbClr val="333333"/>
                </a:solidFill>
                <a:latin typeface="Calibri"/>
              </a:rPr>
              <a:t>–   «Es arreglar computadores e instalar Windows.»</a:t>
            </a:r>
          </a:p>
          <a:p>
            <a:pPr>
              <a:spcAft>
                <a:spcPts val="800"/>
              </a:spcAft>
            </a:pPr>
            <a:r>
              <a:rPr sz="1300" b="0" i="0">
                <a:solidFill>
                  <a:srgbClr val="333333"/>
                </a:solidFill>
                <a:latin typeface="Calibri"/>
              </a:rPr>
              <a:t>–   «El que sabe más lenguajes es el mejor ingeniero.»</a:t>
            </a:r>
          </a:p>
          <a:p>
            <a:pPr>
              <a:spcAft>
                <a:spcPts val="800"/>
              </a:spcAft>
            </a:pPr>
            <a:r>
              <a:rPr sz="1300" b="0" i="0">
                <a:solidFill>
                  <a:srgbClr val="333333"/>
                </a:solidFill>
                <a:latin typeface="Calibri"/>
              </a:rPr>
              <a:t>–   «Lo técnico es lo difícil; hablar con la gente es lo fácil.»</a:t>
            </a:r>
          </a:p>
          <a:p>
            <a:pPr>
              <a:spcAft>
                <a:spcPts val="800"/>
              </a:spcAft>
            </a:pPr>
            <a:r>
              <a:rPr sz="1300" b="0" i="0">
                <a:solidFill>
                  <a:srgbClr val="333333"/>
                </a:solidFill>
                <a:latin typeface="Calibri"/>
              </a:rPr>
              <a:t>–   «La respuesta correcta existe y está en internet.»</a:t>
            </a:r>
          </a:p>
        </p:txBody>
      </p:sp>
      <p:sp>
        <p:nvSpPr>
          <p:cNvPr id="10" name="Rounded Rectangle 9"/>
          <p:cNvSpPr/>
          <p:nvPr/>
        </p:nvSpPr>
        <p:spPr>
          <a:xfrm>
            <a:off x="6255867" y="1472184"/>
            <a:ext cx="5478627" cy="4882896"/>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55867" y="1472184"/>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3027" y="1563624"/>
            <a:ext cx="5204307" cy="365760"/>
          </a:xfrm>
          <a:prstGeom prst="rect">
            <a:avLst/>
          </a:prstGeom>
          <a:noFill/>
        </p:spPr>
        <p:txBody>
          <a:bodyPr wrap="square" anchor="ctr"/>
          <a:lstStyle/>
          <a:p>
            <a:pPr algn="ctr"/>
            <a:r>
              <a:rPr sz="1600" b="1" i="0">
                <a:solidFill>
                  <a:srgbClr val="FFFFFF"/>
                </a:solidFill>
                <a:latin typeface="Calibri"/>
              </a:rPr>
              <a:t>Lo que realmente es</a:t>
            </a:r>
          </a:p>
        </p:txBody>
      </p:sp>
      <p:sp>
        <p:nvSpPr>
          <p:cNvPr id="13" name="TextBox 12"/>
          <p:cNvSpPr txBox="1"/>
          <p:nvPr/>
        </p:nvSpPr>
        <p:spPr>
          <a:xfrm>
            <a:off x="6420459" y="2112263"/>
            <a:ext cx="5158587" cy="4288536"/>
          </a:xfrm>
          <a:prstGeom prst="rect">
            <a:avLst/>
          </a:prstGeom>
          <a:noFill/>
        </p:spPr>
        <p:txBody>
          <a:bodyPr wrap="square">
            <a:spAutoFit/>
          </a:bodyPr>
          <a:lstStyle/>
          <a:p>
            <a:pPr>
              <a:spcAft>
                <a:spcPts val="800"/>
              </a:spcAft>
            </a:pPr>
            <a:r>
              <a:rPr sz="1300" b="0" i="0">
                <a:solidFill>
                  <a:srgbClr val="333333"/>
                </a:solidFill>
                <a:latin typeface="Calibri"/>
              </a:rPr>
              <a:t>–   Programar es </a:t>
            </a:r>
            <a:r>
              <a:rPr sz="1300" b="1" i="0">
                <a:solidFill>
                  <a:srgbClr val="333333"/>
                </a:solidFill>
                <a:latin typeface="Calibri"/>
              </a:rPr>
              <a:t>una</a:t>
            </a:r>
            <a:r>
              <a:rPr sz="1300" b="0" i="0">
                <a:solidFill>
                  <a:srgbClr val="333333"/>
                </a:solidFill>
                <a:latin typeface="Calibri"/>
              </a:rPr>
              <a:t> de las cinco áreas, y en las otras cuatro se programa poco.</a:t>
            </a:r>
          </a:p>
          <a:p>
            <a:pPr>
              <a:spcAft>
                <a:spcPts val="800"/>
              </a:spcAft>
            </a:pPr>
            <a:r>
              <a:rPr sz="1300" b="0" i="0">
                <a:solidFill>
                  <a:srgbClr val="333333"/>
                </a:solidFill>
                <a:latin typeface="Calibri"/>
              </a:rPr>
              <a:t>–   Eso es soporte técnico: un oficio válido y distinto, que no requiere este título.</a:t>
            </a:r>
          </a:p>
          <a:p>
            <a:pPr>
              <a:spcAft>
                <a:spcPts val="800"/>
              </a:spcAft>
            </a:pPr>
            <a:r>
              <a:rPr sz="1300" b="0" i="0">
                <a:solidFill>
                  <a:srgbClr val="333333"/>
                </a:solidFill>
                <a:latin typeface="Calibri"/>
              </a:rPr>
              <a:t>–   El lenguaje se aprende en semanas. </a:t>
            </a:r>
            <a:r>
              <a:rPr sz="1300" b="1" i="0">
                <a:solidFill>
                  <a:srgbClr val="333333"/>
                </a:solidFill>
                <a:latin typeface="Calibri"/>
              </a:rPr>
              <a:t>Decidir con criterio</a:t>
            </a:r>
            <a:r>
              <a:rPr sz="1300" b="0" i="0">
                <a:solidFill>
                  <a:srgbClr val="333333"/>
                </a:solidFill>
                <a:latin typeface="Calibri"/>
              </a:rPr>
              <a:t> toma años y es lo que se evalúa.</a:t>
            </a:r>
          </a:p>
          <a:p>
            <a:pPr>
              <a:spcAft>
                <a:spcPts val="800"/>
              </a:spcAft>
            </a:pPr>
            <a:r>
              <a:rPr sz="1300" b="0" i="0">
                <a:solidFill>
                  <a:srgbClr val="333333"/>
                </a:solidFill>
                <a:latin typeface="Calibri"/>
              </a:rPr>
              <a:t>–   Casi todo proyecto que fracasa, fracasa porque </a:t>
            </a:r>
            <a:r>
              <a:rPr sz="1300" b="1" i="0">
                <a:solidFill>
                  <a:srgbClr val="333333"/>
                </a:solidFill>
                <a:latin typeface="Calibri"/>
              </a:rPr>
              <a:t>nadie entendió bien el problema</a:t>
            </a:r>
            <a:r>
              <a:rPr sz="1300" b="0" i="0">
                <a:solidFill>
                  <a:srgbClr val="333333"/>
                </a:solidFill>
                <a:latin typeface="Calibri"/>
              </a:rPr>
              <a:t>.</a:t>
            </a:r>
          </a:p>
          <a:p>
            <a:pPr>
              <a:spcAft>
                <a:spcPts val="800"/>
              </a:spcAft>
            </a:pPr>
            <a:r>
              <a:rPr sz="1300" b="0" i="0">
                <a:solidFill>
                  <a:srgbClr val="333333"/>
                </a:solidFill>
                <a:latin typeface="Calibri"/>
              </a:rPr>
              <a:t>–   Hay varias respuestas defendibles. Se elige una y </a:t>
            </a:r>
            <a:r>
              <a:rPr sz="1300" b="1" i="0">
                <a:solidFill>
                  <a:srgbClr val="333333"/>
                </a:solidFill>
                <a:latin typeface="Calibri"/>
              </a:rPr>
              <a:t>se argumenta el precio</a:t>
            </a:r>
            <a:r>
              <a:rPr sz="1300" b="0" i="0">
                <a:solidFill>
                  <a:srgbClr val="333333"/>
                </a:solidFill>
                <a:latin typeface="Calibri"/>
              </a:rPr>
              <a:t> que se paga.</a:t>
            </a:r>
          </a:p>
        </p:txBody>
      </p:sp>
      <p:pic>
        <p:nvPicPr>
          <p:cNvPr id="14" name="Picture 13" descr="sello_mal.png"/>
          <p:cNvPicPr>
            <a:picLocks noChangeAspect="1"/>
          </p:cNvPicPr>
          <p:nvPr/>
        </p:nvPicPr>
        <p:blipFill>
          <a:blip r:embed="rId2"/>
          <a:stretch>
            <a:fillRect/>
          </a:stretch>
        </p:blipFill>
        <p:spPr>
          <a:xfrm>
            <a:off x="566928" y="1527048"/>
            <a:ext cx="393192" cy="393192"/>
          </a:xfrm>
          <a:prstGeom prst="rect">
            <a:avLst/>
          </a:prstGeom>
        </p:spPr>
      </p:pic>
      <p:pic>
        <p:nvPicPr>
          <p:cNvPr id="15" name="Picture 14" descr="sello_bien.png"/>
          <p:cNvPicPr>
            <a:picLocks noChangeAspect="1"/>
          </p:cNvPicPr>
          <p:nvPr/>
        </p:nvPicPr>
        <p:blipFill>
          <a:blip r:embed="rId3"/>
          <a:stretch>
            <a:fillRect/>
          </a:stretch>
        </p:blipFill>
        <p:spPr>
          <a:xfrm>
            <a:off x="6365595" y="1527048"/>
            <a:ext cx="393192" cy="393192"/>
          </a:xfrm>
          <a:prstGeom prst="rect">
            <a:avLst/>
          </a:prstGeom>
        </p:spPr>
      </p:pic>
      <p:sp>
        <p:nvSpPr>
          <p:cNvPr id="16" name="TextBox 1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Qué es la Ingeniería de Sistemas</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Definición de trabajo para el semestre:</a:t>
            </a:r>
            <a:r>
              <a:rPr sz="2000" b="0" i="0">
                <a:solidFill>
                  <a:srgbClr val="333333"/>
                </a:solidFill>
                <a:latin typeface="Calibri"/>
              </a:rPr>
              <a:t> la ingeniería es el oficio de </a:t>
            </a:r>
            <a:r>
              <a:rPr sz="2000" b="1" i="0">
                <a:solidFill>
                  <a:srgbClr val="333333"/>
                </a:solidFill>
                <a:latin typeface="Calibri"/>
              </a:rPr>
              <a:t>decidir</a:t>
            </a:r>
            <a:r>
              <a:rPr sz="2000" b="0" i="0">
                <a:solidFill>
                  <a:srgbClr val="333333"/>
                </a:solidFill>
                <a:latin typeface="Calibri"/>
              </a:rPr>
              <a:t> cómo resolver un problema real </a:t>
            </a:r>
            <a:r>
              <a:rPr sz="2000" b="1" i="0">
                <a:solidFill>
                  <a:srgbClr val="333333"/>
                </a:solidFill>
                <a:latin typeface="Calibri"/>
              </a:rPr>
              <a:t>con recursos limitados</a:t>
            </a:r>
            <a:r>
              <a:rPr sz="2000" b="0" i="0">
                <a:solidFill>
                  <a:srgbClr val="333333"/>
                </a:solidFill>
                <a:latin typeface="Calibri"/>
              </a:rPr>
              <a:t>, y responder por las consecuencias de esa decisión.</a:t>
            </a:r>
          </a:p>
          <a:p>
            <a:pPr>
              <a:spcAft>
                <a:spcPts val="800"/>
              </a:spcAft>
            </a:pPr>
            <a:r>
              <a:rPr sz="2000" b="0" i="0">
                <a:solidFill>
                  <a:srgbClr val="333333"/>
                </a:solidFill>
                <a:latin typeface="Calibri"/>
              </a:rPr>
              <a:t>–   Las tres palabras que hacen el trabajo: </a:t>
            </a:r>
            <a:r>
              <a:rPr sz="2000" b="1" i="0">
                <a:solidFill>
                  <a:srgbClr val="333333"/>
                </a:solidFill>
                <a:latin typeface="Calibri"/>
              </a:rPr>
              <a:t>problema</a:t>
            </a:r>
            <a:r>
              <a:rPr sz="2000" b="0" i="0">
                <a:solidFill>
                  <a:srgbClr val="333333"/>
                </a:solidFill>
                <a:latin typeface="Calibri"/>
              </a:rPr>
              <a:t> (algo le duele a alguien concreto), </a:t>
            </a:r>
            <a:r>
              <a:rPr sz="2000" b="1" i="0">
                <a:solidFill>
                  <a:srgbClr val="333333"/>
                </a:solidFill>
                <a:latin typeface="Calibri"/>
              </a:rPr>
              <a:t>restricción</a:t>
            </a:r>
            <a:r>
              <a:rPr sz="2000" b="0" i="0">
                <a:solidFill>
                  <a:srgbClr val="333333"/>
                </a:solidFill>
                <a:latin typeface="Calibri"/>
              </a:rPr>
              <a:t> (tiempo, dinero, energía, personas, ley) y </a:t>
            </a:r>
            <a:r>
              <a:rPr sz="2000" b="1" i="0">
                <a:solidFill>
                  <a:srgbClr val="333333"/>
                </a:solidFill>
                <a:latin typeface="Calibri"/>
              </a:rPr>
              <a:t>consecuencia</a:t>
            </a:r>
            <a:r>
              <a:rPr sz="2000" b="0" i="0">
                <a:solidFill>
                  <a:srgbClr val="333333"/>
                </a:solidFill>
                <a:latin typeface="Calibri"/>
              </a:rPr>
              <a:t> (a quién afecta que se haga así y no de otra forma).</a:t>
            </a:r>
          </a:p>
          <a:p>
            <a:pPr>
              <a:spcAft>
                <a:spcPts val="800"/>
              </a:spcAft>
            </a:pPr>
            <a:r>
              <a:rPr sz="2000" b="0" i="0">
                <a:solidFill>
                  <a:srgbClr val="333333"/>
                </a:solidFill>
                <a:latin typeface="Calibri"/>
              </a:rPr>
              <a:t>–   Si no hay restricción, no hay ingeniería: hay un deseo. </a:t>
            </a:r>
            <a:r>
              <a:rPr sz="2000" b="1" i="0">
                <a:solidFill>
                  <a:srgbClr val="333333"/>
                </a:solidFill>
                <a:latin typeface="Calibri"/>
              </a:rPr>
              <a:t>Cualquiera puede resolver un problema con recursos infinitos.</a:t>
            </a:r>
          </a:p>
          <a:p>
            <a:pPr>
              <a:spcAft>
                <a:spcPts val="800"/>
              </a:spcAft>
            </a:pPr>
            <a:r>
              <a:rPr sz="2000" b="0" i="0">
                <a:solidFill>
                  <a:srgbClr val="333333"/>
                </a:solidFill>
                <a:latin typeface="Calibri"/>
              </a:rPr>
              <a:t>–   </a:t>
            </a:r>
            <a:r>
              <a:rPr sz="2000" b="1" i="0">
                <a:solidFill>
                  <a:srgbClr val="333333"/>
                </a:solidFill>
                <a:latin typeface="Calibri"/>
              </a:rPr>
              <a:t>La Ingeniería de Sistemas</a:t>
            </a:r>
            <a:r>
              <a:rPr sz="2000" b="0" i="0">
                <a:solidFill>
                  <a:srgbClr val="333333"/>
                </a:solidFill>
                <a:latin typeface="Calibri"/>
              </a:rPr>
              <a:t> es la que aplica ese oficio a los sistemas de información: software, datos, redes y las personas que los usan.</a:t>
            </a:r>
          </a:p>
          <a:p>
            <a:pPr>
              <a:spcAft>
                <a:spcPts val="800"/>
              </a:spcAft>
            </a:pPr>
            <a:r>
              <a:rPr sz="2000" b="0" i="0">
                <a:solidFill>
                  <a:srgbClr val="333333"/>
                </a:solidFill>
                <a:latin typeface="Calibri"/>
              </a:rPr>
              <a:t>–   El término «ingeniería de sistemas» nace en los años cuarenta, en proyectos de telecomunicaciones demasiado grandes para una sola especialidad. </a:t>
            </a:r>
            <a:r>
              <a:rPr sz="2000" b="1" i="0">
                <a:solidFill>
                  <a:srgbClr val="333333"/>
                </a:solidFill>
                <a:latin typeface="Calibri"/>
              </a:rPr>
              <a:t>La historia es el tema de la sesión 2</a:t>
            </a:r>
            <a:r>
              <a:rPr sz="2000" b="0" i="0">
                <a:solidFill>
                  <a:srgbClr val="333333"/>
                </a:solidFill>
                <a:latin typeface="Calibri"/>
              </a:rPr>
              <a:t>; hoy basta la idea: apareció cuando los sistemas dejaron de caber en una cabeza.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Los cinco campos de acción</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Uno por equipo · se sortea, no se elige</a:t>
            </a:r>
          </a:p>
        </p:txBody>
      </p:sp>
      <p:sp>
        <p:nvSpPr>
          <p:cNvPr id="6" name="Rounded Rectangle 5"/>
          <p:cNvSpPr/>
          <p:nvPr/>
        </p:nvSpPr>
        <p:spPr>
          <a:xfrm>
            <a:off x="457200" y="1472184"/>
            <a:ext cx="3637178" cy="2359152"/>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72184"/>
            <a:ext cx="3637178"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700784"/>
            <a:ext cx="3307994" cy="411480"/>
          </a:xfrm>
          <a:prstGeom prst="rect">
            <a:avLst/>
          </a:prstGeom>
          <a:noFill/>
        </p:spPr>
        <p:txBody>
          <a:bodyPr wrap="square">
            <a:spAutoFit/>
          </a:bodyPr>
          <a:lstStyle/>
          <a:p>
            <a:r>
              <a:rPr sz="1500" b="1" i="0">
                <a:solidFill>
                  <a:srgbClr val="095292"/>
                </a:solidFill>
                <a:latin typeface="Calibri"/>
              </a:rPr>
              <a:t>Desarrollo de software</a:t>
            </a:r>
          </a:p>
        </p:txBody>
      </p:sp>
      <p:sp>
        <p:nvSpPr>
          <p:cNvPr id="9" name="TextBox 8"/>
          <p:cNvSpPr txBox="1"/>
          <p:nvPr/>
        </p:nvSpPr>
        <p:spPr>
          <a:xfrm>
            <a:off x="621792" y="2157984"/>
            <a:ext cx="3307994" cy="1490472"/>
          </a:xfrm>
          <a:prstGeom prst="rect">
            <a:avLst/>
          </a:prstGeom>
          <a:noFill/>
        </p:spPr>
        <p:txBody>
          <a:bodyPr wrap="square">
            <a:spAutoFit/>
          </a:bodyPr>
          <a:lstStyle/>
          <a:p>
            <a:r>
              <a:rPr sz="1300" b="1" i="0">
                <a:solidFill>
                  <a:srgbClr val="333333"/>
                </a:solidFill>
                <a:latin typeface="Calibri"/>
              </a:rPr>
              <a:t>Construir el sistema.</a:t>
            </a:r>
            <a:r>
              <a:rPr sz="1300" b="0" i="0">
                <a:solidFill>
                  <a:srgbClr val="333333"/>
                </a:solidFill>
                <a:latin typeface="Calibri"/>
              </a:rPr>
              <a:t> La aplicación con la que el estudiante consulta sus notas.</a:t>
            </a:r>
          </a:p>
        </p:txBody>
      </p:sp>
      <p:sp>
        <p:nvSpPr>
          <p:cNvPr id="10" name="Rounded Rectangle 9"/>
          <p:cNvSpPr/>
          <p:nvPr/>
        </p:nvSpPr>
        <p:spPr>
          <a:xfrm>
            <a:off x="4277258" y="1472184"/>
            <a:ext cx="3637178" cy="2359152"/>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77258" y="1472184"/>
            <a:ext cx="3637178"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41850" y="1700784"/>
            <a:ext cx="3307994" cy="411480"/>
          </a:xfrm>
          <a:prstGeom prst="rect">
            <a:avLst/>
          </a:prstGeom>
          <a:noFill/>
        </p:spPr>
        <p:txBody>
          <a:bodyPr wrap="square">
            <a:spAutoFit/>
          </a:bodyPr>
          <a:lstStyle/>
          <a:p>
            <a:r>
              <a:rPr sz="1500" b="1" i="0">
                <a:solidFill>
                  <a:srgbClr val="095292"/>
                </a:solidFill>
                <a:latin typeface="Calibri"/>
              </a:rPr>
              <a:t>Datos e inteligencia artificial</a:t>
            </a:r>
          </a:p>
        </p:txBody>
      </p:sp>
      <p:sp>
        <p:nvSpPr>
          <p:cNvPr id="13" name="TextBox 12"/>
          <p:cNvSpPr txBox="1"/>
          <p:nvPr/>
        </p:nvSpPr>
        <p:spPr>
          <a:xfrm>
            <a:off x="4441850" y="2157984"/>
            <a:ext cx="3307994" cy="1490472"/>
          </a:xfrm>
          <a:prstGeom prst="rect">
            <a:avLst/>
          </a:prstGeom>
          <a:noFill/>
        </p:spPr>
        <p:txBody>
          <a:bodyPr wrap="square">
            <a:spAutoFit/>
          </a:bodyPr>
          <a:lstStyle/>
          <a:p>
            <a:r>
              <a:rPr sz="1300" b="1" i="0">
                <a:solidFill>
                  <a:srgbClr val="333333"/>
                </a:solidFill>
                <a:latin typeface="Calibri"/>
              </a:rPr>
              <a:t>Sacar decisiones de los datos.</a:t>
            </a:r>
            <a:r>
              <a:rPr sz="1300" b="0" i="0">
                <a:solidFill>
                  <a:srgbClr val="333333"/>
                </a:solidFill>
                <a:latin typeface="Calibri"/>
              </a:rPr>
              <a:t> El sistema que estima cuántos estudiantes van a matricular el próximo semestre.</a:t>
            </a:r>
          </a:p>
        </p:txBody>
      </p:sp>
      <p:sp>
        <p:nvSpPr>
          <p:cNvPr id="14" name="Rounded Rectangle 13"/>
          <p:cNvSpPr/>
          <p:nvPr/>
        </p:nvSpPr>
        <p:spPr>
          <a:xfrm>
            <a:off x="8097316" y="1472184"/>
            <a:ext cx="3637178" cy="2359152"/>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472184"/>
            <a:ext cx="3637178"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1908" y="1700784"/>
            <a:ext cx="3307994" cy="411480"/>
          </a:xfrm>
          <a:prstGeom prst="rect">
            <a:avLst/>
          </a:prstGeom>
          <a:noFill/>
        </p:spPr>
        <p:txBody>
          <a:bodyPr wrap="square">
            <a:spAutoFit/>
          </a:bodyPr>
          <a:lstStyle/>
          <a:p>
            <a:r>
              <a:rPr sz="1500" b="1" i="0">
                <a:solidFill>
                  <a:srgbClr val="095292"/>
                </a:solidFill>
                <a:latin typeface="Calibri"/>
              </a:rPr>
              <a:t>Infraestructura, redes y nube</a:t>
            </a:r>
          </a:p>
        </p:txBody>
      </p:sp>
      <p:sp>
        <p:nvSpPr>
          <p:cNvPr id="17" name="TextBox 16"/>
          <p:cNvSpPr txBox="1"/>
          <p:nvPr/>
        </p:nvSpPr>
        <p:spPr>
          <a:xfrm>
            <a:off x="8261908" y="2157984"/>
            <a:ext cx="3307994" cy="1490472"/>
          </a:xfrm>
          <a:prstGeom prst="rect">
            <a:avLst/>
          </a:prstGeom>
          <a:noFill/>
        </p:spPr>
        <p:txBody>
          <a:bodyPr wrap="square">
            <a:spAutoFit/>
          </a:bodyPr>
          <a:lstStyle/>
          <a:p>
            <a:r>
              <a:rPr sz="1300" b="1" i="0">
                <a:solidFill>
                  <a:srgbClr val="333333"/>
                </a:solidFill>
                <a:latin typeface="Calibri"/>
              </a:rPr>
              <a:t>Que esté disponible.</a:t>
            </a:r>
            <a:r>
              <a:rPr sz="1300" b="0" i="0">
                <a:solidFill>
                  <a:srgbClr val="333333"/>
                </a:solidFill>
                <a:latin typeface="Calibri"/>
              </a:rPr>
              <a:t> Que la plataforma de matrículas no se caiga el día en que matriculan 6.000 personas.</a:t>
            </a:r>
          </a:p>
        </p:txBody>
      </p:sp>
      <p:sp>
        <p:nvSpPr>
          <p:cNvPr id="18" name="Rounded Rectangle 17"/>
          <p:cNvSpPr/>
          <p:nvPr/>
        </p:nvSpPr>
        <p:spPr>
          <a:xfrm>
            <a:off x="457200" y="3995928"/>
            <a:ext cx="3637178" cy="2359152"/>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995928"/>
            <a:ext cx="3637178"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4224528"/>
            <a:ext cx="3307994" cy="411480"/>
          </a:xfrm>
          <a:prstGeom prst="rect">
            <a:avLst/>
          </a:prstGeom>
          <a:noFill/>
        </p:spPr>
        <p:txBody>
          <a:bodyPr wrap="square">
            <a:spAutoFit/>
          </a:bodyPr>
          <a:lstStyle/>
          <a:p>
            <a:r>
              <a:rPr sz="1500" b="1" i="0">
                <a:solidFill>
                  <a:srgbClr val="095292"/>
                </a:solidFill>
                <a:latin typeface="Calibri"/>
              </a:rPr>
              <a:t>Ciberseguridad</a:t>
            </a:r>
          </a:p>
        </p:txBody>
      </p:sp>
      <p:sp>
        <p:nvSpPr>
          <p:cNvPr id="21" name="TextBox 20"/>
          <p:cNvSpPr txBox="1"/>
          <p:nvPr/>
        </p:nvSpPr>
        <p:spPr>
          <a:xfrm>
            <a:off x="621792" y="4681728"/>
            <a:ext cx="3307994" cy="1490472"/>
          </a:xfrm>
          <a:prstGeom prst="rect">
            <a:avLst/>
          </a:prstGeom>
          <a:noFill/>
        </p:spPr>
        <p:txBody>
          <a:bodyPr wrap="square">
            <a:spAutoFit/>
          </a:bodyPr>
          <a:lstStyle/>
          <a:p>
            <a:r>
              <a:rPr sz="1300" b="1" i="0">
                <a:solidFill>
                  <a:srgbClr val="333333"/>
                </a:solidFill>
                <a:latin typeface="Calibri"/>
              </a:rPr>
              <a:t>Que no lo rompan.</a:t>
            </a:r>
            <a:r>
              <a:rPr sz="1300" b="0" i="0">
                <a:solidFill>
                  <a:srgbClr val="333333"/>
                </a:solidFill>
                <a:latin typeface="Calibri"/>
              </a:rPr>
              <a:t> Revisar que la app de la universidad no deje ver las notas de otro estudiante cambiando un número en la dirección web.</a:t>
            </a:r>
          </a:p>
        </p:txBody>
      </p:sp>
      <p:sp>
        <p:nvSpPr>
          <p:cNvPr id="22" name="Rounded Rectangle 21"/>
          <p:cNvSpPr/>
          <p:nvPr/>
        </p:nvSpPr>
        <p:spPr>
          <a:xfrm>
            <a:off x="4277258" y="3995928"/>
            <a:ext cx="3637178" cy="2359152"/>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77258" y="3995928"/>
            <a:ext cx="3637178"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41850" y="4224528"/>
            <a:ext cx="3307994" cy="411480"/>
          </a:xfrm>
          <a:prstGeom prst="rect">
            <a:avLst/>
          </a:prstGeom>
          <a:noFill/>
        </p:spPr>
        <p:txBody>
          <a:bodyPr wrap="square">
            <a:spAutoFit/>
          </a:bodyPr>
          <a:lstStyle/>
          <a:p>
            <a:r>
              <a:rPr sz="1500" b="1" i="0">
                <a:solidFill>
                  <a:srgbClr val="095292"/>
                </a:solidFill>
                <a:latin typeface="Calibri"/>
              </a:rPr>
              <a:t>Gestión de proyectos y consultoría</a:t>
            </a:r>
          </a:p>
        </p:txBody>
      </p:sp>
      <p:sp>
        <p:nvSpPr>
          <p:cNvPr id="25" name="TextBox 24"/>
          <p:cNvSpPr txBox="1"/>
          <p:nvPr/>
        </p:nvSpPr>
        <p:spPr>
          <a:xfrm>
            <a:off x="4441850" y="4681728"/>
            <a:ext cx="3307994" cy="1490472"/>
          </a:xfrm>
          <a:prstGeom prst="rect">
            <a:avLst/>
          </a:prstGeom>
          <a:noFill/>
        </p:spPr>
        <p:txBody>
          <a:bodyPr wrap="square">
            <a:spAutoFit/>
          </a:bodyPr>
          <a:lstStyle/>
          <a:p>
            <a:r>
              <a:rPr sz="1300" b="1" i="0">
                <a:solidFill>
                  <a:srgbClr val="333333"/>
                </a:solidFill>
                <a:latin typeface="Calibri"/>
              </a:rPr>
              <a:t>Que llegue a tiempo y sirva.</a:t>
            </a:r>
            <a:r>
              <a:rPr sz="1300" b="0" i="0">
                <a:solidFill>
                  <a:srgbClr val="333333"/>
                </a:solidFill>
                <a:latin typeface="Calibri"/>
              </a:rPr>
              <a:t> Decidir qué se entrega en marzo y qué se posterga cuando el equipo se reduce a la mitad.</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El método del curso: de un problema del entorno a una propuesta</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Los mismos cuatro pasos, de la actividad de hoy al proyecto de la Clase 15</a:t>
            </a:r>
          </a:p>
        </p:txBody>
      </p:sp>
      <p:sp>
        <p:nvSpPr>
          <p:cNvPr id="6" name="Rounded Rectangle 5"/>
          <p:cNvSpPr/>
          <p:nvPr/>
        </p:nvSpPr>
        <p:spPr>
          <a:xfrm>
            <a:off x="457200" y="1659636"/>
            <a:ext cx="11277295" cy="1051560"/>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965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65960"/>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751076"/>
            <a:ext cx="10271455" cy="886968"/>
          </a:xfrm>
          <a:prstGeom prst="rect">
            <a:avLst/>
          </a:prstGeom>
          <a:noFill/>
        </p:spPr>
        <p:txBody>
          <a:bodyPr wrap="square" anchor="ctr"/>
          <a:lstStyle/>
          <a:p>
            <a:r>
              <a:rPr sz="1500" b="1" i="0">
                <a:solidFill>
                  <a:srgbClr val="095292"/>
                </a:solidFill>
                <a:latin typeface="Calibri"/>
              </a:rPr>
              <a:t>Observar el entorno</a:t>
            </a:r>
          </a:p>
          <a:p>
            <a:pPr>
              <a:spcBef>
                <a:spcPts val="200"/>
              </a:spcBef>
            </a:pPr>
            <a:r>
              <a:rPr sz="1300" b="0" i="0">
                <a:solidFill>
                  <a:srgbClr val="333333"/>
                </a:solidFill>
                <a:latin typeface="Calibri"/>
              </a:rPr>
              <a:t>Encontrar algo que hoy funciona mal para alguien concreto. No «la ciudad», no «los usuarios»: una persona con un rol y un problema que se repite.</a:t>
            </a:r>
          </a:p>
        </p:txBody>
      </p:sp>
      <p:sp>
        <p:nvSpPr>
          <p:cNvPr id="10" name="Rounded Rectangle 9"/>
          <p:cNvSpPr/>
          <p:nvPr/>
        </p:nvSpPr>
        <p:spPr>
          <a:xfrm>
            <a:off x="457200" y="2802636"/>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3108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108960"/>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894076"/>
            <a:ext cx="10271455" cy="886968"/>
          </a:xfrm>
          <a:prstGeom prst="rect">
            <a:avLst/>
          </a:prstGeom>
          <a:noFill/>
        </p:spPr>
        <p:txBody>
          <a:bodyPr wrap="square" anchor="ctr"/>
          <a:lstStyle/>
          <a:p>
            <a:r>
              <a:rPr sz="1500" b="1" i="0">
                <a:solidFill>
                  <a:srgbClr val="095292"/>
                </a:solidFill>
                <a:latin typeface="Calibri"/>
              </a:rPr>
              <a:t>Medir el dolor</a:t>
            </a:r>
          </a:p>
          <a:p>
            <a:pPr>
              <a:spcBef>
                <a:spcPts val="200"/>
              </a:spcBef>
            </a:pPr>
            <a:r>
              <a:rPr sz="1300" b="0" i="0">
                <a:solidFill>
                  <a:srgbClr val="333333"/>
                </a:solidFill>
                <a:latin typeface="Calibri"/>
              </a:rPr>
              <a:t>Ponerle un número, aunque sea estimado: cuántas veces al día pasa, cuánto tiempo cuesta, cuánta gente afecta. Sin número no hay contra qué comparar la solución.</a:t>
            </a:r>
          </a:p>
        </p:txBody>
      </p:sp>
      <p:sp>
        <p:nvSpPr>
          <p:cNvPr id="14" name="Rounded Rectangle 13"/>
          <p:cNvSpPr/>
          <p:nvPr/>
        </p:nvSpPr>
        <p:spPr>
          <a:xfrm>
            <a:off x="457200" y="3945636"/>
            <a:ext cx="11277295" cy="1051560"/>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4251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2519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4037076"/>
            <a:ext cx="10271455" cy="886968"/>
          </a:xfrm>
          <a:prstGeom prst="rect">
            <a:avLst/>
          </a:prstGeom>
          <a:noFill/>
        </p:spPr>
        <p:txBody>
          <a:bodyPr wrap="square" anchor="ctr"/>
          <a:lstStyle/>
          <a:p>
            <a:r>
              <a:rPr sz="1500" b="1" i="0">
                <a:solidFill>
                  <a:srgbClr val="095292"/>
                </a:solidFill>
                <a:latin typeface="Calibri"/>
              </a:rPr>
              <a:t>Decidir una solución y su precio</a:t>
            </a:r>
          </a:p>
          <a:p>
            <a:pPr>
              <a:spcBef>
                <a:spcPts val="200"/>
              </a:spcBef>
            </a:pPr>
            <a:r>
              <a:rPr sz="1300" b="0" i="0">
                <a:solidFill>
                  <a:srgbClr val="333333"/>
                </a:solidFill>
                <a:latin typeface="Calibri"/>
              </a:rPr>
              <a:t>Proponer qué se hace, con qué recursos y qué se sacrifica. Toda solución sacrifica algo: la respuesta correcta es la que dice qué.</a:t>
            </a:r>
          </a:p>
        </p:txBody>
      </p:sp>
      <p:sp>
        <p:nvSpPr>
          <p:cNvPr id="18" name="Rounded Rectangle 17"/>
          <p:cNvSpPr/>
          <p:nvPr/>
        </p:nvSpPr>
        <p:spPr>
          <a:xfrm>
            <a:off x="457200" y="5088636"/>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5394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394960"/>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5180076"/>
            <a:ext cx="10271455" cy="886968"/>
          </a:xfrm>
          <a:prstGeom prst="rect">
            <a:avLst/>
          </a:prstGeom>
          <a:noFill/>
        </p:spPr>
        <p:txBody>
          <a:bodyPr wrap="square" anchor="ctr"/>
          <a:lstStyle/>
          <a:p>
            <a:r>
              <a:rPr sz="1500" b="1" i="0">
                <a:solidFill>
                  <a:srgbClr val="095292"/>
                </a:solidFill>
                <a:latin typeface="Calibri"/>
              </a:rPr>
              <a:t>Responder por las consecuencias</a:t>
            </a:r>
          </a:p>
          <a:p>
            <a:pPr>
              <a:spcBef>
                <a:spcPts val="200"/>
              </a:spcBef>
            </a:pPr>
            <a:r>
              <a:rPr sz="1300" b="0" i="0">
                <a:solidFill>
                  <a:srgbClr val="333333"/>
                </a:solidFill>
                <a:latin typeface="Calibri"/>
              </a:rPr>
              <a:t>Quién gana, quién pierde, qué gasta de energía, qué datos toca. Es la parte que separa la ingeniería de una buena idea.</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proyecto del curso</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Este curso no se aprueba con un examen final.</a:t>
            </a:r>
            <a:r>
              <a:rPr sz="2000" b="0" i="0">
                <a:solidFill>
                  <a:srgbClr val="333333"/>
                </a:solidFill>
                <a:latin typeface="Calibri"/>
              </a:rPr>
              <a:t> Se aprueba con un </a:t>
            </a:r>
            <a:r>
              <a:rPr sz="2000" b="1" i="0">
                <a:solidFill>
                  <a:srgbClr val="333333"/>
                </a:solidFill>
                <a:latin typeface="Calibri"/>
              </a:rPr>
              <a:t>proyecto de equipo</a:t>
            </a:r>
            <a:r>
              <a:rPr sz="2000" b="0" i="0">
                <a:solidFill>
                  <a:srgbClr val="333333"/>
                </a:solidFill>
                <a:latin typeface="Calibri"/>
              </a:rPr>
              <a:t> que arranca hoy y se expone en la Clase 15.</a:t>
            </a:r>
          </a:p>
          <a:p>
            <a:pPr>
              <a:spcAft>
                <a:spcPts val="800"/>
              </a:spcAft>
            </a:pPr>
            <a:r>
              <a:rPr sz="2000" b="0" i="0">
                <a:solidFill>
                  <a:srgbClr val="333333"/>
                </a:solidFill>
                <a:latin typeface="Calibri"/>
              </a:rPr>
              <a:t>–   </a:t>
            </a:r>
            <a:r>
              <a:rPr sz="2000" b="1" i="0">
                <a:solidFill>
                  <a:srgbClr val="333333"/>
                </a:solidFill>
                <a:latin typeface="Calibri"/>
              </a:rPr>
              <a:t>Qué es:</a:t>
            </a:r>
            <a:r>
              <a:rPr sz="2000" b="0" i="0">
                <a:solidFill>
                  <a:srgbClr val="333333"/>
                </a:solidFill>
                <a:latin typeface="Calibri"/>
              </a:rPr>
              <a:t> una propuesta de mejora tecnológica para un problema real del entorno de ustedes —el barrio, la universidad, el trabajo, la casa—. No hay que programarla: hay que </a:t>
            </a:r>
            <a:r>
              <a:rPr sz="2000" b="1" i="0">
                <a:solidFill>
                  <a:srgbClr val="333333"/>
                </a:solidFill>
                <a:latin typeface="Calibri"/>
              </a:rPr>
              <a:t>diseñarla y defenderla</a:t>
            </a:r>
            <a:r>
              <a:rPr sz="2000" b="0" i="0">
                <a:solidFill>
                  <a:srgbClr val="333333"/>
                </a:solidFill>
                <a:latin typeface="Calibri"/>
              </a:rPr>
              <a:t>.</a:t>
            </a:r>
          </a:p>
          <a:p>
            <a:pPr>
              <a:spcAft>
                <a:spcPts val="800"/>
              </a:spcAft>
            </a:pPr>
            <a:r>
              <a:rPr sz="2000" b="0" i="0">
                <a:solidFill>
                  <a:srgbClr val="333333"/>
                </a:solidFill>
                <a:latin typeface="Calibri"/>
              </a:rPr>
              <a:t>–   </a:t>
            </a:r>
            <a:r>
              <a:rPr sz="2000" b="1" i="0">
                <a:solidFill>
                  <a:srgbClr val="333333"/>
                </a:solidFill>
                <a:latin typeface="Calibri"/>
              </a:rPr>
              <a:t>Cómo se construye:</a:t>
            </a:r>
            <a:r>
              <a:rPr sz="2000" b="0" i="0">
                <a:solidFill>
                  <a:srgbClr val="333333"/>
                </a:solidFill>
                <a:latin typeface="Calibri"/>
              </a:rPr>
              <a:t> Clase 6, el problema y la propuesta inicial (cierra Corte 1) · Clases 7 a 11, el ciclo de vida y un prototipo (cierra Corte 2) · Clases 12 a 14, evaluación de impacto y ensayo · Clase 15, exposición final · Clase 16, informe.</a:t>
            </a:r>
          </a:p>
          <a:p>
            <a:pPr>
              <a:spcAft>
                <a:spcPts val="800"/>
              </a:spcAft>
            </a:pPr>
            <a:r>
              <a:rPr sz="2000" b="0" i="0">
                <a:solidFill>
                  <a:srgbClr val="333333"/>
                </a:solidFill>
                <a:latin typeface="Calibri"/>
              </a:rPr>
              <a:t>–   </a:t>
            </a:r>
            <a:r>
              <a:rPr sz="2000" b="1" i="0">
                <a:solidFill>
                  <a:srgbClr val="333333"/>
                </a:solidFill>
                <a:latin typeface="Calibri"/>
              </a:rPr>
              <a:t>La semilla es la actividad de hoy:</a:t>
            </a:r>
            <a:r>
              <a:rPr sz="2000" b="0" i="0">
                <a:solidFill>
                  <a:srgbClr val="333333"/>
                </a:solidFill>
                <a:latin typeface="Calibri"/>
              </a:rPr>
              <a:t> el problema del entorno que su equipo escriba en los próximos 17 minutos es el candidato número uno a ser el proyecto del semestre.</a:t>
            </a:r>
          </a:p>
          <a:p>
            <a:pPr>
              <a:spcAft>
                <a:spcPts val="800"/>
              </a:spcAft>
            </a:pPr>
            <a:r>
              <a:rPr sz="2000" b="0" i="0">
                <a:solidFill>
                  <a:srgbClr val="333333"/>
                </a:solidFill>
                <a:latin typeface="Calibri"/>
              </a:rPr>
              <a:t>–   </a:t>
            </a:r>
            <a:r>
              <a:rPr sz="2000" b="1" i="0">
                <a:solidFill>
                  <a:srgbClr val="333333"/>
                </a:solidFill>
                <a:latin typeface="Calibri"/>
              </a:rPr>
              <a:t>Estrategia del curso:</a:t>
            </a:r>
            <a:r>
              <a:rPr sz="2000" b="0" i="0">
                <a:solidFill>
                  <a:srgbClr val="333333"/>
                </a:solidFill>
                <a:latin typeface="Calibri"/>
              </a:rPr>
              <a:t> ABPr, Aprendizaje Basado en Proyectos. La teoría de cada sesión entra porque el proyecto la necesita, no al revés.</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Cinco equipos, los mismos todo el semestre</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Cinco equipos, y son los mismos todo el semestre.</a:t>
            </a:r>
            <a:r>
              <a:rPr sz="2000" b="0" i="0">
                <a:solidFill>
                  <a:srgbClr val="333333"/>
                </a:solidFill>
                <a:latin typeface="Calibri"/>
              </a:rPr>
              <a:t> El proyecto es del equipo: cambiar de equipo en la sesión 9 significa empezar de cero.</a:t>
            </a:r>
          </a:p>
          <a:p>
            <a:pPr>
              <a:spcAft>
                <a:spcPts val="800"/>
              </a:spcAft>
            </a:pPr>
            <a:r>
              <a:rPr sz="2000" b="0" i="0">
                <a:solidFill>
                  <a:srgbClr val="333333"/>
                </a:solidFill>
                <a:latin typeface="Calibri"/>
              </a:rPr>
              <a:t>–   </a:t>
            </a:r>
            <a:r>
              <a:rPr sz="2000" b="1" i="0">
                <a:solidFill>
                  <a:srgbClr val="333333"/>
                </a:solidFill>
                <a:latin typeface="Calibri"/>
              </a:rPr>
              <a:t>Cuántos van en cada uno</a:t>
            </a:r>
            <a:r>
              <a:rPr sz="2000" b="0" i="0">
                <a:solidFill>
                  <a:srgbClr val="333333"/>
                </a:solidFill>
                <a:latin typeface="Calibri"/>
              </a:rPr>
              <a:t> depende de cuántos seamos hoy: si somos 25, equipos de 5; si somos 35, equipos de 7. </a:t>
            </a:r>
            <a:r>
              <a:rPr sz="2000" b="1" i="0">
                <a:solidFill>
                  <a:srgbClr val="333333"/>
                </a:solidFill>
                <a:latin typeface="Calibri"/>
              </a:rPr>
              <a:t>Lo fijo es el número de equipos, no el tamaño.</a:t>
            </a:r>
          </a:p>
          <a:p>
            <a:pPr>
              <a:spcAft>
                <a:spcPts val="800"/>
              </a:spcAft>
            </a:pPr>
            <a:r>
              <a:rPr sz="2000" b="0" i="0">
                <a:solidFill>
                  <a:srgbClr val="333333"/>
                </a:solidFill>
                <a:latin typeface="Calibri"/>
              </a:rPr>
              <a:t>–   </a:t>
            </a:r>
            <a:r>
              <a:rPr sz="2000" b="1" i="0">
                <a:solidFill>
                  <a:srgbClr val="333333"/>
                </a:solidFill>
                <a:latin typeface="Calibri"/>
              </a:rPr>
              <a:t>Por qué cinco:</a:t>
            </a:r>
            <a:r>
              <a:rPr sz="2000" b="0" i="0">
                <a:solidFill>
                  <a:srgbClr val="333333"/>
                </a:solidFill>
                <a:latin typeface="Calibri"/>
              </a:rPr>
              <a:t> 5 equipos × 3 min = </a:t>
            </a:r>
            <a:r>
              <a:rPr sz="2000" b="1" i="0">
                <a:solidFill>
                  <a:srgbClr val="333333"/>
                </a:solidFill>
                <a:latin typeface="Calibri"/>
              </a:rPr>
              <a:t>15 min de exposiciones</a:t>
            </a:r>
            <a:r>
              <a:rPr sz="2000" b="0" i="0">
                <a:solidFill>
                  <a:srgbClr val="333333"/>
                </a:solidFill>
                <a:latin typeface="Calibri"/>
              </a:rPr>
              <a:t>, y el bloque cierra a los 90 min. Con equipos de 4 personas y 35 matriculados serían 9 equipos y 27 min: no cabe.</a:t>
            </a:r>
          </a:p>
          <a:p>
            <a:pPr>
              <a:spcAft>
                <a:spcPts val="800"/>
              </a:spcAft>
            </a:pPr>
            <a:r>
              <a:rPr sz="2000" b="0" i="0">
                <a:solidFill>
                  <a:srgbClr val="333333"/>
                </a:solidFill>
                <a:latin typeface="Calibri"/>
              </a:rPr>
              <a:t>–   </a:t>
            </a:r>
            <a:r>
              <a:rPr sz="2000" b="1" i="0">
                <a:solidFill>
                  <a:srgbClr val="333333"/>
                </a:solidFill>
                <a:latin typeface="Calibri"/>
              </a:rPr>
              <a:t>El vocero rota cada sesión</a:t>
            </a:r>
            <a:r>
              <a:rPr sz="2000" b="0" i="0">
                <a:solidFill>
                  <a:srgbClr val="333333"/>
                </a:solidFill>
                <a:latin typeface="Calibri"/>
              </a:rPr>
              <a:t> y se anota en la bitácora del equipo. Al final del semestre todos han expuesto al menos dos veces. No hay «el que siempre habla».</a:t>
            </a:r>
          </a:p>
          <a:p>
            <a:pPr>
              <a:spcAft>
                <a:spcPts val="800"/>
              </a:spcAft>
            </a:pPr>
            <a:r>
              <a:rPr sz="2000" b="0" i="0">
                <a:solidFill>
                  <a:srgbClr val="333333"/>
                </a:solidFill>
                <a:latin typeface="Calibri"/>
              </a:rPr>
              <a:t>–   </a:t>
            </a:r>
            <a:r>
              <a:rPr sz="2000" b="1" i="0">
                <a:solidFill>
                  <a:srgbClr val="333333"/>
                </a:solidFill>
                <a:latin typeface="Calibri"/>
              </a:rPr>
              <a:t>Hoy quedan tres cosas listas:</a:t>
            </a:r>
            <a:r>
              <a:rPr sz="2000" b="0" i="0">
                <a:solidFill>
                  <a:srgbClr val="333333"/>
                </a:solidFill>
                <a:latin typeface="Calibri"/>
              </a:rPr>
              <a:t> los integrantes, la </a:t>
            </a:r>
            <a:r>
              <a:rPr sz="2000" b="1" i="0">
                <a:solidFill>
                  <a:srgbClr val="333333"/>
                </a:solidFill>
                <a:latin typeface="Calibri"/>
              </a:rPr>
              <a:t>carpeta compartida en la nube</a:t>
            </a:r>
            <a:r>
              <a:rPr sz="2000" b="0" i="0">
                <a:solidFill>
                  <a:srgbClr val="333333"/>
                </a:solidFill>
                <a:latin typeface="Calibri"/>
              </a:rPr>
              <a:t> con permiso de lectura para el docente, y el </a:t>
            </a:r>
            <a:r>
              <a:rPr sz="2000" b="1" i="0">
                <a:solidFill>
                  <a:srgbClr val="333333"/>
                </a:solidFill>
                <a:latin typeface="Calibri"/>
              </a:rPr>
              <a:t>vocero de hoy</a:t>
            </a:r>
            <a:r>
              <a:rPr sz="2000" b="0" i="0">
                <a:solidFill>
                  <a:srgbClr val="333333"/>
                </a:solidFill>
                <a:latin typeface="Calibri"/>
              </a:rPr>
              <a:t>.</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Nos vemos en la sesión 2</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Presentación del curso y diagnóstico inicial · Clase 1</a:t>
            </a:r>
          </a:p>
          <a:p>
            <a:pPr algn="ctr">
              <a:spcAft>
                <a:spcPts val="600"/>
              </a:spcAft>
            </a:pPr>
            <a:r>
              <a:rPr sz="1600" b="0" i="0">
                <a:solidFill>
                  <a:srgbClr val="333333"/>
                </a:solidFill>
                <a:latin typeface="Calibri"/>
              </a:rPr>
              <a:t>FI300101 · UNIAJC · Ingeniería de Sistemas</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Ingeniería es decidir con criterio, no solo saber cómo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