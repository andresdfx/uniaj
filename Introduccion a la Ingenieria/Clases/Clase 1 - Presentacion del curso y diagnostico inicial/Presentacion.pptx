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Presentación del curso y diagnóstico inicial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¿Qué hace un ingeniero de sistemas y para qué sirve lo que hace?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reloj arranca 10 min después de la hora oficial de su grupo. La estructura es la misma las 16 sesiones.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Apertura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pregunta de entrada en el muro mientras llegan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00:10–00:40 · 30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Encuadre + tema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de qué es este curso y qué es la ingeniería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00:40–00:55 · 15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Diagnóstico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13 preguntas, no tiene nota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Actividad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ficha del campo, en equipos, en la nube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Exposiciones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5 equipos × 3 min, con cronómetro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333333"/>
                </a:solidFill>
                <a:latin typeface="Calibri"/>
              </a:rPr>
              <a:t>Cierre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una idea, la tarea y el tema de la sesión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90 min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· hoy los 45 min de teoría se reparten entre encuadre (30) y diagnóstico (15)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Ingeniería de Sistemas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programación,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 de ingeniería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conocimiento técnico que la soporta.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 los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cinco campos de acción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programa y decir, con un ejemplo, qué hace alguien que trabaja en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Detectar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problema del entorno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propio y escribirlo con afectado y magnitud: es la semilla del proyecto que se evalúa en la sesión 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Quedar en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equipo estable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los cinco del curso, con carpeta en la nube y vocero de la primera sesión definidos.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¿Qué hace un ingeniero de sistemas un martes a las 10 de la mañana?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Escríbanlo en el muro del curso, en una frase, desde el celular.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No hay respuesta correcta. Volvemos a este muro en 30 minutos.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diagnóstico de hoy: qué es y qué no 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Son 13 preguntas y 15 minutos.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Tres bloques: qué creen que es la ingeniería, qué saben ya, y en qué condiciones van a trabajar este semestre.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tiene nota. Ni suma ni resta.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No se espera que sepan las respuestas: si las supieran, este curso no tendría razón de existir. «No sé» es una respuesta válida y útil.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respondan lo que creen que el profesor quiere leer.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Con estos datos se planean las 15 sesiones que siguen: una respuesta de adorno hace que el curso se planee 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Ingeniería de Sistemas no es programación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confusión más costosa del primer semestre · se desarma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casi todos creen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«Es programar todo el día.»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«Es arreglar computadores e instalar Windows.»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«El que sabe más lenguajes es el mejor ingeniero.»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«Lo técnico es lo difícil; hablar con la gente es lo fácil.»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«La respuesta correcta existe y está en internet.»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realmente 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Programar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las cinco áreas, y en las otras cuatro se programa poco.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Eso es soporte técnico: un oficio válido y distinto, que no requiere este título.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El lenguaje se aprende en semanas.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Decidir con criterio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toma años y es lo que se evalúa.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Casi todo proyecto que fracasa, fracasa porque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nadie entendió bien el problema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Hay varias respuestas defendibles. Se elige una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argumenta el precio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que se paga.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la Ingeniería de Sistemas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Definición de trabajo para el semestre: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ingeniería es el oficio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decidir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cómo resolver un problema real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 recursos limitados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responder por las consecuencias de esa decisión.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palabras que hacen el trabajo: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problema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(algo le duele a alguien concreto),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restricción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(tiempo, dinero, energía, personas, ley)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 quién afecta que se haga así y no de otra forma).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hay restricción, no hay ingeniería: hay un deseo.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Cualquiera puede resolver un problema con recursos infinitos.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Ingeniería de Sistemas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que aplica ese oficio a los sistemas de información: software, datos, redes y las personas que los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término «ingeniería de sistemas» nace en los años cuarenta, en proyectos de telecomunicaciones demasiado grandes para una sola especialidad.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historia es el tema de la sesión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hoy basta la idea: apareció cuando los sistemas dejaron de caber en una cabeza.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campos de 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Uno por equipo · se sortea, no se elige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00784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Desarrollo de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57984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Construir el sistema.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La aplicación con la que el estudiante consulta sus notas.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472184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472184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700784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Datos e inteligencia artificial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1850" y="2157984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Sacar decisiones de los datos.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sistema que estima cuántos estudiantes van a matricular el próximo semestre.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7316" y="1472184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7316" y="1472184"/>
            <a:ext cx="3637178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1908" y="1700784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Infraestructura, redes y nube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1908" y="2157984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Que esté disponible.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Que la plataforma de matrículas no se caiga el día en que matriculan 6.000 personas.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95928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995928"/>
            <a:ext cx="3637178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224528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Ciberseguridad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4681728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Que no lo rompan.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Revisar que la app de la universidad no deje ver las notas de otro estudiante cambiando un número en la dirección web.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7258" y="3995928"/>
            <a:ext cx="3637178" cy="2359152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7258" y="3995928"/>
            <a:ext cx="3637178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41850" y="4224528"/>
            <a:ext cx="330799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Gestión de proyectos y consultoría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1850" y="4681728"/>
            <a:ext cx="3307994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333333"/>
                </a:solidFill>
                <a:latin typeface="Calibri"/>
              </a:rPr>
              <a:t>Que llegue a tiempo y sirva.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Decidir qué se entrega en marzo y qué se posterga cuando el equipo se reduce a la mitad.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método del curso: de un problema del entorno a una propuesta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mismos cuatro pasos, de la actividad de hoy al proyecto de la Clase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Observar el entorno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Encontrar algo que hoy funciona mal para alguien concreto. No «la ciudad», no «los usuarios»: una persona con un rol y un problema que se repite.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Medir el dolor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Ponerle un número, aunque sea estimado: cuántas veces al día pasa, cuánto tiempo cuesta, cuánta gente afecta. Sin número no hay contra qué comparar la solución.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Decidir una solución y su precio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Proponer qué se hace, con qué recursos y qué se sacrifica. Toda solución sacrifica algo: la respuesta correcta es la que dice qué.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por las consecuencias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Quién gana, quién pierde, qué gasta de energía, qué datos toca. Es la parte que separa la ingeniería de una buena idea.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proyecto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Este curso no se aprueba con un examen final.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aprueba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proyecto de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arranca hoy y se expone en la Clase 15.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es: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propuesta de mejora tecnológica para un problema real del entorno de ustedes —el barrio, la universidad, el trabajo, la casa—. No hay que programarla: hay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diseñarla y defenderla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construye: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6, el problema y la propuesta inicial (cierra Corte 1) · Clases 7 a 11, el ciclo de vida y un prototipo (cierra Corte 2) · Clases 12 a 14, evaluación de impacto y ensayo · Clase 15, exposición final · Clase 16, informe.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semilla es la actividad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problema del entorno que su equipo escriba en los próximos 17 minutos es el candidato número uno a ser el proyecto del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Estrategia del curso: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ABPr, Aprendizaje Basado en Proyectos. La teoría de cada sesión entra porque el proyecto la necesita, no al revés.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Cinco equipos, los mismos todo el semestre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Cinco equipos, y son los mismos todo el semestre.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proyecto es del equipo: cambiar de equipo en la sesión 9 significa empezar de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Cuántos van en cada uno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depende de cuántos seamos hoy: si somos 25, equipos de 5; si somos 35, equipos de 7.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fijo es el número de equipos, no el tamaño.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cinco: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5 equipos × 3 min =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15 min de exposiciones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el bloque cierra a los 90 min. Con equipos de 4 personas y 35 matriculados serían 9 equipos y 27 min: no cabe.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vocero rota cada sesión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anota en la bitácora del equipo. Al final del semestre todos han expuesto al menos dos veces. No hay «el que siempre habla».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quedan tres cosas listas: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integrantes,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carpeta compartida en la nube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permiso de lectura para el docente,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vocero de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de hoy: Ficha del campo de 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un campo por equipo, sorteado · la ficha se escribe en la carpeta del equipo (Google Docs o Slides)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CAMPO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nombre del campo y una frase propia que explique de qué se ocupa. No copiar la frase de la diapositiva.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UN DÍA DE TRABAJO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tareas concretas que alguien de ese campo hace en una jornada. En verbo: «revisa…», «escribe…», «negocia…».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PROBLEMA DEL ENTORNO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 problema real que ustedes hayan visto y que ese campo podría mejorar.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lo sufre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(un rol concreto)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cifra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lo mida, aunque sea estimada.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NO 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confusión frecuente sobre ese campo y por qué es falsa.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SI SE HACE MAL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Una consecuencia concreta —social, ambiental o económica— de hacer mal ese trabajo. A quién le pasa y qué pierde.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· cronómetro proyectado · se corta a los 3 min desde hoy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El campo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es y de qué se ocupa, en sus palabras.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El problema del entorno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Quién lo sufre y la cifra. Es lo que más pesa.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confusión frecuente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cree la gente y por qué es falso.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60 s · Si se hace mal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 quién le pasa y qué pierde.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Lectura del documento maestro del programa y mapa conceptual del perfil del ingeniero de sistemas (una hoja, a mano o en la herramienta que prefieran).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la historia de la Ingeniería de Sistemas: buscar tres hechos anteriores a 1990 que hoy sigan afectando cómo se construye software, y traer la fuente de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2 · Historia y evolución de la ingeniería — se construye una línea de tiempo por equipos en diagrams.net.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Quien no traiga los tres hechos no puede aportar a la línea de tiempo de su equipo, y la línea de tiempo es la actividad calificada de la sesión 2.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salir: el enlace de la carpeta del equipo,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Presentación del curso y diagnóstico inicial · Clase 1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Ingeniería es decidir con criterio, no solo saber cómo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