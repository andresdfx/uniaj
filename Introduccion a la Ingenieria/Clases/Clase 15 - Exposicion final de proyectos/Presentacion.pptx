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pregunta y califica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se califican,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 qué se califica hoy</a:t>
            </a:r>
          </a:p>
        </p:txBody>
      </p:sp>
      <p:graphicFrame>
        <p:nvGraphicFramePr>
          <p:cNvPr id="5" name="Table 4"/>
          <p:cNvGraphicFramePr>
            <a:graphicFrameLocks noGrp="1"/>
          </p:cNvGraphicFramePr>
          <p:nvPr/>
        </p:nvGraphicFramePr>
        <p:xfrm>
          <a:off x="457200" y="1216152"/>
          <a:ext cx="8412480" cy="2304288"/>
        </p:xfrm>
        <a:graphic>
          <a:graphicData uri="http://schemas.openxmlformats.org/drawingml/2006/table">
            <a:tbl>
              <a:tblPr firstRow="1" bandRow="1">
                <a:tableStyleId>{5C22544A-7EE6-4342-B048-85BDC9FD1C3A}</a:tableStyleId>
              </a:tblPr>
              <a:tblGrid>
                <a:gridCol w="2651760"/>
                <a:gridCol w="4937760"/>
                <a:gridCol w="822960"/>
              </a:tblGrid>
              <a:tr h="384048">
                <a:tc>
                  <a:txBody>
                    <a:bodyPr/>
                    <a:lstStyle/>
                    <a:p>
                      <a:r>
                        <a:rPr sz="1200" b="1" i="0">
                          <a:solidFill>
                            <a:srgbClr val="FFFFFF"/>
                          </a:solidFill>
                          <a:latin typeface="Calibri"/>
                        </a:rPr>
                        <a:t>Tramo de la exposición</a:t>
                      </a:r>
                    </a:p>
                  </a:txBody>
                  <a:tcPr>
                    <a:solidFill>
                      <a:srgbClr val="095292"/>
                    </a:solidFill>
                  </a:tcPr>
                </a:tc>
                <a:tc>
                  <a:txBody>
                    <a:bodyPr/>
                    <a:lstStyle/>
                    <a:p>
                      <a:r>
                        <a:rPr sz="1200" b="1" i="0">
                          <a:solidFill>
                            <a:srgbClr val="FFFFFF"/>
                          </a:solidFill>
                          <a:latin typeface="Calibri"/>
                        </a:rPr>
                        <a:t>Qué se busca</a:t>
                      </a:r>
                    </a:p>
                  </a:txBody>
                  <a:tcPr>
                    <a:solidFill>
                      <a:srgbClr val="095292"/>
                    </a:solidFill>
                  </a:tcPr>
                </a:tc>
                <a:tc>
                  <a:txBody>
                    <a:bodyPr/>
                    <a:lstStyle/>
                    <a:p>
                      <a:r>
                        <a:rPr sz="1200" b="1" i="0">
                          <a:solidFill>
                            <a:srgbClr val="FFFFFF"/>
                          </a:solidFill>
                          <a:latin typeface="Calibri"/>
                        </a:rPr>
                        <a:t>Pts</a:t>
                      </a:r>
                    </a:p>
                  </a:txBody>
                  <a:tcPr>
                    <a:solidFill>
                      <a:srgbClr val="095292"/>
                    </a:solidFill>
                  </a:tcPr>
                </a:tc>
              </a:tr>
              <a:tr h="384048">
                <a:tc>
                  <a:txBody>
                    <a:bodyPr/>
                    <a:lstStyle/>
                    <a:p>
                      <a:r>
                        <a:rPr sz="1100" b="0" i="0">
                          <a:solidFill>
                            <a:srgbClr val="333333"/>
                          </a:solidFill>
                          <a:latin typeface="Calibri"/>
                        </a:rPr>
                        <a:t>1 · El problema con su cifra</a:t>
                      </a:r>
                    </a:p>
                  </a:txBody>
                  <a:tcPr>
                    <a:solidFill>
                      <a:srgbClr val="FFFFFF"/>
                    </a:solidFill>
                  </a:tcPr>
                </a:tc>
                <a:tc>
                  <a:txBody>
                    <a:bodyPr/>
                    <a:lstStyle/>
                    <a:p>
                      <a:r>
                        <a:rPr sz="1100" b="0" i="0">
                          <a:solidFill>
                            <a:srgbClr val="333333"/>
                          </a:solidFill>
                          <a:latin typeface="Calibri"/>
                        </a:rPr>
                        <a:t>Arranca por el problema, no por presentaciones. Trae </a:t>
                      </a:r>
                      <a:r>
                        <a:rPr sz="1100" b="1" i="0">
                          <a:solidFill>
                            <a:srgbClr val="333333"/>
                          </a:solidFill>
                          <a:latin typeface="Calibri"/>
                        </a:rPr>
                        <a:t>un número</a:t>
                      </a:r>
                      <a:r>
                        <a:rPr sz="1100" b="0" i="0">
                          <a:solidFill>
                            <a:srgbClr val="333333"/>
                          </a:solidFill>
                          <a:latin typeface="Calibri"/>
                        </a:rPr>
                        <a:t> y de dónde salió.</a:t>
                      </a:r>
                    </a:p>
                  </a:txBody>
                  <a:tcPr>
                    <a:solidFill>
                      <a:srgbClr val="FFFFFF"/>
                    </a:solidFill>
                  </a:tcPr>
                </a:tc>
                <a:tc>
                  <a:txBody>
                    <a:bodyPr/>
                    <a:lstStyle/>
                    <a:p>
                      <a:r>
                        <a:rPr sz="1100" b="0" i="0">
                          <a:solidFill>
                            <a:srgbClr val="333333"/>
                          </a:solidFill>
                          <a:latin typeface="Calibri"/>
                        </a:rPr>
                        <a:t>20</a:t>
                      </a:r>
                    </a:p>
                  </a:txBody>
                  <a:tcPr>
                    <a:solidFill>
                      <a:srgbClr val="FFFFFF"/>
                    </a:solidFill>
                  </a:tcPr>
                </a:tc>
              </a:tr>
              <a:tr h="384048">
                <a:tc>
                  <a:txBody>
                    <a:bodyPr/>
                    <a:lstStyle/>
                    <a:p>
                      <a:r>
                        <a:rPr sz="1100" b="0" i="0">
                          <a:solidFill>
                            <a:srgbClr val="333333"/>
                          </a:solidFill>
                          <a:latin typeface="Calibri"/>
                        </a:rPr>
                        <a:t>2 · Los afectados y la decisión</a:t>
                      </a:r>
                    </a:p>
                  </a:txBody>
                  <a:tcPr>
                    <a:solidFill>
                      <a:srgbClr val="F2F2F2"/>
                    </a:solidFill>
                  </a:tcPr>
                </a:tc>
                <a:tc>
                  <a:txBody>
                    <a:bodyPr/>
                    <a:lstStyle/>
                    <a:p>
                      <a:r>
                        <a:rPr sz="1100" b="0" i="0">
                          <a:solidFill>
                            <a:srgbClr val="333333"/>
                          </a:solidFill>
                          <a:latin typeface="Calibri"/>
                        </a:rPr>
                        <a:t>Incluye un afectado que </a:t>
                      </a:r>
                      <a:r>
                        <a:rPr sz="1100" b="1" i="0">
                          <a:solidFill>
                            <a:srgbClr val="333333"/>
                          </a:solidFill>
                          <a:latin typeface="Calibri"/>
                        </a:rPr>
                        <a:t>no es usuario</a:t>
                      </a:r>
                      <a:r>
                        <a:rPr sz="1100" b="0" i="0">
                          <a:solidFill>
                            <a:srgbClr val="333333"/>
                          </a:solidFill>
                          <a:latin typeface="Calibri"/>
                        </a:rPr>
                        <a:t> y dice </a:t>
                      </a:r>
                      <a:r>
                        <a:rPr sz="1100" b="1" i="0">
                          <a:solidFill>
                            <a:srgbClr val="333333"/>
                          </a:solidFill>
                          <a:latin typeface="Calibri"/>
                        </a:rPr>
                        <a:t>qué se sacrificó</a:t>
                      </a:r>
                      <a:r>
                        <a:rPr sz="1100" b="0" i="0">
                          <a:solidFill>
                            <a:srgbClr val="333333"/>
                          </a:solidFill>
                          <a:latin typeface="Calibri"/>
                        </a:rPr>
                        <a:t> al decidir.</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3 · La solución y el prototipo en vivo</a:t>
                      </a:r>
                    </a:p>
                  </a:txBody>
                  <a:tcPr>
                    <a:solidFill>
                      <a:srgbClr val="FFFFFF"/>
                    </a:solidFill>
                  </a:tcPr>
                </a:tc>
                <a:tc>
                  <a:txBody>
                    <a:bodyPr/>
                    <a:lstStyle/>
                    <a:p>
                      <a:r>
                        <a:rPr sz="1100" b="1" i="0">
                          <a:solidFill>
                            <a:srgbClr val="333333"/>
                          </a:solidFill>
                          <a:latin typeface="Calibri"/>
                        </a:rPr>
                        <a:t>Muestra una tarea cumpliéndose</a:t>
                      </a:r>
                      <a:r>
                        <a:rPr sz="1100" b="0" i="0">
                          <a:solidFill>
                            <a:srgbClr val="333333"/>
                          </a:solidFill>
                          <a:latin typeface="Calibri"/>
                        </a:rPr>
                        <a:t>, no describe la pantalla. Cabe en 3 minutos.</a:t>
                      </a:r>
                    </a:p>
                  </a:txBody>
                  <a:tcPr>
                    <a:solidFill>
                      <a:srgbClr val="FFFFFF"/>
                    </a:solidFill>
                  </a:tcPr>
                </a:tc>
                <a:tc>
                  <a:txBody>
                    <a:bodyPr/>
                    <a:lstStyle/>
                    <a:p>
                      <a:r>
                        <a:rPr sz="1100" b="0" i="0">
                          <a:solidFill>
                            <a:srgbClr val="333333"/>
                          </a:solidFill>
                          <a:latin typeface="Calibri"/>
                        </a:rPr>
                        <a:t>25</a:t>
                      </a:r>
                    </a:p>
                  </a:txBody>
                  <a:tcPr>
                    <a:solidFill>
                      <a:srgbClr val="FFFFFF"/>
                    </a:solidFill>
                  </a:tcPr>
                </a:tc>
              </a:tr>
              <a:tr h="384048">
                <a:tc>
                  <a:txBody>
                    <a:bodyPr/>
                    <a:lstStyle/>
                    <a:p>
                      <a:r>
                        <a:rPr sz="1100" b="0" i="0">
                          <a:solidFill>
                            <a:srgbClr val="333333"/>
                          </a:solidFill>
                          <a:latin typeface="Calibri"/>
                        </a:rPr>
                        <a:t>4 · Lo que falló y lo que aprendimos</a:t>
                      </a:r>
                    </a:p>
                  </a:txBody>
                  <a:tcPr>
                    <a:solidFill>
                      <a:srgbClr val="F2F2F2"/>
                    </a:solidFill>
                  </a:tcPr>
                </a:tc>
                <a:tc>
                  <a:txBody>
                    <a:bodyPr/>
                    <a:lstStyle/>
                    <a:p>
                      <a:r>
                        <a:rPr sz="1100" b="0" i="0">
                          <a:solidFill>
                            <a:srgbClr val="333333"/>
                          </a:solidFill>
                          <a:latin typeface="Calibri"/>
                        </a:rPr>
                        <a:t>Hallazgos con personas reales, qué se arregló y </a:t>
                      </a:r>
                      <a:r>
                        <a:rPr sz="1100" b="1" i="0">
                          <a:solidFill>
                            <a:srgbClr val="333333"/>
                          </a:solidFill>
                          <a:latin typeface="Calibri"/>
                        </a:rPr>
                        <a:t>qué se decidió no arreglar</a:t>
                      </a:r>
                      <a:r>
                        <a:rPr sz="1100" b="0" i="0">
                          <a:solidFill>
                            <a:srgbClr val="333333"/>
                          </a:solidFill>
                          <a:latin typeface="Calibri"/>
                        </a:rPr>
                        <a:t>.</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5 · Impacto y siguiente paso</a:t>
                      </a:r>
                    </a:p>
                  </a:txBody>
                  <a:tcPr>
                    <a:solidFill>
                      <a:srgbClr val="FFFFFF"/>
                    </a:solidFill>
                  </a:tcPr>
                </a:tc>
                <a:tc>
                  <a:txBody>
                    <a:bodyPr/>
                    <a:lstStyle/>
                    <a:p>
                      <a:r>
                        <a:rPr sz="1100" b="0" i="0">
                          <a:solidFill>
                            <a:srgbClr val="333333"/>
                          </a:solidFill>
                          <a:latin typeface="Calibri"/>
                        </a:rPr>
                        <a:t>El impacto positivo con su número </a:t>
                      </a:r>
                      <a:r>
                        <a:rPr sz="1100" b="1" i="0">
                          <a:solidFill>
                            <a:srgbClr val="333333"/>
                          </a:solidFill>
                          <a:latin typeface="Calibri"/>
                        </a:rPr>
                        <a:t>y el negativo con su mitigación</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15</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Además: </a:t>
            </a:r>
            <a:r>
              <a:rPr sz="1100" b="1" i="1">
                <a:solidFill>
                  <a:srgbClr val="666666"/>
                </a:solidFill>
                <a:latin typeface="Calibri"/>
              </a:rPr>
              <a:t>se corta a los 9 minutos</a:t>
            </a:r>
            <a:r>
              <a:rPr sz="1100" b="0" i="1">
                <a:solidFill>
                  <a:srgbClr val="666666"/>
                </a:solidFill>
                <a:latin typeface="Calibri"/>
              </a:rPr>
              <a:t>, y de los cien puntos se descuentan hasta </a:t>
            </a:r>
            <a:r>
              <a:rPr sz="1100" b="1" i="1">
                <a:solidFill>
                  <a:srgbClr val="666666"/>
                </a:solidFill>
                <a:latin typeface="Calibri"/>
              </a:rPr>
              <a:t>10 si no todos los integrantes hablan</a:t>
            </a:r>
            <a:r>
              <a:rPr sz="1100" b="0" i="1">
                <a:solidFill>
                  <a:srgbClr val="666666"/>
                </a:solidFill>
                <a:latin typeface="Calibri"/>
              </a:rPr>
              <a:t> y hasta </a:t>
            </a:r>
            <a:r>
              <a:rPr sz="1100" b="1" i="1">
                <a:solidFill>
                  <a:srgbClr val="666666"/>
                </a:solidFill>
                <a:latin typeface="Calibri"/>
              </a:rPr>
              <a:t>10 si nadie sabe responder una pregunta de su propio tramo</a:t>
            </a:r>
            <a:r>
              <a:rPr sz="1100" b="0" i="1">
                <a:solidFill>
                  <a:srgbClr val="666666"/>
                </a:solidFill>
                <a:latin typeface="Calibri"/>
              </a:rPr>
              <a:t>. La exposición vale el </a:t>
            </a:r>
            <a:r>
              <a:rPr sz="1100" b="1" i="1">
                <a:solidFill>
                  <a:srgbClr val="666666"/>
                </a:solidFill>
                <a:latin typeface="Calibri"/>
              </a:rPr>
              <a:t>15 %</a:t>
            </a:r>
            <a:r>
              <a:rPr sz="1100" b="0" i="1">
                <a:solidFill>
                  <a:srgbClr val="666666"/>
                </a:solidFill>
                <a:latin typeface="Calibri"/>
              </a:rPr>
              <a:t> del curso.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se califica dentro de la nota de exposiciones del corte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se califican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el tramo de 25 puntos</a:t>
            </a:r>
            <a:r>
              <a:rPr sz="1400" b="0" i="0">
                <a:solidFill>
                  <a:srgbClr val="333333"/>
                </a:solidFill>
                <a:latin typeface="Calibri"/>
              </a:rPr>
              <a:t>. Es literalmente para hoy que se preparó eso en la Clase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Clase 16, que vale el 20 %</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encuadra el día, y por qué el sorteo importa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apertura de hoy tiene una función distinta a la de las otras sesiones: no introduce un tema, </a:t>
            </a:r>
            <a:r>
              <a:rPr sz="2000" b="1" i="0">
                <a:solidFill>
                  <a:srgbClr val="333333"/>
                </a:solidFill>
                <a:latin typeface="Calibri"/>
              </a:rPr>
              <a:t>baja la ansiedad y fija las reglas</a:t>
            </a:r>
            <a:r>
              <a:rPr sz="2000" b="0" i="0">
                <a:solidFill>
                  <a:srgbClr val="333333"/>
                </a:solidFill>
                <a:latin typeface="Calibri"/>
              </a:rPr>
              <a:t>.</a:t>
            </a:r>
          </a:p>
          <a:p>
            <a:pPr>
              <a:spcAft>
                <a:spcPts val="800"/>
              </a:spcAft>
            </a:pPr>
            <a:r>
              <a:rPr sz="2000" b="0" i="0">
                <a:solidFill>
                  <a:srgbClr val="333333"/>
                </a:solidFill>
                <a:latin typeface="Calibri"/>
              </a:rPr>
              <a:t>–   La pregunta de entrada —«¿cuál fue la decisión que más les costó tomar?»— se responde con una línea por equipo en el muro y sirve para dos cosas: los pone a hablar antes de exponer, y les recuerda que </a:t>
            </a:r>
            <a:r>
              <a:rPr sz="2000" b="1" i="0">
                <a:solidFill>
                  <a:srgbClr val="333333"/>
                </a:solidFill>
                <a:latin typeface="Calibri"/>
              </a:rPr>
              <a:t>lo que se califica es la decisión, no el resultado</a:t>
            </a:r>
            <a:r>
              <a:rPr sz="2000" b="0" i="0">
                <a:solidFill>
                  <a:srgbClr val="333333"/>
                </a:solidFill>
                <a:latin typeface="Calibri"/>
              </a:rPr>
              <a:t>.</a:t>
            </a:r>
          </a:p>
          <a:p>
            <a:pPr>
              <a:spcAft>
                <a:spcPts val="800"/>
              </a:spcAft>
            </a:pPr>
            <a:r>
              <a:rPr sz="2000" b="0" i="0">
                <a:solidFill>
                  <a:srgbClr val="333333"/>
                </a:solidFill>
                <a:latin typeface="Calibri"/>
              </a:rPr>
              <a:t>–   Muchos equipos llegan creyendo que van a ser juzgados por si su prototipo es bonito. </a:t>
            </a:r>
            <a:r>
              <a:rPr sz="2000" b="1" i="0">
                <a:solidFill>
                  <a:srgbClr val="333333"/>
                </a:solidFill>
                <a:latin typeface="Calibri"/>
              </a:rPr>
              <a:t>El sorteo del orden se hace en vivo y en pantalla.</a:t>
            </a:r>
            <a:r>
              <a:rPr sz="2000" b="0" i="0">
                <a:solidFill>
                  <a:srgbClr val="333333"/>
                </a:solidFill>
                <a:latin typeface="Calibri"/>
              </a:rPr>
              <a:t> No es teatro: si el orden se anuncia antes</a:t>
            </a:r>
          </a:p>
          <a:p>
            <a:pPr>
              <a:spcAft>
                <a:spcPts val="800"/>
              </a:spcAft>
            </a:pPr>
            <a:r>
              <a:rPr sz="2000" b="0" i="0">
                <a:solidFill>
                  <a:srgbClr val="333333"/>
                </a:solidFill>
                <a:latin typeface="Calibri"/>
              </a:rPr>
              <a:t>–   Los últimos equipos siguen preparando durante las primeras exposiciones y no escuchan.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encuadra el día, y por qué el sorteo importa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primera exposición, </a:t>
            </a:r>
            <a:r>
              <a:rPr sz="2000" b="1" i="0">
                <a:solidFill>
                  <a:srgbClr val="333333"/>
                </a:solidFill>
                <a:latin typeface="Calibri"/>
              </a:rPr>
              <a:t>verifique en voz alta el plan B de los cinco equipos</a:t>
            </a:r>
            <a:r>
              <a:rPr sz="2000" b="0" i="0">
                <a:solidFill>
                  <a:srgbClr val="333333"/>
                </a:solidFill>
                <a:latin typeface="Calibri"/>
              </a:rPr>
              <a:t>: PDF descargado y capturas en la carpeta.</a:t>
            </a:r>
          </a:p>
          <a:p>
            <a:pPr>
              <a:spcAft>
                <a:spcPts val="800"/>
              </a:spcAft>
            </a:pPr>
            <a:r>
              <a:rPr sz="2000" b="0" i="0">
                <a:solidFill>
                  <a:srgbClr val="333333"/>
                </a:solidFill>
                <a:latin typeface="Calibri"/>
              </a:rPr>
              <a:t>–   Un equipo que no lo tenga y cuyo prototipo no cargue pierde el tramo de 25 puntos por algo que se prevenía en cinco minutos.</a:t>
            </a:r>
          </a:p>
          <a:p>
            <a:pPr>
              <a:spcAft>
                <a:spcPts val="800"/>
              </a:spcAft>
            </a:pPr>
            <a:r>
              <a:rPr sz="2000" b="0" i="0">
                <a:solidFill>
                  <a:srgbClr val="333333"/>
                </a:solidFill>
                <a:latin typeface="Calibri"/>
              </a:rPr>
              <a:t>–   Sobre el rol de quien no expone, hay que ser explícito porque de lo contrario nadie escucha: </a:t>
            </a:r>
            <a:r>
              <a:rPr sz="2000" b="1" i="0">
                <a:solidFill>
                  <a:srgbClr val="333333"/>
                </a:solidFill>
                <a:latin typeface="Calibri"/>
              </a:rPr>
              <a:t>la ficha de valoración entre pares se califica</a:t>
            </a:r>
            <a:r>
              <a:rPr sz="2000" b="0" i="0">
                <a:solidFill>
                  <a:srgbClr val="333333"/>
                </a:solidFill>
                <a:latin typeface="Calibri"/>
              </a:rPr>
              <a:t>, dentro de la nota de exposiciones del corte.</a:t>
            </a:r>
          </a:p>
          <a:p>
            <a:pPr>
              <a:spcAft>
                <a:spcPts val="800"/>
              </a:spcAft>
            </a:pPr>
            <a:r>
              <a:rPr sz="2000" b="0" i="0">
                <a:solidFill>
                  <a:srgbClr val="333333"/>
                </a:solidFill>
                <a:latin typeface="Calibri"/>
              </a:rPr>
              <a:t>–   Y la ficha tiene un beneficio para quien la llena: obliga a comparar el proyecto propio con cuatro más, que es la manera más rápida de ver los vacíos del propio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cada tramo, sin discutir con el reloj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rúbrica se proyecta al empezar y hay que dejarla visible: calificar con criterios publicados evita la discusión posterior y, sobre todo, </a:t>
            </a:r>
            <a:r>
              <a:rPr sz="2000" b="1" i="0">
                <a:solidFill>
                  <a:srgbClr val="333333"/>
                </a:solidFill>
                <a:latin typeface="Calibri"/>
              </a:rPr>
              <a:t>le dice al que expone qué es lo importante</a:t>
            </a:r>
            <a:r>
              <a:rPr sz="2000" b="0" i="0">
                <a:solidFill>
                  <a:srgbClr val="333333"/>
                </a:solidFill>
                <a:latin typeface="Calibri"/>
              </a:rPr>
              <a:t>.</a:t>
            </a:r>
          </a:p>
          <a:p>
            <a:pPr>
              <a:spcAft>
                <a:spcPts val="800"/>
              </a:spcAft>
            </a:pPr>
            <a:r>
              <a:rPr sz="2000" b="0" i="0">
                <a:solidFill>
                  <a:srgbClr val="333333"/>
                </a:solidFill>
                <a:latin typeface="Calibri"/>
              </a:rPr>
              <a:t>–   Los pesos no son arbitrarios — el tramo 3 vale más porque es la evidencia de que hicieron algo</a:t>
            </a:r>
          </a:p>
          <a:p>
            <a:pPr>
              <a:spcAft>
                <a:spcPts val="800"/>
              </a:spcAft>
            </a:pPr>
            <a:r>
              <a:rPr sz="2000" b="0" i="0">
                <a:solidFill>
                  <a:srgbClr val="333333"/>
                </a:solidFill>
                <a:latin typeface="Calibri"/>
              </a:rPr>
              <a:t>–   Y el tramo 4 vale 20 porque es lo que distingue un proyecto de una idea. </a:t>
            </a:r>
            <a:r>
              <a:rPr sz="2000" b="1" i="0">
                <a:solidFill>
                  <a:srgbClr val="333333"/>
                </a:solidFill>
                <a:latin typeface="Calibri"/>
              </a:rPr>
              <a:t>Califique mientras escucha, no después.</a:t>
            </a:r>
            <a:r>
              <a:rPr sz="2000" b="0" i="0">
                <a:solidFill>
                  <a:srgbClr val="333333"/>
                </a:solidFill>
                <a:latin typeface="Calibri"/>
              </a:rPr>
              <a:t> Con cinco equipos seguidos, la memoria mezcla las exposiciones y termina premiando al último.</a:t>
            </a:r>
          </a:p>
          <a:p>
            <a:pPr>
              <a:spcAft>
                <a:spcPts val="800"/>
              </a:spcAft>
            </a:pPr>
            <a:r>
              <a:rPr sz="2000" b="0" i="0">
                <a:solidFill>
                  <a:srgbClr val="333333"/>
                </a:solidFill>
                <a:latin typeface="Calibri"/>
              </a:rPr>
              <a:t>–   El segundo descuento es el que más enseña: destapa al equipo donde uno solo hizo el trabajo y los demás leyeron un guion. </a:t>
            </a:r>
            <a:r>
              <a:rPr sz="2000" b="1" i="0">
                <a:solidFill>
                  <a:srgbClr val="333333"/>
                </a:solidFill>
                <a:latin typeface="Calibri"/>
              </a:rPr>
              <a:t>Sobre el corte a los nueve minutos:</a:t>
            </a:r>
            <a:r>
              <a:rPr sz="2000" b="0" i="0">
                <a:solidFill>
                  <a:srgbClr val="333333"/>
                </a:solidFill>
                <a:latin typeface="Calibri"/>
              </a:rPr>
              <a:t> avise en el chat a los 8, y corte a los 9 aunque quede una frase a medias.</a:t>
            </a:r>
          </a:p>
          <a:p>
            <a:pPr>
              <a:spcAft>
                <a:spcPts val="800"/>
              </a:spcAft>
            </a:pPr>
            <a:r>
              <a:rPr sz="2000" b="0" i="0">
                <a:solidFill>
                  <a:srgbClr val="333333"/>
                </a:solidFill>
                <a:latin typeface="Calibri"/>
              </a:rPr>
              <a:t>–   Es incómodo la primera vez y después el curso lo acepta como parte del juego.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cada tramo, sin discutir con el reloj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argumento, si alguien reclama, es aritmético y no disciplinario: cinco equipos por 12 minutos son 60</a:t>
            </a:r>
          </a:p>
          <a:p>
            <a:pPr>
              <a:spcAft>
                <a:spcPts val="800"/>
              </a:spcAft>
            </a:pPr>
            <a:r>
              <a:rPr sz="2000" b="0" i="0">
                <a:solidFill>
                  <a:srgbClr val="333333"/>
                </a:solidFill>
                <a:latin typeface="Calibri"/>
              </a:rPr>
              <a:t>–   Y el tiempo que un equipo se pasa lo pierde el último. </a:t>
            </a:r>
            <a:r>
              <a:rPr sz="2000" b="1" i="0">
                <a:solidFill>
                  <a:srgbClr val="333333"/>
                </a:solidFill>
                <a:latin typeface="Calibri"/>
              </a:rPr>
              <a:t>No descuente puntos adicionales por pasarse</a:t>
            </a:r>
            <a:r>
              <a:rPr sz="2000" b="0" i="0">
                <a:solidFill>
                  <a:srgbClr val="333333"/>
                </a:solidFill>
                <a:latin typeface="Calibri"/>
              </a:rPr>
              <a:t>: el corte ya es el castigo, porque los tramos que faltaban valen cero.</a:t>
            </a:r>
          </a:p>
          <a:p>
            <a:pPr>
              <a:spcAft>
                <a:spcPts val="800"/>
              </a:spcAft>
            </a:pPr>
            <a:r>
              <a:rPr sz="2000" b="0" i="0">
                <a:solidFill>
                  <a:srgbClr val="333333"/>
                </a:solidFill>
                <a:latin typeface="Calibri"/>
              </a:rPr>
              <a:t>–   Un criterio de calificación que conviene tener claro de antemano: </a:t>
            </a:r>
            <a:r>
              <a:rPr sz="2000" b="1" i="0">
                <a:solidFill>
                  <a:srgbClr val="333333"/>
                </a:solidFill>
                <a:latin typeface="Calibri"/>
              </a:rPr>
              <a:t>un equipo que cuenta un fracaso con honestidad saca más que uno que presenta todo perfecto.</a:t>
            </a:r>
            <a:r>
              <a:rPr sz="2000" b="0" i="0">
                <a:solidFill>
                  <a:srgbClr val="333333"/>
                </a:solidFill>
                <a:latin typeface="Calibri"/>
              </a:rPr>
              <a:t> No es generosidad: en un prototipo de primer semestre</a:t>
            </a:r>
          </a:p>
          <a:p>
            <a:pPr>
              <a:spcAft>
                <a:spcPts val="800"/>
              </a:spcAft>
            </a:pPr>
            <a:r>
              <a:rPr sz="2000" b="0" i="0">
                <a:solidFill>
                  <a:srgbClr val="333333"/>
                </a:solidFill>
                <a:latin typeface="Calibri"/>
              </a:rPr>
              <a:t>–   «todo funcionó a la primera» significa casi siempre que no se probó con nadie.</a:t>
            </a:r>
          </a:p>
          <a:p>
            <a:pPr>
              <a:spcAft>
                <a:spcPts val="800"/>
              </a:spcAft>
            </a:pPr>
            <a:r>
              <a:rPr sz="2000" b="0" i="0">
                <a:solidFill>
                  <a:srgbClr val="333333"/>
                </a:solidFill>
                <a:latin typeface="Calibri"/>
              </a:rPr>
              <a:t>–   Si un equipo no reporta ningún hallazgo en el tramo 4, la pregunta obligatoria es </a:t>
            </a:r>
            <a:r>
              <a:rPr sz="2000" b="1" i="0">
                <a:solidFill>
                  <a:srgbClr val="333333"/>
                </a:solidFill>
                <a:latin typeface="Calibri"/>
              </a:rPr>
              <a:t>«¿con quién lo probaron y qué hizo esa persona?»</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los tres minutos que destapan el trabajo real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tres minutos de preguntas no son un trámite: son la parte de la sesión donde se ve quién entendió el proyecto.</a:t>
            </a:r>
          </a:p>
          <a:p>
            <a:pPr>
              <a:spcAft>
                <a:spcPts val="800"/>
              </a:spcAft>
            </a:pPr>
            <a:r>
              <a:rPr sz="2000" b="0" i="0">
                <a:solidFill>
                  <a:srgbClr val="333333"/>
                </a:solidFill>
                <a:latin typeface="Calibri"/>
              </a:rPr>
              <a:t>–   Enseñe explícitamente que </a:t>
            </a:r>
            <a:r>
              <a:rPr sz="2000" b="1" i="0">
                <a:solidFill>
                  <a:srgbClr val="333333"/>
                </a:solidFill>
                <a:latin typeface="Calibri"/>
              </a:rPr>
              <a:t>«no lo medimos» es una respuesta válida y buena</a:t>
            </a:r>
            <a:r>
              <a:rPr sz="2000" b="0" i="0">
                <a:solidFill>
                  <a:srgbClr val="333333"/>
                </a:solidFill>
                <a:latin typeface="Calibri"/>
              </a:rPr>
              <a:t>.</a:t>
            </a:r>
          </a:p>
          <a:p>
            <a:pPr>
              <a:spcAft>
                <a:spcPts val="800"/>
              </a:spcAft>
            </a:pPr>
            <a:r>
              <a:rPr sz="2000" b="0" i="0">
                <a:solidFill>
                  <a:srgbClr val="333333"/>
                </a:solidFill>
                <a:latin typeface="Calibri"/>
              </a:rPr>
              <a:t>–   Un estudiante de primer semestre cree que no saber es un fracaso, y por eso inventa cifras.</a:t>
            </a:r>
          </a:p>
          <a:p>
            <a:pPr>
              <a:spcAft>
                <a:spcPts val="800"/>
              </a:spcAft>
            </a:pPr>
            <a:r>
              <a:rPr sz="2000" b="0" i="0">
                <a:solidFill>
                  <a:srgbClr val="333333"/>
                </a:solidFill>
                <a:latin typeface="Calibri"/>
              </a:rPr>
              <a:t>–   Es la misma lección de la sesión 5 sobre datos con fuente y de la 11 sobre la IA que </a:t>
            </a:r>
            <a:r>
              <a:rPr sz="2000" b="1" i="0">
                <a:solidFill>
                  <a:srgbClr val="333333"/>
                </a:solidFill>
                <a:latin typeface="Calibri"/>
              </a:rPr>
              <a:t>inventa con seguridad</a:t>
            </a:r>
            <a:r>
              <a:rPr sz="2000" b="0" i="0">
                <a:solidFill>
                  <a:srgbClr val="333333"/>
                </a:solidFill>
                <a:latin typeface="Calibri"/>
              </a:rPr>
              <a:t>.</a:t>
            </a:r>
          </a:p>
          <a:p>
            <a:pPr>
              <a:spcAft>
                <a:spcPts val="800"/>
              </a:spcAft>
            </a:pPr>
            <a:r>
              <a:rPr sz="2000" b="0" i="0">
                <a:solidFill>
                  <a:srgbClr val="333333"/>
                </a:solidFill>
                <a:latin typeface="Calibri"/>
              </a:rPr>
              <a:t>–   «No lo hicimos porque no nos alcanzó el tiempo» suena a incumplimiento; </a:t>
            </a:r>
            <a:r>
              <a:rPr sz="2000" b="1" i="0">
                <a:solidFill>
                  <a:srgbClr val="333333"/>
                </a:solidFill>
                <a:latin typeface="Calibri"/>
              </a:rPr>
              <a:t>«decidimos no hacerlo y sacrificamos esto a cambio»</a:t>
            </a:r>
            <a:r>
              <a:rPr sz="2000" b="0" i="0">
                <a:solidFill>
                  <a:srgbClr val="333333"/>
                </a:solidFill>
                <a:latin typeface="Calibri"/>
              </a:rPr>
              <a:t> es exactamente el lenguaje del alcance mínimo de la sesión 8.</a:t>
            </a:r>
          </a:p>
          <a:p>
            <a:pPr>
              <a:spcAft>
                <a:spcPts val="800"/>
              </a:spcAft>
            </a:pPr>
            <a:r>
              <a:rPr sz="2000" b="0" i="0">
                <a:solidFill>
                  <a:srgbClr val="333333"/>
                </a:solidFill>
                <a:latin typeface="Calibri"/>
              </a:rPr>
              <a:t>–   Los equipos ya tienen la decisión escrita desde entonces: solo hay que recordarles que la usen. **Reserve una pregunta suya para cada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los tres minutos que destapan el trabajo real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hágala útil.** Las tres que más rinden: «¿con quién lo probaron y qué hizo esa persona?» —destapa si hubo prueba real—</a:t>
            </a:r>
          </a:p>
          <a:p>
            <a:pPr>
              <a:spcAft>
                <a:spcPts val="800"/>
              </a:spcAft>
            </a:pPr>
            <a:r>
              <a:rPr sz="2000" b="0" i="0">
                <a:solidFill>
                  <a:srgbClr val="333333"/>
                </a:solidFill>
                <a:latin typeface="Calibri"/>
              </a:rPr>
              <a:t>–   «¿qué pasa con alguien que no tiene datos móviles?» —destapa si pensaron en los afectados no usuarios— y «si tuvieran una semana más, ¿qué harían primero?» —destapa si tienen criterio de prioridad o solo una lista de deseos—.</a:t>
            </a:r>
          </a:p>
          <a:p>
            <a:pPr>
              <a:spcAft>
                <a:spcPts val="800"/>
              </a:spcAft>
            </a:pPr>
            <a:r>
              <a:rPr sz="2000" b="0" i="0">
                <a:solidFill>
                  <a:srgbClr val="333333"/>
                </a:solidFill>
                <a:latin typeface="Calibri"/>
              </a:rPr>
              <a:t>–   Cuide el tiempo de las respuestas: tres minutos alcanzan para dos o tres preguntas </a:t>
            </a:r>
            <a:r>
              <a:rPr sz="2000" b="1" i="0">
                <a:solidFill>
                  <a:srgbClr val="333333"/>
                </a:solidFill>
                <a:latin typeface="Calibri"/>
              </a:rPr>
              <a:t>si las respuestas duran treinta segundos</a:t>
            </a:r>
            <a:r>
              <a:rPr sz="2000" b="0" i="0">
                <a:solidFill>
                  <a:srgbClr val="333333"/>
                </a:solidFill>
                <a:latin typeface="Calibri"/>
              </a:rPr>
              <a:t>.</a:t>
            </a:r>
          </a:p>
          <a:p>
            <a:pPr>
              <a:spcAft>
                <a:spcPts val="800"/>
              </a:spcAft>
            </a:pPr>
            <a:r>
              <a:rPr sz="2000" b="0" i="0">
                <a:solidFill>
                  <a:srgbClr val="333333"/>
                </a:solidFill>
                <a:latin typeface="Calibri"/>
              </a:rPr>
              <a:t>–   Una respuesta de dos minutos se come las preguntas de los demás, y hay que interrumpirla con cortesía.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qué hacer con lo que salió hoy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ocho minutos de cierre no son para felicitar.</a:t>
            </a:r>
          </a:p>
          <a:p>
            <a:pPr>
              <a:spcAft>
                <a:spcPts val="800"/>
              </a:spcAft>
            </a:pPr>
            <a:r>
              <a:rPr sz="2000" b="0" i="0">
                <a:solidFill>
                  <a:srgbClr val="333333"/>
                </a:solidFill>
                <a:latin typeface="Calibri"/>
              </a:rPr>
              <a:t>–   Son para </a:t>
            </a:r>
            <a:r>
              <a:rPr sz="2000" b="1" i="0">
                <a:solidFill>
                  <a:srgbClr val="333333"/>
                </a:solidFill>
                <a:latin typeface="Calibri"/>
              </a:rPr>
              <a:t>convertir las cinco exposiciones en trabajo concreto para el informe final</a:t>
            </a:r>
            <a:r>
              <a:rPr sz="2000" b="0" i="0">
                <a:solidFill>
                  <a:srgbClr val="333333"/>
                </a:solidFill>
                <a:latin typeface="Calibri"/>
              </a:rPr>
              <a:t>, que se entrega la próxima sesión y vale el 20 %.</a:t>
            </a:r>
          </a:p>
          <a:p>
            <a:pPr>
              <a:spcAft>
                <a:spcPts val="800"/>
              </a:spcAft>
            </a:pPr>
            <a:r>
              <a:rPr sz="2000" b="0" i="0">
                <a:solidFill>
                  <a:srgbClr val="333333"/>
                </a:solidFill>
                <a:latin typeface="Calibri"/>
              </a:rPr>
              <a:t>–   La instrucción operativa para cada equipo es una: **anoten lo que el curso no entendió de su proyecto</a:t>
            </a:r>
          </a:p>
          <a:p>
            <a:pPr>
              <a:spcAft>
                <a:spcPts val="800"/>
              </a:spcAft>
            </a:pPr>
            <a:r>
              <a:rPr sz="2000" b="0" i="0">
                <a:solidFill>
                  <a:srgbClr val="333333"/>
                </a:solidFill>
                <a:latin typeface="Calibri"/>
              </a:rPr>
              <a:t>–   Porque eso es exactamente lo que hay que escribir mejor en el informe.** Si tres personas preguntaron cómo se actualiza la lista, la sección de la solución no está clara.</a:t>
            </a:r>
          </a:p>
          <a:p>
            <a:pPr>
              <a:spcAft>
                <a:spcPts val="800"/>
              </a:spcAft>
            </a:pPr>
            <a:r>
              <a:rPr sz="2000" b="0" i="0">
                <a:solidFill>
                  <a:srgbClr val="333333"/>
                </a:solidFill>
                <a:latin typeface="Calibri"/>
              </a:rPr>
              <a:t>–   Una pregunta repetida es un diagnóstico gratis.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qué hacer con lo que salió hoy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público, una sola cosa: es la misma regla de la Clase 12 sobre retroalimentación útil.</a:t>
            </a:r>
          </a:p>
          <a:p>
            <a:pPr>
              <a:spcAft>
                <a:spcPts val="800"/>
              </a:spcAft>
            </a:pPr>
            <a:r>
              <a:rPr sz="2000" b="0" i="0">
                <a:solidFill>
                  <a:srgbClr val="333333"/>
                </a:solidFill>
                <a:latin typeface="Calibri"/>
              </a:rPr>
              <a:t>–   Y cierre nombrando lo que efectivamente pasó, sin discurso: hace quince sesiones estos equipos tenían una ocurrencia</a:t>
            </a:r>
          </a:p>
          <a:p>
            <a:pPr>
              <a:spcAft>
                <a:spcPts val="800"/>
              </a:spcAft>
            </a:pPr>
            <a:r>
              <a:rPr sz="2000" b="0" i="0">
                <a:solidFill>
                  <a:srgbClr val="333333"/>
                </a:solidFill>
                <a:latin typeface="Calibri"/>
              </a:rPr>
              <a:t>–   Hoy sustentaron un problema con evidencia, una decisión con criterios, un prototipo probado con personas reales y un impacto con sus costos. </a:t>
            </a:r>
            <a:r>
              <a:rPr sz="2000" b="1" i="0">
                <a:solidFill>
                  <a:srgbClr val="333333"/>
                </a:solidFill>
                <a:latin typeface="Calibri"/>
              </a:rPr>
              <a:t>Eso es el ciclo completo de un proyecto de ingeniería</a:t>
            </a:r>
            <a:r>
              <a:rPr sz="2000" b="0" i="0">
                <a:solidFill>
                  <a:srgbClr val="333333"/>
                </a:solidFill>
                <a:latin typeface="Calibri"/>
              </a:rPr>
              <a:t>, y lo hicieron en primer semestre.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Exposición final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60 min en equipos · 9 min de exposición + 3 de preguntas, por equipo · exposición de 9 min + ficha de valoración de los otros equipos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PROBLEMA CON SU CIFRA</a:t>
            </a:r>
            <a:r>
              <a:rPr sz="1500" b="0" i="0">
                <a:solidFill>
                  <a:srgbClr val="333333"/>
                </a:solidFill>
                <a:latin typeface="Calibri"/>
              </a:rPr>
              <a:t> — Una frase y </a:t>
            </a:r>
            <a:r>
              <a:rPr sz="1500" b="1" i="0">
                <a:solidFill>
                  <a:srgbClr val="333333"/>
                </a:solidFill>
                <a:latin typeface="Calibri"/>
              </a:rPr>
              <a:t>un número</a:t>
            </a:r>
            <a:r>
              <a:rPr sz="1500" b="0" i="0">
                <a:solidFill>
                  <a:srgbClr val="333333"/>
                </a:solidFill>
                <a:latin typeface="Calibri"/>
              </a:rPr>
              <a:t>, con de dónde salió. </a:t>
            </a:r>
            <a:r>
              <a:rPr sz="1500" b="1" i="0">
                <a:solidFill>
                  <a:srgbClr val="333333"/>
                </a:solidFill>
                <a:latin typeface="Calibri"/>
              </a:rPr>
              <a:t>Sin saludos ni presentaciones personales</a:t>
            </a:r>
            <a:r>
              <a:rPr sz="1500" b="0" i="0">
                <a:solidFill>
                  <a:srgbClr val="333333"/>
                </a:solidFill>
                <a:latin typeface="Calibri"/>
              </a:rPr>
              <a:t>: el nombre del equipo está en la diapositiva.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LOS AFECTADOS Y LA DECISIÓN</a:t>
            </a:r>
            <a:r>
              <a:rPr sz="1500" b="0" i="0">
                <a:solidFill>
                  <a:srgbClr val="333333"/>
                </a:solidFill>
                <a:latin typeface="Calibri"/>
              </a:rPr>
              <a:t> — Quiénes son los afectados —</a:t>
            </a:r>
            <a:r>
              <a:rPr sz="1500" b="1" i="0">
                <a:solidFill>
                  <a:srgbClr val="333333"/>
                </a:solidFill>
                <a:latin typeface="Calibri"/>
              </a:rPr>
              <a:t>incluido uno que no es usuario</a:t>
            </a:r>
            <a:r>
              <a:rPr sz="1500" b="0" i="0">
                <a:solidFill>
                  <a:srgbClr val="333333"/>
                </a:solidFill>
                <a:latin typeface="Calibri"/>
              </a:rPr>
              <a:t>— y qué alternativa se eligió, </a:t>
            </a:r>
            <a:r>
              <a:rPr sz="1500" b="1" i="0">
                <a:solidFill>
                  <a:srgbClr val="333333"/>
                </a:solidFill>
                <a:latin typeface="Calibri"/>
              </a:rPr>
              <a:t>diciendo qué se sacrificó</a:t>
            </a:r>
            <a:r>
              <a:rPr sz="1500" b="0" i="0">
                <a:solidFill>
                  <a:srgbClr val="333333"/>
                </a:solidFill>
                <a:latin typeface="Calibri"/>
              </a:rPr>
              <a:t>.</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SOLUCIÓN Y EL PROTOTIPO EN VIVO</a:t>
            </a:r>
            <a:r>
              <a:rPr sz="1500" b="0" i="0">
                <a:solidFill>
                  <a:srgbClr val="333333"/>
                </a:solidFill>
                <a:latin typeface="Calibri"/>
              </a:rPr>
              <a:t> — Un recorrido de </a:t>
            </a:r>
            <a:r>
              <a:rPr sz="1500" b="1" i="0">
                <a:solidFill>
                  <a:srgbClr val="333333"/>
                </a:solidFill>
                <a:latin typeface="Calibri"/>
              </a:rPr>
              <a:t>tres pasos</a:t>
            </a:r>
            <a:r>
              <a:rPr sz="1500" b="0" i="0">
                <a:solidFill>
                  <a:srgbClr val="333333"/>
                </a:solidFill>
                <a:latin typeface="Calibri"/>
              </a:rPr>
              <a:t> mostrando </a:t>
            </a:r>
            <a:r>
              <a:rPr sz="1500" b="1" i="0">
                <a:solidFill>
                  <a:srgbClr val="333333"/>
                </a:solidFill>
                <a:latin typeface="Calibri"/>
              </a:rPr>
              <a:t>una tarea cumpliéndose</a:t>
            </a:r>
            <a:r>
              <a:rPr sz="1500" b="0" i="0">
                <a:solidFill>
                  <a:srgbClr val="333333"/>
                </a:solidFill>
                <a:latin typeface="Calibri"/>
              </a:rPr>
              <a:t>. Narra una persona y maneja la pantalla otra.</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FALLÓ Y LO QUE APRENDIMOS</a:t>
            </a:r>
            <a:r>
              <a:rPr sz="1500" b="0" i="0">
                <a:solidFill>
                  <a:srgbClr val="333333"/>
                </a:solidFill>
                <a:latin typeface="Calibri"/>
              </a:rPr>
              <a:t> — Los hallazgos con personas reales, qué se arregló y </a:t>
            </a:r>
            <a:r>
              <a:rPr sz="1500" b="1" i="0">
                <a:solidFill>
                  <a:srgbClr val="333333"/>
                </a:solidFill>
                <a:latin typeface="Calibri"/>
              </a:rPr>
              <a:t>qué se decidió no arreglar</a:t>
            </a:r>
            <a:r>
              <a:rPr sz="1500" b="0" i="0">
                <a:solidFill>
                  <a:srgbClr val="333333"/>
                </a:solidFill>
                <a:latin typeface="Calibri"/>
              </a:rPr>
              <a:t>, con el motivo.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IMPACTO Y SIGUIENTE PASO</a:t>
            </a:r>
            <a:r>
              <a:rPr sz="1500" b="0" i="0">
                <a:solidFill>
                  <a:srgbClr val="333333"/>
                </a:solidFill>
                <a:latin typeface="Calibri"/>
              </a:rPr>
              <a:t> — El impacto positivo </a:t>
            </a:r>
            <a:r>
              <a:rPr sz="1500" b="1" i="0">
                <a:solidFill>
                  <a:srgbClr val="333333"/>
                </a:solidFill>
                <a:latin typeface="Calibri"/>
              </a:rPr>
              <a:t>con su número</a:t>
            </a:r>
            <a:r>
              <a:rPr sz="1500" b="0" i="0">
                <a:solidFill>
                  <a:srgbClr val="333333"/>
                </a:solidFill>
                <a:latin typeface="Calibri"/>
              </a:rPr>
              <a:t> y el negativo </a:t>
            </a:r>
            <a:r>
              <a:rPr sz="1500" b="1" i="0">
                <a:solidFill>
                  <a:srgbClr val="333333"/>
                </a:solidFill>
                <a:latin typeface="Calibri"/>
              </a:rPr>
              <a:t>con su mitigación</a:t>
            </a:r>
            <a:r>
              <a:rPr sz="1500" b="0" i="0">
                <a:solidFill>
                  <a:srgbClr val="333333"/>
                </a:solidFill>
                <a:latin typeface="Calibri"/>
              </a:rPr>
              <a:t>. Qué haría quien continúe el proyecto.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9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Tramo 1 · 1 min</a:t>
            </a:r>
          </a:p>
          <a:p>
            <a:pPr>
              <a:spcBef>
                <a:spcPts val="200"/>
              </a:spcBef>
            </a:pPr>
            <a:r>
              <a:rPr sz="1300" b="0" i="0">
                <a:solidFill>
                  <a:srgbClr val="333333"/>
                </a:solidFill>
                <a:latin typeface="Calibri"/>
              </a:rPr>
              <a:t>El problema con su cifra. Arranca sin saludos.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Tramo 2 · 2 min</a:t>
            </a:r>
          </a:p>
          <a:p>
            <a:pPr>
              <a:spcBef>
                <a:spcPts val="200"/>
              </a:spcBef>
            </a:pPr>
            <a:r>
              <a:rPr sz="1300" b="0" i="0">
                <a:solidFill>
                  <a:srgbClr val="333333"/>
                </a:solidFill>
                <a:latin typeface="Calibri"/>
              </a:rPr>
              <a:t>Los afectados —uno que no es usuario— y la decisión con su sacrificio.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Tramo 3 · 3 min</a:t>
            </a:r>
          </a:p>
          <a:p>
            <a:pPr>
              <a:spcBef>
                <a:spcPts val="200"/>
              </a:spcBef>
            </a:pPr>
            <a:r>
              <a:rPr sz="1300" b="0" i="0">
                <a:solidFill>
                  <a:srgbClr val="333333"/>
                </a:solidFill>
                <a:latin typeface="Calibri"/>
              </a:rPr>
              <a:t>El prototipo en vivo: tres pasos, una tarea cumpliéndose.</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Tramo 4 · 2 min</a:t>
            </a:r>
          </a:p>
          <a:p>
            <a:pPr>
              <a:spcBef>
                <a:spcPts val="200"/>
              </a:spcBef>
            </a:pPr>
            <a:r>
              <a:rPr sz="1300" b="0" i="0">
                <a:solidFill>
                  <a:srgbClr val="333333"/>
                </a:solidFill>
                <a:latin typeface="Calibri"/>
              </a:rPr>
              <a:t>Los hallazgos de la prueba, lo que se arregló y lo que no.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Tramo 5 · 1 min</a:t>
            </a:r>
          </a:p>
          <a:p>
            <a:pPr>
              <a:spcBef>
                <a:spcPts val="200"/>
              </a:spcBef>
            </a:pPr>
            <a:r>
              <a:rPr sz="1300" b="0" i="0">
                <a:solidFill>
                  <a:srgbClr val="333333"/>
                </a:solidFill>
                <a:latin typeface="Calibri"/>
              </a:rPr>
              <a:t>Impacto positivo con su número, negativo con su mitigación, siguiente paso.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Preguntas · 3 min</a:t>
            </a:r>
          </a:p>
          <a:p>
            <a:pPr>
              <a:spcBef>
                <a:spcPts val="200"/>
              </a:spcBef>
            </a:pPr>
            <a:r>
              <a:rPr sz="1300" b="0" i="0">
                <a:solidFill>
                  <a:srgbClr val="333333"/>
                </a:solidFill>
                <a:latin typeface="Calibri"/>
              </a:rPr>
              <a:t>Una del curso y una del docente. </a:t>
            </a:r>
            <a:r>
              <a:rPr sz="1300" b="1" i="0">
                <a:solidFill>
                  <a:srgbClr val="333333"/>
                </a:solidFill>
                <a:latin typeface="Calibri"/>
              </a:rPr>
              <a:t>Responde quien tiene el tramo.</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Valoración de presentaciones — completar la ficha de valoración de los otros cuatro equipos en el muro, si no quedó terminada en clase.</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Ajustes del informe final: </a:t>
            </a:r>
            <a:r>
              <a:rPr sz="2000" b="1" i="0">
                <a:solidFill>
                  <a:srgbClr val="333333"/>
                </a:solidFill>
                <a:latin typeface="Calibri"/>
              </a:rPr>
              <a:t>reunir las doce secciones</a:t>
            </a:r>
            <a:r>
              <a:rPr sz="2000" b="0" i="0">
                <a:solidFill>
                  <a:srgbClr val="333333"/>
                </a:solidFill>
                <a:latin typeface="Calibri"/>
              </a:rPr>
              <a:t> en un solo documento, tomando lo que ya está escrito desde la sesión 3, y </a:t>
            </a:r>
            <a:r>
              <a:rPr sz="2000" b="1" i="0">
                <a:solidFill>
                  <a:srgbClr val="333333"/>
                </a:solidFill>
                <a:latin typeface="Calibri"/>
              </a:rPr>
              <a:t>escribir el resumen de media página</a:t>
            </a:r>
            <a:r>
              <a:rPr sz="2000" b="0" i="0">
                <a:solidFill>
                  <a:srgbClr val="333333"/>
                </a:solidFill>
                <a:latin typeface="Calibri"/>
              </a:rPr>
              <a:t>, que es lo único nuevo. Y una tarea corta que vale mucho: </a:t>
            </a:r>
            <a:r>
              <a:rPr sz="2000" b="1" i="0">
                <a:solidFill>
                  <a:srgbClr val="333333"/>
                </a:solidFill>
                <a:latin typeface="Calibri"/>
              </a:rPr>
              <a:t>anotar lo que el curso no entendió</a:t>
            </a:r>
            <a:r>
              <a:rPr sz="2000" b="0" i="0">
                <a:solidFill>
                  <a:srgbClr val="333333"/>
                </a:solidFill>
                <a:latin typeface="Calibri"/>
              </a:rPr>
              <a:t> hoy de su proyecto.</a:t>
            </a:r>
          </a:p>
          <a:p>
            <a:pPr>
              <a:spcAft>
                <a:spcPts val="800"/>
              </a:spcAft>
            </a:pPr>
            <a:r>
              <a:rPr sz="2000" b="0" i="0">
                <a:solidFill>
                  <a:srgbClr val="333333"/>
                </a:solidFill>
                <a:latin typeface="Calibri"/>
              </a:rPr>
              <a:t>–   </a:t>
            </a:r>
            <a:r>
              <a:rPr sz="2000" b="1" i="0">
                <a:solidFill>
                  <a:srgbClr val="333333"/>
                </a:solidFill>
                <a:latin typeface="Calibri"/>
              </a:rPr>
              <a:t>Clase 16 · Socialización y evaluación final del curso</a:t>
            </a:r>
            <a:r>
              <a:rPr sz="2000" b="0" i="0">
                <a:solidFill>
                  <a:srgbClr val="333333"/>
                </a:solidFill>
                <a:latin typeface="Calibri"/>
              </a:rPr>
              <a:t> — es la última: se </a:t>
            </a:r>
            <a:r>
              <a:rPr sz="2000" b="1" i="0">
                <a:solidFill>
                  <a:srgbClr val="333333"/>
                </a:solidFill>
                <a:latin typeface="Calibri"/>
              </a:rPr>
              <a:t>entrega el informe final (20 %)</a:t>
            </a:r>
            <a:r>
              <a:rPr sz="2000" b="0" i="0">
                <a:solidFill>
                  <a:srgbClr val="333333"/>
                </a:solidFill>
                <a:latin typeface="Calibri"/>
              </a:rPr>
              <a:t>, se socializa la galería de proyectos del curso y se hace la </a:t>
            </a:r>
            <a:r>
              <a:rPr sz="2000" b="1" i="0">
                <a:solidFill>
                  <a:srgbClr val="333333"/>
                </a:solidFill>
                <a:latin typeface="Calibri"/>
              </a:rPr>
              <a:t>autoevaluación y coevaluación</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El informe se entrega </a:t>
            </a:r>
            <a:r>
              <a:rPr sz="2000" b="1" i="0">
                <a:solidFill>
                  <a:srgbClr val="333333"/>
                </a:solidFill>
                <a:latin typeface="Calibri"/>
              </a:rPr>
              <a:t>en la Clase 16, dentro de la clase</a:t>
            </a:r>
            <a:r>
              <a:rPr sz="2000" b="0" i="0">
                <a:solidFill>
                  <a:srgbClr val="333333"/>
                </a:solidFill>
                <a:latin typeface="Calibri"/>
              </a:rPr>
              <a:t>: se revisa y se completa ahí mismo, con la lista de verificación. Lleguen con el documento armado —no con las secciones dispersas en cinco archivos— porque los 24 minutos de revisión no alcanzan para copiar y pegar el curso entero.</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