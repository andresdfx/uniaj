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2560320"/>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2560320"/>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2560320"/>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2560320"/>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943600"/>
            <a:ext cx="11277295" cy="365760"/>
          </a:xfrm>
          <a:prstGeom prst="rect">
            <a:avLst/>
          </a:prstGeom>
          <a:noFill/>
        </p:spPr>
        <p:txBody>
          <a:bodyPr wrap="square">
            <a:spAutoFit/>
          </a:bodyPr>
          <a:lstStyle/>
          <a:p>
            <a:pPr algn="ctr"/>
            <a:r>
              <a:rPr sz="1200" b="1" i="1">
                <a:solidFill>
                  <a:srgbClr val="666666"/>
                </a:solidFill>
                <a:latin typeface="Calibri"/>
              </a:rPr>
              <a:t>Se corta a los nueve minutos</a:t>
            </a:r>
            <a:r>
              <a:rPr sz="1200" b="0" i="1">
                <a:solidFill>
                  <a:srgbClr val="666666"/>
                </a:solidFill>
                <a:latin typeface="Calibri"/>
              </a:rPr>
              <a:t>, sin excepción y aunque quede una frase a medias: con cinco equipos en 90 minutos, el tiempo que un equipo se pasa lo pierde el último. Los </a:t>
            </a:r>
            <a:r>
              <a:rPr sz="1200" b="1" i="1">
                <a:solidFill>
                  <a:srgbClr val="666666"/>
                </a:solidFill>
                <a:latin typeface="Calibri"/>
              </a:rPr>
              <a:t>tres minutos de preguntas</a:t>
            </a:r>
            <a:r>
              <a:rPr sz="1200" b="0" i="1">
                <a:solidFill>
                  <a:srgbClr val="666666"/>
                </a:solidFill>
                <a:latin typeface="Calibri"/>
              </a:rPr>
              <a:t> también se califican, y </a:t>
            </a:r>
            <a:r>
              <a:rPr sz="1200" b="1" i="1">
                <a:solidFill>
                  <a:srgbClr val="666666"/>
                </a:solidFill>
                <a:latin typeface="Calibri"/>
              </a:rPr>
              <a:t>cada integrante responde de su tramo</a:t>
            </a:r>
            <a:r>
              <a:rPr sz="12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Sustentar el proyecto en </a:t>
            </a:r>
            <a:r>
              <a:rPr sz="1600" b="1" i="0">
                <a:solidFill>
                  <a:srgbClr val="333333"/>
                </a:solidFill>
                <a:latin typeface="Calibri"/>
              </a:rPr>
              <a:t>nueve minutos</a:t>
            </a:r>
            <a:r>
              <a:rPr sz="1600" b="0" i="0">
                <a:solidFill>
                  <a:srgbClr val="333333"/>
                </a:solidFill>
                <a:latin typeface="Calibri"/>
              </a:rPr>
              <a:t>, con la estructura de cinco tramos.</a:t>
            </a:r>
          </a:p>
          <a:p>
            <a:pPr>
              <a:spcAft>
                <a:spcPts val="800"/>
              </a:spcAft>
            </a:pPr>
            <a:r>
              <a:rPr sz="1600" b="0" i="0">
                <a:solidFill>
                  <a:srgbClr val="333333"/>
                </a:solidFill>
                <a:latin typeface="Calibri"/>
              </a:rPr>
              <a:t>–   </a:t>
            </a:r>
            <a:r>
              <a:rPr sz="1600" b="1" i="0">
                <a:solidFill>
                  <a:srgbClr val="333333"/>
                </a:solidFill>
                <a:latin typeface="Calibri"/>
              </a:rPr>
              <a:t>Mostrar el prototipo funcionando</a:t>
            </a:r>
            <a:r>
              <a:rPr sz="1600" b="0" i="0">
                <a:solidFill>
                  <a:srgbClr val="333333"/>
                </a:solidFill>
                <a:latin typeface="Calibri"/>
              </a:rPr>
              <a:t> y los hallazgos de la prueba con personas reales.</a:t>
            </a:r>
          </a:p>
          <a:p>
            <a:pPr>
              <a:spcAft>
                <a:spcPts val="800"/>
              </a:spcAft>
            </a:pPr>
            <a:r>
              <a:rPr sz="1600" b="0" i="0">
                <a:solidFill>
                  <a:srgbClr val="333333"/>
                </a:solidFill>
                <a:latin typeface="Calibri"/>
              </a:rPr>
              <a:t>–   Responder preguntas del curso y del docente </a:t>
            </a:r>
            <a:r>
              <a:rPr sz="1600" b="1" i="0">
                <a:solidFill>
                  <a:srgbClr val="333333"/>
                </a:solidFill>
                <a:latin typeface="Calibri"/>
              </a:rPr>
              <a:t>sobre el propio tramo</a:t>
            </a:r>
            <a:r>
              <a:rPr sz="1600" b="0" i="0">
                <a:solidFill>
                  <a:srgbClr val="333333"/>
                </a:solidFill>
                <a:latin typeface="Calibri"/>
              </a:rPr>
              <a:t>.</a:t>
            </a:r>
          </a:p>
          <a:p>
            <a:pPr>
              <a:spcAft>
                <a:spcPts val="800"/>
              </a:spcAft>
            </a:pPr>
            <a:r>
              <a:rPr sz="1600" b="0" i="0">
                <a:solidFill>
                  <a:srgbClr val="333333"/>
                </a:solidFill>
                <a:latin typeface="Calibri"/>
              </a:rPr>
              <a:t>–   Valorar el trabajo de los otros equipos con </a:t>
            </a:r>
            <a:r>
              <a:rPr sz="1600" b="1" i="0">
                <a:solidFill>
                  <a:srgbClr val="333333"/>
                </a:solidFill>
                <a:latin typeface="Calibri"/>
              </a:rPr>
              <a:t>criterios y no con opiniones</a:t>
            </a:r>
            <a:r>
              <a:rPr sz="16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sesión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sesión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sesión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Trabajo dirigido:</a:t>
            </a:r>
            <a:r>
              <a:rPr sz="1600" b="0" i="0">
                <a:solidFill>
                  <a:srgbClr val="333333"/>
                </a:solidFill>
                <a:latin typeface="Calibri"/>
              </a:rPr>
              <a:t> Valoración de presentaciones — completar la ficha de valoración de los otros cuatro equipos en el muro, si no quedó terminada en clase.</a:t>
            </a:r>
          </a:p>
          <a:p>
            <a:pPr>
              <a:spcAft>
                <a:spcPts val="800"/>
              </a:spcAft>
            </a:pPr>
            <a:r>
              <a:rPr sz="1600" b="0" i="0">
                <a:solidFill>
                  <a:srgbClr val="333333"/>
                </a:solidFill>
                <a:latin typeface="Calibri"/>
              </a:rPr>
              <a:t>–   </a:t>
            </a:r>
            <a:r>
              <a:rPr sz="1600" b="1" i="0">
                <a:solidFill>
                  <a:srgbClr val="333333"/>
                </a:solidFill>
                <a:latin typeface="Calibri"/>
              </a:rPr>
              <a:t>Trabajo independiente:</a:t>
            </a:r>
            <a:r>
              <a:rPr sz="1600" b="0" i="0">
                <a:solidFill>
                  <a:srgbClr val="333333"/>
                </a:solidFill>
                <a:latin typeface="Calibri"/>
              </a:rPr>
              <a:t> Ajustes del informe final: </a:t>
            </a:r>
            <a:r>
              <a:rPr sz="1600" b="1" i="0">
                <a:solidFill>
                  <a:srgbClr val="333333"/>
                </a:solidFill>
                <a:latin typeface="Calibri"/>
              </a:rPr>
              <a:t>reunir las doce secciones</a:t>
            </a:r>
            <a:r>
              <a:rPr sz="1600" b="0" i="0">
                <a:solidFill>
                  <a:srgbClr val="333333"/>
                </a:solidFill>
                <a:latin typeface="Calibri"/>
              </a:rPr>
              <a:t> en un solo documento, tomando lo que ya está escrito desde la sesión 3, y </a:t>
            </a:r>
            <a:r>
              <a:rPr sz="1600" b="1" i="0">
                <a:solidFill>
                  <a:srgbClr val="333333"/>
                </a:solidFill>
                <a:latin typeface="Calibri"/>
              </a:rPr>
              <a:t>escribir el resumen de media página</a:t>
            </a:r>
            <a:r>
              <a:rPr sz="1600" b="0" i="0">
                <a:solidFill>
                  <a:srgbClr val="333333"/>
                </a:solidFill>
                <a:latin typeface="Calibri"/>
              </a:rPr>
              <a:t>, que es lo único nuevo. Y una tarea corta que vale mucho: </a:t>
            </a:r>
            <a:r>
              <a:rPr sz="1600" b="1" i="0">
                <a:solidFill>
                  <a:srgbClr val="333333"/>
                </a:solidFill>
                <a:latin typeface="Calibri"/>
              </a:rPr>
              <a:t>anotar lo que el curso no entendió</a:t>
            </a:r>
            <a:r>
              <a:rPr sz="1600" b="0" i="0">
                <a:solidFill>
                  <a:srgbClr val="333333"/>
                </a:solidFill>
                <a:latin typeface="Calibri"/>
              </a:rPr>
              <a:t> hoy de su proyecto.</a:t>
            </a:r>
          </a:p>
          <a:p>
            <a:pPr>
              <a:spcAft>
                <a:spcPts val="800"/>
              </a:spcAft>
            </a:pPr>
            <a:r>
              <a:rPr sz="1600" b="0" i="0">
                <a:solidFill>
                  <a:srgbClr val="333333"/>
                </a:solidFill>
                <a:latin typeface="Calibri"/>
              </a:rPr>
              <a:t>–   </a:t>
            </a:r>
            <a:r>
              <a:rPr sz="1600" b="1" i="0">
                <a:solidFill>
                  <a:srgbClr val="333333"/>
                </a:solidFill>
                <a:latin typeface="Calibri"/>
              </a:rPr>
              <a:t>Sesión 16 · Socialización y evaluación final del curso</a:t>
            </a:r>
            <a:r>
              <a:rPr sz="1600" b="0" i="0">
                <a:solidFill>
                  <a:srgbClr val="333333"/>
                </a:solidFill>
                <a:latin typeface="Calibri"/>
              </a:rPr>
              <a:t> — es la última: se </a:t>
            </a:r>
            <a:r>
              <a:rPr sz="1600" b="1" i="0">
                <a:solidFill>
                  <a:srgbClr val="333333"/>
                </a:solidFill>
                <a:latin typeface="Calibri"/>
              </a:rPr>
              <a:t>entrega el informe final (20 %)</a:t>
            </a:r>
            <a:r>
              <a:rPr sz="1600" b="0" i="0">
                <a:solidFill>
                  <a:srgbClr val="333333"/>
                </a:solidFill>
                <a:latin typeface="Calibri"/>
              </a:rPr>
              <a:t>, se socializa la galería de proyectos del curso y se hace la </a:t>
            </a:r>
            <a:r>
              <a:rPr sz="1600" b="1" i="0">
                <a:solidFill>
                  <a:srgbClr val="333333"/>
                </a:solidFill>
                <a:latin typeface="Calibri"/>
              </a:rPr>
              <a:t>autoevaluación y coevaluación</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Aviso:</a:t>
            </a:r>
            <a:r>
              <a:rPr sz="1600" b="0" i="0">
                <a:solidFill>
                  <a:srgbClr val="333333"/>
                </a:solidFill>
                <a:latin typeface="Calibri"/>
              </a:rPr>
              <a:t> El informe se entrega </a:t>
            </a:r>
            <a:r>
              <a:rPr sz="1600" b="1" i="0">
                <a:solidFill>
                  <a:srgbClr val="333333"/>
                </a:solidFill>
                <a:latin typeface="Calibri"/>
              </a:rPr>
              <a:t>en la sesión 16, dentro de la clase</a:t>
            </a:r>
            <a:r>
              <a:rPr sz="16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1600" b="0" i="0">
                <a:solidFill>
                  <a:srgbClr val="333333"/>
                </a:solidFill>
                <a:latin typeface="Calibri"/>
              </a:rPr>
              <a:t>–   </a:t>
            </a:r>
            <a:r>
              <a:rPr sz="1600" b="1" i="0">
                <a:solidFill>
                  <a:srgbClr val="333333"/>
                </a:solidFill>
                <a:latin typeface="Calibri"/>
              </a:rPr>
              <a:t>Antes de salir:</a:t>
            </a:r>
            <a:r>
              <a:rPr sz="16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