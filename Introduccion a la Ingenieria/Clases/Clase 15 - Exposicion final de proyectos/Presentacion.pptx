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15</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Exposición final de proyectos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Nueve minutos por equipo y tres de preguntas — hoy la clase la dan ustedes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la clase la dan los estudiantes. El docente cronometra, pregunta y califica</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2055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819323"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727883" cy="3099816"/>
          </a:xfrm>
          <a:prstGeom prst="rect">
            <a:avLst/>
          </a:prstGeom>
          <a:noFill/>
        </p:spPr>
        <p:txBody>
          <a:bodyPr wrap="square">
            <a:spAutoFit/>
          </a:bodyPr>
          <a:lstStyle/>
          <a:p>
            <a:pPr algn="ctr"/>
            <a:r>
              <a:rPr sz="1300" b="0" i="0">
                <a:solidFill>
                  <a:srgbClr val="333333"/>
                </a:solidFill>
                <a:latin typeface="Calibri"/>
              </a:rPr>
              <a:t>Apertura y encuadre — Pregunta de entrada, sorteo del orden y reglas del día</a:t>
            </a:r>
          </a:p>
        </p:txBody>
      </p:sp>
      <p:sp>
        <p:nvSpPr>
          <p:cNvPr id="10" name="Rounded Rectangle 9"/>
          <p:cNvSpPr/>
          <p:nvPr/>
        </p:nvSpPr>
        <p:spPr>
          <a:xfrm>
            <a:off x="4539881"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76523" y="1563624"/>
            <a:ext cx="2819323" cy="502920"/>
          </a:xfrm>
          <a:prstGeom prst="rect">
            <a:avLst/>
          </a:prstGeom>
          <a:noFill/>
        </p:spPr>
        <p:txBody>
          <a:bodyPr wrap="square">
            <a:spAutoFit/>
          </a:bodyPr>
          <a:lstStyle/>
          <a:p>
            <a:pPr algn="ctr"/>
            <a:r>
              <a:rPr sz="1300" b="1" i="0">
                <a:solidFill>
                  <a:srgbClr val="095292"/>
                </a:solidFill>
                <a:latin typeface="Calibri"/>
              </a:rPr>
              <a:t>00:10–01:10 · 60 min</a:t>
            </a:r>
          </a:p>
        </p:txBody>
      </p:sp>
      <p:sp>
        <p:nvSpPr>
          <p:cNvPr id="12" name="TextBox 11"/>
          <p:cNvSpPr txBox="1"/>
          <p:nvPr/>
        </p:nvSpPr>
        <p:spPr>
          <a:xfrm>
            <a:off x="3322243" y="2798064"/>
            <a:ext cx="2727883" cy="3099816"/>
          </a:xfrm>
          <a:prstGeom prst="rect">
            <a:avLst/>
          </a:prstGeom>
          <a:noFill/>
        </p:spPr>
        <p:txBody>
          <a:bodyPr wrap="square">
            <a:spAutoFit/>
          </a:bodyPr>
          <a:lstStyle/>
          <a:p>
            <a:pPr algn="ctr"/>
            <a:r>
              <a:rPr sz="1300" b="0" i="0">
                <a:solidFill>
                  <a:srgbClr val="333333"/>
                </a:solidFill>
                <a:latin typeface="Calibri"/>
              </a:rPr>
              <a:t>Exposiciones finales — 5 equipos × 12 min — 9 de exposición y 3 de preguntas</a:t>
            </a:r>
          </a:p>
        </p:txBody>
      </p:sp>
      <p:sp>
        <p:nvSpPr>
          <p:cNvPr id="13" name="Rounded Rectangle 12"/>
          <p:cNvSpPr/>
          <p:nvPr/>
        </p:nvSpPr>
        <p:spPr>
          <a:xfrm>
            <a:off x="735920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95847" y="1563624"/>
            <a:ext cx="2819323" cy="502920"/>
          </a:xfrm>
          <a:prstGeom prst="rect">
            <a:avLst/>
          </a:prstGeom>
          <a:noFill/>
        </p:spPr>
        <p:txBody>
          <a:bodyPr wrap="square">
            <a:spAutoFit/>
          </a:bodyPr>
          <a:lstStyle/>
          <a:p>
            <a:pPr algn="ctr"/>
            <a:r>
              <a:rPr sz="1300" b="1" i="0">
                <a:solidFill>
                  <a:srgbClr val="095292"/>
                </a:solidFill>
                <a:latin typeface="Calibri"/>
              </a:rPr>
              <a:t>01:10–01:22 · 12 min</a:t>
            </a:r>
          </a:p>
        </p:txBody>
      </p:sp>
      <p:sp>
        <p:nvSpPr>
          <p:cNvPr id="15" name="TextBox 14"/>
          <p:cNvSpPr txBox="1"/>
          <p:nvPr/>
        </p:nvSpPr>
        <p:spPr>
          <a:xfrm>
            <a:off x="6141567" y="2798064"/>
            <a:ext cx="2727883" cy="3099816"/>
          </a:xfrm>
          <a:prstGeom prst="rect">
            <a:avLst/>
          </a:prstGeom>
          <a:noFill/>
        </p:spPr>
        <p:txBody>
          <a:bodyPr wrap="square">
            <a:spAutoFit/>
          </a:bodyPr>
          <a:lstStyle/>
          <a:p>
            <a:pPr algn="ctr"/>
            <a:r>
              <a:rPr sz="1300" b="0" i="0">
                <a:solidFill>
                  <a:srgbClr val="333333"/>
                </a:solidFill>
                <a:latin typeface="Calibri"/>
              </a:rPr>
              <a:t>Valoración entre pares — La ficha de valoración de los otros equipos, en el muro</a:t>
            </a:r>
          </a:p>
        </p:txBody>
      </p:sp>
      <p:sp>
        <p:nvSpPr>
          <p:cNvPr id="16" name="Rounded Rectangle 15"/>
          <p:cNvSpPr/>
          <p:nvPr/>
        </p:nvSpPr>
        <p:spPr>
          <a:xfrm>
            <a:off x="1017852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15171" y="1563624"/>
            <a:ext cx="2819323" cy="502920"/>
          </a:xfrm>
          <a:prstGeom prst="rect">
            <a:avLst/>
          </a:prstGeom>
          <a:noFill/>
        </p:spPr>
        <p:txBody>
          <a:bodyPr wrap="square">
            <a:spAutoFit/>
          </a:bodyPr>
          <a:lstStyle/>
          <a:p>
            <a:pPr algn="ctr"/>
            <a:r>
              <a:rPr sz="1300" b="1" i="0">
                <a:solidFill>
                  <a:srgbClr val="095292"/>
                </a:solidFill>
                <a:latin typeface="Calibri"/>
              </a:rPr>
              <a:t>01:22–01:30 · 8 min</a:t>
            </a:r>
          </a:p>
        </p:txBody>
      </p:sp>
      <p:sp>
        <p:nvSpPr>
          <p:cNvPr id="18" name="TextBox 17"/>
          <p:cNvSpPr txBox="1"/>
          <p:nvPr/>
        </p:nvSpPr>
        <p:spPr>
          <a:xfrm>
            <a:off x="8960891" y="2798064"/>
            <a:ext cx="2727883" cy="3099816"/>
          </a:xfrm>
          <a:prstGeom prst="rect">
            <a:avLst/>
          </a:prstGeom>
          <a:noFill/>
        </p:spPr>
        <p:txBody>
          <a:bodyPr wrap="square">
            <a:spAutoFit/>
          </a:bodyPr>
          <a:lstStyle/>
          <a:p>
            <a:pPr algn="ctr"/>
            <a:r>
              <a:rPr sz="1300" b="0" i="0">
                <a:solidFill>
                  <a:srgbClr val="333333"/>
                </a:solidFill>
                <a:latin typeface="Calibri"/>
              </a:rPr>
              <a:t>Cierre — Lo que se vio hoy y qué falta para el informe final</a:t>
            </a:r>
          </a:p>
        </p:txBody>
      </p:sp>
      <p:sp>
        <p:nvSpPr>
          <p:cNvPr id="19" name="TextBox 18"/>
          <p:cNvSpPr txBox="1"/>
          <p:nvPr/>
        </p:nvSpPr>
        <p:spPr>
          <a:xfrm>
            <a:off x="457200" y="5806440"/>
            <a:ext cx="11277295" cy="640080"/>
          </a:xfrm>
          <a:prstGeom prst="rect">
            <a:avLst/>
          </a:prstGeom>
          <a:noFill/>
        </p:spPr>
        <p:txBody>
          <a:bodyPr wrap="square">
            <a:spAutoFit/>
          </a:bodyPr>
          <a:lstStyle/>
          <a:p>
            <a:pPr algn="ctr"/>
            <a:r>
              <a:rPr sz="1100" b="1" i="1">
                <a:solidFill>
                  <a:srgbClr val="666666"/>
                </a:solidFill>
                <a:latin typeface="Calibri"/>
              </a:rPr>
              <a:t>Se corta a los nueve minutos</a:t>
            </a:r>
            <a:r>
              <a:rPr sz="1100" b="0" i="1">
                <a:solidFill>
                  <a:srgbClr val="666666"/>
                </a:solidFill>
                <a:latin typeface="Calibri"/>
              </a:rPr>
              <a:t>, sin excepción y aunque quede una frase a medias: con cinco equipos en 90 minutos, el tiempo que un equipo se pasa lo pierde el último. Los </a:t>
            </a:r>
            <a:r>
              <a:rPr sz="1100" b="1" i="1">
                <a:solidFill>
                  <a:srgbClr val="666666"/>
                </a:solidFill>
                <a:latin typeface="Calibri"/>
              </a:rPr>
              <a:t>tres minutos de preguntas</a:t>
            </a:r>
            <a:r>
              <a:rPr sz="1100" b="0" i="1">
                <a:solidFill>
                  <a:srgbClr val="666666"/>
                </a:solidFill>
                <a:latin typeface="Calibri"/>
              </a:rPr>
              <a:t> también se califican, y </a:t>
            </a:r>
            <a:r>
              <a:rPr sz="1100" b="1" i="1">
                <a:solidFill>
                  <a:srgbClr val="666666"/>
                </a:solidFill>
                <a:latin typeface="Calibri"/>
              </a:rPr>
              <a:t>cada integrante responde de su tramo</a:t>
            </a:r>
            <a:r>
              <a:rPr sz="1100" b="0" i="1">
                <a:solidFill>
                  <a:srgbClr val="666666"/>
                </a:solidFill>
                <a:latin typeface="Calibri"/>
              </a:rPr>
              <a:t>. El orden se sortea al empezar, así que los cinco equipos tienen que estar listos desde el primer minuto.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Sustentar el proyecto en </a:t>
            </a:r>
            <a:r>
              <a:rPr sz="2000" b="1" i="0">
                <a:solidFill>
                  <a:srgbClr val="333333"/>
                </a:solidFill>
                <a:latin typeface="Calibri"/>
              </a:rPr>
              <a:t>nueve minutos</a:t>
            </a:r>
            <a:r>
              <a:rPr sz="2000" b="0" i="0">
                <a:solidFill>
                  <a:srgbClr val="333333"/>
                </a:solidFill>
                <a:latin typeface="Calibri"/>
              </a:rPr>
              <a:t>, con la estructura de cinco tramos.</a:t>
            </a:r>
          </a:p>
          <a:p>
            <a:pPr>
              <a:spcAft>
                <a:spcPts val="800"/>
              </a:spcAft>
            </a:pPr>
            <a:r>
              <a:rPr sz="2000" b="0" i="0">
                <a:solidFill>
                  <a:srgbClr val="333333"/>
                </a:solidFill>
                <a:latin typeface="Calibri"/>
              </a:rPr>
              <a:t>–   </a:t>
            </a:r>
            <a:r>
              <a:rPr sz="2000" b="1" i="0">
                <a:solidFill>
                  <a:srgbClr val="333333"/>
                </a:solidFill>
                <a:latin typeface="Calibri"/>
              </a:rPr>
              <a:t>Mostrar el prototipo funcionando</a:t>
            </a:r>
            <a:r>
              <a:rPr sz="2000" b="0" i="0">
                <a:solidFill>
                  <a:srgbClr val="333333"/>
                </a:solidFill>
                <a:latin typeface="Calibri"/>
              </a:rPr>
              <a:t> y los hallazgos de la prueba con personas reales.</a:t>
            </a:r>
          </a:p>
          <a:p>
            <a:pPr>
              <a:spcAft>
                <a:spcPts val="800"/>
              </a:spcAft>
            </a:pPr>
            <a:r>
              <a:rPr sz="2000" b="0" i="0">
                <a:solidFill>
                  <a:srgbClr val="333333"/>
                </a:solidFill>
                <a:latin typeface="Calibri"/>
              </a:rPr>
              <a:t>–   Responder preguntas del curso y del docente </a:t>
            </a:r>
            <a:r>
              <a:rPr sz="2000" b="1" i="0">
                <a:solidFill>
                  <a:srgbClr val="333333"/>
                </a:solidFill>
                <a:latin typeface="Calibri"/>
              </a:rPr>
              <a:t>sobre el propio tramo</a:t>
            </a:r>
            <a:r>
              <a:rPr sz="2000" b="0" i="0">
                <a:solidFill>
                  <a:srgbClr val="333333"/>
                </a:solidFill>
                <a:latin typeface="Calibri"/>
              </a:rPr>
              <a:t>.</a:t>
            </a:r>
          </a:p>
          <a:p>
            <a:pPr>
              <a:spcAft>
                <a:spcPts val="800"/>
              </a:spcAft>
            </a:pPr>
            <a:r>
              <a:rPr sz="2000" b="0" i="0">
                <a:solidFill>
                  <a:srgbClr val="333333"/>
                </a:solidFill>
                <a:latin typeface="Calibri"/>
              </a:rPr>
              <a:t>–   Valorar el trabajo de los otros equipos con </a:t>
            </a:r>
            <a:r>
              <a:rPr sz="2000" b="1" i="0">
                <a:solidFill>
                  <a:srgbClr val="333333"/>
                </a:solidFill>
                <a:latin typeface="Calibri"/>
              </a:rPr>
              <a:t>criterios y no con opiniones</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En quince sesiones pasaron de «se me ocurrió una app» a un prototipo probado con personas reales. ¿Cuál fue la decisión que más les costó tomar?</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Una línea por equipo en el muro, antes de empezar. Nada más.</a:t>
            </a:r>
          </a:p>
          <a:p>
            <a:pPr algn="ctr">
              <a:spcAft>
                <a:spcPts val="600"/>
              </a:spcAft>
            </a:pPr>
            <a:r>
              <a:rPr sz="1500" b="0" i="0">
                <a:solidFill>
                  <a:srgbClr val="269CCB"/>
                </a:solidFill>
                <a:latin typeface="Calibri"/>
              </a:rPr>
              <a:t>Esa decisión es la que hay que contar hoy: no el resultado, la decisión.</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 qué se califica hoy</a:t>
            </a:r>
          </a:p>
        </p:txBody>
      </p:sp>
      <p:graphicFrame>
        <p:nvGraphicFramePr>
          <p:cNvPr id="5" name="Table 4"/>
          <p:cNvGraphicFramePr>
            <a:graphicFrameLocks noGrp="1"/>
          </p:cNvGraphicFramePr>
          <p:nvPr/>
        </p:nvGraphicFramePr>
        <p:xfrm>
          <a:off x="457200" y="1216152"/>
          <a:ext cx="8412480" cy="2304288"/>
        </p:xfrm>
        <a:graphic>
          <a:graphicData uri="http://schemas.openxmlformats.org/drawingml/2006/table">
            <a:tbl>
              <a:tblPr firstRow="1" bandRow="1">
                <a:tableStyleId>{5C22544A-7EE6-4342-B048-85BDC9FD1C3A}</a:tableStyleId>
              </a:tblPr>
              <a:tblGrid>
                <a:gridCol w="2651760"/>
                <a:gridCol w="4937760"/>
                <a:gridCol w="822960"/>
              </a:tblGrid>
              <a:tr h="384048">
                <a:tc>
                  <a:txBody>
                    <a:bodyPr/>
                    <a:lstStyle/>
                    <a:p>
                      <a:r>
                        <a:rPr sz="1200" b="1" i="0">
                          <a:solidFill>
                            <a:srgbClr val="FFFFFF"/>
                          </a:solidFill>
                          <a:latin typeface="Calibri"/>
                        </a:rPr>
                        <a:t>Tramo de la exposición</a:t>
                      </a:r>
                    </a:p>
                  </a:txBody>
                  <a:tcPr>
                    <a:solidFill>
                      <a:srgbClr val="095292"/>
                    </a:solidFill>
                  </a:tcPr>
                </a:tc>
                <a:tc>
                  <a:txBody>
                    <a:bodyPr/>
                    <a:lstStyle/>
                    <a:p>
                      <a:r>
                        <a:rPr sz="1200" b="1" i="0">
                          <a:solidFill>
                            <a:srgbClr val="FFFFFF"/>
                          </a:solidFill>
                          <a:latin typeface="Calibri"/>
                        </a:rPr>
                        <a:t>Qué se busca</a:t>
                      </a:r>
                    </a:p>
                  </a:txBody>
                  <a:tcPr>
                    <a:solidFill>
                      <a:srgbClr val="095292"/>
                    </a:solidFill>
                  </a:tcPr>
                </a:tc>
                <a:tc>
                  <a:txBody>
                    <a:bodyPr/>
                    <a:lstStyle/>
                    <a:p>
                      <a:r>
                        <a:rPr sz="1200" b="1" i="0">
                          <a:solidFill>
                            <a:srgbClr val="FFFFFF"/>
                          </a:solidFill>
                          <a:latin typeface="Calibri"/>
                        </a:rPr>
                        <a:t>Pts</a:t>
                      </a:r>
                    </a:p>
                  </a:txBody>
                  <a:tcPr>
                    <a:solidFill>
                      <a:srgbClr val="095292"/>
                    </a:solidFill>
                  </a:tcPr>
                </a:tc>
              </a:tr>
              <a:tr h="384048">
                <a:tc>
                  <a:txBody>
                    <a:bodyPr/>
                    <a:lstStyle/>
                    <a:p>
                      <a:r>
                        <a:rPr sz="1100" b="0" i="0">
                          <a:solidFill>
                            <a:srgbClr val="333333"/>
                          </a:solidFill>
                          <a:latin typeface="Calibri"/>
                        </a:rPr>
                        <a:t>1 · El problema con su cifra</a:t>
                      </a:r>
                    </a:p>
                  </a:txBody>
                  <a:tcPr>
                    <a:solidFill>
                      <a:srgbClr val="FFFFFF"/>
                    </a:solidFill>
                  </a:tcPr>
                </a:tc>
                <a:tc>
                  <a:txBody>
                    <a:bodyPr/>
                    <a:lstStyle/>
                    <a:p>
                      <a:r>
                        <a:rPr sz="1100" b="0" i="0">
                          <a:solidFill>
                            <a:srgbClr val="333333"/>
                          </a:solidFill>
                          <a:latin typeface="Calibri"/>
                        </a:rPr>
                        <a:t>Arranca por el problema, no por presentaciones. Trae </a:t>
                      </a:r>
                      <a:r>
                        <a:rPr sz="1100" b="1" i="0">
                          <a:solidFill>
                            <a:srgbClr val="333333"/>
                          </a:solidFill>
                          <a:latin typeface="Calibri"/>
                        </a:rPr>
                        <a:t>un número</a:t>
                      </a:r>
                      <a:r>
                        <a:rPr sz="1100" b="0" i="0">
                          <a:solidFill>
                            <a:srgbClr val="333333"/>
                          </a:solidFill>
                          <a:latin typeface="Calibri"/>
                        </a:rPr>
                        <a:t> y de dónde salió.</a:t>
                      </a:r>
                    </a:p>
                  </a:txBody>
                  <a:tcPr>
                    <a:solidFill>
                      <a:srgbClr val="FFFFFF"/>
                    </a:solidFill>
                  </a:tcPr>
                </a:tc>
                <a:tc>
                  <a:txBody>
                    <a:bodyPr/>
                    <a:lstStyle/>
                    <a:p>
                      <a:r>
                        <a:rPr sz="1100" b="0" i="0">
                          <a:solidFill>
                            <a:srgbClr val="333333"/>
                          </a:solidFill>
                          <a:latin typeface="Calibri"/>
                        </a:rPr>
                        <a:t>20</a:t>
                      </a:r>
                    </a:p>
                  </a:txBody>
                  <a:tcPr>
                    <a:solidFill>
                      <a:srgbClr val="FFFFFF"/>
                    </a:solidFill>
                  </a:tcPr>
                </a:tc>
              </a:tr>
              <a:tr h="384048">
                <a:tc>
                  <a:txBody>
                    <a:bodyPr/>
                    <a:lstStyle/>
                    <a:p>
                      <a:r>
                        <a:rPr sz="1100" b="0" i="0">
                          <a:solidFill>
                            <a:srgbClr val="333333"/>
                          </a:solidFill>
                          <a:latin typeface="Calibri"/>
                        </a:rPr>
                        <a:t>2 · Los afectados y la decisión</a:t>
                      </a:r>
                    </a:p>
                  </a:txBody>
                  <a:tcPr>
                    <a:solidFill>
                      <a:srgbClr val="F2F2F2"/>
                    </a:solidFill>
                  </a:tcPr>
                </a:tc>
                <a:tc>
                  <a:txBody>
                    <a:bodyPr/>
                    <a:lstStyle/>
                    <a:p>
                      <a:r>
                        <a:rPr sz="1100" b="0" i="0">
                          <a:solidFill>
                            <a:srgbClr val="333333"/>
                          </a:solidFill>
                          <a:latin typeface="Calibri"/>
                        </a:rPr>
                        <a:t>Incluye un afectado que </a:t>
                      </a:r>
                      <a:r>
                        <a:rPr sz="1100" b="1" i="0">
                          <a:solidFill>
                            <a:srgbClr val="333333"/>
                          </a:solidFill>
                          <a:latin typeface="Calibri"/>
                        </a:rPr>
                        <a:t>no es usuario</a:t>
                      </a:r>
                      <a:r>
                        <a:rPr sz="1100" b="0" i="0">
                          <a:solidFill>
                            <a:srgbClr val="333333"/>
                          </a:solidFill>
                          <a:latin typeface="Calibri"/>
                        </a:rPr>
                        <a:t> y dice </a:t>
                      </a:r>
                      <a:r>
                        <a:rPr sz="1100" b="1" i="0">
                          <a:solidFill>
                            <a:srgbClr val="333333"/>
                          </a:solidFill>
                          <a:latin typeface="Calibri"/>
                        </a:rPr>
                        <a:t>qué se sacrificó</a:t>
                      </a:r>
                      <a:r>
                        <a:rPr sz="1100" b="0" i="0">
                          <a:solidFill>
                            <a:srgbClr val="333333"/>
                          </a:solidFill>
                          <a:latin typeface="Calibri"/>
                        </a:rPr>
                        <a:t> al decidir.</a:t>
                      </a:r>
                    </a:p>
                  </a:txBody>
                  <a:tcPr>
                    <a:solidFill>
                      <a:srgbClr val="F2F2F2"/>
                    </a:solidFill>
                  </a:tcPr>
                </a:tc>
                <a:tc>
                  <a:txBody>
                    <a:bodyPr/>
                    <a:lstStyle/>
                    <a:p>
                      <a:r>
                        <a:rPr sz="1100" b="0" i="0">
                          <a:solidFill>
                            <a:srgbClr val="333333"/>
                          </a:solidFill>
                          <a:latin typeface="Calibri"/>
                        </a:rPr>
                        <a:t>20</a:t>
                      </a:r>
                    </a:p>
                  </a:txBody>
                  <a:tcPr>
                    <a:solidFill>
                      <a:srgbClr val="F2F2F2"/>
                    </a:solidFill>
                  </a:tcPr>
                </a:tc>
              </a:tr>
              <a:tr h="384048">
                <a:tc>
                  <a:txBody>
                    <a:bodyPr/>
                    <a:lstStyle/>
                    <a:p>
                      <a:r>
                        <a:rPr sz="1100" b="0" i="0">
                          <a:solidFill>
                            <a:srgbClr val="333333"/>
                          </a:solidFill>
                          <a:latin typeface="Calibri"/>
                        </a:rPr>
                        <a:t>3 · La solución y el prototipo en vivo</a:t>
                      </a:r>
                    </a:p>
                  </a:txBody>
                  <a:tcPr>
                    <a:solidFill>
                      <a:srgbClr val="FFFFFF"/>
                    </a:solidFill>
                  </a:tcPr>
                </a:tc>
                <a:tc>
                  <a:txBody>
                    <a:bodyPr/>
                    <a:lstStyle/>
                    <a:p>
                      <a:r>
                        <a:rPr sz="1100" b="1" i="0">
                          <a:solidFill>
                            <a:srgbClr val="333333"/>
                          </a:solidFill>
                          <a:latin typeface="Calibri"/>
                        </a:rPr>
                        <a:t>Muestra una tarea cumpliéndose</a:t>
                      </a:r>
                      <a:r>
                        <a:rPr sz="1100" b="0" i="0">
                          <a:solidFill>
                            <a:srgbClr val="333333"/>
                          </a:solidFill>
                          <a:latin typeface="Calibri"/>
                        </a:rPr>
                        <a:t>, no describe la pantalla. Cabe en 3 minutos.</a:t>
                      </a:r>
                    </a:p>
                  </a:txBody>
                  <a:tcPr>
                    <a:solidFill>
                      <a:srgbClr val="FFFFFF"/>
                    </a:solidFill>
                  </a:tcPr>
                </a:tc>
                <a:tc>
                  <a:txBody>
                    <a:bodyPr/>
                    <a:lstStyle/>
                    <a:p>
                      <a:r>
                        <a:rPr sz="1100" b="0" i="0">
                          <a:solidFill>
                            <a:srgbClr val="333333"/>
                          </a:solidFill>
                          <a:latin typeface="Calibri"/>
                        </a:rPr>
                        <a:t>25</a:t>
                      </a:r>
                    </a:p>
                  </a:txBody>
                  <a:tcPr>
                    <a:solidFill>
                      <a:srgbClr val="FFFFFF"/>
                    </a:solidFill>
                  </a:tcPr>
                </a:tc>
              </a:tr>
              <a:tr h="384048">
                <a:tc>
                  <a:txBody>
                    <a:bodyPr/>
                    <a:lstStyle/>
                    <a:p>
                      <a:r>
                        <a:rPr sz="1100" b="0" i="0">
                          <a:solidFill>
                            <a:srgbClr val="333333"/>
                          </a:solidFill>
                          <a:latin typeface="Calibri"/>
                        </a:rPr>
                        <a:t>4 · Lo que falló y lo que aprendimos</a:t>
                      </a:r>
                    </a:p>
                  </a:txBody>
                  <a:tcPr>
                    <a:solidFill>
                      <a:srgbClr val="F2F2F2"/>
                    </a:solidFill>
                  </a:tcPr>
                </a:tc>
                <a:tc>
                  <a:txBody>
                    <a:bodyPr/>
                    <a:lstStyle/>
                    <a:p>
                      <a:r>
                        <a:rPr sz="1100" b="0" i="0">
                          <a:solidFill>
                            <a:srgbClr val="333333"/>
                          </a:solidFill>
                          <a:latin typeface="Calibri"/>
                        </a:rPr>
                        <a:t>Hallazgos con personas reales, qué se arregló y </a:t>
                      </a:r>
                      <a:r>
                        <a:rPr sz="1100" b="1" i="0">
                          <a:solidFill>
                            <a:srgbClr val="333333"/>
                          </a:solidFill>
                          <a:latin typeface="Calibri"/>
                        </a:rPr>
                        <a:t>qué se decidió no arreglar</a:t>
                      </a:r>
                      <a:r>
                        <a:rPr sz="1100" b="0" i="0">
                          <a:solidFill>
                            <a:srgbClr val="333333"/>
                          </a:solidFill>
                          <a:latin typeface="Calibri"/>
                        </a:rPr>
                        <a:t>.</a:t>
                      </a:r>
                    </a:p>
                  </a:txBody>
                  <a:tcPr>
                    <a:solidFill>
                      <a:srgbClr val="F2F2F2"/>
                    </a:solidFill>
                  </a:tcPr>
                </a:tc>
                <a:tc>
                  <a:txBody>
                    <a:bodyPr/>
                    <a:lstStyle/>
                    <a:p>
                      <a:r>
                        <a:rPr sz="1100" b="0" i="0">
                          <a:solidFill>
                            <a:srgbClr val="333333"/>
                          </a:solidFill>
                          <a:latin typeface="Calibri"/>
                        </a:rPr>
                        <a:t>20</a:t>
                      </a:r>
                    </a:p>
                  </a:txBody>
                  <a:tcPr>
                    <a:solidFill>
                      <a:srgbClr val="F2F2F2"/>
                    </a:solidFill>
                  </a:tcPr>
                </a:tc>
              </a:tr>
              <a:tr h="384048">
                <a:tc>
                  <a:txBody>
                    <a:bodyPr/>
                    <a:lstStyle/>
                    <a:p>
                      <a:r>
                        <a:rPr sz="1100" b="0" i="0">
                          <a:solidFill>
                            <a:srgbClr val="333333"/>
                          </a:solidFill>
                          <a:latin typeface="Calibri"/>
                        </a:rPr>
                        <a:t>5 · Impacto y siguiente paso</a:t>
                      </a:r>
                    </a:p>
                  </a:txBody>
                  <a:tcPr>
                    <a:solidFill>
                      <a:srgbClr val="FFFFFF"/>
                    </a:solidFill>
                  </a:tcPr>
                </a:tc>
                <a:tc>
                  <a:txBody>
                    <a:bodyPr/>
                    <a:lstStyle/>
                    <a:p>
                      <a:r>
                        <a:rPr sz="1100" b="0" i="0">
                          <a:solidFill>
                            <a:srgbClr val="333333"/>
                          </a:solidFill>
                          <a:latin typeface="Calibri"/>
                        </a:rPr>
                        <a:t>El impacto positivo con su número </a:t>
                      </a:r>
                      <a:r>
                        <a:rPr sz="1100" b="1" i="0">
                          <a:solidFill>
                            <a:srgbClr val="333333"/>
                          </a:solidFill>
                          <a:latin typeface="Calibri"/>
                        </a:rPr>
                        <a:t>y el negativo con su mitigación</a:t>
                      </a:r>
                      <a:r>
                        <a:rPr sz="1100" b="0" i="0">
                          <a:solidFill>
                            <a:srgbClr val="333333"/>
                          </a:solidFill>
                          <a:latin typeface="Calibri"/>
                        </a:rPr>
                        <a:t>.</a:t>
                      </a:r>
                    </a:p>
                  </a:txBody>
                  <a:tcPr>
                    <a:solidFill>
                      <a:srgbClr val="FFFFFF"/>
                    </a:solidFill>
                  </a:tcPr>
                </a:tc>
                <a:tc>
                  <a:txBody>
                    <a:bodyPr/>
                    <a:lstStyle/>
                    <a:p>
                      <a:r>
                        <a:rPr sz="1100" b="0" i="0">
                          <a:solidFill>
                            <a:srgbClr val="333333"/>
                          </a:solidFill>
                          <a:latin typeface="Calibri"/>
                        </a:rPr>
                        <a:t>15</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Además: </a:t>
            </a:r>
            <a:r>
              <a:rPr sz="1100" b="1" i="1">
                <a:solidFill>
                  <a:srgbClr val="666666"/>
                </a:solidFill>
                <a:latin typeface="Calibri"/>
              </a:rPr>
              <a:t>se corta a los 9 minutos</a:t>
            </a:r>
            <a:r>
              <a:rPr sz="1100" b="0" i="1">
                <a:solidFill>
                  <a:srgbClr val="666666"/>
                </a:solidFill>
                <a:latin typeface="Calibri"/>
              </a:rPr>
              <a:t>, y de los cien puntos se descuentan hasta </a:t>
            </a:r>
            <a:r>
              <a:rPr sz="1100" b="1" i="1">
                <a:solidFill>
                  <a:srgbClr val="666666"/>
                </a:solidFill>
                <a:latin typeface="Calibri"/>
              </a:rPr>
              <a:t>10 si no todos los integrantes hablan</a:t>
            </a:r>
            <a:r>
              <a:rPr sz="1100" b="0" i="1">
                <a:solidFill>
                  <a:srgbClr val="666666"/>
                </a:solidFill>
                <a:latin typeface="Calibri"/>
              </a:rPr>
              <a:t> y hasta </a:t>
            </a:r>
            <a:r>
              <a:rPr sz="1100" b="1" i="1">
                <a:solidFill>
                  <a:srgbClr val="666666"/>
                </a:solidFill>
                <a:latin typeface="Calibri"/>
              </a:rPr>
              <a:t>10 si nadie sabe responder una pregunta de su propio tramo</a:t>
            </a:r>
            <a:r>
              <a:rPr sz="1100" b="0" i="1">
                <a:solidFill>
                  <a:srgbClr val="666666"/>
                </a:solidFill>
                <a:latin typeface="Calibri"/>
              </a:rPr>
              <a:t>. La exposición vale el </a:t>
            </a:r>
            <a:r>
              <a:rPr sz="1100" b="1" i="1">
                <a:solidFill>
                  <a:srgbClr val="666666"/>
                </a:solidFill>
                <a:latin typeface="Calibri"/>
              </a:rPr>
              <a:t>15 %</a:t>
            </a:r>
            <a:r>
              <a:rPr sz="1100" b="0" i="1">
                <a:solidFill>
                  <a:srgbClr val="666666"/>
                </a:solidFill>
                <a:latin typeface="Calibri"/>
              </a:rPr>
              <a:t> del curso.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orden del día, y qué hace el equipo que no está exponiendo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Escuchar también es trabajo de hoy: la ficha de valoración se califica dentro de la nota de exposiciones del corte</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Se sortea el orden</a:t>
            </a:r>
          </a:p>
          <a:p>
            <a:pPr>
              <a:spcBef>
                <a:spcPts val="200"/>
              </a:spcBef>
            </a:pPr>
            <a:r>
              <a:rPr sz="1300" b="0" i="0">
                <a:solidFill>
                  <a:srgbClr val="333333"/>
                </a:solidFill>
                <a:latin typeface="Calibri"/>
              </a:rPr>
              <a:t>Al empezar, en pantalla. </a:t>
            </a:r>
            <a:r>
              <a:rPr sz="1300" b="1" i="0">
                <a:solidFill>
                  <a:srgbClr val="333333"/>
                </a:solidFill>
                <a:latin typeface="Calibri"/>
              </a:rPr>
              <a:t>Nadie sabe si es primero</a:t>
            </a:r>
            <a:r>
              <a:rPr sz="1300" b="0" i="0">
                <a:solidFill>
                  <a:srgbClr val="333333"/>
                </a:solidFill>
                <a:latin typeface="Calibri"/>
              </a:rPr>
              <a:t>, así que los cinco equipos están listos desde el minuto uno.</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El equipo que expone comparte pantalla</a:t>
            </a:r>
          </a:p>
          <a:p>
            <a:pPr>
              <a:spcBef>
                <a:spcPts val="200"/>
              </a:spcBef>
            </a:pPr>
            <a:r>
              <a:rPr sz="1300" b="0" i="0">
                <a:solidFill>
                  <a:srgbClr val="333333"/>
                </a:solidFill>
                <a:latin typeface="Calibri"/>
              </a:rPr>
              <a:t>Un solo integrante comparte; los demás tienen la presentación en PDF abierta por si se cae.</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Nueve minutos, con cronómetro visible</a:t>
            </a:r>
          </a:p>
          <a:p>
            <a:pPr>
              <a:spcBef>
                <a:spcPts val="200"/>
              </a:spcBef>
            </a:pPr>
            <a:r>
              <a:rPr sz="1300" b="0" i="0">
                <a:solidFill>
                  <a:srgbClr val="333333"/>
                </a:solidFill>
                <a:latin typeface="Calibri"/>
              </a:rPr>
              <a:t>Se corta al llegar a cero. A los 8 minutos aparece un aviso en el chat.</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Tres minutos de preguntas</a:t>
            </a:r>
          </a:p>
          <a:p>
            <a:pPr>
              <a:spcBef>
                <a:spcPts val="200"/>
              </a:spcBef>
            </a:pPr>
            <a:r>
              <a:rPr sz="1300" b="0" i="0">
                <a:solidFill>
                  <a:srgbClr val="333333"/>
                </a:solidFill>
                <a:latin typeface="Calibri"/>
              </a:rPr>
              <a:t>Primero una pregunta del curso, después una del docente. </a:t>
            </a:r>
            <a:r>
              <a:rPr sz="1300" b="1" i="0">
                <a:solidFill>
                  <a:srgbClr val="333333"/>
                </a:solidFill>
                <a:latin typeface="Calibri"/>
              </a:rPr>
              <a:t>Responde quien tenga el tramo.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Los que no exponen llenan la ficha</a:t>
            </a:r>
          </a:p>
          <a:p>
            <a:pPr>
              <a:spcBef>
                <a:spcPts val="200"/>
              </a:spcBef>
            </a:pPr>
            <a:r>
              <a:rPr sz="1300" b="0" i="0">
                <a:solidFill>
                  <a:srgbClr val="333333"/>
                </a:solidFill>
                <a:latin typeface="Calibri"/>
              </a:rPr>
              <a:t>Una fila por equipo: lo más fuerte, lo que no quedó claro y </a:t>
            </a:r>
            <a:r>
              <a:rPr sz="1300" b="1" i="0">
                <a:solidFill>
                  <a:srgbClr val="333333"/>
                </a:solidFill>
                <a:latin typeface="Calibri"/>
              </a:rPr>
              <a:t>una pregunta</a:t>
            </a:r>
            <a:r>
              <a:rPr sz="1300" b="0" i="0">
                <a:solidFill>
                  <a:srgbClr val="333333"/>
                </a:solidFill>
                <a:latin typeface="Calibri"/>
              </a:rPr>
              <a:t>. Se entrega en el muro.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minutos de preguntas también se califican</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Responde quien tiene el tramo</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Si preguntan por la prueba con usuarios, responde quien la hizo. </a:t>
            </a:r>
            <a:r>
              <a:rPr sz="1300" b="1" i="0">
                <a:solidFill>
                  <a:srgbClr val="333333"/>
                </a:solidFill>
                <a:latin typeface="Calibri"/>
              </a:rPr>
              <a:t>No responde siempre el mismo</a:t>
            </a:r>
            <a:r>
              <a:rPr sz="1300" b="0" i="0">
                <a:solidFill>
                  <a:srgbClr val="333333"/>
                </a:solidFill>
                <a:latin typeface="Calibri"/>
              </a:rPr>
              <a:t>: eso es lo que se está evaluando.</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«No lo medimos» es una respuesta válida</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Decir </a:t>
            </a:r>
            <a:r>
              <a:rPr sz="1300" b="1" i="0">
                <a:solidFill>
                  <a:srgbClr val="333333"/>
                </a:solidFill>
                <a:latin typeface="Calibri"/>
              </a:rPr>
              <a:t>«no tenemos ese dato»</a:t>
            </a:r>
            <a:r>
              <a:rPr sz="1300" b="0" i="0">
                <a:solidFill>
                  <a:srgbClr val="333333"/>
                </a:solidFill>
                <a:latin typeface="Calibri"/>
              </a:rPr>
              <a:t> vale más que inventar una cifra. Lo que hunde una sustentación es responder con seguridad algo que no se verificó.</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Responder con la decisión, no con la excusa</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«No lo hicimos porque no alcanzamos» suena a excusa. </a:t>
            </a:r>
            <a:r>
              <a:rPr sz="1300" b="1" i="0">
                <a:solidFill>
                  <a:srgbClr val="333333"/>
                </a:solidFill>
                <a:latin typeface="Calibri"/>
              </a:rPr>
              <a:t>«Decidimos no hacerlo y sacrificamos esto»</a:t>
            </a:r>
            <a:r>
              <a:rPr sz="1300" b="0" i="0">
                <a:solidFill>
                  <a:srgbClr val="333333"/>
                </a:solidFill>
                <a:latin typeface="Calibri"/>
              </a:rPr>
              <a:t> es ingeniería, y está escrito desde la sesión 8.</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Corto y al grano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Tres minutos alcanzan para dos o tres preguntas si las respuestas duran treinta segundos. Una respuesta de dos minutos se come las preguntas de los demás.</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cosas antes de empezar</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El PDF y las capturas, en la carpeta, ahora.</a:t>
            </a:r>
            <a:r>
              <a:rPr sz="1400" b="0" i="0">
                <a:solidFill>
                  <a:srgbClr val="333333"/>
                </a:solidFill>
                <a:latin typeface="Calibri"/>
              </a:rPr>
              <a:t> No al final, no «después de exponer». Si el prototipo no carga en vivo, el equipo narra el mismo recorrido sobre las capturas y </a:t>
            </a:r>
            <a:r>
              <a:rPr sz="1400" b="1" i="0">
                <a:solidFill>
                  <a:srgbClr val="333333"/>
                </a:solidFill>
                <a:latin typeface="Calibri"/>
              </a:rPr>
              <a:t>no pierde el tramo de 25 puntos</a:t>
            </a:r>
            <a:r>
              <a:rPr sz="1400" b="0" i="0">
                <a:solidFill>
                  <a:srgbClr val="333333"/>
                </a:solidFill>
                <a:latin typeface="Calibri"/>
              </a:rPr>
              <a:t>. Es literalmente para hoy que se preparó eso en la sesión 14.</a:t>
            </a:r>
          </a:p>
        </p:txBody>
      </p:sp>
      <p:sp>
        <p:nvSpPr>
          <p:cNvPr id="8" name="Rounded Rectangle 7"/>
          <p:cNvSpPr/>
          <p:nvPr/>
        </p:nvSpPr>
        <p:spPr>
          <a:xfrm>
            <a:off x="457200" y="2478024"/>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Se corta a los nueve minutos y no es rigidez por rigidez:</a:t>
            </a:r>
            <a:r>
              <a:rPr sz="1400" b="0" i="0">
                <a:solidFill>
                  <a:srgbClr val="333333"/>
                </a:solidFill>
                <a:latin typeface="Calibri"/>
              </a:rPr>
              <a:t> con cinco equipos en 90 minutos, cada minuto que un equipo se pasa lo pierde el último en exponer. En una sustentación de grado o en un comité funciona igual — el tiempo asignado es todo el tiempo que hay.</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Nada de esto termina hoy.</a:t>
            </a:r>
            <a:r>
              <a:rPr sz="1400" b="0" i="0">
                <a:solidFill>
                  <a:srgbClr val="333333"/>
                </a:solidFill>
                <a:latin typeface="Calibri"/>
              </a:rPr>
              <a:t> De cada exposición sale una lista de ajustes para el </a:t>
            </a:r>
            <a:r>
              <a:rPr sz="1400" b="1" i="0">
                <a:solidFill>
                  <a:srgbClr val="333333"/>
                </a:solidFill>
                <a:latin typeface="Calibri"/>
              </a:rPr>
              <a:t>informe final de la sesión 16, que vale el 20 %</a:t>
            </a:r>
            <a:r>
              <a:rPr sz="1400" b="0" i="0">
                <a:solidFill>
                  <a:srgbClr val="333333"/>
                </a:solidFill>
                <a:latin typeface="Calibri"/>
              </a:rPr>
              <a:t>. Anoten lo que el curso no entendió: eso es exactamente lo que hay que escribir mejor en el informe.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Taller de hoy: Exposición final del proyecto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60 min en equipos · 9 min de exposición + 3 de preguntas, por equipo · exposición de 9 min + ficha de valoración de los otros equipos</a:t>
            </a:r>
          </a:p>
        </p:txBody>
      </p:sp>
      <p:sp>
        <p:nvSpPr>
          <p:cNvPr id="6" name="Rounded Rectangle 5"/>
          <p:cNvSpPr/>
          <p:nvPr/>
        </p:nvSpPr>
        <p:spPr>
          <a:xfrm>
            <a:off x="457200" y="1472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18487"/>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18487"/>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563624"/>
            <a:ext cx="10362895" cy="402336"/>
          </a:xfrm>
          <a:prstGeom prst="rect">
            <a:avLst/>
          </a:prstGeom>
          <a:noFill/>
        </p:spPr>
        <p:txBody>
          <a:bodyPr wrap="square" anchor="ctr"/>
          <a:lstStyle/>
          <a:p>
            <a:r>
              <a:rPr sz="1500" b="1" i="0">
                <a:solidFill>
                  <a:srgbClr val="333333"/>
                </a:solidFill>
                <a:latin typeface="Calibri"/>
              </a:rPr>
              <a:t>EL PROBLEMA CON SU CIFRA</a:t>
            </a:r>
            <a:r>
              <a:rPr sz="1500" b="0" i="0">
                <a:solidFill>
                  <a:srgbClr val="333333"/>
                </a:solidFill>
                <a:latin typeface="Calibri"/>
              </a:rPr>
              <a:t> — Una frase y </a:t>
            </a:r>
            <a:r>
              <a:rPr sz="1500" b="1" i="0">
                <a:solidFill>
                  <a:srgbClr val="333333"/>
                </a:solidFill>
                <a:latin typeface="Calibri"/>
              </a:rPr>
              <a:t>un número</a:t>
            </a:r>
            <a:r>
              <a:rPr sz="1500" b="0" i="0">
                <a:solidFill>
                  <a:srgbClr val="333333"/>
                </a:solidFill>
                <a:latin typeface="Calibri"/>
              </a:rPr>
              <a:t>, con de dónde salió. </a:t>
            </a:r>
            <a:r>
              <a:rPr sz="1500" b="1" i="0">
                <a:solidFill>
                  <a:srgbClr val="333333"/>
                </a:solidFill>
                <a:latin typeface="Calibri"/>
              </a:rPr>
              <a:t>Sin saludos ni presentaciones personales</a:t>
            </a:r>
            <a:r>
              <a:rPr sz="1500" b="0" i="0">
                <a:solidFill>
                  <a:srgbClr val="333333"/>
                </a:solidFill>
                <a:latin typeface="Calibri"/>
              </a:rPr>
              <a:t>: el nombre del equipo está en la diapositiva.</a:t>
            </a:r>
          </a:p>
        </p:txBody>
      </p:sp>
      <p:sp>
        <p:nvSpPr>
          <p:cNvPr id="10" name="Rounded Rectangle 9"/>
          <p:cNvSpPr/>
          <p:nvPr/>
        </p:nvSpPr>
        <p:spPr>
          <a:xfrm>
            <a:off x="457200" y="2148839"/>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295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295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240279"/>
            <a:ext cx="10362895" cy="402336"/>
          </a:xfrm>
          <a:prstGeom prst="rect">
            <a:avLst/>
          </a:prstGeom>
          <a:noFill/>
        </p:spPr>
        <p:txBody>
          <a:bodyPr wrap="square" anchor="ctr"/>
          <a:lstStyle/>
          <a:p>
            <a:r>
              <a:rPr sz="1500" b="1" i="0">
                <a:solidFill>
                  <a:srgbClr val="333333"/>
                </a:solidFill>
                <a:latin typeface="Calibri"/>
              </a:rPr>
              <a:t>LOS AFECTADOS Y LA DECISIÓN</a:t>
            </a:r>
            <a:r>
              <a:rPr sz="1500" b="0" i="0">
                <a:solidFill>
                  <a:srgbClr val="333333"/>
                </a:solidFill>
                <a:latin typeface="Calibri"/>
              </a:rPr>
              <a:t> — Quiénes son los afectados —</a:t>
            </a:r>
            <a:r>
              <a:rPr sz="1500" b="1" i="0">
                <a:solidFill>
                  <a:srgbClr val="333333"/>
                </a:solidFill>
                <a:latin typeface="Calibri"/>
              </a:rPr>
              <a:t>incluido uno que no es usuario</a:t>
            </a:r>
            <a:r>
              <a:rPr sz="1500" b="0" i="0">
                <a:solidFill>
                  <a:srgbClr val="333333"/>
                </a:solidFill>
                <a:latin typeface="Calibri"/>
              </a:rPr>
              <a:t>— y qué alternativa se eligió, </a:t>
            </a:r>
            <a:r>
              <a:rPr sz="1500" b="1" i="0">
                <a:solidFill>
                  <a:srgbClr val="333333"/>
                </a:solidFill>
                <a:latin typeface="Calibri"/>
              </a:rPr>
              <a:t>diciendo qué se sacrificó</a:t>
            </a:r>
            <a:r>
              <a:rPr sz="1500" b="0" i="0">
                <a:solidFill>
                  <a:srgbClr val="333333"/>
                </a:solidFill>
                <a:latin typeface="Calibri"/>
              </a:rPr>
              <a:t>.</a:t>
            </a:r>
          </a:p>
        </p:txBody>
      </p:sp>
      <p:sp>
        <p:nvSpPr>
          <p:cNvPr id="14" name="Rounded Rectangle 13"/>
          <p:cNvSpPr/>
          <p:nvPr/>
        </p:nvSpPr>
        <p:spPr>
          <a:xfrm>
            <a:off x="457200" y="2825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971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971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2916936"/>
            <a:ext cx="10362895" cy="402336"/>
          </a:xfrm>
          <a:prstGeom prst="rect">
            <a:avLst/>
          </a:prstGeom>
          <a:noFill/>
        </p:spPr>
        <p:txBody>
          <a:bodyPr wrap="square" anchor="ctr"/>
          <a:lstStyle/>
          <a:p>
            <a:r>
              <a:rPr sz="1500" b="1" i="0">
                <a:solidFill>
                  <a:srgbClr val="333333"/>
                </a:solidFill>
                <a:latin typeface="Calibri"/>
              </a:rPr>
              <a:t>LA SOLUCIÓN Y EL PROTOTIPO EN VIVO</a:t>
            </a:r>
            <a:r>
              <a:rPr sz="1500" b="0" i="0">
                <a:solidFill>
                  <a:srgbClr val="333333"/>
                </a:solidFill>
                <a:latin typeface="Calibri"/>
              </a:rPr>
              <a:t> — Un recorrido de </a:t>
            </a:r>
            <a:r>
              <a:rPr sz="1500" b="1" i="0">
                <a:solidFill>
                  <a:srgbClr val="333333"/>
                </a:solidFill>
                <a:latin typeface="Calibri"/>
              </a:rPr>
              <a:t>tres pasos</a:t>
            </a:r>
            <a:r>
              <a:rPr sz="1500" b="0" i="0">
                <a:solidFill>
                  <a:srgbClr val="333333"/>
                </a:solidFill>
                <a:latin typeface="Calibri"/>
              </a:rPr>
              <a:t> mostrando </a:t>
            </a:r>
            <a:r>
              <a:rPr sz="1500" b="1" i="0">
                <a:solidFill>
                  <a:srgbClr val="333333"/>
                </a:solidFill>
                <a:latin typeface="Calibri"/>
              </a:rPr>
              <a:t>una tarea cumpliéndose</a:t>
            </a:r>
            <a:r>
              <a:rPr sz="1500" b="0" i="0">
                <a:solidFill>
                  <a:srgbClr val="333333"/>
                </a:solidFill>
                <a:latin typeface="Calibri"/>
              </a:rPr>
              <a:t>. Narra una persona y maneja la pantalla otra.</a:t>
            </a:r>
          </a:p>
        </p:txBody>
      </p:sp>
      <p:sp>
        <p:nvSpPr>
          <p:cNvPr id="18" name="Rounded Rectangle 17"/>
          <p:cNvSpPr/>
          <p:nvPr/>
        </p:nvSpPr>
        <p:spPr>
          <a:xfrm>
            <a:off x="457200" y="3502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648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3648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3593592"/>
            <a:ext cx="10362895" cy="402336"/>
          </a:xfrm>
          <a:prstGeom prst="rect">
            <a:avLst/>
          </a:prstGeom>
          <a:noFill/>
        </p:spPr>
        <p:txBody>
          <a:bodyPr wrap="square" anchor="ctr"/>
          <a:lstStyle/>
          <a:p>
            <a:r>
              <a:rPr sz="1500" b="1" i="0">
                <a:solidFill>
                  <a:srgbClr val="333333"/>
                </a:solidFill>
                <a:latin typeface="Calibri"/>
              </a:rPr>
              <a:t>LO QUE FALLÓ Y LO QUE APRENDIMOS</a:t>
            </a:r>
            <a:r>
              <a:rPr sz="1500" b="0" i="0">
                <a:solidFill>
                  <a:srgbClr val="333333"/>
                </a:solidFill>
                <a:latin typeface="Calibri"/>
              </a:rPr>
              <a:t> — Los hallazgos con personas reales, qué se arregló y </a:t>
            </a:r>
            <a:r>
              <a:rPr sz="1500" b="1" i="0">
                <a:solidFill>
                  <a:srgbClr val="333333"/>
                </a:solidFill>
                <a:latin typeface="Calibri"/>
              </a:rPr>
              <a:t>qué se decidió no arreglar</a:t>
            </a:r>
            <a:r>
              <a:rPr sz="1500" b="0" i="0">
                <a:solidFill>
                  <a:srgbClr val="333333"/>
                </a:solidFill>
                <a:latin typeface="Calibri"/>
              </a:rPr>
              <a:t>, con el motivo.</a:t>
            </a:r>
          </a:p>
        </p:txBody>
      </p:sp>
      <p:sp>
        <p:nvSpPr>
          <p:cNvPr id="22" name="Rounded Rectangle 21"/>
          <p:cNvSpPr/>
          <p:nvPr/>
        </p:nvSpPr>
        <p:spPr>
          <a:xfrm>
            <a:off x="457200" y="4178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325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325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270248"/>
            <a:ext cx="10362895" cy="402336"/>
          </a:xfrm>
          <a:prstGeom prst="rect">
            <a:avLst/>
          </a:prstGeom>
          <a:noFill/>
        </p:spPr>
        <p:txBody>
          <a:bodyPr wrap="square" anchor="ctr"/>
          <a:lstStyle/>
          <a:p>
            <a:r>
              <a:rPr sz="1500" b="1" i="0">
                <a:solidFill>
                  <a:srgbClr val="333333"/>
                </a:solidFill>
                <a:latin typeface="Calibri"/>
              </a:rPr>
              <a:t>IMPACTO Y SIGUIENTE PASO</a:t>
            </a:r>
            <a:r>
              <a:rPr sz="1500" b="0" i="0">
                <a:solidFill>
                  <a:srgbClr val="333333"/>
                </a:solidFill>
                <a:latin typeface="Calibri"/>
              </a:rPr>
              <a:t> — El impacto positivo </a:t>
            </a:r>
            <a:r>
              <a:rPr sz="1500" b="1" i="0">
                <a:solidFill>
                  <a:srgbClr val="333333"/>
                </a:solidFill>
                <a:latin typeface="Calibri"/>
              </a:rPr>
              <a:t>con su número</a:t>
            </a:r>
            <a:r>
              <a:rPr sz="1500" b="0" i="0">
                <a:solidFill>
                  <a:srgbClr val="333333"/>
                </a:solidFill>
                <a:latin typeface="Calibri"/>
              </a:rPr>
              <a:t> y el negativo </a:t>
            </a:r>
            <a:r>
              <a:rPr sz="1500" b="1" i="0">
                <a:solidFill>
                  <a:srgbClr val="333333"/>
                </a:solidFill>
                <a:latin typeface="Calibri"/>
              </a:rPr>
              <a:t>con su mitigación</a:t>
            </a:r>
            <a:r>
              <a:rPr sz="1500" b="0" i="0">
                <a:solidFill>
                  <a:srgbClr val="333333"/>
                </a:solidFill>
                <a:latin typeface="Calibri"/>
              </a:rPr>
              <a:t>. Qué haría quien continúe el proyecto.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expone en 9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Habla el vocero con la pantalla ya compartida · cronómetro en pantalla · se corta al llegar a cero</a:t>
            </a:r>
          </a:p>
        </p:txBody>
      </p:sp>
      <p:sp>
        <p:nvSpPr>
          <p:cNvPr id="6" name="Rounded Rectangle 5"/>
          <p:cNvSpPr/>
          <p:nvPr/>
        </p:nvSpPr>
        <p:spPr>
          <a:xfrm>
            <a:off x="457200" y="1444752"/>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59791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97914"/>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580644"/>
          </a:xfrm>
          <a:prstGeom prst="rect">
            <a:avLst/>
          </a:prstGeom>
          <a:noFill/>
        </p:spPr>
        <p:txBody>
          <a:bodyPr wrap="square" anchor="ctr"/>
          <a:lstStyle/>
          <a:p>
            <a:r>
              <a:rPr sz="1500" b="1" i="0">
                <a:solidFill>
                  <a:srgbClr val="095292"/>
                </a:solidFill>
                <a:latin typeface="Calibri"/>
              </a:rPr>
              <a:t>Tramo 1 · 1 min</a:t>
            </a:r>
          </a:p>
          <a:p>
            <a:pPr>
              <a:spcBef>
                <a:spcPts val="200"/>
              </a:spcBef>
            </a:pPr>
            <a:r>
              <a:rPr sz="1300" b="0" i="0">
                <a:solidFill>
                  <a:srgbClr val="333333"/>
                </a:solidFill>
                <a:latin typeface="Calibri"/>
              </a:rPr>
              <a:t>El problema con su cifra. Arranca sin saludos.</a:t>
            </a:r>
          </a:p>
        </p:txBody>
      </p:sp>
      <p:sp>
        <p:nvSpPr>
          <p:cNvPr id="10" name="Rounded Rectangle 9"/>
          <p:cNvSpPr/>
          <p:nvPr/>
        </p:nvSpPr>
        <p:spPr>
          <a:xfrm>
            <a:off x="457200" y="2281428"/>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43459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43459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372868"/>
            <a:ext cx="10271455" cy="580644"/>
          </a:xfrm>
          <a:prstGeom prst="rect">
            <a:avLst/>
          </a:prstGeom>
          <a:noFill/>
        </p:spPr>
        <p:txBody>
          <a:bodyPr wrap="square" anchor="ctr"/>
          <a:lstStyle/>
          <a:p>
            <a:r>
              <a:rPr sz="1500" b="1" i="0">
                <a:solidFill>
                  <a:srgbClr val="095292"/>
                </a:solidFill>
                <a:latin typeface="Calibri"/>
              </a:rPr>
              <a:t>Tramo 2 · 2 min</a:t>
            </a:r>
          </a:p>
          <a:p>
            <a:pPr>
              <a:spcBef>
                <a:spcPts val="200"/>
              </a:spcBef>
            </a:pPr>
            <a:r>
              <a:rPr sz="1300" b="0" i="0">
                <a:solidFill>
                  <a:srgbClr val="333333"/>
                </a:solidFill>
                <a:latin typeface="Calibri"/>
              </a:rPr>
              <a:t>Los afectados —uno que no es usuario— y la decisión con su sacrificio.</a:t>
            </a:r>
          </a:p>
        </p:txBody>
      </p:sp>
      <p:sp>
        <p:nvSpPr>
          <p:cNvPr id="14" name="Rounded Rectangle 13"/>
          <p:cNvSpPr/>
          <p:nvPr/>
        </p:nvSpPr>
        <p:spPr>
          <a:xfrm>
            <a:off x="457200" y="3118104"/>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27126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271266"/>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209544"/>
            <a:ext cx="10271455" cy="580644"/>
          </a:xfrm>
          <a:prstGeom prst="rect">
            <a:avLst/>
          </a:prstGeom>
          <a:noFill/>
        </p:spPr>
        <p:txBody>
          <a:bodyPr wrap="square" anchor="ctr"/>
          <a:lstStyle/>
          <a:p>
            <a:r>
              <a:rPr sz="1500" b="1" i="0">
                <a:solidFill>
                  <a:srgbClr val="095292"/>
                </a:solidFill>
                <a:latin typeface="Calibri"/>
              </a:rPr>
              <a:t>Tramo 3 · 3 min</a:t>
            </a:r>
          </a:p>
          <a:p>
            <a:pPr>
              <a:spcBef>
                <a:spcPts val="200"/>
              </a:spcBef>
            </a:pPr>
            <a:r>
              <a:rPr sz="1300" b="0" i="0">
                <a:solidFill>
                  <a:srgbClr val="333333"/>
                </a:solidFill>
                <a:latin typeface="Calibri"/>
              </a:rPr>
              <a:t>El prototipo en vivo: tres pasos, una tarea cumpliéndose.</a:t>
            </a:r>
          </a:p>
        </p:txBody>
      </p:sp>
      <p:sp>
        <p:nvSpPr>
          <p:cNvPr id="18" name="Rounded Rectangle 17"/>
          <p:cNvSpPr/>
          <p:nvPr/>
        </p:nvSpPr>
        <p:spPr>
          <a:xfrm>
            <a:off x="457200" y="3954780"/>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10794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07942"/>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046220"/>
            <a:ext cx="10271455" cy="580644"/>
          </a:xfrm>
          <a:prstGeom prst="rect">
            <a:avLst/>
          </a:prstGeom>
          <a:noFill/>
        </p:spPr>
        <p:txBody>
          <a:bodyPr wrap="square" anchor="ctr"/>
          <a:lstStyle/>
          <a:p>
            <a:r>
              <a:rPr sz="1500" b="1" i="0">
                <a:solidFill>
                  <a:srgbClr val="095292"/>
                </a:solidFill>
                <a:latin typeface="Calibri"/>
              </a:rPr>
              <a:t>Tramo 4 · 2 min</a:t>
            </a:r>
          </a:p>
          <a:p>
            <a:pPr>
              <a:spcBef>
                <a:spcPts val="200"/>
              </a:spcBef>
            </a:pPr>
            <a:r>
              <a:rPr sz="1300" b="0" i="0">
                <a:solidFill>
                  <a:srgbClr val="333333"/>
                </a:solidFill>
                <a:latin typeface="Calibri"/>
              </a:rPr>
              <a:t>Los hallazgos de la prueba, lo que se arregló y lo que no.</a:t>
            </a:r>
          </a:p>
        </p:txBody>
      </p:sp>
      <p:sp>
        <p:nvSpPr>
          <p:cNvPr id="22" name="Rounded Rectangle 21"/>
          <p:cNvSpPr/>
          <p:nvPr/>
        </p:nvSpPr>
        <p:spPr>
          <a:xfrm>
            <a:off x="457200" y="4791456"/>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494461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944618"/>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4882896"/>
            <a:ext cx="10271455" cy="580644"/>
          </a:xfrm>
          <a:prstGeom prst="rect">
            <a:avLst/>
          </a:prstGeom>
          <a:noFill/>
        </p:spPr>
        <p:txBody>
          <a:bodyPr wrap="square" anchor="ctr"/>
          <a:lstStyle/>
          <a:p>
            <a:r>
              <a:rPr sz="1500" b="1" i="0">
                <a:solidFill>
                  <a:srgbClr val="095292"/>
                </a:solidFill>
                <a:latin typeface="Calibri"/>
              </a:rPr>
              <a:t>Tramo 5 · 1 min</a:t>
            </a:r>
          </a:p>
          <a:p>
            <a:pPr>
              <a:spcBef>
                <a:spcPts val="200"/>
              </a:spcBef>
            </a:pPr>
            <a:r>
              <a:rPr sz="1300" b="0" i="0">
                <a:solidFill>
                  <a:srgbClr val="333333"/>
                </a:solidFill>
                <a:latin typeface="Calibri"/>
              </a:rPr>
              <a:t>Impacto positivo con su número, negativo con su mitigación, siguiente paso.</a:t>
            </a:r>
          </a:p>
        </p:txBody>
      </p:sp>
      <p:sp>
        <p:nvSpPr>
          <p:cNvPr id="26" name="Rounded Rectangle 25"/>
          <p:cNvSpPr/>
          <p:nvPr/>
        </p:nvSpPr>
        <p:spPr>
          <a:xfrm>
            <a:off x="457200" y="5628132"/>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94360" y="578129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781294"/>
            <a:ext cx="438912" cy="438912"/>
          </a:xfrm>
          <a:prstGeom prst="rect">
            <a:avLst/>
          </a:prstGeom>
          <a:noFill/>
        </p:spPr>
        <p:txBody>
          <a:bodyPr wrap="square" anchor="ctr"/>
          <a:lstStyle/>
          <a:p>
            <a:pPr algn="ctr"/>
            <a:r>
              <a:rPr sz="1600" b="1" i="0">
                <a:solidFill>
                  <a:srgbClr val="FFFFFF"/>
                </a:solidFill>
                <a:latin typeface="Calibri"/>
              </a:rPr>
              <a:t>6</a:t>
            </a:r>
          </a:p>
        </p:txBody>
      </p:sp>
      <p:sp>
        <p:nvSpPr>
          <p:cNvPr id="29" name="TextBox 28"/>
          <p:cNvSpPr txBox="1"/>
          <p:nvPr/>
        </p:nvSpPr>
        <p:spPr>
          <a:xfrm>
            <a:off x="1188720" y="5719572"/>
            <a:ext cx="10271455" cy="580644"/>
          </a:xfrm>
          <a:prstGeom prst="rect">
            <a:avLst/>
          </a:prstGeom>
          <a:noFill/>
        </p:spPr>
        <p:txBody>
          <a:bodyPr wrap="square" anchor="ctr"/>
          <a:lstStyle/>
          <a:p>
            <a:r>
              <a:rPr sz="1500" b="1" i="0">
                <a:solidFill>
                  <a:srgbClr val="095292"/>
                </a:solidFill>
                <a:latin typeface="Calibri"/>
              </a:rPr>
              <a:t>Preguntas · 3 min</a:t>
            </a:r>
          </a:p>
          <a:p>
            <a:pPr>
              <a:spcBef>
                <a:spcPts val="200"/>
              </a:spcBef>
            </a:pPr>
            <a:r>
              <a:rPr sz="1300" b="0" i="0">
                <a:solidFill>
                  <a:srgbClr val="333333"/>
                </a:solidFill>
                <a:latin typeface="Calibri"/>
              </a:rPr>
              <a:t>Una del curso y una del docente. </a:t>
            </a:r>
            <a:r>
              <a:rPr sz="1300" b="1" i="0">
                <a:solidFill>
                  <a:srgbClr val="333333"/>
                </a:solidFill>
                <a:latin typeface="Calibri"/>
              </a:rPr>
              <a:t>Responde quien tiene el tramo.</a:t>
            </a:r>
          </a:p>
        </p:txBody>
      </p:sp>
      <p:sp>
        <p:nvSpPr>
          <p:cNvPr id="30" name="TextBox 2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la sesión 16</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Trabajo dirigido:</a:t>
            </a:r>
            <a:r>
              <a:rPr sz="2000" b="0" i="0">
                <a:solidFill>
                  <a:srgbClr val="333333"/>
                </a:solidFill>
                <a:latin typeface="Calibri"/>
              </a:rPr>
              <a:t> Valoración de presentaciones — completar la ficha de valoración de los otros cuatro equipos en el muro, si no quedó terminada en clase.</a:t>
            </a:r>
          </a:p>
          <a:p>
            <a:pPr>
              <a:spcAft>
                <a:spcPts val="800"/>
              </a:spcAft>
            </a:pPr>
            <a:r>
              <a:rPr sz="2000" b="0" i="0">
                <a:solidFill>
                  <a:srgbClr val="333333"/>
                </a:solidFill>
                <a:latin typeface="Calibri"/>
              </a:rPr>
              <a:t>–   </a:t>
            </a:r>
            <a:r>
              <a:rPr sz="2000" b="1" i="0">
                <a:solidFill>
                  <a:srgbClr val="333333"/>
                </a:solidFill>
                <a:latin typeface="Calibri"/>
              </a:rPr>
              <a:t>Trabajo independiente:</a:t>
            </a:r>
            <a:r>
              <a:rPr sz="2000" b="0" i="0">
                <a:solidFill>
                  <a:srgbClr val="333333"/>
                </a:solidFill>
                <a:latin typeface="Calibri"/>
              </a:rPr>
              <a:t> Ajustes del informe final: </a:t>
            </a:r>
            <a:r>
              <a:rPr sz="2000" b="1" i="0">
                <a:solidFill>
                  <a:srgbClr val="333333"/>
                </a:solidFill>
                <a:latin typeface="Calibri"/>
              </a:rPr>
              <a:t>reunir las doce secciones</a:t>
            </a:r>
            <a:r>
              <a:rPr sz="2000" b="0" i="0">
                <a:solidFill>
                  <a:srgbClr val="333333"/>
                </a:solidFill>
                <a:latin typeface="Calibri"/>
              </a:rPr>
              <a:t> en un solo documento, tomando lo que ya está escrito desde la sesión 3, y </a:t>
            </a:r>
            <a:r>
              <a:rPr sz="2000" b="1" i="0">
                <a:solidFill>
                  <a:srgbClr val="333333"/>
                </a:solidFill>
                <a:latin typeface="Calibri"/>
              </a:rPr>
              <a:t>escribir el resumen de media página</a:t>
            </a:r>
            <a:r>
              <a:rPr sz="2000" b="0" i="0">
                <a:solidFill>
                  <a:srgbClr val="333333"/>
                </a:solidFill>
                <a:latin typeface="Calibri"/>
              </a:rPr>
              <a:t>, que es lo único nuevo. Y una tarea corta que vale mucho: </a:t>
            </a:r>
            <a:r>
              <a:rPr sz="2000" b="1" i="0">
                <a:solidFill>
                  <a:srgbClr val="333333"/>
                </a:solidFill>
                <a:latin typeface="Calibri"/>
              </a:rPr>
              <a:t>anotar lo que el curso no entendió</a:t>
            </a:r>
            <a:r>
              <a:rPr sz="2000" b="0" i="0">
                <a:solidFill>
                  <a:srgbClr val="333333"/>
                </a:solidFill>
                <a:latin typeface="Calibri"/>
              </a:rPr>
              <a:t> hoy de su proyecto.</a:t>
            </a:r>
          </a:p>
          <a:p>
            <a:pPr>
              <a:spcAft>
                <a:spcPts val="800"/>
              </a:spcAft>
            </a:pPr>
            <a:r>
              <a:rPr sz="2000" b="0" i="0">
                <a:solidFill>
                  <a:srgbClr val="333333"/>
                </a:solidFill>
                <a:latin typeface="Calibri"/>
              </a:rPr>
              <a:t>–   </a:t>
            </a:r>
            <a:r>
              <a:rPr sz="2000" b="1" i="0">
                <a:solidFill>
                  <a:srgbClr val="333333"/>
                </a:solidFill>
                <a:latin typeface="Calibri"/>
              </a:rPr>
              <a:t>Sesión 16 · Socialización y evaluación final del curso</a:t>
            </a:r>
            <a:r>
              <a:rPr sz="2000" b="0" i="0">
                <a:solidFill>
                  <a:srgbClr val="333333"/>
                </a:solidFill>
                <a:latin typeface="Calibri"/>
              </a:rPr>
              <a:t> — es la última: se </a:t>
            </a:r>
            <a:r>
              <a:rPr sz="2000" b="1" i="0">
                <a:solidFill>
                  <a:srgbClr val="333333"/>
                </a:solidFill>
                <a:latin typeface="Calibri"/>
              </a:rPr>
              <a:t>entrega el informe final (20 %)</a:t>
            </a:r>
            <a:r>
              <a:rPr sz="2000" b="0" i="0">
                <a:solidFill>
                  <a:srgbClr val="333333"/>
                </a:solidFill>
                <a:latin typeface="Calibri"/>
              </a:rPr>
              <a:t>, se socializa la galería de proyectos del curso y se hace la </a:t>
            </a:r>
            <a:r>
              <a:rPr sz="2000" b="1" i="0">
                <a:solidFill>
                  <a:srgbClr val="333333"/>
                </a:solidFill>
                <a:latin typeface="Calibri"/>
              </a:rPr>
              <a:t>autoevaluación y coevaluación</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Aviso:</a:t>
            </a:r>
            <a:r>
              <a:rPr sz="2000" b="0" i="0">
                <a:solidFill>
                  <a:srgbClr val="333333"/>
                </a:solidFill>
                <a:latin typeface="Calibri"/>
              </a:rPr>
              <a:t> El informe se entrega </a:t>
            </a:r>
            <a:r>
              <a:rPr sz="2000" b="1" i="0">
                <a:solidFill>
                  <a:srgbClr val="333333"/>
                </a:solidFill>
                <a:latin typeface="Calibri"/>
              </a:rPr>
              <a:t>en la sesión 16, dentro de la clase</a:t>
            </a:r>
            <a:r>
              <a:rPr sz="2000" b="0" i="0">
                <a:solidFill>
                  <a:srgbClr val="333333"/>
                </a:solidFill>
                <a:latin typeface="Calibri"/>
              </a:rPr>
              <a:t>: se revisa y se completa ahí mismo, con la lista de verificación. Lleguen con el documento armado —no con las secciones dispersas en cinco archivos— porque los 24 minutos de revisión no alcanzan para copiar y pegar el curso entero.</a:t>
            </a:r>
          </a:p>
          <a:p>
            <a:pPr>
              <a:spcAft>
                <a:spcPts val="800"/>
              </a:spcAft>
            </a:pPr>
            <a:r>
              <a:rPr sz="2000" b="0" i="0">
                <a:solidFill>
                  <a:srgbClr val="333333"/>
                </a:solidFill>
                <a:latin typeface="Calibri"/>
              </a:rPr>
              <a:t>–   </a:t>
            </a:r>
            <a:r>
              <a:rPr sz="2000" b="1" i="0">
                <a:solidFill>
                  <a:srgbClr val="333333"/>
                </a:solidFill>
                <a:latin typeface="Calibri"/>
              </a:rPr>
              <a:t>Antes de salir:</a:t>
            </a:r>
            <a:r>
              <a:rPr sz="2000" b="0" i="0">
                <a:solidFill>
                  <a:srgbClr val="333333"/>
                </a:solidFill>
                <a:latin typeface="Calibri"/>
              </a:rPr>
              <a:t> el enlace del documento del equipo en el chat, con permiso de lectura para el docente, y el nombre del vocero de hoy.</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16 · la última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Exposición final de proyectos · Clase 15</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Hace quince sesiones era una ocurrencia; hoy es un proyecto sustentado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