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respuesta de la derecha cita una decisión documentada y su razón. Es la que se califica alto, aunque la función no exista.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ENCUADRA EL DÍA, Y POR QUÉ EL SORTEO IMPORTA</a:t>
            </a:r>
          </a:p>
          <a:p/>
          <a:p>
            <a:r>
              <a:t>La apertura de hoy tiene una función distinta a la de las otras sesiones: no introduce un tema, baja la ansiedad y fija las reglas. La pregunta de entrada —«¿cuál fue la decisión que más les costó tomar?»— se responde con una línea por equipo en el muro y sirve para dos cosas: los pone a hablar antes de exponer, y les recuerda que lo que se califica es la decisión, no el resultado. Muchos equipos llegan creyendo que van a ser juzgados por si su prototipo es bonito.</a:t>
            </a:r>
          </a:p>
          <a:p/>
          <a:p>
            <a:r>
              <a:t>El sorteo del orden se hace en vivo y en pantalla. No es teatro: si el orden se anuncia antes, los últimos equipos siguen preparando durante las primeras exposiciones y no escuchan. Sorteado al empezar, los cinco equipos tienen que estar listos desde el primer minuto y todos escuchan a todos. Dígalo así.</a:t>
            </a:r>
          </a:p>
          <a:p/>
          <a:p>
            <a:r>
              <a:t>Antes de la primera exposición, verifique en voz alta el plan B de los cinco equipos: PDF descargado y capturas en la carpeta. Toma dos minutos y cada semestre salva al menos un equipo. Un equipo que no lo tenga y cuyo prototipo no cargue pierde el tramo de 25 puntos por algo que se prevenía en cinco minutos.</a:t>
            </a:r>
          </a:p>
          <a:p/>
          <a:p>
            <a:r>
              <a:t>Sobre el rol de quien no expone, hay que ser explícito porque de lo contrario nadie escucha: la ficha de valoración entre pares se califica, dentro de la nota de exposiciones del corte. Una fila por equipo con lo más fuerte, lo que no quedó claro y una pregunta. Y la ficha tiene un beneficio para quien la llena: obliga a comparar el proyecto propio con cuatro más, que es la manera más rápida de ver los vacíos del propio informe.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ENCUADRA EL DÍA, Y POR QUÉ EL SORTEO IMPORTA</a:t>
            </a:r>
          </a:p>
          <a:p/>
          <a:p>
            <a:r>
              <a:t>La apertura de hoy tiene una función distinta a la de las otras sesiones: no introduce un tema, baja la ansiedad y fija las reglas. La pregunta de entrada —«¿cuál fue la decisión que más les costó tomar?»— se responde con una línea por equipo en el muro y sirve para dos cosas: los pone a hablar antes de exponer, y les recuerda que lo que se califica es la decisión, no el resultado. Muchos equipos llegan creyendo que van a ser juzgados por si su prototipo es bonito.</a:t>
            </a:r>
          </a:p>
          <a:p/>
          <a:p>
            <a:r>
              <a:t>El sorteo del orden se hace en vivo y en pantalla. No es teatro: si el orden se anuncia antes, los últimos equipos siguen preparando durante las primeras exposiciones y no escuchan. Sorteado al empezar, los cinco equipos tienen que estar listos desde el primer minuto y todos escuchan a todos. Dígalo así.</a:t>
            </a:r>
          </a:p>
          <a:p/>
          <a:p>
            <a:r>
              <a:t>Antes de la primera exposición, verifique en voz alta el plan B de los cinco equipos: PDF descargado y capturas en la carpeta. Toma dos minutos y cada semestre salva al menos un equipo. Un equipo que no lo tenga y cuyo prototipo no cargue pierde el tramo de 25 puntos por algo que se prevenía en cinco minutos.</a:t>
            </a:r>
          </a:p>
          <a:p/>
          <a:p>
            <a:r>
              <a:t>Sobre el rol de quien no expone, hay que ser explícito porque de lo contrario nadie escucha: la ficha de valoración entre pares se califica, dentro de la nota de exposiciones del corte. Una fila por equipo con lo más fuerte, lo que no quedó claro y una pregunta. Y la ficha tiene un beneficio para quien la llena: obliga a comparar el proyecto propio con cuatro más, que es la manera más rápida de ver los vacíos del propio informe.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PREGUNTAS: LOS TRES MINUTOS QUE DESTAPAN EL TRABAJO REAL</a:t>
            </a:r>
          </a:p>
          <a:p/>
          <a:p>
            <a:r>
              <a:t>Los tres minutos de preguntas no son un trámite: son la parte de la sesión donde se ve quién entendió el proyecto. Por eso la regla es responde quien tiene el tramo, y hay que hacerla cumplir con firmeza —si el mismo integrante responde todo, redirija: «esa es del tramo 4, ¿quién lo presentó?»—.</a:t>
            </a:r>
          </a:p>
          <a:p/>
          <a:p>
            <a:r>
              <a:t>Enseñe explícitamente que «no lo medimos» es una respuesta válida y buena. Un estudiante de primer semestre cree que no saber es un fracaso, y por eso inventa cifras. Hay que decirle lo contrario: lo que hunde una sustentación es afirmar con seguridad algo que no se verificó, porque una sola cifra inventada vuelve dudoso todo lo demás. Es la misma lección de la sesión 5 sobre datos con fuente y de la 11 sobre la IA que inventa con seguridad.</a:t>
            </a:r>
          </a:p>
          <a:p/>
          <a:p>
            <a:r>
              <a:t>La segunda enseñanza es la diferencia entre excusa y decisión. «No lo hicimos porque no nos alcanzó el tiempo» suena a incumplimiento; «decidimos no hacerlo y sacrificamos esto a cambio» es exactamente el lenguaje del alcance mínimo de la sesión 8. Los equipos ya tienen la decisión escrita desde entonces: solo hay que recordarles que la usen.</a:t>
            </a:r>
          </a:p>
          <a:p/>
          <a:p>
            <a:r>
              <a:t>Reserve una pregunta suya para cada equipo, y hágala útil. Las tres que más rinden: «¿con quién lo probaron y qué hizo esa persona?» —destapa si hubo prueba real—, «¿qué pasa con alguien que no tiene datos móviles?» —destapa si pensaron en los afectados no usuarios— y «si tuvieran una semana más, ¿qué harían primero?» —destapa si tienen criterio de prioridad o solo una lista de deseos—.</a:t>
            </a:r>
          </a:p>
          <a:p/>
          <a:p>
            <a:r>
              <a:t>Cuide el tiempo de las respuestas: tres minutos alcanzan para dos o tres preguntas si las respuestas duran treinta segundos. Una respuesta de dos minutos se come las preguntas de los demás, y hay que interrumpirla con cortesía.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CIERRE: QUÉ HACER CON LO QUE SALIÓ HOY</a:t>
            </a:r>
          </a:p>
          <a:p/>
          <a:p>
            <a:r>
              <a:t>Los ocho minutos de cierre no son para felicitar. Son para convertir las cinco exposiciones en trabajo concreto para el informe final, que se entrega la próxima sesión y vale el 20 %.</a:t>
            </a:r>
          </a:p>
          <a:p/>
          <a:p>
            <a:r>
              <a:t>La instrucción operativa para cada equipo es una: anoten lo que el curso no entendió de su proyecto, porque eso es exactamente lo que hay que escribir mejor en el informe. Si tres personas preguntaron cómo se actualiza la lista, la sección de la solución no está clara. Una pregunta repetida es un diagnóstico gratis.</a:t>
            </a:r>
          </a:p>
          <a:p/>
          <a:p>
            <a:r>
              <a:t>Devuelva una observación por equipo, dicha en público y en una frase —lo que más sumó y la única cosa que cambiaría—. La retroalimentación detallada va después, por escrito, con las frases que anotó mientras calificaba. En público, una sola cosa: es la misma regla de la Clase 12 sobre retroalimentación útil.</a:t>
            </a:r>
          </a:p>
          <a:p/>
          <a:p>
            <a:r>
              <a:t>Y cierre nombrando lo que efectivamente pasó, sin discurso: hace quince sesiones estos equipos tenían una ocurrencia; hoy sustentaron un problema con evidencia, una decisión con criterios, un prototipo probado con personas reales y un impacto con sus costos. Eso es el ciclo completo de un proyecto de ingeniería, y lo hicieron en primer semestre. Vale decirlo una vez, en serio y corto.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15</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Exposición final de proyectos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Nueve minutos por equipo y tres de preguntas — hoy la clase la dan ustedes</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Hoy la clase la dan los estudiantes. El docente cronometra y pregunta</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20557"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819323"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727883" cy="3099816"/>
          </a:xfrm>
          <a:prstGeom prst="rect">
            <a:avLst/>
          </a:prstGeom>
          <a:noFill/>
        </p:spPr>
        <p:txBody>
          <a:bodyPr wrap="square">
            <a:spAutoFit/>
          </a:bodyPr>
          <a:lstStyle/>
          <a:p>
            <a:pPr algn="ctr"/>
            <a:r>
              <a:rPr sz="1300" b="0" i="0">
                <a:solidFill>
                  <a:srgbClr val="333333"/>
                </a:solidFill>
                <a:latin typeface="Calibri"/>
              </a:rPr>
              <a:t>Apertura y encuadre — Pregunta de entrada, sorteo del orden y reglas del día</a:t>
            </a:r>
          </a:p>
        </p:txBody>
      </p:sp>
      <p:sp>
        <p:nvSpPr>
          <p:cNvPr id="10" name="Rounded Rectangle 9"/>
          <p:cNvSpPr/>
          <p:nvPr/>
        </p:nvSpPr>
        <p:spPr>
          <a:xfrm>
            <a:off x="4539881"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76523" y="1563624"/>
            <a:ext cx="2819323" cy="502920"/>
          </a:xfrm>
          <a:prstGeom prst="rect">
            <a:avLst/>
          </a:prstGeom>
          <a:noFill/>
        </p:spPr>
        <p:txBody>
          <a:bodyPr wrap="square">
            <a:spAutoFit/>
          </a:bodyPr>
          <a:lstStyle/>
          <a:p>
            <a:pPr algn="ctr"/>
            <a:r>
              <a:rPr sz="1300" b="1" i="0">
                <a:solidFill>
                  <a:srgbClr val="095292"/>
                </a:solidFill>
                <a:latin typeface="Calibri"/>
              </a:rPr>
              <a:t>00:10–01:10 · 60 min</a:t>
            </a:r>
          </a:p>
        </p:txBody>
      </p:sp>
      <p:sp>
        <p:nvSpPr>
          <p:cNvPr id="12" name="TextBox 11"/>
          <p:cNvSpPr txBox="1"/>
          <p:nvPr/>
        </p:nvSpPr>
        <p:spPr>
          <a:xfrm>
            <a:off x="3322243" y="2798064"/>
            <a:ext cx="2727883" cy="3099816"/>
          </a:xfrm>
          <a:prstGeom prst="rect">
            <a:avLst/>
          </a:prstGeom>
          <a:noFill/>
        </p:spPr>
        <p:txBody>
          <a:bodyPr wrap="square">
            <a:spAutoFit/>
          </a:bodyPr>
          <a:lstStyle/>
          <a:p>
            <a:pPr algn="ctr"/>
            <a:r>
              <a:rPr sz="1300" b="0" i="0">
                <a:solidFill>
                  <a:srgbClr val="333333"/>
                </a:solidFill>
                <a:latin typeface="Calibri"/>
              </a:rPr>
              <a:t>Exposiciones finales — 5 equipos × 12 min — 9 de exposición y 3 de preguntas</a:t>
            </a:r>
          </a:p>
        </p:txBody>
      </p:sp>
      <p:sp>
        <p:nvSpPr>
          <p:cNvPr id="13" name="Rounded Rectangle 12"/>
          <p:cNvSpPr/>
          <p:nvPr/>
        </p:nvSpPr>
        <p:spPr>
          <a:xfrm>
            <a:off x="735920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5847" y="1563624"/>
            <a:ext cx="2819323" cy="502920"/>
          </a:xfrm>
          <a:prstGeom prst="rect">
            <a:avLst/>
          </a:prstGeom>
          <a:noFill/>
        </p:spPr>
        <p:txBody>
          <a:bodyPr wrap="square">
            <a:spAutoFit/>
          </a:bodyPr>
          <a:lstStyle/>
          <a:p>
            <a:pPr algn="ctr"/>
            <a:r>
              <a:rPr sz="1300" b="1" i="0">
                <a:solidFill>
                  <a:srgbClr val="095292"/>
                </a:solidFill>
                <a:latin typeface="Calibri"/>
              </a:rPr>
              <a:t>01:10–01:22 · 12 min</a:t>
            </a:r>
          </a:p>
        </p:txBody>
      </p:sp>
      <p:sp>
        <p:nvSpPr>
          <p:cNvPr id="15" name="TextBox 14"/>
          <p:cNvSpPr txBox="1"/>
          <p:nvPr/>
        </p:nvSpPr>
        <p:spPr>
          <a:xfrm>
            <a:off x="6141567" y="2798064"/>
            <a:ext cx="2727883" cy="3099816"/>
          </a:xfrm>
          <a:prstGeom prst="rect">
            <a:avLst/>
          </a:prstGeom>
          <a:noFill/>
        </p:spPr>
        <p:txBody>
          <a:bodyPr wrap="square">
            <a:spAutoFit/>
          </a:bodyPr>
          <a:lstStyle/>
          <a:p>
            <a:pPr algn="ctr"/>
            <a:r>
              <a:rPr sz="1300" b="0" i="0">
                <a:solidFill>
                  <a:srgbClr val="333333"/>
                </a:solidFill>
                <a:latin typeface="Calibri"/>
              </a:rPr>
              <a:t>Valoración entre pares — La ficha de valoración de los otros equipos, en el muro</a:t>
            </a:r>
          </a:p>
        </p:txBody>
      </p:sp>
      <p:sp>
        <p:nvSpPr>
          <p:cNvPr id="16" name="Rounded Rectangle 15"/>
          <p:cNvSpPr/>
          <p:nvPr/>
        </p:nvSpPr>
        <p:spPr>
          <a:xfrm>
            <a:off x="10178529"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171" y="1563624"/>
            <a:ext cx="2819323" cy="502920"/>
          </a:xfrm>
          <a:prstGeom prst="rect">
            <a:avLst/>
          </a:prstGeom>
          <a:noFill/>
        </p:spPr>
        <p:txBody>
          <a:bodyPr wrap="square">
            <a:spAutoFit/>
          </a:bodyPr>
          <a:lstStyle/>
          <a:p>
            <a:pPr algn="ctr"/>
            <a:r>
              <a:rPr sz="1300" b="1" i="0">
                <a:solidFill>
                  <a:srgbClr val="095292"/>
                </a:solidFill>
                <a:latin typeface="Calibri"/>
              </a:rPr>
              <a:t>01:22–01:30 · 8 min</a:t>
            </a:r>
          </a:p>
        </p:txBody>
      </p:sp>
      <p:sp>
        <p:nvSpPr>
          <p:cNvPr id="18" name="TextBox 17"/>
          <p:cNvSpPr txBox="1"/>
          <p:nvPr/>
        </p:nvSpPr>
        <p:spPr>
          <a:xfrm>
            <a:off x="8960891" y="2798064"/>
            <a:ext cx="2727883" cy="3099816"/>
          </a:xfrm>
          <a:prstGeom prst="rect">
            <a:avLst/>
          </a:prstGeom>
          <a:noFill/>
        </p:spPr>
        <p:txBody>
          <a:bodyPr wrap="square">
            <a:spAutoFit/>
          </a:bodyPr>
          <a:lstStyle/>
          <a:p>
            <a:pPr algn="ctr"/>
            <a:r>
              <a:rPr sz="1300" b="0" i="0">
                <a:solidFill>
                  <a:srgbClr val="333333"/>
                </a:solidFill>
                <a:latin typeface="Calibri"/>
              </a:rPr>
              <a:t>Cierre — Lo que se vio hoy y qué falta para el informe final</a:t>
            </a:r>
          </a:p>
        </p:txBody>
      </p:sp>
      <p:sp>
        <p:nvSpPr>
          <p:cNvPr id="19" name="TextBox 18"/>
          <p:cNvSpPr txBox="1"/>
          <p:nvPr/>
        </p:nvSpPr>
        <p:spPr>
          <a:xfrm>
            <a:off x="457200" y="5806440"/>
            <a:ext cx="11277295" cy="640080"/>
          </a:xfrm>
          <a:prstGeom prst="rect">
            <a:avLst/>
          </a:prstGeom>
          <a:noFill/>
        </p:spPr>
        <p:txBody>
          <a:bodyPr wrap="square">
            <a:spAutoFit/>
          </a:bodyPr>
          <a:lstStyle/>
          <a:p>
            <a:pPr algn="ctr"/>
            <a:r>
              <a:rPr sz="1100" b="1" i="1">
                <a:solidFill>
                  <a:srgbClr val="666666"/>
                </a:solidFill>
                <a:latin typeface="Calibri"/>
              </a:rPr>
              <a:t>Se corta a los nueve minutos</a:t>
            </a:r>
            <a:r>
              <a:rPr sz="1100" b="0" i="1">
                <a:solidFill>
                  <a:srgbClr val="666666"/>
                </a:solidFill>
                <a:latin typeface="Calibri"/>
              </a:rPr>
              <a:t>, sin excepción y aunque quede una frase a medias: con cinco equipos en 90 minutos, el tiempo que un equipo se pasa lo pierde el último. Los </a:t>
            </a:r>
            <a:r>
              <a:rPr sz="1100" b="1" i="1">
                <a:solidFill>
                  <a:srgbClr val="666666"/>
                </a:solidFill>
                <a:latin typeface="Calibri"/>
              </a:rPr>
              <a:t>tres minutos de preguntas</a:t>
            </a:r>
            <a:r>
              <a:rPr sz="1100" b="0" i="1">
                <a:solidFill>
                  <a:srgbClr val="666666"/>
                </a:solidFill>
                <a:latin typeface="Calibri"/>
              </a:rPr>
              <a:t> también son parte de la exposición, y </a:t>
            </a:r>
            <a:r>
              <a:rPr sz="1100" b="1" i="1">
                <a:solidFill>
                  <a:srgbClr val="666666"/>
                </a:solidFill>
                <a:latin typeface="Calibri"/>
              </a:rPr>
              <a:t>cada integrante responde de su tramo</a:t>
            </a:r>
            <a:r>
              <a:rPr sz="1100" b="0" i="1">
                <a:solidFill>
                  <a:srgbClr val="666666"/>
                </a:solidFill>
                <a:latin typeface="Calibri"/>
              </a:rPr>
              <a:t>. El orden se sortea al empezar, así que los cinco equipos tienen que estar listos desde el primer minuto.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Sustentar el proyecto en </a:t>
            </a:r>
            <a:r>
              <a:rPr sz="2000" b="1" i="0">
                <a:solidFill>
                  <a:srgbClr val="333333"/>
                </a:solidFill>
                <a:latin typeface="Calibri"/>
              </a:rPr>
              <a:t>nueve minutos</a:t>
            </a:r>
            <a:r>
              <a:rPr sz="2000" b="0" i="0">
                <a:solidFill>
                  <a:srgbClr val="333333"/>
                </a:solidFill>
                <a:latin typeface="Calibri"/>
              </a:rPr>
              <a:t>, con la estructura de cinco tramos.</a:t>
            </a:r>
          </a:p>
          <a:p>
            <a:pPr>
              <a:spcAft>
                <a:spcPts val="800"/>
              </a:spcAft>
            </a:pPr>
            <a:r>
              <a:rPr sz="2000" b="0" i="0">
                <a:solidFill>
                  <a:srgbClr val="333333"/>
                </a:solidFill>
                <a:latin typeface="Calibri"/>
              </a:rPr>
              <a:t>–   </a:t>
            </a:r>
            <a:r>
              <a:rPr sz="2000" b="1" i="0">
                <a:solidFill>
                  <a:srgbClr val="333333"/>
                </a:solidFill>
                <a:latin typeface="Calibri"/>
              </a:rPr>
              <a:t>Mostrar el prototipo funcionando</a:t>
            </a:r>
            <a:r>
              <a:rPr sz="2000" b="0" i="0">
                <a:solidFill>
                  <a:srgbClr val="333333"/>
                </a:solidFill>
                <a:latin typeface="Calibri"/>
              </a:rPr>
              <a:t> y los hallazgos de la prueba con personas reales.</a:t>
            </a:r>
          </a:p>
          <a:p>
            <a:pPr>
              <a:spcAft>
                <a:spcPts val="800"/>
              </a:spcAft>
            </a:pPr>
            <a:r>
              <a:rPr sz="2000" b="0" i="0">
                <a:solidFill>
                  <a:srgbClr val="333333"/>
                </a:solidFill>
                <a:latin typeface="Calibri"/>
              </a:rPr>
              <a:t>–   Responder preguntas del curso y del docente </a:t>
            </a:r>
            <a:r>
              <a:rPr sz="2000" b="1" i="0">
                <a:solidFill>
                  <a:srgbClr val="333333"/>
                </a:solidFill>
                <a:latin typeface="Calibri"/>
              </a:rPr>
              <a:t>sobre el propio tramo</a:t>
            </a:r>
            <a:r>
              <a:rPr sz="2000" b="0" i="0">
                <a:solidFill>
                  <a:srgbClr val="333333"/>
                </a:solidFill>
                <a:latin typeface="Calibri"/>
              </a:rPr>
              <a:t>.</a:t>
            </a:r>
          </a:p>
          <a:p>
            <a:pPr>
              <a:spcAft>
                <a:spcPts val="800"/>
              </a:spcAft>
            </a:pPr>
            <a:r>
              <a:rPr sz="2000" b="0" i="0">
                <a:solidFill>
                  <a:srgbClr val="333333"/>
                </a:solidFill>
                <a:latin typeface="Calibri"/>
              </a:rPr>
              <a:t>–   Valorar el trabajo de los otros equipos con </a:t>
            </a:r>
            <a:r>
              <a:rPr sz="2000" b="1" i="0">
                <a:solidFill>
                  <a:srgbClr val="333333"/>
                </a:solidFill>
                <a:latin typeface="Calibri"/>
              </a:rPr>
              <a:t>criterios y no con opiniones</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En quince sesiones pasaron de «se me ocurrió una app» a un prototipo probado con personas reales. ¿Cuál fue la decisión que más les costó tomar?</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Una línea por equipo en el muro, antes de empezar. Nada más.</a:t>
            </a:r>
          </a:p>
          <a:p>
            <a:pPr algn="ctr">
              <a:spcAft>
                <a:spcPts val="600"/>
              </a:spcAft>
            </a:pPr>
            <a:r>
              <a:rPr sz="1500" b="0" i="0">
                <a:solidFill>
                  <a:srgbClr val="269CCB"/>
                </a:solidFill>
                <a:latin typeface="Calibri"/>
              </a:rPr>
              <a:t>Esa decisión es la que hay que contar hoy: no el resultado, la decisión.</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El orden del día, y qué hace el equipo que no está exponiendo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Escuchar también es trabajo de hoy: la ficha de valoración devuelve a cada equipo lo que el curso entendió</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Se sortea el orden</a:t>
            </a:r>
          </a:p>
          <a:p>
            <a:pPr>
              <a:spcBef>
                <a:spcPts val="200"/>
              </a:spcBef>
            </a:pPr>
            <a:r>
              <a:rPr sz="1300" b="0" i="0">
                <a:solidFill>
                  <a:srgbClr val="333333"/>
                </a:solidFill>
                <a:latin typeface="Calibri"/>
              </a:rPr>
              <a:t>Al empezar, en pantalla. </a:t>
            </a:r>
            <a:r>
              <a:rPr sz="1300" b="1" i="0">
                <a:solidFill>
                  <a:srgbClr val="333333"/>
                </a:solidFill>
                <a:latin typeface="Calibri"/>
              </a:rPr>
              <a:t>Nadie sabe si es primero</a:t>
            </a:r>
            <a:r>
              <a:rPr sz="1300" b="0" i="0">
                <a:solidFill>
                  <a:srgbClr val="333333"/>
                </a:solidFill>
                <a:latin typeface="Calibri"/>
              </a:rPr>
              <a:t>, así que los cinco equipos están listos desde el minuto uno.</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El equipo que expone comparte pantalla</a:t>
            </a:r>
          </a:p>
          <a:p>
            <a:pPr>
              <a:spcBef>
                <a:spcPts val="200"/>
              </a:spcBef>
            </a:pPr>
            <a:r>
              <a:rPr sz="1300" b="0" i="0">
                <a:solidFill>
                  <a:srgbClr val="333333"/>
                </a:solidFill>
                <a:latin typeface="Calibri"/>
              </a:rPr>
              <a:t>Un solo integrante comparte; los demás tienen la presentación en PDF abierta por si se cae.</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Nueve minutos, con cronómetro visible</a:t>
            </a:r>
          </a:p>
          <a:p>
            <a:pPr>
              <a:spcBef>
                <a:spcPts val="200"/>
              </a:spcBef>
            </a:pPr>
            <a:r>
              <a:rPr sz="1300" b="0" i="0">
                <a:solidFill>
                  <a:srgbClr val="333333"/>
                </a:solidFill>
                <a:latin typeface="Calibri"/>
              </a:rPr>
              <a:t>Se corta al llegar a cero. A los 8 minutos aparece un aviso en el chat.</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Tres minutos de preguntas</a:t>
            </a:r>
          </a:p>
          <a:p>
            <a:pPr>
              <a:spcBef>
                <a:spcPts val="200"/>
              </a:spcBef>
            </a:pPr>
            <a:r>
              <a:rPr sz="1300" b="0" i="0">
                <a:solidFill>
                  <a:srgbClr val="333333"/>
                </a:solidFill>
                <a:latin typeface="Calibri"/>
              </a:rPr>
              <a:t>Primero una pregunta del curso, después una del docente. </a:t>
            </a:r>
            <a:r>
              <a:rPr sz="1300" b="1" i="0">
                <a:solidFill>
                  <a:srgbClr val="333333"/>
                </a:solidFill>
                <a:latin typeface="Calibri"/>
              </a:rPr>
              <a:t>Responde quien tenga el tramo.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Los que no exponen llenan la ficha</a:t>
            </a:r>
          </a:p>
          <a:p>
            <a:pPr>
              <a:spcBef>
                <a:spcPts val="200"/>
              </a:spcBef>
            </a:pPr>
            <a:r>
              <a:rPr sz="1300" b="0" i="0">
                <a:solidFill>
                  <a:srgbClr val="333333"/>
                </a:solidFill>
                <a:latin typeface="Calibri"/>
              </a:rPr>
              <a:t>Una fila por equipo: lo más fuerte, lo que no quedó claro y </a:t>
            </a:r>
            <a:r>
              <a:rPr sz="1300" b="1" i="0">
                <a:solidFill>
                  <a:srgbClr val="333333"/>
                </a:solidFill>
                <a:latin typeface="Calibri"/>
              </a:rPr>
              <a:t>una pregunta</a:t>
            </a:r>
            <a:r>
              <a:rPr sz="1300" b="0" i="0">
                <a:solidFill>
                  <a:srgbClr val="333333"/>
                </a:solidFill>
                <a:latin typeface="Calibri"/>
              </a:rPr>
              <a:t>. Se entrega en el muro.</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tres minutos de preguntas también son exposición</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Responde quien tiene el tramo</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Si preguntan por la prueba con usuarios, responde quien la hizo. </a:t>
            </a:r>
            <a:r>
              <a:rPr sz="1300" b="1" i="0">
                <a:solidFill>
                  <a:srgbClr val="333333"/>
                </a:solidFill>
                <a:latin typeface="Calibri"/>
              </a:rPr>
              <a:t>No responde siempre el mismo</a:t>
            </a:r>
            <a:r>
              <a:rPr sz="1300" b="0" i="0">
                <a:solidFill>
                  <a:srgbClr val="333333"/>
                </a:solidFill>
                <a:latin typeface="Calibri"/>
              </a:rPr>
              <a:t>: eso es lo que se está evaluando.</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«No lo medimos» es una respuesta válida</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Decir </a:t>
            </a:r>
            <a:r>
              <a:rPr sz="1300" b="1" i="0">
                <a:solidFill>
                  <a:srgbClr val="333333"/>
                </a:solidFill>
                <a:latin typeface="Calibri"/>
              </a:rPr>
              <a:t>«no tenemos ese dato»</a:t>
            </a:r>
            <a:r>
              <a:rPr sz="1300" b="0" i="0">
                <a:solidFill>
                  <a:srgbClr val="333333"/>
                </a:solidFill>
                <a:latin typeface="Calibri"/>
              </a:rPr>
              <a:t> vale más que inventar una cifra. Lo que hunde una sustentación es responder con seguridad algo que no se verificó.</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Responder con la decisión, no con la excusa</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«No lo hicimos porque no alcanzamos» suena a excusa. </a:t>
            </a:r>
            <a:r>
              <a:rPr sz="1300" b="1" i="0">
                <a:solidFill>
                  <a:srgbClr val="333333"/>
                </a:solidFill>
                <a:latin typeface="Calibri"/>
              </a:rPr>
              <a:t>«Decidimos no hacerlo y sacrificamos esto»</a:t>
            </a:r>
            <a:r>
              <a:rPr sz="1300" b="0" i="0">
                <a:solidFill>
                  <a:srgbClr val="333333"/>
                </a:solidFill>
                <a:latin typeface="Calibri"/>
              </a:rPr>
              <a:t> es ingeniería, y está escrito desde la sesión 8.</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Corto y al grano</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Tres minutos alcanzan para dos o tres preguntas si las respuestas duran treinta segundos. Una respuesta de dos minutos se come las preguntas de los demás.</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la misma pregunta, dos respuestas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Pregunta del curso: «¿Por qué la app no deja pagar?»</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Excusa</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«No alcanzamos el tiempo».</a:t>
            </a:r>
          </a:p>
          <a:p>
            <a:pPr>
              <a:spcAft>
                <a:spcPts val="800"/>
              </a:spcAft>
            </a:pPr>
            <a:r>
              <a:rPr sz="1500" b="0" i="0">
                <a:solidFill>
                  <a:srgbClr val="333333"/>
                </a:solidFill>
                <a:latin typeface="Calibri"/>
              </a:rPr>
              <a:t>–   «Lo íbamos a hacer pero el profe dijo que no».</a:t>
            </a:r>
          </a:p>
          <a:p>
            <a:pPr>
              <a:spcAft>
                <a:spcPts val="800"/>
              </a:spcAft>
            </a:pPr>
            <a:r>
              <a:rPr sz="1500" b="0" i="0">
                <a:solidFill>
                  <a:srgbClr val="333333"/>
                </a:solidFill>
                <a:latin typeface="Calibri"/>
              </a:rPr>
              <a:t>–   Responde quien no hizo esa parte, y duda.</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Decisión</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Decidimos</a:t>
            </a:r>
            <a:r>
              <a:rPr sz="1500" b="0" i="0">
                <a:solidFill>
                  <a:srgbClr val="333333"/>
                </a:solidFill>
                <a:latin typeface="Calibri"/>
              </a:rPr>
              <a:t> dejarlo fuera del alcance mínimo en la sesión 8».</a:t>
            </a:r>
          </a:p>
          <a:p>
            <a:pPr>
              <a:spcAft>
                <a:spcPts val="800"/>
              </a:spcAft>
            </a:pPr>
            <a:r>
              <a:rPr sz="1500" b="0" i="0">
                <a:solidFill>
                  <a:srgbClr val="333333"/>
                </a:solidFill>
                <a:latin typeface="Calibri"/>
              </a:rPr>
              <a:t>–   «Pagar exige guardar datos que no necesitamos para el turno».</a:t>
            </a:r>
          </a:p>
          <a:p>
            <a:pPr>
              <a:spcAft>
                <a:spcPts val="800"/>
              </a:spcAft>
            </a:pPr>
            <a:r>
              <a:rPr sz="1500" b="0" i="0">
                <a:solidFill>
                  <a:srgbClr val="333333"/>
                </a:solidFill>
                <a:latin typeface="Calibri"/>
              </a:rPr>
              <a:t>–   Responde quien hizo la matriz, en 30 segundos.</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cosas antes de empezar</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El PDF y las capturas, en la carpeta, ahora.</a:t>
            </a:r>
            <a:r>
              <a:rPr sz="1400" b="0" i="0">
                <a:solidFill>
                  <a:srgbClr val="333333"/>
                </a:solidFill>
                <a:latin typeface="Calibri"/>
              </a:rPr>
              <a:t> No al final, no «después de exponer». Si el prototipo no carga en vivo, el equipo narra el mismo recorrido sobre las capturas y </a:t>
            </a:r>
            <a:r>
              <a:rPr sz="1400" b="1" i="0">
                <a:solidFill>
                  <a:srgbClr val="333333"/>
                </a:solidFill>
                <a:latin typeface="Calibri"/>
              </a:rPr>
              <a:t>no pierde la demostración</a:t>
            </a:r>
            <a:r>
              <a:rPr sz="1400" b="0" i="0">
                <a:solidFill>
                  <a:srgbClr val="333333"/>
                </a:solidFill>
                <a:latin typeface="Calibri"/>
              </a:rPr>
              <a:t>. Es literalmente para hoy que se preparó eso en la Clase 14.</a:t>
            </a:r>
          </a:p>
        </p:txBody>
      </p:sp>
      <p:sp>
        <p:nvSpPr>
          <p:cNvPr id="8" name="Rounded Rectangle 7"/>
          <p:cNvSpPr/>
          <p:nvPr/>
        </p:nvSpPr>
        <p:spPr>
          <a:xfrm>
            <a:off x="457200" y="2478024"/>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Se corta a los nueve minutos y no es rigidez por rigidez:</a:t>
            </a:r>
            <a:r>
              <a:rPr sz="1400" b="0" i="0">
                <a:solidFill>
                  <a:srgbClr val="333333"/>
                </a:solidFill>
                <a:latin typeface="Calibri"/>
              </a:rPr>
              <a:t> con cinco equipos en 90 minutos, cada minuto que un equipo se pasa lo pierde el último en exponer. En una sustentación de grado o en un comité funciona igual — el tiempo asignado es todo el tiempo que hay.</a:t>
            </a:r>
          </a:p>
        </p:txBody>
      </p:sp>
      <p:sp>
        <p:nvSpPr>
          <p:cNvPr id="11" name="Rounded Rectangle 10"/>
          <p:cNvSpPr/>
          <p:nvPr/>
        </p:nvSpPr>
        <p:spPr>
          <a:xfrm>
            <a:off x="457200" y="3694176"/>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Nada de esto termina hoy.</a:t>
            </a:r>
            <a:r>
              <a:rPr sz="1400" b="0" i="0">
                <a:solidFill>
                  <a:srgbClr val="333333"/>
                </a:solidFill>
                <a:latin typeface="Calibri"/>
              </a:rPr>
              <a:t> De cada exposición sale una lista de ajustes para el </a:t>
            </a:r>
            <a:r>
              <a:rPr sz="1400" b="1" i="0">
                <a:solidFill>
                  <a:srgbClr val="333333"/>
                </a:solidFill>
                <a:latin typeface="Calibri"/>
              </a:rPr>
              <a:t>informe final de la Clase 16</a:t>
            </a:r>
            <a:r>
              <a:rPr sz="1400" b="0" i="0">
                <a:solidFill>
                  <a:srgbClr val="333333"/>
                </a:solidFill>
                <a:latin typeface="Calibri"/>
              </a:rPr>
              <a:t>. Anoten lo que el curso no entendió: eso es exactamente lo que hay que escribir mejor en el informe.</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Clase 16 · la última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Exposición final de proyectos · Clase 15</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Hace quince sesiones era una ocurrencia; hoy es un proyecto sustentado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