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de la derecha cita una decisión documentada y su razón. Es la que se califica alto, aunque la función no exista.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CALIFICA CADA TRAMO, SIN DISCUTIR CON EL RELOJ</a:t>
            </a:r>
          </a:p>
          <a:p/>
          <a:p>
            <a:r>
              <a:t>La rúbrica se proyecta al empezar y hay que dejarla visible: calificar con criterios publicados evita la discusión posterior y, sobre todo, le dice al que expone qué es lo importante. Los pesos no son arbitrarios — el tramo 3 vale más porque es la evidencia de que hicieron algo, y el tramo 4 vale 20 porque es lo que distingue un proyecto de una idea.</a:t>
            </a:r>
          </a:p>
          <a:p/>
          <a:p>
            <a:r>
              <a:t>Califique mientras escucha, no después. Con cinco equipos seguidos, la memoria mezcla las exposiciones y termina premiando al último. Tenga la tabla de cinco tramos por equipo abierta y anote el puntaje al terminar cada tramo, más una frase de por qué. Esa frase es lo que después se devuelve como retroalimentación.</a:t>
            </a:r>
          </a:p>
          <a:p/>
          <a:p>
            <a:r>
              <a:t>Los dos descuentos hay que aplicarlos, y anunciarlos antes. Hasta 10 puntos si no todos los integrantes hablan —porque la exposición en equipo es lo que se está evaluando— y hasta 10 si nadie sabe responder una pregunta de su propio tramo. El segundo descuento es el que más enseña: destapa al equipo donde uno solo hizo el trabajo y los demás leyeron un guion.</a:t>
            </a:r>
          </a:p>
          <a:p/>
          <a:p>
            <a:r>
              <a:t>Sobre el corte a los nueve minutos: avise en el chat a los 8, y corte a los 9 aunque quede una frase a medias. Es incómodo la primera vez y después el curso lo acepta como parte del juego. El argumento, si alguien reclama, es aritmético y no disciplinario: cinco equipos por 12 minutos son 60, y el tiempo que un equipo se pasa lo pierde el último. No descuente puntos adicionales por pasarse: el corte ya es el castigo, porque los tramos que faltaban valen cero.</a:t>
            </a:r>
          </a:p>
          <a:p/>
          <a:p>
            <a:r>
              <a:t>Un criterio de calificación que conviene tener claro de antemano: un equipo que cuenta un fracaso con honestidad saca más que uno que presenta todo perfecto. No es generosidad: en un prototipo de primer semestre, «todo funcionó a la primera» significa casi siempre que no se probó con nadie. Si un equipo no reporta ningún hallazgo en el tramo 4, la pregunta obligatoria es «¿con quién lo probaron y qué hizo esa persona?».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PREGUNTAS: LOS TRES MINUTOS QUE DESTAPAN EL TRABAJO REAL</a:t>
            </a:r>
          </a:p>
          <a:p/>
          <a:p>
            <a:r>
              <a:t>Los tres minutos de preguntas no son un trámite: son la parte de la sesión donde se ve quién entendió el proyecto. Por eso la regla es responde quien tiene el tramo, y hay que hacerla cumplir con firmeza —si el mismo integrante responde todo, redirija: «esa es del tramo 4, ¿quién lo presentó?»—.</a:t>
            </a:r>
          </a:p>
          <a:p/>
          <a:p>
            <a:r>
              <a:t>Enseñe explícitamente que «no lo medimos» es una respuesta válida y buena. Un estudiante de primer semestre cree que no saber es un fracaso, y por eso inventa cifras. Hay que decirle lo contrario: lo que hunde una sustentación es afirmar con seguridad algo que no se verificó, porque una sola cifra inventada vuelve dudoso todo lo demás. Es la misma lección de la sesión 5 sobre datos con fuente y de la 11 sobre la IA que inventa con seguridad.</a:t>
            </a:r>
          </a:p>
          <a:p/>
          <a:p>
            <a:r>
              <a:t>La segunda enseñanza es la diferencia entre excusa y decisión. «No lo hicimos porque no nos alcanzó el tiempo» suena a incumplimiento; «decidimos no hacerlo y sacrificamos esto a cambio» es exactamente el lenguaje del alcance mínimo de la sesión 8. Los equipos ya tienen la decisión escrita desde entonces: solo hay que recordarles que la usen.</a:t>
            </a:r>
          </a:p>
          <a:p/>
          <a:p>
            <a:r>
              <a:t>Reserve una pregunta suya para cada equipo, y hágala útil. Las tres que más rinden: «¿con quién lo probaron y qué hizo esa persona?» —destapa si hubo prueba real—, «¿qué pasa con alguien que no tiene datos móviles?» —destapa si pensaron en los afectados no usuarios— y «si tuvieran una semana más, ¿qué harían primero?» —destapa si tienen criterio de prioridad o solo una lista de deseos—.</a:t>
            </a:r>
          </a:p>
          <a:p/>
          <a:p>
            <a:r>
              <a:t>Cuide el tiempo de las respuestas: tres minutos alcanzan para dos o tres preguntas si las respuestas duran treinta segundos. Una respuesta de dos minutos se come las preguntas de los demás, y hay que interrumpirla con cortesía.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QUÉ HACER CON LO QUE SALIÓ HOY</a:t>
            </a:r>
          </a:p>
          <a:p/>
          <a:p>
            <a:r>
              <a:t>Los ocho minutos de cierre no son para felicitar. Son para convertir las cinco exposiciones en trabajo concreto para el informe final, que se entrega la próxima sesión y vale el 20 %.</a:t>
            </a:r>
          </a:p>
          <a:p/>
          <a:p>
            <a:r>
              <a:t>La instrucción operativa para cada equipo es una: anoten lo que el curso no entendió de su proyecto, porque eso es exactamente lo que hay que escribir mejor en el informe. Si tres personas preguntaron cómo se actualiza la lista, la sección de la solución no está clara. Una pregunta repetida es un diagnóstico gratis.</a:t>
            </a:r>
          </a:p>
          <a:p/>
          <a:p>
            <a:r>
              <a:t>Devuelva una observación por equipo, dicha en público y en una frase —lo que más sumó y la única cosa que cambiaría—. La retroalimentación detallada va después, por escrito, con las frases que anotó mientras calificaba. En público, una sola cosa: es la misma regla de la Clase 12 sobre retroalimentación útil.</a:t>
            </a:r>
          </a:p>
          <a:p/>
          <a:p>
            <a:r>
              <a:t>Y cierre nombrando lo que efectivamente pasó, sin discurso: hace quince sesiones estos equipos tenían una ocurrencia; hoy sustentaron un problema con evidencia, una decisión con criterios, un prototipo probado con personas reales y un impacto con sus costos. Eso es el ciclo completo de un proyecto de ingeniería, y lo hicieron en primer semestre. Vale decirlo una vez, en serio y corto.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misma pregunta, dos respuestas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 del curso: «¿Por qué la app no deja pagar?»</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Excusa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«No alcanzamos el tiempo».</a:t>
            </a:r>
          </a:p>
          <a:p>
            <a:pPr>
              <a:spcAft>
                <a:spcPts val="800"/>
              </a:spcAft>
            </a:pPr>
            <a:r>
              <a:rPr sz="1500" b="0" i="0">
                <a:solidFill>
                  <a:srgbClr val="333333"/>
                </a:solidFill>
                <a:latin typeface="Calibri"/>
              </a:rPr>
              <a:t>–   «Lo íbamos a hacer pero el profe dijo que no».</a:t>
            </a:r>
          </a:p>
          <a:p>
            <a:pPr>
              <a:spcAft>
                <a:spcPts val="800"/>
              </a:spcAft>
            </a:pPr>
            <a:r>
              <a:rPr sz="1500" b="0" i="0">
                <a:solidFill>
                  <a:srgbClr val="333333"/>
                </a:solidFill>
                <a:latin typeface="Calibri"/>
              </a:rPr>
              <a:t>–   Responde quien no hizo esa parte, y duda.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Decidimos</a:t>
            </a:r>
            <a:r>
              <a:rPr sz="1500" b="0" i="0">
                <a:solidFill>
                  <a:srgbClr val="333333"/>
                </a:solidFill>
                <a:latin typeface="Calibri"/>
              </a:rPr>
              <a:t> dejarlo fuera del alcance mínimo en la sesión 8».</a:t>
            </a:r>
          </a:p>
          <a:p>
            <a:pPr>
              <a:spcAft>
                <a:spcPts val="800"/>
              </a:spcAft>
            </a:pPr>
            <a:r>
              <a:rPr sz="1500" b="0" i="0">
                <a:solidFill>
                  <a:srgbClr val="333333"/>
                </a:solidFill>
                <a:latin typeface="Calibri"/>
              </a:rPr>
              <a:t>–   «Pagar exige guardar datos que no necesitamos para el turno».</a:t>
            </a:r>
          </a:p>
          <a:p>
            <a:pPr>
              <a:spcAft>
                <a:spcPts val="800"/>
              </a:spcAft>
            </a:pPr>
            <a:r>
              <a:rPr sz="1500" b="0" i="0">
                <a:solidFill>
                  <a:srgbClr val="333333"/>
                </a:solidFill>
                <a:latin typeface="Calibri"/>
              </a:rPr>
              <a:t>–   Responde quien hizo la matriz, en 30 segundos.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