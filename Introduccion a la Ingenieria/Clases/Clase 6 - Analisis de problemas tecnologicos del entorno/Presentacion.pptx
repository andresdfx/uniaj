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Fíjese que en ningún paso aparece «hacer una app». Si un equipo llega al problema con la solución ya puesta, devuélvalo al primer paso.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valioso está en las causas de fondo: buscar el fiado página por página es algo que sí se puede cambiar en un semestre. Comprar otra caja 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Qué es. Una cifra que describa el problema como está hoy, antes de que ustedes toquen nada. «La secretaria dedica unas 2 horas diarias a confirmar citas por teléfono.» «De 40 libros prestados al mes, unos 12 vuelven tarde.»</a:t>
            </a:r>
          </a:p>
          <a:p/>
          <a:p>
            <a:r>
              <a:t>Por qué es obligatoria. Sin línea base no se puede saber si el proyecto sirvió. Un informe final que dice «mejoramos el proceso» no demuestra nada; uno que dice «pasó de 2 horas a 20 minutos» sí. En la Clase 16 se les va a pedir exactamente eso.</a:t>
            </a:r>
          </a:p>
          <a:p/>
          <a:p>
            <a:r>
              <a:t>Cómo se consigue sin presupuesto. Preguntando, contando y midiendo con un cronómetro. Tres preguntas a la persona que hace el trabajo, un conteo de una semana, o el tiempo de un caso medido a mano. No hace falta una encuesta científica: hace falta un número honesto y decir cómo se obtuvo.</a:t>
            </a:r>
          </a:p>
          <a:p/>
          <a:p>
            <a:r>
              <a:t>La regla de honestidad. Toda cifra va con cómo se obtuvo y cuándo. Si es una estimación, se escribe «estimado». Una cifra inventada es peor que ninguna, porque el resto del proyecto se apoya en ella.</a:t>
            </a:r>
          </a:p>
          <a:p/>
          <a:p>
            <a:r>
              <a:t>Si el problema no tiene cifra posible, es señal de que está mal delimitado: casi siempre es demasiado grande. Bájenlo hasta que se pueda contar algo.</a:t>
            </a:r>
          </a:p>
          <a:p/>
          <a:p>
            <a:r>
              <a:t>LA LÍNEA BASE Y LOS CUATRO CRITERIOS DE VIABILIDAD</a:t>
            </a:r>
          </a:p>
          <a:p/>
          <a:p>
            <a:r>
              <a:t>La línea base es la exigencia que más resistencia genera y la que más valor tiene. Es una cifra sobre el problema como está hoy, antes de que el equipo toque nada, y su función es simple: sin ella no hay forma de saber si el proyecto sirvió. En la Clase 16 el informe final va a pedir comparar, y un equipo sin línea base solo puede escribir «mejoramos el proceso», que es una afirmación vacía.</a:t>
            </a:r>
          </a:p>
          <a:p/>
          <a:p>
            <a:r>
              <a:t>Hay que quitarles de encima la idea de que medir requiere presupuesto o estadística. La línea base de un proyecto de este curso se consigue de tres maneras: preguntando a la persona que hace el trabajo, contando durante una semana, o midiendo con un cronómetro un caso. «La secretaria dedica unas dos horas diarias a confirmar citas por teléfono, según lo que ella misma estima» es una línea base perfectamente aceptable, siempre que se diga que es una estimación y de quién viene. La regla de honestidad es la de la sesión 5, aplicada de nuevo: cifra con método y fecha, o no va.</a:t>
            </a:r>
          </a:p>
          <a:p/>
          <a:p>
            <a:r>
              <a:t>Y hay un diagnóstico gratis escondido en esta exigencia: si el problema no admite ninguna cifra, está mal delimitado, y casi siempre es porque es demasiado grande. «La deserción estudiantil» no se puede medir con lo que tiene un equipo de primer semestre; «cuántos de los 30 compañeros de mi grupo no saben en qué semestre pierden el beneficio de la beca» sí. Bajar el problema hasta que se pueda contar algo es la manera más rápida de volverlo abordable.</a:t>
            </a:r>
          </a:p>
          <a:p/>
          <a:p>
            <a:r>
              <a:t>Los cuatro criterios son un filtro y hay que aplicarlos en voz alta a cada problema propuesto, uno por uno. *Abordable* con navegador y herramientas gratuitas: nada que exija comprar equipos, contratar servicios de pago o conseguir permisos institucionales que no van a llegar en un semestre. *Medible*: existe la cifra. *Con acceso a los actores*: pueden hablar esta semana con alguien que vive el problema, sin trámites; este criterio es el que descarta más propuestas y hay que ser firme, porque un proyecto sobre una entidad a la que nadie puede preguntarle nada termina siendo un ejercicio de imaginación con aspecto de proyecto. *Con dueño del problema*: hay una persona o un grupo concreto al que le duele y que reconocería la mejora; si el afectado es «la sociedad», no hay a quién mostrarle el resultado en la Clase 15.</a:t>
            </a:r>
          </a:p>
          <a:p/>
          <a:p>
            <a:r>
              <a:t>Una advertencia sobre el ánimo del grupo: aplicar estos criterios va a matar algunas ideas ambiciosas y eso frustra. Vale la pena decirles por qué se hace: es mejor resolver algo pequeño de verdad que simular algo grande, y en un primer semestre el objetivo es que aprendan a formular y a demostrar, no que salven la ciudad. Un proyecto pequeño y verificable saca mejor nota que uno grandioso e imposible, y hay que decirlo hoy, antes de que se enamoren de la idea.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Ir a la tienda el viernes de 6 a 7 p. m., que es la hora pico.</a:t>
            </a:r>
          </a:p>
          <a:p/>
          <a:p>
            <a:r>
              <a:t>Contar 10 clientes y medir con el cronómetro del celular cuánto espera cada uno.</a:t>
            </a:r>
          </a:p>
          <a:p/>
          <a:p>
            <a:r>
              <a:t>Sumar y dividir: el promedio da 14 minutos.</a:t>
            </a:r>
          </a:p>
          <a:p/>
          <a:p>
            <a:r>
              <a:t>Escribirlo completo: «14 min de espera promedio · 10 clientes · viernes 6-7 p. m. · medido el 12/09».</a:t>
            </a:r>
          </a:p>
          <a:p/>
          <a:p>
            <a:r>
              <a:t>Al final del semestre se mide igual y se compara. Así se sabe si el proyecto sirvió.</a:t>
            </a:r>
          </a:p>
          <a:p/>
          <a:p>
            <a:r>
              <a:t>Sin esa cifra, «mejoramos la atención» no se puede comprobar.</a:t>
            </a:r>
          </a:p>
          <a:p/>
          <a:p>
            <a:r>
              <a:t>La regla de honestidad: toda cifra lleva cómo se obtuvo y cuándo. Un «14 min» suelto no vale; «14 min, 10 clientes, viernes en la noche» sí.</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un equipo no puede ponerle una cifra a su problema, casi siempre es porque es demasiado grande. La salida es bajarlo hasta un lugar y un grupo de personas concretos.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LA SOLUCIÓN DISFRAZADA DE PROBLEMA</a:t>
            </a:r>
          </a:p>
          <a:p/>
          <a:p>
            <a:r>
              <a:t>«En el barrio falta una app» es la frase que un profesor de primer semestre va a oír docenas de veces, y es el error más costoso del curso porque no se ve: parece un problema, tiene sujeto, tiene carencia, y sin embargo ya trae la solución adentro. Si el problema es «falta una app», entonces cualquier app resuelve el problema, y el proyecto se convierte en un ejercicio de construir algo sin saber para qué.</a:t>
            </a:r>
          </a:p>
          <a:p/>
          <a:p>
            <a:r>
              <a:t>La prueba que conviene enseñar es de una sola pregunta y sirve para toda la vida: ¿esto se podría resolver sin ninguna app? Si la respuesta es sí —y casi siempre lo es—, entonces el problema es otro y hay que buscarlo. Si el problema verdadero es que la gente no sabe si el libro que necesita está disponible, eso se puede resolver con una app, con una lista pegada en la puerta o con un número de WhatsApp. Que existan varias soluciones posibles es la señal de que el problema está bien escrito.</a:t>
            </a:r>
          </a:p>
          <a:p/>
          <a:p>
            <a:r>
              <a:t>Recoja las respuestas del muro en los diez minutos de apertura y no las corrija: en el minuto 12, con la primera diapositiva, van a ver ellos mismos que casi todo lo que escribieron era un síntoma o una solución.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COSAS QUE SE CONFUNDEN Y CÓMO SE ESCRIBE UN PROBLEMA</a:t>
            </a:r>
          </a:p>
          <a:p/>
          <a:p>
            <a:r>
              <a:t>El síntoma es la señal visible: la queja, la demora, la pérdida. «La gente se queja del servicio» es un síntoma perfecto y un problema inservible, porque no dice de qué se queja ni qué no puede hacer. Los síntomas son útiles —son la pista que lleva al problema— pero atacar un síntoma produce soluciones superficiales: si el síntoma es que la fila es larga, poner sillas mejora la fila y no toca el problema.</a:t>
            </a:r>
          </a:p>
          <a:p/>
          <a:p>
            <a:r>
              <a:t>La solución disfrazada es la más peligrosa porque se ve profesional. «Falta un sistema», «hay que digitalizar el proceso», «queremos hacerlo con IA». Las tres eligen la herramienta antes de saber qué se va a resolver, y cierran el análisis: una vez que el equipo decidió que va a hacer una app con IA, va a interpretar cualquier hallazgo como confirmación.</a:t>
            </a:r>
          </a:p>
          <a:p/>
          <a:p>
            <a:r>
              <a:t>El juicio es la tercera y la más común en primer semestre: «no hay tecnología en el negocio», «el proceso es muy anticuado». Son opiniones sobre un estado de cosas y no dicen a quién le cuesta qué. Un negocio sin tecnología puede estar funcionando perfectamente; la falta de tecnología no es un problema por sí misma, y esta es una idea que hay que decir en voz alta en un curso de ingeniería de sistemas, porque va contra el reflejo del gremio.</a:t>
            </a:r>
          </a:p>
          <a:p/>
          <a:p>
            <a:r>
              <a:t>La fórmula del enunciado, y conviene dictarla para que la copien: *a QUIÉN le pasa QUÉ, con qué CONSECUENCIA*, más una cifra. Ejemplo bien escrito: «los usuarios de la biblioteca del barrio no saben si un libro está disponible antes de ir, así que hacen viajes en vano; de cada diez visitas, unas cuatro terminan sin préstamo». Tiene sujeto (los usuarios), tiene el qué (no saben la disponibilidad), tiene la consecuencia (viajes en vano) y tiene una cifra. Y no menciona ninguna tecnología, que es lo que deja el espacio para diseñar.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ÁRBOL DEL PROBLEMA: LA HERRAMIENTA QUE EVITA LAS SOLUCIONES SUPERFICIALES</a:t>
            </a:r>
          </a:p>
          <a:p/>
          <a:p>
            <a:r>
              <a:t>El árbol de problemas es una técnica vieja y muy usada en formulación de proyectos, y para primer semestre tiene una virtud enorme: es un dibujo, así que se puede hacer en quince minutos y se puede discutir señalando con el dedo.</a:t>
            </a:r>
          </a:p>
          <a:p/>
          <a:p>
            <a:r>
              <a:t>Se dibuja con el problema en el tronco, una sola frase. Hacia arriba, las ramas son los efectos: lo que se ve, lo que la gente reporta, lo que duele. Hacia abajo, las raíces son las causas, y hay dos niveles: las causas directas (por qué ocurre el problema) y las causas de fondo (por qué ocurre cada causa). Se dibuja de arriba hacia abajo y se lee de abajo hacia arriba, porque así se ve la cadena completa: esta causa de fondo produce esta causa, que produce el problema, que produce estos efectos.</a:t>
            </a:r>
          </a:p>
          <a:p/>
          <a:p>
            <a:r>
              <a:t>La regla que hay que repetir hasta el cansancio: el proyecto ataca una causa, no una rama. Si el equipo diseña para los efectos, produce algo que alivia la molestia y deja el problema intacto. Y la segunda regla, práctica: dos o tres causas directas, no diez. Un árbol con diez raíces no es un análisis, es una lista de todo lo que se les ocurrió, y con eso no se puede decidir.</a:t>
            </a:r>
          </a:p>
          <a:p/>
          <a:p>
            <a:r>
              <a:t>El momento de aprendizaje real ocurre en el segundo nivel de raíces, y conviene provocarlo en las salas: cuando el equipo baja de «no hay un registro actualizado» a «el registro se actualiza a mano al final del día y nadie tiene tiempo», ahí aparece por primera vez algo que un estudiante de primer semestre puede efectivamente cambiar en un semestre. Antes de ese nivel, todo se ve demasiado grande.</a:t>
            </a:r>
          </a:p>
          <a:p/>
          <a:p>
            <a:r>
              <a:t>Un detalle metodológico que ahorra discusiones: si una causa no se puede afectar con nada que el equipo pueda hacer —el presupuesto del municipio, la cultura ciudadana, la ley—, se dibuja igual, pero se marca. Se llama restricción y no es una derrota: es información. Un proyecto que sabe qué no puede cambiar es más serio que uno que promete cambiarlo todo.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LÍNEA BASE Y LOS CUATRO CRITERIOS DE VIABILIDAD</a:t>
            </a:r>
          </a:p>
          <a:p/>
          <a:p>
            <a:r>
              <a:t>La línea base es la exigencia que más resistencia genera y la que más valor tiene. Es una cifra sobre el problema como está hoy, antes de que el equipo toque nada, y su función es simple: sin ella no hay forma de saber si el proyecto sirvió. En la Clase 16 el informe final va a pedir comparar, y un equipo sin línea base solo puede escribir «mejoramos el proceso», que es una afirmación vacía.</a:t>
            </a:r>
          </a:p>
          <a:p/>
          <a:p>
            <a:r>
              <a:t>Hay que quitarles de encima la idea de que medir requiere presupuesto o estadística. La línea base de un proyecto de este curso se consigue de tres maneras: preguntando a la persona que hace el trabajo, contando durante una semana, o midiendo con un cronómetro un caso. «La secretaria dedica unas dos horas diarias a confirmar citas por teléfono, según lo que ella misma estima» es una línea base perfectamente aceptable, siempre que se diga que es una estimación y de quién viene. La regla de honestidad es la de la sesión 5, aplicada de nuevo: cifra con método y fecha, o no va.</a:t>
            </a:r>
          </a:p>
          <a:p/>
          <a:p>
            <a:r>
              <a:t>Y hay un diagnóstico gratis escondido en esta exigencia: si el problema no admite ninguna cifra, está mal delimitado, y casi siempre es porque es demasiado grande. «La deserción estudiantil» no se puede medir con lo que tiene un equipo de primer semestre; «cuántos de los 30 compañeros de mi grupo no saben en qué semestre pierden el beneficio de la beca» sí. Bajar el problema hasta que se pueda contar algo es la manera más rápida de volverlo abordable.</a:t>
            </a:r>
          </a:p>
          <a:p/>
          <a:p>
            <a:r>
              <a:t>Los cuatro criterios son un filtro y hay que aplicarlos en voz alta a cada problema propuesto, uno por uno. *Abordable* con navegador y herramientas gratuitas: nada que exija comprar equipos, contratar servicios de pago o conseguir permisos institucionales que no van a llegar en un semestre. *Medible*: existe la cifra. *Con acceso a los actores*: pueden hablar esta semana con alguien que vive el problema, sin trámites; este criterio es el que descarta más propuestas y hay que ser firme, porque un proyecto sobre una entidad a la que nadie puede preguntarle nada termina siendo un ejercicio de imaginación con aspecto de proyecto. *Con dueño del problema*: hay una persona o un grupo concreto al que le duele y que reconocería la mejora; si el afectado es «la sociedad», no hay a quién mostrarle el resultado en la Clase 15.</a:t>
            </a:r>
          </a:p>
          <a:p/>
          <a:p>
            <a:r>
              <a:t>Una advertencia sobre el ánimo del grupo: aplicar estos criterios va a matar algunas ideas ambiciosas y eso frustra. Vale la pena decirles por qué se hace: es mejor resolver algo pequeño de verdad que simular algo grande, y en un primer semestre el objetivo es que aprendan a formular y a demostrar, no que salven la ciudad. Un proyecto pequeño y verificable saca mejor nota que uno grandioso e imposible, y hay que decirlo hoy, antes de que se enamoren de la idea.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6</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Análisis de problemas tecnológicos del entorno</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El problema del proyecto del semestre queda escrito hoy</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Hoy el reparto cambia: la teoría se comprime a 25 min para dejar 20 min de evaluación de corte al final</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250670"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187954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1788109" cy="3099816"/>
          </a:xfrm>
          <a:prstGeom prst="rect">
            <a:avLst/>
          </a:prstGeom>
          <a:noFill/>
        </p:spPr>
        <p:txBody>
          <a:bodyPr wrap="square">
            <a:spAutoFit/>
          </a:bodyPr>
          <a:lstStyle/>
          <a:p>
            <a:pPr algn="ctr"/>
            <a:r>
              <a:rPr sz="1300" b="0" i="0">
                <a:solidFill>
                  <a:srgbClr val="333333"/>
                </a:solidFill>
                <a:latin typeface="Calibri"/>
              </a:rPr>
              <a:t>Apertura — Pregunta de entrada en el muro</a:t>
            </a:r>
          </a:p>
        </p:txBody>
      </p:sp>
      <p:sp>
        <p:nvSpPr>
          <p:cNvPr id="10" name="Rounded Rectangle 9"/>
          <p:cNvSpPr/>
          <p:nvPr/>
        </p:nvSpPr>
        <p:spPr>
          <a:xfrm>
            <a:off x="3130219"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6749" y="1563624"/>
            <a:ext cx="1879549" cy="502920"/>
          </a:xfrm>
          <a:prstGeom prst="rect">
            <a:avLst/>
          </a:prstGeom>
          <a:noFill/>
        </p:spPr>
        <p:txBody>
          <a:bodyPr wrap="square">
            <a:spAutoFit/>
          </a:bodyPr>
          <a:lstStyle/>
          <a:p>
            <a:pPr algn="ctr"/>
            <a:r>
              <a:rPr sz="1300" b="1" i="0">
                <a:solidFill>
                  <a:srgbClr val="095292"/>
                </a:solidFill>
                <a:latin typeface="Calibri"/>
              </a:rPr>
              <a:t>00:10–00:35 · 25 min</a:t>
            </a:r>
          </a:p>
        </p:txBody>
      </p:sp>
      <p:sp>
        <p:nvSpPr>
          <p:cNvPr id="12" name="TextBox 11"/>
          <p:cNvSpPr txBox="1"/>
          <p:nvPr/>
        </p:nvSpPr>
        <p:spPr>
          <a:xfrm>
            <a:off x="2382469" y="2798064"/>
            <a:ext cx="1788109" cy="3099816"/>
          </a:xfrm>
          <a:prstGeom prst="rect">
            <a:avLst/>
          </a:prstGeom>
          <a:noFill/>
        </p:spPr>
        <p:txBody>
          <a:bodyPr wrap="square">
            <a:spAutoFit/>
          </a:bodyPr>
          <a:lstStyle/>
          <a:p>
            <a:pPr algn="ctr"/>
            <a:r>
              <a:rPr sz="1300" b="0" i="0">
                <a:solidFill>
                  <a:srgbClr val="333333"/>
                </a:solidFill>
                <a:latin typeface="Calibri"/>
              </a:rPr>
              <a:t>Teoría y guía del docente — Problema vs. síntoma, árbol de causas, línea base y los cuatro criterios</a:t>
            </a:r>
          </a:p>
        </p:txBody>
      </p:sp>
      <p:sp>
        <p:nvSpPr>
          <p:cNvPr id="13" name="Rounded Rectangle 12"/>
          <p:cNvSpPr/>
          <p:nvPr/>
        </p:nvSpPr>
        <p:spPr>
          <a:xfrm>
            <a:off x="5009769"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6298" y="1563624"/>
            <a:ext cx="1879549" cy="502920"/>
          </a:xfrm>
          <a:prstGeom prst="rect">
            <a:avLst/>
          </a:prstGeom>
          <a:noFill/>
        </p:spPr>
        <p:txBody>
          <a:bodyPr wrap="square">
            <a:spAutoFit/>
          </a:bodyPr>
          <a:lstStyle/>
          <a:p>
            <a:pPr algn="ctr"/>
            <a:r>
              <a:rPr sz="1300" b="1" i="0">
                <a:solidFill>
                  <a:srgbClr val="095292"/>
                </a:solidFill>
                <a:latin typeface="Calibri"/>
              </a:rPr>
              <a:t>00:35–00:52 · 17 min</a:t>
            </a:r>
          </a:p>
        </p:txBody>
      </p:sp>
      <p:sp>
        <p:nvSpPr>
          <p:cNvPr id="15" name="TextBox 14"/>
          <p:cNvSpPr txBox="1"/>
          <p:nvPr/>
        </p:nvSpPr>
        <p:spPr>
          <a:xfrm>
            <a:off x="4262018" y="2798064"/>
            <a:ext cx="1788109" cy="3099816"/>
          </a:xfrm>
          <a:prstGeom prst="rect">
            <a:avLst/>
          </a:prstGeom>
          <a:noFill/>
        </p:spPr>
        <p:txBody>
          <a:bodyPr wrap="square">
            <a:spAutoFit/>
          </a:bodyPr>
          <a:lstStyle/>
          <a:p>
            <a:pPr algn="ctr"/>
            <a:r>
              <a:rPr sz="1300" b="0" i="0">
                <a:solidFill>
                  <a:srgbClr val="333333"/>
                </a:solidFill>
                <a:latin typeface="Calibri"/>
              </a:rPr>
              <a:t>Actividad en equipos — opcional · la guía está en la carpeta de la clase</a:t>
            </a:r>
          </a:p>
        </p:txBody>
      </p:sp>
      <p:sp>
        <p:nvSpPr>
          <p:cNvPr id="16" name="Rounded Rectangle 15"/>
          <p:cNvSpPr/>
          <p:nvPr/>
        </p:nvSpPr>
        <p:spPr>
          <a:xfrm>
            <a:off x="6889318"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5847" y="1563624"/>
            <a:ext cx="1879549" cy="502920"/>
          </a:xfrm>
          <a:prstGeom prst="rect">
            <a:avLst/>
          </a:prstGeom>
          <a:noFill/>
        </p:spPr>
        <p:txBody>
          <a:bodyPr wrap="square">
            <a:spAutoFit/>
          </a:bodyPr>
          <a:lstStyle/>
          <a:p>
            <a:pPr algn="ctr"/>
            <a:r>
              <a:rPr sz="1300" b="1" i="0">
                <a:solidFill>
                  <a:srgbClr val="095292"/>
                </a:solidFill>
                <a:latin typeface="Calibri"/>
              </a:rPr>
              <a:t>00:52–01:07 · 15 min</a:t>
            </a:r>
          </a:p>
        </p:txBody>
      </p:sp>
      <p:sp>
        <p:nvSpPr>
          <p:cNvPr id="18" name="TextBox 17"/>
          <p:cNvSpPr txBox="1"/>
          <p:nvPr/>
        </p:nvSpPr>
        <p:spPr>
          <a:xfrm>
            <a:off x="6141567" y="2798064"/>
            <a:ext cx="1788109" cy="3099816"/>
          </a:xfrm>
          <a:prstGeom prst="rect">
            <a:avLst/>
          </a:prstGeom>
          <a:noFill/>
        </p:spPr>
        <p:txBody>
          <a:bodyPr wrap="square">
            <a:spAutoFit/>
          </a:bodyPr>
          <a:lstStyle/>
          <a:p>
            <a:pPr algn="ctr"/>
            <a:r>
              <a:rPr sz="1300" b="0" i="0">
                <a:solidFill>
                  <a:srgbClr val="333333"/>
                </a:solidFill>
                <a:latin typeface="Calibri"/>
              </a:rPr>
              <a:t>Exposiciones — de la práctica, si se hizo</a:t>
            </a:r>
          </a:p>
        </p:txBody>
      </p:sp>
      <p:sp>
        <p:nvSpPr>
          <p:cNvPr id="19" name="Rounded Rectangle 18"/>
          <p:cNvSpPr/>
          <p:nvPr/>
        </p:nvSpPr>
        <p:spPr>
          <a:xfrm>
            <a:off x="8768867"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75396" y="1563624"/>
            <a:ext cx="1879549" cy="502920"/>
          </a:xfrm>
          <a:prstGeom prst="rect">
            <a:avLst/>
          </a:prstGeom>
          <a:noFill/>
        </p:spPr>
        <p:txBody>
          <a:bodyPr wrap="square">
            <a:spAutoFit/>
          </a:bodyPr>
          <a:lstStyle/>
          <a:p>
            <a:pPr algn="ctr"/>
            <a:r>
              <a:rPr sz="1300" b="1" i="0">
                <a:solidFill>
                  <a:srgbClr val="095292"/>
                </a:solidFill>
                <a:latin typeface="Calibri"/>
              </a:rPr>
              <a:t>01:07–01:27 · 20 min</a:t>
            </a:r>
          </a:p>
        </p:txBody>
      </p:sp>
      <p:sp>
        <p:nvSpPr>
          <p:cNvPr id="21" name="TextBox 20"/>
          <p:cNvSpPr txBox="1"/>
          <p:nvPr/>
        </p:nvSpPr>
        <p:spPr>
          <a:xfrm>
            <a:off x="8021116" y="2798064"/>
            <a:ext cx="1788109" cy="3099816"/>
          </a:xfrm>
          <a:prstGeom prst="rect">
            <a:avLst/>
          </a:prstGeom>
          <a:noFill/>
        </p:spPr>
        <p:txBody>
          <a:bodyPr wrap="square">
            <a:spAutoFit/>
          </a:bodyPr>
          <a:lstStyle/>
          <a:p>
            <a:pPr algn="ctr"/>
            <a:r>
              <a:rPr sz="1300" b="0" i="0">
                <a:solidFill>
                  <a:srgbClr val="333333"/>
                </a:solidFill>
                <a:latin typeface="Calibri"/>
              </a:rPr>
              <a:t>Evaluación de corte 1 — sobre lo visto en el corte hasta hoy</a:t>
            </a:r>
          </a:p>
        </p:txBody>
      </p:sp>
      <p:sp>
        <p:nvSpPr>
          <p:cNvPr id="22" name="Rounded Rectangle 21"/>
          <p:cNvSpPr/>
          <p:nvPr/>
        </p:nvSpPr>
        <p:spPr>
          <a:xfrm>
            <a:off x="10648416"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54946" y="1563624"/>
            <a:ext cx="187954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4" name="TextBox 23"/>
          <p:cNvSpPr txBox="1"/>
          <p:nvPr/>
        </p:nvSpPr>
        <p:spPr>
          <a:xfrm>
            <a:off x="9900666" y="2798064"/>
            <a:ext cx="1788109" cy="3099816"/>
          </a:xfrm>
          <a:prstGeom prst="rect">
            <a:avLst/>
          </a:prstGeom>
          <a:noFill/>
        </p:spPr>
        <p:txBody>
          <a:bodyPr wrap="square">
            <a:spAutoFit/>
          </a:bodyPr>
          <a:lstStyle/>
          <a:p>
            <a:pPr algn="ctr"/>
            <a:r>
              <a:rPr sz="1300" b="0" i="0">
                <a:solidFill>
                  <a:srgbClr val="333333"/>
                </a:solidFill>
                <a:latin typeface="Calibri"/>
              </a:rPr>
              <a:t>Cierre — Qué queda amarrado para el corte 2</a:t>
            </a:r>
          </a:p>
        </p:txBody>
      </p:sp>
      <p:sp>
        <p:nvSpPr>
          <p:cNvPr id="25" name="TextBox 24"/>
          <p:cNvSpPr txBox="1"/>
          <p:nvPr/>
        </p:nvSpPr>
        <p:spPr>
          <a:xfrm>
            <a:off x="457200" y="5806440"/>
            <a:ext cx="11277295" cy="640080"/>
          </a:xfrm>
          <a:prstGeom prst="rect">
            <a:avLst/>
          </a:prstGeom>
          <a:noFill/>
        </p:spPr>
        <p:txBody>
          <a:bodyPr wrap="square">
            <a:spAutoFit/>
          </a:bodyPr>
          <a:lstStyle/>
          <a:p>
            <a:pPr algn="ctr"/>
            <a:r>
              <a:rPr sz="1200" b="1" i="1">
                <a:solidFill>
                  <a:srgbClr val="666666"/>
                </a:solidFill>
                <a:latin typeface="Calibri"/>
              </a:rPr>
              <a:t>Esta sesión cierra el corte 1.</a:t>
            </a:r>
            <a:r>
              <a:rPr sz="1200" b="0" i="1">
                <a:solidFill>
                  <a:srgbClr val="666666"/>
                </a:solidFill>
                <a:latin typeface="Calibri"/>
              </a:rPr>
              <a:t> Los últimos 20 minutos son la evaluación de corte, sobre lo visto hasta hoy. Por eso el bloque de teoría baja de 45 a 25 minutos: hay que llegar con tiempo, no con la explicación a medias.</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Distinguir un </a:t>
            </a:r>
            <a:r>
              <a:rPr sz="2000" b="1" i="0">
                <a:solidFill>
                  <a:srgbClr val="333333"/>
                </a:solidFill>
                <a:latin typeface="Calibri"/>
              </a:rPr>
              <a:t>problema</a:t>
            </a:r>
            <a:r>
              <a:rPr sz="2000" b="0" i="0">
                <a:solidFill>
                  <a:srgbClr val="333333"/>
                </a:solidFill>
                <a:latin typeface="Calibri"/>
              </a:rPr>
              <a:t> de un </a:t>
            </a:r>
            <a:r>
              <a:rPr sz="2000" b="1" i="0">
                <a:solidFill>
                  <a:srgbClr val="333333"/>
                </a:solidFill>
                <a:latin typeface="Calibri"/>
              </a:rPr>
              <a:t>síntoma</a:t>
            </a:r>
            <a:r>
              <a:rPr sz="2000" b="0" i="0">
                <a:solidFill>
                  <a:srgbClr val="333333"/>
                </a:solidFill>
                <a:latin typeface="Calibri"/>
              </a:rPr>
              <a:t> y de una </a:t>
            </a:r>
            <a:r>
              <a:rPr sz="2000" b="1" i="0">
                <a:solidFill>
                  <a:srgbClr val="333333"/>
                </a:solidFill>
                <a:latin typeface="Calibri"/>
              </a:rPr>
              <a:t>solución disfrazada de problema</a:t>
            </a:r>
            <a:r>
              <a:rPr sz="2000" b="0" i="0">
                <a:solidFill>
                  <a:srgbClr val="333333"/>
                </a:solidFill>
                <a:latin typeface="Calibri"/>
              </a:rPr>
              <a:t>.</a:t>
            </a:r>
          </a:p>
          <a:p>
            <a:pPr>
              <a:spcAft>
                <a:spcPts val="800"/>
              </a:spcAft>
            </a:pPr>
            <a:r>
              <a:rPr sz="2000" b="0" i="0">
                <a:solidFill>
                  <a:srgbClr val="333333"/>
                </a:solidFill>
                <a:latin typeface="Calibri"/>
              </a:rPr>
              <a:t>–   Construir el </a:t>
            </a:r>
            <a:r>
              <a:rPr sz="2000" b="1" i="0">
                <a:solidFill>
                  <a:srgbClr val="333333"/>
                </a:solidFill>
                <a:latin typeface="Calibri"/>
              </a:rPr>
              <a:t>árbol de causas</a:t>
            </a:r>
            <a:r>
              <a:rPr sz="2000" b="0" i="0">
                <a:solidFill>
                  <a:srgbClr val="333333"/>
                </a:solidFill>
                <a:latin typeface="Calibri"/>
              </a:rPr>
              <a:t> de un problema del entorno.</a:t>
            </a:r>
          </a:p>
          <a:p>
            <a:pPr>
              <a:spcAft>
                <a:spcPts val="800"/>
              </a:spcAft>
            </a:pPr>
            <a:r>
              <a:rPr sz="2000" b="0" i="0">
                <a:solidFill>
                  <a:srgbClr val="333333"/>
                </a:solidFill>
                <a:latin typeface="Calibri"/>
              </a:rPr>
              <a:t>–   Escribir una </a:t>
            </a:r>
            <a:r>
              <a:rPr sz="2000" b="1" i="0">
                <a:solidFill>
                  <a:srgbClr val="333333"/>
                </a:solidFill>
                <a:latin typeface="Calibri"/>
              </a:rPr>
              <a:t>línea base</a:t>
            </a:r>
            <a:r>
              <a:rPr sz="2000" b="0" i="0">
                <a:solidFill>
                  <a:srgbClr val="333333"/>
                </a:solidFill>
                <a:latin typeface="Calibri"/>
              </a:rPr>
              <a:t>: una cifra que se pueda decir hoy sobre el problema.</a:t>
            </a:r>
          </a:p>
          <a:p>
            <a:pPr>
              <a:spcAft>
                <a:spcPts val="800"/>
              </a:spcAft>
            </a:pPr>
            <a:r>
              <a:rPr sz="2000" b="0" i="0">
                <a:solidFill>
                  <a:srgbClr val="333333"/>
                </a:solidFill>
                <a:latin typeface="Calibri"/>
              </a:rPr>
              <a:t>–   Verificar que el problema elegido </a:t>
            </a:r>
            <a:r>
              <a:rPr sz="2000" b="1" i="0">
                <a:solidFill>
                  <a:srgbClr val="333333"/>
                </a:solidFill>
                <a:latin typeface="Calibri"/>
              </a:rPr>
              <a:t>cabe en un semestre</a:t>
            </a:r>
            <a:r>
              <a:rPr sz="2000" b="0" i="0">
                <a:solidFill>
                  <a:srgbClr val="333333"/>
                </a:solidFill>
                <a:latin typeface="Calibri"/>
              </a:rPr>
              <a:t> con los cuatro criterios.</a:t>
            </a:r>
          </a:p>
          <a:p>
            <a:pPr>
              <a:spcAft>
                <a:spcPts val="800"/>
              </a:spcAft>
            </a:pPr>
            <a:r>
              <a:rPr sz="2000" b="0" i="0">
                <a:solidFill>
                  <a:srgbClr val="333333"/>
                </a:solidFill>
                <a:latin typeface="Calibri"/>
              </a:rPr>
              <a:t>–   Entregar la </a:t>
            </a:r>
            <a:r>
              <a:rPr sz="2000" b="1" i="0">
                <a:solidFill>
                  <a:srgbClr val="333333"/>
                </a:solidFill>
                <a:latin typeface="Calibri"/>
              </a:rPr>
              <a:t>ficha del problema</a:t>
            </a:r>
            <a:r>
              <a:rPr sz="2000" b="0" i="0">
                <a:solidFill>
                  <a:srgbClr val="333333"/>
                </a:solidFill>
                <a:latin typeface="Calibri"/>
              </a:rPr>
              <a:t> del proyecto del equipo.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«En el barrio falta una app.» ¿Eso es un problema? ¿O es una solución a la que todavía no le encontramos el problema?</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Casi todos los proyectos que fracasan empezaron con una solución, no con un problema.</a:t>
            </a:r>
          </a:p>
          <a:p>
            <a:pPr algn="ctr">
              <a:spcAft>
                <a:spcPts val="600"/>
              </a:spcAft>
            </a:pPr>
            <a:r>
              <a:rPr sz="1500" b="0" i="0">
                <a:solidFill>
                  <a:srgbClr val="269CCB"/>
                </a:solidFill>
                <a:latin typeface="Calibri"/>
              </a:rPr>
              <a:t>Hoy sale la ficha del problema, y es la que va a gobernar el resto del semestre.</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Síntoma, problema y solución disfrazada</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Un problema bien escrito dice: a QUIÉN le pasa QUÉ, con qué CONSECUENCIA, y trae una CIFRA</a:t>
            </a:r>
          </a:p>
        </p:txBody>
      </p:sp>
      <p:sp>
        <p:nvSpPr>
          <p:cNvPr id="6" name="Rounded Rectangle 5"/>
          <p:cNvSpPr/>
          <p:nvPr/>
        </p:nvSpPr>
        <p:spPr>
          <a:xfrm>
            <a:off x="457200" y="1472184"/>
            <a:ext cx="5478627" cy="4882896"/>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5204307" cy="365760"/>
          </a:xfrm>
          <a:prstGeom prst="rect">
            <a:avLst/>
          </a:prstGeom>
          <a:noFill/>
        </p:spPr>
        <p:txBody>
          <a:bodyPr wrap="square" anchor="ctr"/>
          <a:lstStyle/>
          <a:p>
            <a:pPr algn="ctr"/>
            <a:r>
              <a:rPr sz="1600" b="1" i="0">
                <a:solidFill>
                  <a:srgbClr val="FFFFFF"/>
                </a:solidFill>
                <a:latin typeface="Calibri"/>
              </a:rPr>
              <a:t>Lo que los equipos escriben</a:t>
            </a:r>
          </a:p>
        </p:txBody>
      </p:sp>
      <p:sp>
        <p:nvSpPr>
          <p:cNvPr id="9" name="TextBox 8"/>
          <p:cNvSpPr txBox="1"/>
          <p:nvPr/>
        </p:nvSpPr>
        <p:spPr>
          <a:xfrm>
            <a:off x="621792"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«Falta una app para la biblioteca del barrio.»</a:t>
            </a:r>
          </a:p>
          <a:p>
            <a:pPr>
              <a:spcAft>
                <a:spcPts val="800"/>
              </a:spcAft>
            </a:pPr>
            <a:r>
              <a:rPr sz="1500" b="0" i="0">
                <a:solidFill>
                  <a:srgbClr val="333333"/>
                </a:solidFill>
                <a:latin typeface="Calibri"/>
              </a:rPr>
              <a:t>–   «La gente se queja del servicio.»</a:t>
            </a:r>
          </a:p>
          <a:p>
            <a:pPr>
              <a:spcAft>
                <a:spcPts val="800"/>
              </a:spcAft>
            </a:pPr>
            <a:r>
              <a:rPr sz="1500" b="0" i="0">
                <a:solidFill>
                  <a:srgbClr val="333333"/>
                </a:solidFill>
                <a:latin typeface="Calibri"/>
              </a:rPr>
              <a:t>–   «No hay tecnología en el negocio.»</a:t>
            </a:r>
          </a:p>
          <a:p>
            <a:pPr>
              <a:spcAft>
                <a:spcPts val="800"/>
              </a:spcAft>
            </a:pPr>
            <a:r>
              <a:rPr sz="1500" b="0" i="0">
                <a:solidFill>
                  <a:srgbClr val="333333"/>
                </a:solidFill>
                <a:latin typeface="Calibri"/>
              </a:rPr>
              <a:t>–   «Queremos hacer un sistema con IA.»</a:t>
            </a:r>
          </a:p>
          <a:p>
            <a:pPr>
              <a:spcAft>
                <a:spcPts val="800"/>
              </a:spcAft>
            </a:pPr>
            <a:r>
              <a:rPr sz="1500" b="0" i="0">
                <a:solidFill>
                  <a:srgbClr val="333333"/>
                </a:solidFill>
                <a:latin typeface="Calibri"/>
              </a:rPr>
              <a:t>–   «El proceso es muy manual.»</a:t>
            </a:r>
          </a:p>
        </p:txBody>
      </p:sp>
      <p:sp>
        <p:nvSpPr>
          <p:cNvPr id="10" name="Rounded Rectangle 9"/>
          <p:cNvSpPr/>
          <p:nvPr/>
        </p:nvSpPr>
        <p:spPr>
          <a:xfrm>
            <a:off x="6255867" y="1472184"/>
            <a:ext cx="5478627" cy="488289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5867" y="1472184"/>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3027" y="1563624"/>
            <a:ext cx="5204307" cy="365760"/>
          </a:xfrm>
          <a:prstGeom prst="rect">
            <a:avLst/>
          </a:prstGeom>
          <a:noFill/>
        </p:spPr>
        <p:txBody>
          <a:bodyPr wrap="square" anchor="ctr"/>
          <a:lstStyle/>
          <a:p>
            <a:pPr algn="ctr"/>
            <a:r>
              <a:rPr sz="1600" b="1" i="0">
                <a:solidFill>
                  <a:srgbClr val="FFFFFF"/>
                </a:solidFill>
                <a:latin typeface="Calibri"/>
              </a:rPr>
              <a:t>Lo que es cada cosa</a:t>
            </a:r>
          </a:p>
        </p:txBody>
      </p:sp>
      <p:sp>
        <p:nvSpPr>
          <p:cNvPr id="13" name="TextBox 12"/>
          <p:cNvSpPr txBox="1"/>
          <p:nvPr/>
        </p:nvSpPr>
        <p:spPr>
          <a:xfrm>
            <a:off x="6420459"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a:t>
            </a:r>
            <a:r>
              <a:rPr sz="1500" b="1" i="0">
                <a:solidFill>
                  <a:srgbClr val="333333"/>
                </a:solidFill>
                <a:latin typeface="Calibri"/>
              </a:rPr>
              <a:t>Solución disfrazada.</a:t>
            </a:r>
            <a:r>
              <a:rPr sz="1500" b="0" i="0">
                <a:solidFill>
                  <a:srgbClr val="333333"/>
                </a:solidFill>
                <a:latin typeface="Calibri"/>
              </a:rPr>
              <a:t> La app es la respuesta; falta la pregunta.</a:t>
            </a:r>
          </a:p>
          <a:p>
            <a:pPr>
              <a:spcAft>
                <a:spcPts val="800"/>
              </a:spcAft>
            </a:pPr>
            <a:r>
              <a:rPr sz="1500" b="0" i="0">
                <a:solidFill>
                  <a:srgbClr val="333333"/>
                </a:solidFill>
                <a:latin typeface="Calibri"/>
              </a:rPr>
              <a:t>–   </a:t>
            </a:r>
            <a:r>
              <a:rPr sz="1500" b="1" i="0">
                <a:solidFill>
                  <a:srgbClr val="333333"/>
                </a:solidFill>
                <a:latin typeface="Calibri"/>
              </a:rPr>
              <a:t>Síntoma.</a:t>
            </a:r>
            <a:r>
              <a:rPr sz="1500" b="0" i="0">
                <a:solidFill>
                  <a:srgbClr val="333333"/>
                </a:solidFill>
                <a:latin typeface="Calibri"/>
              </a:rPr>
              <a:t> La queja es la señal, no el problema. ¿Se queja de qué?</a:t>
            </a:r>
          </a:p>
          <a:p>
            <a:pPr>
              <a:spcAft>
                <a:spcPts val="800"/>
              </a:spcAft>
            </a:pPr>
            <a:r>
              <a:rPr sz="1500" b="0" i="0">
                <a:solidFill>
                  <a:srgbClr val="333333"/>
                </a:solidFill>
                <a:latin typeface="Calibri"/>
              </a:rPr>
              <a:t>–   </a:t>
            </a:r>
            <a:r>
              <a:rPr sz="1500" b="1" i="0">
                <a:solidFill>
                  <a:srgbClr val="333333"/>
                </a:solidFill>
                <a:latin typeface="Calibri"/>
              </a:rPr>
              <a:t>Juicio, no problema.</a:t>
            </a:r>
            <a:r>
              <a:rPr sz="1500" b="0" i="0">
                <a:solidFill>
                  <a:srgbClr val="333333"/>
                </a:solidFill>
                <a:latin typeface="Calibri"/>
              </a:rPr>
              <a:t> ¿Qué no puede hacer alguien por eso?</a:t>
            </a:r>
          </a:p>
          <a:p>
            <a:pPr>
              <a:spcAft>
                <a:spcPts val="800"/>
              </a:spcAft>
            </a:pPr>
            <a:r>
              <a:rPr sz="1500" b="0" i="0">
                <a:solidFill>
                  <a:srgbClr val="333333"/>
                </a:solidFill>
                <a:latin typeface="Calibri"/>
              </a:rPr>
              <a:t>–   </a:t>
            </a:r>
            <a:r>
              <a:rPr sz="1500" b="1" i="0">
                <a:solidFill>
                  <a:srgbClr val="333333"/>
                </a:solidFill>
                <a:latin typeface="Calibri"/>
              </a:rPr>
              <a:t>Solución disfrazada, y con herramienta ya elegida.</a:t>
            </a:r>
            <a:r>
              <a:rPr sz="1500" b="0" i="0">
                <a:solidFill>
                  <a:srgbClr val="333333"/>
                </a:solidFill>
                <a:latin typeface="Calibri"/>
              </a:rPr>
              <a:t> Peor todavía.</a:t>
            </a:r>
          </a:p>
          <a:p>
            <a:pPr>
              <a:spcAft>
                <a:spcPts val="800"/>
              </a:spcAft>
            </a:pPr>
            <a:r>
              <a:rPr sz="1500" b="0" i="0">
                <a:solidFill>
                  <a:srgbClr val="333333"/>
                </a:solidFill>
                <a:latin typeface="Calibri"/>
              </a:rPr>
              <a:t>–   </a:t>
            </a:r>
            <a:r>
              <a:rPr sz="1500" b="1" i="0">
                <a:solidFill>
                  <a:srgbClr val="333333"/>
                </a:solidFill>
                <a:latin typeface="Calibri"/>
              </a:rPr>
              <a:t>Casi.</a:t>
            </a:r>
            <a:r>
              <a:rPr sz="1500" b="0" i="0">
                <a:solidFill>
                  <a:srgbClr val="333333"/>
                </a:solidFill>
                <a:latin typeface="Calibri"/>
              </a:rPr>
              <a:t> «Manual» describe el cómo; falta a quién le cuesta qué.</a:t>
            </a:r>
          </a:p>
        </p:txBody>
      </p:sp>
      <p:pic>
        <p:nvPicPr>
          <p:cNvPr id="14" name="Picture 13" descr="sello_mal.png"/>
          <p:cNvPicPr>
            <a:picLocks noChangeAspect="1"/>
          </p:cNvPicPr>
          <p:nvPr/>
        </p:nvPicPr>
        <p:blipFill>
          <a:blip r:embed="rId2"/>
          <a:stretch>
            <a:fillRect/>
          </a:stretch>
        </p:blipFill>
        <p:spPr>
          <a:xfrm>
            <a:off x="566928" y="1527048"/>
            <a:ext cx="393192" cy="393192"/>
          </a:xfrm>
          <a:prstGeom prst="rect">
            <a:avLst/>
          </a:prstGeom>
        </p:spPr>
      </p:pic>
      <p:pic>
        <p:nvPicPr>
          <p:cNvPr id="15" name="Picture 14" descr="sello_bien.png"/>
          <p:cNvPicPr>
            <a:picLocks noChangeAspect="1"/>
          </p:cNvPicPr>
          <p:nvPr/>
        </p:nvPicPr>
        <p:blipFill>
          <a:blip r:embed="rId3"/>
          <a:stretch>
            <a:fillRect/>
          </a:stretch>
        </p:blipFill>
        <p:spPr>
          <a:xfrm>
            <a:off x="6365595" y="1527048"/>
            <a:ext cx="393192" cy="393192"/>
          </a:xfrm>
          <a:prstGeom prst="rect">
            <a:avLst/>
          </a:prstGeom>
        </p:spPr>
      </p:pic>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de la queja al problema, en cuatro pasos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Todo empieza con algo que dice la gente. El trabajo es llegar al problema de verdad.</a:t>
            </a:r>
          </a:p>
        </p:txBody>
      </p:sp>
      <p:sp>
        <p:nvSpPr>
          <p:cNvPr id="6" name="Rounded Rectangle 5"/>
          <p:cNvSpPr/>
          <p:nvPr/>
        </p:nvSpPr>
        <p:spPr>
          <a:xfrm>
            <a:off x="5934611" y="1399031"/>
            <a:ext cx="5735574" cy="4617720"/>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ueja-problema-paso1.png"/>
          <p:cNvPicPr>
            <a:picLocks noChangeAspect="1"/>
          </p:cNvPicPr>
          <p:nvPr/>
        </p:nvPicPr>
        <p:blipFill>
          <a:blip r:embed="rId2"/>
          <a:stretch>
            <a:fillRect/>
          </a:stretch>
        </p:blipFill>
        <p:spPr>
          <a:xfrm>
            <a:off x="6007763" y="1472184"/>
            <a:ext cx="5589270" cy="4471416"/>
          </a:xfrm>
          <a:prstGeom prst="rect">
            <a:avLst/>
          </a:prstGeom>
        </p:spPr>
      </p:pic>
      <p:pic>
        <p:nvPicPr>
          <p:cNvPr id="8" name="Picture 7" descr="queja-problema-paso2.png"/>
          <p:cNvPicPr>
            <a:picLocks noChangeAspect="1"/>
          </p:cNvPicPr>
          <p:nvPr/>
        </p:nvPicPr>
        <p:blipFill>
          <a:blip r:embed="rId3"/>
          <a:stretch>
            <a:fillRect/>
          </a:stretch>
        </p:blipFill>
        <p:spPr>
          <a:xfrm>
            <a:off x="6007763" y="1472184"/>
            <a:ext cx="5589270" cy="4471416"/>
          </a:xfrm>
          <a:prstGeom prst="rect">
            <a:avLst/>
          </a:prstGeom>
        </p:spPr>
      </p:pic>
      <p:pic>
        <p:nvPicPr>
          <p:cNvPr id="9" name="Picture 8" descr="queja-problema-paso3.png"/>
          <p:cNvPicPr>
            <a:picLocks noChangeAspect="1"/>
          </p:cNvPicPr>
          <p:nvPr/>
        </p:nvPicPr>
        <p:blipFill>
          <a:blip r:embed="rId4"/>
          <a:stretch>
            <a:fillRect/>
          </a:stretch>
        </p:blipFill>
        <p:spPr>
          <a:xfrm>
            <a:off x="6007763" y="1472184"/>
            <a:ext cx="5589270" cy="4471416"/>
          </a:xfrm>
          <a:prstGeom prst="rect">
            <a:avLst/>
          </a:prstGeom>
        </p:spPr>
      </p:pic>
      <p:pic>
        <p:nvPicPr>
          <p:cNvPr id="10" name="Picture 9" descr="queja-problema-paso4.png"/>
          <p:cNvPicPr>
            <a:picLocks noChangeAspect="1"/>
          </p:cNvPicPr>
          <p:nvPr/>
        </p:nvPicPr>
        <p:blipFill>
          <a:blip r:embed="rId5"/>
          <a:stretch>
            <a:fillRect/>
          </a:stretch>
        </p:blipFill>
        <p:spPr>
          <a:xfrm>
            <a:off x="6007763" y="1472184"/>
            <a:ext cx="5589270" cy="4471416"/>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La queja:</a:t>
            </a:r>
            <a:r>
              <a:rPr sz="2000" b="0" i="0">
                <a:solidFill>
                  <a:srgbClr val="333333"/>
                </a:solidFill>
                <a:latin typeface="Calibri"/>
              </a:rPr>
              <a:t> «La gente se queja de la biblioteca del barrio». Es un síntoma.</a:t>
            </a:r>
          </a:p>
          <a:p>
            <a:pPr>
              <a:spcAft>
                <a:spcPts val="800"/>
              </a:spcAft>
            </a:pPr>
            <a:r>
              <a:rPr sz="2000" b="0" i="0">
                <a:solidFill>
                  <a:srgbClr val="333333"/>
                </a:solidFill>
                <a:latin typeface="Calibri"/>
              </a:rPr>
              <a:t>–   </a:t>
            </a:r>
            <a:r>
              <a:rPr sz="2000" b="1" i="0">
                <a:solidFill>
                  <a:srgbClr val="333333"/>
                </a:solidFill>
                <a:latin typeface="Calibri"/>
              </a:rPr>
              <a:t>¿Se queja de qué?:</a:t>
            </a:r>
            <a:r>
              <a:rPr sz="2000" b="0" i="0">
                <a:solidFill>
                  <a:srgbClr val="333333"/>
                </a:solidFill>
                <a:latin typeface="Calibri"/>
              </a:rPr>
              <a:t> «No encuentran los libros». Sigue siendo vago.</a:t>
            </a:r>
          </a:p>
          <a:p>
            <a:pPr>
              <a:spcAft>
                <a:spcPts val="800"/>
              </a:spcAft>
            </a:pPr>
            <a:r>
              <a:rPr sz="2000" b="0" i="0">
                <a:solidFill>
                  <a:srgbClr val="333333"/>
                </a:solidFill>
                <a:latin typeface="Calibri"/>
              </a:rPr>
              <a:t>–   </a:t>
            </a:r>
            <a:r>
              <a:rPr sz="2000" b="1" i="0">
                <a:solidFill>
                  <a:srgbClr val="333333"/>
                </a:solidFill>
                <a:latin typeface="Calibri"/>
              </a:rPr>
              <a:t>¿A quién le pasa qué?:</a:t>
            </a:r>
            <a:r>
              <a:rPr sz="2000" b="0" i="0">
                <a:solidFill>
                  <a:srgbClr val="333333"/>
                </a:solidFill>
                <a:latin typeface="Calibri"/>
              </a:rPr>
              <a:t> Los estudiantes de colegio pierden tiempo buscando un libro porque el catálogo es un cuaderno.</a:t>
            </a:r>
          </a:p>
          <a:p>
            <a:pPr>
              <a:spcAft>
                <a:spcPts val="800"/>
              </a:spcAft>
            </a:pPr>
            <a:r>
              <a:rPr sz="2000" b="0" i="0">
                <a:solidFill>
                  <a:srgbClr val="333333"/>
                </a:solidFill>
                <a:latin typeface="Calibri"/>
              </a:rPr>
              <a:t>–   </a:t>
            </a:r>
            <a:r>
              <a:rPr sz="2000" b="1" i="0">
                <a:solidFill>
                  <a:srgbClr val="333333"/>
                </a:solidFill>
                <a:latin typeface="Calibri"/>
              </a:rPr>
              <a:t>Con su consecuencia:</a:t>
            </a:r>
            <a:r>
              <a:rPr sz="2000" b="0" i="0">
                <a:solidFill>
                  <a:srgbClr val="333333"/>
                </a:solidFill>
                <a:latin typeface="Calibri"/>
              </a:rPr>
              <a:t> Muchos se van sin el libro y no vuelven. </a:t>
            </a:r>
            <a:r>
              <a:rPr sz="2000" b="1" i="0">
                <a:solidFill>
                  <a:srgbClr val="333333"/>
                </a:solidFill>
                <a:latin typeface="Calibri"/>
              </a:rPr>
              <a:t>Ese</a:t>
            </a:r>
            <a:r>
              <a:rPr sz="2000" b="0" i="0">
                <a:solidFill>
                  <a:srgbClr val="333333"/>
                </a:solidFill>
                <a:latin typeface="Calibri"/>
              </a:rPr>
              <a:t> es el problema.</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El árbol del problema</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Se dibuja de arriba hacia abajo y se lee de abajo hacia arriba, como está aquí. Regla: el proyecto ataca una CAUSA, no una rama — quien diseña para los efectos produce una solución superficial</a:t>
            </a:r>
          </a:p>
        </p:txBody>
      </p:sp>
      <p:sp>
        <p:nvSpPr>
          <p:cNvPr id="6" name="Rounded Rectangle 5"/>
          <p:cNvSpPr/>
          <p:nvPr/>
        </p:nvSpPr>
        <p:spPr>
          <a:xfrm>
            <a:off x="5934611" y="1399031"/>
            <a:ext cx="5735574" cy="4617720"/>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rbol-problema-paso1.png"/>
          <p:cNvPicPr>
            <a:picLocks noChangeAspect="1"/>
          </p:cNvPicPr>
          <p:nvPr/>
        </p:nvPicPr>
        <p:blipFill>
          <a:blip r:embed="rId2"/>
          <a:stretch>
            <a:fillRect/>
          </a:stretch>
        </p:blipFill>
        <p:spPr>
          <a:xfrm>
            <a:off x="6007763" y="1472184"/>
            <a:ext cx="5589270" cy="4471416"/>
          </a:xfrm>
          <a:prstGeom prst="rect">
            <a:avLst/>
          </a:prstGeom>
        </p:spPr>
      </p:pic>
      <p:pic>
        <p:nvPicPr>
          <p:cNvPr id="8" name="Picture 7" descr="arbol-problema-paso2.png"/>
          <p:cNvPicPr>
            <a:picLocks noChangeAspect="1"/>
          </p:cNvPicPr>
          <p:nvPr/>
        </p:nvPicPr>
        <p:blipFill>
          <a:blip r:embed="rId3"/>
          <a:stretch>
            <a:fillRect/>
          </a:stretch>
        </p:blipFill>
        <p:spPr>
          <a:xfrm>
            <a:off x="6007763" y="1472184"/>
            <a:ext cx="5589270" cy="4471416"/>
          </a:xfrm>
          <a:prstGeom prst="rect">
            <a:avLst/>
          </a:prstGeom>
        </p:spPr>
      </p:pic>
      <p:pic>
        <p:nvPicPr>
          <p:cNvPr id="9" name="Picture 8" descr="arbol-problema-paso3.png"/>
          <p:cNvPicPr>
            <a:picLocks noChangeAspect="1"/>
          </p:cNvPicPr>
          <p:nvPr/>
        </p:nvPicPr>
        <p:blipFill>
          <a:blip r:embed="rId4"/>
          <a:stretch>
            <a:fillRect/>
          </a:stretch>
        </p:blipFill>
        <p:spPr>
          <a:xfrm>
            <a:off x="6007763" y="1472184"/>
            <a:ext cx="5589270" cy="4471416"/>
          </a:xfrm>
          <a:prstGeom prst="rect">
            <a:avLst/>
          </a:prstGeom>
        </p:spPr>
      </p:pic>
      <p:pic>
        <p:nvPicPr>
          <p:cNvPr id="10" name="Picture 9" descr="arbol-problema-paso4.png"/>
          <p:cNvPicPr>
            <a:picLocks noChangeAspect="1"/>
          </p:cNvPicPr>
          <p:nvPr/>
        </p:nvPicPr>
        <p:blipFill>
          <a:blip r:embed="rId5"/>
          <a:stretch>
            <a:fillRect/>
          </a:stretch>
        </p:blipFill>
        <p:spPr>
          <a:xfrm>
            <a:off x="6007763" y="1472184"/>
            <a:ext cx="5589270" cy="4471416"/>
          </a:xfrm>
          <a:prstGeom prst="rect">
            <a:avLst/>
          </a:prstGeom>
        </p:spPr>
      </p:pic>
      <p:pic>
        <p:nvPicPr>
          <p:cNvPr id="11" name="Picture 10" descr="arbol-problema-paso5.png"/>
          <p:cNvPicPr>
            <a:picLocks noChangeAspect="1"/>
          </p:cNvPicPr>
          <p:nvPr/>
        </p:nvPicPr>
        <p:blipFill>
          <a:blip r:embed="rId6"/>
          <a:stretch>
            <a:fillRect/>
          </a:stretch>
        </p:blipFill>
        <p:spPr>
          <a:xfrm>
            <a:off x="6007763" y="1472184"/>
            <a:ext cx="5589270" cy="4471416"/>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CAUSAS DE FONDO (las raíces profundas):</a:t>
            </a:r>
            <a:r>
              <a:rPr sz="2000" b="0" i="0">
                <a:solidFill>
                  <a:srgbClr val="333333"/>
                </a:solidFill>
                <a:latin typeface="Calibri"/>
              </a:rPr>
              <a:t> El por qué de cada causa. </a:t>
            </a:r>
            <a:r>
              <a:rPr sz="2000" b="1" i="0">
                <a:solidFill>
                  <a:srgbClr val="333333"/>
                </a:solidFill>
                <a:latin typeface="Calibri"/>
              </a:rPr>
              <a:t>Aquí aparece lo que sí se puede cambiar en un semestre</a:t>
            </a:r>
          </a:p>
          <a:p>
            <a:pPr>
              <a:spcAft>
                <a:spcPts val="800"/>
              </a:spcAft>
            </a:pPr>
            <a:r>
              <a:rPr sz="2000" b="0" i="0">
                <a:solidFill>
                  <a:srgbClr val="333333"/>
                </a:solidFill>
                <a:latin typeface="Calibri"/>
              </a:rPr>
              <a:t>–   </a:t>
            </a:r>
            <a:r>
              <a:rPr sz="2000" b="1" i="0">
                <a:solidFill>
                  <a:srgbClr val="333333"/>
                </a:solidFill>
                <a:latin typeface="Calibri"/>
              </a:rPr>
              <a:t>CAUSAS DIRECTAS (las raíces):</a:t>
            </a:r>
            <a:r>
              <a:rPr sz="2000" b="0" i="0">
                <a:solidFill>
                  <a:srgbClr val="333333"/>
                </a:solidFill>
                <a:latin typeface="Calibri"/>
              </a:rPr>
              <a:t> Por qué ocurre el problema. Dos o tres, no diez</a:t>
            </a:r>
          </a:p>
          <a:p>
            <a:pPr>
              <a:spcAft>
                <a:spcPts val="800"/>
              </a:spcAft>
            </a:pPr>
            <a:r>
              <a:rPr sz="2000" b="0" i="0">
                <a:solidFill>
                  <a:srgbClr val="333333"/>
                </a:solidFill>
                <a:latin typeface="Calibri"/>
              </a:rPr>
              <a:t>–   </a:t>
            </a:r>
            <a:r>
              <a:rPr sz="2000" b="1" i="0">
                <a:solidFill>
                  <a:srgbClr val="333333"/>
                </a:solidFill>
                <a:latin typeface="Calibri"/>
              </a:rPr>
              <a:t>PROBLEMA (el tronco):</a:t>
            </a:r>
            <a:r>
              <a:rPr sz="2000" b="0" i="0">
                <a:solidFill>
                  <a:srgbClr val="333333"/>
                </a:solidFill>
                <a:latin typeface="Calibri"/>
              </a:rPr>
              <a:t> Una sola frase: a quién le pasa qué, con qué consecuencia. Es lo que se ataca</a:t>
            </a:r>
          </a:p>
          <a:p>
            <a:pPr>
              <a:spcAft>
                <a:spcPts val="800"/>
              </a:spcAft>
            </a:pPr>
            <a:r>
              <a:rPr sz="2000" b="0" i="0">
                <a:solidFill>
                  <a:srgbClr val="333333"/>
                </a:solidFill>
                <a:latin typeface="Calibri"/>
              </a:rPr>
              <a:t>–   </a:t>
            </a:r>
            <a:r>
              <a:rPr sz="2000" b="1" i="0">
                <a:solidFill>
                  <a:srgbClr val="333333"/>
                </a:solidFill>
                <a:latin typeface="Calibri"/>
              </a:rPr>
              <a:t>EFECTOS (las ramas):</a:t>
            </a:r>
            <a:r>
              <a:rPr sz="2000" b="0" i="0">
                <a:solidFill>
                  <a:srgbClr val="333333"/>
                </a:solidFill>
                <a:latin typeface="Calibri"/>
              </a:rPr>
              <a:t> Lo que se ve y lo que duele: quejas, demoras, pérdidas. Aquí viven los síntomas</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resuelto: el árbol de la fila en la tienda</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Se lee de abajo hacia arriba: las raíces producen el tronco, y el tronco las ramas.</a:t>
            </a:r>
          </a:p>
        </p:txBody>
      </p:sp>
      <p:sp>
        <p:nvSpPr>
          <p:cNvPr id="6" name="Rounded Rectangle 5"/>
          <p:cNvSpPr/>
          <p:nvPr/>
        </p:nvSpPr>
        <p:spPr>
          <a:xfrm>
            <a:off x="457200" y="1659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965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65960"/>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751076"/>
            <a:ext cx="10271455" cy="886968"/>
          </a:xfrm>
          <a:prstGeom prst="rect">
            <a:avLst/>
          </a:prstGeom>
          <a:noFill/>
        </p:spPr>
        <p:txBody>
          <a:bodyPr wrap="square" anchor="ctr"/>
          <a:lstStyle/>
          <a:p>
            <a:r>
              <a:rPr sz="1500" b="1" i="0">
                <a:solidFill>
                  <a:srgbClr val="095292"/>
                </a:solidFill>
                <a:latin typeface="Calibri"/>
              </a:rPr>
              <a:t>Efectos (ramas)</a:t>
            </a:r>
          </a:p>
          <a:p>
            <a:pPr>
              <a:spcBef>
                <a:spcPts val="200"/>
              </a:spcBef>
            </a:pPr>
            <a:r>
              <a:rPr sz="1300" b="0" i="0">
                <a:solidFill>
                  <a:srgbClr val="333333"/>
                </a:solidFill>
                <a:latin typeface="Calibri"/>
              </a:rPr>
              <a:t>Clientes que se van sin comprar. Ventas perdidas en la hora pico.</a:t>
            </a:r>
          </a:p>
        </p:txBody>
      </p:sp>
      <p:sp>
        <p:nvSpPr>
          <p:cNvPr id="10" name="Rounded Rectangle 9"/>
          <p:cNvSpPr/>
          <p:nvPr/>
        </p:nvSpPr>
        <p:spPr>
          <a:xfrm>
            <a:off x="457200" y="2802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108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108960"/>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894076"/>
            <a:ext cx="10271455" cy="886968"/>
          </a:xfrm>
          <a:prstGeom prst="rect">
            <a:avLst/>
          </a:prstGeom>
          <a:noFill/>
        </p:spPr>
        <p:txBody>
          <a:bodyPr wrap="square" anchor="ctr"/>
          <a:lstStyle/>
          <a:p>
            <a:r>
              <a:rPr sz="1500" b="1" i="0">
                <a:solidFill>
                  <a:srgbClr val="095292"/>
                </a:solidFill>
                <a:latin typeface="Calibri"/>
              </a:rPr>
              <a:t>Problema (tronco)</a:t>
            </a:r>
          </a:p>
          <a:p>
            <a:pPr>
              <a:spcBef>
                <a:spcPts val="200"/>
              </a:spcBef>
            </a:pPr>
            <a:r>
              <a:rPr sz="1300" b="0" i="0">
                <a:solidFill>
                  <a:srgbClr val="333333"/>
                </a:solidFill>
                <a:latin typeface="Calibri"/>
              </a:rPr>
              <a:t>En la hora pico, los clientes esperan unos 15 minutos para pagar.</a:t>
            </a:r>
          </a:p>
        </p:txBody>
      </p:sp>
      <p:sp>
        <p:nvSpPr>
          <p:cNvPr id="14" name="Rounded Rectangle 13"/>
          <p:cNvSpPr/>
          <p:nvPr/>
        </p:nvSpPr>
        <p:spPr>
          <a:xfrm>
            <a:off x="457200" y="3945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4251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519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4037076"/>
            <a:ext cx="10271455" cy="886968"/>
          </a:xfrm>
          <a:prstGeom prst="rect">
            <a:avLst/>
          </a:prstGeom>
          <a:noFill/>
        </p:spPr>
        <p:txBody>
          <a:bodyPr wrap="square" anchor="ctr"/>
          <a:lstStyle/>
          <a:p>
            <a:r>
              <a:rPr sz="1500" b="1" i="0">
                <a:solidFill>
                  <a:srgbClr val="095292"/>
                </a:solidFill>
                <a:latin typeface="Calibri"/>
              </a:rPr>
              <a:t>Causas directas</a:t>
            </a:r>
          </a:p>
          <a:p>
            <a:pPr>
              <a:spcBef>
                <a:spcPts val="200"/>
              </a:spcBef>
            </a:pPr>
            <a:r>
              <a:rPr sz="1300" b="0" i="0">
                <a:solidFill>
                  <a:srgbClr val="333333"/>
                </a:solidFill>
                <a:latin typeface="Calibri"/>
              </a:rPr>
              <a:t>Hay una sola caja. Cada fiado se anota a mano en un cuaderno.</a:t>
            </a:r>
          </a:p>
        </p:txBody>
      </p:sp>
      <p:sp>
        <p:nvSpPr>
          <p:cNvPr id="18" name="Rounded Rectangle 17"/>
          <p:cNvSpPr/>
          <p:nvPr/>
        </p:nvSpPr>
        <p:spPr>
          <a:xfrm>
            <a:off x="457200" y="5088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5394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94960"/>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5180076"/>
            <a:ext cx="10271455" cy="886968"/>
          </a:xfrm>
          <a:prstGeom prst="rect">
            <a:avLst/>
          </a:prstGeom>
          <a:noFill/>
        </p:spPr>
        <p:txBody>
          <a:bodyPr wrap="square" anchor="ctr"/>
          <a:lstStyle/>
          <a:p>
            <a:r>
              <a:rPr sz="1500" b="1" i="0">
                <a:solidFill>
                  <a:srgbClr val="095292"/>
                </a:solidFill>
                <a:latin typeface="Calibri"/>
              </a:rPr>
              <a:t>Causas de fondo</a:t>
            </a:r>
          </a:p>
          <a:p>
            <a:pPr>
              <a:spcBef>
                <a:spcPts val="200"/>
              </a:spcBef>
            </a:pPr>
            <a:r>
              <a:rPr sz="1300" b="0" i="0">
                <a:solidFill>
                  <a:srgbClr val="333333"/>
                </a:solidFill>
                <a:latin typeface="Calibri"/>
              </a:rPr>
              <a:t>Para cobrar un fiado hay que buscar el nombre página por página.</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línea base: la cifra de hoy</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linea-base-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Qué es.</a:t>
            </a:r>
            <a:r>
              <a:rPr sz="2000" b="0" i="0">
                <a:solidFill>
                  <a:srgbClr val="333333"/>
                </a:solidFill>
                <a:latin typeface="Calibri"/>
              </a:rPr>
              <a:t> Una cifra que describa el problema </a:t>
            </a:r>
            <a:r>
              <a:rPr sz="2000" b="1" i="0">
                <a:solidFill>
                  <a:srgbClr val="333333"/>
                </a:solidFill>
                <a:latin typeface="Calibri"/>
              </a:rPr>
              <a:t>como está hoy</a:t>
            </a:r>
            <a:r>
              <a:rPr sz="2000" b="0" i="0">
                <a:solidFill>
                  <a:srgbClr val="333333"/>
                </a:solidFill>
                <a:latin typeface="Calibri"/>
              </a:rPr>
              <a:t>, antes de que ustedes toquen nada.</a:t>
            </a:r>
          </a:p>
          <a:p>
            <a:pPr>
              <a:spcAft>
                <a:spcPts val="800"/>
              </a:spcAft>
            </a:pPr>
            <a:r>
              <a:rPr sz="2000" b="0" i="0">
                <a:solidFill>
                  <a:srgbClr val="333333"/>
                </a:solidFill>
                <a:latin typeface="Calibri"/>
              </a:rPr>
              <a:t>–   </a:t>
            </a:r>
            <a:r>
              <a:rPr sz="2000" b="1" i="0">
                <a:solidFill>
                  <a:srgbClr val="333333"/>
                </a:solidFill>
                <a:latin typeface="Calibri"/>
              </a:rPr>
              <a:t>Por qué es obligatoria.</a:t>
            </a:r>
            <a:r>
              <a:rPr sz="2000" b="0" i="0">
                <a:solidFill>
                  <a:srgbClr val="333333"/>
                </a:solidFill>
                <a:latin typeface="Calibri"/>
              </a:rPr>
              <a:t> Sin línea base </a:t>
            </a:r>
            <a:r>
              <a:rPr sz="2000" b="1" i="0">
                <a:solidFill>
                  <a:srgbClr val="333333"/>
                </a:solidFill>
                <a:latin typeface="Calibri"/>
              </a:rPr>
              <a:t>no se puede saber si el proyecto sirvió</a:t>
            </a:r>
            <a:r>
              <a:rPr sz="2000" b="0" i="0">
                <a:solidFill>
                  <a:srgbClr val="333333"/>
                </a:solidFill>
                <a:latin typeface="Calibri"/>
              </a:rPr>
              <a:t>.</a:t>
            </a:r>
          </a:p>
          <a:p>
            <a:pPr>
              <a:spcAft>
                <a:spcPts val="800"/>
              </a:spcAft>
            </a:pPr>
            <a:r>
              <a:rPr sz="2000" b="0" i="0">
                <a:solidFill>
                  <a:srgbClr val="333333"/>
                </a:solidFill>
                <a:latin typeface="Calibri"/>
              </a:rPr>
              <a:t>–   </a:t>
            </a:r>
            <a:r>
              <a:rPr sz="2000" b="1" i="0">
                <a:solidFill>
                  <a:srgbClr val="333333"/>
                </a:solidFill>
                <a:latin typeface="Calibri"/>
              </a:rPr>
              <a:t>Cómo se consigue sin presupuesto.</a:t>
            </a:r>
            <a:r>
              <a:rPr sz="2000" b="0" i="0">
                <a:solidFill>
                  <a:srgbClr val="333333"/>
                </a:solidFill>
                <a:latin typeface="Calibri"/>
              </a:rPr>
              <a:t> Preguntando, contando y midiendo con un cronómetro.</a:t>
            </a:r>
          </a:p>
          <a:p>
            <a:pPr>
              <a:spcAft>
                <a:spcPts val="800"/>
              </a:spcAft>
            </a:pPr>
            <a:r>
              <a:rPr sz="2000" b="0" i="0">
                <a:solidFill>
                  <a:srgbClr val="333333"/>
                </a:solidFill>
                <a:latin typeface="Calibri"/>
              </a:rPr>
              <a:t>–   </a:t>
            </a:r>
            <a:r>
              <a:rPr sz="2000" b="1" i="0">
                <a:solidFill>
                  <a:srgbClr val="333333"/>
                </a:solidFill>
                <a:latin typeface="Calibri"/>
              </a:rPr>
              <a:t>La regla de honestidad.</a:t>
            </a:r>
            <a:r>
              <a:rPr sz="2000" b="0" i="0">
                <a:solidFill>
                  <a:srgbClr val="333333"/>
                </a:solidFill>
                <a:latin typeface="Calibri"/>
              </a:rPr>
              <a:t> Toda cifra va con </a:t>
            </a:r>
            <a:r>
              <a:rPr sz="2000" b="1" i="0">
                <a:solidFill>
                  <a:srgbClr val="333333"/>
                </a:solidFill>
                <a:latin typeface="Calibri"/>
              </a:rPr>
              <a:t>cómo se obtuvo y cuándo</a:t>
            </a:r>
            <a:r>
              <a:rPr sz="2000" b="0" i="0">
                <a:solidFill>
                  <a:srgbClr val="333333"/>
                </a:solidFill>
                <a:latin typeface="Calibri"/>
              </a:rPr>
              <a:t>.</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cómo se saca una línea base con el celular</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linea-celular-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Ir a la tienda el </a:t>
            </a:r>
            <a:r>
              <a:rPr sz="2000" b="1" i="0">
                <a:solidFill>
                  <a:srgbClr val="333333"/>
                </a:solidFill>
                <a:latin typeface="Calibri"/>
              </a:rPr>
              <a:t>viernes de 6 a 7 p. m.</a:t>
            </a:r>
            <a:r>
              <a:rPr sz="2000" b="0" i="0">
                <a:solidFill>
                  <a:srgbClr val="333333"/>
                </a:solidFill>
                <a:latin typeface="Calibri"/>
              </a:rPr>
              <a:t>, que es la hora pico.</a:t>
            </a:r>
          </a:p>
          <a:p>
            <a:pPr>
              <a:spcAft>
                <a:spcPts val="800"/>
              </a:spcAft>
            </a:pPr>
            <a:r>
              <a:rPr sz="2000" b="0" i="0">
                <a:solidFill>
                  <a:srgbClr val="333333"/>
                </a:solidFill>
                <a:latin typeface="Calibri"/>
              </a:rPr>
              <a:t>–   Contar </a:t>
            </a:r>
            <a:r>
              <a:rPr sz="2000" b="1" i="0">
                <a:solidFill>
                  <a:srgbClr val="333333"/>
                </a:solidFill>
                <a:latin typeface="Calibri"/>
              </a:rPr>
              <a:t>10 clientes</a:t>
            </a:r>
            <a:r>
              <a:rPr sz="2000" b="0" i="0">
                <a:solidFill>
                  <a:srgbClr val="333333"/>
                </a:solidFill>
                <a:latin typeface="Calibri"/>
              </a:rPr>
              <a:t> y medir con el cronómetro del celular cuánto espera cada uno.</a:t>
            </a:r>
          </a:p>
          <a:p>
            <a:pPr>
              <a:spcAft>
                <a:spcPts val="800"/>
              </a:spcAft>
            </a:pPr>
            <a:r>
              <a:rPr sz="2000" b="0" i="0">
                <a:solidFill>
                  <a:srgbClr val="333333"/>
                </a:solidFill>
                <a:latin typeface="Calibri"/>
              </a:rPr>
              <a:t>–   Sumar y dividir: el promedio da </a:t>
            </a:r>
            <a:r>
              <a:rPr sz="2000" b="1" i="0">
                <a:solidFill>
                  <a:srgbClr val="333333"/>
                </a:solidFill>
                <a:latin typeface="Calibri"/>
              </a:rPr>
              <a:t>14 minutos</a:t>
            </a:r>
            <a:r>
              <a:rPr sz="2000" b="0" i="0">
                <a:solidFill>
                  <a:srgbClr val="333333"/>
                </a:solidFill>
                <a:latin typeface="Calibri"/>
              </a:rPr>
              <a:t>.</a:t>
            </a:r>
          </a:p>
          <a:p>
            <a:pPr>
              <a:spcAft>
                <a:spcPts val="800"/>
              </a:spcAft>
            </a:pPr>
            <a:r>
              <a:rPr sz="2000" b="0" i="0">
                <a:solidFill>
                  <a:srgbClr val="333333"/>
                </a:solidFill>
                <a:latin typeface="Calibri"/>
              </a:rPr>
              <a:t>–   Escribirlo completo: </a:t>
            </a:r>
            <a:r>
              <a:rPr sz="2000" b="1" i="0">
                <a:solidFill>
                  <a:srgbClr val="333333"/>
                </a:solidFill>
                <a:latin typeface="Calibri"/>
              </a:rPr>
              <a:t>«14 min de espera promedio · 10 clientes · viernes 6-7 p. m. · medido el 12/09»</a:t>
            </a:r>
            <a:r>
              <a:rPr sz="2000" b="0" i="0">
                <a:solidFill>
                  <a:srgbClr val="333333"/>
                </a:solidFill>
                <a:latin typeface="Calibri"/>
              </a:rPr>
              <a:t>.</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Cuándo un problema cabe en un semestre</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1 · Abordable con lo que tienen</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Se puede avanzar con navegador, documentos y herramientas gratuitas. Si exige comprar equipos, contratar servicios o permisos institucionales que no van a llegar, </a:t>
            </a:r>
            <a:r>
              <a:rPr sz="1300" b="1" i="0">
                <a:solidFill>
                  <a:srgbClr val="333333"/>
                </a:solidFill>
                <a:latin typeface="Calibri"/>
              </a:rPr>
              <a:t>no cabe</a:t>
            </a:r>
            <a:r>
              <a:rPr sz="1300" b="0" i="0">
                <a:solidFill>
                  <a:srgbClr val="333333"/>
                </a:solidFill>
                <a:latin typeface="Calibri"/>
              </a:rPr>
              <a:t>.</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2 · Medible</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Existe al menos una cifra que se puede decir hoy y volver a medir en la sesión 16. Si nada se puede contar, no se va a poder demostrar nada.</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3 · Con acceso a los actores</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Pueden hablar con alguien que vive el problema, </a:t>
            </a:r>
            <a:r>
              <a:rPr sz="1300" b="1" i="0">
                <a:solidFill>
                  <a:srgbClr val="333333"/>
                </a:solidFill>
                <a:latin typeface="Calibri"/>
              </a:rPr>
              <a:t>esta semana y sin trámites</a:t>
            </a:r>
            <a:r>
              <a:rPr sz="1300" b="0" i="0">
                <a:solidFill>
                  <a:srgbClr val="333333"/>
                </a:solidFill>
                <a:latin typeface="Calibri"/>
              </a:rPr>
              <a:t>. Un problema sobre una entidad a la que nadie del equipo puede preguntarle nada es un ejercicio de imaginación.</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4 · Con dueño del problema</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Hay una persona o un grupo concreto al que le duele y que reconocería la mejora. Si el afectado es «la sociedad», no hay a quién mostrarle el resultado.</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el mismo problema, grande y del tamaño justo</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No cabe en un semestre</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«La movilidad en Cali es mala».</a:t>
            </a:r>
          </a:p>
          <a:p>
            <a:pPr>
              <a:spcAft>
                <a:spcPts val="800"/>
              </a:spcAft>
            </a:pPr>
            <a:r>
              <a:rPr sz="1500" b="0" i="0">
                <a:solidFill>
                  <a:srgbClr val="333333"/>
                </a:solidFill>
                <a:latin typeface="Calibri"/>
              </a:rPr>
              <a:t>–   No hay una sola persona a quien preguntarle.</a:t>
            </a:r>
          </a:p>
          <a:p>
            <a:pPr>
              <a:spcAft>
                <a:spcPts val="800"/>
              </a:spcAft>
            </a:pPr>
            <a:r>
              <a:rPr sz="1500" b="0" i="0">
                <a:solidFill>
                  <a:srgbClr val="333333"/>
                </a:solidFill>
                <a:latin typeface="Calibri"/>
              </a:rPr>
              <a:t>–   No se puede medir con un cronómetro.</a:t>
            </a:r>
          </a:p>
          <a:p>
            <a:pPr>
              <a:spcAft>
                <a:spcPts val="800"/>
              </a:spcAft>
            </a:pPr>
            <a:r>
              <a:rPr sz="1500" b="0" i="0">
                <a:solidFill>
                  <a:srgbClr val="333333"/>
                </a:solidFill>
                <a:latin typeface="Calibri"/>
              </a:rPr>
              <a:t>–   Ningún equipo de 5 lo mueve en 11 semanas.</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Cabe en un semestre</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«En el paradero del colegio, los estudiantes no saben si el MIO ya pasó».</a:t>
            </a:r>
          </a:p>
          <a:p>
            <a:pPr>
              <a:spcAft>
                <a:spcPts val="800"/>
              </a:spcAft>
            </a:pPr>
            <a:r>
              <a:rPr sz="1500" b="0" i="0">
                <a:solidFill>
                  <a:srgbClr val="333333"/>
                </a:solidFill>
                <a:latin typeface="Calibri"/>
              </a:rPr>
              <a:t>–   Se puede hablar con los estudiantes y con el celador.</a:t>
            </a:r>
          </a:p>
          <a:p>
            <a:pPr>
              <a:spcAft>
                <a:spcPts val="800"/>
              </a:spcAft>
            </a:pPr>
            <a:r>
              <a:rPr sz="1500" b="0" i="0">
                <a:solidFill>
                  <a:srgbClr val="333333"/>
                </a:solidFill>
                <a:latin typeface="Calibri"/>
              </a:rPr>
              <a:t>–   Se mide: cuántos esperan más de 20 minutos.</a:t>
            </a:r>
          </a:p>
          <a:p>
            <a:pPr>
              <a:spcAft>
                <a:spcPts val="800"/>
              </a:spcAft>
            </a:pPr>
            <a:r>
              <a:rPr sz="1500" b="0" i="0">
                <a:solidFill>
                  <a:srgbClr val="333333"/>
                </a:solidFill>
                <a:latin typeface="Calibri"/>
              </a:rPr>
              <a:t>–   Un equipo de 5 sí lo puede trabajar.</a:t>
            </a:r>
          </a:p>
        </p:txBody>
      </p:sp>
      <p:pic>
        <p:nvPicPr>
          <p:cNvPr id="13" name="Picture 12" descr="sello_mal.png"/>
          <p:cNvPicPr>
            <a:picLocks noChangeAspect="1"/>
          </p:cNvPicPr>
          <p:nvPr/>
        </p:nvPicPr>
        <p:blipFill>
          <a:blip r:embed="rId2"/>
          <a:stretch>
            <a:fillRect/>
          </a:stretch>
        </p:blipFill>
        <p:spPr>
          <a:xfrm>
            <a:off x="566928" y="1316736"/>
            <a:ext cx="393192" cy="393192"/>
          </a:xfrm>
          <a:prstGeom prst="rect">
            <a:avLst/>
          </a:prstGeom>
        </p:spPr>
      </p:pic>
      <p:pic>
        <p:nvPicPr>
          <p:cNvPr id="14" name="Picture 13" descr="sello_bien.png"/>
          <p:cNvPicPr>
            <a:picLocks noChangeAspect="1"/>
          </p:cNvPicPr>
          <p:nvPr/>
        </p:nvPicPr>
        <p:blipFill>
          <a:blip r:embed="rId3"/>
          <a:stretch>
            <a:fillRect/>
          </a:stretch>
        </p:blipFill>
        <p:spPr>
          <a:xfrm>
            <a:off x="6365595" y="1316736"/>
            <a:ext cx="393192" cy="393192"/>
          </a:xfrm>
          <a:prstGeom prst="rect">
            <a:avLst/>
          </a:prstGeom>
        </p:spPr>
      </p:pic>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Cerró el corte 1 · nos vemos en la sesión 7</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Análisis de problemas tecnológicos del entorno · Clase 6</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El problema quedó escrito. Todo lo que sigue se hace sobre esa ficha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