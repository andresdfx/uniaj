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1440"/>
            <a:ext cx="12191695" cy="5029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logo_uniajc_blanc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384048"/>
            <a:ext cx="2011680" cy="876815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10042855" y="384048"/>
            <a:ext cx="1691640" cy="384048"/>
          </a:xfrm>
          <a:prstGeom prst="roundRect">
            <a:avLst>
              <a:gd name="adj" fmla="val 12000"/>
            </a:avLst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42855" y="384048"/>
            <a:ext cx="1691640" cy="38404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Clase 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2331720"/>
            <a:ext cx="10728655" cy="18288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3400" b="1" i="0">
                <a:solidFill>
                  <a:srgbClr val="FFFFFF"/>
                </a:solidFill>
                <a:latin typeface="Calibri"/>
              </a:rPr>
              <a:t>Análisis de problemas tecnológicos del entorno</a:t>
            </a:r>
          </a:p>
        </p:txBody>
      </p:sp>
      <p:sp>
        <p:nvSpPr>
          <p:cNvPr id="9" name="Rectangle 8"/>
          <p:cNvSpPr/>
          <p:nvPr/>
        </p:nvSpPr>
        <p:spPr>
          <a:xfrm>
            <a:off x="4632807" y="4206240"/>
            <a:ext cx="2926080" cy="5029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4361688"/>
            <a:ext cx="1072865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 i="0">
                <a:solidFill>
                  <a:srgbClr val="B8D8EE"/>
                </a:solidFill>
                <a:latin typeface="Calibri"/>
              </a:rPr>
              <a:t>El problema del proyecto del semestre queda escrito hoy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094415" y="6419088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1" i="0">
                <a:solidFill>
                  <a:srgbClr val="7EB8D4"/>
                </a:solidFill>
                <a:latin typeface="Calibri"/>
              </a:rP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70432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Agenda de hoy (90 min)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66928"/>
            <a:ext cx="1127729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 i="0">
                <a:solidFill>
                  <a:srgbClr val="B8D8EE"/>
                </a:solidFill>
                <a:latin typeface="Calibri"/>
              </a:rPr>
              <a:t>Hoy el reparto cambia: la teoría se comprime a 25 min para dejar 20 min de evaluación de corte al final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2386584"/>
            <a:ext cx="11277295" cy="73152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1250670" y="2276856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1563624"/>
            <a:ext cx="187954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00:00–00:10 · 10 min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2798064"/>
            <a:ext cx="1788109" cy="30998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Apertura — Pregunta de entrada en el muro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130219" y="2276856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336749" y="1563624"/>
            <a:ext cx="187954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00:10–00:35 · 25 min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382469" y="2798064"/>
            <a:ext cx="1788109" cy="30998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Teoría y guía del docente — Problema vs. síntoma, árbol de causas, línea base y los cuatro criterios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009769" y="2276856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216298" y="1563624"/>
            <a:ext cx="187954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00:35–00:52 · 17 min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262018" y="2798064"/>
            <a:ext cx="1788109" cy="30998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Actividad en equipos — Ficha del problema del proyecto, en salas de grupo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889318" y="2276856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095847" y="1563624"/>
            <a:ext cx="187954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00:52–01:07 · 15 min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141567" y="2798064"/>
            <a:ext cx="1788109" cy="30998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Exposiciones — 5 equipos × 3 min — el problema en una frase y su cifra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768867" y="2276856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975396" y="1563624"/>
            <a:ext cx="187954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01:07–01:27 · 20 min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021116" y="2798064"/>
            <a:ext cx="1788109" cy="30998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Evaluación de corte 1 — En la plataforma del curso · cubre las sesiones 1 a 6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10648416" y="2276856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854946" y="1563624"/>
            <a:ext cx="187954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01:27–01:30 · 3 min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900666" y="2798064"/>
            <a:ext cx="1788109" cy="30998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Cierre — Qué queda amarrado para el corte 2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57200" y="5806440"/>
            <a:ext cx="112772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1">
                <a:solidFill>
                  <a:srgbClr val="666666"/>
                </a:solidFill>
                <a:latin typeface="Calibri"/>
              </a:rPr>
              <a:t>Esta sesión cierra el corte 1 (30 %).</a:t>
            </a:r>
            <a:r>
              <a:rPr sz="1100" b="0" i="1">
                <a:solidFill>
                  <a:srgbClr val="666666"/>
                </a:solidFill>
                <a:latin typeface="Calibri"/>
              </a:rPr>
              <a:t> Trae dos cosas que las demás no tienen: la </a:t>
            </a:r>
            <a:r>
              <a:rPr sz="1100" b="1" i="1">
                <a:solidFill>
                  <a:srgbClr val="666666"/>
                </a:solidFill>
                <a:latin typeface="Calibri"/>
              </a:rPr>
              <a:t>ficha del problema del proyecto</a:t>
            </a:r>
            <a:r>
              <a:rPr sz="1100" b="0" i="1">
                <a:solidFill>
                  <a:srgbClr val="666666"/>
                </a:solidFill>
                <a:latin typeface="Calibri"/>
              </a:rPr>
              <a:t>, que es el producto del corte y gobierna el resto del semestre, y la </a:t>
            </a:r>
            <a:r>
              <a:rPr sz="1100" b="1" i="1">
                <a:solidFill>
                  <a:srgbClr val="666666"/>
                </a:solidFill>
                <a:latin typeface="Calibri"/>
              </a:rPr>
              <a:t>evaluación de corte en la plataforma del curso</a:t>
            </a:r>
            <a:r>
              <a:rPr sz="1100" b="0" i="1">
                <a:solidFill>
                  <a:srgbClr val="666666"/>
                </a:solidFill>
                <a:latin typeface="Calibri"/>
              </a:rPr>
              <a:t>, que se aplica en los últimos 20 minutos y cubre las sesiones 1 a 6. Por eso el bloque de teoría baja de 45 a 25 minutos: hay que llegar con tiempo, no con la explicación a medias.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Objetivos de la sesión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Distinguir un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problema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de un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síntoma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y de una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solución disfrazada de problema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Construir el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árbol de causas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de un problema del entorno.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Escribir una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línea base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: una cifra que se pueda decir hoy sobre el problema.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Verificar que el problema elegido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cabe en un semestre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con los cuatro criterios.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Entregar la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ficha del problema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del proyecto del equipo.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ogo_uniajc_blanc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134295" y="320040"/>
            <a:ext cx="1645920" cy="71739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85800" y="1280160"/>
            <a:ext cx="1082009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269CCB"/>
                </a:solidFill>
                <a:latin typeface="Calibri"/>
              </a:rPr>
              <a:t>Pregunta de entrada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828800"/>
            <a:ext cx="10820095" cy="20116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2800" b="1" i="0">
                <a:solidFill>
                  <a:srgbClr val="FFFFFF"/>
                </a:solidFill>
                <a:latin typeface="Calibri"/>
              </a:rPr>
              <a:t>«En el barrio falta una app.» ¿Eso es un problema? ¿O es una solución a la que todavía no le encontramos el problema?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4114800"/>
            <a:ext cx="10545775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1500" b="0" i="0">
                <a:solidFill>
                  <a:srgbClr val="269CCB"/>
                </a:solidFill>
                <a:latin typeface="Calibri"/>
              </a:rPr>
              <a:t>Casi todos los proyectos que fracasan empezaron con una solución, no con un problema.</a:t>
            </a:r>
          </a:p>
          <a:p>
            <a:pPr algn="ctr">
              <a:spcAft>
                <a:spcPts val="600"/>
              </a:spcAft>
            </a:pPr>
            <a:r>
              <a:rPr sz="1500" b="0" i="0">
                <a:solidFill>
                  <a:srgbClr val="269CCB"/>
                </a:solidFill>
                <a:latin typeface="Calibri"/>
              </a:rPr>
              <a:t>Hoy sale la ficha del problema, y es la que va a gobernar el resto del semestre.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70432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Síntoma, problema y solución disfrazada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66928"/>
            <a:ext cx="1127729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 i="0">
                <a:solidFill>
                  <a:srgbClr val="B8D8EE"/>
                </a:solidFill>
                <a:latin typeface="Calibri"/>
              </a:rPr>
              <a:t>Un problema bien escrito dice: a QUIÉN le pasa QUÉ, con qué CONSECUENCIA, y trae una CIFRA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472184"/>
            <a:ext cx="5478627" cy="4882896"/>
          </a:xfrm>
          <a:prstGeom prst="roundRect">
            <a:avLst>
              <a:gd name="adj" fmla="val 12000"/>
            </a:avLst>
          </a:prstGeom>
          <a:solidFill>
            <a:srgbClr val="FBE4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57200" y="1472184"/>
            <a:ext cx="5478627" cy="502920"/>
          </a:xfrm>
          <a:prstGeom prst="rect">
            <a:avLst/>
          </a:prstGeom>
          <a:solidFill>
            <a:srgbClr val="A020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94360" y="1563624"/>
            <a:ext cx="5204307" cy="3657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Lo que los equipos escriben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21792" y="2112263"/>
            <a:ext cx="5158587" cy="42885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«Falta una app para la biblioteca del barrio.»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«La gente se queja del servicio.»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«No hay tecnología en el negocio.»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«Queremos hacer un sistema con IA.»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«El proceso es muy manual.»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55867" y="1472184"/>
            <a:ext cx="5478627" cy="4882896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255867" y="1472184"/>
            <a:ext cx="5478627" cy="5029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393027" y="1563624"/>
            <a:ext cx="5204307" cy="3657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Lo que es cada cosa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20459" y="2112263"/>
            <a:ext cx="5158587" cy="42885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Solución disfrazada.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La app es la respuesta; falta la pregunta.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Síntoma.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La queja es la señal, no el problema. ¿Se queja de qué?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Juicio, no problema.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¿Qué no puede hacer alguien por eso?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Solución disfrazada, y con herramienta ya elegida.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Peor todavía.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Casi.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«Manual» describe el cómo; falta a quién le cuesta qué.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70432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El árbol del problema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66928"/>
            <a:ext cx="1127729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 i="0">
                <a:solidFill>
                  <a:srgbClr val="B8D8EE"/>
                </a:solidFill>
                <a:latin typeface="Calibri"/>
              </a:rPr>
              <a:t>Se dibuja de arriba hacia abajo y se lee de abajo hacia arriba, como está aquí. Regla: el proyecto ataca una CAUSA, no una rama — quien diseña para los efectos produce una solución cosmética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659636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94360" y="1965960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94360" y="1965960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88720" y="1751076"/>
            <a:ext cx="10271455" cy="886968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CAUSAS DE FONDO (las raíces profundas)</a:t>
            </a:r>
          </a:p>
          <a:p>
            <a:pPr>
              <a:spcBef>
                <a:spcPts val="200"/>
              </a:spcBef>
            </a:pPr>
            <a:r>
              <a:rPr sz="1300" b="0" i="0">
                <a:solidFill>
                  <a:srgbClr val="333333"/>
                </a:solidFill>
                <a:latin typeface="Calibri"/>
              </a:rPr>
              <a:t>El por qué de cada causa. </a:t>
            </a:r>
            <a:r>
              <a:rPr sz="1300" b="1" i="0">
                <a:solidFill>
                  <a:srgbClr val="333333"/>
                </a:solidFill>
                <a:latin typeface="Calibri"/>
              </a:rPr>
              <a:t>Aquí aparece lo que sí se puede cambiar en un semestre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" y="2802636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594360" y="3108960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94360" y="3108960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88720" y="2894076"/>
            <a:ext cx="10271455" cy="886968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CAUSAS DIRECTAS (las raíces)</a:t>
            </a:r>
          </a:p>
          <a:p>
            <a:pPr>
              <a:spcBef>
                <a:spcPts val="200"/>
              </a:spcBef>
            </a:pPr>
            <a:r>
              <a:rPr sz="1300" b="0" i="0">
                <a:solidFill>
                  <a:srgbClr val="333333"/>
                </a:solidFill>
                <a:latin typeface="Calibri"/>
              </a:rPr>
              <a:t>Por qué ocurre el problema. Dos o tres, no diez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" y="3945636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594360" y="4251960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94360" y="4251960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88720" y="4037076"/>
            <a:ext cx="10271455" cy="886968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PROBLEMA (el tronco)</a:t>
            </a:r>
          </a:p>
          <a:p>
            <a:pPr>
              <a:spcBef>
                <a:spcPts val="200"/>
              </a:spcBef>
            </a:pPr>
            <a:r>
              <a:rPr sz="1300" b="0" i="0">
                <a:solidFill>
                  <a:srgbClr val="333333"/>
                </a:solidFill>
                <a:latin typeface="Calibri"/>
              </a:rPr>
              <a:t>Una sola frase: a quién le pasa qué, con qué consecuencia. Es lo que se ataca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57200" y="5088636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594360" y="5394960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94360" y="5394960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88720" y="5180076"/>
            <a:ext cx="10271455" cy="886968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EFECTOS (las ramas)</a:t>
            </a:r>
          </a:p>
          <a:p>
            <a:pPr>
              <a:spcBef>
                <a:spcPts val="200"/>
              </a:spcBef>
            </a:pPr>
            <a:r>
              <a:rPr sz="1300" b="0" i="0">
                <a:solidFill>
                  <a:srgbClr val="333333"/>
                </a:solidFill>
                <a:latin typeface="Calibri"/>
              </a:rPr>
              <a:t>Lo que se ve y lo que duele: quejas, demoras, pérdidas. Aquí viven los síntomas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La línea base: la cifra de hoy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Qué es.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Una cifra que describa el problema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como está hoy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, antes de que ustedes toquen nada. «La secretaria dedica unas 2 horas diarias a confirmar citas por teléfono.» «De 40 libros prestados al mes, unos 12 vuelven tarde.»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Por qué es obligatoria.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Sin línea base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no se puede saber si el proyecto sirvió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. Un informe final que dice «mejoramos el proceso» no demuestra nada; uno que dice «pasó de 2 horas a 20 minutos» sí. En la Clase 16 se les va a pedir exactamente eso.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Cómo se consigue sin presupuesto.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Preguntando, contando y midiendo con un cronómetro. Tres preguntas a la persona que hace el trabajo, un conteo de una semana, o el tiempo de un caso medido a mano.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No hace falta una encuesta científica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: hace falta un número honesto y decir cómo se obtuvo.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La regla de honestidad.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Toda cifra va con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cómo se obtuvo y cuándo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. Si es una estimación, se escribe «estimado». Una cifra inventada es peor que ninguna, porque el resto del proyecto se apoya en ella.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Si el problema no tiene cifra posible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, es señal de que está mal delimitado: casi siempre es demasiado grande. Bájenlo hasta que se pueda contar algo.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Cuándo un problema cabe en un semestre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5547207" cy="246430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5547207" cy="9144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21792" y="1490472"/>
            <a:ext cx="5218023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1 · Abordable con lo que tienen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1792" y="1947672"/>
            <a:ext cx="5218023" cy="15956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 i="0">
                <a:solidFill>
                  <a:srgbClr val="333333"/>
                </a:solidFill>
                <a:latin typeface="Calibri"/>
              </a:rPr>
              <a:t>Se puede avanzar con navegador, documentos y herramientas gratuitas. Si exige comprar equipos, contratar servicios o permisos institucionales que no van a llegar, </a:t>
            </a:r>
            <a:r>
              <a:rPr sz="1300" b="1" i="0">
                <a:solidFill>
                  <a:srgbClr val="333333"/>
                </a:solidFill>
                <a:latin typeface="Calibri"/>
              </a:rPr>
              <a:t>no cabe</a:t>
            </a:r>
            <a:r>
              <a:rPr sz="1300" b="0" i="0">
                <a:solidFill>
                  <a:srgbClr val="333333"/>
                </a:solidFill>
                <a:latin typeface="Calibri"/>
              </a:rPr>
              <a:t>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187287" y="1261872"/>
            <a:ext cx="5547207" cy="246430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187287" y="1261872"/>
            <a:ext cx="5547207" cy="9144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351879" y="1490472"/>
            <a:ext cx="5218023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2 · Medible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51879" y="1947672"/>
            <a:ext cx="5218023" cy="15956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 i="0">
                <a:solidFill>
                  <a:srgbClr val="333333"/>
                </a:solidFill>
                <a:latin typeface="Calibri"/>
              </a:rPr>
              <a:t>Existe al menos una cifra que se puede decir hoy y volver a medir en la sesión 16. Si nada se puede contar, no se va a poder demostrar nada.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" y="3890772"/>
            <a:ext cx="5547207" cy="246430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57200" y="3890772"/>
            <a:ext cx="5547207" cy="91440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21792" y="4119372"/>
            <a:ext cx="5218023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3 · Con acceso a los actores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21792" y="4576572"/>
            <a:ext cx="5218023" cy="15956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 i="0">
                <a:solidFill>
                  <a:srgbClr val="333333"/>
                </a:solidFill>
                <a:latin typeface="Calibri"/>
              </a:rPr>
              <a:t>Pueden hablar con alguien que vive el problema, </a:t>
            </a:r>
            <a:r>
              <a:rPr sz="1300" b="1" i="0">
                <a:solidFill>
                  <a:srgbClr val="333333"/>
                </a:solidFill>
                <a:latin typeface="Calibri"/>
              </a:rPr>
              <a:t>esta semana y sin trámites</a:t>
            </a:r>
            <a:r>
              <a:rPr sz="1300" b="0" i="0">
                <a:solidFill>
                  <a:srgbClr val="333333"/>
                </a:solidFill>
                <a:latin typeface="Calibri"/>
              </a:rPr>
              <a:t>. Un problema sobre una entidad a la que nadie del equipo puede preguntarle nada es un ejercicio de imaginación.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187287" y="3890772"/>
            <a:ext cx="5547207" cy="246430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187287" y="3890772"/>
            <a:ext cx="5547207" cy="9144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351879" y="4119372"/>
            <a:ext cx="5218023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4 · Con dueño del problema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51879" y="4576572"/>
            <a:ext cx="5218023" cy="15956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 i="0">
                <a:solidFill>
                  <a:srgbClr val="333333"/>
                </a:solidFill>
                <a:latin typeface="Calibri"/>
              </a:rPr>
              <a:t>Hay una persona o un grupo concreto al que le duele y que reconocería la mejora. Si el afectado es «la sociedad», no hay a quién mostrarle el resultado.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Cómo cierra el corte 1 hoy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128016" cy="105156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399031"/>
            <a:ext cx="10774375" cy="8229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269CCB"/>
                </a:solidFill>
                <a:latin typeface="Calibri"/>
              </a:rPr>
              <a:t>Info</a:t>
            </a:r>
          </a:p>
          <a:p>
            <a:pPr>
              <a:spcBef>
                <a:spcPts val="400"/>
              </a:spcBef>
            </a:pPr>
            <a:r>
              <a:rPr sz="1400" b="1" i="0">
                <a:solidFill>
                  <a:srgbClr val="333333"/>
                </a:solidFill>
                <a:latin typeface="Calibri"/>
              </a:rPr>
              <a:t>La ficha del problema es el producto del corte.</a:t>
            </a:r>
            <a:r>
              <a:rPr sz="1400" b="0" i="0">
                <a:solidFill>
                  <a:srgbClr val="333333"/>
                </a:solidFill>
                <a:latin typeface="Calibri"/>
              </a:rPr>
              <a:t> Se entrega hoy, en el documento del equipo, y a partir de la sesión 7 todo el trabajo se hace sobre ella: el ciclo de vida, el prototipo, el impacto y el informe final. Cambiarla después cuesta trabajo, así que vale la pena escribirla bien hoy.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2478024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2478024"/>
            <a:ext cx="128016" cy="105156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7240" y="2615184"/>
            <a:ext cx="10774375" cy="8229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269CCB"/>
                </a:solidFill>
                <a:latin typeface="Calibri"/>
              </a:rPr>
              <a:t>Info</a:t>
            </a:r>
          </a:p>
          <a:p>
            <a:pPr>
              <a:spcBef>
                <a:spcPts val="400"/>
              </a:spcBef>
            </a:pPr>
            <a:r>
              <a:rPr sz="1400" b="1" i="0">
                <a:solidFill>
                  <a:srgbClr val="333333"/>
                </a:solidFill>
                <a:latin typeface="Calibri"/>
              </a:rPr>
              <a:t>Los últimos 20 minutos son la evaluación de corte, en la plataforma del curso.</a:t>
            </a:r>
            <a:r>
              <a:rPr sz="1400" b="0" i="0">
                <a:solidFill>
                  <a:srgbClr val="333333"/>
                </a:solidFill>
                <a:latin typeface="Calibri"/>
              </a:rPr>
              <a:t> Cubre las sesiones 1 a 6: qué es la ingeniería y qué no, historia y hitos, elementos de un sistema, principios éticos y normas, huella ambiental, y problema contra síntoma. Es individual y se responde en la misma sesión.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3694176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FFF8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57200" y="3694176"/>
            <a:ext cx="128016" cy="1051560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77240" y="3831336"/>
            <a:ext cx="10774375" cy="8229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FFD000"/>
                </a:solidFill>
                <a:latin typeface="Calibri"/>
              </a:rPr>
              <a:t>Aclaración</a:t>
            </a:r>
          </a:p>
          <a:p>
            <a:pPr>
              <a:spcBef>
                <a:spcPts val="400"/>
              </a:spcBef>
            </a:pPr>
            <a:r>
              <a:rPr sz="1400" b="1" i="0">
                <a:solidFill>
                  <a:srgbClr val="333333"/>
                </a:solidFill>
                <a:latin typeface="Calibri"/>
              </a:rPr>
              <a:t>la plataforma del curso no es una plataforma oficial de la universidad</a:t>
            </a:r>
            <a:r>
              <a:rPr sz="1400" b="0" i="0">
                <a:solidFill>
                  <a:srgbClr val="333333"/>
                </a:solidFill>
                <a:latin typeface="Calibri"/>
              </a:rPr>
              <a:t>: es la herramienta que usa este curso para las evaluaciones, y el enlace se comparte en el chat. Si a alguien no le abre, avise de inmediato en el chat y se resuelve en el momento — no al día siguiente.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70432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Taller de hoy: Ficha del problema del proyecto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66928"/>
            <a:ext cx="1127729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 i="0">
                <a:solidFill>
                  <a:srgbClr val="B8D8EE"/>
                </a:solidFill>
                <a:latin typeface="Calibri"/>
              </a:rPr>
              <a:t>17 min en equipos · cada equipo, su propio problema · ficha del problema + árbol de causas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472184"/>
            <a:ext cx="11277295" cy="56692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40080" y="1618487"/>
            <a:ext cx="274320" cy="274320"/>
          </a:xfrm>
          <a:prstGeom prst="rect">
            <a:avLst/>
          </a:prstGeom>
          <a:solidFill>
            <a:srgbClr val="FFFFFF"/>
          </a:solidFill>
          <a:ln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40080" y="1618487"/>
            <a:ext cx="73152" cy="27432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7280" y="1563624"/>
            <a:ext cx="10362895" cy="402336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333333"/>
                </a:solidFill>
                <a:latin typeface="Calibri"/>
              </a:rPr>
              <a:t>EL PROBLEMA EN UNA FRASE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— Una sola frase con la fórmula: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a quién le pasa qué, con qué consecuencia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. Sin mencionar ninguna tecnología ni ninguna solución.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" y="2148839"/>
            <a:ext cx="11277295" cy="56692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40080" y="2295144"/>
            <a:ext cx="274320" cy="274320"/>
          </a:xfrm>
          <a:prstGeom prst="rect">
            <a:avLst/>
          </a:prstGeom>
          <a:solidFill>
            <a:srgbClr val="FFFFFF"/>
          </a:solidFill>
          <a:ln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40080" y="2295144"/>
            <a:ext cx="73152" cy="27432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97280" y="2240279"/>
            <a:ext cx="10362895" cy="402336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333333"/>
                </a:solidFill>
                <a:latin typeface="Calibri"/>
              </a:rPr>
              <a:t>LA LÍNEA BASE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— Una cifra que describa el problema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hoy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, antes de que ustedes toquen nada, más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cómo la obtuvieron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y cuándo. Si es estimación, escriban «estimado».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" y="2825496"/>
            <a:ext cx="11277295" cy="56692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40080" y="2971800"/>
            <a:ext cx="274320" cy="274320"/>
          </a:xfrm>
          <a:prstGeom prst="rect">
            <a:avLst/>
          </a:prstGeom>
          <a:solidFill>
            <a:srgbClr val="FFFFFF"/>
          </a:solidFill>
          <a:ln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40080" y="2971800"/>
            <a:ext cx="73152" cy="27432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97280" y="2916936"/>
            <a:ext cx="10362895" cy="402336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333333"/>
                </a:solidFill>
                <a:latin typeface="Calibri"/>
              </a:rPr>
              <a:t>EL ÁRBOL DE CAUSAS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— En Excalidraw: el problema en el tronco, los efectos arriba, dos o tres causas directas abajo y el segundo nivel de cada una. Marquen con un símbolo las causas que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no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pueden cambiar (restricciones).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57200" y="3502152"/>
            <a:ext cx="11277295" cy="56692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40080" y="3648456"/>
            <a:ext cx="274320" cy="274320"/>
          </a:xfrm>
          <a:prstGeom prst="rect">
            <a:avLst/>
          </a:prstGeom>
          <a:solidFill>
            <a:srgbClr val="FFFFFF"/>
          </a:solidFill>
          <a:ln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40080" y="3648456"/>
            <a:ext cx="73152" cy="27432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97280" y="3593592"/>
            <a:ext cx="10362895" cy="402336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333333"/>
                </a:solidFill>
                <a:latin typeface="Calibri"/>
              </a:rPr>
              <a:t>ACTORES Y FRONTERA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— Quién vive el problema (el dueño del problema), quién más se afecta sin ser usuario, y qué queda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fuera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de lo que ustedes van a abordar. Digan además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a quién le pueden preguntar algo esta semana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57200" y="4178808"/>
            <a:ext cx="11277295" cy="56692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40080" y="4325112"/>
            <a:ext cx="274320" cy="274320"/>
          </a:xfrm>
          <a:prstGeom prst="rect">
            <a:avLst/>
          </a:prstGeom>
          <a:solidFill>
            <a:srgbClr val="FFFFFF"/>
          </a:solidFill>
          <a:ln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40080" y="4325112"/>
            <a:ext cx="73152" cy="27432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97280" y="4270248"/>
            <a:ext cx="10362895" cy="402336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333333"/>
                </a:solidFill>
                <a:latin typeface="Calibri"/>
              </a:rPr>
              <a:t>EL CRITERIO DE ÉXITO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— Una frase de la forma: «el proyecto sirvió si &lt;la cifra de la línea base&gt; pasa de X a Y, medido así». Y la causa del árbol que van a atacar.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70432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Cómo se expone en 3 minutos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66928"/>
            <a:ext cx="1127729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 i="0">
                <a:solidFill>
                  <a:srgbClr val="B8D8EE"/>
                </a:solidFill>
                <a:latin typeface="Calibri"/>
              </a:rPr>
              <a:t>Habla el vocero con la pantalla ya compartida · cronómetro en pantalla · se corta al llegar a cero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444752"/>
            <a:ext cx="11277295" cy="908913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94360" y="1679752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94360" y="1679752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88720" y="1536192"/>
            <a:ext cx="10271455" cy="744321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40 s · El problema en una frase</a:t>
            </a:r>
          </a:p>
          <a:p>
            <a:pPr>
              <a:spcBef>
                <a:spcPts val="200"/>
              </a:spcBef>
            </a:pPr>
            <a:r>
              <a:rPr sz="1300" b="0" i="0">
                <a:solidFill>
                  <a:srgbClr val="333333"/>
                </a:solidFill>
                <a:latin typeface="Calibri"/>
              </a:rPr>
              <a:t>Léanla tal cual está escrita. Sin tecnología dentro.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" y="2445105"/>
            <a:ext cx="11277295" cy="908913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594360" y="2680106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94360" y="2680106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88720" y="2536545"/>
            <a:ext cx="10271455" cy="744321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30 s · La cifra</a:t>
            </a:r>
          </a:p>
          <a:p>
            <a:pPr>
              <a:spcBef>
                <a:spcPts val="200"/>
              </a:spcBef>
            </a:pPr>
            <a:r>
              <a:rPr sz="1300" b="0" i="0">
                <a:solidFill>
                  <a:srgbClr val="333333"/>
                </a:solidFill>
                <a:latin typeface="Calibri"/>
              </a:rPr>
              <a:t>La línea base y cómo la obtuvieron. Es el minuto obligatorio.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" y="3445459"/>
            <a:ext cx="11277295" cy="908913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594360" y="3680460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94360" y="3680460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88720" y="3536899"/>
            <a:ext cx="10271455" cy="744321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50 s · El árbol</a:t>
            </a:r>
          </a:p>
          <a:p>
            <a:pPr>
              <a:spcBef>
                <a:spcPts val="200"/>
              </a:spcBef>
            </a:pPr>
            <a:r>
              <a:rPr sz="1300" b="0" i="0">
                <a:solidFill>
                  <a:srgbClr val="333333"/>
                </a:solidFill>
                <a:latin typeface="Calibri"/>
              </a:rPr>
              <a:t>Muestren el dibujo y señalen la causa que van a atacar.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57200" y="4445812"/>
            <a:ext cx="11277295" cy="908913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594360" y="4680813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94360" y="4680813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88720" y="4537252"/>
            <a:ext cx="10271455" cy="744321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40 s · Actores y frontera</a:t>
            </a:r>
          </a:p>
          <a:p>
            <a:pPr>
              <a:spcBef>
                <a:spcPts val="200"/>
              </a:spcBef>
            </a:pPr>
            <a:r>
              <a:rPr sz="1300" b="0" i="0">
                <a:solidFill>
                  <a:srgbClr val="333333"/>
                </a:solidFill>
                <a:latin typeface="Calibri"/>
              </a:rPr>
              <a:t>Quién vive el problema, y a quién le van a preguntar esta semana.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57200" y="5446166"/>
            <a:ext cx="11277295" cy="908913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594360" y="5681167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94360" y="5681167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88720" y="5537606"/>
            <a:ext cx="10271455" cy="744321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20 s · El criterio de éxito</a:t>
            </a:r>
          </a:p>
          <a:p>
            <a:pPr>
              <a:spcBef>
                <a:spcPts val="200"/>
              </a:spcBef>
            </a:pPr>
            <a:r>
              <a:rPr sz="1300" b="0" i="0">
                <a:solidFill>
                  <a:srgbClr val="333333"/>
                </a:solidFill>
                <a:latin typeface="Calibri"/>
              </a:rPr>
              <a:t>De X a Y, medido así.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Para la Clase 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Trabajo dirigido: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Identificación de problemáticas locales — cerrar la ficha con la cifra medida de verdad, no estimada, si esta semana alcanzan a contar o preguntar.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Trabajo independiente: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Propuesta inicial de solución: media página con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dos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alternativas para atacar la causa elegida, sin decidir todavía cuál. Sin nombrar herramientas.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Clase 7 · Ciclo de vida de los proyectos de ingeniería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— el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ciclo de vida de los proyectos de ingeniería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, aplicado a la ficha de hoy: qué se hace antes de construir y por qué el orden importa.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Aviso: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Arranca el corte 2. La ficha del problema queda como referencia fija: llévenla al documento del equipo con el título «Ficha del problema — versión final del corte 1», porque se va a citar en todas las sesiones que siguen.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Antes de salir: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el enlace del documento del equipo en el chat, con permiso de lectura para el docente, y el nombre del vocero de hoy.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uniajc_col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71455" y="5998464"/>
            <a:ext cx="1463040" cy="643233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1737360"/>
            <a:ext cx="11277295" cy="10972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3400" b="1" i="0">
                <a:solidFill>
                  <a:srgbClr val="095292"/>
                </a:solidFill>
                <a:latin typeface="Calibri"/>
              </a:rPr>
              <a:t>Cerró el corte 1 · nos vemos en la sesión 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017520"/>
            <a:ext cx="11277295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Análisis de problemas tecnológicos del entorno · Clase 6</a:t>
            </a:r>
          </a:p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FI300101 · UNIAJC · Ingeniería de Sistemas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754880"/>
            <a:ext cx="112772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269CCB"/>
                </a:solidFill>
                <a:latin typeface="Calibri"/>
              </a:rPr>
              <a:t>El problema quedó escrito. Todo lo que sigue se hace sobre esa ficha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