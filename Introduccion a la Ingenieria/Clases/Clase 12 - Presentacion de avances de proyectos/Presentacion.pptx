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1440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91440"/>
            <a:ext cx="12191695" cy="50292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logo_uniajc_blanc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384048"/>
            <a:ext cx="2011680" cy="876815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10042855" y="384048"/>
            <a:ext cx="1691640" cy="384048"/>
          </a:xfrm>
          <a:prstGeom prst="roundRect">
            <a:avLst>
              <a:gd name="adj" fmla="val 12000"/>
            </a:avLst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42855" y="384048"/>
            <a:ext cx="1691640" cy="38404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Clase 12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2331720"/>
            <a:ext cx="10728655" cy="18288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4000" b="1" i="0">
                <a:solidFill>
                  <a:srgbClr val="FFFFFF"/>
                </a:solidFill>
                <a:latin typeface="Calibri"/>
              </a:rPr>
              <a:t>Presentación de avances de proyectos</a:t>
            </a:r>
          </a:p>
        </p:txBody>
      </p:sp>
      <p:sp>
        <p:nvSpPr>
          <p:cNvPr id="9" name="Rectangle 8"/>
          <p:cNvSpPr/>
          <p:nvPr/>
        </p:nvSpPr>
        <p:spPr>
          <a:xfrm>
            <a:off x="4632807" y="4206240"/>
            <a:ext cx="2926080" cy="50292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31520" y="4361688"/>
            <a:ext cx="1072865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0" i="0">
                <a:solidFill>
                  <a:srgbClr val="B8D8EE"/>
                </a:solidFill>
                <a:latin typeface="Calibri"/>
              </a:rPr>
              <a:t>Lo que falló cuando alguien de afuera usó su prototipo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094415" y="6419088"/>
            <a:ext cx="548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1" i="0">
                <a:solidFill>
                  <a:srgbClr val="7EB8D4"/>
                </a:solidFill>
                <a:latin typeface="Calibri"/>
              </a:rPr>
              <a:t>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70432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70432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Agenda de hoy (90 min)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66928"/>
            <a:ext cx="11277295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0" i="0">
                <a:solidFill>
                  <a:srgbClr val="B8D8EE"/>
                </a:solidFill>
                <a:latin typeface="Calibri"/>
              </a:rPr>
              <a:t>Arranca el corte 3. Hoy las exposiciones se llevan casi la mitad de la sesión, porque la retroalimentación del curso es el contenido y no el adorno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2386584"/>
            <a:ext cx="11277295" cy="73152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1438625" y="2276856"/>
            <a:ext cx="292608" cy="292608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1563624"/>
            <a:ext cx="2255459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00:00–00:08 · 8 min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2920" y="2798064"/>
            <a:ext cx="2164019" cy="30998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333333"/>
                </a:solidFill>
                <a:latin typeface="Calibri"/>
              </a:rPr>
              <a:t>Apertura — Pregunta de entrada en el muro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694084" y="2276856"/>
            <a:ext cx="292608" cy="292608"/>
          </a:xfrm>
          <a:prstGeom prst="roundRect">
            <a:avLst>
              <a:gd name="adj" fmla="val 12000"/>
            </a:avLst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2712659" y="1563624"/>
            <a:ext cx="2255459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00:08–00:28 · 20 min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758379" y="2798064"/>
            <a:ext cx="2164019" cy="30998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333333"/>
                </a:solidFill>
                <a:latin typeface="Calibri"/>
              </a:rPr>
              <a:t>Teoría y guía del docente — Cómo se lee una prueba y cómo se da retroalimentación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949543" y="2276856"/>
            <a:ext cx="292608" cy="292608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968118" y="1563624"/>
            <a:ext cx="2255459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00:28–00:40 · 12 min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013838" y="2798064"/>
            <a:ext cx="2164019" cy="30998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333333"/>
                </a:solidFill>
                <a:latin typeface="Calibri"/>
              </a:rPr>
              <a:t>Actividad en equipos — Armar la ficha de avance con los hallazgos de la prueba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205002" y="2276856"/>
            <a:ext cx="292608" cy="292608"/>
          </a:xfrm>
          <a:prstGeom prst="roundRect">
            <a:avLst>
              <a:gd name="adj" fmla="val 12000"/>
            </a:avLst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223577" y="1563624"/>
            <a:ext cx="2255459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00:40–01:20 · 40 min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269297" y="2798064"/>
            <a:ext cx="2164019" cy="30998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333333"/>
                </a:solidFill>
                <a:latin typeface="Calibri"/>
              </a:rPr>
              <a:t>Exposiciones y retroalimentación — 5 equipos × 8 min — 5 de avance y 3 de curso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10460461" y="2276856"/>
            <a:ext cx="292608" cy="292608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479036" y="1563624"/>
            <a:ext cx="2255459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01:20–01:30 · 10 min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524756" y="2798064"/>
            <a:ext cx="2164019" cy="30998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333333"/>
                </a:solidFill>
                <a:latin typeface="Calibri"/>
              </a:rPr>
              <a:t>Cierre — El plan de ajustes de cada equipo, en el muro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57200" y="5806440"/>
            <a:ext cx="1127729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1">
                <a:solidFill>
                  <a:srgbClr val="666666"/>
                </a:solidFill>
                <a:latin typeface="Calibri"/>
              </a:rPr>
              <a:t>Sesión distinta a las anteriores.</a:t>
            </a:r>
            <a:r>
              <a:rPr sz="1100" b="0" i="1">
                <a:solidFill>
                  <a:srgbClr val="666666"/>
                </a:solidFill>
                <a:latin typeface="Calibri"/>
              </a:rPr>
              <a:t> El bloque de exposiciones sube a 40 minutos: cada equipo tiene </a:t>
            </a:r>
            <a:r>
              <a:rPr sz="1100" b="1" i="1">
                <a:solidFill>
                  <a:srgbClr val="666666"/>
                </a:solidFill>
                <a:latin typeface="Calibri"/>
              </a:rPr>
              <a:t>5 minutos de avance y 3 minutos de retroalimentación del curso</a:t>
            </a:r>
            <a:r>
              <a:rPr sz="1100" b="0" i="1">
                <a:solidFill>
                  <a:srgbClr val="666666"/>
                </a:solidFill>
                <a:latin typeface="Calibri"/>
              </a:rPr>
              <a:t>. La actividad en equipos baja a 12 minutos porque el trabajo grueso —probar el prototipo con una persona ajena— </a:t>
            </a:r>
            <a:r>
              <a:rPr sz="1100" b="1" i="1">
                <a:solidFill>
                  <a:srgbClr val="666666"/>
                </a:solidFill>
                <a:latin typeface="Calibri"/>
              </a:rPr>
              <a:t>ya venía hecho de la sesión 11</a:t>
            </a:r>
            <a:r>
              <a:rPr sz="1100" b="0" i="1">
                <a:solidFill>
                  <a:srgbClr val="666666"/>
                </a:solidFill>
                <a:latin typeface="Calibri"/>
              </a:rPr>
              <a:t>. Un equipo que no hizo la prueba no tiene avance que presentar, y eso hay que decirlo en el minuto 2.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Objetivos de la sesión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Separar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lo que la persona hizo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de lo que la persona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dijo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en una prueba.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Clasificar cada tropiezo por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tipo y gravedad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, y encontrar el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patrón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Presentar un avance en 5 minutos: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el problema, lo que falló y la decisión pendiente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Dar y recibir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retroalimentación útil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: observación en vez de opinión.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logo_uniajc_blanc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134295" y="320040"/>
            <a:ext cx="1645920" cy="717394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85800" y="1280160"/>
            <a:ext cx="1082009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 i="0">
                <a:solidFill>
                  <a:srgbClr val="269CCB"/>
                </a:solidFill>
                <a:latin typeface="Calibri"/>
              </a:rPr>
              <a:t>Pregunta de entrada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1828800"/>
            <a:ext cx="10820095" cy="201168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2800" b="1" i="0">
                <a:solidFill>
                  <a:srgbClr val="FFFFFF"/>
                </a:solidFill>
                <a:latin typeface="Calibri"/>
              </a:rPr>
              <a:t>Ustedes probaron el prototipo con una persona ajena al equipo. ¿Cuántas veces tuvieron que decirle «no, ahí no, toca acá»?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4114800"/>
            <a:ext cx="10545775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600"/>
              </a:spcAft>
            </a:pPr>
            <a:r>
              <a:rPr sz="1500" b="0" i="0">
                <a:solidFill>
                  <a:srgbClr val="269CCB"/>
                </a:solidFill>
                <a:latin typeface="Calibri"/>
              </a:rPr>
              <a:t>Cada una de esas veces es un hallazgo, no un error de la persona.</a:t>
            </a:r>
          </a:p>
          <a:p>
            <a:pPr algn="ctr">
              <a:spcAft>
                <a:spcPts val="600"/>
              </a:spcAft>
            </a:pPr>
            <a:r>
              <a:rPr sz="1500" b="0" i="0">
                <a:solidFill>
                  <a:srgbClr val="269CCB"/>
                </a:solidFill>
                <a:latin typeface="Calibri"/>
              </a:rPr>
              <a:t>Hoy no venimos a mostrar lo que funciona: venimos a mostrar lo que falló.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70432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70432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Cómo se lee una prueba con una persona real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66928"/>
            <a:ext cx="11277295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0" i="0">
                <a:solidFill>
                  <a:srgbClr val="B8D8EE"/>
                </a:solidFill>
                <a:latin typeface="Calibri"/>
              </a:rPr>
              <a:t>La persona que prueba nunca se equivoca: si se perdió, el diseño la perdió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444752"/>
            <a:ext cx="11277295" cy="908913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594360" y="1679752"/>
            <a:ext cx="438912" cy="438912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94360" y="1679752"/>
            <a:ext cx="438912" cy="43891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88720" y="1536192"/>
            <a:ext cx="10271455" cy="744321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400" b="1" i="0">
                <a:solidFill>
                  <a:srgbClr val="095292"/>
                </a:solidFill>
                <a:latin typeface="Calibri"/>
              </a:rPr>
              <a:t>1 · Separe lo que hizo de lo que dijo</a:t>
            </a:r>
          </a:p>
          <a:p>
            <a:pPr>
              <a:spcBef>
                <a:spcPts val="200"/>
              </a:spcBef>
            </a:pPr>
            <a:r>
              <a:rPr sz="1200" b="1" i="0">
                <a:solidFill>
                  <a:srgbClr val="333333"/>
                </a:solidFill>
                <a:latin typeface="Calibri"/>
              </a:rPr>
              <a:t>Lo que hizo es el dato.</a:t>
            </a:r>
            <a:r>
              <a:rPr sz="1200" b="0" i="0">
                <a:solidFill>
                  <a:srgbClr val="333333"/>
                </a:solidFill>
                <a:latin typeface="Calibri"/>
              </a:rPr>
              <a:t> Si dudó cinco segundos frente a un botón, eso pasó — aunque después diga «no, estaba clarísimo». La gente es amable con quien le muestra su trabajo.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57200" y="2445105"/>
            <a:ext cx="11277295" cy="908913"/>
          </a:xfrm>
          <a:prstGeom prst="roundRect">
            <a:avLst>
              <a:gd name="adj" fmla="val 12000"/>
            </a:avLst>
          </a:prstGeom>
          <a:solidFill>
            <a:srgbClr val="E8F4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594360" y="2680106"/>
            <a:ext cx="438912" cy="438912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94360" y="2680106"/>
            <a:ext cx="438912" cy="43891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88720" y="2536545"/>
            <a:ext cx="10271455" cy="744321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1" i="0">
                <a:solidFill>
                  <a:srgbClr val="095292"/>
                </a:solidFill>
                <a:latin typeface="Calibri"/>
              </a:rPr>
              <a:t>2 · Escriba el tropiezo, no la solución</a:t>
            </a:r>
          </a:p>
          <a:p>
            <a:pPr>
              <a:spcBef>
                <a:spcPts val="200"/>
              </a:spcBef>
            </a:pPr>
            <a:r>
              <a:rPr sz="1300" b="0" i="0">
                <a:solidFill>
                  <a:srgbClr val="333333"/>
                </a:solidFill>
                <a:latin typeface="Calibri"/>
              </a:rPr>
              <a:t>«Buscó el botón de volver en la esquina de arriba» es un hallazgo. «Hay que poner un botón arriba» es una conclusión, y es prematura.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57200" y="3445459"/>
            <a:ext cx="11277295" cy="908913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594360" y="3680460"/>
            <a:ext cx="438912" cy="438912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94360" y="3680460"/>
            <a:ext cx="438912" cy="43891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188720" y="3536899"/>
            <a:ext cx="10271455" cy="744321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1" i="0">
                <a:solidFill>
                  <a:srgbClr val="095292"/>
                </a:solidFill>
                <a:latin typeface="Calibri"/>
              </a:rPr>
              <a:t>3 · Clasifique cada tropiezo</a:t>
            </a:r>
          </a:p>
          <a:p>
            <a:pPr>
              <a:spcBef>
                <a:spcPts val="200"/>
              </a:spcBef>
            </a:pPr>
            <a:r>
              <a:rPr sz="1300" b="0" i="0">
                <a:solidFill>
                  <a:srgbClr val="333333"/>
                </a:solidFill>
                <a:latin typeface="Calibri"/>
              </a:rPr>
              <a:t>¿No entendió una palabra? ¿Se perdió en el flujo? ¿Esperaba algo que no existe? ¿Falló por una suposición nuestra? Cada tipo se arregla distinto.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57200" y="4445812"/>
            <a:ext cx="11277295" cy="908913"/>
          </a:xfrm>
          <a:prstGeom prst="roundRect">
            <a:avLst>
              <a:gd name="adj" fmla="val 12000"/>
            </a:avLst>
          </a:prstGeom>
          <a:solidFill>
            <a:srgbClr val="E8F4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594360" y="4680813"/>
            <a:ext cx="438912" cy="438912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94360" y="4680813"/>
            <a:ext cx="438912" cy="43891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188720" y="4537252"/>
            <a:ext cx="10271455" cy="744321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400" b="1" i="0">
                <a:solidFill>
                  <a:srgbClr val="095292"/>
                </a:solidFill>
                <a:latin typeface="Calibri"/>
              </a:rPr>
              <a:t>4 · Busque el patrón</a:t>
            </a:r>
          </a:p>
          <a:p>
            <a:pPr>
              <a:spcBef>
                <a:spcPts val="200"/>
              </a:spcBef>
            </a:pPr>
            <a:r>
              <a:rPr sz="1200" b="0" i="0">
                <a:solidFill>
                  <a:srgbClr val="333333"/>
                </a:solidFill>
                <a:latin typeface="Calibri"/>
              </a:rPr>
              <a:t>Un tropiezo de una persona puede ser casualidad. </a:t>
            </a:r>
            <a:r>
              <a:rPr sz="1200" b="1" i="0">
                <a:solidFill>
                  <a:srgbClr val="333333"/>
                </a:solidFill>
                <a:latin typeface="Calibri"/>
              </a:rPr>
              <a:t>El mismo tropiezo en dos de tres personas es un defecto de diseño</a:t>
            </a:r>
            <a:r>
              <a:rPr sz="1200" b="0" i="0">
                <a:solidFill>
                  <a:srgbClr val="333333"/>
                </a:solidFill>
                <a:latin typeface="Calibri"/>
              </a:rPr>
              <a:t>, y esos son los que se arreglan primero.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457200" y="5446166"/>
            <a:ext cx="11277295" cy="908913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594360" y="5681167"/>
            <a:ext cx="438912" cy="438912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594360" y="5681167"/>
            <a:ext cx="438912" cy="43891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5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188720" y="5537606"/>
            <a:ext cx="10271455" cy="744321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1" i="0">
                <a:solidFill>
                  <a:srgbClr val="095292"/>
                </a:solidFill>
                <a:latin typeface="Calibri"/>
              </a:rPr>
              <a:t>5 · Decida qué NO se arregla</a:t>
            </a:r>
          </a:p>
          <a:p>
            <a:pPr>
              <a:spcBef>
                <a:spcPts val="200"/>
              </a:spcBef>
            </a:pPr>
            <a:r>
              <a:rPr sz="1300" b="0" i="0">
                <a:solidFill>
                  <a:srgbClr val="333333"/>
                </a:solidFill>
                <a:latin typeface="Calibri"/>
              </a:rPr>
              <a:t>No todo cabe antes de la sesión 14. Lo que se deja fuera </a:t>
            </a:r>
            <a:r>
              <a:rPr sz="1300" b="1" i="0">
                <a:solidFill>
                  <a:srgbClr val="333333"/>
                </a:solidFill>
                <a:latin typeface="Calibri"/>
              </a:rPr>
              <a:t>se escribe</a:t>
            </a:r>
            <a:r>
              <a:rPr sz="1300" b="0" i="0">
                <a:solidFill>
                  <a:srgbClr val="333333"/>
                </a:solidFill>
                <a:latin typeface="Calibri"/>
              </a:rPr>
              <a:t>, con su razón: eso es una decisión de ingeniería, no un olvido.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Los cuatro tipos de hallazgo y qué hacer con cada uno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457200" y="1216152"/>
          <a:ext cx="8961120" cy="19202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20240"/>
                <a:gridCol w="3657600"/>
                <a:gridCol w="3383280"/>
              </a:tblGrid>
              <a:tr h="384048">
                <a:tc>
                  <a:txBody>
                    <a:bodyPr/>
                    <a:lstStyle/>
                    <a:p>
                      <a:r>
                        <a:rPr sz="1200" b="1" i="0">
                          <a:solidFill>
                            <a:srgbClr val="FFFFFF"/>
                          </a:solidFill>
                          <a:latin typeface="Calibri"/>
                        </a:rPr>
                        <a:t>Tipo</a:t>
                      </a:r>
                    </a:p>
                  </a:txBody>
                  <a:tcPr>
                    <a:solidFill>
                      <a:srgbClr val="09529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 i="0">
                          <a:solidFill>
                            <a:srgbClr val="FFFFFF"/>
                          </a:solidFill>
                          <a:latin typeface="Calibri"/>
                        </a:rPr>
                        <a:t>Cómo se reconoce</a:t>
                      </a:r>
                    </a:p>
                  </a:txBody>
                  <a:tcPr>
                    <a:solidFill>
                      <a:srgbClr val="09529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 i="0">
                          <a:solidFill>
                            <a:srgbClr val="FFFFFF"/>
                          </a:solidFill>
                          <a:latin typeface="Calibri"/>
                        </a:rPr>
                        <a:t>Qué se cambia</a:t>
                      </a:r>
                    </a:p>
                  </a:txBody>
                  <a:tcPr>
                    <a:solidFill>
                      <a:srgbClr val="095292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200" b="1" i="0">
                          <a:solidFill>
                            <a:srgbClr val="333333"/>
                          </a:solidFill>
                          <a:latin typeface="Calibri"/>
                        </a:rPr>
                        <a:t>Lenguaje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333333"/>
                          </a:solidFill>
                          <a:latin typeface="Calibri"/>
                        </a:rPr>
                        <a:t>Preguntó qué significa una palabra, o entendió otra cosa.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333333"/>
                          </a:solidFill>
                          <a:latin typeface="Calibri"/>
                        </a:rPr>
                        <a:t>El </a:t>
                      </a:r>
                      <a:r>
                        <a:rPr sz="1200" b="1" i="0">
                          <a:solidFill>
                            <a:srgbClr val="333333"/>
                          </a:solidFill>
                          <a:latin typeface="Calibri"/>
                        </a:rPr>
                        <a:t>texto</a:t>
                      </a:r>
                      <a:r>
                        <a:rPr sz="1200" b="0" i="0">
                          <a:solidFill>
                            <a:srgbClr val="333333"/>
                          </a:solidFill>
                          <a:latin typeface="Calibri"/>
                        </a:rPr>
                        <a:t>. Es el arreglo más barato del mundo y el que más rinde.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200" b="1" i="0">
                          <a:solidFill>
                            <a:srgbClr val="333333"/>
                          </a:solidFill>
                          <a:latin typeface="Calibri"/>
                        </a:rPr>
                        <a:t>Flujo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333333"/>
                          </a:solidFill>
                          <a:latin typeface="Calibri"/>
                        </a:rPr>
                        <a:t>Hizo los pasos en otro orden, o se quedó sin saber dónde seguir.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333333"/>
                          </a:solidFill>
                          <a:latin typeface="Calibri"/>
                        </a:rPr>
                        <a:t>El </a:t>
                      </a:r>
                      <a:r>
                        <a:rPr sz="1200" b="1" i="0">
                          <a:solidFill>
                            <a:srgbClr val="333333"/>
                          </a:solidFill>
                          <a:latin typeface="Calibri"/>
                        </a:rPr>
                        <a:t>orden de las pantallas</a:t>
                      </a:r>
                      <a:r>
                        <a:rPr sz="1200" b="0" i="0">
                          <a:solidFill>
                            <a:srgbClr val="333333"/>
                          </a:solidFill>
                          <a:latin typeface="Calibri"/>
                        </a:rPr>
                        <a:t> o el botón que falta. Cuesta más, pero es visible.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200" b="1" i="0">
                          <a:solidFill>
                            <a:srgbClr val="333333"/>
                          </a:solidFill>
                          <a:latin typeface="Calibri"/>
                        </a:rPr>
                        <a:t>Expectativa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333333"/>
                          </a:solidFill>
                          <a:latin typeface="Calibri"/>
                        </a:rPr>
                        <a:t>Buscó una función que no existe: «¿y aquí puedo reservarlo?».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333333"/>
                          </a:solidFill>
                          <a:latin typeface="Calibri"/>
                        </a:rPr>
                        <a:t>Nada, si está fuera del alcance — pero </a:t>
                      </a:r>
                      <a:r>
                        <a:rPr sz="1200" b="1" i="0">
                          <a:solidFill>
                            <a:srgbClr val="333333"/>
                          </a:solidFill>
                          <a:latin typeface="Calibri"/>
                        </a:rPr>
                        <a:t>el prototipo debe decirlo</a:t>
                      </a:r>
                      <a:r>
                        <a:rPr sz="1200" b="0" i="0">
                          <a:solidFill>
                            <a:srgbClr val="333333"/>
                          </a:solidFill>
                          <a:latin typeface="Calibri"/>
                        </a:rPr>
                        <a:t>, no callarlo.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200" b="1" i="0">
                          <a:solidFill>
                            <a:srgbClr val="333333"/>
                          </a:solidFill>
                          <a:latin typeface="Calibri"/>
                        </a:rPr>
                        <a:t>Suposición nuestra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333333"/>
                          </a:solidFill>
                          <a:latin typeface="Calibri"/>
                        </a:rPr>
                        <a:t>Falló algo que dábamos por obvio: que tiene datos, que sabe leer una tabla.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333333"/>
                          </a:solidFill>
                          <a:latin typeface="Calibri"/>
                        </a:rPr>
                        <a:t>La </a:t>
                      </a:r>
                      <a:r>
                        <a:rPr sz="1200" b="1" i="0">
                          <a:solidFill>
                            <a:srgbClr val="333333"/>
                          </a:solidFill>
                          <a:latin typeface="Calibri"/>
                        </a:rPr>
                        <a:t>restricción</a:t>
                      </a:r>
                      <a:r>
                        <a:rPr sz="1200" b="0" i="0">
                          <a:solidFill>
                            <a:srgbClr val="333333"/>
                          </a:solidFill>
                          <a:latin typeface="Calibri"/>
                        </a:rPr>
                        <a:t>. Es el hallazgo más caro y el más valioso de todos.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457200" y="3794760"/>
            <a:ext cx="1127729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 i="1">
                <a:solidFill>
                  <a:srgbClr val="666666"/>
                </a:solidFill>
                <a:latin typeface="Calibri"/>
              </a:rPr>
              <a:t>Los dos primeros tipos se arreglan antes de la sesión 14. Los dos últimos, a veces, se declaran en el informe final y se dejan como trabajo siguiente.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Qué es un avance y qué no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261872"/>
            <a:ext cx="5547207" cy="2464308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" y="1261872"/>
            <a:ext cx="5547207" cy="9144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21792" y="1490472"/>
            <a:ext cx="5218023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500" b="1" i="0">
                <a:solidFill>
                  <a:srgbClr val="095292"/>
                </a:solidFill>
                <a:latin typeface="Calibri"/>
              </a:rPr>
              <a:t>Un avance NO es un resumen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21792" y="1947672"/>
            <a:ext cx="5218023" cy="15956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 i="0">
                <a:solidFill>
                  <a:srgbClr val="333333"/>
                </a:solidFill>
                <a:latin typeface="Calibri"/>
              </a:rPr>
              <a:t>Nadie necesita oír otra vez el problema completo, los actores y las seis fases. </a:t>
            </a:r>
            <a:r>
              <a:rPr sz="1300" b="1" i="0">
                <a:solidFill>
                  <a:srgbClr val="333333"/>
                </a:solidFill>
                <a:latin typeface="Calibri"/>
              </a:rPr>
              <a:t>El curso ya conoce su proyecto</a:t>
            </a:r>
            <a:r>
              <a:rPr sz="1300" b="0" i="0">
                <a:solidFill>
                  <a:srgbClr val="333333"/>
                </a:solidFill>
                <a:latin typeface="Calibri"/>
              </a:rPr>
              <a:t>: lleva cinco sesiones oyéndolo.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187287" y="1261872"/>
            <a:ext cx="5547207" cy="2464308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6187287" y="1261872"/>
            <a:ext cx="5547207" cy="91440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351879" y="1490472"/>
            <a:ext cx="5218023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500" b="1" i="0">
                <a:solidFill>
                  <a:srgbClr val="095292"/>
                </a:solidFill>
                <a:latin typeface="Calibri"/>
              </a:rPr>
              <a:t>Un avance ES lo que falló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351879" y="1947672"/>
            <a:ext cx="5218023" cy="15956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 i="0">
                <a:solidFill>
                  <a:srgbClr val="333333"/>
                </a:solidFill>
                <a:latin typeface="Calibri"/>
              </a:rPr>
              <a:t>Los tres hallazgos de la prueba, con lo que la persona </a:t>
            </a:r>
            <a:r>
              <a:rPr sz="1300" b="1" i="0">
                <a:solidFill>
                  <a:srgbClr val="333333"/>
                </a:solidFill>
                <a:latin typeface="Calibri"/>
              </a:rPr>
              <a:t>hizo</a:t>
            </a:r>
            <a:r>
              <a:rPr sz="1300" b="0" i="0">
                <a:solidFill>
                  <a:srgbClr val="333333"/>
                </a:solidFill>
                <a:latin typeface="Calibri"/>
              </a:rPr>
              <a:t>. Es lo único que el curso no sabe todavía, y por eso es lo único que vale contar.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57200" y="3890772"/>
            <a:ext cx="5547207" cy="2464308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457200" y="3890772"/>
            <a:ext cx="5547207" cy="91440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21792" y="4119372"/>
            <a:ext cx="5218023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500" b="1" i="0">
                <a:solidFill>
                  <a:srgbClr val="095292"/>
                </a:solidFill>
                <a:latin typeface="Calibri"/>
              </a:rPr>
              <a:t>Un avance TRAE una pregunta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21792" y="4576572"/>
            <a:ext cx="5218023" cy="15956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 i="0">
                <a:solidFill>
                  <a:srgbClr val="333333"/>
                </a:solidFill>
                <a:latin typeface="Calibri"/>
              </a:rPr>
              <a:t>«Tenemos dos maneras de arreglar esto y no nos decidimos.» Ahí es donde los otros cuatro equipos les sirven de algo. Sin pregunta, la retroalimentación es vacía.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187287" y="3890772"/>
            <a:ext cx="5547207" cy="2464308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6187287" y="3890772"/>
            <a:ext cx="5547207" cy="9144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351879" y="4119372"/>
            <a:ext cx="5218023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500" b="1" i="0">
                <a:solidFill>
                  <a:srgbClr val="095292"/>
                </a:solidFill>
                <a:latin typeface="Calibri"/>
              </a:rPr>
              <a:t>Un avance ADMITE lo pendiente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351879" y="4576572"/>
            <a:ext cx="5218023" cy="15956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 i="0">
                <a:solidFill>
                  <a:srgbClr val="333333"/>
                </a:solidFill>
                <a:latin typeface="Calibri"/>
              </a:rPr>
              <a:t>Lo que todavía no está, dicho sin rodeos. </a:t>
            </a:r>
            <a:r>
              <a:rPr sz="1300" b="1" i="0">
                <a:solidFill>
                  <a:srgbClr val="333333"/>
                </a:solidFill>
                <a:latin typeface="Calibri"/>
              </a:rPr>
              <a:t>Esconder lo pendiente hoy es pagarlo en la sesión 15</a:t>
            </a:r>
            <a:r>
              <a:rPr sz="1300" b="0" i="0">
                <a:solidFill>
                  <a:srgbClr val="333333"/>
                </a:solidFill>
                <a:latin typeface="Calibri"/>
              </a:rPr>
              <a:t>, delante de todo el mundo y con nota.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70432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70432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Cómo se da retroalimentación que sirve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66928"/>
            <a:ext cx="11277295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0" i="0">
                <a:solidFill>
                  <a:srgbClr val="B8D8EE"/>
                </a:solidFill>
                <a:latin typeface="Calibri"/>
              </a:rPr>
              <a:t>Regla del curso: observación, expectativa, y una sola cosa — en ese orden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444752"/>
            <a:ext cx="11277295" cy="908913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594360" y="1679752"/>
            <a:ext cx="438912" cy="438912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94360" y="1679752"/>
            <a:ext cx="438912" cy="43891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88720" y="1536192"/>
            <a:ext cx="10271455" cy="744321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1" i="0">
                <a:solidFill>
                  <a:srgbClr val="095292"/>
                </a:solidFill>
                <a:latin typeface="Calibri"/>
              </a:rPr>
              <a:t>1 · Primero una pregunta, no una opinión</a:t>
            </a:r>
          </a:p>
          <a:p>
            <a:pPr>
              <a:spcBef>
                <a:spcPts val="200"/>
              </a:spcBef>
            </a:pPr>
            <a:r>
              <a:rPr sz="1300" b="0" i="0">
                <a:solidFill>
                  <a:srgbClr val="333333"/>
                </a:solidFill>
                <a:latin typeface="Calibri"/>
              </a:rPr>
              <a:t>«¿Por qué eligieron mostrar la fecha ahí?» antes de «la fecha está mal ahí». Muchas veces la respuesta ya cierra el tema.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57200" y="2445105"/>
            <a:ext cx="11277295" cy="908913"/>
          </a:xfrm>
          <a:prstGeom prst="roundRect">
            <a:avLst>
              <a:gd name="adj" fmla="val 12000"/>
            </a:avLst>
          </a:prstGeom>
          <a:solidFill>
            <a:srgbClr val="E8F4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594360" y="2680106"/>
            <a:ext cx="438912" cy="438912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94360" y="2680106"/>
            <a:ext cx="438912" cy="43891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88720" y="2536545"/>
            <a:ext cx="10271455" cy="744321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400" b="1" i="0">
                <a:solidFill>
                  <a:srgbClr val="095292"/>
                </a:solidFill>
                <a:latin typeface="Calibri"/>
              </a:rPr>
              <a:t>2 · Describa lo que observó</a:t>
            </a:r>
          </a:p>
          <a:p>
            <a:pPr>
              <a:spcBef>
                <a:spcPts val="200"/>
              </a:spcBef>
            </a:pPr>
            <a:r>
              <a:rPr sz="1200" b="0" i="0">
                <a:solidFill>
                  <a:srgbClr val="333333"/>
                </a:solidFill>
                <a:latin typeface="Calibri"/>
              </a:rPr>
              <a:t>«Cuando mostraron la pantalla, no encontré cómo volver» dice más que «la navegación está confusa». </a:t>
            </a:r>
            <a:r>
              <a:rPr sz="1200" b="1" i="0">
                <a:solidFill>
                  <a:srgbClr val="333333"/>
                </a:solidFill>
                <a:latin typeface="Calibri"/>
              </a:rPr>
              <a:t>Lo observable se puede arreglar; una impresión no.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57200" y="3445459"/>
            <a:ext cx="11277295" cy="908913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594360" y="3680460"/>
            <a:ext cx="438912" cy="438912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94360" y="3680460"/>
            <a:ext cx="438912" cy="43891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188720" y="3536899"/>
            <a:ext cx="10271455" cy="744321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1" i="0">
                <a:solidFill>
                  <a:srgbClr val="095292"/>
                </a:solidFill>
                <a:latin typeface="Calibri"/>
              </a:rPr>
              <a:t>3 · Diga qué esperaba</a:t>
            </a:r>
          </a:p>
          <a:p>
            <a:pPr>
              <a:spcBef>
                <a:spcPts val="200"/>
              </a:spcBef>
            </a:pPr>
            <a:r>
              <a:rPr sz="1300" b="0" i="0">
                <a:solidFill>
                  <a:srgbClr val="333333"/>
                </a:solidFill>
                <a:latin typeface="Calibri"/>
              </a:rPr>
              <a:t>«Yo esperaba que el estado dijera cuándo vuelve.» Su expectativa es un dato, y no obliga a nadie: es información, no una orden.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57200" y="4445812"/>
            <a:ext cx="11277295" cy="908913"/>
          </a:xfrm>
          <a:prstGeom prst="roundRect">
            <a:avLst>
              <a:gd name="adj" fmla="val 12000"/>
            </a:avLst>
          </a:prstGeom>
          <a:solidFill>
            <a:srgbClr val="E8F4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594360" y="4680813"/>
            <a:ext cx="438912" cy="438912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94360" y="4680813"/>
            <a:ext cx="438912" cy="43891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188720" y="4537252"/>
            <a:ext cx="10271455" cy="744321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1" i="0">
                <a:solidFill>
                  <a:srgbClr val="095292"/>
                </a:solidFill>
                <a:latin typeface="Calibri"/>
              </a:rPr>
              <a:t>4 · Una sola cosa, la más importante</a:t>
            </a:r>
          </a:p>
          <a:p>
            <a:pPr>
              <a:spcBef>
                <a:spcPts val="200"/>
              </a:spcBef>
            </a:pPr>
            <a:r>
              <a:rPr sz="1300" b="0" i="0">
                <a:solidFill>
                  <a:srgbClr val="333333"/>
                </a:solidFill>
                <a:latin typeface="Calibri"/>
              </a:rPr>
              <a:t>Cinco comentarios en tres minutos no se aplican. Uno bien dicho, sí. Elija el que más le cambiaría el proyecto al otro equipo.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457200" y="5446166"/>
            <a:ext cx="11277295" cy="908913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594360" y="5681167"/>
            <a:ext cx="438912" cy="438912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594360" y="5681167"/>
            <a:ext cx="438912" cy="43891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5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188720" y="5537606"/>
            <a:ext cx="10271455" cy="744321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1" i="0">
                <a:solidFill>
                  <a:srgbClr val="095292"/>
                </a:solidFill>
                <a:latin typeface="Calibri"/>
              </a:rPr>
              <a:t>5 · Sobre el trabajo, nunca sobre la persona</a:t>
            </a:r>
          </a:p>
          <a:p>
            <a:pPr>
              <a:spcBef>
                <a:spcPts val="200"/>
              </a:spcBef>
            </a:pPr>
            <a:r>
              <a:rPr sz="1300" b="0" i="0">
                <a:solidFill>
                  <a:srgbClr val="333333"/>
                </a:solidFill>
                <a:latin typeface="Calibri"/>
              </a:rPr>
              <a:t>«Este texto no lo entendí» y no «no supieron escribirlo». Es la diferencia entre un equipo que escucha y un equipo que se defiende.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Tres trampas de la retroalimentación entre pares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261872"/>
            <a:ext cx="11277295" cy="1051560"/>
          </a:xfrm>
          <a:prstGeom prst="roundRect">
            <a:avLst>
              <a:gd name="adj" fmla="val 12000"/>
            </a:avLst>
          </a:prstGeom>
          <a:solidFill>
            <a:srgbClr val="FBE4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" y="1261872"/>
            <a:ext cx="128016" cy="1051560"/>
          </a:xfrm>
          <a:prstGeom prst="rect">
            <a:avLst/>
          </a:prstGeom>
          <a:solidFill>
            <a:srgbClr val="A020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1399031"/>
            <a:ext cx="10774375" cy="8229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 i="0">
                <a:solidFill>
                  <a:srgbClr val="A02030"/>
                </a:solidFill>
                <a:latin typeface="Calibri"/>
              </a:rPr>
              <a:t>Atención</a:t>
            </a:r>
          </a:p>
          <a:p>
            <a:pPr>
              <a:spcBef>
                <a:spcPts val="400"/>
              </a:spcBef>
            </a:pPr>
            <a:r>
              <a:rPr sz="1400" b="1" i="0">
                <a:solidFill>
                  <a:srgbClr val="333333"/>
                </a:solidFill>
                <a:latin typeface="Calibri"/>
              </a:rPr>
              <a:t>El elogio vacío.</a:t>
            </a:r>
            <a:r>
              <a:rPr sz="1400" b="0" i="0">
                <a:solidFill>
                  <a:srgbClr val="333333"/>
                </a:solidFill>
                <a:latin typeface="Calibri"/>
              </a:rPr>
              <a:t> «Está muy bien, me gustó mucho» no es retroalimentación: es amabilidad, y no le sirve a nadie. Si de verdad algo está bien, diga </a:t>
            </a:r>
            <a:r>
              <a:rPr sz="1400" b="1" i="0">
                <a:solidFill>
                  <a:srgbClr val="333333"/>
                </a:solidFill>
                <a:latin typeface="Calibri"/>
              </a:rPr>
              <a:t>qué</a:t>
            </a:r>
            <a:r>
              <a:rPr sz="1400" b="0" i="0">
                <a:solidFill>
                  <a:srgbClr val="333333"/>
                </a:solidFill>
                <a:latin typeface="Calibri"/>
              </a:rPr>
              <a:t> y </a:t>
            </a:r>
            <a:r>
              <a:rPr sz="1400" b="1" i="0">
                <a:solidFill>
                  <a:srgbClr val="333333"/>
                </a:solidFill>
                <a:latin typeface="Calibri"/>
              </a:rPr>
              <a:t>por qué</a:t>
            </a:r>
            <a:r>
              <a:rPr sz="1400" b="0" i="0">
                <a:solidFill>
                  <a:srgbClr val="333333"/>
                </a:solidFill>
                <a:latin typeface="Calibri"/>
              </a:rPr>
              <a:t> — «el mensaje de error me dijo qué hacer» es un elogio útil, porque el otro equipo aprende qué conservar.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57200" y="2478024"/>
            <a:ext cx="11277295" cy="1051560"/>
          </a:xfrm>
          <a:prstGeom prst="roundRect">
            <a:avLst>
              <a:gd name="adj" fmla="val 12000"/>
            </a:avLst>
          </a:prstGeom>
          <a:solidFill>
            <a:srgbClr val="FBE4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57200" y="2478024"/>
            <a:ext cx="128016" cy="1051560"/>
          </a:xfrm>
          <a:prstGeom prst="rect">
            <a:avLst/>
          </a:prstGeom>
          <a:solidFill>
            <a:srgbClr val="A020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77240" y="2615184"/>
            <a:ext cx="10774375" cy="8229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 i="0">
                <a:solidFill>
                  <a:srgbClr val="A02030"/>
                </a:solidFill>
                <a:latin typeface="Calibri"/>
              </a:rPr>
              <a:t>Atención</a:t>
            </a:r>
          </a:p>
          <a:p>
            <a:pPr>
              <a:spcBef>
                <a:spcPts val="400"/>
              </a:spcBef>
            </a:pPr>
            <a:r>
              <a:rPr sz="1400" b="1" i="0">
                <a:solidFill>
                  <a:srgbClr val="333333"/>
                </a:solidFill>
                <a:latin typeface="Calibri"/>
              </a:rPr>
              <a:t>Rediseñar el proyecto ajeno.</a:t>
            </a:r>
            <a:r>
              <a:rPr sz="1400" b="0" i="0">
                <a:solidFill>
                  <a:srgbClr val="333333"/>
                </a:solidFill>
                <a:latin typeface="Calibri"/>
              </a:rPr>
              <a:t> Aparece siempre: «yo lo habría hecho con una aplicación». No es retroalimentación al avance, es otro proyecto. El otro equipo tomó decisiones documentadas en las sesiones 6 a 11 que usted no vio; </a:t>
            </a:r>
            <a:r>
              <a:rPr sz="1400" b="1" i="0">
                <a:solidFill>
                  <a:srgbClr val="333333"/>
                </a:solidFill>
                <a:latin typeface="Calibri"/>
              </a:rPr>
              <a:t>hable de lo que se presentó, no de lo que usted haría</a:t>
            </a:r>
            <a:r>
              <a:rPr sz="1400" b="0" i="0">
                <a:solidFill>
                  <a:srgbClr val="333333"/>
                </a:solidFill>
                <a:latin typeface="Calibri"/>
              </a:rPr>
              <a:t>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" y="3694176"/>
            <a:ext cx="11277295" cy="1051560"/>
          </a:xfrm>
          <a:prstGeom prst="roundRect">
            <a:avLst>
              <a:gd name="adj" fmla="val 12000"/>
            </a:avLst>
          </a:prstGeom>
          <a:solidFill>
            <a:srgbClr val="FFF8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57200" y="3694176"/>
            <a:ext cx="128016" cy="1051560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77240" y="3831336"/>
            <a:ext cx="10774375" cy="8229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 i="0">
                <a:solidFill>
                  <a:srgbClr val="FFD000"/>
                </a:solidFill>
                <a:latin typeface="Calibri"/>
              </a:rPr>
              <a:t>Aclaración</a:t>
            </a:r>
          </a:p>
          <a:p>
            <a:pPr>
              <a:spcBef>
                <a:spcPts val="400"/>
              </a:spcBef>
            </a:pPr>
            <a:r>
              <a:rPr sz="1400" b="1" i="0">
                <a:solidFill>
                  <a:srgbClr val="333333"/>
                </a:solidFill>
                <a:latin typeface="Calibri"/>
              </a:rPr>
              <a:t>Tomarlo personal.</a:t>
            </a:r>
            <a:r>
              <a:rPr sz="1400" b="0" i="0">
                <a:solidFill>
                  <a:srgbClr val="333333"/>
                </a:solidFill>
                <a:latin typeface="Calibri"/>
              </a:rPr>
              <a:t> Recibir es más difícil que dar. Regla mientras les hablan: </a:t>
            </a:r>
            <a:r>
              <a:rPr sz="1400" b="1" i="0">
                <a:solidFill>
                  <a:srgbClr val="333333"/>
                </a:solidFill>
                <a:latin typeface="Calibri"/>
              </a:rPr>
              <a:t>anotar, no responder.</a:t>
            </a:r>
            <a:r>
              <a:rPr sz="1400" b="0" i="0">
                <a:solidFill>
                  <a:srgbClr val="333333"/>
                </a:solidFill>
                <a:latin typeface="Calibri"/>
              </a:rPr>
              <a:t> Solo se pregunta para entender —«¿en qué momento se perdió?»—. Defenderse en vivo desperdicia los únicos tres minutos gratis de revisión externa que van a tener antes de la nota.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70432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70432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Taller de hoy: Ficha de avance y plan de ajustes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66928"/>
            <a:ext cx="11277295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0" i="0">
                <a:solidFill>
                  <a:srgbClr val="B8D8EE"/>
                </a:solidFill>
                <a:latin typeface="Calibri"/>
              </a:rPr>
              <a:t>12 min en equipos · 12 min: hallazgos, clasificación, decisión y la pregunta al curso · ficha de avance de 5 bloques, con el plan de ajustes al cerrar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472184"/>
            <a:ext cx="11277295" cy="566928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40080" y="1618487"/>
            <a:ext cx="274320" cy="274320"/>
          </a:xfrm>
          <a:prstGeom prst="rect">
            <a:avLst/>
          </a:prstGeom>
          <a:solidFill>
            <a:srgbClr val="FFFFFF"/>
          </a:solidFill>
          <a:ln>
            <a:solidFill>
              <a:srgbClr val="3333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640080" y="1618487"/>
            <a:ext cx="73152" cy="274320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97280" y="1563624"/>
            <a:ext cx="10362895" cy="402336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1" i="0">
                <a:solidFill>
                  <a:srgbClr val="333333"/>
                </a:solidFill>
                <a:latin typeface="Calibri"/>
              </a:rPr>
              <a:t>LOS TRES HALLAZGOS</a:t>
            </a:r>
            <a:r>
              <a:rPr sz="1500" b="0" i="0">
                <a:solidFill>
                  <a:srgbClr val="333333"/>
                </a:solidFill>
                <a:latin typeface="Calibri"/>
              </a:rPr>
              <a:t> — Tres tropiezos de la prueba, escritos como </a:t>
            </a:r>
            <a:r>
              <a:rPr sz="1500" b="1" i="0">
                <a:solidFill>
                  <a:srgbClr val="333333"/>
                </a:solidFill>
                <a:latin typeface="Calibri"/>
              </a:rPr>
              <a:t>lo que la persona hizo o preguntó</a:t>
            </a:r>
            <a:r>
              <a:rPr sz="1500" b="0" i="0">
                <a:solidFill>
                  <a:srgbClr val="333333"/>
                </a:solidFill>
                <a:latin typeface="Calibri"/>
              </a:rPr>
              <a:t> — no como lo que dijo al final, y no como la solución.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57200" y="2148839"/>
            <a:ext cx="11277295" cy="566928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40080" y="2295144"/>
            <a:ext cx="274320" cy="274320"/>
          </a:xfrm>
          <a:prstGeom prst="rect">
            <a:avLst/>
          </a:prstGeom>
          <a:solidFill>
            <a:srgbClr val="FFFFFF"/>
          </a:solidFill>
          <a:ln>
            <a:solidFill>
              <a:srgbClr val="3333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40080" y="2295144"/>
            <a:ext cx="73152" cy="274320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97280" y="2240279"/>
            <a:ext cx="10362895" cy="402336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1" i="0">
                <a:solidFill>
                  <a:srgbClr val="333333"/>
                </a:solidFill>
                <a:latin typeface="Calibri"/>
              </a:rPr>
              <a:t>LA CLASIFICACIÓN Y EL PATRÓN</a:t>
            </a:r>
            <a:r>
              <a:rPr sz="1500" b="0" i="0">
                <a:solidFill>
                  <a:srgbClr val="333333"/>
                </a:solidFill>
                <a:latin typeface="Calibri"/>
              </a:rPr>
              <a:t> — El tipo de cada hallazgo —lenguaje, flujo, expectativa o suposición nuestra— y si se repitió en más de una persona.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57200" y="2825496"/>
            <a:ext cx="11277295" cy="566928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40080" y="2971800"/>
            <a:ext cx="274320" cy="274320"/>
          </a:xfrm>
          <a:prstGeom prst="rect">
            <a:avLst/>
          </a:prstGeom>
          <a:solidFill>
            <a:srgbClr val="FFFFFF"/>
          </a:solidFill>
          <a:ln>
            <a:solidFill>
              <a:srgbClr val="3333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40080" y="2971800"/>
            <a:ext cx="73152" cy="274320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97280" y="2916936"/>
            <a:ext cx="10362895" cy="402336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1" i="0">
                <a:solidFill>
                  <a:srgbClr val="333333"/>
                </a:solidFill>
                <a:latin typeface="Calibri"/>
              </a:rPr>
              <a:t>QUÉ ARREGLAMOS Y QUÉ NO</a:t>
            </a:r>
            <a:r>
              <a:rPr sz="1500" b="0" i="0">
                <a:solidFill>
                  <a:srgbClr val="333333"/>
                </a:solidFill>
                <a:latin typeface="Calibri"/>
              </a:rPr>
              <a:t> — Lo que se arregla antes de la sesión 14, y </a:t>
            </a:r>
            <a:r>
              <a:rPr sz="1500" b="1" i="0">
                <a:solidFill>
                  <a:srgbClr val="333333"/>
                </a:solidFill>
                <a:latin typeface="Calibri"/>
              </a:rPr>
              <a:t>lo que no se arregla con su razón</a:t>
            </a:r>
            <a:r>
              <a:rPr sz="1500" b="0" i="0">
                <a:solidFill>
                  <a:srgbClr val="333333"/>
                </a:solidFill>
                <a:latin typeface="Calibri"/>
              </a:rPr>
              <a:t>: fuera del alcance, no alcanza el tiempo, o cambia una restricción.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57200" y="3502152"/>
            <a:ext cx="11277295" cy="566928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640080" y="3648456"/>
            <a:ext cx="274320" cy="274320"/>
          </a:xfrm>
          <a:prstGeom prst="rect">
            <a:avLst/>
          </a:prstGeom>
          <a:solidFill>
            <a:srgbClr val="FFFFFF"/>
          </a:solidFill>
          <a:ln>
            <a:solidFill>
              <a:srgbClr val="3333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640080" y="3648456"/>
            <a:ext cx="73152" cy="274320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097280" y="3593592"/>
            <a:ext cx="10362895" cy="402336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1" i="0">
                <a:solidFill>
                  <a:srgbClr val="333333"/>
                </a:solidFill>
                <a:latin typeface="Calibri"/>
              </a:rPr>
              <a:t>LA PREGUNTA PARA EL CURSO</a:t>
            </a:r>
            <a:r>
              <a:rPr sz="1500" b="0" i="0">
                <a:solidFill>
                  <a:srgbClr val="333333"/>
                </a:solidFill>
                <a:latin typeface="Calibri"/>
              </a:rPr>
              <a:t> — Una pregunta abierta, concreta, sobre una decisión que el equipo no logra tomar. Es lo que hace útiles los tres minutos de retroalimentación.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457200" y="4178808"/>
            <a:ext cx="11277295" cy="566928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40080" y="4325112"/>
            <a:ext cx="274320" cy="274320"/>
          </a:xfrm>
          <a:prstGeom prst="rect">
            <a:avLst/>
          </a:prstGeom>
          <a:solidFill>
            <a:srgbClr val="FFFFFF"/>
          </a:solidFill>
          <a:ln>
            <a:solidFill>
              <a:srgbClr val="3333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640080" y="4325112"/>
            <a:ext cx="73152" cy="274320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097280" y="4270248"/>
            <a:ext cx="10362895" cy="402336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1" i="0">
                <a:solidFill>
                  <a:srgbClr val="333333"/>
                </a:solidFill>
                <a:latin typeface="Calibri"/>
              </a:rPr>
              <a:t>EL PLAN DE AJUSTES</a:t>
            </a:r>
            <a:r>
              <a:rPr sz="1500" b="0" i="0">
                <a:solidFill>
                  <a:srgbClr val="333333"/>
                </a:solidFill>
                <a:latin typeface="Calibri"/>
              </a:rPr>
              <a:t> — Las </a:t>
            </a:r>
            <a:r>
              <a:rPr sz="1500" b="1" i="0">
                <a:solidFill>
                  <a:srgbClr val="333333"/>
                </a:solidFill>
                <a:latin typeface="Calibri"/>
              </a:rPr>
              <a:t>dos cosas</a:t>
            </a:r>
            <a:r>
              <a:rPr sz="1500" b="0" i="0">
                <a:solidFill>
                  <a:srgbClr val="333333"/>
                </a:solidFill>
                <a:latin typeface="Calibri"/>
              </a:rPr>
              <a:t> que el equipo va a ajustar con lo que oyó en la retroalimentación, y </a:t>
            </a:r>
            <a:r>
              <a:rPr sz="1500" b="1" i="0">
                <a:solidFill>
                  <a:srgbClr val="333333"/>
                </a:solidFill>
                <a:latin typeface="Calibri"/>
              </a:rPr>
              <a:t>qué lo motivó</a:t>
            </a:r>
            <a:r>
              <a:rPr sz="1500" b="0" i="0">
                <a:solidFill>
                  <a:srgbClr val="333333"/>
                </a:solidFill>
                <a:latin typeface="Calibri"/>
              </a:rPr>
              <a:t>: quién lo dijo y qué dijo. Se llena en los últimos minutos de la sesión, no antes.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70432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70432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Cómo se expone en 5 minutos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66928"/>
            <a:ext cx="11277295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0" i="0">
                <a:solidFill>
                  <a:srgbClr val="B8D8EE"/>
                </a:solidFill>
                <a:latin typeface="Calibri"/>
              </a:rPr>
              <a:t>Habla el vocero con la pantalla ya compartida · cronómetro en pantalla · se corta al llegar a cero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444752"/>
            <a:ext cx="11277295" cy="908913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594360" y="1679752"/>
            <a:ext cx="438912" cy="438912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94360" y="1679752"/>
            <a:ext cx="438912" cy="43891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88720" y="1536192"/>
            <a:ext cx="10271455" cy="744321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1" i="0">
                <a:solidFill>
                  <a:srgbClr val="095292"/>
                </a:solidFill>
                <a:latin typeface="Calibri"/>
              </a:rPr>
              <a:t>30 s · Recordatorio mínimo</a:t>
            </a:r>
          </a:p>
          <a:p>
            <a:pPr>
              <a:spcBef>
                <a:spcPts val="200"/>
              </a:spcBef>
            </a:pPr>
            <a:r>
              <a:rPr sz="1300" b="0" i="0">
                <a:solidFill>
                  <a:srgbClr val="333333"/>
                </a:solidFill>
                <a:latin typeface="Calibri"/>
              </a:rPr>
              <a:t>El problema en </a:t>
            </a:r>
            <a:r>
              <a:rPr sz="1300" b="1" i="0">
                <a:solidFill>
                  <a:srgbClr val="333333"/>
                </a:solidFill>
                <a:latin typeface="Calibri"/>
              </a:rPr>
              <a:t>una frase</a:t>
            </a:r>
            <a:r>
              <a:rPr sz="1300" b="0" i="0">
                <a:solidFill>
                  <a:srgbClr val="333333"/>
                </a:solidFill>
                <a:latin typeface="Calibri"/>
              </a:rPr>
              <a:t>. Nada más: el curso ya conoce su proyecto.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57200" y="2445105"/>
            <a:ext cx="11277295" cy="908913"/>
          </a:xfrm>
          <a:prstGeom prst="roundRect">
            <a:avLst>
              <a:gd name="adj" fmla="val 12000"/>
            </a:avLst>
          </a:prstGeom>
          <a:solidFill>
            <a:srgbClr val="E8F4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594360" y="2680106"/>
            <a:ext cx="438912" cy="438912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94360" y="2680106"/>
            <a:ext cx="438912" cy="43891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88720" y="2536545"/>
            <a:ext cx="10271455" cy="744321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1" i="0">
                <a:solidFill>
                  <a:srgbClr val="095292"/>
                </a:solidFill>
                <a:latin typeface="Calibri"/>
              </a:rPr>
              <a:t>2 min · Los tres hallazgos</a:t>
            </a:r>
          </a:p>
          <a:p>
            <a:pPr>
              <a:spcBef>
                <a:spcPts val="200"/>
              </a:spcBef>
            </a:pPr>
            <a:r>
              <a:rPr sz="1300" b="0" i="0">
                <a:solidFill>
                  <a:srgbClr val="333333"/>
                </a:solidFill>
                <a:latin typeface="Calibri"/>
              </a:rPr>
              <a:t>Lo que la persona </a:t>
            </a:r>
            <a:r>
              <a:rPr sz="1300" b="1" i="0">
                <a:solidFill>
                  <a:srgbClr val="333333"/>
                </a:solidFill>
                <a:latin typeface="Calibri"/>
              </a:rPr>
              <a:t>hizo</a:t>
            </a:r>
            <a:r>
              <a:rPr sz="1300" b="0" i="0">
                <a:solidFill>
                  <a:srgbClr val="333333"/>
                </a:solidFill>
                <a:latin typeface="Calibri"/>
              </a:rPr>
              <a:t>. Es el corazón del avance.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57200" y="3445459"/>
            <a:ext cx="11277295" cy="908913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594360" y="3680460"/>
            <a:ext cx="438912" cy="438912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94360" y="3680460"/>
            <a:ext cx="438912" cy="43891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188720" y="3536899"/>
            <a:ext cx="10271455" cy="744321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1" i="0">
                <a:solidFill>
                  <a:srgbClr val="095292"/>
                </a:solidFill>
                <a:latin typeface="Calibri"/>
              </a:rPr>
              <a:t>1 min · Qué arreglan y qué no</a:t>
            </a:r>
          </a:p>
          <a:p>
            <a:pPr>
              <a:spcBef>
                <a:spcPts val="200"/>
              </a:spcBef>
            </a:pPr>
            <a:r>
              <a:rPr sz="1300" b="0" i="0">
                <a:solidFill>
                  <a:srgbClr val="333333"/>
                </a:solidFill>
                <a:latin typeface="Calibri"/>
              </a:rPr>
              <a:t>Y por qué lo que queda fuera queda fuera.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57200" y="4445812"/>
            <a:ext cx="11277295" cy="908913"/>
          </a:xfrm>
          <a:prstGeom prst="roundRect">
            <a:avLst>
              <a:gd name="adj" fmla="val 12000"/>
            </a:avLst>
          </a:prstGeom>
          <a:solidFill>
            <a:srgbClr val="E8F4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594360" y="4680813"/>
            <a:ext cx="438912" cy="438912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94360" y="4680813"/>
            <a:ext cx="438912" cy="43891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188720" y="4537252"/>
            <a:ext cx="10271455" cy="744321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1" i="0">
                <a:solidFill>
                  <a:srgbClr val="095292"/>
                </a:solidFill>
                <a:latin typeface="Calibri"/>
              </a:rPr>
              <a:t>1 min · La pregunta para el curso</a:t>
            </a:r>
          </a:p>
          <a:p>
            <a:pPr>
              <a:spcBef>
                <a:spcPts val="200"/>
              </a:spcBef>
            </a:pPr>
            <a:r>
              <a:rPr sz="1300" b="0" i="0">
                <a:solidFill>
                  <a:srgbClr val="333333"/>
                </a:solidFill>
                <a:latin typeface="Calibri"/>
              </a:rPr>
              <a:t>Con las dos alternativas que están considerando.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457200" y="5446166"/>
            <a:ext cx="11277295" cy="908913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594360" y="5681167"/>
            <a:ext cx="438912" cy="438912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594360" y="5681167"/>
            <a:ext cx="438912" cy="43891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5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188720" y="5537606"/>
            <a:ext cx="10271455" cy="744321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1" i="0">
                <a:solidFill>
                  <a:srgbClr val="095292"/>
                </a:solidFill>
                <a:latin typeface="Calibri"/>
              </a:rPr>
              <a:t>30 s · Cierre</a:t>
            </a:r>
          </a:p>
          <a:p>
            <a:pPr>
              <a:spcBef>
                <a:spcPts val="200"/>
              </a:spcBef>
            </a:pPr>
            <a:r>
              <a:rPr sz="1300" b="0" i="0">
                <a:solidFill>
                  <a:srgbClr val="333333"/>
                </a:solidFill>
                <a:latin typeface="Calibri"/>
              </a:rPr>
              <a:t>Qué van a tener listo para la sesión 14.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Para la sesión 13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Trabajo dirigido: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Retroalimentación y ajustes — aplicar al prototipo los ajustes comprometidos en el muro, y dejar en el documento del equipo la ficha de avance completa con la lista de lo que no se arregla.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Trabajo independiente: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Revisión entre pares: leer el documento de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otro equipo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(el docente asigna la pareja) y dejarle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dos observaciones escritas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con el formato de hoy — observación y expectativa, una sola cosa importante cada una.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Sesión 13 · Evaluación de impacto social y ambiental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— vemos el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impacto social y ambiental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del proyecto: a quién más afecta esto aunque no lo use, y cómo se mide.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Aviso: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Traigan a la sesión 13 el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listado de actores no usuarios de la sesión 3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y el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indicador ambiental de la sesión 5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: los dos se usan directamente en el taller. Si los perdieron, recupérenlos del documento del equipo antes de la sesión.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Antes de salir: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el enlace del documento del equipo en el chat, con permiso de lectura para el docente, y el nombre del vocero de hoy.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12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_uniajc_colo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271455" y="5998464"/>
            <a:ext cx="1463040" cy="643233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57200" y="1737360"/>
            <a:ext cx="11277295" cy="109728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3400" b="1" i="0">
                <a:solidFill>
                  <a:srgbClr val="095292"/>
                </a:solidFill>
                <a:latin typeface="Calibri"/>
              </a:rPr>
              <a:t>Nos vemos en la sesión 13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017520"/>
            <a:ext cx="11277295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6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Presentación de avances de proyectos · Clase 12</a:t>
            </a:r>
          </a:p>
          <a:p>
            <a:pPr algn="ctr">
              <a:spcAft>
                <a:spcPts val="6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FI300101 · UNIAJC · Ingeniería de Sistemas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4754880"/>
            <a:ext cx="1127729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 i="0">
                <a:solidFill>
                  <a:srgbClr val="269CCB"/>
                </a:solidFill>
                <a:latin typeface="Calibri"/>
              </a:rPr>
              <a:t>La persona que prueba nunca se equivoca: si se perdió, el diseño la perdió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