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Muestre que la columna de la izquierda describe lo que la persona hizo, no lo que el equipo opina. Solo el primero es patrón, y es el arreglo más barato: un texto.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línea de la derecha corresponde a un paso: pregunta, observación, expectativa. Ninguna rediseña el proyecto ajeno.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«NO, AHÍ NO, TOCA ACÁ»</a:t>
            </a:r>
          </a:p>
          <a:p/>
          <a:p>
            <a:r>
              <a:t>El gancho de hoy funciona porque todos los equipos van a reconocerse en él. Le pidieron a alguien ajeno que usara el prototipo y, casi con seguridad, en algún momento intervinieron: «no, ahí no, toca acá». Esa frase es el dato más valioso que el equipo tiene hoy, y viene disfrazada de incomodidad.</a:t>
            </a:r>
          </a:p>
          <a:p/>
          <a:p>
            <a:r>
              <a:t>El giro que hay que hacer explícito, y que es el eje de la sesión: cada intervención es un hallazgo, no un error de la persona. Si tuvieron que explicar algo, el prototipo no lo explicaba. Y en la vida real nadie va a estar al lado del usuario para aclarárselo. Vale la pena decirlo con una frase que se les quede: la persona que prueba nunca se equivoca; si se perdió, el diseño la perdió.</a:t>
            </a:r>
          </a:p>
          <a:p/>
          <a:p>
            <a:r>
              <a:t>Aproveche la apertura para tomar el pulso operativo: en el muro, cada equipo escribe cuántas veces tuvo que intervenir. Ese número, además de romper el hielo, le dice de inmediato quién hizo la prueba y quién no. Un equipo que responde «ninguna, quedó perfecto» casi siempre no probó, o probó con la mamá de un integrante mientras le explicaba todo.</a:t>
            </a:r>
          </a:p>
          <a:p/>
          <a:p>
            <a:r>
              <a:t>Y aquí conviene ser directo, porque es la primera sesión del corte 3 y las reglas se fijan hoy: un equipo que no hizo la prueba no tiene avance que presentar. No se le puede improvisar retroalimentación a un avance inexistente. Si ocurre, dígalo, deje que expongan lo que tengan y que hagan la prueba antes de la Clase 13 — pero que quede claro que arrancaron el corte con desventaja.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HIZO VALE MÁS QUE LO QUE DIJO, Y EL PATRÓN VALE MÁS QUE EL CASO</a:t>
            </a:r>
          </a:p>
          <a:p/>
          <a:p>
            <a:r>
              <a:t>Paso 1: separar lo que hizo de lo que dijo. Esta es la idea central y hay que insistir en ella. Cuando alguien prueba el trabajo de un amigo, es amable: dice que estaba claro, que le gustó, que es intuitivo. Y sin embargo dudó cinco segundos frente a un botón, se equivocó de pantalla y preguntó qué significaba una palabra. Lo que hizo es el dato; lo que dijo es cortesía. No es que la persona mienta: es que nadie quiere hacer sentir mal a quien le muestra algo con orgullo. Por eso en la industria se observa y se cronometra, en vez de preguntar «¿le gustó?» — exactamente la trampa que vieron en la sesión 8.</a:t>
            </a:r>
          </a:p>
          <a:p/>
          <a:p>
            <a:r>
              <a:t>Paso 2: escribir el tropiezo, no la solución. Los estudiantes van a saltar directo a arreglar. Hay que frenarlos: «buscó el botón de volver arriba» es un hecho; «hay que poner un botón arriba» es una conclusión que quizá no sea la mejor. Si se anota la conclusión y se pierde el hecho, ya no se puede pensar de nuevo.</a:t>
            </a:r>
          </a:p>
          <a:p/>
          <a:p>
            <a:r>
              <a:t>Pasos 3 y 4: clasificar y buscar el patrón. La tabla de los cuatro tipos es la herramienta de la sesión, y su valor es que cada tipo se arregla con un trabajo distinto y a un costo distinto. Un hallazgo de lenguaje se arregla cambiando una palabra: es el arreglo más barato que existe y el que más rinde, lo cual conecta con el bloque de textos reales de la sesión 10. Uno de flujo exige reordenar pantallas. Uno de expectativa muchas veces no se arregla, porque está fuera del alcance de la sesión 8, pero obliga a que el prototipo lo diga en vez de callarlo. Y uno de suposición nuestra es el más caro y el más valioso: descubrir que dábamos por obvio que el usuario tiene datos móviles, o que sabe leer una tabla, cambia una restricción del proyecto.</a:t>
            </a:r>
          </a:p>
          <a:p/>
          <a:p>
            <a:r>
              <a:t>Sobre el patrón, dé el criterio operativo sin pretensiones de rigor estadístico: un tropiezo en una persona puede ser casualidad; el mismo tropiezo en dos de tres personas es un defecto de diseño. Con tres o cinco pruebas no se hace estadística, y hay que decirlo — pero sí se hace ingeniería: la práctica profesional de pruebas de usabilidad trabaja con muy pocos usuarios justamente porque los defectos gruesos aparecen con los primeros. Si algún equipo probó con una sola persona, dígale que el hallazgo sigue valiendo, pero que no sabe si es patrón.</a:t>
            </a:r>
          </a:p>
          <a:p/>
          <a:p>
            <a:r>
              <a:t>Paso 5: decidir qué no se arregla. Es el paso que separa a un equipo que entendió el curso de uno que no. No todo cabe antes de la Clase 14, y lo que se deja fuera se escribe con su razón. Eso ya lo practicaron con el alcance mínimo de la sesión 8 y con los descartes de la sesión 11: es la misma disciplina.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HIZO VALE MÁS QUE LO QUE DIJO, Y EL PATRÓN VALE MÁS QUE EL CASO</a:t>
            </a:r>
          </a:p>
          <a:p/>
          <a:p>
            <a:r>
              <a:t>Paso 1: separar lo que hizo de lo que dijo. Esta es la idea central y hay que insistir en ella. Cuando alguien prueba el trabajo de un amigo, es amable: dice que estaba claro, que le gustó, que es intuitivo. Y sin embargo dudó cinco segundos frente a un botón, se equivocó de pantalla y preguntó qué significaba una palabra. Lo que hizo es el dato; lo que dijo es cortesía. No es que la persona mienta: es que nadie quiere hacer sentir mal a quien le muestra algo con orgullo. Por eso en la industria se observa y se cronometra, en vez de preguntar «¿le gustó?» — exactamente la trampa que vieron en la sesión 8.</a:t>
            </a:r>
          </a:p>
          <a:p/>
          <a:p>
            <a:r>
              <a:t>Paso 2: escribir el tropiezo, no la solución. Los estudiantes van a saltar directo a arreglar. Hay que frenarlos: «buscó el botón de volver arriba» es un hecho; «hay que poner un botón arriba» es una conclusión que quizá no sea la mejor. Si se anota la conclusión y se pierde el hecho, ya no se puede pensar de nuevo.</a:t>
            </a:r>
          </a:p>
          <a:p/>
          <a:p>
            <a:r>
              <a:t>Pasos 3 y 4: clasificar y buscar el patrón. La tabla de los cuatro tipos es la herramienta de la sesión, y su valor es que cada tipo se arregla con un trabajo distinto y a un costo distinto. Un hallazgo de lenguaje se arregla cambiando una palabra: es el arreglo más barato que existe y el que más rinde, lo cual conecta con el bloque de textos reales de la sesión 10. Uno de flujo exige reordenar pantallas. Uno de expectativa muchas veces no se arregla, porque está fuera del alcance de la sesión 8, pero obliga a que el prototipo lo diga en vez de callarlo. Y uno de suposición nuestra es el más caro y el más valioso: descubrir que dábamos por obvio que el usuario tiene datos móviles, o que sabe leer una tabla, cambia una restricción del proyecto.</a:t>
            </a:r>
          </a:p>
          <a:p/>
          <a:p>
            <a:r>
              <a:t>Sobre el patrón, dé el criterio operativo sin pretensiones de rigor estadístico: un tropiezo en una persona puede ser casualidad; el mismo tropiezo en dos de tres personas es un defecto de diseño. Con tres o cinco pruebas no se hace estadística, y hay que decirlo — pero sí se hace ingeniería: la práctica profesional de pruebas de usabilidad trabaja con muy pocos usuarios justamente porque los defectos gruesos aparecen con los primeros. Si algún equipo probó con una sola persona, dígale que el hallazgo sigue valiendo, pero que no sabe si es patrón.</a:t>
            </a:r>
          </a:p>
          <a:p/>
          <a:p>
            <a:r>
              <a:t>Paso 5: decidir qué no se arregla. Es el paso que separa a un equipo que entendió el curso de uno que no. No todo cabe antes de la Clase 14, y lo que se deja fuera se escribe con su razón. Eso ya lo practicaron con el alcance mínimo de la sesión 8 y con los descartes de la sesión 11: es la misma disciplina.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UN AVANCE: CINCO MINUTOS QUE NO REPITEN NADA</a:t>
            </a:r>
          </a:p>
          <a:p/>
          <a:p>
            <a:r>
              <a:t>El error universal en una presentación de avance es empezar por el principio. El equipo vuelve a contar el problema, los actores, el árbol de causas y las seis fases, y cuando llega a lo interesante se le acabó el tiempo. Hay que cortarlo de raíz con un argumento simple: el curso ya conoce su proyecto, lleva cinco sesiones oyéndolo. Repetirlo es gastar los cinco minutos en lo único que ya no aporta.</a:t>
            </a:r>
          </a:p>
          <a:p/>
          <a:p>
            <a:r>
              <a:t>Lo que sí es un avance: los tres hallazgos de la prueba, contados por lo que la persona hizo. Eso es lo único que el curso no sabe, y por lo tanto lo único que vale la pena contar. Una frase útil para dárselo como regla: *en un avance se cuenta lo que cambió desde la última vez, no lo que se es.*</a:t>
            </a:r>
          </a:p>
          <a:p/>
          <a:p>
            <a:r>
              <a:t>Y una exigencia que cambia radicalmente la calidad de la sesión: cada avance tiene que traer una pregunta abierta. «Tenemos dos maneras de arreglar esto y no nos decidimos» convierte los tres minutos de retroalimentación en algo útil; sin pregunta, los otros equipos improvisan comentarios genéricos. Exíjala explícitamente al repartir el taller —es uno de los cuatro bloques de la ficha— y verá la diferencia.</a:t>
            </a:r>
          </a:p>
          <a:p/>
          <a:p>
            <a:r>
              <a:t>Por último, la parte incómoda: admitir lo pendiente. Los equipos tienden a maquillar el avance porque hay compañeros mirando. El argumento que funciona no es moral sino de conveniencia: esconder lo pendiente hoy es pagarlo en la Clase 15, cuando ya hay nota de por medio y ya no hay tiempo de arreglarlo. Hoy la retroalimentación es gratis; en la Clase 15 vale el 15 % del curso.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 Y RECIBIR: LA ÚNICA REVISIÓN EXTERNA GRATIS DEL SEMESTRE</a:t>
            </a:r>
          </a:p>
          <a:p/>
          <a:p>
            <a:r>
              <a:t>La retroalimentación entre pares no sale bien sola: sin reglas, un grupo de primer semestre produce diez minutos de «está muy bien, me gustó». Por eso hoy se enseña el formato, y conviene proyectarlo mientras exponen.</a:t>
            </a:r>
          </a:p>
          <a:p/>
          <a:p>
            <a:r>
              <a:t>El orden observación, expectativa, una sola cosa funciona por razones concretas. Empezar con una pregunta en vez de una opinión evita la mitad de los comentarios equivocados, porque muchas veces el equipo ya tenía una razón documentada: preguntar «¿por qué eligieron mostrar la fecha ahí?» y oír «porque la información no está al minuto y no queremos mentir» cierra el tema y además enseña al que preguntó. Describir lo observable —«no encontré cómo volver»— entrega algo que se puede arreglar, mientras que «la navegación está confusa» solo entrega una impresión. Decir qué esperaba aporta un dato sin dar una orden. Y limitarse a una sola cosa es aritmética: en tres minutos con cinco comentarios no se aplica ninguno.</a:t>
            </a:r>
          </a:p>
          <a:p/>
          <a:p>
            <a:r>
              <a:t>La regla de hablar del trabajo y no de la persona hay que enunciarla en voz alta la primera vez, porque marca el clima del corte 3 completo: «este texto no lo entendí» y no «no supieron escribirlo». Es la diferencia entre un equipo que escucha y un equipo que se defiende.</a:t>
            </a:r>
          </a:p>
          <a:p/>
          <a:p>
            <a:r>
              <a:t>De las tres trampas, la que más daño hace es rediseñar el proyecto ajeno: aparece siempre, en la forma de «yo lo habría hecho con una aplicación». Hay que cortarla con respeto y con argumento: el otro equipo tomó decisiones documentadas en las sesiones 6 a 11 que usted no vio, y la retroalimentación es al avance presentado, no al proyecto que usted haría. La segunda es el elogio vacío, que se arregla pidiendo el «qué» y el «por qué» —un elogio con razón sí es útil, porque le dice al equipo qué conservar—. Y la tercera es de quien recibe: anotar, no responder. Solo se pregunta para entender. Cierre con el argumento de peso: estos tres minutos son la única revisión externa gratis que van a tener antes de que la exposición valga nota; defenderse en vivo es tirarlos a la basura.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 Y RECIBIR: LA ÚNICA REVISIÓN EXTERNA GRATIS DEL SEMESTRE</a:t>
            </a:r>
          </a:p>
          <a:p/>
          <a:p>
            <a:r>
              <a:t>La retroalimentación entre pares no sale bien sola: sin reglas, un grupo de primer semestre produce diez minutos de «está muy bien, me gustó». Por eso hoy se enseña el formato, y conviene proyectarlo mientras exponen.</a:t>
            </a:r>
          </a:p>
          <a:p/>
          <a:p>
            <a:r>
              <a:t>El orden observación, expectativa, una sola cosa funciona por razones concretas. Empezar con una pregunta en vez de una opinión evita la mitad de los comentarios equivocados, porque muchas veces el equipo ya tenía una razón documentada: preguntar «¿por qué eligieron mostrar la fecha ahí?» y oír «porque la información no está al minuto y no queremos mentir» cierra el tema y además enseña al que preguntó. Describir lo observable —«no encontré cómo volver»— entrega algo que se puede arreglar, mientras que «la navegación está confusa» solo entrega una impresión. Decir qué esperaba aporta un dato sin dar una orden. Y limitarse a una sola cosa es aritmética: en tres minutos con cinco comentarios no se aplica ninguno.</a:t>
            </a:r>
          </a:p>
          <a:p/>
          <a:p>
            <a:r>
              <a:t>La regla de hablar del trabajo y no de la persona hay que enunciarla en voz alta la primera vez, porque marca el clima del corte 3 completo: «este texto no lo entendí» y no «no supieron escribirlo». Es la diferencia entre un equipo que escucha y un equipo que se defiende.</a:t>
            </a:r>
          </a:p>
          <a:p/>
          <a:p>
            <a:r>
              <a:t>De las tres trampas, la que más daño hace es rediseñar el proyecto ajeno: aparece siempre, en la forma de «yo lo habría hecho con una aplicación». Hay que cortarla con respeto y con argumento: el otro equipo tomó decisiones documentadas en las sesiones 6 a 11 que usted no vio, y la retroalimentación es al avance presentado, no al proyecto que usted haría. La segunda es el elogio vacío, que se arregla pidiendo el «qué» y el «por qué» —un elogio con razón sí es útil, porque le dice al equipo qué conservar—. Y la tercera es de quien recibe: anotar, no responder. Solo se pregunta para entender. Cierre con el argumento de peso: estos tres minutos son la única revisión externa gratis que van a tener antes de que la exposición valga nota; defenderse en vivo es tirarlos a la basura.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12</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Presentación de avances de proyectos</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Lo que falló cuando alguien de afuera usó su prototipo</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Arranca el corte 3. Hoy las exposiciones se llevan casi la mitad de la sesión, porque la retroalimentación del curso es el contenido y no el adorno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00:00–00:08 · 8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Apertura — Pregunta de entrada en el muro</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00:08–00:28 · 20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y guía del docente — Cómo se lee una prueba y cómo se da retroalimentación</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00:28–00:40 · 12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Actividad en equipos — Armar la ficha de avance con los hallazgos de la prueba</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00:40–01:20 · 40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Exposiciones y retroalimentación — 5 equipos × 8 min — 5 de avance y 3 de curso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01:20–01:30 · 10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Cierre — El plan de ajustes de cada equipo, en el muro</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100" b="1" i="1">
                <a:solidFill>
                  <a:srgbClr val="666666"/>
                </a:solidFill>
                <a:latin typeface="Calibri"/>
              </a:rPr>
              <a:t>Sesión distinta a las anteriores.</a:t>
            </a:r>
            <a:r>
              <a:rPr sz="1100" b="0" i="1">
                <a:solidFill>
                  <a:srgbClr val="666666"/>
                </a:solidFill>
                <a:latin typeface="Calibri"/>
              </a:rPr>
              <a:t> El bloque de exposiciones sube a 40 minutos: cada equipo tiene </a:t>
            </a:r>
            <a:r>
              <a:rPr sz="1100" b="1" i="1">
                <a:solidFill>
                  <a:srgbClr val="666666"/>
                </a:solidFill>
                <a:latin typeface="Calibri"/>
              </a:rPr>
              <a:t>5 minutos de avance y 3 minutos de retroalimentación del curso</a:t>
            </a:r>
            <a:r>
              <a:rPr sz="1100" b="0" i="1">
                <a:solidFill>
                  <a:srgbClr val="666666"/>
                </a:solidFill>
                <a:latin typeface="Calibri"/>
              </a:rPr>
              <a:t>. La actividad en equipos baja a 12 minutos porque el trabajo grueso —probar el prototipo con una persona ajena— </a:t>
            </a:r>
            <a:r>
              <a:rPr sz="1100" b="1" i="1">
                <a:solidFill>
                  <a:srgbClr val="666666"/>
                </a:solidFill>
                <a:latin typeface="Calibri"/>
              </a:rPr>
              <a:t>ya venía hecho de la sesión 11</a:t>
            </a:r>
            <a:r>
              <a:rPr sz="1100" b="0" i="1">
                <a:solidFill>
                  <a:srgbClr val="666666"/>
                </a:solidFill>
                <a:latin typeface="Calibri"/>
              </a:rPr>
              <a:t>. Un equipo que no hizo la prueba no tiene avance que presentar, y eso hay que decirlo en el minuto 2.</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Separar </a:t>
            </a:r>
            <a:r>
              <a:rPr sz="2000" b="1" i="0">
                <a:solidFill>
                  <a:srgbClr val="333333"/>
                </a:solidFill>
                <a:latin typeface="Calibri"/>
              </a:rPr>
              <a:t>lo que la persona hizo</a:t>
            </a:r>
            <a:r>
              <a:rPr sz="2000" b="0" i="0">
                <a:solidFill>
                  <a:srgbClr val="333333"/>
                </a:solidFill>
                <a:latin typeface="Calibri"/>
              </a:rPr>
              <a:t> de lo que la persona </a:t>
            </a:r>
            <a:r>
              <a:rPr sz="2000" b="1" i="0">
                <a:solidFill>
                  <a:srgbClr val="333333"/>
                </a:solidFill>
                <a:latin typeface="Calibri"/>
              </a:rPr>
              <a:t>dijo</a:t>
            </a:r>
            <a:r>
              <a:rPr sz="2000" b="0" i="0">
                <a:solidFill>
                  <a:srgbClr val="333333"/>
                </a:solidFill>
                <a:latin typeface="Calibri"/>
              </a:rPr>
              <a:t> en una prueba.</a:t>
            </a:r>
          </a:p>
          <a:p>
            <a:pPr>
              <a:spcAft>
                <a:spcPts val="800"/>
              </a:spcAft>
            </a:pPr>
            <a:r>
              <a:rPr sz="2000" b="0" i="0">
                <a:solidFill>
                  <a:srgbClr val="333333"/>
                </a:solidFill>
                <a:latin typeface="Calibri"/>
              </a:rPr>
              <a:t>–   Clasificar cada tropiezo por </a:t>
            </a:r>
            <a:r>
              <a:rPr sz="2000" b="1" i="0">
                <a:solidFill>
                  <a:srgbClr val="333333"/>
                </a:solidFill>
                <a:latin typeface="Calibri"/>
              </a:rPr>
              <a:t>tipo y gravedad</a:t>
            </a:r>
            <a:r>
              <a:rPr sz="2000" b="0" i="0">
                <a:solidFill>
                  <a:srgbClr val="333333"/>
                </a:solidFill>
                <a:latin typeface="Calibri"/>
              </a:rPr>
              <a:t>, y encontrar el </a:t>
            </a:r>
            <a:r>
              <a:rPr sz="2000" b="1" i="0">
                <a:solidFill>
                  <a:srgbClr val="333333"/>
                </a:solidFill>
                <a:latin typeface="Calibri"/>
              </a:rPr>
              <a:t>patrón</a:t>
            </a:r>
            <a:r>
              <a:rPr sz="2000" b="0" i="0">
                <a:solidFill>
                  <a:srgbClr val="333333"/>
                </a:solidFill>
                <a:latin typeface="Calibri"/>
              </a:rPr>
              <a:t>.</a:t>
            </a:r>
          </a:p>
          <a:p>
            <a:pPr>
              <a:spcAft>
                <a:spcPts val="800"/>
              </a:spcAft>
            </a:pPr>
            <a:r>
              <a:rPr sz="2000" b="0" i="0">
                <a:solidFill>
                  <a:srgbClr val="333333"/>
                </a:solidFill>
                <a:latin typeface="Calibri"/>
              </a:rPr>
              <a:t>–   Presentar un avance en 5 minutos: </a:t>
            </a:r>
            <a:r>
              <a:rPr sz="2000" b="1" i="0">
                <a:solidFill>
                  <a:srgbClr val="333333"/>
                </a:solidFill>
                <a:latin typeface="Calibri"/>
              </a:rPr>
              <a:t>el problema, lo que falló y la decisión pendiente</a:t>
            </a:r>
            <a:r>
              <a:rPr sz="2000" b="0" i="0">
                <a:solidFill>
                  <a:srgbClr val="333333"/>
                </a:solidFill>
                <a:latin typeface="Calibri"/>
              </a:rPr>
              <a:t>.</a:t>
            </a:r>
          </a:p>
          <a:p>
            <a:pPr>
              <a:spcAft>
                <a:spcPts val="800"/>
              </a:spcAft>
            </a:pPr>
            <a:r>
              <a:rPr sz="2000" b="0" i="0">
                <a:solidFill>
                  <a:srgbClr val="333333"/>
                </a:solidFill>
                <a:latin typeface="Calibri"/>
              </a:rPr>
              <a:t>–   Dar y recibir </a:t>
            </a:r>
            <a:r>
              <a:rPr sz="2000" b="1" i="0">
                <a:solidFill>
                  <a:srgbClr val="333333"/>
                </a:solidFill>
                <a:latin typeface="Calibri"/>
              </a:rPr>
              <a:t>retroalimentación útil</a:t>
            </a:r>
            <a:r>
              <a:rPr sz="2000" b="0" i="0">
                <a:solidFill>
                  <a:srgbClr val="333333"/>
                </a:solidFill>
                <a:latin typeface="Calibri"/>
              </a:rPr>
              <a:t>: observación en vez de opinión.</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Ustedes probaron el prototipo con una persona ajena al equipo. ¿Cuántas veces tuvieron que decirle «no, ahí no, toca acá»?</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Cada una de esas veces es un hallazgo, no un error de la persona.</a:t>
            </a:r>
          </a:p>
          <a:p>
            <a:pPr algn="ctr">
              <a:spcAft>
                <a:spcPts val="600"/>
              </a:spcAft>
            </a:pPr>
            <a:r>
              <a:rPr sz="1500" b="0" i="0">
                <a:solidFill>
                  <a:srgbClr val="269CCB"/>
                </a:solidFill>
                <a:latin typeface="Calibri"/>
              </a:rPr>
              <a:t>Hoy no venimos a mostrar lo que funciona: venimos a mostrar lo que falló.</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lee una prueba con una persona real</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persona que prueba nunca se equivoca: si se perdió, el diseño la perdió</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400" b="1" i="0">
                <a:solidFill>
                  <a:srgbClr val="095292"/>
                </a:solidFill>
                <a:latin typeface="Calibri"/>
              </a:rPr>
              <a:t>1 · Separe lo que hizo de lo que dijo</a:t>
            </a:r>
          </a:p>
          <a:p>
            <a:pPr>
              <a:spcBef>
                <a:spcPts val="200"/>
              </a:spcBef>
            </a:pPr>
            <a:r>
              <a:rPr sz="1200" b="1" i="0">
                <a:solidFill>
                  <a:srgbClr val="333333"/>
                </a:solidFill>
                <a:latin typeface="Calibri"/>
              </a:rPr>
              <a:t>Lo que hizo es el dato.</a:t>
            </a:r>
            <a:r>
              <a:rPr sz="1200" b="0" i="0">
                <a:solidFill>
                  <a:srgbClr val="333333"/>
                </a:solidFill>
                <a:latin typeface="Calibri"/>
              </a:rPr>
              <a:t> Si dudó cinco segundos frente a un botón, eso pasó — aunque después diga «no, estaba clarísimo». La gente es amable con quien le muestra su trabajo.</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Escriba el tropiezo, no la solución</a:t>
            </a:r>
          </a:p>
          <a:p>
            <a:pPr>
              <a:spcBef>
                <a:spcPts val="200"/>
              </a:spcBef>
            </a:pPr>
            <a:r>
              <a:rPr sz="1300" b="0" i="0">
                <a:solidFill>
                  <a:srgbClr val="333333"/>
                </a:solidFill>
                <a:latin typeface="Calibri"/>
              </a:rPr>
              <a:t>«Buscó el botón de volver en la esquina de arriba» es un hallazgo. «Hay que poner un botón arriba» es una conclusión, y es prematura.</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Clasifique cada tropiezo</a:t>
            </a:r>
          </a:p>
          <a:p>
            <a:pPr>
              <a:spcBef>
                <a:spcPts val="200"/>
              </a:spcBef>
            </a:pPr>
            <a:r>
              <a:rPr sz="1300" b="0" i="0">
                <a:solidFill>
                  <a:srgbClr val="333333"/>
                </a:solidFill>
                <a:latin typeface="Calibri"/>
              </a:rPr>
              <a:t>¿No entendió una palabra? ¿Se perdió en el flujo? ¿Esperaba algo que no existe? ¿Falló por una suposición nuestra? Cada tipo se arregla distinto.</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400" b="1" i="0">
                <a:solidFill>
                  <a:srgbClr val="095292"/>
                </a:solidFill>
                <a:latin typeface="Calibri"/>
              </a:rPr>
              <a:t>4 · Busque el patrón</a:t>
            </a:r>
          </a:p>
          <a:p>
            <a:pPr>
              <a:spcBef>
                <a:spcPts val="200"/>
              </a:spcBef>
            </a:pPr>
            <a:r>
              <a:rPr sz="1200" b="0" i="0">
                <a:solidFill>
                  <a:srgbClr val="333333"/>
                </a:solidFill>
                <a:latin typeface="Calibri"/>
              </a:rPr>
              <a:t>Un tropiezo de una persona puede ser casualidad. </a:t>
            </a:r>
            <a:r>
              <a:rPr sz="1200" b="1" i="0">
                <a:solidFill>
                  <a:srgbClr val="333333"/>
                </a:solidFill>
                <a:latin typeface="Calibri"/>
              </a:rPr>
              <a:t>El mismo tropiezo en dos de tres personas es un defecto de diseño</a:t>
            </a:r>
            <a:r>
              <a:rPr sz="1200" b="0" i="0">
                <a:solidFill>
                  <a:srgbClr val="333333"/>
                </a:solidFill>
                <a:latin typeface="Calibri"/>
              </a:rPr>
              <a:t>, y esos son los que se arreglan primero.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Decida qué NO se arregla</a:t>
            </a:r>
          </a:p>
          <a:p>
            <a:pPr>
              <a:spcBef>
                <a:spcPts val="200"/>
              </a:spcBef>
            </a:pPr>
            <a:r>
              <a:rPr sz="1300" b="0" i="0">
                <a:solidFill>
                  <a:srgbClr val="333333"/>
                </a:solidFill>
                <a:latin typeface="Calibri"/>
              </a:rPr>
              <a:t>No todo cabe antes de la Clase 14. Lo que se deja fuera </a:t>
            </a:r>
            <a:r>
              <a:rPr sz="1300" b="1" i="0">
                <a:solidFill>
                  <a:srgbClr val="333333"/>
                </a:solidFill>
                <a:latin typeface="Calibri"/>
              </a:rPr>
              <a:t>se escribe</a:t>
            </a:r>
            <a:r>
              <a:rPr sz="1300" b="0" i="0">
                <a:solidFill>
                  <a:srgbClr val="333333"/>
                </a:solidFill>
                <a:latin typeface="Calibri"/>
              </a:rPr>
              <a:t>, con su razón: eso es una decisión de ingeniería, no un olvido.</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tres pruebas leídas y clasificadas</a:t>
            </a:r>
          </a:p>
        </p:txBody>
      </p:sp>
      <p:graphicFrame>
        <p:nvGraphicFramePr>
          <p:cNvPr id="5" name="Table 4"/>
          <p:cNvGraphicFramePr>
            <a:graphicFrameLocks noGrp="1"/>
          </p:cNvGraphicFramePr>
          <p:nvPr/>
        </p:nvGraphicFramePr>
        <p:xfrm>
          <a:off x="457200" y="1216152"/>
          <a:ext cx="11277294" cy="1536192"/>
        </p:xfrm>
        <a:graphic>
          <a:graphicData uri="http://schemas.openxmlformats.org/drawingml/2006/table">
            <a:tbl>
              <a:tblPr firstRow="1" bandRow="1">
                <a:tableStyleId>{5C22544A-7EE6-4342-B048-85BDC9FD1C3A}</a:tableStyleId>
              </a:tblPr>
              <a:tblGrid>
                <a:gridCol w="3759098"/>
                <a:gridCol w="3759098"/>
                <a:gridCol w="3759098"/>
              </a:tblGrid>
              <a:tr h="384048">
                <a:tc>
                  <a:txBody>
                    <a:bodyPr/>
                    <a:lstStyle/>
                    <a:p>
                      <a:r>
                        <a:rPr sz="1200" b="1" i="0">
                          <a:solidFill>
                            <a:srgbClr val="FFFFFF"/>
                          </a:solidFill>
                          <a:latin typeface="Calibri"/>
                        </a:rPr>
                        <a:t>Lo que hizo</a:t>
                      </a:r>
                    </a:p>
                  </a:txBody>
                  <a:tcPr>
                    <a:solidFill>
                      <a:srgbClr val="095292"/>
                    </a:solidFill>
                  </a:tcPr>
                </a:tc>
                <a:tc>
                  <a:txBody>
                    <a:bodyPr/>
                    <a:lstStyle/>
                    <a:p>
                      <a:r>
                        <a:rPr sz="1200" b="1" i="0">
                          <a:solidFill>
                            <a:srgbClr val="FFFFFF"/>
                          </a:solidFill>
                          <a:latin typeface="Calibri"/>
                        </a:rPr>
                        <a:t>Tipo</a:t>
                      </a:r>
                    </a:p>
                  </a:txBody>
                  <a:tcPr>
                    <a:solidFill>
                      <a:srgbClr val="095292"/>
                    </a:solidFill>
                  </a:tcPr>
                </a:tc>
                <a:tc>
                  <a:txBody>
                    <a:bodyPr/>
                    <a:lstStyle/>
                    <a:p>
                      <a:r>
                        <a:rPr sz="1200" b="1" i="0">
                          <a:solidFill>
                            <a:srgbClr val="FFFFFF"/>
                          </a:solidFill>
                          <a:latin typeface="Calibri"/>
                        </a:rPr>
                        <a:t>¿Patrón?</a:t>
                      </a:r>
                    </a:p>
                  </a:txBody>
                  <a:tcPr>
                    <a:solidFill>
                      <a:srgbClr val="095292"/>
                    </a:solidFill>
                  </a:tcPr>
                </a:tc>
              </a:tr>
              <a:tr h="384048">
                <a:tc>
                  <a:txBody>
                    <a:bodyPr/>
                    <a:lstStyle/>
                    <a:p>
                      <a:r>
                        <a:rPr sz="1200" b="0" i="0">
                          <a:solidFill>
                            <a:srgbClr val="333333"/>
                          </a:solidFill>
                          <a:latin typeface="Calibri"/>
                        </a:rPr>
                        <a:t>Preguntó qué significa «en cola».</a:t>
                      </a:r>
                    </a:p>
                  </a:txBody>
                  <a:tcPr>
                    <a:solidFill>
                      <a:srgbClr val="FFFFFF"/>
                    </a:solidFill>
                  </a:tcPr>
                </a:tc>
                <a:tc>
                  <a:txBody>
                    <a:bodyPr/>
                    <a:lstStyle/>
                    <a:p>
                      <a:r>
                        <a:rPr sz="1200" b="0" i="0">
                          <a:solidFill>
                            <a:srgbClr val="333333"/>
                          </a:solidFill>
                          <a:latin typeface="Calibri"/>
                        </a:rPr>
                        <a:t>Lenguaje</a:t>
                      </a:r>
                    </a:p>
                  </a:txBody>
                  <a:tcPr>
                    <a:solidFill>
                      <a:srgbClr val="FFFFFF"/>
                    </a:solidFill>
                  </a:tcPr>
                </a:tc>
                <a:tc>
                  <a:txBody>
                    <a:bodyPr/>
                    <a:lstStyle/>
                    <a:p>
                      <a:r>
                        <a:rPr sz="1200" b="0" i="0">
                          <a:solidFill>
                            <a:srgbClr val="333333"/>
                          </a:solidFill>
                          <a:latin typeface="Calibri"/>
                        </a:rPr>
                        <a:t>2 de 3 · se cambia por «antes que usted»</a:t>
                      </a:r>
                    </a:p>
                  </a:txBody>
                  <a:tcPr>
                    <a:solidFill>
                      <a:srgbClr val="FFFFFF"/>
                    </a:solidFill>
                  </a:tcPr>
                </a:tc>
              </a:tr>
              <a:tr h="384048">
                <a:tc>
                  <a:txBody>
                    <a:bodyPr/>
                    <a:lstStyle/>
                    <a:p>
                      <a:r>
                        <a:rPr sz="1200" b="0" i="0">
                          <a:solidFill>
                            <a:srgbClr val="333333"/>
                          </a:solidFill>
                          <a:latin typeface="Calibri"/>
                        </a:rPr>
                        <a:t>Buscó volver arriba a la izquierda.</a:t>
                      </a:r>
                    </a:p>
                  </a:txBody>
                  <a:tcPr>
                    <a:solidFill>
                      <a:srgbClr val="F2F2F2"/>
                    </a:solidFill>
                  </a:tcPr>
                </a:tc>
                <a:tc>
                  <a:txBody>
                    <a:bodyPr/>
                    <a:lstStyle/>
                    <a:p>
                      <a:r>
                        <a:rPr sz="1200" b="0" i="0">
                          <a:solidFill>
                            <a:srgbClr val="333333"/>
                          </a:solidFill>
                          <a:latin typeface="Calibri"/>
                        </a:rPr>
                        <a:t>Flujo</a:t>
                      </a:r>
                    </a:p>
                  </a:txBody>
                  <a:tcPr>
                    <a:solidFill>
                      <a:srgbClr val="F2F2F2"/>
                    </a:solidFill>
                  </a:tcPr>
                </a:tc>
                <a:tc>
                  <a:txBody>
                    <a:bodyPr/>
                    <a:lstStyle/>
                    <a:p>
                      <a:r>
                        <a:rPr sz="1200" b="0" i="0">
                          <a:solidFill>
                            <a:srgbClr val="333333"/>
                          </a:solidFill>
                          <a:latin typeface="Calibri"/>
                        </a:rPr>
                        <a:t>1 de 3 · se anota y se observa</a:t>
                      </a:r>
                    </a:p>
                  </a:txBody>
                  <a:tcPr>
                    <a:solidFill>
                      <a:srgbClr val="F2F2F2"/>
                    </a:solidFill>
                  </a:tcPr>
                </a:tc>
              </a:tr>
              <a:tr h="384048">
                <a:tc>
                  <a:txBody>
                    <a:bodyPr/>
                    <a:lstStyle/>
                    <a:p>
                      <a:r>
                        <a:rPr sz="1200" b="0" i="0">
                          <a:solidFill>
                            <a:srgbClr val="333333"/>
                          </a:solidFill>
                          <a:latin typeface="Calibri"/>
                        </a:rPr>
                        <a:t>Preguntó si podía pagar ahí.</a:t>
                      </a:r>
                    </a:p>
                  </a:txBody>
                  <a:tcPr>
                    <a:solidFill>
                      <a:srgbClr val="FFFFFF"/>
                    </a:solidFill>
                  </a:tcPr>
                </a:tc>
                <a:tc>
                  <a:txBody>
                    <a:bodyPr/>
                    <a:lstStyle/>
                    <a:p>
                      <a:r>
                        <a:rPr sz="1200" b="0" i="0">
                          <a:solidFill>
                            <a:srgbClr val="333333"/>
                          </a:solidFill>
                          <a:latin typeface="Calibri"/>
                        </a:rPr>
                        <a:t>Expectativa</a:t>
                      </a:r>
                    </a:p>
                  </a:txBody>
                  <a:tcPr>
                    <a:solidFill>
                      <a:srgbClr val="FFFFFF"/>
                    </a:solidFill>
                  </a:tcPr>
                </a:tc>
                <a:tc>
                  <a:txBody>
                    <a:bodyPr/>
                    <a:lstStyle/>
                    <a:p>
                      <a:r>
                        <a:rPr sz="1200" b="0" i="0">
                          <a:solidFill>
                            <a:srgbClr val="333333"/>
                          </a:solidFill>
                          <a:latin typeface="Calibri"/>
                        </a:rPr>
                        <a:t>Fuera del alcance · se escribe y no se arregla</a:t>
                      </a:r>
                    </a:p>
                  </a:txBody>
                  <a:tcPr>
                    <a:solidFill>
                      <a:srgbClr val="FFFFFF"/>
                    </a:solidFill>
                  </a:tcPr>
                </a:tc>
              </a:tr>
            </a:tbl>
          </a:graphicData>
        </a:graphic>
      </p:graphicFrame>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Los cuatro tipos de hallazgo y qué hacer con cada uno</a:t>
            </a:r>
          </a:p>
        </p:txBody>
      </p:sp>
      <p:graphicFrame>
        <p:nvGraphicFramePr>
          <p:cNvPr id="5" name="Table 4"/>
          <p:cNvGraphicFramePr>
            <a:graphicFrameLocks noGrp="1"/>
          </p:cNvGraphicFramePr>
          <p:nvPr/>
        </p:nvGraphicFramePr>
        <p:xfrm>
          <a:off x="457200" y="1216152"/>
          <a:ext cx="8961120" cy="1920240"/>
        </p:xfrm>
        <a:graphic>
          <a:graphicData uri="http://schemas.openxmlformats.org/drawingml/2006/table">
            <a:tbl>
              <a:tblPr firstRow="1" bandRow="1">
                <a:tableStyleId>{5C22544A-7EE6-4342-B048-85BDC9FD1C3A}</a:tableStyleId>
              </a:tblPr>
              <a:tblGrid>
                <a:gridCol w="1920240"/>
                <a:gridCol w="3657600"/>
                <a:gridCol w="3383280"/>
              </a:tblGrid>
              <a:tr h="384048">
                <a:tc>
                  <a:txBody>
                    <a:bodyPr/>
                    <a:lstStyle/>
                    <a:p>
                      <a:r>
                        <a:rPr sz="1200" b="1" i="0">
                          <a:solidFill>
                            <a:srgbClr val="FFFFFF"/>
                          </a:solidFill>
                          <a:latin typeface="Calibri"/>
                        </a:rPr>
                        <a:t>Tipo</a:t>
                      </a:r>
                    </a:p>
                  </a:txBody>
                  <a:tcPr>
                    <a:solidFill>
                      <a:srgbClr val="095292"/>
                    </a:solidFill>
                  </a:tcPr>
                </a:tc>
                <a:tc>
                  <a:txBody>
                    <a:bodyPr/>
                    <a:lstStyle/>
                    <a:p>
                      <a:r>
                        <a:rPr sz="1200" b="1" i="0">
                          <a:solidFill>
                            <a:srgbClr val="FFFFFF"/>
                          </a:solidFill>
                          <a:latin typeface="Calibri"/>
                        </a:rPr>
                        <a:t>Cómo se reconoce</a:t>
                      </a:r>
                    </a:p>
                  </a:txBody>
                  <a:tcPr>
                    <a:solidFill>
                      <a:srgbClr val="095292"/>
                    </a:solidFill>
                  </a:tcPr>
                </a:tc>
                <a:tc>
                  <a:txBody>
                    <a:bodyPr/>
                    <a:lstStyle/>
                    <a:p>
                      <a:r>
                        <a:rPr sz="1200" b="1" i="0">
                          <a:solidFill>
                            <a:srgbClr val="FFFFFF"/>
                          </a:solidFill>
                          <a:latin typeface="Calibri"/>
                        </a:rPr>
                        <a:t>Qué se cambia</a:t>
                      </a:r>
                    </a:p>
                  </a:txBody>
                  <a:tcPr>
                    <a:solidFill>
                      <a:srgbClr val="095292"/>
                    </a:solidFill>
                  </a:tcPr>
                </a:tc>
              </a:tr>
              <a:tr h="384048">
                <a:tc>
                  <a:txBody>
                    <a:bodyPr/>
                    <a:lstStyle/>
                    <a:p>
                      <a:r>
                        <a:rPr sz="1200" b="1" i="0">
                          <a:solidFill>
                            <a:srgbClr val="333333"/>
                          </a:solidFill>
                          <a:latin typeface="Calibri"/>
                        </a:rPr>
                        <a:t>Lenguaje</a:t>
                      </a:r>
                    </a:p>
                  </a:txBody>
                  <a:tcPr>
                    <a:solidFill>
                      <a:srgbClr val="FFFFFF"/>
                    </a:solidFill>
                  </a:tcPr>
                </a:tc>
                <a:tc>
                  <a:txBody>
                    <a:bodyPr/>
                    <a:lstStyle/>
                    <a:p>
                      <a:r>
                        <a:rPr sz="1200" b="0" i="0">
                          <a:solidFill>
                            <a:srgbClr val="333333"/>
                          </a:solidFill>
                          <a:latin typeface="Calibri"/>
                        </a:rPr>
                        <a:t>Preguntó qué significa una palabra, o entendió otra cosa.</a:t>
                      </a:r>
                    </a:p>
                  </a:txBody>
                  <a:tcPr>
                    <a:solidFill>
                      <a:srgbClr val="FFFFFF"/>
                    </a:solidFill>
                  </a:tcPr>
                </a:tc>
                <a:tc>
                  <a:txBody>
                    <a:bodyPr/>
                    <a:lstStyle/>
                    <a:p>
                      <a:r>
                        <a:rPr sz="1200" b="0" i="0">
                          <a:solidFill>
                            <a:srgbClr val="333333"/>
                          </a:solidFill>
                          <a:latin typeface="Calibri"/>
                        </a:rPr>
                        <a:t>El </a:t>
                      </a:r>
                      <a:r>
                        <a:rPr sz="1200" b="1" i="0">
                          <a:solidFill>
                            <a:srgbClr val="333333"/>
                          </a:solidFill>
                          <a:latin typeface="Calibri"/>
                        </a:rPr>
                        <a:t>texto</a:t>
                      </a:r>
                      <a:r>
                        <a:rPr sz="1200" b="0" i="0">
                          <a:solidFill>
                            <a:srgbClr val="333333"/>
                          </a:solidFill>
                          <a:latin typeface="Calibri"/>
                        </a:rPr>
                        <a:t>. Es el arreglo más barato del mundo y el que más rinde.</a:t>
                      </a:r>
                    </a:p>
                  </a:txBody>
                  <a:tcPr>
                    <a:solidFill>
                      <a:srgbClr val="FFFFFF"/>
                    </a:solidFill>
                  </a:tcPr>
                </a:tc>
              </a:tr>
              <a:tr h="384048">
                <a:tc>
                  <a:txBody>
                    <a:bodyPr/>
                    <a:lstStyle/>
                    <a:p>
                      <a:r>
                        <a:rPr sz="1200" b="1" i="0">
                          <a:solidFill>
                            <a:srgbClr val="333333"/>
                          </a:solidFill>
                          <a:latin typeface="Calibri"/>
                        </a:rPr>
                        <a:t>Flujo</a:t>
                      </a:r>
                    </a:p>
                  </a:txBody>
                  <a:tcPr>
                    <a:solidFill>
                      <a:srgbClr val="F2F2F2"/>
                    </a:solidFill>
                  </a:tcPr>
                </a:tc>
                <a:tc>
                  <a:txBody>
                    <a:bodyPr/>
                    <a:lstStyle/>
                    <a:p>
                      <a:r>
                        <a:rPr sz="1200" b="0" i="0">
                          <a:solidFill>
                            <a:srgbClr val="333333"/>
                          </a:solidFill>
                          <a:latin typeface="Calibri"/>
                        </a:rPr>
                        <a:t>Hizo los pasos en otro orden, o se quedó sin saber dónde seguir.</a:t>
                      </a:r>
                    </a:p>
                  </a:txBody>
                  <a:tcPr>
                    <a:solidFill>
                      <a:srgbClr val="F2F2F2"/>
                    </a:solidFill>
                  </a:tcPr>
                </a:tc>
                <a:tc>
                  <a:txBody>
                    <a:bodyPr/>
                    <a:lstStyle/>
                    <a:p>
                      <a:r>
                        <a:rPr sz="1200" b="0" i="0">
                          <a:solidFill>
                            <a:srgbClr val="333333"/>
                          </a:solidFill>
                          <a:latin typeface="Calibri"/>
                        </a:rPr>
                        <a:t>El </a:t>
                      </a:r>
                      <a:r>
                        <a:rPr sz="1200" b="1" i="0">
                          <a:solidFill>
                            <a:srgbClr val="333333"/>
                          </a:solidFill>
                          <a:latin typeface="Calibri"/>
                        </a:rPr>
                        <a:t>orden de las pantallas</a:t>
                      </a:r>
                      <a:r>
                        <a:rPr sz="1200" b="0" i="0">
                          <a:solidFill>
                            <a:srgbClr val="333333"/>
                          </a:solidFill>
                          <a:latin typeface="Calibri"/>
                        </a:rPr>
                        <a:t> o el botón que falta. Cuesta más, pero es visible.</a:t>
                      </a:r>
                    </a:p>
                  </a:txBody>
                  <a:tcPr>
                    <a:solidFill>
                      <a:srgbClr val="F2F2F2"/>
                    </a:solidFill>
                  </a:tcPr>
                </a:tc>
              </a:tr>
              <a:tr h="384048">
                <a:tc>
                  <a:txBody>
                    <a:bodyPr/>
                    <a:lstStyle/>
                    <a:p>
                      <a:r>
                        <a:rPr sz="1200" b="1" i="0">
                          <a:solidFill>
                            <a:srgbClr val="333333"/>
                          </a:solidFill>
                          <a:latin typeface="Calibri"/>
                        </a:rPr>
                        <a:t>Expectativa</a:t>
                      </a:r>
                    </a:p>
                  </a:txBody>
                  <a:tcPr>
                    <a:solidFill>
                      <a:srgbClr val="FFFFFF"/>
                    </a:solidFill>
                  </a:tcPr>
                </a:tc>
                <a:tc>
                  <a:txBody>
                    <a:bodyPr/>
                    <a:lstStyle/>
                    <a:p>
                      <a:r>
                        <a:rPr sz="1200" b="0" i="0">
                          <a:solidFill>
                            <a:srgbClr val="333333"/>
                          </a:solidFill>
                          <a:latin typeface="Calibri"/>
                        </a:rPr>
                        <a:t>Buscó una función que no existe: «¿y aquí puedo reservarlo?».</a:t>
                      </a:r>
                    </a:p>
                  </a:txBody>
                  <a:tcPr>
                    <a:solidFill>
                      <a:srgbClr val="FFFFFF"/>
                    </a:solidFill>
                  </a:tcPr>
                </a:tc>
                <a:tc>
                  <a:txBody>
                    <a:bodyPr/>
                    <a:lstStyle/>
                    <a:p>
                      <a:r>
                        <a:rPr sz="1200" b="0" i="0">
                          <a:solidFill>
                            <a:srgbClr val="333333"/>
                          </a:solidFill>
                          <a:latin typeface="Calibri"/>
                        </a:rPr>
                        <a:t>Nada, si está fuera del alcance — pero </a:t>
                      </a:r>
                      <a:r>
                        <a:rPr sz="1200" b="1" i="0">
                          <a:solidFill>
                            <a:srgbClr val="333333"/>
                          </a:solidFill>
                          <a:latin typeface="Calibri"/>
                        </a:rPr>
                        <a:t>el prototipo debe decirlo</a:t>
                      </a:r>
                      <a:r>
                        <a:rPr sz="1200" b="0" i="0">
                          <a:solidFill>
                            <a:srgbClr val="333333"/>
                          </a:solidFill>
                          <a:latin typeface="Calibri"/>
                        </a:rPr>
                        <a:t>, no callarlo.</a:t>
                      </a:r>
                    </a:p>
                  </a:txBody>
                  <a:tcPr>
                    <a:solidFill>
                      <a:srgbClr val="FFFFFF"/>
                    </a:solidFill>
                  </a:tcPr>
                </a:tc>
              </a:tr>
              <a:tr h="384048">
                <a:tc>
                  <a:txBody>
                    <a:bodyPr/>
                    <a:lstStyle/>
                    <a:p>
                      <a:r>
                        <a:rPr sz="1200" b="1" i="0">
                          <a:solidFill>
                            <a:srgbClr val="333333"/>
                          </a:solidFill>
                          <a:latin typeface="Calibri"/>
                        </a:rPr>
                        <a:t>Suposición nuestra</a:t>
                      </a:r>
                    </a:p>
                  </a:txBody>
                  <a:tcPr>
                    <a:solidFill>
                      <a:srgbClr val="F2F2F2"/>
                    </a:solidFill>
                  </a:tcPr>
                </a:tc>
                <a:tc>
                  <a:txBody>
                    <a:bodyPr/>
                    <a:lstStyle/>
                    <a:p>
                      <a:r>
                        <a:rPr sz="1200" b="0" i="0">
                          <a:solidFill>
                            <a:srgbClr val="333333"/>
                          </a:solidFill>
                          <a:latin typeface="Calibri"/>
                        </a:rPr>
                        <a:t>Falló algo que dábamos por obvio: que tiene datos, que sabe leer una tabla.</a:t>
                      </a:r>
                    </a:p>
                  </a:txBody>
                  <a:tcPr>
                    <a:solidFill>
                      <a:srgbClr val="F2F2F2"/>
                    </a:solidFill>
                  </a:tcPr>
                </a:tc>
                <a:tc>
                  <a:txBody>
                    <a:bodyPr/>
                    <a:lstStyle/>
                    <a:p>
                      <a:r>
                        <a:rPr sz="1200" b="0" i="0">
                          <a:solidFill>
                            <a:srgbClr val="333333"/>
                          </a:solidFill>
                          <a:latin typeface="Calibri"/>
                        </a:rPr>
                        <a:t>La </a:t>
                      </a:r>
                      <a:r>
                        <a:rPr sz="1200" b="1" i="0">
                          <a:solidFill>
                            <a:srgbClr val="333333"/>
                          </a:solidFill>
                          <a:latin typeface="Calibri"/>
                        </a:rPr>
                        <a:t>restricción</a:t>
                      </a:r>
                      <a:r>
                        <a:rPr sz="1200" b="0" i="0">
                          <a:solidFill>
                            <a:srgbClr val="333333"/>
                          </a:solidFill>
                          <a:latin typeface="Calibri"/>
                        </a:rPr>
                        <a:t>. Es el hallazgo más caro y el más valioso de todos.</a:t>
                      </a:r>
                    </a:p>
                  </a:txBody>
                  <a:tcPr>
                    <a:solidFill>
                      <a:srgbClr val="F2F2F2"/>
                    </a:solidFill>
                  </a:tcPr>
                </a:tc>
              </a:tr>
            </a:tbl>
          </a:graphicData>
        </a:graphic>
      </p:graphicFrame>
      <p:sp>
        <p:nvSpPr>
          <p:cNvPr id="6" name="TextBox 5"/>
          <p:cNvSpPr txBox="1"/>
          <p:nvPr/>
        </p:nvSpPr>
        <p:spPr>
          <a:xfrm>
            <a:off x="457200" y="3794760"/>
            <a:ext cx="11277295" cy="457200"/>
          </a:xfrm>
          <a:prstGeom prst="rect">
            <a:avLst/>
          </a:prstGeom>
          <a:noFill/>
        </p:spPr>
        <p:txBody>
          <a:bodyPr wrap="square">
            <a:spAutoFit/>
          </a:bodyPr>
          <a:lstStyle/>
          <a:p>
            <a:r>
              <a:rPr sz="1100" b="0" i="1">
                <a:solidFill>
                  <a:srgbClr val="666666"/>
                </a:solidFill>
                <a:latin typeface="Calibri"/>
              </a:rPr>
              <a:t>Los dos primeros tipos se arreglan antes de la Clase 14. Los dos últimos, a veces, se declaran en el informe final y se dejan como trabajo siguiente.</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un avance y qué no</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Un avance NO es un resumen</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Nadie necesita oír otra vez el problema completo, los actores y las seis fases. </a:t>
            </a:r>
            <a:r>
              <a:rPr sz="1300" b="1" i="0">
                <a:solidFill>
                  <a:srgbClr val="333333"/>
                </a:solidFill>
                <a:latin typeface="Calibri"/>
              </a:rPr>
              <a:t>El curso ya conoce su proyecto</a:t>
            </a:r>
            <a:r>
              <a:rPr sz="1300" b="0" i="0">
                <a:solidFill>
                  <a:srgbClr val="333333"/>
                </a:solidFill>
                <a:latin typeface="Calibri"/>
              </a:rPr>
              <a:t>: lleva cinco sesiones oyéndolo.</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Un avance ES lo que falló</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Los tres hallazgos de la prueba, con lo que la persona </a:t>
            </a:r>
            <a:r>
              <a:rPr sz="1300" b="1" i="0">
                <a:solidFill>
                  <a:srgbClr val="333333"/>
                </a:solidFill>
                <a:latin typeface="Calibri"/>
              </a:rPr>
              <a:t>hizo</a:t>
            </a:r>
            <a:r>
              <a:rPr sz="1300" b="0" i="0">
                <a:solidFill>
                  <a:srgbClr val="333333"/>
                </a:solidFill>
                <a:latin typeface="Calibri"/>
              </a:rPr>
              <a:t>. Es lo único que el curso no sabe todavía, y por eso es lo único que vale contar.</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Un avance TRAE una pregunta</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«Tenemos dos maneras de arreglar esto y no nos decidimos.» Ahí es donde los otros cuatro equipos les sirven de algo. Sin pregunta, la retroalimentación es vacía.</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Un avance ADMITE lo pendiente</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Lo que todavía no está, dicho sin rodeos. </a:t>
            </a:r>
            <a:r>
              <a:rPr sz="1300" b="1" i="0">
                <a:solidFill>
                  <a:srgbClr val="333333"/>
                </a:solidFill>
                <a:latin typeface="Calibri"/>
              </a:rPr>
              <a:t>Esconder lo pendiente hoy es pagarlo en la Clase 15</a:t>
            </a:r>
            <a:r>
              <a:rPr sz="1300" b="0" i="0">
                <a:solidFill>
                  <a:srgbClr val="333333"/>
                </a:solidFill>
                <a:latin typeface="Calibri"/>
              </a:rPr>
              <a:t>, delante de todo el mundo y con nota.</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da retroalimentación que sirve</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Regla del curso: observación, expectativa, y una sola cosa — en ese orden</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Primero una pregunta, no una opinión</a:t>
            </a:r>
          </a:p>
          <a:p>
            <a:pPr>
              <a:spcBef>
                <a:spcPts val="200"/>
              </a:spcBef>
            </a:pPr>
            <a:r>
              <a:rPr sz="1300" b="0" i="0">
                <a:solidFill>
                  <a:srgbClr val="333333"/>
                </a:solidFill>
                <a:latin typeface="Calibri"/>
              </a:rPr>
              <a:t>«¿Por qué eligieron mostrar la fecha ahí?» antes de «la fecha está mal ahí». Muchas veces la respuesta ya cierra el tema.</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400" b="1" i="0">
                <a:solidFill>
                  <a:srgbClr val="095292"/>
                </a:solidFill>
                <a:latin typeface="Calibri"/>
              </a:rPr>
              <a:t>2 · Describa lo que observó</a:t>
            </a:r>
          </a:p>
          <a:p>
            <a:pPr>
              <a:spcBef>
                <a:spcPts val="200"/>
              </a:spcBef>
            </a:pPr>
            <a:r>
              <a:rPr sz="1200" b="0" i="0">
                <a:solidFill>
                  <a:srgbClr val="333333"/>
                </a:solidFill>
                <a:latin typeface="Calibri"/>
              </a:rPr>
              <a:t>«Cuando mostraron la pantalla, no encontré cómo volver» dice más que «la navegación está confusa». </a:t>
            </a:r>
            <a:r>
              <a:rPr sz="1200" b="1" i="0">
                <a:solidFill>
                  <a:srgbClr val="333333"/>
                </a:solidFill>
                <a:latin typeface="Calibri"/>
              </a:rPr>
              <a:t>Lo observable se puede arreglar; una impresión no.</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Diga qué esperaba</a:t>
            </a:r>
          </a:p>
          <a:p>
            <a:pPr>
              <a:spcBef>
                <a:spcPts val="200"/>
              </a:spcBef>
            </a:pPr>
            <a:r>
              <a:rPr sz="1300" b="0" i="0">
                <a:solidFill>
                  <a:srgbClr val="333333"/>
                </a:solidFill>
                <a:latin typeface="Calibri"/>
              </a:rPr>
              <a:t>«Yo esperaba que el estado dijera cuándo vuelve.» Su expectativa es un dato, y no obliga a nadie: es información, no una orden.</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Una sola cosa, la más importante</a:t>
            </a:r>
          </a:p>
          <a:p>
            <a:pPr>
              <a:spcBef>
                <a:spcPts val="200"/>
              </a:spcBef>
            </a:pPr>
            <a:r>
              <a:rPr sz="1300" b="0" i="0">
                <a:solidFill>
                  <a:srgbClr val="333333"/>
                </a:solidFill>
                <a:latin typeface="Calibri"/>
              </a:rPr>
              <a:t>Cinco comentarios en tres minutos no se aplican. Uno bien dicho, sí. Elija el que más le cambiaría el proyecto al otro equipo.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Sobre el trabajo, nunca sobre la persona</a:t>
            </a:r>
          </a:p>
          <a:p>
            <a:pPr>
              <a:spcBef>
                <a:spcPts val="200"/>
              </a:spcBef>
            </a:pPr>
            <a:r>
              <a:rPr sz="1300" b="0" i="0">
                <a:solidFill>
                  <a:srgbClr val="333333"/>
                </a:solidFill>
                <a:latin typeface="Calibri"/>
              </a:rPr>
              <a:t>«Este texto no lo entendí» y no «no supieron escribirlo». Es la diferencia entre un equipo que escucha y un equipo que se defiende.</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retroalimentación que no sirve y que sí</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No sirve</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«Está muy bien, me gustó».</a:t>
            </a:r>
          </a:p>
          <a:p>
            <a:pPr>
              <a:spcAft>
                <a:spcPts val="800"/>
              </a:spcAft>
            </a:pPr>
            <a:r>
              <a:rPr sz="1500" b="0" i="0">
                <a:solidFill>
                  <a:srgbClr val="333333"/>
                </a:solidFill>
                <a:latin typeface="Calibri"/>
              </a:rPr>
              <a:t>–   «La navegación es mala».</a:t>
            </a:r>
          </a:p>
          <a:p>
            <a:pPr>
              <a:spcAft>
                <a:spcPts val="800"/>
              </a:spcAft>
            </a:pPr>
            <a:r>
              <a:rPr sz="1500" b="0" i="0">
                <a:solidFill>
                  <a:srgbClr val="333333"/>
                </a:solidFill>
                <a:latin typeface="Calibri"/>
              </a:rPr>
              <a:t>–   «Yo lo haría con una app».</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Sí sirve</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«¿Por qué el número de turno va abajo?»</a:t>
            </a:r>
          </a:p>
          <a:p>
            <a:pPr>
              <a:spcAft>
                <a:spcPts val="800"/>
              </a:spcAft>
            </a:pPr>
            <a:r>
              <a:rPr sz="1500" b="0" i="0">
                <a:solidFill>
                  <a:srgbClr val="333333"/>
                </a:solidFill>
                <a:latin typeface="Calibri"/>
              </a:rPr>
              <a:t>–   «Cuando lo mostraron, no encontré cómo cancelar».</a:t>
            </a:r>
          </a:p>
          <a:p>
            <a:pPr>
              <a:spcAft>
                <a:spcPts val="800"/>
              </a:spcAft>
            </a:pPr>
            <a:r>
              <a:rPr sz="1500" b="0" i="0">
                <a:solidFill>
                  <a:srgbClr val="333333"/>
                </a:solidFill>
                <a:latin typeface="Calibri"/>
              </a:rPr>
              <a:t>–   «Yo esperaba ver cuánto tiempo falta, no solo cuántos van».</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Tres trampas de la retroalimentación entre pares</a:t>
            </a:r>
          </a:p>
        </p:txBody>
      </p:sp>
      <p:sp>
        <p:nvSpPr>
          <p:cNvPr id="5" name="Rounded Rectangle 4"/>
          <p:cNvSpPr/>
          <p:nvPr/>
        </p:nvSpPr>
        <p:spPr>
          <a:xfrm>
            <a:off x="457200" y="1261872"/>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El elogio vacío.</a:t>
            </a:r>
            <a:r>
              <a:rPr sz="1400" b="0" i="0">
                <a:solidFill>
                  <a:srgbClr val="333333"/>
                </a:solidFill>
                <a:latin typeface="Calibri"/>
              </a:rPr>
              <a:t> «Está muy bien, me gustó mucho» no es retroalimentación: es amabilidad, y no le sirve a nadie. Si de verdad algo está bien, diga </a:t>
            </a:r>
            <a:r>
              <a:rPr sz="1400" b="1" i="0">
                <a:solidFill>
                  <a:srgbClr val="333333"/>
                </a:solidFill>
                <a:latin typeface="Calibri"/>
              </a:rPr>
              <a:t>qué</a:t>
            </a:r>
            <a:r>
              <a:rPr sz="1400" b="0" i="0">
                <a:solidFill>
                  <a:srgbClr val="333333"/>
                </a:solidFill>
                <a:latin typeface="Calibri"/>
              </a:rPr>
              <a:t> y </a:t>
            </a:r>
            <a:r>
              <a:rPr sz="1400" b="1" i="0">
                <a:solidFill>
                  <a:srgbClr val="333333"/>
                </a:solidFill>
                <a:latin typeface="Calibri"/>
              </a:rPr>
              <a:t>por qué</a:t>
            </a:r>
            <a:r>
              <a:rPr sz="1400" b="0" i="0">
                <a:solidFill>
                  <a:srgbClr val="333333"/>
                </a:solidFill>
                <a:latin typeface="Calibri"/>
              </a:rPr>
              <a:t> — «el mensaje de error me dijo qué hacer» es un elogio útil, porque el otro equipo aprende qué conservar.</a:t>
            </a:r>
          </a:p>
        </p:txBody>
      </p:sp>
      <p:sp>
        <p:nvSpPr>
          <p:cNvPr id="8" name="Rounded Rectangle 7"/>
          <p:cNvSpPr/>
          <p:nvPr/>
        </p:nvSpPr>
        <p:spPr>
          <a:xfrm>
            <a:off x="457200" y="2478024"/>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Rediseñar el proyecto ajeno.</a:t>
            </a:r>
            <a:r>
              <a:rPr sz="1400" b="0" i="0">
                <a:solidFill>
                  <a:srgbClr val="333333"/>
                </a:solidFill>
                <a:latin typeface="Calibri"/>
              </a:rPr>
              <a:t> Aparece siempre: «yo lo habría hecho con una aplicación». No es retroalimentación al avance, es otro proyecto. El otro equipo tomó decisiones documentadas en las sesiones 6 a 11 que usted no vio; </a:t>
            </a:r>
            <a:r>
              <a:rPr sz="1400" b="1" i="0">
                <a:solidFill>
                  <a:srgbClr val="333333"/>
                </a:solidFill>
                <a:latin typeface="Calibri"/>
              </a:rPr>
              <a:t>hable de lo que se presentó, no de lo que usted haría</a:t>
            </a:r>
            <a:r>
              <a:rPr sz="1400" b="0" i="0">
                <a:solidFill>
                  <a:srgbClr val="333333"/>
                </a:solidFill>
                <a:latin typeface="Calibri"/>
              </a:rPr>
              <a:t>.</a:t>
            </a:r>
          </a:p>
        </p:txBody>
      </p:sp>
      <p:sp>
        <p:nvSpPr>
          <p:cNvPr id="11" name="Rounded Rectangle 10"/>
          <p:cNvSpPr/>
          <p:nvPr/>
        </p:nvSpPr>
        <p:spPr>
          <a:xfrm>
            <a:off x="457200" y="3694176"/>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Tomarlo personal.</a:t>
            </a:r>
            <a:r>
              <a:rPr sz="1400" b="0" i="0">
                <a:solidFill>
                  <a:srgbClr val="333333"/>
                </a:solidFill>
                <a:latin typeface="Calibri"/>
              </a:rPr>
              <a:t> Recibir es más difícil que dar. Regla mientras les hablan: </a:t>
            </a:r>
            <a:r>
              <a:rPr sz="1400" b="1" i="0">
                <a:solidFill>
                  <a:srgbClr val="333333"/>
                </a:solidFill>
                <a:latin typeface="Calibri"/>
              </a:rPr>
              <a:t>anotar, no responder.</a:t>
            </a:r>
            <a:r>
              <a:rPr sz="1400" b="0" i="0">
                <a:solidFill>
                  <a:srgbClr val="333333"/>
                </a:solidFill>
                <a:latin typeface="Calibri"/>
              </a:rPr>
              <a:t> Solo se pregunta para entender —«¿en qué momento se perdió?»—. Defenderse en vivo desperdicia los únicos tres minutos gratis de revisión externa que van a tener antes de la nota.</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Taller de hoy: Ficha de avance y plan de ajustes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12 min en equipos · 12 min: hallazgos, clasificación, decisión y la pregunta al curso · ficha de avance de 5 bloques, con el plan de ajustes al cerrar</a:t>
            </a:r>
          </a:p>
        </p:txBody>
      </p:sp>
      <p:sp>
        <p:nvSpPr>
          <p:cNvPr id="6" name="Rounded Rectangle 5"/>
          <p:cNvSpPr/>
          <p:nvPr/>
        </p:nvSpPr>
        <p:spPr>
          <a:xfrm>
            <a:off x="457200" y="1472184"/>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618487"/>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18487"/>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563624"/>
            <a:ext cx="10362895" cy="402336"/>
          </a:xfrm>
          <a:prstGeom prst="rect">
            <a:avLst/>
          </a:prstGeom>
          <a:noFill/>
        </p:spPr>
        <p:txBody>
          <a:bodyPr wrap="square" anchor="ctr"/>
          <a:lstStyle/>
          <a:p>
            <a:r>
              <a:rPr sz="1500" b="1" i="0">
                <a:solidFill>
                  <a:srgbClr val="333333"/>
                </a:solidFill>
                <a:latin typeface="Calibri"/>
              </a:rPr>
              <a:t>LOS TRES HALLAZGOS</a:t>
            </a:r>
            <a:r>
              <a:rPr sz="1500" b="0" i="0">
                <a:solidFill>
                  <a:srgbClr val="333333"/>
                </a:solidFill>
                <a:latin typeface="Calibri"/>
              </a:rPr>
              <a:t> — Tres tropiezos de la prueba, escritos como </a:t>
            </a:r>
            <a:r>
              <a:rPr sz="1500" b="1" i="0">
                <a:solidFill>
                  <a:srgbClr val="333333"/>
                </a:solidFill>
                <a:latin typeface="Calibri"/>
              </a:rPr>
              <a:t>lo que la persona hizo o preguntó</a:t>
            </a:r>
            <a:r>
              <a:rPr sz="1500" b="0" i="0">
                <a:solidFill>
                  <a:srgbClr val="333333"/>
                </a:solidFill>
                <a:latin typeface="Calibri"/>
              </a:rPr>
              <a:t> — no como lo que dijo al final, y no como la solución.</a:t>
            </a:r>
          </a:p>
        </p:txBody>
      </p:sp>
      <p:sp>
        <p:nvSpPr>
          <p:cNvPr id="10" name="Rounded Rectangle 9"/>
          <p:cNvSpPr/>
          <p:nvPr/>
        </p:nvSpPr>
        <p:spPr>
          <a:xfrm>
            <a:off x="457200" y="2148839"/>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295144"/>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295144"/>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240279"/>
            <a:ext cx="10362895" cy="402336"/>
          </a:xfrm>
          <a:prstGeom prst="rect">
            <a:avLst/>
          </a:prstGeom>
          <a:noFill/>
        </p:spPr>
        <p:txBody>
          <a:bodyPr wrap="square" anchor="ctr"/>
          <a:lstStyle/>
          <a:p>
            <a:r>
              <a:rPr sz="1500" b="1" i="0">
                <a:solidFill>
                  <a:srgbClr val="333333"/>
                </a:solidFill>
                <a:latin typeface="Calibri"/>
              </a:rPr>
              <a:t>LA CLASIFICACIÓN Y EL PATRÓN</a:t>
            </a:r>
            <a:r>
              <a:rPr sz="1500" b="0" i="0">
                <a:solidFill>
                  <a:srgbClr val="333333"/>
                </a:solidFill>
                <a:latin typeface="Calibri"/>
              </a:rPr>
              <a:t> — El tipo de cada hallazgo —lenguaje, flujo, expectativa o suposición nuestra— y si se repitió en más de una persona.</a:t>
            </a:r>
          </a:p>
        </p:txBody>
      </p:sp>
      <p:sp>
        <p:nvSpPr>
          <p:cNvPr id="14" name="Rounded Rectangle 13"/>
          <p:cNvSpPr/>
          <p:nvPr/>
        </p:nvSpPr>
        <p:spPr>
          <a:xfrm>
            <a:off x="457200" y="2825496"/>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2971800"/>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2971800"/>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916936"/>
            <a:ext cx="10362895" cy="402336"/>
          </a:xfrm>
          <a:prstGeom prst="rect">
            <a:avLst/>
          </a:prstGeom>
          <a:noFill/>
        </p:spPr>
        <p:txBody>
          <a:bodyPr wrap="square" anchor="ctr"/>
          <a:lstStyle/>
          <a:p>
            <a:r>
              <a:rPr sz="1500" b="1" i="0">
                <a:solidFill>
                  <a:srgbClr val="333333"/>
                </a:solidFill>
                <a:latin typeface="Calibri"/>
              </a:rPr>
              <a:t>QUÉ ARREGLAMOS Y QUÉ NO</a:t>
            </a:r>
            <a:r>
              <a:rPr sz="1500" b="0" i="0">
                <a:solidFill>
                  <a:srgbClr val="333333"/>
                </a:solidFill>
                <a:latin typeface="Calibri"/>
              </a:rPr>
              <a:t> — Lo que se arregla antes de la Clase 14, y </a:t>
            </a:r>
            <a:r>
              <a:rPr sz="1500" b="1" i="0">
                <a:solidFill>
                  <a:srgbClr val="333333"/>
                </a:solidFill>
                <a:latin typeface="Calibri"/>
              </a:rPr>
              <a:t>lo que no se arregla con su razón</a:t>
            </a:r>
            <a:r>
              <a:rPr sz="1500" b="0" i="0">
                <a:solidFill>
                  <a:srgbClr val="333333"/>
                </a:solidFill>
                <a:latin typeface="Calibri"/>
              </a:rPr>
              <a:t>: fuera del alcance, no alcanza el tiempo, o cambia una restricción.</a:t>
            </a:r>
          </a:p>
        </p:txBody>
      </p:sp>
      <p:sp>
        <p:nvSpPr>
          <p:cNvPr id="18" name="Rounded Rectangle 17"/>
          <p:cNvSpPr/>
          <p:nvPr/>
        </p:nvSpPr>
        <p:spPr>
          <a:xfrm>
            <a:off x="457200" y="3502152"/>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648456"/>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3648456"/>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3593592"/>
            <a:ext cx="10362895" cy="402336"/>
          </a:xfrm>
          <a:prstGeom prst="rect">
            <a:avLst/>
          </a:prstGeom>
          <a:noFill/>
        </p:spPr>
        <p:txBody>
          <a:bodyPr wrap="square" anchor="ctr"/>
          <a:lstStyle/>
          <a:p>
            <a:r>
              <a:rPr sz="1500" b="1" i="0">
                <a:solidFill>
                  <a:srgbClr val="333333"/>
                </a:solidFill>
                <a:latin typeface="Calibri"/>
              </a:rPr>
              <a:t>LA PREGUNTA PARA EL CURSO</a:t>
            </a:r>
            <a:r>
              <a:rPr sz="1500" b="0" i="0">
                <a:solidFill>
                  <a:srgbClr val="333333"/>
                </a:solidFill>
                <a:latin typeface="Calibri"/>
              </a:rPr>
              <a:t> — Una pregunta abierta, concreta, sobre una decisión que el equipo no logra tomar. Es lo que hace útiles los tres minutos de retroalimentación.</a:t>
            </a:r>
          </a:p>
        </p:txBody>
      </p:sp>
      <p:sp>
        <p:nvSpPr>
          <p:cNvPr id="22" name="Rounded Rectangle 21"/>
          <p:cNvSpPr/>
          <p:nvPr/>
        </p:nvSpPr>
        <p:spPr>
          <a:xfrm>
            <a:off x="457200" y="4178808"/>
            <a:ext cx="11277295" cy="56692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325112"/>
            <a:ext cx="274320" cy="274320"/>
          </a:xfrm>
          <a:prstGeom prst="rect">
            <a:avLst/>
          </a:prstGeom>
          <a:solidFill>
            <a:srgbClr val="FFFFFF"/>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 y="4325112"/>
            <a:ext cx="73152" cy="27432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4270248"/>
            <a:ext cx="10362895" cy="402336"/>
          </a:xfrm>
          <a:prstGeom prst="rect">
            <a:avLst/>
          </a:prstGeom>
          <a:noFill/>
        </p:spPr>
        <p:txBody>
          <a:bodyPr wrap="square" anchor="ctr"/>
          <a:lstStyle/>
          <a:p>
            <a:r>
              <a:rPr sz="1500" b="1" i="0">
                <a:solidFill>
                  <a:srgbClr val="333333"/>
                </a:solidFill>
                <a:latin typeface="Calibri"/>
              </a:rPr>
              <a:t>EL PLAN DE AJUSTES</a:t>
            </a:r>
            <a:r>
              <a:rPr sz="1500" b="0" i="0">
                <a:solidFill>
                  <a:srgbClr val="333333"/>
                </a:solidFill>
                <a:latin typeface="Calibri"/>
              </a:rPr>
              <a:t> — Las </a:t>
            </a:r>
            <a:r>
              <a:rPr sz="1500" b="1" i="0">
                <a:solidFill>
                  <a:srgbClr val="333333"/>
                </a:solidFill>
                <a:latin typeface="Calibri"/>
              </a:rPr>
              <a:t>dos cosas</a:t>
            </a:r>
            <a:r>
              <a:rPr sz="1500" b="0" i="0">
                <a:solidFill>
                  <a:srgbClr val="333333"/>
                </a:solidFill>
                <a:latin typeface="Calibri"/>
              </a:rPr>
              <a:t> que el equipo va a ajustar con lo que oyó en la retroalimentación, y </a:t>
            </a:r>
            <a:r>
              <a:rPr sz="1500" b="1" i="0">
                <a:solidFill>
                  <a:srgbClr val="333333"/>
                </a:solidFill>
                <a:latin typeface="Calibri"/>
              </a:rPr>
              <a:t>qué lo motivó</a:t>
            </a:r>
            <a:r>
              <a:rPr sz="1500" b="0" i="0">
                <a:solidFill>
                  <a:srgbClr val="333333"/>
                </a:solidFill>
                <a:latin typeface="Calibri"/>
              </a:rPr>
              <a:t>: quién lo dijo y qué dijo. Se llena en los últimos minutos de la sesión, no antes.</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expone en 5 minutos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Habla el vocero con la pantalla ya compartida · cronómetro en pantalla · se corta al llegar a cero</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30 s · Recordatorio mínimo</a:t>
            </a:r>
          </a:p>
          <a:p>
            <a:pPr>
              <a:spcBef>
                <a:spcPts val="200"/>
              </a:spcBef>
            </a:pPr>
            <a:r>
              <a:rPr sz="1300" b="0" i="0">
                <a:solidFill>
                  <a:srgbClr val="333333"/>
                </a:solidFill>
                <a:latin typeface="Calibri"/>
              </a:rPr>
              <a:t>El problema en </a:t>
            </a:r>
            <a:r>
              <a:rPr sz="1300" b="1" i="0">
                <a:solidFill>
                  <a:srgbClr val="333333"/>
                </a:solidFill>
                <a:latin typeface="Calibri"/>
              </a:rPr>
              <a:t>una frase</a:t>
            </a:r>
            <a:r>
              <a:rPr sz="1300" b="0" i="0">
                <a:solidFill>
                  <a:srgbClr val="333333"/>
                </a:solidFill>
                <a:latin typeface="Calibri"/>
              </a:rPr>
              <a:t>. Nada más: el curso ya conoce su proyecto.</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min · Los tres hallazgos</a:t>
            </a:r>
          </a:p>
          <a:p>
            <a:pPr>
              <a:spcBef>
                <a:spcPts val="200"/>
              </a:spcBef>
            </a:pPr>
            <a:r>
              <a:rPr sz="1300" b="0" i="0">
                <a:solidFill>
                  <a:srgbClr val="333333"/>
                </a:solidFill>
                <a:latin typeface="Calibri"/>
              </a:rPr>
              <a:t>Lo que la persona </a:t>
            </a:r>
            <a:r>
              <a:rPr sz="1300" b="1" i="0">
                <a:solidFill>
                  <a:srgbClr val="333333"/>
                </a:solidFill>
                <a:latin typeface="Calibri"/>
              </a:rPr>
              <a:t>hizo</a:t>
            </a:r>
            <a:r>
              <a:rPr sz="1300" b="0" i="0">
                <a:solidFill>
                  <a:srgbClr val="333333"/>
                </a:solidFill>
                <a:latin typeface="Calibri"/>
              </a:rPr>
              <a:t>. Es el corazón del avance.</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1 min · Qué arreglan y qué no</a:t>
            </a:r>
          </a:p>
          <a:p>
            <a:pPr>
              <a:spcBef>
                <a:spcPts val="200"/>
              </a:spcBef>
            </a:pPr>
            <a:r>
              <a:rPr sz="1300" b="0" i="0">
                <a:solidFill>
                  <a:srgbClr val="333333"/>
                </a:solidFill>
                <a:latin typeface="Calibri"/>
              </a:rPr>
              <a:t>Y por qué lo que queda fuera queda fuera.</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1 min · La pregunta para el curso</a:t>
            </a:r>
          </a:p>
          <a:p>
            <a:pPr>
              <a:spcBef>
                <a:spcPts val="200"/>
              </a:spcBef>
            </a:pPr>
            <a:r>
              <a:rPr sz="1300" b="0" i="0">
                <a:solidFill>
                  <a:srgbClr val="333333"/>
                </a:solidFill>
                <a:latin typeface="Calibri"/>
              </a:rPr>
              <a:t>Con las dos alternativas que están considerando.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30 s · Cierre</a:t>
            </a:r>
          </a:p>
          <a:p>
            <a:pPr>
              <a:spcBef>
                <a:spcPts val="200"/>
              </a:spcBef>
            </a:pPr>
            <a:r>
              <a:rPr sz="1300" b="0" i="0">
                <a:solidFill>
                  <a:srgbClr val="333333"/>
                </a:solidFill>
                <a:latin typeface="Calibri"/>
              </a:rPr>
              <a:t>Qué van a tener listo para la Clase 14.</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Para la Clase 13</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Trabajo dirigido:</a:t>
            </a:r>
            <a:r>
              <a:rPr sz="2000" b="0" i="0">
                <a:solidFill>
                  <a:srgbClr val="333333"/>
                </a:solidFill>
                <a:latin typeface="Calibri"/>
              </a:rPr>
              <a:t> Retroalimentación y ajustes — aplicar al prototipo los ajustes comprometidos en el muro, y dejar en el documento del equipo la ficha de avance completa con la lista de lo que no se arregla.</a:t>
            </a:r>
          </a:p>
          <a:p>
            <a:pPr>
              <a:spcAft>
                <a:spcPts val="800"/>
              </a:spcAft>
            </a:pPr>
            <a:r>
              <a:rPr sz="2000" b="0" i="0">
                <a:solidFill>
                  <a:srgbClr val="333333"/>
                </a:solidFill>
                <a:latin typeface="Calibri"/>
              </a:rPr>
              <a:t>–   </a:t>
            </a:r>
            <a:r>
              <a:rPr sz="2000" b="1" i="0">
                <a:solidFill>
                  <a:srgbClr val="333333"/>
                </a:solidFill>
                <a:latin typeface="Calibri"/>
              </a:rPr>
              <a:t>Trabajo independiente:</a:t>
            </a:r>
            <a:r>
              <a:rPr sz="2000" b="0" i="0">
                <a:solidFill>
                  <a:srgbClr val="333333"/>
                </a:solidFill>
                <a:latin typeface="Calibri"/>
              </a:rPr>
              <a:t> Revisión entre pares: leer el documento de </a:t>
            </a:r>
            <a:r>
              <a:rPr sz="2000" b="1" i="0">
                <a:solidFill>
                  <a:srgbClr val="333333"/>
                </a:solidFill>
                <a:latin typeface="Calibri"/>
              </a:rPr>
              <a:t>otro equipo</a:t>
            </a:r>
            <a:r>
              <a:rPr sz="2000" b="0" i="0">
                <a:solidFill>
                  <a:srgbClr val="333333"/>
                </a:solidFill>
                <a:latin typeface="Calibri"/>
              </a:rPr>
              <a:t> (el docente asigna la pareja) y dejarle </a:t>
            </a:r>
            <a:r>
              <a:rPr sz="2000" b="1" i="0">
                <a:solidFill>
                  <a:srgbClr val="333333"/>
                </a:solidFill>
                <a:latin typeface="Calibri"/>
              </a:rPr>
              <a:t>dos observaciones escritas</a:t>
            </a:r>
            <a:r>
              <a:rPr sz="2000" b="0" i="0">
                <a:solidFill>
                  <a:srgbClr val="333333"/>
                </a:solidFill>
                <a:latin typeface="Calibri"/>
              </a:rPr>
              <a:t> con el formato de hoy — observación y expectativa, una sola cosa importante cada una.</a:t>
            </a:r>
          </a:p>
          <a:p>
            <a:pPr>
              <a:spcAft>
                <a:spcPts val="800"/>
              </a:spcAft>
            </a:pPr>
            <a:r>
              <a:rPr sz="2000" b="0" i="0">
                <a:solidFill>
                  <a:srgbClr val="333333"/>
                </a:solidFill>
                <a:latin typeface="Calibri"/>
              </a:rPr>
              <a:t>–   </a:t>
            </a:r>
            <a:r>
              <a:rPr sz="2000" b="1" i="0">
                <a:solidFill>
                  <a:srgbClr val="333333"/>
                </a:solidFill>
                <a:latin typeface="Calibri"/>
              </a:rPr>
              <a:t>Clase 13 · Evaluación de impacto social y ambiental</a:t>
            </a:r>
            <a:r>
              <a:rPr sz="2000" b="0" i="0">
                <a:solidFill>
                  <a:srgbClr val="333333"/>
                </a:solidFill>
                <a:latin typeface="Calibri"/>
              </a:rPr>
              <a:t> — vemos el </a:t>
            </a:r>
            <a:r>
              <a:rPr sz="2000" b="1" i="0">
                <a:solidFill>
                  <a:srgbClr val="333333"/>
                </a:solidFill>
                <a:latin typeface="Calibri"/>
              </a:rPr>
              <a:t>impacto social y ambiental</a:t>
            </a:r>
            <a:r>
              <a:rPr sz="2000" b="0" i="0">
                <a:solidFill>
                  <a:srgbClr val="333333"/>
                </a:solidFill>
                <a:latin typeface="Calibri"/>
              </a:rPr>
              <a:t> del proyecto: a quién más afecta esto aunque no lo use, y cómo se mide.</a:t>
            </a:r>
          </a:p>
          <a:p>
            <a:pPr>
              <a:spcAft>
                <a:spcPts val="800"/>
              </a:spcAft>
            </a:pPr>
            <a:r>
              <a:rPr sz="2000" b="0" i="0">
                <a:solidFill>
                  <a:srgbClr val="333333"/>
                </a:solidFill>
                <a:latin typeface="Calibri"/>
              </a:rPr>
              <a:t>–   </a:t>
            </a:r>
            <a:r>
              <a:rPr sz="2000" b="1" i="0">
                <a:solidFill>
                  <a:srgbClr val="333333"/>
                </a:solidFill>
                <a:latin typeface="Calibri"/>
              </a:rPr>
              <a:t>Aviso:</a:t>
            </a:r>
            <a:r>
              <a:rPr sz="2000" b="0" i="0">
                <a:solidFill>
                  <a:srgbClr val="333333"/>
                </a:solidFill>
                <a:latin typeface="Calibri"/>
              </a:rPr>
              <a:t> Traigan a la Clase 13 el </a:t>
            </a:r>
            <a:r>
              <a:rPr sz="2000" b="1" i="0">
                <a:solidFill>
                  <a:srgbClr val="333333"/>
                </a:solidFill>
                <a:latin typeface="Calibri"/>
              </a:rPr>
              <a:t>listado de actores no usuarios de la Clase 3</a:t>
            </a:r>
            <a:r>
              <a:rPr sz="2000" b="0" i="0">
                <a:solidFill>
                  <a:srgbClr val="333333"/>
                </a:solidFill>
                <a:latin typeface="Calibri"/>
              </a:rPr>
              <a:t> y el </a:t>
            </a:r>
            <a:r>
              <a:rPr sz="2000" b="1" i="0">
                <a:solidFill>
                  <a:srgbClr val="333333"/>
                </a:solidFill>
                <a:latin typeface="Calibri"/>
              </a:rPr>
              <a:t>indicador ambiental de la sesión 5</a:t>
            </a:r>
            <a:r>
              <a:rPr sz="2000" b="0" i="0">
                <a:solidFill>
                  <a:srgbClr val="333333"/>
                </a:solidFill>
                <a:latin typeface="Calibri"/>
              </a:rPr>
              <a:t>: los dos se usan directamente en el taller. Si los perdieron, recupérenlos del documento del equipo antes de la sesión.</a:t>
            </a:r>
          </a:p>
          <a:p>
            <a:pPr>
              <a:spcAft>
                <a:spcPts val="800"/>
              </a:spcAft>
            </a:pPr>
            <a:r>
              <a:rPr sz="2000" b="0" i="0">
                <a:solidFill>
                  <a:srgbClr val="333333"/>
                </a:solidFill>
                <a:latin typeface="Calibri"/>
              </a:rPr>
              <a:t>–   </a:t>
            </a:r>
            <a:r>
              <a:rPr sz="2000" b="1" i="0">
                <a:solidFill>
                  <a:srgbClr val="333333"/>
                </a:solidFill>
                <a:latin typeface="Calibri"/>
              </a:rPr>
              <a:t>Antes de salir:</a:t>
            </a:r>
            <a:r>
              <a:rPr sz="2000" b="0" i="0">
                <a:solidFill>
                  <a:srgbClr val="333333"/>
                </a:solidFill>
                <a:latin typeface="Calibri"/>
              </a:rPr>
              <a:t> el enlace del documento del equipo en el chat, con permiso de lectura para el docente, y el nombre del vocero de hoy.</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Clase 13</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Presentación de avances de proyectos · Clase 12</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La persona que prueba nunca se equivoca: si se perdió, el diseño la perdió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