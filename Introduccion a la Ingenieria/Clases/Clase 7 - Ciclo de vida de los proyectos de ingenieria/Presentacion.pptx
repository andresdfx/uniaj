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orden no es burocracia: cada fase produce lo que la siguiente necesita para no adivinar</a:t>
            </a:r>
          </a:p>
          <a:p/>
          <a:p>
            <a:r>
              <a:t>LAS SEIS FASES, Y POR QUÉ EL ORDEN IMPORTA</a:t>
            </a:r>
          </a:p>
          <a:p/>
          <a:p>
            <a:r>
              <a:t>Conviene presentar las fases como una cadena de preguntas, no como una lista de etapas administrativas. Cada fase responde una pregunta y produce lo que la siguiente necesita para no adivinar.</a:t>
            </a:r>
          </a:p>
          <a:p/>
          <a:p>
            <a:r>
              <a:t>Definición del problema responde *qué se va a resolver y para quién*, y hay que decir en voz alta que esa fase ya la hicieron en la sesión 6: la ficha del problema es el entregable de la primera fase del ciclo de vida de su propio proyecto. Eso reordena la percepción del curso: no estaban haciendo un ejercicio, estaban cerrando una fase.</a:t>
            </a:r>
          </a:p>
          <a:p/>
          <a:p>
            <a:r>
              <a:t>Requisitos responde *qué tiene que hacer la solución para resolver eso, y cómo sabremos que lo hace*. Es la fase de hoy y la que más se salta la gente.</a:t>
            </a:r>
          </a:p>
          <a:p/>
          <a:p>
            <a:r>
              <a:t>Diseño responde *cómo va a estar construido*: las partes, el flujo, las pantallas o los pasos. Construcción es la única fase que el estudiante reconoce como «el proyecto», y vale la pena decirle que es una de seis, y no la más determinante. Validación responde *funciona contra los criterios y con el usuario real*; la trampa clásica es probar con el propio equipo, que ya sabe cómo se usa. Y operación y retiro es la fase que nadie enseña en primer semestre y que conviene nombrar por dos razones: la mayor parte de la vida de un sistema ocurre ahí, y el retiro —qué pasa con los datos cuando el sistema se apaga— es un asunto ético y legal que ya vieron en la sesión 4 con la Ley 1581.</a:t>
            </a:r>
          </a:p>
          <a:p/>
          <a:p>
            <a:r>
              <a:t>El punto que amarra todo: el orden no es burocracia, es economía. Cada fase existe porque descubrir un error en ella cuesta menos que descubrirlo en la siguiente. Quien se salta requisitos no ahorra tiempo: mueve el costo hacia adelante y lo multiplica.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Pida al grupo que diga en qué fase está hoy su propio proyecto. La respuesta correcta es: terminando la primera (la ficha de la Clase 6) y entrando en requisitos.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 la curva del costo del cambio con un caso que cualquiera entiende. Subraye que el error es el mismo; lo único que cambia es cuándo se encuentra.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primero de la izquierda no es un requisito: es una decisión de diseño disfrazada. El segundo no se puede comprobar. El tercero no tiene fecha ni resultado. La derecha se puede verificar con un sí o un no.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PREGUNTA DE ENTRADA: LA CURVA DEL COSTO DEL CAMBIO</a:t>
            </a:r>
          </a:p>
          <a:p/>
          <a:p>
            <a:r>
              <a:t>La analogía de la pared es la más eficiente que existe para esta clase porque nadie necesita saber de software para responderla. Mover una pared en el plano cuesta un borrador; en el ladrillo cuesta tumbar y volver a levantar; en la casa entregada cuesta la obra, la mudanza y el enojo del dueño. Todo el mundo lo intuye, y esa intuición es exactamente la curva del costo del cambio.</a:t>
            </a:r>
          </a:p>
          <a:p/>
          <a:p>
            <a:r>
              <a:t>Lo que hay que hacer explícito en el minuto 12 es que en software la curva es igual pero se ve menos, y ahí está el problema. En una casa, una pared mal puesta se ve; en un sistema, un requisito mal entendido no se ve hasta que alguien lo usa. Por eso en ingeniería de software hubo que inventar fases, revisiones y criterios de aceptación: son el equivalente a mirar el plano antes de pedir el cemento.</a:t>
            </a:r>
          </a:p>
          <a:p/>
          <a:p>
            <a:r>
              <a:t>Recoja las respuestas en el muro. Van a salir cifras espontáneas —«mil veces más caro»— y conviene no corregirlas ahí, sino usarlas cuando llegue la tabla: la dirección de la curva es correcta y los múltiplos exactos son discutibles, lo cual es una buena lección sobre cómo se citan los datos.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CURVA DEL COSTO DEL CAMBIO: QUÉ SE PUEDE AFIRMAR Y QUÉ NO</a:t>
            </a:r>
          </a:p>
          <a:p/>
          <a:p>
            <a:r>
              <a:t>Esta tabla es el corazón cuantitativo de la sesión y hay que manejarla con el mismo rigor que se les exigió en la sesión 5 con las cifras ambientales. Lo que se puede afirmar con seguridad: el costo de corregir un error crece con la fase en que se descubre, y crece por órdenes de magnitud entre los extremos. La forma de esa curva la documentó Barry Boehm en los años setenta a partir de datos de proyectos reales, y se ha vuelto a medir muchas veces desde entonces.</a:t>
            </a:r>
          </a:p>
          <a:p/>
          <a:p>
            <a:r>
              <a:t>Lo que no conviene afirmar: los múltiplos exactos. Circulan tablas con «1× / 5× / 10× / 100×» presentadas como leyes de la naturaleza, y hay literatura que discute si en desarrollo iterativo la curva es tan pronunciada. Diga eso explícitamente en clase: es una oportunidad de oro para mostrar que un ingeniero puede usar un resultado clásico sin exagerarlo. La dirección de la curva no está en discusión; la pendiente sí.</a:t>
            </a:r>
          </a:p>
          <a:p/>
          <a:p>
            <a:r>
              <a:t>El uso práctico de la tabla es una pregunta que los equipos van a responder en el taller: *¿qué decisión que estamos tomando hoy sería carísima cambiar en la Clase 14?* Casi siempre la respuesta es un requisito mal entendido o una restricción ignorada, y hacer la pregunta hoy es lo que la vuelve barata.</a:t>
            </a:r>
          </a:p>
          <a:p/>
          <a:p>
            <a:r>
              <a:t>Hay un segundo uso, más sutil, que vale la pena señalar si el grupo responde bien: la curva explica por qué las revisiones tempranas —que se sienten como pérdida de tiempo porque todavía no hay nada construido— son la actividad más rentable del proyecto. En el Therac-25 de la sesión 4, la revisión independiente del software que nunca se hizo era justamente eso.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CASCADA, ITERATIVO, Y LO QUE ROYCE DIJO DE VERDAD</a:t>
            </a:r>
          </a:p>
          <a:p/>
          <a:p>
            <a:r>
              <a:t>En la sesión 2 apareció Royce y su artículo de 1970. Hoy se cierra el punto, porque es una de las confusiones más extendidas de la profesión: el diagrama de cascada de una sola pasada suele atribuirse a Royce como su propuesta, y en el mismo texto él lo presentó como el modo riesgoso y advirtió que hacerlo así invita al fracaso. Su propuesta incluía volver atrás, prototipar y hacer el trabajo dos veces. La profesión se quedó con el dibujo y perdió la advertencia.</a:t>
            </a:r>
          </a:p>
          <a:p/>
          <a:p>
            <a:r>
              <a:t>La comparación que importa para el curso no es «cascada mala, ágil bueno» —esa es una caricatura y hay que evitarla—. Es esta: las fases son las mismas en los dos; lo que cambia es cuántas veces se recorren y cuándo aparece el usuario. La cascada de una pasada es razonable cuando el problema es conocido, estable y el costo de equivocarse al final es asumible. El enfoque iterativo es mejor cuando hay incertidumbre sobre qué necesita el usuario, que es la situación normal y en particular la de todos los proyectos de este curso.</a:t>
            </a:r>
          </a:p>
          <a:p/>
          <a:p>
            <a:r>
              <a:t>Aterrícelo en el calendario, porque eso les hace sentir la diferencia: este curso va a hacer dos vueltas completas. Una corta en las sesiones 10 y 11 —prototipo de baja fidelidad, prueba, corrección— y otra en las Clases 12 a 14, con la retroalimentación de la presentación de avances. No es una decisión estética del docente: es la manera de que el error de requisitos aparezca en la sesión 10 y no en la 15, cuando ya no hay tiempo.</a:t>
            </a:r>
          </a:p>
          <a:p/>
          <a:p>
            <a:r>
              <a:t>Si alguien pregunta por el Manifiesto Ágil de 2001, que salió en la sesión 2: la respuesta honesta es que reordenó prioridades —software funcionando sobre documentación, colaboración sobre contrato— y que no eliminó las fases. Un equipo ágil sigue definiendo el problema, escribiendo requisitos, diseñando, construyendo y validando; lo hace en ciclos cortos y con menos ceremonia.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REQUISITOS, CRITERIOS DE ACEPTACIÓN Y HITOS: LO QUE SE ENTREGA HOY</a:t>
            </a:r>
          </a:p>
          <a:p/>
          <a:p>
            <a:r>
              <a:t>Requisito funcional es algo que la solución hace, escrito desde el usuario: «el usuario puede consultar si un libro está disponible sin ir a la biblioteca». El error típico de primer semestre es escribirlo desde la tecnología —«el sistema tendrá una base de datos MySQL»—, que no es un requisito sino una decisión de diseño disfrazada, y encima toma la decisión en la fase equivocada.</a:t>
            </a:r>
          </a:p>
          <a:p/>
          <a:p>
            <a:r>
              <a:t>Requisito no funcional es una condición que la solución debe cumplir: funcionar en un computador viejo, abrir sin crear cuenta, responder en menos de tanto, no guardar datos personales. Aquí hay una conexión que hay que hacer explícita y que le da sentido a dos sesiones anteriores: los requisitos no funcionales de sus proyectos salen de las restricciones que marcaron en el árbol de la sesión 6 y del indicador ambiental de la sesión 5. Si la biblioteca no tiene computador en el mostrador, «funciona desde el celular de la voluntaria» es un requisito no funcional, no un detalle.</a:t>
            </a:r>
          </a:p>
          <a:p/>
          <a:p>
            <a:r>
              <a:t>Criterio de aceptación es la parte que casi nadie escribe y la que vuelve verificable el proyecto: cómo se comprueba que el requisito se cumple, con un caso concreto y un umbral. «Un usuario que no conoce el sistema encuentra la disponibilidad de un libro en menos de un minuto, sin ayuda» se puede ejecutar delante de alguien. «El sistema debe ser fácil de usar» no se puede ejecutar, y por lo tanto no sirve. La regla que conviene dictar: si no se puede convertir en una prueba que alguien haga, no es un criterio.</a:t>
            </a:r>
          </a:p>
          <a:p/>
          <a:p>
            <a:r>
              <a:t>Hito es un punto del calendario donde algo queda terminado y verificable. Es el concepto que salva el proyecto de la última semana: «vamos avanzando» no es un hito; «en la sesión 10 hay tres pantallas probadas con un usuario» sí. En el taller de hoy se les pide el plan de hitos hasta la Clase 15, y conviene revisarlo con severidad, porque un plan con todo el trabajo en la Clase 14 es un proyecto que va a fallar y todavía se puede corregir.</a:t>
            </a:r>
          </a:p>
          <a:p/>
          <a:p>
            <a:r>
              <a:t>Los tres malentendidos de la última diapositiva son los que aparecen en las salas. El primero —que las fases son burocracia— se responde con la tabla del costo. El segundo —que iterativo significa no planear— se responde señalando que se planea más seguido, no menos. El tercero conviene decirlo porque tranquiliza: las fases no son departamentos ni personas; en un equipo de cinco, las seis fases las recorren los mismos cinco, y lo que cambia es la pregunta que están respondiendo.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REQUISITOS, CRITERIOS DE ACEPTACIÓN Y HITOS: LO QUE SE ENTREGA HOY</a:t>
            </a:r>
          </a:p>
          <a:p/>
          <a:p>
            <a:r>
              <a:t>Requisito funcional es algo que la solución hace, escrito desde el usuario: «el usuario puede consultar si un libro está disponible sin ir a la biblioteca». El error típico de primer semestre es escribirlo desde la tecnología —«el sistema tendrá una base de datos MySQL»—, que no es un requisito sino una decisión de diseño disfrazada, y encima toma la decisión en la fase equivocada.</a:t>
            </a:r>
          </a:p>
          <a:p/>
          <a:p>
            <a:r>
              <a:t>Requisito no funcional es una condición que la solución debe cumplir: funcionar en un computador viejo, abrir sin crear cuenta, responder en menos de tanto, no guardar datos personales. Aquí hay una conexión que hay que hacer explícita y que le da sentido a dos sesiones anteriores: los requisitos no funcionales de sus proyectos salen de las restricciones que marcaron en el árbol de la sesión 6 y del indicador ambiental de la sesión 5. Si la biblioteca no tiene computador en el mostrador, «funciona desde el celular de la voluntaria» es un requisito no funcional, no un detalle.</a:t>
            </a:r>
          </a:p>
          <a:p/>
          <a:p>
            <a:r>
              <a:t>Criterio de aceptación es la parte que casi nadie escribe y la que vuelve verificable el proyecto: cómo se comprueba que el requisito se cumple, con un caso concreto y un umbral. «Un usuario que no conoce el sistema encuentra la disponibilidad de un libro en menos de un minuto, sin ayuda» se puede ejecutar delante de alguien. «El sistema debe ser fácil de usar» no se puede ejecutar, y por lo tanto no sirve. La regla que conviene dictar: si no se puede convertir en una prueba que alguien haga, no es un criterio.</a:t>
            </a:r>
          </a:p>
          <a:p/>
          <a:p>
            <a:r>
              <a:t>Hito es un punto del calendario donde algo queda terminado y verificable. Es el concepto que salva el proyecto de la última semana: «vamos avanzando» no es un hito; «en la sesión 10 hay tres pantallas probadas con un usuario» sí. En el taller de hoy se les pide el plan de hitos hasta la Clase 15, y conviene revisarlo con severidad, porque un plan con todo el trabajo en la Clase 14 es un proyecto que va a fallar y todavía se puede corregir.</a:t>
            </a:r>
          </a:p>
          <a:p/>
          <a:p>
            <a:r>
              <a:t>Los tres malentendidos de la última diapositiva son los que aparecen en las salas. El primero —que las fases son burocracia— se responde con la tabla del costo. El segundo —que iterativo significa no planear— se responde señalando que se planea más seguido, no menos. El tercero conviene decirlo porque tranquiliza: las fases no son departamentos ni personas; en un equipo de cinco, las seis fases las recorren los mismos cinco, y lo que cambia es la pregunta que están respondiendo.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7</a:t>
            </a:r>
          </a:p>
        </p:txBody>
      </p:sp>
      <p:sp>
        <p:nvSpPr>
          <p:cNvPr id="8" name="TextBox 7"/>
          <p:cNvSpPr txBox="1"/>
          <p:nvPr/>
        </p:nvSpPr>
        <p:spPr>
          <a:xfrm>
            <a:off x="731520" y="2331720"/>
            <a:ext cx="10728655" cy="1828800"/>
          </a:xfrm>
          <a:prstGeom prst="rect">
            <a:avLst/>
          </a:prstGeom>
          <a:noFill/>
        </p:spPr>
        <p:txBody>
          <a:bodyPr wrap="square" anchor="ctr"/>
          <a:lstStyle/>
          <a:p>
            <a:pPr algn="ctr"/>
            <a:r>
              <a:rPr sz="3400" b="1" i="0">
                <a:solidFill>
                  <a:srgbClr val="FFFFFF"/>
                </a:solidFill>
                <a:latin typeface="Calibri"/>
              </a:rPr>
              <a:t>Ciclo de vida de los proyectos de ingeniería</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Por qué el orden de las fases decide el costo del error</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Agenda de hoy (90 min)</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La misma estructura de las 16 sesiones. El reloj de pared de su grupo está en el calendario del curso.</a:t>
            </a:r>
          </a:p>
        </p:txBody>
      </p:sp>
      <p:sp>
        <p:nvSpPr>
          <p:cNvPr id="6" name="Rectangle 5"/>
          <p:cNvSpPr/>
          <p:nvPr/>
        </p:nvSpPr>
        <p:spPr>
          <a:xfrm>
            <a:off x="457200" y="2386584"/>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438625"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63624"/>
            <a:ext cx="2255459" cy="502920"/>
          </a:xfrm>
          <a:prstGeom prst="rect">
            <a:avLst/>
          </a:prstGeom>
          <a:noFill/>
        </p:spPr>
        <p:txBody>
          <a:bodyPr wrap="square">
            <a:spAutoFit/>
          </a:bodyPr>
          <a:lstStyle/>
          <a:p>
            <a:pPr algn="ctr"/>
            <a:r>
              <a:rPr sz="1300" b="1" i="0">
                <a:solidFill>
                  <a:srgbClr val="095292"/>
                </a:solidFill>
                <a:latin typeface="Calibri"/>
              </a:rPr>
              <a:t>00:00–00:10 · 10 min</a:t>
            </a:r>
          </a:p>
        </p:txBody>
      </p:sp>
      <p:sp>
        <p:nvSpPr>
          <p:cNvPr id="9" name="TextBox 8"/>
          <p:cNvSpPr txBox="1"/>
          <p:nvPr/>
        </p:nvSpPr>
        <p:spPr>
          <a:xfrm>
            <a:off x="502920" y="2798064"/>
            <a:ext cx="2164019" cy="3099816"/>
          </a:xfrm>
          <a:prstGeom prst="rect">
            <a:avLst/>
          </a:prstGeom>
          <a:noFill/>
        </p:spPr>
        <p:txBody>
          <a:bodyPr wrap="square">
            <a:spAutoFit/>
          </a:bodyPr>
          <a:lstStyle/>
          <a:p>
            <a:pPr algn="ctr"/>
            <a:r>
              <a:rPr sz="1300" b="0" i="0">
                <a:solidFill>
                  <a:srgbClr val="333333"/>
                </a:solidFill>
                <a:latin typeface="Calibri"/>
              </a:rPr>
              <a:t>Pregunta de entrada en el muro mientras se conectan</a:t>
            </a:r>
          </a:p>
        </p:txBody>
      </p:sp>
      <p:sp>
        <p:nvSpPr>
          <p:cNvPr id="10" name="Rounded Rectangle 9"/>
          <p:cNvSpPr/>
          <p:nvPr/>
        </p:nvSpPr>
        <p:spPr>
          <a:xfrm>
            <a:off x="3694084"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12659" y="1563624"/>
            <a:ext cx="2255459" cy="502920"/>
          </a:xfrm>
          <a:prstGeom prst="rect">
            <a:avLst/>
          </a:prstGeom>
          <a:noFill/>
        </p:spPr>
        <p:txBody>
          <a:bodyPr wrap="square">
            <a:spAutoFit/>
          </a:bodyPr>
          <a:lstStyle/>
          <a:p>
            <a:pPr algn="ctr"/>
            <a:r>
              <a:rPr sz="1300" b="1" i="0">
                <a:solidFill>
                  <a:srgbClr val="095292"/>
                </a:solidFill>
                <a:latin typeface="Calibri"/>
              </a:rPr>
              <a:t>00:10–00:55 · 45 min</a:t>
            </a:r>
          </a:p>
        </p:txBody>
      </p:sp>
      <p:sp>
        <p:nvSpPr>
          <p:cNvPr id="12" name="TextBox 11"/>
          <p:cNvSpPr txBox="1"/>
          <p:nvPr/>
        </p:nvSpPr>
        <p:spPr>
          <a:xfrm>
            <a:off x="2758379" y="2798064"/>
            <a:ext cx="2164019" cy="3099816"/>
          </a:xfrm>
          <a:prstGeom prst="rect">
            <a:avLst/>
          </a:prstGeom>
          <a:noFill/>
        </p:spPr>
        <p:txBody>
          <a:bodyPr wrap="square">
            <a:spAutoFit/>
          </a:bodyPr>
          <a:lstStyle/>
          <a:p>
            <a:pPr algn="ctr"/>
            <a:r>
              <a:rPr sz="1300" b="0" i="0">
                <a:solidFill>
                  <a:srgbClr val="333333"/>
                </a:solidFill>
                <a:latin typeface="Calibri"/>
              </a:rPr>
              <a:t>Teoría — fases, costo del cambio, cascada vs. iterativo y requisitos</a:t>
            </a:r>
          </a:p>
        </p:txBody>
      </p:sp>
      <p:sp>
        <p:nvSpPr>
          <p:cNvPr id="13" name="Rounded Rectangle 12"/>
          <p:cNvSpPr/>
          <p:nvPr/>
        </p:nvSpPr>
        <p:spPr>
          <a:xfrm>
            <a:off x="5949543"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68118" y="1563624"/>
            <a:ext cx="2255459" cy="502920"/>
          </a:xfrm>
          <a:prstGeom prst="rect">
            <a:avLst/>
          </a:prstGeom>
          <a:noFill/>
        </p:spPr>
        <p:txBody>
          <a:bodyPr wrap="square">
            <a:spAutoFit/>
          </a:bodyPr>
          <a:lstStyle/>
          <a:p>
            <a:pPr algn="ctr"/>
            <a:r>
              <a:rPr sz="1300" b="1" i="0">
                <a:solidFill>
                  <a:srgbClr val="095292"/>
                </a:solidFill>
                <a:latin typeface="Calibri"/>
              </a:rPr>
              <a:t>00:55–01:12 · 17 min</a:t>
            </a:r>
          </a:p>
        </p:txBody>
      </p:sp>
      <p:sp>
        <p:nvSpPr>
          <p:cNvPr id="15" name="TextBox 14"/>
          <p:cNvSpPr txBox="1"/>
          <p:nvPr/>
        </p:nvSpPr>
        <p:spPr>
          <a:xfrm>
            <a:off x="5013838" y="2798064"/>
            <a:ext cx="2164019" cy="3099816"/>
          </a:xfrm>
          <a:prstGeom prst="rect">
            <a:avLst/>
          </a:prstGeom>
          <a:noFill/>
        </p:spPr>
        <p:txBody>
          <a:bodyPr wrap="square">
            <a:spAutoFit/>
          </a:bodyPr>
          <a:lstStyle/>
          <a:p>
            <a:pPr algn="ctr"/>
            <a:r>
              <a:rPr sz="1300" b="0" i="0">
                <a:solidFill>
                  <a:srgbClr val="333333"/>
                </a:solidFill>
                <a:latin typeface="Calibri"/>
              </a:rPr>
              <a:t>Práctica en equipos (opcional · la guía está en la carpeta de la clase)</a:t>
            </a:r>
          </a:p>
        </p:txBody>
      </p:sp>
      <p:sp>
        <p:nvSpPr>
          <p:cNvPr id="16" name="Rounded Rectangle 15"/>
          <p:cNvSpPr/>
          <p:nvPr/>
        </p:nvSpPr>
        <p:spPr>
          <a:xfrm>
            <a:off x="8205002"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577" y="1563624"/>
            <a:ext cx="2255459" cy="502920"/>
          </a:xfrm>
          <a:prstGeom prst="rect">
            <a:avLst/>
          </a:prstGeom>
          <a:noFill/>
        </p:spPr>
        <p:txBody>
          <a:bodyPr wrap="square">
            <a:spAutoFit/>
          </a:bodyPr>
          <a:lstStyle/>
          <a:p>
            <a:pPr algn="ctr"/>
            <a:r>
              <a:rPr sz="1300" b="1" i="0">
                <a:solidFill>
                  <a:srgbClr val="095292"/>
                </a:solidFill>
                <a:latin typeface="Calibri"/>
              </a:rPr>
              <a:t>01:12–01:27 · 15 min</a:t>
            </a:r>
          </a:p>
        </p:txBody>
      </p:sp>
      <p:sp>
        <p:nvSpPr>
          <p:cNvPr id="18" name="TextBox 17"/>
          <p:cNvSpPr txBox="1"/>
          <p:nvPr/>
        </p:nvSpPr>
        <p:spPr>
          <a:xfrm>
            <a:off x="7269297" y="2798064"/>
            <a:ext cx="2164019" cy="3099816"/>
          </a:xfrm>
          <a:prstGeom prst="rect">
            <a:avLst/>
          </a:prstGeom>
          <a:noFill/>
        </p:spPr>
        <p:txBody>
          <a:bodyPr wrap="square">
            <a:spAutoFit/>
          </a:bodyPr>
          <a:lstStyle/>
          <a:p>
            <a:pPr algn="ctr"/>
            <a:r>
              <a:rPr sz="1300" b="0" i="0">
                <a:solidFill>
                  <a:srgbClr val="333333"/>
                </a:solidFill>
                <a:latin typeface="Calibri"/>
              </a:rPr>
              <a:t>Socialización de la práctica, si se hizo</a:t>
            </a:r>
          </a:p>
        </p:txBody>
      </p:sp>
      <p:sp>
        <p:nvSpPr>
          <p:cNvPr id="19" name="Rounded Rectangle 18"/>
          <p:cNvSpPr/>
          <p:nvPr/>
        </p:nvSpPr>
        <p:spPr>
          <a:xfrm>
            <a:off x="10460461"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79036" y="1563624"/>
            <a:ext cx="2255459" cy="502920"/>
          </a:xfrm>
          <a:prstGeom prst="rect">
            <a:avLst/>
          </a:prstGeom>
          <a:noFill/>
        </p:spPr>
        <p:txBody>
          <a:bodyPr wrap="square">
            <a:spAutoFit/>
          </a:bodyPr>
          <a:lstStyle/>
          <a:p>
            <a:pPr algn="ctr"/>
            <a:r>
              <a:rPr sz="1300" b="1" i="0">
                <a:solidFill>
                  <a:srgbClr val="095292"/>
                </a:solidFill>
                <a:latin typeface="Calibri"/>
              </a:rPr>
              <a:t>01:27–01:30 · 3 min</a:t>
            </a:r>
          </a:p>
        </p:txBody>
      </p:sp>
      <p:sp>
        <p:nvSpPr>
          <p:cNvPr id="21" name="TextBox 20"/>
          <p:cNvSpPr txBox="1"/>
          <p:nvPr/>
        </p:nvSpPr>
        <p:spPr>
          <a:xfrm>
            <a:off x="9524756" y="2798064"/>
            <a:ext cx="2164019" cy="3099816"/>
          </a:xfrm>
          <a:prstGeom prst="rect">
            <a:avLst/>
          </a:prstGeom>
          <a:noFill/>
        </p:spPr>
        <p:txBody>
          <a:bodyPr wrap="square">
            <a:spAutoFit/>
          </a:bodyPr>
          <a:lstStyle/>
          <a:p>
            <a:pPr algn="ctr"/>
            <a:r>
              <a:rPr sz="1300" b="0" i="0">
                <a:solidFill>
                  <a:srgbClr val="333333"/>
                </a:solidFill>
                <a:latin typeface="Calibri"/>
              </a:rPr>
              <a:t>Una idea, la tarea y los enlaces en el chat</a:t>
            </a:r>
          </a:p>
        </p:txBody>
      </p:sp>
      <p:sp>
        <p:nvSpPr>
          <p:cNvPr id="22" name="TextBox 21"/>
          <p:cNvSpPr txBox="1"/>
          <p:nvPr/>
        </p:nvSpPr>
        <p:spPr>
          <a:xfrm>
            <a:off x="457200" y="5806440"/>
            <a:ext cx="11277295" cy="640080"/>
          </a:xfrm>
          <a:prstGeom prst="rect">
            <a:avLst/>
          </a:prstGeom>
          <a:noFill/>
        </p:spPr>
        <p:txBody>
          <a:bodyPr wrap="square">
            <a:spAutoFit/>
          </a:bodyPr>
          <a:lstStyle/>
          <a:p>
            <a:pPr algn="ctr"/>
            <a:r>
              <a:rPr sz="1200" b="0" i="1">
                <a:solidFill>
                  <a:srgbClr val="666666"/>
                </a:solidFill>
                <a:latin typeface="Calibri"/>
              </a:rPr>
              <a:t>Solo el bloque de </a:t>
            </a:r>
            <a:r>
              <a:rPr sz="1200" b="1" i="1">
                <a:solidFill>
                  <a:srgbClr val="666666"/>
                </a:solidFill>
                <a:latin typeface="Calibri"/>
              </a:rPr>
              <a:t>esta</a:t>
            </a:r>
            <a:r>
              <a:rPr sz="1200" b="0" i="1">
                <a:solidFill>
                  <a:srgbClr val="666666"/>
                </a:solidFill>
                <a:latin typeface="Calibri"/>
              </a:rPr>
              <a:t> clase · 120 min</a:t>
            </a:r>
          </a:p>
        </p:txBody>
      </p:sp>
      <p:sp>
        <p:nvSpPr>
          <p:cNvPr id="23" name="TextBox 2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Objetivos de la sesión</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Nombrar las </a:t>
            </a:r>
            <a:r>
              <a:rPr sz="2000" b="1" i="0">
                <a:solidFill>
                  <a:srgbClr val="333333"/>
                </a:solidFill>
                <a:latin typeface="Calibri"/>
              </a:rPr>
              <a:t>fases del ciclo de vida</a:t>
            </a:r>
            <a:r>
              <a:rPr sz="2000" b="0" i="0">
                <a:solidFill>
                  <a:srgbClr val="333333"/>
                </a:solidFill>
                <a:latin typeface="Calibri"/>
              </a:rPr>
              <a:t> de un proyecto y qué se entrega en cada una.</a:t>
            </a:r>
          </a:p>
          <a:p>
            <a:pPr>
              <a:spcAft>
                <a:spcPts val="800"/>
              </a:spcAft>
            </a:pPr>
            <a:r>
              <a:rPr sz="2000" b="0" i="0">
                <a:solidFill>
                  <a:srgbClr val="333333"/>
                </a:solidFill>
                <a:latin typeface="Calibri"/>
              </a:rPr>
              <a:t>–   Explicar por qué </a:t>
            </a:r>
            <a:r>
              <a:rPr sz="2000" b="1" i="0">
                <a:solidFill>
                  <a:srgbClr val="333333"/>
                </a:solidFill>
                <a:latin typeface="Calibri"/>
              </a:rPr>
              <a:t>el costo de corregir un error crece</a:t>
            </a:r>
            <a:r>
              <a:rPr sz="2000" b="0" i="0">
                <a:solidFill>
                  <a:srgbClr val="333333"/>
                </a:solidFill>
                <a:latin typeface="Calibri"/>
              </a:rPr>
              <a:t> con la fase en que se descubre.</a:t>
            </a:r>
          </a:p>
          <a:p>
            <a:pPr>
              <a:spcAft>
                <a:spcPts val="800"/>
              </a:spcAft>
            </a:pPr>
            <a:r>
              <a:rPr sz="2000" b="0" i="0">
                <a:solidFill>
                  <a:srgbClr val="333333"/>
                </a:solidFill>
                <a:latin typeface="Calibri"/>
              </a:rPr>
              <a:t>–   Distinguir un </a:t>
            </a:r>
            <a:r>
              <a:rPr sz="2000" b="1" i="0">
                <a:solidFill>
                  <a:srgbClr val="333333"/>
                </a:solidFill>
                <a:latin typeface="Calibri"/>
              </a:rPr>
              <a:t>requisito funcional</a:t>
            </a:r>
            <a:r>
              <a:rPr sz="2000" b="0" i="0">
                <a:solidFill>
                  <a:srgbClr val="333333"/>
                </a:solidFill>
                <a:latin typeface="Calibri"/>
              </a:rPr>
              <a:t> de uno </a:t>
            </a:r>
            <a:r>
              <a:rPr sz="2000" b="1" i="0">
                <a:solidFill>
                  <a:srgbClr val="333333"/>
                </a:solidFill>
                <a:latin typeface="Calibri"/>
              </a:rPr>
              <a:t>no funcional</a:t>
            </a:r>
            <a:r>
              <a:rPr sz="2000" b="0" i="0">
                <a:solidFill>
                  <a:srgbClr val="333333"/>
                </a:solidFill>
                <a:latin typeface="Calibri"/>
              </a:rPr>
              <a:t>, y escribir su criterio de aceptación.</a:t>
            </a:r>
          </a:p>
          <a:p>
            <a:pPr>
              <a:spcAft>
                <a:spcPts val="800"/>
              </a:spcAft>
            </a:pPr>
            <a:r>
              <a:rPr sz="2000" b="0" i="0">
                <a:solidFill>
                  <a:srgbClr val="333333"/>
                </a:solidFill>
                <a:latin typeface="Calibri"/>
              </a:rPr>
              <a:t>–   Ubicar el proyecto del equipo en una fase y decir </a:t>
            </a:r>
            <a:r>
              <a:rPr sz="2000" b="1" i="0">
                <a:solidFill>
                  <a:srgbClr val="333333"/>
                </a:solidFill>
                <a:latin typeface="Calibri"/>
              </a:rPr>
              <a:t>qué falta para cerrarla</a:t>
            </a:r>
            <a:r>
              <a:rPr sz="2000" b="0" i="0">
                <a:solidFill>
                  <a:srgbClr val="333333"/>
                </a:solidFill>
                <a:latin typeface="Calibri"/>
              </a:rPr>
              <a:t>.</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uniajc_blanco.png"/>
          <p:cNvPicPr>
            <a:picLocks noChangeAspect="1"/>
          </p:cNvPicPr>
          <p:nvPr/>
        </p:nvPicPr>
        <p:blipFill>
          <a:blip r:embed="rId2"/>
          <a:stretch>
            <a:fillRect/>
          </a:stretch>
        </p:blipFill>
        <p:spPr>
          <a:xfrm>
            <a:off x="10134295" y="320040"/>
            <a:ext cx="1645920" cy="717394"/>
          </a:xfrm>
          <a:prstGeom prst="rect">
            <a:avLst/>
          </a:prstGeom>
        </p:spPr>
      </p:pic>
      <p:sp>
        <p:nvSpPr>
          <p:cNvPr id="5" name="TextBox 4"/>
          <p:cNvSpPr txBox="1"/>
          <p:nvPr/>
        </p:nvSpPr>
        <p:spPr>
          <a:xfrm>
            <a:off x="685800" y="1280160"/>
            <a:ext cx="10820095" cy="365760"/>
          </a:xfrm>
          <a:prstGeom prst="rect">
            <a:avLst/>
          </a:prstGeom>
          <a:noFill/>
        </p:spPr>
        <p:txBody>
          <a:bodyPr wrap="square">
            <a:spAutoFit/>
          </a:bodyPr>
          <a:lstStyle/>
          <a:p>
            <a:pPr algn="ctr"/>
            <a:r>
              <a:rPr sz="1400" b="1" i="0">
                <a:solidFill>
                  <a:srgbClr val="269CCB"/>
                </a:solidFill>
                <a:latin typeface="Calibri"/>
              </a:rPr>
              <a:t>Pregunta de entrada</a:t>
            </a:r>
          </a:p>
        </p:txBody>
      </p:sp>
      <p:sp>
        <p:nvSpPr>
          <p:cNvPr id="6" name="TextBox 5"/>
          <p:cNvSpPr txBox="1"/>
          <p:nvPr/>
        </p:nvSpPr>
        <p:spPr>
          <a:xfrm>
            <a:off x="685800" y="1828800"/>
            <a:ext cx="10820095" cy="2011680"/>
          </a:xfrm>
          <a:prstGeom prst="rect">
            <a:avLst/>
          </a:prstGeom>
          <a:noFill/>
        </p:spPr>
        <p:txBody>
          <a:bodyPr wrap="square" anchor="ctr"/>
          <a:lstStyle/>
          <a:p>
            <a:pPr algn="ctr"/>
            <a:r>
              <a:rPr sz="2800" b="1" i="0">
                <a:solidFill>
                  <a:srgbClr val="FFFFFF"/>
                </a:solidFill>
                <a:latin typeface="Calibri"/>
              </a:rPr>
              <a:t>¿Cuánto cuesta mover una pared? Depende de si está en el plano, en el ladrillo o en la casa ya entregada.</a:t>
            </a:r>
          </a:p>
        </p:txBody>
      </p:sp>
      <p:sp>
        <p:nvSpPr>
          <p:cNvPr id="7" name="TextBox 6"/>
          <p:cNvSpPr txBox="1"/>
          <p:nvPr/>
        </p:nvSpPr>
        <p:spPr>
          <a:xfrm>
            <a:off x="822960" y="4114800"/>
            <a:ext cx="10545775" cy="1645920"/>
          </a:xfrm>
          <a:prstGeom prst="rect">
            <a:avLst/>
          </a:prstGeom>
          <a:noFill/>
        </p:spPr>
        <p:txBody>
          <a:bodyPr wrap="square">
            <a:spAutoFit/>
          </a:bodyPr>
          <a:lstStyle/>
          <a:p>
            <a:pPr algn="ctr">
              <a:spcAft>
                <a:spcPts val="600"/>
              </a:spcAft>
            </a:pPr>
            <a:r>
              <a:rPr sz="1500" b="0" i="0">
                <a:solidFill>
                  <a:srgbClr val="269CCB"/>
                </a:solidFill>
                <a:latin typeface="Calibri"/>
              </a:rPr>
              <a:t>En el plano cuesta un borrador. En la casa terminada cuesta tumbarla.</a:t>
            </a:r>
          </a:p>
          <a:p>
            <a:pPr algn="ctr">
              <a:spcAft>
                <a:spcPts val="600"/>
              </a:spcAft>
            </a:pPr>
            <a:r>
              <a:rPr sz="1500" b="0" i="0">
                <a:solidFill>
                  <a:srgbClr val="269CCB"/>
                </a:solidFill>
                <a:latin typeface="Calibri"/>
              </a:rPr>
              <a:t>El software tiene la misma curva, y es la razón por la que existen las fases.</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Las seis fases del ciclo de vida</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eis-fase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seis-fases-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seis-fases-paso3.png"/>
          <p:cNvPicPr>
            <a:picLocks noChangeAspect="1"/>
          </p:cNvPicPr>
          <p:nvPr/>
        </p:nvPicPr>
        <p:blipFill>
          <a:blip r:embed="rId4"/>
          <a:stretch>
            <a:fillRect/>
          </a:stretch>
        </p:blipFill>
        <p:spPr>
          <a:xfrm>
            <a:off x="5876318" y="1261872"/>
            <a:ext cx="5852160" cy="4681728"/>
          </a:xfrm>
          <a:prstGeom prst="rect">
            <a:avLst/>
          </a:prstGeom>
        </p:spPr>
      </p:pic>
      <p:pic>
        <p:nvPicPr>
          <p:cNvPr id="9" name="Picture 8" descr="seis-fases-paso4.png"/>
          <p:cNvPicPr>
            <a:picLocks noChangeAspect="1"/>
          </p:cNvPicPr>
          <p:nvPr/>
        </p:nvPicPr>
        <p:blipFill>
          <a:blip r:embed="rId5"/>
          <a:stretch>
            <a:fillRect/>
          </a:stretch>
        </p:blipFill>
        <p:spPr>
          <a:xfrm>
            <a:off x="5876318" y="1261872"/>
            <a:ext cx="5852160" cy="4681728"/>
          </a:xfrm>
          <a:prstGeom prst="rect">
            <a:avLst/>
          </a:prstGeom>
        </p:spPr>
      </p:pic>
      <p:sp>
        <p:nvSpPr>
          <p:cNvPr id="18" name="TextBox 17"/>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9" name="TextBox 18"/>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DEFINICIÓN DEL PROBLEMA:</a:t>
            </a:r>
            <a:r>
              <a:rPr sz="2000" b="0" i="0">
                <a:solidFill>
                  <a:srgbClr val="333333"/>
                </a:solidFill>
                <a:latin typeface="Calibri"/>
              </a:rPr>
              <a:t> Qué se resuelve y para quién: </a:t>
            </a:r>
            <a:r>
              <a:rPr sz="2000" b="1" i="0">
                <a:solidFill>
                  <a:srgbClr val="333333"/>
                </a:solidFill>
                <a:latin typeface="Calibri"/>
              </a:rPr>
              <a:t>la ficha del problema de la sesión 6</a:t>
            </a:r>
          </a:p>
          <a:p>
            <a:pPr>
              <a:spcAft>
                <a:spcPts val="800"/>
              </a:spcAft>
            </a:pPr>
            <a:r>
              <a:rPr sz="2000" b="0" i="0">
                <a:solidFill>
                  <a:srgbClr val="333333"/>
                </a:solidFill>
                <a:latin typeface="Calibri"/>
              </a:rPr>
              <a:t>–   </a:t>
            </a:r>
            <a:r>
              <a:rPr sz="2000" b="1" i="0">
                <a:solidFill>
                  <a:srgbClr val="333333"/>
                </a:solidFill>
                <a:latin typeface="Calibri"/>
              </a:rPr>
              <a:t>REQUISITOS:</a:t>
            </a:r>
            <a:r>
              <a:rPr sz="2000" b="0" i="0">
                <a:solidFill>
                  <a:srgbClr val="333333"/>
                </a:solidFill>
                <a:latin typeface="Calibri"/>
              </a:rPr>
              <a:t> Qué debe hacer la solución, y cómo se sabrá que lo hace</a:t>
            </a:r>
          </a:p>
          <a:p>
            <a:pPr>
              <a:spcAft>
                <a:spcPts val="800"/>
              </a:spcAft>
            </a:pPr>
            <a:r>
              <a:rPr sz="2000" b="0" i="0">
                <a:solidFill>
                  <a:srgbClr val="333333"/>
                </a:solidFill>
                <a:latin typeface="Calibri"/>
              </a:rPr>
              <a:t>–   </a:t>
            </a:r>
            <a:r>
              <a:rPr sz="2000" b="1" i="0">
                <a:solidFill>
                  <a:srgbClr val="333333"/>
                </a:solidFill>
                <a:latin typeface="Calibri"/>
              </a:rPr>
              <a:t>DISEÑO:</a:t>
            </a:r>
            <a:r>
              <a:rPr sz="2000" b="0" i="0">
                <a:solidFill>
                  <a:srgbClr val="333333"/>
                </a:solidFill>
                <a:latin typeface="Calibri"/>
              </a:rPr>
              <a:t> Cómo va a estar construida: partes, flujo, pantallas o pasos</a:t>
            </a:r>
          </a:p>
          <a:p>
            <a:pPr>
              <a:spcAft>
                <a:spcPts val="800"/>
              </a:spcAft>
            </a:pPr>
            <a:r>
              <a:rPr sz="2000" b="0" i="0">
                <a:solidFill>
                  <a:srgbClr val="333333"/>
                </a:solidFill>
                <a:latin typeface="Calibri"/>
              </a:rPr>
              <a:t>–   </a:t>
            </a:r>
            <a:r>
              <a:rPr sz="2000" b="1" i="0">
                <a:solidFill>
                  <a:srgbClr val="333333"/>
                </a:solidFill>
                <a:latin typeface="Calibri"/>
              </a:rPr>
              <a:t>CONSTRUCCIÓN:</a:t>
            </a:r>
            <a:r>
              <a:rPr sz="2000" b="0" i="0">
                <a:solidFill>
                  <a:srgbClr val="333333"/>
                </a:solidFill>
                <a:latin typeface="Calibri"/>
              </a:rPr>
              <a:t> Se construye. Todos creen que es «el proyecto», y es una de seis</a:t>
            </a:r>
          </a:p>
        </p:txBody>
      </p:sp>
      <p:sp>
        <p:nvSpPr>
          <p:cNvPr id="20" name="TextBox 1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Ejemplo: las seis fases en la app de turnos de la tienda</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Un solo proyecto pequeño, recorrido de punta a punta.</a:t>
            </a:r>
          </a:p>
        </p:txBody>
      </p:sp>
      <p:sp>
        <p:nvSpPr>
          <p:cNvPr id="6" name="Rounded Rectangle 5"/>
          <p:cNvSpPr/>
          <p:nvPr/>
        </p:nvSpPr>
        <p:spPr>
          <a:xfrm>
            <a:off x="457200" y="1444752"/>
            <a:ext cx="11277295" cy="745236"/>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597914"/>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97914"/>
            <a:ext cx="438912" cy="438912"/>
          </a:xfrm>
          <a:prstGeom prst="rect">
            <a:avLst/>
          </a:prstGeom>
          <a:noFill/>
        </p:spPr>
        <p:txBody>
          <a:bodyPr wrap="square" anchor="ctr"/>
          <a:lstStyle/>
          <a:p>
            <a:pPr algn="ctr"/>
            <a:r>
              <a:rPr sz="1600" b="1" i="0">
                <a:solidFill>
                  <a:srgbClr val="FFFFFF"/>
                </a:solidFill>
                <a:latin typeface="Calibri"/>
              </a:rPr>
              <a:t>1</a:t>
            </a:r>
          </a:p>
        </p:txBody>
      </p:sp>
      <p:sp>
        <p:nvSpPr>
          <p:cNvPr id="9" name="TextBox 8"/>
          <p:cNvSpPr txBox="1"/>
          <p:nvPr/>
        </p:nvSpPr>
        <p:spPr>
          <a:xfrm>
            <a:off x="1188720" y="1536192"/>
            <a:ext cx="10271455" cy="580644"/>
          </a:xfrm>
          <a:prstGeom prst="rect">
            <a:avLst/>
          </a:prstGeom>
          <a:noFill/>
        </p:spPr>
        <p:txBody>
          <a:bodyPr wrap="square" anchor="ctr"/>
          <a:lstStyle/>
          <a:p>
            <a:r>
              <a:rPr sz="1500" b="1" i="0">
                <a:solidFill>
                  <a:srgbClr val="095292"/>
                </a:solidFill>
                <a:latin typeface="Calibri"/>
              </a:rPr>
              <a:t>DEFINICIÓN</a:t>
            </a:r>
          </a:p>
          <a:p>
            <a:pPr>
              <a:spcBef>
                <a:spcPts val="200"/>
              </a:spcBef>
            </a:pPr>
            <a:r>
              <a:rPr sz="1300" b="0" i="0">
                <a:solidFill>
                  <a:srgbClr val="333333"/>
                </a:solidFill>
                <a:latin typeface="Calibri"/>
              </a:rPr>
              <a:t>Los clientes esperan de pie 25 minutos sin saber cuántos van antes.</a:t>
            </a:r>
          </a:p>
        </p:txBody>
      </p:sp>
      <p:sp>
        <p:nvSpPr>
          <p:cNvPr id="10" name="Rounded Rectangle 9"/>
          <p:cNvSpPr/>
          <p:nvPr/>
        </p:nvSpPr>
        <p:spPr>
          <a:xfrm>
            <a:off x="457200" y="2281428"/>
            <a:ext cx="11277295" cy="745236"/>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243459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434590"/>
            <a:ext cx="438912" cy="438912"/>
          </a:xfrm>
          <a:prstGeom prst="rect">
            <a:avLst/>
          </a:prstGeom>
          <a:noFill/>
        </p:spPr>
        <p:txBody>
          <a:bodyPr wrap="square" anchor="ctr"/>
          <a:lstStyle/>
          <a:p>
            <a:pPr algn="ctr"/>
            <a:r>
              <a:rPr sz="1600" b="1" i="0">
                <a:solidFill>
                  <a:srgbClr val="FFFFFF"/>
                </a:solidFill>
                <a:latin typeface="Calibri"/>
              </a:rPr>
              <a:t>2</a:t>
            </a:r>
          </a:p>
        </p:txBody>
      </p:sp>
      <p:sp>
        <p:nvSpPr>
          <p:cNvPr id="13" name="TextBox 12"/>
          <p:cNvSpPr txBox="1"/>
          <p:nvPr/>
        </p:nvSpPr>
        <p:spPr>
          <a:xfrm>
            <a:off x="1188720" y="2372868"/>
            <a:ext cx="10271455" cy="580644"/>
          </a:xfrm>
          <a:prstGeom prst="rect">
            <a:avLst/>
          </a:prstGeom>
          <a:noFill/>
        </p:spPr>
        <p:txBody>
          <a:bodyPr wrap="square" anchor="ctr"/>
          <a:lstStyle/>
          <a:p>
            <a:r>
              <a:rPr sz="1500" b="1" i="0">
                <a:solidFill>
                  <a:srgbClr val="095292"/>
                </a:solidFill>
                <a:latin typeface="Calibri"/>
              </a:rPr>
              <a:t>REQUISITOS</a:t>
            </a:r>
          </a:p>
          <a:p>
            <a:pPr>
              <a:spcBef>
                <a:spcPts val="200"/>
              </a:spcBef>
            </a:pPr>
            <a:r>
              <a:rPr sz="1300" b="0" i="0">
                <a:solidFill>
                  <a:srgbClr val="333333"/>
                </a:solidFill>
                <a:latin typeface="Calibri"/>
              </a:rPr>
              <a:t>El cliente ve su turno en el celular. Criterio: lo encuentra en menos de 1 minuto.</a:t>
            </a:r>
          </a:p>
        </p:txBody>
      </p:sp>
      <p:sp>
        <p:nvSpPr>
          <p:cNvPr id="14" name="Rounded Rectangle 13"/>
          <p:cNvSpPr/>
          <p:nvPr/>
        </p:nvSpPr>
        <p:spPr>
          <a:xfrm>
            <a:off x="457200" y="3118104"/>
            <a:ext cx="11277295" cy="745236"/>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4360" y="3271266"/>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271266"/>
            <a:ext cx="438912" cy="438912"/>
          </a:xfrm>
          <a:prstGeom prst="rect">
            <a:avLst/>
          </a:prstGeom>
          <a:noFill/>
        </p:spPr>
        <p:txBody>
          <a:bodyPr wrap="square" anchor="ctr"/>
          <a:lstStyle/>
          <a:p>
            <a:pPr algn="ctr"/>
            <a:r>
              <a:rPr sz="1600" b="1" i="0">
                <a:solidFill>
                  <a:srgbClr val="FFFFFF"/>
                </a:solidFill>
                <a:latin typeface="Calibri"/>
              </a:rPr>
              <a:t>3</a:t>
            </a:r>
          </a:p>
        </p:txBody>
      </p:sp>
      <p:sp>
        <p:nvSpPr>
          <p:cNvPr id="17" name="TextBox 16"/>
          <p:cNvSpPr txBox="1"/>
          <p:nvPr/>
        </p:nvSpPr>
        <p:spPr>
          <a:xfrm>
            <a:off x="1188720" y="3209544"/>
            <a:ext cx="10271455" cy="580644"/>
          </a:xfrm>
          <a:prstGeom prst="rect">
            <a:avLst/>
          </a:prstGeom>
          <a:noFill/>
        </p:spPr>
        <p:txBody>
          <a:bodyPr wrap="square" anchor="ctr"/>
          <a:lstStyle/>
          <a:p>
            <a:r>
              <a:rPr sz="1500" b="1" i="0">
                <a:solidFill>
                  <a:srgbClr val="095292"/>
                </a:solidFill>
                <a:latin typeface="Calibri"/>
              </a:rPr>
              <a:t>DISEÑO</a:t>
            </a:r>
          </a:p>
          <a:p>
            <a:pPr>
              <a:spcBef>
                <a:spcPts val="200"/>
              </a:spcBef>
            </a:pPr>
            <a:r>
              <a:rPr sz="1300" b="0" i="0">
                <a:solidFill>
                  <a:srgbClr val="333333"/>
                </a:solidFill>
                <a:latin typeface="Calibri"/>
              </a:rPr>
              <a:t>Tres pantallas: pedir turno, ver turno, aviso de «ya casi».</a:t>
            </a:r>
          </a:p>
        </p:txBody>
      </p:sp>
      <p:sp>
        <p:nvSpPr>
          <p:cNvPr id="18" name="Rounded Rectangle 17"/>
          <p:cNvSpPr/>
          <p:nvPr/>
        </p:nvSpPr>
        <p:spPr>
          <a:xfrm>
            <a:off x="457200" y="3954780"/>
            <a:ext cx="11277295" cy="745236"/>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4360" y="4107942"/>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107942"/>
            <a:ext cx="438912" cy="438912"/>
          </a:xfrm>
          <a:prstGeom prst="rect">
            <a:avLst/>
          </a:prstGeom>
          <a:noFill/>
        </p:spPr>
        <p:txBody>
          <a:bodyPr wrap="square" anchor="ctr"/>
          <a:lstStyle/>
          <a:p>
            <a:pPr algn="ctr"/>
            <a:r>
              <a:rPr sz="1600" b="1" i="0">
                <a:solidFill>
                  <a:srgbClr val="FFFFFF"/>
                </a:solidFill>
                <a:latin typeface="Calibri"/>
              </a:rPr>
              <a:t>4</a:t>
            </a:r>
          </a:p>
        </p:txBody>
      </p:sp>
      <p:sp>
        <p:nvSpPr>
          <p:cNvPr id="21" name="TextBox 20"/>
          <p:cNvSpPr txBox="1"/>
          <p:nvPr/>
        </p:nvSpPr>
        <p:spPr>
          <a:xfrm>
            <a:off x="1188720" y="4046220"/>
            <a:ext cx="10271455" cy="580644"/>
          </a:xfrm>
          <a:prstGeom prst="rect">
            <a:avLst/>
          </a:prstGeom>
          <a:noFill/>
        </p:spPr>
        <p:txBody>
          <a:bodyPr wrap="square" anchor="ctr"/>
          <a:lstStyle/>
          <a:p>
            <a:r>
              <a:rPr sz="1500" b="1" i="0">
                <a:solidFill>
                  <a:srgbClr val="095292"/>
                </a:solidFill>
                <a:latin typeface="Calibri"/>
              </a:rPr>
              <a:t>CONSTRUCCIÓN</a:t>
            </a:r>
          </a:p>
          <a:p>
            <a:pPr>
              <a:spcBef>
                <a:spcPts val="200"/>
              </a:spcBef>
            </a:pPr>
            <a:r>
              <a:rPr sz="1300" b="0" i="0">
                <a:solidFill>
                  <a:srgbClr val="333333"/>
                </a:solidFill>
                <a:latin typeface="Calibri"/>
              </a:rPr>
              <a:t>Se arma la versión mínima con un formulario y una hoja de cálculo.</a:t>
            </a:r>
          </a:p>
        </p:txBody>
      </p:sp>
      <p:sp>
        <p:nvSpPr>
          <p:cNvPr id="22" name="Rounded Rectangle 21"/>
          <p:cNvSpPr/>
          <p:nvPr/>
        </p:nvSpPr>
        <p:spPr>
          <a:xfrm>
            <a:off x="457200" y="4791456"/>
            <a:ext cx="11277295" cy="745236"/>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94360" y="4944618"/>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4944618"/>
            <a:ext cx="438912" cy="438912"/>
          </a:xfrm>
          <a:prstGeom prst="rect">
            <a:avLst/>
          </a:prstGeom>
          <a:noFill/>
        </p:spPr>
        <p:txBody>
          <a:bodyPr wrap="square" anchor="ctr"/>
          <a:lstStyle/>
          <a:p>
            <a:pPr algn="ctr"/>
            <a:r>
              <a:rPr sz="1600" b="1" i="0">
                <a:solidFill>
                  <a:srgbClr val="FFFFFF"/>
                </a:solidFill>
                <a:latin typeface="Calibri"/>
              </a:rPr>
              <a:t>5</a:t>
            </a:r>
          </a:p>
        </p:txBody>
      </p:sp>
      <p:sp>
        <p:nvSpPr>
          <p:cNvPr id="25" name="TextBox 24"/>
          <p:cNvSpPr txBox="1"/>
          <p:nvPr/>
        </p:nvSpPr>
        <p:spPr>
          <a:xfrm>
            <a:off x="1188720" y="4882896"/>
            <a:ext cx="10271455" cy="580644"/>
          </a:xfrm>
          <a:prstGeom prst="rect">
            <a:avLst/>
          </a:prstGeom>
          <a:noFill/>
        </p:spPr>
        <p:txBody>
          <a:bodyPr wrap="square" anchor="ctr"/>
          <a:lstStyle/>
          <a:p>
            <a:r>
              <a:rPr sz="1500" b="1" i="0">
                <a:solidFill>
                  <a:srgbClr val="095292"/>
                </a:solidFill>
                <a:latin typeface="Calibri"/>
              </a:rPr>
              <a:t>VALIDACIÓN</a:t>
            </a:r>
          </a:p>
          <a:p>
            <a:pPr>
              <a:spcBef>
                <a:spcPts val="200"/>
              </a:spcBef>
            </a:pPr>
            <a:r>
              <a:rPr sz="1300" b="0" i="0">
                <a:solidFill>
                  <a:srgbClr val="333333"/>
                </a:solidFill>
                <a:latin typeface="Calibri"/>
              </a:rPr>
              <a:t>Cinco clientes reales la prueban un sábado; se mide el tiempo.</a:t>
            </a:r>
          </a:p>
        </p:txBody>
      </p:sp>
      <p:sp>
        <p:nvSpPr>
          <p:cNvPr id="26" name="Rounded Rectangle 25"/>
          <p:cNvSpPr/>
          <p:nvPr/>
        </p:nvSpPr>
        <p:spPr>
          <a:xfrm>
            <a:off x="457200" y="5628132"/>
            <a:ext cx="11277295" cy="745236"/>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94360" y="5781294"/>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5781294"/>
            <a:ext cx="438912" cy="438912"/>
          </a:xfrm>
          <a:prstGeom prst="rect">
            <a:avLst/>
          </a:prstGeom>
          <a:noFill/>
        </p:spPr>
        <p:txBody>
          <a:bodyPr wrap="square" anchor="ctr"/>
          <a:lstStyle/>
          <a:p>
            <a:pPr algn="ctr"/>
            <a:r>
              <a:rPr sz="1600" b="1" i="0">
                <a:solidFill>
                  <a:srgbClr val="FFFFFF"/>
                </a:solidFill>
                <a:latin typeface="Calibri"/>
              </a:rPr>
              <a:t>6</a:t>
            </a:r>
          </a:p>
        </p:txBody>
      </p:sp>
      <p:sp>
        <p:nvSpPr>
          <p:cNvPr id="29" name="TextBox 28"/>
          <p:cNvSpPr txBox="1"/>
          <p:nvPr/>
        </p:nvSpPr>
        <p:spPr>
          <a:xfrm>
            <a:off x="1188720" y="5719572"/>
            <a:ext cx="10271455" cy="580644"/>
          </a:xfrm>
          <a:prstGeom prst="rect">
            <a:avLst/>
          </a:prstGeom>
          <a:noFill/>
        </p:spPr>
        <p:txBody>
          <a:bodyPr wrap="square" anchor="ctr"/>
          <a:lstStyle/>
          <a:p>
            <a:r>
              <a:rPr sz="1500" b="1" i="0">
                <a:solidFill>
                  <a:srgbClr val="095292"/>
                </a:solidFill>
                <a:latin typeface="Calibri"/>
              </a:rPr>
              <a:t>OPERACIÓN Y RETIRO</a:t>
            </a:r>
          </a:p>
          <a:p>
            <a:pPr>
              <a:spcBef>
                <a:spcPts val="200"/>
              </a:spcBef>
            </a:pPr>
            <a:r>
              <a:rPr sz="1300" b="0" i="0">
                <a:solidFill>
                  <a:srgbClr val="333333"/>
                </a:solidFill>
                <a:latin typeface="Calibri"/>
              </a:rPr>
              <a:t>La tienda la usa; si se apaga, se borran los celulares guardados.</a:t>
            </a:r>
          </a:p>
        </p:txBody>
      </p:sp>
      <p:sp>
        <p:nvSpPr>
          <p:cNvPr id="30" name="TextBox 2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Lo que cuesta cambiar en cada fase</a:t>
            </a:r>
          </a:p>
        </p:txBody>
      </p:sp>
      <p:graphicFrame>
        <p:nvGraphicFramePr>
          <p:cNvPr id="5" name="Table 4"/>
          <p:cNvGraphicFramePr>
            <a:graphicFrameLocks noGrp="1"/>
          </p:cNvGraphicFramePr>
          <p:nvPr/>
        </p:nvGraphicFramePr>
        <p:xfrm>
          <a:off x="457200" y="1216152"/>
          <a:ext cx="8961120" cy="2304288"/>
        </p:xfrm>
        <a:graphic>
          <a:graphicData uri="http://schemas.openxmlformats.org/drawingml/2006/table">
            <a:tbl>
              <a:tblPr firstRow="1" bandRow="1">
                <a:tableStyleId>{5C22544A-7EE6-4342-B048-85BDC9FD1C3A}</a:tableStyleId>
              </a:tblPr>
              <a:tblGrid>
                <a:gridCol w="1828800"/>
                <a:gridCol w="3657600"/>
                <a:gridCol w="3474720"/>
              </a:tblGrid>
              <a:tr h="384048">
                <a:tc>
                  <a:txBody>
                    <a:bodyPr/>
                    <a:lstStyle/>
                    <a:p>
                      <a:r>
                        <a:rPr sz="1200" b="1" i="0">
                          <a:solidFill>
                            <a:srgbClr val="FFFFFF"/>
                          </a:solidFill>
                          <a:latin typeface="Calibri"/>
                        </a:rPr>
                        <a:t>Se descubre en…</a:t>
                      </a:r>
                    </a:p>
                  </a:txBody>
                  <a:tcPr>
                    <a:solidFill>
                      <a:srgbClr val="095292"/>
                    </a:solidFill>
                  </a:tcPr>
                </a:tc>
                <a:tc>
                  <a:txBody>
                    <a:bodyPr/>
                    <a:lstStyle/>
                    <a:p>
                      <a:r>
                        <a:rPr sz="1200" b="1" i="0">
                          <a:solidFill>
                            <a:srgbClr val="FFFFFF"/>
                          </a:solidFill>
                          <a:latin typeface="Calibri"/>
                        </a:rPr>
                        <a:t>Qué hay que rehacer</a:t>
                      </a:r>
                    </a:p>
                  </a:txBody>
                  <a:tcPr>
                    <a:solidFill>
                      <a:srgbClr val="095292"/>
                    </a:solidFill>
                  </a:tcPr>
                </a:tc>
                <a:tc>
                  <a:txBody>
                    <a:bodyPr/>
                    <a:lstStyle/>
                    <a:p>
                      <a:r>
                        <a:rPr sz="1200" b="1" i="0">
                          <a:solidFill>
                            <a:srgbClr val="FFFFFF"/>
                          </a:solidFill>
                          <a:latin typeface="Calibri"/>
                        </a:rPr>
                        <a:t>Orden de magnitud del costo</a:t>
                      </a:r>
                    </a:p>
                  </a:txBody>
                  <a:tcPr>
                    <a:solidFill>
                      <a:srgbClr val="095292"/>
                    </a:solidFill>
                  </a:tcPr>
                </a:tc>
              </a:tr>
              <a:tr h="384048">
                <a:tc>
                  <a:txBody>
                    <a:bodyPr/>
                    <a:lstStyle/>
                    <a:p>
                      <a:r>
                        <a:rPr sz="1200" b="0" i="0">
                          <a:solidFill>
                            <a:srgbClr val="333333"/>
                          </a:solidFill>
                          <a:latin typeface="Calibri"/>
                        </a:rPr>
                        <a:t>Definición del problema</a:t>
                      </a:r>
                    </a:p>
                  </a:txBody>
                  <a:tcPr>
                    <a:solidFill>
                      <a:srgbClr val="FFFFFF"/>
                    </a:solidFill>
                  </a:tcPr>
                </a:tc>
                <a:tc>
                  <a:txBody>
                    <a:bodyPr/>
                    <a:lstStyle/>
                    <a:p>
                      <a:r>
                        <a:rPr sz="1200" b="0" i="0">
                          <a:solidFill>
                            <a:srgbClr val="333333"/>
                          </a:solidFill>
                          <a:latin typeface="Calibri"/>
                        </a:rPr>
                        <a:t>Una frase en un documento. Nada más existe todavía.</a:t>
                      </a:r>
                    </a:p>
                  </a:txBody>
                  <a:tcPr>
                    <a:solidFill>
                      <a:srgbClr val="FFFFFF"/>
                    </a:solidFill>
                  </a:tcPr>
                </a:tc>
                <a:tc>
                  <a:txBody>
                    <a:bodyPr/>
                    <a:lstStyle/>
                    <a:p>
                      <a:r>
                        <a:rPr sz="1200" b="1" i="0">
                          <a:solidFill>
                            <a:srgbClr val="333333"/>
                          </a:solidFill>
                          <a:latin typeface="Calibri"/>
                        </a:rPr>
                        <a:t>1</a:t>
                      </a:r>
                      <a:r>
                        <a:rPr sz="1200" b="0" i="0">
                          <a:solidFill>
                            <a:srgbClr val="333333"/>
                          </a:solidFill>
                          <a:latin typeface="Calibri"/>
                        </a:rPr>
                        <a:t> — el costo de una conversación</a:t>
                      </a:r>
                    </a:p>
                  </a:txBody>
                  <a:tcPr>
                    <a:solidFill>
                      <a:srgbClr val="FFFFFF"/>
                    </a:solidFill>
                  </a:tcPr>
                </a:tc>
              </a:tr>
              <a:tr h="384048">
                <a:tc>
                  <a:txBody>
                    <a:bodyPr/>
                    <a:lstStyle/>
                    <a:p>
                      <a:r>
                        <a:rPr sz="1200" b="0" i="0">
                          <a:solidFill>
                            <a:srgbClr val="333333"/>
                          </a:solidFill>
                          <a:latin typeface="Calibri"/>
                        </a:rPr>
                        <a:t>Requisitos</a:t>
                      </a:r>
                    </a:p>
                  </a:txBody>
                  <a:tcPr>
                    <a:solidFill>
                      <a:srgbClr val="F2F2F2"/>
                    </a:solidFill>
                  </a:tcPr>
                </a:tc>
                <a:tc>
                  <a:txBody>
                    <a:bodyPr/>
                    <a:lstStyle/>
                    <a:p>
                      <a:r>
                        <a:rPr sz="1200" b="0" i="0">
                          <a:solidFill>
                            <a:srgbClr val="333333"/>
                          </a:solidFill>
                          <a:latin typeface="Calibri"/>
                        </a:rPr>
                        <a:t>Una línea de la tabla de requisitos y su criterio de aceptación.</a:t>
                      </a:r>
                    </a:p>
                  </a:txBody>
                  <a:tcPr>
                    <a:solidFill>
                      <a:srgbClr val="F2F2F2"/>
                    </a:solidFill>
                  </a:tcPr>
                </a:tc>
                <a:tc>
                  <a:txBody>
                    <a:bodyPr/>
                    <a:lstStyle/>
                    <a:p>
                      <a:r>
                        <a:rPr sz="1200" b="1" i="0">
                          <a:solidFill>
                            <a:srgbClr val="333333"/>
                          </a:solidFill>
                          <a:latin typeface="Calibri"/>
                        </a:rPr>
                        <a:t>pocas veces</a:t>
                      </a:r>
                      <a:r>
                        <a:rPr sz="1200" b="0" i="0">
                          <a:solidFill>
                            <a:srgbClr val="333333"/>
                          </a:solidFill>
                          <a:latin typeface="Calibri"/>
                        </a:rPr>
                        <a:t> más que en la fase anterior</a:t>
                      </a:r>
                    </a:p>
                  </a:txBody>
                  <a:tcPr>
                    <a:solidFill>
                      <a:srgbClr val="F2F2F2"/>
                    </a:solidFill>
                  </a:tcPr>
                </a:tc>
              </a:tr>
              <a:tr h="384048">
                <a:tc>
                  <a:txBody>
                    <a:bodyPr/>
                    <a:lstStyle/>
                    <a:p>
                      <a:r>
                        <a:rPr sz="1200" b="0" i="0">
                          <a:solidFill>
                            <a:srgbClr val="333333"/>
                          </a:solidFill>
                          <a:latin typeface="Calibri"/>
                        </a:rPr>
                        <a:t>Diseño</a:t>
                      </a:r>
                    </a:p>
                  </a:txBody>
                  <a:tcPr>
                    <a:solidFill>
                      <a:srgbClr val="FFFFFF"/>
                    </a:solidFill>
                  </a:tcPr>
                </a:tc>
                <a:tc>
                  <a:txBody>
                    <a:bodyPr/>
                    <a:lstStyle/>
                    <a:p>
                      <a:r>
                        <a:rPr sz="1200" b="0" i="0">
                          <a:solidFill>
                            <a:srgbClr val="333333"/>
                          </a:solidFill>
                          <a:latin typeface="Calibri"/>
                        </a:rPr>
                        <a:t>El diagrama, y las decisiones que colgaban de él.</a:t>
                      </a:r>
                    </a:p>
                  </a:txBody>
                  <a:tcPr>
                    <a:solidFill>
                      <a:srgbClr val="FFFFFF"/>
                    </a:solidFill>
                  </a:tcPr>
                </a:tc>
                <a:tc>
                  <a:txBody>
                    <a:bodyPr/>
                    <a:lstStyle/>
                    <a:p>
                      <a:r>
                        <a:rPr sz="1200" b="1" i="0">
                          <a:solidFill>
                            <a:srgbClr val="333333"/>
                          </a:solidFill>
                          <a:latin typeface="Calibri"/>
                        </a:rPr>
                        <a:t>varias veces</a:t>
                      </a:r>
                      <a:r>
                        <a:rPr sz="1200" b="0" i="0">
                          <a:solidFill>
                            <a:srgbClr val="333333"/>
                          </a:solidFill>
                          <a:latin typeface="Calibri"/>
                        </a:rPr>
                        <a:t> más: hay que rediseñar y volver a acordar</a:t>
                      </a:r>
                    </a:p>
                  </a:txBody>
                  <a:tcPr>
                    <a:solidFill>
                      <a:srgbClr val="FFFFFF"/>
                    </a:solidFill>
                  </a:tcPr>
                </a:tc>
              </a:tr>
              <a:tr h="384048">
                <a:tc>
                  <a:txBody>
                    <a:bodyPr/>
                    <a:lstStyle/>
                    <a:p>
                      <a:r>
                        <a:rPr sz="1200" b="0" i="0">
                          <a:solidFill>
                            <a:srgbClr val="333333"/>
                          </a:solidFill>
                          <a:latin typeface="Calibri"/>
                        </a:rPr>
                        <a:t>Construcción</a:t>
                      </a:r>
                    </a:p>
                  </a:txBody>
                  <a:tcPr>
                    <a:solidFill>
                      <a:srgbClr val="F2F2F2"/>
                    </a:solidFill>
                  </a:tcPr>
                </a:tc>
                <a:tc>
                  <a:txBody>
                    <a:bodyPr/>
                    <a:lstStyle/>
                    <a:p>
                      <a:r>
                        <a:rPr sz="1200" b="0" i="0">
                          <a:solidFill>
                            <a:srgbClr val="333333"/>
                          </a:solidFill>
                          <a:latin typeface="Calibri"/>
                        </a:rPr>
                        <a:t>Lo construido, más el diseño, más el requisito que estaba mal.</a:t>
                      </a:r>
                    </a:p>
                  </a:txBody>
                  <a:tcPr>
                    <a:solidFill>
                      <a:srgbClr val="F2F2F2"/>
                    </a:solidFill>
                  </a:tcPr>
                </a:tc>
                <a:tc>
                  <a:txBody>
                    <a:bodyPr/>
                    <a:lstStyle/>
                    <a:p>
                      <a:r>
                        <a:rPr sz="1200" b="1" i="0">
                          <a:solidFill>
                            <a:srgbClr val="333333"/>
                          </a:solidFill>
                          <a:latin typeface="Calibri"/>
                        </a:rPr>
                        <a:t>decenas de veces</a:t>
                      </a:r>
                      <a:r>
                        <a:rPr sz="1200" b="0" i="0">
                          <a:solidFill>
                            <a:srgbClr val="333333"/>
                          </a:solidFill>
                          <a:latin typeface="Calibri"/>
                        </a:rPr>
                        <a:t> más</a:t>
                      </a:r>
                    </a:p>
                  </a:txBody>
                  <a:tcPr>
                    <a:solidFill>
                      <a:srgbClr val="F2F2F2"/>
                    </a:solidFill>
                  </a:tcPr>
                </a:tc>
              </a:tr>
              <a:tr h="384048">
                <a:tc>
                  <a:txBody>
                    <a:bodyPr/>
                    <a:lstStyle/>
                    <a:p>
                      <a:r>
                        <a:rPr sz="1200" b="0" i="0">
                          <a:solidFill>
                            <a:srgbClr val="333333"/>
                          </a:solidFill>
                          <a:latin typeface="Calibri"/>
                        </a:rPr>
                        <a:t>Después de entregado</a:t>
                      </a:r>
                    </a:p>
                  </a:txBody>
                  <a:tcPr>
                    <a:solidFill>
                      <a:srgbClr val="FFFFFF"/>
                    </a:solidFill>
                  </a:tcPr>
                </a:tc>
                <a:tc>
                  <a:txBody>
                    <a:bodyPr/>
                    <a:lstStyle/>
                    <a:p>
                      <a:r>
                        <a:rPr sz="1200" b="0" i="0">
                          <a:solidFill>
                            <a:srgbClr val="333333"/>
                          </a:solidFill>
                          <a:latin typeface="Calibri"/>
                        </a:rPr>
                        <a:t>Todo lo anterior, con el usuario ya usándolo, más el daño que alcanzó a hacer.</a:t>
                      </a:r>
                    </a:p>
                  </a:txBody>
                  <a:tcPr>
                    <a:solidFill>
                      <a:srgbClr val="FFFFFF"/>
                    </a:solidFill>
                  </a:tcPr>
                </a:tc>
                <a:tc>
                  <a:txBody>
                    <a:bodyPr/>
                    <a:lstStyle/>
                    <a:p>
                      <a:r>
                        <a:rPr sz="1200" b="1" i="0">
                          <a:solidFill>
                            <a:srgbClr val="333333"/>
                          </a:solidFill>
                          <a:latin typeface="Calibri"/>
                        </a:rPr>
                        <a:t>órdenes de magnitud</a:t>
                      </a:r>
                      <a:r>
                        <a:rPr sz="1200" b="0" i="0">
                          <a:solidFill>
                            <a:srgbClr val="333333"/>
                          </a:solidFill>
                          <a:latin typeface="Calibri"/>
                        </a:rPr>
                        <a:t> más</a:t>
                      </a:r>
                    </a:p>
                  </a:txBody>
                  <a:tcPr>
                    <a:solidFill>
                      <a:srgbClr val="FFFFFF"/>
                    </a:solidFill>
                  </a:tcPr>
                </a:tc>
              </a:tr>
            </a:tbl>
          </a:graphicData>
        </a:graphic>
      </p:graphicFrame>
      <p:sp>
        <p:nvSpPr>
          <p:cNvPr id="6" name="TextBox 5"/>
          <p:cNvSpPr txBox="1"/>
          <p:nvPr/>
        </p:nvSpPr>
        <p:spPr>
          <a:xfrm>
            <a:off x="457200" y="4297680"/>
            <a:ext cx="11277295" cy="457200"/>
          </a:xfrm>
          <a:prstGeom prst="rect">
            <a:avLst/>
          </a:prstGeom>
          <a:noFill/>
        </p:spPr>
        <p:txBody>
          <a:bodyPr wrap="square">
            <a:spAutoFit/>
          </a:bodyPr>
          <a:lstStyle/>
          <a:p>
            <a:r>
              <a:rPr sz="1100" b="0" i="1">
                <a:solidFill>
                  <a:srgbClr val="666666"/>
                </a:solidFill>
                <a:latin typeface="Calibri"/>
              </a:rPr>
              <a:t>La forma de esta curva la documentó Barry Boehm en los años setenta y sigue vigente. Los múltiplos exactos se discuten; </a:t>
            </a:r>
            <a:r>
              <a:rPr sz="1100" b="1" i="1">
                <a:solidFill>
                  <a:srgbClr val="666666"/>
                </a:solidFill>
                <a:latin typeface="Calibri"/>
              </a:rPr>
              <a:t>la dirección no</a:t>
            </a:r>
            <a:r>
              <a:rPr sz="1100" b="0" i="1">
                <a:solidFill>
                  <a:srgbClr val="666666"/>
                </a:solidFill>
                <a:latin typeface="Calibri"/>
              </a:rPr>
              <a:t>: el error barato es el que se encuentra temprano.</a:t>
            </a:r>
          </a:p>
        </p:txBody>
      </p:sp>
      <p:sp>
        <p:nvSpPr>
          <p:cNvPr id="7" name="TextBox 6"/>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Ejemplo: el mismo error, descubierto en tres momentos</a:t>
            </a:r>
          </a:p>
        </p:txBody>
      </p:sp>
      <p:graphicFrame>
        <p:nvGraphicFramePr>
          <p:cNvPr id="5" name="Table 4"/>
          <p:cNvGraphicFramePr>
            <a:graphicFrameLocks noGrp="1"/>
          </p:cNvGraphicFramePr>
          <p:nvPr/>
        </p:nvGraphicFramePr>
        <p:xfrm>
          <a:off x="457200" y="1216152"/>
          <a:ext cx="11277294" cy="1536192"/>
        </p:xfrm>
        <a:graphic>
          <a:graphicData uri="http://schemas.openxmlformats.org/drawingml/2006/table">
            <a:tbl>
              <a:tblPr firstRow="1" bandRow="1">
                <a:tableStyleId>{5C22544A-7EE6-4342-B048-85BDC9FD1C3A}</a:tableStyleId>
              </a:tblPr>
              <a:tblGrid>
                <a:gridCol w="3759098"/>
                <a:gridCol w="3759098"/>
                <a:gridCol w="3759098"/>
              </a:tblGrid>
              <a:tr h="384048">
                <a:tc>
                  <a:txBody>
                    <a:bodyPr/>
                    <a:lstStyle/>
                    <a:p>
                      <a:r>
                        <a:rPr sz="1200" b="1" i="0">
                          <a:solidFill>
                            <a:srgbClr val="FFFFFF"/>
                          </a:solidFill>
                          <a:latin typeface="Calibri"/>
                        </a:rPr>
                        <a:t>Cuándo se descubre</a:t>
                      </a:r>
                    </a:p>
                  </a:txBody>
                  <a:tcPr>
                    <a:solidFill>
                      <a:srgbClr val="095292"/>
                    </a:solidFill>
                  </a:tcPr>
                </a:tc>
                <a:tc>
                  <a:txBody>
                    <a:bodyPr/>
                    <a:lstStyle/>
                    <a:p>
                      <a:r>
                        <a:rPr sz="1200" b="1" i="0">
                          <a:solidFill>
                            <a:srgbClr val="FFFFFF"/>
                          </a:solidFill>
                          <a:latin typeface="Calibri"/>
                        </a:rPr>
                        <a:t>Qué hay que hacer</a:t>
                      </a:r>
                    </a:p>
                  </a:txBody>
                  <a:tcPr>
                    <a:solidFill>
                      <a:srgbClr val="095292"/>
                    </a:solidFill>
                  </a:tcPr>
                </a:tc>
                <a:tc>
                  <a:txBody>
                    <a:bodyPr/>
                    <a:lstStyle/>
                    <a:p>
                      <a:r>
                        <a:rPr sz="1200" b="1" i="0">
                          <a:solidFill>
                            <a:srgbClr val="FFFFFF"/>
                          </a:solidFill>
                          <a:latin typeface="Calibri"/>
                        </a:rPr>
                        <a:t>Cuánto cuesta</a:t>
                      </a:r>
                    </a:p>
                  </a:txBody>
                  <a:tcPr>
                    <a:solidFill>
                      <a:srgbClr val="095292"/>
                    </a:solidFill>
                  </a:tcPr>
                </a:tc>
              </a:tr>
              <a:tr h="384048">
                <a:tc>
                  <a:txBody>
                    <a:bodyPr/>
                    <a:lstStyle/>
                    <a:p>
                      <a:r>
                        <a:rPr sz="1200" b="0" i="0">
                          <a:solidFill>
                            <a:srgbClr val="333333"/>
                          </a:solidFill>
                          <a:latin typeface="Calibri"/>
                        </a:rPr>
                        <a:t>En requisitos</a:t>
                      </a:r>
                    </a:p>
                  </a:txBody>
                  <a:tcPr>
                    <a:solidFill>
                      <a:srgbClr val="FFFFFF"/>
                    </a:solidFill>
                  </a:tcPr>
                </a:tc>
                <a:tc>
                  <a:txBody>
                    <a:bodyPr/>
                    <a:lstStyle/>
                    <a:p>
                      <a:r>
                        <a:rPr sz="1200" b="0" i="0">
                          <a:solidFill>
                            <a:srgbClr val="333333"/>
                          </a:solidFill>
                          <a:latin typeface="Calibri"/>
                        </a:rPr>
                        <a:t>Cambiar «correo» por «celular» en una línea.</a:t>
                      </a:r>
                    </a:p>
                  </a:txBody>
                  <a:tcPr>
                    <a:solidFill>
                      <a:srgbClr val="FFFFFF"/>
                    </a:solidFill>
                  </a:tcPr>
                </a:tc>
                <a:tc>
                  <a:txBody>
                    <a:bodyPr/>
                    <a:lstStyle/>
                    <a:p>
                      <a:r>
                        <a:rPr sz="1200" b="0" i="0">
                          <a:solidFill>
                            <a:srgbClr val="333333"/>
                          </a:solidFill>
                          <a:latin typeface="Calibri"/>
                        </a:rPr>
                        <a:t>Cinco minutos</a:t>
                      </a:r>
                    </a:p>
                  </a:txBody>
                  <a:tcPr>
                    <a:solidFill>
                      <a:srgbClr val="FFFFFF"/>
                    </a:solidFill>
                  </a:tcPr>
                </a:tc>
              </a:tr>
              <a:tr h="384048">
                <a:tc>
                  <a:txBody>
                    <a:bodyPr/>
                    <a:lstStyle/>
                    <a:p>
                      <a:r>
                        <a:rPr sz="1200" b="0" i="0">
                          <a:solidFill>
                            <a:srgbClr val="333333"/>
                          </a:solidFill>
                          <a:latin typeface="Calibri"/>
                        </a:rPr>
                        <a:t>En construcción</a:t>
                      </a:r>
                    </a:p>
                  </a:txBody>
                  <a:tcPr>
                    <a:solidFill>
                      <a:srgbClr val="F2F2F2"/>
                    </a:solidFill>
                  </a:tcPr>
                </a:tc>
                <a:tc>
                  <a:txBody>
                    <a:bodyPr/>
                    <a:lstStyle/>
                    <a:p>
                      <a:r>
                        <a:rPr sz="1200" b="0" i="0">
                          <a:solidFill>
                            <a:srgbClr val="333333"/>
                          </a:solidFill>
                          <a:latin typeface="Calibri"/>
                        </a:rPr>
                        <a:t>Rehacer el formulario, la hoja y los avisos.</a:t>
                      </a:r>
                    </a:p>
                  </a:txBody>
                  <a:tcPr>
                    <a:solidFill>
                      <a:srgbClr val="F2F2F2"/>
                    </a:solidFill>
                  </a:tcPr>
                </a:tc>
                <a:tc>
                  <a:txBody>
                    <a:bodyPr/>
                    <a:lstStyle/>
                    <a:p>
                      <a:r>
                        <a:rPr sz="1200" b="0" i="0">
                          <a:solidFill>
                            <a:srgbClr val="333333"/>
                          </a:solidFill>
                          <a:latin typeface="Calibri"/>
                        </a:rPr>
                        <a:t>Una semana del equipo</a:t>
                      </a:r>
                    </a:p>
                  </a:txBody>
                  <a:tcPr>
                    <a:solidFill>
                      <a:srgbClr val="F2F2F2"/>
                    </a:solidFill>
                  </a:tcPr>
                </a:tc>
              </a:tr>
              <a:tr h="384048">
                <a:tc>
                  <a:txBody>
                    <a:bodyPr/>
                    <a:lstStyle/>
                    <a:p>
                      <a:r>
                        <a:rPr sz="1200" b="0" i="0">
                          <a:solidFill>
                            <a:srgbClr val="333333"/>
                          </a:solidFill>
                          <a:latin typeface="Calibri"/>
                        </a:rPr>
                        <a:t>Ya en uso</a:t>
                      </a:r>
                    </a:p>
                  </a:txBody>
                  <a:tcPr>
                    <a:solidFill>
                      <a:srgbClr val="FFFFFF"/>
                    </a:solidFill>
                  </a:tcPr>
                </a:tc>
                <a:tc>
                  <a:txBody>
                    <a:bodyPr/>
                    <a:lstStyle/>
                    <a:p>
                      <a:r>
                        <a:rPr sz="1200" b="0" i="0">
                          <a:solidFill>
                            <a:srgbClr val="333333"/>
                          </a:solidFill>
                          <a:latin typeface="Calibri"/>
                        </a:rPr>
                        <a:t>Todo lo anterior, más los clientes que no pudieron pedir turno.</a:t>
                      </a:r>
                    </a:p>
                  </a:txBody>
                  <a:tcPr>
                    <a:solidFill>
                      <a:srgbClr val="FFFFFF"/>
                    </a:solidFill>
                  </a:tcPr>
                </a:tc>
                <a:tc>
                  <a:txBody>
                    <a:bodyPr/>
                    <a:lstStyle/>
                    <a:p>
                      <a:r>
                        <a:rPr sz="1200" b="0" i="0">
                          <a:solidFill>
                            <a:srgbClr val="333333"/>
                          </a:solidFill>
                          <a:latin typeface="Calibri"/>
                        </a:rPr>
                        <a:t>Clientes perdidos</a:t>
                      </a:r>
                    </a:p>
                  </a:txBody>
                  <a:tcPr>
                    <a:solidFill>
                      <a:srgbClr val="FFFFFF"/>
                    </a:solidFill>
                  </a:tcPr>
                </a:tc>
              </a:tr>
            </a:tbl>
          </a:graphicData>
        </a:graphic>
      </p:graphicFrame>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Una sola pasada o varias vueltas</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Las fases son las mismas en los dos. Lo que cambia es cuántas veces se recorren y cuándo aparece el usuario</a:t>
            </a:r>
          </a:p>
        </p:txBody>
      </p:sp>
      <p:sp>
        <p:nvSpPr>
          <p:cNvPr id="6" name="Rounded Rectangle 5"/>
          <p:cNvSpPr/>
          <p:nvPr/>
        </p:nvSpPr>
        <p:spPr>
          <a:xfrm>
            <a:off x="457200" y="1472184"/>
            <a:ext cx="5478627" cy="4882896"/>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72184"/>
            <a:ext cx="5478627" cy="50292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63624"/>
            <a:ext cx="5204307" cy="365760"/>
          </a:xfrm>
          <a:prstGeom prst="rect">
            <a:avLst/>
          </a:prstGeom>
          <a:noFill/>
        </p:spPr>
        <p:txBody>
          <a:bodyPr wrap="square" anchor="ctr"/>
          <a:lstStyle/>
          <a:p>
            <a:pPr algn="ctr"/>
            <a:r>
              <a:rPr sz="1600" b="1" i="0">
                <a:solidFill>
                  <a:srgbClr val="FFFFFF"/>
                </a:solidFill>
                <a:latin typeface="Calibri"/>
              </a:rPr>
              <a:t>Cascada de una sola pasada</a:t>
            </a:r>
          </a:p>
        </p:txBody>
      </p:sp>
      <p:sp>
        <p:nvSpPr>
          <p:cNvPr id="9" name="TextBox 8"/>
          <p:cNvSpPr txBox="1"/>
          <p:nvPr/>
        </p:nvSpPr>
        <p:spPr>
          <a:xfrm>
            <a:off x="621792" y="2112263"/>
            <a:ext cx="5158587" cy="4288536"/>
          </a:xfrm>
          <a:prstGeom prst="rect">
            <a:avLst/>
          </a:prstGeom>
          <a:noFill/>
        </p:spPr>
        <p:txBody>
          <a:bodyPr wrap="square">
            <a:spAutoFit/>
          </a:bodyPr>
          <a:lstStyle/>
          <a:p>
            <a:pPr>
              <a:spcAft>
                <a:spcPts val="800"/>
              </a:spcAft>
            </a:pPr>
            <a:r>
              <a:rPr sz="1500" b="0" i="0">
                <a:solidFill>
                  <a:srgbClr val="333333"/>
                </a:solidFill>
                <a:latin typeface="Calibri"/>
              </a:rPr>
              <a:t>–   Se recorren las fases una vez, de arriba abajo.</a:t>
            </a:r>
          </a:p>
          <a:p>
            <a:pPr>
              <a:spcAft>
                <a:spcPts val="800"/>
              </a:spcAft>
            </a:pPr>
            <a:r>
              <a:rPr sz="1500" b="0" i="0">
                <a:solidFill>
                  <a:srgbClr val="333333"/>
                </a:solidFill>
                <a:latin typeface="Calibri"/>
              </a:rPr>
              <a:t>–   El usuario ve el resultado </a:t>
            </a:r>
            <a:r>
              <a:rPr sz="1500" b="1" i="0">
                <a:solidFill>
                  <a:srgbClr val="333333"/>
                </a:solidFill>
                <a:latin typeface="Calibri"/>
              </a:rPr>
              <a:t>al final</a:t>
            </a:r>
            <a:r>
              <a:rPr sz="1500" b="0" i="0">
                <a:solidFill>
                  <a:srgbClr val="333333"/>
                </a:solidFill>
                <a:latin typeface="Calibri"/>
              </a:rPr>
              <a:t>.</a:t>
            </a:r>
          </a:p>
          <a:p>
            <a:pPr>
              <a:spcAft>
                <a:spcPts val="800"/>
              </a:spcAft>
            </a:pPr>
            <a:r>
              <a:rPr sz="1500" b="0" i="0">
                <a:solidFill>
                  <a:srgbClr val="333333"/>
                </a:solidFill>
                <a:latin typeface="Calibri"/>
              </a:rPr>
              <a:t>–   Si un requisito estaba mal, se descubre en validación.</a:t>
            </a:r>
          </a:p>
          <a:p>
            <a:pPr>
              <a:spcAft>
                <a:spcPts val="800"/>
              </a:spcAft>
            </a:pPr>
            <a:r>
              <a:rPr sz="1500" b="0" i="0">
                <a:solidFill>
                  <a:srgbClr val="333333"/>
                </a:solidFill>
                <a:latin typeface="Calibri"/>
              </a:rPr>
              <a:t>–   Funciona cuando el problema es conocido y estable.</a:t>
            </a:r>
          </a:p>
          <a:p>
            <a:pPr>
              <a:spcAft>
                <a:spcPts val="800"/>
              </a:spcAft>
            </a:pPr>
            <a:r>
              <a:rPr sz="1500" b="0" i="0">
                <a:solidFill>
                  <a:srgbClr val="333333"/>
                </a:solidFill>
                <a:latin typeface="Calibri"/>
              </a:rPr>
              <a:t>–   </a:t>
            </a:r>
            <a:r>
              <a:rPr sz="1500" b="1" i="0">
                <a:solidFill>
                  <a:srgbClr val="333333"/>
                </a:solidFill>
                <a:latin typeface="Calibri"/>
              </a:rPr>
              <a:t>Royce, que dibujó el diagrama en 1970, advirtió en el mismo texto que hacerlo de una sola pasada invita al fracaso.</a:t>
            </a:r>
          </a:p>
        </p:txBody>
      </p:sp>
      <p:sp>
        <p:nvSpPr>
          <p:cNvPr id="10" name="Rounded Rectangle 9"/>
          <p:cNvSpPr/>
          <p:nvPr/>
        </p:nvSpPr>
        <p:spPr>
          <a:xfrm>
            <a:off x="6255867" y="1472184"/>
            <a:ext cx="5478627" cy="4882896"/>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55867" y="1472184"/>
            <a:ext cx="5478627" cy="5029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3027" y="1563624"/>
            <a:ext cx="5204307" cy="365760"/>
          </a:xfrm>
          <a:prstGeom prst="rect">
            <a:avLst/>
          </a:prstGeom>
          <a:noFill/>
        </p:spPr>
        <p:txBody>
          <a:bodyPr wrap="square" anchor="ctr"/>
          <a:lstStyle/>
          <a:p>
            <a:pPr algn="ctr"/>
            <a:r>
              <a:rPr sz="1600" b="1" i="0">
                <a:solidFill>
                  <a:srgbClr val="FFFFFF"/>
                </a:solidFill>
                <a:latin typeface="Calibri"/>
              </a:rPr>
              <a:t>Iterativo e incremental</a:t>
            </a:r>
          </a:p>
        </p:txBody>
      </p:sp>
      <p:sp>
        <p:nvSpPr>
          <p:cNvPr id="13" name="TextBox 12"/>
          <p:cNvSpPr txBox="1"/>
          <p:nvPr/>
        </p:nvSpPr>
        <p:spPr>
          <a:xfrm>
            <a:off x="6420459" y="2112263"/>
            <a:ext cx="5158587" cy="4288536"/>
          </a:xfrm>
          <a:prstGeom prst="rect">
            <a:avLst/>
          </a:prstGeom>
          <a:noFill/>
        </p:spPr>
        <p:txBody>
          <a:bodyPr wrap="square">
            <a:spAutoFit/>
          </a:bodyPr>
          <a:lstStyle/>
          <a:p>
            <a:pPr>
              <a:spcAft>
                <a:spcPts val="800"/>
              </a:spcAft>
            </a:pPr>
            <a:r>
              <a:rPr sz="1500" b="0" i="0">
                <a:solidFill>
                  <a:srgbClr val="333333"/>
                </a:solidFill>
                <a:latin typeface="Calibri"/>
              </a:rPr>
              <a:t>–   Se recorren las fases </a:t>
            </a:r>
            <a:r>
              <a:rPr sz="1500" b="1" i="0">
                <a:solidFill>
                  <a:srgbClr val="333333"/>
                </a:solidFill>
                <a:latin typeface="Calibri"/>
              </a:rPr>
              <a:t>varias veces</a:t>
            </a:r>
            <a:r>
              <a:rPr sz="1500" b="0" i="0">
                <a:solidFill>
                  <a:srgbClr val="333333"/>
                </a:solidFill>
                <a:latin typeface="Calibri"/>
              </a:rPr>
              <a:t>, con un pedazo cada vez.</a:t>
            </a:r>
          </a:p>
          <a:p>
            <a:pPr>
              <a:spcAft>
                <a:spcPts val="800"/>
              </a:spcAft>
            </a:pPr>
            <a:r>
              <a:rPr sz="1500" b="0" i="0">
                <a:solidFill>
                  <a:srgbClr val="333333"/>
                </a:solidFill>
                <a:latin typeface="Calibri"/>
              </a:rPr>
              <a:t>–   El usuario ve algo </a:t>
            </a:r>
            <a:r>
              <a:rPr sz="1500" b="1" i="0">
                <a:solidFill>
                  <a:srgbClr val="333333"/>
                </a:solidFill>
                <a:latin typeface="Calibri"/>
              </a:rPr>
              <a:t>en cada vuelta</a:t>
            </a:r>
            <a:r>
              <a:rPr sz="1500" b="0" i="0">
                <a:solidFill>
                  <a:srgbClr val="333333"/>
                </a:solidFill>
                <a:latin typeface="Calibri"/>
              </a:rPr>
              <a:t> y corrige temprano.</a:t>
            </a:r>
          </a:p>
          <a:p>
            <a:pPr>
              <a:spcAft>
                <a:spcPts val="800"/>
              </a:spcAft>
            </a:pPr>
            <a:r>
              <a:rPr sz="1500" b="0" i="0">
                <a:solidFill>
                  <a:srgbClr val="333333"/>
                </a:solidFill>
                <a:latin typeface="Calibri"/>
              </a:rPr>
              <a:t>–   El requisito mal escrito se cae en la primera iteración, barato.</a:t>
            </a:r>
          </a:p>
          <a:p>
            <a:pPr>
              <a:spcAft>
                <a:spcPts val="800"/>
              </a:spcAft>
            </a:pPr>
            <a:r>
              <a:rPr sz="1500" b="0" i="0">
                <a:solidFill>
                  <a:srgbClr val="333333"/>
                </a:solidFill>
                <a:latin typeface="Calibri"/>
              </a:rPr>
              <a:t>–   Funciona cuando hay incertidumbre — es decir, casi siempre.</a:t>
            </a:r>
          </a:p>
          <a:p>
            <a:pPr>
              <a:spcAft>
                <a:spcPts val="800"/>
              </a:spcAft>
            </a:pPr>
            <a:r>
              <a:rPr sz="1500" b="0" i="0">
                <a:solidFill>
                  <a:srgbClr val="333333"/>
                </a:solidFill>
                <a:latin typeface="Calibri"/>
              </a:rPr>
              <a:t>–   Es lo que va a hacer este curso: </a:t>
            </a:r>
            <a:r>
              <a:rPr sz="1500" b="1" i="0">
                <a:solidFill>
                  <a:srgbClr val="333333"/>
                </a:solidFill>
                <a:latin typeface="Calibri"/>
              </a:rPr>
              <a:t>una vuelta corta en las Clases 10-11 y otra en las 12-14</a:t>
            </a:r>
            <a:r>
              <a:rPr sz="1500" b="0" i="0">
                <a:solidFill>
                  <a:srgbClr val="333333"/>
                </a:solidFill>
                <a:latin typeface="Calibri"/>
              </a:rPr>
              <a:t>.</a:t>
            </a:r>
          </a:p>
        </p:txBody>
      </p:sp>
      <p:pic>
        <p:nvPicPr>
          <p:cNvPr id="14" name="Picture 13" descr="sello_mal.png"/>
          <p:cNvPicPr>
            <a:picLocks noChangeAspect="1"/>
          </p:cNvPicPr>
          <p:nvPr/>
        </p:nvPicPr>
        <p:blipFill>
          <a:blip r:embed="rId2"/>
          <a:stretch>
            <a:fillRect/>
          </a:stretch>
        </p:blipFill>
        <p:spPr>
          <a:xfrm>
            <a:off x="566928" y="1527048"/>
            <a:ext cx="393192" cy="393192"/>
          </a:xfrm>
          <a:prstGeom prst="rect">
            <a:avLst/>
          </a:prstGeom>
        </p:spPr>
      </p:pic>
      <p:pic>
        <p:nvPicPr>
          <p:cNvPr id="15" name="Picture 14" descr="sello_bien.png"/>
          <p:cNvPicPr>
            <a:picLocks noChangeAspect="1"/>
          </p:cNvPicPr>
          <p:nvPr/>
        </p:nvPicPr>
        <p:blipFill>
          <a:blip r:embed="rId3"/>
          <a:stretch>
            <a:fillRect/>
          </a:stretch>
        </p:blipFill>
        <p:spPr>
          <a:xfrm>
            <a:off x="6365595" y="1527048"/>
            <a:ext cx="393192" cy="393192"/>
          </a:xfrm>
          <a:prstGeom prst="rect">
            <a:avLst/>
          </a:prstGeom>
        </p:spPr>
      </p:pic>
      <p:sp>
        <p:nvSpPr>
          <p:cNvPr id="16" name="TextBox 1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Cuatro cosas que se entregan y no son código</a:t>
            </a:r>
          </a:p>
        </p:txBody>
      </p:sp>
      <p:sp>
        <p:nvSpPr>
          <p:cNvPr id="5" name="Rounded Rectangle 4"/>
          <p:cNvSpPr/>
          <p:nvPr/>
        </p:nvSpPr>
        <p:spPr>
          <a:xfrm>
            <a:off x="457200" y="12618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5547207"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490472"/>
            <a:ext cx="5218023" cy="411480"/>
          </a:xfrm>
          <a:prstGeom prst="rect">
            <a:avLst/>
          </a:prstGeom>
          <a:noFill/>
        </p:spPr>
        <p:txBody>
          <a:bodyPr wrap="square">
            <a:spAutoFit/>
          </a:bodyPr>
          <a:lstStyle/>
          <a:p>
            <a:r>
              <a:rPr sz="1500" b="1" i="0">
                <a:solidFill>
                  <a:srgbClr val="095292"/>
                </a:solidFill>
                <a:latin typeface="Calibri"/>
              </a:rPr>
              <a:t>Requisito funcional</a:t>
            </a:r>
          </a:p>
        </p:txBody>
      </p:sp>
      <p:sp>
        <p:nvSpPr>
          <p:cNvPr id="8" name="TextBox 7"/>
          <p:cNvSpPr txBox="1"/>
          <p:nvPr/>
        </p:nvSpPr>
        <p:spPr>
          <a:xfrm>
            <a:off x="621792" y="1947672"/>
            <a:ext cx="5218023" cy="1595628"/>
          </a:xfrm>
          <a:prstGeom prst="rect">
            <a:avLst/>
          </a:prstGeom>
          <a:noFill/>
        </p:spPr>
        <p:txBody>
          <a:bodyPr wrap="square">
            <a:spAutoFit/>
          </a:bodyPr>
          <a:lstStyle/>
          <a:p>
            <a:r>
              <a:rPr sz="1300" b="0" i="0">
                <a:solidFill>
                  <a:srgbClr val="333333"/>
                </a:solidFill>
                <a:latin typeface="Calibri"/>
              </a:rPr>
              <a:t>Algo que la solución </a:t>
            </a:r>
            <a:r>
              <a:rPr sz="1300" b="1" i="0">
                <a:solidFill>
                  <a:srgbClr val="333333"/>
                </a:solidFill>
                <a:latin typeface="Calibri"/>
              </a:rPr>
              <a:t>hace</a:t>
            </a:r>
            <a:r>
              <a:rPr sz="1300" b="0" i="0">
                <a:solidFill>
                  <a:srgbClr val="333333"/>
                </a:solidFill>
                <a:latin typeface="Calibri"/>
              </a:rPr>
              <a:t>: «el usuario puede consultar si un libro está disponible sin ir a la biblioteca». Se escribe desde el usuario, no desde la tecnología.</a:t>
            </a:r>
          </a:p>
        </p:txBody>
      </p:sp>
      <p:sp>
        <p:nvSpPr>
          <p:cNvPr id="9" name="Rounded Rectangle 8"/>
          <p:cNvSpPr/>
          <p:nvPr/>
        </p:nvSpPr>
        <p:spPr>
          <a:xfrm>
            <a:off x="6187287" y="12618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87287" y="1261872"/>
            <a:ext cx="5547207"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1879" y="1490472"/>
            <a:ext cx="5218023" cy="411480"/>
          </a:xfrm>
          <a:prstGeom prst="rect">
            <a:avLst/>
          </a:prstGeom>
          <a:noFill/>
        </p:spPr>
        <p:txBody>
          <a:bodyPr wrap="square">
            <a:spAutoFit/>
          </a:bodyPr>
          <a:lstStyle/>
          <a:p>
            <a:r>
              <a:rPr sz="1500" b="1" i="0">
                <a:solidFill>
                  <a:srgbClr val="095292"/>
                </a:solidFill>
                <a:latin typeface="Calibri"/>
              </a:rPr>
              <a:t>Requisito no funcional</a:t>
            </a:r>
          </a:p>
        </p:txBody>
      </p:sp>
      <p:sp>
        <p:nvSpPr>
          <p:cNvPr id="12" name="TextBox 11"/>
          <p:cNvSpPr txBox="1"/>
          <p:nvPr/>
        </p:nvSpPr>
        <p:spPr>
          <a:xfrm>
            <a:off x="6351879" y="1947672"/>
            <a:ext cx="5218023" cy="1595628"/>
          </a:xfrm>
          <a:prstGeom prst="rect">
            <a:avLst/>
          </a:prstGeom>
          <a:noFill/>
        </p:spPr>
        <p:txBody>
          <a:bodyPr wrap="square">
            <a:spAutoFit/>
          </a:bodyPr>
          <a:lstStyle/>
          <a:p>
            <a:r>
              <a:rPr sz="1300" b="0" i="0">
                <a:solidFill>
                  <a:srgbClr val="333333"/>
                </a:solidFill>
                <a:latin typeface="Calibri"/>
              </a:rPr>
              <a:t>Una </a:t>
            </a:r>
            <a:r>
              <a:rPr sz="1300" b="1" i="0">
                <a:solidFill>
                  <a:srgbClr val="333333"/>
                </a:solidFill>
                <a:latin typeface="Calibri"/>
              </a:rPr>
              <a:t>condición</a:t>
            </a:r>
            <a:r>
              <a:rPr sz="1300" b="0" i="0">
                <a:solidFill>
                  <a:srgbClr val="333333"/>
                </a:solidFill>
                <a:latin typeface="Calibri"/>
              </a:rPr>
              <a:t> que debe cumplir: funcionar en un computador de siete años, abrir sin crear cuenta, no guardar datos personales. </a:t>
            </a:r>
            <a:r>
              <a:rPr sz="1300" b="1" i="0">
                <a:solidFill>
                  <a:srgbClr val="333333"/>
                </a:solidFill>
                <a:latin typeface="Calibri"/>
              </a:rPr>
              <a:t>Salen de las restricciones del árbol de la sesión 6.</a:t>
            </a:r>
          </a:p>
        </p:txBody>
      </p:sp>
      <p:sp>
        <p:nvSpPr>
          <p:cNvPr id="13" name="Rounded Rectangle 12"/>
          <p:cNvSpPr/>
          <p:nvPr/>
        </p:nvSpPr>
        <p:spPr>
          <a:xfrm>
            <a:off x="457200" y="38907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890772"/>
            <a:ext cx="5547207" cy="9144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4119372"/>
            <a:ext cx="5218023" cy="411480"/>
          </a:xfrm>
          <a:prstGeom prst="rect">
            <a:avLst/>
          </a:prstGeom>
          <a:noFill/>
        </p:spPr>
        <p:txBody>
          <a:bodyPr wrap="square">
            <a:spAutoFit/>
          </a:bodyPr>
          <a:lstStyle/>
          <a:p>
            <a:r>
              <a:rPr sz="1500" b="1" i="0">
                <a:solidFill>
                  <a:srgbClr val="095292"/>
                </a:solidFill>
                <a:latin typeface="Calibri"/>
              </a:rPr>
              <a:t>Criterio de aceptación</a:t>
            </a:r>
          </a:p>
        </p:txBody>
      </p:sp>
      <p:sp>
        <p:nvSpPr>
          <p:cNvPr id="16" name="TextBox 15"/>
          <p:cNvSpPr txBox="1"/>
          <p:nvPr/>
        </p:nvSpPr>
        <p:spPr>
          <a:xfrm>
            <a:off x="621792" y="4576572"/>
            <a:ext cx="5218023" cy="1595628"/>
          </a:xfrm>
          <a:prstGeom prst="rect">
            <a:avLst/>
          </a:prstGeom>
          <a:noFill/>
        </p:spPr>
        <p:txBody>
          <a:bodyPr wrap="square">
            <a:spAutoFit/>
          </a:bodyPr>
          <a:lstStyle/>
          <a:p>
            <a:r>
              <a:rPr sz="1300" b="0" i="0">
                <a:solidFill>
                  <a:srgbClr val="333333"/>
                </a:solidFill>
                <a:latin typeface="Calibri"/>
              </a:rPr>
              <a:t>Cómo se comprueba que el requisito se cumple, con un caso concreto: «un usuario que no conoce el sistema encuentra la disponibilidad de un libro en menos de un minuto, sin ayuda».</a:t>
            </a:r>
          </a:p>
        </p:txBody>
      </p:sp>
      <p:sp>
        <p:nvSpPr>
          <p:cNvPr id="17" name="Rounded Rectangle 16"/>
          <p:cNvSpPr/>
          <p:nvPr/>
        </p:nvSpPr>
        <p:spPr>
          <a:xfrm>
            <a:off x="6187287" y="38907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87287" y="3890772"/>
            <a:ext cx="5547207"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1879" y="4119372"/>
            <a:ext cx="5218023" cy="411480"/>
          </a:xfrm>
          <a:prstGeom prst="rect">
            <a:avLst/>
          </a:prstGeom>
          <a:noFill/>
        </p:spPr>
        <p:txBody>
          <a:bodyPr wrap="square">
            <a:spAutoFit/>
          </a:bodyPr>
          <a:lstStyle/>
          <a:p>
            <a:r>
              <a:rPr sz="1500" b="1" i="0">
                <a:solidFill>
                  <a:srgbClr val="095292"/>
                </a:solidFill>
                <a:latin typeface="Calibri"/>
              </a:rPr>
              <a:t>Hito</a:t>
            </a:r>
          </a:p>
        </p:txBody>
      </p:sp>
      <p:sp>
        <p:nvSpPr>
          <p:cNvPr id="20" name="TextBox 19"/>
          <p:cNvSpPr txBox="1"/>
          <p:nvPr/>
        </p:nvSpPr>
        <p:spPr>
          <a:xfrm>
            <a:off x="6351879" y="4576572"/>
            <a:ext cx="5218023" cy="1595628"/>
          </a:xfrm>
          <a:prstGeom prst="rect">
            <a:avLst/>
          </a:prstGeom>
          <a:noFill/>
        </p:spPr>
        <p:txBody>
          <a:bodyPr wrap="square">
            <a:spAutoFit/>
          </a:bodyPr>
          <a:lstStyle/>
          <a:p>
            <a:r>
              <a:rPr sz="1300" b="0" i="0">
                <a:solidFill>
                  <a:srgbClr val="333333"/>
                </a:solidFill>
                <a:latin typeface="Calibri"/>
              </a:rPr>
              <a:t>Un punto del calendario donde algo queda </a:t>
            </a:r>
            <a:r>
              <a:rPr sz="1300" b="1" i="0">
                <a:solidFill>
                  <a:srgbClr val="333333"/>
                </a:solidFill>
                <a:latin typeface="Calibri"/>
              </a:rPr>
              <a:t>terminado y verificable</a:t>
            </a:r>
            <a:r>
              <a:rPr sz="1300" b="0" i="0">
                <a:solidFill>
                  <a:srgbClr val="333333"/>
                </a:solidFill>
                <a:latin typeface="Calibri"/>
              </a:rPr>
              <a:t>. No es «ir avanzando»: es «en la sesión 10 hay tres pantallas probadas con un usuario».</a:t>
            </a:r>
          </a:p>
        </p:txBody>
      </p:sp>
      <p:sp>
        <p:nvSpPr>
          <p:cNvPr id="21" name="TextBox 20"/>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Ejemplo: requisitos mal y bien escritos</a:t>
            </a:r>
          </a:p>
        </p:txBody>
      </p:sp>
      <p:sp>
        <p:nvSpPr>
          <p:cNvPr id="5" name="Rounded Rectangle 4"/>
          <p:cNvSpPr/>
          <p:nvPr/>
        </p:nvSpPr>
        <p:spPr>
          <a:xfrm>
            <a:off x="457200" y="1261872"/>
            <a:ext cx="5478627" cy="5093208"/>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5478627" cy="50292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53312"/>
            <a:ext cx="5204307" cy="365760"/>
          </a:xfrm>
          <a:prstGeom prst="rect">
            <a:avLst/>
          </a:prstGeom>
          <a:noFill/>
        </p:spPr>
        <p:txBody>
          <a:bodyPr wrap="square" anchor="ctr"/>
          <a:lstStyle/>
          <a:p>
            <a:pPr algn="ctr"/>
            <a:r>
              <a:rPr sz="1600" b="1" i="0">
                <a:solidFill>
                  <a:srgbClr val="FFFFFF"/>
                </a:solidFill>
                <a:latin typeface="Calibri"/>
              </a:rPr>
              <a:t>Mal escrito</a:t>
            </a:r>
          </a:p>
        </p:txBody>
      </p:sp>
      <p:sp>
        <p:nvSpPr>
          <p:cNvPr id="8" name="TextBox 7"/>
          <p:cNvSpPr txBox="1"/>
          <p:nvPr/>
        </p:nvSpPr>
        <p:spPr>
          <a:xfrm>
            <a:off x="621792" y="1901952"/>
            <a:ext cx="5158587" cy="4498848"/>
          </a:xfrm>
          <a:prstGeom prst="rect">
            <a:avLst/>
          </a:prstGeom>
          <a:noFill/>
        </p:spPr>
        <p:txBody>
          <a:bodyPr wrap="square">
            <a:spAutoFit/>
          </a:bodyPr>
          <a:lstStyle/>
          <a:p>
            <a:pPr>
              <a:spcAft>
                <a:spcPts val="800"/>
              </a:spcAft>
            </a:pPr>
            <a:r>
              <a:rPr sz="1500" b="0" i="0">
                <a:solidFill>
                  <a:srgbClr val="333333"/>
                </a:solidFill>
                <a:latin typeface="Calibri"/>
              </a:rPr>
              <a:t>–   «El sistema tendrá una base de datos MySQL».</a:t>
            </a:r>
          </a:p>
          <a:p>
            <a:pPr>
              <a:spcAft>
                <a:spcPts val="800"/>
              </a:spcAft>
            </a:pPr>
            <a:r>
              <a:rPr sz="1500" b="0" i="0">
                <a:solidFill>
                  <a:srgbClr val="333333"/>
                </a:solidFill>
                <a:latin typeface="Calibri"/>
              </a:rPr>
              <a:t>–   «La app será rápida y fácil».</a:t>
            </a:r>
          </a:p>
          <a:p>
            <a:pPr>
              <a:spcAft>
                <a:spcPts val="800"/>
              </a:spcAft>
            </a:pPr>
            <a:r>
              <a:rPr sz="1500" b="0" i="0">
                <a:solidFill>
                  <a:srgbClr val="333333"/>
                </a:solidFill>
                <a:latin typeface="Calibri"/>
              </a:rPr>
              <a:t>–   «Ir avanzando con el diseño».</a:t>
            </a:r>
          </a:p>
        </p:txBody>
      </p:sp>
      <p:sp>
        <p:nvSpPr>
          <p:cNvPr id="9" name="Rounded Rectangle 8"/>
          <p:cNvSpPr/>
          <p:nvPr/>
        </p:nvSpPr>
        <p:spPr>
          <a:xfrm>
            <a:off x="6255867" y="1261872"/>
            <a:ext cx="5478627" cy="5093208"/>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55867" y="1261872"/>
            <a:ext cx="5478627" cy="5029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3027" y="1353312"/>
            <a:ext cx="5204307" cy="365760"/>
          </a:xfrm>
          <a:prstGeom prst="rect">
            <a:avLst/>
          </a:prstGeom>
          <a:noFill/>
        </p:spPr>
        <p:txBody>
          <a:bodyPr wrap="square" anchor="ctr"/>
          <a:lstStyle/>
          <a:p>
            <a:pPr algn="ctr"/>
            <a:r>
              <a:rPr sz="1600" b="1" i="0">
                <a:solidFill>
                  <a:srgbClr val="FFFFFF"/>
                </a:solidFill>
                <a:latin typeface="Calibri"/>
              </a:rPr>
              <a:t>Bien escrito</a:t>
            </a:r>
          </a:p>
        </p:txBody>
      </p:sp>
      <p:sp>
        <p:nvSpPr>
          <p:cNvPr id="12" name="TextBox 11"/>
          <p:cNvSpPr txBox="1"/>
          <p:nvPr/>
        </p:nvSpPr>
        <p:spPr>
          <a:xfrm>
            <a:off x="6420459" y="1901952"/>
            <a:ext cx="5158587" cy="4498848"/>
          </a:xfrm>
          <a:prstGeom prst="rect">
            <a:avLst/>
          </a:prstGeom>
          <a:noFill/>
        </p:spPr>
        <p:txBody>
          <a:bodyPr wrap="square">
            <a:spAutoFit/>
          </a:bodyPr>
          <a:lstStyle/>
          <a:p>
            <a:pPr>
              <a:spcAft>
                <a:spcPts val="800"/>
              </a:spcAft>
            </a:pPr>
            <a:r>
              <a:rPr sz="1500" b="0" i="0">
                <a:solidFill>
                  <a:srgbClr val="333333"/>
                </a:solidFill>
                <a:latin typeface="Calibri"/>
              </a:rPr>
              <a:t>–   </a:t>
            </a:r>
            <a:r>
              <a:rPr sz="1500" b="1" i="0">
                <a:solidFill>
                  <a:srgbClr val="333333"/>
                </a:solidFill>
                <a:latin typeface="Calibri"/>
              </a:rPr>
              <a:t>Funcional:</a:t>
            </a:r>
            <a:r>
              <a:rPr sz="1500" b="0" i="0">
                <a:solidFill>
                  <a:srgbClr val="333333"/>
                </a:solidFill>
                <a:latin typeface="Calibri"/>
              </a:rPr>
              <a:t> «El cliente puede ver cuántos turnos van antes del suyo».</a:t>
            </a:r>
          </a:p>
          <a:p>
            <a:pPr>
              <a:spcAft>
                <a:spcPts val="800"/>
              </a:spcAft>
            </a:pPr>
            <a:r>
              <a:rPr sz="1500" b="0" i="0">
                <a:solidFill>
                  <a:srgbClr val="333333"/>
                </a:solidFill>
                <a:latin typeface="Calibri"/>
              </a:rPr>
              <a:t>–   </a:t>
            </a:r>
            <a:r>
              <a:rPr sz="1500" b="1" i="0">
                <a:solidFill>
                  <a:srgbClr val="333333"/>
                </a:solidFill>
                <a:latin typeface="Calibri"/>
              </a:rPr>
              <a:t>Criterio:</a:t>
            </a:r>
            <a:r>
              <a:rPr sz="1500" b="0" i="0">
                <a:solidFill>
                  <a:srgbClr val="333333"/>
                </a:solidFill>
                <a:latin typeface="Calibri"/>
              </a:rPr>
              <a:t> «Una persona que no conoce la app lo ve en menos de 1 minuto».</a:t>
            </a:r>
          </a:p>
          <a:p>
            <a:pPr>
              <a:spcAft>
                <a:spcPts val="800"/>
              </a:spcAft>
            </a:pPr>
            <a:r>
              <a:rPr sz="1500" b="0" i="0">
                <a:solidFill>
                  <a:srgbClr val="333333"/>
                </a:solidFill>
                <a:latin typeface="Calibri"/>
              </a:rPr>
              <a:t>–   </a:t>
            </a:r>
            <a:r>
              <a:rPr sz="1500" b="1" i="0">
                <a:solidFill>
                  <a:srgbClr val="333333"/>
                </a:solidFill>
                <a:latin typeface="Calibri"/>
              </a:rPr>
              <a:t>Hito:</a:t>
            </a:r>
            <a:r>
              <a:rPr sz="1500" b="0" i="0">
                <a:solidFill>
                  <a:srgbClr val="333333"/>
                </a:solidFill>
                <a:latin typeface="Calibri"/>
              </a:rPr>
              <a:t> «En la Clase 10 está el prototipo de las 3 pantallas».</a:t>
            </a:r>
          </a:p>
        </p:txBody>
      </p:sp>
      <p:pic>
        <p:nvPicPr>
          <p:cNvPr id="13" name="Picture 12" descr="sello_mal.png"/>
          <p:cNvPicPr>
            <a:picLocks noChangeAspect="1"/>
          </p:cNvPicPr>
          <p:nvPr/>
        </p:nvPicPr>
        <p:blipFill>
          <a:blip r:embed="rId2"/>
          <a:stretch>
            <a:fillRect/>
          </a:stretch>
        </p:blipFill>
        <p:spPr>
          <a:xfrm>
            <a:off x="566928" y="1316736"/>
            <a:ext cx="393192" cy="393192"/>
          </a:xfrm>
          <a:prstGeom prst="rect">
            <a:avLst/>
          </a:prstGeom>
        </p:spPr>
      </p:pic>
      <p:pic>
        <p:nvPicPr>
          <p:cNvPr id="14" name="Picture 13" descr="sello_bien.png"/>
          <p:cNvPicPr>
            <a:picLocks noChangeAspect="1"/>
          </p:cNvPicPr>
          <p:nvPr/>
        </p:nvPicPr>
        <p:blipFill>
          <a:blip r:embed="rId3"/>
          <a:stretch>
            <a:fillRect/>
          </a:stretch>
        </p:blipFill>
        <p:spPr>
          <a:xfrm>
            <a:off x="6365595" y="1316736"/>
            <a:ext cx="393192" cy="393192"/>
          </a:xfrm>
          <a:prstGeom prst="rect">
            <a:avLst/>
          </a:prstGeom>
        </p:spPr>
      </p:pic>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Tres malentendidos que salen caros</a:t>
            </a:r>
          </a:p>
        </p:txBody>
      </p:sp>
      <p:sp>
        <p:nvSpPr>
          <p:cNvPr id="5" name="Rounded Rectangle 4"/>
          <p:cNvSpPr/>
          <p:nvPr/>
        </p:nvSpPr>
        <p:spPr>
          <a:xfrm>
            <a:off x="457200" y="1261872"/>
            <a:ext cx="11277295" cy="1051560"/>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28016" cy="105156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399031"/>
            <a:ext cx="10774375" cy="822959"/>
          </a:xfrm>
          <a:prstGeom prst="rect">
            <a:avLst/>
          </a:prstGeom>
          <a:noFill/>
        </p:spPr>
        <p:txBody>
          <a:bodyPr wrap="square">
            <a:spAutoFit/>
          </a:bodyPr>
          <a:lstStyle/>
          <a:p>
            <a:r>
              <a:rPr sz="1200" b="1" i="0">
                <a:solidFill>
                  <a:srgbClr val="A02030"/>
                </a:solidFill>
                <a:latin typeface="Calibri"/>
              </a:rPr>
              <a:t>Atención</a:t>
            </a:r>
          </a:p>
          <a:p>
            <a:pPr>
              <a:spcBef>
                <a:spcPts val="400"/>
              </a:spcBef>
            </a:pPr>
            <a:r>
              <a:rPr sz="1400" b="1" i="0">
                <a:solidFill>
                  <a:srgbClr val="333333"/>
                </a:solidFill>
                <a:latin typeface="Calibri"/>
              </a:rPr>
              <a:t>«Las fases son burocracia, lo importante es construir.»</a:t>
            </a:r>
            <a:r>
              <a:rPr sz="1400" b="0" i="0">
                <a:solidFill>
                  <a:srgbClr val="333333"/>
                </a:solidFill>
                <a:latin typeface="Calibri"/>
              </a:rPr>
              <a:t> Construir sin requisitos es construir algo que habrá que rehacer, y rehacer en la fase de construcción cuesta decenas de veces más que corregir una línea de la tabla de requisitos. Las fases no son papeleo: son el orden que hace barato el error.</a:t>
            </a:r>
          </a:p>
        </p:txBody>
      </p:sp>
      <p:sp>
        <p:nvSpPr>
          <p:cNvPr id="8" name="Rounded Rectangle 7"/>
          <p:cNvSpPr/>
          <p:nvPr/>
        </p:nvSpPr>
        <p:spPr>
          <a:xfrm>
            <a:off x="457200" y="2478024"/>
            <a:ext cx="11277295" cy="1051560"/>
          </a:xfrm>
          <a:prstGeom prst="roundRect">
            <a:avLst>
              <a:gd name="adj" fmla="val 12000"/>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478024"/>
            <a:ext cx="128016" cy="105156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15184"/>
            <a:ext cx="10774375" cy="822959"/>
          </a:xfrm>
          <a:prstGeom prst="rect">
            <a:avLst/>
          </a:prstGeom>
          <a:noFill/>
        </p:spPr>
        <p:txBody>
          <a:bodyPr wrap="square">
            <a:spAutoFit/>
          </a:bodyPr>
          <a:lstStyle/>
          <a:p>
            <a:r>
              <a:rPr sz="1200" b="1" i="0">
                <a:solidFill>
                  <a:srgbClr val="FFD000"/>
                </a:solidFill>
                <a:latin typeface="Calibri"/>
              </a:rPr>
              <a:t>Aclaración</a:t>
            </a:r>
          </a:p>
          <a:p>
            <a:pPr>
              <a:spcBef>
                <a:spcPts val="400"/>
              </a:spcBef>
            </a:pPr>
            <a:r>
              <a:rPr sz="1400" b="1" i="0">
                <a:solidFill>
                  <a:srgbClr val="333333"/>
                </a:solidFill>
                <a:latin typeface="Calibri"/>
              </a:rPr>
              <a:t>«Trabajar iterativo o ágil significa no planear.»</a:t>
            </a:r>
            <a:r>
              <a:rPr sz="1400" b="0" i="0">
                <a:solidFill>
                  <a:srgbClr val="333333"/>
                </a:solidFill>
                <a:latin typeface="Calibri"/>
              </a:rPr>
              <a:t> Es lo contrario: se planea más seguido y en pedazos más pequeños. Una iteración sin requisitos ni criterio de aceptación no es una iteración, es improvisación con nombre nuevo.</a:t>
            </a:r>
          </a:p>
        </p:txBody>
      </p:sp>
      <p:sp>
        <p:nvSpPr>
          <p:cNvPr id="11" name="Rounded Rectangle 10"/>
          <p:cNvSpPr/>
          <p:nvPr/>
        </p:nvSpPr>
        <p:spPr>
          <a:xfrm>
            <a:off x="457200" y="3694176"/>
            <a:ext cx="11277295" cy="1051560"/>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694176"/>
            <a:ext cx="128016" cy="105156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831336"/>
            <a:ext cx="10774375" cy="822959"/>
          </a:xfrm>
          <a:prstGeom prst="rect">
            <a:avLst/>
          </a:prstGeom>
          <a:noFill/>
        </p:spPr>
        <p:txBody>
          <a:bodyPr wrap="square">
            <a:spAutoFit/>
          </a:bodyPr>
          <a:lstStyle/>
          <a:p>
            <a:r>
              <a:rPr sz="1200" b="1" i="0">
                <a:solidFill>
                  <a:srgbClr val="269CCB"/>
                </a:solidFill>
                <a:latin typeface="Calibri"/>
              </a:rPr>
              <a:t>Info</a:t>
            </a:r>
          </a:p>
          <a:p>
            <a:pPr>
              <a:spcBef>
                <a:spcPts val="400"/>
              </a:spcBef>
            </a:pPr>
            <a:r>
              <a:rPr sz="1400" b="1" i="0">
                <a:solidFill>
                  <a:srgbClr val="333333"/>
                </a:solidFill>
                <a:latin typeface="Calibri"/>
              </a:rPr>
              <a:t>Las fases no son departamentos ni personas.</a:t>
            </a:r>
            <a:r>
              <a:rPr sz="1400" b="0" i="0">
                <a:solidFill>
                  <a:srgbClr val="333333"/>
                </a:solidFill>
                <a:latin typeface="Calibri"/>
              </a:rPr>
              <a:t> En un equipo de cinco, las seis fases las recorren los mismos cinco. Lo que cambia no es quién trabaja: es qué pregunta se está respondiendo en ese momento.</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Nos vemos en la sesión 8</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Ciclo de vida de los proyectos de ingeniería · Clase 7</a:t>
            </a:r>
          </a:p>
          <a:p>
            <a:pPr algn="ctr">
              <a:spcAft>
                <a:spcPts val="600"/>
              </a:spcAft>
            </a:pPr>
            <a:r>
              <a:rPr sz="1600" b="0" i="0">
                <a:solidFill>
                  <a:srgbClr val="333333"/>
                </a:solidFill>
                <a:latin typeface="Calibri"/>
              </a:rPr>
              <a:t>FI300101 · UNIAJC · Ingeniería de Sistemas</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El error barato es el que se encuentra temprano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