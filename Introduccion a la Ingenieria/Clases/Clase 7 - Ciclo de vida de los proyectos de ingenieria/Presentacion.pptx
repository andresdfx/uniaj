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Pida al grupo que diga en qué fase está hoy su propio proyecto. La respuesta correcta es: terminando la primera (la ficha de la Clase 6) y entrando en requisitos.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la curva del costo del cambio con un caso que cualquiera entiende. Subraye que el error es el mismo; lo único que cambia es cuándo se encuentra.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la izquierda no es un requisito: es una decisión de diseño disfrazada. El segundo no se puede comprobar. El tercero no tiene fecha ni resultado. La derecha se puede verificar con un sí o un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CURVA DEL COSTO DEL CAMBIO</a:t>
            </a:r>
          </a:p>
          <a:p/>
          <a:p>
            <a:r>
              <a:t>La analogía de la pared es la más eficiente que existe para esta clase porque nadie necesita saber de software para responderla. Mover una pared en el plano cuesta un borrador; en el ladrillo cuesta tumbar y volver a levantar; en la casa entregada cuesta la obra, la mudanza y el enojo del dueño. Todo el mundo lo intuye, y esa intuición es exactamente la curva del costo del cambio.</a:t>
            </a:r>
          </a:p>
          <a:p/>
          <a:p>
            <a:r>
              <a:t>Lo que hay que hacer explícito en el minuto 12 es que en software la curva es igual pero se ve menos, y ahí está el problema. En una casa, una pared mal puesta se ve; en un sistema, un requisito mal entendido no se ve hasta que alguien lo usa. Por eso en ingeniería de software hubo que inventar fases, revisiones y criterios de aceptación: son el equivalente a mirar el plano antes de pedir el cemento.</a:t>
            </a:r>
          </a:p>
          <a:p/>
          <a:p>
            <a:r>
              <a:t>Recoja las respuestas en el muro. Van a salir cifras espontáneas —«mil veces más caro»— y conviene no corregirlas ahí, sino usarlas cuando llegue la tabla: la dirección de la curva es correcta y los múltiplos exactos son discutibles, lo cual es una buena lección sobre cómo se citan los datos.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FASES, Y POR QUÉ EL ORDEN IMPORTA</a:t>
            </a:r>
          </a:p>
          <a:p/>
          <a:p>
            <a:r>
              <a:t>Conviene presentar las fases como una cadena de preguntas, no como una lista de etapas administrativas. Cada fase responde una pregunta y produce lo que la siguiente necesita para no adivinar.</a:t>
            </a:r>
          </a:p>
          <a:p/>
          <a:p>
            <a:r>
              <a:t>Definición del problema responde *qué se va a resolver y para quién*, y hay que decir en voz alta que esa fase ya la hicieron en la sesión 6: la ficha del problema es el entregable de la primera fase del ciclo de vida de su propio proyecto. Eso reordena la percepción del curso: no estaban haciendo un ejercicio, estaban cerrando una fase.</a:t>
            </a:r>
          </a:p>
          <a:p/>
          <a:p>
            <a:r>
              <a:t>Requisitos responde *qué tiene que hacer la solución para resolver eso, y cómo sabremos que lo hace*. Es la fase de hoy y la que más se salta la gente.</a:t>
            </a:r>
          </a:p>
          <a:p/>
          <a:p>
            <a:r>
              <a:t>Diseño responde *cómo va a estar construido*: las partes, el flujo, las pantallas o los pasos. Construcción es la única fase que el estudiante reconoce como «el proyecto», y vale la pena decirle que es una de seis, y no la más determinante. Validación responde *funciona contra los criterios y con el usuario real*; la trampa clásica es probar con el propio equipo, que ya sabe cómo se usa. Y operación y retiro es la fase que nadie enseña en primer semestre y que conviene nombrar por dos razones: la mayor parte de la vida de un sistema ocurre ahí, y el retiro —qué pasa con los datos cuando el sistema se apaga— es un asunto ético y legal que ya vieron en la sesión 4 con la Ley 1581.</a:t>
            </a:r>
          </a:p>
          <a:p/>
          <a:p>
            <a:r>
              <a:t>El punto que amarra todo: el orden no es burocracia, es economía. Cada fase existe porque descubrir un error en ella cuesta menos que descubrirlo en la siguiente. Quien se salta requisitos no ahorra tiempo: mueve el costo hacia adelante y lo multiplica.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DEL COSTO DEL CAMBIO: QUÉ SE PUEDE AFIRMAR Y QUÉ NO</a:t>
            </a:r>
          </a:p>
          <a:p/>
          <a:p>
            <a:r>
              <a:t>Esta tabla es el corazón cuantitativo de la sesión y hay que manejarla con el mismo rigor que se les exigió en la sesión 5 con las cifras ambientales. Lo que se puede afirmar con seguridad: el costo de corregir un error crece con la fase en que se descubre, y crece por órdenes de magnitud entre los extremos. La forma de esa curva la documentó Barry Boehm en los años setenta a partir de datos de proyectos reales, y se ha vuelto a medir muchas veces desde entonces.</a:t>
            </a:r>
          </a:p>
          <a:p/>
          <a:p>
            <a:r>
              <a:t>Lo que no conviene afirmar: los múltiplos exactos. Circulan tablas con «1× / 5× / 10× / 100×» presentadas como leyes de la naturaleza, y hay literatura que discute si en desarrollo iterativo la curva es tan pronunciada. Diga eso explícitamente en clase: es una oportunidad de oro para mostrar que un ingeniero puede usar un resultado clásico sin exagerarlo. La dirección de la curva no está en discusión; la pendiente sí.</a:t>
            </a:r>
          </a:p>
          <a:p/>
          <a:p>
            <a:r>
              <a:t>El uso práctico de la tabla es una pregunta que los equipos van a responder en el taller: *¿qué decisión que estamos tomando hoy sería carísima cambiar en la Clase 14?* Casi siempre la respuesta es un requisito mal entendido o una restricción ignorada, y hacer la pregunta hoy es lo que la vuelve barata.</a:t>
            </a:r>
          </a:p>
          <a:p/>
          <a:p>
            <a:r>
              <a:t>Hay un segundo uso, más sutil, que vale la pena señalar si el grupo responde bien: la curva explica por qué las revisiones tempranas —que se sienten como pérdida de tiempo porque todavía no hay nada construido— son la actividad más rentable del proyecto. En el Therac-25 de la sesión 4, la revisión independiente del software que nunca se hizo era justamente eso.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CASCADA, ITERATIVO, Y LO QUE ROYCE DIJO DE VERDAD</a:t>
            </a:r>
          </a:p>
          <a:p/>
          <a:p>
            <a:r>
              <a:t>En la sesión 2 apareció Royce y su artículo de 1970. Hoy se cierra el punto, porque es una de las confusiones más extendidas de la profesión: el diagrama de cascada de una sola pasada suele atribuirse a Royce como su propuesta, y en el mismo texto él lo presentó como el modo riesgoso y advirtió que hacerlo así invita al fracaso. Su propuesta incluía volver atrás, prototipar y hacer el trabajo dos veces. La profesión se quedó con el dibujo y perdió la advertencia.</a:t>
            </a:r>
          </a:p>
          <a:p/>
          <a:p>
            <a:r>
              <a:t>La comparación que importa para el curso no es «cascada mala, ágil bueno» —esa es una caricatura y hay que evitarla—. Es esta: las fases son las mismas en los dos; lo que cambia es cuántas veces se recorren y cuándo aparece el usuario. La cascada de una pasada es razonable cuando el problema es conocido, estable y el costo de equivocarse al final es asumible. El enfoque iterativo es mejor cuando hay incertidumbre sobre qué necesita el usuario, que es la situación normal y en particular la de todos los proyectos de este curso.</a:t>
            </a:r>
          </a:p>
          <a:p/>
          <a:p>
            <a:r>
              <a:t>Aterrícelo en el calendario, porque eso les hace sentir la diferencia: este curso va a hacer dos vueltas completas. Una corta en las sesiones 10 y 11 —prototipo de baja fidelidad, prueba, corrección— y otra en las Clases 12 a 14, con la retroalimentación de la presentación de avances. No es una decisión estética del docente: es la manera de que el error de requisitos aparezca en la sesión 10 y no en la 15, cuando ya no hay tiempo.</a:t>
            </a:r>
          </a:p>
          <a:p/>
          <a:p>
            <a:r>
              <a:t>Si alguien pregunta por el Manifiesto Ágil de 2001, que salió en la sesión 2: la respuesta honesta es que reordenó prioridades —software funcionando sobre documentación, colaboración sobre contrato— y que no eliminó las fases. Un equipo ágil sigue definiendo el problema, escribiendo requisitos, diseñando, construyendo y validando; lo hace en ciclos cortos y con menos ceremonia.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Ciclo de vida de los proyectos de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el orden de las fases decide el costo del error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fases, costo del cambio, cascada vs. iterativo y requisitos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fases del ciclo de vida</a:t>
            </a:r>
            <a:r>
              <a:rPr sz="2000" b="0" i="0">
                <a:solidFill>
                  <a:srgbClr val="333333"/>
                </a:solidFill>
                <a:latin typeface="Calibri"/>
              </a:rPr>
              <a:t> de un proyecto y qué se entrega en cada una.</a:t>
            </a:r>
          </a:p>
          <a:p>
            <a:pPr>
              <a:spcAft>
                <a:spcPts val="800"/>
              </a:spcAft>
            </a:pPr>
            <a:r>
              <a:rPr sz="2000" b="0" i="0">
                <a:solidFill>
                  <a:srgbClr val="333333"/>
                </a:solidFill>
                <a:latin typeface="Calibri"/>
              </a:rPr>
              <a:t>–   Explicar por qué </a:t>
            </a:r>
            <a:r>
              <a:rPr sz="2000" b="1" i="0">
                <a:solidFill>
                  <a:srgbClr val="333333"/>
                </a:solidFill>
                <a:latin typeface="Calibri"/>
              </a:rPr>
              <a:t>el costo de corregir un error crece</a:t>
            </a:r>
            <a:r>
              <a:rPr sz="2000" b="0" i="0">
                <a:solidFill>
                  <a:srgbClr val="333333"/>
                </a:solidFill>
                <a:latin typeface="Calibri"/>
              </a:rPr>
              <a:t> con la fase en que se descubre.</a:t>
            </a:r>
          </a:p>
          <a:p>
            <a:pPr>
              <a:spcAft>
                <a:spcPts val="800"/>
              </a:spcAft>
            </a:pPr>
            <a:r>
              <a:rPr sz="2000" b="0" i="0">
                <a:solidFill>
                  <a:srgbClr val="333333"/>
                </a:solidFill>
                <a:latin typeface="Calibri"/>
              </a:rPr>
              <a:t>–   Distinguir un </a:t>
            </a:r>
            <a:r>
              <a:rPr sz="2000" b="1" i="0">
                <a:solidFill>
                  <a:srgbClr val="333333"/>
                </a:solidFill>
                <a:latin typeface="Calibri"/>
              </a:rPr>
              <a:t>requisito funcional</a:t>
            </a:r>
            <a:r>
              <a:rPr sz="2000" b="0" i="0">
                <a:solidFill>
                  <a:srgbClr val="333333"/>
                </a:solidFill>
                <a:latin typeface="Calibri"/>
              </a:rPr>
              <a:t> de uno </a:t>
            </a:r>
            <a:r>
              <a:rPr sz="2000" b="1" i="0">
                <a:solidFill>
                  <a:srgbClr val="333333"/>
                </a:solidFill>
                <a:latin typeface="Calibri"/>
              </a:rPr>
              <a:t>no funcional</a:t>
            </a:r>
            <a:r>
              <a:rPr sz="2000" b="0" i="0">
                <a:solidFill>
                  <a:srgbClr val="333333"/>
                </a:solidFill>
                <a:latin typeface="Calibri"/>
              </a:rPr>
              <a:t>, y escribir su criterio de aceptación.</a:t>
            </a:r>
          </a:p>
          <a:p>
            <a:pPr>
              <a:spcAft>
                <a:spcPts val="800"/>
              </a:spcAft>
            </a:pPr>
            <a:r>
              <a:rPr sz="2000" b="0" i="0">
                <a:solidFill>
                  <a:srgbClr val="333333"/>
                </a:solidFill>
                <a:latin typeface="Calibri"/>
              </a:rPr>
              <a:t>–   Ubicar el proyecto del equipo en una fase y decir </a:t>
            </a:r>
            <a:r>
              <a:rPr sz="2000" b="1" i="0">
                <a:solidFill>
                  <a:srgbClr val="333333"/>
                </a:solidFill>
                <a:latin typeface="Calibri"/>
              </a:rPr>
              <a:t>qué falta para cerrarla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¿Cuánto cuesta mover una pared? Depende de si está en el plano, en el ladrillo o en la casa ya entregada.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En el plano cuesta un borrador. En la casa terminada cuesta tumbarla.</a:t>
            </a:r>
          </a:p>
          <a:p>
            <a:pPr algn="ctr">
              <a:spcAft>
                <a:spcPts val="600"/>
              </a:spcAft>
            </a:pPr>
            <a:r>
              <a:rPr sz="1500" b="0" i="0">
                <a:solidFill>
                  <a:srgbClr val="269CCB"/>
                </a:solidFill>
                <a:latin typeface="Calibri"/>
              </a:rPr>
              <a:t>El software tiene la misma curva, y es la razón por la que existen las fases.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seis fases del ciclo de vida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no es burocracia: cada fase produce lo que la siguiente necesita para no adivinar</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DEFINICIÓN DEL PROBLEMA</a:t>
            </a:r>
          </a:p>
          <a:p>
            <a:pPr>
              <a:spcBef>
                <a:spcPts val="200"/>
              </a:spcBef>
            </a:pPr>
            <a:r>
              <a:rPr sz="1300" b="0" i="0">
                <a:solidFill>
                  <a:srgbClr val="333333"/>
                </a:solidFill>
                <a:latin typeface="Calibri"/>
              </a:rPr>
              <a:t>Qué se va a resolver y para quién. </a:t>
            </a:r>
            <a:r>
              <a:rPr sz="1300" b="1" i="0">
                <a:solidFill>
                  <a:srgbClr val="333333"/>
                </a:solidFill>
                <a:latin typeface="Calibri"/>
              </a:rPr>
              <a:t>Esto ya lo hicieron en la sesión 6</a:t>
            </a:r>
            <a:r>
              <a:rPr sz="1300" b="0" i="0">
                <a:solidFill>
                  <a:srgbClr val="333333"/>
                </a:solidFill>
                <a:latin typeface="Calibri"/>
              </a:rPr>
              <a:t>: es la ficha del problema</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REQUISITOS</a:t>
            </a:r>
          </a:p>
          <a:p>
            <a:pPr>
              <a:spcBef>
                <a:spcPts val="200"/>
              </a:spcBef>
            </a:pPr>
            <a:r>
              <a:rPr sz="1300" b="0" i="0">
                <a:solidFill>
                  <a:srgbClr val="333333"/>
                </a:solidFill>
                <a:latin typeface="Calibri"/>
              </a:rPr>
              <a:t>Qué tiene que hacer la solución para resolverlo, y cómo se sabrá que lo hace</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DISEÑO</a:t>
            </a:r>
          </a:p>
          <a:p>
            <a:pPr>
              <a:spcBef>
                <a:spcPts val="200"/>
              </a:spcBef>
            </a:pPr>
            <a:r>
              <a:rPr sz="1300" b="0" i="0">
                <a:solidFill>
                  <a:srgbClr val="333333"/>
                </a:solidFill>
                <a:latin typeface="Calibri"/>
              </a:rPr>
              <a:t>Cómo va a estar construida: las partes, el flujo, las pantallas o los pasos</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CONSTRUCCIÓN</a:t>
            </a:r>
          </a:p>
          <a:p>
            <a:pPr>
              <a:spcBef>
                <a:spcPts val="200"/>
              </a:spcBef>
            </a:pPr>
            <a:r>
              <a:rPr sz="1300" b="0" i="0">
                <a:solidFill>
                  <a:srgbClr val="333333"/>
                </a:solidFill>
                <a:latin typeface="Calibri"/>
              </a:rPr>
              <a:t>Se construye. Es la fase que todo el mundo cree que es «el proyecto», y es una de seis</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VALIDACIÓN</a:t>
            </a:r>
          </a:p>
          <a:p>
            <a:pPr>
              <a:spcBef>
                <a:spcPts val="200"/>
              </a:spcBef>
            </a:pPr>
            <a:r>
              <a:rPr sz="1300" b="0" i="0">
                <a:solidFill>
                  <a:srgbClr val="333333"/>
                </a:solidFill>
                <a:latin typeface="Calibri"/>
              </a:rPr>
              <a:t>Se prueba contra los criterios de aceptación </a:t>
            </a:r>
            <a:r>
              <a:rPr sz="1300" b="1" i="0">
                <a:solidFill>
                  <a:srgbClr val="333333"/>
                </a:solidFill>
                <a:latin typeface="Calibri"/>
              </a:rPr>
              <a:t>y con el usuario real</a:t>
            </a:r>
            <a:r>
              <a:rPr sz="1300" b="0" i="0">
                <a:solidFill>
                  <a:srgbClr val="333333"/>
                </a:solidFill>
                <a:latin typeface="Calibri"/>
              </a:rPr>
              <a:t>, no solo con el equipo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OPERACIÓN Y RETIRO</a:t>
            </a:r>
          </a:p>
          <a:p>
            <a:pPr>
              <a:spcBef>
                <a:spcPts val="200"/>
              </a:spcBef>
            </a:pPr>
            <a:r>
              <a:rPr sz="1300" b="0" i="0">
                <a:solidFill>
                  <a:srgbClr val="333333"/>
                </a:solidFill>
                <a:latin typeface="Calibri"/>
              </a:rPr>
              <a:t>Funcionando en la vida real, con mantenimiento. Y al final, cómo se apaga y qué pasa con los datos</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las seis fases en la app de turnos de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solo proyecto pequeño, recorrido de punta a punta.</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DEFINICIÓN</a:t>
            </a:r>
          </a:p>
          <a:p>
            <a:pPr>
              <a:spcBef>
                <a:spcPts val="200"/>
              </a:spcBef>
            </a:pPr>
            <a:r>
              <a:rPr sz="1300" b="0" i="0">
                <a:solidFill>
                  <a:srgbClr val="333333"/>
                </a:solidFill>
                <a:latin typeface="Calibri"/>
              </a:rPr>
              <a:t>Los clientes esperan de pie 25 minutos sin saber cuántos van antes.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REQUISITOS</a:t>
            </a:r>
          </a:p>
          <a:p>
            <a:pPr>
              <a:spcBef>
                <a:spcPts val="200"/>
              </a:spcBef>
            </a:pPr>
            <a:r>
              <a:rPr sz="1300" b="0" i="0">
                <a:solidFill>
                  <a:srgbClr val="333333"/>
                </a:solidFill>
                <a:latin typeface="Calibri"/>
              </a:rPr>
              <a:t>El cliente ve su turno en el celular. Criterio: lo encuentra en menos de 1 minuto.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DISEÑO</a:t>
            </a:r>
          </a:p>
          <a:p>
            <a:pPr>
              <a:spcBef>
                <a:spcPts val="200"/>
              </a:spcBef>
            </a:pPr>
            <a:r>
              <a:rPr sz="1300" b="0" i="0">
                <a:solidFill>
                  <a:srgbClr val="333333"/>
                </a:solidFill>
                <a:latin typeface="Calibri"/>
              </a:rPr>
              <a:t>Tres pantallas: pedir turno, ver turno, aviso de «ya casi».</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CONSTRUCCIÓN</a:t>
            </a:r>
          </a:p>
          <a:p>
            <a:pPr>
              <a:spcBef>
                <a:spcPts val="200"/>
              </a:spcBef>
            </a:pPr>
            <a:r>
              <a:rPr sz="1300" b="0" i="0">
                <a:solidFill>
                  <a:srgbClr val="333333"/>
                </a:solidFill>
                <a:latin typeface="Calibri"/>
              </a:rPr>
              <a:t>Se arma la versión mínima con un formulario y una hoja de cálculo.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VALIDACIÓN</a:t>
            </a:r>
          </a:p>
          <a:p>
            <a:pPr>
              <a:spcBef>
                <a:spcPts val="200"/>
              </a:spcBef>
            </a:pPr>
            <a:r>
              <a:rPr sz="1300" b="0" i="0">
                <a:solidFill>
                  <a:srgbClr val="333333"/>
                </a:solidFill>
                <a:latin typeface="Calibri"/>
              </a:rPr>
              <a:t>Cinco clientes reales la prueban un sábado; se mide el tiempo.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OPERACIÓN Y RETIRO</a:t>
            </a:r>
          </a:p>
          <a:p>
            <a:pPr>
              <a:spcBef>
                <a:spcPts val="200"/>
              </a:spcBef>
            </a:pPr>
            <a:r>
              <a:rPr sz="1300" b="0" i="0">
                <a:solidFill>
                  <a:srgbClr val="333333"/>
                </a:solidFill>
                <a:latin typeface="Calibri"/>
              </a:rPr>
              <a:t>La tienda la usa; si se apaga, se borran los celulares guardados.</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cuesta cambiar en cada fase</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657600"/>
                <a:gridCol w="3474720"/>
              </a:tblGrid>
              <a:tr h="384048">
                <a:tc>
                  <a:txBody>
                    <a:bodyPr/>
                    <a:lstStyle/>
                    <a:p>
                      <a:r>
                        <a:rPr sz="1200" b="1" i="0">
                          <a:solidFill>
                            <a:srgbClr val="FFFFFF"/>
                          </a:solidFill>
                          <a:latin typeface="Calibri"/>
                        </a:rPr>
                        <a:t>Se descubre en…</a:t>
                      </a:r>
                    </a:p>
                  </a:txBody>
                  <a:tcPr>
                    <a:solidFill>
                      <a:srgbClr val="095292"/>
                    </a:solidFill>
                  </a:tcPr>
                </a:tc>
                <a:tc>
                  <a:txBody>
                    <a:bodyPr/>
                    <a:lstStyle/>
                    <a:p>
                      <a:r>
                        <a:rPr sz="1200" b="1" i="0">
                          <a:solidFill>
                            <a:srgbClr val="FFFFFF"/>
                          </a:solidFill>
                          <a:latin typeface="Calibri"/>
                        </a:rPr>
                        <a:t>Qué hay que rehacer</a:t>
                      </a:r>
                    </a:p>
                  </a:txBody>
                  <a:tcPr>
                    <a:solidFill>
                      <a:srgbClr val="095292"/>
                    </a:solidFill>
                  </a:tcPr>
                </a:tc>
                <a:tc>
                  <a:txBody>
                    <a:bodyPr/>
                    <a:lstStyle/>
                    <a:p>
                      <a:r>
                        <a:rPr sz="1200" b="1" i="0">
                          <a:solidFill>
                            <a:srgbClr val="FFFFFF"/>
                          </a:solidFill>
                          <a:latin typeface="Calibri"/>
                        </a:rPr>
                        <a:t>Orden de magnitud del costo</a:t>
                      </a:r>
                    </a:p>
                  </a:txBody>
                  <a:tcPr>
                    <a:solidFill>
                      <a:srgbClr val="095292"/>
                    </a:solidFill>
                  </a:tcPr>
                </a:tc>
              </a:tr>
              <a:tr h="384048">
                <a:tc>
                  <a:txBody>
                    <a:bodyPr/>
                    <a:lstStyle/>
                    <a:p>
                      <a:r>
                        <a:rPr sz="1200" b="0" i="0">
                          <a:solidFill>
                            <a:srgbClr val="333333"/>
                          </a:solidFill>
                          <a:latin typeface="Calibri"/>
                        </a:rPr>
                        <a:t>Definición del problema</a:t>
                      </a:r>
                    </a:p>
                  </a:txBody>
                  <a:tcPr>
                    <a:solidFill>
                      <a:srgbClr val="FFFFFF"/>
                    </a:solidFill>
                  </a:tcPr>
                </a:tc>
                <a:tc>
                  <a:txBody>
                    <a:bodyPr/>
                    <a:lstStyle/>
                    <a:p>
                      <a:r>
                        <a:rPr sz="1200" b="0" i="0">
                          <a:solidFill>
                            <a:srgbClr val="333333"/>
                          </a:solidFill>
                          <a:latin typeface="Calibri"/>
                        </a:rPr>
                        <a:t>Una frase en un documento. Nada más existe todavía.</a:t>
                      </a:r>
                    </a:p>
                  </a:txBody>
                  <a:tcPr>
                    <a:solidFill>
                      <a:srgbClr val="FFFFFF"/>
                    </a:solidFill>
                  </a:tcPr>
                </a:tc>
                <a:tc>
                  <a:txBody>
                    <a:bodyPr/>
                    <a:lstStyle/>
                    <a:p>
                      <a:r>
                        <a:rPr sz="1200" b="1" i="0">
                          <a:solidFill>
                            <a:srgbClr val="333333"/>
                          </a:solidFill>
                          <a:latin typeface="Calibri"/>
                        </a:rPr>
                        <a:t>1</a:t>
                      </a:r>
                      <a:r>
                        <a:rPr sz="1200" b="0" i="0">
                          <a:solidFill>
                            <a:srgbClr val="333333"/>
                          </a:solidFill>
                          <a:latin typeface="Calibri"/>
                        </a:rPr>
                        <a:t> — el costo de una conversación</a:t>
                      </a:r>
                    </a:p>
                  </a:txBody>
                  <a:tcPr>
                    <a:solidFill>
                      <a:srgbClr val="FFFFFF"/>
                    </a:solidFill>
                  </a:tcPr>
                </a:tc>
              </a:tr>
              <a:tr h="384048">
                <a:tc>
                  <a:txBody>
                    <a:bodyPr/>
                    <a:lstStyle/>
                    <a:p>
                      <a:r>
                        <a:rPr sz="1200" b="0" i="0">
                          <a:solidFill>
                            <a:srgbClr val="333333"/>
                          </a:solidFill>
                          <a:latin typeface="Calibri"/>
                        </a:rPr>
                        <a:t>Requisitos</a:t>
                      </a:r>
                    </a:p>
                  </a:txBody>
                  <a:tcPr>
                    <a:solidFill>
                      <a:srgbClr val="F2F2F2"/>
                    </a:solidFill>
                  </a:tcPr>
                </a:tc>
                <a:tc>
                  <a:txBody>
                    <a:bodyPr/>
                    <a:lstStyle/>
                    <a:p>
                      <a:r>
                        <a:rPr sz="1200" b="0" i="0">
                          <a:solidFill>
                            <a:srgbClr val="333333"/>
                          </a:solidFill>
                          <a:latin typeface="Calibri"/>
                        </a:rPr>
                        <a:t>Una línea de la tabla de requisitos y su criterio de aceptación.</a:t>
                      </a:r>
                    </a:p>
                  </a:txBody>
                  <a:tcPr>
                    <a:solidFill>
                      <a:srgbClr val="F2F2F2"/>
                    </a:solidFill>
                  </a:tcPr>
                </a:tc>
                <a:tc>
                  <a:txBody>
                    <a:bodyPr/>
                    <a:lstStyle/>
                    <a:p>
                      <a:r>
                        <a:rPr sz="1200" b="1" i="0">
                          <a:solidFill>
                            <a:srgbClr val="333333"/>
                          </a:solidFill>
                          <a:latin typeface="Calibri"/>
                        </a:rPr>
                        <a:t>pocas veces</a:t>
                      </a:r>
                      <a:r>
                        <a:rPr sz="1200" b="0" i="0">
                          <a:solidFill>
                            <a:srgbClr val="333333"/>
                          </a:solidFill>
                          <a:latin typeface="Calibri"/>
                        </a:rPr>
                        <a:t> más que en la fase anterior</a:t>
                      </a:r>
                    </a:p>
                  </a:txBody>
                  <a:tcPr>
                    <a:solidFill>
                      <a:srgbClr val="F2F2F2"/>
                    </a:solidFill>
                  </a:tcPr>
                </a:tc>
              </a:tr>
              <a:tr h="384048">
                <a:tc>
                  <a:txBody>
                    <a:bodyPr/>
                    <a:lstStyle/>
                    <a:p>
                      <a:r>
                        <a:rPr sz="1200" b="0" i="0">
                          <a:solidFill>
                            <a:srgbClr val="333333"/>
                          </a:solidFill>
                          <a:latin typeface="Calibri"/>
                        </a:rPr>
                        <a:t>Diseño</a:t>
                      </a:r>
                    </a:p>
                  </a:txBody>
                  <a:tcPr>
                    <a:solidFill>
                      <a:srgbClr val="FFFFFF"/>
                    </a:solidFill>
                  </a:tcPr>
                </a:tc>
                <a:tc>
                  <a:txBody>
                    <a:bodyPr/>
                    <a:lstStyle/>
                    <a:p>
                      <a:r>
                        <a:rPr sz="1200" b="0" i="0">
                          <a:solidFill>
                            <a:srgbClr val="333333"/>
                          </a:solidFill>
                          <a:latin typeface="Calibri"/>
                        </a:rPr>
                        <a:t>El diagrama, y las decisiones que colgaban de él.</a:t>
                      </a:r>
                    </a:p>
                  </a:txBody>
                  <a:tcPr>
                    <a:solidFill>
                      <a:srgbClr val="FFFFFF"/>
                    </a:solidFill>
                  </a:tcPr>
                </a:tc>
                <a:tc>
                  <a:txBody>
                    <a:bodyPr/>
                    <a:lstStyle/>
                    <a:p>
                      <a:r>
                        <a:rPr sz="1200" b="1" i="0">
                          <a:solidFill>
                            <a:srgbClr val="333333"/>
                          </a:solidFill>
                          <a:latin typeface="Calibri"/>
                        </a:rPr>
                        <a:t>varias veces</a:t>
                      </a:r>
                      <a:r>
                        <a:rPr sz="1200" b="0" i="0">
                          <a:solidFill>
                            <a:srgbClr val="333333"/>
                          </a:solidFill>
                          <a:latin typeface="Calibri"/>
                        </a:rPr>
                        <a:t> más: hay que rediseñar y volver a acordar</a:t>
                      </a:r>
                    </a:p>
                  </a:txBody>
                  <a:tcPr>
                    <a:solidFill>
                      <a:srgbClr val="FFFFFF"/>
                    </a:solidFill>
                  </a:tcPr>
                </a:tc>
              </a:tr>
              <a:tr h="384048">
                <a:tc>
                  <a:txBody>
                    <a:bodyPr/>
                    <a:lstStyle/>
                    <a:p>
                      <a:r>
                        <a:rPr sz="1200" b="0" i="0">
                          <a:solidFill>
                            <a:srgbClr val="333333"/>
                          </a:solidFill>
                          <a:latin typeface="Calibri"/>
                        </a:rPr>
                        <a:t>Construcción</a:t>
                      </a:r>
                    </a:p>
                  </a:txBody>
                  <a:tcPr>
                    <a:solidFill>
                      <a:srgbClr val="F2F2F2"/>
                    </a:solidFill>
                  </a:tcPr>
                </a:tc>
                <a:tc>
                  <a:txBody>
                    <a:bodyPr/>
                    <a:lstStyle/>
                    <a:p>
                      <a:r>
                        <a:rPr sz="1200" b="0" i="0">
                          <a:solidFill>
                            <a:srgbClr val="333333"/>
                          </a:solidFill>
                          <a:latin typeface="Calibri"/>
                        </a:rPr>
                        <a:t>Lo construido, más el diseño, más el requisito que estaba mal.</a:t>
                      </a:r>
                    </a:p>
                  </a:txBody>
                  <a:tcPr>
                    <a:solidFill>
                      <a:srgbClr val="F2F2F2"/>
                    </a:solidFill>
                  </a:tcPr>
                </a:tc>
                <a:tc>
                  <a:txBody>
                    <a:bodyPr/>
                    <a:lstStyle/>
                    <a:p>
                      <a:r>
                        <a:rPr sz="1200" b="1" i="0">
                          <a:solidFill>
                            <a:srgbClr val="333333"/>
                          </a:solidFill>
                          <a:latin typeface="Calibri"/>
                        </a:rPr>
                        <a:t>decenas de veces</a:t>
                      </a:r>
                      <a:r>
                        <a:rPr sz="1200" b="0" i="0">
                          <a:solidFill>
                            <a:srgbClr val="333333"/>
                          </a:solidFill>
                          <a:latin typeface="Calibri"/>
                        </a:rPr>
                        <a:t> más</a:t>
                      </a:r>
                    </a:p>
                  </a:txBody>
                  <a:tcPr>
                    <a:solidFill>
                      <a:srgbClr val="F2F2F2"/>
                    </a:solidFill>
                  </a:tcPr>
                </a:tc>
              </a:tr>
              <a:tr h="384048">
                <a:tc>
                  <a:txBody>
                    <a:bodyPr/>
                    <a:lstStyle/>
                    <a:p>
                      <a:r>
                        <a:rPr sz="1200" b="0" i="0">
                          <a:solidFill>
                            <a:srgbClr val="333333"/>
                          </a:solidFill>
                          <a:latin typeface="Calibri"/>
                        </a:rPr>
                        <a:t>Después de entregado</a:t>
                      </a:r>
                    </a:p>
                  </a:txBody>
                  <a:tcPr>
                    <a:solidFill>
                      <a:srgbClr val="FFFFFF"/>
                    </a:solidFill>
                  </a:tcPr>
                </a:tc>
                <a:tc>
                  <a:txBody>
                    <a:bodyPr/>
                    <a:lstStyle/>
                    <a:p>
                      <a:r>
                        <a:rPr sz="1200" b="0" i="0">
                          <a:solidFill>
                            <a:srgbClr val="333333"/>
                          </a:solidFill>
                          <a:latin typeface="Calibri"/>
                        </a:rPr>
                        <a:t>Todo lo anterior, con el usuario ya usándolo, más el daño que alcanzó a hacer.</a:t>
                      </a:r>
                    </a:p>
                  </a:txBody>
                  <a:tcPr>
                    <a:solidFill>
                      <a:srgbClr val="FFFFFF"/>
                    </a:solidFill>
                  </a:tcPr>
                </a:tc>
                <a:tc>
                  <a:txBody>
                    <a:bodyPr/>
                    <a:lstStyle/>
                    <a:p>
                      <a:r>
                        <a:rPr sz="1200" b="1" i="0">
                          <a:solidFill>
                            <a:srgbClr val="333333"/>
                          </a:solidFill>
                          <a:latin typeface="Calibri"/>
                        </a:rPr>
                        <a:t>órdenes de magnitud</a:t>
                      </a:r>
                      <a:r>
                        <a:rPr sz="1200" b="0" i="0">
                          <a:solidFill>
                            <a:srgbClr val="333333"/>
                          </a:solidFill>
                          <a:latin typeface="Calibri"/>
                        </a:rPr>
                        <a:t> más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La forma de esta curva la documentó Barry Boehm en los años setenta y sigue vigente. Los múltiplos exactos se discuten; </a:t>
            </a:r>
            <a:r>
              <a:rPr sz="1100" b="1" i="1">
                <a:solidFill>
                  <a:srgbClr val="666666"/>
                </a:solidFill>
                <a:latin typeface="Calibri"/>
              </a:rPr>
              <a:t>la dirección no</a:t>
            </a:r>
            <a:r>
              <a:rPr sz="1100" b="0" i="1">
                <a:solidFill>
                  <a:srgbClr val="666666"/>
                </a:solidFill>
                <a:latin typeface="Calibri"/>
              </a:rPr>
              <a:t>: el error barato es el que se encuentra temprano.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error, descubierto en tres momentos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Cuándo se descubre</a:t>
                      </a:r>
                    </a:p>
                  </a:txBody>
                  <a:tcPr>
                    <a:solidFill>
                      <a:srgbClr val="095292"/>
                    </a:solidFill>
                  </a:tcPr>
                </a:tc>
                <a:tc>
                  <a:txBody>
                    <a:bodyPr/>
                    <a:lstStyle/>
                    <a:p>
                      <a:r>
                        <a:rPr sz="1200" b="1" i="0">
                          <a:solidFill>
                            <a:srgbClr val="FFFFFF"/>
                          </a:solidFill>
                          <a:latin typeface="Calibri"/>
                        </a:rPr>
                        <a:t>Qué hay que hacer</a:t>
                      </a:r>
                    </a:p>
                  </a:txBody>
                  <a:tcPr>
                    <a:solidFill>
                      <a:srgbClr val="095292"/>
                    </a:solidFill>
                  </a:tcPr>
                </a:tc>
                <a:tc>
                  <a:txBody>
                    <a:bodyPr/>
                    <a:lstStyle/>
                    <a:p>
                      <a:r>
                        <a:rPr sz="1200" b="1" i="0">
                          <a:solidFill>
                            <a:srgbClr val="FFFFFF"/>
                          </a:solidFill>
                          <a:latin typeface="Calibri"/>
                        </a:rPr>
                        <a:t>Cuánto cuesta</a:t>
                      </a:r>
                    </a:p>
                  </a:txBody>
                  <a:tcPr>
                    <a:solidFill>
                      <a:srgbClr val="095292"/>
                    </a:solidFill>
                  </a:tcPr>
                </a:tc>
              </a:tr>
              <a:tr h="384048">
                <a:tc>
                  <a:txBody>
                    <a:bodyPr/>
                    <a:lstStyle/>
                    <a:p>
                      <a:r>
                        <a:rPr sz="1200" b="0" i="0">
                          <a:solidFill>
                            <a:srgbClr val="333333"/>
                          </a:solidFill>
                          <a:latin typeface="Calibri"/>
                        </a:rPr>
                        <a:t>En requisitos</a:t>
                      </a:r>
                    </a:p>
                  </a:txBody>
                  <a:tcPr>
                    <a:solidFill>
                      <a:srgbClr val="FFFFFF"/>
                    </a:solidFill>
                  </a:tcPr>
                </a:tc>
                <a:tc>
                  <a:txBody>
                    <a:bodyPr/>
                    <a:lstStyle/>
                    <a:p>
                      <a:r>
                        <a:rPr sz="1200" b="0" i="0">
                          <a:solidFill>
                            <a:srgbClr val="333333"/>
                          </a:solidFill>
                          <a:latin typeface="Calibri"/>
                        </a:rPr>
                        <a:t>Cambiar «correo» por «celular» en una línea.</a:t>
                      </a:r>
                    </a:p>
                  </a:txBody>
                  <a:tcPr>
                    <a:solidFill>
                      <a:srgbClr val="FFFFFF"/>
                    </a:solidFill>
                  </a:tcPr>
                </a:tc>
                <a:tc>
                  <a:txBody>
                    <a:bodyPr/>
                    <a:lstStyle/>
                    <a:p>
                      <a:r>
                        <a:rPr sz="1200" b="0" i="0">
                          <a:solidFill>
                            <a:srgbClr val="333333"/>
                          </a:solidFill>
                          <a:latin typeface="Calibri"/>
                        </a:rPr>
                        <a:t>Cinco minutos</a:t>
                      </a:r>
                    </a:p>
                  </a:txBody>
                  <a:tcPr>
                    <a:solidFill>
                      <a:srgbClr val="FFFFFF"/>
                    </a:solidFill>
                  </a:tcPr>
                </a:tc>
              </a:tr>
              <a:tr h="384048">
                <a:tc>
                  <a:txBody>
                    <a:bodyPr/>
                    <a:lstStyle/>
                    <a:p>
                      <a:r>
                        <a:rPr sz="1200" b="0" i="0">
                          <a:solidFill>
                            <a:srgbClr val="333333"/>
                          </a:solidFill>
                          <a:latin typeface="Calibri"/>
                        </a:rPr>
                        <a:t>En construcción</a:t>
                      </a:r>
                    </a:p>
                  </a:txBody>
                  <a:tcPr>
                    <a:solidFill>
                      <a:srgbClr val="F2F2F2"/>
                    </a:solidFill>
                  </a:tcPr>
                </a:tc>
                <a:tc>
                  <a:txBody>
                    <a:bodyPr/>
                    <a:lstStyle/>
                    <a:p>
                      <a:r>
                        <a:rPr sz="1200" b="0" i="0">
                          <a:solidFill>
                            <a:srgbClr val="333333"/>
                          </a:solidFill>
                          <a:latin typeface="Calibri"/>
                        </a:rPr>
                        <a:t>Rehacer el formulario, la hoja y los avisos.</a:t>
                      </a:r>
                    </a:p>
                  </a:txBody>
                  <a:tcPr>
                    <a:solidFill>
                      <a:srgbClr val="F2F2F2"/>
                    </a:solidFill>
                  </a:tcPr>
                </a:tc>
                <a:tc>
                  <a:txBody>
                    <a:bodyPr/>
                    <a:lstStyle/>
                    <a:p>
                      <a:r>
                        <a:rPr sz="1200" b="0" i="0">
                          <a:solidFill>
                            <a:srgbClr val="333333"/>
                          </a:solidFill>
                          <a:latin typeface="Calibri"/>
                        </a:rPr>
                        <a:t>Una semana del equipo</a:t>
                      </a:r>
                    </a:p>
                  </a:txBody>
                  <a:tcPr>
                    <a:solidFill>
                      <a:srgbClr val="F2F2F2"/>
                    </a:solidFill>
                  </a:tcPr>
                </a:tc>
              </a:tr>
              <a:tr h="384048">
                <a:tc>
                  <a:txBody>
                    <a:bodyPr/>
                    <a:lstStyle/>
                    <a:p>
                      <a:r>
                        <a:rPr sz="1200" b="0" i="0">
                          <a:solidFill>
                            <a:srgbClr val="333333"/>
                          </a:solidFill>
                          <a:latin typeface="Calibri"/>
                        </a:rPr>
                        <a:t>Ya en uso</a:t>
                      </a:r>
                    </a:p>
                  </a:txBody>
                  <a:tcPr>
                    <a:solidFill>
                      <a:srgbClr val="FFFFFF"/>
                    </a:solidFill>
                  </a:tcPr>
                </a:tc>
                <a:tc>
                  <a:txBody>
                    <a:bodyPr/>
                    <a:lstStyle/>
                    <a:p>
                      <a:r>
                        <a:rPr sz="1200" b="0" i="0">
                          <a:solidFill>
                            <a:srgbClr val="333333"/>
                          </a:solidFill>
                          <a:latin typeface="Calibri"/>
                        </a:rPr>
                        <a:t>Todo lo anterior, más los clientes que no pudieron pedir turno.</a:t>
                      </a:r>
                    </a:p>
                  </a:txBody>
                  <a:tcPr>
                    <a:solidFill>
                      <a:srgbClr val="FFFFFF"/>
                    </a:solidFill>
                  </a:tcPr>
                </a:tc>
                <a:tc>
                  <a:txBody>
                    <a:bodyPr/>
                    <a:lstStyle/>
                    <a:p>
                      <a:r>
                        <a:rPr sz="1200" b="0" i="0">
                          <a:solidFill>
                            <a:srgbClr val="333333"/>
                          </a:solidFill>
                          <a:latin typeface="Calibri"/>
                        </a:rPr>
                        <a:t>Clientes perdidos</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Una sola pasada o varias vueltas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fases son las mismas en los dos. Lo que cambia es cuántas veces se recorren y cuándo aparece el usuario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Cascada de una sola pasada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una vez, de arriba abajo.</a:t>
            </a:r>
          </a:p>
          <a:p>
            <a:pPr>
              <a:spcAft>
                <a:spcPts val="800"/>
              </a:spcAft>
            </a:pPr>
            <a:r>
              <a:rPr sz="1500" b="0" i="0">
                <a:solidFill>
                  <a:srgbClr val="333333"/>
                </a:solidFill>
                <a:latin typeface="Calibri"/>
              </a:rPr>
              <a:t>–   El usuario ve el resultado </a:t>
            </a:r>
            <a:r>
              <a:rPr sz="1500" b="1" i="0">
                <a:solidFill>
                  <a:srgbClr val="333333"/>
                </a:solidFill>
                <a:latin typeface="Calibri"/>
              </a:rPr>
              <a:t>al final</a:t>
            </a:r>
            <a:r>
              <a:rPr sz="1500" b="0" i="0">
                <a:solidFill>
                  <a:srgbClr val="333333"/>
                </a:solidFill>
                <a:latin typeface="Calibri"/>
              </a:rPr>
              <a:t>.</a:t>
            </a:r>
          </a:p>
          <a:p>
            <a:pPr>
              <a:spcAft>
                <a:spcPts val="800"/>
              </a:spcAft>
            </a:pPr>
            <a:r>
              <a:rPr sz="1500" b="0" i="0">
                <a:solidFill>
                  <a:srgbClr val="333333"/>
                </a:solidFill>
                <a:latin typeface="Calibri"/>
              </a:rPr>
              <a:t>–   Si un requisito estaba mal, se descubre en validación.</a:t>
            </a:r>
          </a:p>
          <a:p>
            <a:pPr>
              <a:spcAft>
                <a:spcPts val="800"/>
              </a:spcAft>
            </a:pPr>
            <a:r>
              <a:rPr sz="1500" b="0" i="0">
                <a:solidFill>
                  <a:srgbClr val="333333"/>
                </a:solidFill>
                <a:latin typeface="Calibri"/>
              </a:rPr>
              <a:t>–   Funciona cuando el problema es conocido y estable.</a:t>
            </a:r>
          </a:p>
          <a:p>
            <a:pPr>
              <a:spcAft>
                <a:spcPts val="800"/>
              </a:spcAft>
            </a:pPr>
            <a:r>
              <a:rPr sz="1500" b="0" i="0">
                <a:solidFill>
                  <a:srgbClr val="333333"/>
                </a:solidFill>
                <a:latin typeface="Calibri"/>
              </a:rPr>
              <a:t>–   </a:t>
            </a:r>
            <a:r>
              <a:rPr sz="1500" b="1" i="0">
                <a:solidFill>
                  <a:srgbClr val="333333"/>
                </a:solidFill>
                <a:latin typeface="Calibri"/>
              </a:rPr>
              <a:t>Royce, que dibujó el diagrama en 1970, advirtió en el mismo texto que hacerlo de una sola pasada invita al fracaso.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Iterativo e incremental</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a:t>
            </a:r>
            <a:r>
              <a:rPr sz="1500" b="1" i="0">
                <a:solidFill>
                  <a:srgbClr val="333333"/>
                </a:solidFill>
                <a:latin typeface="Calibri"/>
              </a:rPr>
              <a:t>varias veces</a:t>
            </a:r>
            <a:r>
              <a:rPr sz="1500" b="0" i="0">
                <a:solidFill>
                  <a:srgbClr val="333333"/>
                </a:solidFill>
                <a:latin typeface="Calibri"/>
              </a:rPr>
              <a:t>, con un pedazo cada vez.</a:t>
            </a:r>
          </a:p>
          <a:p>
            <a:pPr>
              <a:spcAft>
                <a:spcPts val="800"/>
              </a:spcAft>
            </a:pPr>
            <a:r>
              <a:rPr sz="1500" b="0" i="0">
                <a:solidFill>
                  <a:srgbClr val="333333"/>
                </a:solidFill>
                <a:latin typeface="Calibri"/>
              </a:rPr>
              <a:t>–   El usuario ve algo </a:t>
            </a:r>
            <a:r>
              <a:rPr sz="1500" b="1" i="0">
                <a:solidFill>
                  <a:srgbClr val="333333"/>
                </a:solidFill>
                <a:latin typeface="Calibri"/>
              </a:rPr>
              <a:t>en cada vuelta</a:t>
            </a:r>
            <a:r>
              <a:rPr sz="1500" b="0" i="0">
                <a:solidFill>
                  <a:srgbClr val="333333"/>
                </a:solidFill>
                <a:latin typeface="Calibri"/>
              </a:rPr>
              <a:t> y corrige temprano.</a:t>
            </a:r>
          </a:p>
          <a:p>
            <a:pPr>
              <a:spcAft>
                <a:spcPts val="800"/>
              </a:spcAft>
            </a:pPr>
            <a:r>
              <a:rPr sz="1500" b="0" i="0">
                <a:solidFill>
                  <a:srgbClr val="333333"/>
                </a:solidFill>
                <a:latin typeface="Calibri"/>
              </a:rPr>
              <a:t>–   El requisito mal escrito se cae en la primera iteración, barato.</a:t>
            </a:r>
          </a:p>
          <a:p>
            <a:pPr>
              <a:spcAft>
                <a:spcPts val="800"/>
              </a:spcAft>
            </a:pPr>
            <a:r>
              <a:rPr sz="1500" b="0" i="0">
                <a:solidFill>
                  <a:srgbClr val="333333"/>
                </a:solidFill>
                <a:latin typeface="Calibri"/>
              </a:rPr>
              <a:t>–   Funciona cuando hay incertidumbre — es decir, casi siempre.</a:t>
            </a:r>
          </a:p>
          <a:p>
            <a:pPr>
              <a:spcAft>
                <a:spcPts val="800"/>
              </a:spcAft>
            </a:pPr>
            <a:r>
              <a:rPr sz="1500" b="0" i="0">
                <a:solidFill>
                  <a:srgbClr val="333333"/>
                </a:solidFill>
                <a:latin typeface="Calibri"/>
              </a:rPr>
              <a:t>–   Es lo que va a hacer este curso: </a:t>
            </a:r>
            <a:r>
              <a:rPr sz="1500" b="1" i="0">
                <a:solidFill>
                  <a:srgbClr val="333333"/>
                </a:solidFill>
                <a:latin typeface="Calibri"/>
              </a:rPr>
              <a:t>una vuelta corta en las Clases 10-11 y otra en las 12-14</a:t>
            </a:r>
            <a:r>
              <a:rPr sz="1500" b="0" i="0">
                <a:solidFill>
                  <a:srgbClr val="333333"/>
                </a:solidFill>
                <a:latin typeface="Calibri"/>
              </a:rPr>
              <a:t>.</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se entregan y no son código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Requisito funcional</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Algo que la solución </a:t>
            </a:r>
            <a:r>
              <a:rPr sz="1300" b="1" i="0">
                <a:solidFill>
                  <a:srgbClr val="333333"/>
                </a:solidFill>
                <a:latin typeface="Calibri"/>
              </a:rPr>
              <a:t>hace</a:t>
            </a:r>
            <a:r>
              <a:rPr sz="1300" b="0" i="0">
                <a:solidFill>
                  <a:srgbClr val="333333"/>
                </a:solidFill>
                <a:latin typeface="Calibri"/>
              </a:rPr>
              <a:t>: «el usuario puede consultar si un libro está disponible sin ir a la biblioteca». Se escribe desde el usuario, no desde la tecnología.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Requisito no funcional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a:t>
            </a:r>
            <a:r>
              <a:rPr sz="1300" b="1" i="0">
                <a:solidFill>
                  <a:srgbClr val="333333"/>
                </a:solidFill>
                <a:latin typeface="Calibri"/>
              </a:rPr>
              <a:t>condición</a:t>
            </a:r>
            <a:r>
              <a:rPr sz="1300" b="0" i="0">
                <a:solidFill>
                  <a:srgbClr val="333333"/>
                </a:solidFill>
                <a:latin typeface="Calibri"/>
              </a:rPr>
              <a:t> que debe cumplir: funcionar en un computador de siete años, abrir sin crear cuenta, no guardar datos personales. </a:t>
            </a:r>
            <a:r>
              <a:rPr sz="1300" b="1" i="0">
                <a:solidFill>
                  <a:srgbClr val="333333"/>
                </a:solidFill>
                <a:latin typeface="Calibri"/>
              </a:rPr>
              <a:t>Salen de las restricciones del árbol de la sesión 6.</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Criterio de aceptación</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Cómo se comprueba que el requisito se cumple, con un caso concreto: «un usuario que no conoce el sistema encuentra la disponibilidad de un libro en menos de un minuto, sin ayuda».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Hito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punto del calendario donde algo queda </a:t>
            </a:r>
            <a:r>
              <a:rPr sz="1300" b="1" i="0">
                <a:solidFill>
                  <a:srgbClr val="333333"/>
                </a:solidFill>
                <a:latin typeface="Calibri"/>
              </a:rPr>
              <a:t>terminado y verificable</a:t>
            </a:r>
            <a:r>
              <a:rPr sz="1300" b="0" i="0">
                <a:solidFill>
                  <a:srgbClr val="333333"/>
                </a:solidFill>
                <a:latin typeface="Calibri"/>
              </a:rPr>
              <a:t>. No es «ir avanzando»: es «en la sesión 10 hay tres pantallas probadas con un usuario».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requisitos mal y bien escritos</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Mal escrito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«El sistema tendrá una base de datos MySQL».</a:t>
            </a:r>
          </a:p>
          <a:p>
            <a:pPr>
              <a:spcAft>
                <a:spcPts val="800"/>
              </a:spcAft>
            </a:pPr>
            <a:r>
              <a:rPr sz="1500" b="0" i="0">
                <a:solidFill>
                  <a:srgbClr val="333333"/>
                </a:solidFill>
                <a:latin typeface="Calibri"/>
              </a:rPr>
              <a:t>–   «La app será rápida y fácil».</a:t>
            </a:r>
          </a:p>
          <a:p>
            <a:pPr>
              <a:spcAft>
                <a:spcPts val="800"/>
              </a:spcAft>
            </a:pPr>
            <a:r>
              <a:rPr sz="1500" b="0" i="0">
                <a:solidFill>
                  <a:srgbClr val="333333"/>
                </a:solidFill>
                <a:latin typeface="Calibri"/>
              </a:rPr>
              <a:t>–   «Ir avanzando con el diseño».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Bien escrito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Funcional:</a:t>
            </a:r>
            <a:r>
              <a:rPr sz="1500" b="0" i="0">
                <a:solidFill>
                  <a:srgbClr val="333333"/>
                </a:solidFill>
                <a:latin typeface="Calibri"/>
              </a:rPr>
              <a:t> «El cliente puede ver cuántos turnos van antes del suyo».</a:t>
            </a:r>
          </a:p>
          <a:p>
            <a:pPr>
              <a:spcAft>
                <a:spcPts val="800"/>
              </a:spcAft>
            </a:pPr>
            <a:r>
              <a:rPr sz="1500" b="0" i="0">
                <a:solidFill>
                  <a:srgbClr val="333333"/>
                </a:solidFill>
                <a:latin typeface="Calibri"/>
              </a:rPr>
              <a:t>–   </a:t>
            </a:r>
            <a:r>
              <a:rPr sz="1500" b="1" i="0">
                <a:solidFill>
                  <a:srgbClr val="333333"/>
                </a:solidFill>
                <a:latin typeface="Calibri"/>
              </a:rPr>
              <a:t>Criterio:</a:t>
            </a:r>
            <a:r>
              <a:rPr sz="1500" b="0" i="0">
                <a:solidFill>
                  <a:srgbClr val="333333"/>
                </a:solidFill>
                <a:latin typeface="Calibri"/>
              </a:rPr>
              <a:t> «Una persona que no conoce la app lo ve en menos de 1 minuto».</a:t>
            </a:r>
          </a:p>
          <a:p>
            <a:pPr>
              <a:spcAft>
                <a:spcPts val="800"/>
              </a:spcAft>
            </a:pPr>
            <a:r>
              <a:rPr sz="1500" b="0" i="0">
                <a:solidFill>
                  <a:srgbClr val="333333"/>
                </a:solidFill>
                <a:latin typeface="Calibri"/>
              </a:rPr>
              <a:t>–   </a:t>
            </a:r>
            <a:r>
              <a:rPr sz="1500" b="1" i="0">
                <a:solidFill>
                  <a:srgbClr val="333333"/>
                </a:solidFill>
                <a:latin typeface="Calibri"/>
              </a:rPr>
              <a:t>Hito:</a:t>
            </a:r>
            <a:r>
              <a:rPr sz="1500" b="0" i="0">
                <a:solidFill>
                  <a:srgbClr val="333333"/>
                </a:solidFill>
                <a:latin typeface="Calibri"/>
              </a:rPr>
              <a:t> «En la Clase 10 está el prototipo de las 3 pantallas».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malentendidos que salen caros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fases son burocracia, lo importante es construir.»</a:t>
            </a:r>
            <a:r>
              <a:rPr sz="1400" b="0" i="0">
                <a:solidFill>
                  <a:srgbClr val="333333"/>
                </a:solidFill>
                <a:latin typeface="Calibri"/>
              </a:rPr>
              <a:t> Construir sin requisitos es construir algo que habrá que rehacer, y rehacer en la fase de construcción cuesta decenas de veces más que corregir una línea de la tabla de requisitos. Las fases no son papeleo: son el orden que hace barato el error.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«Trabajar iterativo o ágil significa no planear.»</a:t>
            </a:r>
            <a:r>
              <a:rPr sz="1400" b="0" i="0">
                <a:solidFill>
                  <a:srgbClr val="333333"/>
                </a:solidFill>
                <a:latin typeface="Calibri"/>
              </a:rPr>
              <a:t> Es lo contrario: se planea más seguido y en pedazos más pequeños. Una iteración sin requisitos ni criterio de aceptación no es una iteración, es improvisación con nombre nuevo.</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Las fases no son departamentos ni personas.</a:t>
            </a:r>
            <a:r>
              <a:rPr sz="1400" b="0" i="0">
                <a:solidFill>
                  <a:srgbClr val="333333"/>
                </a:solidFill>
                <a:latin typeface="Calibri"/>
              </a:rPr>
              <a:t> En un equipo de cinco, las seis fases las recorren los mismos cinco. Lo que cambia no es quién trabaja: es qué pregunta se está respondiendo en ese momento.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8</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Ciclo de vida de los proyectos de ingeniería · Clase 7</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error barato es el que se encuentra temprano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