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Ciclo de vida de los proyectos de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Por qué el orden de las fases decide el costo del error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fases, costo del cambio, cascada vs. iterativo y requisitos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el ciclo de vida del proyecto, en draw.io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en qué fase están y qué falta para cerrarla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las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fases del ciclo de vida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proyecto y qué se entrega en cada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Explicar por qué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costo de corregir un error crece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 fase en que se descubre.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requisito funcional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funcional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escribir su criterio de aceptación.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Ubicar el proyecto del equipo en una fase y decir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falta para cerrarla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¿Cuánto cuesta mover una pared? Depende de si está en el plano, en el ladrillo o en la casa ya entregada.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En el plano cuesta un borrador. En la casa terminada cuesta tumbarla.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El software tiene la misma curva, y es la razón por la que existen las fases.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seis fases del ciclo de vida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orden no es burocracia: cada fase produce lo que la siguiente necesita para no adivinar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9791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9791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DEFINICIÓN DEL PROBLEMA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se va a resolver y para quién.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Esto ya lo hicieron en la sesión 6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es la ficha del problema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1428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43459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43459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372868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REQUISITOS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tiene que hacer la solución para resolverlo, y cómo se sabrá que lo hace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118104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27126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27126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209544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Cómo va a estar construida: las partes, el flujo, las pantallas o los pasos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4780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0794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10794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046220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CONSTRUCCIÓN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Se construye. Es la fase que todo el mundo cree que es «el proyecto», y es una de seis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791456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494461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94461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882896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VALIDACIÓN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Se prueba contra los criterios de aceptación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y con el usuario real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no solo con el equipo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628132"/>
            <a:ext cx="11277295" cy="74523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94360" y="578129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78129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719572"/>
            <a:ext cx="10271455" cy="58064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OPERACIÓN Y RETIRO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Funcionando en la vida real, con mantenimiento. Y al final, cómo se apaga y qué pasa con los datos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cuesta cambiar en cada fase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34747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 descubre en…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hay que rehacer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Orden de magnitud del costo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Definición del problema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Una frase en un documento. Nada más existe todavía.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— el costo de una conversación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Requisitos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Una línea de la tabla de requisitos y su criterio de aceptación.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pocas veces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más que en la fase anterior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Diseño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diagrama, y las decisiones que colgaban de él.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varias veces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más: hay que rediseñar y volver a acordar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Construcción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Lo construido, más el diseño, más el requisito que estaba mal.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decenas de veces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más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Después de entregado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Todo lo anterior, con el usuario ya usándolo, más el daño que alcanzó a hacer.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órdenes de magnitud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más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forma de esta curva la documentó Barry Boehm en los años setenta y sigue vigente. Los múltiplos exactos se discuten;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la dirección no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: el error barato es el que se encuentra temprano.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sola pasada o varias vueltas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Las fases son las mismas en los dos. Lo que cambia es cuántas veces se recorren y cuándo aparece el usuario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Cascada de una sola pasada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recorren las fases una vez, de arriba abajo.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usuario ve el resultado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al final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Si un requisito estaba mal, se descubre en validación.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Funciona cuando el problema es conocido y estable.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Royce, que dibujó el diagrama en 1970, advirtió en el mismo texto que hacerlo de una sola pasada invita al fracaso.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Iterativo e incremental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recorren las fases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varias veces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un pedazo cada vez.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usuario ve algo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 cada vuelta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corrige temprano.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requisito mal escrito se cae en la primera iteración, barato.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Funciona cuando hay incertidumbre — es decir, casi siempre.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 lo que va a hacer este curso: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vuelta corta en las Clases 10-11 y otra en las 12-14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cosas que se entregan y no son código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Requisito funcional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Algo que la solución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hace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«el usuario puede consultar si un libro está disponible sin ir a la biblioteca». Se escribe desde el usuario, no desde la tecnología.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Requisito no funcional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condición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que debe cumplir: funcionar en un computador de siete años, abrir sin crear cuenta, no guardar datos personales.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Salen de las restricciones del árbol de la sesión 6.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Criterio de aceptación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Cómo se comprueba que el requisito se cumple, con un caso concreto: «un usuario que no conoce el sistema encuentra la disponibilidad de un libro en menos de un minuto, sin ayuda».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Hito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 punto del calendario donde algo queda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terminado y verificable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No es «ir avanzando»: es «en la sesión 10 hay tres pantallas probadas con un usuario».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malentendidos que salen caros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«Las fases son burocracia, lo importante es construir.»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Construir sin requisitos es construir algo que habrá que rehacer, y rehacer en la fase de construcción cuesta decenas de veces más que corregir una línea de la tabla de requisitos. Las fases no son papeleo: son el orden que hace barato el error.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«Trabajar iterativo o ágil significa no planear.»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Es lo contrario: se planea más seguido y en pedazos más pequeños. Una iteración sin requisitos ni criterio de aceptación no es una iteración, es improvisación con nombre nuevo.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Las fases no son departamentos ni personas.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En un equipo de cinco, las seis fases las recorren los mismos cinco. Lo que cambia no es quién trabaja: es qué pregunta se está respondiendo en ese momento.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la curva del costo del cambio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analogía de la pared es la más eficiente que existe para esta clase porque nadie necesita saber de software para responderla.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Mover una pared en el plano cuesta un borrador; en el ladrillo cuesta tumbar y volver a levantar; en la casa entregada cuesta la obra, la mudanza y el enojo del dueño.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Todo el mundo lo intuye, y esa intuición es exactamente la curva del costo del cambio.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Lo que hay que hacer explícito en el minuto 12 es que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en software la curva es igual pero se ve menos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y ahí está el problema.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En una casa, una pared mal puesta se ve; en un sistema, un requisito mal entendido no se ve hasta que alguien lo usa.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Por eso en ingeniería de software hubo que inventar fases, revisiones y criterios de aceptación: son el equivalente a mirar el plano antes de pedir el cemento.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Recoja las respuestas en el muro.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Van a salir cifras espontáneas —«mil veces más caro»— y conviene no corregirlas ahí, sino usarlas cuando llegue la tabla: la dirección de la curva es correcta y los múltiplos exactos son discutibles, lo cual es una buena lección sobre cómo se citan los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seis fases, y por qué el orden importa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fase responde una pregunta y produce lo que la siguiente necesita para no adivinar.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Definición del 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responde *qué se va a resolver y para quién*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decir en voz alta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esa fase ya la hicieron en la sesión 6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ficha del problema es el entregable de la primera fase del ciclo de vida de su propio proyecto.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reordena la percepción del curso: no estaban haciendo un ejercicio, estaban cerrando una fase.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Requisitos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responde *qué tiene que hacer la solución para resolver eso, y cómo sabremos que lo hace*.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fase de hoy y la que más se salta la gente.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Diseño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responde *cómo va a estar construido*: las partes, el flujo, las pantallas o los pasos.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Construcción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única fase que el estudiante reconoce como «el proyecto»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vale la pena decirle que es una de seis, y no la más determinante.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Validación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responde *funciona contra los criterios y con el usuario real*; la trampa clásica es probar con el propio equipo, que ya sabe cómo se usa.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seis fases, y por qué el orden importa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operación y retiro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fase que nadie enseña en primer semestre y que conviene nombrar por dos razones: la mayor parte de la vida de un sistema ocurre ahí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retiro —qué pasa con los datos cuando el sistema se apaga— es un asunto ético y legal que ya vieron en la sesión 4 con la Ley 1581.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que amarra todo: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orden no es burocracia, es economía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fase existe porque descubrir un error en ella cuesta menos que descubrirlo en la siguiente.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se salta requisitos no ahorra tiempo: mueve el costo hacia adelante y lo multiplica.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curva del costo del cambio: qué se puede afirmar y qué no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tabla es el corazón cuantitativo de la sesión y hay que manejarla con el mismo rigor que se les exigió en la sesión 5 con las cifras ambientales. **Lo que se puede afirmar con seguridad: el costo de corregir un error crece con la fase en que se descubre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crece por órdenes de magnitud entre los extremos.** La forma de esa curva la documentó Barry Boehm en los años setenta a partir de datos de proyectos reales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 ha vuelto a medir muchas veces desde entonces.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no conviene afirmar: los múltiplos exactos.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Circulan tablas con «1× / 5× / 10× / 100×» presentadas como leyes de la naturaleza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literatura que discute si en desarrollo iterativo la curva es tan pronunciada.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Diga eso explícitamente en clase: es una oportunidad de oro para mostrar que un ingeniero puede usar un resultado clásico sin exagerarlo.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curva del costo del cambio: qué se puede afirmar y qué no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dirección de la curva no está en discusión; la pendiente sí.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uso práctico de la tabla es una pregunta que los equipos van a responder en el taller: *¿qué decisión que estamos tomando hoy sería carísima cambiar en la Clase 14?* Casi siempre la respuesta es un requisito mal entendido o una restricción ignorada, y hacer la pregunta hoy es lo que la vuelve barata.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segundo uso, más sutil, que vale la pena señalar si el grupo responde bien: la curva explica por qué las revisiones tempranas —que se sienten como pérdida de tiempo porque todavía no hay nada construido— son la actividad más rentable del proyecto.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Therac-25 de la sesión 4, la revisión independiente del software que nunca se hizo era justamente eso.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Cascada, iterativo, y lo que Royce dijo de verdad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sesión 2 apareció Royce y su artículo de 1970.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se cierra el punto, porque es una de las confusiones más extendidas de la profesión: **el diagrama de cascada de una sola pasada suele atribuirse a Royce como su propuesta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el mismo texto él lo presentó como el modo riesgoso y advirtió que hacerlo así invita al fracaso**.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propuesta incluía volver atrás, prototipar y hacer el trabajo dos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profesión se quedó con el dibujo y perdió la advertencia.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comparación que importa para el curso no es «cascada mala, ágil bueno» —esa es una caricatura y hay que evitarla—.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esta: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las fases son las mismas en los dos; lo que cambia es cuántas veces se recorren y cuándo aparece el usuario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cascada de una pasada es razonable cuando el problema es conocido, estable y el costo de equivocarse al final es asumible.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Cascada, iterativo, y lo que Royce dijo de verdad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enfoque iterativo es mejor cuando hay incertidumbre sobre qué necesita el usuario, que es la situación normal y en particular la de todos los proyectos de este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Aterrícelo en el calendario, porque eso les hace sentir la diferencia: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este curso va a hacer dos vueltas completas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corta en las sesiones 10 y 11 —prototipo de baja fidelidad, prueba, corrección— y otra en las Clases 12 a 14, con la retroalimentación de la presentación de avances.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decisión estética del docente: es la manera de que el error de requisitos aparezca en la sesión 10 y no en la 15, cuando ya no hay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alguien pregunta por el Manifiesto Ágil de 2001, que salió en la sesión 2: la respuesta honesta es que reordenó prioridades —software funcionando sobre documentación, colaboración sobre contrato— y que no eliminó las fases.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ágil sigue definiendo el problema, escribiendo requisitos, diseñando, construyendo y validando; lo hace en ciclos cortos y con menos ceremonia.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Requisitos, criterios de aceptación y hitos: lo que se entrega hoy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Requisito funcional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algo que la solución hace, escrito desde el usuario: «el usuario puede consultar si un libro está disponible sin ir a la biblioteca».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error típico de primer semestre es escribirlo desde la tecnología —«el sistema tendrá una base de datos MySQL»—, que no es un requisito sino una decisión de diseño disfrazada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encima toma la decisión en la fase equivocada.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Requisito no funcional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condición que la solución debe cumplir: funcionar en un computador viejo, abrir sin crear cuenta, responder en menos de tanto, no guardar datos personales.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Aquí hay una conexión que hay que hacer explícita y que le da sentido a dos sesiones anteriores: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requisitos no funcionales de sus proyectos salen de las restricciones que marcaron en el árbol de la sesión 6 y del indicador ambiental de la sesión 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Requisitos, criterios de aceptación y hitos: lo que se entrega hoy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biblioteca no tiene computador en el mostrador, «funciona desde el celular de la voluntaria» es un requisito no funcional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un detalle.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Criterio de aceptación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parte que casi nadie escribe y la que vuelve verificable el proyecto: cómo se comprueba que el requisito se cumple, con un caso concreto y un umbral.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«Un usuario que no conoce el sistema encuentra la disponibilidad de un libro en menos de un minuto, sin ayuda» se puede ejecutar delante de alguien.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«El sistema debe ser fácil de usar» no se puede ejecutar, y por lo tanto no sirve.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que conviene dictar: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no se puede convertir en una prueba que alguien haga, no es un criterio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Hito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 punto del calendario donde algo queda terminado y verificable.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concepto que salva el proyecto de la última semana: «vamos avanzando» no es un hito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Requisitos, criterios de aceptación y hitos: lo que se entrega hoy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«en la sesión 10 hay tres pantallas probadas con un usuario» sí.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taller de hoy se les pide el plan de hitos hasta la Clase 15, y conviene revisarlo con severidad, porque un plan con todo el trabajo en la Clase 14 es un proyecto que va a fallar y todavía se puede corregir.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tres malentendidos de la última diapositiva son los que aparecen en las salas.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primero —que las fases son burocracia— se responde con la tabla del costo.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—que iterativo significa no planear— se responde señalando que se planea más seguido, no menos.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tercero conviene decirlo porque tranquiliza: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las fases no son departamentos ni personas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en un equipo de cinco, las seis fases las recorren los mismos cinco, y lo que cambia es la pregunta que están respondiendo.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Ciclo de vida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cada equipo, su propio proyecto · mapa del ciclo de vida + tabla de requisitos + plan de hitos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EN QUÉ FASE ESTAMOS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 fase donde está el proyecto hoy,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falta exactamente para cerrarla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Una fase se cierra con un entregable, no con una sensación.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TRES REQUISITOS FUNCIONALES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cosas que la solución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hace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escritas desde el usuario: «el usuario puede…». Sin mencionar tecnología.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DOS REQUISITOS NO FUNCIONALES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Dos condiciones que la solución debe cumplir,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derivadas de las restricciones del árbol de la sesión 6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Uno de los dos tiene que ser el indicador ambiental de la sesión 5.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CRITERIOS DE ACEPTACIÓN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cada uno de los cinco requisitos: cómo se comprueba, con un caso concreto y un umbral. Tiene que poder ejecutarlo otra persona.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PLAN DE HITOS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queda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terminado y verificable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una de las sesiones 8, 9, 10, 11, 12 y 14. Y la decisión de hoy que sería carísima cambiar en la Clase 14.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fase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qué fase están y qué falta para cerrarla. Es el minuto obligatorio.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Los requisitos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Uno funcional y uno no funcional, leídos tal cual.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criterio de aceptación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ese requisito: cómo se comprueba y con qué umbral.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El plan de hitos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queda listo en la Clase 10 y en la 12.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10 s · La decisión costosa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sería carísimo cambiar después.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Estudio de fases del ciclo de vida — leer el material de las seis fases y traer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ejemplo propio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proyecto conocido que se saltó una fase.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Infografía explicativa del ciclo de vida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 su propio proyecto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en Canva o draw.io: las seis fases, en cuál están y qué entregan en cada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8 · Taller de aplicación del ciclo de vida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casos reales de proyectos que se saltaron una fase, y la decisión entre sus dos alternativas de solución con una matriz de criterios.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Traigan la tabla de requisitos con los criterios de aceptación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confirmados con la persona que vive el 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las dos alternativas de solución del trabajo independiente de la sesión 6. En la sesión 8 se decide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Ciclo de vida de los proyectos de ingeniería · Clase 7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El error barato es el que se encuentra temprano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