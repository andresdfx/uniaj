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empate es a propósito: la matriz no decide sola. Ahí entra el paso 5: elegir y escribir qué se pierde. Si eligen la web, pierden comodidad del cliente; si eligen WhatsApp, pierden la medición. Ninguna respuesta es incorrecta si se justifica.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prueba del alcance mínimo: si se construye solo esto y se pone delante del cliente, ¿le sirve? Aquí sí: deja de esperar de pie. La lista de lo que queda fuera se muestra en la exposición final.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Muestre que cada línea responde a una trampa: ajenos al equipo (trampa 1) y una tarea en lugar de una opinión (trampa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ENTRADA: 45 MINUTOS Y UNA FASE SALTADA</a:t>
            </a:r>
          </a:p>
          <a:p/>
          <a:p>
            <a:r>
              <a:t>El caso de la firma financiera de 2012 es el mejor gancho posible para esta sesión porque desarma la idea de que los desastres los causa código malo. El código llevaba años funcionando. Lo que falló fue el paso controlado de una fase a la siguiente: un despliegue que dejó una versión antigua activa en uno de los servidores, un sistema automático operando a velocidad de máquina, y ninguna manera de frenar rápido cuando empezó a hacer daño. En cuestión de minutos las pérdidas fueron enormes y la firma no sobrevivió como empresa independiente.</a:t>
            </a:r>
          </a:p>
          <a:p/>
          <a:p>
            <a:r>
              <a:t>La pregunta del muro —«¿en qué fase estaba el error?»— va a producir respuestas que dicen «en la programación», y ahí está la lección: el error no estaba en el código, estaba en la operación. Es la fase que en la sesión 7 se nombró de pasada y que nadie enseña en primer semestre. Sirve además para introducir una idea que vale para todo el semestre: cada transición entre fases es un lugar donde se rompen los proyectos, y por eso las fases tienen entregables.</a:t>
            </a:r>
          </a:p>
          <a:p/>
          <a:p>
            <a:r>
              <a:t>Recomendación de manejo: no dé el nombre de la empresa en la apertura. La fuerza está en la pregunta, y el nombre lo pueden buscar ellos cuando se les pida citar la fuente.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CUATRO CASOS: QUÉ CONTAR Y CÓMO EXIGIR LA FUENTE</a:t>
            </a:r>
          </a:p>
          <a:p/>
          <a:p>
            <a:r>
              <a:t>Cuatro casos, cinco minutos en total, un minuto y algo por caso. La tabla es densa a propósito: hoy la teoría son 20 minutos y el peso está en el taller.</a:t>
            </a:r>
          </a:p>
          <a:p/>
          <a:p>
            <a:r>
              <a:t>El sistema de equipajes del aeropuerto es el caso de requisitos y diseño. Un sistema automatizado de manejo de maletas de una escala sin precedentes, contratado con el plazo de apertura ya fijado y sin pruebas a escala real; retrasó la apertura del aeropuerto muchos meses, funcionó parcialmente durante años y terminó abandonado. La lección: el plazo se fijó antes de saber si era posible, y ningún esfuerzo de construcción arregla eso.</a:t>
            </a:r>
          </a:p>
          <a:p/>
          <a:p>
            <a:r>
              <a:t>El sistema de expedientes de la agencia federal es el caso de requisitos puros: años de desarrollo, requisitos que cambiaban permanentemente, ninguna definición estable de qué debía hacer el sistema, y un abandono sin haber entrado en operación. Es el ejemplo perfecto de que sin criterios de aceptación no hay manera de terminar: un proyecto que no puede decir cuándo está listo, no está listo nunca.</a:t>
            </a:r>
          </a:p>
          <a:p/>
          <a:p>
            <a:r>
              <a:t>El portal público de salud en su lanzamiento es el caso de validación. La demanda del primer día era perfectamente previsible —una fecha anunciada, una población conocida— y aun así el sitio no aguantó. La lección para sus proyectos: probar que algo funciona con un usuario no es probar que funciona con muchos, y el volumen es un requisito no funcional que se valida aparte.</a:t>
            </a:r>
          </a:p>
          <a:p/>
          <a:p>
            <a:r>
              <a:t>La firma financiera es el caso de operación, y es el que rompe el prejuicio sobre el código. Súmele el detalle que lo hace inolvidable: el problema no fue escribir el software, fue instalarlo, y no existía una forma rápida de detenerlo.</a:t>
            </a:r>
          </a:p>
          <a:p/>
          <a:p>
            <a:r>
              <a:t>Y una exigencia metodológica que hay que repetir porque es la marca del curso: los cuatro casos son públicos y están documentados en informes oficiales y en prensa especializada, pero las cifras circulan con variaciones. Quien cite un monto o una fecha en la exposición tiene que decir de dónde salió y de qué año es. Es la misma regla de la sesión 5 con las cifras ambientales y de la sesión 4 con los numerales.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MATRIZ DE DECISIÓN: CÓMO SE DECIDE SIN QUE LA DECISIÓN YA ESTUVIERA TOMADA</a:t>
            </a:r>
          </a:p>
          <a:p/>
          <a:p>
            <a:r>
              <a:t>La matriz de decisión es una herramienta simple con una trampa sutil, y enseñar la trampa es más valioso que enseñar la herramienta.</a:t>
            </a:r>
          </a:p>
          <a:p/>
          <a:p>
            <a:r>
              <a:t>Los cinco pasos son: escribir las dos alternativas en una frase cada una; elegir de tres a cinco criterios; ponerle peso a cada criterio; calificar cada alternativa criterio por criterio con una escala corta y una media línea de justificación; y decidir, escribiendo qué se pierde.</a:t>
            </a:r>
          </a:p>
          <a:p/>
          <a:p>
            <a:r>
              <a:t>La trampa está en el paso 3, y hay que decirla explícitamente: los pesos se deciden antes de mirar las alternativas. Si se deciden después, el equipo —sin mala intención— acomoda los pesos para que gane la alternativa que ya quería. Es el sesgo más común en decisiones de ingeniería y produce documentos que parecen análisis y son justificaciones. La regla práctica en la sala: primero se escriben los criterios y los pesos en el documento, y solo después se califica.</a:t>
            </a:r>
          </a:p>
          <a:p/>
          <a:p>
            <a:r>
              <a:t>Los criterios no son gustos: salen de los requisitos no funcionales y de las restricciones. Para el caso de la biblioteca: funciona sin computador en el mostrador, se aprende sin manual, se puede construir en las sesiones que quedan, cumple el requisito de datos ligeros, no exige que alguien atienda en horario fijo. Si un equipo pone «lo que más nos gusta» o «lo más innovador» como criterio, hay que reemplazarlo: no se puede calificar y no se puede defender.</a:t>
            </a:r>
          </a:p>
          <a:p/>
          <a:p>
            <a:r>
              <a:t>Y el paso 5 es el que separa una decisión profesional de una preferencia: toda decisión sacrifica algo, y nombrarlo es lo que la vuelve defendible. «Elegimos la lista publicada en vez de la aplicación; perdemos la actualización en tiempo real y ganamos que funcione sin conexión y sin capacitar a nadie.» Un equipo que puede decir qué perdió entendió que estaba decidiendo, no acertando.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ALCANCE MÍNIMO Y PLAN DE VALIDACIÓN: EL ENTREGABLE DEL TALLER</a:t>
            </a:r>
          </a:p>
          <a:p/>
          <a:p>
            <a:r>
              <a:t>El alcance mínimo es el concepto que salva los proyectos de primer semestre, y hay que definirlo con precisión porque se confunde con «hacer poco». Es la versión más pequeña de la solución que ya resuelve algo del problema y se puede probar con un usuario real. La prueba para saber si está bien definido: *si construimos solo esto y lo ponemos delante de la persona que vive el problema, ¿le sirve de algo?* Si la respuesta es no, no es un alcance mínimo, es un pedazo.</a:t>
            </a:r>
          </a:p>
          <a:p/>
          <a:p>
            <a:r>
              <a:t>El método concreto que hay que dictarles: se toma un requisito funcional —el que ataca la causa elegida en el árbol de la sesión 6— y se construye solo eso, cumpliendo los requisitos no funcionales. Los otros dos requisitos se escriben en una lista titulada «versión siguiente». Esa lista no es una derrota: es la prueba de que el equipo sabe lo que dejó fuera, y en la Clase 15 se muestra. Vale la pena decírselo con estas palabras: un proyecto que no declara lo que dejó fuera parece incompleto; uno que lo declara parece dirigido.</a:t>
            </a:r>
          </a:p>
          <a:p/>
          <a:p>
            <a:r>
              <a:t>El plan de validación se escribe hoy y eso es deliberado: escribir cómo se va a probar algo antes de construirlo cambia lo que se construye. Son tres cosas: con quién se prueba —una persona ajena al equipo—, qué tareas se le piden —las de los criterios de aceptación de la sesión 7—, y qué se va a observar.</a:t>
            </a:r>
          </a:p>
          <a:p/>
          <a:p>
            <a:r>
              <a:t>Las dos trampas hay que nombrarlas con dureza porque las van a cometer todas. Probar con el propio equipo no prueba nada: quien construyó sabe dónde hay que tocar. Conviene conectarlo con el Therac-25 de la sesión 4, donde el fabricante sostuvo que la sobredosis era imposible: cuando el que evalúa es el que construyó, el resultado está decidido de antemano. Y preguntar «¿le gusta?» no sirve: la gente dice que sí por cortesía, sobre todo a estudiantes que le muestran su trabajo con ilusión. Se le pide que haga una tarea y se observa en silencio —dónde duda, dónde se equivoca, qué busca y no encuentra—. Lo que la persona hace vale; lo que opina, poco. Esa regla sola mejora todos los proyectos del curso.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ALCANCE MÍNIMO Y PLAN DE VALIDACIÓN: EL ENTREGABLE DEL TALLER</a:t>
            </a:r>
          </a:p>
          <a:p/>
          <a:p>
            <a:r>
              <a:t>El alcance mínimo es el concepto que salva los proyectos de primer semestre, y hay que definirlo con precisión porque se confunde con «hacer poco». Es la versión más pequeña de la solución que ya resuelve algo del problema y se puede probar con un usuario real. La prueba para saber si está bien definido: *si construimos solo esto y lo ponemos delante de la persona que vive el problema, ¿le sirve de algo?* Si la respuesta es no, no es un alcance mínimo, es un pedazo.</a:t>
            </a:r>
          </a:p>
          <a:p/>
          <a:p>
            <a:r>
              <a:t>El método concreto que hay que dictarles: se toma un requisito funcional —el que ataca la causa elegida en el árbol de la sesión 6— y se construye solo eso, cumpliendo los requisitos no funcionales. Los otros dos requisitos se escriben en una lista titulada «versión siguiente». Esa lista no es una derrota: es la prueba de que el equipo sabe lo que dejó fuera, y en la Clase 15 se muestra. Vale la pena decírselo con estas palabras: un proyecto que no declara lo que dejó fuera parece incompleto; uno que lo declara parece dirigido.</a:t>
            </a:r>
          </a:p>
          <a:p/>
          <a:p>
            <a:r>
              <a:t>El plan de validación se escribe hoy y eso es deliberado: escribir cómo se va a probar algo antes de construirlo cambia lo que se construye. Son tres cosas: con quién se prueba —una persona ajena al equipo—, qué tareas se le piden —las de los criterios de aceptación de la sesión 7—, y qué se va a observar.</a:t>
            </a:r>
          </a:p>
          <a:p/>
          <a:p>
            <a:r>
              <a:t>Las dos trampas hay que nombrarlas con dureza porque las van a cometer todas. Probar con el propio equipo no prueba nada: quien construyó sabe dónde hay que tocar. Conviene conectarlo con el Therac-25 de la sesión 4, donde el fabricante sostuvo que la sobredosis era imposible: cuando el que evalúa es el que construyó, el resultado está decidido de antemano. Y preguntar «¿le gusta?» no sirve: la gente dice que sí por cortesía, sobre todo a estudiantes que le muestran su trabajo con ilusión. Se le pide que haga una tarea y se observa en silencio —dónde duda, dónde se equivoca, qué busca y no encuentra—. Lo que la persona hace vale; lo que opina, poco. Esa regla sola mejora todos los proyectos del curso.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8</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Taller de aplicación del ciclo de vida</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Cuatro proyectos que se saltaron una fase, y la decisión que ustedes toman hoy</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Hoy el reparto cambia: la teoría baja a 20 min y la actividad sube a 40, porque decidir entre dos alternativas con argumentos no se hace en 17 minutos</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8625"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2255459" cy="502920"/>
          </a:xfrm>
          <a:prstGeom prst="rect">
            <a:avLst/>
          </a:prstGeom>
          <a:noFill/>
        </p:spPr>
        <p:txBody>
          <a:bodyPr wrap="square">
            <a:spAutoFit/>
          </a:bodyPr>
          <a:lstStyle/>
          <a:p>
            <a:pPr algn="ctr"/>
            <a:r>
              <a:rPr sz="1300" b="1" i="0">
                <a:solidFill>
                  <a:srgbClr val="095292"/>
                </a:solidFill>
                <a:latin typeface="Calibri"/>
              </a:rPr>
              <a:t>00:00–00:10 · 10 min</a:t>
            </a:r>
          </a:p>
        </p:txBody>
      </p:sp>
      <p:sp>
        <p:nvSpPr>
          <p:cNvPr id="9" name="TextBox 8"/>
          <p:cNvSpPr txBox="1"/>
          <p:nvPr/>
        </p:nvSpPr>
        <p:spPr>
          <a:xfrm>
            <a:off x="502920" y="2798064"/>
            <a:ext cx="2164019" cy="3099816"/>
          </a:xfrm>
          <a:prstGeom prst="rect">
            <a:avLst/>
          </a:prstGeom>
          <a:noFill/>
        </p:spPr>
        <p:txBody>
          <a:bodyPr wrap="square">
            <a:spAutoFit/>
          </a:bodyPr>
          <a:lstStyle/>
          <a:p>
            <a:pPr algn="ctr"/>
            <a:r>
              <a:rPr sz="1300" b="0" i="0">
                <a:solidFill>
                  <a:srgbClr val="333333"/>
                </a:solidFill>
                <a:latin typeface="Calibri"/>
              </a:rPr>
              <a:t>Apertura — Pregunta de entrada en el muro</a:t>
            </a:r>
          </a:p>
        </p:txBody>
      </p:sp>
      <p:sp>
        <p:nvSpPr>
          <p:cNvPr id="10" name="Rounded Rectangle 9"/>
          <p:cNvSpPr/>
          <p:nvPr/>
        </p:nvSpPr>
        <p:spPr>
          <a:xfrm>
            <a:off x="3694084"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2659" y="1563624"/>
            <a:ext cx="2255459" cy="502920"/>
          </a:xfrm>
          <a:prstGeom prst="rect">
            <a:avLst/>
          </a:prstGeom>
          <a:noFill/>
        </p:spPr>
        <p:txBody>
          <a:bodyPr wrap="square">
            <a:spAutoFit/>
          </a:bodyPr>
          <a:lstStyle/>
          <a:p>
            <a:pPr algn="ctr"/>
            <a:r>
              <a:rPr sz="1300" b="1" i="0">
                <a:solidFill>
                  <a:srgbClr val="095292"/>
                </a:solidFill>
                <a:latin typeface="Calibri"/>
              </a:rPr>
              <a:t>00:10–00:30 · 20 min</a:t>
            </a:r>
          </a:p>
        </p:txBody>
      </p:sp>
      <p:sp>
        <p:nvSpPr>
          <p:cNvPr id="12" name="TextBox 11"/>
          <p:cNvSpPr txBox="1"/>
          <p:nvPr/>
        </p:nvSpPr>
        <p:spPr>
          <a:xfrm>
            <a:off x="2758379" y="2798064"/>
            <a:ext cx="2164019" cy="3099816"/>
          </a:xfrm>
          <a:prstGeom prst="rect">
            <a:avLst/>
          </a:prstGeom>
          <a:noFill/>
        </p:spPr>
        <p:txBody>
          <a:bodyPr wrap="square">
            <a:spAutoFit/>
          </a:bodyPr>
          <a:lstStyle/>
          <a:p>
            <a:pPr algn="ctr"/>
            <a:r>
              <a:rPr sz="1300" b="0" i="0">
                <a:solidFill>
                  <a:srgbClr val="333333"/>
                </a:solidFill>
                <a:latin typeface="Calibri"/>
              </a:rPr>
              <a:t>Teoría y guía del docente — Cuatro casos reales, matriz de decisión y alcance mínimo</a:t>
            </a:r>
          </a:p>
        </p:txBody>
      </p:sp>
      <p:sp>
        <p:nvSpPr>
          <p:cNvPr id="13" name="Rounded Rectangle 12"/>
          <p:cNvSpPr/>
          <p:nvPr/>
        </p:nvSpPr>
        <p:spPr>
          <a:xfrm>
            <a:off x="5949543"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68118" y="1563624"/>
            <a:ext cx="2255459" cy="502920"/>
          </a:xfrm>
          <a:prstGeom prst="rect">
            <a:avLst/>
          </a:prstGeom>
          <a:noFill/>
        </p:spPr>
        <p:txBody>
          <a:bodyPr wrap="square">
            <a:spAutoFit/>
          </a:bodyPr>
          <a:lstStyle/>
          <a:p>
            <a:pPr algn="ctr"/>
            <a:r>
              <a:rPr sz="1300" b="1" i="0">
                <a:solidFill>
                  <a:srgbClr val="095292"/>
                </a:solidFill>
                <a:latin typeface="Calibri"/>
              </a:rPr>
              <a:t>00:30–01:10 · 40 min</a:t>
            </a:r>
          </a:p>
        </p:txBody>
      </p:sp>
      <p:sp>
        <p:nvSpPr>
          <p:cNvPr id="15" name="TextBox 14"/>
          <p:cNvSpPr txBox="1"/>
          <p:nvPr/>
        </p:nvSpPr>
        <p:spPr>
          <a:xfrm>
            <a:off x="5013838" y="2798064"/>
            <a:ext cx="2164019" cy="3099816"/>
          </a:xfrm>
          <a:prstGeom prst="rect">
            <a:avLst/>
          </a:prstGeom>
          <a:noFill/>
        </p:spPr>
        <p:txBody>
          <a:bodyPr wrap="square">
            <a:spAutoFit/>
          </a:bodyPr>
          <a:lstStyle/>
          <a:p>
            <a:pPr algn="ctr"/>
            <a:r>
              <a:rPr sz="1300" b="0" i="0">
                <a:solidFill>
                  <a:srgbClr val="333333"/>
                </a:solidFill>
                <a:latin typeface="Calibri"/>
              </a:rPr>
              <a:t>Actividad en equipos — Taller extendido — decidir la alternativa y fijar el alcance</a:t>
            </a:r>
          </a:p>
        </p:txBody>
      </p:sp>
      <p:sp>
        <p:nvSpPr>
          <p:cNvPr id="16" name="Rounded Rectangle 15"/>
          <p:cNvSpPr/>
          <p:nvPr/>
        </p:nvSpPr>
        <p:spPr>
          <a:xfrm>
            <a:off x="8205002"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577" y="1563624"/>
            <a:ext cx="2255459" cy="502920"/>
          </a:xfrm>
          <a:prstGeom prst="rect">
            <a:avLst/>
          </a:prstGeom>
          <a:noFill/>
        </p:spPr>
        <p:txBody>
          <a:bodyPr wrap="square">
            <a:spAutoFit/>
          </a:bodyPr>
          <a:lstStyle/>
          <a:p>
            <a:pPr algn="ctr"/>
            <a:r>
              <a:rPr sz="1300" b="1" i="0">
                <a:solidFill>
                  <a:srgbClr val="095292"/>
                </a:solidFill>
                <a:latin typeface="Calibri"/>
              </a:rPr>
              <a:t>01:10–01:25 · 15 min</a:t>
            </a:r>
          </a:p>
        </p:txBody>
      </p:sp>
      <p:sp>
        <p:nvSpPr>
          <p:cNvPr id="18" name="TextBox 17"/>
          <p:cNvSpPr txBox="1"/>
          <p:nvPr/>
        </p:nvSpPr>
        <p:spPr>
          <a:xfrm>
            <a:off x="7269297" y="2798064"/>
            <a:ext cx="2164019" cy="3099816"/>
          </a:xfrm>
          <a:prstGeom prst="rect">
            <a:avLst/>
          </a:prstGeom>
          <a:noFill/>
        </p:spPr>
        <p:txBody>
          <a:bodyPr wrap="square">
            <a:spAutoFit/>
          </a:bodyPr>
          <a:lstStyle/>
          <a:p>
            <a:pPr algn="ctr"/>
            <a:r>
              <a:rPr sz="1300" b="0" i="0">
                <a:solidFill>
                  <a:srgbClr val="333333"/>
                </a:solidFill>
                <a:latin typeface="Calibri"/>
              </a:rPr>
              <a:t>Exposiciones — 5 equipos × 3 min — la decisión y por qué</a:t>
            </a:r>
          </a:p>
        </p:txBody>
      </p:sp>
      <p:sp>
        <p:nvSpPr>
          <p:cNvPr id="19" name="Rounded Rectangle 18"/>
          <p:cNvSpPr/>
          <p:nvPr/>
        </p:nvSpPr>
        <p:spPr>
          <a:xfrm>
            <a:off x="10460461"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79036" y="1563624"/>
            <a:ext cx="2255459" cy="502920"/>
          </a:xfrm>
          <a:prstGeom prst="rect">
            <a:avLst/>
          </a:prstGeom>
          <a:noFill/>
        </p:spPr>
        <p:txBody>
          <a:bodyPr wrap="square">
            <a:spAutoFit/>
          </a:bodyPr>
          <a:lstStyle/>
          <a:p>
            <a:pPr algn="ctr"/>
            <a:r>
              <a:rPr sz="1300" b="1" i="0">
                <a:solidFill>
                  <a:srgbClr val="095292"/>
                </a:solidFill>
                <a:latin typeface="Calibri"/>
              </a:rPr>
              <a:t>01:25–01:30 · 5 min</a:t>
            </a:r>
          </a:p>
        </p:txBody>
      </p:sp>
      <p:sp>
        <p:nvSpPr>
          <p:cNvPr id="21" name="TextBox 20"/>
          <p:cNvSpPr txBox="1"/>
          <p:nvPr/>
        </p:nvSpPr>
        <p:spPr>
          <a:xfrm>
            <a:off x="9524756" y="2798064"/>
            <a:ext cx="2164019" cy="3099816"/>
          </a:xfrm>
          <a:prstGeom prst="rect">
            <a:avLst/>
          </a:prstGeom>
          <a:noFill/>
        </p:spPr>
        <p:txBody>
          <a:bodyPr wrap="square">
            <a:spAutoFit/>
          </a:bodyPr>
          <a:lstStyle/>
          <a:p>
            <a:pPr algn="ctr"/>
            <a:r>
              <a:rPr sz="1300" b="0" i="0">
                <a:solidFill>
                  <a:srgbClr val="333333"/>
                </a:solidFill>
                <a:latin typeface="Calibri"/>
              </a:rPr>
              <a:t>Cierre — Lo que queda amarrado para la sesión 9</a:t>
            </a:r>
          </a:p>
        </p:txBody>
      </p:sp>
      <p:sp>
        <p:nvSpPr>
          <p:cNvPr id="22" name="TextBox 21"/>
          <p:cNvSpPr txBox="1"/>
          <p:nvPr/>
        </p:nvSpPr>
        <p:spPr>
          <a:xfrm>
            <a:off x="457200" y="5806440"/>
            <a:ext cx="11277295" cy="640080"/>
          </a:xfrm>
          <a:prstGeom prst="rect">
            <a:avLst/>
          </a:prstGeom>
          <a:noFill/>
        </p:spPr>
        <p:txBody>
          <a:bodyPr wrap="square">
            <a:spAutoFit/>
          </a:bodyPr>
          <a:lstStyle/>
          <a:p>
            <a:pPr algn="ctr"/>
            <a:r>
              <a:rPr sz="1200" b="1" i="1">
                <a:solidFill>
                  <a:srgbClr val="666666"/>
                </a:solidFill>
                <a:latin typeface="Calibri"/>
              </a:rPr>
              <a:t>Esta es una sesión de taller, no de contenido nuevo.</a:t>
            </a:r>
            <a:r>
              <a:rPr sz="1200" b="0" i="1">
                <a:solidFill>
                  <a:srgbClr val="666666"/>
                </a:solidFill>
                <a:latin typeface="Calibri"/>
              </a:rPr>
              <a:t> La teoría se comprime a 20 minutos —cuatro casos y dos herramientas— y la actividad en equipos se extiende a 40, porque el entregable es una </a:t>
            </a:r>
            <a:r>
              <a:rPr sz="1200" b="1" i="1">
                <a:solidFill>
                  <a:srgbClr val="666666"/>
                </a:solidFill>
                <a:latin typeface="Calibri"/>
              </a:rPr>
              <a:t>decisión</a:t>
            </a:r>
            <a:r>
              <a:rPr sz="1200" b="0" i="1">
                <a:solidFill>
                  <a:srgbClr val="666666"/>
                </a:solidFill>
                <a:latin typeface="Calibri"/>
              </a:rPr>
              <a:t>: cuál de las dos alternativas de solución se construye, con qué alcance y cómo se va a validar. Es la fase de diseño empezando de verdad.</a:t>
            </a:r>
          </a:p>
        </p:txBody>
      </p:sp>
      <p:sp>
        <p:nvSpPr>
          <p:cNvPr id="23" name="TextBox 2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Identificar, en un caso real, </a:t>
            </a:r>
            <a:r>
              <a:rPr sz="2000" b="1" i="0">
                <a:solidFill>
                  <a:srgbClr val="333333"/>
                </a:solidFill>
                <a:latin typeface="Calibri"/>
              </a:rPr>
              <a:t>qué fase se saltó</a:t>
            </a:r>
            <a:r>
              <a:rPr sz="2000" b="0" i="0">
                <a:solidFill>
                  <a:srgbClr val="333333"/>
                </a:solidFill>
                <a:latin typeface="Calibri"/>
              </a:rPr>
              <a:t> y qué habría costado no saltarla.</a:t>
            </a:r>
          </a:p>
          <a:p>
            <a:pPr>
              <a:spcAft>
                <a:spcPts val="800"/>
              </a:spcAft>
            </a:pPr>
            <a:r>
              <a:rPr sz="2000" b="0" i="0">
                <a:solidFill>
                  <a:srgbClr val="333333"/>
                </a:solidFill>
                <a:latin typeface="Calibri"/>
              </a:rPr>
              <a:t>–   Comparar dos alternativas de solución con una </a:t>
            </a:r>
            <a:r>
              <a:rPr sz="2000" b="1" i="0">
                <a:solidFill>
                  <a:srgbClr val="333333"/>
                </a:solidFill>
                <a:latin typeface="Calibri"/>
              </a:rPr>
              <a:t>matriz de criterios</a:t>
            </a:r>
            <a:r>
              <a:rPr sz="2000" b="0" i="0">
                <a:solidFill>
                  <a:srgbClr val="333333"/>
                </a:solidFill>
                <a:latin typeface="Calibri"/>
              </a:rPr>
              <a:t> y decidir con argumento.</a:t>
            </a:r>
          </a:p>
          <a:p>
            <a:pPr>
              <a:spcAft>
                <a:spcPts val="800"/>
              </a:spcAft>
            </a:pPr>
            <a:r>
              <a:rPr sz="2000" b="0" i="0">
                <a:solidFill>
                  <a:srgbClr val="333333"/>
                </a:solidFill>
                <a:latin typeface="Calibri"/>
              </a:rPr>
              <a:t>–   Definir el </a:t>
            </a:r>
            <a:r>
              <a:rPr sz="2000" b="1" i="0">
                <a:solidFill>
                  <a:srgbClr val="333333"/>
                </a:solidFill>
                <a:latin typeface="Calibri"/>
              </a:rPr>
              <a:t>alcance mínimo</a:t>
            </a:r>
            <a:r>
              <a:rPr sz="2000" b="0" i="0">
                <a:solidFill>
                  <a:srgbClr val="333333"/>
                </a:solidFill>
                <a:latin typeface="Calibri"/>
              </a:rPr>
              <a:t> del proyecto: qué entra en el semestre y qué queda fuera.</a:t>
            </a:r>
          </a:p>
          <a:p>
            <a:pPr>
              <a:spcAft>
                <a:spcPts val="800"/>
              </a:spcAft>
            </a:pPr>
            <a:r>
              <a:rPr sz="2000" b="0" i="0">
                <a:solidFill>
                  <a:srgbClr val="333333"/>
                </a:solidFill>
                <a:latin typeface="Calibri"/>
              </a:rPr>
              <a:t>–   Escribir el </a:t>
            </a:r>
            <a:r>
              <a:rPr sz="2000" b="1" i="0">
                <a:solidFill>
                  <a:srgbClr val="333333"/>
                </a:solidFill>
                <a:latin typeface="Calibri"/>
              </a:rPr>
              <a:t>plan de validación</a:t>
            </a:r>
            <a:r>
              <a:rPr sz="2000" b="0" i="0">
                <a:solidFill>
                  <a:srgbClr val="333333"/>
                </a:solidFill>
                <a:latin typeface="Calibri"/>
              </a:rPr>
              <a:t>: cómo se va a saber que la solución sirve.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Una empresa perdió cientos de millones de dólares en 45 minutos por un despliegue mal hecho. ¿En qué fase estaba el error?</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El código llevaba años ahí. Lo que falló fue el paso de una fase a la siguiente.</a:t>
            </a:r>
          </a:p>
          <a:p>
            <a:pPr algn="ctr">
              <a:spcAft>
                <a:spcPts val="600"/>
              </a:spcAft>
            </a:pPr>
            <a:r>
              <a:rPr sz="1500" b="0" i="0">
                <a:solidFill>
                  <a:srgbClr val="269CCB"/>
                </a:solidFill>
                <a:latin typeface="Calibri"/>
              </a:rPr>
              <a:t>Hoy se ven cuatro casos así, y después ustedes deciden su propia solución.</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Cuatro proyectos que se saltaron una fase</a:t>
            </a:r>
          </a:p>
        </p:txBody>
      </p:sp>
      <p:graphicFrame>
        <p:nvGraphicFramePr>
          <p:cNvPr id="5" name="Table 4"/>
          <p:cNvGraphicFramePr>
            <a:graphicFrameLocks noGrp="1"/>
          </p:cNvGraphicFramePr>
          <p:nvPr/>
        </p:nvGraphicFramePr>
        <p:xfrm>
          <a:off x="457200" y="1216152"/>
          <a:ext cx="8961120" cy="1920240"/>
        </p:xfrm>
        <a:graphic>
          <a:graphicData uri="http://schemas.openxmlformats.org/drawingml/2006/table">
            <a:tbl>
              <a:tblPr firstRow="1" bandRow="1">
                <a:tableStyleId>{5C22544A-7EE6-4342-B048-85BDC9FD1C3A}</a:tableStyleId>
              </a:tblPr>
              <a:tblGrid>
                <a:gridCol w="2011680"/>
                <a:gridCol w="3291840"/>
                <a:gridCol w="3657600"/>
              </a:tblGrid>
              <a:tr h="384048">
                <a:tc>
                  <a:txBody>
                    <a:bodyPr/>
                    <a:lstStyle/>
                    <a:p>
                      <a:r>
                        <a:rPr sz="1200" b="1" i="0">
                          <a:solidFill>
                            <a:srgbClr val="FFFFFF"/>
                          </a:solidFill>
                          <a:latin typeface="Calibri"/>
                        </a:rPr>
                        <a:t>Caso</a:t>
                      </a:r>
                    </a:p>
                  </a:txBody>
                  <a:tcPr>
                    <a:solidFill>
                      <a:srgbClr val="095292"/>
                    </a:solidFill>
                  </a:tcPr>
                </a:tc>
                <a:tc>
                  <a:txBody>
                    <a:bodyPr/>
                    <a:lstStyle/>
                    <a:p>
                      <a:r>
                        <a:rPr sz="1200" b="1" i="0">
                          <a:solidFill>
                            <a:srgbClr val="FFFFFF"/>
                          </a:solidFill>
                          <a:latin typeface="Calibri"/>
                        </a:rPr>
                        <a:t>Qué falló</a:t>
                      </a:r>
                    </a:p>
                  </a:txBody>
                  <a:tcPr>
                    <a:solidFill>
                      <a:srgbClr val="095292"/>
                    </a:solidFill>
                  </a:tcPr>
                </a:tc>
                <a:tc>
                  <a:txBody>
                    <a:bodyPr/>
                    <a:lstStyle/>
                    <a:p>
                      <a:r>
                        <a:rPr sz="1200" b="1" i="0">
                          <a:solidFill>
                            <a:srgbClr val="FFFFFF"/>
                          </a:solidFill>
                          <a:latin typeface="Calibri"/>
                        </a:rPr>
                        <a:t>La fase que se saltó</a:t>
                      </a:r>
                    </a:p>
                  </a:txBody>
                  <a:tcPr>
                    <a:solidFill>
                      <a:srgbClr val="095292"/>
                    </a:solidFill>
                  </a:tcPr>
                </a:tc>
              </a:tr>
              <a:tr h="384048">
                <a:tc>
                  <a:txBody>
                    <a:bodyPr/>
                    <a:lstStyle/>
                    <a:p>
                      <a:r>
                        <a:rPr sz="1200" b="0" i="0">
                          <a:solidFill>
                            <a:srgbClr val="333333"/>
                          </a:solidFill>
                          <a:latin typeface="Calibri"/>
                        </a:rPr>
                        <a:t>Sistema de equipajes de un aeropuerto grande
(años noventa)</a:t>
                      </a:r>
                    </a:p>
                  </a:txBody>
                  <a:tcPr>
                    <a:solidFill>
                      <a:srgbClr val="FFFFFF"/>
                    </a:solidFill>
                  </a:tcPr>
                </a:tc>
                <a:tc>
                  <a:txBody>
                    <a:bodyPr/>
                    <a:lstStyle/>
                    <a:p>
                      <a:r>
                        <a:rPr sz="1200" b="0" i="0">
                          <a:solidFill>
                            <a:srgbClr val="333333"/>
                          </a:solidFill>
                          <a:latin typeface="Calibri"/>
                        </a:rPr>
                        <a:t>Un sistema automatizado de manejo de maletas nunca funcionó como se prometió; retrasó la apertura del aeropuerto y años después se abandonó.</a:t>
                      </a:r>
                    </a:p>
                  </a:txBody>
                  <a:tcPr>
                    <a:solidFill>
                      <a:srgbClr val="FFFFFF"/>
                    </a:solidFill>
                  </a:tcPr>
                </a:tc>
                <a:tc>
                  <a:txBody>
                    <a:bodyPr/>
                    <a:lstStyle/>
                    <a:p>
                      <a:r>
                        <a:rPr sz="1200" b="1" i="0">
                          <a:solidFill>
                            <a:srgbClr val="333333"/>
                          </a:solidFill>
                          <a:latin typeface="Calibri"/>
                        </a:rPr>
                        <a:t>Requisitos y diseño.</a:t>
                      </a:r>
                      <a:r>
                        <a:rPr sz="1200" b="0" i="0">
                          <a:solidFill>
                            <a:srgbClr val="333333"/>
                          </a:solidFill>
                          <a:latin typeface="Calibri"/>
                        </a:rPr>
                        <a:t> Se contrató la construcción de algo de una escala sin precedentes con el plazo ya fijado y sin pruebas a escala real.</a:t>
                      </a:r>
                    </a:p>
                  </a:txBody>
                  <a:tcPr>
                    <a:solidFill>
                      <a:srgbClr val="FFFFFF"/>
                    </a:solidFill>
                  </a:tcPr>
                </a:tc>
              </a:tr>
              <a:tr h="384048">
                <a:tc>
                  <a:txBody>
                    <a:bodyPr/>
                    <a:lstStyle/>
                    <a:p>
                      <a:r>
                        <a:rPr sz="1200" b="0" i="0">
                          <a:solidFill>
                            <a:srgbClr val="333333"/>
                          </a:solidFill>
                          <a:latin typeface="Calibri"/>
                        </a:rPr>
                        <a:t>Sistema de expedientes de una agencia federal
(2000–2005)</a:t>
                      </a:r>
                    </a:p>
                  </a:txBody>
                  <a:tcPr>
                    <a:solidFill>
                      <a:srgbClr val="F2F2F2"/>
                    </a:solidFill>
                  </a:tcPr>
                </a:tc>
                <a:tc>
                  <a:txBody>
                    <a:bodyPr/>
                    <a:lstStyle/>
                    <a:p>
                      <a:r>
                        <a:rPr sz="1200" b="0" i="0">
                          <a:solidFill>
                            <a:srgbClr val="333333"/>
                          </a:solidFill>
                          <a:latin typeface="Calibri"/>
                        </a:rPr>
                        <a:t>Un sistema de gestión de casos se desarrolló durante años y se abandonó sin entrar en operación; hubo que empezar de nuevo con otro programa.</a:t>
                      </a:r>
                    </a:p>
                  </a:txBody>
                  <a:tcPr>
                    <a:solidFill>
                      <a:srgbClr val="F2F2F2"/>
                    </a:solidFill>
                  </a:tcPr>
                </a:tc>
                <a:tc>
                  <a:txBody>
                    <a:bodyPr/>
                    <a:lstStyle/>
                    <a:p>
                      <a:r>
                        <a:rPr sz="1200" b="1" i="0">
                          <a:solidFill>
                            <a:srgbClr val="333333"/>
                          </a:solidFill>
                          <a:latin typeface="Calibri"/>
                        </a:rPr>
                        <a:t>Requisitos.</a:t>
                      </a:r>
                      <a:r>
                        <a:rPr sz="1200" b="0" i="0">
                          <a:solidFill>
                            <a:srgbClr val="333333"/>
                          </a:solidFill>
                          <a:latin typeface="Calibri"/>
                        </a:rPr>
                        <a:t> Los requisitos cambiaban y no había una definición estable de qué debía hacer el sistema ni criterios para aceptarlo.</a:t>
                      </a:r>
                    </a:p>
                  </a:txBody>
                  <a:tcPr>
                    <a:solidFill>
                      <a:srgbClr val="F2F2F2"/>
                    </a:solidFill>
                  </a:tcPr>
                </a:tc>
              </a:tr>
              <a:tr h="384048">
                <a:tc>
                  <a:txBody>
                    <a:bodyPr/>
                    <a:lstStyle/>
                    <a:p>
                      <a:r>
                        <a:rPr sz="1200" b="0" i="0">
                          <a:solidFill>
                            <a:srgbClr val="333333"/>
                          </a:solidFill>
                          <a:latin typeface="Calibri"/>
                        </a:rPr>
                        <a:t>Portal público de salud en su lanzamiento
(2013)</a:t>
                      </a:r>
                    </a:p>
                  </a:txBody>
                  <a:tcPr>
                    <a:solidFill>
                      <a:srgbClr val="FFFFFF"/>
                    </a:solidFill>
                  </a:tcPr>
                </a:tc>
                <a:tc>
                  <a:txBody>
                    <a:bodyPr/>
                    <a:lstStyle/>
                    <a:p>
                      <a:r>
                        <a:rPr sz="1200" b="0" i="0">
                          <a:solidFill>
                            <a:srgbClr val="333333"/>
                          </a:solidFill>
                          <a:latin typeface="Calibri"/>
                        </a:rPr>
                        <a:t>El sitio se cayó el primer día y durante semanas casi nadie pudo completar el trámite, con una demanda de usuarios perfectamente previsible.</a:t>
                      </a:r>
                    </a:p>
                  </a:txBody>
                  <a:tcPr>
                    <a:solidFill>
                      <a:srgbClr val="FFFFFF"/>
                    </a:solidFill>
                  </a:tcPr>
                </a:tc>
                <a:tc>
                  <a:txBody>
                    <a:bodyPr/>
                    <a:lstStyle/>
                    <a:p>
                      <a:r>
                        <a:rPr sz="1200" b="1" i="0">
                          <a:solidFill>
                            <a:srgbClr val="333333"/>
                          </a:solidFill>
                          <a:latin typeface="Calibri"/>
                        </a:rPr>
                        <a:t>Validación.</a:t>
                      </a:r>
                      <a:r>
                        <a:rPr sz="1200" b="0" i="0">
                          <a:solidFill>
                            <a:srgbClr val="333333"/>
                          </a:solidFill>
                          <a:latin typeface="Calibri"/>
                        </a:rPr>
                        <a:t> Se lanzó sin pruebas de carga suficientes y sin un plan realista para el volumen esperado.</a:t>
                      </a:r>
                    </a:p>
                  </a:txBody>
                  <a:tcPr>
                    <a:solidFill>
                      <a:srgbClr val="FFFFFF"/>
                    </a:solidFill>
                  </a:tcPr>
                </a:tc>
              </a:tr>
              <a:tr h="384048">
                <a:tc>
                  <a:txBody>
                    <a:bodyPr/>
                    <a:lstStyle/>
                    <a:p>
                      <a:r>
                        <a:rPr sz="1200" b="0" i="0">
                          <a:solidFill>
                            <a:srgbClr val="333333"/>
                          </a:solidFill>
                          <a:latin typeface="Calibri"/>
                        </a:rPr>
                        <a:t>Firma financiera automatizada
(2012)</a:t>
                      </a:r>
                    </a:p>
                  </a:txBody>
                  <a:tcPr>
                    <a:solidFill>
                      <a:srgbClr val="F2F2F2"/>
                    </a:solidFill>
                  </a:tcPr>
                </a:tc>
                <a:tc>
                  <a:txBody>
                    <a:bodyPr/>
                    <a:lstStyle/>
                    <a:p>
                      <a:r>
                        <a:rPr sz="1200" b="0" i="0">
                          <a:solidFill>
                            <a:srgbClr val="333333"/>
                          </a:solidFill>
                          <a:latin typeface="Calibri"/>
                        </a:rPr>
                        <a:t>Un despliegue dejó una versión antigua activa en un servidor de los ocho; en unos 45 minutos las órdenes automáticas generaron pérdidas enormes.</a:t>
                      </a:r>
                    </a:p>
                  </a:txBody>
                  <a:tcPr>
                    <a:solidFill>
                      <a:srgbClr val="F2F2F2"/>
                    </a:solidFill>
                  </a:tcPr>
                </a:tc>
                <a:tc>
                  <a:txBody>
                    <a:bodyPr/>
                    <a:lstStyle/>
                    <a:p>
                      <a:r>
                        <a:rPr sz="1200" b="1" i="0">
                          <a:solidFill>
                            <a:srgbClr val="333333"/>
                          </a:solidFill>
                          <a:latin typeface="Calibri"/>
                        </a:rPr>
                        <a:t>Operación (el despliegue).</a:t>
                      </a:r>
                      <a:r>
                        <a:rPr sz="1200" b="0" i="0">
                          <a:solidFill>
                            <a:srgbClr val="333333"/>
                          </a:solidFill>
                          <a:latin typeface="Calibri"/>
                        </a:rPr>
                        <a:t> El código no era nuevo; falló el paso controlado de una fase a la siguiente y no había manera de frenar rápido.</a:t>
                      </a:r>
                    </a:p>
                  </a:txBody>
                  <a:tcPr>
                    <a:solidFill>
                      <a:srgbClr val="F2F2F2"/>
                    </a:solidFill>
                  </a:tcPr>
                </a:tc>
              </a:tr>
            </a:tbl>
          </a:graphicData>
        </a:graphic>
      </p:graphicFrame>
      <p:sp>
        <p:nvSpPr>
          <p:cNvPr id="6" name="TextBox 5"/>
          <p:cNvSpPr txBox="1"/>
          <p:nvPr/>
        </p:nvSpPr>
        <p:spPr>
          <a:xfrm>
            <a:off x="457200" y="3794760"/>
            <a:ext cx="11277295" cy="457200"/>
          </a:xfrm>
          <a:prstGeom prst="rect">
            <a:avLst/>
          </a:prstGeom>
          <a:noFill/>
        </p:spPr>
        <p:txBody>
          <a:bodyPr wrap="square">
            <a:spAutoFit/>
          </a:bodyPr>
          <a:lstStyle/>
          <a:p>
            <a:r>
              <a:rPr sz="1100" b="0" i="1">
                <a:solidFill>
                  <a:srgbClr val="666666"/>
                </a:solidFill>
                <a:latin typeface="Calibri"/>
              </a:rPr>
              <a:t>Los cuatro son públicos y están documentados en informes oficiales y prensa especializada. </a:t>
            </a:r>
            <a:r>
              <a:rPr sz="1100" b="1" i="1">
                <a:solidFill>
                  <a:srgbClr val="666666"/>
                </a:solidFill>
                <a:latin typeface="Calibri"/>
              </a:rPr>
              <a:t>Cite la fuente y el año</a:t>
            </a:r>
            <a:r>
              <a:rPr sz="1100" b="0" i="1">
                <a:solidFill>
                  <a:srgbClr val="666666"/>
                </a:solidFill>
                <a:latin typeface="Calibri"/>
              </a:rPr>
              <a:t>: las cifras circulan con variaciones y no todas las versiones son iguales.</a:t>
            </a:r>
          </a:p>
        </p:txBody>
      </p:sp>
      <p:sp>
        <p:nvSpPr>
          <p:cNvPr id="7" name="TextBox 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Cómo se decide entre dos alternativas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El resultado no es el número: es el argumento escrito. Una matriz sin justificaciones es un adorno</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500" b="1" i="0">
                <a:solidFill>
                  <a:srgbClr val="095292"/>
                </a:solidFill>
                <a:latin typeface="Calibri"/>
              </a:rPr>
              <a:t>1 · Escriba las dos, en una frase cada una</a:t>
            </a:r>
          </a:p>
          <a:p>
            <a:pPr>
              <a:spcBef>
                <a:spcPts val="200"/>
              </a:spcBef>
            </a:pPr>
            <a:r>
              <a:rPr sz="1300" b="0" i="0">
                <a:solidFill>
                  <a:srgbClr val="333333"/>
                </a:solidFill>
                <a:latin typeface="Calibri"/>
              </a:rPr>
              <a:t>Sin adjetivos. Si una de las dos no se puede escribir en una frase, no está pensada.</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500" b="1" i="0">
                <a:solidFill>
                  <a:srgbClr val="095292"/>
                </a:solidFill>
                <a:latin typeface="Calibri"/>
              </a:rPr>
              <a:t>2 · Elija de 3 a 5 criterios</a:t>
            </a:r>
          </a:p>
          <a:p>
            <a:pPr>
              <a:spcBef>
                <a:spcPts val="200"/>
              </a:spcBef>
            </a:pPr>
            <a:r>
              <a:rPr sz="1300" b="0" i="0">
                <a:solidFill>
                  <a:srgbClr val="333333"/>
                </a:solidFill>
                <a:latin typeface="Calibri"/>
              </a:rPr>
              <a:t>Salen de sus requisitos no funcionales y de sus restricciones, no de lo que les gusta.</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500" b="1" i="0">
                <a:solidFill>
                  <a:srgbClr val="095292"/>
                </a:solidFill>
                <a:latin typeface="Calibri"/>
              </a:rPr>
              <a:t>3 · Ponga peso a cada criterio</a:t>
            </a:r>
          </a:p>
          <a:p>
            <a:pPr>
              <a:spcBef>
                <a:spcPts val="200"/>
              </a:spcBef>
            </a:pPr>
            <a:r>
              <a:rPr sz="1300" b="0" i="0">
                <a:solidFill>
                  <a:srgbClr val="333333"/>
                </a:solidFill>
                <a:latin typeface="Calibri"/>
              </a:rPr>
              <a:t>No todos valen igual. Los pesos se deciden </a:t>
            </a:r>
            <a:r>
              <a:rPr sz="1300" b="1" i="0">
                <a:solidFill>
                  <a:srgbClr val="333333"/>
                </a:solidFill>
                <a:latin typeface="Calibri"/>
              </a:rPr>
              <a:t>antes</a:t>
            </a:r>
            <a:r>
              <a:rPr sz="1300" b="0" i="0">
                <a:solidFill>
                  <a:srgbClr val="333333"/>
                </a:solidFill>
                <a:latin typeface="Calibri"/>
              </a:rPr>
              <a:t> de mirar las alternativas: si no, se acomodan al favorito.</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500" b="1" i="0">
                <a:solidFill>
                  <a:srgbClr val="095292"/>
                </a:solidFill>
                <a:latin typeface="Calibri"/>
              </a:rPr>
              <a:t>4 · Califique cada alternativa, criterio por criterio</a:t>
            </a:r>
          </a:p>
          <a:p>
            <a:pPr>
              <a:spcBef>
                <a:spcPts val="200"/>
              </a:spcBef>
            </a:pPr>
            <a:r>
              <a:rPr sz="1300" b="0" i="0">
                <a:solidFill>
                  <a:srgbClr val="333333"/>
                </a:solidFill>
                <a:latin typeface="Calibri"/>
              </a:rPr>
              <a:t>Con una escala corta (1-3). Y escriba </a:t>
            </a:r>
            <a:r>
              <a:rPr sz="1300" b="1" i="0">
                <a:solidFill>
                  <a:srgbClr val="333333"/>
                </a:solidFill>
                <a:latin typeface="Calibri"/>
              </a:rPr>
              <a:t>por qué</a:t>
            </a:r>
            <a:r>
              <a:rPr sz="1300" b="0" i="0">
                <a:solidFill>
                  <a:srgbClr val="333333"/>
                </a:solidFill>
                <a:latin typeface="Calibri"/>
              </a:rPr>
              <a:t> ese número, en media línea.</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500" b="1" i="0">
                <a:solidFill>
                  <a:srgbClr val="095292"/>
                </a:solidFill>
                <a:latin typeface="Calibri"/>
              </a:rPr>
              <a:t>5 · Decida, y escriba qué se pierde</a:t>
            </a:r>
          </a:p>
          <a:p>
            <a:pPr>
              <a:spcBef>
                <a:spcPts val="200"/>
              </a:spcBef>
            </a:pPr>
            <a:r>
              <a:rPr sz="1300" b="0" i="0">
                <a:solidFill>
                  <a:srgbClr val="333333"/>
                </a:solidFill>
                <a:latin typeface="Calibri"/>
              </a:rPr>
              <a:t>Toda decisión sacrifica algo. Nombrar lo que se pierde es lo que la vuelve profesional.</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matriz de decisión resuelta</a:t>
            </a:r>
          </a:p>
        </p:txBody>
      </p:sp>
      <p:graphicFrame>
        <p:nvGraphicFramePr>
          <p:cNvPr id="5" name="Table 4"/>
          <p:cNvGraphicFramePr>
            <a:graphicFrameLocks noGrp="1"/>
          </p:cNvGraphicFramePr>
          <p:nvPr/>
        </p:nvGraphicFramePr>
        <p:xfrm>
          <a:off x="457200" y="1216152"/>
          <a:ext cx="11277294" cy="1920240"/>
        </p:xfrm>
        <a:graphic>
          <a:graphicData uri="http://schemas.openxmlformats.org/drawingml/2006/table">
            <a:tbl>
              <a:tblPr firstRow="1" bandRow="1">
                <a:tableStyleId>{5C22544A-7EE6-4342-B048-85BDC9FD1C3A}</a:tableStyleId>
              </a:tblPr>
              <a:tblGrid>
                <a:gridCol w="3759098"/>
                <a:gridCol w="3759098"/>
                <a:gridCol w="3759098"/>
              </a:tblGrid>
              <a:tr h="384048">
                <a:tc>
                  <a:txBody>
                    <a:bodyPr/>
                    <a:lstStyle/>
                    <a:p>
                      <a:r>
                        <a:rPr sz="1200" b="1" i="0">
                          <a:solidFill>
                            <a:srgbClr val="FFFFFF"/>
                          </a:solidFill>
                          <a:latin typeface="Calibri"/>
                        </a:rPr>
                        <a:t>Criterio (peso)</a:t>
                      </a:r>
                    </a:p>
                  </a:txBody>
                  <a:tcPr>
                    <a:solidFill>
                      <a:srgbClr val="095292"/>
                    </a:solidFill>
                  </a:tcPr>
                </a:tc>
                <a:tc>
                  <a:txBody>
                    <a:bodyPr/>
                    <a:lstStyle/>
                    <a:p>
                      <a:r>
                        <a:rPr sz="1200" b="1" i="0">
                          <a:solidFill>
                            <a:srgbClr val="FFFFFF"/>
                          </a:solidFill>
                          <a:latin typeface="Calibri"/>
                        </a:rPr>
                        <a:t>WhatsApp</a:t>
                      </a:r>
                    </a:p>
                  </a:txBody>
                  <a:tcPr>
                    <a:solidFill>
                      <a:srgbClr val="095292"/>
                    </a:solidFill>
                  </a:tcPr>
                </a:tc>
                <a:tc>
                  <a:txBody>
                    <a:bodyPr/>
                    <a:lstStyle/>
                    <a:p>
                      <a:r>
                        <a:rPr sz="1200" b="1" i="0">
                          <a:solidFill>
                            <a:srgbClr val="FFFFFF"/>
                          </a:solidFill>
                          <a:latin typeface="Calibri"/>
                        </a:rPr>
                        <a:t>Página web</a:t>
                      </a:r>
                    </a:p>
                  </a:txBody>
                  <a:tcPr>
                    <a:solidFill>
                      <a:srgbClr val="095292"/>
                    </a:solidFill>
                  </a:tcPr>
                </a:tc>
              </a:tr>
              <a:tr h="384048">
                <a:tc>
                  <a:txBody>
                    <a:bodyPr/>
                    <a:lstStyle/>
                    <a:p>
                      <a:r>
                        <a:rPr sz="1200" b="0" i="0">
                          <a:solidFill>
                            <a:srgbClr val="333333"/>
                          </a:solidFill>
                          <a:latin typeface="Calibri"/>
                        </a:rPr>
                        <a:t>Los clientes ya lo usan (3)</a:t>
                      </a:r>
                    </a:p>
                  </a:txBody>
                  <a:tcPr>
                    <a:solidFill>
                      <a:srgbClr val="FFFFFF"/>
                    </a:solidFill>
                  </a:tcPr>
                </a:tc>
                <a:tc>
                  <a:txBody>
                    <a:bodyPr/>
                    <a:lstStyle/>
                    <a:p>
                      <a:r>
                        <a:rPr sz="1200" b="0" i="0">
                          <a:solidFill>
                            <a:srgbClr val="333333"/>
                          </a:solidFill>
                          <a:latin typeface="Calibri"/>
                        </a:rPr>
                        <a:t>3 · todos lo tienen</a:t>
                      </a:r>
                    </a:p>
                  </a:txBody>
                  <a:tcPr>
                    <a:solidFill>
                      <a:srgbClr val="FFFFFF"/>
                    </a:solidFill>
                  </a:tcPr>
                </a:tc>
                <a:tc>
                  <a:txBody>
                    <a:bodyPr/>
                    <a:lstStyle/>
                    <a:p>
                      <a:r>
                        <a:rPr sz="1200" b="0" i="0">
                          <a:solidFill>
                            <a:srgbClr val="333333"/>
                          </a:solidFill>
                          <a:latin typeface="Calibri"/>
                        </a:rPr>
                        <a:t>1 · hay que abrir enlace</a:t>
                      </a:r>
                    </a:p>
                  </a:txBody>
                  <a:tcPr>
                    <a:solidFill>
                      <a:srgbClr val="FFFFFF"/>
                    </a:solidFill>
                  </a:tcPr>
                </a:tc>
              </a:tr>
              <a:tr h="384048">
                <a:tc>
                  <a:txBody>
                    <a:bodyPr/>
                    <a:lstStyle/>
                    <a:p>
                      <a:r>
                        <a:rPr sz="1200" b="0" i="0">
                          <a:solidFill>
                            <a:srgbClr val="333333"/>
                          </a:solidFill>
                          <a:latin typeface="Calibri"/>
                        </a:rPr>
                        <a:t>El equipo lo puede construir (2)</a:t>
                      </a:r>
                    </a:p>
                  </a:txBody>
                  <a:tcPr>
                    <a:solidFill>
                      <a:srgbClr val="F2F2F2"/>
                    </a:solidFill>
                  </a:tcPr>
                </a:tc>
                <a:tc>
                  <a:txBody>
                    <a:bodyPr/>
                    <a:lstStyle/>
                    <a:p>
                      <a:r>
                        <a:rPr sz="1200" b="0" i="0">
                          <a:solidFill>
                            <a:srgbClr val="333333"/>
                          </a:solidFill>
                          <a:latin typeface="Calibri"/>
                        </a:rPr>
                        <a:t>2 · necesita un bot simple</a:t>
                      </a:r>
                    </a:p>
                  </a:txBody>
                  <a:tcPr>
                    <a:solidFill>
                      <a:srgbClr val="F2F2F2"/>
                    </a:solidFill>
                  </a:tcPr>
                </a:tc>
                <a:tc>
                  <a:txBody>
                    <a:bodyPr/>
                    <a:lstStyle/>
                    <a:p>
                      <a:r>
                        <a:rPr sz="1200" b="0" i="0">
                          <a:solidFill>
                            <a:srgbClr val="333333"/>
                          </a:solidFill>
                          <a:latin typeface="Calibri"/>
                        </a:rPr>
                        <a:t>3 · formulario gratuito</a:t>
                      </a:r>
                    </a:p>
                  </a:txBody>
                  <a:tcPr>
                    <a:solidFill>
                      <a:srgbClr val="F2F2F2"/>
                    </a:solidFill>
                  </a:tcPr>
                </a:tc>
              </a:tr>
              <a:tr h="384048">
                <a:tc>
                  <a:txBody>
                    <a:bodyPr/>
                    <a:lstStyle/>
                    <a:p>
                      <a:r>
                        <a:rPr sz="1200" b="0" i="0">
                          <a:solidFill>
                            <a:srgbClr val="333333"/>
                          </a:solidFill>
                          <a:latin typeface="Calibri"/>
                        </a:rPr>
                        <a:t>Se puede medir el tiempo (2)</a:t>
                      </a:r>
                    </a:p>
                  </a:txBody>
                  <a:tcPr>
                    <a:solidFill>
                      <a:srgbClr val="FFFFFF"/>
                    </a:solidFill>
                  </a:tcPr>
                </a:tc>
                <a:tc>
                  <a:txBody>
                    <a:bodyPr/>
                    <a:lstStyle/>
                    <a:p>
                      <a:r>
                        <a:rPr sz="1200" b="0" i="0">
                          <a:solidFill>
                            <a:srgbClr val="333333"/>
                          </a:solidFill>
                          <a:latin typeface="Calibri"/>
                        </a:rPr>
                        <a:t>1 · difícil de registrar</a:t>
                      </a:r>
                    </a:p>
                  </a:txBody>
                  <a:tcPr>
                    <a:solidFill>
                      <a:srgbClr val="FFFFFF"/>
                    </a:solidFill>
                  </a:tcPr>
                </a:tc>
                <a:tc>
                  <a:txBody>
                    <a:bodyPr/>
                    <a:lstStyle/>
                    <a:p>
                      <a:r>
                        <a:rPr sz="1200" b="0" i="0">
                          <a:solidFill>
                            <a:srgbClr val="333333"/>
                          </a:solidFill>
                          <a:latin typeface="Calibri"/>
                        </a:rPr>
                        <a:t>3 · queda en la hoja</a:t>
                      </a:r>
                    </a:p>
                  </a:txBody>
                  <a:tcPr>
                    <a:solidFill>
                      <a:srgbClr val="FFFFFF"/>
                    </a:solidFill>
                  </a:tcPr>
                </a:tc>
              </a:tr>
              <a:tr h="384048">
                <a:tc>
                  <a:txBody>
                    <a:bodyPr/>
                    <a:lstStyle/>
                    <a:p>
                      <a:r>
                        <a:rPr sz="1200" b="1" i="0">
                          <a:solidFill>
                            <a:srgbClr val="333333"/>
                          </a:solidFill>
                          <a:latin typeface="Calibri"/>
                        </a:rPr>
                        <a:t>Total ponderado</a:t>
                      </a:r>
                    </a:p>
                  </a:txBody>
                  <a:tcPr>
                    <a:solidFill>
                      <a:srgbClr val="F2F2F2"/>
                    </a:solidFill>
                  </a:tcPr>
                </a:tc>
                <a:tc>
                  <a:txBody>
                    <a:bodyPr/>
                    <a:lstStyle/>
                    <a:p>
                      <a:r>
                        <a:rPr sz="1200" b="0" i="0">
                          <a:solidFill>
                            <a:srgbClr val="333333"/>
                          </a:solidFill>
                          <a:latin typeface="Calibri"/>
                        </a:rPr>
                        <a:t>3·3 + 2·2 + 1·2 = </a:t>
                      </a:r>
                      <a:r>
                        <a:rPr sz="1200" b="1" i="0">
                          <a:solidFill>
                            <a:srgbClr val="333333"/>
                          </a:solidFill>
                          <a:latin typeface="Calibri"/>
                        </a:rPr>
                        <a:t>15</a:t>
                      </a:r>
                    </a:p>
                  </a:txBody>
                  <a:tcPr>
                    <a:solidFill>
                      <a:srgbClr val="F2F2F2"/>
                    </a:solidFill>
                  </a:tcPr>
                </a:tc>
                <a:tc>
                  <a:txBody>
                    <a:bodyPr/>
                    <a:lstStyle/>
                    <a:p>
                      <a:r>
                        <a:rPr sz="1200" b="0" i="0">
                          <a:solidFill>
                            <a:srgbClr val="333333"/>
                          </a:solidFill>
                          <a:latin typeface="Calibri"/>
                        </a:rPr>
                        <a:t>1·3 + 3·2 + 3·2 = </a:t>
                      </a:r>
                      <a:r>
                        <a:rPr sz="1200" b="1" i="0">
                          <a:solidFill>
                            <a:srgbClr val="333333"/>
                          </a:solidFill>
                          <a:latin typeface="Calibri"/>
                        </a:rPr>
                        <a:t>15</a:t>
                      </a:r>
                    </a:p>
                  </a:txBody>
                  <a:tcPr>
                    <a:solidFill>
                      <a:srgbClr val="F2F2F2"/>
                    </a:solidFill>
                  </a:tcPr>
                </a:tc>
              </a:tr>
            </a:tbl>
          </a:graphicData>
        </a:graphic>
      </p:graphicFrame>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Alcance mínimo: qué entra y qué no</a:t>
            </a:r>
          </a:p>
        </p:txBody>
      </p:sp>
      <p:sp>
        <p:nvSpPr>
          <p:cNvPr id="5" name="Rounded Rectangle 4"/>
          <p:cNvSpPr/>
          <p:nvPr/>
        </p:nvSpPr>
        <p:spPr>
          <a:xfrm>
            <a:off x="457200"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5218023" cy="411480"/>
          </a:xfrm>
          <a:prstGeom prst="rect">
            <a:avLst/>
          </a:prstGeom>
          <a:noFill/>
        </p:spPr>
        <p:txBody>
          <a:bodyPr wrap="square">
            <a:spAutoFit/>
          </a:bodyPr>
          <a:lstStyle/>
          <a:p>
            <a:r>
              <a:rPr sz="1500" b="1" i="0">
                <a:solidFill>
                  <a:srgbClr val="095292"/>
                </a:solidFill>
                <a:latin typeface="Calibri"/>
              </a:rPr>
              <a:t>Qué es</a:t>
            </a:r>
          </a:p>
        </p:txBody>
      </p:sp>
      <p:sp>
        <p:nvSpPr>
          <p:cNvPr id="8" name="TextBox 7"/>
          <p:cNvSpPr txBox="1"/>
          <p:nvPr/>
        </p:nvSpPr>
        <p:spPr>
          <a:xfrm>
            <a:off x="621792" y="1947672"/>
            <a:ext cx="5218023" cy="1595628"/>
          </a:xfrm>
          <a:prstGeom prst="rect">
            <a:avLst/>
          </a:prstGeom>
          <a:noFill/>
        </p:spPr>
        <p:txBody>
          <a:bodyPr wrap="square">
            <a:spAutoFit/>
          </a:bodyPr>
          <a:lstStyle/>
          <a:p>
            <a:r>
              <a:rPr sz="1300" b="0" i="0">
                <a:solidFill>
                  <a:srgbClr val="333333"/>
                </a:solidFill>
                <a:latin typeface="Calibri"/>
              </a:rPr>
              <a:t>La versión más pequeña de la solución que </a:t>
            </a:r>
            <a:r>
              <a:rPr sz="1300" b="1" i="0">
                <a:solidFill>
                  <a:srgbClr val="333333"/>
                </a:solidFill>
                <a:latin typeface="Calibri"/>
              </a:rPr>
              <a:t>ya resuelve algo</a:t>
            </a:r>
            <a:r>
              <a:rPr sz="1300" b="0" i="0">
                <a:solidFill>
                  <a:srgbClr val="333333"/>
                </a:solidFill>
                <a:latin typeface="Calibri"/>
              </a:rPr>
              <a:t> del problema y se puede probar con un usuario real. No es una demo bonita: es algo que sirve, aunque sirva poco.</a:t>
            </a:r>
          </a:p>
        </p:txBody>
      </p:sp>
      <p:sp>
        <p:nvSpPr>
          <p:cNvPr id="9" name="Rounded Rectangle 8"/>
          <p:cNvSpPr/>
          <p:nvPr/>
        </p:nvSpPr>
        <p:spPr>
          <a:xfrm>
            <a:off x="6187287"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7287" y="1261872"/>
            <a:ext cx="5547207"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490472"/>
            <a:ext cx="5218023" cy="411480"/>
          </a:xfrm>
          <a:prstGeom prst="rect">
            <a:avLst/>
          </a:prstGeom>
          <a:noFill/>
        </p:spPr>
        <p:txBody>
          <a:bodyPr wrap="square">
            <a:spAutoFit/>
          </a:bodyPr>
          <a:lstStyle/>
          <a:p>
            <a:r>
              <a:rPr sz="1500" b="1" i="0">
                <a:solidFill>
                  <a:srgbClr val="095292"/>
                </a:solidFill>
                <a:latin typeface="Calibri"/>
              </a:rPr>
              <a:t>Qué NO es</a:t>
            </a:r>
          </a:p>
        </p:txBody>
      </p:sp>
      <p:sp>
        <p:nvSpPr>
          <p:cNvPr id="12" name="TextBox 11"/>
          <p:cNvSpPr txBox="1"/>
          <p:nvPr/>
        </p:nvSpPr>
        <p:spPr>
          <a:xfrm>
            <a:off x="6351879" y="1947672"/>
            <a:ext cx="5218023" cy="1595628"/>
          </a:xfrm>
          <a:prstGeom prst="rect">
            <a:avLst/>
          </a:prstGeom>
          <a:noFill/>
        </p:spPr>
        <p:txBody>
          <a:bodyPr wrap="square">
            <a:spAutoFit/>
          </a:bodyPr>
          <a:lstStyle/>
          <a:p>
            <a:r>
              <a:rPr sz="1300" b="0" i="0">
                <a:solidFill>
                  <a:srgbClr val="333333"/>
                </a:solidFill>
                <a:latin typeface="Calibri"/>
              </a:rPr>
              <a:t>No es «la primera parte de todo lo que soñamos». Un alcance mínimo que no resuelve nada por sí solo no se puede probar, y entonces no sirve para aprender nada en la Clase 12.</a:t>
            </a:r>
          </a:p>
        </p:txBody>
      </p:sp>
      <p:sp>
        <p:nvSpPr>
          <p:cNvPr id="13" name="Rounded Rectangle 12"/>
          <p:cNvSpPr/>
          <p:nvPr/>
        </p:nvSpPr>
        <p:spPr>
          <a:xfrm>
            <a:off x="457200"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90772"/>
            <a:ext cx="5547207"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119372"/>
            <a:ext cx="5218023" cy="411480"/>
          </a:xfrm>
          <a:prstGeom prst="rect">
            <a:avLst/>
          </a:prstGeom>
          <a:noFill/>
        </p:spPr>
        <p:txBody>
          <a:bodyPr wrap="square">
            <a:spAutoFit/>
          </a:bodyPr>
          <a:lstStyle/>
          <a:p>
            <a:r>
              <a:rPr sz="1500" b="1" i="0">
                <a:solidFill>
                  <a:srgbClr val="095292"/>
                </a:solidFill>
                <a:latin typeface="Calibri"/>
              </a:rPr>
              <a:t>Cómo se fija</a:t>
            </a:r>
          </a:p>
        </p:txBody>
      </p:sp>
      <p:sp>
        <p:nvSpPr>
          <p:cNvPr id="16" name="TextBox 15"/>
          <p:cNvSpPr txBox="1"/>
          <p:nvPr/>
        </p:nvSpPr>
        <p:spPr>
          <a:xfrm>
            <a:off x="621792" y="4576572"/>
            <a:ext cx="5218023" cy="1595628"/>
          </a:xfrm>
          <a:prstGeom prst="rect">
            <a:avLst/>
          </a:prstGeom>
          <a:noFill/>
        </p:spPr>
        <p:txBody>
          <a:bodyPr wrap="square">
            <a:spAutoFit/>
          </a:bodyPr>
          <a:lstStyle/>
          <a:p>
            <a:r>
              <a:rPr sz="1300" b="0" i="0">
                <a:solidFill>
                  <a:srgbClr val="333333"/>
                </a:solidFill>
                <a:latin typeface="Calibri"/>
              </a:rPr>
              <a:t>Se toma </a:t>
            </a:r>
            <a:r>
              <a:rPr sz="1300" b="1" i="0">
                <a:solidFill>
                  <a:srgbClr val="333333"/>
                </a:solidFill>
                <a:latin typeface="Calibri"/>
              </a:rPr>
              <a:t>un</a:t>
            </a:r>
            <a:r>
              <a:rPr sz="1300" b="0" i="0">
                <a:solidFill>
                  <a:srgbClr val="333333"/>
                </a:solidFill>
                <a:latin typeface="Calibri"/>
              </a:rPr>
              <a:t> requisito funcional —el que ataca la causa elegida— y se construye solo eso, cumpliendo los requisitos no funcionales. Los otros dos requisitos quedan escritos como «versión siguiente».</a:t>
            </a:r>
          </a:p>
        </p:txBody>
      </p:sp>
      <p:sp>
        <p:nvSpPr>
          <p:cNvPr id="17" name="Rounded Rectangle 16"/>
          <p:cNvSpPr/>
          <p:nvPr/>
        </p:nvSpPr>
        <p:spPr>
          <a:xfrm>
            <a:off x="6187287"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38907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4119372"/>
            <a:ext cx="5218023" cy="411480"/>
          </a:xfrm>
          <a:prstGeom prst="rect">
            <a:avLst/>
          </a:prstGeom>
          <a:noFill/>
        </p:spPr>
        <p:txBody>
          <a:bodyPr wrap="square">
            <a:spAutoFit/>
          </a:bodyPr>
          <a:lstStyle/>
          <a:p>
            <a:r>
              <a:rPr sz="1500" b="1" i="0">
                <a:solidFill>
                  <a:srgbClr val="095292"/>
                </a:solidFill>
                <a:latin typeface="Calibri"/>
              </a:rPr>
              <a:t>La lista de lo que queda fuera</a:t>
            </a:r>
          </a:p>
        </p:txBody>
      </p:sp>
      <p:sp>
        <p:nvSpPr>
          <p:cNvPr id="20" name="TextBox 19"/>
          <p:cNvSpPr txBox="1"/>
          <p:nvPr/>
        </p:nvSpPr>
        <p:spPr>
          <a:xfrm>
            <a:off x="6351879" y="4576572"/>
            <a:ext cx="5218023" cy="1595628"/>
          </a:xfrm>
          <a:prstGeom prst="rect">
            <a:avLst/>
          </a:prstGeom>
          <a:noFill/>
        </p:spPr>
        <p:txBody>
          <a:bodyPr wrap="square">
            <a:spAutoFit/>
          </a:bodyPr>
          <a:lstStyle/>
          <a:p>
            <a:r>
              <a:rPr sz="1300" b="0" i="0">
                <a:solidFill>
                  <a:srgbClr val="333333"/>
                </a:solidFill>
                <a:latin typeface="Calibri"/>
              </a:rPr>
              <a:t>Se escribe explícitamente y se muestra en la exposición final. </a:t>
            </a:r>
            <a:r>
              <a:rPr sz="1300" b="1" i="0">
                <a:solidFill>
                  <a:srgbClr val="333333"/>
                </a:solidFill>
                <a:latin typeface="Calibri"/>
              </a:rPr>
              <a:t>Un proyecto que no declara lo que dejó fuera parece incompleto; uno que lo declara parece dirigido.</a:t>
            </a:r>
          </a:p>
        </p:txBody>
      </p:sp>
      <p:sp>
        <p:nvSpPr>
          <p:cNvPr id="21" name="TextBox 20"/>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alcance soñado y alcance mínimo</a:t>
            </a:r>
          </a:p>
        </p:txBody>
      </p:sp>
      <p:sp>
        <p:nvSpPr>
          <p:cNvPr id="5" name="Rounded Rectangle 4"/>
          <p:cNvSpPr/>
          <p:nvPr/>
        </p:nvSpPr>
        <p:spPr>
          <a:xfrm>
            <a:off x="457200" y="1261872"/>
            <a:ext cx="5478627" cy="5093208"/>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5204307" cy="365760"/>
          </a:xfrm>
          <a:prstGeom prst="rect">
            <a:avLst/>
          </a:prstGeom>
          <a:noFill/>
        </p:spPr>
        <p:txBody>
          <a:bodyPr wrap="square" anchor="ctr"/>
          <a:lstStyle/>
          <a:p>
            <a:pPr algn="ctr"/>
            <a:r>
              <a:rPr sz="1600" b="1" i="0">
                <a:solidFill>
                  <a:srgbClr val="FFFFFF"/>
                </a:solidFill>
                <a:latin typeface="Calibri"/>
              </a:rPr>
              <a:t>Lo que el equipo soñaba</a:t>
            </a:r>
          </a:p>
        </p:txBody>
      </p:sp>
      <p:sp>
        <p:nvSpPr>
          <p:cNvPr id="8" name="TextBox 7"/>
          <p:cNvSpPr txBox="1"/>
          <p:nvPr/>
        </p:nvSpPr>
        <p:spPr>
          <a:xfrm>
            <a:off x="621792"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Registro de usuarios con contraseña.</a:t>
            </a:r>
          </a:p>
          <a:p>
            <a:pPr>
              <a:spcAft>
                <a:spcPts val="800"/>
              </a:spcAft>
            </a:pPr>
            <a:r>
              <a:rPr sz="1500" b="0" i="0">
                <a:solidFill>
                  <a:srgbClr val="333333"/>
                </a:solidFill>
                <a:latin typeface="Calibri"/>
              </a:rPr>
              <a:t>–   Turnos, pagos, domicilios y promociones.</a:t>
            </a:r>
          </a:p>
          <a:p>
            <a:pPr>
              <a:spcAft>
                <a:spcPts val="800"/>
              </a:spcAft>
            </a:pPr>
            <a:r>
              <a:rPr sz="1500" b="0" i="0">
                <a:solidFill>
                  <a:srgbClr val="333333"/>
                </a:solidFill>
                <a:latin typeface="Calibri"/>
              </a:rPr>
              <a:t>–   App para Android y para iPhone.</a:t>
            </a:r>
          </a:p>
          <a:p>
            <a:pPr>
              <a:spcAft>
                <a:spcPts val="800"/>
              </a:spcAft>
            </a:pPr>
            <a:r>
              <a:rPr sz="1500" b="0" i="0">
                <a:solidFill>
                  <a:srgbClr val="333333"/>
                </a:solidFill>
                <a:latin typeface="Calibri"/>
              </a:rPr>
              <a:t>–   Nada se puede probar antes de la Clase 15.</a:t>
            </a:r>
          </a:p>
        </p:txBody>
      </p:sp>
      <p:sp>
        <p:nvSpPr>
          <p:cNvPr id="9" name="Rounded Rectangle 8"/>
          <p:cNvSpPr/>
          <p:nvPr/>
        </p:nvSpPr>
        <p:spPr>
          <a:xfrm>
            <a:off x="6255867" y="1261872"/>
            <a:ext cx="5478627" cy="5093208"/>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1261872"/>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027" y="1353312"/>
            <a:ext cx="5204307" cy="365760"/>
          </a:xfrm>
          <a:prstGeom prst="rect">
            <a:avLst/>
          </a:prstGeom>
          <a:noFill/>
        </p:spPr>
        <p:txBody>
          <a:bodyPr wrap="square" anchor="ctr"/>
          <a:lstStyle/>
          <a:p>
            <a:pPr algn="ctr"/>
            <a:r>
              <a:rPr sz="1600" b="1" i="0">
                <a:solidFill>
                  <a:srgbClr val="FFFFFF"/>
                </a:solidFill>
                <a:latin typeface="Calibri"/>
              </a:rPr>
              <a:t>Alcance mínimo</a:t>
            </a:r>
          </a:p>
        </p:txBody>
      </p:sp>
      <p:sp>
        <p:nvSpPr>
          <p:cNvPr id="12" name="TextBox 11"/>
          <p:cNvSpPr txBox="1"/>
          <p:nvPr/>
        </p:nvSpPr>
        <p:spPr>
          <a:xfrm>
            <a:off x="6420459"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a:t>
            </a:r>
            <a:r>
              <a:rPr sz="1500" b="1" i="0">
                <a:solidFill>
                  <a:srgbClr val="333333"/>
                </a:solidFill>
                <a:latin typeface="Calibri"/>
              </a:rPr>
              <a:t>Solo</a:t>
            </a:r>
            <a:r>
              <a:rPr sz="1500" b="0" i="0">
                <a:solidFill>
                  <a:srgbClr val="333333"/>
                </a:solidFill>
                <a:latin typeface="Calibri"/>
              </a:rPr>
              <a:t> pedir turno y ver cuántos van antes.</a:t>
            </a:r>
          </a:p>
          <a:p>
            <a:pPr>
              <a:spcAft>
                <a:spcPts val="800"/>
              </a:spcAft>
            </a:pPr>
            <a:r>
              <a:rPr sz="1500" b="0" i="0">
                <a:solidFill>
                  <a:srgbClr val="333333"/>
                </a:solidFill>
                <a:latin typeface="Calibri"/>
              </a:rPr>
              <a:t>–   Sin registro: se entra con el celular.</a:t>
            </a:r>
          </a:p>
          <a:p>
            <a:pPr>
              <a:spcAft>
                <a:spcPts val="800"/>
              </a:spcAft>
            </a:pPr>
            <a:r>
              <a:rPr sz="1500" b="0" i="0">
                <a:solidFill>
                  <a:srgbClr val="333333"/>
                </a:solidFill>
                <a:latin typeface="Calibri"/>
              </a:rPr>
              <a:t>–   Se prueba con 5 clientes en la Clase 11.</a:t>
            </a:r>
          </a:p>
          <a:p>
            <a:pPr>
              <a:spcAft>
                <a:spcPts val="800"/>
              </a:spcAft>
            </a:pPr>
            <a:r>
              <a:rPr sz="1500" b="0" i="0">
                <a:solidFill>
                  <a:srgbClr val="333333"/>
                </a:solidFill>
                <a:latin typeface="Calibri"/>
              </a:rPr>
              <a:t>–   </a:t>
            </a:r>
            <a:r>
              <a:rPr sz="1500" b="1" i="0">
                <a:solidFill>
                  <a:srgbClr val="333333"/>
                </a:solidFill>
                <a:latin typeface="Calibri"/>
              </a:rPr>
              <a:t>Queda fuera:</a:t>
            </a:r>
            <a:r>
              <a:rPr sz="1500" b="0" i="0">
                <a:solidFill>
                  <a:srgbClr val="333333"/>
                </a:solidFill>
                <a:latin typeface="Calibri"/>
              </a:rPr>
              <a:t> pagos, domicilios, promociones.</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plan de validación, y dos trampas</a:t>
            </a:r>
          </a:p>
        </p:txBody>
      </p:sp>
      <p:sp>
        <p:nvSpPr>
          <p:cNvPr id="5" name="Rounded Rectangle 4"/>
          <p:cNvSpPr/>
          <p:nvPr/>
        </p:nvSpPr>
        <p:spPr>
          <a:xfrm>
            <a:off x="457200" y="1261872"/>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28016" cy="105156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1"/>
            <a:ext cx="10774375" cy="822959"/>
          </a:xfrm>
          <a:prstGeom prst="rect">
            <a:avLst/>
          </a:prstGeom>
          <a:noFill/>
        </p:spPr>
        <p:txBody>
          <a:bodyPr wrap="square">
            <a:spAutoFit/>
          </a:bodyPr>
          <a:lstStyle/>
          <a:p>
            <a:r>
              <a:rPr sz="1200" b="1" i="0">
                <a:solidFill>
                  <a:srgbClr val="269CCB"/>
                </a:solidFill>
                <a:latin typeface="Calibri"/>
              </a:rPr>
              <a:t>Info</a:t>
            </a:r>
          </a:p>
          <a:p>
            <a:pPr>
              <a:spcBef>
                <a:spcPts val="400"/>
              </a:spcBef>
            </a:pPr>
            <a:r>
              <a:rPr sz="1400" b="1" i="0">
                <a:solidFill>
                  <a:srgbClr val="333333"/>
                </a:solidFill>
                <a:latin typeface="Calibri"/>
              </a:rPr>
              <a:t>El plan de validación se escribe hoy, no al final.</a:t>
            </a:r>
            <a:r>
              <a:rPr sz="1400" b="0" i="0">
                <a:solidFill>
                  <a:srgbClr val="333333"/>
                </a:solidFill>
                <a:latin typeface="Calibri"/>
              </a:rPr>
              <a:t> Es tres cosas: con quién se prueba (una persona ajena al equipo), qué tareas se le piden (las de los criterios de aceptación de la sesión 7) y qué se va a observar. Escribirlo ahora obliga a que la solución sea probable, y eso cambia el diseño.</a:t>
            </a:r>
          </a:p>
        </p:txBody>
      </p:sp>
      <p:sp>
        <p:nvSpPr>
          <p:cNvPr id="8" name="Rounded Rectangle 7"/>
          <p:cNvSpPr/>
          <p:nvPr/>
        </p:nvSpPr>
        <p:spPr>
          <a:xfrm>
            <a:off x="457200" y="2478024"/>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78024"/>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15184"/>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Trampa 1: probar con el propio equipo.</a:t>
            </a:r>
            <a:r>
              <a:rPr sz="1400" b="0" i="0">
                <a:solidFill>
                  <a:srgbClr val="333333"/>
                </a:solidFill>
                <a:latin typeface="Calibri"/>
              </a:rPr>
              <a:t> Quien construyó sabe dónde hay que tocar, así que todo le funciona. Una prueba con un integrante del equipo no prueba nada — es la versión de laboratorio del problema del Therac-25, donde el fabricante sostuvo que la falla era imposible.</a:t>
            </a:r>
          </a:p>
        </p:txBody>
      </p:sp>
      <p:sp>
        <p:nvSpPr>
          <p:cNvPr id="11" name="Rounded Rectangle 10"/>
          <p:cNvSpPr/>
          <p:nvPr/>
        </p:nvSpPr>
        <p:spPr>
          <a:xfrm>
            <a:off x="457200" y="3694176"/>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94176"/>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31336"/>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Trampa 2: preguntar «¿le gusta?».</a:t>
            </a:r>
            <a:r>
              <a:rPr sz="1400" b="0" i="0">
                <a:solidFill>
                  <a:srgbClr val="333333"/>
                </a:solidFill>
                <a:latin typeface="Calibri"/>
              </a:rPr>
              <a:t> La gente dice que sí por cortesía. Se pide que </a:t>
            </a:r>
            <a:r>
              <a:rPr sz="1400" b="1" i="0">
                <a:solidFill>
                  <a:srgbClr val="333333"/>
                </a:solidFill>
                <a:latin typeface="Calibri"/>
              </a:rPr>
              <a:t>haga una tarea</a:t>
            </a:r>
            <a:r>
              <a:rPr sz="1400" b="0" i="0">
                <a:solidFill>
                  <a:srgbClr val="333333"/>
                </a:solidFill>
                <a:latin typeface="Calibri"/>
              </a:rPr>
              <a:t> y se observa en silencio: dónde duda, dónde se equivoca, qué busca y no encuentra. Lo que la persona hace vale; lo que opina, poco.</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un plan de validación de tres líneas</a:t>
            </a:r>
          </a:p>
        </p:txBody>
      </p:sp>
      <p:sp>
        <p:nvSpPr>
          <p:cNvPr id="5" name="Rounded Rectangle 4"/>
          <p:cNvSpPr/>
          <p:nvPr/>
        </p:nvSpPr>
        <p:spPr>
          <a:xfrm>
            <a:off x="457200" y="12618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3637178"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3307994" cy="411480"/>
          </a:xfrm>
          <a:prstGeom prst="rect">
            <a:avLst/>
          </a:prstGeom>
          <a:noFill/>
        </p:spPr>
        <p:txBody>
          <a:bodyPr wrap="square">
            <a:spAutoFit/>
          </a:bodyPr>
          <a:lstStyle/>
          <a:p>
            <a:r>
              <a:rPr sz="1500" b="1" i="0">
                <a:solidFill>
                  <a:srgbClr val="095292"/>
                </a:solidFill>
                <a:latin typeface="Calibri"/>
              </a:rPr>
              <a:t>Con quién</a:t>
            </a:r>
          </a:p>
        </p:txBody>
      </p:sp>
      <p:sp>
        <p:nvSpPr>
          <p:cNvPr id="8" name="TextBox 7"/>
          <p:cNvSpPr txBox="1"/>
          <p:nvPr/>
        </p:nvSpPr>
        <p:spPr>
          <a:xfrm>
            <a:off x="621792" y="1947672"/>
            <a:ext cx="3307994" cy="1595628"/>
          </a:xfrm>
          <a:prstGeom prst="rect">
            <a:avLst/>
          </a:prstGeom>
          <a:noFill/>
        </p:spPr>
        <p:txBody>
          <a:bodyPr wrap="square">
            <a:spAutoFit/>
          </a:bodyPr>
          <a:lstStyle/>
          <a:p>
            <a:r>
              <a:rPr sz="1300" b="0" i="0">
                <a:solidFill>
                  <a:srgbClr val="333333"/>
                </a:solidFill>
                <a:latin typeface="Calibri"/>
              </a:rPr>
              <a:t>Cinco clientes de la tienda que </a:t>
            </a:r>
            <a:r>
              <a:rPr sz="1300" b="1" i="0">
                <a:solidFill>
                  <a:srgbClr val="333333"/>
                </a:solidFill>
                <a:latin typeface="Calibri"/>
              </a:rPr>
              <a:t>no</a:t>
            </a:r>
            <a:r>
              <a:rPr sz="1300" b="0" i="0">
                <a:solidFill>
                  <a:srgbClr val="333333"/>
                </a:solidFill>
                <a:latin typeface="Calibri"/>
              </a:rPr>
              <a:t> conocen al equipo, un sábado en la mañana.</a:t>
            </a:r>
          </a:p>
        </p:txBody>
      </p:sp>
      <p:sp>
        <p:nvSpPr>
          <p:cNvPr id="9" name="Rounded Rectangle 8"/>
          <p:cNvSpPr/>
          <p:nvPr/>
        </p:nvSpPr>
        <p:spPr>
          <a:xfrm>
            <a:off x="4277258" y="12618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77258" y="1261872"/>
            <a:ext cx="3637178"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1850" y="1490472"/>
            <a:ext cx="3307994" cy="411480"/>
          </a:xfrm>
          <a:prstGeom prst="rect">
            <a:avLst/>
          </a:prstGeom>
          <a:noFill/>
        </p:spPr>
        <p:txBody>
          <a:bodyPr wrap="square">
            <a:spAutoFit/>
          </a:bodyPr>
          <a:lstStyle/>
          <a:p>
            <a:r>
              <a:rPr sz="1500" b="1" i="0">
                <a:solidFill>
                  <a:srgbClr val="095292"/>
                </a:solidFill>
                <a:latin typeface="Calibri"/>
              </a:rPr>
              <a:t>Qué tarea</a:t>
            </a:r>
          </a:p>
        </p:txBody>
      </p:sp>
      <p:sp>
        <p:nvSpPr>
          <p:cNvPr id="12" name="TextBox 11"/>
          <p:cNvSpPr txBox="1"/>
          <p:nvPr/>
        </p:nvSpPr>
        <p:spPr>
          <a:xfrm>
            <a:off x="4441850" y="1947672"/>
            <a:ext cx="3307994" cy="1595628"/>
          </a:xfrm>
          <a:prstGeom prst="rect">
            <a:avLst/>
          </a:prstGeom>
          <a:noFill/>
        </p:spPr>
        <p:txBody>
          <a:bodyPr wrap="square">
            <a:spAutoFit/>
          </a:bodyPr>
          <a:lstStyle/>
          <a:p>
            <a:r>
              <a:rPr sz="1300" b="0" i="0">
                <a:solidFill>
                  <a:srgbClr val="333333"/>
                </a:solidFill>
                <a:latin typeface="Calibri"/>
              </a:rPr>
              <a:t>«Pida un turno y dígame cuántas personas van antes que usted». Sin ayuda.</a:t>
            </a:r>
          </a:p>
        </p:txBody>
      </p:sp>
      <p:sp>
        <p:nvSpPr>
          <p:cNvPr id="13" name="Rounded Rectangle 12"/>
          <p:cNvSpPr/>
          <p:nvPr/>
        </p:nvSpPr>
        <p:spPr>
          <a:xfrm>
            <a:off x="8097316" y="12618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7316" y="1261872"/>
            <a:ext cx="3637178"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1908" y="1490472"/>
            <a:ext cx="3307994" cy="411480"/>
          </a:xfrm>
          <a:prstGeom prst="rect">
            <a:avLst/>
          </a:prstGeom>
          <a:noFill/>
        </p:spPr>
        <p:txBody>
          <a:bodyPr wrap="square">
            <a:spAutoFit/>
          </a:bodyPr>
          <a:lstStyle/>
          <a:p>
            <a:r>
              <a:rPr sz="1500" b="1" i="0">
                <a:solidFill>
                  <a:srgbClr val="095292"/>
                </a:solidFill>
                <a:latin typeface="Calibri"/>
              </a:rPr>
              <a:t>Qué se mide</a:t>
            </a:r>
          </a:p>
        </p:txBody>
      </p:sp>
      <p:sp>
        <p:nvSpPr>
          <p:cNvPr id="16" name="TextBox 15"/>
          <p:cNvSpPr txBox="1"/>
          <p:nvPr/>
        </p:nvSpPr>
        <p:spPr>
          <a:xfrm>
            <a:off x="8261908" y="1947672"/>
            <a:ext cx="3307994" cy="1595628"/>
          </a:xfrm>
          <a:prstGeom prst="rect">
            <a:avLst/>
          </a:prstGeom>
          <a:noFill/>
        </p:spPr>
        <p:txBody>
          <a:bodyPr wrap="square">
            <a:spAutoFit/>
          </a:bodyPr>
          <a:lstStyle/>
          <a:p>
            <a:r>
              <a:rPr sz="1300" b="0" i="0">
                <a:solidFill>
                  <a:srgbClr val="333333"/>
                </a:solidFill>
                <a:latin typeface="Calibri"/>
              </a:rPr>
              <a:t>Cuántos lo logran y en cuánto tiempo. </a:t>
            </a:r>
            <a:r>
              <a:rPr sz="1300" b="1" i="0">
                <a:solidFill>
                  <a:srgbClr val="333333"/>
                </a:solidFill>
                <a:latin typeface="Calibri"/>
              </a:rPr>
              <a:t>Éxito:</a:t>
            </a:r>
            <a:r>
              <a:rPr sz="1300" b="0" i="0">
                <a:solidFill>
                  <a:srgbClr val="333333"/>
                </a:solidFill>
                <a:latin typeface="Calibri"/>
              </a:rPr>
              <a:t> 4 de 5 en menos de 1 minuto.</a:t>
            </a:r>
          </a:p>
        </p:txBody>
      </p:sp>
      <p:sp>
        <p:nvSpPr>
          <p:cNvPr id="17" name="Rounded Rectangle 16"/>
          <p:cNvSpPr/>
          <p:nvPr/>
        </p:nvSpPr>
        <p:spPr>
          <a:xfrm>
            <a:off x="457200" y="38907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890772"/>
            <a:ext cx="3637178"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4119372"/>
            <a:ext cx="3307994" cy="411480"/>
          </a:xfrm>
          <a:prstGeom prst="rect">
            <a:avLst/>
          </a:prstGeom>
          <a:noFill/>
        </p:spPr>
        <p:txBody>
          <a:bodyPr wrap="square">
            <a:spAutoFit/>
          </a:bodyPr>
          <a:lstStyle/>
          <a:p>
            <a:r>
              <a:rPr sz="1500" b="1" i="0">
                <a:solidFill>
                  <a:srgbClr val="095292"/>
                </a:solidFill>
                <a:latin typeface="Calibri"/>
              </a:rPr>
              <a:t>Lo que NO se pregunta</a:t>
            </a:r>
          </a:p>
        </p:txBody>
      </p:sp>
      <p:sp>
        <p:nvSpPr>
          <p:cNvPr id="20" name="TextBox 19"/>
          <p:cNvSpPr txBox="1"/>
          <p:nvPr/>
        </p:nvSpPr>
        <p:spPr>
          <a:xfrm>
            <a:off x="621792" y="4576572"/>
            <a:ext cx="3307994" cy="1595628"/>
          </a:xfrm>
          <a:prstGeom prst="rect">
            <a:avLst/>
          </a:prstGeom>
          <a:noFill/>
        </p:spPr>
        <p:txBody>
          <a:bodyPr wrap="square">
            <a:spAutoFit/>
          </a:bodyPr>
          <a:lstStyle/>
          <a:p>
            <a:r>
              <a:rPr sz="1300" b="0" i="0">
                <a:solidFill>
                  <a:srgbClr val="333333"/>
                </a:solidFill>
                <a:latin typeface="Calibri"/>
              </a:rPr>
              <a:t>«¿Le gusta la app?». Todos dicen que sí por cortesía y no se aprende nada.</a:t>
            </a:r>
          </a:p>
        </p:txBody>
      </p:sp>
      <p:sp>
        <p:nvSpPr>
          <p:cNvPr id="21" name="TextBox 20"/>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Taller de hoy: Decisión de la solución y alcance mínimo</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40 min en equipos · 40 min con ritmo interno: alternativas, matriz, alcance, validación · matriz de decisión + alcance mínimo + plan de validación</a:t>
            </a:r>
          </a:p>
        </p:txBody>
      </p:sp>
      <p:sp>
        <p:nvSpPr>
          <p:cNvPr id="6" name="Rounded Rectangle 5"/>
          <p:cNvSpPr/>
          <p:nvPr/>
        </p:nvSpPr>
        <p:spPr>
          <a:xfrm>
            <a:off x="457200" y="1472184"/>
            <a:ext cx="11277295" cy="56692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18487"/>
            <a:ext cx="274320" cy="274320"/>
          </a:xfrm>
          <a:prstGeom prst="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18487"/>
            <a:ext cx="73152" cy="27432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563624"/>
            <a:ext cx="10362895" cy="402336"/>
          </a:xfrm>
          <a:prstGeom prst="rect">
            <a:avLst/>
          </a:prstGeom>
          <a:noFill/>
        </p:spPr>
        <p:txBody>
          <a:bodyPr wrap="square" anchor="ctr"/>
          <a:lstStyle/>
          <a:p>
            <a:r>
              <a:rPr sz="1500" b="1" i="0">
                <a:solidFill>
                  <a:srgbClr val="333333"/>
                </a:solidFill>
                <a:latin typeface="Calibri"/>
              </a:rPr>
              <a:t>LAS DOS ALTERNATIVAS</a:t>
            </a:r>
            <a:r>
              <a:rPr sz="1500" b="0" i="0">
                <a:solidFill>
                  <a:srgbClr val="333333"/>
                </a:solidFill>
                <a:latin typeface="Calibri"/>
              </a:rPr>
              <a:t> — Cada alternativa en </a:t>
            </a:r>
            <a:r>
              <a:rPr sz="1500" b="1" i="0">
                <a:solidFill>
                  <a:srgbClr val="333333"/>
                </a:solidFill>
                <a:latin typeface="Calibri"/>
              </a:rPr>
              <a:t>una frase</a:t>
            </a:r>
            <a:r>
              <a:rPr sz="1500" b="0" i="0">
                <a:solidFill>
                  <a:srgbClr val="333333"/>
                </a:solidFill>
                <a:latin typeface="Calibri"/>
              </a:rPr>
              <a:t>, sin adjetivos, diciendo qué hace y cómo resuelve la causa elegida en el árbol de la sesión 6.</a:t>
            </a:r>
          </a:p>
        </p:txBody>
      </p:sp>
      <p:sp>
        <p:nvSpPr>
          <p:cNvPr id="10" name="Rounded Rectangle 9"/>
          <p:cNvSpPr/>
          <p:nvPr/>
        </p:nvSpPr>
        <p:spPr>
          <a:xfrm>
            <a:off x="457200" y="2148839"/>
            <a:ext cx="11277295" cy="56692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295144"/>
            <a:ext cx="274320" cy="274320"/>
          </a:xfrm>
          <a:prstGeom prst="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295144"/>
            <a:ext cx="73152" cy="27432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240279"/>
            <a:ext cx="10362895" cy="402336"/>
          </a:xfrm>
          <a:prstGeom prst="rect">
            <a:avLst/>
          </a:prstGeom>
          <a:noFill/>
        </p:spPr>
        <p:txBody>
          <a:bodyPr wrap="square" anchor="ctr"/>
          <a:lstStyle/>
          <a:p>
            <a:r>
              <a:rPr sz="1500" b="1" i="0">
                <a:solidFill>
                  <a:srgbClr val="333333"/>
                </a:solidFill>
                <a:latin typeface="Calibri"/>
              </a:rPr>
              <a:t>LOS CRITERIOS Y SUS PESOS</a:t>
            </a:r>
            <a:r>
              <a:rPr sz="1500" b="0" i="0">
                <a:solidFill>
                  <a:srgbClr val="333333"/>
                </a:solidFill>
                <a:latin typeface="Calibri"/>
              </a:rPr>
              <a:t> — De 3 a 5 criterios sacados de sus </a:t>
            </a:r>
            <a:r>
              <a:rPr sz="1500" b="1" i="0">
                <a:solidFill>
                  <a:srgbClr val="333333"/>
                </a:solidFill>
                <a:latin typeface="Calibri"/>
              </a:rPr>
              <a:t>requisitos no funcionales y restricciones</a:t>
            </a:r>
            <a:r>
              <a:rPr sz="1500" b="0" i="0">
                <a:solidFill>
                  <a:srgbClr val="333333"/>
                </a:solidFill>
                <a:latin typeface="Calibri"/>
              </a:rPr>
              <a:t>, cada uno con un peso, </a:t>
            </a:r>
            <a:r>
              <a:rPr sz="1500" b="1" i="0">
                <a:solidFill>
                  <a:srgbClr val="333333"/>
                </a:solidFill>
                <a:latin typeface="Calibri"/>
              </a:rPr>
              <a:t>escritos antes de calificar</a:t>
            </a:r>
            <a:r>
              <a:rPr sz="1500" b="0" i="0">
                <a:solidFill>
                  <a:srgbClr val="333333"/>
                </a:solidFill>
                <a:latin typeface="Calibri"/>
              </a:rPr>
              <a:t>.</a:t>
            </a:r>
          </a:p>
        </p:txBody>
      </p:sp>
      <p:sp>
        <p:nvSpPr>
          <p:cNvPr id="14" name="Rounded Rectangle 13"/>
          <p:cNvSpPr/>
          <p:nvPr/>
        </p:nvSpPr>
        <p:spPr>
          <a:xfrm>
            <a:off x="457200" y="2825496"/>
            <a:ext cx="11277295" cy="56692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971800"/>
            <a:ext cx="274320" cy="274320"/>
          </a:xfrm>
          <a:prstGeom prst="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2971800"/>
            <a:ext cx="73152" cy="27432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2916936"/>
            <a:ext cx="10362895" cy="402336"/>
          </a:xfrm>
          <a:prstGeom prst="rect">
            <a:avLst/>
          </a:prstGeom>
          <a:noFill/>
        </p:spPr>
        <p:txBody>
          <a:bodyPr wrap="square" anchor="ctr"/>
          <a:lstStyle/>
          <a:p>
            <a:r>
              <a:rPr sz="1500" b="1" i="0">
                <a:solidFill>
                  <a:srgbClr val="333333"/>
                </a:solidFill>
                <a:latin typeface="Calibri"/>
              </a:rPr>
              <a:t>LA MATRIZ Y LA DECISIÓN</a:t>
            </a:r>
            <a:r>
              <a:rPr sz="1500" b="0" i="0">
                <a:solidFill>
                  <a:srgbClr val="333333"/>
                </a:solidFill>
                <a:latin typeface="Calibri"/>
              </a:rPr>
              <a:t> — Cada alternativa calificada criterio por criterio (escala 1-3) con </a:t>
            </a:r>
            <a:r>
              <a:rPr sz="1500" b="1" i="0">
                <a:solidFill>
                  <a:srgbClr val="333333"/>
                </a:solidFill>
                <a:latin typeface="Calibri"/>
              </a:rPr>
              <a:t>media línea de justificación por casilla</a:t>
            </a:r>
            <a:r>
              <a:rPr sz="1500" b="0" i="0">
                <a:solidFill>
                  <a:srgbClr val="333333"/>
                </a:solidFill>
                <a:latin typeface="Calibri"/>
              </a:rPr>
              <a:t>, el resultado, y la decisión.</a:t>
            </a:r>
          </a:p>
        </p:txBody>
      </p:sp>
      <p:sp>
        <p:nvSpPr>
          <p:cNvPr id="18" name="Rounded Rectangle 17"/>
          <p:cNvSpPr/>
          <p:nvPr/>
        </p:nvSpPr>
        <p:spPr>
          <a:xfrm>
            <a:off x="457200" y="3502152"/>
            <a:ext cx="11277295" cy="56692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648456"/>
            <a:ext cx="274320" cy="274320"/>
          </a:xfrm>
          <a:prstGeom prst="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648456"/>
            <a:ext cx="73152" cy="27432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3593592"/>
            <a:ext cx="10362895" cy="402336"/>
          </a:xfrm>
          <a:prstGeom prst="rect">
            <a:avLst/>
          </a:prstGeom>
          <a:noFill/>
        </p:spPr>
        <p:txBody>
          <a:bodyPr wrap="square" anchor="ctr"/>
          <a:lstStyle/>
          <a:p>
            <a:r>
              <a:rPr sz="1500" b="1" i="0">
                <a:solidFill>
                  <a:srgbClr val="333333"/>
                </a:solidFill>
                <a:latin typeface="Calibri"/>
              </a:rPr>
              <a:t>QUÉ SE PIERDE</a:t>
            </a:r>
            <a:r>
              <a:rPr sz="1500" b="0" i="0">
                <a:solidFill>
                  <a:srgbClr val="333333"/>
                </a:solidFill>
                <a:latin typeface="Calibri"/>
              </a:rPr>
              <a:t> — Lo que la decisión sacrifica, en dos o tres líneas. Toda decisión sacrifica algo.</a:t>
            </a:r>
          </a:p>
        </p:txBody>
      </p:sp>
      <p:sp>
        <p:nvSpPr>
          <p:cNvPr id="22" name="Rounded Rectangle 21"/>
          <p:cNvSpPr/>
          <p:nvPr/>
        </p:nvSpPr>
        <p:spPr>
          <a:xfrm>
            <a:off x="457200" y="4178808"/>
            <a:ext cx="11277295" cy="56692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4325112"/>
            <a:ext cx="274320" cy="274320"/>
          </a:xfrm>
          <a:prstGeom prst="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4325112"/>
            <a:ext cx="73152" cy="27432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270248"/>
            <a:ext cx="10362895" cy="402336"/>
          </a:xfrm>
          <a:prstGeom prst="rect">
            <a:avLst/>
          </a:prstGeom>
          <a:noFill/>
        </p:spPr>
        <p:txBody>
          <a:bodyPr wrap="square" anchor="ctr"/>
          <a:lstStyle/>
          <a:p>
            <a:r>
              <a:rPr sz="1500" b="1" i="0">
                <a:solidFill>
                  <a:srgbClr val="333333"/>
                </a:solidFill>
                <a:latin typeface="Calibri"/>
              </a:rPr>
              <a:t>ALCANCE MÍNIMO Y PLAN DE VALIDACIÓN</a:t>
            </a:r>
            <a:r>
              <a:rPr sz="1500" b="0" i="0">
                <a:solidFill>
                  <a:srgbClr val="333333"/>
                </a:solidFill>
                <a:latin typeface="Calibri"/>
              </a:rPr>
              <a:t> — Qué se construye este semestre (un requisito funcional completo, cumpliendo los no funcionales), la lista de lo que queda para «versión siguiente», y el plan de validación: </a:t>
            </a:r>
            <a:r>
              <a:rPr sz="1500" b="1" i="0">
                <a:solidFill>
                  <a:srgbClr val="333333"/>
                </a:solidFill>
                <a:latin typeface="Calibri"/>
              </a:rPr>
              <a:t>con quién</a:t>
            </a:r>
            <a:r>
              <a:rPr sz="1500" b="0" i="0">
                <a:solidFill>
                  <a:srgbClr val="333333"/>
                </a:solidFill>
                <a:latin typeface="Calibri"/>
              </a:rPr>
              <a:t> se prueba, </a:t>
            </a:r>
            <a:r>
              <a:rPr sz="1500" b="1" i="0">
                <a:solidFill>
                  <a:srgbClr val="333333"/>
                </a:solidFill>
                <a:latin typeface="Calibri"/>
              </a:rPr>
              <a:t>qué tareas</a:t>
            </a:r>
            <a:r>
              <a:rPr sz="1500" b="0" i="0">
                <a:solidFill>
                  <a:srgbClr val="333333"/>
                </a:solidFill>
                <a:latin typeface="Calibri"/>
              </a:rPr>
              <a:t> se le piden y </a:t>
            </a:r>
            <a:r>
              <a:rPr sz="1500" b="1" i="0">
                <a:solidFill>
                  <a:srgbClr val="333333"/>
                </a:solidFill>
                <a:latin typeface="Calibri"/>
              </a:rPr>
              <a:t>qué se observa</a:t>
            </a:r>
            <a:r>
              <a:rPr sz="1500" b="0" i="0">
                <a:solidFill>
                  <a:srgbClr val="333333"/>
                </a:solidFill>
                <a:latin typeface="Calibri"/>
              </a:rPr>
              <a:t>.</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Cómo se expone en 3 minutos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Habla el vocero con la pantalla ya compartida · cronómetro en pantalla · se corta al llegar a cero</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500" b="1" i="0">
                <a:solidFill>
                  <a:srgbClr val="095292"/>
                </a:solidFill>
                <a:latin typeface="Calibri"/>
              </a:rPr>
              <a:t>30 s · Las dos alternativas</a:t>
            </a:r>
          </a:p>
          <a:p>
            <a:pPr>
              <a:spcBef>
                <a:spcPts val="200"/>
              </a:spcBef>
            </a:pPr>
            <a:r>
              <a:rPr sz="1300" b="0" i="0">
                <a:solidFill>
                  <a:srgbClr val="333333"/>
                </a:solidFill>
                <a:latin typeface="Calibri"/>
              </a:rPr>
              <a:t>Una frase cada una. Sin adjetivos.</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500" b="1" i="0">
                <a:solidFill>
                  <a:srgbClr val="095292"/>
                </a:solidFill>
                <a:latin typeface="Calibri"/>
              </a:rPr>
              <a:t>40 s · Los criterios y los pesos</a:t>
            </a:r>
          </a:p>
          <a:p>
            <a:pPr>
              <a:spcBef>
                <a:spcPts val="200"/>
              </a:spcBef>
            </a:pPr>
            <a:r>
              <a:rPr sz="1300" b="0" i="0">
                <a:solidFill>
                  <a:srgbClr val="333333"/>
                </a:solidFill>
                <a:latin typeface="Calibri"/>
              </a:rPr>
              <a:t>De dónde salieron: qué restricción o requisito.</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500" b="1" i="0">
                <a:solidFill>
                  <a:srgbClr val="095292"/>
                </a:solidFill>
                <a:latin typeface="Calibri"/>
              </a:rPr>
              <a:t>40 s · La decisión</a:t>
            </a:r>
          </a:p>
          <a:p>
            <a:pPr>
              <a:spcBef>
                <a:spcPts val="200"/>
              </a:spcBef>
            </a:pPr>
            <a:r>
              <a:rPr sz="1300" b="0" i="0">
                <a:solidFill>
                  <a:srgbClr val="333333"/>
                </a:solidFill>
                <a:latin typeface="Calibri"/>
              </a:rPr>
              <a:t>Cuál ganó y por qué, con una justificación concreta.</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500" b="1" i="0">
                <a:solidFill>
                  <a:srgbClr val="095292"/>
                </a:solidFill>
                <a:latin typeface="Calibri"/>
              </a:rPr>
              <a:t>40 s · Qué se pierde</a:t>
            </a:r>
          </a:p>
          <a:p>
            <a:pPr>
              <a:spcBef>
                <a:spcPts val="200"/>
              </a:spcBef>
            </a:pPr>
            <a:r>
              <a:rPr sz="1300" b="0" i="0">
                <a:solidFill>
                  <a:srgbClr val="333333"/>
                </a:solidFill>
                <a:latin typeface="Calibri"/>
              </a:rPr>
              <a:t>Lo que sacrificaron. Es el minuto obligatorio.</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500" b="1" i="0">
                <a:solidFill>
                  <a:srgbClr val="095292"/>
                </a:solidFill>
                <a:latin typeface="Calibri"/>
              </a:rPr>
              <a:t>30 s · Alcance y validación</a:t>
            </a:r>
          </a:p>
          <a:p>
            <a:pPr>
              <a:spcBef>
                <a:spcPts val="200"/>
              </a:spcBef>
            </a:pPr>
            <a:r>
              <a:rPr sz="1300" b="0" i="0">
                <a:solidFill>
                  <a:srgbClr val="333333"/>
                </a:solidFill>
                <a:latin typeface="Calibri"/>
              </a:rPr>
              <a:t>Qué se construye y con quién se va a probar.</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Para la Clase 9</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Trabajo dirigido:</a:t>
            </a:r>
            <a:r>
              <a:rPr sz="2000" b="0" i="0">
                <a:solidFill>
                  <a:srgbClr val="333333"/>
                </a:solidFill>
                <a:latin typeface="Calibri"/>
              </a:rPr>
              <a:t> Discusión de ejemplos reales — buscar </a:t>
            </a:r>
            <a:r>
              <a:rPr sz="2000" b="1" i="0">
                <a:solidFill>
                  <a:srgbClr val="333333"/>
                </a:solidFill>
                <a:latin typeface="Calibri"/>
              </a:rPr>
              <a:t>un caso propio</a:t>
            </a:r>
            <a:r>
              <a:rPr sz="2000" b="0" i="0">
                <a:solidFill>
                  <a:srgbClr val="333333"/>
                </a:solidFill>
                <a:latin typeface="Calibri"/>
              </a:rPr>
              <a:t> de proyecto que falló por saltarse una fase, con fuente verificable, y decir qué fase fue.</a:t>
            </a:r>
          </a:p>
          <a:p>
            <a:pPr>
              <a:spcAft>
                <a:spcPts val="800"/>
              </a:spcAft>
            </a:pPr>
            <a:r>
              <a:rPr sz="2000" b="0" i="0">
                <a:solidFill>
                  <a:srgbClr val="333333"/>
                </a:solidFill>
                <a:latin typeface="Calibri"/>
              </a:rPr>
              <a:t>–   </a:t>
            </a:r>
            <a:r>
              <a:rPr sz="2000" b="1" i="0">
                <a:solidFill>
                  <a:srgbClr val="333333"/>
                </a:solidFill>
                <a:latin typeface="Calibri"/>
              </a:rPr>
              <a:t>Trabajo independiente:</a:t>
            </a:r>
            <a:r>
              <a:rPr sz="2000" b="0" i="0">
                <a:solidFill>
                  <a:srgbClr val="333333"/>
                </a:solidFill>
                <a:latin typeface="Calibri"/>
              </a:rPr>
              <a:t> Ajuste de propuestas de solución: dejar en el documento del equipo la alternativa elegida con su alcance mínimo y el flujo dibujado, ya corregido con lo que salió en las exposiciones.</a:t>
            </a:r>
          </a:p>
          <a:p>
            <a:pPr>
              <a:spcAft>
                <a:spcPts val="800"/>
              </a:spcAft>
            </a:pPr>
            <a:r>
              <a:rPr sz="2000" b="0" i="0">
                <a:solidFill>
                  <a:srgbClr val="333333"/>
                </a:solidFill>
                <a:latin typeface="Calibri"/>
              </a:rPr>
              <a:t>–   </a:t>
            </a:r>
            <a:r>
              <a:rPr sz="2000" b="1" i="0">
                <a:solidFill>
                  <a:srgbClr val="333333"/>
                </a:solidFill>
                <a:latin typeface="Calibri"/>
              </a:rPr>
              <a:t>Clase 9 · Estrategias de innovación en Ingeniería</a:t>
            </a:r>
            <a:r>
              <a:rPr sz="2000" b="0" i="0">
                <a:solidFill>
                  <a:srgbClr val="333333"/>
                </a:solidFill>
                <a:latin typeface="Calibri"/>
              </a:rPr>
              <a:t> — los </a:t>
            </a:r>
            <a:r>
              <a:rPr sz="2000" b="1" i="0">
                <a:solidFill>
                  <a:srgbClr val="333333"/>
                </a:solidFill>
                <a:latin typeface="Calibri"/>
              </a:rPr>
              <a:t>antecedentes</a:t>
            </a:r>
            <a:r>
              <a:rPr sz="2000" b="0" i="0">
                <a:solidFill>
                  <a:srgbClr val="333333"/>
                </a:solidFill>
                <a:latin typeface="Calibri"/>
              </a:rPr>
              <a:t>: qué ya existe, quién lo intentó y cómo se busca eso con fuentes que se puedan verificar. Una respuesta de asistente de IA no es una fuente.</a:t>
            </a:r>
          </a:p>
          <a:p>
            <a:pPr>
              <a:spcAft>
                <a:spcPts val="800"/>
              </a:spcAft>
            </a:pPr>
            <a:r>
              <a:rPr sz="2000" b="0" i="0">
                <a:solidFill>
                  <a:srgbClr val="333333"/>
                </a:solidFill>
                <a:latin typeface="Calibri"/>
              </a:rPr>
              <a:t>–   </a:t>
            </a:r>
            <a:r>
              <a:rPr sz="2000" b="1" i="0">
                <a:solidFill>
                  <a:srgbClr val="333333"/>
                </a:solidFill>
                <a:latin typeface="Calibri"/>
              </a:rPr>
              <a:t>Aviso:</a:t>
            </a:r>
            <a:r>
              <a:rPr sz="2000" b="0" i="0">
                <a:solidFill>
                  <a:srgbClr val="333333"/>
                </a:solidFill>
                <a:latin typeface="Calibri"/>
              </a:rPr>
              <a:t> Para la sesión 9 traigan la alternativa elegida escrita y el flujo dibujado. Se va a buscar qué soluciones parecidas ya existen, y sin la propia decisión clara no hay con qué comparar.</a:t>
            </a:r>
          </a:p>
          <a:p>
            <a:pPr>
              <a:spcAft>
                <a:spcPts val="800"/>
              </a:spcAft>
            </a:pPr>
            <a:r>
              <a:rPr sz="2000" b="0" i="0">
                <a:solidFill>
                  <a:srgbClr val="333333"/>
                </a:solidFill>
                <a:latin typeface="Calibri"/>
              </a:rPr>
              <a:t>–   </a:t>
            </a:r>
            <a:r>
              <a:rPr sz="2000" b="1" i="0">
                <a:solidFill>
                  <a:srgbClr val="333333"/>
                </a:solidFill>
                <a:latin typeface="Calibri"/>
              </a:rPr>
              <a:t>Antes de salir:</a:t>
            </a:r>
            <a:r>
              <a:rPr sz="2000" b="0" i="0">
                <a:solidFill>
                  <a:srgbClr val="333333"/>
                </a:solidFill>
                <a:latin typeface="Calibri"/>
              </a:rPr>
              <a:t> el enlace del documento del equipo en el chat, con permiso de lectura para el docente, y el nombre del vocero de hoy.</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Nos vemos en la sesión 9</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Taller de aplicación del ciclo de vida · Clase 8</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Decidir no es acertar: es poder defender lo que se eligió y lo que se perdió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