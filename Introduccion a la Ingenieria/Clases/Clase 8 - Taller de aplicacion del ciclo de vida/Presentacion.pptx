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Taller de aplicación del ciclo de vida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Cuatro proyectos que se saltaron una fase, y la decisión que ustedes toman hoy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Agenda de hoy (90 min)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Hoy el reparto cambia: la teoría baja a 20 min y la actividad sube a 40, porque decidir entre dos alternativas con argumentos no se hace en 17 minutos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386584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438625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563624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00:00–00:10 · 10 min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798064"/>
            <a:ext cx="2164019" cy="3099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Apertura — Pregunta de entrada en el muro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94084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12659" y="1563624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00:10–00:30 · 20 min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58379" y="2798064"/>
            <a:ext cx="2164019" cy="3099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Teoría y guía del docente — Cuatro casos reales, matriz de decisión y alcance mínimo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9543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68118" y="1563624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00:30–01:10 · 40 min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13838" y="2798064"/>
            <a:ext cx="2164019" cy="3099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Actividad en equipos — Taller extendido — decidir la alternativa y fijar el alcance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05002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23577" y="1563624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01:10–01:25 · 15 min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69297" y="2798064"/>
            <a:ext cx="2164019" cy="3099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Exposiciones — 5 equipos × 3 min — la decisión y por qué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460461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479036" y="1563624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01:25–01:30 · 5 min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524756" y="2798064"/>
            <a:ext cx="2164019" cy="3099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Cierre — Lo que queda amarrado para la sesión 9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580644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1">
                <a:solidFill>
                  <a:srgbClr val="666666"/>
                </a:solidFill>
                <a:latin typeface="Calibri"/>
              </a:rPr>
              <a:t>Esta es una sesión de taller, no de contenido nuevo.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La teoría se comprime a 20 minutos —cuatro casos y dos herramientas— y la actividad en equipos se extiende a 40, porque el entregable es una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decisión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: cuál de las dos alternativas de solución se construye, con qué alcance y cómo se va a validar. Es la fase de diseño empezando de verdad.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Objetivos de la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Identificar, en un caso real,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qué fase se saltó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y qué habría costado no saltarla.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Comparar dos alternativas de solución con una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matriz de criterios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y decidir con argumento.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Definir el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alcance mínimo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del proyecto: qué entra en el semestre y qué queda fuera.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Escribir el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plan de validación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cómo se va a saber que la solución sirve.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34295" y="320040"/>
            <a:ext cx="1645920" cy="71739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1280160"/>
            <a:ext cx="108200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269CCB"/>
                </a:solidFill>
                <a:latin typeface="Calibri"/>
              </a:rPr>
              <a:t>Pregunta de entrada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28800"/>
            <a:ext cx="1082009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Una empresa perdió cientos de millones de dólares en 45 minutos por un despliegue mal hecho. ¿En qué fase estaba el error?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14800"/>
            <a:ext cx="1054577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0" i="0">
                <a:solidFill>
                  <a:srgbClr val="269CCB"/>
                </a:solidFill>
                <a:latin typeface="Calibri"/>
              </a:rPr>
              <a:t>El código llevaba años ahí. Lo que falló fue el paso de una fase a la siguiente.</a:t>
            </a:r>
          </a:p>
          <a:p>
            <a:pPr algn="ctr">
              <a:spcAft>
                <a:spcPts val="600"/>
              </a:spcAft>
            </a:pPr>
            <a:r>
              <a:rPr sz="1500" b="0" i="0">
                <a:solidFill>
                  <a:srgbClr val="269CCB"/>
                </a:solidFill>
                <a:latin typeface="Calibri"/>
              </a:rPr>
              <a:t>Hoy se ven cuatro casos así, y después ustedes deciden su propia solución.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Cuatro proyectos que se saltaron una fase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216152"/>
          <a:ext cx="896112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3291840"/>
                <a:gridCol w="3657600"/>
              </a:tblGrid>
              <a:tr h="384048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Caso</a:t>
                      </a:r>
                    </a:p>
                  </a:txBody>
                  <a:tcPr>
                    <a:solidFill>
                      <a:srgbClr val="09529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Qué falló</a:t>
                      </a:r>
                    </a:p>
                  </a:txBody>
                  <a:tcPr>
                    <a:solidFill>
                      <a:srgbClr val="09529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La fase que se saltó</a:t>
                      </a:r>
                    </a:p>
                  </a:txBody>
                  <a:tcPr>
                    <a:solidFill>
                      <a:srgbClr val="09529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Sistema de equipajes de un aeropuerto grande
(años noventa)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Un sistema automatizado de manejo de maletas nunca funcionó como se prometió; retrasó la apertura del aeropuerto y años después se abandonó.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333333"/>
                          </a:solidFill>
                          <a:latin typeface="Calibri"/>
                        </a:rPr>
                        <a:t>Requisitos y diseño.</a:t>
                      </a:r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 Se contrató la construcción de algo de una escala sin precedentes con el plazo ya fijado y sin pruebas a escala real.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Sistema de expedientes de una agencia federal
(2000–2005)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Un sistema de gestión de casos se desarrolló durante años y se abandonó sin entrar en operación; hubo que empezar de nuevo con otro programa.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333333"/>
                          </a:solidFill>
                          <a:latin typeface="Calibri"/>
                        </a:rPr>
                        <a:t>Requisitos.</a:t>
                      </a:r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 Los requisitos cambiaban y no había una definición estable de qué debía hacer el sistema ni criterios para aceptarlo.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Portal público de salud en su lanzamiento
(2013)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El sitio se cayó el primer día y durante semanas casi nadie pudo completar el trámite, con una demanda de usuarios perfectamente previsible.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333333"/>
                          </a:solidFill>
                          <a:latin typeface="Calibri"/>
                        </a:rPr>
                        <a:t>Validación.</a:t>
                      </a:r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 Se lanzó sin pruebas de carga suficientes y sin un plan realista para el volumen esperado.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Firma financiera automatizada
(2012)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Un despliegue dejó una versión antigua activa en un servidor de los ocho; en unos 45 minutos las órdenes automáticas generaron pérdidas enormes.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333333"/>
                          </a:solidFill>
                          <a:latin typeface="Calibri"/>
                        </a:rPr>
                        <a:t>Operación (el despliegue).</a:t>
                      </a:r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 El código no era nuevo; falló el paso controlado de una fase a la siguiente y no había manera de frenar rápido.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3794760"/>
            <a:ext cx="112772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666666"/>
                </a:solidFill>
                <a:latin typeface="Calibri"/>
              </a:rPr>
              <a:t>Los cuatro son públicos y están documentados en informes oficiales y prensa especializada. </a:t>
            </a:r>
            <a:r>
              <a:rPr sz="1100" b="1" i="1">
                <a:solidFill>
                  <a:srgbClr val="666666"/>
                </a:solidFill>
                <a:latin typeface="Calibri"/>
              </a:rPr>
              <a:t>Cite la fuente y el año</a:t>
            </a:r>
            <a:r>
              <a:rPr sz="1100" b="0" i="1">
                <a:solidFill>
                  <a:srgbClr val="666666"/>
                </a:solidFill>
                <a:latin typeface="Calibri"/>
              </a:rPr>
              <a:t>: las cifras circulan con variaciones y no todas las versiones son iguales.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Cómo se decide entre dos alternativas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El resultado no es el número: es el argumento escrito. Una matriz sin justificaciones es un adorno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444752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679752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679752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1536192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1 · Escriba las dos, en una frase cada una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Sin adjetivos. Si una de las dos no se puede escribir en una frase, no está pensada.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445105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94360" y="2680106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2680106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2536545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2 · Elija de 3 a 5 criterios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Salen de sus requisitos no funcionales y de sus restricciones, no de lo que les gusta.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445459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94360" y="36804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6804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3536899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3 · Ponga peso a cada criterio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No todos valen igual. Los pesos se deciden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antes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 de mirar las alternativas: si no, se acomodan al favorito.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4445812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94360" y="4680813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4680813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4537252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4 · Califique cada alternativa, criterio por criterio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Con una escala corta (1-3). Y escriba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por qué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 ese número, en media línea.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5446166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594360" y="5681167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5681167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88720" y="5537606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5 · Decida, y escriba qué se pierde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Toda decisión sacrifica algo. Nombrar lo que se pierde es lo que la vuelve profesional.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Alcance mínimo: qué entra y qué no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5547207" cy="246430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5547207" cy="914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1792" y="1490472"/>
            <a:ext cx="5218023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Qué 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1947672"/>
            <a:ext cx="5218023" cy="15956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333333"/>
                </a:solidFill>
                <a:latin typeface="Calibri"/>
              </a:rPr>
              <a:t>La versión más pequeña de la solución que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ya resuelve algo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 del problema y se puede probar con un usuario real. No es una demo bonita: es algo que sirve, aunque sirva poco.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87287" y="1261872"/>
            <a:ext cx="5547207" cy="246430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187287" y="1261872"/>
            <a:ext cx="5547207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1879" y="1490472"/>
            <a:ext cx="5218023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Qué NO 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1879" y="1947672"/>
            <a:ext cx="5218023" cy="15956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333333"/>
                </a:solidFill>
                <a:latin typeface="Calibri"/>
              </a:rPr>
              <a:t>No es «la primera parte de todo lo que soñamos». Un alcance mínimo que no resuelve nada por sí solo no se puede probar, y entonces no sirve para aprender nada en la Clase 12.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890772"/>
            <a:ext cx="5547207" cy="246430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3890772"/>
            <a:ext cx="5547207" cy="9144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1792" y="4119372"/>
            <a:ext cx="5218023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Cómo se fija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" y="4576572"/>
            <a:ext cx="5218023" cy="15956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333333"/>
                </a:solidFill>
                <a:latin typeface="Calibri"/>
              </a:rPr>
              <a:t>Se toma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un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 requisito funcional —el que ataca la causa elegida— y se construye solo eso, cumpliendo los requisitos no funcionales. Los otros dos requisitos quedan escritos como «versión siguiente».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87287" y="3890772"/>
            <a:ext cx="5547207" cy="246430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87287" y="3890772"/>
            <a:ext cx="5547207" cy="914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51879" y="4119372"/>
            <a:ext cx="5218023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La lista de lo que queda fuera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51879" y="4576572"/>
            <a:ext cx="5218023" cy="15956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333333"/>
                </a:solidFill>
                <a:latin typeface="Calibri"/>
              </a:rPr>
              <a:t>Se escribe explícitamente y se muestra en la exposición final.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Un proyecto que no declara lo que dejó fuera parece incompleto; uno que lo declara parece dirigido.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plan de validación, y dos trampas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1" i="0">
                <a:solidFill>
                  <a:srgbClr val="333333"/>
                </a:solidFill>
                <a:latin typeface="Calibri"/>
              </a:rPr>
              <a:t>El plan de validación se escribe hoy, no al final.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Es tres cosas: con quién se prueba (una persona ajena al equipo), qué tareas se le piden (las de los criterios de aceptación de la sesión 7) y qué se va a observar. Escribirlo ahora obliga a que la solución sea probable, y eso cambia el diseño.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1" i="0">
                <a:solidFill>
                  <a:srgbClr val="333333"/>
                </a:solidFill>
                <a:latin typeface="Calibri"/>
              </a:rPr>
              <a:t>Trampa 1: probar con el propio equipo.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Quien construyó sabe dónde hay que tocar, así que todo le funciona. Una prueba con un integrante del equipo no prueba nada — es la versión de laboratorio del problema del Therac-25, donde el fabricante sostuvo que la falla era imposible.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1" i="0">
                <a:solidFill>
                  <a:srgbClr val="333333"/>
                </a:solidFill>
                <a:latin typeface="Calibri"/>
              </a:rPr>
              <a:t>Trampa 2: preguntar «¿le gusta?».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La gente dice que sí por cortesía. Se pide que </a:t>
            </a:r>
            <a:r>
              <a:rPr sz="1400" b="1" i="0">
                <a:solidFill>
                  <a:srgbClr val="333333"/>
                </a:solidFill>
                <a:latin typeface="Calibri"/>
              </a:rPr>
              <a:t>haga una tarea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y se observa en silencio: dónde duda, dónde se equivoca, qué busca y no encuentra. Lo que la persona hace vale; lo que opina, poco.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pregunta de entrada: 45 minutos y una fase saltada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caso de la firma financiera de 2012 es el mejor gancho posible para esta sesión porque desarma la idea de que los desastres los causa código malo.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pregunta del muro —«¿en qué fase estaba el error?»— va a producir respuestas que dicen «en la programación», y ahí está la lección: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el error no estaba en el código, estaba en la operación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 la fase que en la sesión 7 se nombró de pasada y que nadie enseña en primer semestre.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Sirve además para introducir una idea que vale para todo el semestre: cada transición entre fases es un lugar donde se rompen los proyectos, y por eso las fases tienen entregables.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Recomendación de manejo: no dé el nombre de la empresa en la apertura.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Los cuatro casos: qué contar y cómo exigir la fuente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tabla es densa a propósito: hoy la teoría son 20 minutos y el peso está en el taller.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El sistema de equipajes del aeropuerto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es el caso de requisitos y diseño.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lección: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el plazo se fijó antes de saber si era posible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, y ningún esfuerzo de construcción arregla eso.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El sistema de expedientes de la agencia federal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es el caso de requisitos puros: años de desarrollo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Requisitos que cambiaban permanentemente, ninguna definición estable de qué debía hacer el sistema, y un abandono sin haber entrado en operación.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 el ejemplo perfecto de que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sin criterios de aceptación no hay manera de terminar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un proyecto que no puede decir cuándo está listo, no está listo nunca.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El portal público de salud en su lanzamiento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es el caso de validación.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lección para sus proyectos: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probar que algo funciona con un usuario no es probar que funciona con muchos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Los cuatro casos: qué contar y cómo exigir la fuente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el volumen es un requisito no funcional que se valida aparte.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La firma financiera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es el caso de operación, y es el que rompe el prejuicio sobre el código.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Súmele el detalle que lo hace inolvidable: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el problema no fue escribir el software, fue instalarlo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, y no existía una forma rápida de detenerlo.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una exigencia metodológica que hay que repetir porque es la marca del curso: los cuatro casos son públicos y están documentados en informes oficiales y en prensa especializada, pero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las cifras circulan con variaciones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Quien cite un monto o una fecha en la exposición tiene que decir de dónde salió y de qué año 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 la misma regla de la sesión 5 con las cifras ambientales y de la sesión 4 con los numerales.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matriz de decisión: cómo se decide sin que la decisión ya estuviera tomada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matriz de decisión es una herramienta simple con una trampa sutil, y enseñar la trampa es más valioso que enseñar la herramienta.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Los cinco pasos son: escribir las dos alternativas en una frase cada una; elegir de tres a cinco criterios; ponerle peso a cada criterio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Calificar cada alternativa criterio por criterio con una escala corta y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una media línea de justificación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; y decidir, escribiendo qué se pierde. **La trampa está en el paso 3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hay que decirla explícitamente: los pesos se deciden antes de mirar las alternativas.** Si se deciden después, el equipo —sin mala intención— acomoda los pesos para que gane la alternativa que ya quería.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 el sesgo más común en decisiones de ingeniería y produce documentos que parecen análisis y son justificaciones.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matriz de decisión: cómo se decide sin que la decisión ya estuviera tomada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regla práctica en la sala: primero se escriben los criterios y los pesos en el documento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solo después se califica.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Los criterios no son gustos: salen de los requisitos no funcionales y de las restricciones.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Para el caso de la biblioteca: funciona sin computador en el mostrador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 aprende sin manual, se puede construir en las sesiones que quedan, cumple el requisito de datos ligeros, no exige que alguien atienda en horario fijo.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un equipo pone «lo que más nos gusta» o «lo más innovador» como criterio, hay que reemplazarlo: no se puede calificar y no se puede defender.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el paso 5 es el que separa una decisión profesional de una preferencia: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toda decisión sacrifica algo, y nombrarlo es lo que la vuelve defendible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Alcance mínimo y plan de validación: el entregable del taller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El alcance mínimo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es el concepto que salva los proyectos de primer semestre, y hay que definirlo con precisión porque se confunde con «hacer poco».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 la versión más pequeña de la solución que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ya resuelve algo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del problema y se puede probar con un usuario real.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prueba para saber si está bien definido: *si construimos solo esto y lo ponemos delante de la persona que vive el problema, ¿le sirve de algo?* Si la respuesta es no, no es un alcance mínimo, es un pedazo.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método concreto que hay que dictarles: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se toma un requisito funcional —el que ataca la causa elegida en el árbol de la sesión 6— y se construye solo eso, cumpliendo los requisitos no funcionales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Alcance mínimo y plan de validación: el entregable del taller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Los otros dos requisitos se escriben en una lista titulada «versión siguiente».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Son tres cosas: con quién se prueba —una persona ajena al equipo—, qué tareas se le piden —las de los criterios de aceptación de la sesión 7—, y qué se va a observar.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Las dos trampas hay que nombrarlas con dureza porque las van a cometer todas.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Probar con el propio equipo no prueba nada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quien construyó sabe dónde hay que tocar.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preguntar «¿le gusta?» no sirve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la gente dice que sí por cortesía, sobre todo a estudiantes que le muestran su trabajo con ilusión.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Plantilla del entregable: los 5 bloques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# Decisión de la solución y alcance mínimo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# Documento del equipo · un bloque por titulo, sin cambiar los nombres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## 1. LAS DOS ALTERNATIVAS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## 2. LOS CRITERIOS Y SUS PESOS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## 3. LA MATRIZ Y LA DECISIÓN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## 4. QUÉ SE PIERDE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## 5. ALCANCE MÍNIMO Y PLAN DE VALIDACIÓN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# Los titulos van TAL CUAL: son con los que se califica.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Guion de la exposicion, con tiempos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# Exposicion de hoy · lo que se califica es el reparto, no el total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30 s · Las dos alternativas        Una frase cada una. Sin adjetivos.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40 s · Los criterios y los pesos   De dónde salieron: qué restricción o requisi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40 s · La decisión                 Cuál ganó y por qué, con una justificación c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40 s · Qué se pierde               Lo que sacrificaron. Es el minuto obligatori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30 s · Alcance y validación        Qué se construye y con quién se va a probar.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# El tramo marcado como obligatorio es el que el jurado califica: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# si el guion no esta cronometrado, es el que se queda sin tiempo.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de hoy: Decisión de la solución y alcance mínimo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40 min en equipos · 40 min con ritmo interno: alternativas, matriz, alcance, validación · matriz de decisión + alcance mínimo + plan de validación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472184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618487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618487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563624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LAS DOS ALTERNATIVAS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Cada alternativa en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una frase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, sin adjetivos, diciendo qué hace y cómo resuelve la causa elegida en el árbol de la sesión 6.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148839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295144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2295144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2240279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LOS CRITERIOS Y SUS PESOS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De 3 a 5 criterios sacados de sus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requisitos no funcionales y restricciones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, cada uno con un peso,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escritos antes de calificar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2825496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971800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2971800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2916936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LA MATRIZ Y LA DECISIÓN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Cada alternativa calificada criterio por criterio (escala 1-3) con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media línea de justificación por casilla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, el resultado, y la decisión.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50215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" y="3648456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0080" y="3648456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97280" y="359359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QUÉ SE PIERDE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Lo que la decisión sacrifica, en dos o tres líneas. Toda decisión sacrifica algo.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4178808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40080" y="4325112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40080" y="4325112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97280" y="4270248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ALCANCE MÍNIMO Y PLAN DE VALIDACIÓN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Qué se construye este semestre (un requisito funcional completo, cumpliendo los no funcionales), la lista de lo que queda para «versión siguiente», y el plan de validación: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con quién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se prueba,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qué tareas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se le piden y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qué se observa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Cómo se expone en 3 minutos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Habla el vocero con la pantalla ya compartida · cronómetro en pantalla · se corta al llegar a cero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444752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679752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679752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1536192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30 s · Las dos alternativas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Una frase cada una. Sin adjetivos.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445105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94360" y="2680106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2680106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2536545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40 s · Los criterios y los pesos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De dónde salieron: qué restricción o requisito.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445459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94360" y="36804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6804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3536899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40 s · La decisión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Cuál ganó y por qué, con una justificación concreta.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4445812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94360" y="4680813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4680813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4537252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40 s · Qué se pierde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Lo que sacrificaron. Es el minuto obligatorio.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5446166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594360" y="5681167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5681167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88720" y="5537606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30 s · Alcance y validación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Qué se construye y con quién se va a probar.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la Clase 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Trabajo dirigido: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Discusión de ejemplos reales — buscar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un caso propio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de proyecto que falló por saltarse una fase, con fuente verificable, y decir qué fase fue.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Trabajo independiente: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Ajuste de propuestas de solución: dejar en el documento del equipo la alternativa elegida con su alcance mínimo y el flujo dibujado, ya corregido con lo que salió en las exposiciones.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Clase 9 · Estrategias de innovación en Ingeniería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— los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antecedentes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qué ya existe, quién lo intentó y cómo se busca eso con fuentes que se puedan verificar. Una respuesta de asistente de IA no es una fuente.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Aviso: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Para la sesión 9 traigan la alternativa elegida escrita y el flujo dibujado. Se va a buscar qué soluciones parecidas ya existen, y sin la propia decisión clara no hay con qué comparar.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Antes de salir: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el enlace del documento del equipo en el chat, con permiso de lectura para el docente, y el nombre del vocero de hoy.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Nos vemos en la sesión 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Taller de aplicación del ciclo de vida · Clase 8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FI300101 · UNIAJC · Ingeniería de Sistemas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Decidir no es acertar: es poder defender lo que se eligió y lo que se perdió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