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Introducción a la Ingeniería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Fundamentos de la Ingeniería de Sistemas · Proyecto de curso (ABPr)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SB141B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14:30 – 16:00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(90 min) · Inicio efectivo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14:40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sincrónica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Google Meet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Actividades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plataformas gratuitas en la nube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14:40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 · 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3666744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Fundamentos, principios y contexto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curso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responde una pregunta concreta: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hace un ingeniero de sistemas y para qué sirve lo que hace?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programa todavía. Se aprende 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mirar 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decidir si la ingeniería puede mejorarlo, a qué costo y con qué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Reconocer los fundamentos y campos de acción de la Ingeniería de Sistemas para comprender su impacto social, ambiental y tecnológico, favoreciendo el desarrollo de soluciones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Créditos: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Tipo: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Teórica / Práctica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Habilitable: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RAP del programa: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Desarrolla soluciones de software para necesidades tecnológicas mediante el uso eficiente de recursos y adaptación responsable al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Identifica los principios y campos de aplicación de la Ingeniería de Sistemas.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Analiza problemas tecnológicos básicos considerando el contexto social y ambiental.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Propone ideas iniciales de proyectos de ingeniería con criterios éticos y sostenibles.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demuestran: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con un examen final, sino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se construye desde la sesión 6 y se expone en la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Así es cada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Las 16 sesiones tienen la misma estructura. La conocen desde hoy para que nadie llegue a los 45 min pensando que todavía hay tiempo.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14:30–14:40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se conectan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14:40–15:25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Teoría y guía del docente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Teoría por pantalla compartida, preguntas por chat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15:25–15:42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 en equipos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Cinco salas de grupo en Meet, el docente rota por todas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15:42–15:57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 con pantalla compartida y cronómetro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15:57–16:00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los enlaces en el 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Jueves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14:30 – 16:00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inicio efectivo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14:40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reloj de la sesión, al detalle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99669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011680"/>
                <a:gridCol w="56692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Reloj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pasa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14:30 – 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Apertura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Se espera a que los estudiantes se conecten. No es tiempo muerto: en pantalla compartida queda la pregunta de entrada de la sesión y quien va entrando la responde en el muro del curso. Se pide cámara encendida solo durante el saludo y en la exposición del equipo.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14:40 – 15:25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Teoría y guía del docente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Bloque teórico completo de la sesión, dictado con el guion docente y sus diapositivas por pantalla compartida. Las preguntas van por chat y se responden en voz alta. Cierra enunciando la consigna de la actividad y abriendo las salas de grupo.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15:25 – 15:42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17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Actividad en equipos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Los 5 equipos pasan a sus salas de grupo de Meet y trabajan en paralelo sobre la misma consigna, cada uno en su documento en la nube. El docente entra y sale de las cinco salas (unos 3 min en cada una). A los 15 min se avisa por el chat general y se cierran las salas.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15:42 – 15:57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Exposiciones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Vuelven todos a la sala principal y los 5 equipos exponen: 3 min por equipo, cronómetro proyectado, el vocero comparte pantalla con el documento YA abierto. No hay turno de preguntas por equipo; la retroalimentación va en el cierre.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15:57 – 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3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Una idea que se llevan, el trabajo independiente de la semana y el tema de la siguiente sesión. Antes de salir, el enlace del documento de cada equipo queda pegado en el chat.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La clase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arranca a las 14:40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, diez minutos después de la hora oficial, para esperar a quien todavía se está conectando. Esos diez minutos ya cuentan: la pregunta de entrada queda en pantalla compartida y se responde en el muro.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 · y por qué son exactamente cinco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son los equipos: 5.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que cambia con la cantidad de matriculados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cuánta gente hay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 equipos × 3 min = 15 min de exposiciones.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presupuesto es el que no se puede estirar: la sesión cierra a los 90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lo fijo fuera el tamaño («de 4 en 4»), un grupo de 35 daría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 equipos = 27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no alcanzaría el bloque. Por eso se fija el número,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matriculados, equipos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El tiempo de exposición es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equipos son estables todo el semestre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proyecto es del equipo), pero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rota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sesión: al final del curso todos han expuesto.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Todos los equipos exponen todas las sesiones.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hay sesión en la que a un equipo «no le toque».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Dónde se trabaja: plataformas gratuitas en la nube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Todas gratis de verdad y desde el navegador · ninguna pide tarjeta de crédito · ninguna hay que instalar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1061" y="1847087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1061" y="1847087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GM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Meet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El aula: sesión sincrónica, salas de grupo para la actividad y exposiciones con pantalla compartida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26815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26815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26815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677" y="1847087"/>
            <a:ext cx="1220724" cy="1220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9967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Drive (Docs y Slides)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Bitácora del equipo y soporte de la exposición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d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0293" y="1847087"/>
            <a:ext cx="1220724" cy="12207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69583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Muro de la sesión: pregunta de entrada de los 10 min de apertura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047" y="1591056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66047" y="1591056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6047" y="1655064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9909" y="1847087"/>
            <a:ext cx="1220724" cy="12207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39199" y="3159251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diagrams.net (draw.io)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Línea de tiempo (sesión 2), ciclo de vida (sesiones 7 y 8), diagramas del proyecto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007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92007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92007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excalidr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869" y="4311396"/>
            <a:ext cx="1220724" cy="12207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965159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rápidos de los 17 min de actividad, en la sala de grupo del equipo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61623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61623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761623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485485" y="4311396"/>
            <a:ext cx="1220724" cy="1220724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5485" y="4311396"/>
            <a:ext cx="1220724" cy="12207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095292"/>
                </a:solidFill>
                <a:latin typeface="Calibri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4775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Canva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Infografía (sesión 7) y póster del proyecto final (sesiones 14 y 15)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31239" y="4055364"/>
            <a:ext cx="2668447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31239" y="4055364"/>
            <a:ext cx="2668447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631239" y="4119372"/>
            <a:ext cx="2668447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examl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5101" y="4311396"/>
            <a:ext cx="1220724" cy="122072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704391" y="5623560"/>
            <a:ext cx="2522143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Diagnóstico de la sesión 1, comprobaciones rápidas de lectura y las dos evaluaciones de corte escritas (sesiones 6 y 11)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reglas de las plataformas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Aplican a las 16 sesiones · se recuerdan solo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Gratis permanente, no «prueba de 14 días».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deja de funcionar antes de diciembre, no sirve para este curso.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Nunca se pide tarjeta de crédito.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una herramienta la pide, no la usamos.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Todo desde el navegador.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Nada que instalar: computador, sala de la universidad o celular.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enlace por equipo en el chat, ANTES de exponer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permiso de lectura para el docente.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Sin datos personales de terceros.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el caso los trae, se anonimizan.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55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01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001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46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trabajo vive en la nube.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 se te cae la conexión, tu equipo sigue y no se pierde nada.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03/09 – 08/10/2026 · sesiones 1-6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6)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15/10 – 12/11/2026 · sesiones 7-11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Evaluación de corte (sesión 11)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Exposiciones de equipo y actividades en clase · 12%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8%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19/11 – 17/12/2026 · sesiones 12-16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Exposición final del proyecto (sesión 15)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Informe final del proyecto (sesión 16)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y participación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Cada corte cierra en la sesión 6 / 11 / 16 (08/10/2026 / 12/11/2026 / 17/12/2026). La evaluación es </a:t>
            </a:r>
            <a:r>
              <a:rPr sz="1050" b="1" i="1">
                <a:solidFill>
                  <a:srgbClr val="666666"/>
                </a:solidFill>
                <a:latin typeface="Calibri"/>
              </a:rPr>
              <a:t>formativa y continua</a:t>
            </a:r>
            <a:r>
              <a:rPr sz="1050" b="0" i="1">
                <a:solidFill>
                  <a:srgbClr val="666666"/>
                </a:solidFill>
                <a:latin typeface="Calibri"/>
              </a:rPr>
              <a:t>: lo que más pesa es lo que se hace en clase cada semana, no un único examen. Ningún cierre de corte cae en festivo.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Sesión 0 +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16 sesiones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de 90 min · Jueves · 03/09/2026 a 17/12/2026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curso: encuadre, evaluación, equipos y plataformas (03/09) · mismo bloque de la Sesión 1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del curso y diagnóstico inicial (03/09)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Historia y evolución de la Ingeniería (10/09)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Fundamentos básicos de la Ingeniería de Sistemas (17/09)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Principios éticos en la Ingeniería (24/09)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El rol del ingeniero en el contexto ambiental (01/10)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Análisis de problemas tecnológicos del entorno (08/10) · cierra Corte 1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Ciclo de vida de los proyectos de ingeniería (15/10)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aplicación del ciclo de vida (22/10)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Estrategias de innovación en Ingeniería (29/10)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Herramientas digitales aplicadas a la Ingeniería (05/11)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Taller de prototipado inicial con IA (12/11) · cierra Corte 2 (30%)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Presentación de avances de proyectos (19/11)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Evaluación de impacto social y ambiental (26/11)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14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Preparación de la presentación final (03/12)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15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Exposición final de proyectos (10/12)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333333"/>
                </a:solidFill>
                <a:latin typeface="Calibri"/>
              </a:rPr>
              <a:t>Sesión 16 –</a:t>
            </a:r>
            <a:r>
              <a:rPr sz="1100" b="0" i="0">
                <a:solidFill>
                  <a:srgbClr val="333333"/>
                </a:solidFill>
                <a:latin typeface="Calibri"/>
              </a:rPr>
              <a:t> Socialización y evaluación final del curso (17/12) · cierra Corte 3 (40%)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Introducción a la Ingeniería ·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FI300101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SB141B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14:30 – 16:00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inicio efectivo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14:40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Periodo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 · Virtual sincrónica por Google Meet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