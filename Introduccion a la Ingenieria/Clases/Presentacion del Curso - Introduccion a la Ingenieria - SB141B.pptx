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77295" cy="1463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Introducción a la Ingeniería</a:t>
            </a:r>
          </a:p>
          <a:p>
            <a:pPr algn="ctr">
              <a:spcBef>
                <a:spcPts val="1000"/>
              </a:spcBef>
            </a:pPr>
            <a:r>
              <a:rPr sz="1800" b="0" i="0">
                <a:solidFill>
                  <a:srgbClr val="B8D8EE"/>
                </a:solidFill>
                <a:latin typeface="Calibri"/>
              </a:rPr>
              <a:t>Fundamentos de la Ingeniería de Sistemas · Proyecto de curso (ABPr)</a:t>
            </a:r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20040"/>
            <a:ext cx="1920240" cy="836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337560"/>
            <a:ext cx="11277295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Código: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FI300101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Grupo: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SB141B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Periodo: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2026-2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Programa: Ingeniería de Sistemas · Facultad de Ingeniería · UNIAJC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Horario: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Jueves 14:30 – 16:00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(90 min) · Inicio efectivo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14:40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Modalidad: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Virtual sincrónica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por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Google Meet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Actividades en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plataformas gratuitas en la nube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Docente: Julian Andres Castaño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199632"/>
            <a:ext cx="11277295" cy="18288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291072"/>
            <a:ext cx="11277295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0" i="0">
                <a:solidFill>
                  <a:srgbClr val="095292"/>
                </a:solidFill>
                <a:latin typeface="Calibri"/>
              </a:rPr>
              <a:t>Inicio de clase: </a:t>
            </a:r>
            <a:r>
              <a:rPr sz="1600" b="1" i="0">
                <a:solidFill>
                  <a:srgbClr val="095292"/>
                </a:solidFill>
                <a:latin typeface="Calibri"/>
              </a:rPr>
              <a:t>14:40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Julian Andres Castaño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2057400"/>
            <a:ext cx="9174175" cy="1472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Ingeniero de Sistemas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Líder Técnico · Speaker Tecnológico</a:t>
            </a:r>
          </a:p>
        </p:txBody>
      </p:sp>
      <p:pic>
        <p:nvPicPr>
          <p:cNvPr id="6" name="Picture 5" descr="outlook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366674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063239" y="3648456"/>
            <a:ext cx="8671255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600" b="1" i="0">
                <a:solidFill>
                  <a:srgbClr val="0D7A8C"/>
                </a:solidFill>
                <a:latin typeface="Calibri"/>
              </a:rPr>
              <a:t>julianacastano@profesores.uniajc.edu.co</a:t>
            </a:r>
          </a:p>
        </p:txBody>
      </p:sp>
      <p:pic>
        <p:nvPicPr>
          <p:cNvPr id="8" name="Picture 7" descr="logo_uniajc_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879592"/>
            <a:ext cx="1645920" cy="72363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Rompe-hielo · Padlet del grupo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6583680" cy="416052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28016" cy="41605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20"/>
            <a:ext cx="6080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Escanea el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o abre el enlace del tablero colaborativo.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Deja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 nota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cada columna: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¿Quién soy? (nombre + una habilidad o hobby)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Expectativa del curso (1 frase)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Pregunta al docente / al grupo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–   5–8 min · sin instalar · solo navegador.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Enlace: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https://padlet.com/andres_dfx/uniaj-l77e9uu16trgdvcp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69480" y="1234440"/>
            <a:ext cx="4465015" cy="41605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qr_padlet_uniaj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1787" y="1554480"/>
            <a:ext cx="3200400" cy="3200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60920" y="4937760"/>
            <a:ext cx="42821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666666"/>
                </a:solidFill>
                <a:latin typeface="Calibri"/>
              </a:rPr>
              <a:t>QR oficial Padlet UNIAJC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¿Para qué existe este curso?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Objeto de estudio: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Fundamentos, principios y contexto de la Ingeniería de Sistemas.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el curso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primer semestre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que responde una pregunta concreta: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¿qué hace un ingeniero de sistemas y para qué sirve lo que hace?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se programa todavía. Se aprende 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mirar un problema del entorno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decidir si la ingeniería puede mejorarlo, a qué costo y con qué consecuencias.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Reconocer los fundamentos y campos de acción de la Ingeniería de Sistemas para comprender su impacto social, ambiental y tecnológico, favoreciendo el desarrollo de soluciones sostenibles.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Créditos: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Tipo: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Teórica / Práctica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Habilitable: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Resultados de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RAP del programa: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Desarrolla soluciones de software para necesidades tecnológicas mediante el uso eficiente de recursos y adaptación responsable al entorno.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RAA1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Identifica los principios y campos de aplicación de la Ingeniería de Sistemas.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RAA2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Analiza problemas tecnológicos básicos considerando el contexto social y ambiental.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RAA3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Propone ideas iniciales de proyectos de ingeniería con criterios éticos y sostenibles.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Cómo se demuestran: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no con un examen final, sino con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proyecto del equipo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que se construye desde la sesión 6 y se expone en la 15.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Así es cada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Las 16 sesiones tienen la misma estructura. La conocen desde hoy para que nadie llegue a los 45 min pensando que todavía hay tiempo.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6584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38625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14:30–14:40 · 10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Apertura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— Pregunta de entrada en el muro mientras se conectan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94084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12659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14:40–15:25 · 45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58379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Teoría y guía del docente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— Teoría por pantalla compartida, preguntas por chat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9543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8118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15:25–15:42 · 17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3838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Actividad en equipos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— Cinco salas de grupo en Meet, el docente rota por todas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05002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577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15:42–15:57 · 15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297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Exposiciones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— 5 equipos × 3 min con pantalla compartida y cronómetro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60461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79036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15:57–16:00 · 3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24756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Cierre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— Una idea, la tarea y los enlaces en el chat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90 min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· Jueves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14:30 – 16:00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· inicio efectivo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14:40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reloj de la sesión, al detalle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996696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914400"/>
                <a:gridCol w="2011680"/>
                <a:gridCol w="566928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Reloj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Duración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Bloque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Qué pasa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14:30 – 14:40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Apertura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Se espera a que los estudiantes se conecten. No es tiempo muerto: en pantalla compartida queda la pregunta de entrada de la sesión y quien va entrando la responde en el muro del curso. Se pide cámara encendida solo durante el saludo y en la exposición del equipo.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14:40 – 15:25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45 min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Teoría y guía del docente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Bloque teórico completo de la sesión, dictado con el guion docente y sus diapositivas por pantalla compartida. Las preguntas van por chat y se responden en voz alta. Cierra enunciando la consigna de la actividad y abriendo las salas de grupo.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15:25 – 15:42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17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Actividad en equipos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Los 5 equipos pasan a sus salas de grupo de Meet y trabajan en paralelo sobre la misma consigna, cada uno en su documento en la nube. El docente entra y sale de las cinco salas (unos 3 min en cada una). A los 15 min se avisa por el chat general y se cierran las salas.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15:42 – 15:57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15 min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Exposiciones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Vuelven todos a la sala principal y los 5 equipos exponen: 3 min por equipo, cronómetro proyectado, el vocero comparte pantalla con el documento YA abierto. No hay turno de preguntas por equipo; la retroalimentación va en el cierre.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15:57 – 16:00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3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Cierre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Una idea que se llevan, el trabajo independiente de la semana y el tema de la siguiente sesión. Antes de salir, el enlace del documento de cada equipo queda pegado en el chat.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29768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La clase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arranca a las 14:40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, diez minutos después de la hora oficial, para esperar a quien todavía se está conectando. Esos diez minutos ya cuentan: la pregunta de entrada queda en pantalla compartida y se responde en el muro.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Cinco equipos · y por qué son exactamente cinco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Lo fijo son los equipos: 5.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Lo que cambia con la cantidad de matriculados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cuánta gente hay en cada uno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5 equipos × 3 min = 15 min de exposiciones.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Ese presupuesto es el que no se puede estirar: la sesión cierra a los 90 min.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lo fijo fuera el tamaño («de 4 en 4»), un grupo de 35 daría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9 equipos = 27 min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no alcanzaría el bloque. Por eso se fija el número, no el tamaño.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matriculados, equipos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;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;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30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6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;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35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7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El tiempo de exposición es el mismo.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Los equipos son estables todo el semestre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(el proyecto es del equipo), pero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vocero rota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cada sesión: al final del curso todos han expuesto.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Todos los equipos exponen todas las sesiones.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No hay sesión en la que a un equipo «no le toque».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Dónde se trabaja: plataformas gratuitas en la nube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Todas gratis de verdad y desde el navegador · ninguna pide tarjeta de crédito · ninguna hay que instalar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2668447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2668447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2668447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181061" y="1847087"/>
            <a:ext cx="1220724" cy="1220724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1061" y="1847087"/>
            <a:ext cx="1220724" cy="12207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095292"/>
                </a:solidFill>
                <a:latin typeface="Calibri"/>
              </a:rPr>
              <a:t>GM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3159251"/>
            <a:ext cx="2522143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Meet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El aula: sesión sincrónica, salas de grupo para la actividad y exposiciones con pantalla compartida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26815" y="1591056"/>
            <a:ext cx="2668447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26815" y="1591056"/>
            <a:ext cx="2668447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26815" y="1655064"/>
            <a:ext cx="2668447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google_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0677" y="1847087"/>
            <a:ext cx="1220724" cy="122072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399967" y="3159251"/>
            <a:ext cx="2522143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Drive (Docs y Slides)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Bitácora del equipo y soporte de la exposición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6431" y="1591056"/>
            <a:ext cx="2668447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6431" y="1591056"/>
            <a:ext cx="2668447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96431" y="1655064"/>
            <a:ext cx="2668447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padl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0293" y="1847087"/>
            <a:ext cx="1220724" cy="122072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269583" y="3159251"/>
            <a:ext cx="2522143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Padlet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Muro de la sesión: pregunta de entrada de los 10 min de apertura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66047" y="1591056"/>
            <a:ext cx="2668447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66047" y="1591056"/>
            <a:ext cx="2668447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066047" y="1655064"/>
            <a:ext cx="2668447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drawi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89909" y="1847087"/>
            <a:ext cx="1220724" cy="122072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9139199" y="3159251"/>
            <a:ext cx="2522143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diagrams.net (draw.io)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Línea de tiempo (sesión 2), ciclo de vida (sesiones 7 y 8), diagramas del proyecto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892007" y="4055364"/>
            <a:ext cx="2668447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892007" y="4055364"/>
            <a:ext cx="2668447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892007" y="4119372"/>
            <a:ext cx="2668447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excalidra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15869" y="4311396"/>
            <a:ext cx="1220724" cy="1220724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965159" y="5623560"/>
            <a:ext cx="2522143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Excalidraw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Bocetos rápidos de los 17 min de actividad, en la sala de grupo del equipo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61623" y="4055364"/>
            <a:ext cx="2668447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761623" y="4055364"/>
            <a:ext cx="2668447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761623" y="4119372"/>
            <a:ext cx="2668447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485485" y="4311396"/>
            <a:ext cx="1220724" cy="1220724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5485" y="4311396"/>
            <a:ext cx="1220724" cy="12207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095292"/>
                </a:solidFill>
                <a:latin typeface="Calibri"/>
              </a:rPr>
              <a:t>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34775" y="5623560"/>
            <a:ext cx="2522143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Canva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Infografía (sesión 7) y póster del proyecto final (sesiones 14 y 15)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631239" y="4055364"/>
            <a:ext cx="2668447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631239" y="4055364"/>
            <a:ext cx="2668447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631239" y="4119372"/>
            <a:ext cx="2668447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examla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55101" y="4311396"/>
            <a:ext cx="1220724" cy="1220724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7704391" y="5623560"/>
            <a:ext cx="2522143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Entrega del taller de equipo de las 16 sesiones (5 preguntas, 100 puntos), el diagnóstico de la sesión 1 y las dos evaluaciones de corte escritas (sesiones 6 y 11)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reglas de las plataformas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Aplican a las 16 sesiones · se recuerdan solo hoy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18487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18487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63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Gratis permanente, no «prueba de 14 días».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Si deja de funcionar antes de diciembre, no sirve para este curso.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48839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95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295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240279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Nunca se pide tarjeta de crédito.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Si una herramienta la pide, no la usamos.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25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971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971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16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Todo desde el navegador.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Nada que instalar: computador, sala de la universidad o celular.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02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648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593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Un enlace por equipo en el chat, ANTES de exponer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con permiso de lectura para el docente.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78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325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325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270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Sin datos personales de terceros.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Si el caso los trae, se anonimizan.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85546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500176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" y="500176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97280" y="494690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trabajo vive en la nube.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Si se te cae la conexión, tu equipo sigue y no se pierde nada.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Sistema de evaluación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3545738" cy="5029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Corte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269CCB"/>
                </a:solidFill>
                <a:latin typeface="Calibri"/>
              </a:rPr>
              <a:t>30%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03/09 – 08/10/2026 · sesiones 1-6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Evaluación de corte (sesión 6)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Exposiciones de equipo y actividades en clase · 12%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y participación · 8%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2978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2978" y="1261872"/>
            <a:ext cx="3545738" cy="50292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60138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Corte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0138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D000"/>
                </a:solidFill>
                <a:latin typeface="Calibri"/>
              </a:rPr>
              <a:t>30%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0138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15/10 – 12/11/2026 · sesiones 7-11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60138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Evaluación de corte (sesión 11)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Exposiciones de equipo y actividades en clase · 12%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y participación · 8%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8756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88756" y="1261872"/>
            <a:ext cx="3545738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5916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Corte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5916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095292"/>
                </a:solidFill>
                <a:latin typeface="Calibri"/>
              </a:rPr>
              <a:t>40%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5916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19/11 – 17/12/2026 · sesiones 12-16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5916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Exposición final del proyecto (sesión 15) · 15%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Informe final del proyecto (sesión 16) · 20%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y participación · 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30936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1">
                <a:solidFill>
                  <a:srgbClr val="666666"/>
                </a:solidFill>
                <a:latin typeface="Calibri"/>
              </a:rPr>
              <a:t>Cada corte cierra en la sesión 6 / 11 / 16 (08/10/2026 / 12/11/2026 / 17/12/2026). La evaluación es </a:t>
            </a:r>
            <a:r>
              <a:rPr sz="1050" b="1" i="1">
                <a:solidFill>
                  <a:srgbClr val="666666"/>
                </a:solidFill>
                <a:latin typeface="Calibri"/>
              </a:rPr>
              <a:t>formativa y continua</a:t>
            </a:r>
            <a:r>
              <a:rPr sz="1050" b="0" i="1">
                <a:solidFill>
                  <a:srgbClr val="666666"/>
                </a:solidFill>
                <a:latin typeface="Calibri"/>
              </a:rPr>
              <a:t>: lo que más pesa es lo que se hace en clase cada semana, no un único examen. Ningún cierre de corte cae en festivo.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2004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11277295" cy="9601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2800" b="1" i="0">
                <a:solidFill>
                  <a:srgbClr val="095292"/>
                </a:solidFill>
                <a:latin typeface="Calibri"/>
              </a:rPr>
              <a:t>CONTENIDO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06424"/>
            <a:ext cx="1127729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666666"/>
                </a:solidFill>
                <a:latin typeface="Calibri"/>
              </a:rPr>
              <a:t>Sesión 0 + </a:t>
            </a:r>
            <a:r>
              <a:rPr sz="1300" b="1" i="0">
                <a:solidFill>
                  <a:srgbClr val="666666"/>
                </a:solidFill>
                <a:latin typeface="Calibri"/>
              </a:rPr>
              <a:t>16 sesiones</a:t>
            </a:r>
            <a:r>
              <a:rPr sz="1300" b="0" i="0">
                <a:solidFill>
                  <a:srgbClr val="666666"/>
                </a:solidFill>
                <a:latin typeface="Calibri"/>
              </a:rPr>
              <a:t> de 90 min · Jueves · 03/09/2026 a 17/12/2026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53895"/>
            <a:ext cx="5364327" cy="494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0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Presentación del curso: encuadre, evaluación, equipos y plataformas (03/09) · mismo bloque de la Sesión 1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1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Presentación del curso y diagnóstico inicial (03/09)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2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Historia y evolución de la Ingeniería (10/09)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3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Fundamentos básicos de la Ingeniería de Sistemas (17/09)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4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Principios éticos en la Ingeniería (24/09)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5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El rol del ingeniero en el contexto ambiental (01/10)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6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Análisis de problemas tecnológicos del entorno (08/10) · cierra Corte 1 (30%)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7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Ciclo de vida de los proyectos de ingeniería (15/10)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8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Taller de aplicación del ciclo de vida (22/10)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87287" y="1453895"/>
            <a:ext cx="5364327" cy="494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9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Estrategias de innovación en Ingeniería (29/10)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10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Herramientas digitales aplicadas a la Ingeniería (05/11)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11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Taller de prototipado inicial con IA (12/11) · cierra Corte 2 (30%)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12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Presentación de avances de proyectos (19/11)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13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Evaluación de impacto social y ambiental (26/11)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14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Preparación de la presentación final (03/12)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15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Exposición final de proyectos (10/12)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16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Socialización y evaluación final del curso (17/12) · cierra Corte 3 (40%)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¡Empezamos!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Introducción a la Ingeniería ·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FI300101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Grupo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SB141B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Jueves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14:30 – 16:00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inicio efectivo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14:40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Periodo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2026-2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UNIAJC · Ingeniería de Sistemas · Virtual sincrónica por Google Meet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Ingeniería es decidir con criterio, no solo saber cómo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