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derecha aprendió algo con una hora de trabajo; la izquierda gastó una tarde y no aprendió nada. Pida a cada equipo que escriba la pregunta de su prototipo antes de dibujar.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paso 4 es el que casi nadie dibuja, y es donde el usuario real se pierde. Exíjalo en el taller.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DE ENTRADA: LA PARADOJA DE LA FIDELIDAD</a:t>
            </a:r>
          </a:p>
          <a:p/>
          <a:p>
            <a:r>
              <a:t>Este es uno de los hallazgos más útiles y menos intuitivos del diseño, y funciona perfectamente como gancho porque todos lo han vivido del otro lado: cuando a uno le muestran algo que parece terminado, le da pena criticarlo.</a:t>
            </a:r>
          </a:p>
          <a:p/>
          <a:p>
            <a:r>
              <a:t>El fenómeno es consistente: delante de un dibujo a lápiz la gente dice «esto no se entiende, ¿dónde busco?»; delante de una pantalla con colores y tipografía dice «está muy bonita». La explicación es social, no técnica. Un dibujo comunica «esto es un borrador, opine»; una pantalla pulida comunica «esto costó trabajo, no lo destruya». Y hay un segundo efecto, sobre el propio equipo: cuanto más trabajo hay invertido en algo, más cuesta cambiarlo — eso ya lo vieron como curva del costo en la sesión 7, y aquí aparece en versión psicológica.</a:t>
            </a:r>
          </a:p>
          <a:p/>
          <a:p>
            <a:r>
              <a:t>La conclusión práctica hay que decirla como regla y no como curiosidad: el primer prototipo se hace a propósito feo. Excalidraw es la herramienta de la sesión justamente porque todo lo que se dibuja ahí se ve hecho a mano.</a:t>
            </a:r>
          </a:p>
          <a:p/>
          <a:p>
            <a:r>
              <a:t>Recoja las respuestas del muro y no revele la explicación de inmediato: deje que alguien la formule. Suele salir en dos o tres intentos, y sale mejor de ellos que del docente.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ES UN PROTOTIPO: UNA PREGUNTA HECHA OBJETO</a:t>
            </a:r>
          </a:p>
          <a:p/>
          <a:p>
            <a:r>
              <a:t>La definición que hay que dejar instalada: un prototipo es una pregunta hecha objeto. Se construye para responder algo concreto —¿la gente entiende esta pantalla?, ¿alcanza el tiempo?, ¿el flujo tiene sentido?— y sin esa pregunta es una maqueta decorativa. Pídale a cada equipo, en la sala, que escriba la pregunta de su prototipo en una línea antes de dibujar nada.</a:t>
            </a:r>
          </a:p>
          <a:p/>
          <a:p>
            <a:r>
              <a:t>No es la versión 1 a medias, y esta distinción es la que más cuesta en primer semestre. Una versión sin terminar intenta ser el producto y falla en el intento; un prototipo no intenta ser el producto, así que puede ser papel, puede no tener datos reales, puede no funcionar, y aun así responder la pregunta con precisión.</a:t>
            </a:r>
          </a:p>
          <a:p/>
          <a:p>
            <a:r>
              <a:t>Es desechable, y eso lo libera. Se hace sabiendo que se va a tirar, y por eso se puede probar una idea rara sin costo. La frase que conviene dejarles: un prototipo que da pesar tirar ya costó demasiado.</a:t>
            </a:r>
          </a:p>
          <a:p/>
          <a:p>
            <a:r>
              <a:t>Y el punto que amarra la sesión con la 8 y con la 12: se prueba con alguien ajeno. Un prototipo que solo vio el equipo no probó nada. Su única razón de existir es que una persona de afuera intente usarlo delante de ustedes y que ustedes se queden callados — el silencio del equipo es parte del método, no una cortesía.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FIDELIDAD: CADA NIVEL RESPONDE UNA PREGUNTA DISTINTA</a:t>
            </a:r>
          </a:p>
          <a:p/>
          <a:p>
            <a:r>
              <a:t>La tabla de fidelidad no es una escala de calidad, y hay que decirlo explícitamente porque el estudiante la va a leer como «de peor a mejor». Es una escala de preguntas: cada nivel responde una pregunta distinta y cuesta un orden de magnitud más cambiarlo que el anterior.</a:t>
            </a:r>
          </a:p>
          <a:p/>
          <a:p>
            <a:r>
              <a:t>Baja fidelidad —papel, Excalidraw— responde *¿el flujo tiene sentido?, ¿la gente entiende qué hacer?*, y se cambia en un minuto. Media —draw.io, diapositivas enlazadas— responde *¿se puede completar la tarea sin ayuda?, ¿faltan pasos?*, y se cambia en minutos. Alta —Canva, herramientas de diseño— responde *¿se ve confiable?*, cuesta horas, y tiene el efecto secundario de la paradoja: la gente deja de criticarlo. Funcional ya no es prototipo: es construcción, y responde *¿aguanta?, ¿sirve en el celular viejo?*.</a:t>
            </a:r>
          </a:p>
          <a:p/>
          <a:p>
            <a:r>
              <a:t>La regla del curso, que hay que dejar clara para que nadie pierda el fin de semana: el prototipo del corte 2 es de baja o media fidelidad. La alta aparece en la Clase 14, y solo para la presentación final. Un equipo que llega a la Clase 11 con una pantalla preciosa y sin estado de error entendió mal la sesión.</a:t>
            </a:r>
          </a:p>
          <a:p/>
          <a:p>
            <a:r>
              <a:t>Vale la pena conectarlo con la curva de la sesión 7: los niveles de fidelidad son esa misma curva vista desde el diseño. Prototipar en baja fidelidad es exactamente «descubrir el error en la fase donde cuesta un borrador».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CINCO PASOS DE UNA PANTALLA, Y EL ESTADO DE ERROR</a:t>
            </a:r>
          </a:p>
          <a:p/>
          <a:p>
            <a:r>
              <a:t>Estos cinco pasos son el método operativo del taller y cada uno esconde una decisión de diseño.</a:t>
            </a:r>
          </a:p>
          <a:p/>
          <a:p>
            <a:r>
              <a:t>Escribir arriba para qué existe la pantalla parece trivial y es un filtro potente: si la frase no se puede escribir, la pantalla está haciendo dos cosas y hay que partirla. Es el equivalente, en diseño, del «problema en una frase» de la sesión 6.</a:t>
            </a:r>
          </a:p>
          <a:p/>
          <a:p>
            <a:r>
              <a:t>Un solo camino principal, visible. Lo que la persona va a hacer el 90 % de las veces va grande y primero; todo lo demás, más pequeño o más abajo. El error típico es la pantalla democrática, donde ocho opciones tienen el mismo tamaño y el usuario no sabe por dónde empezar.</a:t>
            </a:r>
          </a:p>
          <a:p/>
          <a:p>
            <a:r>
              <a:t>Textos reales, nunca relleno. Esta es la regla que más mejora los prototipos del curso y hay que insistir en ella: escribir «Buscar título» y no «texto aquí». La razón es profunda y conviene decirla: los textos falsos esconden los problemas. El botón que no se sabe cómo llamar es un botón que no se sabe qué hace, y con relleno ese vacío no se nota hasta que alguien lo usa.</a:t>
            </a:r>
          </a:p>
          <a:p/>
          <a:p>
            <a:r>
              <a:t>Dibujar el estado vacío y el de error es el paso que casi nadie hace y donde se cae la mayoría de los prototipos. ¿Qué se ve la primera vez, cuando no hay datos? ¿Qué se ve cuando no se encuentra lo que se buscó? ¿Qué se ve cuando algo falla? Un prototipo que solo muestra el camino feliz no sirve para probar nada, porque en la vida real el camino feliz es la minoría de los casos. Aquí hay un puente con la sesión 8: la tarea (3) del plan de validación —«dígame qué haría si el libro que busca no aparece»— exige justamente esta pantalla.</a:t>
            </a:r>
          </a:p>
          <a:p/>
          <a:p>
            <a:r>
              <a:t>Decir qué pasa al tocar cada cosa: una flecha y una palabra por botón. Un botón sin destino escrito es una decisión que nadie tomó, y en la Clase 12 la va a tomar el usuario por ustedes, mal.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ELEGIR LA HERRAMIENTA POR LA PREGUNTA, Y LAS DOS ADVERTENCIAS</a:t>
            </a:r>
          </a:p>
          <a:p/>
          <a:p>
            <a:r>
              <a:t>La tabla de herramientas hay que recorrerla rápido, con la idea que la ordena: la pregunta para elegir no es «¿cuál sé usar?» sino «¿qué quiero responder con esto?». Es la misma lógica de la matriz de la sesión 8 aplicada a herramientas.</a:t>
            </a:r>
          </a:p>
          <a:p/>
          <a:p>
            <a:r>
              <a:t>Excalidraw para pantallas de baja fidelidad, y su apariencia de dibujo a mano es una ventaja funcional, no un defecto estético. draw.io para flujos, procesos y diagramas con decisiones —los equipos con proyectos de gestión trabajan aquí—; sus conectores se quedan pegados al mover las cajas, que es exactamente lo que se necesita cuando el flujo cambia diez veces.</a:t>
            </a:r>
          </a:p>
          <a:p/>
          <a:p>
            <a:r>
              <a:t>Google Slides como prototipo navegable es el truco más útil de la sesión y hay que demostrarlo en vivo, no describirlo: una diapositiva por pantalla, y en cada botón un enlace hacia la diapositiva de destino. En modo presentación se recorre como si funcionara. Con eso un equipo de primer semestre puede probar un flujo completo con un usuario real sin escribir una línea de código. Dedíquele dos minutos de pantalla compartida: es lo que más van a agradecer.</a:t>
            </a:r>
          </a:p>
          <a:p/>
          <a:p>
            <a:r>
              <a:t>Canva queda reservado para la Clase 14 y para material que verá alguien externo. Y papel con una foto es perfectamente válido en este curso: es lo más rápido que existe y hay que decirlo, porque hay equipos que se paralizan buscando la herramienta perfecta.</a:t>
            </a:r>
          </a:p>
          <a:p/>
          <a:p>
            <a:r>
              <a:t>Las dos advertencias del cierre son operativas. No pulir el prototipo: se califica que el flujo se entienda, que los textos sean reales y que existan el estado vacío y el de error; un equipo que gasta el taller eligiendo colores llega a la Clase 12 sin nada que probar. Y si el prototipo lleva datos, que sean inventados: ningún nombre, cédula, teléfono, dirección ni foto de una persona real, ni de ellos mismos. Es la regla del curso y es la Ley 1581 de 2012 de la sesión 4 aplicada al lugar donde de verdad se incumple — los datos de prueba se inventan.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ELEGIR LA HERRAMIENTA POR LA PREGUNTA, Y LAS DOS ADVERTENCIAS</a:t>
            </a:r>
          </a:p>
          <a:p/>
          <a:p>
            <a:r>
              <a:t>La tabla de herramientas hay que recorrerla rápido, con la idea que la ordena: la pregunta para elegir no es «¿cuál sé usar?» sino «¿qué quiero responder con esto?». Es la misma lógica de la matriz de la sesión 8 aplicada a herramientas.</a:t>
            </a:r>
          </a:p>
          <a:p/>
          <a:p>
            <a:r>
              <a:t>Excalidraw para pantallas de baja fidelidad, y su apariencia de dibujo a mano es una ventaja funcional, no un defecto estético. draw.io para flujos, procesos y diagramas con decisiones —los equipos con proyectos de gestión trabajan aquí—; sus conectores se quedan pegados al mover las cajas, que es exactamente lo que se necesita cuando el flujo cambia diez veces.</a:t>
            </a:r>
          </a:p>
          <a:p/>
          <a:p>
            <a:r>
              <a:t>Google Slides como prototipo navegable es el truco más útil de la sesión y hay que demostrarlo en vivo, no describirlo: una diapositiva por pantalla, y en cada botón un enlace hacia la diapositiva de destino. En modo presentación se recorre como si funcionara. Con eso un equipo de primer semestre puede probar un flujo completo con un usuario real sin escribir una línea de código. Dedíquele dos minutos de pantalla compartida: es lo que más van a agradecer.</a:t>
            </a:r>
          </a:p>
          <a:p/>
          <a:p>
            <a:r>
              <a:t>Canva queda reservado para la Clase 14 y para material que verá alguien externo. Y papel con una foto es perfectamente válido en este curso: es lo más rápido que existe y hay que decirlo, porque hay equipos que se paralizan buscando la herramienta perfecta.</a:t>
            </a:r>
          </a:p>
          <a:p/>
          <a:p>
            <a:r>
              <a:t>Las dos advertencias del cierre son operativas. No pulir el prototipo: se califica que el flujo se entienda, que los textos sean reales y que existan el estado vacío y el de error; un equipo que gasta el taller eligiendo colores llega a la Clase 12 sin nada que probar. Y si el prototipo lleva datos, que sean inventados: ningún nombre, cédula, teléfono, dirección ni foto de una persona real, ni de ellos mismos. Es la regla del curso y es la Ley 1581 de 2012 de la sesión 4 aplicada al lugar donde de verdad se incumple — los datos de prueba se inventan.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
            <a:ext cx="12191695"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uniajc_blanco.png"/>
          <p:cNvPicPr>
            <a:picLocks noChangeAspect="1"/>
          </p:cNvPicPr>
          <p:nvPr/>
        </p:nvPicPr>
        <p:blipFill>
          <a:blip r:embed="rId2"/>
          <a:stretch>
            <a:fillRect/>
          </a:stretch>
        </p:blipFill>
        <p:spPr>
          <a:xfrm>
            <a:off x="502920" y="384048"/>
            <a:ext cx="2011680" cy="876815"/>
          </a:xfrm>
          <a:prstGeom prst="rect">
            <a:avLst/>
          </a:prstGeom>
        </p:spPr>
      </p:pic>
      <p:sp>
        <p:nvSpPr>
          <p:cNvPr id="6" name="Rounded Rectangle 5"/>
          <p:cNvSpPr/>
          <p:nvPr/>
        </p:nvSpPr>
        <p:spPr>
          <a:xfrm>
            <a:off x="10042855" y="384048"/>
            <a:ext cx="1691640" cy="38404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42855" y="384048"/>
            <a:ext cx="1691640" cy="384048"/>
          </a:xfrm>
          <a:prstGeom prst="rect">
            <a:avLst/>
          </a:prstGeom>
          <a:noFill/>
        </p:spPr>
        <p:txBody>
          <a:bodyPr wrap="square" anchor="ctr"/>
          <a:lstStyle/>
          <a:p>
            <a:pPr algn="ctr"/>
            <a:r>
              <a:rPr sz="1400" b="1" i="0">
                <a:solidFill>
                  <a:srgbClr val="FFFFFF"/>
                </a:solidFill>
                <a:latin typeface="Calibri"/>
              </a:rPr>
              <a:t>Clase 10</a:t>
            </a:r>
          </a:p>
        </p:txBody>
      </p:sp>
      <p:sp>
        <p:nvSpPr>
          <p:cNvPr id="8" name="TextBox 7"/>
          <p:cNvSpPr txBox="1"/>
          <p:nvPr/>
        </p:nvSpPr>
        <p:spPr>
          <a:xfrm>
            <a:off x="731520" y="2331720"/>
            <a:ext cx="10728655" cy="1828800"/>
          </a:xfrm>
          <a:prstGeom prst="rect">
            <a:avLst/>
          </a:prstGeom>
          <a:noFill/>
        </p:spPr>
        <p:txBody>
          <a:bodyPr wrap="square" anchor="ctr"/>
          <a:lstStyle/>
          <a:p>
            <a:pPr algn="ctr"/>
            <a:r>
              <a:rPr sz="3400" b="1" i="0">
                <a:solidFill>
                  <a:srgbClr val="FFFFFF"/>
                </a:solidFill>
                <a:latin typeface="Calibri"/>
              </a:rPr>
              <a:t>Herramientas digitales aplicadas a la Ingeniería</a:t>
            </a:r>
          </a:p>
        </p:txBody>
      </p:sp>
      <p:sp>
        <p:nvSpPr>
          <p:cNvPr id="9" name="Rectangle 8"/>
          <p:cNvSpPr/>
          <p:nvPr/>
        </p:nvSpPr>
        <p:spPr>
          <a:xfrm>
            <a:off x="4632807" y="4206240"/>
            <a:ext cx="2926080" cy="50292"/>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361688"/>
            <a:ext cx="10728655" cy="640080"/>
          </a:xfrm>
          <a:prstGeom prst="rect">
            <a:avLst/>
          </a:prstGeom>
          <a:noFill/>
        </p:spPr>
        <p:txBody>
          <a:bodyPr wrap="square">
            <a:spAutoFit/>
          </a:bodyPr>
          <a:lstStyle/>
          <a:p>
            <a:pPr algn="ctr"/>
            <a:r>
              <a:rPr sz="1800" b="0" i="0">
                <a:solidFill>
                  <a:srgbClr val="B8D8EE"/>
                </a:solidFill>
                <a:latin typeface="Calibri"/>
              </a:rPr>
              <a:t>Prototipar: el dibujo a mano recibe mejores críticas que la pantalla terminada</a:t>
            </a:r>
          </a:p>
        </p:txBody>
      </p:sp>
      <p:sp>
        <p:nvSpPr>
          <p:cNvPr id="11" name="TextBox 10"/>
          <p:cNvSpPr txBox="1"/>
          <p:nvPr/>
        </p:nvSpPr>
        <p:spPr>
          <a:xfrm>
            <a:off x="11094415" y="6419088"/>
            <a:ext cx="548640" cy="274320"/>
          </a:xfrm>
          <a:prstGeom prst="rect">
            <a:avLst/>
          </a:prstGeom>
          <a:noFill/>
        </p:spPr>
        <p:txBody>
          <a:bodyPr wrap="square">
            <a:spAutoFit/>
          </a:bodyPr>
          <a:lstStyle/>
          <a:p>
            <a:pPr algn="r"/>
            <a:r>
              <a:rPr sz="1100" b="1" i="0">
                <a:solidFill>
                  <a:srgbClr val="7EB8D4"/>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Agenda de hoy (90 min)</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La misma estructura de las 16 sesiones. El reloj de pared de su grupo está en el calendario del curso.</a:t>
            </a:r>
          </a:p>
        </p:txBody>
      </p:sp>
      <p:sp>
        <p:nvSpPr>
          <p:cNvPr id="6" name="Rectangle 5"/>
          <p:cNvSpPr/>
          <p:nvPr/>
        </p:nvSpPr>
        <p:spPr>
          <a:xfrm>
            <a:off x="457200" y="2386584"/>
            <a:ext cx="11277295" cy="7315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438625"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63624"/>
            <a:ext cx="2255459" cy="502920"/>
          </a:xfrm>
          <a:prstGeom prst="rect">
            <a:avLst/>
          </a:prstGeom>
          <a:noFill/>
        </p:spPr>
        <p:txBody>
          <a:bodyPr wrap="square">
            <a:spAutoFit/>
          </a:bodyPr>
          <a:lstStyle/>
          <a:p>
            <a:pPr algn="ctr"/>
            <a:r>
              <a:rPr sz="1300" b="1" i="0">
                <a:solidFill>
                  <a:srgbClr val="095292"/>
                </a:solidFill>
                <a:latin typeface="Calibri"/>
              </a:rPr>
              <a:t>00:00–00:10 · 10 min</a:t>
            </a:r>
          </a:p>
        </p:txBody>
      </p:sp>
      <p:sp>
        <p:nvSpPr>
          <p:cNvPr id="9" name="TextBox 8"/>
          <p:cNvSpPr txBox="1"/>
          <p:nvPr/>
        </p:nvSpPr>
        <p:spPr>
          <a:xfrm>
            <a:off x="502920" y="2798064"/>
            <a:ext cx="2164019" cy="3099816"/>
          </a:xfrm>
          <a:prstGeom prst="rect">
            <a:avLst/>
          </a:prstGeom>
          <a:noFill/>
        </p:spPr>
        <p:txBody>
          <a:bodyPr wrap="square">
            <a:spAutoFit/>
          </a:bodyPr>
          <a:lstStyle/>
          <a:p>
            <a:pPr algn="ctr"/>
            <a:r>
              <a:rPr sz="1300" b="0" i="0">
                <a:solidFill>
                  <a:srgbClr val="333333"/>
                </a:solidFill>
                <a:latin typeface="Calibri"/>
              </a:rPr>
              <a:t>Pregunta de entrada en el muro mientras se conectan</a:t>
            </a:r>
          </a:p>
        </p:txBody>
      </p:sp>
      <p:sp>
        <p:nvSpPr>
          <p:cNvPr id="10" name="Rounded Rectangle 9"/>
          <p:cNvSpPr/>
          <p:nvPr/>
        </p:nvSpPr>
        <p:spPr>
          <a:xfrm>
            <a:off x="3694084"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12659" y="1563624"/>
            <a:ext cx="2255459" cy="502920"/>
          </a:xfrm>
          <a:prstGeom prst="rect">
            <a:avLst/>
          </a:prstGeom>
          <a:noFill/>
        </p:spPr>
        <p:txBody>
          <a:bodyPr wrap="square">
            <a:spAutoFit/>
          </a:bodyPr>
          <a:lstStyle/>
          <a:p>
            <a:pPr algn="ctr"/>
            <a:r>
              <a:rPr sz="1300" b="1" i="0">
                <a:solidFill>
                  <a:srgbClr val="095292"/>
                </a:solidFill>
                <a:latin typeface="Calibri"/>
              </a:rPr>
              <a:t>00:10–00:55 · 45 min</a:t>
            </a:r>
          </a:p>
        </p:txBody>
      </p:sp>
      <p:sp>
        <p:nvSpPr>
          <p:cNvPr id="12" name="TextBox 11"/>
          <p:cNvSpPr txBox="1"/>
          <p:nvPr/>
        </p:nvSpPr>
        <p:spPr>
          <a:xfrm>
            <a:off x="2758379" y="2798064"/>
            <a:ext cx="2164019" cy="3099816"/>
          </a:xfrm>
          <a:prstGeom prst="rect">
            <a:avLst/>
          </a:prstGeom>
          <a:noFill/>
        </p:spPr>
        <p:txBody>
          <a:bodyPr wrap="square">
            <a:spAutoFit/>
          </a:bodyPr>
          <a:lstStyle/>
          <a:p>
            <a:pPr algn="ctr"/>
            <a:r>
              <a:rPr sz="1300" b="0" i="0">
                <a:solidFill>
                  <a:srgbClr val="333333"/>
                </a:solidFill>
                <a:latin typeface="Calibri"/>
              </a:rPr>
              <a:t>Teoría — qué es un prototipo, fidelidad, cómo se dibuja una pantalla y qué herramienta usar</a:t>
            </a:r>
          </a:p>
        </p:txBody>
      </p:sp>
      <p:sp>
        <p:nvSpPr>
          <p:cNvPr id="13" name="Rounded Rectangle 12"/>
          <p:cNvSpPr/>
          <p:nvPr/>
        </p:nvSpPr>
        <p:spPr>
          <a:xfrm>
            <a:off x="5949543"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68118" y="1563624"/>
            <a:ext cx="2255459" cy="502920"/>
          </a:xfrm>
          <a:prstGeom prst="rect">
            <a:avLst/>
          </a:prstGeom>
          <a:noFill/>
        </p:spPr>
        <p:txBody>
          <a:bodyPr wrap="square">
            <a:spAutoFit/>
          </a:bodyPr>
          <a:lstStyle/>
          <a:p>
            <a:pPr algn="ctr"/>
            <a:r>
              <a:rPr sz="1300" b="1" i="0">
                <a:solidFill>
                  <a:srgbClr val="095292"/>
                </a:solidFill>
                <a:latin typeface="Calibri"/>
              </a:rPr>
              <a:t>00:55–01:12 · 17 min</a:t>
            </a:r>
          </a:p>
        </p:txBody>
      </p:sp>
      <p:sp>
        <p:nvSpPr>
          <p:cNvPr id="15" name="TextBox 14"/>
          <p:cNvSpPr txBox="1"/>
          <p:nvPr/>
        </p:nvSpPr>
        <p:spPr>
          <a:xfrm>
            <a:off x="5013838" y="2798064"/>
            <a:ext cx="2164019" cy="3099816"/>
          </a:xfrm>
          <a:prstGeom prst="rect">
            <a:avLst/>
          </a:prstGeom>
          <a:noFill/>
        </p:spPr>
        <p:txBody>
          <a:bodyPr wrap="square">
            <a:spAutoFit/>
          </a:bodyPr>
          <a:lstStyle/>
          <a:p>
            <a:pPr algn="ctr"/>
            <a:r>
              <a:rPr sz="1300" b="0" i="0">
                <a:solidFill>
                  <a:srgbClr val="333333"/>
                </a:solidFill>
                <a:latin typeface="Calibri"/>
              </a:rPr>
              <a:t>Práctica en equipos (opcional · la guía está en la carpeta de la clase)</a:t>
            </a:r>
          </a:p>
        </p:txBody>
      </p:sp>
      <p:sp>
        <p:nvSpPr>
          <p:cNvPr id="16" name="Rounded Rectangle 15"/>
          <p:cNvSpPr/>
          <p:nvPr/>
        </p:nvSpPr>
        <p:spPr>
          <a:xfrm>
            <a:off x="8205002" y="2276856"/>
            <a:ext cx="292608" cy="292608"/>
          </a:xfrm>
          <a:prstGeom prst="roundRect">
            <a:avLst>
              <a:gd name="adj" fmla="val 12000"/>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577" y="1563624"/>
            <a:ext cx="2255459" cy="502920"/>
          </a:xfrm>
          <a:prstGeom prst="rect">
            <a:avLst/>
          </a:prstGeom>
          <a:noFill/>
        </p:spPr>
        <p:txBody>
          <a:bodyPr wrap="square">
            <a:spAutoFit/>
          </a:bodyPr>
          <a:lstStyle/>
          <a:p>
            <a:pPr algn="ctr"/>
            <a:r>
              <a:rPr sz="1300" b="1" i="0">
                <a:solidFill>
                  <a:srgbClr val="095292"/>
                </a:solidFill>
                <a:latin typeface="Calibri"/>
              </a:rPr>
              <a:t>01:12–01:27 · 15 min</a:t>
            </a:r>
          </a:p>
        </p:txBody>
      </p:sp>
      <p:sp>
        <p:nvSpPr>
          <p:cNvPr id="18" name="TextBox 17"/>
          <p:cNvSpPr txBox="1"/>
          <p:nvPr/>
        </p:nvSpPr>
        <p:spPr>
          <a:xfrm>
            <a:off x="7269297" y="2798064"/>
            <a:ext cx="2164019" cy="3099816"/>
          </a:xfrm>
          <a:prstGeom prst="rect">
            <a:avLst/>
          </a:prstGeom>
          <a:noFill/>
        </p:spPr>
        <p:txBody>
          <a:bodyPr wrap="square">
            <a:spAutoFit/>
          </a:bodyPr>
          <a:lstStyle/>
          <a:p>
            <a:pPr algn="ctr"/>
            <a:r>
              <a:rPr sz="1300" b="0" i="0">
                <a:solidFill>
                  <a:srgbClr val="333333"/>
                </a:solidFill>
                <a:latin typeface="Calibri"/>
              </a:rPr>
              <a:t>Socialización de la práctica, si se hizo</a:t>
            </a:r>
          </a:p>
        </p:txBody>
      </p:sp>
      <p:sp>
        <p:nvSpPr>
          <p:cNvPr id="19" name="Rounded Rectangle 18"/>
          <p:cNvSpPr/>
          <p:nvPr/>
        </p:nvSpPr>
        <p:spPr>
          <a:xfrm>
            <a:off x="10460461" y="2276856"/>
            <a:ext cx="292608" cy="292608"/>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79036" y="1563624"/>
            <a:ext cx="2255459" cy="502920"/>
          </a:xfrm>
          <a:prstGeom prst="rect">
            <a:avLst/>
          </a:prstGeom>
          <a:noFill/>
        </p:spPr>
        <p:txBody>
          <a:bodyPr wrap="square">
            <a:spAutoFit/>
          </a:bodyPr>
          <a:lstStyle/>
          <a:p>
            <a:pPr algn="ctr"/>
            <a:r>
              <a:rPr sz="1300" b="1" i="0">
                <a:solidFill>
                  <a:srgbClr val="095292"/>
                </a:solidFill>
                <a:latin typeface="Calibri"/>
              </a:rPr>
              <a:t>01:27–01:30 · 3 min</a:t>
            </a:r>
          </a:p>
        </p:txBody>
      </p:sp>
      <p:sp>
        <p:nvSpPr>
          <p:cNvPr id="21" name="TextBox 20"/>
          <p:cNvSpPr txBox="1"/>
          <p:nvPr/>
        </p:nvSpPr>
        <p:spPr>
          <a:xfrm>
            <a:off x="9524756" y="2798064"/>
            <a:ext cx="2164019" cy="3099816"/>
          </a:xfrm>
          <a:prstGeom prst="rect">
            <a:avLst/>
          </a:prstGeom>
          <a:noFill/>
        </p:spPr>
        <p:txBody>
          <a:bodyPr wrap="square">
            <a:spAutoFit/>
          </a:bodyPr>
          <a:lstStyle/>
          <a:p>
            <a:pPr algn="ctr"/>
            <a:r>
              <a:rPr sz="1300" b="0" i="0">
                <a:solidFill>
                  <a:srgbClr val="333333"/>
                </a:solidFill>
                <a:latin typeface="Calibri"/>
              </a:rPr>
              <a:t>Una idea, la tarea y los enlaces en el chat</a:t>
            </a:r>
          </a:p>
        </p:txBody>
      </p:sp>
      <p:sp>
        <p:nvSpPr>
          <p:cNvPr id="22" name="TextBox 21"/>
          <p:cNvSpPr txBox="1"/>
          <p:nvPr/>
        </p:nvSpPr>
        <p:spPr>
          <a:xfrm>
            <a:off x="457200" y="5806440"/>
            <a:ext cx="11277295" cy="640080"/>
          </a:xfrm>
          <a:prstGeom prst="rect">
            <a:avLst/>
          </a:prstGeom>
          <a:noFill/>
        </p:spPr>
        <p:txBody>
          <a:bodyPr wrap="square">
            <a:spAutoFit/>
          </a:bodyPr>
          <a:lstStyle/>
          <a:p>
            <a:pPr algn="ctr"/>
            <a:r>
              <a:rPr sz="1200" b="0" i="1">
                <a:solidFill>
                  <a:srgbClr val="666666"/>
                </a:solidFill>
                <a:latin typeface="Calibri"/>
              </a:rPr>
              <a:t>Solo el bloque de </a:t>
            </a:r>
            <a:r>
              <a:rPr sz="1200" b="1" i="1">
                <a:solidFill>
                  <a:srgbClr val="666666"/>
                </a:solidFill>
                <a:latin typeface="Calibri"/>
              </a:rPr>
              <a:t>esta</a:t>
            </a:r>
            <a:r>
              <a:rPr sz="1200" b="0" i="1">
                <a:solidFill>
                  <a:srgbClr val="666666"/>
                </a:solidFill>
                <a:latin typeface="Calibri"/>
              </a:rPr>
              <a:t> clase · 120 min</a:t>
            </a:r>
          </a:p>
        </p:txBody>
      </p:sp>
      <p:sp>
        <p:nvSpPr>
          <p:cNvPr id="23" name="TextBox 22"/>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Objetivos de la sesión</a:t>
            </a:r>
          </a:p>
        </p:txBody>
      </p:sp>
      <p:sp>
        <p:nvSpPr>
          <p:cNvPr id="5" name="TextBox 4"/>
          <p:cNvSpPr txBox="1"/>
          <p:nvPr/>
        </p:nvSpPr>
        <p:spPr>
          <a:xfrm>
            <a:off x="457200" y="1170432"/>
            <a:ext cx="11277295" cy="5230368"/>
          </a:xfrm>
          <a:prstGeom prst="rect">
            <a:avLst/>
          </a:prstGeom>
          <a:noFill/>
        </p:spPr>
        <p:txBody>
          <a:bodyPr wrap="square">
            <a:spAutoFit/>
          </a:bodyPr>
          <a:lstStyle/>
          <a:p>
            <a:pPr>
              <a:spcAft>
                <a:spcPts val="800"/>
              </a:spcAft>
            </a:pPr>
            <a:r>
              <a:rPr sz="2000" b="0" i="0">
                <a:solidFill>
                  <a:srgbClr val="333333"/>
                </a:solidFill>
                <a:latin typeface="Calibri"/>
              </a:rPr>
              <a:t>–   Distinguir un </a:t>
            </a:r>
            <a:r>
              <a:rPr sz="2000" b="1" i="0">
                <a:solidFill>
                  <a:srgbClr val="333333"/>
                </a:solidFill>
                <a:latin typeface="Calibri"/>
              </a:rPr>
              <a:t>prototipo</a:t>
            </a:r>
            <a:r>
              <a:rPr sz="2000" b="0" i="0">
                <a:solidFill>
                  <a:srgbClr val="333333"/>
                </a:solidFill>
                <a:latin typeface="Calibri"/>
              </a:rPr>
              <a:t> de una versión sin terminar, y saber qué pregunta responde cada nivel de </a:t>
            </a:r>
            <a:r>
              <a:rPr sz="2000" b="1" i="0">
                <a:solidFill>
                  <a:srgbClr val="333333"/>
                </a:solidFill>
                <a:latin typeface="Calibri"/>
              </a:rPr>
              <a:t>fidelidad</a:t>
            </a:r>
            <a:r>
              <a:rPr sz="2000" b="0" i="0">
                <a:solidFill>
                  <a:srgbClr val="333333"/>
                </a:solidFill>
                <a:latin typeface="Calibri"/>
              </a:rPr>
              <a:t>.</a:t>
            </a:r>
          </a:p>
          <a:p>
            <a:pPr>
              <a:spcAft>
                <a:spcPts val="800"/>
              </a:spcAft>
            </a:pPr>
            <a:r>
              <a:rPr sz="2000" b="0" i="0">
                <a:solidFill>
                  <a:srgbClr val="333333"/>
                </a:solidFill>
                <a:latin typeface="Calibri"/>
              </a:rPr>
              <a:t>–   Dibujar las </a:t>
            </a:r>
            <a:r>
              <a:rPr sz="2000" b="1" i="0">
                <a:solidFill>
                  <a:srgbClr val="333333"/>
                </a:solidFill>
                <a:latin typeface="Calibri"/>
              </a:rPr>
              <a:t>tres pantallas o pasos</a:t>
            </a:r>
            <a:r>
              <a:rPr sz="2000" b="0" i="0">
                <a:solidFill>
                  <a:srgbClr val="333333"/>
                </a:solidFill>
                <a:latin typeface="Calibri"/>
              </a:rPr>
              <a:t> del flujo principal del proyecto, con textos reales.</a:t>
            </a:r>
          </a:p>
          <a:p>
            <a:pPr>
              <a:spcAft>
                <a:spcPts val="800"/>
              </a:spcAft>
            </a:pPr>
            <a:r>
              <a:rPr sz="2000" b="0" i="0">
                <a:solidFill>
                  <a:srgbClr val="333333"/>
                </a:solidFill>
                <a:latin typeface="Calibri"/>
              </a:rPr>
              <a:t>–   Diseñar el </a:t>
            </a:r>
            <a:r>
              <a:rPr sz="2000" b="1" i="0">
                <a:solidFill>
                  <a:srgbClr val="333333"/>
                </a:solidFill>
                <a:latin typeface="Calibri"/>
              </a:rPr>
              <a:t>estado vacío y el estado de error</a:t>
            </a:r>
            <a:r>
              <a:rPr sz="2000" b="0" i="0">
                <a:solidFill>
                  <a:srgbClr val="333333"/>
                </a:solidFill>
                <a:latin typeface="Calibri"/>
              </a:rPr>
              <a:t>, que es donde se cae la mayoría de los prototipos.</a:t>
            </a:r>
          </a:p>
          <a:p>
            <a:pPr>
              <a:spcAft>
                <a:spcPts val="800"/>
              </a:spcAft>
            </a:pPr>
            <a:r>
              <a:rPr sz="2000" b="0" i="0">
                <a:solidFill>
                  <a:srgbClr val="333333"/>
                </a:solidFill>
                <a:latin typeface="Calibri"/>
              </a:rPr>
              <a:t>–   Elegir la </a:t>
            </a:r>
            <a:r>
              <a:rPr sz="2000" b="1" i="0">
                <a:solidFill>
                  <a:srgbClr val="333333"/>
                </a:solidFill>
                <a:latin typeface="Calibri"/>
              </a:rPr>
              <a:t>herramienta según la pregunta</a:t>
            </a:r>
            <a:r>
              <a:rPr sz="2000" b="0" i="0">
                <a:solidFill>
                  <a:srgbClr val="333333"/>
                </a:solidFill>
                <a:latin typeface="Calibri"/>
              </a:rPr>
              <a:t> que se quiere responder, no según la que se conoce.</a:t>
            </a:r>
          </a:p>
        </p:txBody>
      </p:sp>
      <p:sp>
        <p:nvSpPr>
          <p:cNvPr id="6" name="TextBox 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uniajc_blanco.png"/>
          <p:cNvPicPr>
            <a:picLocks noChangeAspect="1"/>
          </p:cNvPicPr>
          <p:nvPr/>
        </p:nvPicPr>
        <p:blipFill>
          <a:blip r:embed="rId2"/>
          <a:stretch>
            <a:fillRect/>
          </a:stretch>
        </p:blipFill>
        <p:spPr>
          <a:xfrm>
            <a:off x="10134295" y="320040"/>
            <a:ext cx="1645920" cy="717394"/>
          </a:xfrm>
          <a:prstGeom prst="rect">
            <a:avLst/>
          </a:prstGeom>
        </p:spPr>
      </p:pic>
      <p:sp>
        <p:nvSpPr>
          <p:cNvPr id="5" name="TextBox 4"/>
          <p:cNvSpPr txBox="1"/>
          <p:nvPr/>
        </p:nvSpPr>
        <p:spPr>
          <a:xfrm>
            <a:off x="685800" y="1280160"/>
            <a:ext cx="10820095" cy="365760"/>
          </a:xfrm>
          <a:prstGeom prst="rect">
            <a:avLst/>
          </a:prstGeom>
          <a:noFill/>
        </p:spPr>
        <p:txBody>
          <a:bodyPr wrap="square">
            <a:spAutoFit/>
          </a:bodyPr>
          <a:lstStyle/>
          <a:p>
            <a:pPr algn="ctr"/>
            <a:r>
              <a:rPr sz="1400" b="1" i="0">
                <a:solidFill>
                  <a:srgbClr val="269CCB"/>
                </a:solidFill>
                <a:latin typeface="Calibri"/>
              </a:rPr>
              <a:t>Pregunta de entrada</a:t>
            </a:r>
          </a:p>
        </p:txBody>
      </p:sp>
      <p:sp>
        <p:nvSpPr>
          <p:cNvPr id="6" name="TextBox 5"/>
          <p:cNvSpPr txBox="1"/>
          <p:nvPr/>
        </p:nvSpPr>
        <p:spPr>
          <a:xfrm>
            <a:off x="685800" y="1828800"/>
            <a:ext cx="10820095" cy="2011680"/>
          </a:xfrm>
          <a:prstGeom prst="rect">
            <a:avLst/>
          </a:prstGeom>
          <a:noFill/>
        </p:spPr>
        <p:txBody>
          <a:bodyPr wrap="square" anchor="ctr"/>
          <a:lstStyle/>
          <a:p>
            <a:pPr algn="ctr"/>
            <a:r>
              <a:rPr sz="2800" b="1" i="0">
                <a:solidFill>
                  <a:srgbClr val="FFFFFF"/>
                </a:solidFill>
                <a:latin typeface="Calibri"/>
              </a:rPr>
              <a:t>Si les muestro un dibujo a lápiz, me dicen todo lo que está mal. Si les muestro una pantalla terminada, me dicen «está muy bonita». ¿Por qué?</a:t>
            </a:r>
          </a:p>
        </p:txBody>
      </p:sp>
      <p:sp>
        <p:nvSpPr>
          <p:cNvPr id="7" name="TextBox 6"/>
          <p:cNvSpPr txBox="1"/>
          <p:nvPr/>
        </p:nvSpPr>
        <p:spPr>
          <a:xfrm>
            <a:off x="822960" y="4114800"/>
            <a:ext cx="10545775" cy="1645920"/>
          </a:xfrm>
          <a:prstGeom prst="rect">
            <a:avLst/>
          </a:prstGeom>
          <a:noFill/>
        </p:spPr>
        <p:txBody>
          <a:bodyPr wrap="square">
            <a:spAutoFit/>
          </a:bodyPr>
          <a:lstStyle/>
          <a:p>
            <a:pPr algn="ctr">
              <a:spcAft>
                <a:spcPts val="600"/>
              </a:spcAft>
            </a:pPr>
            <a:r>
              <a:rPr sz="1500" b="0" i="0">
                <a:solidFill>
                  <a:srgbClr val="269CCB"/>
                </a:solidFill>
                <a:latin typeface="Calibri"/>
              </a:rPr>
              <a:t>Porque nadie quiere destruir algo que parece costoso.</a:t>
            </a:r>
          </a:p>
          <a:p>
            <a:pPr algn="ctr">
              <a:spcAft>
                <a:spcPts val="600"/>
              </a:spcAft>
            </a:pPr>
            <a:r>
              <a:rPr sz="1500" b="0" i="0">
                <a:solidFill>
                  <a:srgbClr val="269CCB"/>
                </a:solidFill>
                <a:latin typeface="Calibri"/>
              </a:rPr>
              <a:t>Y por eso el primer prototipo se hace a propósito feo.</a:t>
            </a:r>
          </a:p>
        </p:txBody>
      </p:sp>
      <p:sp>
        <p:nvSpPr>
          <p:cNvPr id="8" name="TextBox 7"/>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Qué es un prototipo y qué no</a:t>
            </a:r>
          </a:p>
        </p:txBody>
      </p:sp>
      <p:sp>
        <p:nvSpPr>
          <p:cNvPr id="5" name="Rounded Rectangle 4"/>
          <p:cNvSpPr/>
          <p:nvPr/>
        </p:nvSpPr>
        <p:spPr>
          <a:xfrm>
            <a:off x="457200"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490472"/>
            <a:ext cx="5218023" cy="411480"/>
          </a:xfrm>
          <a:prstGeom prst="rect">
            <a:avLst/>
          </a:prstGeom>
          <a:noFill/>
        </p:spPr>
        <p:txBody>
          <a:bodyPr wrap="square">
            <a:spAutoFit/>
          </a:bodyPr>
          <a:lstStyle/>
          <a:p>
            <a:r>
              <a:rPr sz="1500" b="1" i="0">
                <a:solidFill>
                  <a:srgbClr val="095292"/>
                </a:solidFill>
                <a:latin typeface="Calibri"/>
              </a:rPr>
              <a:t>Es una pregunta hecha objeto</a:t>
            </a:r>
          </a:p>
        </p:txBody>
      </p:sp>
      <p:sp>
        <p:nvSpPr>
          <p:cNvPr id="8" name="TextBox 7"/>
          <p:cNvSpPr txBox="1"/>
          <p:nvPr/>
        </p:nvSpPr>
        <p:spPr>
          <a:xfrm>
            <a:off x="621792" y="1947672"/>
            <a:ext cx="5218023" cy="1595628"/>
          </a:xfrm>
          <a:prstGeom prst="rect">
            <a:avLst/>
          </a:prstGeom>
          <a:noFill/>
        </p:spPr>
        <p:txBody>
          <a:bodyPr wrap="square">
            <a:spAutoFit/>
          </a:bodyPr>
          <a:lstStyle/>
          <a:p>
            <a:r>
              <a:rPr sz="1300" b="0" i="0">
                <a:solidFill>
                  <a:srgbClr val="333333"/>
                </a:solidFill>
                <a:latin typeface="Calibri"/>
              </a:rPr>
              <a:t>Un prototipo se construye </a:t>
            </a:r>
            <a:r>
              <a:rPr sz="1300" b="1" i="0">
                <a:solidFill>
                  <a:srgbClr val="333333"/>
                </a:solidFill>
                <a:latin typeface="Calibri"/>
              </a:rPr>
              <a:t>para responder una pregunta concreta</a:t>
            </a:r>
            <a:r>
              <a:rPr sz="1300" b="0" i="0">
                <a:solidFill>
                  <a:srgbClr val="333333"/>
                </a:solidFill>
                <a:latin typeface="Calibri"/>
              </a:rPr>
              <a:t>: ¿la gente entiende esta pantalla? ¿alcanza el tiempo? ¿el flujo tiene sentido? Sin pregunta es una maqueta decorativa.</a:t>
            </a:r>
          </a:p>
        </p:txBody>
      </p:sp>
      <p:sp>
        <p:nvSpPr>
          <p:cNvPr id="9" name="Rounded Rectangle 8"/>
          <p:cNvSpPr/>
          <p:nvPr/>
        </p:nvSpPr>
        <p:spPr>
          <a:xfrm>
            <a:off x="6187287" y="12618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87287" y="1261872"/>
            <a:ext cx="5547207" cy="9144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1879" y="1490472"/>
            <a:ext cx="5218023" cy="411480"/>
          </a:xfrm>
          <a:prstGeom prst="rect">
            <a:avLst/>
          </a:prstGeom>
          <a:noFill/>
        </p:spPr>
        <p:txBody>
          <a:bodyPr wrap="square">
            <a:spAutoFit/>
          </a:bodyPr>
          <a:lstStyle/>
          <a:p>
            <a:r>
              <a:rPr sz="1500" b="1" i="0">
                <a:solidFill>
                  <a:srgbClr val="095292"/>
                </a:solidFill>
                <a:latin typeface="Calibri"/>
              </a:rPr>
              <a:t>No es la versión 1 a medias</a:t>
            </a:r>
          </a:p>
        </p:txBody>
      </p:sp>
      <p:sp>
        <p:nvSpPr>
          <p:cNvPr id="12" name="TextBox 11"/>
          <p:cNvSpPr txBox="1"/>
          <p:nvPr/>
        </p:nvSpPr>
        <p:spPr>
          <a:xfrm>
            <a:off x="6351879" y="1947672"/>
            <a:ext cx="5218023" cy="1595628"/>
          </a:xfrm>
          <a:prstGeom prst="rect">
            <a:avLst/>
          </a:prstGeom>
          <a:noFill/>
        </p:spPr>
        <p:txBody>
          <a:bodyPr wrap="square">
            <a:spAutoFit/>
          </a:bodyPr>
          <a:lstStyle/>
          <a:p>
            <a:r>
              <a:rPr sz="1300" b="0" i="0">
                <a:solidFill>
                  <a:srgbClr val="333333"/>
                </a:solidFill>
                <a:latin typeface="Calibri"/>
              </a:rPr>
              <a:t>Una versión sin terminar intenta ser el producto y falla. </a:t>
            </a:r>
            <a:r>
              <a:rPr sz="1300" b="1" i="0">
                <a:solidFill>
                  <a:srgbClr val="333333"/>
                </a:solidFill>
                <a:latin typeface="Calibri"/>
              </a:rPr>
              <a:t>Un prototipo no intenta ser el producto</a:t>
            </a:r>
            <a:r>
              <a:rPr sz="1300" b="0" i="0">
                <a:solidFill>
                  <a:srgbClr val="333333"/>
                </a:solidFill>
                <a:latin typeface="Calibri"/>
              </a:rPr>
              <a:t>: puede ser papel, puede no tener datos reales, y aun así responde la pregunta.</a:t>
            </a:r>
          </a:p>
        </p:txBody>
      </p:sp>
      <p:sp>
        <p:nvSpPr>
          <p:cNvPr id="13" name="Rounded Rectangle 12"/>
          <p:cNvSpPr/>
          <p:nvPr/>
        </p:nvSpPr>
        <p:spPr>
          <a:xfrm>
            <a:off x="457200"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90772"/>
            <a:ext cx="5547207" cy="91440"/>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4119372"/>
            <a:ext cx="5218023" cy="411480"/>
          </a:xfrm>
          <a:prstGeom prst="rect">
            <a:avLst/>
          </a:prstGeom>
          <a:noFill/>
        </p:spPr>
        <p:txBody>
          <a:bodyPr wrap="square">
            <a:spAutoFit/>
          </a:bodyPr>
          <a:lstStyle/>
          <a:p>
            <a:r>
              <a:rPr sz="1500" b="1" i="0">
                <a:solidFill>
                  <a:srgbClr val="095292"/>
                </a:solidFill>
                <a:latin typeface="Calibri"/>
              </a:rPr>
              <a:t>Es desechable, y eso lo libera</a:t>
            </a:r>
          </a:p>
        </p:txBody>
      </p:sp>
      <p:sp>
        <p:nvSpPr>
          <p:cNvPr id="16" name="TextBox 15"/>
          <p:cNvSpPr txBox="1"/>
          <p:nvPr/>
        </p:nvSpPr>
        <p:spPr>
          <a:xfrm>
            <a:off x="621792" y="4576572"/>
            <a:ext cx="5218023" cy="1595628"/>
          </a:xfrm>
          <a:prstGeom prst="rect">
            <a:avLst/>
          </a:prstGeom>
          <a:noFill/>
        </p:spPr>
        <p:txBody>
          <a:bodyPr wrap="square">
            <a:spAutoFit/>
          </a:bodyPr>
          <a:lstStyle/>
          <a:p>
            <a:r>
              <a:rPr sz="1300" b="0" i="0">
                <a:solidFill>
                  <a:srgbClr val="333333"/>
                </a:solidFill>
                <a:latin typeface="Calibri"/>
              </a:rPr>
              <a:t>Se hace sabiendo que se va a tirar. Por eso se puede probar una idea rara sin costo. </a:t>
            </a:r>
            <a:r>
              <a:rPr sz="1300" b="1" i="0">
                <a:solidFill>
                  <a:srgbClr val="333333"/>
                </a:solidFill>
                <a:latin typeface="Calibri"/>
              </a:rPr>
              <a:t>Un prototipo que da pesar tirar ya costó demasiado.</a:t>
            </a:r>
          </a:p>
        </p:txBody>
      </p:sp>
      <p:sp>
        <p:nvSpPr>
          <p:cNvPr id="17" name="Rounded Rectangle 16"/>
          <p:cNvSpPr/>
          <p:nvPr/>
        </p:nvSpPr>
        <p:spPr>
          <a:xfrm>
            <a:off x="6187287" y="3890772"/>
            <a:ext cx="5547207" cy="2464308"/>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7287" y="3890772"/>
            <a:ext cx="5547207" cy="9144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1879" y="4119372"/>
            <a:ext cx="5218023" cy="411480"/>
          </a:xfrm>
          <a:prstGeom prst="rect">
            <a:avLst/>
          </a:prstGeom>
          <a:noFill/>
        </p:spPr>
        <p:txBody>
          <a:bodyPr wrap="square">
            <a:spAutoFit/>
          </a:bodyPr>
          <a:lstStyle/>
          <a:p>
            <a:r>
              <a:rPr sz="1500" b="1" i="0">
                <a:solidFill>
                  <a:srgbClr val="095292"/>
                </a:solidFill>
                <a:latin typeface="Calibri"/>
              </a:rPr>
              <a:t>Se prueba con alguien ajeno</a:t>
            </a:r>
          </a:p>
        </p:txBody>
      </p:sp>
      <p:sp>
        <p:nvSpPr>
          <p:cNvPr id="20" name="TextBox 19"/>
          <p:cNvSpPr txBox="1"/>
          <p:nvPr/>
        </p:nvSpPr>
        <p:spPr>
          <a:xfrm>
            <a:off x="6351879" y="4576572"/>
            <a:ext cx="5218023" cy="1595628"/>
          </a:xfrm>
          <a:prstGeom prst="rect">
            <a:avLst/>
          </a:prstGeom>
          <a:noFill/>
        </p:spPr>
        <p:txBody>
          <a:bodyPr wrap="square">
            <a:spAutoFit/>
          </a:bodyPr>
          <a:lstStyle/>
          <a:p>
            <a:r>
              <a:rPr sz="1300" b="0" i="0">
                <a:solidFill>
                  <a:srgbClr val="333333"/>
                </a:solidFill>
                <a:latin typeface="Calibri"/>
              </a:rPr>
              <a:t>Un prototipo que solo vio el equipo no probó nada. Su única razón de existir es que </a:t>
            </a:r>
            <a:r>
              <a:rPr sz="1300" b="1" i="0">
                <a:solidFill>
                  <a:srgbClr val="333333"/>
                </a:solidFill>
                <a:latin typeface="Calibri"/>
              </a:rPr>
              <a:t>una persona de afuera intente usarlo delante de ustedes</a:t>
            </a:r>
            <a:r>
              <a:rPr sz="1300" b="0" i="0">
                <a:solidFill>
                  <a:srgbClr val="333333"/>
                </a:solidFill>
                <a:latin typeface="Calibri"/>
              </a:rPr>
              <a:t>, y que ustedes se queden callados.</a:t>
            </a:r>
          </a:p>
        </p:txBody>
      </p:sp>
      <p:sp>
        <p:nvSpPr>
          <p:cNvPr id="21" name="TextBox 20"/>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maqueta decorativa y prototipo</a:t>
            </a:r>
          </a:p>
        </p:txBody>
      </p:sp>
      <p:sp>
        <p:nvSpPr>
          <p:cNvPr id="5" name="Rounded Rectangle 4"/>
          <p:cNvSpPr/>
          <p:nvPr/>
        </p:nvSpPr>
        <p:spPr>
          <a:xfrm>
            <a:off x="457200" y="1261872"/>
            <a:ext cx="5478627" cy="5093208"/>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5478627" cy="50292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53312"/>
            <a:ext cx="5204307" cy="365760"/>
          </a:xfrm>
          <a:prstGeom prst="rect">
            <a:avLst/>
          </a:prstGeom>
          <a:noFill/>
        </p:spPr>
        <p:txBody>
          <a:bodyPr wrap="square" anchor="ctr"/>
          <a:lstStyle/>
          <a:p>
            <a:pPr algn="ctr"/>
            <a:r>
              <a:rPr sz="1600" b="1" i="0">
                <a:solidFill>
                  <a:srgbClr val="FFFFFF"/>
                </a:solidFill>
                <a:latin typeface="Calibri"/>
              </a:rPr>
              <a:t>Maqueta decorativa</a:t>
            </a:r>
          </a:p>
        </p:txBody>
      </p:sp>
      <p:sp>
        <p:nvSpPr>
          <p:cNvPr id="8" name="TextBox 7"/>
          <p:cNvSpPr txBox="1"/>
          <p:nvPr/>
        </p:nvSpPr>
        <p:spPr>
          <a:xfrm>
            <a:off x="621792"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Diez pantallas bonitas en Canva.</a:t>
            </a:r>
          </a:p>
          <a:p>
            <a:pPr>
              <a:spcAft>
                <a:spcPts val="800"/>
              </a:spcAft>
            </a:pPr>
            <a:r>
              <a:rPr sz="1500" b="0" i="0">
                <a:solidFill>
                  <a:srgbClr val="333333"/>
                </a:solidFill>
                <a:latin typeface="Calibri"/>
              </a:rPr>
              <a:t>–   Nadie escribió qué se quería averiguar.</a:t>
            </a:r>
          </a:p>
          <a:p>
            <a:pPr>
              <a:spcAft>
                <a:spcPts val="800"/>
              </a:spcAft>
            </a:pPr>
            <a:r>
              <a:rPr sz="1500" b="0" i="0">
                <a:solidFill>
                  <a:srgbClr val="333333"/>
                </a:solidFill>
                <a:latin typeface="Calibri"/>
              </a:rPr>
              <a:t>–   Solo la vio el equipo.</a:t>
            </a:r>
          </a:p>
          <a:p>
            <a:pPr>
              <a:spcAft>
                <a:spcPts val="800"/>
              </a:spcAft>
            </a:pPr>
            <a:r>
              <a:rPr sz="1500" b="0" i="0">
                <a:solidFill>
                  <a:srgbClr val="333333"/>
                </a:solidFill>
                <a:latin typeface="Calibri"/>
              </a:rPr>
              <a:t>–   Al final: «quedó lindo».</a:t>
            </a:r>
          </a:p>
        </p:txBody>
      </p:sp>
      <p:sp>
        <p:nvSpPr>
          <p:cNvPr id="9" name="Rounded Rectangle 8"/>
          <p:cNvSpPr/>
          <p:nvPr/>
        </p:nvSpPr>
        <p:spPr>
          <a:xfrm>
            <a:off x="6255867" y="1261872"/>
            <a:ext cx="5478627" cy="5093208"/>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55867" y="1261872"/>
            <a:ext cx="5478627" cy="5029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93027" y="1353312"/>
            <a:ext cx="5204307" cy="365760"/>
          </a:xfrm>
          <a:prstGeom prst="rect">
            <a:avLst/>
          </a:prstGeom>
          <a:noFill/>
        </p:spPr>
        <p:txBody>
          <a:bodyPr wrap="square" anchor="ctr"/>
          <a:lstStyle/>
          <a:p>
            <a:pPr algn="ctr"/>
            <a:r>
              <a:rPr sz="1600" b="1" i="0">
                <a:solidFill>
                  <a:srgbClr val="FFFFFF"/>
                </a:solidFill>
                <a:latin typeface="Calibri"/>
              </a:rPr>
              <a:t>Prototipo</a:t>
            </a:r>
          </a:p>
        </p:txBody>
      </p:sp>
      <p:sp>
        <p:nvSpPr>
          <p:cNvPr id="12" name="TextBox 11"/>
          <p:cNvSpPr txBox="1"/>
          <p:nvPr/>
        </p:nvSpPr>
        <p:spPr>
          <a:xfrm>
            <a:off x="6420459" y="1901952"/>
            <a:ext cx="5158587" cy="4498848"/>
          </a:xfrm>
          <a:prstGeom prst="rect">
            <a:avLst/>
          </a:prstGeom>
          <a:noFill/>
        </p:spPr>
        <p:txBody>
          <a:bodyPr wrap="square">
            <a:spAutoFit/>
          </a:bodyPr>
          <a:lstStyle/>
          <a:p>
            <a:pPr>
              <a:spcAft>
                <a:spcPts val="800"/>
              </a:spcAft>
            </a:pPr>
            <a:r>
              <a:rPr sz="1500" b="0" i="0">
                <a:solidFill>
                  <a:srgbClr val="333333"/>
                </a:solidFill>
                <a:latin typeface="Calibri"/>
              </a:rPr>
              <a:t>–   </a:t>
            </a:r>
            <a:r>
              <a:rPr sz="1500" b="1" i="0">
                <a:solidFill>
                  <a:srgbClr val="333333"/>
                </a:solidFill>
                <a:latin typeface="Calibri"/>
              </a:rPr>
              <a:t>Pregunta:</a:t>
            </a:r>
            <a:r>
              <a:rPr sz="1500" b="0" i="0">
                <a:solidFill>
                  <a:srgbClr val="333333"/>
                </a:solidFill>
                <a:latin typeface="Calibri"/>
              </a:rPr>
              <a:t> ¿el cliente entiende cuántos turnos van antes?</a:t>
            </a:r>
          </a:p>
          <a:p>
            <a:pPr>
              <a:spcAft>
                <a:spcPts val="800"/>
              </a:spcAft>
            </a:pPr>
            <a:r>
              <a:rPr sz="1500" b="0" i="0">
                <a:solidFill>
                  <a:srgbClr val="333333"/>
                </a:solidFill>
                <a:latin typeface="Calibri"/>
              </a:rPr>
              <a:t>–   Tres pantallas dibujadas en papel.</a:t>
            </a:r>
          </a:p>
          <a:p>
            <a:pPr>
              <a:spcAft>
                <a:spcPts val="800"/>
              </a:spcAft>
            </a:pPr>
            <a:r>
              <a:rPr sz="1500" b="0" i="0">
                <a:solidFill>
                  <a:srgbClr val="333333"/>
                </a:solidFill>
                <a:latin typeface="Calibri"/>
              </a:rPr>
              <a:t>–   Se las muestran a 3 clientes de la tienda.</a:t>
            </a:r>
          </a:p>
          <a:p>
            <a:pPr>
              <a:spcAft>
                <a:spcPts val="800"/>
              </a:spcAft>
            </a:pPr>
            <a:r>
              <a:rPr sz="1500" b="0" i="0">
                <a:solidFill>
                  <a:srgbClr val="333333"/>
                </a:solidFill>
                <a:latin typeface="Calibri"/>
              </a:rPr>
              <a:t>–   Al final: «2 de 3 no vieron el número; hay que agrandarlo».</a:t>
            </a:r>
          </a:p>
        </p:txBody>
      </p:sp>
      <p:pic>
        <p:nvPicPr>
          <p:cNvPr id="13" name="Picture 12" descr="sello_mal.png"/>
          <p:cNvPicPr>
            <a:picLocks noChangeAspect="1"/>
          </p:cNvPicPr>
          <p:nvPr/>
        </p:nvPicPr>
        <p:blipFill>
          <a:blip r:embed="rId2"/>
          <a:stretch>
            <a:fillRect/>
          </a:stretch>
        </p:blipFill>
        <p:spPr>
          <a:xfrm>
            <a:off x="566928" y="1316736"/>
            <a:ext cx="393192" cy="393192"/>
          </a:xfrm>
          <a:prstGeom prst="rect">
            <a:avLst/>
          </a:prstGeom>
        </p:spPr>
      </p:pic>
      <p:pic>
        <p:nvPicPr>
          <p:cNvPr id="14" name="Picture 13" descr="sello_bien.png"/>
          <p:cNvPicPr>
            <a:picLocks noChangeAspect="1"/>
          </p:cNvPicPr>
          <p:nvPr/>
        </p:nvPicPr>
        <p:blipFill>
          <a:blip r:embed="rId3"/>
          <a:stretch>
            <a:fillRect/>
          </a:stretch>
        </p:blipFill>
        <p:spPr>
          <a:xfrm>
            <a:off x="6365595" y="1316736"/>
            <a:ext cx="393192" cy="393192"/>
          </a:xfrm>
          <a:prstGeom prst="rect">
            <a:avLst/>
          </a:prstGeom>
        </p:spPr>
      </p:pic>
      <p:sp>
        <p:nvSpPr>
          <p:cNvPr id="15" name="TextBox 1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Niveles de fidelidad: qué se prueba con cada uno</a:t>
            </a:r>
          </a:p>
        </p:txBody>
      </p:sp>
      <p:graphicFrame>
        <p:nvGraphicFramePr>
          <p:cNvPr id="5" name="Table 4"/>
          <p:cNvGraphicFramePr>
            <a:graphicFrameLocks noGrp="1"/>
          </p:cNvGraphicFramePr>
          <p:nvPr/>
        </p:nvGraphicFramePr>
        <p:xfrm>
          <a:off x="457200" y="1216152"/>
          <a:ext cx="8961120" cy="1920240"/>
        </p:xfrm>
        <a:graphic>
          <a:graphicData uri="http://schemas.openxmlformats.org/drawingml/2006/table">
            <a:tbl>
              <a:tblPr firstRow="1" bandRow="1">
                <a:tableStyleId>{5C22544A-7EE6-4342-B048-85BDC9FD1C3A}</a:tableStyleId>
              </a:tblPr>
              <a:tblGrid>
                <a:gridCol w="1554480"/>
                <a:gridCol w="2468880"/>
                <a:gridCol w="2651760"/>
                <a:gridCol w="2286000"/>
              </a:tblGrid>
              <a:tr h="384048">
                <a:tc>
                  <a:txBody>
                    <a:bodyPr/>
                    <a:lstStyle/>
                    <a:p>
                      <a:r>
                        <a:rPr sz="1200" b="1" i="0">
                          <a:solidFill>
                            <a:srgbClr val="FFFFFF"/>
                          </a:solidFill>
                          <a:latin typeface="Calibri"/>
                        </a:rPr>
                        <a:t>Nivel</a:t>
                      </a:r>
                    </a:p>
                  </a:txBody>
                  <a:tcPr>
                    <a:solidFill>
                      <a:srgbClr val="095292"/>
                    </a:solidFill>
                  </a:tcPr>
                </a:tc>
                <a:tc>
                  <a:txBody>
                    <a:bodyPr/>
                    <a:lstStyle/>
                    <a:p>
                      <a:r>
                        <a:rPr sz="1200" b="1" i="0">
                          <a:solidFill>
                            <a:srgbClr val="FFFFFF"/>
                          </a:solidFill>
                          <a:latin typeface="Calibri"/>
                        </a:rPr>
                        <a:t>Cómo se ve</a:t>
                      </a:r>
                    </a:p>
                  </a:txBody>
                  <a:tcPr>
                    <a:solidFill>
                      <a:srgbClr val="095292"/>
                    </a:solidFill>
                  </a:tcPr>
                </a:tc>
                <a:tc>
                  <a:txBody>
                    <a:bodyPr/>
                    <a:lstStyle/>
                    <a:p>
                      <a:r>
                        <a:rPr sz="1200" b="1" i="0">
                          <a:solidFill>
                            <a:srgbClr val="FFFFFF"/>
                          </a:solidFill>
                          <a:latin typeface="Calibri"/>
                        </a:rPr>
                        <a:t>Qué pregunta responde</a:t>
                      </a:r>
                    </a:p>
                  </a:txBody>
                  <a:tcPr>
                    <a:solidFill>
                      <a:srgbClr val="095292"/>
                    </a:solidFill>
                  </a:tcPr>
                </a:tc>
                <a:tc>
                  <a:txBody>
                    <a:bodyPr/>
                    <a:lstStyle/>
                    <a:p>
                      <a:r>
                        <a:rPr sz="1200" b="1" i="0">
                          <a:solidFill>
                            <a:srgbClr val="FFFFFF"/>
                          </a:solidFill>
                          <a:latin typeface="Calibri"/>
                        </a:rPr>
                        <a:t>Cuánto cuesta cambiarlo</a:t>
                      </a:r>
                    </a:p>
                  </a:txBody>
                  <a:tcPr>
                    <a:solidFill>
                      <a:srgbClr val="095292"/>
                    </a:solidFill>
                  </a:tcPr>
                </a:tc>
              </a:tr>
              <a:tr h="384048">
                <a:tc>
                  <a:txBody>
                    <a:bodyPr/>
                    <a:lstStyle/>
                    <a:p>
                      <a:r>
                        <a:rPr sz="1200" b="1" i="0">
                          <a:solidFill>
                            <a:srgbClr val="333333"/>
                          </a:solidFill>
                          <a:latin typeface="Calibri"/>
                        </a:rPr>
                        <a:t>Baja</a:t>
                      </a:r>
                      <a:r>
                        <a:rPr sz="1200" b="0" i="0">
                          <a:solidFill>
                            <a:srgbClr val="333333"/>
                          </a:solidFill>
                          <a:latin typeface="Calibri"/>
                        </a:rPr>
                        <a:t>
(papel, Excalidraw)</a:t>
                      </a:r>
                    </a:p>
                  </a:txBody>
                  <a:tcPr>
                    <a:solidFill>
                      <a:srgbClr val="FFFFFF"/>
                    </a:solidFill>
                  </a:tcPr>
                </a:tc>
                <a:tc>
                  <a:txBody>
                    <a:bodyPr/>
                    <a:lstStyle/>
                    <a:p>
                      <a:r>
                        <a:rPr sz="1200" b="0" i="0">
                          <a:solidFill>
                            <a:srgbClr val="333333"/>
                          </a:solidFill>
                          <a:latin typeface="Calibri"/>
                        </a:rPr>
                        <a:t>Cajas, líneas, letra a mano. Se nota que es un borrador.</a:t>
                      </a:r>
                    </a:p>
                  </a:txBody>
                  <a:tcPr>
                    <a:solidFill>
                      <a:srgbClr val="FFFFFF"/>
                    </a:solidFill>
                  </a:tcPr>
                </a:tc>
                <a:tc>
                  <a:txBody>
                    <a:bodyPr/>
                    <a:lstStyle/>
                    <a:p>
                      <a:r>
                        <a:rPr sz="1200" b="0" i="0">
                          <a:solidFill>
                            <a:srgbClr val="333333"/>
                          </a:solidFill>
                          <a:latin typeface="Calibri"/>
                        </a:rPr>
                        <a:t>¿El flujo tiene sentido? ¿La gente entiende qué hacer?</a:t>
                      </a:r>
                    </a:p>
                  </a:txBody>
                  <a:tcPr>
                    <a:solidFill>
                      <a:srgbClr val="FFFFFF"/>
                    </a:solidFill>
                  </a:tcPr>
                </a:tc>
                <a:tc>
                  <a:txBody>
                    <a:bodyPr/>
                    <a:lstStyle/>
                    <a:p>
                      <a:r>
                        <a:rPr sz="1200" b="1" i="0">
                          <a:solidFill>
                            <a:srgbClr val="333333"/>
                          </a:solidFill>
                          <a:latin typeface="Calibri"/>
                        </a:rPr>
                        <a:t>Un minuto.</a:t>
                      </a:r>
                      <a:r>
                        <a:rPr sz="1200" b="0" i="0">
                          <a:solidFill>
                            <a:srgbClr val="333333"/>
                          </a:solidFill>
                          <a:latin typeface="Calibri"/>
                        </a:rPr>
                        <a:t> Se borra y se dibuja otra vez.</a:t>
                      </a:r>
                    </a:p>
                  </a:txBody>
                  <a:tcPr>
                    <a:solidFill>
                      <a:srgbClr val="FFFFFF"/>
                    </a:solidFill>
                  </a:tcPr>
                </a:tc>
              </a:tr>
              <a:tr h="384048">
                <a:tc>
                  <a:txBody>
                    <a:bodyPr/>
                    <a:lstStyle/>
                    <a:p>
                      <a:r>
                        <a:rPr sz="1200" b="1" i="0">
                          <a:solidFill>
                            <a:srgbClr val="333333"/>
                          </a:solidFill>
                          <a:latin typeface="Calibri"/>
                        </a:rPr>
                        <a:t>Media</a:t>
                      </a:r>
                      <a:r>
                        <a:rPr sz="1200" b="0" i="0">
                          <a:solidFill>
                            <a:srgbClr val="333333"/>
                          </a:solidFill>
                          <a:latin typeface="Calibri"/>
                        </a:rPr>
                        <a:t>
(draw.io, Slides enlazadas)</a:t>
                      </a:r>
                    </a:p>
                  </a:txBody>
                  <a:tcPr>
                    <a:solidFill>
                      <a:srgbClr val="F2F2F2"/>
                    </a:solidFill>
                  </a:tcPr>
                </a:tc>
                <a:tc>
                  <a:txBody>
                    <a:bodyPr/>
                    <a:lstStyle/>
                    <a:p>
                      <a:r>
                        <a:rPr sz="1200" b="0" i="0">
                          <a:solidFill>
                            <a:srgbClr val="333333"/>
                          </a:solidFill>
                          <a:latin typeface="Calibri"/>
                        </a:rPr>
                        <a:t>Pantallas ordenadas, con textos reales y navegación entre ellas.</a:t>
                      </a:r>
                    </a:p>
                  </a:txBody>
                  <a:tcPr>
                    <a:solidFill>
                      <a:srgbClr val="F2F2F2"/>
                    </a:solidFill>
                  </a:tcPr>
                </a:tc>
                <a:tc>
                  <a:txBody>
                    <a:bodyPr/>
                    <a:lstStyle/>
                    <a:p>
                      <a:r>
                        <a:rPr sz="1200" b="0" i="0">
                          <a:solidFill>
                            <a:srgbClr val="333333"/>
                          </a:solidFill>
                          <a:latin typeface="Calibri"/>
                        </a:rPr>
                        <a:t>¿Se puede completar la tarea sin ayuda? ¿Faltan pasos?</a:t>
                      </a:r>
                    </a:p>
                  </a:txBody>
                  <a:tcPr>
                    <a:solidFill>
                      <a:srgbClr val="F2F2F2"/>
                    </a:solidFill>
                  </a:tcPr>
                </a:tc>
                <a:tc>
                  <a:txBody>
                    <a:bodyPr/>
                    <a:lstStyle/>
                    <a:p>
                      <a:r>
                        <a:rPr sz="1200" b="1" i="0">
                          <a:solidFill>
                            <a:srgbClr val="333333"/>
                          </a:solidFill>
                          <a:latin typeface="Calibri"/>
                        </a:rPr>
                        <a:t>Minutos.</a:t>
                      </a:r>
                      <a:r>
                        <a:rPr sz="1200" b="0" i="0">
                          <a:solidFill>
                            <a:srgbClr val="333333"/>
                          </a:solidFill>
                          <a:latin typeface="Calibri"/>
                        </a:rPr>
                        <a:t> Se mueve una caja, se cambia un enlace.</a:t>
                      </a:r>
                    </a:p>
                  </a:txBody>
                  <a:tcPr>
                    <a:solidFill>
                      <a:srgbClr val="F2F2F2"/>
                    </a:solidFill>
                  </a:tcPr>
                </a:tc>
              </a:tr>
              <a:tr h="384048">
                <a:tc>
                  <a:txBody>
                    <a:bodyPr/>
                    <a:lstStyle/>
                    <a:p>
                      <a:r>
                        <a:rPr sz="1200" b="1" i="0">
                          <a:solidFill>
                            <a:srgbClr val="333333"/>
                          </a:solidFill>
                          <a:latin typeface="Calibri"/>
                        </a:rPr>
                        <a:t>Alta</a:t>
                      </a:r>
                      <a:r>
                        <a:rPr sz="1200" b="0" i="0">
                          <a:solidFill>
                            <a:srgbClr val="333333"/>
                          </a:solidFill>
                          <a:latin typeface="Calibri"/>
                        </a:rPr>
                        <a:t>
(Canva, herramientas de diseño)</a:t>
                      </a:r>
                    </a:p>
                  </a:txBody>
                  <a:tcPr>
                    <a:solidFill>
                      <a:srgbClr val="FFFFFF"/>
                    </a:solidFill>
                  </a:tcPr>
                </a:tc>
                <a:tc>
                  <a:txBody>
                    <a:bodyPr/>
                    <a:lstStyle/>
                    <a:p>
                      <a:r>
                        <a:rPr sz="1200" b="0" i="0">
                          <a:solidFill>
                            <a:srgbClr val="333333"/>
                          </a:solidFill>
                          <a:latin typeface="Calibri"/>
                        </a:rPr>
                        <a:t>Se parece al producto final: colores, tipografías, íconos.</a:t>
                      </a:r>
                    </a:p>
                  </a:txBody>
                  <a:tcPr>
                    <a:solidFill>
                      <a:srgbClr val="FFFFFF"/>
                    </a:solidFill>
                  </a:tcPr>
                </a:tc>
                <a:tc>
                  <a:txBody>
                    <a:bodyPr/>
                    <a:lstStyle/>
                    <a:p>
                      <a:r>
                        <a:rPr sz="1200" b="0" i="0">
                          <a:solidFill>
                            <a:srgbClr val="333333"/>
                          </a:solidFill>
                          <a:latin typeface="Calibri"/>
                        </a:rPr>
                        <a:t>¿Se ve confiable? ¿La marca comunica lo que debe?</a:t>
                      </a:r>
                    </a:p>
                  </a:txBody>
                  <a:tcPr>
                    <a:solidFill>
                      <a:srgbClr val="FFFFFF"/>
                    </a:solidFill>
                  </a:tcPr>
                </a:tc>
                <a:tc>
                  <a:txBody>
                    <a:bodyPr/>
                    <a:lstStyle/>
                    <a:p>
                      <a:r>
                        <a:rPr sz="1200" b="1" i="0">
                          <a:solidFill>
                            <a:srgbClr val="333333"/>
                          </a:solidFill>
                          <a:latin typeface="Calibri"/>
                        </a:rPr>
                        <a:t>Horas.</a:t>
                      </a:r>
                      <a:r>
                        <a:rPr sz="1200" b="0" i="0">
                          <a:solidFill>
                            <a:srgbClr val="333333"/>
                          </a:solidFill>
                          <a:latin typeface="Calibri"/>
                        </a:rPr>
                        <a:t> Y la gente ya no se atreve a criticarlo.</a:t>
                      </a:r>
                    </a:p>
                  </a:txBody>
                  <a:tcPr>
                    <a:solidFill>
                      <a:srgbClr val="FFFFFF"/>
                    </a:solidFill>
                  </a:tcPr>
                </a:tc>
              </a:tr>
              <a:tr h="384048">
                <a:tc>
                  <a:txBody>
                    <a:bodyPr/>
                    <a:lstStyle/>
                    <a:p>
                      <a:r>
                        <a:rPr sz="1200" b="1" i="0">
                          <a:solidFill>
                            <a:srgbClr val="333333"/>
                          </a:solidFill>
                          <a:latin typeface="Calibri"/>
                        </a:rPr>
                        <a:t>Funcional</a:t>
                      </a:r>
                      <a:r>
                        <a:rPr sz="1200" b="0" i="0">
                          <a:solidFill>
                            <a:srgbClr val="333333"/>
                          </a:solidFill>
                          <a:latin typeface="Calibri"/>
                        </a:rPr>
                        <a:t>
(algo que corre)</a:t>
                      </a:r>
                    </a:p>
                  </a:txBody>
                  <a:tcPr>
                    <a:solidFill>
                      <a:srgbClr val="F2F2F2"/>
                    </a:solidFill>
                  </a:tcPr>
                </a:tc>
                <a:tc>
                  <a:txBody>
                    <a:bodyPr/>
                    <a:lstStyle/>
                    <a:p>
                      <a:r>
                        <a:rPr sz="1200" b="0" i="0">
                          <a:solidFill>
                            <a:srgbClr val="333333"/>
                          </a:solidFill>
                          <a:latin typeface="Calibri"/>
                        </a:rPr>
                        <a:t>Funciona de verdad, aunque sea con datos de prueba.</a:t>
                      </a:r>
                    </a:p>
                  </a:txBody>
                  <a:tcPr>
                    <a:solidFill>
                      <a:srgbClr val="F2F2F2"/>
                    </a:solidFill>
                  </a:tcPr>
                </a:tc>
                <a:tc>
                  <a:txBody>
                    <a:bodyPr/>
                    <a:lstStyle/>
                    <a:p>
                      <a:r>
                        <a:rPr sz="1200" b="0" i="0">
                          <a:solidFill>
                            <a:srgbClr val="333333"/>
                          </a:solidFill>
                          <a:latin typeface="Calibri"/>
                        </a:rPr>
                        <a:t>¿Aguanta? ¿Es rápido? ¿Sirve en el celular viejo?</a:t>
                      </a:r>
                    </a:p>
                  </a:txBody>
                  <a:tcPr>
                    <a:solidFill>
                      <a:srgbClr val="F2F2F2"/>
                    </a:solidFill>
                  </a:tcPr>
                </a:tc>
                <a:tc>
                  <a:txBody>
                    <a:bodyPr/>
                    <a:lstStyle/>
                    <a:p>
                      <a:r>
                        <a:rPr sz="1200" b="1" i="0">
                          <a:solidFill>
                            <a:srgbClr val="333333"/>
                          </a:solidFill>
                          <a:latin typeface="Calibri"/>
                        </a:rPr>
                        <a:t>Días.</a:t>
                      </a:r>
                      <a:r>
                        <a:rPr sz="1200" b="0" i="0">
                          <a:solidFill>
                            <a:srgbClr val="333333"/>
                          </a:solidFill>
                          <a:latin typeface="Calibri"/>
                        </a:rPr>
                        <a:t> Es la fase de construcción, no de prototipo.</a:t>
                      </a:r>
                    </a:p>
                  </a:txBody>
                  <a:tcPr>
                    <a:solidFill>
                      <a:srgbClr val="F2F2F2"/>
                    </a:solidFill>
                  </a:tcPr>
                </a:tc>
              </a:tr>
            </a:tbl>
          </a:graphicData>
        </a:graphic>
      </p:graphicFrame>
      <p:sp>
        <p:nvSpPr>
          <p:cNvPr id="6" name="TextBox 5"/>
          <p:cNvSpPr txBox="1"/>
          <p:nvPr/>
        </p:nvSpPr>
        <p:spPr>
          <a:xfrm>
            <a:off x="457200" y="3794760"/>
            <a:ext cx="11277295" cy="457200"/>
          </a:xfrm>
          <a:prstGeom prst="rect">
            <a:avLst/>
          </a:prstGeom>
          <a:noFill/>
        </p:spPr>
        <p:txBody>
          <a:bodyPr wrap="square">
            <a:spAutoFit/>
          </a:bodyPr>
          <a:lstStyle/>
          <a:p>
            <a:r>
              <a:rPr sz="1100" b="0" i="1">
                <a:solidFill>
                  <a:srgbClr val="666666"/>
                </a:solidFill>
                <a:latin typeface="Calibri"/>
              </a:rPr>
              <a:t>En este curso el prototipo del corte 2 es de </a:t>
            </a:r>
            <a:r>
              <a:rPr sz="1100" b="1" i="1">
                <a:solidFill>
                  <a:srgbClr val="666666"/>
                </a:solidFill>
                <a:latin typeface="Calibri"/>
              </a:rPr>
              <a:t>baja o media</a:t>
            </a:r>
            <a:r>
              <a:rPr sz="1100" b="0" i="1">
                <a:solidFill>
                  <a:srgbClr val="666666"/>
                </a:solidFill>
                <a:latin typeface="Calibri"/>
              </a:rPr>
              <a:t> fidelidad. La alta aparece en la Clase 14, solo para la presentación final.</a:t>
            </a:r>
          </a:p>
        </p:txBody>
      </p:sp>
      <p:sp>
        <p:nvSpPr>
          <p:cNvPr id="7" name="TextBox 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70432"/>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384048"/>
          </a:xfrm>
          <a:prstGeom prst="rect">
            <a:avLst/>
          </a:prstGeom>
          <a:noFill/>
        </p:spPr>
        <p:txBody>
          <a:bodyPr wrap="square">
            <a:spAutoFit/>
          </a:bodyPr>
          <a:lstStyle/>
          <a:p>
            <a:r>
              <a:rPr sz="2600" b="1" i="0">
                <a:solidFill>
                  <a:srgbClr val="FFFFFF"/>
                </a:solidFill>
                <a:latin typeface="Calibri"/>
              </a:rPr>
              <a:t>Cómo se dibuja una pantalla que sirve</a:t>
            </a:r>
          </a:p>
        </p:txBody>
      </p:sp>
      <p:sp>
        <p:nvSpPr>
          <p:cNvPr id="5" name="TextBox 4"/>
          <p:cNvSpPr txBox="1"/>
          <p:nvPr/>
        </p:nvSpPr>
        <p:spPr>
          <a:xfrm>
            <a:off x="457200" y="566928"/>
            <a:ext cx="11277295" cy="411480"/>
          </a:xfrm>
          <a:prstGeom prst="rect">
            <a:avLst/>
          </a:prstGeom>
          <a:noFill/>
        </p:spPr>
        <p:txBody>
          <a:bodyPr wrap="square">
            <a:spAutoFit/>
          </a:bodyPr>
          <a:lstStyle/>
          <a:p>
            <a:r>
              <a:rPr sz="1400" b="0" i="0">
                <a:solidFill>
                  <a:srgbClr val="B8D8EE"/>
                </a:solidFill>
                <a:latin typeface="Calibri"/>
              </a:rPr>
              <a:t>Cinco pasos, tres pantallas. Si un paso no se puede cumplir, el problema está en el diseño y no en el dibujo</a:t>
            </a:r>
          </a:p>
        </p:txBody>
      </p:sp>
      <p:sp>
        <p:nvSpPr>
          <p:cNvPr id="6" name="Rounded Rectangle 5"/>
          <p:cNvSpPr/>
          <p:nvPr/>
        </p:nvSpPr>
        <p:spPr>
          <a:xfrm>
            <a:off x="457200" y="1444752"/>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679752"/>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79752"/>
            <a:ext cx="438912" cy="438912"/>
          </a:xfrm>
          <a:prstGeom prst="rect">
            <a:avLst/>
          </a:prstGeom>
          <a:noFill/>
        </p:spPr>
        <p:txBody>
          <a:bodyPr wrap="square" anchor="ctr"/>
          <a:lstStyle/>
          <a:p>
            <a:pPr algn="ctr"/>
            <a:r>
              <a:rPr sz="1600" b="1" i="0">
                <a:solidFill>
                  <a:srgbClr val="FFFFFF"/>
                </a:solidFill>
                <a:latin typeface="Calibri"/>
              </a:rPr>
              <a:t>1</a:t>
            </a:r>
          </a:p>
        </p:txBody>
      </p:sp>
      <p:sp>
        <p:nvSpPr>
          <p:cNvPr id="9" name="TextBox 8"/>
          <p:cNvSpPr txBox="1"/>
          <p:nvPr/>
        </p:nvSpPr>
        <p:spPr>
          <a:xfrm>
            <a:off x="1188720" y="1536192"/>
            <a:ext cx="10271455" cy="744321"/>
          </a:xfrm>
          <a:prstGeom prst="rect">
            <a:avLst/>
          </a:prstGeom>
          <a:noFill/>
        </p:spPr>
        <p:txBody>
          <a:bodyPr wrap="square" anchor="ctr"/>
          <a:lstStyle/>
          <a:p>
            <a:r>
              <a:rPr sz="1500" b="1" i="0">
                <a:solidFill>
                  <a:srgbClr val="095292"/>
                </a:solidFill>
                <a:latin typeface="Calibri"/>
              </a:rPr>
              <a:t>1 · Escriba arriba para qué existe la pantalla</a:t>
            </a:r>
          </a:p>
          <a:p>
            <a:pPr>
              <a:spcBef>
                <a:spcPts val="200"/>
              </a:spcBef>
            </a:pPr>
            <a:r>
              <a:rPr sz="1300" b="0" i="0">
                <a:solidFill>
                  <a:srgbClr val="333333"/>
                </a:solidFill>
                <a:latin typeface="Calibri"/>
              </a:rPr>
              <a:t>Una frase: «aquí el usuario averigua si el libro está disponible». Si no se puede escribir, la pantalla hace dos cosas y hay que partirla.</a:t>
            </a:r>
          </a:p>
        </p:txBody>
      </p:sp>
      <p:sp>
        <p:nvSpPr>
          <p:cNvPr id="10" name="Rounded Rectangle 9"/>
          <p:cNvSpPr/>
          <p:nvPr/>
        </p:nvSpPr>
        <p:spPr>
          <a:xfrm>
            <a:off x="457200" y="2445105"/>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680106"/>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80106"/>
            <a:ext cx="438912" cy="438912"/>
          </a:xfrm>
          <a:prstGeom prst="rect">
            <a:avLst/>
          </a:prstGeom>
          <a:noFill/>
        </p:spPr>
        <p:txBody>
          <a:bodyPr wrap="square" anchor="ctr"/>
          <a:lstStyle/>
          <a:p>
            <a:pPr algn="ctr"/>
            <a:r>
              <a:rPr sz="1600" b="1" i="0">
                <a:solidFill>
                  <a:srgbClr val="FFFFFF"/>
                </a:solidFill>
                <a:latin typeface="Calibri"/>
              </a:rPr>
              <a:t>2</a:t>
            </a:r>
          </a:p>
        </p:txBody>
      </p:sp>
      <p:sp>
        <p:nvSpPr>
          <p:cNvPr id="13" name="TextBox 12"/>
          <p:cNvSpPr txBox="1"/>
          <p:nvPr/>
        </p:nvSpPr>
        <p:spPr>
          <a:xfrm>
            <a:off x="1188720" y="2536545"/>
            <a:ext cx="10271455" cy="744321"/>
          </a:xfrm>
          <a:prstGeom prst="rect">
            <a:avLst/>
          </a:prstGeom>
          <a:noFill/>
        </p:spPr>
        <p:txBody>
          <a:bodyPr wrap="square" anchor="ctr"/>
          <a:lstStyle/>
          <a:p>
            <a:r>
              <a:rPr sz="1500" b="1" i="0">
                <a:solidFill>
                  <a:srgbClr val="095292"/>
                </a:solidFill>
                <a:latin typeface="Calibri"/>
              </a:rPr>
              <a:t>2 · Un solo camino principal, visible</a:t>
            </a:r>
          </a:p>
          <a:p>
            <a:pPr>
              <a:spcBef>
                <a:spcPts val="200"/>
              </a:spcBef>
            </a:pPr>
            <a:r>
              <a:rPr sz="1300" b="0" i="0">
                <a:solidFill>
                  <a:srgbClr val="333333"/>
                </a:solidFill>
                <a:latin typeface="Calibri"/>
              </a:rPr>
              <a:t>Lo que la persona va a hacer el 90 % de las veces, grande y primero. Todo lo demás, más pequeño o más abajo.</a:t>
            </a:r>
          </a:p>
        </p:txBody>
      </p:sp>
      <p:sp>
        <p:nvSpPr>
          <p:cNvPr id="14" name="Rounded Rectangle 13"/>
          <p:cNvSpPr/>
          <p:nvPr/>
        </p:nvSpPr>
        <p:spPr>
          <a:xfrm>
            <a:off x="457200" y="3445459"/>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680460"/>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680460"/>
            <a:ext cx="438912" cy="438912"/>
          </a:xfrm>
          <a:prstGeom prst="rect">
            <a:avLst/>
          </a:prstGeom>
          <a:noFill/>
        </p:spPr>
        <p:txBody>
          <a:bodyPr wrap="square" anchor="ctr"/>
          <a:lstStyle/>
          <a:p>
            <a:pPr algn="ctr"/>
            <a:r>
              <a:rPr sz="1600" b="1" i="0">
                <a:solidFill>
                  <a:srgbClr val="FFFFFF"/>
                </a:solidFill>
                <a:latin typeface="Calibri"/>
              </a:rPr>
              <a:t>3</a:t>
            </a:r>
          </a:p>
        </p:txBody>
      </p:sp>
      <p:sp>
        <p:nvSpPr>
          <p:cNvPr id="17" name="TextBox 16"/>
          <p:cNvSpPr txBox="1"/>
          <p:nvPr/>
        </p:nvSpPr>
        <p:spPr>
          <a:xfrm>
            <a:off x="1188720" y="3536899"/>
            <a:ext cx="10271455" cy="744321"/>
          </a:xfrm>
          <a:prstGeom prst="rect">
            <a:avLst/>
          </a:prstGeom>
          <a:noFill/>
        </p:spPr>
        <p:txBody>
          <a:bodyPr wrap="square" anchor="ctr"/>
          <a:lstStyle/>
          <a:p>
            <a:r>
              <a:rPr sz="1400" b="1" i="0">
                <a:solidFill>
                  <a:srgbClr val="095292"/>
                </a:solidFill>
                <a:latin typeface="Calibri"/>
              </a:rPr>
              <a:t>3 · Textos reales, nunca relleno</a:t>
            </a:r>
          </a:p>
          <a:p>
            <a:pPr>
              <a:spcBef>
                <a:spcPts val="200"/>
              </a:spcBef>
            </a:pPr>
            <a:r>
              <a:rPr sz="1200" b="0" i="0">
                <a:solidFill>
                  <a:srgbClr val="333333"/>
                </a:solidFill>
                <a:latin typeface="Calibri"/>
              </a:rPr>
              <a:t>«Buscar título» y no «texto aquí». </a:t>
            </a:r>
            <a:r>
              <a:rPr sz="1200" b="1" i="0">
                <a:solidFill>
                  <a:srgbClr val="333333"/>
                </a:solidFill>
                <a:latin typeface="Calibri"/>
              </a:rPr>
              <a:t>Los textos falsos esconden los problemas</a:t>
            </a:r>
            <a:r>
              <a:rPr sz="1200" b="0" i="0">
                <a:solidFill>
                  <a:srgbClr val="333333"/>
                </a:solidFill>
                <a:latin typeface="Calibri"/>
              </a:rPr>
              <a:t>: el botón que no se sabe cómo llamar es un botón que no se sabe qué hace.</a:t>
            </a:r>
          </a:p>
        </p:txBody>
      </p:sp>
      <p:sp>
        <p:nvSpPr>
          <p:cNvPr id="18" name="Rounded Rectangle 17"/>
          <p:cNvSpPr/>
          <p:nvPr/>
        </p:nvSpPr>
        <p:spPr>
          <a:xfrm>
            <a:off x="457200" y="4445812"/>
            <a:ext cx="11277295" cy="908913"/>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4360" y="4680813"/>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680813"/>
            <a:ext cx="438912" cy="438912"/>
          </a:xfrm>
          <a:prstGeom prst="rect">
            <a:avLst/>
          </a:prstGeom>
          <a:noFill/>
        </p:spPr>
        <p:txBody>
          <a:bodyPr wrap="square" anchor="ctr"/>
          <a:lstStyle/>
          <a:p>
            <a:pPr algn="ctr"/>
            <a:r>
              <a:rPr sz="1600" b="1" i="0">
                <a:solidFill>
                  <a:srgbClr val="FFFFFF"/>
                </a:solidFill>
                <a:latin typeface="Calibri"/>
              </a:rPr>
              <a:t>4</a:t>
            </a:r>
          </a:p>
        </p:txBody>
      </p:sp>
      <p:sp>
        <p:nvSpPr>
          <p:cNvPr id="21" name="TextBox 20"/>
          <p:cNvSpPr txBox="1"/>
          <p:nvPr/>
        </p:nvSpPr>
        <p:spPr>
          <a:xfrm>
            <a:off x="1188720" y="4537252"/>
            <a:ext cx="10271455" cy="744321"/>
          </a:xfrm>
          <a:prstGeom prst="rect">
            <a:avLst/>
          </a:prstGeom>
          <a:noFill/>
        </p:spPr>
        <p:txBody>
          <a:bodyPr wrap="square" anchor="ctr"/>
          <a:lstStyle/>
          <a:p>
            <a:r>
              <a:rPr sz="1500" b="1" i="0">
                <a:solidFill>
                  <a:srgbClr val="095292"/>
                </a:solidFill>
                <a:latin typeface="Calibri"/>
              </a:rPr>
              <a:t>4 · Dibuje el estado vacío y el de error</a:t>
            </a:r>
          </a:p>
          <a:p>
            <a:pPr>
              <a:spcBef>
                <a:spcPts val="200"/>
              </a:spcBef>
            </a:pPr>
            <a:r>
              <a:rPr sz="1300" b="0" i="0">
                <a:solidFill>
                  <a:srgbClr val="333333"/>
                </a:solidFill>
                <a:latin typeface="Calibri"/>
              </a:rPr>
              <a:t>Qué se ve cuando no hay datos, cuando no se encuentra nada, cuando algo falla. </a:t>
            </a:r>
            <a:r>
              <a:rPr sz="1300" b="1" i="0">
                <a:solidFill>
                  <a:srgbClr val="333333"/>
                </a:solidFill>
                <a:latin typeface="Calibri"/>
              </a:rPr>
              <a:t>Es donde se cae casi todo prototipo.</a:t>
            </a:r>
          </a:p>
        </p:txBody>
      </p:sp>
      <p:sp>
        <p:nvSpPr>
          <p:cNvPr id="22" name="Rounded Rectangle 21"/>
          <p:cNvSpPr/>
          <p:nvPr/>
        </p:nvSpPr>
        <p:spPr>
          <a:xfrm>
            <a:off x="457200" y="5446166"/>
            <a:ext cx="11277295" cy="908913"/>
          </a:xfrm>
          <a:prstGeom prst="roundRect">
            <a:avLst>
              <a:gd name="adj" fmla="val 12000"/>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94360" y="5681167"/>
            <a:ext cx="438912" cy="438912"/>
          </a:xfrm>
          <a:prstGeom prst="roundRect">
            <a:avLst>
              <a:gd name="adj" fmla="val 12000"/>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681167"/>
            <a:ext cx="438912" cy="438912"/>
          </a:xfrm>
          <a:prstGeom prst="rect">
            <a:avLst/>
          </a:prstGeom>
          <a:noFill/>
        </p:spPr>
        <p:txBody>
          <a:bodyPr wrap="square" anchor="ctr"/>
          <a:lstStyle/>
          <a:p>
            <a:pPr algn="ctr"/>
            <a:r>
              <a:rPr sz="1600" b="1" i="0">
                <a:solidFill>
                  <a:srgbClr val="FFFFFF"/>
                </a:solidFill>
                <a:latin typeface="Calibri"/>
              </a:rPr>
              <a:t>5</a:t>
            </a:r>
          </a:p>
        </p:txBody>
      </p:sp>
      <p:sp>
        <p:nvSpPr>
          <p:cNvPr id="25" name="TextBox 24"/>
          <p:cNvSpPr txBox="1"/>
          <p:nvPr/>
        </p:nvSpPr>
        <p:spPr>
          <a:xfrm>
            <a:off x="1188720" y="5537606"/>
            <a:ext cx="10271455" cy="744321"/>
          </a:xfrm>
          <a:prstGeom prst="rect">
            <a:avLst/>
          </a:prstGeom>
          <a:noFill/>
        </p:spPr>
        <p:txBody>
          <a:bodyPr wrap="square" anchor="ctr"/>
          <a:lstStyle/>
          <a:p>
            <a:r>
              <a:rPr sz="1500" b="1" i="0">
                <a:solidFill>
                  <a:srgbClr val="095292"/>
                </a:solidFill>
                <a:latin typeface="Calibri"/>
              </a:rPr>
              <a:t>5 · Diga qué pasa al tocar cada cosa</a:t>
            </a:r>
          </a:p>
          <a:p>
            <a:pPr>
              <a:spcBef>
                <a:spcPts val="200"/>
              </a:spcBef>
            </a:pPr>
            <a:r>
              <a:rPr sz="1300" b="0" i="0">
                <a:solidFill>
                  <a:srgbClr val="333333"/>
                </a:solidFill>
                <a:latin typeface="Calibri"/>
              </a:rPr>
              <a:t>Una flecha y una palabra por cada botón. Un botón sin destino escrito es una decisión que nadie tomó.</a:t>
            </a:r>
          </a:p>
        </p:txBody>
      </p:sp>
      <p:sp>
        <p:nvSpPr>
          <p:cNvPr id="26" name="TextBox 25"/>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Ejemplo: la pantalla «ver mi turno», en cinco pasos</a:t>
            </a:r>
          </a:p>
        </p:txBody>
      </p:sp>
      <p:sp>
        <p:nvSpPr>
          <p:cNvPr id="5" name="Rounded Rectangle 4"/>
          <p:cNvSpPr/>
          <p:nvPr/>
        </p:nvSpPr>
        <p:spPr>
          <a:xfrm>
            <a:off x="5803166" y="1188719"/>
            <a:ext cx="5998464" cy="4828032"/>
          </a:xfrm>
          <a:prstGeom prst="roundRect">
            <a:avLst>
              <a:gd name="adj" fmla="val 4000"/>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ntalla-turno-paso1.png"/>
          <p:cNvPicPr>
            <a:picLocks noChangeAspect="1"/>
          </p:cNvPicPr>
          <p:nvPr/>
        </p:nvPicPr>
        <p:blipFill>
          <a:blip r:embed="rId2"/>
          <a:stretch>
            <a:fillRect/>
          </a:stretch>
        </p:blipFill>
        <p:spPr>
          <a:xfrm>
            <a:off x="5876318" y="1261872"/>
            <a:ext cx="5852160" cy="4681728"/>
          </a:xfrm>
          <a:prstGeom prst="rect">
            <a:avLst/>
          </a:prstGeom>
        </p:spPr>
      </p:pic>
      <p:pic>
        <p:nvPicPr>
          <p:cNvPr id="7" name="Picture 6" descr="pantalla-turno-paso2.png"/>
          <p:cNvPicPr>
            <a:picLocks noChangeAspect="1"/>
          </p:cNvPicPr>
          <p:nvPr/>
        </p:nvPicPr>
        <p:blipFill>
          <a:blip r:embed="rId3"/>
          <a:stretch>
            <a:fillRect/>
          </a:stretch>
        </p:blipFill>
        <p:spPr>
          <a:xfrm>
            <a:off x="5876318" y="1261872"/>
            <a:ext cx="5852160" cy="4681728"/>
          </a:xfrm>
          <a:prstGeom prst="rect">
            <a:avLst/>
          </a:prstGeom>
        </p:spPr>
      </p:pic>
      <p:pic>
        <p:nvPicPr>
          <p:cNvPr id="8" name="Picture 7" descr="pantalla-turno-paso3.png"/>
          <p:cNvPicPr>
            <a:picLocks noChangeAspect="1"/>
          </p:cNvPicPr>
          <p:nvPr/>
        </p:nvPicPr>
        <p:blipFill>
          <a:blip r:embed="rId4"/>
          <a:stretch>
            <a:fillRect/>
          </a:stretch>
        </p:blipFill>
        <p:spPr>
          <a:xfrm>
            <a:off x="5876318" y="1261872"/>
            <a:ext cx="5852160" cy="4681728"/>
          </a:xfrm>
          <a:prstGeom prst="rect">
            <a:avLst/>
          </a:prstGeom>
        </p:spPr>
      </p:pic>
      <p:pic>
        <p:nvPicPr>
          <p:cNvPr id="9" name="Picture 8" descr="pantalla-turno-paso4.png"/>
          <p:cNvPicPr>
            <a:picLocks noChangeAspect="1"/>
          </p:cNvPicPr>
          <p:nvPr/>
        </p:nvPicPr>
        <p:blipFill>
          <a:blip r:embed="rId5"/>
          <a:stretch>
            <a:fillRect/>
          </a:stretch>
        </p:blipFill>
        <p:spPr>
          <a:xfrm>
            <a:off x="5876318" y="1261872"/>
            <a:ext cx="5852160" cy="4681728"/>
          </a:xfrm>
          <a:prstGeom prst="rect">
            <a:avLst/>
          </a:prstGeom>
        </p:spPr>
      </p:pic>
      <p:pic>
        <p:nvPicPr>
          <p:cNvPr id="10" name="Picture 9" descr="pantalla-turno-paso5.png"/>
          <p:cNvPicPr>
            <a:picLocks noChangeAspect="1"/>
          </p:cNvPicPr>
          <p:nvPr/>
        </p:nvPicPr>
        <p:blipFill>
          <a:blip r:embed="rId6"/>
          <a:stretch>
            <a:fillRect/>
          </a:stretch>
        </p:blipFill>
        <p:spPr>
          <a:xfrm>
            <a:off x="5876318" y="1261872"/>
            <a:ext cx="5852160" cy="4681728"/>
          </a:xfrm>
          <a:prstGeom prst="rect">
            <a:avLst/>
          </a:prstGeom>
        </p:spPr>
      </p:pic>
      <p:sp>
        <p:nvSpPr>
          <p:cNvPr id="23" name="TextBox 22"/>
          <p:cNvSpPr txBox="1"/>
          <p:nvPr/>
        </p:nvSpPr>
        <p:spPr>
          <a:xfrm>
            <a:off x="5870301" y="5961888"/>
            <a:ext cx="5864193" cy="320040"/>
          </a:xfrm>
          <a:prstGeom prst="rect">
            <a:avLst/>
          </a:prstGeom>
          <a:noFill/>
        </p:spPr>
        <p:txBody>
          <a:bodyPr wrap="square">
            <a:spAutoFit/>
          </a:bodyPr>
          <a:lstStyle/>
          <a:p>
            <a:pPr algn="ctr"/>
            <a:r>
              <a:rPr sz="1100" b="0" i="1">
                <a:solidFill>
                  <a:srgbClr val="666666"/>
                </a:solidFill>
                <a:latin typeface="Calibri"/>
              </a:rPr>
              <a:t>Clic para avanzar la animación</a:t>
            </a:r>
          </a:p>
        </p:txBody>
      </p:sp>
      <p:sp>
        <p:nvSpPr>
          <p:cNvPr id="24" name="TextBox 23"/>
          <p:cNvSpPr txBox="1"/>
          <p:nvPr/>
        </p:nvSpPr>
        <p:spPr>
          <a:xfrm>
            <a:off x="457200" y="1353312"/>
            <a:ext cx="5093061" cy="5047488"/>
          </a:xfrm>
          <a:prstGeom prst="rect">
            <a:avLst/>
          </a:prstGeom>
          <a:noFill/>
        </p:spPr>
        <p:txBody>
          <a:bodyPr wrap="square">
            <a:spAutoFit/>
          </a:bodyPr>
          <a:lstStyle/>
          <a:p>
            <a:pPr>
              <a:spcAft>
                <a:spcPts val="800"/>
              </a:spcAft>
            </a:pPr>
            <a:r>
              <a:rPr sz="2000" b="0" i="0">
                <a:solidFill>
                  <a:srgbClr val="333333"/>
                </a:solidFill>
                <a:latin typeface="Calibri"/>
              </a:rPr>
              <a:t>–   </a:t>
            </a:r>
            <a:r>
              <a:rPr sz="2000" b="1" i="0">
                <a:solidFill>
                  <a:srgbClr val="333333"/>
                </a:solidFill>
                <a:latin typeface="Calibri"/>
              </a:rPr>
              <a:t>1 · Para qué existe:</a:t>
            </a:r>
            <a:r>
              <a:rPr sz="2000" b="0" i="0">
                <a:solidFill>
                  <a:srgbClr val="333333"/>
                </a:solidFill>
                <a:latin typeface="Calibri"/>
              </a:rPr>
              <a:t> «Aquí el cliente sabe cuántas personas van antes que él».</a:t>
            </a:r>
          </a:p>
          <a:p>
            <a:pPr>
              <a:spcAft>
                <a:spcPts val="800"/>
              </a:spcAft>
            </a:pPr>
            <a:r>
              <a:rPr sz="2000" b="0" i="0">
                <a:solidFill>
                  <a:srgbClr val="333333"/>
                </a:solidFill>
                <a:latin typeface="Calibri"/>
              </a:rPr>
              <a:t>–   </a:t>
            </a:r>
            <a:r>
              <a:rPr sz="2000" b="1" i="0">
                <a:solidFill>
                  <a:srgbClr val="333333"/>
                </a:solidFill>
                <a:latin typeface="Calibri"/>
              </a:rPr>
              <a:t>2 · Camino principal:</a:t>
            </a:r>
            <a:r>
              <a:rPr sz="2000" b="0" i="0">
                <a:solidFill>
                  <a:srgbClr val="333333"/>
                </a:solidFill>
                <a:latin typeface="Calibri"/>
              </a:rPr>
              <a:t> Un número grande al centro: </a:t>
            </a:r>
            <a:r>
              <a:rPr sz="2000" b="1" i="0">
                <a:solidFill>
                  <a:srgbClr val="333333"/>
                </a:solidFill>
                <a:latin typeface="Calibri"/>
              </a:rPr>
              <a:t>«Van 4 antes que usted»</a:t>
            </a:r>
            <a:r>
              <a:rPr sz="2000" b="0" i="0">
                <a:solidFill>
                  <a:srgbClr val="333333"/>
                </a:solidFill>
                <a:latin typeface="Calibri"/>
              </a:rPr>
              <a:t>.</a:t>
            </a:r>
          </a:p>
          <a:p>
            <a:pPr>
              <a:spcAft>
                <a:spcPts val="800"/>
              </a:spcAft>
            </a:pPr>
            <a:r>
              <a:rPr sz="2000" b="0" i="0">
                <a:solidFill>
                  <a:srgbClr val="333333"/>
                </a:solidFill>
                <a:latin typeface="Calibri"/>
              </a:rPr>
              <a:t>–   </a:t>
            </a:r>
            <a:r>
              <a:rPr sz="2000" b="1" i="0">
                <a:solidFill>
                  <a:srgbClr val="333333"/>
                </a:solidFill>
                <a:latin typeface="Calibri"/>
              </a:rPr>
              <a:t>3 · Textos reales:</a:t>
            </a:r>
            <a:r>
              <a:rPr sz="2000" b="0" i="0">
                <a:solidFill>
                  <a:srgbClr val="333333"/>
                </a:solidFill>
                <a:latin typeface="Calibri"/>
              </a:rPr>
              <a:t> «Su turno: 27» y no «texto aquí».</a:t>
            </a:r>
          </a:p>
          <a:p>
            <a:pPr>
              <a:spcAft>
                <a:spcPts val="800"/>
              </a:spcAft>
            </a:pPr>
            <a:r>
              <a:rPr sz="2000" b="0" i="0">
                <a:solidFill>
                  <a:srgbClr val="333333"/>
                </a:solidFill>
                <a:latin typeface="Calibri"/>
              </a:rPr>
              <a:t>–   </a:t>
            </a:r>
            <a:r>
              <a:rPr sz="2000" b="1" i="0">
                <a:solidFill>
                  <a:srgbClr val="333333"/>
                </a:solidFill>
                <a:latin typeface="Calibri"/>
              </a:rPr>
              <a:t>4 · Vacío y error:</a:t>
            </a:r>
            <a:r>
              <a:rPr sz="2000" b="0" i="0">
                <a:solidFill>
                  <a:srgbClr val="333333"/>
                </a:solidFill>
                <a:latin typeface="Calibri"/>
              </a:rPr>
              <a:t> «Aún no tiene turno → Pedir turno» · «Sin conexión: intente de nuevo».</a:t>
            </a:r>
          </a:p>
        </p:txBody>
      </p:sp>
      <p:sp>
        <p:nvSpPr>
          <p:cNvPr id="25" name="TextBox 24"/>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5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Qué herramienta usar, según la pregunta</a:t>
            </a:r>
          </a:p>
        </p:txBody>
      </p:sp>
      <p:graphicFrame>
        <p:nvGraphicFramePr>
          <p:cNvPr id="5" name="Table 4"/>
          <p:cNvGraphicFramePr>
            <a:graphicFrameLocks noGrp="1"/>
          </p:cNvGraphicFramePr>
          <p:nvPr/>
        </p:nvGraphicFramePr>
        <p:xfrm>
          <a:off x="457200" y="1216152"/>
          <a:ext cx="8961120" cy="2304288"/>
        </p:xfrm>
        <a:graphic>
          <a:graphicData uri="http://schemas.openxmlformats.org/drawingml/2006/table">
            <a:tbl>
              <a:tblPr firstRow="1" bandRow="1">
                <a:tableStyleId>{5C22544A-7EE6-4342-B048-85BDC9FD1C3A}</a:tableStyleId>
              </a:tblPr>
              <a:tblGrid>
                <a:gridCol w="1737360"/>
                <a:gridCol w="3840480"/>
                <a:gridCol w="3383280"/>
              </a:tblGrid>
              <a:tr h="384048">
                <a:tc>
                  <a:txBody>
                    <a:bodyPr/>
                    <a:lstStyle/>
                    <a:p>
                      <a:r>
                        <a:rPr sz="1200" b="1" i="0">
                          <a:solidFill>
                            <a:srgbClr val="FFFFFF"/>
                          </a:solidFill>
                          <a:latin typeface="Calibri"/>
                        </a:rPr>
                        <a:t>Herramienta</a:t>
                      </a:r>
                    </a:p>
                  </a:txBody>
                  <a:tcPr>
                    <a:solidFill>
                      <a:srgbClr val="095292"/>
                    </a:solidFill>
                  </a:tcPr>
                </a:tc>
                <a:tc>
                  <a:txBody>
                    <a:bodyPr/>
                    <a:lstStyle/>
                    <a:p>
                      <a:r>
                        <a:rPr sz="1200" b="1" i="0">
                          <a:solidFill>
                            <a:srgbClr val="FFFFFF"/>
                          </a:solidFill>
                          <a:latin typeface="Calibri"/>
                        </a:rPr>
                        <a:t>Para qué sirve de verdad</a:t>
                      </a:r>
                    </a:p>
                  </a:txBody>
                  <a:tcPr>
                    <a:solidFill>
                      <a:srgbClr val="095292"/>
                    </a:solidFill>
                  </a:tcPr>
                </a:tc>
                <a:tc>
                  <a:txBody>
                    <a:bodyPr/>
                    <a:lstStyle/>
                    <a:p>
                      <a:r>
                        <a:rPr sz="1200" b="1" i="0">
                          <a:solidFill>
                            <a:srgbClr val="FFFFFF"/>
                          </a:solidFill>
                          <a:latin typeface="Calibri"/>
                        </a:rPr>
                        <a:t>Cuándo NO usarla</a:t>
                      </a:r>
                    </a:p>
                  </a:txBody>
                  <a:tcPr>
                    <a:solidFill>
                      <a:srgbClr val="095292"/>
                    </a:solidFill>
                  </a:tcPr>
                </a:tc>
              </a:tr>
              <a:tr h="384048">
                <a:tc>
                  <a:txBody>
                    <a:bodyPr/>
                    <a:lstStyle/>
                    <a:p>
                      <a:r>
                        <a:rPr sz="1200" b="1" i="0">
                          <a:solidFill>
                            <a:srgbClr val="333333"/>
                          </a:solidFill>
                          <a:latin typeface="Calibri"/>
                        </a:rPr>
                        <a:t>Excalidraw</a:t>
                      </a:r>
                    </a:p>
                  </a:txBody>
                  <a:tcPr>
                    <a:solidFill>
                      <a:srgbClr val="FFFFFF"/>
                    </a:solidFill>
                  </a:tcPr>
                </a:tc>
                <a:tc>
                  <a:txBody>
                    <a:bodyPr/>
                    <a:lstStyle/>
                    <a:p>
                      <a:r>
                        <a:rPr sz="1200" b="0" i="0">
                          <a:solidFill>
                            <a:srgbClr val="333333"/>
                          </a:solidFill>
                          <a:latin typeface="Calibri"/>
                        </a:rPr>
                        <a:t>Pantallas y esquemas de baja fidelidad. Se ve dibujado a mano </a:t>
                      </a:r>
                      <a:r>
                        <a:rPr sz="1200" b="1" i="0">
                          <a:solidFill>
                            <a:srgbClr val="333333"/>
                          </a:solidFill>
                          <a:latin typeface="Calibri"/>
                        </a:rPr>
                        <a:t>y eso es una ventaja</a:t>
                      </a:r>
                      <a:r>
                        <a:rPr sz="1200" b="0" i="0">
                          <a:solidFill>
                            <a:srgbClr val="333333"/>
                          </a:solidFill>
                          <a:latin typeface="Calibri"/>
                        </a:rPr>
                        <a:t>: invita a criticar. Abre sin cuenta y se comparte con un enlace.</a:t>
                      </a:r>
                    </a:p>
                  </a:txBody>
                  <a:tcPr>
                    <a:solidFill>
                      <a:srgbClr val="FFFFFF"/>
                    </a:solidFill>
                  </a:tcPr>
                </a:tc>
                <a:tc>
                  <a:txBody>
                    <a:bodyPr/>
                    <a:lstStyle/>
                    <a:p>
                      <a:r>
                        <a:rPr sz="1200" b="0" i="0">
                          <a:solidFill>
                            <a:srgbClr val="333333"/>
                          </a:solidFill>
                          <a:latin typeface="Calibri"/>
                        </a:rPr>
                        <a:t>Cuando el proyecto es un proceso con decisiones y ramas: para eso hay algo mejor.</a:t>
                      </a:r>
                    </a:p>
                  </a:txBody>
                  <a:tcPr>
                    <a:solidFill>
                      <a:srgbClr val="FFFFFF"/>
                    </a:solidFill>
                  </a:tcPr>
                </a:tc>
              </a:tr>
              <a:tr h="384048">
                <a:tc>
                  <a:txBody>
                    <a:bodyPr/>
                    <a:lstStyle/>
                    <a:p>
                      <a:r>
                        <a:rPr sz="1200" b="1" i="0">
                          <a:solidFill>
                            <a:srgbClr val="333333"/>
                          </a:solidFill>
                          <a:latin typeface="Calibri"/>
                        </a:rPr>
                        <a:t>diagrams.net (draw.io)</a:t>
                      </a:r>
                    </a:p>
                  </a:txBody>
                  <a:tcPr>
                    <a:solidFill>
                      <a:srgbClr val="F2F2F2"/>
                    </a:solidFill>
                  </a:tcPr>
                </a:tc>
                <a:tc>
                  <a:txBody>
                    <a:bodyPr/>
                    <a:lstStyle/>
                    <a:p>
                      <a:r>
                        <a:rPr sz="1200" b="0" i="0">
                          <a:solidFill>
                            <a:srgbClr val="333333"/>
                          </a:solidFill>
                          <a:latin typeface="Calibri"/>
                        </a:rPr>
                        <a:t>Flujos, procesos, arquitecturas y diagramas con decisiones. Formas estándar y conectores que se quedan pegados al mover las cajas.</a:t>
                      </a:r>
                    </a:p>
                  </a:txBody>
                  <a:tcPr>
                    <a:solidFill>
                      <a:srgbClr val="F2F2F2"/>
                    </a:solidFill>
                  </a:tcPr>
                </a:tc>
                <a:tc>
                  <a:txBody>
                    <a:bodyPr/>
                    <a:lstStyle/>
                    <a:p>
                      <a:r>
                        <a:rPr sz="1200" b="0" i="0">
                          <a:solidFill>
                            <a:srgbClr val="333333"/>
                          </a:solidFill>
                          <a:latin typeface="Calibri"/>
                        </a:rPr>
                        <a:t>Para diseñar cómo se ve una pantalla: queda rígido y frío.</a:t>
                      </a:r>
                    </a:p>
                  </a:txBody>
                  <a:tcPr>
                    <a:solidFill>
                      <a:srgbClr val="F2F2F2"/>
                    </a:solidFill>
                  </a:tcPr>
                </a:tc>
              </a:tr>
              <a:tr h="384048">
                <a:tc>
                  <a:txBody>
                    <a:bodyPr/>
                    <a:lstStyle/>
                    <a:p>
                      <a:r>
                        <a:rPr sz="1200" b="1" i="0">
                          <a:solidFill>
                            <a:srgbClr val="333333"/>
                          </a:solidFill>
                          <a:latin typeface="Calibri"/>
                        </a:rPr>
                        <a:t>Google Slides</a:t>
                      </a:r>
                    </a:p>
                  </a:txBody>
                  <a:tcPr>
                    <a:solidFill>
                      <a:srgbClr val="FFFFFF"/>
                    </a:solidFill>
                  </a:tcPr>
                </a:tc>
                <a:tc>
                  <a:txBody>
                    <a:bodyPr/>
                    <a:lstStyle/>
                    <a:p>
                      <a:r>
                        <a:rPr sz="1200" b="1" i="0">
                          <a:solidFill>
                            <a:srgbClr val="333333"/>
                          </a:solidFill>
                          <a:latin typeface="Calibri"/>
                        </a:rPr>
                        <a:t>Prototipo navegable</a:t>
                      </a:r>
                      <a:r>
                        <a:rPr sz="1200" b="0" i="0">
                          <a:solidFill>
                            <a:srgbClr val="333333"/>
                          </a:solidFill>
                          <a:latin typeface="Calibri"/>
                        </a:rPr>
                        <a:t>: una diapositiva por pantalla y un enlace en cada botón hacia la diapositiva de destino. En modo presentación se puede usar como si funcionara. Es el truco más útil de esta sesión.</a:t>
                      </a:r>
                    </a:p>
                  </a:txBody>
                  <a:tcPr>
                    <a:solidFill>
                      <a:srgbClr val="FFFFFF"/>
                    </a:solidFill>
                  </a:tcPr>
                </a:tc>
                <a:tc>
                  <a:txBody>
                    <a:bodyPr/>
                    <a:lstStyle/>
                    <a:p>
                      <a:r>
                        <a:rPr sz="1200" b="0" i="0">
                          <a:solidFill>
                            <a:srgbClr val="333333"/>
                          </a:solidFill>
                          <a:latin typeface="Calibri"/>
                        </a:rPr>
                        <a:t>Cuando hace falta lógica real —cálculos, datos que cambian—: ahí ya es construcción.</a:t>
                      </a:r>
                    </a:p>
                  </a:txBody>
                  <a:tcPr>
                    <a:solidFill>
                      <a:srgbClr val="FFFFFF"/>
                    </a:solidFill>
                  </a:tcPr>
                </a:tc>
              </a:tr>
              <a:tr h="384048">
                <a:tc>
                  <a:txBody>
                    <a:bodyPr/>
                    <a:lstStyle/>
                    <a:p>
                      <a:r>
                        <a:rPr sz="1200" b="1" i="0">
                          <a:solidFill>
                            <a:srgbClr val="333333"/>
                          </a:solidFill>
                          <a:latin typeface="Calibri"/>
                        </a:rPr>
                        <a:t>Canva</a:t>
                      </a:r>
                    </a:p>
                  </a:txBody>
                  <a:tcPr>
                    <a:solidFill>
                      <a:srgbClr val="F2F2F2"/>
                    </a:solidFill>
                  </a:tcPr>
                </a:tc>
                <a:tc>
                  <a:txBody>
                    <a:bodyPr/>
                    <a:lstStyle/>
                    <a:p>
                      <a:r>
                        <a:rPr sz="1200" b="0" i="0">
                          <a:solidFill>
                            <a:srgbClr val="333333"/>
                          </a:solidFill>
                          <a:latin typeface="Calibri"/>
                        </a:rPr>
                        <a:t>Fidelidad alta para la presentación final y para material que alguien externo va a ver.</a:t>
                      </a:r>
                    </a:p>
                  </a:txBody>
                  <a:tcPr>
                    <a:solidFill>
                      <a:srgbClr val="F2F2F2"/>
                    </a:solidFill>
                  </a:tcPr>
                </a:tc>
                <a:tc>
                  <a:txBody>
                    <a:bodyPr/>
                    <a:lstStyle/>
                    <a:p>
                      <a:r>
                        <a:rPr sz="1200" b="0" i="0">
                          <a:solidFill>
                            <a:srgbClr val="333333"/>
                          </a:solidFill>
                          <a:latin typeface="Calibri"/>
                        </a:rPr>
                        <a:t>En un primer prototipo. Se ve tan terminado que la gente deja de criticarlo.</a:t>
                      </a:r>
                    </a:p>
                  </a:txBody>
                  <a:tcPr>
                    <a:solidFill>
                      <a:srgbClr val="F2F2F2"/>
                    </a:solidFill>
                  </a:tcPr>
                </a:tc>
              </a:tr>
              <a:tr h="384048">
                <a:tc>
                  <a:txBody>
                    <a:bodyPr/>
                    <a:lstStyle/>
                    <a:p>
                      <a:r>
                        <a:rPr sz="1200" b="1" i="0">
                          <a:solidFill>
                            <a:srgbClr val="333333"/>
                          </a:solidFill>
                          <a:latin typeface="Calibri"/>
                        </a:rPr>
                        <a:t>Papel y una foto</a:t>
                      </a:r>
                    </a:p>
                  </a:txBody>
                  <a:tcPr>
                    <a:solidFill>
                      <a:srgbClr val="FFFFFF"/>
                    </a:solidFill>
                  </a:tcPr>
                </a:tc>
                <a:tc>
                  <a:txBody>
                    <a:bodyPr/>
                    <a:lstStyle/>
                    <a:p>
                      <a:r>
                        <a:rPr sz="1200" b="0" i="0">
                          <a:solidFill>
                            <a:srgbClr val="333333"/>
                          </a:solidFill>
                          <a:latin typeface="Calibri"/>
                        </a:rPr>
                        <a:t>Lo más rápido que existe: se dibuja, se fotografía y se sube a la carpeta del equipo. Perfectamente válido en este curso.</a:t>
                      </a:r>
                    </a:p>
                  </a:txBody>
                  <a:tcPr>
                    <a:solidFill>
                      <a:srgbClr val="FFFFFF"/>
                    </a:solidFill>
                  </a:tcPr>
                </a:tc>
                <a:tc>
                  <a:txBody>
                    <a:bodyPr/>
                    <a:lstStyle/>
                    <a:p>
                      <a:r>
                        <a:rPr sz="1200" b="0" i="0">
                          <a:solidFill>
                            <a:srgbClr val="333333"/>
                          </a:solidFill>
                          <a:latin typeface="Calibri"/>
                        </a:rPr>
                        <a:t>Si la foto sale ilegible o si el equipo no puede editarla después entre todos.</a:t>
                      </a:r>
                    </a:p>
                  </a:txBody>
                  <a:tcPr>
                    <a:solidFill>
                      <a:srgbClr val="FFFFFF"/>
                    </a:solidFill>
                  </a:tcPr>
                </a:tc>
              </a:tr>
            </a:tbl>
          </a:graphicData>
        </a:graphic>
      </p:graphicFrame>
      <p:sp>
        <p:nvSpPr>
          <p:cNvPr id="6" name="TextBox 5"/>
          <p:cNvSpPr txBox="1"/>
          <p:nvPr/>
        </p:nvSpPr>
        <p:spPr>
          <a:xfrm>
            <a:off x="457200" y="4297680"/>
            <a:ext cx="11277295" cy="457200"/>
          </a:xfrm>
          <a:prstGeom prst="rect">
            <a:avLst/>
          </a:prstGeom>
          <a:noFill/>
        </p:spPr>
        <p:txBody>
          <a:bodyPr wrap="square">
            <a:spAutoFit/>
          </a:bodyPr>
          <a:lstStyle/>
          <a:p>
            <a:r>
              <a:rPr sz="1100" b="0" i="1">
                <a:solidFill>
                  <a:srgbClr val="666666"/>
                </a:solidFill>
                <a:latin typeface="Calibri"/>
              </a:rPr>
              <a:t>Todas abren en el navegador y </a:t>
            </a:r>
            <a:r>
              <a:rPr sz="1100" b="1" i="1">
                <a:solidFill>
                  <a:srgbClr val="666666"/>
                </a:solidFill>
                <a:latin typeface="Calibri"/>
              </a:rPr>
              <a:t>ninguna exige pago ni tarjeta</a:t>
            </a:r>
            <a:r>
              <a:rPr sz="1100" b="0" i="1">
                <a:solidFill>
                  <a:srgbClr val="666666"/>
                </a:solidFill>
                <a:latin typeface="Calibri"/>
              </a:rPr>
              <a:t>. La pregunta para elegir no es «¿cuál sé usar?» sino </a:t>
            </a:r>
            <a:r>
              <a:rPr sz="1100" b="1" i="1">
                <a:solidFill>
                  <a:srgbClr val="666666"/>
                </a:solidFill>
                <a:latin typeface="Calibri"/>
              </a:rPr>
              <a:t>«¿qué quiero responder con esto?»</a:t>
            </a:r>
            <a:r>
              <a:rPr sz="1100" b="0" i="1">
                <a:solidFill>
                  <a:srgbClr val="666666"/>
                </a:solidFill>
                <a:latin typeface="Calibri"/>
              </a:rPr>
              <a:t>.</a:t>
            </a:r>
          </a:p>
        </p:txBody>
      </p:sp>
      <p:sp>
        <p:nvSpPr>
          <p:cNvPr id="7" name="TextBox 6"/>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0952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41148"/>
          </a:xfrm>
          <a:prstGeom prst="rect">
            <a:avLst/>
          </a:prstGeom>
          <a:solidFill>
            <a:srgbClr val="FFD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11277295" cy="502920"/>
          </a:xfrm>
          <a:prstGeom prst="rect">
            <a:avLst/>
          </a:prstGeom>
          <a:noFill/>
        </p:spPr>
        <p:txBody>
          <a:bodyPr wrap="square">
            <a:spAutoFit/>
          </a:bodyPr>
          <a:lstStyle/>
          <a:p>
            <a:r>
              <a:rPr sz="2600" b="1" i="0">
                <a:solidFill>
                  <a:srgbClr val="FFFFFF"/>
                </a:solidFill>
                <a:latin typeface="Calibri"/>
              </a:rPr>
              <a:t>La paradoja de la fidelidad, y dos advertencias</a:t>
            </a:r>
          </a:p>
        </p:txBody>
      </p:sp>
      <p:sp>
        <p:nvSpPr>
          <p:cNvPr id="5" name="Rounded Rectangle 4"/>
          <p:cNvSpPr/>
          <p:nvPr/>
        </p:nvSpPr>
        <p:spPr>
          <a:xfrm>
            <a:off x="457200" y="1261872"/>
            <a:ext cx="11277295" cy="1051560"/>
          </a:xfrm>
          <a:prstGeom prst="roundRect">
            <a:avLst>
              <a:gd name="adj" fmla="val 12000"/>
            </a:avLst>
          </a:prstGeom>
          <a:solidFill>
            <a:srgbClr val="E8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61872"/>
            <a:ext cx="128016" cy="1051560"/>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99031"/>
            <a:ext cx="10774375" cy="822959"/>
          </a:xfrm>
          <a:prstGeom prst="rect">
            <a:avLst/>
          </a:prstGeom>
          <a:noFill/>
        </p:spPr>
        <p:txBody>
          <a:bodyPr wrap="square">
            <a:spAutoFit/>
          </a:bodyPr>
          <a:lstStyle/>
          <a:p>
            <a:r>
              <a:rPr sz="1200" b="1" i="0">
                <a:solidFill>
                  <a:srgbClr val="269CCB"/>
                </a:solidFill>
                <a:latin typeface="Calibri"/>
              </a:rPr>
              <a:t>Info</a:t>
            </a:r>
          </a:p>
          <a:p>
            <a:pPr>
              <a:spcBef>
                <a:spcPts val="400"/>
              </a:spcBef>
            </a:pPr>
            <a:r>
              <a:rPr sz="1400" b="1" i="0">
                <a:solidFill>
                  <a:srgbClr val="333333"/>
                </a:solidFill>
                <a:latin typeface="Calibri"/>
              </a:rPr>
              <a:t>Cuanto más terminado se ve un prototipo, peor retroalimentación recibe.</a:t>
            </a:r>
            <a:r>
              <a:rPr sz="1400" b="0" i="0">
                <a:solidFill>
                  <a:srgbClr val="333333"/>
                </a:solidFill>
                <a:latin typeface="Calibri"/>
              </a:rPr>
              <a:t> Delante de un dibujo a lápiz la gente dice «esto no se entiende, ¿dónde busco?»; delante de una pantalla con colores y tipografía dice «está muy bonita». Nadie quiere destruir algo que parece haber costado mucho. Por eso el primer prototipo se hace a propósito feo.</a:t>
            </a:r>
          </a:p>
        </p:txBody>
      </p:sp>
      <p:sp>
        <p:nvSpPr>
          <p:cNvPr id="8" name="Rounded Rectangle 7"/>
          <p:cNvSpPr/>
          <p:nvPr/>
        </p:nvSpPr>
        <p:spPr>
          <a:xfrm>
            <a:off x="457200" y="2478024"/>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78024"/>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615184"/>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No pulan el prototipo:</a:t>
            </a:r>
            <a:r>
              <a:rPr sz="1400" b="0" i="0">
                <a:solidFill>
                  <a:srgbClr val="333333"/>
                </a:solidFill>
                <a:latin typeface="Calibri"/>
              </a:rPr>
              <a:t> lo que importa es que el flujo se entienda, que los textos sean reales y que existan el estado vacío y el de error. Un equipo que gasta la sesión eligiendo colores llega a la Clase 12 sin nada que probar.</a:t>
            </a:r>
          </a:p>
        </p:txBody>
      </p:sp>
      <p:sp>
        <p:nvSpPr>
          <p:cNvPr id="11" name="Rounded Rectangle 10"/>
          <p:cNvSpPr/>
          <p:nvPr/>
        </p:nvSpPr>
        <p:spPr>
          <a:xfrm>
            <a:off x="457200" y="3694176"/>
            <a:ext cx="11277295" cy="1051560"/>
          </a:xfrm>
          <a:prstGeom prst="roundRect">
            <a:avLst>
              <a:gd name="adj" fmla="val 12000"/>
            </a:avLst>
          </a:prstGeom>
          <a:solidFill>
            <a:srgbClr val="FB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694176"/>
            <a:ext cx="128016" cy="1051560"/>
          </a:xfrm>
          <a:prstGeom prst="rect">
            <a:avLst/>
          </a:prstGeom>
          <a:solidFill>
            <a:srgbClr val="A02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831336"/>
            <a:ext cx="10774375" cy="822959"/>
          </a:xfrm>
          <a:prstGeom prst="rect">
            <a:avLst/>
          </a:prstGeom>
          <a:noFill/>
        </p:spPr>
        <p:txBody>
          <a:bodyPr wrap="square">
            <a:spAutoFit/>
          </a:bodyPr>
          <a:lstStyle/>
          <a:p>
            <a:r>
              <a:rPr sz="1200" b="1" i="0">
                <a:solidFill>
                  <a:srgbClr val="A02030"/>
                </a:solidFill>
                <a:latin typeface="Calibri"/>
              </a:rPr>
              <a:t>Atención</a:t>
            </a:r>
          </a:p>
          <a:p>
            <a:pPr>
              <a:spcBef>
                <a:spcPts val="400"/>
              </a:spcBef>
            </a:pPr>
            <a:r>
              <a:rPr sz="1400" b="1" i="0">
                <a:solidFill>
                  <a:srgbClr val="333333"/>
                </a:solidFill>
                <a:latin typeface="Calibri"/>
              </a:rPr>
              <a:t>Si el prototipo lleva datos, que sean inventados.</a:t>
            </a:r>
            <a:r>
              <a:rPr sz="1400" b="0" i="0">
                <a:solidFill>
                  <a:srgbClr val="333333"/>
                </a:solidFill>
                <a:latin typeface="Calibri"/>
              </a:rPr>
              <a:t> Ningún nombre, cédula, teléfono, dirección ni foto de una persona real, ni siquiera de ustedes mismos. Es la regla del curso y es la Ley 1581 de 2012 de la sesión 4: los datos de prueba se inventan.</a:t>
            </a:r>
          </a:p>
        </p:txBody>
      </p:sp>
      <p:sp>
        <p:nvSpPr>
          <p:cNvPr id="14" name="TextBox 13"/>
          <p:cNvSpPr txBox="1"/>
          <p:nvPr/>
        </p:nvSpPr>
        <p:spPr>
          <a:xfrm>
            <a:off x="11185855" y="6473952"/>
            <a:ext cx="640080" cy="274320"/>
          </a:xfrm>
          <a:prstGeom prst="rect">
            <a:avLst/>
          </a:prstGeom>
          <a:noFill/>
        </p:spPr>
        <p:txBody>
          <a:bodyPr wrap="square">
            <a:spAutoFit/>
          </a:bodyPr>
          <a:lstStyle/>
          <a:p>
            <a:pPr algn="r"/>
            <a:r>
              <a:rPr sz="1100" b="0" i="0">
                <a:solidFill>
                  <a:srgbClr val="6666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69C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uniajc_color.png"/>
          <p:cNvPicPr>
            <a:picLocks noChangeAspect="1"/>
          </p:cNvPicPr>
          <p:nvPr/>
        </p:nvPicPr>
        <p:blipFill>
          <a:blip r:embed="rId2"/>
          <a:stretch>
            <a:fillRect/>
          </a:stretch>
        </p:blipFill>
        <p:spPr>
          <a:xfrm>
            <a:off x="10271455" y="5998464"/>
            <a:ext cx="1463040" cy="643233"/>
          </a:xfrm>
          <a:prstGeom prst="rect">
            <a:avLst/>
          </a:prstGeom>
        </p:spPr>
      </p:pic>
      <p:sp>
        <p:nvSpPr>
          <p:cNvPr id="4" name="TextBox 3"/>
          <p:cNvSpPr txBox="1"/>
          <p:nvPr/>
        </p:nvSpPr>
        <p:spPr>
          <a:xfrm>
            <a:off x="457200" y="1737360"/>
            <a:ext cx="11277295" cy="1097280"/>
          </a:xfrm>
          <a:prstGeom prst="rect">
            <a:avLst/>
          </a:prstGeom>
          <a:noFill/>
        </p:spPr>
        <p:txBody>
          <a:bodyPr wrap="square" anchor="ctr"/>
          <a:lstStyle/>
          <a:p>
            <a:pPr algn="ctr"/>
            <a:r>
              <a:rPr sz="3400" b="1" i="0">
                <a:solidFill>
                  <a:srgbClr val="095292"/>
                </a:solidFill>
                <a:latin typeface="Calibri"/>
              </a:rPr>
              <a:t>Nos vemos en la sesión 11</a:t>
            </a:r>
          </a:p>
        </p:txBody>
      </p:sp>
      <p:sp>
        <p:nvSpPr>
          <p:cNvPr id="5" name="TextBox 4"/>
          <p:cNvSpPr txBox="1"/>
          <p:nvPr/>
        </p:nvSpPr>
        <p:spPr>
          <a:xfrm>
            <a:off x="457200" y="3017520"/>
            <a:ext cx="11277295" cy="1645920"/>
          </a:xfrm>
          <a:prstGeom prst="rect">
            <a:avLst/>
          </a:prstGeom>
          <a:noFill/>
        </p:spPr>
        <p:txBody>
          <a:bodyPr wrap="square">
            <a:spAutoFit/>
          </a:bodyPr>
          <a:lstStyle/>
          <a:p>
            <a:pPr algn="ctr">
              <a:spcAft>
                <a:spcPts val="600"/>
              </a:spcAft>
            </a:pPr>
            <a:r>
              <a:rPr sz="1600" b="0" i="0">
                <a:solidFill>
                  <a:srgbClr val="333333"/>
                </a:solidFill>
                <a:latin typeface="Calibri"/>
              </a:rPr>
              <a:t>Herramientas digitales aplicadas a la Ingeniería · Clase 10</a:t>
            </a:r>
          </a:p>
          <a:p>
            <a:pPr algn="ctr">
              <a:spcAft>
                <a:spcPts val="600"/>
              </a:spcAft>
            </a:pPr>
            <a:r>
              <a:rPr sz="1600" b="0" i="0">
                <a:solidFill>
                  <a:srgbClr val="333333"/>
                </a:solidFill>
                <a:latin typeface="Calibri"/>
              </a:rPr>
              <a:t>FI300101 · UNIAJC · Ingeniería de Sistemas</a:t>
            </a:r>
          </a:p>
        </p:txBody>
      </p:sp>
      <p:sp>
        <p:nvSpPr>
          <p:cNvPr id="6" name="TextBox 5"/>
          <p:cNvSpPr txBox="1"/>
          <p:nvPr/>
        </p:nvSpPr>
        <p:spPr>
          <a:xfrm>
            <a:off x="457200" y="4754880"/>
            <a:ext cx="11277295" cy="640080"/>
          </a:xfrm>
          <a:prstGeom prst="rect">
            <a:avLst/>
          </a:prstGeom>
          <a:noFill/>
        </p:spPr>
        <p:txBody>
          <a:bodyPr wrap="square">
            <a:spAutoFit/>
          </a:bodyPr>
          <a:lstStyle/>
          <a:p>
            <a:pPr algn="ctr"/>
            <a:r>
              <a:rPr sz="2000" b="1" i="0">
                <a:solidFill>
                  <a:srgbClr val="269CCB"/>
                </a:solidFill>
                <a:latin typeface="Calibri"/>
              </a:rPr>
              <a:t>Un prototipo no es una maqueta: es una pregunta, y por eso se hace feo a propósito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