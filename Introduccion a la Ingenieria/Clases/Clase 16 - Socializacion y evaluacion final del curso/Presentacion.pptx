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línea de la derecha cita la sesión de donde sale. Un informe así se arma con lo que ya hicieron; no hay que inventar nada.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EL PAGO DE HABER ESCRITO EN CADA SESIÓN</a:t>
            </a:r>
          </a:p>
          <a:p/>
          <a:p>
            <a:r>
              <a:t>La apertura de la última sesión tiene una función precisa: quitar el pánico y hacer visible una lección de método. La pregunta —«el informe tiene doce secciones y vale el 20 %, ¿cuántas van a escribir hoy desde cero?»— produce respuestas de «ocho», «todas», y la respuesta real es una.</a:t>
            </a:r>
          </a:p>
          <a:p/>
          <a:p>
            <a:r>
              <a:t>Vale la pena detenerse ahí treinta segundos, porque es una de las lecciones más transferibles del curso: el informe no se escribió hoy, se escribió en dieciséis sesiones. La ficha del problema de la sesión 6 es la sección 2; la matriz de la 8 es la sección 6; los hallazgos de la 12 son la sección 8. Ningún equipo tuvo que escribir un informe: tuvieron que armarlo.</a:t>
            </a:r>
          </a:p>
          <a:p/>
          <a:p>
            <a:r>
              <a:t>Dígalo con el contraste explícito, porque es lo que se van a llevar a las otras asignaturas: la alternativa era llegar hoy con veinticuatro minutos y doce secciones en blanco. Es exactamente lo que le pasa a quien deja la documentación para el final, y no es un problema de tiempo sino de método.</a:t>
            </a:r>
          </a:p>
          <a:p/>
          <a:p>
            <a:r>
              <a:t>Después, en un minuto, diga qué se hace hoy y qué no: se arma y se entrega el informe, se socializa, se autoevalúan y se cierra el curso. No hay examen final escrito — conviene decirlo explícitamente porque la mitad del curso llega esperándolo, y saberlo cambia cómo usan los veinticuatro minutos del informe.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DOCE SECCIONES, Y EL ORDEN CORRECTO PARA ARMARLAS</a:t>
            </a:r>
          </a:p>
          <a:p/>
          <a:p>
            <a:r>
              <a:t>Las dos tablas de secciones son el corazón de la sesión y hay que proyectarlas juntas, porque el efecto está en la columna del medio: casi todas las filas dicen una sesión. No las lea completas —son doce filas y aburre—; señale tres o cuatro y deje que el curso vea el patrón.</a:t>
            </a:r>
          </a:p>
          <a:p/>
          <a:p>
            <a:r>
              <a:t>El largo por sección está en la tabla y sirve para dos cosas: evita el informe de veinticinco páginas donde nadie encuentra nada, y evita el de tres donde no cabe el trabajo. En total son unas 9 a 11 páginas, que es una extensión razonable para un proyecto de primer semestre. Si un equipo pregunta si puede ser más largo, la respuesta es que la extensión no es una virtud: un informe donde la decisión está en la página 18 es un informe que no se va a leer.</a:t>
            </a:r>
          </a:p>
          <a:p/>
          <a:p>
            <a:r>
              <a:t>El orden de armado importa y sorprende, así que hay que insistir: pegar primero, revisar después, y el resumen al final. El error que hace que no alcancen los veinticuatro minutos es empezar por el resumen —o peor, por la portada— porque el resumen exige tener todo lo demás decidido. Se escribe último aunque vaya primero. Esta regla es general para cualquier documento técnico y vale la pena nombrarla como tal.</a:t>
            </a:r>
          </a:p>
          <a:p/>
          <a:p>
            <a:r>
              <a:t>El paso 2 tiene un detalle que cambia el resultado: marcar lo que falta, no lo que está. Un equipo que va marcando lo hecho termina con una lista de logros y sin saber qué le falta. Marcando en rojo los huecos, la lista de tareas aparece sola, y el paso 3 —repartir los huecos, uno por integrante— se hace en cuatro minutos.</a:t>
            </a:r>
          </a:p>
          <a:p/>
          <a:p>
            <a:r>
              <a:t>Sobre la sección 11, la declaración del uso de IA: es un cuarto de página y es la que más se olvida. Tiene que decir qué se le pidió al asistente, qué se corrigió a mano y qué no se le entregó —ningún dato personal de terceros, que es la regla del curso desde la sesión 4 y que se trabajó en la 11—. Los equipos que no usaron IA también escriben la sección: dicen que no la usaron. Declarar es la norma, usarla o no es la decisión.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DOCE SECCIONES, Y EL ORDEN CORRECTO PARA ARMARLAS</a:t>
            </a:r>
          </a:p>
          <a:p/>
          <a:p>
            <a:r>
              <a:t>Las dos tablas de secciones son el corazón de la sesión y hay que proyectarlas juntas, porque el efecto está en la columna del medio: casi todas las filas dicen una sesión. No las lea completas —son doce filas y aburre—; señale tres o cuatro y deje que el curso vea el patrón.</a:t>
            </a:r>
          </a:p>
          <a:p/>
          <a:p>
            <a:r>
              <a:t>El largo por sección está en la tabla y sirve para dos cosas: evita el informe de veinticinco páginas donde nadie encuentra nada, y evita el de tres donde no cabe el trabajo. En total son unas 9 a 11 páginas, que es una extensión razonable para un proyecto de primer semestre. Si un equipo pregunta si puede ser más largo, la respuesta es que la extensión no es una virtud: un informe donde la decisión está en la página 18 es un informe que no se va a leer.</a:t>
            </a:r>
          </a:p>
          <a:p/>
          <a:p>
            <a:r>
              <a:t>El orden de armado importa y sorprende, así que hay que insistir: pegar primero, revisar después, y el resumen al final. El error que hace que no alcancen los veinticuatro minutos es empezar por el resumen —o peor, por la portada— porque el resumen exige tener todo lo demás decidido. Se escribe último aunque vaya primero. Esta regla es general para cualquier documento técnico y vale la pena nombrarla como tal.</a:t>
            </a:r>
          </a:p>
          <a:p/>
          <a:p>
            <a:r>
              <a:t>El paso 2 tiene un detalle que cambia el resultado: marcar lo que falta, no lo que está. Un equipo que va marcando lo hecho termina con una lista de logros y sin saber qué le falta. Marcando en rojo los huecos, la lista de tareas aparece sola, y el paso 3 —repartir los huecos, uno por integrante— se hace en cuatro minutos.</a:t>
            </a:r>
          </a:p>
          <a:p/>
          <a:p>
            <a:r>
              <a:t>Sobre la sección 11, la declaración del uso de IA: es un cuarto de página y es la que más se olvida. Tiene que decir qué se le pidió al asistente, qué se corrigió a mano y qué no se le entregó —ningún dato personal de terceros, que es la regla del curso desde la sesión 4 y que se trabajó en la 11—. Los equipos que no usaron IA también escriben la sección: dicen que no la usaron. Declarar es la norma, usarla o no es la decisión.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DOCE SECCIONES, Y EL ORDEN CORRECTO PARA ARMARLAS</a:t>
            </a:r>
          </a:p>
          <a:p/>
          <a:p>
            <a:r>
              <a:t>Las dos tablas de secciones son el corazón de la sesión y hay que proyectarlas juntas, porque el efecto está en la columna del medio: casi todas las filas dicen una sesión. No las lea completas —son doce filas y aburre—; señale tres o cuatro y deje que el curso vea el patrón.</a:t>
            </a:r>
          </a:p>
          <a:p/>
          <a:p>
            <a:r>
              <a:t>El largo por sección está en la tabla y sirve para dos cosas: evita el informe de veinticinco páginas donde nadie encuentra nada, y evita el de tres donde no cabe el trabajo. En total son unas 9 a 11 páginas, que es una extensión razonable para un proyecto de primer semestre. Si un equipo pregunta si puede ser más largo, la respuesta es que la extensión no es una virtud: un informe donde la decisión está en la página 18 es un informe que no se va a leer.</a:t>
            </a:r>
          </a:p>
          <a:p/>
          <a:p>
            <a:r>
              <a:t>El orden de armado importa y sorprende, así que hay que insistir: pegar primero, revisar después, y el resumen al final. El error que hace que no alcancen los veinticuatro minutos es empezar por el resumen —o peor, por la portada— porque el resumen exige tener todo lo demás decidido. Se escribe último aunque vaya primero. Esta regla es general para cualquier documento técnico y vale la pena nombrarla como tal.</a:t>
            </a:r>
          </a:p>
          <a:p/>
          <a:p>
            <a:r>
              <a:t>El paso 2 tiene un detalle que cambia el resultado: marcar lo que falta, no lo que está. Un equipo que va marcando lo hecho termina con una lista de logros y sin saber qué le falta. Marcando en rojo los huecos, la lista de tareas aparece sola, y el paso 3 —repartir los huecos, uno por integrante— se hace en cuatro minutos.</a:t>
            </a:r>
          </a:p>
          <a:p/>
          <a:p>
            <a:r>
              <a:t>Sobre la sección 11, la declaración del uso de IA: es un cuarto de página y es la que más se olvida. Tiene que decir qué se le pidió al asistente, qué se corrigió a mano y qué no se le entregó —ningún dato personal de terceros, que es la regla del curso desde la sesión 4 y que se trabajó en la 11—. Los equipos que no usaron IA también escriben la sección: dicen que no la usaron. Declarar es la norma, usarla o no es la decisión.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GALERÍA, Y POR QUÉ SOCIALIZAR NO ES EXPONER OTRA VEZ</a:t>
            </a:r>
          </a:p>
          <a:p/>
          <a:p>
            <a:r>
              <a:t>Los veinte minutos de socialización no son una segunda ronda de exposiciones — eso fue la Clase 15 y ya tiene nota. Aquí el formato es una galería: cada equipo deja en su columna del muro tres imágenes —una pantalla del prototipo, la matriz de impacto y la diapositiva del problema— y cinco líneas: el problema, la decisión, un hallazgo, un número de impacto y el siguiente paso.</a:t>
            </a:r>
          </a:p>
          <a:p/>
          <a:p>
            <a:r>
              <a:t>El reparto son 3 minutos por equipo para presentar la columna, y los 5 restantes para recorrido libre: cada estudiante entra a la columna de otro equipo y deja un comentario. Es rápido, es de baja presión —después de la Clase 15 el curso está cansado— y deja un registro del semestre que se puede mostrar el año siguiente.</a:t>
            </a:r>
          </a:p>
          <a:p/>
          <a:p>
            <a:r>
              <a:t>Por qué vale la pena y no es relleno: en la Clase 15 cada equipo escuchó cuatro exposiciones de nueve minutos, y a esa velocidad casi nadie retiene los detalles de los otros proyectos. La galería deja los cinco proyectos lado a lado y por escrito, y ahí sí se ven las comparaciones: cinco maneras distintas de definir un problema, cinco matrices de decisión, cinco listas de afectados. Es la única vez en el semestre en que el curso ve su propio trabajo completo.</a:t>
            </a:r>
          </a:p>
          <a:p/>
          <a:p>
            <a:r>
              <a:t>Aproveche los cuatro errores del informe [Slide 8] durante este bloque, mientras los equipos terminan de subir la columna: son las cuatro cosas que va a encontrar calificando y decirlas ahora les da tiempo de corregirlas. La más frecuente es la sección 10 vacía —«ninguna limitación»—, que después de la Clase 12 no es creíble en ningún equipo.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AUTOEVALUACIÓN Y COEVALUACIÓN: CÓMO EVITAR QUE SEA UN TRÁMITE</a:t>
            </a:r>
          </a:p>
          <a:p/>
          <a:p>
            <a:r>
              <a:t>La autoevaluación se degrada en trámite cuando se pide una nota. Pedir cuatro respuestas con evidencia lo evita: qué hice yo concretamente —secciones que escribí, prueba que hice, tramo que expuse—, qué aprendí a hacer que no sabía, en qué fallé, qué haría distinto. Todo verificable en el documento del equipo.</a:t>
            </a:r>
          </a:p>
          <a:p/>
          <a:p>
            <a:r>
              <a:t>Y hay que decir la consecuencia con claridad, porque cambia el resultado: ponerse la nota máxima sin evidencia baja el puntaje. Lo que se evalúa no es la autoestima: es la capacidad de mirar el propio trabajo con honestidad, que es una competencia profesional. El estudiante que escribe «no entregué mi sección a tiempo dos veces y el equipo tuvo que cubrirme» está demostrando exactamente lo que se busca.</a:t>
            </a:r>
          </a:p>
          <a:p/>
          <a:p>
            <a:r>
              <a:t>La coevaluación es más delicada y necesita una regla dura: se evalúa el trabajo, no la persona. Tres criterios —cumplimiento de acuerdos, aporte al proyecto, disposición para ayudar— y la misma exigencia de la Clase 12: observación, no adjetivo. «No aportó» no sirve como coevaluación; «no entregó su sección en las tres últimas sesiones» sí, porque es verificable y porque la persona puede responder a un hecho y no a una etiqueta.</a:t>
            </a:r>
          </a:p>
          <a:p/>
          <a:p>
            <a:r>
              <a:t>La autoevaluación individual se entrega solo al docente, no al muro ni al equipo. Sin esa garantía nadie escribe nada honesto, y el ejercicio se vuelve un intercambio de cortesías. Dígalo antes de que empiecen a escribir.</a:t>
            </a:r>
          </a:p>
          <a:p/>
          <a:p>
            <a:r>
              <a:t>Un caso que aparece casi siempre: un equipo donde uno trabajó mucho menos. Si tres coevaluaciones independientes lo señalan con hechos, es información válida y puede diferenciar la nota individual. Si es una sola persona señalando y sin hechos, no alcanza. Y no resuelva el conflicto en público: recoja las coevaluaciones, léalas después y ajuste con criterio.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CIERRE DEL CURSO: VEINTE MINUTOS QUE NO SON UN DISCURSO</a:t>
            </a:r>
          </a:p>
          <a:p/>
          <a:p>
            <a:r>
              <a:t>Los últimos veinte minutos se pueden desperdiciar fácilmente en un discurso de despedida. Úselos para hacer visible el aprendizaje, con evidencia. La diapositiva de antes y después es la herramienta: en la columna izquierda están las respuestas reales de la prueba diagnóstica de la sesión 1 —vale la pena tenerlas a mano de verdad, no parafraseadas— y en la derecha lo que hoy pueden sostener.</a:t>
            </a:r>
          </a:p>
          <a:p/>
          <a:p>
            <a:r>
              <a:t>El punto que hay que hacer explícito, y que es la diferencia entre una clase y un curso: cada frase de la columna derecha está sostenida por una sección de su propio informe. «Toda decisión sacrifica algo» no es una frase aprendida: está en la sección 6, escrita por ellos, con una matriz detrás. «Hay afectados que nunca la usan» está en la sección 9, con la voluntaria que trabaja diez minutos más. Eso es lo que distingue haber entendido de haber memorizado, y conviene nombrarlo.</a:t>
            </a:r>
          </a:p>
          <a:p/>
          <a:p>
            <a:r>
              <a:t>Conecte con los tres RAA sin recitar códigos: reconocer la ingeniería como práctica que decide bajo restricciones (RAA1), aplicar un método para definir y resolver un problema con evidencia (RAA2), y valorar las consecuencias sociales y ambientales de una solución (RAA3). Los tres se pueden verificar en el informe que acaban de entregar, y esa verificabilidad es el sentido de haber trabajado por proyecto.</a:t>
            </a:r>
          </a:p>
          <a:p/>
          <a:p>
            <a:r>
              <a:t>Cierre con dos cosas concretas y ninguna solemne. La primera: lo que se llevan es un método, no un tema. Definir un problema con evidencia, revisar qué existe, decidir con criterios, probar con personas reales y mirar a quién afecta — eso sirve igual para un trabajo de otra asignatura, para un proyecto de grado y para el primer empleo. La segunda: el proyecto queda como evidencia. Es un trabajo completo, documentado y con su propio prototipo, hecho en primer semestre; el documento y las capturas quedan en la carpeta y valen para un portafolio.</a:t>
            </a:r>
          </a:p>
          <a:p/>
          <a:p>
            <a:r>
              <a:t>Y una recomendación práctica de despedida, corta: el siguiente paso de su proyecto está escrito en la sección 10. Si alguno quiere continuarlo, no tiene que empezar por decidir qué hacer; ya lo decidió.</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16</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Socialización y evaluación final del curso</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Once de las doce secciones del informe ya están escritas — hoy se arma y se cierra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Última sesión: se cierra el informe final, se socializa el proyecto y se hace la autoevaluación</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00:00–00:06 · 6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Apertura — Pregunta de entrada y qué se hace hoy</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00:06–00:30 · 24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Armado y revisión del informe final — Las doce secciones, con la lista de verificación</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00:30–00:50 · 20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Socialización: la galería del curso — 5 equipos × 3 min en el muro, y recorrido libre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00:50–01:10 · 20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Autoevaluación y coevaluación — Individual y del equipo, con criterios</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01:10–01:30 · 20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Cierre del curso — Lo que sabían en la sesión 1 y lo que saben hoy</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1" i="1">
                <a:solidFill>
                  <a:srgbClr val="666666"/>
                </a:solidFill>
                <a:latin typeface="Calibri"/>
              </a:rPr>
              <a:t>Sesión de cierre del curso:</a:t>
            </a:r>
            <a:r>
              <a:rPr sz="1200" b="0" i="1">
                <a:solidFill>
                  <a:srgbClr val="666666"/>
                </a:solidFill>
                <a:latin typeface="Calibri"/>
              </a:rPr>
              <a:t> se arma y se revisa el informe final con la lista de verificación, se socializa el trabajo y se hace la autoevaluación.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Armar y entregar el </a:t>
            </a:r>
            <a:r>
              <a:rPr sz="2000" b="1" i="0">
                <a:solidFill>
                  <a:srgbClr val="333333"/>
                </a:solidFill>
                <a:latin typeface="Calibri"/>
              </a:rPr>
              <a:t>informe final</a:t>
            </a:r>
            <a:r>
              <a:rPr sz="2000" b="0" i="0">
                <a:solidFill>
                  <a:srgbClr val="333333"/>
                </a:solidFill>
                <a:latin typeface="Calibri"/>
              </a:rPr>
              <a:t> con sus doce secciones.</a:t>
            </a:r>
          </a:p>
          <a:p>
            <a:pPr>
              <a:spcAft>
                <a:spcPts val="800"/>
              </a:spcAft>
            </a:pPr>
            <a:r>
              <a:rPr sz="2000" b="0" i="0">
                <a:solidFill>
                  <a:srgbClr val="333333"/>
                </a:solidFill>
                <a:latin typeface="Calibri"/>
              </a:rPr>
              <a:t>–   </a:t>
            </a:r>
            <a:r>
              <a:rPr sz="2000" b="1" i="0">
                <a:solidFill>
                  <a:srgbClr val="333333"/>
                </a:solidFill>
                <a:latin typeface="Calibri"/>
              </a:rPr>
              <a:t>Socializar</a:t>
            </a:r>
            <a:r>
              <a:rPr sz="2000" b="0" i="0">
                <a:solidFill>
                  <a:srgbClr val="333333"/>
                </a:solidFill>
                <a:latin typeface="Calibri"/>
              </a:rPr>
              <a:t> el proyecto en la galería del curso y ver los otros cuatro.</a:t>
            </a:r>
          </a:p>
          <a:p>
            <a:pPr>
              <a:spcAft>
                <a:spcPts val="800"/>
              </a:spcAft>
            </a:pPr>
            <a:r>
              <a:rPr sz="2000" b="0" i="0">
                <a:solidFill>
                  <a:srgbClr val="333333"/>
                </a:solidFill>
                <a:latin typeface="Calibri"/>
              </a:rPr>
              <a:t>–   Hacer una </a:t>
            </a:r>
            <a:r>
              <a:rPr sz="2000" b="1" i="0">
                <a:solidFill>
                  <a:srgbClr val="333333"/>
                </a:solidFill>
                <a:latin typeface="Calibri"/>
              </a:rPr>
              <a:t>autoevaluación y una coevaluación</a:t>
            </a:r>
            <a:r>
              <a:rPr sz="2000" b="0" i="0">
                <a:solidFill>
                  <a:srgbClr val="333333"/>
                </a:solidFill>
                <a:latin typeface="Calibri"/>
              </a:rPr>
              <a:t> con criterios, no con impresiones.</a:t>
            </a:r>
          </a:p>
          <a:p>
            <a:pPr>
              <a:spcAft>
                <a:spcPts val="800"/>
              </a:spcAft>
            </a:pPr>
            <a:r>
              <a:rPr sz="2000" b="0" i="0">
                <a:solidFill>
                  <a:srgbClr val="333333"/>
                </a:solidFill>
                <a:latin typeface="Calibri"/>
              </a:rPr>
              <a:t>–   Reconocer </a:t>
            </a:r>
            <a:r>
              <a:rPr sz="2000" b="1" i="0">
                <a:solidFill>
                  <a:srgbClr val="333333"/>
                </a:solidFill>
                <a:latin typeface="Calibri"/>
              </a:rPr>
              <a:t>qué se sabe hacer hoy</a:t>
            </a:r>
            <a:r>
              <a:rPr sz="2000" b="0" i="0">
                <a:solidFill>
                  <a:srgbClr val="333333"/>
                </a:solidFill>
                <a:latin typeface="Calibri"/>
              </a:rPr>
              <a:t> que no se sabía en la sesión 1.</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El informe final tiene doce secciones. ¿Cuántas de esas doce creen que van a escribir hoy desde cero?</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Una. El resumen. Las otras once ya están escritas desde la sesión 3.</a:t>
            </a:r>
          </a:p>
          <a:p>
            <a:pPr algn="ctr">
              <a:spcAft>
                <a:spcPts val="600"/>
              </a:spcAft>
            </a:pPr>
            <a:r>
              <a:rPr sz="1500" b="0" i="0">
                <a:solidFill>
                  <a:srgbClr val="269CCB"/>
                </a:solidFill>
                <a:latin typeface="Calibri"/>
              </a:rPr>
              <a:t>Eso es lo que se gana escribiendo en cada sesión en vez de dejarlo para el final.</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lleva el informe final · secciones 1 a 6</a:t>
            </a:r>
          </a:p>
        </p:txBody>
      </p:sp>
      <p:graphicFrame>
        <p:nvGraphicFramePr>
          <p:cNvPr id="5" name="Table 4"/>
          <p:cNvGraphicFramePr>
            <a:graphicFrameLocks noGrp="1"/>
          </p:cNvGraphicFramePr>
          <p:nvPr/>
        </p:nvGraphicFramePr>
        <p:xfrm>
          <a:off x="457200" y="1216152"/>
          <a:ext cx="8412480" cy="2688336"/>
        </p:xfrm>
        <a:graphic>
          <a:graphicData uri="http://schemas.openxmlformats.org/drawingml/2006/table">
            <a:tbl>
              <a:tblPr firstRow="1" bandRow="1">
                <a:tableStyleId>{5C22544A-7EE6-4342-B048-85BDC9FD1C3A}</a:tableStyleId>
              </a:tblPr>
              <a:tblGrid>
                <a:gridCol w="2743200"/>
                <a:gridCol w="4937760"/>
                <a:gridCol w="731520"/>
              </a:tblGrid>
              <a:tr h="384048">
                <a:tc>
                  <a:txBody>
                    <a:bodyPr/>
                    <a:lstStyle/>
                    <a:p>
                      <a:r>
                        <a:rPr sz="1200" b="1" i="0">
                          <a:solidFill>
                            <a:srgbClr val="FFFFFF"/>
                          </a:solidFill>
                          <a:latin typeface="Calibri"/>
                        </a:rPr>
                        <a:t>Sección</a:t>
                      </a:r>
                    </a:p>
                  </a:txBody>
                  <a:tcPr>
                    <a:solidFill>
                      <a:srgbClr val="095292"/>
                    </a:solidFill>
                  </a:tcPr>
                </a:tc>
                <a:tc>
                  <a:txBody>
                    <a:bodyPr/>
                    <a:lstStyle/>
                    <a:p>
                      <a:r>
                        <a:rPr sz="1200" b="1" i="0">
                          <a:solidFill>
                            <a:srgbClr val="FFFFFF"/>
                          </a:solidFill>
                          <a:latin typeface="Calibri"/>
                        </a:rPr>
                        <a:t>De dónde sale</a:t>
                      </a:r>
                    </a:p>
                  </a:txBody>
                  <a:tcPr>
                    <a:solidFill>
                      <a:srgbClr val="095292"/>
                    </a:solidFill>
                  </a:tcPr>
                </a:tc>
                <a:tc>
                  <a:txBody>
                    <a:bodyPr/>
                    <a:lstStyle/>
                    <a:p>
                      <a:r>
                        <a:rPr sz="1200" b="1" i="0">
                          <a:solidFill>
                            <a:srgbClr val="FFFFFF"/>
                          </a:solidFill>
                          <a:latin typeface="Calibri"/>
                        </a:rPr>
                        <a:t>Largo</a:t>
                      </a:r>
                    </a:p>
                  </a:txBody>
                  <a:tcPr>
                    <a:solidFill>
                      <a:srgbClr val="095292"/>
                    </a:solidFill>
                  </a:tcPr>
                </a:tc>
              </a:tr>
              <a:tr h="384048">
                <a:tc>
                  <a:txBody>
                    <a:bodyPr/>
                    <a:lstStyle/>
                    <a:p>
                      <a:r>
                        <a:rPr sz="1100" b="0" i="0">
                          <a:solidFill>
                            <a:srgbClr val="333333"/>
                          </a:solidFill>
                          <a:latin typeface="Calibri"/>
                        </a:rPr>
                        <a:t>1 · Portada, integrantes y </a:t>
                      </a:r>
                      <a:r>
                        <a:rPr sz="1100" b="1" i="0">
                          <a:solidFill>
                            <a:srgbClr val="333333"/>
                          </a:solidFill>
                          <a:latin typeface="Calibri"/>
                        </a:rPr>
                        <a:t>resumen</a:t>
                      </a:r>
                    </a:p>
                  </a:txBody>
                  <a:tcPr>
                    <a:solidFill>
                      <a:srgbClr val="FFFFFF"/>
                    </a:solidFill>
                  </a:tcPr>
                </a:tc>
                <a:tc>
                  <a:txBody>
                    <a:bodyPr/>
                    <a:lstStyle/>
                    <a:p>
                      <a:r>
                        <a:rPr sz="1100" b="1" i="0">
                          <a:solidFill>
                            <a:srgbClr val="333333"/>
                          </a:solidFill>
                          <a:latin typeface="Calibri"/>
                        </a:rPr>
                        <a:t>Lo único nuevo de hoy.</a:t>
                      </a:r>
                      <a:r>
                        <a:rPr sz="1100" b="0" i="0">
                          <a:solidFill>
                            <a:srgbClr val="333333"/>
                          </a:solidFill>
                          <a:latin typeface="Calibri"/>
                        </a:rPr>
                        <a:t> El resumen: problema, solución y un número, en media página.</a:t>
                      </a:r>
                    </a:p>
                  </a:txBody>
                  <a:tcPr>
                    <a:solidFill>
                      <a:srgbClr val="FFFFFF"/>
                    </a:solidFill>
                  </a:tcPr>
                </a:tc>
                <a:tc>
                  <a:txBody>
                    <a:bodyPr/>
                    <a:lstStyle/>
                    <a:p>
                      <a:r>
                        <a:rPr sz="1100" b="0" i="0">
                          <a:solidFill>
                            <a:srgbClr val="333333"/>
                          </a:solidFill>
                          <a:latin typeface="Calibri"/>
                        </a:rPr>
                        <a:t>1 pág</a:t>
                      </a:r>
                    </a:p>
                  </a:txBody>
                  <a:tcPr>
                    <a:solidFill>
                      <a:srgbClr val="FFFFFF"/>
                    </a:solidFill>
                  </a:tcPr>
                </a:tc>
              </a:tr>
              <a:tr h="384048">
                <a:tc>
                  <a:txBody>
                    <a:bodyPr/>
                    <a:lstStyle/>
                    <a:p>
                      <a:r>
                        <a:rPr sz="1100" b="0" i="0">
                          <a:solidFill>
                            <a:srgbClr val="333333"/>
                          </a:solidFill>
                          <a:latin typeface="Calibri"/>
                        </a:rPr>
                        <a:t>2 · El problema y su evidencia</a:t>
                      </a:r>
                    </a:p>
                  </a:txBody>
                  <a:tcPr>
                    <a:solidFill>
                      <a:srgbClr val="F2F2F2"/>
                    </a:solidFill>
                  </a:tcPr>
                </a:tc>
                <a:tc>
                  <a:txBody>
                    <a:bodyPr/>
                    <a:lstStyle/>
                    <a:p>
                      <a:r>
                        <a:rPr sz="1100" b="0" i="0">
                          <a:solidFill>
                            <a:srgbClr val="333333"/>
                          </a:solidFill>
                          <a:latin typeface="Calibri"/>
                        </a:rPr>
                        <a:t>Ficha del problema · </a:t>
                      </a:r>
                      <a:r>
                        <a:rPr sz="1100" b="1" i="0">
                          <a:solidFill>
                            <a:srgbClr val="333333"/>
                          </a:solidFill>
                          <a:latin typeface="Calibri"/>
                        </a:rPr>
                        <a:t>sesión 6</a:t>
                      </a:r>
                      <a:r>
                        <a:rPr sz="1100" b="0" i="0">
                          <a:solidFill>
                            <a:srgbClr val="333333"/>
                          </a:solidFill>
                          <a:latin typeface="Calibri"/>
                        </a:rPr>
                        <a:t>. Con la cifra y cómo se obtuvo.</a:t>
                      </a:r>
                    </a:p>
                  </a:txBody>
                  <a:tcPr>
                    <a:solidFill>
                      <a:srgbClr val="F2F2F2"/>
                    </a:solidFill>
                  </a:tcPr>
                </a:tc>
                <a:tc>
                  <a:txBody>
                    <a:bodyPr/>
                    <a:lstStyle/>
                    <a:p>
                      <a:r>
                        <a:rPr sz="1100" b="0" i="0">
                          <a:solidFill>
                            <a:srgbClr val="333333"/>
                          </a:solidFill>
                          <a:latin typeface="Calibri"/>
                        </a:rPr>
                        <a:t>½ pág</a:t>
                      </a:r>
                    </a:p>
                  </a:txBody>
                  <a:tcPr>
                    <a:solidFill>
                      <a:srgbClr val="F2F2F2"/>
                    </a:solidFill>
                  </a:tcPr>
                </a:tc>
              </a:tr>
              <a:tr h="384048">
                <a:tc>
                  <a:txBody>
                    <a:bodyPr/>
                    <a:lstStyle/>
                    <a:p>
                      <a:r>
                        <a:rPr sz="1100" b="0" i="0">
                          <a:solidFill>
                            <a:srgbClr val="333333"/>
                          </a:solidFill>
                          <a:latin typeface="Calibri"/>
                        </a:rPr>
                        <a:t>3 · Actores y afectados</a:t>
                      </a:r>
                    </a:p>
                  </a:txBody>
                  <a:tcPr>
                    <a:solidFill>
                      <a:srgbClr val="FFFFFF"/>
                    </a:solidFill>
                  </a:tcPr>
                </a:tc>
                <a:tc>
                  <a:txBody>
                    <a:bodyPr/>
                    <a:lstStyle/>
                    <a:p>
                      <a:r>
                        <a:rPr sz="1100" b="0" i="0">
                          <a:solidFill>
                            <a:srgbClr val="333333"/>
                          </a:solidFill>
                          <a:latin typeface="Calibri"/>
                        </a:rPr>
                        <a:t>Mapa de actores · </a:t>
                      </a:r>
                      <a:r>
                        <a:rPr sz="1100" b="1" i="0">
                          <a:solidFill>
                            <a:srgbClr val="333333"/>
                          </a:solidFill>
                          <a:latin typeface="Calibri"/>
                        </a:rPr>
                        <a:t>Clase 3</a:t>
                      </a:r>
                      <a:r>
                        <a:rPr sz="1100" b="0" i="0">
                          <a:solidFill>
                            <a:srgbClr val="333333"/>
                          </a:solidFill>
                          <a:latin typeface="Calibri"/>
                        </a:rPr>
                        <a:t> + los afectados que no son usuarios · </a:t>
                      </a:r>
                      <a:r>
                        <a:rPr sz="1100" b="1" i="0">
                          <a:solidFill>
                            <a:srgbClr val="333333"/>
                          </a:solidFill>
                          <a:latin typeface="Calibri"/>
                        </a:rPr>
                        <a:t>Clase 13</a:t>
                      </a:r>
                      <a:r>
                        <a:rPr sz="1100" b="0" i="0">
                          <a:solidFill>
                            <a:srgbClr val="333333"/>
                          </a:solidFill>
                          <a:latin typeface="Calibri"/>
                        </a:rPr>
                        <a:t>.</a:t>
                      </a:r>
                    </a:p>
                  </a:txBody>
                  <a:tcPr>
                    <a:solidFill>
                      <a:srgbClr val="FFFFFF"/>
                    </a:solidFill>
                  </a:tcPr>
                </a:tc>
                <a:tc>
                  <a:txBody>
                    <a:bodyPr/>
                    <a:lstStyle/>
                    <a:p>
                      <a:r>
                        <a:rPr sz="1100" b="0" i="0">
                          <a:solidFill>
                            <a:srgbClr val="333333"/>
                          </a:solidFill>
                          <a:latin typeface="Calibri"/>
                        </a:rPr>
                        <a:t>½ pág</a:t>
                      </a:r>
                    </a:p>
                  </a:txBody>
                  <a:tcPr>
                    <a:solidFill>
                      <a:srgbClr val="FFFFFF"/>
                    </a:solidFill>
                  </a:tcPr>
                </a:tc>
              </a:tr>
              <a:tr h="384048">
                <a:tc>
                  <a:txBody>
                    <a:bodyPr/>
                    <a:lstStyle/>
                    <a:p>
                      <a:r>
                        <a:rPr sz="1100" b="0" i="0">
                          <a:solidFill>
                            <a:srgbClr val="333333"/>
                          </a:solidFill>
                          <a:latin typeface="Calibri"/>
                        </a:rPr>
                        <a:t>4 · Antecedentes: qué existía ya</a:t>
                      </a:r>
                    </a:p>
                  </a:txBody>
                  <a:tcPr>
                    <a:solidFill>
                      <a:srgbClr val="F2F2F2"/>
                    </a:solidFill>
                  </a:tcPr>
                </a:tc>
                <a:tc>
                  <a:txBody>
                    <a:bodyPr/>
                    <a:lstStyle/>
                    <a:p>
                      <a:r>
                        <a:rPr sz="1100" b="0" i="0">
                          <a:solidFill>
                            <a:srgbClr val="333333"/>
                          </a:solidFill>
                          <a:latin typeface="Calibri"/>
                        </a:rPr>
                        <a:t>Las tres fichas de antecedentes · </a:t>
                      </a:r>
                      <a:r>
                        <a:rPr sz="1100" b="1" i="0">
                          <a:solidFill>
                            <a:srgbClr val="333333"/>
                          </a:solidFill>
                          <a:latin typeface="Calibri"/>
                        </a:rPr>
                        <a:t>sesión 9</a:t>
                      </a:r>
                      <a:r>
                        <a:rPr sz="1100" b="0" i="0">
                          <a:solidFill>
                            <a:srgbClr val="333333"/>
                          </a:solidFill>
                          <a:latin typeface="Calibri"/>
                        </a:rPr>
                        <a:t>, con la brecha que justifica el proyecto.</a:t>
                      </a:r>
                    </a:p>
                  </a:txBody>
                  <a:tcPr>
                    <a:solidFill>
                      <a:srgbClr val="F2F2F2"/>
                    </a:solidFill>
                  </a:tcPr>
                </a:tc>
                <a:tc>
                  <a:txBody>
                    <a:bodyPr/>
                    <a:lstStyle/>
                    <a:p>
                      <a:r>
                        <a:rPr sz="1100" b="0" i="0">
                          <a:solidFill>
                            <a:srgbClr val="333333"/>
                          </a:solidFill>
                          <a:latin typeface="Calibri"/>
                        </a:rPr>
                        <a:t>1 pág</a:t>
                      </a:r>
                    </a:p>
                  </a:txBody>
                  <a:tcPr>
                    <a:solidFill>
                      <a:srgbClr val="F2F2F2"/>
                    </a:solidFill>
                  </a:tcPr>
                </a:tc>
              </a:tr>
              <a:tr h="384048">
                <a:tc>
                  <a:txBody>
                    <a:bodyPr/>
                    <a:lstStyle/>
                    <a:p>
                      <a:r>
                        <a:rPr sz="1100" b="0" i="0">
                          <a:solidFill>
                            <a:srgbClr val="333333"/>
                          </a:solidFill>
                          <a:latin typeface="Calibri"/>
                        </a:rPr>
                        <a:t>5 · Requisitos y criterios de aceptación</a:t>
                      </a:r>
                    </a:p>
                  </a:txBody>
                  <a:tcPr>
                    <a:solidFill>
                      <a:srgbClr val="FFFFFF"/>
                    </a:solidFill>
                  </a:tcPr>
                </a:tc>
                <a:tc>
                  <a:txBody>
                    <a:bodyPr/>
                    <a:lstStyle/>
                    <a:p>
                      <a:r>
                        <a:rPr sz="1100" b="1" i="0">
                          <a:solidFill>
                            <a:srgbClr val="333333"/>
                          </a:solidFill>
                          <a:latin typeface="Calibri"/>
                        </a:rPr>
                        <a:t>Sesión 7</a:t>
                      </a:r>
                      <a:r>
                        <a:rPr sz="1100" b="0" i="0">
                          <a:solidFill>
                            <a:srgbClr val="333333"/>
                          </a:solidFill>
                          <a:latin typeface="Calibri"/>
                        </a:rPr>
                        <a:t>. Los funcionales, los no funcionales y cómo se verifica cada uno.</a:t>
                      </a:r>
                    </a:p>
                  </a:txBody>
                  <a:tcPr>
                    <a:solidFill>
                      <a:srgbClr val="FFFFFF"/>
                    </a:solidFill>
                  </a:tcPr>
                </a:tc>
                <a:tc>
                  <a:txBody>
                    <a:bodyPr/>
                    <a:lstStyle/>
                    <a:p>
                      <a:r>
                        <a:rPr sz="1100" b="0" i="0">
                          <a:solidFill>
                            <a:srgbClr val="333333"/>
                          </a:solidFill>
                          <a:latin typeface="Calibri"/>
                        </a:rPr>
                        <a:t>1 pág</a:t>
                      </a:r>
                    </a:p>
                  </a:txBody>
                  <a:tcPr>
                    <a:solidFill>
                      <a:srgbClr val="FFFFFF"/>
                    </a:solidFill>
                  </a:tcPr>
                </a:tc>
              </a:tr>
              <a:tr h="384048">
                <a:tc>
                  <a:txBody>
                    <a:bodyPr/>
                    <a:lstStyle/>
                    <a:p>
                      <a:r>
                        <a:rPr sz="1100" b="0" i="0">
                          <a:solidFill>
                            <a:srgbClr val="333333"/>
                          </a:solidFill>
                          <a:latin typeface="Calibri"/>
                        </a:rPr>
                        <a:t>6 · Alternativas y decisión</a:t>
                      </a:r>
                    </a:p>
                  </a:txBody>
                  <a:tcPr>
                    <a:solidFill>
                      <a:srgbClr val="F2F2F2"/>
                    </a:solidFill>
                  </a:tcPr>
                </a:tc>
                <a:tc>
                  <a:txBody>
                    <a:bodyPr/>
                    <a:lstStyle/>
                    <a:p>
                      <a:r>
                        <a:rPr sz="1100" b="0" i="0">
                          <a:solidFill>
                            <a:srgbClr val="333333"/>
                          </a:solidFill>
                          <a:latin typeface="Calibri"/>
                        </a:rPr>
                        <a:t>Matriz de decisión y alcance mínimo · </a:t>
                      </a:r>
                      <a:r>
                        <a:rPr sz="1100" b="1" i="0">
                          <a:solidFill>
                            <a:srgbClr val="333333"/>
                          </a:solidFill>
                          <a:latin typeface="Calibri"/>
                        </a:rPr>
                        <a:t>sesión 8</a:t>
                      </a:r>
                      <a:r>
                        <a:rPr sz="1100" b="0" i="0">
                          <a:solidFill>
                            <a:srgbClr val="333333"/>
                          </a:solidFill>
                          <a:latin typeface="Calibri"/>
                        </a:rPr>
                        <a:t>. Con lo que se sacrificó.</a:t>
                      </a:r>
                    </a:p>
                  </a:txBody>
                  <a:tcPr>
                    <a:solidFill>
                      <a:srgbClr val="F2F2F2"/>
                    </a:solidFill>
                  </a:tcPr>
                </a:tc>
                <a:tc>
                  <a:txBody>
                    <a:bodyPr/>
                    <a:lstStyle/>
                    <a:p>
                      <a:r>
                        <a:rPr sz="1100" b="0" i="0">
                          <a:solidFill>
                            <a:srgbClr val="333333"/>
                          </a:solidFill>
                          <a:latin typeface="Calibri"/>
                        </a:rPr>
                        <a:t>1 pág</a:t>
                      </a:r>
                    </a:p>
                  </a:txBody>
                  <a:tcPr>
                    <a:solidFill>
                      <a:srgbClr val="F2F2F2"/>
                    </a:solidFill>
                  </a:tcPr>
                </a:tc>
              </a:tr>
            </a:tbl>
          </a:graphicData>
        </a:graphic>
      </p:graphicFrame>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lleva el informe final · secciones 7 a 12</a:t>
            </a:r>
          </a:p>
        </p:txBody>
      </p:sp>
      <p:graphicFrame>
        <p:nvGraphicFramePr>
          <p:cNvPr id="5" name="Table 4"/>
          <p:cNvGraphicFramePr>
            <a:graphicFrameLocks noGrp="1"/>
          </p:cNvGraphicFramePr>
          <p:nvPr/>
        </p:nvGraphicFramePr>
        <p:xfrm>
          <a:off x="457200" y="1216152"/>
          <a:ext cx="8412480" cy="2688336"/>
        </p:xfrm>
        <a:graphic>
          <a:graphicData uri="http://schemas.openxmlformats.org/drawingml/2006/table">
            <a:tbl>
              <a:tblPr firstRow="1" bandRow="1">
                <a:tableStyleId>{5C22544A-7EE6-4342-B048-85BDC9FD1C3A}</a:tableStyleId>
              </a:tblPr>
              <a:tblGrid>
                <a:gridCol w="2743200"/>
                <a:gridCol w="4937760"/>
                <a:gridCol w="731520"/>
              </a:tblGrid>
              <a:tr h="384048">
                <a:tc>
                  <a:txBody>
                    <a:bodyPr/>
                    <a:lstStyle/>
                    <a:p>
                      <a:r>
                        <a:rPr sz="1200" b="1" i="0">
                          <a:solidFill>
                            <a:srgbClr val="FFFFFF"/>
                          </a:solidFill>
                          <a:latin typeface="Calibri"/>
                        </a:rPr>
                        <a:t>Sección</a:t>
                      </a:r>
                    </a:p>
                  </a:txBody>
                  <a:tcPr>
                    <a:solidFill>
                      <a:srgbClr val="095292"/>
                    </a:solidFill>
                  </a:tcPr>
                </a:tc>
                <a:tc>
                  <a:txBody>
                    <a:bodyPr/>
                    <a:lstStyle/>
                    <a:p>
                      <a:r>
                        <a:rPr sz="1200" b="1" i="0">
                          <a:solidFill>
                            <a:srgbClr val="FFFFFF"/>
                          </a:solidFill>
                          <a:latin typeface="Calibri"/>
                        </a:rPr>
                        <a:t>De dónde sale</a:t>
                      </a:r>
                    </a:p>
                  </a:txBody>
                  <a:tcPr>
                    <a:solidFill>
                      <a:srgbClr val="095292"/>
                    </a:solidFill>
                  </a:tcPr>
                </a:tc>
                <a:tc>
                  <a:txBody>
                    <a:bodyPr/>
                    <a:lstStyle/>
                    <a:p>
                      <a:r>
                        <a:rPr sz="1200" b="1" i="0">
                          <a:solidFill>
                            <a:srgbClr val="FFFFFF"/>
                          </a:solidFill>
                          <a:latin typeface="Calibri"/>
                        </a:rPr>
                        <a:t>Largo</a:t>
                      </a:r>
                    </a:p>
                  </a:txBody>
                  <a:tcPr>
                    <a:solidFill>
                      <a:srgbClr val="095292"/>
                    </a:solidFill>
                  </a:tcPr>
                </a:tc>
              </a:tr>
              <a:tr h="384048">
                <a:tc>
                  <a:txBody>
                    <a:bodyPr/>
                    <a:lstStyle/>
                    <a:p>
                      <a:r>
                        <a:rPr sz="1100" b="0" i="0">
                          <a:solidFill>
                            <a:srgbClr val="333333"/>
                          </a:solidFill>
                          <a:latin typeface="Calibri"/>
                        </a:rPr>
                        <a:t>7 · La solución y el prototipo</a:t>
                      </a:r>
                    </a:p>
                  </a:txBody>
                  <a:tcPr>
                    <a:solidFill>
                      <a:srgbClr val="FFFFFF"/>
                    </a:solidFill>
                  </a:tcPr>
                </a:tc>
                <a:tc>
                  <a:txBody>
                    <a:bodyPr/>
                    <a:lstStyle/>
                    <a:p>
                      <a:r>
                        <a:rPr sz="1100" b="1" i="0">
                          <a:solidFill>
                            <a:srgbClr val="333333"/>
                          </a:solidFill>
                          <a:latin typeface="Calibri"/>
                        </a:rPr>
                        <a:t>Sesiones 10 y 11</a:t>
                      </a:r>
                      <a:r>
                        <a:rPr sz="1100" b="0" i="0">
                          <a:solidFill>
                            <a:srgbClr val="333333"/>
                          </a:solidFill>
                          <a:latin typeface="Calibri"/>
                        </a:rPr>
                        <a:t>, con capturas de las pantallas y el recorrido principal.</a:t>
                      </a:r>
                    </a:p>
                  </a:txBody>
                  <a:tcPr>
                    <a:solidFill>
                      <a:srgbClr val="FFFFFF"/>
                    </a:solidFill>
                  </a:tcPr>
                </a:tc>
                <a:tc>
                  <a:txBody>
                    <a:bodyPr/>
                    <a:lstStyle/>
                    <a:p>
                      <a:r>
                        <a:rPr sz="1100" b="0" i="0">
                          <a:solidFill>
                            <a:srgbClr val="333333"/>
                          </a:solidFill>
                          <a:latin typeface="Calibri"/>
                        </a:rPr>
                        <a:t>1–2 pág</a:t>
                      </a:r>
                    </a:p>
                  </a:txBody>
                  <a:tcPr>
                    <a:solidFill>
                      <a:srgbClr val="FFFFFF"/>
                    </a:solidFill>
                  </a:tcPr>
                </a:tc>
              </a:tr>
              <a:tr h="384048">
                <a:tc>
                  <a:txBody>
                    <a:bodyPr/>
                    <a:lstStyle/>
                    <a:p>
                      <a:r>
                        <a:rPr sz="1100" b="0" i="0">
                          <a:solidFill>
                            <a:srgbClr val="333333"/>
                          </a:solidFill>
                          <a:latin typeface="Calibri"/>
                        </a:rPr>
                        <a:t>8 · Prueba con usuarios y hallazgos</a:t>
                      </a:r>
                    </a:p>
                  </a:txBody>
                  <a:tcPr>
                    <a:solidFill>
                      <a:srgbClr val="F2F2F2"/>
                    </a:solidFill>
                  </a:tcPr>
                </a:tc>
                <a:tc>
                  <a:txBody>
                    <a:bodyPr/>
                    <a:lstStyle/>
                    <a:p>
                      <a:r>
                        <a:rPr sz="1100" b="1" i="0">
                          <a:solidFill>
                            <a:srgbClr val="333333"/>
                          </a:solidFill>
                          <a:latin typeface="Calibri"/>
                        </a:rPr>
                        <a:t>Clase 12</a:t>
                      </a:r>
                      <a:r>
                        <a:rPr sz="1100" b="0" i="0">
                          <a:solidFill>
                            <a:srgbClr val="333333"/>
                          </a:solidFill>
                          <a:latin typeface="Calibri"/>
                        </a:rPr>
                        <a:t>. Los hallazgos, la clasificación y el patrón.</a:t>
                      </a:r>
                    </a:p>
                  </a:txBody>
                  <a:tcPr>
                    <a:solidFill>
                      <a:srgbClr val="F2F2F2"/>
                    </a:solidFill>
                  </a:tcPr>
                </a:tc>
                <a:tc>
                  <a:txBody>
                    <a:bodyPr/>
                    <a:lstStyle/>
                    <a:p>
                      <a:r>
                        <a:rPr sz="1100" b="0" i="0">
                          <a:solidFill>
                            <a:srgbClr val="333333"/>
                          </a:solidFill>
                          <a:latin typeface="Calibri"/>
                        </a:rPr>
                        <a:t>1 pág</a:t>
                      </a:r>
                    </a:p>
                  </a:txBody>
                  <a:tcPr>
                    <a:solidFill>
                      <a:srgbClr val="F2F2F2"/>
                    </a:solidFill>
                  </a:tcPr>
                </a:tc>
              </a:tr>
              <a:tr h="384048">
                <a:tc>
                  <a:txBody>
                    <a:bodyPr/>
                    <a:lstStyle/>
                    <a:p>
                      <a:r>
                        <a:rPr sz="1100" b="0" i="0">
                          <a:solidFill>
                            <a:srgbClr val="333333"/>
                          </a:solidFill>
                          <a:latin typeface="Calibri"/>
                        </a:rPr>
                        <a:t>9 · Impacto social y ambiental</a:t>
                      </a:r>
                    </a:p>
                  </a:txBody>
                  <a:tcPr>
                    <a:solidFill>
                      <a:srgbClr val="FFFFFF"/>
                    </a:solidFill>
                  </a:tcPr>
                </a:tc>
                <a:tc>
                  <a:txBody>
                    <a:bodyPr/>
                    <a:lstStyle/>
                    <a:p>
                      <a:r>
                        <a:rPr sz="1100" b="0" i="0">
                          <a:solidFill>
                            <a:srgbClr val="333333"/>
                          </a:solidFill>
                          <a:latin typeface="Calibri"/>
                        </a:rPr>
                        <a:t>Matriz de impacto y mitigaciones · </a:t>
                      </a:r>
                      <a:r>
                        <a:rPr sz="1100" b="1" i="0">
                          <a:solidFill>
                            <a:srgbClr val="333333"/>
                          </a:solidFill>
                          <a:latin typeface="Calibri"/>
                        </a:rPr>
                        <a:t>Clase 13</a:t>
                      </a:r>
                      <a:r>
                        <a:rPr sz="1100" b="0" i="0">
                          <a:solidFill>
                            <a:srgbClr val="333333"/>
                          </a:solidFill>
                          <a:latin typeface="Calibri"/>
                        </a:rPr>
                        <a:t>. Positivos </a:t>
                      </a:r>
                      <a:r>
                        <a:rPr sz="1100" b="1" i="0">
                          <a:solidFill>
                            <a:srgbClr val="333333"/>
                          </a:solidFill>
                          <a:latin typeface="Calibri"/>
                        </a:rPr>
                        <a:t>y</a:t>
                      </a:r>
                      <a:r>
                        <a:rPr sz="1100" b="0" i="0">
                          <a:solidFill>
                            <a:srgbClr val="333333"/>
                          </a:solidFill>
                          <a:latin typeface="Calibri"/>
                        </a:rPr>
                        <a:t> negativos.</a:t>
                      </a:r>
                    </a:p>
                  </a:txBody>
                  <a:tcPr>
                    <a:solidFill>
                      <a:srgbClr val="FFFFFF"/>
                    </a:solidFill>
                  </a:tcPr>
                </a:tc>
                <a:tc>
                  <a:txBody>
                    <a:bodyPr/>
                    <a:lstStyle/>
                    <a:p>
                      <a:r>
                        <a:rPr sz="1100" b="0" i="0">
                          <a:solidFill>
                            <a:srgbClr val="333333"/>
                          </a:solidFill>
                          <a:latin typeface="Calibri"/>
                        </a:rPr>
                        <a:t>1 pág</a:t>
                      </a:r>
                    </a:p>
                  </a:txBody>
                  <a:tcPr>
                    <a:solidFill>
                      <a:srgbClr val="FFFFFF"/>
                    </a:solidFill>
                  </a:tcPr>
                </a:tc>
              </a:tr>
              <a:tr h="384048">
                <a:tc>
                  <a:txBody>
                    <a:bodyPr/>
                    <a:lstStyle/>
                    <a:p>
                      <a:r>
                        <a:rPr sz="1100" b="0" i="0">
                          <a:solidFill>
                            <a:srgbClr val="333333"/>
                          </a:solidFill>
                          <a:latin typeface="Calibri"/>
                        </a:rPr>
                        <a:t>10 · Limitaciones y trabajo siguiente</a:t>
                      </a:r>
                    </a:p>
                  </a:txBody>
                  <a:tcPr>
                    <a:solidFill>
                      <a:srgbClr val="F2F2F2"/>
                    </a:solidFill>
                  </a:tcPr>
                </a:tc>
                <a:tc>
                  <a:txBody>
                    <a:bodyPr/>
                    <a:lstStyle/>
                    <a:p>
                      <a:r>
                        <a:rPr sz="1100" b="0" i="0">
                          <a:solidFill>
                            <a:srgbClr val="333333"/>
                          </a:solidFill>
                          <a:latin typeface="Calibri"/>
                        </a:rPr>
                        <a:t>Lo que se decidió </a:t>
                      </a:r>
                      <a:r>
                        <a:rPr sz="1100" b="1" i="0">
                          <a:solidFill>
                            <a:srgbClr val="333333"/>
                          </a:solidFill>
                          <a:latin typeface="Calibri"/>
                        </a:rPr>
                        <a:t>no</a:t>
                      </a:r>
                      <a:r>
                        <a:rPr sz="1100" b="0" i="0">
                          <a:solidFill>
                            <a:srgbClr val="333333"/>
                          </a:solidFill>
                          <a:latin typeface="Calibri"/>
                        </a:rPr>
                        <a:t> arreglar · </a:t>
                      </a:r>
                      <a:r>
                        <a:rPr sz="1100" b="1" i="0">
                          <a:solidFill>
                            <a:srgbClr val="333333"/>
                          </a:solidFill>
                          <a:latin typeface="Calibri"/>
                        </a:rPr>
                        <a:t>Clases 12 y 13</a:t>
                      </a:r>
                      <a:r>
                        <a:rPr sz="1100" b="0" i="0">
                          <a:solidFill>
                            <a:srgbClr val="333333"/>
                          </a:solidFill>
                          <a:latin typeface="Calibri"/>
                        </a:rPr>
                        <a:t>, con el motivo.</a:t>
                      </a:r>
                    </a:p>
                  </a:txBody>
                  <a:tcPr>
                    <a:solidFill>
                      <a:srgbClr val="F2F2F2"/>
                    </a:solidFill>
                  </a:tcPr>
                </a:tc>
                <a:tc>
                  <a:txBody>
                    <a:bodyPr/>
                    <a:lstStyle/>
                    <a:p>
                      <a:r>
                        <a:rPr sz="1100" b="0" i="0">
                          <a:solidFill>
                            <a:srgbClr val="333333"/>
                          </a:solidFill>
                          <a:latin typeface="Calibri"/>
                        </a:rPr>
                        <a:t>½ pág</a:t>
                      </a:r>
                    </a:p>
                  </a:txBody>
                  <a:tcPr>
                    <a:solidFill>
                      <a:srgbClr val="F2F2F2"/>
                    </a:solidFill>
                  </a:tcPr>
                </a:tc>
              </a:tr>
              <a:tr h="384048">
                <a:tc>
                  <a:txBody>
                    <a:bodyPr/>
                    <a:lstStyle/>
                    <a:p>
                      <a:r>
                        <a:rPr sz="1100" b="0" i="0">
                          <a:solidFill>
                            <a:srgbClr val="333333"/>
                          </a:solidFill>
                          <a:latin typeface="Calibri"/>
                        </a:rPr>
                        <a:t>11 · Declaración del uso de IA</a:t>
                      </a:r>
                    </a:p>
                  </a:txBody>
                  <a:tcPr>
                    <a:solidFill>
                      <a:srgbClr val="FFFFFF"/>
                    </a:solidFill>
                  </a:tcPr>
                </a:tc>
                <a:tc>
                  <a:txBody>
                    <a:bodyPr/>
                    <a:lstStyle/>
                    <a:p>
                      <a:r>
                        <a:rPr sz="1100" b="1" i="0">
                          <a:solidFill>
                            <a:srgbClr val="333333"/>
                          </a:solidFill>
                          <a:latin typeface="Calibri"/>
                        </a:rPr>
                        <a:t>Sesiones 3 y 11</a:t>
                      </a:r>
                      <a:r>
                        <a:rPr sz="1100" b="0" i="0">
                          <a:solidFill>
                            <a:srgbClr val="333333"/>
                          </a:solidFill>
                          <a:latin typeface="Calibri"/>
                        </a:rPr>
                        <a:t>: qué se le pidió, qué se corrigió y </a:t>
                      </a:r>
                      <a:r>
                        <a:rPr sz="1100" b="1" i="0">
                          <a:solidFill>
                            <a:srgbClr val="333333"/>
                          </a:solidFill>
                          <a:latin typeface="Calibri"/>
                        </a:rPr>
                        <a:t>qué no se le entregó</a:t>
                      </a:r>
                      <a:r>
                        <a:rPr sz="1100" b="0" i="0">
                          <a:solidFill>
                            <a:srgbClr val="333333"/>
                          </a:solidFill>
                          <a:latin typeface="Calibri"/>
                        </a:rPr>
                        <a:t>.</a:t>
                      </a:r>
                    </a:p>
                  </a:txBody>
                  <a:tcPr>
                    <a:solidFill>
                      <a:srgbClr val="FFFFFF"/>
                    </a:solidFill>
                  </a:tcPr>
                </a:tc>
                <a:tc>
                  <a:txBody>
                    <a:bodyPr/>
                    <a:lstStyle/>
                    <a:p>
                      <a:r>
                        <a:rPr sz="1100" b="0" i="0">
                          <a:solidFill>
                            <a:srgbClr val="333333"/>
                          </a:solidFill>
                          <a:latin typeface="Calibri"/>
                        </a:rPr>
                        <a:t>¼ pág</a:t>
                      </a:r>
                    </a:p>
                  </a:txBody>
                  <a:tcPr>
                    <a:solidFill>
                      <a:srgbClr val="FFFFFF"/>
                    </a:solidFill>
                  </a:tcPr>
                </a:tc>
              </a:tr>
              <a:tr h="384048">
                <a:tc>
                  <a:txBody>
                    <a:bodyPr/>
                    <a:lstStyle/>
                    <a:p>
                      <a:r>
                        <a:rPr sz="1100" b="0" i="0">
                          <a:solidFill>
                            <a:srgbClr val="333333"/>
                          </a:solidFill>
                          <a:latin typeface="Calibri"/>
                        </a:rPr>
                        <a:t>12 · Referencias</a:t>
                      </a:r>
                    </a:p>
                  </a:txBody>
                  <a:tcPr>
                    <a:solidFill>
                      <a:srgbClr val="F2F2F2"/>
                    </a:solidFill>
                  </a:tcPr>
                </a:tc>
                <a:tc>
                  <a:txBody>
                    <a:bodyPr/>
                    <a:lstStyle/>
                    <a:p>
                      <a:r>
                        <a:rPr sz="1100" b="1" i="0">
                          <a:solidFill>
                            <a:srgbClr val="333333"/>
                          </a:solidFill>
                          <a:latin typeface="Calibri"/>
                        </a:rPr>
                        <a:t>Sesión 9</a:t>
                      </a:r>
                      <a:r>
                        <a:rPr sz="1100" b="0" i="0">
                          <a:solidFill>
                            <a:srgbClr val="333333"/>
                          </a:solidFill>
                          <a:latin typeface="Calibri"/>
                        </a:rPr>
                        <a:t>, en el formato acordado. Todo lo que se citó y nada que no se leyó.</a:t>
                      </a:r>
                    </a:p>
                  </a:txBody>
                  <a:tcPr>
                    <a:solidFill>
                      <a:srgbClr val="F2F2F2"/>
                    </a:solidFill>
                  </a:tcPr>
                </a:tc>
                <a:tc>
                  <a:txBody>
                    <a:bodyPr/>
                    <a:lstStyle/>
                    <a:p>
                      <a:r>
                        <a:rPr sz="1100" b="0" i="0">
                          <a:solidFill>
                            <a:srgbClr val="333333"/>
                          </a:solidFill>
                          <a:latin typeface="Calibri"/>
                        </a:rPr>
                        <a:t>½ pág</a:t>
                      </a:r>
                    </a:p>
                  </a:txBody>
                  <a:tcPr>
                    <a:solidFill>
                      <a:srgbClr val="F2F2F2"/>
                    </a:solidFill>
                  </a:tcPr>
                </a:tc>
              </a:tr>
            </a:tbl>
          </a:graphicData>
        </a:graphic>
      </p:graphicFrame>
      <p:sp>
        <p:nvSpPr>
          <p:cNvPr id="6" name="TextBox 5"/>
          <p:cNvSpPr txBox="1"/>
          <p:nvPr/>
        </p:nvSpPr>
        <p:spPr>
          <a:xfrm>
            <a:off x="457200" y="4800600"/>
            <a:ext cx="11277295" cy="457200"/>
          </a:xfrm>
          <a:prstGeom prst="rect">
            <a:avLst/>
          </a:prstGeom>
          <a:noFill/>
        </p:spPr>
        <p:txBody>
          <a:bodyPr wrap="square">
            <a:spAutoFit/>
          </a:bodyPr>
          <a:lstStyle/>
          <a:p>
            <a:r>
              <a:rPr sz="1100" b="1" i="1">
                <a:solidFill>
                  <a:srgbClr val="666666"/>
                </a:solidFill>
                <a:latin typeface="Calibri"/>
              </a:rPr>
              <a:t>Once de doce secciones ya están escritas.</a:t>
            </a:r>
            <a:r>
              <a:rPr sz="1100" b="0" i="1">
                <a:solidFill>
                  <a:srgbClr val="666666"/>
                </a:solidFill>
                <a:latin typeface="Calibri"/>
              </a:rPr>
              <a:t> Hoy se arman en un solo documento, se revisan con la lista de verificación y se escribe el resumen. Eso es lo que se gana escribiendo en cada sesión en vez de dejarlo todo para el final.</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arma el informe en veinticuatro minutos</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El orden importa: pegar primero y revisar después. Empezar por el resumen es el error que hace que no alcance el tiempo</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Un documento, doce títulos, ocho minutos</a:t>
            </a:r>
          </a:p>
          <a:p>
            <a:pPr>
              <a:spcBef>
                <a:spcPts val="200"/>
              </a:spcBef>
            </a:pPr>
            <a:r>
              <a:rPr sz="1300" b="0" i="0">
                <a:solidFill>
                  <a:srgbClr val="333333"/>
                </a:solidFill>
                <a:latin typeface="Calibri"/>
              </a:rPr>
              <a:t>Creen el documento con </a:t>
            </a:r>
            <a:r>
              <a:rPr sz="1300" b="1" i="0">
                <a:solidFill>
                  <a:srgbClr val="333333"/>
                </a:solidFill>
                <a:latin typeface="Calibri"/>
              </a:rPr>
              <a:t>los doce títulos vacíos</a:t>
            </a:r>
            <a:r>
              <a:rPr sz="1300" b="0" i="0">
                <a:solidFill>
                  <a:srgbClr val="333333"/>
                </a:solidFill>
                <a:latin typeface="Calibri"/>
              </a:rPr>
              <a:t> y peguen debajo de cada uno lo que ya está escrito. No reescriban: peguen.</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La lista de verificación, seis minutos</a:t>
            </a:r>
          </a:p>
          <a:p>
            <a:pPr>
              <a:spcBef>
                <a:spcPts val="200"/>
              </a:spcBef>
            </a:pPr>
            <a:r>
              <a:rPr sz="1300" b="0" i="0">
                <a:solidFill>
                  <a:srgbClr val="333333"/>
                </a:solidFill>
                <a:latin typeface="Calibri"/>
              </a:rPr>
              <a:t>Recorran la lista sección por sección. Marquen lo que </a:t>
            </a:r>
            <a:r>
              <a:rPr sz="1300" b="1" i="0">
                <a:solidFill>
                  <a:srgbClr val="333333"/>
                </a:solidFill>
                <a:latin typeface="Calibri"/>
              </a:rPr>
              <a:t>falta</a:t>
            </a:r>
            <a:r>
              <a:rPr sz="1300" b="0" i="0">
                <a:solidFill>
                  <a:srgbClr val="333333"/>
                </a:solidFill>
                <a:latin typeface="Calibri"/>
              </a:rPr>
              <a:t> en rojo, no lo que está.</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500" b="1" i="0">
                <a:solidFill>
                  <a:srgbClr val="095292"/>
                </a:solidFill>
                <a:latin typeface="Calibri"/>
              </a:rPr>
              <a:t>3 · Reparto de los huecos, cuatro minutos</a:t>
            </a:r>
          </a:p>
          <a:p>
            <a:pPr>
              <a:spcBef>
                <a:spcPts val="200"/>
              </a:spcBef>
            </a:pPr>
            <a:r>
              <a:rPr sz="1300" b="0" i="0">
                <a:solidFill>
                  <a:srgbClr val="333333"/>
                </a:solidFill>
                <a:latin typeface="Calibri"/>
              </a:rPr>
              <a:t>Cada integrante toma un hueco rojo. </a:t>
            </a:r>
            <a:r>
              <a:rPr sz="1300" b="1" i="0">
                <a:solidFill>
                  <a:srgbClr val="333333"/>
                </a:solidFill>
                <a:latin typeface="Calibri"/>
              </a:rPr>
              <a:t>Nadie completa dos secciones y nadie ninguna.</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El resumen, cuatro minutos, al final</a:t>
            </a:r>
          </a:p>
          <a:p>
            <a:pPr>
              <a:spcBef>
                <a:spcPts val="200"/>
              </a:spcBef>
            </a:pPr>
            <a:r>
              <a:rPr sz="1300" b="0" i="0">
                <a:solidFill>
                  <a:srgbClr val="333333"/>
                </a:solidFill>
                <a:latin typeface="Calibri"/>
              </a:rPr>
              <a:t>Media página: el problema con su número, la solución en dos frases y el impacto principal. </a:t>
            </a:r>
            <a:r>
              <a:rPr sz="1300" b="1" i="0">
                <a:solidFill>
                  <a:srgbClr val="333333"/>
                </a:solidFill>
                <a:latin typeface="Calibri"/>
              </a:rPr>
              <a:t>Se escribe último aunque vaya primero.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Entrega, dos minutos</a:t>
            </a:r>
          </a:p>
          <a:p>
            <a:pPr>
              <a:spcBef>
                <a:spcPts val="200"/>
              </a:spcBef>
            </a:pPr>
            <a:r>
              <a:rPr sz="1300" b="0" i="0">
                <a:solidFill>
                  <a:srgbClr val="333333"/>
                </a:solidFill>
                <a:latin typeface="Calibri"/>
              </a:rPr>
              <a:t>PDF en la carpeta del equipo </a:t>
            </a:r>
            <a:r>
              <a:rPr sz="1300" b="1" i="0">
                <a:solidFill>
                  <a:srgbClr val="333333"/>
                </a:solidFill>
                <a:latin typeface="Calibri"/>
              </a:rPr>
              <a:t>y</a:t>
            </a:r>
            <a:r>
              <a:rPr sz="1300" b="0" i="0">
                <a:solidFill>
                  <a:srgbClr val="333333"/>
                </a:solidFill>
                <a:latin typeface="Calibri"/>
              </a:rPr>
              <a:t> el enlace del documento. Antes de que termine la clase.</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Cuatro errores frecuentes del informe</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Un informe que no cita sus propias sesiones</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Si la sección 6 no dice </a:t>
            </a:r>
            <a:r>
              <a:rPr sz="1300" b="1" i="0">
                <a:solidFill>
                  <a:srgbClr val="333333"/>
                </a:solidFill>
                <a:latin typeface="Calibri"/>
              </a:rPr>
              <a:t>qué se sacrificó</a:t>
            </a:r>
            <a:r>
              <a:rPr sz="1300" b="0" i="0">
                <a:solidFill>
                  <a:srgbClr val="333333"/>
                </a:solidFill>
                <a:latin typeface="Calibri"/>
              </a:rPr>
              <a:t> al decidir, es que se reescribió de memoria en vez de tomar la matriz de la sesión 8. Se nota, y le resta credibilidad.</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Referencias que nadie leyó</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Una lista de diez enlaces cuando en la sesión 9 se trabajaron tres antecedentes. </a:t>
            </a:r>
            <a:r>
              <a:rPr sz="1300" b="1" i="0">
                <a:solidFill>
                  <a:srgbClr val="333333"/>
                </a:solidFill>
                <a:latin typeface="Calibri"/>
              </a:rPr>
              <a:t>Cite lo que leyó</a:t>
            </a:r>
            <a:r>
              <a:rPr sz="1300" b="0" i="0">
                <a:solidFill>
                  <a:srgbClr val="333333"/>
                </a:solidFill>
                <a:latin typeface="Calibri"/>
              </a:rPr>
              <a:t>; lo demás es relleno y es fácil de comprobar.</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Un informe sin limitaciones</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La sección 10 vacía o con «ninguna» dice que el equipo no probó nada con nadie. Después de la Clase 12, todos los equipos tienen limitaciones reales.</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Todo escrito por una sola persona</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Se reconoce en el cambio de tono entre secciones y en las secciones que quedaron vacías. Reparto: </a:t>
            </a:r>
            <a:r>
              <a:rPr sz="1300" b="1" i="0">
                <a:solidFill>
                  <a:srgbClr val="333333"/>
                </a:solidFill>
                <a:latin typeface="Calibri"/>
              </a:rPr>
              <a:t>cada integrante responde por al menos dos secciones</a:t>
            </a:r>
            <a:r>
              <a:rPr sz="1300" b="0" i="0">
                <a:solidFill>
                  <a:srgbClr val="333333"/>
                </a:solidFill>
                <a:latin typeface="Calibri"/>
              </a:rPr>
              <a:t>.</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la sección 10 del informe, vacía y bien hecha</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Sección 10 vacía</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«Limitaciones: ninguna».</a:t>
            </a:r>
          </a:p>
          <a:p>
            <a:pPr>
              <a:spcAft>
                <a:spcPts val="800"/>
              </a:spcAft>
            </a:pPr>
            <a:r>
              <a:rPr sz="1500" b="0" i="0">
                <a:solidFill>
                  <a:srgbClr val="333333"/>
                </a:solidFill>
                <a:latin typeface="Calibri"/>
              </a:rPr>
              <a:t>–   «Trabajo futuro: mejorar la app».</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Sección 10 que suma</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«No se arregló el botón de volver: 1 de 3 lo buscó (Clase 12)».</a:t>
            </a:r>
          </a:p>
          <a:p>
            <a:pPr>
              <a:spcAft>
                <a:spcPts val="800"/>
              </a:spcAft>
            </a:pPr>
            <a:r>
              <a:rPr sz="1500" b="0" i="0">
                <a:solidFill>
                  <a:srgbClr val="333333"/>
                </a:solidFill>
                <a:latin typeface="Calibri"/>
              </a:rPr>
              <a:t>–   «Queda fuera quien no tiene datos; se mitiga con fichas (Clase 13)».</a:t>
            </a:r>
          </a:p>
          <a:p>
            <a:pPr>
              <a:spcAft>
                <a:spcPts val="800"/>
              </a:spcAft>
            </a:pPr>
            <a:r>
              <a:rPr sz="1500" b="0" i="0">
                <a:solidFill>
                  <a:srgbClr val="333333"/>
                </a:solidFill>
                <a:latin typeface="Calibri"/>
              </a:rPr>
              <a:t>–   «Siguiente paso: probar con 10 clientes un sábado completo».</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autoevaluación y la coevaluación, en serio</a:t>
            </a:r>
          </a:p>
        </p:txBody>
      </p:sp>
      <p:sp>
        <p:nvSpPr>
          <p:cNvPr id="5" name="Rounded Rectangle 4"/>
          <p:cNvSpPr/>
          <p:nvPr/>
        </p:nvSpPr>
        <p:spPr>
          <a:xfrm>
            <a:off x="457200" y="1261872"/>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La autoevaluación se hace con criterios, no con impresiones.</a:t>
            </a:r>
            <a:r>
              <a:rPr sz="1400" b="0" i="0">
                <a:solidFill>
                  <a:srgbClr val="333333"/>
                </a:solidFill>
                <a:latin typeface="Calibri"/>
              </a:rPr>
              <a:t> No es «me pongo 4.5»: son cuatro preguntas con evidencia — </a:t>
            </a:r>
            <a:r>
              <a:rPr sz="1400" b="1" i="0">
                <a:solidFill>
                  <a:srgbClr val="333333"/>
                </a:solidFill>
                <a:latin typeface="Calibri"/>
              </a:rPr>
              <a:t>qué hice yo concretamente</a:t>
            </a:r>
            <a:r>
              <a:rPr sz="1400" b="0" i="0">
                <a:solidFill>
                  <a:srgbClr val="333333"/>
                </a:solidFill>
                <a:latin typeface="Calibri"/>
              </a:rPr>
              <a:t> (secciones que escribí, prueba que hice, tramo que expuse) · </a:t>
            </a:r>
            <a:r>
              <a:rPr sz="1400" b="1" i="0">
                <a:solidFill>
                  <a:srgbClr val="333333"/>
                </a:solidFill>
                <a:latin typeface="Calibri"/>
              </a:rPr>
              <a:t>qué aprendí a hacer que no sabía</a:t>
            </a:r>
            <a:r>
              <a:rPr sz="1400" b="0" i="0">
                <a:solidFill>
                  <a:srgbClr val="333333"/>
                </a:solidFill>
                <a:latin typeface="Calibri"/>
              </a:rPr>
              <a:t> · </a:t>
            </a:r>
            <a:r>
              <a:rPr sz="1400" b="1" i="0">
                <a:solidFill>
                  <a:srgbClr val="333333"/>
                </a:solidFill>
                <a:latin typeface="Calibri"/>
              </a:rPr>
              <a:t>en qué fallé</a:t>
            </a:r>
            <a:r>
              <a:rPr sz="1400" b="0" i="0">
                <a:solidFill>
                  <a:srgbClr val="333333"/>
                </a:solidFill>
                <a:latin typeface="Calibri"/>
              </a:rPr>
              <a:t> · </a:t>
            </a:r>
            <a:r>
              <a:rPr sz="1400" b="1" i="0">
                <a:solidFill>
                  <a:srgbClr val="333333"/>
                </a:solidFill>
                <a:latin typeface="Calibri"/>
              </a:rPr>
              <a:t>qué haría distinto</a:t>
            </a:r>
            <a:r>
              <a:rPr sz="1400" b="0" i="0">
                <a:solidFill>
                  <a:srgbClr val="333333"/>
                </a:solidFill>
                <a:latin typeface="Calibri"/>
              </a:rPr>
              <a:t>. Con hechos que se pueden verificar en el documento del equipo.</a:t>
            </a:r>
          </a:p>
        </p:txBody>
      </p:sp>
      <p:sp>
        <p:nvSpPr>
          <p:cNvPr id="8" name="Rounded Rectangle 7"/>
          <p:cNvSpPr/>
          <p:nvPr/>
        </p:nvSpPr>
        <p:spPr>
          <a:xfrm>
            <a:off x="457200" y="2478024"/>
            <a:ext cx="11277295" cy="1051560"/>
          </a:xfrm>
          <a:prstGeom prst="roundRect">
            <a:avLst>
              <a:gd name="adj" fmla="val 12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FFD000"/>
                </a:solidFill>
                <a:latin typeface="Calibri"/>
              </a:rPr>
              <a:t>Aclaración</a:t>
            </a:r>
          </a:p>
          <a:p>
            <a:pPr>
              <a:spcBef>
                <a:spcPts val="400"/>
              </a:spcBef>
            </a:pPr>
            <a:r>
              <a:rPr sz="1400" b="1" i="0">
                <a:solidFill>
                  <a:srgbClr val="333333"/>
                </a:solidFill>
                <a:latin typeface="Calibri"/>
              </a:rPr>
              <a:t>La coevaluación es del trabajo, no de la persona.</a:t>
            </a:r>
            <a:r>
              <a:rPr sz="1400" b="0" i="0">
                <a:solidFill>
                  <a:srgbClr val="333333"/>
                </a:solidFill>
                <a:latin typeface="Calibri"/>
              </a:rPr>
              <a:t> Se valora cumplimiento de acuerdos, aporte al proyecto y disposición para ayudar — </a:t>
            </a:r>
            <a:r>
              <a:rPr sz="1400" b="1" i="0">
                <a:solidFill>
                  <a:srgbClr val="333333"/>
                </a:solidFill>
                <a:latin typeface="Calibri"/>
              </a:rPr>
              <a:t>no simpatía</a:t>
            </a:r>
            <a:r>
              <a:rPr sz="1400" b="0" i="0">
                <a:solidFill>
                  <a:srgbClr val="333333"/>
                </a:solidFill>
                <a:latin typeface="Calibri"/>
              </a:rPr>
              <a:t>. Se escribe con la misma regla de la Clase 12: </a:t>
            </a:r>
            <a:r>
              <a:rPr sz="1400" b="1" i="0">
                <a:solidFill>
                  <a:srgbClr val="333333"/>
                </a:solidFill>
                <a:latin typeface="Calibri"/>
              </a:rPr>
              <a:t>observación, no adjetivo</a:t>
            </a:r>
            <a:r>
              <a:rPr sz="1400" b="0" i="0">
                <a:solidFill>
                  <a:srgbClr val="333333"/>
                </a:solidFill>
                <a:latin typeface="Calibri"/>
              </a:rPr>
              <a:t>. «No aportó» no sirve; «no entregó su sección en las tres últimas sesiones» sí.</a:t>
            </a:r>
          </a:p>
        </p:txBody>
      </p:sp>
      <p:sp>
        <p:nvSpPr>
          <p:cNvPr id="11" name="Rounded Rectangle 10"/>
          <p:cNvSpPr/>
          <p:nvPr/>
        </p:nvSpPr>
        <p:spPr>
          <a:xfrm>
            <a:off x="457200" y="3694176"/>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La autoevaluación individual se entrega solo al docente</a:t>
            </a:r>
            <a:r>
              <a:rPr sz="1400" b="0" i="0">
                <a:solidFill>
                  <a:srgbClr val="333333"/>
                </a:solidFill>
                <a:latin typeface="Calibri"/>
              </a:rPr>
              <a:t>, no al muro y no al equipo. Y darse el máximo sin evidencia es justo lo contrario: lo que importa aquí es </a:t>
            </a:r>
            <a:r>
              <a:rPr sz="1400" b="1" i="0">
                <a:solidFill>
                  <a:srgbClr val="333333"/>
                </a:solidFill>
                <a:latin typeface="Calibri"/>
              </a:rPr>
              <a:t>la capacidad de mirar el propio trabajo con honestidad</a:t>
            </a:r>
            <a:r>
              <a:rPr sz="1400" b="0" i="0">
                <a:solidFill>
                  <a:srgbClr val="333333"/>
                </a:solidFill>
                <a:latin typeface="Calibri"/>
              </a:rPr>
              <a:t>, que es una competencia profesional y no un trámite.</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Lo que decían en la sesión 1 y lo que pueden sostener hoy</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No es una lista de frases aprendidas: cada una está sostenida por una sección de su propio informe</a:t>
            </a:r>
          </a:p>
        </p:txBody>
      </p:sp>
      <p:sp>
        <p:nvSpPr>
          <p:cNvPr id="6" name="Rounded Rectangle 5"/>
          <p:cNvSpPr/>
          <p:nvPr/>
        </p:nvSpPr>
        <p:spPr>
          <a:xfrm>
            <a:off x="457200" y="1472184"/>
            <a:ext cx="5478627" cy="4882896"/>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72184"/>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63624"/>
            <a:ext cx="5204307" cy="365760"/>
          </a:xfrm>
          <a:prstGeom prst="rect">
            <a:avLst/>
          </a:prstGeom>
          <a:noFill/>
        </p:spPr>
        <p:txBody>
          <a:bodyPr wrap="square" anchor="ctr"/>
          <a:lstStyle/>
          <a:p>
            <a:pPr algn="ctr"/>
            <a:r>
              <a:rPr sz="1600" b="1" i="0">
                <a:solidFill>
                  <a:srgbClr val="FFFFFF"/>
                </a:solidFill>
                <a:latin typeface="Calibri"/>
              </a:rPr>
              <a:t>Sesión 1 · la prueba diagnóstica</a:t>
            </a:r>
          </a:p>
        </p:txBody>
      </p:sp>
      <p:sp>
        <p:nvSpPr>
          <p:cNvPr id="9" name="TextBox 8"/>
          <p:cNvSpPr txBox="1"/>
          <p:nvPr/>
        </p:nvSpPr>
        <p:spPr>
          <a:xfrm>
            <a:off x="621792"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«La ingeniería es construir cosas con máquinas.»</a:t>
            </a:r>
          </a:p>
          <a:p>
            <a:pPr>
              <a:spcAft>
                <a:spcPts val="800"/>
              </a:spcAft>
            </a:pPr>
            <a:r>
              <a:rPr sz="1500" b="0" i="0">
                <a:solidFill>
                  <a:srgbClr val="333333"/>
                </a:solidFill>
                <a:latin typeface="Calibri"/>
              </a:rPr>
              <a:t>–   «Un problema se resuelve pensando en la solución.»</a:t>
            </a:r>
          </a:p>
          <a:p>
            <a:pPr>
              <a:spcAft>
                <a:spcPts val="800"/>
              </a:spcAft>
            </a:pPr>
            <a:r>
              <a:rPr sz="1500" b="0" i="0">
                <a:solidFill>
                  <a:srgbClr val="333333"/>
                </a:solidFill>
                <a:latin typeface="Calibri"/>
              </a:rPr>
              <a:t>–   «Lo importante es que funcione.»</a:t>
            </a:r>
          </a:p>
          <a:p>
            <a:pPr>
              <a:spcAft>
                <a:spcPts val="800"/>
              </a:spcAft>
            </a:pPr>
            <a:r>
              <a:rPr sz="1500" b="0" i="0">
                <a:solidFill>
                  <a:srgbClr val="333333"/>
                </a:solidFill>
                <a:latin typeface="Calibri"/>
              </a:rPr>
              <a:t>–   «Investigar es buscar en internet.»</a:t>
            </a:r>
          </a:p>
          <a:p>
            <a:pPr>
              <a:spcAft>
                <a:spcPts val="800"/>
              </a:spcAft>
            </a:pPr>
            <a:r>
              <a:rPr sz="1500" b="0" i="0">
                <a:solidFill>
                  <a:srgbClr val="333333"/>
                </a:solidFill>
                <a:latin typeface="Calibri"/>
              </a:rPr>
              <a:t>–   «El impacto es que la gente lo use.»</a:t>
            </a:r>
          </a:p>
        </p:txBody>
      </p:sp>
      <p:sp>
        <p:nvSpPr>
          <p:cNvPr id="10" name="Rounded Rectangle 9"/>
          <p:cNvSpPr/>
          <p:nvPr/>
        </p:nvSpPr>
        <p:spPr>
          <a:xfrm>
            <a:off x="6255867" y="1472184"/>
            <a:ext cx="5478627" cy="4882896"/>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55867" y="1472184"/>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3027" y="1563624"/>
            <a:ext cx="5204307" cy="365760"/>
          </a:xfrm>
          <a:prstGeom prst="rect">
            <a:avLst/>
          </a:prstGeom>
          <a:noFill/>
        </p:spPr>
        <p:txBody>
          <a:bodyPr wrap="square" anchor="ctr"/>
          <a:lstStyle/>
          <a:p>
            <a:pPr algn="ctr"/>
            <a:r>
              <a:rPr sz="1600" b="1" i="0">
                <a:solidFill>
                  <a:srgbClr val="FFFFFF"/>
                </a:solidFill>
                <a:latin typeface="Calibri"/>
              </a:rPr>
              <a:t>Clase 16 · con su propio proyecto como prueba</a:t>
            </a:r>
          </a:p>
        </p:txBody>
      </p:sp>
      <p:sp>
        <p:nvSpPr>
          <p:cNvPr id="13" name="TextBox 12"/>
          <p:cNvSpPr txBox="1"/>
          <p:nvPr/>
        </p:nvSpPr>
        <p:spPr>
          <a:xfrm>
            <a:off x="6420459" y="2112263"/>
            <a:ext cx="5158587" cy="4288536"/>
          </a:xfrm>
          <a:prstGeom prst="rect">
            <a:avLst/>
          </a:prstGeom>
          <a:noFill/>
        </p:spPr>
        <p:txBody>
          <a:bodyPr wrap="square">
            <a:spAutoFit/>
          </a:bodyPr>
          <a:lstStyle/>
          <a:p>
            <a:pPr>
              <a:spcAft>
                <a:spcPts val="800"/>
              </a:spcAft>
            </a:pPr>
            <a:r>
              <a:rPr sz="1500" b="0" i="0">
                <a:solidFill>
                  <a:srgbClr val="333333"/>
                </a:solidFill>
                <a:latin typeface="Calibri"/>
              </a:rPr>
              <a:t>–   «La ingeniería </a:t>
            </a:r>
            <a:r>
              <a:rPr sz="1500" b="1" i="0">
                <a:solidFill>
                  <a:srgbClr val="333333"/>
                </a:solidFill>
                <a:latin typeface="Calibri"/>
              </a:rPr>
              <a:t>decide bajo restricciones</a:t>
            </a:r>
            <a:r>
              <a:rPr sz="1500" b="0" i="0">
                <a:solidFill>
                  <a:srgbClr val="333333"/>
                </a:solidFill>
                <a:latin typeface="Calibri"/>
              </a:rPr>
              <a:t>, y toda decisión sacrifica algo.»</a:t>
            </a:r>
          </a:p>
          <a:p>
            <a:pPr>
              <a:spcAft>
                <a:spcPts val="800"/>
              </a:spcAft>
            </a:pPr>
            <a:r>
              <a:rPr sz="1500" b="0" i="0">
                <a:solidFill>
                  <a:srgbClr val="333333"/>
                </a:solidFill>
                <a:latin typeface="Calibri"/>
              </a:rPr>
              <a:t>–   «Un problema </a:t>
            </a:r>
            <a:r>
              <a:rPr sz="1500" b="1" i="0">
                <a:solidFill>
                  <a:srgbClr val="333333"/>
                </a:solidFill>
                <a:latin typeface="Calibri"/>
              </a:rPr>
              <a:t>se define antes de resolverse</a:t>
            </a:r>
            <a:r>
              <a:rPr sz="1500" b="0" i="0">
                <a:solidFill>
                  <a:srgbClr val="333333"/>
                </a:solidFill>
                <a:latin typeface="Calibri"/>
              </a:rPr>
              <a:t>: causas, actores y evidencia.»</a:t>
            </a:r>
          </a:p>
          <a:p>
            <a:pPr>
              <a:spcAft>
                <a:spcPts val="800"/>
              </a:spcAft>
            </a:pPr>
            <a:r>
              <a:rPr sz="1500" b="0" i="0">
                <a:solidFill>
                  <a:srgbClr val="333333"/>
                </a:solidFill>
                <a:latin typeface="Calibri"/>
              </a:rPr>
              <a:t>–   «Que funcione no basta: hay </a:t>
            </a:r>
            <a:r>
              <a:rPr sz="1500" b="1" i="0">
                <a:solidFill>
                  <a:srgbClr val="333333"/>
                </a:solidFill>
                <a:latin typeface="Calibri"/>
              </a:rPr>
              <a:t>criterios de aceptación verificables</a:t>
            </a:r>
            <a:r>
              <a:rPr sz="1500" b="0" i="0">
                <a:solidFill>
                  <a:srgbClr val="333333"/>
                </a:solidFill>
                <a:latin typeface="Calibri"/>
              </a:rPr>
              <a:t>.»</a:t>
            </a:r>
          </a:p>
          <a:p>
            <a:pPr>
              <a:spcAft>
                <a:spcPts val="800"/>
              </a:spcAft>
            </a:pPr>
            <a:r>
              <a:rPr sz="1500" b="0" i="0">
                <a:solidFill>
                  <a:srgbClr val="333333"/>
                </a:solidFill>
                <a:latin typeface="Calibri"/>
              </a:rPr>
              <a:t>–   «Investigar es ver </a:t>
            </a:r>
            <a:r>
              <a:rPr sz="1500" b="1" i="0">
                <a:solidFill>
                  <a:srgbClr val="333333"/>
                </a:solidFill>
                <a:latin typeface="Calibri"/>
              </a:rPr>
              <a:t>qué ya existe y por qué no sirve aquí</a:t>
            </a:r>
            <a:r>
              <a:rPr sz="1500" b="0" i="0">
                <a:solidFill>
                  <a:srgbClr val="333333"/>
                </a:solidFill>
                <a:latin typeface="Calibri"/>
              </a:rPr>
              <a:t>, con la fuente citada.»</a:t>
            </a:r>
          </a:p>
          <a:p>
            <a:pPr>
              <a:spcAft>
                <a:spcPts val="800"/>
              </a:spcAft>
            </a:pPr>
            <a:r>
              <a:rPr sz="1500" b="0" i="0">
                <a:solidFill>
                  <a:srgbClr val="333333"/>
                </a:solidFill>
                <a:latin typeface="Calibri"/>
              </a:rPr>
              <a:t>–   «Hay </a:t>
            </a:r>
            <a:r>
              <a:rPr sz="1500" b="1" i="0">
                <a:solidFill>
                  <a:srgbClr val="333333"/>
                </a:solidFill>
                <a:latin typeface="Calibri"/>
              </a:rPr>
              <a:t>afectados que nunca la usan</a:t>
            </a:r>
            <a:r>
              <a:rPr sz="1500" b="0" i="0">
                <a:solidFill>
                  <a:srgbClr val="333333"/>
                </a:solidFill>
                <a:latin typeface="Calibri"/>
              </a:rPr>
              <a:t> y que quedan peor que antes.»</a:t>
            </a:r>
          </a:p>
        </p:txBody>
      </p:sp>
      <p:pic>
        <p:nvPicPr>
          <p:cNvPr id="14" name="Picture 13" descr="sello_mal.png"/>
          <p:cNvPicPr>
            <a:picLocks noChangeAspect="1"/>
          </p:cNvPicPr>
          <p:nvPr/>
        </p:nvPicPr>
        <p:blipFill>
          <a:blip r:embed="rId2"/>
          <a:stretch>
            <a:fillRect/>
          </a:stretch>
        </p:blipFill>
        <p:spPr>
          <a:xfrm>
            <a:off x="566928" y="1527048"/>
            <a:ext cx="393192" cy="393192"/>
          </a:xfrm>
          <a:prstGeom prst="rect">
            <a:avLst/>
          </a:prstGeom>
        </p:spPr>
      </p:pic>
      <p:pic>
        <p:nvPicPr>
          <p:cNvPr id="15" name="Picture 14" descr="sello_bien.png"/>
          <p:cNvPicPr>
            <a:picLocks noChangeAspect="1"/>
          </p:cNvPicPr>
          <p:nvPr/>
        </p:nvPicPr>
        <p:blipFill>
          <a:blip r:embed="rId3"/>
          <a:stretch>
            <a:fillRect/>
          </a:stretch>
        </p:blipFill>
        <p:spPr>
          <a:xfrm>
            <a:off x="6365595" y="1527048"/>
            <a:ext cx="393192" cy="393192"/>
          </a:xfrm>
          <a:prstGeom prst="rect">
            <a:avLst/>
          </a:prstGeom>
        </p:spPr>
      </p:pic>
      <p:sp>
        <p:nvSpPr>
          <p:cNvPr id="16" name="TextBox 1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Gracias · Introducción a la Ingeniería</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Socialización y evaluación final del curso · Clase 16</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Hace dieciséis sesiones era una ocurrencia; hoy es un proyecto con evidencia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