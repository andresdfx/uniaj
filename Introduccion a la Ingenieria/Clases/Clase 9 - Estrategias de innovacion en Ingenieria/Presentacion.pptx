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notesMaster" Target="notesMasters/notesMaster1.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palabra clave es adopta. La pantalla es más nueva y fracasó; la ficha es vieja y cambió la experiencia. Es una innovación de proceso, no de producto.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Subraye que todas parten de algo que ya existe. Sin el antecedente de la fila con fichas, ninguna de las cuatro ideas aparece.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 que le falta al antecedente es la oportunidad del equipo: aquí, una solución que no obligue a instalar nada.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PREGUNTA DE ENTRADA: SI NO EXISTE EN NINGÚN LADO, PROBABLEMENTE NO BUSCARON</a:t>
            </a:r>
          </a:p>
          <a:p/>
          <a:p>
            <a:r>
              <a:t>La pregunta es deliberadamente incómoda y funciona porque casi todos los equipos llegan a esta altura del semestre convencidos de que su solución es original. La respuesta estadística es dura: en un mundo con millones de ingenieros y cincuenta años de software publicado, la probabilidad de que un problema común —disponibilidad, inventario, turnos, avisos— no tenga antecedentes es prácticamente cero.</a:t>
            </a:r>
          </a:p>
          <a:p/>
          <a:p>
            <a:r>
              <a:t>Lo que hay que evitar es que el grupo lo lea como una ofensa. El encuadre que funciona: buscar antecedentes no le quita mérito al proyecto, le da argumento. Un equipo que dice «esto no existe» está apostando; un equipo que dice «existen estas tres soluciones, ninguna funciona sin computador en el mostrador, y nosotros resolvemos justamente eso» tiene una posición defendible ante cualquiera. La segunda frase es la que se califica en la Clase 15.</a:t>
            </a:r>
          </a:p>
          <a:p/>
          <a:p>
            <a:r>
              <a:t>Aproveche el muro para recoger las respuestas y luego voltee la pregunta: *¿qué sería peor, descubrir hoy que ya existe, o descubrirlo el día de la exposición final cuando alguien del público lo diga?* Esa reformulación convierte la sesión en una protección y no en una tarea.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INNOVACIÓN: POR QUÉ LA ADOPCIÓN ES LO QUE DECIDE</a:t>
            </a:r>
          </a:p>
          <a:p/>
          <a:p>
            <a:r>
              <a:t>La confusión que hay que desarmar en primer semestre es innovación = tecnología nueva. Con esa definición, un equipo se siente obligado a meter inteligencia artificial, blockchain o lo que esté de moda en un proyecto que no lo necesita, y el resultado es peor que la solución simple.</a:t>
            </a:r>
          </a:p>
          <a:p/>
          <a:p>
            <a:r>
              <a:t>La definición útil: innovación es una solución que alguien adopta y que cambia algo en la práctica. La palabra clave es *adopta*. Si nadie la usa, fue un experimento — respetable, pero no innovación. Esto tiene una consecuencia directa sobre sus proyectos y conviene decirla: la biblioteca que empieza a usar una lista publicada es más innovadora que la aplicación perfecta que quedó en el computador del equipo.</a:t>
            </a:r>
          </a:p>
          <a:p/>
          <a:p>
            <a:r>
              <a:t>Incremental y radical. Lo incremental —mejorar algo que ya funciona, un paso a la vez— es lo que ocurre casi siempre y lo único que cabe en un semestre. Hay que decirlo sin condescendencia: la mayoría de la ingeniería del mundo es incremental, y la mejora incremental bien hecha y adoptada vale más que la revolución no entregada.</a:t>
            </a:r>
          </a:p>
          <a:p/>
          <a:p>
            <a:r>
              <a:t>De producto y de proceso. Innovar en el *cómo* —el mismo servicio con la mitad de los pasos— es innovación de proceso, y para muchos de sus proyectos es lo más alcanzable y lo más útil. Si un equipo tiene un proyecto de gestión sin pantallas, este es su lugar en la sesión.</a:t>
            </a:r>
          </a:p>
          <a:p/>
          <a:p>
            <a:r>
              <a:t>Y el punto que abre el resto de la clase: casi toda innovación es una recombinación de cosas que ya existían, traídas a un contexto donde no estaban. Eso convierte la búsqueda de antecedentes en la materia prima del proyecto, y no en un requisito académico. Sin antecedentes no hay con qué recombinar.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CUATRO MANERAS DE GENERAR UNA MEJORA</a:t>
            </a:r>
          </a:p>
          <a:p/>
          <a:p>
            <a:r>
              <a:t>Estas cuatro operaciones son deliberadamente simples porque tienen que poder usarse en quince minutos dentro de una sala de grupo. Y hay una condición que hay que repetir: se aplican sobre un antecedente concreto, no sobre una hoja en blanco. Sin antecedente no producen nada.</a:t>
            </a:r>
          </a:p>
          <a:p/>
          <a:p>
            <a:r>
              <a:t>QUITAR es la más subestimada y casi siempre la más efectiva. Quitar un paso, un requisito, un dato, una pantalla. En el caso de la biblioteca: quitar el registro previo del usuario, quitar la contraseña, quitar la visita presencial. Cada cosa que se quita elimina una razón para que la solución no se use. Vale la pena señalar que quitar también reduce la huella —menos datos, menos consultas, menos transferencia—, que es el indicador de la sesión 5.</a:t>
            </a:r>
          </a:p>
          <a:p/>
          <a:p>
            <a:r>
              <a:t>COMBINAR es juntar dos cosas que ya existen y que nadie había juntado en ese contexto: una lista publicada más un mensaje automático; un formulario más un tablero. Es la operación de la que sale la mayoría de las innovaciones incrementales reales.</a:t>
            </a:r>
          </a:p>
          <a:p/>
          <a:p>
            <a:r>
              <a:t>INVERTIR es dar vuelta a quién hace el trabajo o cuándo se hace: que el usuario consulte en vez de que alguien responda —que es exactamente la decisión de la sesión 8—, que el dato se cargue al cerrar y no en el momento de atender. Invertir suele resolver restricciones de personal, que son las más duras y las que menos se pueden comprar.</a:t>
            </a:r>
          </a:p>
          <a:p/>
          <a:p>
            <a:r>
              <a:t>ADAPTAR DE OTRO DOMINIO es traer una solución que ya funciona en otro campo. El ejemplo que conviene dar porque desbloquea a todos los equipos: *la disponibilidad de un libro y la disponibilidad de una mesa en un restaurante son el mismo problema*. Si un equipo se queda sin ideas, la pregunta que hay que hacerle es «¿qué otro negocio tiene este mismo problema y cómo lo resolvió?».</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BUSCAR: LA PREGUNTA DE BÚSQUEDA Y LOS CINCO PASOS</a:t>
            </a:r>
          </a:p>
          <a:p/>
          <a:p>
            <a:r>
              <a:t>El paso que casi nadie hace es el primero, y es el que ahorra las tres horas perdidas: escribir la pregunta de búsqueda antes de buscar. No una palabra —«bibliotecas»— sino una pregunta: *¿cómo publican su disponibilidad las bibliotecas pequeñas que no tienen sistema?* Sin pregunta la búsqueda no tiene final, porque nada permite decidir si un resultado sirve o no.</a:t>
            </a:r>
          </a:p>
          <a:p/>
          <a:p>
            <a:r>
              <a:t>Traducir a términos de búsqueda es el paso técnico: dos o tres versiones del mismo concepto —el término técnico, el término común y el término en inglés—. Hay que decirles sin rodeos que la mayoría de lo publicado está en inglés y que buscar solo en español recorta el mundo disponible a una fracción. El navegador traduce; la falta de resultados no.</a:t>
            </a:r>
          </a:p>
          <a:p/>
          <a:p>
            <a:r>
              <a:t>Buscar en más de un sitio es donde la mayoría falla por comodidad: un buscador general, un buscador académico, un repositorio institucional y las normas oficiales. Cada uno devuelve un tipo distinto de cosa y ninguno cubre a los otros.</a:t>
            </a:r>
          </a:p>
          <a:p/>
          <a:p>
            <a:r>
              <a:t>Filtrar por calidad y no por posición es el criterio que hay que dejar instalado para toda la carrera: el primer resultado es el mejor posicionado, que no es lo mismo que el mejor. Cuatro preguntas rápidas bastan: quién lo escribe —hay un autor o una institución responsable—, de qué año es, dónde se publicó, y si se puede verificar abriendo el documento.</a:t>
            </a:r>
          </a:p>
          <a:p/>
          <a:p>
            <a:r>
              <a:t>Fichar mientras se lee cierra el método. La ficha del curso tiene seis campos: autor o responsable, año, dónde, qué hace, qué le falta para nuestro caso, y el enlace. El quinto campo es el que convierte una bibliografía en un insumo de diseño: es la brecha donde va a entrar su propuesta de mejora, y es lo que se califica más alto en el taller.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CALIDAD DE LAS FUENTES, LA IA Y QUÉ HACER CUANDO NO SE ENCUENTRA NADA</a:t>
            </a:r>
          </a:p>
          <a:p/>
          <a:p>
            <a:r>
              <a:t>La tabla de sitios hay que recorrerla rápido y con un consejo práctico por fila. El más valioso: cuando un artículo académico está de pago, busque el PDF en el repositorio institucional de la universidad del autor; una parte grande está disponible de manera libre y legal. Esto le resuelve a un estudiante de primer semestre el muro más desmoralizante de la búsqueda académica.</a:t>
            </a:r>
          </a:p>
          <a:p/>
          <a:p>
            <a:r>
              <a:t>Los repositorios institucionales merecen un énfasis especial en este curso: son la mejor fuente para problemas de contexto colombiano, porque las tesis y trabajos de grado suelen atacar exactamente el tipo de problema local que ellos eligieron. Y los sitios oficiales y las normas son fuente primaria: se cita el documento, no la noticia que lo comenta, que es la misma regla que ya practicaron en la sesión 4 con los numerales y en la sesión 5 con las cifras.</a:t>
            </a:r>
          </a:p>
          <a:p/>
          <a:p>
            <a:r>
              <a:t>El asistente de IA merece su propia fila y hay que ser preciso, porque este curso lo autoriza en dos sesiones y lo prohíbe en el resto. Sirve para buscar —pistas, sinónimos, el término en inglés que uno no conoce— y no sirve para citar. La razón técnica hay que decirla explícitamente: un modelo de lenguaje genera texto que suena creíble, y una referencia bibliográfica que suena creíble tiene autor, título, revista y año con formato perfecto aunque no exista. Ha habido abogados sancionados por presentar ante un juez citas de jurisprudencia generadas así. La regla del curso es simple y verificable: si no puede abrir el enlace y ver el documento, no lo cite.</a:t>
            </a:r>
          </a:p>
          <a:p/>
          <a:p>
            <a:r>
              <a:t>Las tres reglas del cierre son las que definen la ética del trabajo académico en este curso. No inventar una cita ni copiar una que no se abrió es la falta más grave, y hoy es más fácil cometerla sin mala intención que nunca. «No encontramos nada» es un resultado válido si se escribe con qué términos, en qué sitios y qué fue lo más cercano que apareció: eso es un hallazgo, se califica, y es infinitamente mejor que tres fuentes de adorno que nadie leyó. Y la tercera tranquiliza y hay que decirla con convicción: encontrar que su idea ya existe mejora el proyecto, porque confirma que el problema es real y da un punto de partida; la pregunta deja de ser «¿lo inventamos?» y pasa a ser «¿qué hacemos distinto y por qué eso importa en nuestro contexto?», que es una pregunta de ingeniería mucho mejor.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CALIDAD DE LAS FUENTES, LA IA Y QUÉ HACER CUANDO NO SE ENCUENTRA NADA</a:t>
            </a:r>
          </a:p>
          <a:p/>
          <a:p>
            <a:r>
              <a:t>La tabla de sitios hay que recorrerla rápido y con un consejo práctico por fila. El más valioso: cuando un artículo académico está de pago, busque el PDF en el repositorio institucional de la universidad del autor; una parte grande está disponible de manera libre y legal. Esto le resuelve a un estudiante de primer semestre el muro más desmoralizante de la búsqueda académica.</a:t>
            </a:r>
          </a:p>
          <a:p/>
          <a:p>
            <a:r>
              <a:t>Los repositorios institucionales merecen un énfasis especial en este curso: son la mejor fuente para problemas de contexto colombiano, porque las tesis y trabajos de grado suelen atacar exactamente el tipo de problema local que ellos eligieron. Y los sitios oficiales y las normas son fuente primaria: se cita el documento, no la noticia que lo comenta, que es la misma regla que ya practicaron en la sesión 4 con los numerales y en la sesión 5 con las cifras.</a:t>
            </a:r>
          </a:p>
          <a:p/>
          <a:p>
            <a:r>
              <a:t>El asistente de IA merece su propia fila y hay que ser preciso, porque este curso lo autoriza en dos sesiones y lo prohíbe en el resto. Sirve para buscar —pistas, sinónimos, el término en inglés que uno no conoce— y no sirve para citar. La razón técnica hay que decirla explícitamente: un modelo de lenguaje genera texto que suena creíble, y una referencia bibliográfica que suena creíble tiene autor, título, revista y año con formato perfecto aunque no exista. Ha habido abogados sancionados por presentar ante un juez citas de jurisprudencia generadas así. La regla del curso es simple y verificable: si no puede abrir el enlace y ver el documento, no lo cite.</a:t>
            </a:r>
          </a:p>
          <a:p/>
          <a:p>
            <a:r>
              <a:t>Las tres reglas del cierre son las que definen la ética del trabajo académico en este curso. No inventar una cita ni copiar una que no se abrió es la falta más grave, y hoy es más fácil cometerla sin mala intención que nunca. «No encontramos nada» es un resultado válido si se escribe con qué términos, en qué sitios y qué fue lo más cercano que apareció: eso es un hallazgo, se califica, y es infinitamente mejor que tres fuentes de adorno que nadie leyó. Y la tercera tranquiliza y hay que decirla con convicción: encontrar que su idea ya existe mejora el proyecto, porque confirma que el problema es real y da un punto de partida; la pregunta deja de ser «¿lo inventamos?» y pasa a ser «¿qué hacemos distinto y por qué eso importa en nuestro contexto?», que es una pregunta de ingeniería mucho mejor.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notesSlide" Target="../notesSlides/notesSlide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
            <a:ext cx="12191695" cy="50292"/>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uniajc_blanco.png"/>
          <p:cNvPicPr>
            <a:picLocks noChangeAspect="1"/>
          </p:cNvPicPr>
          <p:nvPr/>
        </p:nvPicPr>
        <p:blipFill>
          <a:blip r:embed="rId2"/>
          <a:stretch>
            <a:fillRect/>
          </a:stretch>
        </p:blipFill>
        <p:spPr>
          <a:xfrm>
            <a:off x="502920" y="384048"/>
            <a:ext cx="2011680" cy="876815"/>
          </a:xfrm>
          <a:prstGeom prst="rect">
            <a:avLst/>
          </a:prstGeom>
        </p:spPr>
      </p:pic>
      <p:sp>
        <p:nvSpPr>
          <p:cNvPr id="6" name="Rounded Rectangle 5"/>
          <p:cNvSpPr/>
          <p:nvPr/>
        </p:nvSpPr>
        <p:spPr>
          <a:xfrm>
            <a:off x="10042855" y="384048"/>
            <a:ext cx="1691640" cy="384048"/>
          </a:xfrm>
          <a:prstGeom prst="roundRect">
            <a:avLst>
              <a:gd name="adj" fmla="val 12000"/>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42855" y="384048"/>
            <a:ext cx="1691640" cy="384048"/>
          </a:xfrm>
          <a:prstGeom prst="rect">
            <a:avLst/>
          </a:prstGeom>
          <a:noFill/>
        </p:spPr>
        <p:txBody>
          <a:bodyPr wrap="square" anchor="ctr"/>
          <a:lstStyle/>
          <a:p>
            <a:pPr algn="ctr"/>
            <a:r>
              <a:rPr sz="1400" b="1" i="0">
                <a:solidFill>
                  <a:srgbClr val="FFFFFF"/>
                </a:solidFill>
                <a:latin typeface="Calibri"/>
              </a:rPr>
              <a:t>Clase 9</a:t>
            </a:r>
          </a:p>
        </p:txBody>
      </p:sp>
      <p:sp>
        <p:nvSpPr>
          <p:cNvPr id="8" name="TextBox 7"/>
          <p:cNvSpPr txBox="1"/>
          <p:nvPr/>
        </p:nvSpPr>
        <p:spPr>
          <a:xfrm>
            <a:off x="731520" y="2331720"/>
            <a:ext cx="10728655" cy="1828800"/>
          </a:xfrm>
          <a:prstGeom prst="rect">
            <a:avLst/>
          </a:prstGeom>
          <a:noFill/>
        </p:spPr>
        <p:txBody>
          <a:bodyPr wrap="square" anchor="ctr"/>
          <a:lstStyle/>
          <a:p>
            <a:pPr algn="ctr"/>
            <a:r>
              <a:rPr sz="3400" b="1" i="0">
                <a:solidFill>
                  <a:srgbClr val="FFFFFF"/>
                </a:solidFill>
                <a:latin typeface="Calibri"/>
              </a:rPr>
              <a:t>Estrategias de innovación en Ingeniería</a:t>
            </a:r>
          </a:p>
        </p:txBody>
      </p:sp>
      <p:sp>
        <p:nvSpPr>
          <p:cNvPr id="9" name="Rectangle 8"/>
          <p:cNvSpPr/>
          <p:nvPr/>
        </p:nvSpPr>
        <p:spPr>
          <a:xfrm>
            <a:off x="4632807" y="4206240"/>
            <a:ext cx="2926080" cy="50292"/>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4361688"/>
            <a:ext cx="10728655" cy="640080"/>
          </a:xfrm>
          <a:prstGeom prst="rect">
            <a:avLst/>
          </a:prstGeom>
          <a:noFill/>
        </p:spPr>
        <p:txBody>
          <a:bodyPr wrap="square">
            <a:spAutoFit/>
          </a:bodyPr>
          <a:lstStyle/>
          <a:p>
            <a:pPr algn="ctr"/>
            <a:r>
              <a:rPr sz="1800" b="0" i="0">
                <a:solidFill>
                  <a:srgbClr val="B8D8EE"/>
                </a:solidFill>
                <a:latin typeface="Calibri"/>
              </a:rPr>
              <a:t>Nadie parte de cero: qué ya existe, quién lo intentó y qué van a hacer distinto</a:t>
            </a:r>
          </a:p>
        </p:txBody>
      </p:sp>
      <p:sp>
        <p:nvSpPr>
          <p:cNvPr id="11" name="TextBox 10"/>
          <p:cNvSpPr txBox="1"/>
          <p:nvPr/>
        </p:nvSpPr>
        <p:spPr>
          <a:xfrm>
            <a:off x="11094415" y="6419088"/>
            <a:ext cx="548640" cy="274320"/>
          </a:xfrm>
          <a:prstGeom prst="rect">
            <a:avLst/>
          </a:prstGeom>
          <a:noFill/>
        </p:spPr>
        <p:txBody>
          <a:bodyPr wrap="square">
            <a:spAutoFit/>
          </a:bodyPr>
          <a:lstStyle/>
          <a:p>
            <a:pPr algn="r"/>
            <a:r>
              <a:rPr sz="1100" b="1" i="0">
                <a:solidFill>
                  <a:srgbClr val="7EB8D4"/>
                </a:solidFill>
                <a:latin typeface="Calibr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70432"/>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70432"/>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384048"/>
          </a:xfrm>
          <a:prstGeom prst="rect">
            <a:avLst/>
          </a:prstGeom>
          <a:noFill/>
        </p:spPr>
        <p:txBody>
          <a:bodyPr wrap="square">
            <a:spAutoFit/>
          </a:bodyPr>
          <a:lstStyle/>
          <a:p>
            <a:r>
              <a:rPr sz="2600" b="1" i="0">
                <a:solidFill>
                  <a:srgbClr val="FFFFFF"/>
                </a:solidFill>
                <a:latin typeface="Calibri"/>
              </a:rPr>
              <a:t>Agenda de hoy (90 min)</a:t>
            </a:r>
          </a:p>
        </p:txBody>
      </p:sp>
      <p:sp>
        <p:nvSpPr>
          <p:cNvPr id="5" name="TextBox 4"/>
          <p:cNvSpPr txBox="1"/>
          <p:nvPr/>
        </p:nvSpPr>
        <p:spPr>
          <a:xfrm>
            <a:off x="457200" y="566928"/>
            <a:ext cx="11277295" cy="411480"/>
          </a:xfrm>
          <a:prstGeom prst="rect">
            <a:avLst/>
          </a:prstGeom>
          <a:noFill/>
        </p:spPr>
        <p:txBody>
          <a:bodyPr wrap="square">
            <a:spAutoFit/>
          </a:bodyPr>
          <a:lstStyle/>
          <a:p>
            <a:r>
              <a:rPr sz="1400" b="0" i="0">
                <a:solidFill>
                  <a:srgbClr val="B8D8EE"/>
                </a:solidFill>
                <a:latin typeface="Calibri"/>
              </a:rPr>
              <a:t>La misma estructura de las 16 sesiones. El reloj de pared de su grupo está en el calendario del curso.</a:t>
            </a:r>
          </a:p>
        </p:txBody>
      </p:sp>
      <p:sp>
        <p:nvSpPr>
          <p:cNvPr id="6" name="Rectangle 5"/>
          <p:cNvSpPr/>
          <p:nvPr/>
        </p:nvSpPr>
        <p:spPr>
          <a:xfrm>
            <a:off x="457200" y="2386584"/>
            <a:ext cx="11277295" cy="73152"/>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438625" y="2276856"/>
            <a:ext cx="292608" cy="292608"/>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563624"/>
            <a:ext cx="2255459" cy="502920"/>
          </a:xfrm>
          <a:prstGeom prst="rect">
            <a:avLst/>
          </a:prstGeom>
          <a:noFill/>
        </p:spPr>
        <p:txBody>
          <a:bodyPr wrap="square">
            <a:spAutoFit/>
          </a:bodyPr>
          <a:lstStyle/>
          <a:p>
            <a:pPr algn="ctr"/>
            <a:r>
              <a:rPr sz="1300" b="1" i="0">
                <a:solidFill>
                  <a:srgbClr val="095292"/>
                </a:solidFill>
                <a:latin typeface="Calibri"/>
              </a:rPr>
              <a:t>00:00–00:10 · 10 min</a:t>
            </a:r>
          </a:p>
        </p:txBody>
      </p:sp>
      <p:sp>
        <p:nvSpPr>
          <p:cNvPr id="9" name="TextBox 8"/>
          <p:cNvSpPr txBox="1"/>
          <p:nvPr/>
        </p:nvSpPr>
        <p:spPr>
          <a:xfrm>
            <a:off x="502920" y="2798064"/>
            <a:ext cx="2164019" cy="3099816"/>
          </a:xfrm>
          <a:prstGeom prst="rect">
            <a:avLst/>
          </a:prstGeom>
          <a:noFill/>
        </p:spPr>
        <p:txBody>
          <a:bodyPr wrap="square">
            <a:spAutoFit/>
          </a:bodyPr>
          <a:lstStyle/>
          <a:p>
            <a:pPr algn="ctr"/>
            <a:r>
              <a:rPr sz="1300" b="0" i="0">
                <a:solidFill>
                  <a:srgbClr val="333333"/>
                </a:solidFill>
                <a:latin typeface="Calibri"/>
              </a:rPr>
              <a:t>Pregunta de entrada en el muro mientras se conectan</a:t>
            </a:r>
          </a:p>
        </p:txBody>
      </p:sp>
      <p:sp>
        <p:nvSpPr>
          <p:cNvPr id="10" name="Rounded Rectangle 9"/>
          <p:cNvSpPr/>
          <p:nvPr/>
        </p:nvSpPr>
        <p:spPr>
          <a:xfrm>
            <a:off x="3694084" y="2276856"/>
            <a:ext cx="292608" cy="292608"/>
          </a:xfrm>
          <a:prstGeom prst="roundRect">
            <a:avLst>
              <a:gd name="adj" fmla="val 12000"/>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12659" y="1563624"/>
            <a:ext cx="2255459" cy="502920"/>
          </a:xfrm>
          <a:prstGeom prst="rect">
            <a:avLst/>
          </a:prstGeom>
          <a:noFill/>
        </p:spPr>
        <p:txBody>
          <a:bodyPr wrap="square">
            <a:spAutoFit/>
          </a:bodyPr>
          <a:lstStyle/>
          <a:p>
            <a:pPr algn="ctr"/>
            <a:r>
              <a:rPr sz="1300" b="1" i="0">
                <a:solidFill>
                  <a:srgbClr val="095292"/>
                </a:solidFill>
                <a:latin typeface="Calibri"/>
              </a:rPr>
              <a:t>00:10–00:55 · 45 min</a:t>
            </a:r>
          </a:p>
        </p:txBody>
      </p:sp>
      <p:sp>
        <p:nvSpPr>
          <p:cNvPr id="12" name="TextBox 11"/>
          <p:cNvSpPr txBox="1"/>
          <p:nvPr/>
        </p:nvSpPr>
        <p:spPr>
          <a:xfrm>
            <a:off x="2758379" y="2798064"/>
            <a:ext cx="2164019" cy="3099816"/>
          </a:xfrm>
          <a:prstGeom prst="rect">
            <a:avLst/>
          </a:prstGeom>
          <a:noFill/>
        </p:spPr>
        <p:txBody>
          <a:bodyPr wrap="square">
            <a:spAutoFit/>
          </a:bodyPr>
          <a:lstStyle/>
          <a:p>
            <a:pPr algn="ctr"/>
            <a:r>
              <a:rPr sz="1300" b="0" i="0">
                <a:solidFill>
                  <a:srgbClr val="333333"/>
                </a:solidFill>
                <a:latin typeface="Calibri"/>
              </a:rPr>
              <a:t>Teoría — innovación, cuatro maneras de mejorar, búsqueda y calidad de fuentes</a:t>
            </a:r>
          </a:p>
        </p:txBody>
      </p:sp>
      <p:sp>
        <p:nvSpPr>
          <p:cNvPr id="13" name="Rounded Rectangle 12"/>
          <p:cNvSpPr/>
          <p:nvPr/>
        </p:nvSpPr>
        <p:spPr>
          <a:xfrm>
            <a:off x="5949543" y="2276856"/>
            <a:ext cx="292608" cy="292608"/>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968118" y="1563624"/>
            <a:ext cx="2255459" cy="502920"/>
          </a:xfrm>
          <a:prstGeom prst="rect">
            <a:avLst/>
          </a:prstGeom>
          <a:noFill/>
        </p:spPr>
        <p:txBody>
          <a:bodyPr wrap="square">
            <a:spAutoFit/>
          </a:bodyPr>
          <a:lstStyle/>
          <a:p>
            <a:pPr algn="ctr"/>
            <a:r>
              <a:rPr sz="1300" b="1" i="0">
                <a:solidFill>
                  <a:srgbClr val="095292"/>
                </a:solidFill>
                <a:latin typeface="Calibri"/>
              </a:rPr>
              <a:t>00:55–01:12 · 17 min</a:t>
            </a:r>
          </a:p>
        </p:txBody>
      </p:sp>
      <p:sp>
        <p:nvSpPr>
          <p:cNvPr id="15" name="TextBox 14"/>
          <p:cNvSpPr txBox="1"/>
          <p:nvPr/>
        </p:nvSpPr>
        <p:spPr>
          <a:xfrm>
            <a:off x="5013838" y="2798064"/>
            <a:ext cx="2164019" cy="3099816"/>
          </a:xfrm>
          <a:prstGeom prst="rect">
            <a:avLst/>
          </a:prstGeom>
          <a:noFill/>
        </p:spPr>
        <p:txBody>
          <a:bodyPr wrap="square">
            <a:spAutoFit/>
          </a:bodyPr>
          <a:lstStyle/>
          <a:p>
            <a:pPr algn="ctr"/>
            <a:r>
              <a:rPr sz="1300" b="0" i="0">
                <a:solidFill>
                  <a:srgbClr val="333333"/>
                </a:solidFill>
                <a:latin typeface="Calibri"/>
              </a:rPr>
              <a:t>Práctica en equipos (opcional · la guía está en la carpeta de la clase)</a:t>
            </a:r>
          </a:p>
        </p:txBody>
      </p:sp>
      <p:sp>
        <p:nvSpPr>
          <p:cNvPr id="16" name="Rounded Rectangle 15"/>
          <p:cNvSpPr/>
          <p:nvPr/>
        </p:nvSpPr>
        <p:spPr>
          <a:xfrm>
            <a:off x="8205002" y="2276856"/>
            <a:ext cx="292608" cy="292608"/>
          </a:xfrm>
          <a:prstGeom prst="roundRect">
            <a:avLst>
              <a:gd name="adj" fmla="val 12000"/>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23577" y="1563624"/>
            <a:ext cx="2255459" cy="502920"/>
          </a:xfrm>
          <a:prstGeom prst="rect">
            <a:avLst/>
          </a:prstGeom>
          <a:noFill/>
        </p:spPr>
        <p:txBody>
          <a:bodyPr wrap="square">
            <a:spAutoFit/>
          </a:bodyPr>
          <a:lstStyle/>
          <a:p>
            <a:pPr algn="ctr"/>
            <a:r>
              <a:rPr sz="1300" b="1" i="0">
                <a:solidFill>
                  <a:srgbClr val="095292"/>
                </a:solidFill>
                <a:latin typeface="Calibri"/>
              </a:rPr>
              <a:t>01:12–01:27 · 15 min</a:t>
            </a:r>
          </a:p>
        </p:txBody>
      </p:sp>
      <p:sp>
        <p:nvSpPr>
          <p:cNvPr id="18" name="TextBox 17"/>
          <p:cNvSpPr txBox="1"/>
          <p:nvPr/>
        </p:nvSpPr>
        <p:spPr>
          <a:xfrm>
            <a:off x="7269297" y="2798064"/>
            <a:ext cx="2164019" cy="3099816"/>
          </a:xfrm>
          <a:prstGeom prst="rect">
            <a:avLst/>
          </a:prstGeom>
          <a:noFill/>
        </p:spPr>
        <p:txBody>
          <a:bodyPr wrap="square">
            <a:spAutoFit/>
          </a:bodyPr>
          <a:lstStyle/>
          <a:p>
            <a:pPr algn="ctr"/>
            <a:r>
              <a:rPr sz="1300" b="0" i="0">
                <a:solidFill>
                  <a:srgbClr val="333333"/>
                </a:solidFill>
                <a:latin typeface="Calibri"/>
              </a:rPr>
              <a:t>Socialización de la práctica, si se hizo</a:t>
            </a:r>
          </a:p>
        </p:txBody>
      </p:sp>
      <p:sp>
        <p:nvSpPr>
          <p:cNvPr id="19" name="Rounded Rectangle 18"/>
          <p:cNvSpPr/>
          <p:nvPr/>
        </p:nvSpPr>
        <p:spPr>
          <a:xfrm>
            <a:off x="10460461" y="2276856"/>
            <a:ext cx="292608" cy="292608"/>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479036" y="1563624"/>
            <a:ext cx="2255459" cy="502920"/>
          </a:xfrm>
          <a:prstGeom prst="rect">
            <a:avLst/>
          </a:prstGeom>
          <a:noFill/>
        </p:spPr>
        <p:txBody>
          <a:bodyPr wrap="square">
            <a:spAutoFit/>
          </a:bodyPr>
          <a:lstStyle/>
          <a:p>
            <a:pPr algn="ctr"/>
            <a:r>
              <a:rPr sz="1300" b="1" i="0">
                <a:solidFill>
                  <a:srgbClr val="095292"/>
                </a:solidFill>
                <a:latin typeface="Calibri"/>
              </a:rPr>
              <a:t>01:27–01:30 · 3 min</a:t>
            </a:r>
          </a:p>
        </p:txBody>
      </p:sp>
      <p:sp>
        <p:nvSpPr>
          <p:cNvPr id="21" name="TextBox 20"/>
          <p:cNvSpPr txBox="1"/>
          <p:nvPr/>
        </p:nvSpPr>
        <p:spPr>
          <a:xfrm>
            <a:off x="9524756" y="2798064"/>
            <a:ext cx="2164019" cy="3099816"/>
          </a:xfrm>
          <a:prstGeom prst="rect">
            <a:avLst/>
          </a:prstGeom>
          <a:noFill/>
        </p:spPr>
        <p:txBody>
          <a:bodyPr wrap="square">
            <a:spAutoFit/>
          </a:bodyPr>
          <a:lstStyle/>
          <a:p>
            <a:pPr algn="ctr"/>
            <a:r>
              <a:rPr sz="1300" b="0" i="0">
                <a:solidFill>
                  <a:srgbClr val="333333"/>
                </a:solidFill>
                <a:latin typeface="Calibri"/>
              </a:rPr>
              <a:t>Una idea, la tarea y los enlaces en el chat</a:t>
            </a:r>
          </a:p>
        </p:txBody>
      </p:sp>
      <p:sp>
        <p:nvSpPr>
          <p:cNvPr id="22" name="TextBox 21"/>
          <p:cNvSpPr txBox="1"/>
          <p:nvPr/>
        </p:nvSpPr>
        <p:spPr>
          <a:xfrm>
            <a:off x="457200" y="5806440"/>
            <a:ext cx="11277295" cy="640080"/>
          </a:xfrm>
          <a:prstGeom prst="rect">
            <a:avLst/>
          </a:prstGeom>
          <a:noFill/>
        </p:spPr>
        <p:txBody>
          <a:bodyPr wrap="square">
            <a:spAutoFit/>
          </a:bodyPr>
          <a:lstStyle/>
          <a:p>
            <a:pPr algn="ctr"/>
            <a:r>
              <a:rPr sz="1200" b="0" i="1">
                <a:solidFill>
                  <a:srgbClr val="666666"/>
                </a:solidFill>
                <a:latin typeface="Calibri"/>
              </a:rPr>
              <a:t>Solo el bloque de </a:t>
            </a:r>
            <a:r>
              <a:rPr sz="1200" b="1" i="1">
                <a:solidFill>
                  <a:srgbClr val="666666"/>
                </a:solidFill>
                <a:latin typeface="Calibri"/>
              </a:rPr>
              <a:t>esta</a:t>
            </a:r>
            <a:r>
              <a:rPr sz="1200" b="0" i="1">
                <a:solidFill>
                  <a:srgbClr val="666666"/>
                </a:solidFill>
                <a:latin typeface="Calibri"/>
              </a:rPr>
              <a:t> clase · 120 min</a:t>
            </a:r>
          </a:p>
        </p:txBody>
      </p:sp>
      <p:sp>
        <p:nvSpPr>
          <p:cNvPr id="23" name="TextBox 22"/>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Objetivos de la sesión</a:t>
            </a:r>
          </a:p>
        </p:txBody>
      </p:sp>
      <p:sp>
        <p:nvSpPr>
          <p:cNvPr id="5" name="TextBox 4"/>
          <p:cNvSpPr txBox="1"/>
          <p:nvPr/>
        </p:nvSpPr>
        <p:spPr>
          <a:xfrm>
            <a:off x="457200" y="1170432"/>
            <a:ext cx="11277295" cy="5230368"/>
          </a:xfrm>
          <a:prstGeom prst="rect">
            <a:avLst/>
          </a:prstGeom>
          <a:noFill/>
        </p:spPr>
        <p:txBody>
          <a:bodyPr wrap="square">
            <a:spAutoFit/>
          </a:bodyPr>
          <a:lstStyle/>
          <a:p>
            <a:pPr>
              <a:spcAft>
                <a:spcPts val="800"/>
              </a:spcAft>
            </a:pPr>
            <a:r>
              <a:rPr sz="2000" b="0" i="0">
                <a:solidFill>
                  <a:srgbClr val="333333"/>
                </a:solidFill>
                <a:latin typeface="Calibri"/>
              </a:rPr>
              <a:t>–   Distinguir </a:t>
            </a:r>
            <a:r>
              <a:rPr sz="2000" b="1" i="0">
                <a:solidFill>
                  <a:srgbClr val="333333"/>
                </a:solidFill>
                <a:latin typeface="Calibri"/>
              </a:rPr>
              <a:t>innovación</a:t>
            </a:r>
            <a:r>
              <a:rPr sz="2000" b="0" i="0">
                <a:solidFill>
                  <a:srgbClr val="333333"/>
                </a:solidFill>
                <a:latin typeface="Calibri"/>
              </a:rPr>
              <a:t> de novedad tecnológica, y explicar por qué la adopción es lo que decide.</a:t>
            </a:r>
          </a:p>
          <a:p>
            <a:pPr>
              <a:spcAft>
                <a:spcPts val="800"/>
              </a:spcAft>
            </a:pPr>
            <a:r>
              <a:rPr sz="2000" b="0" i="0">
                <a:solidFill>
                  <a:srgbClr val="333333"/>
                </a:solidFill>
                <a:latin typeface="Calibri"/>
              </a:rPr>
              <a:t>–   Aplicar </a:t>
            </a:r>
            <a:r>
              <a:rPr sz="2000" b="1" i="0">
                <a:solidFill>
                  <a:srgbClr val="333333"/>
                </a:solidFill>
                <a:latin typeface="Calibri"/>
              </a:rPr>
              <a:t>cuatro maneras concretas</a:t>
            </a:r>
            <a:r>
              <a:rPr sz="2000" b="0" i="0">
                <a:solidFill>
                  <a:srgbClr val="333333"/>
                </a:solidFill>
                <a:latin typeface="Calibri"/>
              </a:rPr>
              <a:t> de generar una mejora sobre algo que ya existe.</a:t>
            </a:r>
          </a:p>
          <a:p>
            <a:pPr>
              <a:spcAft>
                <a:spcPts val="800"/>
              </a:spcAft>
            </a:pPr>
            <a:r>
              <a:rPr sz="2000" b="0" i="0">
                <a:solidFill>
                  <a:srgbClr val="333333"/>
                </a:solidFill>
                <a:latin typeface="Calibri"/>
              </a:rPr>
              <a:t>–   Buscar antecedentes con una </a:t>
            </a:r>
            <a:r>
              <a:rPr sz="2000" b="1" i="0">
                <a:solidFill>
                  <a:srgbClr val="333333"/>
                </a:solidFill>
                <a:latin typeface="Calibri"/>
              </a:rPr>
              <a:t>pregunta de búsqueda</a:t>
            </a:r>
            <a:r>
              <a:rPr sz="2000" b="0" i="0">
                <a:solidFill>
                  <a:srgbClr val="333333"/>
                </a:solidFill>
                <a:latin typeface="Calibri"/>
              </a:rPr>
              <a:t> y </a:t>
            </a:r>
            <a:r>
              <a:rPr sz="2000" b="1" i="0">
                <a:solidFill>
                  <a:srgbClr val="333333"/>
                </a:solidFill>
                <a:latin typeface="Calibri"/>
              </a:rPr>
              <a:t>evaluar la calidad de una fuente</a:t>
            </a:r>
            <a:r>
              <a:rPr sz="2000" b="0" i="0">
                <a:solidFill>
                  <a:srgbClr val="333333"/>
                </a:solidFill>
                <a:latin typeface="Calibri"/>
              </a:rPr>
              <a:t>.</a:t>
            </a:r>
          </a:p>
          <a:p>
            <a:pPr>
              <a:spcAft>
                <a:spcPts val="800"/>
              </a:spcAft>
            </a:pPr>
            <a:r>
              <a:rPr sz="2000" b="0" i="0">
                <a:solidFill>
                  <a:srgbClr val="333333"/>
                </a:solidFill>
                <a:latin typeface="Calibri"/>
              </a:rPr>
              <a:t>–   Fichar tres antecedentes verificables y escribir </a:t>
            </a:r>
            <a:r>
              <a:rPr sz="2000" b="1" i="0">
                <a:solidFill>
                  <a:srgbClr val="333333"/>
                </a:solidFill>
                <a:latin typeface="Calibri"/>
              </a:rPr>
              <a:t>qué van a hacer distinto y por qué</a:t>
            </a:r>
            <a:r>
              <a:rPr sz="2000" b="0" i="0">
                <a:solidFill>
                  <a:srgbClr val="333333"/>
                </a:solidFill>
                <a:latin typeface="Calibri"/>
              </a:rPr>
              <a:t>.</a:t>
            </a:r>
          </a:p>
        </p:txBody>
      </p:sp>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_uniajc_blanco.png"/>
          <p:cNvPicPr>
            <a:picLocks noChangeAspect="1"/>
          </p:cNvPicPr>
          <p:nvPr/>
        </p:nvPicPr>
        <p:blipFill>
          <a:blip r:embed="rId2"/>
          <a:stretch>
            <a:fillRect/>
          </a:stretch>
        </p:blipFill>
        <p:spPr>
          <a:xfrm>
            <a:off x="10134295" y="320040"/>
            <a:ext cx="1645920" cy="717394"/>
          </a:xfrm>
          <a:prstGeom prst="rect">
            <a:avLst/>
          </a:prstGeom>
        </p:spPr>
      </p:pic>
      <p:sp>
        <p:nvSpPr>
          <p:cNvPr id="5" name="TextBox 4"/>
          <p:cNvSpPr txBox="1"/>
          <p:nvPr/>
        </p:nvSpPr>
        <p:spPr>
          <a:xfrm>
            <a:off x="685800" y="1280160"/>
            <a:ext cx="10820095" cy="365760"/>
          </a:xfrm>
          <a:prstGeom prst="rect">
            <a:avLst/>
          </a:prstGeom>
          <a:noFill/>
        </p:spPr>
        <p:txBody>
          <a:bodyPr wrap="square">
            <a:spAutoFit/>
          </a:bodyPr>
          <a:lstStyle/>
          <a:p>
            <a:pPr algn="ctr"/>
            <a:r>
              <a:rPr sz="1400" b="1" i="0">
                <a:solidFill>
                  <a:srgbClr val="269CCB"/>
                </a:solidFill>
                <a:latin typeface="Calibri"/>
              </a:rPr>
              <a:t>Pregunta de entrada</a:t>
            </a:r>
          </a:p>
        </p:txBody>
      </p:sp>
      <p:sp>
        <p:nvSpPr>
          <p:cNvPr id="6" name="TextBox 5"/>
          <p:cNvSpPr txBox="1"/>
          <p:nvPr/>
        </p:nvSpPr>
        <p:spPr>
          <a:xfrm>
            <a:off x="685800" y="1828800"/>
            <a:ext cx="10820095" cy="2011680"/>
          </a:xfrm>
          <a:prstGeom prst="rect">
            <a:avLst/>
          </a:prstGeom>
          <a:noFill/>
        </p:spPr>
        <p:txBody>
          <a:bodyPr wrap="square" anchor="ctr"/>
          <a:lstStyle/>
          <a:p>
            <a:pPr algn="ctr"/>
            <a:r>
              <a:rPr sz="2800" b="1" i="0">
                <a:solidFill>
                  <a:srgbClr val="FFFFFF"/>
                </a:solidFill>
                <a:latin typeface="Calibri"/>
              </a:rPr>
              <a:t>Si su solución no existe en ningún lugar del mundo, hay dos posibilidades: es una gran idea, o no buscaron bien. ¿Cuál es más probable?</a:t>
            </a:r>
          </a:p>
        </p:txBody>
      </p:sp>
      <p:sp>
        <p:nvSpPr>
          <p:cNvPr id="7" name="TextBox 6"/>
          <p:cNvSpPr txBox="1"/>
          <p:nvPr/>
        </p:nvSpPr>
        <p:spPr>
          <a:xfrm>
            <a:off x="822960" y="4114800"/>
            <a:ext cx="10545775" cy="1645920"/>
          </a:xfrm>
          <a:prstGeom prst="rect">
            <a:avLst/>
          </a:prstGeom>
          <a:noFill/>
        </p:spPr>
        <p:txBody>
          <a:bodyPr wrap="square">
            <a:spAutoFit/>
          </a:bodyPr>
          <a:lstStyle/>
          <a:p>
            <a:pPr algn="ctr">
              <a:spcAft>
                <a:spcPts val="600"/>
              </a:spcAft>
            </a:pPr>
            <a:r>
              <a:rPr sz="1500" b="0" i="0">
                <a:solidFill>
                  <a:srgbClr val="269CCB"/>
                </a:solidFill>
                <a:latin typeface="Calibri"/>
              </a:rPr>
              <a:t>Casi siempre es la segunda. Y descubrirlo hoy es barato.</a:t>
            </a:r>
          </a:p>
          <a:p>
            <a:pPr algn="ctr">
              <a:spcAft>
                <a:spcPts val="600"/>
              </a:spcAft>
            </a:pPr>
            <a:r>
              <a:rPr sz="1500" b="0" i="0">
                <a:solidFill>
                  <a:srgbClr val="269CCB"/>
                </a:solidFill>
                <a:latin typeface="Calibri"/>
              </a:rPr>
              <a:t>Buscar antecedentes no le quita mérito al proyecto: le da argumento.</a:t>
            </a:r>
          </a:p>
        </p:txBody>
      </p:sp>
      <p:sp>
        <p:nvSpPr>
          <p:cNvPr id="8" name="TextBox 7"/>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Qué es innovación y qué no</a:t>
            </a:r>
          </a:p>
        </p:txBody>
      </p:sp>
      <p:sp>
        <p:nvSpPr>
          <p:cNvPr id="5" name="Rounded Rectangle 4"/>
          <p:cNvSpPr/>
          <p:nvPr/>
        </p:nvSpPr>
        <p:spPr>
          <a:xfrm>
            <a:off x="457200" y="1261872"/>
            <a:ext cx="5547207" cy="2464308"/>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5547207" cy="9144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21792" y="1490472"/>
            <a:ext cx="5218023" cy="411480"/>
          </a:xfrm>
          <a:prstGeom prst="rect">
            <a:avLst/>
          </a:prstGeom>
          <a:noFill/>
        </p:spPr>
        <p:txBody>
          <a:bodyPr wrap="square">
            <a:spAutoFit/>
          </a:bodyPr>
          <a:lstStyle/>
          <a:p>
            <a:r>
              <a:rPr sz="1500" b="1" i="0">
                <a:solidFill>
                  <a:srgbClr val="095292"/>
                </a:solidFill>
                <a:latin typeface="Calibri"/>
              </a:rPr>
              <a:t>No es novedad tecnológica</a:t>
            </a:r>
          </a:p>
        </p:txBody>
      </p:sp>
      <p:sp>
        <p:nvSpPr>
          <p:cNvPr id="8" name="TextBox 7"/>
          <p:cNvSpPr txBox="1"/>
          <p:nvPr/>
        </p:nvSpPr>
        <p:spPr>
          <a:xfrm>
            <a:off x="621792" y="1947672"/>
            <a:ext cx="5218023" cy="1595628"/>
          </a:xfrm>
          <a:prstGeom prst="rect">
            <a:avLst/>
          </a:prstGeom>
          <a:noFill/>
        </p:spPr>
        <p:txBody>
          <a:bodyPr wrap="square">
            <a:spAutoFit/>
          </a:bodyPr>
          <a:lstStyle/>
          <a:p>
            <a:r>
              <a:rPr sz="1300" b="0" i="0">
                <a:solidFill>
                  <a:srgbClr val="333333"/>
                </a:solidFill>
                <a:latin typeface="Calibri"/>
              </a:rPr>
              <a:t>Usar lo último no es innovar. </a:t>
            </a:r>
            <a:r>
              <a:rPr sz="1300" b="1" i="0">
                <a:solidFill>
                  <a:srgbClr val="333333"/>
                </a:solidFill>
                <a:latin typeface="Calibri"/>
              </a:rPr>
              <a:t>Innovación es una solución que alguien adopta y que cambia algo en la práctica.</a:t>
            </a:r>
            <a:r>
              <a:rPr sz="1300" b="0" i="0">
                <a:solidFill>
                  <a:srgbClr val="333333"/>
                </a:solidFill>
                <a:latin typeface="Calibri"/>
              </a:rPr>
              <a:t> Si nadie la usa, fue un experimento — respetable, pero no innovación.</a:t>
            </a:r>
          </a:p>
        </p:txBody>
      </p:sp>
      <p:sp>
        <p:nvSpPr>
          <p:cNvPr id="9" name="Rounded Rectangle 8"/>
          <p:cNvSpPr/>
          <p:nvPr/>
        </p:nvSpPr>
        <p:spPr>
          <a:xfrm>
            <a:off x="6187287" y="1261872"/>
            <a:ext cx="5547207" cy="2464308"/>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87287" y="1261872"/>
            <a:ext cx="5547207" cy="91440"/>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1879" y="1490472"/>
            <a:ext cx="5218023" cy="411480"/>
          </a:xfrm>
          <a:prstGeom prst="rect">
            <a:avLst/>
          </a:prstGeom>
          <a:noFill/>
        </p:spPr>
        <p:txBody>
          <a:bodyPr wrap="square">
            <a:spAutoFit/>
          </a:bodyPr>
          <a:lstStyle/>
          <a:p>
            <a:r>
              <a:rPr sz="1500" b="1" i="0">
                <a:solidFill>
                  <a:srgbClr val="095292"/>
                </a:solidFill>
                <a:latin typeface="Calibri"/>
              </a:rPr>
              <a:t>Incremental y radical</a:t>
            </a:r>
          </a:p>
        </p:txBody>
      </p:sp>
      <p:sp>
        <p:nvSpPr>
          <p:cNvPr id="12" name="TextBox 11"/>
          <p:cNvSpPr txBox="1"/>
          <p:nvPr/>
        </p:nvSpPr>
        <p:spPr>
          <a:xfrm>
            <a:off x="6351879" y="1947672"/>
            <a:ext cx="5218023" cy="1595628"/>
          </a:xfrm>
          <a:prstGeom prst="rect">
            <a:avLst/>
          </a:prstGeom>
          <a:noFill/>
        </p:spPr>
        <p:txBody>
          <a:bodyPr wrap="square">
            <a:spAutoFit/>
          </a:bodyPr>
          <a:lstStyle/>
          <a:p>
            <a:r>
              <a:rPr sz="1300" b="1" i="0">
                <a:solidFill>
                  <a:srgbClr val="333333"/>
                </a:solidFill>
                <a:latin typeface="Calibri"/>
              </a:rPr>
              <a:t>Incremental</a:t>
            </a:r>
            <a:r>
              <a:rPr sz="1300" b="0" i="0">
                <a:solidFill>
                  <a:srgbClr val="333333"/>
                </a:solidFill>
                <a:latin typeface="Calibri"/>
              </a:rPr>
              <a:t>: mejorar algo que ya funciona, un paso a la vez. </a:t>
            </a:r>
            <a:r>
              <a:rPr sz="1300" b="1" i="0">
                <a:solidFill>
                  <a:srgbClr val="333333"/>
                </a:solidFill>
                <a:latin typeface="Calibri"/>
              </a:rPr>
              <a:t>Radical</a:t>
            </a:r>
            <a:r>
              <a:rPr sz="1300" b="0" i="0">
                <a:solidFill>
                  <a:srgbClr val="333333"/>
                </a:solidFill>
                <a:latin typeface="Calibri"/>
              </a:rPr>
              <a:t>: cambiar la manera de hacerlo. La incremental es la que ocurre el 95 % de las veces, y la única que cabe en un semestre.</a:t>
            </a:r>
          </a:p>
        </p:txBody>
      </p:sp>
      <p:sp>
        <p:nvSpPr>
          <p:cNvPr id="13" name="Rounded Rectangle 12"/>
          <p:cNvSpPr/>
          <p:nvPr/>
        </p:nvSpPr>
        <p:spPr>
          <a:xfrm>
            <a:off x="457200" y="3890772"/>
            <a:ext cx="5547207" cy="2464308"/>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3890772"/>
            <a:ext cx="5547207" cy="91440"/>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1792" y="4119372"/>
            <a:ext cx="5218023" cy="411480"/>
          </a:xfrm>
          <a:prstGeom prst="rect">
            <a:avLst/>
          </a:prstGeom>
          <a:noFill/>
        </p:spPr>
        <p:txBody>
          <a:bodyPr wrap="square">
            <a:spAutoFit/>
          </a:bodyPr>
          <a:lstStyle/>
          <a:p>
            <a:r>
              <a:rPr sz="1500" b="1" i="0">
                <a:solidFill>
                  <a:srgbClr val="095292"/>
                </a:solidFill>
                <a:latin typeface="Calibri"/>
              </a:rPr>
              <a:t>De producto y de proceso</a:t>
            </a:r>
          </a:p>
        </p:txBody>
      </p:sp>
      <p:sp>
        <p:nvSpPr>
          <p:cNvPr id="16" name="TextBox 15"/>
          <p:cNvSpPr txBox="1"/>
          <p:nvPr/>
        </p:nvSpPr>
        <p:spPr>
          <a:xfrm>
            <a:off x="621792" y="4576572"/>
            <a:ext cx="5218023" cy="1595628"/>
          </a:xfrm>
          <a:prstGeom prst="rect">
            <a:avLst/>
          </a:prstGeom>
          <a:noFill/>
        </p:spPr>
        <p:txBody>
          <a:bodyPr wrap="square">
            <a:spAutoFit/>
          </a:bodyPr>
          <a:lstStyle/>
          <a:p>
            <a:r>
              <a:rPr sz="1300" b="0" i="0">
                <a:solidFill>
                  <a:srgbClr val="333333"/>
                </a:solidFill>
                <a:latin typeface="Calibri"/>
              </a:rPr>
              <a:t>No solo se innova en el </a:t>
            </a:r>
            <a:r>
              <a:rPr sz="1300" b="1" i="0">
                <a:solidFill>
                  <a:srgbClr val="333333"/>
                </a:solidFill>
                <a:latin typeface="Calibri"/>
              </a:rPr>
              <a:t>qué</a:t>
            </a:r>
            <a:r>
              <a:rPr sz="1300" b="0" i="0">
                <a:solidFill>
                  <a:srgbClr val="333333"/>
                </a:solidFill>
                <a:latin typeface="Calibri"/>
              </a:rPr>
              <a:t> —un producto nuevo—, también en el </a:t>
            </a:r>
            <a:r>
              <a:rPr sz="1300" b="1" i="0">
                <a:solidFill>
                  <a:srgbClr val="333333"/>
                </a:solidFill>
                <a:latin typeface="Calibri"/>
              </a:rPr>
              <a:t>cómo</a:t>
            </a:r>
            <a:r>
              <a:rPr sz="1300" b="0" i="0">
                <a:solidFill>
                  <a:srgbClr val="333333"/>
                </a:solidFill>
                <a:latin typeface="Calibri"/>
              </a:rPr>
              <a:t>: el mismo servicio con la mitad de pasos ya es innovación de proceso, y en un proyecto de primer semestre suele ser lo más alcanzable.</a:t>
            </a:r>
          </a:p>
        </p:txBody>
      </p:sp>
      <p:sp>
        <p:nvSpPr>
          <p:cNvPr id="17" name="Rounded Rectangle 16"/>
          <p:cNvSpPr/>
          <p:nvPr/>
        </p:nvSpPr>
        <p:spPr>
          <a:xfrm>
            <a:off x="6187287" y="3890772"/>
            <a:ext cx="5547207" cy="2464308"/>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87287" y="3890772"/>
            <a:ext cx="5547207" cy="9144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51879" y="4119372"/>
            <a:ext cx="5218023" cy="411480"/>
          </a:xfrm>
          <a:prstGeom prst="rect">
            <a:avLst/>
          </a:prstGeom>
          <a:noFill/>
        </p:spPr>
        <p:txBody>
          <a:bodyPr wrap="square">
            <a:spAutoFit/>
          </a:bodyPr>
          <a:lstStyle/>
          <a:p>
            <a:r>
              <a:rPr sz="1500" b="1" i="0">
                <a:solidFill>
                  <a:srgbClr val="095292"/>
                </a:solidFill>
                <a:latin typeface="Calibri"/>
              </a:rPr>
              <a:t>Casi nunca empieza de cero</a:t>
            </a:r>
          </a:p>
        </p:txBody>
      </p:sp>
      <p:sp>
        <p:nvSpPr>
          <p:cNvPr id="20" name="TextBox 19"/>
          <p:cNvSpPr txBox="1"/>
          <p:nvPr/>
        </p:nvSpPr>
        <p:spPr>
          <a:xfrm>
            <a:off x="6351879" y="4576572"/>
            <a:ext cx="5218023" cy="1595628"/>
          </a:xfrm>
          <a:prstGeom prst="rect">
            <a:avLst/>
          </a:prstGeom>
          <a:noFill/>
        </p:spPr>
        <p:txBody>
          <a:bodyPr wrap="square">
            <a:spAutoFit/>
          </a:bodyPr>
          <a:lstStyle/>
          <a:p>
            <a:r>
              <a:rPr sz="1300" b="0" i="0">
                <a:solidFill>
                  <a:srgbClr val="333333"/>
                </a:solidFill>
                <a:latin typeface="Calibri"/>
              </a:rPr>
              <a:t>Casi toda innovación es una </a:t>
            </a:r>
            <a:r>
              <a:rPr sz="1300" b="1" i="0">
                <a:solidFill>
                  <a:srgbClr val="333333"/>
                </a:solidFill>
                <a:latin typeface="Calibri"/>
              </a:rPr>
              <a:t>recombinación</a:t>
            </a:r>
            <a:r>
              <a:rPr sz="1300" b="0" i="0">
                <a:solidFill>
                  <a:srgbClr val="333333"/>
                </a:solidFill>
                <a:latin typeface="Calibri"/>
              </a:rPr>
              <a:t>: algo que ya existía, traído a un contexto donde no estaba. Por eso buscar antecedentes no le resta mérito al proyecto: es de donde sale el material.</a:t>
            </a:r>
          </a:p>
        </p:txBody>
      </p:sp>
      <p:sp>
        <p:nvSpPr>
          <p:cNvPr id="21" name="TextBox 20"/>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Ejemplo: tecnología nueva o innovación</a:t>
            </a:r>
          </a:p>
        </p:txBody>
      </p:sp>
      <p:sp>
        <p:nvSpPr>
          <p:cNvPr id="5" name="Rounded Rectangle 4"/>
          <p:cNvSpPr/>
          <p:nvPr/>
        </p:nvSpPr>
        <p:spPr>
          <a:xfrm>
            <a:off x="457200" y="1261872"/>
            <a:ext cx="5478627" cy="5093208"/>
          </a:xfrm>
          <a:prstGeom prst="roundRect">
            <a:avLst>
              <a:gd name="adj" fmla="val 12000"/>
            </a:avLst>
          </a:prstGeom>
          <a:solidFill>
            <a:srgbClr val="FB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5478627" cy="502920"/>
          </a:xfrm>
          <a:prstGeom prst="rect">
            <a:avLst/>
          </a:prstGeom>
          <a:solidFill>
            <a:srgbClr val="A02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353312"/>
            <a:ext cx="5204307" cy="365760"/>
          </a:xfrm>
          <a:prstGeom prst="rect">
            <a:avLst/>
          </a:prstGeom>
          <a:noFill/>
        </p:spPr>
        <p:txBody>
          <a:bodyPr wrap="square" anchor="ctr"/>
          <a:lstStyle/>
          <a:p>
            <a:pPr algn="ctr"/>
            <a:r>
              <a:rPr sz="1600" b="1" i="0">
                <a:solidFill>
                  <a:srgbClr val="FFFFFF"/>
                </a:solidFill>
                <a:latin typeface="Calibri"/>
              </a:rPr>
              <a:t>Tecnología nueva, sin innovación</a:t>
            </a:r>
          </a:p>
        </p:txBody>
      </p:sp>
      <p:sp>
        <p:nvSpPr>
          <p:cNvPr id="8" name="TextBox 7"/>
          <p:cNvSpPr txBox="1"/>
          <p:nvPr/>
        </p:nvSpPr>
        <p:spPr>
          <a:xfrm>
            <a:off x="621792" y="1901952"/>
            <a:ext cx="5158587" cy="4498848"/>
          </a:xfrm>
          <a:prstGeom prst="rect">
            <a:avLst/>
          </a:prstGeom>
          <a:noFill/>
        </p:spPr>
        <p:txBody>
          <a:bodyPr wrap="square">
            <a:spAutoFit/>
          </a:bodyPr>
          <a:lstStyle/>
          <a:p>
            <a:pPr>
              <a:spcAft>
                <a:spcPts val="800"/>
              </a:spcAft>
            </a:pPr>
            <a:r>
              <a:rPr sz="1500" b="0" i="0">
                <a:solidFill>
                  <a:srgbClr val="333333"/>
                </a:solidFill>
                <a:latin typeface="Calibri"/>
              </a:rPr>
              <a:t>–   La tienda pone una pantalla táctil para pedir turno.</a:t>
            </a:r>
          </a:p>
          <a:p>
            <a:pPr>
              <a:spcAft>
                <a:spcPts val="800"/>
              </a:spcAft>
            </a:pPr>
            <a:r>
              <a:rPr sz="1500" b="0" i="0">
                <a:solidFill>
                  <a:srgbClr val="333333"/>
                </a:solidFill>
                <a:latin typeface="Calibri"/>
              </a:rPr>
              <a:t>–   Los clientes mayores no la saben usar.</a:t>
            </a:r>
          </a:p>
          <a:p>
            <a:pPr>
              <a:spcAft>
                <a:spcPts val="800"/>
              </a:spcAft>
            </a:pPr>
            <a:r>
              <a:rPr sz="1500" b="0" i="0">
                <a:solidFill>
                  <a:srgbClr val="333333"/>
                </a:solidFill>
                <a:latin typeface="Calibri"/>
              </a:rPr>
              <a:t>–   Siguen haciendo la fila de siempre.</a:t>
            </a:r>
          </a:p>
          <a:p>
            <a:pPr>
              <a:spcAft>
                <a:spcPts val="800"/>
              </a:spcAft>
            </a:pPr>
            <a:r>
              <a:rPr sz="1500" b="0" i="0">
                <a:solidFill>
                  <a:srgbClr val="333333"/>
                </a:solidFill>
                <a:latin typeface="Calibri"/>
              </a:rPr>
              <a:t>–   No cambió nada en la práctica.</a:t>
            </a:r>
          </a:p>
        </p:txBody>
      </p:sp>
      <p:sp>
        <p:nvSpPr>
          <p:cNvPr id="9" name="Rounded Rectangle 8"/>
          <p:cNvSpPr/>
          <p:nvPr/>
        </p:nvSpPr>
        <p:spPr>
          <a:xfrm>
            <a:off x="6255867" y="1261872"/>
            <a:ext cx="5478627" cy="5093208"/>
          </a:xfrm>
          <a:prstGeom prst="roundRect">
            <a:avLst>
              <a:gd name="adj" fmla="val 12000"/>
            </a:avLst>
          </a:prstGeom>
          <a:solidFill>
            <a:srgbClr val="E8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55867" y="1261872"/>
            <a:ext cx="5478627" cy="5029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93027" y="1353312"/>
            <a:ext cx="5204307" cy="365760"/>
          </a:xfrm>
          <a:prstGeom prst="rect">
            <a:avLst/>
          </a:prstGeom>
          <a:noFill/>
        </p:spPr>
        <p:txBody>
          <a:bodyPr wrap="square" anchor="ctr"/>
          <a:lstStyle/>
          <a:p>
            <a:pPr algn="ctr"/>
            <a:r>
              <a:rPr sz="1600" b="1" i="0">
                <a:solidFill>
                  <a:srgbClr val="FFFFFF"/>
                </a:solidFill>
                <a:latin typeface="Calibri"/>
              </a:rPr>
              <a:t>Innovación, sin tecnología nueva</a:t>
            </a:r>
          </a:p>
        </p:txBody>
      </p:sp>
      <p:sp>
        <p:nvSpPr>
          <p:cNvPr id="12" name="TextBox 11"/>
          <p:cNvSpPr txBox="1"/>
          <p:nvPr/>
        </p:nvSpPr>
        <p:spPr>
          <a:xfrm>
            <a:off x="6420459" y="1901952"/>
            <a:ext cx="5158587" cy="4498848"/>
          </a:xfrm>
          <a:prstGeom prst="rect">
            <a:avLst/>
          </a:prstGeom>
          <a:noFill/>
        </p:spPr>
        <p:txBody>
          <a:bodyPr wrap="square">
            <a:spAutoFit/>
          </a:bodyPr>
          <a:lstStyle/>
          <a:p>
            <a:pPr>
              <a:spcAft>
                <a:spcPts val="800"/>
              </a:spcAft>
            </a:pPr>
            <a:r>
              <a:rPr sz="1500" b="0" i="0">
                <a:solidFill>
                  <a:srgbClr val="333333"/>
                </a:solidFill>
                <a:latin typeface="Calibri"/>
              </a:rPr>
              <a:t>–   La tienda reparte fichas de papel numeradas.</a:t>
            </a:r>
          </a:p>
          <a:p>
            <a:pPr>
              <a:spcAft>
                <a:spcPts val="800"/>
              </a:spcAft>
            </a:pPr>
            <a:r>
              <a:rPr sz="1500" b="0" i="0">
                <a:solidFill>
                  <a:srgbClr val="333333"/>
                </a:solidFill>
                <a:latin typeface="Calibri"/>
              </a:rPr>
              <a:t>–   Escribe en un tablero el número que va.</a:t>
            </a:r>
          </a:p>
          <a:p>
            <a:pPr>
              <a:spcAft>
                <a:spcPts val="800"/>
              </a:spcAft>
            </a:pPr>
            <a:r>
              <a:rPr sz="1500" b="0" i="0">
                <a:solidFill>
                  <a:srgbClr val="333333"/>
                </a:solidFill>
                <a:latin typeface="Calibri"/>
              </a:rPr>
              <a:t>–   Los clientes se sientan o salen y vuelven.</a:t>
            </a:r>
          </a:p>
          <a:p>
            <a:pPr>
              <a:spcAft>
                <a:spcPts val="800"/>
              </a:spcAft>
            </a:pPr>
            <a:r>
              <a:rPr sz="1500" b="0" i="0">
                <a:solidFill>
                  <a:srgbClr val="333333"/>
                </a:solidFill>
                <a:latin typeface="Calibri"/>
              </a:rPr>
              <a:t>–   Todos la adoptaron: </a:t>
            </a:r>
            <a:r>
              <a:rPr sz="1500" b="1" i="0">
                <a:solidFill>
                  <a:srgbClr val="333333"/>
                </a:solidFill>
                <a:latin typeface="Calibri"/>
              </a:rPr>
              <a:t>eso es innovar</a:t>
            </a:r>
            <a:r>
              <a:rPr sz="1500" b="0" i="0">
                <a:solidFill>
                  <a:srgbClr val="333333"/>
                </a:solidFill>
                <a:latin typeface="Calibri"/>
              </a:rPr>
              <a:t>.</a:t>
            </a:r>
          </a:p>
        </p:txBody>
      </p:sp>
      <p:pic>
        <p:nvPicPr>
          <p:cNvPr id="13" name="Picture 12" descr="sello_mal.png"/>
          <p:cNvPicPr>
            <a:picLocks noChangeAspect="1"/>
          </p:cNvPicPr>
          <p:nvPr/>
        </p:nvPicPr>
        <p:blipFill>
          <a:blip r:embed="rId2"/>
          <a:stretch>
            <a:fillRect/>
          </a:stretch>
        </p:blipFill>
        <p:spPr>
          <a:xfrm>
            <a:off x="566928" y="1316736"/>
            <a:ext cx="393192" cy="393192"/>
          </a:xfrm>
          <a:prstGeom prst="rect">
            <a:avLst/>
          </a:prstGeom>
        </p:spPr>
      </p:pic>
      <p:pic>
        <p:nvPicPr>
          <p:cNvPr id="14" name="Picture 13" descr="sello_bien.png"/>
          <p:cNvPicPr>
            <a:picLocks noChangeAspect="1"/>
          </p:cNvPicPr>
          <p:nvPr/>
        </p:nvPicPr>
        <p:blipFill>
          <a:blip r:embed="rId3"/>
          <a:stretch>
            <a:fillRect/>
          </a:stretch>
        </p:blipFill>
        <p:spPr>
          <a:xfrm>
            <a:off x="6365595" y="1316736"/>
            <a:ext cx="393192" cy="393192"/>
          </a:xfrm>
          <a:prstGeom prst="rect">
            <a:avLst/>
          </a:prstGeom>
        </p:spPr>
      </p:pic>
      <p:sp>
        <p:nvSpPr>
          <p:cNvPr id="15" name="TextBox 14"/>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70432"/>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70432"/>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384048"/>
          </a:xfrm>
          <a:prstGeom prst="rect">
            <a:avLst/>
          </a:prstGeom>
          <a:noFill/>
        </p:spPr>
        <p:txBody>
          <a:bodyPr wrap="square">
            <a:spAutoFit/>
          </a:bodyPr>
          <a:lstStyle/>
          <a:p>
            <a:r>
              <a:rPr sz="2600" b="1" i="0">
                <a:solidFill>
                  <a:srgbClr val="FFFFFF"/>
                </a:solidFill>
                <a:latin typeface="Calibri"/>
              </a:rPr>
              <a:t>Cuatro maneras de generar una mejora</a:t>
            </a:r>
          </a:p>
        </p:txBody>
      </p:sp>
      <p:sp>
        <p:nvSpPr>
          <p:cNvPr id="5" name="TextBox 4"/>
          <p:cNvSpPr txBox="1"/>
          <p:nvPr/>
        </p:nvSpPr>
        <p:spPr>
          <a:xfrm>
            <a:off x="457200" y="566928"/>
            <a:ext cx="11277295" cy="411480"/>
          </a:xfrm>
          <a:prstGeom prst="rect">
            <a:avLst/>
          </a:prstGeom>
          <a:noFill/>
        </p:spPr>
        <p:txBody>
          <a:bodyPr wrap="square">
            <a:spAutoFit/>
          </a:bodyPr>
          <a:lstStyle/>
          <a:p>
            <a:r>
              <a:rPr sz="1400" b="0" i="0">
                <a:solidFill>
                  <a:srgbClr val="B8D8EE"/>
                </a:solidFill>
                <a:latin typeface="Calibri"/>
              </a:rPr>
              <a:t>Se aplican sobre un antecedente concreto, no sobre una hoja en blanco. Sin antecedente, estas cuatro no producen nada</a:t>
            </a:r>
          </a:p>
        </p:txBody>
      </p:sp>
      <p:sp>
        <p:nvSpPr>
          <p:cNvPr id="6" name="Rounded Rectangle 5"/>
          <p:cNvSpPr/>
          <p:nvPr/>
        </p:nvSpPr>
        <p:spPr>
          <a:xfrm>
            <a:off x="5934611" y="1399031"/>
            <a:ext cx="5735574" cy="4617720"/>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uatro-maneras-paso1.png"/>
          <p:cNvPicPr>
            <a:picLocks noChangeAspect="1"/>
          </p:cNvPicPr>
          <p:nvPr/>
        </p:nvPicPr>
        <p:blipFill>
          <a:blip r:embed="rId2"/>
          <a:stretch>
            <a:fillRect/>
          </a:stretch>
        </p:blipFill>
        <p:spPr>
          <a:xfrm>
            <a:off x="6007763" y="1472184"/>
            <a:ext cx="5589270" cy="4471416"/>
          </a:xfrm>
          <a:prstGeom prst="rect">
            <a:avLst/>
          </a:prstGeom>
        </p:spPr>
      </p:pic>
      <p:pic>
        <p:nvPicPr>
          <p:cNvPr id="8" name="Picture 7" descr="cuatro-maneras-paso2.png"/>
          <p:cNvPicPr>
            <a:picLocks noChangeAspect="1"/>
          </p:cNvPicPr>
          <p:nvPr/>
        </p:nvPicPr>
        <p:blipFill>
          <a:blip r:embed="rId3"/>
          <a:stretch>
            <a:fillRect/>
          </a:stretch>
        </p:blipFill>
        <p:spPr>
          <a:xfrm>
            <a:off x="6007763" y="1472184"/>
            <a:ext cx="5589270" cy="4471416"/>
          </a:xfrm>
          <a:prstGeom prst="rect">
            <a:avLst/>
          </a:prstGeom>
        </p:spPr>
      </p:pic>
      <p:pic>
        <p:nvPicPr>
          <p:cNvPr id="9" name="Picture 8" descr="cuatro-maneras-paso3.png"/>
          <p:cNvPicPr>
            <a:picLocks noChangeAspect="1"/>
          </p:cNvPicPr>
          <p:nvPr/>
        </p:nvPicPr>
        <p:blipFill>
          <a:blip r:embed="rId4"/>
          <a:stretch>
            <a:fillRect/>
          </a:stretch>
        </p:blipFill>
        <p:spPr>
          <a:xfrm>
            <a:off x="6007763" y="1472184"/>
            <a:ext cx="5589270" cy="4471416"/>
          </a:xfrm>
          <a:prstGeom prst="rect">
            <a:avLst/>
          </a:prstGeom>
        </p:spPr>
      </p:pic>
      <p:pic>
        <p:nvPicPr>
          <p:cNvPr id="10" name="Picture 9" descr="cuatro-maneras-paso4.png"/>
          <p:cNvPicPr>
            <a:picLocks noChangeAspect="1"/>
          </p:cNvPicPr>
          <p:nvPr/>
        </p:nvPicPr>
        <p:blipFill>
          <a:blip r:embed="rId5"/>
          <a:stretch>
            <a:fillRect/>
          </a:stretch>
        </p:blipFill>
        <p:spPr>
          <a:xfrm>
            <a:off x="6007763" y="1472184"/>
            <a:ext cx="5589270" cy="4471416"/>
          </a:xfrm>
          <a:prstGeom prst="rect">
            <a:avLst/>
          </a:prstGeom>
        </p:spPr>
      </p:pic>
      <p:sp>
        <p:nvSpPr>
          <p:cNvPr id="18" name="TextBox 17"/>
          <p:cNvSpPr txBox="1"/>
          <p:nvPr/>
        </p:nvSpPr>
        <p:spPr>
          <a:xfrm>
            <a:off x="5870301" y="5961888"/>
            <a:ext cx="5864193" cy="320040"/>
          </a:xfrm>
          <a:prstGeom prst="rect">
            <a:avLst/>
          </a:prstGeom>
          <a:noFill/>
        </p:spPr>
        <p:txBody>
          <a:bodyPr wrap="square">
            <a:spAutoFit/>
          </a:bodyPr>
          <a:lstStyle/>
          <a:p>
            <a:pPr algn="ctr"/>
            <a:r>
              <a:rPr sz="1100" b="0" i="1">
                <a:solidFill>
                  <a:srgbClr val="666666"/>
                </a:solidFill>
                <a:latin typeface="Calibri"/>
              </a:rPr>
              <a:t>Clic para avanzar la animación</a:t>
            </a:r>
          </a:p>
        </p:txBody>
      </p:sp>
      <p:sp>
        <p:nvSpPr>
          <p:cNvPr id="19" name="TextBox 18"/>
          <p:cNvSpPr txBox="1"/>
          <p:nvPr/>
        </p:nvSpPr>
        <p:spPr>
          <a:xfrm>
            <a:off x="457200" y="1563624"/>
            <a:ext cx="5093061" cy="4837176"/>
          </a:xfrm>
          <a:prstGeom prst="rect">
            <a:avLst/>
          </a:prstGeom>
          <a:noFill/>
        </p:spPr>
        <p:txBody>
          <a:bodyPr wrap="square">
            <a:spAutoFit/>
          </a:bodyPr>
          <a:lstStyle/>
          <a:p>
            <a:pPr>
              <a:spcAft>
                <a:spcPts val="800"/>
              </a:spcAft>
            </a:pPr>
            <a:r>
              <a:rPr sz="2000" b="0" i="0">
                <a:solidFill>
                  <a:srgbClr val="333333"/>
                </a:solidFill>
                <a:latin typeface="Calibri"/>
              </a:rPr>
              <a:t>–   </a:t>
            </a:r>
            <a:r>
              <a:rPr sz="2000" b="1" i="0">
                <a:solidFill>
                  <a:srgbClr val="333333"/>
                </a:solidFill>
                <a:latin typeface="Calibri"/>
              </a:rPr>
              <a:t>QUITAR:</a:t>
            </a:r>
            <a:r>
              <a:rPr sz="2000" b="0" i="0">
                <a:solidFill>
                  <a:srgbClr val="333333"/>
                </a:solidFill>
                <a:latin typeface="Calibri"/>
              </a:rPr>
              <a:t> Sacar un paso, un requisito o un dato.</a:t>
            </a:r>
          </a:p>
          <a:p>
            <a:pPr>
              <a:spcAft>
                <a:spcPts val="800"/>
              </a:spcAft>
            </a:pPr>
            <a:r>
              <a:rPr sz="2000" b="0" i="0">
                <a:solidFill>
                  <a:srgbClr val="333333"/>
                </a:solidFill>
                <a:latin typeface="Calibri"/>
              </a:rPr>
              <a:t>–   </a:t>
            </a:r>
            <a:r>
              <a:rPr sz="2000" b="1" i="0">
                <a:solidFill>
                  <a:srgbClr val="333333"/>
                </a:solidFill>
                <a:latin typeface="Calibri"/>
              </a:rPr>
              <a:t>COMBINAR:</a:t>
            </a:r>
            <a:r>
              <a:rPr sz="2000" b="0" i="0">
                <a:solidFill>
                  <a:srgbClr val="333333"/>
                </a:solidFill>
                <a:latin typeface="Calibri"/>
              </a:rPr>
              <a:t> Juntar dos cosas que ya existen y que nadie había juntado en este contexto: una lista pública + un mensaje automático.</a:t>
            </a:r>
          </a:p>
          <a:p>
            <a:pPr>
              <a:spcAft>
                <a:spcPts val="800"/>
              </a:spcAft>
            </a:pPr>
            <a:r>
              <a:rPr sz="2000" b="0" i="0">
                <a:solidFill>
                  <a:srgbClr val="333333"/>
                </a:solidFill>
                <a:latin typeface="Calibri"/>
              </a:rPr>
              <a:t>–   </a:t>
            </a:r>
            <a:r>
              <a:rPr sz="2000" b="1" i="0">
                <a:solidFill>
                  <a:srgbClr val="333333"/>
                </a:solidFill>
                <a:latin typeface="Calibri"/>
              </a:rPr>
              <a:t>INVERTIR:</a:t>
            </a:r>
            <a:r>
              <a:rPr sz="2000" b="0" i="0">
                <a:solidFill>
                  <a:srgbClr val="333333"/>
                </a:solidFill>
                <a:latin typeface="Calibri"/>
              </a:rPr>
              <a:t> Dar vuelta a quién hace el trabajo o cuándo se hace: que el usuario consulte en vez de que alguien responda;</a:t>
            </a:r>
          </a:p>
          <a:p>
            <a:pPr>
              <a:spcAft>
                <a:spcPts val="800"/>
              </a:spcAft>
            </a:pPr>
            <a:r>
              <a:rPr sz="2000" b="0" i="0">
                <a:solidFill>
                  <a:srgbClr val="333333"/>
                </a:solidFill>
                <a:latin typeface="Calibri"/>
              </a:rPr>
              <a:t>–   </a:t>
            </a:r>
            <a:r>
              <a:rPr sz="2000" b="1" i="0">
                <a:solidFill>
                  <a:srgbClr val="333333"/>
                </a:solidFill>
                <a:latin typeface="Calibri"/>
              </a:rPr>
              <a:t>ADAPTAR DE OTRO DOMINIO:</a:t>
            </a:r>
            <a:r>
              <a:rPr sz="2000" b="0" i="0">
                <a:solidFill>
                  <a:srgbClr val="333333"/>
                </a:solidFill>
                <a:latin typeface="Calibri"/>
              </a:rPr>
              <a:t> Traer una solución que funciona en otro campo.</a:t>
            </a:r>
          </a:p>
        </p:txBody>
      </p:sp>
      <p:sp>
        <p:nvSpPr>
          <p:cNvPr id="20" name="TextBox 19"/>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7</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45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Ejemplo: las cuatro operaciones sobre la fila de la tienda</a:t>
            </a:r>
          </a:p>
        </p:txBody>
      </p:sp>
      <p:graphicFrame>
        <p:nvGraphicFramePr>
          <p:cNvPr id="5" name="Table 4"/>
          <p:cNvGraphicFramePr>
            <a:graphicFrameLocks noGrp="1"/>
          </p:cNvGraphicFramePr>
          <p:nvPr/>
        </p:nvGraphicFramePr>
        <p:xfrm>
          <a:off x="457200" y="1216152"/>
          <a:ext cx="11277294" cy="1920240"/>
        </p:xfrm>
        <a:graphic>
          <a:graphicData uri="http://schemas.openxmlformats.org/drawingml/2006/table">
            <a:tbl>
              <a:tblPr firstRow="1" bandRow="1">
                <a:tableStyleId>{5C22544A-7EE6-4342-B048-85BDC9FD1C3A}</a:tableStyleId>
              </a:tblPr>
              <a:tblGrid>
                <a:gridCol w="5638647"/>
                <a:gridCol w="5638647"/>
              </a:tblGrid>
              <a:tr h="384048">
                <a:tc>
                  <a:txBody>
                    <a:bodyPr/>
                    <a:lstStyle/>
                    <a:p>
                      <a:r>
                        <a:rPr sz="1200" b="1" i="0">
                          <a:solidFill>
                            <a:srgbClr val="FFFFFF"/>
                          </a:solidFill>
                          <a:latin typeface="Calibri"/>
                        </a:rPr>
                        <a:t>Operación</a:t>
                      </a:r>
                    </a:p>
                  </a:txBody>
                  <a:tcPr>
                    <a:solidFill>
                      <a:srgbClr val="095292"/>
                    </a:solidFill>
                  </a:tcPr>
                </a:tc>
                <a:tc>
                  <a:txBody>
                    <a:bodyPr/>
                    <a:lstStyle/>
                    <a:p>
                      <a:r>
                        <a:rPr sz="1200" b="1" i="0">
                          <a:solidFill>
                            <a:srgbClr val="FFFFFF"/>
                          </a:solidFill>
                          <a:latin typeface="Calibri"/>
                        </a:rPr>
                        <a:t>Idea que sale</a:t>
                      </a:r>
                    </a:p>
                  </a:txBody>
                  <a:tcPr>
                    <a:solidFill>
                      <a:srgbClr val="095292"/>
                    </a:solidFill>
                  </a:tcPr>
                </a:tc>
              </a:tr>
              <a:tr h="384048">
                <a:tc>
                  <a:txBody>
                    <a:bodyPr/>
                    <a:lstStyle/>
                    <a:p>
                      <a:r>
                        <a:rPr sz="1200" b="0" i="0">
                          <a:solidFill>
                            <a:srgbClr val="333333"/>
                          </a:solidFill>
                          <a:latin typeface="Calibri"/>
                        </a:rPr>
                        <a:t>QUITAR</a:t>
                      </a:r>
                    </a:p>
                  </a:txBody>
                  <a:tcPr>
                    <a:solidFill>
                      <a:srgbClr val="FFFFFF"/>
                    </a:solidFill>
                  </a:tcPr>
                </a:tc>
                <a:tc>
                  <a:txBody>
                    <a:bodyPr/>
                    <a:lstStyle/>
                    <a:p>
                      <a:r>
                        <a:rPr sz="1200" b="0" i="0">
                          <a:solidFill>
                            <a:srgbClr val="333333"/>
                          </a:solidFill>
                          <a:latin typeface="Calibri"/>
                        </a:rPr>
                        <a:t>Quitar la fila: el turno se pide desde la casa.</a:t>
                      </a:r>
                    </a:p>
                  </a:txBody>
                  <a:tcPr>
                    <a:solidFill>
                      <a:srgbClr val="FFFFFF"/>
                    </a:solidFill>
                  </a:tcPr>
                </a:tc>
              </a:tr>
              <a:tr h="384048">
                <a:tc>
                  <a:txBody>
                    <a:bodyPr/>
                    <a:lstStyle/>
                    <a:p>
                      <a:r>
                        <a:rPr sz="1200" b="0" i="0">
                          <a:solidFill>
                            <a:srgbClr val="333333"/>
                          </a:solidFill>
                          <a:latin typeface="Calibri"/>
                        </a:rPr>
                        <a:t>COMBINAR</a:t>
                      </a:r>
                    </a:p>
                  </a:txBody>
                  <a:tcPr>
                    <a:solidFill>
                      <a:srgbClr val="F2F2F2"/>
                    </a:solidFill>
                  </a:tcPr>
                </a:tc>
                <a:tc>
                  <a:txBody>
                    <a:bodyPr/>
                    <a:lstStyle/>
                    <a:p>
                      <a:r>
                        <a:rPr sz="1200" b="0" i="0">
                          <a:solidFill>
                            <a:srgbClr val="333333"/>
                          </a:solidFill>
                          <a:latin typeface="Calibri"/>
                        </a:rPr>
                        <a:t>Ficha de papel + un mensaje de texto cuando faltan 3 turnos.</a:t>
                      </a:r>
                    </a:p>
                  </a:txBody>
                  <a:tcPr>
                    <a:solidFill>
                      <a:srgbClr val="F2F2F2"/>
                    </a:solidFill>
                  </a:tcPr>
                </a:tc>
              </a:tr>
              <a:tr h="384048">
                <a:tc>
                  <a:txBody>
                    <a:bodyPr/>
                    <a:lstStyle/>
                    <a:p>
                      <a:r>
                        <a:rPr sz="1200" b="0" i="0">
                          <a:solidFill>
                            <a:srgbClr val="333333"/>
                          </a:solidFill>
                          <a:latin typeface="Calibri"/>
                        </a:rPr>
                        <a:t>INVERTIR</a:t>
                      </a:r>
                    </a:p>
                  </a:txBody>
                  <a:tcPr>
                    <a:solidFill>
                      <a:srgbClr val="FFFFFF"/>
                    </a:solidFill>
                  </a:tcPr>
                </a:tc>
                <a:tc>
                  <a:txBody>
                    <a:bodyPr/>
                    <a:lstStyle/>
                    <a:p>
                      <a:r>
                        <a:rPr sz="1200" b="0" i="0">
                          <a:solidFill>
                            <a:srgbClr val="333333"/>
                          </a:solidFill>
                          <a:latin typeface="Calibri"/>
                        </a:rPr>
                        <a:t>En vez de que el cliente pregunte «¿cuánto falta?», la tienda le avisa.</a:t>
                      </a:r>
                    </a:p>
                  </a:txBody>
                  <a:tcPr>
                    <a:solidFill>
                      <a:srgbClr val="FFFFFF"/>
                    </a:solidFill>
                  </a:tcPr>
                </a:tc>
              </a:tr>
              <a:tr h="384048">
                <a:tc>
                  <a:txBody>
                    <a:bodyPr/>
                    <a:lstStyle/>
                    <a:p>
                      <a:r>
                        <a:rPr sz="1200" b="0" i="0">
                          <a:solidFill>
                            <a:srgbClr val="333333"/>
                          </a:solidFill>
                          <a:latin typeface="Calibri"/>
                        </a:rPr>
                        <a:t>ADAPTAR</a:t>
                      </a:r>
                    </a:p>
                  </a:txBody>
                  <a:tcPr>
                    <a:solidFill>
                      <a:srgbClr val="F2F2F2"/>
                    </a:solidFill>
                  </a:tcPr>
                </a:tc>
                <a:tc>
                  <a:txBody>
                    <a:bodyPr/>
                    <a:lstStyle/>
                    <a:p>
                      <a:r>
                        <a:rPr sz="1200" b="0" i="0">
                          <a:solidFill>
                            <a:srgbClr val="333333"/>
                          </a:solidFill>
                          <a:latin typeface="Calibri"/>
                        </a:rPr>
                        <a:t>Traer el sistema de turnos de los bancos y las EPS a una tienda de barrio.</a:t>
                      </a:r>
                    </a:p>
                  </a:txBody>
                  <a:tcPr>
                    <a:solidFill>
                      <a:srgbClr val="F2F2F2"/>
                    </a:solidFill>
                  </a:tcPr>
                </a:tc>
              </a:tr>
            </a:tbl>
          </a:graphicData>
        </a:graphic>
      </p:graphicFrame>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70432"/>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70432"/>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384048"/>
          </a:xfrm>
          <a:prstGeom prst="rect">
            <a:avLst/>
          </a:prstGeom>
          <a:noFill/>
        </p:spPr>
        <p:txBody>
          <a:bodyPr wrap="square">
            <a:spAutoFit/>
          </a:bodyPr>
          <a:lstStyle/>
          <a:p>
            <a:r>
              <a:rPr sz="2600" b="1" i="0">
                <a:solidFill>
                  <a:srgbClr val="FFFFFF"/>
                </a:solidFill>
                <a:latin typeface="Calibri"/>
              </a:rPr>
              <a:t>Cómo se busca un antecedente en cinco pasos</a:t>
            </a:r>
          </a:p>
        </p:txBody>
      </p:sp>
      <p:sp>
        <p:nvSpPr>
          <p:cNvPr id="5" name="TextBox 4"/>
          <p:cNvSpPr txBox="1"/>
          <p:nvPr/>
        </p:nvSpPr>
        <p:spPr>
          <a:xfrm>
            <a:off x="457200" y="566928"/>
            <a:ext cx="11277295" cy="411480"/>
          </a:xfrm>
          <a:prstGeom prst="rect">
            <a:avLst/>
          </a:prstGeom>
          <a:noFill/>
        </p:spPr>
        <p:txBody>
          <a:bodyPr wrap="square">
            <a:spAutoFit/>
          </a:bodyPr>
          <a:lstStyle/>
          <a:p>
            <a:r>
              <a:rPr sz="1400" b="0" i="0">
                <a:solidFill>
                  <a:srgbClr val="B8D8EE"/>
                </a:solidFill>
                <a:latin typeface="Calibri"/>
              </a:rPr>
              <a:t>El paso que casi nadie hace es el 1, y es el que evita las tres horas perdidas</a:t>
            </a:r>
          </a:p>
        </p:txBody>
      </p:sp>
      <p:sp>
        <p:nvSpPr>
          <p:cNvPr id="6" name="Rounded Rectangle 5"/>
          <p:cNvSpPr/>
          <p:nvPr/>
        </p:nvSpPr>
        <p:spPr>
          <a:xfrm>
            <a:off x="457200" y="1444752"/>
            <a:ext cx="11277295" cy="908913"/>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94360" y="1679752"/>
            <a:ext cx="438912" cy="438912"/>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679752"/>
            <a:ext cx="438912" cy="438912"/>
          </a:xfrm>
          <a:prstGeom prst="rect">
            <a:avLst/>
          </a:prstGeom>
          <a:noFill/>
        </p:spPr>
        <p:txBody>
          <a:bodyPr wrap="square" anchor="ctr"/>
          <a:lstStyle/>
          <a:p>
            <a:pPr algn="ctr"/>
            <a:r>
              <a:rPr sz="1600" b="1" i="0">
                <a:solidFill>
                  <a:srgbClr val="FFFFFF"/>
                </a:solidFill>
                <a:latin typeface="Calibri"/>
              </a:rPr>
              <a:t>1</a:t>
            </a:r>
          </a:p>
        </p:txBody>
      </p:sp>
      <p:sp>
        <p:nvSpPr>
          <p:cNvPr id="9" name="TextBox 8"/>
          <p:cNvSpPr txBox="1"/>
          <p:nvPr/>
        </p:nvSpPr>
        <p:spPr>
          <a:xfrm>
            <a:off x="1188720" y="1536192"/>
            <a:ext cx="10271455" cy="744321"/>
          </a:xfrm>
          <a:prstGeom prst="rect">
            <a:avLst/>
          </a:prstGeom>
          <a:noFill/>
        </p:spPr>
        <p:txBody>
          <a:bodyPr wrap="square" anchor="ctr"/>
          <a:lstStyle/>
          <a:p>
            <a:r>
              <a:rPr sz="1500" b="1" i="0">
                <a:solidFill>
                  <a:srgbClr val="095292"/>
                </a:solidFill>
                <a:latin typeface="Calibri"/>
              </a:rPr>
              <a:t>1 · Escriba la pregunta de búsqueda</a:t>
            </a:r>
          </a:p>
          <a:p>
            <a:pPr>
              <a:spcBef>
                <a:spcPts val="200"/>
              </a:spcBef>
            </a:pPr>
            <a:r>
              <a:rPr sz="1300" b="0" i="0">
                <a:solidFill>
                  <a:srgbClr val="333333"/>
                </a:solidFill>
                <a:latin typeface="Calibri"/>
              </a:rPr>
              <a:t>No una palabra: una pregunta. «¿Cómo publican su disponibilidad las bibliotecas pequeñas sin sistema?». </a:t>
            </a:r>
            <a:r>
              <a:rPr sz="1300" b="1" i="0">
                <a:solidFill>
                  <a:srgbClr val="333333"/>
                </a:solidFill>
                <a:latin typeface="Calibri"/>
              </a:rPr>
              <a:t>Sin pregunta, la búsqueda no tiene final.</a:t>
            </a:r>
          </a:p>
        </p:txBody>
      </p:sp>
      <p:sp>
        <p:nvSpPr>
          <p:cNvPr id="10" name="Rounded Rectangle 9"/>
          <p:cNvSpPr/>
          <p:nvPr/>
        </p:nvSpPr>
        <p:spPr>
          <a:xfrm>
            <a:off x="457200" y="2445105"/>
            <a:ext cx="11277295" cy="908913"/>
          </a:xfrm>
          <a:prstGeom prst="roundRect">
            <a:avLst>
              <a:gd name="adj" fmla="val 12000"/>
            </a:avLst>
          </a:prstGeom>
          <a:solidFill>
            <a:srgbClr val="E8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94360" y="2680106"/>
            <a:ext cx="438912" cy="438912"/>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2680106"/>
            <a:ext cx="438912" cy="438912"/>
          </a:xfrm>
          <a:prstGeom prst="rect">
            <a:avLst/>
          </a:prstGeom>
          <a:noFill/>
        </p:spPr>
        <p:txBody>
          <a:bodyPr wrap="square" anchor="ctr"/>
          <a:lstStyle/>
          <a:p>
            <a:pPr algn="ctr"/>
            <a:r>
              <a:rPr sz="1600" b="1" i="0">
                <a:solidFill>
                  <a:srgbClr val="FFFFFF"/>
                </a:solidFill>
                <a:latin typeface="Calibri"/>
              </a:rPr>
              <a:t>2</a:t>
            </a:r>
          </a:p>
        </p:txBody>
      </p:sp>
      <p:sp>
        <p:nvSpPr>
          <p:cNvPr id="13" name="TextBox 12"/>
          <p:cNvSpPr txBox="1"/>
          <p:nvPr/>
        </p:nvSpPr>
        <p:spPr>
          <a:xfrm>
            <a:off x="1188720" y="2536545"/>
            <a:ext cx="10271455" cy="744321"/>
          </a:xfrm>
          <a:prstGeom prst="rect">
            <a:avLst/>
          </a:prstGeom>
          <a:noFill/>
        </p:spPr>
        <p:txBody>
          <a:bodyPr wrap="square" anchor="ctr"/>
          <a:lstStyle/>
          <a:p>
            <a:r>
              <a:rPr sz="1500" b="1" i="0">
                <a:solidFill>
                  <a:srgbClr val="095292"/>
                </a:solidFill>
                <a:latin typeface="Calibri"/>
              </a:rPr>
              <a:t>2 · Traduzca a términos de búsqueda</a:t>
            </a:r>
          </a:p>
          <a:p>
            <a:pPr>
              <a:spcBef>
                <a:spcPts val="200"/>
              </a:spcBef>
            </a:pPr>
            <a:r>
              <a:rPr sz="1300" b="0" i="0">
                <a:solidFill>
                  <a:srgbClr val="333333"/>
                </a:solidFill>
                <a:latin typeface="Calibri"/>
              </a:rPr>
              <a:t>Dos o tres versiones: el término técnico, el término común y el término en inglés. La mayoría de lo publicado está en inglés.</a:t>
            </a:r>
          </a:p>
        </p:txBody>
      </p:sp>
      <p:sp>
        <p:nvSpPr>
          <p:cNvPr id="14" name="Rounded Rectangle 13"/>
          <p:cNvSpPr/>
          <p:nvPr/>
        </p:nvSpPr>
        <p:spPr>
          <a:xfrm>
            <a:off x="457200" y="3445459"/>
            <a:ext cx="11277295" cy="908913"/>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94360" y="3680460"/>
            <a:ext cx="438912" cy="438912"/>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3680460"/>
            <a:ext cx="438912" cy="438912"/>
          </a:xfrm>
          <a:prstGeom prst="rect">
            <a:avLst/>
          </a:prstGeom>
          <a:noFill/>
        </p:spPr>
        <p:txBody>
          <a:bodyPr wrap="square" anchor="ctr"/>
          <a:lstStyle/>
          <a:p>
            <a:pPr algn="ctr"/>
            <a:r>
              <a:rPr sz="1600" b="1" i="0">
                <a:solidFill>
                  <a:srgbClr val="FFFFFF"/>
                </a:solidFill>
                <a:latin typeface="Calibri"/>
              </a:rPr>
              <a:t>3</a:t>
            </a:r>
          </a:p>
        </p:txBody>
      </p:sp>
      <p:sp>
        <p:nvSpPr>
          <p:cNvPr id="17" name="TextBox 16"/>
          <p:cNvSpPr txBox="1"/>
          <p:nvPr/>
        </p:nvSpPr>
        <p:spPr>
          <a:xfrm>
            <a:off x="1188720" y="3536899"/>
            <a:ext cx="10271455" cy="744321"/>
          </a:xfrm>
          <a:prstGeom prst="rect">
            <a:avLst/>
          </a:prstGeom>
          <a:noFill/>
        </p:spPr>
        <p:txBody>
          <a:bodyPr wrap="square" anchor="ctr"/>
          <a:lstStyle/>
          <a:p>
            <a:r>
              <a:rPr sz="1500" b="1" i="0">
                <a:solidFill>
                  <a:srgbClr val="095292"/>
                </a:solidFill>
                <a:latin typeface="Calibri"/>
              </a:rPr>
              <a:t>3 · Busque en más de un sitio</a:t>
            </a:r>
          </a:p>
          <a:p>
            <a:pPr>
              <a:spcBef>
                <a:spcPts val="200"/>
              </a:spcBef>
            </a:pPr>
            <a:r>
              <a:rPr sz="1300" b="0" i="0">
                <a:solidFill>
                  <a:srgbClr val="333333"/>
                </a:solidFill>
                <a:latin typeface="Calibri"/>
              </a:rPr>
              <a:t>Buscador general, buscador académico, repositorio institucional y normas oficiales. </a:t>
            </a:r>
            <a:r>
              <a:rPr sz="1300" b="1" i="0">
                <a:solidFill>
                  <a:srgbClr val="333333"/>
                </a:solidFill>
                <a:latin typeface="Calibri"/>
              </a:rPr>
              <a:t>Un solo sitio nunca alcanza.</a:t>
            </a:r>
          </a:p>
        </p:txBody>
      </p:sp>
      <p:sp>
        <p:nvSpPr>
          <p:cNvPr id="18" name="Rounded Rectangle 17"/>
          <p:cNvSpPr/>
          <p:nvPr/>
        </p:nvSpPr>
        <p:spPr>
          <a:xfrm>
            <a:off x="457200" y="4445812"/>
            <a:ext cx="11277295" cy="908913"/>
          </a:xfrm>
          <a:prstGeom prst="roundRect">
            <a:avLst>
              <a:gd name="adj" fmla="val 12000"/>
            </a:avLst>
          </a:prstGeom>
          <a:solidFill>
            <a:srgbClr val="E8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94360" y="4680813"/>
            <a:ext cx="438912" cy="438912"/>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4680813"/>
            <a:ext cx="438912" cy="438912"/>
          </a:xfrm>
          <a:prstGeom prst="rect">
            <a:avLst/>
          </a:prstGeom>
          <a:noFill/>
        </p:spPr>
        <p:txBody>
          <a:bodyPr wrap="square" anchor="ctr"/>
          <a:lstStyle/>
          <a:p>
            <a:pPr algn="ctr"/>
            <a:r>
              <a:rPr sz="1600" b="1" i="0">
                <a:solidFill>
                  <a:srgbClr val="FFFFFF"/>
                </a:solidFill>
                <a:latin typeface="Calibri"/>
              </a:rPr>
              <a:t>4</a:t>
            </a:r>
          </a:p>
        </p:txBody>
      </p:sp>
      <p:sp>
        <p:nvSpPr>
          <p:cNvPr id="21" name="TextBox 20"/>
          <p:cNvSpPr txBox="1"/>
          <p:nvPr/>
        </p:nvSpPr>
        <p:spPr>
          <a:xfrm>
            <a:off x="1188720" y="4537252"/>
            <a:ext cx="10271455" cy="744321"/>
          </a:xfrm>
          <a:prstGeom prst="rect">
            <a:avLst/>
          </a:prstGeom>
          <a:noFill/>
        </p:spPr>
        <p:txBody>
          <a:bodyPr wrap="square" anchor="ctr"/>
          <a:lstStyle/>
          <a:p>
            <a:r>
              <a:rPr sz="1500" b="1" i="0">
                <a:solidFill>
                  <a:srgbClr val="095292"/>
                </a:solidFill>
                <a:latin typeface="Calibri"/>
              </a:rPr>
              <a:t>4 · Filtre por calidad, no por posición</a:t>
            </a:r>
          </a:p>
          <a:p>
            <a:pPr>
              <a:spcBef>
                <a:spcPts val="200"/>
              </a:spcBef>
            </a:pPr>
            <a:r>
              <a:rPr sz="1300" b="0" i="0">
                <a:solidFill>
                  <a:srgbClr val="333333"/>
                </a:solidFill>
                <a:latin typeface="Calibri"/>
              </a:rPr>
              <a:t>El primer resultado no es el mejor. Mire autor, año, dónde se publicó y si se puede verificar.</a:t>
            </a:r>
          </a:p>
        </p:txBody>
      </p:sp>
      <p:sp>
        <p:nvSpPr>
          <p:cNvPr id="22" name="Rounded Rectangle 21"/>
          <p:cNvSpPr/>
          <p:nvPr/>
        </p:nvSpPr>
        <p:spPr>
          <a:xfrm>
            <a:off x="457200" y="5446166"/>
            <a:ext cx="11277295" cy="908913"/>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94360" y="5681167"/>
            <a:ext cx="438912" cy="438912"/>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94360" y="5681167"/>
            <a:ext cx="438912" cy="438912"/>
          </a:xfrm>
          <a:prstGeom prst="rect">
            <a:avLst/>
          </a:prstGeom>
          <a:noFill/>
        </p:spPr>
        <p:txBody>
          <a:bodyPr wrap="square" anchor="ctr"/>
          <a:lstStyle/>
          <a:p>
            <a:pPr algn="ctr"/>
            <a:r>
              <a:rPr sz="1600" b="1" i="0">
                <a:solidFill>
                  <a:srgbClr val="FFFFFF"/>
                </a:solidFill>
                <a:latin typeface="Calibri"/>
              </a:rPr>
              <a:t>5</a:t>
            </a:r>
          </a:p>
        </p:txBody>
      </p:sp>
      <p:sp>
        <p:nvSpPr>
          <p:cNvPr id="25" name="TextBox 24"/>
          <p:cNvSpPr txBox="1"/>
          <p:nvPr/>
        </p:nvSpPr>
        <p:spPr>
          <a:xfrm>
            <a:off x="1188720" y="5537606"/>
            <a:ext cx="10271455" cy="744321"/>
          </a:xfrm>
          <a:prstGeom prst="rect">
            <a:avLst/>
          </a:prstGeom>
          <a:noFill/>
        </p:spPr>
        <p:txBody>
          <a:bodyPr wrap="square" anchor="ctr"/>
          <a:lstStyle/>
          <a:p>
            <a:r>
              <a:rPr sz="1500" b="1" i="0">
                <a:solidFill>
                  <a:srgbClr val="095292"/>
                </a:solidFill>
                <a:latin typeface="Calibri"/>
              </a:rPr>
              <a:t>5 · Fiche mientras lee, no después</a:t>
            </a:r>
          </a:p>
          <a:p>
            <a:pPr>
              <a:spcBef>
                <a:spcPts val="200"/>
              </a:spcBef>
            </a:pPr>
            <a:r>
              <a:rPr sz="1300" b="0" i="0">
                <a:solidFill>
                  <a:srgbClr val="333333"/>
                </a:solidFill>
                <a:latin typeface="Calibri"/>
              </a:rPr>
              <a:t>Autor o responsable, año, dónde, qué hace, </a:t>
            </a:r>
            <a:r>
              <a:rPr sz="1300" b="1" i="0">
                <a:solidFill>
                  <a:srgbClr val="333333"/>
                </a:solidFill>
                <a:latin typeface="Calibri"/>
              </a:rPr>
              <a:t>qué le falta para su caso</a:t>
            </a:r>
            <a:r>
              <a:rPr sz="1300" b="0" i="0">
                <a:solidFill>
                  <a:srgbClr val="333333"/>
                </a:solidFill>
                <a:latin typeface="Calibri"/>
              </a:rPr>
              <a:t> y el enlace. Lo que no se ficha, se pierde.</a:t>
            </a:r>
          </a:p>
        </p:txBody>
      </p:sp>
      <p:sp>
        <p:nvSpPr>
          <p:cNvPr id="26" name="TextBox 2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Ejemplo: la búsqueda del antecedente, hecha</a:t>
            </a:r>
          </a:p>
        </p:txBody>
      </p:sp>
      <p:sp>
        <p:nvSpPr>
          <p:cNvPr id="5" name="Rounded Rectangle 4"/>
          <p:cNvSpPr/>
          <p:nvPr/>
        </p:nvSpPr>
        <p:spPr>
          <a:xfrm>
            <a:off x="5803166" y="1188719"/>
            <a:ext cx="5998464" cy="4828032"/>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busqueda-antecedente-paso1.png"/>
          <p:cNvPicPr>
            <a:picLocks noChangeAspect="1"/>
          </p:cNvPicPr>
          <p:nvPr/>
        </p:nvPicPr>
        <p:blipFill>
          <a:blip r:embed="rId2"/>
          <a:stretch>
            <a:fillRect/>
          </a:stretch>
        </p:blipFill>
        <p:spPr>
          <a:xfrm>
            <a:off x="5876318" y="1261872"/>
            <a:ext cx="5852160" cy="4681728"/>
          </a:xfrm>
          <a:prstGeom prst="rect">
            <a:avLst/>
          </a:prstGeom>
        </p:spPr>
      </p:pic>
      <p:pic>
        <p:nvPicPr>
          <p:cNvPr id="7" name="Picture 6" descr="busqueda-antecedente-paso2.png"/>
          <p:cNvPicPr>
            <a:picLocks noChangeAspect="1"/>
          </p:cNvPicPr>
          <p:nvPr/>
        </p:nvPicPr>
        <p:blipFill>
          <a:blip r:embed="rId3"/>
          <a:stretch>
            <a:fillRect/>
          </a:stretch>
        </p:blipFill>
        <p:spPr>
          <a:xfrm>
            <a:off x="5876318" y="1261872"/>
            <a:ext cx="5852160" cy="4681728"/>
          </a:xfrm>
          <a:prstGeom prst="rect">
            <a:avLst/>
          </a:prstGeom>
        </p:spPr>
      </p:pic>
      <p:pic>
        <p:nvPicPr>
          <p:cNvPr id="8" name="Picture 7" descr="busqueda-antecedente-paso3.png"/>
          <p:cNvPicPr>
            <a:picLocks noChangeAspect="1"/>
          </p:cNvPicPr>
          <p:nvPr/>
        </p:nvPicPr>
        <p:blipFill>
          <a:blip r:embed="rId4"/>
          <a:stretch>
            <a:fillRect/>
          </a:stretch>
        </p:blipFill>
        <p:spPr>
          <a:xfrm>
            <a:off x="5876318" y="1261872"/>
            <a:ext cx="5852160" cy="4681728"/>
          </a:xfrm>
          <a:prstGeom prst="rect">
            <a:avLst/>
          </a:prstGeom>
        </p:spPr>
      </p:pic>
      <p:pic>
        <p:nvPicPr>
          <p:cNvPr id="9" name="Picture 8" descr="busqueda-antecedente-paso4.png"/>
          <p:cNvPicPr>
            <a:picLocks noChangeAspect="1"/>
          </p:cNvPicPr>
          <p:nvPr/>
        </p:nvPicPr>
        <p:blipFill>
          <a:blip r:embed="rId5"/>
          <a:stretch>
            <a:fillRect/>
          </a:stretch>
        </p:blipFill>
        <p:spPr>
          <a:xfrm>
            <a:off x="5876318" y="1261872"/>
            <a:ext cx="5852160" cy="4681728"/>
          </a:xfrm>
          <a:prstGeom prst="rect">
            <a:avLst/>
          </a:prstGeom>
        </p:spPr>
      </p:pic>
      <p:pic>
        <p:nvPicPr>
          <p:cNvPr id="10" name="Picture 9" descr="busqueda-antecedente-paso5.png"/>
          <p:cNvPicPr>
            <a:picLocks noChangeAspect="1"/>
          </p:cNvPicPr>
          <p:nvPr/>
        </p:nvPicPr>
        <p:blipFill>
          <a:blip r:embed="rId6"/>
          <a:stretch>
            <a:fillRect/>
          </a:stretch>
        </p:blipFill>
        <p:spPr>
          <a:xfrm>
            <a:off x="5876318" y="1261872"/>
            <a:ext cx="5852160" cy="4681728"/>
          </a:xfrm>
          <a:prstGeom prst="rect">
            <a:avLst/>
          </a:prstGeom>
        </p:spPr>
      </p:pic>
      <p:sp>
        <p:nvSpPr>
          <p:cNvPr id="23" name="TextBox 22"/>
          <p:cNvSpPr txBox="1"/>
          <p:nvPr/>
        </p:nvSpPr>
        <p:spPr>
          <a:xfrm>
            <a:off x="5870301" y="5961888"/>
            <a:ext cx="5864193" cy="320040"/>
          </a:xfrm>
          <a:prstGeom prst="rect">
            <a:avLst/>
          </a:prstGeom>
          <a:noFill/>
        </p:spPr>
        <p:txBody>
          <a:bodyPr wrap="square">
            <a:spAutoFit/>
          </a:bodyPr>
          <a:lstStyle/>
          <a:p>
            <a:pPr algn="ctr"/>
            <a:r>
              <a:rPr sz="1100" b="0" i="1">
                <a:solidFill>
                  <a:srgbClr val="666666"/>
                </a:solidFill>
                <a:latin typeface="Calibri"/>
              </a:rPr>
              <a:t>Clic para avanzar la animación</a:t>
            </a:r>
          </a:p>
        </p:txBody>
      </p:sp>
      <p:sp>
        <p:nvSpPr>
          <p:cNvPr id="24" name="TextBox 23"/>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a:t>
            </a:r>
            <a:r>
              <a:rPr sz="2000" b="1" i="0">
                <a:solidFill>
                  <a:srgbClr val="333333"/>
                </a:solidFill>
                <a:latin typeface="Calibri"/>
              </a:rPr>
              <a:t>1 · Pregunta:</a:t>
            </a:r>
            <a:r>
              <a:rPr sz="2000" b="0" i="0">
                <a:solidFill>
                  <a:srgbClr val="333333"/>
                </a:solidFill>
                <a:latin typeface="Calibri"/>
              </a:rPr>
              <a:t> ¿Cómo manejan los turnos los negocios pequeños que no tienen sistema?</a:t>
            </a:r>
          </a:p>
          <a:p>
            <a:pPr>
              <a:spcAft>
                <a:spcPts val="800"/>
              </a:spcAft>
            </a:pPr>
            <a:r>
              <a:rPr sz="2000" b="0" i="0">
                <a:solidFill>
                  <a:srgbClr val="333333"/>
                </a:solidFill>
                <a:latin typeface="Calibri"/>
              </a:rPr>
              <a:t>–   </a:t>
            </a:r>
            <a:r>
              <a:rPr sz="2000" b="1" i="0">
                <a:solidFill>
                  <a:srgbClr val="333333"/>
                </a:solidFill>
                <a:latin typeface="Calibri"/>
              </a:rPr>
              <a:t>2 · Términos:</a:t>
            </a:r>
            <a:r>
              <a:rPr sz="2000" b="0" i="0">
                <a:solidFill>
                  <a:srgbClr val="333333"/>
                </a:solidFill>
                <a:latin typeface="Calibri"/>
              </a:rPr>
              <a:t> «turnos virtuales», «gestión de filas», «queue management small business».</a:t>
            </a:r>
          </a:p>
          <a:p>
            <a:pPr>
              <a:spcAft>
                <a:spcPts val="800"/>
              </a:spcAft>
            </a:pPr>
            <a:r>
              <a:rPr sz="2000" b="0" i="0">
                <a:solidFill>
                  <a:srgbClr val="333333"/>
                </a:solidFill>
                <a:latin typeface="Calibri"/>
              </a:rPr>
              <a:t>–   </a:t>
            </a:r>
            <a:r>
              <a:rPr sz="2000" b="1" i="0">
                <a:solidFill>
                  <a:srgbClr val="333333"/>
                </a:solidFill>
                <a:latin typeface="Calibri"/>
              </a:rPr>
              <a:t>3 · Sitios:</a:t>
            </a:r>
            <a:r>
              <a:rPr sz="2000" b="0" i="0">
                <a:solidFill>
                  <a:srgbClr val="333333"/>
                </a:solidFill>
                <a:latin typeface="Calibri"/>
              </a:rPr>
              <a:t> Google Scholar, el repositorio de una universidad, y apps de turnos que ya existen.</a:t>
            </a:r>
          </a:p>
          <a:p>
            <a:pPr>
              <a:spcAft>
                <a:spcPts val="800"/>
              </a:spcAft>
            </a:pPr>
            <a:r>
              <a:rPr sz="2000" b="0" i="0">
                <a:solidFill>
                  <a:srgbClr val="333333"/>
                </a:solidFill>
                <a:latin typeface="Calibri"/>
              </a:rPr>
              <a:t>–   </a:t>
            </a:r>
            <a:r>
              <a:rPr sz="2000" b="1" i="0">
                <a:solidFill>
                  <a:srgbClr val="333333"/>
                </a:solidFill>
                <a:latin typeface="Calibri"/>
              </a:rPr>
              <a:t>4 · Filtro:</a:t>
            </a:r>
            <a:r>
              <a:rPr sz="2000" b="0" i="0">
                <a:solidFill>
                  <a:srgbClr val="333333"/>
                </a:solidFill>
                <a:latin typeface="Calibri"/>
              </a:rPr>
              <a:t> Se descarta un blog sin autor; se queda una tesis de 2021 sobre filas en droguerías.</a:t>
            </a:r>
          </a:p>
        </p:txBody>
      </p:sp>
      <p:sp>
        <p:nvSpPr>
          <p:cNvPr id="25" name="TextBox 24"/>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5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45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45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4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Dónde buscar y qué esperar de cada sitio</a:t>
            </a:r>
          </a:p>
        </p:txBody>
      </p:sp>
      <p:graphicFrame>
        <p:nvGraphicFramePr>
          <p:cNvPr id="5" name="Table 4"/>
          <p:cNvGraphicFramePr>
            <a:graphicFrameLocks noGrp="1"/>
          </p:cNvGraphicFramePr>
          <p:nvPr/>
        </p:nvGraphicFramePr>
        <p:xfrm>
          <a:off x="457200" y="1216152"/>
          <a:ext cx="8961120" cy="2688336"/>
        </p:xfrm>
        <a:graphic>
          <a:graphicData uri="http://schemas.openxmlformats.org/drawingml/2006/table">
            <a:tbl>
              <a:tblPr firstRow="1" bandRow="1">
                <a:tableStyleId>{5C22544A-7EE6-4342-B048-85BDC9FD1C3A}</a:tableStyleId>
              </a:tblPr>
              <a:tblGrid>
                <a:gridCol w="2103120"/>
                <a:gridCol w="3017520"/>
                <a:gridCol w="3840480"/>
              </a:tblGrid>
              <a:tr h="384048">
                <a:tc>
                  <a:txBody>
                    <a:bodyPr/>
                    <a:lstStyle/>
                    <a:p>
                      <a:r>
                        <a:rPr sz="1200" b="1" i="0">
                          <a:solidFill>
                            <a:srgbClr val="FFFFFF"/>
                          </a:solidFill>
                          <a:latin typeface="Calibri"/>
                        </a:rPr>
                        <a:t>Dónde</a:t>
                      </a:r>
                    </a:p>
                  </a:txBody>
                  <a:tcPr>
                    <a:solidFill>
                      <a:srgbClr val="095292"/>
                    </a:solidFill>
                  </a:tcPr>
                </a:tc>
                <a:tc>
                  <a:txBody>
                    <a:bodyPr/>
                    <a:lstStyle/>
                    <a:p>
                      <a:r>
                        <a:rPr sz="1200" b="1" i="0">
                          <a:solidFill>
                            <a:srgbClr val="FFFFFF"/>
                          </a:solidFill>
                          <a:latin typeface="Calibri"/>
                        </a:rPr>
                        <a:t>Qué se encuentra</a:t>
                      </a:r>
                    </a:p>
                  </a:txBody>
                  <a:tcPr>
                    <a:solidFill>
                      <a:srgbClr val="095292"/>
                    </a:solidFill>
                  </a:tcPr>
                </a:tc>
                <a:tc>
                  <a:txBody>
                    <a:bodyPr/>
                    <a:lstStyle/>
                    <a:p>
                      <a:r>
                        <a:rPr sz="1200" b="1" i="0">
                          <a:solidFill>
                            <a:srgbClr val="FFFFFF"/>
                          </a:solidFill>
                          <a:latin typeface="Calibri"/>
                        </a:rPr>
                        <a:t>Qué tener en cuenta</a:t>
                      </a:r>
                    </a:p>
                  </a:txBody>
                  <a:tcPr>
                    <a:solidFill>
                      <a:srgbClr val="095292"/>
                    </a:solidFill>
                  </a:tcPr>
                </a:tc>
              </a:tr>
              <a:tr h="384048">
                <a:tc>
                  <a:txBody>
                    <a:bodyPr/>
                    <a:lstStyle/>
                    <a:p>
                      <a:r>
                        <a:rPr sz="1200" b="0" i="0">
                          <a:solidFill>
                            <a:srgbClr val="333333"/>
                          </a:solidFill>
                          <a:latin typeface="Calibri"/>
                        </a:rPr>
                        <a:t>Buscador académico
(Google Scholar y similares)</a:t>
                      </a:r>
                    </a:p>
                  </a:txBody>
                  <a:tcPr>
                    <a:solidFill>
                      <a:srgbClr val="FFFFFF"/>
                    </a:solidFill>
                  </a:tcPr>
                </a:tc>
                <a:tc>
                  <a:txBody>
                    <a:bodyPr/>
                    <a:lstStyle/>
                    <a:p>
                      <a:r>
                        <a:rPr sz="1200" b="0" i="0">
                          <a:solidFill>
                            <a:srgbClr val="333333"/>
                          </a:solidFill>
                          <a:latin typeface="Calibri"/>
                        </a:rPr>
                        <a:t>Artículos, tesis y capítulos. Se ve cuántas veces lo han citado.</a:t>
                      </a:r>
                    </a:p>
                  </a:txBody>
                  <a:tcPr>
                    <a:solidFill>
                      <a:srgbClr val="FFFFFF"/>
                    </a:solidFill>
                  </a:tcPr>
                </a:tc>
                <a:tc>
                  <a:txBody>
                    <a:bodyPr/>
                    <a:lstStyle/>
                    <a:p>
                      <a:r>
                        <a:rPr sz="1200" b="0" i="0">
                          <a:solidFill>
                            <a:srgbClr val="333333"/>
                          </a:solidFill>
                          <a:latin typeface="Calibri"/>
                        </a:rPr>
                        <a:t>Muchos están de pago. </a:t>
                      </a:r>
                      <a:r>
                        <a:rPr sz="1200" b="1" i="0">
                          <a:solidFill>
                            <a:srgbClr val="333333"/>
                          </a:solidFill>
                          <a:latin typeface="Calibri"/>
                        </a:rPr>
                        <a:t>Busque el PDF en el repositorio de la universidad del autor</a:t>
                      </a:r>
                      <a:r>
                        <a:rPr sz="1200" b="0" i="0">
                          <a:solidFill>
                            <a:srgbClr val="333333"/>
                          </a:solidFill>
                          <a:latin typeface="Calibri"/>
                        </a:rPr>
                        <a:t>: casi siempre está libre y es legal.</a:t>
                      </a:r>
                    </a:p>
                  </a:txBody>
                  <a:tcPr>
                    <a:solidFill>
                      <a:srgbClr val="FFFFFF"/>
                    </a:solidFill>
                  </a:tcPr>
                </a:tc>
              </a:tr>
              <a:tr h="384048">
                <a:tc>
                  <a:txBody>
                    <a:bodyPr/>
                    <a:lstStyle/>
                    <a:p>
                      <a:r>
                        <a:rPr sz="1200" b="0" i="0">
                          <a:solidFill>
                            <a:srgbClr val="333333"/>
                          </a:solidFill>
                          <a:latin typeface="Calibri"/>
                        </a:rPr>
                        <a:t>Repositorios institucionales
y bibliotecas digitales</a:t>
                      </a:r>
                    </a:p>
                  </a:txBody>
                  <a:tcPr>
                    <a:solidFill>
                      <a:srgbClr val="F2F2F2"/>
                    </a:solidFill>
                  </a:tcPr>
                </a:tc>
                <a:tc>
                  <a:txBody>
                    <a:bodyPr/>
                    <a:lstStyle/>
                    <a:p>
                      <a:r>
                        <a:rPr sz="1200" b="0" i="0">
                          <a:solidFill>
                            <a:srgbClr val="333333"/>
                          </a:solidFill>
                          <a:latin typeface="Calibri"/>
                        </a:rPr>
                        <a:t>Tesis y trabajos de grado de universidades, muchos sobre problemas locales.</a:t>
                      </a:r>
                    </a:p>
                  </a:txBody>
                  <a:tcPr>
                    <a:solidFill>
                      <a:srgbClr val="F2F2F2"/>
                    </a:solidFill>
                  </a:tcPr>
                </a:tc>
                <a:tc>
                  <a:txBody>
                    <a:bodyPr/>
                    <a:lstStyle/>
                    <a:p>
                      <a:r>
                        <a:rPr sz="1200" b="0" i="0">
                          <a:solidFill>
                            <a:srgbClr val="333333"/>
                          </a:solidFill>
                          <a:latin typeface="Calibri"/>
                        </a:rPr>
                        <a:t>Es la mejor fuente para un proyecto de contexto colombiano. </a:t>
                      </a:r>
                      <a:r>
                        <a:rPr sz="1200" b="1" i="0">
                          <a:solidFill>
                            <a:srgbClr val="333333"/>
                          </a:solidFill>
                          <a:latin typeface="Calibri"/>
                        </a:rPr>
                        <a:t>Verifique el año</a:t>
                      </a:r>
                      <a:r>
                        <a:rPr sz="1200" b="0" i="0">
                          <a:solidFill>
                            <a:srgbClr val="333333"/>
                          </a:solidFill>
                          <a:latin typeface="Calibri"/>
                        </a:rPr>
                        <a:t>: hay trabajos muy viejos.</a:t>
                      </a:r>
                    </a:p>
                  </a:txBody>
                  <a:tcPr>
                    <a:solidFill>
                      <a:srgbClr val="F2F2F2"/>
                    </a:solidFill>
                  </a:tcPr>
                </a:tc>
              </a:tr>
              <a:tr h="384048">
                <a:tc>
                  <a:txBody>
                    <a:bodyPr/>
                    <a:lstStyle/>
                    <a:p>
                      <a:r>
                        <a:rPr sz="1200" b="0" i="0">
                          <a:solidFill>
                            <a:srgbClr val="333333"/>
                          </a:solidFill>
                          <a:latin typeface="Calibri"/>
                        </a:rPr>
                        <a:t>Portales regionales
(SciELO, Redalyc y similares)</a:t>
                      </a:r>
                    </a:p>
                  </a:txBody>
                  <a:tcPr>
                    <a:solidFill>
                      <a:srgbClr val="FFFFFF"/>
                    </a:solidFill>
                  </a:tcPr>
                </a:tc>
                <a:tc>
                  <a:txBody>
                    <a:bodyPr/>
                    <a:lstStyle/>
                    <a:p>
                      <a:r>
                        <a:rPr sz="1200" b="0" i="0">
                          <a:solidFill>
                            <a:srgbClr val="333333"/>
                          </a:solidFill>
                          <a:latin typeface="Calibri"/>
                        </a:rPr>
                        <a:t>Revistas de América Latina, en español y de acceso abierto.</a:t>
                      </a:r>
                    </a:p>
                  </a:txBody>
                  <a:tcPr>
                    <a:solidFill>
                      <a:srgbClr val="FFFFFF"/>
                    </a:solidFill>
                  </a:tcPr>
                </a:tc>
                <a:tc>
                  <a:txBody>
                    <a:bodyPr/>
                    <a:lstStyle/>
                    <a:p>
                      <a:r>
                        <a:rPr sz="1200" b="0" i="0">
                          <a:solidFill>
                            <a:srgbClr val="333333"/>
                          </a:solidFill>
                          <a:latin typeface="Calibri"/>
                        </a:rPr>
                        <a:t>Muy útiles cuando el problema es regional y lo publicado en inglés no aplica.</a:t>
                      </a:r>
                    </a:p>
                  </a:txBody>
                  <a:tcPr>
                    <a:solidFill>
                      <a:srgbClr val="FFFFFF"/>
                    </a:solidFill>
                  </a:tcPr>
                </a:tc>
              </a:tr>
              <a:tr h="384048">
                <a:tc>
                  <a:txBody>
                    <a:bodyPr/>
                    <a:lstStyle/>
                    <a:p>
                      <a:r>
                        <a:rPr sz="1200" b="0" i="0">
                          <a:solidFill>
                            <a:srgbClr val="333333"/>
                          </a:solidFill>
                          <a:latin typeface="Calibri"/>
                        </a:rPr>
                        <a:t>Sitios oficiales y normas</a:t>
                      </a:r>
                    </a:p>
                  </a:txBody>
                  <a:tcPr>
                    <a:solidFill>
                      <a:srgbClr val="F2F2F2"/>
                    </a:solidFill>
                  </a:tcPr>
                </a:tc>
                <a:tc>
                  <a:txBody>
                    <a:bodyPr/>
                    <a:lstStyle/>
                    <a:p>
                      <a:r>
                        <a:rPr sz="1200" b="0" i="0">
                          <a:solidFill>
                            <a:srgbClr val="333333"/>
                          </a:solidFill>
                          <a:latin typeface="Calibri"/>
                        </a:rPr>
                        <a:t>Leyes, decretos, guías de ministerios, estadísticas de entidades públicas.</a:t>
                      </a:r>
                    </a:p>
                  </a:txBody>
                  <a:tcPr>
                    <a:solidFill>
                      <a:srgbClr val="F2F2F2"/>
                    </a:solidFill>
                  </a:tcPr>
                </a:tc>
                <a:tc>
                  <a:txBody>
                    <a:bodyPr/>
                    <a:lstStyle/>
                    <a:p>
                      <a:r>
                        <a:rPr sz="1200" b="0" i="0">
                          <a:solidFill>
                            <a:srgbClr val="333333"/>
                          </a:solidFill>
                          <a:latin typeface="Calibri"/>
                        </a:rPr>
                        <a:t>Es fuente </a:t>
                      </a:r>
                      <a:r>
                        <a:rPr sz="1200" b="1" i="0">
                          <a:solidFill>
                            <a:srgbClr val="333333"/>
                          </a:solidFill>
                          <a:latin typeface="Calibri"/>
                        </a:rPr>
                        <a:t>primaria</a:t>
                      </a:r>
                      <a:r>
                        <a:rPr sz="1200" b="0" i="0">
                          <a:solidFill>
                            <a:srgbClr val="333333"/>
                          </a:solidFill>
                          <a:latin typeface="Calibri"/>
                        </a:rPr>
                        <a:t>: se cita el documento, no la noticia que lo comenta. Ya lo practicaron en las sesiones 4 y 5.</a:t>
                      </a:r>
                    </a:p>
                  </a:txBody>
                  <a:tcPr>
                    <a:solidFill>
                      <a:srgbClr val="F2F2F2"/>
                    </a:solidFill>
                  </a:tcPr>
                </a:tc>
              </a:tr>
              <a:tr h="384048">
                <a:tc>
                  <a:txBody>
                    <a:bodyPr/>
                    <a:lstStyle/>
                    <a:p>
                      <a:r>
                        <a:rPr sz="1200" b="0" i="0">
                          <a:solidFill>
                            <a:srgbClr val="333333"/>
                          </a:solidFill>
                          <a:latin typeface="Calibri"/>
                        </a:rPr>
                        <a:t>Documentación de proyectos
y software reales</a:t>
                      </a:r>
                    </a:p>
                  </a:txBody>
                  <a:tcPr>
                    <a:solidFill>
                      <a:srgbClr val="FFFFFF"/>
                    </a:solidFill>
                  </a:tcPr>
                </a:tc>
                <a:tc>
                  <a:txBody>
                    <a:bodyPr/>
                    <a:lstStyle/>
                    <a:p>
                      <a:r>
                        <a:rPr sz="1200" b="0" i="0">
                          <a:solidFill>
                            <a:srgbClr val="333333"/>
                          </a:solidFill>
                          <a:latin typeface="Calibri"/>
                        </a:rPr>
                        <a:t>Soluciones que ya funcionan, con su manual y sus limitaciones declaradas.</a:t>
                      </a:r>
                    </a:p>
                  </a:txBody>
                  <a:tcPr>
                    <a:solidFill>
                      <a:srgbClr val="FFFFFF"/>
                    </a:solidFill>
                  </a:tcPr>
                </a:tc>
                <a:tc>
                  <a:txBody>
                    <a:bodyPr/>
                    <a:lstStyle/>
                    <a:p>
                      <a:r>
                        <a:rPr sz="1200" b="0" i="0">
                          <a:solidFill>
                            <a:srgbClr val="333333"/>
                          </a:solidFill>
                          <a:latin typeface="Calibri"/>
                        </a:rPr>
                        <a:t>Es el antecedente más útil para prototipar. </a:t>
                      </a:r>
                      <a:r>
                        <a:rPr sz="1200" b="1" i="0">
                          <a:solidFill>
                            <a:srgbClr val="333333"/>
                          </a:solidFill>
                          <a:latin typeface="Calibri"/>
                        </a:rPr>
                        <a:t>Cite versión y fecha de consulta</a:t>
                      </a:r>
                      <a:r>
                        <a:rPr sz="1200" b="0" i="0">
                          <a:solidFill>
                            <a:srgbClr val="333333"/>
                          </a:solidFill>
                          <a:latin typeface="Calibri"/>
                        </a:rPr>
                        <a:t>: cambia todo el tiempo.</a:t>
                      </a:r>
                    </a:p>
                  </a:txBody>
                  <a:tcPr>
                    <a:solidFill>
                      <a:srgbClr val="FFFFFF"/>
                    </a:solidFill>
                  </a:tcPr>
                </a:tc>
              </a:tr>
              <a:tr h="384048">
                <a:tc>
                  <a:txBody>
                    <a:bodyPr/>
                    <a:lstStyle/>
                    <a:p>
                      <a:r>
                        <a:rPr sz="1200" b="0" i="0">
                          <a:solidFill>
                            <a:srgbClr val="333333"/>
                          </a:solidFill>
                          <a:latin typeface="Calibri"/>
                        </a:rPr>
                        <a:t>Asistente de IA</a:t>
                      </a:r>
                    </a:p>
                  </a:txBody>
                  <a:tcPr>
                    <a:solidFill>
                      <a:srgbClr val="F2F2F2"/>
                    </a:solidFill>
                  </a:tcPr>
                </a:tc>
                <a:tc>
                  <a:txBody>
                    <a:bodyPr/>
                    <a:lstStyle/>
                    <a:p>
                      <a:r>
                        <a:rPr sz="1200" b="0" i="0">
                          <a:solidFill>
                            <a:srgbClr val="333333"/>
                          </a:solidFill>
                          <a:latin typeface="Calibri"/>
                        </a:rPr>
                        <a:t>Pistas, sinónimos, términos en inglés para buscar mejor.</a:t>
                      </a:r>
                    </a:p>
                  </a:txBody>
                  <a:tcPr>
                    <a:solidFill>
                      <a:srgbClr val="F2F2F2"/>
                    </a:solidFill>
                  </a:tcPr>
                </a:tc>
                <a:tc>
                  <a:txBody>
                    <a:bodyPr/>
                    <a:lstStyle/>
                    <a:p>
                      <a:r>
                        <a:rPr sz="1200" b="1" i="0">
                          <a:solidFill>
                            <a:srgbClr val="333333"/>
                          </a:solidFill>
                          <a:latin typeface="Calibri"/>
                        </a:rPr>
                        <a:t>No es una fuente.</a:t>
                      </a:r>
                      <a:r>
                        <a:rPr sz="1200" b="0" i="0">
                          <a:solidFill>
                            <a:srgbClr val="333333"/>
                          </a:solidFill>
                          <a:latin typeface="Calibri"/>
                        </a:rPr>
                        <a:t> Puede devolver autores, títulos y años que parecen reales y no existen. Sirve para buscar, nunca para citar.</a:t>
                      </a:r>
                    </a:p>
                  </a:txBody>
                  <a:tcPr>
                    <a:solidFill>
                      <a:srgbClr val="F2F2F2"/>
                    </a:solidFill>
                  </a:tcPr>
                </a:tc>
              </a:tr>
            </a:tbl>
          </a:graphicData>
        </a:graphic>
      </p:graphicFrame>
      <p:sp>
        <p:nvSpPr>
          <p:cNvPr id="6" name="TextBox 5"/>
          <p:cNvSpPr txBox="1"/>
          <p:nvPr/>
        </p:nvSpPr>
        <p:spPr>
          <a:xfrm>
            <a:off x="457200" y="4800600"/>
            <a:ext cx="11277295" cy="457200"/>
          </a:xfrm>
          <a:prstGeom prst="rect">
            <a:avLst/>
          </a:prstGeom>
          <a:noFill/>
        </p:spPr>
        <p:txBody>
          <a:bodyPr wrap="square">
            <a:spAutoFit/>
          </a:bodyPr>
          <a:lstStyle/>
          <a:p>
            <a:r>
              <a:rPr sz="1100" b="0" i="1">
                <a:solidFill>
                  <a:srgbClr val="666666"/>
                </a:solidFill>
                <a:latin typeface="Calibri"/>
              </a:rPr>
              <a:t>Regla del curso: </a:t>
            </a:r>
            <a:r>
              <a:rPr sz="1100" b="1" i="1">
                <a:solidFill>
                  <a:srgbClr val="666666"/>
                </a:solidFill>
                <a:latin typeface="Calibri"/>
              </a:rPr>
              <a:t>si no puede abrir el enlace y ver el documento, no lo cite.</a:t>
            </a:r>
            <a:r>
              <a:rPr sz="1100" b="0" i="1">
                <a:solidFill>
                  <a:srgbClr val="666666"/>
                </a:solidFill>
                <a:latin typeface="Calibri"/>
              </a:rPr>
              <a:t> Y de las tres fuentes del taller, al menos una tiene que ser académica o normativa.</a:t>
            </a:r>
          </a:p>
        </p:txBody>
      </p:sp>
      <p:sp>
        <p:nvSpPr>
          <p:cNvPr id="7" name="TextBox 6"/>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Tres reglas sobre las fuentes</a:t>
            </a:r>
          </a:p>
        </p:txBody>
      </p:sp>
      <p:sp>
        <p:nvSpPr>
          <p:cNvPr id="5" name="Rounded Rectangle 4"/>
          <p:cNvSpPr/>
          <p:nvPr/>
        </p:nvSpPr>
        <p:spPr>
          <a:xfrm>
            <a:off x="457200" y="1261872"/>
            <a:ext cx="11277295" cy="1051560"/>
          </a:xfrm>
          <a:prstGeom prst="roundRect">
            <a:avLst>
              <a:gd name="adj" fmla="val 12000"/>
            </a:avLst>
          </a:prstGeom>
          <a:solidFill>
            <a:srgbClr val="FB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128016" cy="1051560"/>
          </a:xfrm>
          <a:prstGeom prst="rect">
            <a:avLst/>
          </a:prstGeom>
          <a:solidFill>
            <a:srgbClr val="A02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399031"/>
            <a:ext cx="10774375" cy="822959"/>
          </a:xfrm>
          <a:prstGeom prst="rect">
            <a:avLst/>
          </a:prstGeom>
          <a:noFill/>
        </p:spPr>
        <p:txBody>
          <a:bodyPr wrap="square">
            <a:spAutoFit/>
          </a:bodyPr>
          <a:lstStyle/>
          <a:p>
            <a:r>
              <a:rPr sz="1200" b="1" i="0">
                <a:solidFill>
                  <a:srgbClr val="A02030"/>
                </a:solidFill>
                <a:latin typeface="Calibri"/>
              </a:rPr>
              <a:t>Atención</a:t>
            </a:r>
          </a:p>
          <a:p>
            <a:pPr>
              <a:spcBef>
                <a:spcPts val="400"/>
              </a:spcBef>
            </a:pPr>
            <a:r>
              <a:rPr sz="1400" b="1" i="0">
                <a:solidFill>
                  <a:srgbClr val="333333"/>
                </a:solidFill>
                <a:latin typeface="Calibri"/>
              </a:rPr>
              <a:t>Nunca invente una cita, y nunca copie una que no abrió.</a:t>
            </a:r>
            <a:r>
              <a:rPr sz="1400" b="0" i="0">
                <a:solidFill>
                  <a:srgbClr val="333333"/>
                </a:solidFill>
                <a:latin typeface="Calibri"/>
              </a:rPr>
              <a:t> Una cita falsa es la falta más grave de un trabajo académico, y hoy es más fácil que nunca cometerla sin querer: los asistentes de IA generan referencias con formato perfecto que no existen. Si no abrió el documento, no lo cite.</a:t>
            </a:r>
          </a:p>
        </p:txBody>
      </p:sp>
      <p:sp>
        <p:nvSpPr>
          <p:cNvPr id="8" name="Rounded Rectangle 7"/>
          <p:cNvSpPr/>
          <p:nvPr/>
        </p:nvSpPr>
        <p:spPr>
          <a:xfrm>
            <a:off x="457200" y="2478024"/>
            <a:ext cx="11277295" cy="1051560"/>
          </a:xfrm>
          <a:prstGeom prst="roundRect">
            <a:avLst>
              <a:gd name="adj" fmla="val 12000"/>
            </a:avLst>
          </a:prstGeom>
          <a:solidFill>
            <a:srgbClr val="E8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2478024"/>
            <a:ext cx="128016" cy="1051560"/>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615184"/>
            <a:ext cx="10774375" cy="822959"/>
          </a:xfrm>
          <a:prstGeom prst="rect">
            <a:avLst/>
          </a:prstGeom>
          <a:noFill/>
        </p:spPr>
        <p:txBody>
          <a:bodyPr wrap="square">
            <a:spAutoFit/>
          </a:bodyPr>
          <a:lstStyle/>
          <a:p>
            <a:r>
              <a:rPr sz="1200" b="1" i="0">
                <a:solidFill>
                  <a:srgbClr val="269CCB"/>
                </a:solidFill>
                <a:latin typeface="Calibri"/>
              </a:rPr>
              <a:t>Info</a:t>
            </a:r>
          </a:p>
          <a:p>
            <a:pPr>
              <a:spcBef>
                <a:spcPts val="400"/>
              </a:spcBef>
            </a:pPr>
            <a:r>
              <a:rPr sz="1400" b="1" i="0">
                <a:solidFill>
                  <a:srgbClr val="333333"/>
                </a:solidFill>
                <a:latin typeface="Calibri"/>
              </a:rPr>
              <a:t>«No encontramos nada» es un resultado válido, si se escribe bien.</a:t>
            </a:r>
            <a:r>
              <a:rPr sz="1400" b="0" i="0">
                <a:solidFill>
                  <a:srgbClr val="333333"/>
                </a:solidFill>
                <a:latin typeface="Calibri"/>
              </a:rPr>
              <a:t> Se anota qué se buscó, con qué términos, en qué sitios, y qué se encontró de lo más cercano. Eso es un hallazgo y vale tanto como una fuente. Lo que no se acepta es rellenar el vacío con fuentes de adorno que nadie leyó.</a:t>
            </a:r>
          </a:p>
        </p:txBody>
      </p:sp>
      <p:sp>
        <p:nvSpPr>
          <p:cNvPr id="11" name="Rounded Rectangle 10"/>
          <p:cNvSpPr/>
          <p:nvPr/>
        </p:nvSpPr>
        <p:spPr>
          <a:xfrm>
            <a:off x="457200" y="3694176"/>
            <a:ext cx="11277295" cy="1051560"/>
          </a:xfrm>
          <a:prstGeom prst="roundRect">
            <a:avLst>
              <a:gd name="adj" fmla="val 12000"/>
            </a:avLst>
          </a:prstGeom>
          <a:solidFill>
            <a:srgbClr val="FFF8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 y="3694176"/>
            <a:ext cx="128016" cy="1051560"/>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3831336"/>
            <a:ext cx="10774375" cy="822959"/>
          </a:xfrm>
          <a:prstGeom prst="rect">
            <a:avLst/>
          </a:prstGeom>
          <a:noFill/>
        </p:spPr>
        <p:txBody>
          <a:bodyPr wrap="square">
            <a:spAutoFit/>
          </a:bodyPr>
          <a:lstStyle/>
          <a:p>
            <a:r>
              <a:rPr sz="1200" b="1" i="0">
                <a:solidFill>
                  <a:srgbClr val="FFD000"/>
                </a:solidFill>
                <a:latin typeface="Calibri"/>
              </a:rPr>
              <a:t>Aclaración</a:t>
            </a:r>
          </a:p>
          <a:p>
            <a:pPr>
              <a:spcBef>
                <a:spcPts val="400"/>
              </a:spcBef>
            </a:pPr>
            <a:r>
              <a:rPr sz="1400" b="1" i="0">
                <a:solidFill>
                  <a:srgbClr val="333333"/>
                </a:solidFill>
                <a:latin typeface="Calibri"/>
              </a:rPr>
              <a:t>Encontrar que su idea ya existe no arruina el proyecto: lo mejora.</a:t>
            </a:r>
            <a:r>
              <a:rPr sz="1400" b="0" i="0">
                <a:solidFill>
                  <a:srgbClr val="333333"/>
                </a:solidFill>
                <a:latin typeface="Calibri"/>
              </a:rPr>
              <a:t> Significa que el problema es real y que hay de dónde partir. La pregunta deja de ser «¿lo inventamos?» y pasa a ser «¿qué hacemos distinto, y por qué eso importa en nuestro contexto?», que es una pregunta de ingeniería mucho mejor.</a:t>
            </a:r>
          </a:p>
        </p:txBody>
      </p:sp>
      <p:sp>
        <p:nvSpPr>
          <p:cNvPr id="14" name="TextBox 13"/>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uniajc_color.png"/>
          <p:cNvPicPr>
            <a:picLocks noChangeAspect="1"/>
          </p:cNvPicPr>
          <p:nvPr/>
        </p:nvPicPr>
        <p:blipFill>
          <a:blip r:embed="rId2"/>
          <a:stretch>
            <a:fillRect/>
          </a:stretch>
        </p:blipFill>
        <p:spPr>
          <a:xfrm>
            <a:off x="10271455" y="5998464"/>
            <a:ext cx="1463040" cy="643233"/>
          </a:xfrm>
          <a:prstGeom prst="rect">
            <a:avLst/>
          </a:prstGeom>
        </p:spPr>
      </p:pic>
      <p:sp>
        <p:nvSpPr>
          <p:cNvPr id="4" name="TextBox 3"/>
          <p:cNvSpPr txBox="1"/>
          <p:nvPr/>
        </p:nvSpPr>
        <p:spPr>
          <a:xfrm>
            <a:off x="457200" y="1737360"/>
            <a:ext cx="11277295" cy="1097280"/>
          </a:xfrm>
          <a:prstGeom prst="rect">
            <a:avLst/>
          </a:prstGeom>
          <a:noFill/>
        </p:spPr>
        <p:txBody>
          <a:bodyPr wrap="square" anchor="ctr"/>
          <a:lstStyle/>
          <a:p>
            <a:pPr algn="ctr"/>
            <a:r>
              <a:rPr sz="3400" b="1" i="0">
                <a:solidFill>
                  <a:srgbClr val="095292"/>
                </a:solidFill>
                <a:latin typeface="Calibri"/>
              </a:rPr>
              <a:t>Nos vemos en la sesión 10</a:t>
            </a:r>
          </a:p>
        </p:txBody>
      </p:sp>
      <p:sp>
        <p:nvSpPr>
          <p:cNvPr id="5" name="TextBox 4"/>
          <p:cNvSpPr txBox="1"/>
          <p:nvPr/>
        </p:nvSpPr>
        <p:spPr>
          <a:xfrm>
            <a:off x="457200" y="3017520"/>
            <a:ext cx="11277295" cy="1645920"/>
          </a:xfrm>
          <a:prstGeom prst="rect">
            <a:avLst/>
          </a:prstGeom>
          <a:noFill/>
        </p:spPr>
        <p:txBody>
          <a:bodyPr wrap="square">
            <a:spAutoFit/>
          </a:bodyPr>
          <a:lstStyle/>
          <a:p>
            <a:pPr algn="ctr">
              <a:spcAft>
                <a:spcPts val="600"/>
              </a:spcAft>
            </a:pPr>
            <a:r>
              <a:rPr sz="1600" b="0" i="0">
                <a:solidFill>
                  <a:srgbClr val="333333"/>
                </a:solidFill>
                <a:latin typeface="Calibri"/>
              </a:rPr>
              <a:t>Estrategias de innovación en Ingeniería · Clase 9</a:t>
            </a:r>
          </a:p>
          <a:p>
            <a:pPr algn="ctr">
              <a:spcAft>
                <a:spcPts val="600"/>
              </a:spcAft>
            </a:pPr>
            <a:r>
              <a:rPr sz="1600" b="0" i="0">
                <a:solidFill>
                  <a:srgbClr val="333333"/>
                </a:solidFill>
                <a:latin typeface="Calibri"/>
              </a:rPr>
              <a:t>FI300101 · UNIAJC · Ingeniería de Sistemas</a:t>
            </a:r>
          </a:p>
        </p:txBody>
      </p:sp>
      <p:sp>
        <p:nvSpPr>
          <p:cNvPr id="6" name="TextBox 5"/>
          <p:cNvSpPr txBox="1"/>
          <p:nvPr/>
        </p:nvSpPr>
        <p:spPr>
          <a:xfrm>
            <a:off x="457200" y="4754880"/>
            <a:ext cx="11277295" cy="640080"/>
          </a:xfrm>
          <a:prstGeom prst="rect">
            <a:avLst/>
          </a:prstGeom>
          <a:noFill/>
        </p:spPr>
        <p:txBody>
          <a:bodyPr wrap="square">
            <a:spAutoFit/>
          </a:bodyPr>
          <a:lstStyle/>
          <a:p>
            <a:pPr algn="ctr"/>
            <a:r>
              <a:rPr sz="2000" b="1" i="0">
                <a:solidFill>
                  <a:srgbClr val="269CCB"/>
                </a:solidFill>
                <a:latin typeface="Calibri"/>
              </a:rPr>
              <a:t>Nadie parte de cero: lo que se cita se puede abrir, y lo que se mejora se puede señalar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