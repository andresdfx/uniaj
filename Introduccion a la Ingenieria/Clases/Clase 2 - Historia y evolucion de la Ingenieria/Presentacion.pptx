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Historia y evolución de la Ingeniería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Por qué los problemas de 1968 siguen siendo los suyos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— seis hitos y el problema que resolvía cada uno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— línea de tiempo del periodo en draw.io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la línea de tiempo, en orden histórico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Ubicar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seis hitos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historia de la disciplina y decir qué problema resolvía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Explicar por qué la ingeniería de sistemas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nace como respuesta a un fracaso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a un avance técnico.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Construir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línea de tiempo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una herramienta de diagramación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Identificar, para un hito,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parte de ese problema sigue vivo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Un proyecto de software se pasa del plazo y del presupuesto. ¿Es un problema de 2026 o de 1968?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 respuesta honesta es: exactamente el mismo, y con las mismas causas.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Hoy vamos a ver de dónde salieron esas causas y por qué nadie las ha eliminado.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cuenta la historia y cómo fue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suele contar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«Todo empezó con los computadores».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«Cada década llegó una tecnología mejor».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«Antes era difícil porque las máquinas eran lentas».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«Los métodos de trabajo son un invento reciente».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«Los problemas viejos ya se resolvieron».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muestran los hechos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Empezó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proyectos que fracasaron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siendo la máquina lo de menos.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década llegó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problema nuevo de escala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un juguete nuevo.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Era difícil porque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nadie sabía cómo organizar el trabajo de 100 personas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primer método formal 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1970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nació de un artículo crítico.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problemas viejos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siguen abiertos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plazo, costo y requisitos que cambian.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Cuándo el problema dejó de ser la máquina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Años 40 y 50: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cuello de botella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hardware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Programar es escribir instrucciones para una máquina concreta, y el trabajo es de una persona o de unas pocas.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Años 60: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hardware se abarata y crece, y aparecen sistemas que necesitan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cientos de personas y años de trabajo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Ahí el cuello de botella se muda: ya no es la máquina,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coordinar el trabajo humano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de reservas SABRE, el software del programa Apollo y el sistema operativo OS/360 de IBM son los tres casos que hicieron visible el problema: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pasaron de plazo y de presupuesto de forma escandalosa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1968: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OTAN convoca una conferencia en Garmisch (Alemania) para hablar de eso y se acuña el término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«ingeniería de software»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nombre es una propuesta: si construir software se parece a construir un puente, entonces necesita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método, no talento individual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Ahí nace la disciplina: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de un invento, sino del reconocimiento público de que el trabajo se estaba haciendo mal y nadie sabía cómo hacerlo bien.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Seis hitos y el problema que atacaba cada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1945–1957 · La máquina programable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Arquitectura de von Neumann y los primeros lenguajes (Fortran, 1957).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decirle algo a la máquina sin hablar su idioma binario.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7258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7258" y="12618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1850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1968 · La crisis del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1850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Conferencia de la OTAN en Garmisch. Se nombra el problema: los proyectos grandes fracasan.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organizar trabajo humano a escala.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2618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7316" y="12618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1908" y="14904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1970 · El ciclo de vida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1908" y="19476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Royce publica el esquema que se popularizó como «cascada» — advirtiendo que así, sin iterar, no funciona.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¿en qué orden se hace el trabajo?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0772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1975 · El mes-hombre mítico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Brooks: meter más gente a un proyecto atrasado lo atrasa más.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comunicación crece más rápido que el equipo.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7258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7258" y="3890772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1991–2001 · Software libre y agilidad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Linux y luego el Manifiesto Ágil.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los requisitos cambian mientras se construye, y el plan rígido se vuelve mentira.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890772"/>
            <a:ext cx="3637178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890772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1908" y="4119372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2006–hoy · La nube y los datos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1908" y="4576572"/>
            <a:ext cx="3307994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Infraestructura alquilada por horas e IA en producción.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Problema: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ya no es poder construirlo,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decidir si se debe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y quién responde.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lee un hito sin quedarse en la anécdota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hito sin la cuarta pregunta es una fecha de examen; con ella es una herramienta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dolía antes?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concreto que existía y a quién le pasaba. Sin esto, el hito es una fecha suelta.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propuso?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La idea, el método o la herramienta. En una frase, sin nombres técnicos que no se puedan explicar.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resolvió de verdad?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Casi nunca resuelve todo. Diga qué parte sí.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¿Qué sigue vivo hoy?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pedazo del problema que nadie ha cerrado. Es la parte que se evalúa en el taller.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cosas que se repiten y son falsas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«La cascada la inventó Royce y estaba equivocado».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Royce presentó ese esquema en 1970 justamente para decir que aplicado de forma lineal es riesgoso, y propuso iterar. Lo que se popularizó fue el dibujo sin la advertencia.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«Ágil reemplazó al ciclo de vida».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No: ágil cambia el tamaño y la frecuencia de las iteraciones. Las fases (entender, diseñar, construir, probar) siguen ahí, solo que se recorren muchas veces en vez de una.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«Los problemas de 1968 ya se resolvieron».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Los informes de la industria siguen reportando fracasos de plazo, costo y alcance en proporciones altas. El método mejoró; el problema no desapareció.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 y para qué sirve incomodar con una fecha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apertura —«un proyecto de software se pasa del plazo y del presupuesto, ¿es un problema de 2026 o de 1968?»— está formulada para producir una respuesta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Casi todo el grupo va a decir que es de 2026, porque la intuición de un estudiante de primer semestre es que la historia de la tecnología es una escalera: cada década resuelve los problemas de la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intuición es la que hay que romper hoy, porque de ella se deriva una creencia más dañina: que basta con aprender la herramienta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primeros diez minutos, mientras se conectan, sirven para recoger esas respuestas en el muro.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que corregir ninguna.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minuto 25, cuando ya esté contada la conferencia de Garmisch de 1968, se vuelve al muro y se lee en voz alta lo que escribieron.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contraste hace el trabajo solo: el problema que el grupo cree contemporáneo tiene casi sesenta años y un nombre propio.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qué la disciplina nace de un fracaso y no de un invento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diferencia grande entre contar la historia de la informática y contar la historia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una historia de máquinas: válvulas, transistores, circuitos integrados, microprocesadores.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que el estudiante espera y es la menos útil, porque sugiere que el progreso viene del hardware.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una historia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fracasos de organización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es la que explica por qué existe la carrera que el estudiante está empezando.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años cuarenta y cincuenta el cuello de botella era la máquina.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Programar el ENIAC significaba reconfigurar cables físicamente; escribir en lenguaje de máquina era lento porque la máquina era lo escaso y lo caro.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Fortran (1957) y COBOL (1959) atacan exactamente ese problema: permitir decirle algo a la máquina sin hablar su idioma.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aquí el trabajo lo hace una persona o un puñado de personas, y el método no importa mucho porque el problema cabe en una cabeza.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qué la disciplina nace de un fracaso y no de un invento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los años sesenta pasa algo que cambia la naturaleza del problema: el hardware se abarata y se vuelve más capaz, y entonces se vuelven pensables sistemas que antes no lo eran.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de reservas aéreas SABRE, el software de navegación del programa Apollo, el sistema operativo OS/360 de IBM.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proyectos de cientos y hasta miles de personas y de varios años.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fracasan de forma espectacular en plazo y en costo, no porque las máquinas fueran lentas, sino porque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nadie sabía cómo coordinar a mil personas construyendo una sola cosa que nadie puede ver ni tocar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Fred Brooks, que dirigió el OS/360, escribió después el libro que explica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1968 la OTAN convoca una conferencia en Garmisch para hablar del asunto, y ahí se populariza el término «ingeniería de software».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momento fundacional que el estudiante tiene que recordar: la disciplina no nace de una máquina nueva, nace del reconocimiento público de que se estaba trabajando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seis hitos: qué decir de cada uno en dos minutos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tarjeta de 1945–1957 se cuenta rápido: arquitectura de von Neumann (programa y datos en la misma memoria, que es la razón por la que un computador puede cargar cualquier programa) y los primeros lenguajes de alto nivel.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no es memorizar nombres, es entender que el problema de la época era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traducir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1968 es el hito central de la clase y merece la mitad del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cuenta como está arriba: los tres proyectos que fracasaron, la conferencia, el término.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solo alcanza a contar un hito bien, que sea este. 1970 es Winston Royce y el esquema que el mundo llamó «cascada».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hay que ser preciso porque es el error histórico más repetido en las clases de ingeniería: Royce dibujó el esquema lineal para decir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así no se debe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propuso hacerlo dos veces, con prototipo y retroalimentación.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seis hitos: qué decir de cada uno en dos minutos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industria se quedó con el dibujo y tiró la advertencia.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lección para el estudiante es doble: sobre el ciclo de vida (que se ve en la sesión 7) y sobre cómo se deforman las ideas cuando se citan de segunda mano. 1975 es Brooks y «The Mythical Man-Month».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que hay que dejar es contraintuitiva y utilísima para un curso donde se trabaja en equipos de cinco: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agregar gente a un proyecto atrasado lo atrasa más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los canales de comunicación crecen mucho más rápido que las personas.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5 personas hay 10 parejas que se tienen que entender; con 10 personas hay 45.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dato verificable con una fórmula de bachillerato y explica por qué en este curso los equipos son de cinco y no de diez. 1991–2001 junta software libre (Linux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 él la idea de que miles de personas que no se conocen pueden construir algo serio si el proceso es público) y el Manifiesto Ágil de 2001.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seis hitos: qué decir de cada uno en dos minutos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que atacan es el mismo: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requisitos cambian mientras se construye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un plan de dos años escrito el primer día es una obra de ficción.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Ágil no elimina las fases, cambia su tamaño. 2006 en adelante es la nube y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el problema muda otra vez y es importante que el estudiante lo note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es el problema de su generación: cuando alquilar mil servidores por hora cuesta poco y una biblioteca de IA se instala en un comando, la pregunta técnica «¿se puede construir?» deja de ser la difícil.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difícil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«¿se debe construir, a quién afecta y quién responde?»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pregunta es el hilo de las Clases 4, 5 y 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 de lectura de un hito y por qué la cuarta pregunta es la que se califica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cuatro preguntas (qué dolía, qué propuso, qué resolvió, qué sigue vivo) son el método de trabajo del taller y conviene dictarlas como método, no como curiosidad.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primeras se pueden buscar; la cuarta exige pensar, y por eso es la que más pesa en la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equipo puede escribir «1975: Brooks dijo que agregar gente atrasa el proyecto» y estar en lo correcto sin haber entendido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cuarta pregunta obliga a decir algo como «sigue vivo porque cuando nuestro equipo se atrasó en el taller de la sesión anterior, la reacción natural fue pedir ayuda a otro equipo, y eso nos costó veinte minutos de explicar el contexto».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aclaraciones de la última diapositiva de teoría hay que decirlas en voz alta aunque parezcan detalles, porque son las tres cosas que el estudiante va a encontrar mal contadas en el primer video o resumen que busque en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 de lectura de un hito y por qué la cuarta pregunta es la que se califica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Advertirlas hoy le da una herramienta que sirve para todo el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cuando una fuente cuenta una idea histórica sin decir quién la dijo y contra qué discutía, conviene desconfiar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la tercera aclaración conviene ser honesto en el aula y no inflarla.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informes de la industria sobre fracaso de proyectos usan definiciones distintas de «fracaso» y sus cifras varían mucho entre ediciones y entre fuentes.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sí se puede afirmar sin exagerar es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fracaso por plazo, costo y alcance sigue siendo un problema reportado sistemáticamente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que ninguna metodología ha declarado el problema cerrado.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 equipo trae una cifra de internet, se le pide la fuente y el año: es el primer ejercicio de rigor bibliográfico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taller, la exposición y por qué las cinco líneas de tiempo se suman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equipo recibe un periodo distinto y arma su tramo de línea de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es que las cinco exposiciones, puestas en orden histórico, producen la línea de tiempo completa de la disciplina, que es justo el trabajo independiente de la semana.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hay que decírselo al grupo antes de empezar: no están haciendo cinco trabajos que compiten, están armando un solo mapa por pedazos, y el pedazo de cada uno le sirve a los otros cuatro.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las exposiciones van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orden histórico y no por sorteo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equipo del periodo 1945–1957 abre y el de 2006–hoy cierra.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taller, la exposición y por qué las cinco líneas de tiempo se suman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Cuesta lo mismo y el grupo se lleva una narración en vez de cinco fragmentos.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docente escribe el orden en el chat antes de que empiecen.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pide cuatro hitos por periodo, no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tentación del equipo será meter diez fechas para verse completo, y el resultado es una línea de tiempo que nadie puede exponer en tres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hitos bien leídos, con su «qué sigue vivo», valen mucho más y es lo que la rúbrica premia.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Línea de tiempo del periodo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periodo por equipo, asignado en orden histórico · línea de tiempo de 4 hitos en draw.io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CUATRO HITOS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Cuatro hechos de su periodo, con año, puestos en orden en la línea de tiempo.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DOLÍA 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el problema concreto que existía antes y a quién le pasaba.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PROPUSO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cada hito: la idea, el método o la herramienta, en una frase que ustedes puedan explicar.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QUÉ SIGUE VIVO HOY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Para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al menos 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los cuatro hitos: qué parte de ese problema todavía no está resuelta, con un ejemplo de algo que ustedes hayan visto.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FUENTE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De dónde sacaron cada dato: autor o institución, y año. Si usaron una cifra («el 70 % de los proyectos…»), la fuente es obligatoria.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45 s · El periodo y qué dolía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años les tocaron y cuál era el problema de la época.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Los cuatro hitos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orden, con año. Una frase por hito, sin leer la pantalla.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Qué sigue vivo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dos hitos cuyo problema no está cerrado, con su ejemplo propio. Es lo que más pesa.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15 s · Las fuentes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 dónde salió lo que dijeron.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Investigación sobre hitos históricos — cada equipo completa la línea de tiempo del curso juntando los cinco tramos expuestos hoy, en la carpeta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Elaboración de línea de tiempo: la versión completa (los cinco periodos), con al menos un «qué sigue vivo hoy» por periodo.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3 · Fundamentos básicos de la Ingeniería de Sistemas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qué es un sistema y por qué el software es solo una parte de él. Se trabaja con un asistente de IA, y hay que declarar el prompt usado.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Traigan la línea de tiempo completa en la carpeta del equipo. En la sesión 3 se descompone un sistema del entorno y la línea de tiempo es el punto de partida.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Historia y evolución de la Ingeniería · Clase 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La disciplina nació de un fracaso de organización, no de un invento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