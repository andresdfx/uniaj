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Recorra la tabla fila por fila y pregunte en cada una si cambió algo entre 1964 y 2026. La única fila que cambia de verdad es «cuánta gente». El resto es idéntico, y esa es la idea de la clase.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Años 40 y 50: el cuello de botella es el hardware. Programar es escribir instrucciones para una máquina concreta, y el trabajo es de una persona o de unas pocas.</a:t>
            </a:r>
          </a:p>
          <a:p/>
          <a:p>
            <a:r>
              <a:t>Años 60: el hardware se abarata y crece, y aparecen sistemas que necesitan cientos de personas y años de trabajo. Ahí el cuello de botella se muda: ya no es la máquina, es coordinar el trabajo humano.</a:t>
            </a:r>
          </a:p>
          <a:p/>
          <a:p>
            <a:r>
              <a:t>El sistema de reservas SABRE, el software del programa Apollo y el sistema operativo OS/360 de IBM son los tres casos que hicieron visible el problema: se pasaron de plazo y de presupuesto de forma escandalosa.</a:t>
            </a:r>
          </a:p>
          <a:p/>
          <a:p>
            <a:r>
              <a:t>1968: la OTAN convoca una conferencia en Garmisch (Alemania) para hablar de eso y se acuña el término «ingeniería de software». El nombre es una propuesta: si construir software se parece a construir un puente, entonces necesita método, no talento individual.</a:t>
            </a:r>
          </a:p>
          <a:p/>
          <a:p>
            <a:r>
              <a:t>Ahí nace la disciplina: no de un invento, sino del reconocimiento público de que el trabajo se estaba haciendo mal y nadie sabía cómo hacerlo bien.</a:t>
            </a:r>
          </a:p>
          <a:p/>
          <a:p>
            <a:r>
              <a:t>POR QUÉ LA DISCIPLINA NACE DE UN FRACASO Y NO DE UN INVENTO</a:t>
            </a:r>
          </a:p>
          <a:p/>
          <a:p>
            <a:r>
              <a:t>Hay una diferencia grande entre contar la historia de la informática y contar la historia de la ingeniería de sistemas. La primera es una historia de máquinas: válvulas, transistores, circuitos integrados, microprocesadores. Es la que el estudiante espera y es la menos útil, porque sugiere que el progreso viene del hardware. La segunda es una historia de fracasos de organización, y es la que explica por qué existe la carrera que el estudiante está empezando.</a:t>
            </a:r>
          </a:p>
          <a:p/>
          <a:p>
            <a:r>
              <a:t>En los años cuarenta y cincuenta el cuello de botella era la máquina. Programar el ENIAC significaba reconfigurar cables físicamente; escribir en lenguaje de máquina era lento porque la máquina era lo escaso y lo caro. Fortran (1957) y COBOL (1959) atacan exactamente ese problema: permitir decirle algo a la máquina sin hablar su idioma. Hasta aquí el trabajo lo hace una persona o un puñado de personas, y el método no importa mucho porque el problema cabe en una cabeza.</a:t>
            </a:r>
          </a:p>
          <a:p/>
          <a:p>
            <a:r>
              <a:t>En los años sesenta pasa algo que cambia la naturaleza del problema: el hardware se abarata y se vuelve más capaz, y entonces se vuelven pensables sistemas que antes no lo eran. El sistema de reservas aéreas SABRE, el software de navegación del programa Apollo, el sistema operativo OS/360 de IBM. Son proyectos de cientos y hasta miles de personas y de varios años. Y fracasan de forma espectacular en plazo y en costo, no porque las máquinas fueran lentas, sino porque nadie sabía cómo coordinar a mil personas construyendo una sola cosa que nadie puede ver ni tocar. Fred Brooks, que dirigió el OS/360, escribió después el libro que explica por qué.</a:t>
            </a:r>
          </a:p>
          <a:p/>
          <a:p>
            <a:r>
              <a:t>En 1968 la OTAN convoca una conferencia en Garmisch para hablar del asunto, y ahí se populariza el término «ingeniería de software». Vale la pena detenerse en que el término era una propuesta, casi una provocación: si construir software se parece a construir un puente, entonces debería tener método, estándares, mediciones y responsabilidad profesional, en vez de depender del talento de individuos. Ese es el momento fundacional que el estudiante tiene que recordar: la disciplina no nace de una máquina nueva, nace del reconocimiento público de que se estaba trabajando 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Haga la cuenta en voz alta con el grupo antes de mostrar los números: pregunte cuántas parejas hay con 5 personas y deje que la calculen. Es aritmética de bachillerato y es lo que hace que la idea se quede.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Insista en que la cuarta pregunta es la que se califica: «Brooks dijo que agregar gente atrasa» está bien pero no muestra que lo entendieron. La cuarta obliga a conectarlo con algo que les pasó a ellos.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Y PARA QUÉ SIRVE INCOMODAR CON UNA FECHA</a:t>
            </a:r>
          </a:p>
          <a:p/>
          <a:p>
            <a:r>
              <a:t>La pregunta de apertura —«un proyecto de software se pasa del plazo y del presupuesto, ¿es un problema de 2026 o de 1968?»— está formulada para producir una respuesta equivocada. Casi todo el grupo va a decir que es de 2026, porque la intuición de un estudiante de primer semestre es que la historia de la tecnología es una escalera: cada década resuelve los problemas de la anterior. Esa intuición es la que hay que romper hoy, porque de ella se deriva una creencia más dañina: que basta con aprender la herramienta nueva.</a:t>
            </a:r>
          </a:p>
          <a:p/>
          <a:p>
            <a:r>
              <a:t>Los primeros diez minutos, mientras se conectan, sirven para recoger esas respuestas en el muro. No hay que corregir ninguna. En el minuto 25, cuando ya esté contada la conferencia de Garmisch de 1968, se vuelve al muro y se lee en voz alta lo que escribieron. El contraste hace el trabajo solo: el problema que el grupo cree contemporáneo tiene casi sesenta años y un nombre propio.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LA DISCIPLINA NACE DE UN FRACASO Y NO DE UN INVENTO</a:t>
            </a:r>
          </a:p>
          <a:p/>
          <a:p>
            <a:r>
              <a:t>Hay una diferencia grande entre contar la historia de la informática y contar la historia de la ingeniería de sistemas. La primera es una historia de máquinas: válvulas, transistores, circuitos integrados, microprocesadores. Es la que el estudiante espera y es la menos útil, porque sugiere que el progreso viene del hardware. La segunda es una historia de fracasos de organización, y es la que explica por qué existe la carrera que el estudiante está empezando.</a:t>
            </a:r>
          </a:p>
          <a:p/>
          <a:p>
            <a:r>
              <a:t>En los años cuarenta y cincuenta el cuello de botella era la máquina. Programar el ENIAC significaba reconfigurar cables físicamente; escribir en lenguaje de máquina era lento porque la máquina era lo escaso y lo caro. Fortran (1957) y COBOL (1959) atacan exactamente ese problema: permitir decirle algo a la máquina sin hablar su idioma. Hasta aquí el trabajo lo hace una persona o un puñado de personas, y el método no importa mucho porque el problema cabe en una cabeza.</a:t>
            </a:r>
          </a:p>
          <a:p/>
          <a:p>
            <a:r>
              <a:t>En los años sesenta pasa algo que cambia la naturaleza del problema: el hardware se abarata y se vuelve más capaz, y entonces se vuelven pensables sistemas que antes no lo eran. El sistema de reservas aéreas SABRE, el software de navegación del programa Apollo, el sistema operativo OS/360 de IBM. Son proyectos de cientos y hasta miles de personas y de varios años. Y fracasan de forma espectacular en plazo y en costo, no porque las máquinas fueran lentas, sino porque nadie sabía cómo coordinar a mil personas construyendo una sola cosa que nadie puede ver ni tocar. Fred Brooks, que dirigió el OS/360, escribió después el libro que explica por qué.</a:t>
            </a:r>
          </a:p>
          <a:p/>
          <a:p>
            <a:r>
              <a:t>En 1968 la OTAN convoca una conferencia en Garmisch para hablar del asunto, y ahí se populariza el término «ingeniería de software». Vale la pena detenerse en que el término era una propuesta, casi una provocación: si construir software se parece a construir un puente, entonces debería tener método, estándares, mediciones y responsabilidad profesional, en vez de depender del talento de individuos. Ese es el momento fundacional que el estudiante tiene que recordar: la disciplina no nace de una máquina nueva, nace del reconocimiento público de que se estaba trabajando mal.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SEIS HITOS: QUÉ DECIR DE CADA UNO EN DOS MINUTOS</a:t>
            </a:r>
          </a:p>
          <a:p/>
          <a:p>
            <a:r>
              <a:t>La tarjeta de 1945–1957 se cuenta rápido: arquitectura de von Neumann (programa y datos en la misma memoria, que es la razón por la que un computador puede cargar cualquier programa) y los primeros lenguajes de alto nivel. El punto no es memorizar nombres, es entender que el problema de la época era traducir.</a:t>
            </a:r>
          </a:p>
          <a:p/>
          <a:p>
            <a:r>
              <a:t>1968 es el hito central de la clase y merece la mitad del tiempo. Se cuenta como está arriba: los tres proyectos que fracasaron, la conferencia, el término. Si el docente solo alcanza a contar un hito bien, que sea este.</a:t>
            </a:r>
          </a:p>
          <a:p/>
          <a:p>
            <a:r>
              <a:t>1970 es Winston Royce y el esquema que el mundo llamó «cascada». Aquí hay que ser preciso porque es el error histórico más repetido en las clases de ingeniería: Royce dibujó el esquema lineal para decir que así no se debe hacer, y propuso hacerlo dos veces, con prototipo y retroalimentación. La industria se quedó con el dibujo y tiró la advertencia. La lección para el estudiante es doble: sobre el ciclo de vida (que se ve en la sesión 7) y sobre cómo se deforman las ideas cuando se citan de segunda mano.</a:t>
            </a:r>
          </a:p>
          <a:p/>
          <a:p>
            <a:r>
              <a:t>1975 es Brooks y «The Mythical Man-Month». La idea que hay que dejar es sorprendente y utilísima para un curso donde se trabaja en equipos de cinco: agregar gente a un proyecto atrasado lo atrasa más, porque los canales de comunicación crecen mucho más rápido que las personas. Con 5 personas hay 10 parejas que se tienen que entender; con 10 personas hay 45. Es un dato verificable con una fórmula de bachillerato y explica por qué en este curso los equipos son de cinco y no de diez.</a:t>
            </a:r>
          </a:p>
          <a:p/>
          <a:p>
            <a:r>
              <a:t>1991–2001 junta software libre (Linux, y con él la idea de que miles de personas que no se conocen pueden construir algo serio si el proceso es público) y el Manifiesto Ágil de 2001. El problema que atacan es el mismo: los requisitos cambian mientras se construye, y un plan de dos años escrito el primer día es una obra de ficción. Ágil no elimina las fases, cambia su tamaño.</a:t>
            </a:r>
          </a:p>
          <a:p/>
          <a:p>
            <a:r>
              <a:t>2006 en adelante es la nube y los datos. Aquí el problema muda otra vez y es importante que el estudiante lo note, porque es el problema de su generación: cuando alquilar mil servidores por hora cuesta poco y una biblioteca de IA se instala en un comando, la pregunta técnica «¿se puede construir?» deja de ser la difícil. La difícil es «¿se debe construir, a quién afecta y quién responde?». Esa pregunta es el hilo de las Clases 4, 5 y 13.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DE LECTURA DE UN HITO Y POR QUÉ LA CUARTA PREGUNTA ES LA QUE SE CALIFICA</a:t>
            </a:r>
          </a:p>
          <a:p/>
          <a:p>
            <a:r>
              <a:t>Las cuatro preguntas (qué dolía, qué propuso, qué resolvió, qué sigue vivo) son el método de trabajo del taller y conviene dictarlas como método, no como curiosidad. Las tres primeras se pueden buscar; la cuarta exige pensar, y por eso es la que más pesa en la rúbrica. Un equipo puede escribir «1975: Brooks dijo que agregar gente atrasa el proyecto» y estar en lo correcto sin haber entendido nada. La cuarta pregunta obliga a decir algo como «sigue vivo porque cuando nuestro equipo se atrasó en el taller de la sesión anterior, la reacción natural fue pedir ayuda a otro equipo, y eso nos costó veinte minutos de explicar el contexto».</a:t>
            </a:r>
          </a:p>
          <a:p/>
          <a:p>
            <a:r>
              <a:t>Las tres aclaraciones de la última diapositiva de teoría hay que decirlas en voz alta aunque parezcan detalles, porque son las tres cosas que el estudiante va a encontrar mal contadas en el primer video o resumen que busque en internet. Advertirlas hoy le da una herramienta que sirve para todo el curso: cuando una fuente cuenta una idea histórica sin decir quién la dijo y contra qué discutía, conviene desconfiar.</a:t>
            </a:r>
          </a:p>
          <a:p/>
          <a:p>
            <a:r>
              <a:t>Sobre la tercera aclaración conviene ser honesto en el aula y no inflarla. Los informes de la industria sobre fracaso de proyectos usan definiciones distintas de «fracaso» y sus cifras varían mucho entre ediciones y entre fuentes. Lo que sí se puede afirmar sin exagerar es que el fracaso por plazo, costo y alcance sigue siendo un problema reportado sistemáticamente, y que ninguna metodología ha declarado el problema cerrado. Si un equipo trae una cifra de internet, se le pide la fuente y el año: es el primer ejercicio de rigor bibliográfico del curso.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DE LECTURA DE UN HITO Y POR QUÉ LA CUARTA PREGUNTA ES LA QUE SE CALIFICA</a:t>
            </a:r>
          </a:p>
          <a:p/>
          <a:p>
            <a:r>
              <a:t>Las cuatro preguntas (qué dolía, qué propuso, qué resolvió, qué sigue vivo) son el método de trabajo del taller y conviene dictarlas como método, no como curiosidad. Las tres primeras se pueden buscar; la cuarta exige pensar, y por eso es la que más pesa en la rúbrica. Un equipo puede escribir «1975: Brooks dijo que agregar gente atrasa el proyecto» y estar en lo correcto sin haber entendido nada. La cuarta pregunta obliga a decir algo como «sigue vivo porque cuando nuestro equipo se atrasó en el taller de la sesión anterior, la reacción natural fue pedir ayuda a otro equipo, y eso nos costó veinte minutos de explicar el contexto».</a:t>
            </a:r>
          </a:p>
          <a:p/>
          <a:p>
            <a:r>
              <a:t>Las tres aclaraciones de la última diapositiva de teoría hay que decirlas en voz alta aunque parezcan detalles, porque son las tres cosas que el estudiante va a encontrar mal contadas en el primer video o resumen que busque en internet. Advertirlas hoy le da una herramienta que sirve para todo el curso: cuando una fuente cuenta una idea histórica sin decir quién la dijo y contra qué discutía, conviene desconfiar.</a:t>
            </a:r>
          </a:p>
          <a:p/>
          <a:p>
            <a:r>
              <a:t>Sobre la tercera aclaración conviene ser honesto en el aula y no inflarla. Los informes de la industria sobre fracaso de proyectos usan definiciones distintas de «fracaso» y sus cifras varían mucho entre ediciones y entre fuentes. Lo que sí se puede afirmar sin exagerar es que el fracaso por plazo, costo y alcance sigue siendo un problema reportado sistemáticamente, y que ninguna metodología ha declarado el problema cerrado. Si un equipo trae una cifra de internet, se le pide la fuente y el año: es el primer ejercicio de rigor bibliográfico del curso.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2</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Historia y evolución de la Ingeniería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Por qué los problemas de 1968 siguen siendo los suyos</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mientras se conectan</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 seis hitos y el problema que resolvía cada uno</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Una idea, la tarea y los enlaces en el chat</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Ubicar </a:t>
            </a:r>
            <a:r>
              <a:rPr sz="2000" b="1" i="0">
                <a:solidFill>
                  <a:srgbClr val="333333"/>
                </a:solidFill>
                <a:latin typeface="Calibri"/>
              </a:rPr>
              <a:t>seis hitos</a:t>
            </a:r>
            <a:r>
              <a:rPr sz="2000" b="0" i="0">
                <a:solidFill>
                  <a:srgbClr val="333333"/>
                </a:solidFill>
                <a:latin typeface="Calibri"/>
              </a:rPr>
              <a:t> de la historia de la disciplina y decir qué problema resolvía cada uno.</a:t>
            </a:r>
          </a:p>
          <a:p>
            <a:pPr>
              <a:spcAft>
                <a:spcPts val="800"/>
              </a:spcAft>
            </a:pPr>
            <a:r>
              <a:rPr sz="2000" b="0" i="0">
                <a:solidFill>
                  <a:srgbClr val="333333"/>
                </a:solidFill>
                <a:latin typeface="Calibri"/>
              </a:rPr>
              <a:t>–   Explicar por qué la ingeniería de sistemas </a:t>
            </a:r>
            <a:r>
              <a:rPr sz="2000" b="1" i="0">
                <a:solidFill>
                  <a:srgbClr val="333333"/>
                </a:solidFill>
                <a:latin typeface="Calibri"/>
              </a:rPr>
              <a:t>nace como respuesta a un fracaso</a:t>
            </a:r>
            <a:r>
              <a:rPr sz="2000" b="0" i="0">
                <a:solidFill>
                  <a:srgbClr val="333333"/>
                </a:solidFill>
                <a:latin typeface="Calibri"/>
              </a:rPr>
              <a:t>, no a un avance técnico.</a:t>
            </a:r>
          </a:p>
          <a:p>
            <a:pPr>
              <a:spcAft>
                <a:spcPts val="800"/>
              </a:spcAft>
            </a:pPr>
            <a:r>
              <a:rPr sz="2000" b="0" i="0">
                <a:solidFill>
                  <a:srgbClr val="333333"/>
                </a:solidFill>
                <a:latin typeface="Calibri"/>
              </a:rPr>
              <a:t>–   Construir una </a:t>
            </a:r>
            <a:r>
              <a:rPr sz="2000" b="1" i="0">
                <a:solidFill>
                  <a:srgbClr val="333333"/>
                </a:solidFill>
                <a:latin typeface="Calibri"/>
              </a:rPr>
              <a:t>línea de tiempo</a:t>
            </a:r>
            <a:r>
              <a:rPr sz="2000" b="0" i="0">
                <a:solidFill>
                  <a:srgbClr val="333333"/>
                </a:solidFill>
                <a:latin typeface="Calibri"/>
              </a:rPr>
              <a:t> en una herramienta de diagramación en la nube.</a:t>
            </a:r>
          </a:p>
          <a:p>
            <a:pPr>
              <a:spcAft>
                <a:spcPts val="800"/>
              </a:spcAft>
            </a:pPr>
            <a:r>
              <a:rPr sz="2000" b="0" i="0">
                <a:solidFill>
                  <a:srgbClr val="333333"/>
                </a:solidFill>
                <a:latin typeface="Calibri"/>
              </a:rPr>
              <a:t>–   Identificar, para un hito, </a:t>
            </a:r>
            <a:r>
              <a:rPr sz="2000" b="1" i="0">
                <a:solidFill>
                  <a:srgbClr val="333333"/>
                </a:solidFill>
                <a:latin typeface="Calibri"/>
              </a:rPr>
              <a:t>qué parte de ese problema sigue vivo hoy</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Un proyecto de software se pasa del plazo y del presupuesto. ¿Es un problema de 2026 o de 1968?</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La respuesta honesta es: exactamente el mismo, y con las mismas causas.</a:t>
            </a:r>
          </a:p>
          <a:p>
            <a:pPr algn="ctr">
              <a:spcAft>
                <a:spcPts val="600"/>
              </a:spcAft>
            </a:pPr>
            <a:r>
              <a:rPr sz="1500" b="0" i="0">
                <a:solidFill>
                  <a:srgbClr val="269CCB"/>
                </a:solidFill>
                <a:latin typeface="Calibri"/>
              </a:rPr>
              <a:t>Hoy vamos a ver de dónde salieron esas causas y por qué nadie las ha eliminado.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Cómo se cuenta la historia y cómo fue</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Lo que se suele contar</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«Todo empezó con los computadores».</a:t>
            </a:r>
          </a:p>
          <a:p>
            <a:pPr>
              <a:spcAft>
                <a:spcPts val="800"/>
              </a:spcAft>
            </a:pPr>
            <a:r>
              <a:rPr sz="1500" b="0" i="0">
                <a:solidFill>
                  <a:srgbClr val="333333"/>
                </a:solidFill>
                <a:latin typeface="Calibri"/>
              </a:rPr>
              <a:t>–   «Cada década llegó una tecnología mejor».</a:t>
            </a:r>
          </a:p>
          <a:p>
            <a:pPr>
              <a:spcAft>
                <a:spcPts val="800"/>
              </a:spcAft>
            </a:pPr>
            <a:r>
              <a:rPr sz="1500" b="0" i="0">
                <a:solidFill>
                  <a:srgbClr val="333333"/>
                </a:solidFill>
                <a:latin typeface="Calibri"/>
              </a:rPr>
              <a:t>–   «Antes era difícil porque las máquinas eran lentas».</a:t>
            </a:r>
          </a:p>
          <a:p>
            <a:pPr>
              <a:spcAft>
                <a:spcPts val="800"/>
              </a:spcAft>
            </a:pPr>
            <a:r>
              <a:rPr sz="1500" b="0" i="0">
                <a:solidFill>
                  <a:srgbClr val="333333"/>
                </a:solidFill>
                <a:latin typeface="Calibri"/>
              </a:rPr>
              <a:t>–   «Los métodos de trabajo son un invento reciente».</a:t>
            </a:r>
          </a:p>
          <a:p>
            <a:pPr>
              <a:spcAft>
                <a:spcPts val="800"/>
              </a:spcAft>
            </a:pPr>
            <a:r>
              <a:rPr sz="1500" b="0" i="0">
                <a:solidFill>
                  <a:srgbClr val="333333"/>
                </a:solidFill>
                <a:latin typeface="Calibri"/>
              </a:rPr>
              <a:t>–   «Los problemas viejos ya se resolvieron».</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Lo que muestran los hechos</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Empezó con </a:t>
            </a:r>
            <a:r>
              <a:rPr sz="1500" b="1" i="0">
                <a:solidFill>
                  <a:srgbClr val="333333"/>
                </a:solidFill>
                <a:latin typeface="Calibri"/>
              </a:rPr>
              <a:t>proyectos que fracasaron</a:t>
            </a:r>
            <a:r>
              <a:rPr sz="1500" b="0" i="0">
                <a:solidFill>
                  <a:srgbClr val="333333"/>
                </a:solidFill>
                <a:latin typeface="Calibri"/>
              </a:rPr>
              <a:t> siendo la máquina lo de menos.</a:t>
            </a:r>
          </a:p>
          <a:p>
            <a:pPr>
              <a:spcAft>
                <a:spcPts val="800"/>
              </a:spcAft>
            </a:pPr>
            <a:r>
              <a:rPr sz="1500" b="0" i="0">
                <a:solidFill>
                  <a:srgbClr val="333333"/>
                </a:solidFill>
                <a:latin typeface="Calibri"/>
              </a:rPr>
              <a:t>–   Cada década llegó </a:t>
            </a:r>
            <a:r>
              <a:rPr sz="1500" b="1" i="0">
                <a:solidFill>
                  <a:srgbClr val="333333"/>
                </a:solidFill>
                <a:latin typeface="Calibri"/>
              </a:rPr>
              <a:t>un problema nuevo de escala</a:t>
            </a:r>
            <a:r>
              <a:rPr sz="1500" b="0" i="0">
                <a:solidFill>
                  <a:srgbClr val="333333"/>
                </a:solidFill>
                <a:latin typeface="Calibri"/>
              </a:rPr>
              <a:t>, no un juguete nuevo.</a:t>
            </a:r>
          </a:p>
          <a:p>
            <a:pPr>
              <a:spcAft>
                <a:spcPts val="800"/>
              </a:spcAft>
            </a:pPr>
            <a:r>
              <a:rPr sz="1500" b="0" i="0">
                <a:solidFill>
                  <a:srgbClr val="333333"/>
                </a:solidFill>
                <a:latin typeface="Calibri"/>
              </a:rPr>
              <a:t>–   Era difícil porque </a:t>
            </a:r>
            <a:r>
              <a:rPr sz="1500" b="1" i="0">
                <a:solidFill>
                  <a:srgbClr val="333333"/>
                </a:solidFill>
                <a:latin typeface="Calibri"/>
              </a:rPr>
              <a:t>nadie sabía cómo organizar el trabajo de 100 personas</a:t>
            </a:r>
            <a:r>
              <a:rPr sz="1500" b="0" i="0">
                <a:solidFill>
                  <a:srgbClr val="333333"/>
                </a:solidFill>
                <a:latin typeface="Calibri"/>
              </a:rPr>
              <a:t>.</a:t>
            </a:r>
          </a:p>
          <a:p>
            <a:pPr>
              <a:spcAft>
                <a:spcPts val="800"/>
              </a:spcAft>
            </a:pPr>
            <a:r>
              <a:rPr sz="1500" b="0" i="0">
                <a:solidFill>
                  <a:srgbClr val="333333"/>
                </a:solidFill>
                <a:latin typeface="Calibri"/>
              </a:rPr>
              <a:t>–   El primer método formal es de </a:t>
            </a:r>
            <a:r>
              <a:rPr sz="1500" b="1" i="0">
                <a:solidFill>
                  <a:srgbClr val="333333"/>
                </a:solidFill>
                <a:latin typeface="Calibri"/>
              </a:rPr>
              <a:t>1970</a:t>
            </a:r>
            <a:r>
              <a:rPr sz="1500" b="0" i="0">
                <a:solidFill>
                  <a:srgbClr val="333333"/>
                </a:solidFill>
                <a:latin typeface="Calibri"/>
              </a:rPr>
              <a:t>, y nació de un artículo crítico.</a:t>
            </a:r>
          </a:p>
          <a:p>
            <a:pPr>
              <a:spcAft>
                <a:spcPts val="800"/>
              </a:spcAft>
            </a:pPr>
            <a:r>
              <a:rPr sz="1500" b="0" i="0">
                <a:solidFill>
                  <a:srgbClr val="333333"/>
                </a:solidFill>
                <a:latin typeface="Calibri"/>
              </a:rPr>
              <a:t>–   Los problemas viejos </a:t>
            </a:r>
            <a:r>
              <a:rPr sz="1500" b="1" i="0">
                <a:solidFill>
                  <a:srgbClr val="333333"/>
                </a:solidFill>
                <a:latin typeface="Calibri"/>
              </a:rPr>
              <a:t>siguen abiertos</a:t>
            </a:r>
            <a:r>
              <a:rPr sz="1500" b="0" i="0">
                <a:solidFill>
                  <a:srgbClr val="333333"/>
                </a:solidFill>
                <a:latin typeface="Calibri"/>
              </a:rPr>
              <a:t>: plazo, costo y requisitos que cambian.</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el mismo proyecto atrasado, en 1964 y en 2026</a:t>
            </a:r>
          </a:p>
        </p:txBody>
      </p:sp>
      <p:graphicFrame>
        <p:nvGraphicFramePr>
          <p:cNvPr id="5" name="Table 4"/>
          <p:cNvGraphicFramePr>
            <a:graphicFrameLocks noGrp="1"/>
          </p:cNvGraphicFramePr>
          <p:nvPr/>
        </p:nvGraphicFramePr>
        <p:xfrm>
          <a:off x="457200" y="1216152"/>
          <a:ext cx="11277294" cy="2304288"/>
        </p:xfrm>
        <a:graphic>
          <a:graphicData uri="http://schemas.openxmlformats.org/drawingml/2006/table">
            <a:tbl>
              <a:tblPr firstRow="1" bandRow="1">
                <a:tableStyleId>{5C22544A-7EE6-4342-B048-85BDC9FD1C3A}</a:tableStyleId>
              </a:tblPr>
              <a:tblGrid>
                <a:gridCol w="3759098"/>
                <a:gridCol w="3759098"/>
                <a:gridCol w="3759098"/>
              </a:tblGrid>
              <a:tr h="384048">
                <a:tc>
                  <a:txBody>
                    <a:bodyPr/>
                    <a:lstStyle/>
                    <a:p>
                      <a:r>
                        <a:rPr sz="1200" b="1" i="0">
                          <a:solidFill>
                            <a:srgbClr val="FFFFFF"/>
                          </a:solidFill>
                          <a:latin typeface="Calibri"/>
                        </a:rPr>
                        <a:t/>
                      </a:r>
                    </a:p>
                  </a:txBody>
                  <a:tcPr>
                    <a:solidFill>
                      <a:srgbClr val="095292"/>
                    </a:solidFill>
                  </a:tcPr>
                </a:tc>
                <a:tc>
                  <a:txBody>
                    <a:bodyPr/>
                    <a:lstStyle/>
                    <a:p>
                      <a:r>
                        <a:rPr sz="1200" b="1" i="0">
                          <a:solidFill>
                            <a:srgbClr val="FFFFFF"/>
                          </a:solidFill>
                          <a:latin typeface="Calibri"/>
                        </a:rPr>
                        <a:t>OS/360 de IBM (1964)</a:t>
                      </a:r>
                    </a:p>
                  </a:txBody>
                  <a:tcPr>
                    <a:solidFill>
                      <a:srgbClr val="095292"/>
                    </a:solidFill>
                  </a:tcPr>
                </a:tc>
                <a:tc>
                  <a:txBody>
                    <a:bodyPr/>
                    <a:lstStyle/>
                    <a:p>
                      <a:r>
                        <a:rPr sz="1200" b="1" i="0">
                          <a:solidFill>
                            <a:srgbClr val="FFFFFF"/>
                          </a:solidFill>
                          <a:latin typeface="Calibri"/>
                        </a:rPr>
                        <a:t>Una app de hoy (2026)</a:t>
                      </a:r>
                    </a:p>
                  </a:txBody>
                  <a:tcPr>
                    <a:solidFill>
                      <a:srgbClr val="095292"/>
                    </a:solidFill>
                  </a:tcPr>
                </a:tc>
              </a:tr>
              <a:tr h="384048">
                <a:tc>
                  <a:txBody>
                    <a:bodyPr/>
                    <a:lstStyle/>
                    <a:p>
                      <a:r>
                        <a:rPr sz="1200" b="0" i="0">
                          <a:solidFill>
                            <a:srgbClr val="333333"/>
                          </a:solidFill>
                          <a:latin typeface="Calibri"/>
                        </a:rPr>
                        <a:t>Qué se quería</a:t>
                      </a:r>
                    </a:p>
                  </a:txBody>
                  <a:tcPr>
                    <a:solidFill>
                      <a:srgbClr val="FFFFFF"/>
                    </a:solidFill>
                  </a:tcPr>
                </a:tc>
                <a:tc>
                  <a:txBody>
                    <a:bodyPr/>
                    <a:lstStyle/>
                    <a:p>
                      <a:r>
                        <a:rPr sz="1200" b="0" i="0">
                          <a:solidFill>
                            <a:srgbClr val="333333"/>
                          </a:solidFill>
                          <a:latin typeface="Calibri"/>
                        </a:rPr>
                        <a:t>Un sistema operativo para toda una familia de computadores</a:t>
                      </a:r>
                    </a:p>
                  </a:txBody>
                  <a:tcPr>
                    <a:solidFill>
                      <a:srgbClr val="FFFFFF"/>
                    </a:solidFill>
                  </a:tcPr>
                </a:tc>
                <a:tc>
                  <a:txBody>
                    <a:bodyPr/>
                    <a:lstStyle/>
                    <a:p>
                      <a:r>
                        <a:rPr sz="1200" b="0" i="0">
                          <a:solidFill>
                            <a:srgbClr val="333333"/>
                          </a:solidFill>
                          <a:latin typeface="Calibri"/>
                        </a:rPr>
                        <a:t>Una app de pedidos para una cadena de tiendas</a:t>
                      </a:r>
                    </a:p>
                  </a:txBody>
                  <a:tcPr>
                    <a:solidFill>
                      <a:srgbClr val="FFFFFF"/>
                    </a:solidFill>
                  </a:tcPr>
                </a:tc>
              </a:tr>
              <a:tr h="384048">
                <a:tc>
                  <a:txBody>
                    <a:bodyPr/>
                    <a:lstStyle/>
                    <a:p>
                      <a:r>
                        <a:rPr sz="1200" b="0" i="0">
                          <a:solidFill>
                            <a:srgbClr val="333333"/>
                          </a:solidFill>
                          <a:latin typeface="Calibri"/>
                        </a:rPr>
                        <a:t>Cuánta gente</a:t>
                      </a:r>
                    </a:p>
                  </a:txBody>
                  <a:tcPr>
                    <a:solidFill>
                      <a:srgbClr val="F2F2F2"/>
                    </a:solidFill>
                  </a:tcPr>
                </a:tc>
                <a:tc>
                  <a:txBody>
                    <a:bodyPr/>
                    <a:lstStyle/>
                    <a:p>
                      <a:r>
                        <a:rPr sz="1200" b="0" i="0">
                          <a:solidFill>
                            <a:srgbClr val="333333"/>
                          </a:solidFill>
                          <a:latin typeface="Calibri"/>
                        </a:rPr>
                        <a:t>Más de 1.000 personas</a:t>
                      </a:r>
                    </a:p>
                  </a:txBody>
                  <a:tcPr>
                    <a:solidFill>
                      <a:srgbClr val="F2F2F2"/>
                    </a:solidFill>
                  </a:tcPr>
                </a:tc>
                <a:tc>
                  <a:txBody>
                    <a:bodyPr/>
                    <a:lstStyle/>
                    <a:p>
                      <a:r>
                        <a:rPr sz="1200" b="0" i="0">
                          <a:solidFill>
                            <a:srgbClr val="333333"/>
                          </a:solidFill>
                          <a:latin typeface="Calibri"/>
                        </a:rPr>
                        <a:t>15 personas en tres equipos</a:t>
                      </a:r>
                    </a:p>
                  </a:txBody>
                  <a:tcPr>
                    <a:solidFill>
                      <a:srgbClr val="F2F2F2"/>
                    </a:solidFill>
                  </a:tcPr>
                </a:tc>
              </a:tr>
              <a:tr h="384048">
                <a:tc>
                  <a:txBody>
                    <a:bodyPr/>
                    <a:lstStyle/>
                    <a:p>
                      <a:r>
                        <a:rPr sz="1200" b="0" i="0">
                          <a:solidFill>
                            <a:srgbClr val="333333"/>
                          </a:solidFill>
                          <a:latin typeface="Calibri"/>
                        </a:rPr>
                        <a:t>Qué pasó</a:t>
                      </a:r>
                    </a:p>
                  </a:txBody>
                  <a:tcPr>
                    <a:solidFill>
                      <a:srgbClr val="FFFFFF"/>
                    </a:solidFill>
                  </a:tcPr>
                </a:tc>
                <a:tc>
                  <a:txBody>
                    <a:bodyPr/>
                    <a:lstStyle/>
                    <a:p>
                      <a:r>
                        <a:rPr sz="1200" b="0" i="0">
                          <a:solidFill>
                            <a:srgbClr val="333333"/>
                          </a:solidFill>
                          <a:latin typeface="Calibri"/>
                        </a:rPr>
                        <a:t>Se entregó tarde y costó mucho más de lo planeado</a:t>
                      </a:r>
                    </a:p>
                  </a:txBody>
                  <a:tcPr>
                    <a:solidFill>
                      <a:srgbClr val="FFFFFF"/>
                    </a:solidFill>
                  </a:tcPr>
                </a:tc>
                <a:tc>
                  <a:txBody>
                    <a:bodyPr/>
                    <a:lstStyle/>
                    <a:p>
                      <a:r>
                        <a:rPr sz="1200" b="0" i="0">
                          <a:solidFill>
                            <a:srgbClr val="333333"/>
                          </a:solidFill>
                          <a:latin typeface="Calibri"/>
                        </a:rPr>
                        <a:t>Se entregó tarde y costó más de lo planeado</a:t>
                      </a:r>
                    </a:p>
                  </a:txBody>
                  <a:tcPr>
                    <a:solidFill>
                      <a:srgbClr val="FFFFFF"/>
                    </a:solidFill>
                  </a:tcPr>
                </a:tc>
              </a:tr>
              <a:tr h="384048">
                <a:tc>
                  <a:txBody>
                    <a:bodyPr/>
                    <a:lstStyle/>
                    <a:p>
                      <a:r>
                        <a:rPr sz="1200" b="0" i="0">
                          <a:solidFill>
                            <a:srgbClr val="333333"/>
                          </a:solidFill>
                          <a:latin typeface="Calibri"/>
                        </a:rPr>
                        <a:t>Por qué</a:t>
                      </a:r>
                    </a:p>
                  </a:txBody>
                  <a:tcPr>
                    <a:solidFill>
                      <a:srgbClr val="F2F2F2"/>
                    </a:solidFill>
                  </a:tcPr>
                </a:tc>
                <a:tc>
                  <a:txBody>
                    <a:bodyPr/>
                    <a:lstStyle/>
                    <a:p>
                      <a:r>
                        <a:rPr sz="1200" b="0" i="0">
                          <a:solidFill>
                            <a:srgbClr val="333333"/>
                          </a:solidFill>
                          <a:latin typeface="Calibri"/>
                        </a:rPr>
                        <a:t>Nadie sabía coordinar a tanta gente construyendo una sola cosa</a:t>
                      </a:r>
                    </a:p>
                  </a:txBody>
                  <a:tcPr>
                    <a:solidFill>
                      <a:srgbClr val="F2F2F2"/>
                    </a:solidFill>
                  </a:tcPr>
                </a:tc>
                <a:tc>
                  <a:txBody>
                    <a:bodyPr/>
                    <a:lstStyle/>
                    <a:p>
                      <a:r>
                        <a:rPr sz="1200" b="0" i="0">
                          <a:solidFill>
                            <a:srgbClr val="333333"/>
                          </a:solidFill>
                          <a:latin typeface="Calibri"/>
                        </a:rPr>
                        <a:t>Los requisitos cambiaron a mitad de camino</a:t>
                      </a:r>
                    </a:p>
                  </a:txBody>
                  <a:tcPr>
                    <a:solidFill>
                      <a:srgbClr val="F2F2F2"/>
                    </a:solidFill>
                  </a:tcPr>
                </a:tc>
              </a:tr>
              <a:tr h="384048">
                <a:tc>
                  <a:txBody>
                    <a:bodyPr/>
                    <a:lstStyle/>
                    <a:p>
                      <a:r>
                        <a:rPr sz="1200" b="0" i="0">
                          <a:solidFill>
                            <a:srgbClr val="333333"/>
                          </a:solidFill>
                          <a:latin typeface="Calibri"/>
                        </a:rPr>
                        <a:t>¿Era culpa de la máquina?</a:t>
                      </a:r>
                    </a:p>
                  </a:txBody>
                  <a:tcPr>
                    <a:solidFill>
                      <a:srgbClr val="FFFFFF"/>
                    </a:solidFill>
                  </a:tcPr>
                </a:tc>
                <a:tc>
                  <a:txBody>
                    <a:bodyPr/>
                    <a:lstStyle/>
                    <a:p>
                      <a:r>
                        <a:rPr sz="1200" b="0" i="0">
                          <a:solidFill>
                            <a:srgbClr val="333333"/>
                          </a:solidFill>
                          <a:latin typeface="Calibri"/>
                        </a:rPr>
                        <a:t>No</a:t>
                      </a:r>
                    </a:p>
                  </a:txBody>
                  <a:tcPr>
                    <a:solidFill>
                      <a:srgbClr val="FFFFFF"/>
                    </a:solidFill>
                  </a:tcPr>
                </a:tc>
                <a:tc>
                  <a:txBody>
                    <a:bodyPr/>
                    <a:lstStyle/>
                    <a:p>
                      <a:r>
                        <a:rPr sz="1200" b="0" i="0">
                          <a:solidFill>
                            <a:srgbClr val="333333"/>
                          </a:solidFill>
                          <a:latin typeface="Calibri"/>
                        </a:rPr>
                        <a:t>No</a:t>
                      </a:r>
                    </a:p>
                  </a:txBody>
                  <a:tcPr>
                    <a:solidFill>
                      <a:srgbClr val="FFFFFF"/>
                    </a:solidFill>
                  </a:tcPr>
                </a:tc>
              </a:tr>
            </a:tbl>
          </a:graphicData>
        </a:graphic>
      </p:graphicFrame>
      <p:sp>
        <p:nvSpPr>
          <p:cNvPr id="6" name="TextBox 5"/>
          <p:cNvSpPr txBox="1"/>
          <p:nvPr/>
        </p:nvSpPr>
        <p:spPr>
          <a:xfrm>
            <a:off x="457200" y="4297680"/>
            <a:ext cx="11277295" cy="457200"/>
          </a:xfrm>
          <a:prstGeom prst="rect">
            <a:avLst/>
          </a:prstGeom>
          <a:noFill/>
        </p:spPr>
        <p:txBody>
          <a:bodyPr wrap="square">
            <a:spAutoFit/>
          </a:bodyPr>
          <a:lstStyle/>
          <a:p>
            <a:r>
              <a:rPr sz="1100" b="0" i="1">
                <a:solidFill>
                  <a:srgbClr val="666666"/>
                </a:solidFill>
                <a:latin typeface="Calibri"/>
              </a:rPr>
              <a:t>Sesenta años de diferencia y el mismo síntoma: el problema nunca fue la máquina, fue organizar el trabajo.</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Cuándo el problema dejó de ser la máquina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cuello-botella-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Años 40 y 50:</a:t>
            </a:r>
            <a:r>
              <a:rPr sz="2000" b="0" i="0">
                <a:solidFill>
                  <a:srgbClr val="333333"/>
                </a:solidFill>
                <a:latin typeface="Calibri"/>
              </a:rPr>
              <a:t> el cuello de botella es el </a:t>
            </a:r>
            <a:r>
              <a:rPr sz="2000" b="1" i="0">
                <a:solidFill>
                  <a:srgbClr val="333333"/>
                </a:solidFill>
                <a:latin typeface="Calibri"/>
              </a:rPr>
              <a:t>hardware</a:t>
            </a:r>
            <a:r>
              <a:rPr sz="2000" b="0" i="0">
                <a:solidFill>
                  <a:srgbClr val="333333"/>
                </a:solidFill>
                <a:latin typeface="Calibri"/>
              </a:rPr>
              <a:t>.</a:t>
            </a:r>
          </a:p>
          <a:p>
            <a:pPr>
              <a:spcAft>
                <a:spcPts val="800"/>
              </a:spcAft>
            </a:pPr>
            <a:r>
              <a:rPr sz="2000" b="0" i="0">
                <a:solidFill>
                  <a:srgbClr val="333333"/>
                </a:solidFill>
                <a:latin typeface="Calibri"/>
              </a:rPr>
              <a:t>–   </a:t>
            </a:r>
            <a:r>
              <a:rPr sz="2000" b="1" i="0">
                <a:solidFill>
                  <a:srgbClr val="333333"/>
                </a:solidFill>
                <a:latin typeface="Calibri"/>
              </a:rPr>
              <a:t>Años 60:</a:t>
            </a:r>
            <a:r>
              <a:rPr sz="2000" b="0" i="0">
                <a:solidFill>
                  <a:srgbClr val="333333"/>
                </a:solidFill>
                <a:latin typeface="Calibri"/>
              </a:rPr>
              <a:t> el hardware se abarata y crece, y aparecen sistemas que necesitan </a:t>
            </a:r>
            <a:r>
              <a:rPr sz="2000" b="1" i="0">
                <a:solidFill>
                  <a:srgbClr val="333333"/>
                </a:solidFill>
                <a:latin typeface="Calibri"/>
              </a:rPr>
              <a:t>cientos de personas y años de trabajo</a:t>
            </a:r>
            <a:r>
              <a:rPr sz="2000" b="0" i="0">
                <a:solidFill>
                  <a:srgbClr val="333333"/>
                </a:solidFill>
                <a:latin typeface="Calibri"/>
              </a:rPr>
              <a:t>.</a:t>
            </a:r>
          </a:p>
          <a:p>
            <a:pPr>
              <a:spcAft>
                <a:spcPts val="800"/>
              </a:spcAft>
            </a:pPr>
            <a:r>
              <a:rPr sz="2000" b="0" i="0">
                <a:solidFill>
                  <a:srgbClr val="333333"/>
                </a:solidFill>
                <a:latin typeface="Calibri"/>
              </a:rPr>
              <a:t>–   El sistema de reservas SABRE, el software del programa Apollo y el sistema operativo OS/360 de IBM son los tres casos que hicieron visible el…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Seis hitos y el problema que atacaba cada uno</a:t>
            </a:r>
          </a:p>
        </p:txBody>
      </p:sp>
      <p:sp>
        <p:nvSpPr>
          <p:cNvPr id="5" name="Rounded Rectangle 4"/>
          <p:cNvSpPr/>
          <p:nvPr/>
        </p:nvSpPr>
        <p:spPr>
          <a:xfrm>
            <a:off x="457200"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3307994" cy="411480"/>
          </a:xfrm>
          <a:prstGeom prst="rect">
            <a:avLst/>
          </a:prstGeom>
          <a:noFill/>
        </p:spPr>
        <p:txBody>
          <a:bodyPr wrap="square">
            <a:spAutoFit/>
          </a:bodyPr>
          <a:lstStyle/>
          <a:p>
            <a:r>
              <a:rPr sz="1500" b="1" i="0">
                <a:solidFill>
                  <a:srgbClr val="095292"/>
                </a:solidFill>
                <a:latin typeface="Calibri"/>
              </a:rPr>
              <a:t>1945–1957 · La máquina programable</a:t>
            </a:r>
          </a:p>
        </p:txBody>
      </p:sp>
      <p:sp>
        <p:nvSpPr>
          <p:cNvPr id="8" name="TextBox 7"/>
          <p:cNvSpPr txBox="1"/>
          <p:nvPr/>
        </p:nvSpPr>
        <p:spPr>
          <a:xfrm>
            <a:off x="621792" y="1947672"/>
            <a:ext cx="3307994" cy="1595628"/>
          </a:xfrm>
          <a:prstGeom prst="rect">
            <a:avLst/>
          </a:prstGeom>
          <a:noFill/>
        </p:spPr>
        <p:txBody>
          <a:bodyPr wrap="square">
            <a:spAutoFit/>
          </a:bodyPr>
          <a:lstStyle/>
          <a:p>
            <a:r>
              <a:rPr sz="1300" b="0" i="0">
                <a:solidFill>
                  <a:srgbClr val="333333"/>
                </a:solidFill>
                <a:latin typeface="Calibri"/>
              </a:rPr>
              <a:t>Arquitectura de von Neumann y los primeros lenguajes (Fortran, 1957). </a:t>
            </a:r>
            <a:r>
              <a:rPr sz="1300" b="1" i="0">
                <a:solidFill>
                  <a:srgbClr val="333333"/>
                </a:solidFill>
                <a:latin typeface="Calibri"/>
              </a:rPr>
              <a:t>Problema:</a:t>
            </a:r>
            <a:r>
              <a:rPr sz="1300" b="0" i="0">
                <a:solidFill>
                  <a:srgbClr val="333333"/>
                </a:solidFill>
                <a:latin typeface="Calibri"/>
              </a:rPr>
              <a:t> decirle algo a la máquina sin hablar su idioma binario.</a:t>
            </a:r>
          </a:p>
        </p:txBody>
      </p:sp>
      <p:sp>
        <p:nvSpPr>
          <p:cNvPr id="9" name="Rounded Rectangle 8"/>
          <p:cNvSpPr/>
          <p:nvPr/>
        </p:nvSpPr>
        <p:spPr>
          <a:xfrm>
            <a:off x="4277258"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77258" y="1261872"/>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1850" y="1490472"/>
            <a:ext cx="3307994" cy="411480"/>
          </a:xfrm>
          <a:prstGeom prst="rect">
            <a:avLst/>
          </a:prstGeom>
          <a:noFill/>
        </p:spPr>
        <p:txBody>
          <a:bodyPr wrap="square">
            <a:spAutoFit/>
          </a:bodyPr>
          <a:lstStyle/>
          <a:p>
            <a:r>
              <a:rPr sz="1500" b="1" i="0">
                <a:solidFill>
                  <a:srgbClr val="095292"/>
                </a:solidFill>
                <a:latin typeface="Calibri"/>
              </a:rPr>
              <a:t>1968 · La crisis del software</a:t>
            </a:r>
          </a:p>
        </p:txBody>
      </p:sp>
      <p:sp>
        <p:nvSpPr>
          <p:cNvPr id="12" name="TextBox 11"/>
          <p:cNvSpPr txBox="1"/>
          <p:nvPr/>
        </p:nvSpPr>
        <p:spPr>
          <a:xfrm>
            <a:off x="4441850" y="1947672"/>
            <a:ext cx="3307994" cy="1595628"/>
          </a:xfrm>
          <a:prstGeom prst="rect">
            <a:avLst/>
          </a:prstGeom>
          <a:noFill/>
        </p:spPr>
        <p:txBody>
          <a:bodyPr wrap="square">
            <a:spAutoFit/>
          </a:bodyPr>
          <a:lstStyle/>
          <a:p>
            <a:r>
              <a:rPr sz="1300" b="0" i="0">
                <a:solidFill>
                  <a:srgbClr val="333333"/>
                </a:solidFill>
                <a:latin typeface="Calibri"/>
              </a:rPr>
              <a:t>Conferencia de la OTAN en Garmisch. Se nombra el problema: los proyectos grandes fracasan. </a:t>
            </a:r>
            <a:r>
              <a:rPr sz="1300" b="1" i="0">
                <a:solidFill>
                  <a:srgbClr val="333333"/>
                </a:solidFill>
                <a:latin typeface="Calibri"/>
              </a:rPr>
              <a:t>Problema:</a:t>
            </a:r>
            <a:r>
              <a:rPr sz="1300" b="0" i="0">
                <a:solidFill>
                  <a:srgbClr val="333333"/>
                </a:solidFill>
                <a:latin typeface="Calibri"/>
              </a:rPr>
              <a:t> organizar trabajo humano a escala.</a:t>
            </a:r>
          </a:p>
        </p:txBody>
      </p:sp>
      <p:sp>
        <p:nvSpPr>
          <p:cNvPr id="13" name="Rounded Rectangle 12"/>
          <p:cNvSpPr/>
          <p:nvPr/>
        </p:nvSpPr>
        <p:spPr>
          <a:xfrm>
            <a:off x="8097316" y="12618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7316" y="1261872"/>
            <a:ext cx="3637178"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1908" y="1490472"/>
            <a:ext cx="3307994" cy="411480"/>
          </a:xfrm>
          <a:prstGeom prst="rect">
            <a:avLst/>
          </a:prstGeom>
          <a:noFill/>
        </p:spPr>
        <p:txBody>
          <a:bodyPr wrap="square">
            <a:spAutoFit/>
          </a:bodyPr>
          <a:lstStyle/>
          <a:p>
            <a:r>
              <a:rPr sz="1500" b="1" i="0">
                <a:solidFill>
                  <a:srgbClr val="095292"/>
                </a:solidFill>
                <a:latin typeface="Calibri"/>
              </a:rPr>
              <a:t>1970 · El ciclo de vida</a:t>
            </a:r>
          </a:p>
        </p:txBody>
      </p:sp>
      <p:sp>
        <p:nvSpPr>
          <p:cNvPr id="16" name="TextBox 15"/>
          <p:cNvSpPr txBox="1"/>
          <p:nvPr/>
        </p:nvSpPr>
        <p:spPr>
          <a:xfrm>
            <a:off x="8261908" y="1947672"/>
            <a:ext cx="3307994" cy="1595628"/>
          </a:xfrm>
          <a:prstGeom prst="rect">
            <a:avLst/>
          </a:prstGeom>
          <a:noFill/>
        </p:spPr>
        <p:txBody>
          <a:bodyPr wrap="square">
            <a:spAutoFit/>
          </a:bodyPr>
          <a:lstStyle/>
          <a:p>
            <a:r>
              <a:rPr sz="1300" b="0" i="0">
                <a:solidFill>
                  <a:srgbClr val="333333"/>
                </a:solidFill>
                <a:latin typeface="Calibri"/>
              </a:rPr>
              <a:t>Royce publica el esquema que se popularizó como «cascada» — advirtiendo que así, sin iterar, no funciona. </a:t>
            </a:r>
            <a:r>
              <a:rPr sz="1300" b="1" i="0">
                <a:solidFill>
                  <a:srgbClr val="333333"/>
                </a:solidFill>
                <a:latin typeface="Calibri"/>
              </a:rPr>
              <a:t>Problema:</a:t>
            </a:r>
            <a:r>
              <a:rPr sz="1300" b="0" i="0">
                <a:solidFill>
                  <a:srgbClr val="333333"/>
                </a:solidFill>
                <a:latin typeface="Calibri"/>
              </a:rPr>
              <a:t> ¿en qué orden se hace el trabajo?</a:t>
            </a:r>
          </a:p>
        </p:txBody>
      </p:sp>
      <p:sp>
        <p:nvSpPr>
          <p:cNvPr id="17" name="Rounded Rectangle 16"/>
          <p:cNvSpPr/>
          <p:nvPr/>
        </p:nvSpPr>
        <p:spPr>
          <a:xfrm>
            <a:off x="457200"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890772"/>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4119372"/>
            <a:ext cx="3307994" cy="411480"/>
          </a:xfrm>
          <a:prstGeom prst="rect">
            <a:avLst/>
          </a:prstGeom>
          <a:noFill/>
        </p:spPr>
        <p:txBody>
          <a:bodyPr wrap="square">
            <a:spAutoFit/>
          </a:bodyPr>
          <a:lstStyle/>
          <a:p>
            <a:r>
              <a:rPr sz="1500" b="1" i="0">
                <a:solidFill>
                  <a:srgbClr val="095292"/>
                </a:solidFill>
                <a:latin typeface="Calibri"/>
              </a:rPr>
              <a:t>1975 · El mes-hombre mítico</a:t>
            </a:r>
          </a:p>
        </p:txBody>
      </p:sp>
      <p:sp>
        <p:nvSpPr>
          <p:cNvPr id="20" name="TextBox 19"/>
          <p:cNvSpPr txBox="1"/>
          <p:nvPr/>
        </p:nvSpPr>
        <p:spPr>
          <a:xfrm>
            <a:off x="621792" y="4576572"/>
            <a:ext cx="3307994" cy="1595628"/>
          </a:xfrm>
          <a:prstGeom prst="rect">
            <a:avLst/>
          </a:prstGeom>
          <a:noFill/>
        </p:spPr>
        <p:txBody>
          <a:bodyPr wrap="square">
            <a:spAutoFit/>
          </a:bodyPr>
          <a:lstStyle/>
          <a:p>
            <a:r>
              <a:rPr sz="1300" b="0" i="0">
                <a:solidFill>
                  <a:srgbClr val="333333"/>
                </a:solidFill>
                <a:latin typeface="Calibri"/>
              </a:rPr>
              <a:t>Brooks: meter más gente a un proyecto atrasado lo atrasa más. </a:t>
            </a:r>
            <a:r>
              <a:rPr sz="1300" b="1" i="0">
                <a:solidFill>
                  <a:srgbClr val="333333"/>
                </a:solidFill>
                <a:latin typeface="Calibri"/>
              </a:rPr>
              <a:t>Problema:</a:t>
            </a:r>
            <a:r>
              <a:rPr sz="1300" b="0" i="0">
                <a:solidFill>
                  <a:srgbClr val="333333"/>
                </a:solidFill>
                <a:latin typeface="Calibri"/>
              </a:rPr>
              <a:t> la comunicación crece más rápido que el equipo.</a:t>
            </a:r>
          </a:p>
        </p:txBody>
      </p:sp>
      <p:sp>
        <p:nvSpPr>
          <p:cNvPr id="21" name="Rounded Rectangle 20"/>
          <p:cNvSpPr/>
          <p:nvPr/>
        </p:nvSpPr>
        <p:spPr>
          <a:xfrm>
            <a:off x="4277258"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7258" y="3890772"/>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1850" y="4119372"/>
            <a:ext cx="3307994" cy="411480"/>
          </a:xfrm>
          <a:prstGeom prst="rect">
            <a:avLst/>
          </a:prstGeom>
          <a:noFill/>
        </p:spPr>
        <p:txBody>
          <a:bodyPr wrap="square">
            <a:spAutoFit/>
          </a:bodyPr>
          <a:lstStyle/>
          <a:p>
            <a:r>
              <a:rPr sz="1500" b="1" i="0">
                <a:solidFill>
                  <a:srgbClr val="095292"/>
                </a:solidFill>
                <a:latin typeface="Calibri"/>
              </a:rPr>
              <a:t>1991–2001 · Software libre y agilidad</a:t>
            </a:r>
          </a:p>
        </p:txBody>
      </p:sp>
      <p:sp>
        <p:nvSpPr>
          <p:cNvPr id="24" name="TextBox 23"/>
          <p:cNvSpPr txBox="1"/>
          <p:nvPr/>
        </p:nvSpPr>
        <p:spPr>
          <a:xfrm>
            <a:off x="4441850" y="4576572"/>
            <a:ext cx="3307994" cy="1595628"/>
          </a:xfrm>
          <a:prstGeom prst="rect">
            <a:avLst/>
          </a:prstGeom>
          <a:noFill/>
        </p:spPr>
        <p:txBody>
          <a:bodyPr wrap="square">
            <a:spAutoFit/>
          </a:bodyPr>
          <a:lstStyle/>
          <a:p>
            <a:r>
              <a:rPr sz="1300" b="0" i="0">
                <a:solidFill>
                  <a:srgbClr val="333333"/>
                </a:solidFill>
                <a:latin typeface="Calibri"/>
              </a:rPr>
              <a:t>Linux y luego el Manifiesto Ágil. </a:t>
            </a:r>
            <a:r>
              <a:rPr sz="1300" b="1" i="0">
                <a:solidFill>
                  <a:srgbClr val="333333"/>
                </a:solidFill>
                <a:latin typeface="Calibri"/>
              </a:rPr>
              <a:t>Problema:</a:t>
            </a:r>
            <a:r>
              <a:rPr sz="1300" b="0" i="0">
                <a:solidFill>
                  <a:srgbClr val="333333"/>
                </a:solidFill>
                <a:latin typeface="Calibri"/>
              </a:rPr>
              <a:t> los requisitos cambian mientras se construye, y el plan rígido se vuelve mentira.</a:t>
            </a:r>
          </a:p>
        </p:txBody>
      </p:sp>
      <p:sp>
        <p:nvSpPr>
          <p:cNvPr id="25" name="Rounded Rectangle 24"/>
          <p:cNvSpPr/>
          <p:nvPr/>
        </p:nvSpPr>
        <p:spPr>
          <a:xfrm>
            <a:off x="8097316" y="3890772"/>
            <a:ext cx="3637178"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7316" y="3890772"/>
            <a:ext cx="3637178"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1908" y="4119372"/>
            <a:ext cx="3307994" cy="411480"/>
          </a:xfrm>
          <a:prstGeom prst="rect">
            <a:avLst/>
          </a:prstGeom>
          <a:noFill/>
        </p:spPr>
        <p:txBody>
          <a:bodyPr wrap="square">
            <a:spAutoFit/>
          </a:bodyPr>
          <a:lstStyle/>
          <a:p>
            <a:r>
              <a:rPr sz="1500" b="1" i="0">
                <a:solidFill>
                  <a:srgbClr val="095292"/>
                </a:solidFill>
                <a:latin typeface="Calibri"/>
              </a:rPr>
              <a:t>2006–hoy · La nube y los datos</a:t>
            </a:r>
          </a:p>
        </p:txBody>
      </p:sp>
      <p:sp>
        <p:nvSpPr>
          <p:cNvPr id="28" name="TextBox 27"/>
          <p:cNvSpPr txBox="1"/>
          <p:nvPr/>
        </p:nvSpPr>
        <p:spPr>
          <a:xfrm>
            <a:off x="8261908" y="4576572"/>
            <a:ext cx="3307994" cy="1595628"/>
          </a:xfrm>
          <a:prstGeom prst="rect">
            <a:avLst/>
          </a:prstGeom>
          <a:noFill/>
        </p:spPr>
        <p:txBody>
          <a:bodyPr wrap="square">
            <a:spAutoFit/>
          </a:bodyPr>
          <a:lstStyle/>
          <a:p>
            <a:r>
              <a:rPr sz="1300" b="0" i="0">
                <a:solidFill>
                  <a:srgbClr val="333333"/>
                </a:solidFill>
                <a:latin typeface="Calibri"/>
              </a:rPr>
              <a:t>Infraestructura alquilada por horas e IA en producción. </a:t>
            </a:r>
            <a:r>
              <a:rPr sz="1300" b="1" i="0">
                <a:solidFill>
                  <a:srgbClr val="333333"/>
                </a:solidFill>
                <a:latin typeface="Calibri"/>
              </a:rPr>
              <a:t>Problema:</a:t>
            </a:r>
            <a:r>
              <a:rPr sz="1300" b="0" i="0">
                <a:solidFill>
                  <a:srgbClr val="333333"/>
                </a:solidFill>
                <a:latin typeface="Calibri"/>
              </a:rPr>
              <a:t> ya no es poder construirlo, es </a:t>
            </a:r>
            <a:r>
              <a:rPr sz="1300" b="1" i="0">
                <a:solidFill>
                  <a:srgbClr val="333333"/>
                </a:solidFill>
                <a:latin typeface="Calibri"/>
              </a:rPr>
              <a:t>decidir si se debe</a:t>
            </a:r>
            <a:r>
              <a:rPr sz="1300" b="0" i="0">
                <a:solidFill>
                  <a:srgbClr val="333333"/>
                </a:solidFill>
                <a:latin typeface="Calibri"/>
              </a:rPr>
              <a:t> y quién responde.</a:t>
            </a:r>
          </a:p>
        </p:txBody>
      </p:sp>
      <p:sp>
        <p:nvSpPr>
          <p:cNvPr id="29" name="TextBox 2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la ley de Brooks, con números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Agregar gente a un proyecto atrasado lo atrasa más. ¿Por qué? Cuente las conversaciones.</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ey-brooks-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ley-brooks-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ley-brooks-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ley-brooks-paso4.png"/>
          <p:cNvPicPr>
            <a:picLocks noChangeAspect="1"/>
          </p:cNvPicPr>
          <p:nvPr/>
        </p:nvPicPr>
        <p:blipFill>
          <a:blip r:embed="rId5"/>
          <a:stretch>
            <a:fillRect/>
          </a:stretch>
        </p:blipFill>
        <p:spPr>
          <a:xfrm>
            <a:off x="6007763" y="1472184"/>
            <a:ext cx="5589270" cy="4471416"/>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2 personas:</a:t>
            </a:r>
            <a:r>
              <a:rPr sz="2000" b="0" i="0">
                <a:solidFill>
                  <a:srgbClr val="333333"/>
                </a:solidFill>
                <a:latin typeface="Calibri"/>
              </a:rPr>
              <a:t> 1 conversación posible: A con B.</a:t>
            </a:r>
          </a:p>
          <a:p>
            <a:pPr>
              <a:spcAft>
                <a:spcPts val="800"/>
              </a:spcAft>
            </a:pPr>
            <a:r>
              <a:rPr sz="2000" b="0" i="0">
                <a:solidFill>
                  <a:srgbClr val="333333"/>
                </a:solidFill>
                <a:latin typeface="Calibri"/>
              </a:rPr>
              <a:t>–   </a:t>
            </a:r>
            <a:r>
              <a:rPr sz="2000" b="1" i="0">
                <a:solidFill>
                  <a:srgbClr val="333333"/>
                </a:solidFill>
                <a:latin typeface="Calibri"/>
              </a:rPr>
              <a:t>5 personas:</a:t>
            </a:r>
            <a:r>
              <a:rPr sz="2000" b="0" i="0">
                <a:solidFill>
                  <a:srgbClr val="333333"/>
                </a:solidFill>
                <a:latin typeface="Calibri"/>
              </a:rPr>
              <a:t> 10 parejas que se tienen que poner de acuerdo.</a:t>
            </a:r>
          </a:p>
          <a:p>
            <a:pPr>
              <a:spcAft>
                <a:spcPts val="800"/>
              </a:spcAft>
            </a:pPr>
            <a:r>
              <a:rPr sz="2000" b="0" i="0">
                <a:solidFill>
                  <a:srgbClr val="333333"/>
                </a:solidFill>
                <a:latin typeface="Calibri"/>
              </a:rPr>
              <a:t>–   </a:t>
            </a:r>
            <a:r>
              <a:rPr sz="2000" b="1" i="0">
                <a:solidFill>
                  <a:srgbClr val="333333"/>
                </a:solidFill>
                <a:latin typeface="Calibri"/>
              </a:rPr>
              <a:t>10 personas:</a:t>
            </a:r>
            <a:r>
              <a:rPr sz="2000" b="0" i="0">
                <a:solidFill>
                  <a:srgbClr val="333333"/>
                </a:solidFill>
                <a:latin typeface="Calibri"/>
              </a:rPr>
              <a:t> 45 parejas. Se duplicó la gente y se multiplicaron por 4,5 las conversaciones.</a:t>
            </a:r>
          </a:p>
          <a:p>
            <a:pPr>
              <a:spcAft>
                <a:spcPts val="800"/>
              </a:spcAft>
            </a:pPr>
            <a:r>
              <a:rPr sz="2000" b="0" i="0">
                <a:solidFill>
                  <a:srgbClr val="333333"/>
                </a:solidFill>
                <a:latin typeface="Calibri"/>
              </a:rPr>
              <a:t>–   </a:t>
            </a:r>
            <a:r>
              <a:rPr sz="2000" b="1" i="0">
                <a:solidFill>
                  <a:srgbClr val="333333"/>
                </a:solidFill>
                <a:latin typeface="Calibri"/>
              </a:rPr>
              <a:t>La fórmula:</a:t>
            </a:r>
            <a:r>
              <a:rPr sz="2000" b="0" i="0">
                <a:solidFill>
                  <a:srgbClr val="333333"/>
                </a:solidFill>
                <a:latin typeface="Calibri"/>
              </a:rPr>
              <a:t> n × (n − 1) ÷ 2. Con 20 personas: 190 parejas.</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lee un hito sin quedarse en la anécdota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 hito sin la cuarta pregunta es una fecha de examen; con ella es una herramienta</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ito-cuatro-preguntas-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hito-cuatro-preguntas-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hito-cuatro-preguntas-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hito-cuatro-preguntas-paso4.png"/>
          <p:cNvPicPr>
            <a:picLocks noChangeAspect="1"/>
          </p:cNvPicPr>
          <p:nvPr/>
        </p:nvPicPr>
        <p:blipFill>
          <a:blip r:embed="rId5"/>
          <a:stretch>
            <a:fillRect/>
          </a:stretch>
        </p:blipFill>
        <p:spPr>
          <a:xfrm>
            <a:off x="6007763" y="1472184"/>
            <a:ext cx="5589270" cy="4471416"/>
          </a:xfrm>
          <a:prstGeom prst="rect">
            <a:avLst/>
          </a:prstGeom>
        </p:spPr>
      </p:pic>
      <p:pic>
        <p:nvPicPr>
          <p:cNvPr id="11" name="Picture 10" descr="hito-cuatro-preguntas-paso5.png"/>
          <p:cNvPicPr>
            <a:picLocks noChangeAspect="1"/>
          </p:cNvPicPr>
          <p:nvPr/>
        </p:nvPicPr>
        <p:blipFill>
          <a:blip r:embed="rId6"/>
          <a:stretch>
            <a:fillRect/>
          </a:stretch>
        </p:blipFill>
        <p:spPr>
          <a:xfrm>
            <a:off x="6007763" y="1472184"/>
            <a:ext cx="5589270" cy="4471416"/>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¿Qué dolía antes?:</a:t>
            </a:r>
            <a:r>
              <a:rPr sz="2000" b="0" i="0">
                <a:solidFill>
                  <a:srgbClr val="333333"/>
                </a:solidFill>
                <a:latin typeface="Calibri"/>
              </a:rPr>
              <a:t> El problema concreto que existía y a quién le pasaba. Sin esto, el hito es una fecha suelta.</a:t>
            </a:r>
          </a:p>
          <a:p>
            <a:pPr>
              <a:spcAft>
                <a:spcPts val="800"/>
              </a:spcAft>
            </a:pPr>
            <a:r>
              <a:rPr sz="2000" b="0" i="0">
                <a:solidFill>
                  <a:srgbClr val="333333"/>
                </a:solidFill>
                <a:latin typeface="Calibri"/>
              </a:rPr>
              <a:t>–   </a:t>
            </a:r>
            <a:r>
              <a:rPr sz="2000" b="1" i="0">
                <a:solidFill>
                  <a:srgbClr val="333333"/>
                </a:solidFill>
                <a:latin typeface="Calibri"/>
              </a:rPr>
              <a:t>¿Qué propuso?:</a:t>
            </a:r>
            <a:r>
              <a:rPr sz="2000" b="0" i="0">
                <a:solidFill>
                  <a:srgbClr val="333333"/>
                </a:solidFill>
                <a:latin typeface="Calibri"/>
              </a:rPr>
              <a:t> La idea, el método o la herramienta. En una frase, sin nombres técnicos que no se puedan explicar.</a:t>
            </a:r>
          </a:p>
          <a:p>
            <a:pPr>
              <a:spcAft>
                <a:spcPts val="800"/>
              </a:spcAft>
            </a:pPr>
            <a:r>
              <a:rPr sz="2000" b="0" i="0">
                <a:solidFill>
                  <a:srgbClr val="333333"/>
                </a:solidFill>
                <a:latin typeface="Calibri"/>
              </a:rPr>
              <a:t>–   </a:t>
            </a:r>
            <a:r>
              <a:rPr sz="2000" b="1" i="0">
                <a:solidFill>
                  <a:srgbClr val="333333"/>
                </a:solidFill>
                <a:latin typeface="Calibri"/>
              </a:rPr>
              <a:t>¿Qué resolvió de verdad?:</a:t>
            </a:r>
            <a:r>
              <a:rPr sz="2000" b="0" i="0">
                <a:solidFill>
                  <a:srgbClr val="333333"/>
                </a:solidFill>
                <a:latin typeface="Calibri"/>
              </a:rPr>
              <a:t> Casi nunca resuelve todo. Diga qué parte sí.</a:t>
            </a:r>
          </a:p>
          <a:p>
            <a:pPr>
              <a:spcAft>
                <a:spcPts val="800"/>
              </a:spcAft>
            </a:pPr>
            <a:r>
              <a:rPr sz="2000" b="0" i="0">
                <a:solidFill>
                  <a:srgbClr val="333333"/>
                </a:solidFill>
                <a:latin typeface="Calibri"/>
              </a:rPr>
              <a:t>–   </a:t>
            </a:r>
            <a:r>
              <a:rPr sz="2000" b="1" i="0">
                <a:solidFill>
                  <a:srgbClr val="333333"/>
                </a:solidFill>
                <a:latin typeface="Calibri"/>
              </a:rPr>
              <a:t>¿Qué sigue vivo hoy?:</a:t>
            </a:r>
            <a:r>
              <a:rPr sz="2000" b="0" i="0">
                <a:solidFill>
                  <a:srgbClr val="333333"/>
                </a:solidFill>
                <a:latin typeface="Calibri"/>
              </a:rPr>
              <a:t> El pedazo del problema que nadie ha cerrado. Es la parte que se evalúa en el taller.</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resuelto: el hito de 1975, con las cuatro preguntas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Así se ve un hito leído completo. En el taller hacen lo mismo con los de su periodo.</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¿Qué dolía?</a:t>
            </a:r>
          </a:p>
          <a:p>
            <a:pPr>
              <a:spcBef>
                <a:spcPts val="200"/>
              </a:spcBef>
            </a:pPr>
            <a:r>
              <a:rPr sz="1300" b="0" i="0">
                <a:solidFill>
                  <a:srgbClr val="333333"/>
                </a:solidFill>
                <a:latin typeface="Calibri"/>
              </a:rPr>
              <a:t>Proyectos grandes que iban atrasados. La reacción de los jefes era contratar más programadores.</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¿Qué propuso?</a:t>
            </a:r>
          </a:p>
          <a:p>
            <a:pPr>
              <a:spcBef>
                <a:spcPts val="200"/>
              </a:spcBef>
            </a:pPr>
            <a:r>
              <a:rPr sz="1300" b="0" i="0">
                <a:solidFill>
                  <a:srgbClr val="333333"/>
                </a:solidFill>
                <a:latin typeface="Calibri"/>
              </a:rPr>
              <a:t>Fred Brooks mostró que meter más gente a un proyecto atrasado lo atrasa más.</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¿Qué resolvió?</a:t>
            </a:r>
          </a:p>
          <a:p>
            <a:pPr>
              <a:spcBef>
                <a:spcPts val="200"/>
              </a:spcBef>
            </a:pPr>
            <a:r>
              <a:rPr sz="1300" b="0" i="0">
                <a:solidFill>
                  <a:srgbClr val="333333"/>
                </a:solidFill>
                <a:latin typeface="Calibri"/>
              </a:rPr>
              <a:t>Explicó por qué pasaba: la comunicación crece más rápido que el equipo. No dio una solución mágica.</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¿Qué sigue vivo?</a:t>
            </a:r>
          </a:p>
          <a:p>
            <a:pPr>
              <a:spcBef>
                <a:spcPts val="200"/>
              </a:spcBef>
            </a:pPr>
            <a:r>
              <a:rPr sz="1300" b="0" i="0">
                <a:solidFill>
                  <a:srgbClr val="333333"/>
                </a:solidFill>
                <a:latin typeface="Calibri"/>
              </a:rPr>
              <a:t>Hoy mismo: cuando un equipo del curso se atrasa y pide ayuda a otro, gasta 20 minutos explicando el contexto.</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cosas que se repiten y son falsas</a:t>
            </a:r>
          </a:p>
        </p:txBody>
      </p:sp>
      <p:sp>
        <p:nvSpPr>
          <p:cNvPr id="5" name="Rounded Rectangle 4"/>
          <p:cNvSpPr/>
          <p:nvPr/>
        </p:nvSpPr>
        <p:spPr>
          <a:xfrm>
            <a:off x="457200" y="1261872"/>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«La cascada la inventó Royce y estaba equivocado».</a:t>
            </a:r>
            <a:r>
              <a:rPr sz="1400" b="0" i="0">
                <a:solidFill>
                  <a:srgbClr val="333333"/>
                </a:solidFill>
                <a:latin typeface="Calibri"/>
              </a:rPr>
              <a:t> Royce presentó ese esquema en 1970 justamente para decir que aplicado de forma lineal es riesgoso, y propuso iterar. Lo que se popularizó fue el dibujo sin la advertencia.</a:t>
            </a:r>
          </a:p>
        </p:txBody>
      </p:sp>
      <p:sp>
        <p:nvSpPr>
          <p:cNvPr id="8" name="Rounded Rectangle 7"/>
          <p:cNvSpPr/>
          <p:nvPr/>
        </p:nvSpPr>
        <p:spPr>
          <a:xfrm>
            <a:off x="457200" y="2478024"/>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«Ágil reemplazó al ciclo de vida».</a:t>
            </a:r>
            <a:r>
              <a:rPr sz="1400" b="0" i="0">
                <a:solidFill>
                  <a:srgbClr val="333333"/>
                </a:solidFill>
                <a:latin typeface="Calibri"/>
              </a:rPr>
              <a:t> No: ágil cambia el tamaño y la frecuencia de las iteraciones. Las fases (entender, diseñar, construir, probar) siguen ahí, solo que se recorren muchas veces en vez de una.</a:t>
            </a:r>
          </a:p>
        </p:txBody>
      </p:sp>
      <p:sp>
        <p:nvSpPr>
          <p:cNvPr id="11" name="Rounded Rectangle 10"/>
          <p:cNvSpPr/>
          <p:nvPr/>
        </p:nvSpPr>
        <p:spPr>
          <a:xfrm>
            <a:off x="457200" y="3694176"/>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«Los problemas de 1968 ya se resolvieron».</a:t>
            </a:r>
            <a:r>
              <a:rPr sz="1400" b="0" i="0">
                <a:solidFill>
                  <a:srgbClr val="333333"/>
                </a:solidFill>
                <a:latin typeface="Calibri"/>
              </a:rPr>
              <a:t> Los informes de la industria siguen reportando fracasos de plazo, costo y alcance en proporciones altas. El método mejoró; el problema no desapareció.</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3</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Historia y evolución de la Ingeniería · Clase 2</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La disciplina nació de un fracaso de organización, no de un invento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