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91440"/>
            <a:ext cx="12191695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384048"/>
            <a:ext cx="2011680" cy="876815"/>
          </a:xfrm>
          <a:prstGeom prst="rect">
            <a:avLst/>
          </a:prstGeom>
        </p:spPr>
      </p:pic>
      <p:sp>
        <p:nvSpPr>
          <p:cNvPr id="6" name="Rounded Rectangle 5"/>
          <p:cNvSpPr/>
          <p:nvPr/>
        </p:nvSpPr>
        <p:spPr>
          <a:xfrm>
            <a:off x="10042855" y="384048"/>
            <a:ext cx="1691640" cy="38404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42855" y="384048"/>
            <a:ext cx="1691640" cy="384048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</a:rPr>
              <a:t>Clase 13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2331720"/>
            <a:ext cx="10728655" cy="182880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FFFFFF"/>
                </a:solidFill>
                <a:latin typeface="Calibri"/>
              </a:rPr>
              <a:t>Evaluación de impacto social y ambiental</a:t>
            </a:r>
          </a:p>
        </p:txBody>
      </p:sp>
      <p:sp>
        <p:nvSpPr>
          <p:cNvPr id="9" name="Rectangle 8"/>
          <p:cNvSpPr/>
          <p:nvPr/>
        </p:nvSpPr>
        <p:spPr>
          <a:xfrm>
            <a:off x="4632807" y="4206240"/>
            <a:ext cx="2926080" cy="50292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4361688"/>
            <a:ext cx="1072865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0">
                <a:solidFill>
                  <a:srgbClr val="B8D8EE"/>
                </a:solidFill>
                <a:latin typeface="Calibri"/>
              </a:rPr>
              <a:t>A quién más le pasa algo por culpa de su solución, aunque nunca la 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94415" y="641908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1" i="0">
                <a:solidFill>
                  <a:srgbClr val="7EB8D4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Agenda de hoy (90 min)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La misma estructura de las 16 sesiones. El reloj de pared de su grupo está en el calendario del curso.</a:t>
            </a:r>
          </a:p>
        </p:txBody>
      </p:sp>
      <p:sp>
        <p:nvSpPr>
          <p:cNvPr id="6" name="Rectangle 5"/>
          <p:cNvSpPr/>
          <p:nvPr/>
        </p:nvSpPr>
        <p:spPr>
          <a:xfrm>
            <a:off x="457200" y="2386584"/>
            <a:ext cx="11277295" cy="7315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1438625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57200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00:00–00:10 · 10 min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Pregunta de entrada en el muro: ¿quién queda peor?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94084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712659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00:10–00:55 · 45 min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58379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Impacto, afectados, la matriz y cómo se califica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949543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968118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00:55–01:12 · 17 min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13838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Matriz de impacto del proyecto, en salas de grupo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05002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223577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01:12–01:27 · 15 min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69297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5 equipos × 3 min — el impacto negativo y su mitigación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0460461" y="2276856"/>
            <a:ext cx="292608" cy="292608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479036" y="1563624"/>
            <a:ext cx="2255459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095292"/>
                </a:solidFill>
                <a:latin typeface="Calibri"/>
              </a:rPr>
              <a:t>01:27–01:30 · 3 min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524756" y="2798064"/>
            <a:ext cx="2164019" cy="309981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 i="0">
                <a:solidFill>
                  <a:srgbClr val="333333"/>
                </a:solidFill>
                <a:latin typeface="Calibri"/>
              </a:rPr>
              <a:t>Lo que queda amarrado para la Clase 14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" y="580644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1">
                <a:solidFill>
                  <a:srgbClr val="666666"/>
                </a:solidFill>
                <a:latin typeface="Calibri"/>
              </a:rPr>
              <a:t>Solo el bloque de </a:t>
            </a:r>
            <a:r>
              <a:rPr sz="1200" b="1" i="1">
                <a:solidFill>
                  <a:srgbClr val="666666"/>
                </a:solidFill>
                <a:latin typeface="Calibri"/>
              </a:rPr>
              <a:t>esta</a:t>
            </a:r>
            <a:r>
              <a:rPr sz="1200" b="0" i="1">
                <a:solidFill>
                  <a:srgbClr val="666666"/>
                </a:solidFill>
                <a:latin typeface="Calibri"/>
              </a:rPr>
              <a:t> clase · 120 min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Objetivos de la sesión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Distinguir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intención,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directo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 indirecto.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Identificar a los afectados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no son usuarios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con el listado de la sesión 3.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Llenar una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matriz de impacto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indicadores medibles, no con adjetivos.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Declarar los impactos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y proponer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medidas de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4" name="Picture 3" descr="logo_uniajc_blanc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295" y="320040"/>
            <a:ext cx="1645920" cy="71739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685800" y="1280160"/>
            <a:ext cx="108200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400" b="1" i="0">
                <a:solidFill>
                  <a:srgbClr val="269CCB"/>
                </a:solidFill>
                <a:latin typeface="Calibri"/>
              </a:rPr>
              <a:t>Pregunta de entrada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85800" y="1828800"/>
            <a:ext cx="10820095" cy="20116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2800" b="1" i="0">
                <a:solidFill>
                  <a:srgbClr val="FFFFFF"/>
                </a:solidFill>
                <a:latin typeface="Calibri"/>
              </a:rPr>
              <a:t>Si su solución funciona perfectamente y la usa todo el mundo, ¿quién queda peor que antes?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114800"/>
            <a:ext cx="1054577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Siempre hay alguien. Y casi nunca es un usuario.</a:t>
            </a:r>
          </a:p>
          <a:p>
            <a:pPr algn="ctr">
              <a:spcAft>
                <a:spcPts val="600"/>
              </a:spcAft>
            </a:pPr>
            <a:r>
              <a:rPr sz="1500" b="0" i="0">
                <a:solidFill>
                  <a:srgbClr val="269CCB"/>
                </a:solidFill>
                <a:latin typeface="Calibri"/>
              </a:rPr>
              <a:t>Un ingeniero que no puede responder esa pregunta no terminó el diseño.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Impacto: cuatro distinciones que hay que tener claras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21792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Impacto NO es intención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21792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«Queremos ayudar a la comunidad» es una intención. El impacto es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lo que de hecho cambia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en la vida de alguien, medible, ocurra o no lo que queríamos.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87287" y="12618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87287" y="1261872"/>
            <a:ext cx="5547207" cy="9144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351879" y="14904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Directo e indirecto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51879" y="19476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Directo: la persona hace menos viajes en vano. Indirecto: la voluntaria dedica diez minutos más al cierre.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El indirecto es el que se olvida, y el que trae los problemas.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7200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3890772"/>
            <a:ext cx="5547207" cy="9144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1792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Positivo y negativo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Toda solución tiene efectos de los dos signos. Un informe con solo impactos positivos no es un informe optimista: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es un informe incompleto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187287" y="3890772"/>
            <a:ext cx="5547207" cy="246430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87287" y="3890772"/>
            <a:ext cx="5547207" cy="914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51879" y="4119372"/>
            <a:ext cx="5218023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Corto y largo plazo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51879" y="4576572"/>
            <a:ext cx="5218023" cy="15956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 i="0">
                <a:solidFill>
                  <a:srgbClr val="333333"/>
                </a:solidFill>
                <a:latin typeface="Calibri"/>
              </a:rPr>
              <a:t>Hay efectos que solo aparecen cuando la solución se usa mucho y por mucho tiempo. Nombrarlos, aunque no se puedan medir hoy, ya es hacer ingeniería.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encuentra a los afectados que no son usuarios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Los usuarios son la parte fácil: por definición eligieron usarla. Los afectados no eligieron nada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 · Empiece por su propia lista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 la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sesión 3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hicieron un listado de actores no usuarios. Ábranlo: la mitad del trabajo de hoy ya está hecho y casi todos lo olvidaron.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2 · Siga la cadena de trabajo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¿A quién le llega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más trabajo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por su solución? ¿A quién le llega menos? Ese es el impacto indirecto más frecuente y el que genera resistencia real.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 · Pregunte quién NO puede usarla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Quien no tiene celular, datos, lectura fluida, buena vista o el idioma.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Si su solución solo mejora a quien ya estaba mejor, empeoró la brecha.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 · Mire qué consume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Energía, datos móviles, papel, hardware que se vuelve basura. El software también tiene huella, y en la sesión 5 ya midieron un pedazo de la suya.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5 · Pregunte a quién desplaza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Si su solución reemplaza algo, alguien hacía ese algo. Ni siempre es malo ni siempre es evitable, pero </a:t>
            </a:r>
            <a:r>
              <a:rPr sz="1300" b="1" i="0">
                <a:solidFill>
                  <a:srgbClr val="333333"/>
                </a:solidFill>
                <a:latin typeface="Calibri"/>
              </a:rPr>
              <a:t>omitirlo sí es un error del análisis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 de impacto: qué se pregunta en cada dimensión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68833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03120"/>
                <a:gridCol w="2834640"/>
                <a:gridCol w="40233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Dimensión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La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Cómo se mide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acceso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puede usarla y quién no?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% o número de personas del grupo objetivo que quedan fuera, y por qué motivo.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equidad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¿Mejora más a quien ya estaba mejor?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Comparación entre dos grupos: quien tiene el recurso y quien no lo tiene.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Social · carga de trabajo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¿A quién le llega más trabajo?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Minutos por día o por semana, para cada rol afectado.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consumo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¿Cuántos datos, energía o papel mueve?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KB por consulta × consultas estimadas; hojas al mes; horas de equipo encendido.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Ambiental · residuos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¿Exige comprar o botar algo?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Equipos, cartuchos, impresiones. Si no exige nada, </a:t>
                      </a:r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dígalo</a:t>
                      </a:r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: es un resultado.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333333"/>
                          </a:solidFill>
                          <a:latin typeface="Calibri"/>
                        </a:rPr>
                        <a:t>Económico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¿Quién paga y quién ahorra?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0" i="0">
                          <a:solidFill>
                            <a:srgbClr val="333333"/>
                          </a:solidFill>
                          <a:latin typeface="Calibri"/>
                        </a:rPr>
                        <a:t>Costo mensual de operación, y ahorro estimado para el usuario o la organización.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80060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No todas las dimensiones aplican a todos los proyectos. Una fila que no aplica se escribe «no aplica»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con una línea de razón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— dejarla en blanco parece un olvido y se califica como tal.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califica un impacto, sin fingir precisión</a:t>
            </a:r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216152"/>
          <a:ext cx="8961120" cy="23042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3566160"/>
                <a:gridCol w="3566160"/>
              </a:tblGrid>
              <a:tr h="384048"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Criterio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Qué pregunta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200" b="1" i="0">
                          <a:solidFill>
                            <a:srgbClr val="FFFFFF"/>
                          </a:solidFill>
                          <a:latin typeface="Calibri"/>
                        </a:rPr>
                        <a:t>Escala que usamos</a:t>
                      </a:r>
                    </a:p>
                  </a:txBody>
                  <a:tcPr>
                    <a:solidFill>
                      <a:srgbClr val="09529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Carácter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¿Mejora o empeora la situación?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Positivo · Negativo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Magnitud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¿Qué tan grande es el cambio para quien lo recibe?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Baja · Media · Alta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Extensión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¿A cuánta gente le pasa?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Pocas personas · Un grupo · Todo el barrio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Duración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¿Cuánto dura el efecto?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Temporal · Permanente mientras se use</a:t>
                      </a:r>
                    </a:p>
                  </a:txBody>
                  <a:tcPr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r>
                        <a:rPr sz="1100" b="1" i="0">
                          <a:solidFill>
                            <a:srgbClr val="333333"/>
                          </a:solidFill>
                          <a:latin typeface="Calibri"/>
                        </a:rPr>
                        <a:t>Reversibilidad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¿Se puede deshacer si sale mal?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 b="0" i="0">
                          <a:solidFill>
                            <a:srgbClr val="333333"/>
                          </a:solidFill>
                          <a:latin typeface="Calibri"/>
                        </a:rPr>
                        <a:t>Reversible · Difícil de revertir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457200" y="4297680"/>
            <a:ext cx="1127729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00" b="0" i="1">
                <a:solidFill>
                  <a:srgbClr val="666666"/>
                </a:solidFill>
                <a:latin typeface="Calibri"/>
              </a:rPr>
              <a:t>Los cinco criterios vienen de las metodologías de evaluación de impacto ambiental, que trabajan con matrices de este tipo desde los años setenta. Aviso de honestidad intelectual: </a:t>
            </a:r>
            <a:r>
              <a:rPr sz="1100" b="1" i="1">
                <a:solidFill>
                  <a:srgbClr val="666666"/>
                </a:solidFill>
                <a:latin typeface="Calibri"/>
              </a:rPr>
              <a:t>las escalas son una convención para comparar y ordenar, no una medición.</a:t>
            </a:r>
            <a:r>
              <a:rPr sz="1100" b="0" i="1">
                <a:solidFill>
                  <a:srgbClr val="666666"/>
                </a:solidFill>
                <a:latin typeface="Calibri"/>
              </a:rPr>
              <a:t> Dos equipos pueden calificar distinto el mismo impacto; lo que no se puede es no justificar la calificación.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Un impacto declarado y un impacto medido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Nótese que las dos últimas líneas de la derecha son impactos NEGATIVOS, y son las que hacen creíble a todas las demás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457200" y="1472184"/>
            <a:ext cx="5478627" cy="50292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escribe casi todo el mundo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1792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«Nuestra solución beneficia a la comunidad.»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«Contribuye al cuidado del medio ambiente.»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«Mejora la calidad de vida de los usuarios.»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«Promueve la inclusión y el acceso a la cultura.»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«No genera ningún impacto negativo.»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55867" y="1472184"/>
            <a:ext cx="5478627" cy="4882896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255867" y="1472184"/>
            <a:ext cx="5478627" cy="5029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93027" y="1563624"/>
            <a:ext cx="5204307" cy="36576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Lo que se puede verificar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20459" y="2112263"/>
            <a:ext cx="5158587" cy="42885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«Evita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4 de cada 10 viajes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sin préstamo: unas 60 visitas al mes.»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«Cada consulta mueve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menos de 200 KB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sin imágenes.»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«Ahorra al usuario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pasaje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y unos 25 minutos por visita evitada.»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«Alcanza a quien tiene celular con datos: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queda fuera 1 de cada 5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vecinos.»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Calibri"/>
              </a:rPr>
              <a:t>–   «Añade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10 minutos diarios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de trabajo a la voluntaria del cierre.»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Tres honestidades sobre el impacto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BE4E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28016" cy="1051560"/>
          </a:xfrm>
          <a:prstGeom prst="rect">
            <a:avLst/>
          </a:prstGeom>
          <a:solidFill>
            <a:srgbClr val="A020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1399031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A02030"/>
                </a:solidFill>
                <a:latin typeface="Calibri"/>
              </a:rPr>
              <a:t>Atención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«No genera ningún impacto negativo» es la frase que más credibilidad quita en un informe de ingeniería.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Toda solución tiene costos: alguien trabaja más, algo se consume, alguien queda fuera. Un equipo que no encuentra ni uno no buscó — y quien lea el informe lo va a notar antes que ustedes.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57200" y="2478024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2478024"/>
            <a:ext cx="128016" cy="105156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77240" y="2615184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269CCB"/>
                </a:solidFill>
                <a:latin typeface="Calibri"/>
              </a:rPr>
              <a:t>Info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No todo impacto es cuantificable, y eso no es excusa para no nombrarlo.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Si no se puede medir, se describe con precisión y se dice cómo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se podría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medir. «No sabemos cuántos vecinos no tienen datos móviles; se sabría con una encuesta de diez casas» es una respuesta profesional. «No aplica» no lo es.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57200" y="3694176"/>
            <a:ext cx="11277295" cy="1051560"/>
          </a:xfrm>
          <a:prstGeom prst="roundRect">
            <a:avLst>
              <a:gd name="adj" fmla="val 12000"/>
            </a:avLst>
          </a:prstGeom>
          <a:solidFill>
            <a:srgbClr val="FFF8E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3694176"/>
            <a:ext cx="128016" cy="1051560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77240" y="3831336"/>
            <a:ext cx="10774375" cy="82295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 i="0">
                <a:solidFill>
                  <a:srgbClr val="FFD000"/>
                </a:solidFill>
                <a:latin typeface="Calibri"/>
              </a:rPr>
              <a:t>Aclaración</a:t>
            </a:r>
          </a:p>
          <a:p>
            <a:pPr>
              <a:spcBef>
                <a:spcPts val="400"/>
              </a:spcBef>
            </a:pPr>
            <a:r>
              <a:rPr sz="14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1400" b="0" i="0">
                <a:solidFill>
                  <a:srgbClr val="333333"/>
                </a:solidFill>
                <a:latin typeface="Calibri"/>
              </a:rPr>
              <a:t> Datos móviles que alguien paga, energía del servidor, hardware que se vuelve residuo. En la sesión 5 midieron un pedazo de eso —el límite de 200 KB por consulta— y hoy ese número entra a la matriz como indicador ambiental. </a:t>
            </a:r>
            <a:r>
              <a:rPr sz="1400" b="1" i="0">
                <a:solidFill>
                  <a:srgbClr val="333333"/>
                </a:solidFill>
                <a:latin typeface="Calibri"/>
              </a:rPr>
              <a:t>Un requisito no funcional bien elegido es, a la vez, una medida de mitigación.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¿quién queda peor?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gancho de hoy está construido para incomodar, y hay que dejarlo incomodar unos segundos antes de explicarlo: **si su solución funciona perfectamente y la usa todo el mundo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¿quién queda peor que antes?** La reacción típica es «nadie», y esa respuesta es el punto de partida de la sesión.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Siempre hay alguien, y casi nunca es un usuario.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de la biblioteca: la voluntaria del cierre, que ahora dedica diez minutos más a actualizar la lista; y el vecino sin datos móviles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antes llegaba al mostrador en igualdad de condiciones y ahora llega detrás de tres personas que ya sabían qué pedir.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encuadre que justifica la sesión completa, y que conviene decir sin solemnidad: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ingeniero que no puede responder esa pregunta no terminó el diseño.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No es un asunto de ética añadida al final ni un requisito de acreditación: es parte del análisis técnico, igual que estimar el consumo o el costo.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pregunta de entrada: ¿quién queda peor?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proyectos que fallan socialmente casi nunca fallan por el código; fallan porque nadie preguntó a quién más le pasaba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Operativamente, use la apertura para verificar el insumo: pida que cada equipo escriba en el muro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afectado que no sea usuario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equipos que traigan el listado de la sesión 3 lo van a hacer en treinta segundos; los que no, van a escribir «los usuarios».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 no es intención, y el indirecto es el que muerde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Impacto no es intención.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 la distinción más importante del día y la que más cuesta.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«Queremos ayudar a la comunidad» es una intención, y no informa nada: no se puede verificar, no se puede medir y nadie puede estar en contra.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impacto es lo que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de hecho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cambia en la vida de alguien, ocurra o no lo que queríamos.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El indirecto es el que se olvida y el que trae los problemas: la voluntaria del cierre dedica diez minutos más cada día.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dato importante para su formación profesional: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 resistencia a una solución nueva casi siempre viene de un impacto indirecto que nadie consideró.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Cuando en una empresa un sistema «no lo quieren usar»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Nueve de diez veces es porque a alguien le llegó trabajo extra que nunca se contó.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Positivo y negativo.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Hay que anticipar y desactivar la creencia de que declarar un impacto negativo baja la nota.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Impacto no es intención, y el indirecto es el que muerde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lo contrario, y hay que decirlo explícitamente porque van a dudar: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 informe con solo impactos positivos no es optimista, es incompleto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y quien lo lea va a desconfiar de todo lo demás.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este curso declarar un negativo con su mitigación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sube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la nota.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Corto y largo plazo.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Algunos efectos solo aparecen con el uso sostenido: la lista que crece y se vuelve inmanejable, la dependencia de una sola voluntaria que sabe actualizarla.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Nombrarlos sin poder medirlos ya es hacer ingeniería, y es material directo para la sección de trabajo futuro del informe final.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afectados que no eligieron nada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frase que ordena este bloque: **los usuarios son la parte fácil, porque por definición eligieron usarla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afectados no eligieron nada.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De ahí la obligación de buscarlos activamente.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Paso 1: empezar por la propia lista.** En la sesión 3 hicieron un listado de actores no usuarios.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 el impacto indirecto más frecuente.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el caso modelo, la voluntaria del cierre; en un proyecto de gestión, la persona que ahora tiene que llenar el formato.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3: preguntar quién NO puede usarla.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Este paso es el corazón ético de la sesión y hay que darle tiempo.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regla, dicha en una frase que se les debería quedar: **si su solución solo mejora a quien ya estaba mejor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Empeoró la brecha.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 Y el matiz que hace la idea difícil y verdadera: el excluido puede quedar peor 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en términos relativos** aunque nada haya cambiado para él, porque los demás mejoraron y la atención se reordenó.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Los afectados que no eligieron nada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Ese caso es real, es incómodo y es exactamente lo que hay que aprender a ver.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4: mirar qué consume.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Energía, datos, papel, hardware que acaba en basura electrónica.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En la sesión 5 ya midieron un pedazo de su huella; hoy ese número entra a la matriz.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Paso 5: preguntar a quién desplaza.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Si la solución reemplaza algo, alguien hacía ese algo.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Aquí conviene ser equilibrado y no moralizar: no siempre es malo ni siempre es evitable —la ingeniería lleva dos siglos automatizando trabajo—, pero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omitirlo del análisis sí es un error técnico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(1/3)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primera tabla es la plantilla del taller y conviene recorrerla dimensión por dimensión, deteniéndose en la columna de la derecha: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cómo se mide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«Acceso» no se mide con adjetivos sino con el número de personas del grupo objetivo que quedan fuera y por qué motivo.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«Consumo» se mide en KB por consulta por número de consultas estimadas — y ese número ya lo tienen desde la sesión 5.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Insista en la nota al pie: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una fila que no aplica se escribe «no aplica» con una línea de razón.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Dejarla en blanco parece un olvido, y en un informe real el lector no puede distinguir entre «no aplica» y «no lo pensamos».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(2/3)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tabla es la calificación, y aquí hay que hacer un ejercicio de honestidad intelectual que vale más que la tabla misma.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Los cinco criterios —carácter, magnitud, extensión, duración, reversibilidad— provienen de las metodologías de evaluación de impacto ambiental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Que trabajan con matrices de este tipo desde los años setenta; la matriz de Leopold, de 1971, es el ejemplo clásico y sigue siendo el punto de partida de la mayoría de las variantes que se usan hoy.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Si algún estudiante quiere profundizar, esa es la palabra que debe buscar, y ya saben de la sesión 9 cómo verificar una fuente.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La matriz, la calificación y los límites del método (3/3)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ahora el límite, que hay que decir en voz alta porque es formativo: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escalas son una convención para comparar y ordenar, no una medición.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Poner «magnitud: alta» no convierte un juicio en un dato.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Dos equipos honestos pueden calificar distinto el mismo impacto, y eso no invalida el método: la matriz sirve para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ordenar prioridades y forzar la conversación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, no para producir un número objetivo.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estudiante que entiende esto no va a confundir nunca más una escala ordinal con una medición, y esa es una de las confusiones más comunes en informes técnicos.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19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adjetivo al indicador, y las tres honestidades (1/2)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Leerlas en voz alta produce risa incómoda, y ese es el momento de hacer la pregunta: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¿qué proyecto NO podría escribir estas cinco frases?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Ninguno.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columna derecha muestra el mismo contenido convertido en indicador: 4 de cada 10 viajes evitados, menos de 200 KB por consulta, un pasaje y 25 minutos ahorrados por visita.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el detalle que hay que señalar con el cursor: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las dos últimas líneas de la derecha son impactos negativos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—1 de cada 5 vecinos queda fuera, 10 minutos diarios extra para la voluntaria—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y son precisamente las que hacen creíbles a las otras tres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segunda desactiva la excusa más común: si no se puede medir,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se describe con precisión y se dice cómo se podría medir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«No sabemos cuántos vecinos no tienen datos móviles; se sabría con una encuesta de diez casas» es una respuesta profesional, y de hecho es el tipo de frase que aparece en informes reales.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Del adjetivo al indicador, y las tres honestidades (2/2)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La tercera cierra el arco del curso: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software también consume.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Datos que alguien paga, energía, hardware que se vuelve residuo.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Y aquí hay un hallazgo que vale la pena hacerles ver, porque conecta cuatro sesiones: el límite de 200 KB por consulta que definieron en la sesión 5 como indicador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Se volvió requisito no funcional en la sesión 7, sirvió para descartar imágenes en las sesiones 10 y 11, y hoy entra a la matriz como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medida de mitigación ambiental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Un requisito no funcional bien elegido es, a la vez, una mitigación — y eso no se puede improvisar en la Clase 13 si no se escribió en la 5.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Plantilla del entregable: los 5 bloques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Matriz de impacto social y ambiental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Documento del equipo · un bloque por titulo, sin cambiar los nombres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1. LOS AFECTADOS QUE NO SON USUARIOS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2. TRES IMPACTOS POSITIVOS CON SU INDICADOR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3. DOS IMPACTOS NEGATIVOS O RIESGOS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4. LA MATRIZ CALIFICADA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## 5. LAS MEDIDAS DE MITIGACIÓN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Los titulos van TAL CUAL: son con los que se califica.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Guion de la exposicion, con tiempos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457200" y="1261872"/>
            <a:ext cx="11277295" cy="5093208"/>
          </a:xfrm>
          <a:prstGeom prst="roundRect">
            <a:avLst>
              <a:gd name="adj" fmla="val 12000"/>
            </a:avLst>
          </a:prstGeom>
          <a:solidFill>
            <a:srgbClr val="1E2A3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457200" y="1261872"/>
            <a:ext cx="11277295" cy="32004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85800" y="1307592"/>
            <a:ext cx="10820095" cy="256032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000" b="1" i="0">
                <a:solidFill>
                  <a:srgbClr val="269CCB"/>
                </a:solidFill>
                <a:latin typeface="Calibri"/>
              </a:rPr>
              <a:t>● ● 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19072"/>
            <a:ext cx="10637215" cy="44531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Exposicion de hoy · lo que se califica es el reparto, no el total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Los afectados que no son us Nómbrelos. Sin «la comunidad».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40 s · Un impacto positivo con su  El más fuerte, con indicador.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70 s · El impacto negativo y su mi **El minuto obligatorio.** El más incómodo q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30 s · La calificación             Cuál es el impacto más grave y por qué lo ca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10 s · Cierre                      Qué dimensión no aplica en su proyecto, y po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El tramo marcado como obligatorio es el que el jurado califica:</a:t>
            </a:r>
          </a:p>
          <a:p>
            <a:pPr>
              <a:spcAft>
                <a:spcPts val="400"/>
              </a:spcAft>
            </a:pPr>
            <a:r>
              <a:rPr sz="1400" b="0" i="0">
                <a:solidFill>
                  <a:srgbClr val="FFFFFF"/>
                </a:solidFill>
                <a:latin typeface="Calibri"/>
              </a:rPr>
              <a:t># si el guion no esta cronometrado, es el que se queda sin tiempo.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Taller de hoy: Matriz de impacto social y ambiental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17 min en equipos · 17 min: afectados, positivos con indicador, negativos, matriz y mitigación · matriz de impacto con indicadores, negativos declarados y mitigaciones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72184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40080" y="1618487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618487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563624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LOS AFECTADOS QUE NO SON USUARIOS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La lista de quienes reciben un efecto sin usar la solución: a quién le llega más trabajo, quién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no puede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usarla, y a quién desplaza.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148839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2295144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40080" y="2295144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240279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TRES IMPACTOS POSITIVOS CON SU INDICADOR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Tres efectos buenos, cada uno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 número y una unidad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: cuántas personas, cuántas veces, cuántos minutos, cuántos pesos.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2825496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971800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40080" y="2971800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97280" y="2916936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DOS IMPACTOS NEGATIVOS O RIESGOS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Dos efectos malos, con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quién los recibe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exactamente. Si no encuentran ninguno, pregúntense quién trabaja más por su solución.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3502152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" y="3648456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" y="3648456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97280" y="3593592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 MATRIZ CALIFICADA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Cada impacto con su carácter, magnitud, extensión, duración y reversibilidad — y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línea de justificación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por calificación.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4178808"/>
            <a:ext cx="11277295" cy="566928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40080" y="4325112"/>
            <a:ext cx="274320" cy="274320"/>
          </a:xfrm>
          <a:prstGeom prst="rect">
            <a:avLst/>
          </a:prstGeom>
          <a:solidFill>
            <a:srgbClr val="FFFFFF"/>
          </a:solidFill>
          <a:ln>
            <a:solidFill>
              <a:srgbClr val="3333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40080" y="4325112"/>
            <a:ext cx="73152" cy="274320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97280" y="4270248"/>
            <a:ext cx="10362895" cy="402336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333333"/>
                </a:solidFill>
                <a:latin typeface="Calibri"/>
              </a:rPr>
              <a:t>LAS MEDIDAS DE MITIGACIÓN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 — Qué van a hacer para reducir cada impacto negativo. Puede ser </a:t>
            </a:r>
            <a:r>
              <a:rPr sz="1500" b="1" i="0">
                <a:solidFill>
                  <a:srgbClr val="333333"/>
                </a:solidFill>
                <a:latin typeface="Calibri"/>
              </a:rPr>
              <a:t>una medida no digital</a:t>
            </a:r>
            <a:r>
              <a:rPr sz="1500" b="0" i="0">
                <a:solidFill>
                  <a:srgbClr val="333333"/>
                </a:solidFill>
                <a:latin typeface="Calibri"/>
              </a:rPr>
              <a:t>, y muchas veces es la mejor.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170432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170432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Cómo se expone en 3 minutos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566928"/>
            <a:ext cx="11277295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0" i="0">
                <a:solidFill>
                  <a:srgbClr val="B8D8EE"/>
                </a:solidFill>
                <a:latin typeface="Calibri"/>
              </a:rPr>
              <a:t>Habla el vocero con la pantalla ya compartida · cronómetro en pantalla · se corta al llegar a cero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57200" y="144475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94360" y="1679752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94360" y="1679752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88720" y="153619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Los afectados que no son usuarios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Nómbrelos. Sin «la comunidad».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57200" y="2445105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94360" y="2680106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94360" y="2680106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536545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40 s · Un impacto positivo con su número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El más fuerte, con indicador.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57200" y="3445459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94360" y="3680460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94360" y="3680460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88720" y="3536899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70 s · El impacto negativo y su mitigación</a:t>
            </a:r>
          </a:p>
          <a:p>
            <a:pPr>
              <a:spcBef>
                <a:spcPts val="200"/>
              </a:spcBef>
            </a:pPr>
            <a:r>
              <a:rPr sz="1300" b="1" i="0">
                <a:solidFill>
                  <a:srgbClr val="333333"/>
                </a:solidFill>
                <a:latin typeface="Calibri"/>
              </a:rPr>
              <a:t>El minuto obligatorio.</a:t>
            </a:r>
            <a:r>
              <a:rPr sz="1300" b="0" i="0">
                <a:solidFill>
                  <a:srgbClr val="333333"/>
                </a:solidFill>
                <a:latin typeface="Calibri"/>
              </a:rPr>
              <a:t> El más incómodo que hayan encontrado.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57200" y="4445812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E8F4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94360" y="4680813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94360" y="4680813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188720" y="4537252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30 s · La calificación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Cuál es el impacto más grave y por qué lo calificaron así.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57200" y="5446166"/>
            <a:ext cx="11277295" cy="908913"/>
          </a:xfrm>
          <a:prstGeom prst="roundRect">
            <a:avLst>
              <a:gd name="adj" fmla="val 12000"/>
            </a:avLst>
          </a:prstGeom>
          <a:solidFill>
            <a:srgbClr val="F2F2F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94360" y="5681167"/>
            <a:ext cx="438912" cy="438912"/>
          </a:xfrm>
          <a:prstGeom prst="roundRect">
            <a:avLst>
              <a:gd name="adj" fmla="val 12000"/>
            </a:avLst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594360" y="5681167"/>
            <a:ext cx="438912" cy="438912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537606"/>
            <a:ext cx="10271455" cy="744321"/>
          </a:xfrm>
          <a:prstGeom prst="rect">
            <a:avLst/>
          </a:prstGeom>
          <a:noFill/>
        </p:spPr>
        <p:txBody>
          <a:bodyPr wrap="square" anchor="ctr"/>
          <a:lstStyle/>
          <a:p>
            <a:r>
              <a:rPr sz="1500" b="1" i="0">
                <a:solidFill>
                  <a:srgbClr val="095292"/>
                </a:solidFill>
                <a:latin typeface="Calibri"/>
              </a:rPr>
              <a:t>10 s · Cierre</a:t>
            </a:r>
          </a:p>
          <a:p>
            <a:pPr>
              <a:spcBef>
                <a:spcPts val="200"/>
              </a:spcBef>
            </a:pPr>
            <a:r>
              <a:rPr sz="1300" b="0" i="0">
                <a:solidFill>
                  <a:srgbClr val="333333"/>
                </a:solidFill>
                <a:latin typeface="Calibri"/>
              </a:rPr>
              <a:t>Qué dimensión no aplica en su proyecto, y por qué.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25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960120"/>
          </a:xfrm>
          <a:prstGeom prst="rect">
            <a:avLst/>
          </a:prstGeom>
          <a:solidFill>
            <a:srgbClr val="09529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960120"/>
            <a:ext cx="12191695" cy="41148"/>
          </a:xfrm>
          <a:prstGeom prst="rect">
            <a:avLst/>
          </a:prstGeom>
          <a:solidFill>
            <a:srgbClr val="FFD0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457200" y="164592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Calibri"/>
              </a:rPr>
              <a:t>Para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1170432"/>
            <a:ext cx="11277295" cy="52303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dirigido: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Aplicación de matrices de evaluación — dejar la matriz de impacto completa en el documento del equipo, con indicadores, negativos y mitigaciones.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Trabajo independiente: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Informe de evaluación del impacto: media página que resuma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el impacto positivo más fuerte con su número y el negativo más importante con su mitigación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 Es el borrador de dos diapositivas de la presentación final.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Clase 14 · Preparación de la 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— preparamos la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presentación final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: la estructura de 8 minutos, las diapositivas, el reparto entre integrantes y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ensayo general cronometrado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Aviso: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Para la Clase 14 el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prototipo tiene que estar ya ajustado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con lo que salió de la Clase 12: si ensayan con la versión vieja, el ensayo no sirve. Traigan también la cuenta de Canva o Google Slides lista y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quién va a hablar de qué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.</a:t>
            </a:r>
          </a:p>
          <a:p>
            <a:pPr>
              <a:spcAft>
                <a:spcPts val="800"/>
              </a:spcAft>
            </a:pPr>
            <a:r>
              <a:rPr sz="2000" b="0" i="0">
                <a:solidFill>
                  <a:srgbClr val="333333"/>
                </a:solidFill>
                <a:latin typeface="Calibri"/>
              </a:rPr>
              <a:t>–   </a:t>
            </a:r>
            <a:r>
              <a:rPr sz="2000" b="1" i="0">
                <a:solidFill>
                  <a:srgbClr val="333333"/>
                </a:solidFill>
                <a:latin typeface="Calibri"/>
              </a:rPr>
              <a:t>Antes de salir:</a:t>
            </a:r>
            <a:r>
              <a:rPr sz="2000" b="0" i="0">
                <a:solidFill>
                  <a:srgbClr val="333333"/>
                </a:solidFill>
                <a:latin typeface="Calibri"/>
              </a:rPr>
              <a:t> el enlace del documento del equipo en el chat, con permiso de lectura para el docente, y el nombre del vocero de hoy.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185855" y="6473952"/>
            <a:ext cx="640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100" b="0" i="0">
                <a:solidFill>
                  <a:srgbClr val="666666"/>
                </a:solidFill>
                <a:latin typeface="Calibri"/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64592"/>
          </a:xfrm>
          <a:prstGeom prst="rect">
            <a:avLst/>
          </a:prstGeom>
          <a:solidFill>
            <a:srgbClr val="269CC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logo_uniajc_col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271455" y="5998464"/>
            <a:ext cx="1463040" cy="643233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57200" y="1737360"/>
            <a:ext cx="11277295" cy="1097280"/>
          </a:xfrm>
          <a:prstGeom prst="rect">
            <a:avLst/>
          </a:prstGeom>
          <a:noFill/>
        </p:spPr>
        <p:txBody>
          <a:bodyPr wrap="square" anchor="ctr"/>
          <a:lstStyle/>
          <a:p>
            <a:pPr algn="ctr"/>
            <a:r>
              <a:rPr sz="3400" b="1" i="0">
                <a:solidFill>
                  <a:srgbClr val="095292"/>
                </a:solidFill>
                <a:latin typeface="Calibri"/>
              </a:rPr>
              <a:t>Nos vemos en la Clase 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57200" y="3017520"/>
            <a:ext cx="11277295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Evaluación de impacto social y ambiental · Clase 13</a:t>
            </a:r>
          </a:p>
          <a:p>
            <a:pPr algn="ctr">
              <a:spcAft>
                <a:spcPts val="600"/>
              </a:spcAft>
            </a:pPr>
            <a:r>
              <a:rPr sz="1600" b="0" i="0">
                <a:solidFill>
                  <a:srgbClr val="333333"/>
                </a:solidFill>
                <a:latin typeface="Calibri"/>
              </a:rPr>
              <a:t>FI300101 · UNIAJC · Ingeniería de Sistemas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4754880"/>
            <a:ext cx="11277295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000" b="1" i="0">
                <a:solidFill>
                  <a:srgbClr val="269CCB"/>
                </a:solidFill>
                <a:latin typeface="Calibri"/>
              </a:rPr>
              <a:t>Los usuarios eligieron usarla; los afectados no eligieron nada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