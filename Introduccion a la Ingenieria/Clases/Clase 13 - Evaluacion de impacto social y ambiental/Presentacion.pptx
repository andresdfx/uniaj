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Matriz de impacto del proyecto, en salas de grupo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el impacto negativo y su mitigación</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cajero</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Ahora además debe actualizar el turno en el celular: </a:t>
            </a:r>
            <a:r>
              <a:rPr sz="1300" b="1" i="0">
                <a:solidFill>
                  <a:srgbClr val="333333"/>
                </a:solidFill>
                <a:latin typeface="Calibri"/>
              </a:rPr>
              <a:t>más trabajo</a:t>
            </a:r>
            <a:r>
              <a:rPr sz="1300" b="0" i="0">
                <a:solidFill>
                  <a:srgbClr val="333333"/>
                </a:solidFill>
                <a:latin typeface="Calibri"/>
              </a:rPr>
              <a:t> (paso 2).</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Doña Rosa, 74 años</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No tiene datos móviles: </a:t>
            </a:r>
            <a:r>
              <a:rPr sz="1300" b="1" i="0">
                <a:solidFill>
                  <a:srgbClr val="333333"/>
                </a:solidFill>
                <a:latin typeface="Calibri"/>
              </a:rPr>
              <a:t>queda fuera</a:t>
            </a:r>
            <a:r>
              <a:rPr sz="1300" b="0" i="0">
                <a:solidFill>
                  <a:srgbClr val="333333"/>
                </a:solidFill>
                <a:latin typeface="Calibri"/>
              </a:rPr>
              <a:t> si la fila desaparece (paso 3).</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vendedor de fichas</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La tienda le compraba los talonarios de papel: </a:t>
            </a:r>
            <a:r>
              <a:rPr sz="1300" b="1" i="0">
                <a:solidFill>
                  <a:srgbClr val="333333"/>
                </a:solidFill>
                <a:latin typeface="Calibri"/>
              </a:rPr>
              <a:t>lo desplaza</a:t>
            </a:r>
            <a:r>
              <a:rPr sz="1300" b="0" i="0">
                <a:solidFill>
                  <a:srgbClr val="333333"/>
                </a:solidFill>
                <a:latin typeface="Calibri"/>
              </a:rPr>
              <a:t> (paso 5).</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El plan de datos</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Cada consulta gasta datos que paga el cliente: </a:t>
            </a:r>
            <a:r>
              <a:rPr sz="1300" b="1" i="0">
                <a:solidFill>
                  <a:srgbClr val="333333"/>
                </a:solidFill>
                <a:latin typeface="Calibri"/>
              </a:rPr>
              <a:t>consumo</a:t>
            </a:r>
            <a:r>
              <a:rPr sz="1300" b="0" i="0">
                <a:solidFill>
                  <a:srgbClr val="333333"/>
                </a:solidFill>
                <a:latin typeface="Calibri"/>
              </a:rPr>
              <a:t> (paso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califica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Matriz de impacto social y ambiental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17 min: afectados, positivos con indicador, negativos, matriz y mitigación · matriz de impacto con indicadores, negativos declarados y mitigaciones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LOS AFECTADOS QUE NO SON USUARIOS</a:t>
            </a:r>
            <a:r>
              <a:rPr sz="1500" b="0" i="0">
                <a:solidFill>
                  <a:srgbClr val="333333"/>
                </a:solidFill>
                <a:latin typeface="Calibri"/>
              </a:rPr>
              <a:t> — La lista de quienes reciben un efecto sin usar la solución: a quién le llega más trabajo, quién </a:t>
            </a:r>
            <a:r>
              <a:rPr sz="1500" b="1" i="0">
                <a:solidFill>
                  <a:srgbClr val="333333"/>
                </a:solidFill>
                <a:latin typeface="Calibri"/>
              </a:rPr>
              <a:t>no puede</a:t>
            </a:r>
            <a:r>
              <a:rPr sz="1500" b="0" i="0">
                <a:solidFill>
                  <a:srgbClr val="333333"/>
                </a:solidFill>
                <a:latin typeface="Calibri"/>
              </a:rPr>
              <a:t> usarla, y a quién desplaza.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TRES IMPACTOS POSITIVOS CON SU INDICADOR</a:t>
            </a:r>
            <a:r>
              <a:rPr sz="1500" b="0" i="0">
                <a:solidFill>
                  <a:srgbClr val="333333"/>
                </a:solidFill>
                <a:latin typeface="Calibri"/>
              </a:rPr>
              <a:t> — Tres efectos buenos, cada uno con </a:t>
            </a:r>
            <a:r>
              <a:rPr sz="1500" b="1" i="0">
                <a:solidFill>
                  <a:srgbClr val="333333"/>
                </a:solidFill>
                <a:latin typeface="Calibri"/>
              </a:rPr>
              <a:t>un número y una unidad</a:t>
            </a:r>
            <a:r>
              <a:rPr sz="1500" b="0" i="0">
                <a:solidFill>
                  <a:srgbClr val="333333"/>
                </a:solidFill>
                <a:latin typeface="Calibri"/>
              </a:rPr>
              <a:t>: cuántas personas, cuántas veces, cuántos minutos, cuántos pesos.</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DOS IMPACTOS NEGATIVOS O RIESGOS</a:t>
            </a:r>
            <a:r>
              <a:rPr sz="1500" b="0" i="0">
                <a:solidFill>
                  <a:srgbClr val="333333"/>
                </a:solidFill>
                <a:latin typeface="Calibri"/>
              </a:rPr>
              <a:t> — Dos efectos malos, con </a:t>
            </a:r>
            <a:r>
              <a:rPr sz="1500" b="1" i="0">
                <a:solidFill>
                  <a:srgbClr val="333333"/>
                </a:solidFill>
                <a:latin typeface="Calibri"/>
              </a:rPr>
              <a:t>quién los recibe</a:t>
            </a:r>
            <a:r>
              <a:rPr sz="1500" b="0" i="0">
                <a:solidFill>
                  <a:srgbClr val="333333"/>
                </a:solidFill>
                <a:latin typeface="Calibri"/>
              </a:rPr>
              <a:t> exactamente. Si no encuentran ninguno, pregúntense quién trabaja más por su solución.</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LA MATRIZ CALIFICADA</a:t>
            </a:r>
            <a:r>
              <a:rPr sz="1500" b="0" i="0">
                <a:solidFill>
                  <a:srgbClr val="333333"/>
                </a:solidFill>
                <a:latin typeface="Calibri"/>
              </a:rPr>
              <a:t> — Cada impacto con su carácter, magnitud, extensión, duración y reversibilidad — y </a:t>
            </a:r>
            <a:r>
              <a:rPr sz="1500" b="1" i="0">
                <a:solidFill>
                  <a:srgbClr val="333333"/>
                </a:solidFill>
                <a:latin typeface="Calibri"/>
              </a:rPr>
              <a:t>una línea de justificación</a:t>
            </a:r>
            <a:r>
              <a:rPr sz="1500" b="0" i="0">
                <a:solidFill>
                  <a:srgbClr val="333333"/>
                </a:solidFill>
                <a:latin typeface="Calibri"/>
              </a:rPr>
              <a:t> por calificación.</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LAS MEDIDAS DE MITIGACIÓN</a:t>
            </a:r>
            <a:r>
              <a:rPr sz="1500" b="0" i="0">
                <a:solidFill>
                  <a:srgbClr val="333333"/>
                </a:solidFill>
                <a:latin typeface="Calibri"/>
              </a:rPr>
              <a:t> — Qué van a hacer para reducir cada impacto negativo. Puede ser </a:t>
            </a:r>
            <a:r>
              <a:rPr sz="1500" b="1" i="0">
                <a:solidFill>
                  <a:srgbClr val="333333"/>
                </a:solidFill>
                <a:latin typeface="Calibri"/>
              </a:rPr>
              <a:t>una medida no digital</a:t>
            </a:r>
            <a:r>
              <a:rPr sz="1500" b="0" i="0">
                <a:solidFill>
                  <a:srgbClr val="333333"/>
                </a:solidFill>
                <a:latin typeface="Calibri"/>
              </a:rPr>
              <a:t>, y muchas veces es la mejor.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30 s · Los afectados que no son usuarios</a:t>
            </a:r>
          </a:p>
          <a:p>
            <a:pPr>
              <a:spcBef>
                <a:spcPts val="200"/>
              </a:spcBef>
            </a:pPr>
            <a:r>
              <a:rPr sz="1300" b="0" i="0">
                <a:solidFill>
                  <a:srgbClr val="333333"/>
                </a:solidFill>
                <a:latin typeface="Calibri"/>
              </a:rPr>
              <a:t>Nómbrelos. Sin «la comunidad».</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40 s · Un impacto positivo con su número</a:t>
            </a:r>
          </a:p>
          <a:p>
            <a:pPr>
              <a:spcBef>
                <a:spcPts val="200"/>
              </a:spcBef>
            </a:pPr>
            <a:r>
              <a:rPr sz="1300" b="0" i="0">
                <a:solidFill>
                  <a:srgbClr val="333333"/>
                </a:solidFill>
                <a:latin typeface="Calibri"/>
              </a:rPr>
              <a:t>El más fuerte, con indicador.</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70 s · El impacto negativo y su mitigación</a:t>
            </a:r>
          </a:p>
          <a:p>
            <a:pPr>
              <a:spcBef>
                <a:spcPts val="200"/>
              </a:spcBef>
            </a:pPr>
            <a:r>
              <a:rPr sz="1300" b="1" i="0">
                <a:solidFill>
                  <a:srgbClr val="333333"/>
                </a:solidFill>
                <a:latin typeface="Calibri"/>
              </a:rPr>
              <a:t>El minuto obligatorio.</a:t>
            </a:r>
            <a:r>
              <a:rPr sz="1300" b="0" i="0">
                <a:solidFill>
                  <a:srgbClr val="333333"/>
                </a:solidFill>
                <a:latin typeface="Calibri"/>
              </a:rPr>
              <a:t> El más incómodo que hayan encontrado.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30 s · La calificación</a:t>
            </a:r>
          </a:p>
          <a:p>
            <a:pPr>
              <a:spcBef>
                <a:spcPts val="200"/>
              </a:spcBef>
            </a:pPr>
            <a:r>
              <a:rPr sz="1300" b="0" i="0">
                <a:solidFill>
                  <a:srgbClr val="333333"/>
                </a:solidFill>
                <a:latin typeface="Calibri"/>
              </a:rPr>
              <a:t>Cuál es el impacto más grave y por qué lo calificaron así.</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10 s · Cierre</a:t>
            </a:r>
          </a:p>
          <a:p>
            <a:pPr>
              <a:spcBef>
                <a:spcPts val="200"/>
              </a:spcBef>
            </a:pPr>
            <a:r>
              <a:rPr sz="1300" b="0" i="0">
                <a:solidFill>
                  <a:srgbClr val="333333"/>
                </a:solidFill>
                <a:latin typeface="Calibri"/>
              </a:rPr>
              <a:t>Qué dimensión no aplica en su proyecto, y por qué.</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Aplicación de matrices de evaluación — dejar la matriz de impacto completa en el documento del equipo, con indicadores, negativos y mitigaciones.</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Informe de evaluación del impacto: media página que resuma </a:t>
            </a:r>
            <a:r>
              <a:rPr sz="2000" b="1" i="0">
                <a:solidFill>
                  <a:srgbClr val="333333"/>
                </a:solidFill>
                <a:latin typeface="Calibri"/>
              </a:rPr>
              <a:t>el impacto positivo más fuerte con su número y el negativo más importante con su mitigación</a:t>
            </a:r>
            <a:r>
              <a:rPr sz="2000" b="0" i="0">
                <a:solidFill>
                  <a:srgbClr val="333333"/>
                </a:solidFill>
                <a:latin typeface="Calibri"/>
              </a:rPr>
              <a:t>. Es el borrador de dos diapositivas de la presentación final.</a:t>
            </a:r>
          </a:p>
          <a:p>
            <a:pPr>
              <a:spcAft>
                <a:spcPts val="800"/>
              </a:spcAft>
            </a:pPr>
            <a:r>
              <a:rPr sz="2000" b="0" i="0">
                <a:solidFill>
                  <a:srgbClr val="333333"/>
                </a:solidFill>
                <a:latin typeface="Calibri"/>
              </a:rPr>
              <a:t>–   </a:t>
            </a:r>
            <a:r>
              <a:rPr sz="2000" b="1" i="0">
                <a:solidFill>
                  <a:srgbClr val="333333"/>
                </a:solidFill>
                <a:latin typeface="Calibri"/>
              </a:rPr>
              <a:t>Clase 14 · Preparación de la presentación final</a:t>
            </a:r>
            <a:r>
              <a:rPr sz="2000" b="0" i="0">
                <a:solidFill>
                  <a:srgbClr val="333333"/>
                </a:solidFill>
                <a:latin typeface="Calibri"/>
              </a:rPr>
              <a:t> — preparamos la </a:t>
            </a:r>
            <a:r>
              <a:rPr sz="2000" b="1" i="0">
                <a:solidFill>
                  <a:srgbClr val="333333"/>
                </a:solidFill>
                <a:latin typeface="Calibri"/>
              </a:rPr>
              <a:t>presentación final</a:t>
            </a:r>
            <a:r>
              <a:rPr sz="2000" b="0" i="0">
                <a:solidFill>
                  <a:srgbClr val="333333"/>
                </a:solidFill>
                <a:latin typeface="Calibri"/>
              </a:rPr>
              <a:t>: la estructura de 8 minutos, las diapositivas, el reparto entre integrantes y el </a:t>
            </a:r>
            <a:r>
              <a:rPr sz="2000" b="1" i="0">
                <a:solidFill>
                  <a:srgbClr val="333333"/>
                </a:solidFill>
                <a:latin typeface="Calibri"/>
              </a:rPr>
              <a:t>ensayo general cronometrado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Para la Clase 14 el </a:t>
            </a:r>
            <a:r>
              <a:rPr sz="2000" b="1" i="0">
                <a:solidFill>
                  <a:srgbClr val="333333"/>
                </a:solidFill>
                <a:latin typeface="Calibri"/>
              </a:rPr>
              <a:t>prototipo tiene que estar ya ajustado</a:t>
            </a:r>
            <a:r>
              <a:rPr sz="2000" b="0" i="0">
                <a:solidFill>
                  <a:srgbClr val="333333"/>
                </a:solidFill>
                <a:latin typeface="Calibri"/>
              </a:rPr>
              <a:t> con lo que salió de la Clase 12: si ensayan con la versión vieja, el ensayo no sirve. Traigan también la cuenta de Canva o Google Slides lista y </a:t>
            </a:r>
            <a:r>
              <a:rPr sz="2000" b="1" i="0">
                <a:solidFill>
                  <a:srgbClr val="333333"/>
                </a:solidFill>
                <a:latin typeface="Calibri"/>
              </a:rPr>
              <a:t>quién va a hablar de qué</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