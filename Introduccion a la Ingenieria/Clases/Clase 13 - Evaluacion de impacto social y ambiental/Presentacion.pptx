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Evaluación de impacto social y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 quién más le pasa algo por culpa de su solución, aunque nunca la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muro: ¿quién queda peor?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Impacto, afectados, la matriz y cómo se califica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Matriz de impacto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impacto negativo y su mitigación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Lo que queda amarrado para la Clase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intención,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directo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indirecto.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a los afectados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usuarios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listado de la sesión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Llenar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indicadores medibles, no con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los impactos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negativos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proponer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medidas de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funciona perfectamente y la usa todo el mundo, ¿quién queda peor que antes?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Siempre hay alguien. Y casi nunca es un usuario.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 ingeniero que no puede responder esa pregunta no terminó el diseño.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Impacto: cuatro distinciones que hay que tener claras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Impacto NO es intención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«Queremos ayudar a la comunidad» es una intención. El impacto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de hecho cambia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la vida de alguien, medible, ocurra o no lo que queríamos.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Directo e indirecto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Directo: la persona hace menos viajes en vano. Indirecto: la voluntaria dedica diez minutos más al cierre.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indirecto es el que se olvida, y el que trae los problemas.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Positivo y negativo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Toda solución tiene efectos de los dos signos. Un informe con solo impactos positivos no es un informe optimista: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un informe incompleto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Corto y largo plazo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efectos que solo aparecen cuando la solución se usa mucho y por mucho tiempo. Nombrarlos, aunque no se puedan medir hoy, ya es hacer ingeniería.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encuentra a los afectados que no son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usuarios son la parte fácil: por definición eligieron usarla. Los afectados no eligieron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Empiece por su propia lista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sesión 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hicieron un listado de actores no usuarios. Ábranlo: la mitad del trabajo de hoy ya está hecho y casi todos lo olvidaron.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Siga la cadena de trabajo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¿A quién le llega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más trabajo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su solución? ¿A quién le llega menos? Ese es el impacto indirecto más frecuente y el que genera resistencia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Pregunte quién NO puede usarla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Quien no tiene celular, datos, lectura fluida, buena vista o el idioma.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su solución solo mejora a quien ya estaba mejor, empeoró la brecha.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Mire qué consume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Energía, datos móviles, papel, hardware que se vuelve basura. El software también tiene huella, y en la sesión 5 ya midieron un pedazo de la suya.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Pregunte a quién desplaza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su solución reemplaza algo, alguien hacía ese algo. Ni siempre es malo ni siempre es evitable, pero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omitirlo sí es un error del análisis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impacto: qué se pregunta en cada dimensión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mide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puede usarla y quién 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% o número de personas del grupo objetivo que quedan fuera, y por qué motivo.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equidad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¿Mejora más a quien ya estaba mejor?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Comparación entre dos grupos: quien tiene el recurso y quien no lo tiene.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carga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 quién le llega más trabajo?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Minutos por día o por semana, para cada rol afectado.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consumo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¿Cuántos datos, energía o papel mueve?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KB por consulta × consultas estimadas; hojas al mes; horas de equipo encendido.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residuos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¿Exige comprar o botar algo?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Equipos, cartuchos, impresiones. Si no exige nada,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dígalo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es un resultado.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Económico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paga y quién ahorra?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Costo mensual de operación, y ahorro estimado para el usuario o la organización.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No todas las dimensiones aplican a todos los proyectos. Una fila que no aplica se escribe «no aplica»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con una línea de razón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 dejarla en blanco parece un olvido y se califica como 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califica un impacto, sin fingir precisión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Escala que usamos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Carácter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¿Mejora o empeora la situación?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Positivo ·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Magnitud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¿Qué tan grande es el cambio para quien lo recibe?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Baja · Media · Alta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¿A cuánta gente le pasa?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Pocas personas · Un grupo · Todo el barrio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¿Cuánto dura el efecto?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Temporal · Permanente mientras se 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Reversibilidad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deshacer si sale mal?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Reversible · Difícil de revertir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cinco criterios vienen de las metodologías de evaluación de impacto ambiental, que trabajan con matrices de este tipo desde los años setenta. Aviso de honestidad intelectual: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las escalas son una convención para comparar y ordenar, no una medición.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Dos equipos pueden calificar distinto el mismo impacto; lo que no se puede es no justificar la calificación.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impacto declarado y un impacto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Nótese que las dos últimas líneas de la derecha son impactos NEGATIVOS, y son las que hacen creíble a todas las demás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escribe casi todo el mundo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«Nuestra solución beneficia a la comunidad.»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«Contribuye al cuidado del medio ambiente.»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«Mejora la calidad de vida de los usuarios.»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«Promueve la inclusión y el acceso a la cultura.»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genera ningún impacto negativo.»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puede verificar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«Evita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viajes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préstamo: unas 60 visitas al mes.»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consulta mueve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de 200 KB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imágenes.»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«Ahorra al usuario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pasaje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unos 25 minutos por visita evitada.»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«Alcanza a quien tiene celular con datos: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queda fuera 1 de cada 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vecinos.»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«Añade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10 minutos diarios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trabajo a la voluntaria del cierre.»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honestidades sobre el impacto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genera ningún impacto negativo» es la frase que más credibilidad quita en un informe de ingeniería.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Toda solución tiene costos: alguien trabaja más, algo se consume, alguien queda fuera. Un equipo que no encuentra ni uno no buscó — y quien lea el informe lo va a notar antes que ustedes.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todo impacto es cuantificable, y eso no es excusa para no nombrarlo.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 no se puede medir, se describe con precisión y se dice cómo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podría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medir. «No sabemos cuántos vecinos no tienen datos móviles; se sabría con una encuesta de diez casas» es una respuesta profesional. «No aplica» no lo 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Datos móviles que alguien paga, energía del servidor, hardware que se vuelve residuo. En la sesión 5 midieron un pedazo de eso —el límite de 200 KB por consulta— y hoy ese número entra a la matriz como indicador ambiental.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Un requisito no funcional bien elegido es, a la vez, una medida de mitigación.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¿quién queda peor?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gancho de hoy está construido para incomodar, y hay que dejarlo incomodar unos segundos antes de explicarlo: **si su solución funciona perfectamente y la usa todo el mundo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¿quién queda peor que antes?** La reacción típica es «nadie», y esa respuesta es el punto de partida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hay alguien, y casi nunca es un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de la biblioteca: la voluntaria del cierre, que ahora dedica diez minutos más a actualizar la lista; y el vecino sin datos móviles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antes llegaba al mostrador en igualdad de condiciones y ahora llega detrás de tres personas que ya sabían qué pedir.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de los dos usa el sistema para consultar, y a los dos les cambió la vida por él.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encuadre que justifica la sesión completa, y que conviene decir sin solemnidad: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ingeniero que no puede responder esa pregunta no terminó el diseño.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es un asunto de ética añadida al final ni un requisito de acreditación: es parte del análisis técnico, igual que estimar el consumo o el costo.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¿quién queda peor?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proyectos que fallan socialmente casi nunca fallan por el código; fallan porque nadie preguntó a quién más le pasaba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Operativamente, use la apertura para verificar el insumo: pida que cada equipo escriba en el muro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afectado que no sea 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traigan el listado de la sesión 3 lo van a hacer en treinta segundos; los que no, van a escribir «los usuarios».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ya sabe con quién tiene que sentarse en las salas de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 no es intención, y el indirecto es el que muerde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no es intención.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distinción más importante del día y la que más cuesta.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«Queremos ayudar a la comunidad» es una intención, y no informa nada: no se puede verificar, no se puede medir y nadie puede estar en contra.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impacto es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hecho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cambia en la vida de alguien, ocurra o no lo que queríamos.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indirecto es el que se olvida y el que trae los problemas: la voluntaria del cierre dedica diez minutos más cada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dato importante para su formación profesional: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resistencia a una solución nueva casi siempre viene de un impacto indirecto que nadie consideró.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en una empresa un sistema «no lo quieren usar»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Nueve de diez veces es porque a alguien le llegó trabajo extra que nunca se contó.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Positivo y negativo.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Hay que anticipar y desactivar la creencia de que declarar un impacto negativo baja la nota.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 no es intención, y el indirecto es el que muerde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lo contrario, y hay que decirlo explícitamente porque van a dudar: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informe con solo impactos positivos no es optimista, es incompleto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quien lo lea va a desconfiar de todo lo demás.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declarar un negativo con su mitigación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nota.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Corto y largo plazo.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Algunos efectos solo aparecen con el uso sostenido: la lista que crece y se vuelve inmanejable, la dependencia de una sola voluntaria que sabe actualizarla.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Nombrarlos sin poder medirlos ya es hacer ingeniería, y es material directo para la sección de trabajo futuro del informe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afectados que no eligieron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que ordena este bloque: **los usuarios son la parte fácil, porque por definición eligieron 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afectados no eligieron nada.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De ahí la obligación de buscarlos activamente.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Paso 1: empezar por la propia lista.** En la sesión 3 hicieron un listado de actores no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Casi todos lo olvidaron, y ahí está la mitad del trabajo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señalar la lección de método —es la tercera vez en el curso que un material viejo resuelve un problema nuevo—: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documentar es una inversión, no un trámite.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2: seguir la cadena de trabajo.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¿A quién le llega más trabajo y a quién menos?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impacto indirecto más frecuente.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modelo, la voluntaria del cierre; en un proyecto de gestión, la persona que ahora tiene que llenar el formato.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3: preguntar quién NO puede usarla.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paso es el corazón ético de la sesión y hay que darle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no tiene celular, datos, lectura fluida, buena vista, o el idioma.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afectados que no eligieron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regla, dicha en una frase que se les debería quedar: **si su solución solo mejora a quien ya estaba mejor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Empeoró la brecha.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Y el matiz que hace la idea difícil y verdadera: el excluido puede quedar peor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en términos relativos** aunque nada haya cambiado para él, porque los demás mejoraron y la atención se reordenó.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caso es real, es incómodo y es exactamente lo que hay que aprender a ver.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4: mirar qué consume.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Energía, datos, papel, hardware que acaba en basura electrónica.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5 ya midieron un pedazo de su huella; hoy ese número entra a la matriz.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preguntar a quién desplaza.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solución reemplaza algo, alguien hacía ese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conviene ser equilibrado y no moralizar: no siempre es malo ni siempre es evitable —la ingeniería lleva dos siglos automatizando trabajo—,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omitirlo del análisis sí es un error técnico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primera tabla es la plantilla del taller y conviene recorrerla dimensión por dimensión, deteniéndose en la columna de la derecha: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cómo se mide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Ahí está el aprendizaje.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«Acceso» no se mide con adjetivos sino con el número de personas del grupo objetivo que quedan fuera y por qué motivo.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«Carga de trabajo» se mide en minutos por día.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«Consumo» se mide en KB por consulta por número de consultas estimadas — y ese número ya lo tienen desde la sesión 5.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Insista en la nota al pie: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fila que no aplica se escribe «no aplica» con una línea de razón.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Dejarla en blanco parece un olvido, y en un informe real el lector no puede distinguir entre «no aplica» y «no lo pensamos».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segunda tabla es la calificación, y aquí hay que hacer un ejercicio de honestidad intelectual que vale más que la tabla misma.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Los cinco criterios —carácter, magnitud, extensión, duración, reversibilidad— provienen de las metodologías de evaluación de impacto ambiental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trabajan con matrices de este tipo desde los años setenta; la matriz de Leopold, de 1971, es el ejemplo clásico y sigue siendo el punto de partida de la mayoría de las variantes que se usan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algún estudiante quiere profundizar, esa es la palabra que debe buscar, y ya saben de la sesión 9 cómo verificar una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ahora el límite, que hay que decir en voz alta porque es formativo: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escalas son una convención para comparar y ordenar, no una medición.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Poner «magnitud: alta» no convierte un juicio en un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equipos honestos pueden calificar distinto el mismo impacto, y eso no invalida el método: la matriz sirve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ordenar prioridades y forzar la conversación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para producir un número objetivo.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sí es exigible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calificación tenga una línea de justificación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entiende esto no va a confundir nunca más una escala ordinal con una medición, y esa es una de las confusiones más comunes en informes técnicos.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adjetivo al indicador, y las tres honestidades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diapositiva de antes y después es la que más rinde en clase, porque la columna izquierda es literalmente lo que van a escribir si no se les enseña otra cosa: «beneficia a la comunidad»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«contribuye al cuidado del medio ambiente», «mejora la calidad de vida».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Leerlas en voz alta produce risa incómoda, y ese es el momento de hacer la pregunta: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¿qué proyecto NO podría escribir estas cinco frases?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Ninguno.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Una afirmación que sirve para todo no informa de nada.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columna derecha muestra el mismo contenido convertido en indicador: 4 de cada 10 viajes evitados, menos de 200 KB por consulta, un pasaje y 25 minutos ahorrados por visita.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el detalle que hay que señalar con el cursor: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últimas líneas de la derecha son impactos negativos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—1 de cada 5 vecinos queda fuera, 10 minutos diarios extra para la voluntaria—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son precisamente las que hacen creíbles a las otras tres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lector experimentado confía en un informe que reconoce sus costos.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De las tres honestidades, la primera es la que hay que repetir hasta que se instale: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«no genera ningún impacto negativo» es la frase que más credibilidad quita en un informe de ingeniería.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Toda solución tiene costos.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adjetivo al indicador, y las tres honestidades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no encuentra ninguno no buscó.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desactiva la excusa más común: si no se puede medir,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describe con precisión y se dice cómo se podría medir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sabemos cuántos vecinos no tienen datos móviles; se sabría con una encuesta de diez casas» es una respuesta profesional, y de hecho es el tipo de frase que aparece en informes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es profesional es un «no aplica» sin razón.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cierra el arco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que alguien paga, energía, hardware que se vuelve residuo.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hay un hallazgo que vale la pena hacerles ver, porque conecta cuatro sesiones: el límite de 200 KB por consulta que definieron en la sesión 5 como indicador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volvió requisito no funcional en la sesión 7, sirvió para descartar imágenes en las sesiones 10 y 11, y hoy entra a la matriz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 de mitigación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bien elegido es, a la vez, una mitigación — y eso no se puede improvisar en la Clase 13 si no se escribió en la 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Matriz de impacto social y ambiental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17 min: afectados, positivos con indicador, negativos, matriz y mitigación · matriz de impacto con indicadores, negativos declarados y mitigaciones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AFECTADOS QUE NO SON USUARIOS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lista de quienes reciben un efecto sin usar la solución: a quién le llega más trabajo, quién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usarla, y a quién desplaza.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IMPACTOS POSITIVOS CON SU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efectos buenos, cada uno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número y una unidad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cuántas personas, cuántas veces, cuántos minutos, cuántos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IMPACTOS NEGATIVOS O RIESGOS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efectos malos,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los recibe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exactamente. Si no encuentran ninguno, pregúntense quién trabaja más por su solución.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CALIFICADA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impacto con su carácter, magnitud, extensión, duración y reversibilidad 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línea de justificación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calificación.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MEDIDAS DE MITIGACIÓN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para reducir cada impacto negativo. Puede ser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medida no digital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muchas veces es la mejor.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afectados que no son usuarios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Nómbrelos. Sin «la comunidad».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Un impacto positivo con su número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más fuerte, con indicador.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El impacto negativo y su mitigación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333333"/>
                </a:solidFill>
                <a:latin typeface="Calibri"/>
              </a:rPr>
              <a:t>El minuto obligatorio.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más incómodo que hayan encontrado.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calificación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 el impacto más grave y por qué lo calificaron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dimensión no aplica en su proyecto, y por qué.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Aplicación de matrices de evaluación — dejar la matriz de impacto completa en el documento del equipo, con indicadores, negativos y mitigaciones.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evaluación del impacto: media página que resuma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impacto positivo más fuerte con su número y el negativo más importante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Es el borrador de dos diapositivas de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14 · Preparación de la 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preparamos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estructura de 8 minutos, las diapositivas, el reparto entre integrantes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general cronometrado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Clase 14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tiene que estar ya ajustado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 que salió de la Clase 12: si ensayan con la versión vieja, el ensayo no sirve. Traigan también la cuenta de Canva o Google Slides lista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va a hablar de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Evaluación de impacto social y ambiental · Clase 13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Los usuarios eligieron usarla; los afectados no eligieron 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