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notesMaster" Target="notesMasters/notesMaster1.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Ninguno de los cuatro abre la app y a todos les cambia algo. Pida a cada equipo que encuentre al menos dos así en su proyecto.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mitigación sale de la misma calificación: como es reversible, se mantiene la ficha de papel junto a la app. Eso es lo que se espera en la matriz.</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PREGUNTA DE ENTRADA: ¿QUIÉN QUEDA PEOR?</a:t>
            </a:r>
          </a:p>
          <a:p/>
          <a:p>
            <a:r>
              <a:t>El gancho de hoy está construido para incomodar, y hay que dejarlo incomodar unos segundos antes de explicarlo: si su solución funciona perfectamente y la usa todo el mundo, ¿quién queda peor que antes? La reacción típica es «nadie», y esa respuesta es el punto de partida de la sesión.</a:t>
            </a:r>
          </a:p>
          <a:p/>
          <a:p>
            <a:r>
              <a:t>Siempre hay alguien, y casi nunca es un usuario. En el caso de la biblioteca: la voluntaria del cierre, que ahora dedica diez minutos más a actualizar la lista; y el vecino sin datos móviles, que antes llegaba al mostrador en igualdad de condiciones y ahora llega detrás de tres personas que ya sabían qué pedir. Ninguno de los dos usa el sistema para consultar, y a los dos les cambió la vida por él.</a:t>
            </a:r>
          </a:p>
          <a:p/>
          <a:p>
            <a:r>
              <a:t>El encuadre que justifica la sesión completa, y que conviene decir sin solemnidad: un ingeniero que no puede responder esa pregunta no terminó el diseño. No es un asunto de ética añadida al final ni un requisito de acreditación: es parte del análisis técnico, igual que estimar el consumo o el costo. Los proyectos que fallan socialmente casi nunca fallan por el código; fallan porque nadie preguntó a quién más le pasaba algo.</a:t>
            </a:r>
          </a:p>
          <a:p/>
          <a:p>
            <a:r>
              <a:t>En la práctica, use la apertura para verificar el insumo: pida que cada equipo escriba en el muro un afectado que no sea usuario. Los equipos que traigan el listado de la sesión 3 lo van a hacer en treinta segundos; los que no, van a escribir «los usuarios». Ahí ya sabe con quién tiene que sentarse en las salas de grupo.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IMPACTO NO ES INTENCIÓN, Y EL INDIRECTO ES EL QUE MUERDE</a:t>
            </a:r>
          </a:p>
          <a:p/>
          <a:p>
            <a:r>
              <a:t>Impacto no es intención. Es la distinción más importante del día y la que más cuesta. «Queremos ayudar a la comunidad» es una intención, y no informa nada: no se puede verificar, no se puede medir y nadie puede estar en contra. El impacto es lo que de hecho cambia en la vida de alguien, ocurra o no lo que queríamos. Conviene decirlo de frente: el mundo está lleno de proyectos con buenas intenciones y malos impactos, y el propósito de una matriz es precisamente separar las dos cosas.</a:t>
            </a:r>
          </a:p>
          <a:p/>
          <a:p>
            <a:r>
              <a:t>Directo e indirecto. El directo es fácil porque es el que buscábamos: la persona hace menos viajes en vano. El indirecto es el que se olvida y el que trae los problemas: la voluntaria del cierre dedica diez minutos más cada día. Un dato importante para su formación profesional: la resistencia a una solución nueva casi siempre viene de un impacto indirecto que nadie consideró. Cuando en una empresa un sistema «no lo quieren usar», nueve de diez veces es porque a alguien le llegó trabajo extra que nunca se contó.</a:t>
            </a:r>
          </a:p>
          <a:p/>
          <a:p>
            <a:r>
              <a:t>Positivo y negativo. Hay que anticipar y desactivar la creencia de que declarar un impacto negativo baja la nota. Es lo contrario, y hay que decirlo explícitamente porque van a dudar: un informe con solo impactos positivos no es optimista, es incompleto, y quien lo lea va a desconfiar de todo lo demás. En este curso declarar un negativo con su mitigación sube la nota.</a:t>
            </a:r>
          </a:p>
          <a:p/>
          <a:p>
            <a:r>
              <a:t>Corto y largo plazo. Algunos efectos solo aparecen con el uso sostenido: la lista que crece y se vuelve inmanejable, la dependencia de una sola voluntaria que sabe actualizarla. Nombrarlos sin poder medirlos ya es hacer ingeniería, y es material directo para la sección de trabajo futuro del informe final.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AFECTADOS QUE NO ELIGIERON NADA</a:t>
            </a:r>
          </a:p>
          <a:p/>
          <a:p>
            <a:r>
              <a:t>La frase que ordena este bloque: los usuarios son la parte fácil, porque por definición eligieron usarla; los afectados no eligieron nada. De ahí la obligación de buscarlos activamente.</a:t>
            </a:r>
          </a:p>
          <a:p/>
          <a:p>
            <a:r>
              <a:t>Paso 1: empezar por la propia lista. En la sesión 3 hicieron un listado de actores no usuarios. Casi todos lo olvidaron, y ahí está la mitad del trabajo de hoy. Vale la pena señalar la lección de método —es la tercera vez en el curso que un material viejo resuelve un problema nuevo—: documentar es una inversión, no un trámite.</a:t>
            </a:r>
          </a:p>
          <a:p/>
          <a:p>
            <a:r>
              <a:t>Paso 2: seguir la cadena de trabajo. ¿A quién le llega más trabajo y a quién menos? Es el impacto indirecto más frecuente. En el caso modelo, la voluntaria del cierre; en un proyecto de gestión, la persona que ahora tiene que llenar el formato.</a:t>
            </a:r>
          </a:p>
          <a:p/>
          <a:p>
            <a:r>
              <a:t>Paso 3: preguntar quién NO puede usarla. Este paso es el corazón ético de la sesión y hay que darle tiempo. Quien no tiene celular, datos, lectura fluida, buena vista, o el idioma. La regla, dicha en una frase que se les debería quedar: si su solución solo mejora a quien ya estaba mejor, empeoró la brecha. Y el matiz que hace la idea difícil y verdadera: el excluido puede quedar peor en términos relativos aunque nada haya cambiado para él, porque los demás mejoraron y la atención se reordenó. Ese caso es real, es incómodo y es exactamente lo que hay que aprender a ver.</a:t>
            </a:r>
          </a:p>
          <a:p/>
          <a:p>
            <a:r>
              <a:t>Paso 4: mirar qué consume. Energía, datos, papel, hardware que acaba en basura electrónica. En la sesión 5 ya midieron un pedazo de su huella; hoy ese número entra a la matriz.</a:t>
            </a:r>
          </a:p>
          <a:p/>
          <a:p>
            <a:r>
              <a:t>Paso 5: preguntar a quién desplaza. Si la solución reemplaza algo, alguien hacía ese algo. Aquí conviene ser equilibrado y no sermonear: no siempre es malo ni siempre es evitable —la ingeniería lleva dos siglos automatizando trabajo—, pero omitirlo del análisis sí es un error técnico.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MATRIZ, LA CALIFICACIÓN Y LOS LÍMITES DEL MÉTODO</a:t>
            </a:r>
          </a:p>
          <a:p/>
          <a:p>
            <a:r>
              <a:t>La primera tabla es la plantilla del taller y conviene recorrerla dimensión por dimensión, deteniéndose en la columna de la derecha: cómo se mide. Ahí está el aprendizaje. «Acceso» no se mide con adjetivos sino con el número de personas del grupo objetivo que quedan fuera y por qué motivo. «Carga de trabajo» se mide en minutos por día. «Consumo» se mide en KB por consulta por número de consultas estimadas — y ese número ya lo tienen desde la sesión 5.</a:t>
            </a:r>
          </a:p>
          <a:p/>
          <a:p>
            <a:r>
              <a:t>Insista en la nota al pie: una fila que no aplica se escribe «no aplica» con una línea de razón. Dejarla en blanco parece un olvido, y en un informe real el lector no puede distinguir entre «no aplica» y «no lo pensamos».</a:t>
            </a:r>
          </a:p>
          <a:p/>
          <a:p>
            <a:r>
              <a:t>La segunda tabla es la calificación, y aquí hay que hacer un ejercicio de honestidad intelectual que vale más que la tabla misma. Los cinco criterios —carácter, magnitud, extensión, duración, reversibilidad— provienen de las metodologías de evaluación de impacto ambiental, que trabajan con matrices de este tipo desde los años setenta; la matriz de Leopold, de 1971, es el ejemplo clásico y sigue siendo el punto de partida de la mayoría de las variantes que se usan hoy. Si algún estudiante quiere profundizar, esa es la palabra que debe buscar, y ya saben de la sesión 9 cómo verificar una fuente.</a:t>
            </a:r>
          </a:p>
          <a:p/>
          <a:p>
            <a:r>
              <a:t>Y ahora el límite, que hay que decir en voz alta porque es formativo: las escalas son una convención para comparar y ordenar, no una medición. Poner «magnitud: alta» no convierte un juicio en un dato. Dos equipos honestos pueden calificar distinto el mismo impacto, y eso no invalida el método: la matriz sirve para ordenar prioridades y forzar la conversación, no para producir un número objetivo. Lo que sí es exigible es que cada calificación tenga una línea de justificación. Un estudiante que entiende esto no va a confundir nunca más una escala ordinal con una medición, y esa es una de las confusiones más comunes en informes técnicos.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MATRIZ, LA CALIFICACIÓN Y LOS LÍMITES DEL MÉTODO</a:t>
            </a:r>
          </a:p>
          <a:p/>
          <a:p>
            <a:r>
              <a:t>La primera tabla es la plantilla del taller y conviene recorrerla dimensión por dimensión, deteniéndose en la columna de la derecha: cómo se mide. Ahí está el aprendizaje. «Acceso» no se mide con adjetivos sino con el número de personas del grupo objetivo que quedan fuera y por qué motivo. «Carga de trabajo» se mide en minutos por día. «Consumo» se mide en KB por consulta por número de consultas estimadas — y ese número ya lo tienen desde la sesión 5.</a:t>
            </a:r>
          </a:p>
          <a:p/>
          <a:p>
            <a:r>
              <a:t>Insista en la nota al pie: una fila que no aplica se escribe «no aplica» con una línea de razón. Dejarla en blanco parece un olvido, y en un informe real el lector no puede distinguir entre «no aplica» y «no lo pensamos».</a:t>
            </a:r>
          </a:p>
          <a:p/>
          <a:p>
            <a:r>
              <a:t>La segunda tabla es la calificación, y aquí hay que hacer un ejercicio de honestidad intelectual que vale más que la tabla misma. Los cinco criterios —carácter, magnitud, extensión, duración, reversibilidad— provienen de las metodologías de evaluación de impacto ambiental, que trabajan con matrices de este tipo desde los años setenta; la matriz de Leopold, de 1971, es el ejemplo clásico y sigue siendo el punto de partida de la mayoría de las variantes que se usan hoy. Si algún estudiante quiere profundizar, esa es la palabra que debe buscar, y ya saben de la sesión 9 cómo verificar una fuente.</a:t>
            </a:r>
          </a:p>
          <a:p/>
          <a:p>
            <a:r>
              <a:t>Y ahora el límite, que hay que decir en voz alta porque es formativo: las escalas son una convención para comparar y ordenar, no una medición. Poner «magnitud: alta» no convierte un juicio en un dato. Dos equipos honestos pueden calificar distinto el mismo impacto, y eso no invalida el método: la matriz sirve para ordenar prioridades y forzar la conversación, no para producir un número objetivo. Lo que sí es exigible es que cada calificación tenga una línea de justificación. Un estudiante que entiende esto no va a confundir nunca más una escala ordinal con una medición, y esa es una de las confusiones más comunes en informes técnicos.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 ADJETIVO AL INDICADOR, Y LAS TRES VERDADES</a:t>
            </a:r>
          </a:p>
          <a:p/>
          <a:p>
            <a:r>
              <a:t>La diapositiva de antes y después es la que más rinde en clase, porque la columna izquierda es literalmente lo que van a escribir si no se les enseña otra cosa: «beneficia a la comunidad», «contribuye al cuidado del medio ambiente», «mejora la calidad de vida». Leerlas en voz alta produce risa incómoda, y ese es el momento de hacer la pregunta: ¿qué proyecto NO podría escribir estas cinco frases? Ninguno. Una afirmación que sirve para todo no informa de nada.</a:t>
            </a:r>
          </a:p>
          <a:p/>
          <a:p>
            <a:r>
              <a:t>La columna derecha muestra el mismo contenido convertido en indicador: 4 de cada 10 viajes evitados, menos de 200 KB por consulta, un pasaje y 25 minutos ahorrados por visita. Y el detalle que hay que señalar con el cursor: las dos últimas líneas de la derecha son impactos negativos —1 de cada 5 vecinos queda fuera, 10 minutos diarios extra para la voluntaria— y son precisamente las que hacen creíbles a las otras tres. Un lector experimentado confía en un informe que reconoce sus costos.</a:t>
            </a:r>
          </a:p>
          <a:p/>
          <a:p>
            <a:r>
              <a:t>De las tres verdades, la primera es la que hay que repetir hasta que se instale: «no genera ningún impacto negativo» es la frase que más credibilidad quita en un informe de ingeniería. Toda solución tiene costos. Un equipo que no encuentra ninguno no buscó.</a:t>
            </a:r>
          </a:p>
          <a:p/>
          <a:p>
            <a:r>
              <a:t>La segunda desactiva la excusa más común: si no se puede medir, se describe con precisión y se dice cómo se podría medir. «No sabemos cuántos vecinos no tienen datos móviles; se sabría con una encuesta de diez casas» es una respuesta profesional, y de hecho es el tipo de frase que aparece en informes reales. Lo que no es profesional es un «no aplica» sin razón.</a:t>
            </a:r>
          </a:p>
          <a:p/>
          <a:p>
            <a:r>
              <a:t>La tercera cierra el arco del curso: el software también consume. Datos que alguien paga, energía, hardware que se vuelve residuo. Y aquí hay un hallazgo que vale la pena hacerles ver, porque conecta cuatro sesiones: el límite de 200 KB por consulta que definieron en la sesión 5 como indicador, se volvió requisito no funcional en la sesión 7, sirvió para descartar imágenes en las sesiones 10 y 11, y hoy entra a la matriz como medida de mitigación ambiental. Un requisito no funcional bien elegido es, a la vez, una mitigación — y eso no se puede improvisar en la Clase 13 si no se escribió en la 5.</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 ADJETIVO AL INDICADOR, Y LAS TRES VERDADES</a:t>
            </a:r>
          </a:p>
          <a:p/>
          <a:p>
            <a:r>
              <a:t>La diapositiva de antes y después es la que más rinde en clase, porque la columna izquierda es literalmente lo que van a escribir si no se les enseña otra cosa: «beneficia a la comunidad», «contribuye al cuidado del medio ambiente», «mejora la calidad de vida». Leerlas en voz alta produce risa incómoda, y ese es el momento de hacer la pregunta: ¿qué proyecto NO podría escribir estas cinco frases? Ninguno. Una afirmación que sirve para todo no informa de nada.</a:t>
            </a:r>
          </a:p>
          <a:p/>
          <a:p>
            <a:r>
              <a:t>La columna derecha muestra el mismo contenido convertido en indicador: 4 de cada 10 viajes evitados, menos de 200 KB por consulta, un pasaje y 25 minutos ahorrados por visita. Y el detalle que hay que señalar con el cursor: las dos últimas líneas de la derecha son impactos negativos —1 de cada 5 vecinos queda fuera, 10 minutos diarios extra para la voluntaria— y son precisamente las que hacen creíbles a las otras tres. Un lector experimentado confía en un informe que reconoce sus costos.</a:t>
            </a:r>
          </a:p>
          <a:p/>
          <a:p>
            <a:r>
              <a:t>De las tres verdades, la primera es la que hay que repetir hasta que se instale: «no genera ningún impacto negativo» es la frase que más credibilidad quita en un informe de ingeniería. Toda solución tiene costos. Un equipo que no encuentra ninguno no buscó.</a:t>
            </a:r>
          </a:p>
          <a:p/>
          <a:p>
            <a:r>
              <a:t>La segunda desactiva la excusa más común: si no se puede medir, se describe con precisión y se dice cómo se podría medir. «No sabemos cuántos vecinos no tienen datos móviles; se sabría con una encuesta de diez casas» es una respuesta profesional, y de hecho es el tipo de frase que aparece en informes reales. Lo que no es profesional es un «no aplica» sin razón.</a:t>
            </a:r>
          </a:p>
          <a:p/>
          <a:p>
            <a:r>
              <a:t>La tercera cierra el arco del curso: el software también consume. Datos que alguien paga, energía, hardware que se vuelve residuo. Y aquí hay un hallazgo que vale la pena hacerles ver, porque conecta cuatro sesiones: el límite de 200 KB por consulta que definieron en la sesión 5 como indicador, se volvió requisito no funcional en la sesión 7, sirvió para descartar imágenes en las sesiones 10 y 11, y hoy entra a la matriz como medida de mitigación ambiental. Un requisito no funcional bien elegido es, a la vez, una mitigación — y eso no se puede improvisar en la Clase 13 si no se escribió en la 5.</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notesSlide" Target="../notesSlides/notesSlid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
            <a:ext cx="12191695" cy="50292"/>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uniajc_blanco.png"/>
          <p:cNvPicPr>
            <a:picLocks noChangeAspect="1"/>
          </p:cNvPicPr>
          <p:nvPr/>
        </p:nvPicPr>
        <p:blipFill>
          <a:blip r:embed="rId2"/>
          <a:stretch>
            <a:fillRect/>
          </a:stretch>
        </p:blipFill>
        <p:spPr>
          <a:xfrm>
            <a:off x="502920" y="384048"/>
            <a:ext cx="2011680" cy="876815"/>
          </a:xfrm>
          <a:prstGeom prst="rect">
            <a:avLst/>
          </a:prstGeom>
        </p:spPr>
      </p:pic>
      <p:sp>
        <p:nvSpPr>
          <p:cNvPr id="6" name="Rounded Rectangle 5"/>
          <p:cNvSpPr/>
          <p:nvPr/>
        </p:nvSpPr>
        <p:spPr>
          <a:xfrm>
            <a:off x="10042855" y="384048"/>
            <a:ext cx="1691640" cy="38404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42855" y="384048"/>
            <a:ext cx="1691640" cy="384048"/>
          </a:xfrm>
          <a:prstGeom prst="rect">
            <a:avLst/>
          </a:prstGeom>
          <a:noFill/>
        </p:spPr>
        <p:txBody>
          <a:bodyPr wrap="square" anchor="ctr"/>
          <a:lstStyle/>
          <a:p>
            <a:pPr algn="ctr"/>
            <a:r>
              <a:rPr sz="1400" b="1" i="0">
                <a:solidFill>
                  <a:srgbClr val="FFFFFF"/>
                </a:solidFill>
                <a:latin typeface="Calibri"/>
              </a:rPr>
              <a:t>Clase 13</a:t>
            </a:r>
          </a:p>
        </p:txBody>
      </p:sp>
      <p:sp>
        <p:nvSpPr>
          <p:cNvPr id="8" name="TextBox 7"/>
          <p:cNvSpPr txBox="1"/>
          <p:nvPr/>
        </p:nvSpPr>
        <p:spPr>
          <a:xfrm>
            <a:off x="731520" y="2331720"/>
            <a:ext cx="10728655" cy="1828800"/>
          </a:xfrm>
          <a:prstGeom prst="rect">
            <a:avLst/>
          </a:prstGeom>
          <a:noFill/>
        </p:spPr>
        <p:txBody>
          <a:bodyPr wrap="square" anchor="ctr"/>
          <a:lstStyle/>
          <a:p>
            <a:pPr algn="ctr"/>
            <a:r>
              <a:rPr sz="3400" b="1" i="0">
                <a:solidFill>
                  <a:srgbClr val="FFFFFF"/>
                </a:solidFill>
                <a:latin typeface="Calibri"/>
              </a:rPr>
              <a:t>Evaluación de impacto social y ambiental</a:t>
            </a:r>
          </a:p>
        </p:txBody>
      </p:sp>
      <p:sp>
        <p:nvSpPr>
          <p:cNvPr id="9" name="Rectangle 8"/>
          <p:cNvSpPr/>
          <p:nvPr/>
        </p:nvSpPr>
        <p:spPr>
          <a:xfrm>
            <a:off x="4632807" y="4206240"/>
            <a:ext cx="2926080" cy="50292"/>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4361688"/>
            <a:ext cx="10728655" cy="640080"/>
          </a:xfrm>
          <a:prstGeom prst="rect">
            <a:avLst/>
          </a:prstGeom>
          <a:noFill/>
        </p:spPr>
        <p:txBody>
          <a:bodyPr wrap="square">
            <a:spAutoFit/>
          </a:bodyPr>
          <a:lstStyle/>
          <a:p>
            <a:pPr algn="ctr"/>
            <a:r>
              <a:rPr sz="1800" b="0" i="0">
                <a:solidFill>
                  <a:srgbClr val="B8D8EE"/>
                </a:solidFill>
                <a:latin typeface="Calibri"/>
              </a:rPr>
              <a:t>A quién más le pasa algo por culpa de su solución, aunque nunca la use</a:t>
            </a:r>
          </a:p>
        </p:txBody>
      </p:sp>
      <p:sp>
        <p:nvSpPr>
          <p:cNvPr id="11" name="TextBox 10"/>
          <p:cNvSpPr txBox="1"/>
          <p:nvPr/>
        </p:nvSpPr>
        <p:spPr>
          <a:xfrm>
            <a:off x="11094415" y="6419088"/>
            <a:ext cx="548640" cy="274320"/>
          </a:xfrm>
          <a:prstGeom prst="rect">
            <a:avLst/>
          </a:prstGeom>
          <a:noFill/>
        </p:spPr>
        <p:txBody>
          <a:bodyPr wrap="square">
            <a:spAutoFit/>
          </a:bodyPr>
          <a:lstStyle/>
          <a:p>
            <a:pPr algn="r"/>
            <a:r>
              <a:rPr sz="1100" b="1" i="0">
                <a:solidFill>
                  <a:srgbClr val="7EB8D4"/>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70432"/>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384048"/>
          </a:xfrm>
          <a:prstGeom prst="rect">
            <a:avLst/>
          </a:prstGeom>
          <a:noFill/>
        </p:spPr>
        <p:txBody>
          <a:bodyPr wrap="square">
            <a:spAutoFit/>
          </a:bodyPr>
          <a:lstStyle/>
          <a:p>
            <a:r>
              <a:rPr sz="2600" b="1" i="0">
                <a:solidFill>
                  <a:srgbClr val="FFFFFF"/>
                </a:solidFill>
                <a:latin typeface="Calibri"/>
              </a:rPr>
              <a:t>Agenda de hoy (90 min)</a:t>
            </a:r>
          </a:p>
        </p:txBody>
      </p:sp>
      <p:sp>
        <p:nvSpPr>
          <p:cNvPr id="5" name="TextBox 4"/>
          <p:cNvSpPr txBox="1"/>
          <p:nvPr/>
        </p:nvSpPr>
        <p:spPr>
          <a:xfrm>
            <a:off x="457200" y="566928"/>
            <a:ext cx="11277295" cy="411480"/>
          </a:xfrm>
          <a:prstGeom prst="rect">
            <a:avLst/>
          </a:prstGeom>
          <a:noFill/>
        </p:spPr>
        <p:txBody>
          <a:bodyPr wrap="square">
            <a:spAutoFit/>
          </a:bodyPr>
          <a:lstStyle/>
          <a:p>
            <a:r>
              <a:rPr sz="1400" b="0" i="0">
                <a:solidFill>
                  <a:srgbClr val="B8D8EE"/>
                </a:solidFill>
                <a:latin typeface="Calibri"/>
              </a:rPr>
              <a:t>La misma estructura de las 16 sesiones. El reloj de pared de su grupo está en el calendario del curso.</a:t>
            </a:r>
          </a:p>
        </p:txBody>
      </p:sp>
      <p:sp>
        <p:nvSpPr>
          <p:cNvPr id="6" name="Rectangle 5"/>
          <p:cNvSpPr/>
          <p:nvPr/>
        </p:nvSpPr>
        <p:spPr>
          <a:xfrm>
            <a:off x="457200" y="2386584"/>
            <a:ext cx="11277295" cy="73152"/>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438625" y="2276856"/>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63624"/>
            <a:ext cx="2255459" cy="502920"/>
          </a:xfrm>
          <a:prstGeom prst="rect">
            <a:avLst/>
          </a:prstGeom>
          <a:noFill/>
        </p:spPr>
        <p:txBody>
          <a:bodyPr wrap="square">
            <a:spAutoFit/>
          </a:bodyPr>
          <a:lstStyle/>
          <a:p>
            <a:pPr algn="ctr"/>
            <a:r>
              <a:rPr sz="1300" b="1" i="0">
                <a:solidFill>
                  <a:srgbClr val="095292"/>
                </a:solidFill>
                <a:latin typeface="Calibri"/>
              </a:rPr>
              <a:t>00:00–00:10 · 10 min</a:t>
            </a:r>
          </a:p>
        </p:txBody>
      </p:sp>
      <p:sp>
        <p:nvSpPr>
          <p:cNvPr id="9" name="TextBox 8"/>
          <p:cNvSpPr txBox="1"/>
          <p:nvPr/>
        </p:nvSpPr>
        <p:spPr>
          <a:xfrm>
            <a:off x="502920" y="2798064"/>
            <a:ext cx="2164019" cy="3099816"/>
          </a:xfrm>
          <a:prstGeom prst="rect">
            <a:avLst/>
          </a:prstGeom>
          <a:noFill/>
        </p:spPr>
        <p:txBody>
          <a:bodyPr wrap="square">
            <a:spAutoFit/>
          </a:bodyPr>
          <a:lstStyle/>
          <a:p>
            <a:pPr algn="ctr"/>
            <a:r>
              <a:rPr sz="1300" b="0" i="0">
                <a:solidFill>
                  <a:srgbClr val="333333"/>
                </a:solidFill>
                <a:latin typeface="Calibri"/>
              </a:rPr>
              <a:t>Pregunta de entrada en el muro: ¿quién queda peor?</a:t>
            </a:r>
          </a:p>
        </p:txBody>
      </p:sp>
      <p:sp>
        <p:nvSpPr>
          <p:cNvPr id="10" name="Rounded Rectangle 9"/>
          <p:cNvSpPr/>
          <p:nvPr/>
        </p:nvSpPr>
        <p:spPr>
          <a:xfrm>
            <a:off x="3694084" y="2276856"/>
            <a:ext cx="292608" cy="29260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12659" y="1563624"/>
            <a:ext cx="2255459" cy="502920"/>
          </a:xfrm>
          <a:prstGeom prst="rect">
            <a:avLst/>
          </a:prstGeom>
          <a:noFill/>
        </p:spPr>
        <p:txBody>
          <a:bodyPr wrap="square">
            <a:spAutoFit/>
          </a:bodyPr>
          <a:lstStyle/>
          <a:p>
            <a:pPr algn="ctr"/>
            <a:r>
              <a:rPr sz="1300" b="1" i="0">
                <a:solidFill>
                  <a:srgbClr val="095292"/>
                </a:solidFill>
                <a:latin typeface="Calibri"/>
              </a:rPr>
              <a:t>00:10–00:55 · 45 min</a:t>
            </a:r>
          </a:p>
        </p:txBody>
      </p:sp>
      <p:sp>
        <p:nvSpPr>
          <p:cNvPr id="12" name="TextBox 11"/>
          <p:cNvSpPr txBox="1"/>
          <p:nvPr/>
        </p:nvSpPr>
        <p:spPr>
          <a:xfrm>
            <a:off x="2758379" y="2798064"/>
            <a:ext cx="2164019" cy="3099816"/>
          </a:xfrm>
          <a:prstGeom prst="rect">
            <a:avLst/>
          </a:prstGeom>
          <a:noFill/>
        </p:spPr>
        <p:txBody>
          <a:bodyPr wrap="square">
            <a:spAutoFit/>
          </a:bodyPr>
          <a:lstStyle/>
          <a:p>
            <a:pPr algn="ctr"/>
            <a:r>
              <a:rPr sz="1300" b="0" i="0">
                <a:solidFill>
                  <a:srgbClr val="333333"/>
                </a:solidFill>
                <a:latin typeface="Calibri"/>
              </a:rPr>
              <a:t>Impacto, afectados, la matriz y cómo se califica un impacto</a:t>
            </a:r>
          </a:p>
        </p:txBody>
      </p:sp>
      <p:sp>
        <p:nvSpPr>
          <p:cNvPr id="13" name="Rounded Rectangle 12"/>
          <p:cNvSpPr/>
          <p:nvPr/>
        </p:nvSpPr>
        <p:spPr>
          <a:xfrm>
            <a:off x="5949543" y="2276856"/>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968118" y="1563624"/>
            <a:ext cx="2255459" cy="502920"/>
          </a:xfrm>
          <a:prstGeom prst="rect">
            <a:avLst/>
          </a:prstGeom>
          <a:noFill/>
        </p:spPr>
        <p:txBody>
          <a:bodyPr wrap="square">
            <a:spAutoFit/>
          </a:bodyPr>
          <a:lstStyle/>
          <a:p>
            <a:pPr algn="ctr"/>
            <a:r>
              <a:rPr sz="1300" b="1" i="0">
                <a:solidFill>
                  <a:srgbClr val="095292"/>
                </a:solidFill>
                <a:latin typeface="Calibri"/>
              </a:rPr>
              <a:t>00:55–01:12 · 17 min</a:t>
            </a:r>
          </a:p>
        </p:txBody>
      </p:sp>
      <p:sp>
        <p:nvSpPr>
          <p:cNvPr id="15" name="TextBox 14"/>
          <p:cNvSpPr txBox="1"/>
          <p:nvPr/>
        </p:nvSpPr>
        <p:spPr>
          <a:xfrm>
            <a:off x="5013838" y="2798064"/>
            <a:ext cx="2164019" cy="3099816"/>
          </a:xfrm>
          <a:prstGeom prst="rect">
            <a:avLst/>
          </a:prstGeom>
          <a:noFill/>
        </p:spPr>
        <p:txBody>
          <a:bodyPr wrap="square">
            <a:spAutoFit/>
          </a:bodyPr>
          <a:lstStyle/>
          <a:p>
            <a:pPr algn="ctr"/>
            <a:r>
              <a:rPr sz="1300" b="0" i="0">
                <a:solidFill>
                  <a:srgbClr val="333333"/>
                </a:solidFill>
                <a:latin typeface="Calibri"/>
              </a:rPr>
              <a:t>Práctica en equipos (opcional · la guía está en la carpeta de la clase)</a:t>
            </a:r>
          </a:p>
        </p:txBody>
      </p:sp>
      <p:sp>
        <p:nvSpPr>
          <p:cNvPr id="16" name="Rounded Rectangle 15"/>
          <p:cNvSpPr/>
          <p:nvPr/>
        </p:nvSpPr>
        <p:spPr>
          <a:xfrm>
            <a:off x="8205002" y="2276856"/>
            <a:ext cx="292608" cy="29260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23577" y="1563624"/>
            <a:ext cx="2255459" cy="502920"/>
          </a:xfrm>
          <a:prstGeom prst="rect">
            <a:avLst/>
          </a:prstGeom>
          <a:noFill/>
        </p:spPr>
        <p:txBody>
          <a:bodyPr wrap="square">
            <a:spAutoFit/>
          </a:bodyPr>
          <a:lstStyle/>
          <a:p>
            <a:pPr algn="ctr"/>
            <a:r>
              <a:rPr sz="1300" b="1" i="0">
                <a:solidFill>
                  <a:srgbClr val="095292"/>
                </a:solidFill>
                <a:latin typeface="Calibri"/>
              </a:rPr>
              <a:t>01:12–01:27 · 15 min</a:t>
            </a:r>
          </a:p>
        </p:txBody>
      </p:sp>
      <p:sp>
        <p:nvSpPr>
          <p:cNvPr id="18" name="TextBox 17"/>
          <p:cNvSpPr txBox="1"/>
          <p:nvPr/>
        </p:nvSpPr>
        <p:spPr>
          <a:xfrm>
            <a:off x="7269297" y="2798064"/>
            <a:ext cx="2164019" cy="3099816"/>
          </a:xfrm>
          <a:prstGeom prst="rect">
            <a:avLst/>
          </a:prstGeom>
          <a:noFill/>
        </p:spPr>
        <p:txBody>
          <a:bodyPr wrap="square">
            <a:spAutoFit/>
          </a:bodyPr>
          <a:lstStyle/>
          <a:p>
            <a:pPr algn="ctr"/>
            <a:r>
              <a:rPr sz="1300" b="0" i="0">
                <a:solidFill>
                  <a:srgbClr val="333333"/>
                </a:solidFill>
                <a:latin typeface="Calibri"/>
              </a:rPr>
              <a:t>Socialización de la práctica, si se hizo</a:t>
            </a:r>
          </a:p>
        </p:txBody>
      </p:sp>
      <p:sp>
        <p:nvSpPr>
          <p:cNvPr id="19" name="Rounded Rectangle 18"/>
          <p:cNvSpPr/>
          <p:nvPr/>
        </p:nvSpPr>
        <p:spPr>
          <a:xfrm>
            <a:off x="10460461" y="2276856"/>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79036" y="1563624"/>
            <a:ext cx="2255459" cy="502920"/>
          </a:xfrm>
          <a:prstGeom prst="rect">
            <a:avLst/>
          </a:prstGeom>
          <a:noFill/>
        </p:spPr>
        <p:txBody>
          <a:bodyPr wrap="square">
            <a:spAutoFit/>
          </a:bodyPr>
          <a:lstStyle/>
          <a:p>
            <a:pPr algn="ctr"/>
            <a:r>
              <a:rPr sz="1300" b="1" i="0">
                <a:solidFill>
                  <a:srgbClr val="095292"/>
                </a:solidFill>
                <a:latin typeface="Calibri"/>
              </a:rPr>
              <a:t>01:27–01:30 · 3 min</a:t>
            </a:r>
          </a:p>
        </p:txBody>
      </p:sp>
      <p:sp>
        <p:nvSpPr>
          <p:cNvPr id="21" name="TextBox 20"/>
          <p:cNvSpPr txBox="1"/>
          <p:nvPr/>
        </p:nvSpPr>
        <p:spPr>
          <a:xfrm>
            <a:off x="9524756" y="2798064"/>
            <a:ext cx="2164019" cy="3099816"/>
          </a:xfrm>
          <a:prstGeom prst="rect">
            <a:avLst/>
          </a:prstGeom>
          <a:noFill/>
        </p:spPr>
        <p:txBody>
          <a:bodyPr wrap="square">
            <a:spAutoFit/>
          </a:bodyPr>
          <a:lstStyle/>
          <a:p>
            <a:pPr algn="ctr"/>
            <a:r>
              <a:rPr sz="1300" b="0" i="0">
                <a:solidFill>
                  <a:srgbClr val="333333"/>
                </a:solidFill>
                <a:latin typeface="Calibri"/>
              </a:rPr>
              <a:t>Lo que queda amarrado para la Clase 14</a:t>
            </a:r>
          </a:p>
        </p:txBody>
      </p:sp>
      <p:sp>
        <p:nvSpPr>
          <p:cNvPr id="22" name="TextBox 21"/>
          <p:cNvSpPr txBox="1"/>
          <p:nvPr/>
        </p:nvSpPr>
        <p:spPr>
          <a:xfrm>
            <a:off x="457200" y="5806440"/>
            <a:ext cx="11277295" cy="640080"/>
          </a:xfrm>
          <a:prstGeom prst="rect">
            <a:avLst/>
          </a:prstGeom>
          <a:noFill/>
        </p:spPr>
        <p:txBody>
          <a:bodyPr wrap="square">
            <a:spAutoFit/>
          </a:bodyPr>
          <a:lstStyle/>
          <a:p>
            <a:pPr algn="ctr"/>
            <a:r>
              <a:rPr sz="1200" b="0" i="1">
                <a:solidFill>
                  <a:srgbClr val="666666"/>
                </a:solidFill>
                <a:latin typeface="Calibri"/>
              </a:rPr>
              <a:t>Solo el bloque de </a:t>
            </a:r>
            <a:r>
              <a:rPr sz="1200" b="1" i="1">
                <a:solidFill>
                  <a:srgbClr val="666666"/>
                </a:solidFill>
                <a:latin typeface="Calibri"/>
              </a:rPr>
              <a:t>esta</a:t>
            </a:r>
            <a:r>
              <a:rPr sz="1200" b="0" i="1">
                <a:solidFill>
                  <a:srgbClr val="666666"/>
                </a:solidFill>
                <a:latin typeface="Calibri"/>
              </a:rPr>
              <a:t> clase · 120 min</a:t>
            </a:r>
          </a:p>
        </p:txBody>
      </p:sp>
      <p:sp>
        <p:nvSpPr>
          <p:cNvPr id="23" name="TextBox 22"/>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Objetivos de la sesión</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Distinguir </a:t>
            </a:r>
            <a:r>
              <a:rPr sz="2000" b="1" i="0">
                <a:solidFill>
                  <a:srgbClr val="333333"/>
                </a:solidFill>
                <a:latin typeface="Calibri"/>
              </a:rPr>
              <a:t>impacto</a:t>
            </a:r>
            <a:r>
              <a:rPr sz="2000" b="0" i="0">
                <a:solidFill>
                  <a:srgbClr val="333333"/>
                </a:solidFill>
                <a:latin typeface="Calibri"/>
              </a:rPr>
              <a:t> de intención, y </a:t>
            </a:r>
            <a:r>
              <a:rPr sz="2000" b="1" i="0">
                <a:solidFill>
                  <a:srgbClr val="333333"/>
                </a:solidFill>
                <a:latin typeface="Calibri"/>
              </a:rPr>
              <a:t>directo</a:t>
            </a:r>
            <a:r>
              <a:rPr sz="2000" b="0" i="0">
                <a:solidFill>
                  <a:srgbClr val="333333"/>
                </a:solidFill>
                <a:latin typeface="Calibri"/>
              </a:rPr>
              <a:t> de indirecto.</a:t>
            </a:r>
          </a:p>
          <a:p>
            <a:pPr>
              <a:spcAft>
                <a:spcPts val="800"/>
              </a:spcAft>
            </a:pPr>
            <a:r>
              <a:rPr sz="2000" b="0" i="0">
                <a:solidFill>
                  <a:srgbClr val="333333"/>
                </a:solidFill>
                <a:latin typeface="Calibri"/>
              </a:rPr>
              <a:t>–   Identificar a los afectados que </a:t>
            </a:r>
            <a:r>
              <a:rPr sz="2000" b="1" i="0">
                <a:solidFill>
                  <a:srgbClr val="333333"/>
                </a:solidFill>
                <a:latin typeface="Calibri"/>
              </a:rPr>
              <a:t>no son usuarios</a:t>
            </a:r>
            <a:r>
              <a:rPr sz="2000" b="0" i="0">
                <a:solidFill>
                  <a:srgbClr val="333333"/>
                </a:solidFill>
                <a:latin typeface="Calibri"/>
              </a:rPr>
              <a:t>, con el listado de la sesión 3.</a:t>
            </a:r>
          </a:p>
          <a:p>
            <a:pPr>
              <a:spcAft>
                <a:spcPts val="800"/>
              </a:spcAft>
            </a:pPr>
            <a:r>
              <a:rPr sz="2000" b="0" i="0">
                <a:solidFill>
                  <a:srgbClr val="333333"/>
                </a:solidFill>
                <a:latin typeface="Calibri"/>
              </a:rPr>
              <a:t>–   Llenar una </a:t>
            </a:r>
            <a:r>
              <a:rPr sz="2000" b="1" i="0">
                <a:solidFill>
                  <a:srgbClr val="333333"/>
                </a:solidFill>
                <a:latin typeface="Calibri"/>
              </a:rPr>
              <a:t>matriz de impacto</a:t>
            </a:r>
            <a:r>
              <a:rPr sz="2000" b="0" i="0">
                <a:solidFill>
                  <a:srgbClr val="333333"/>
                </a:solidFill>
                <a:latin typeface="Calibri"/>
              </a:rPr>
              <a:t> con indicadores medibles, no con adjetivos.</a:t>
            </a:r>
          </a:p>
          <a:p>
            <a:pPr>
              <a:spcAft>
                <a:spcPts val="800"/>
              </a:spcAft>
            </a:pPr>
            <a:r>
              <a:rPr sz="2000" b="0" i="0">
                <a:solidFill>
                  <a:srgbClr val="333333"/>
                </a:solidFill>
                <a:latin typeface="Calibri"/>
              </a:rPr>
              <a:t>–   Declarar los impactos </a:t>
            </a:r>
            <a:r>
              <a:rPr sz="2000" b="1" i="0">
                <a:solidFill>
                  <a:srgbClr val="333333"/>
                </a:solidFill>
                <a:latin typeface="Calibri"/>
              </a:rPr>
              <a:t>negativos</a:t>
            </a:r>
            <a:r>
              <a:rPr sz="2000" b="0" i="0">
                <a:solidFill>
                  <a:srgbClr val="333333"/>
                </a:solidFill>
                <a:latin typeface="Calibri"/>
              </a:rPr>
              <a:t> y proponer </a:t>
            </a:r>
            <a:r>
              <a:rPr sz="2000" b="1" i="0">
                <a:solidFill>
                  <a:srgbClr val="333333"/>
                </a:solidFill>
                <a:latin typeface="Calibri"/>
              </a:rPr>
              <a:t>medidas de mitigación</a:t>
            </a:r>
            <a:r>
              <a:rPr sz="2000" b="0" i="0">
                <a:solidFill>
                  <a:srgbClr val="333333"/>
                </a:solidFill>
                <a:latin typeface="Calibri"/>
              </a:rPr>
              <a:t>.</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_uniajc_blanco.png"/>
          <p:cNvPicPr>
            <a:picLocks noChangeAspect="1"/>
          </p:cNvPicPr>
          <p:nvPr/>
        </p:nvPicPr>
        <p:blipFill>
          <a:blip r:embed="rId2"/>
          <a:stretch>
            <a:fillRect/>
          </a:stretch>
        </p:blipFill>
        <p:spPr>
          <a:xfrm>
            <a:off x="10134295" y="320040"/>
            <a:ext cx="1645920" cy="717394"/>
          </a:xfrm>
          <a:prstGeom prst="rect">
            <a:avLst/>
          </a:prstGeom>
        </p:spPr>
      </p:pic>
      <p:sp>
        <p:nvSpPr>
          <p:cNvPr id="5" name="TextBox 4"/>
          <p:cNvSpPr txBox="1"/>
          <p:nvPr/>
        </p:nvSpPr>
        <p:spPr>
          <a:xfrm>
            <a:off x="685800" y="1280160"/>
            <a:ext cx="10820095" cy="365760"/>
          </a:xfrm>
          <a:prstGeom prst="rect">
            <a:avLst/>
          </a:prstGeom>
          <a:noFill/>
        </p:spPr>
        <p:txBody>
          <a:bodyPr wrap="square">
            <a:spAutoFit/>
          </a:bodyPr>
          <a:lstStyle/>
          <a:p>
            <a:pPr algn="ctr"/>
            <a:r>
              <a:rPr sz="1400" b="1" i="0">
                <a:solidFill>
                  <a:srgbClr val="269CCB"/>
                </a:solidFill>
                <a:latin typeface="Calibri"/>
              </a:rPr>
              <a:t>Pregunta de entrada</a:t>
            </a:r>
          </a:p>
        </p:txBody>
      </p:sp>
      <p:sp>
        <p:nvSpPr>
          <p:cNvPr id="6" name="TextBox 5"/>
          <p:cNvSpPr txBox="1"/>
          <p:nvPr/>
        </p:nvSpPr>
        <p:spPr>
          <a:xfrm>
            <a:off x="685800" y="1828800"/>
            <a:ext cx="10820095" cy="2011680"/>
          </a:xfrm>
          <a:prstGeom prst="rect">
            <a:avLst/>
          </a:prstGeom>
          <a:noFill/>
        </p:spPr>
        <p:txBody>
          <a:bodyPr wrap="square" anchor="ctr"/>
          <a:lstStyle/>
          <a:p>
            <a:pPr algn="ctr"/>
            <a:r>
              <a:rPr sz="2800" b="1" i="0">
                <a:solidFill>
                  <a:srgbClr val="FFFFFF"/>
                </a:solidFill>
                <a:latin typeface="Calibri"/>
              </a:rPr>
              <a:t>Si su solución funciona perfectamente y la usa todo el mundo, ¿quién queda peor que antes?</a:t>
            </a:r>
          </a:p>
        </p:txBody>
      </p:sp>
      <p:sp>
        <p:nvSpPr>
          <p:cNvPr id="7" name="TextBox 6"/>
          <p:cNvSpPr txBox="1"/>
          <p:nvPr/>
        </p:nvSpPr>
        <p:spPr>
          <a:xfrm>
            <a:off x="822960" y="4114800"/>
            <a:ext cx="10545775" cy="1645920"/>
          </a:xfrm>
          <a:prstGeom prst="rect">
            <a:avLst/>
          </a:prstGeom>
          <a:noFill/>
        </p:spPr>
        <p:txBody>
          <a:bodyPr wrap="square">
            <a:spAutoFit/>
          </a:bodyPr>
          <a:lstStyle/>
          <a:p>
            <a:pPr algn="ctr">
              <a:spcAft>
                <a:spcPts val="600"/>
              </a:spcAft>
            </a:pPr>
            <a:r>
              <a:rPr sz="1500" b="0" i="0">
                <a:solidFill>
                  <a:srgbClr val="269CCB"/>
                </a:solidFill>
                <a:latin typeface="Calibri"/>
              </a:rPr>
              <a:t>Siempre hay alguien. Y casi nunca es un usuario.</a:t>
            </a:r>
          </a:p>
          <a:p>
            <a:pPr algn="ctr">
              <a:spcAft>
                <a:spcPts val="600"/>
              </a:spcAft>
            </a:pPr>
            <a:r>
              <a:rPr sz="1500" b="0" i="0">
                <a:solidFill>
                  <a:srgbClr val="269CCB"/>
                </a:solidFill>
                <a:latin typeface="Calibri"/>
              </a:rPr>
              <a:t>Un ingeniero que no puede responder esa pregunta no terminó el diseño.</a:t>
            </a:r>
          </a:p>
        </p:txBody>
      </p:sp>
      <p:sp>
        <p:nvSpPr>
          <p:cNvPr id="8" name="TextBox 7"/>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Impacto: cuatro distinciones que hay que tener claras</a:t>
            </a:r>
          </a:p>
        </p:txBody>
      </p:sp>
      <p:sp>
        <p:nvSpPr>
          <p:cNvPr id="5" name="Rounded Rectangle 4"/>
          <p:cNvSpPr/>
          <p:nvPr/>
        </p:nvSpPr>
        <p:spPr>
          <a:xfrm>
            <a:off x="457200" y="1261872"/>
            <a:ext cx="5547207" cy="2464308"/>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5547207" cy="9144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1490472"/>
            <a:ext cx="5218023" cy="411480"/>
          </a:xfrm>
          <a:prstGeom prst="rect">
            <a:avLst/>
          </a:prstGeom>
          <a:noFill/>
        </p:spPr>
        <p:txBody>
          <a:bodyPr wrap="square">
            <a:spAutoFit/>
          </a:bodyPr>
          <a:lstStyle/>
          <a:p>
            <a:r>
              <a:rPr sz="1500" b="1" i="0">
                <a:solidFill>
                  <a:srgbClr val="095292"/>
                </a:solidFill>
                <a:latin typeface="Calibri"/>
              </a:rPr>
              <a:t>Impacto NO es intención</a:t>
            </a:r>
          </a:p>
        </p:txBody>
      </p:sp>
      <p:sp>
        <p:nvSpPr>
          <p:cNvPr id="8" name="TextBox 7"/>
          <p:cNvSpPr txBox="1"/>
          <p:nvPr/>
        </p:nvSpPr>
        <p:spPr>
          <a:xfrm>
            <a:off x="621792" y="1947672"/>
            <a:ext cx="5218023" cy="1595628"/>
          </a:xfrm>
          <a:prstGeom prst="rect">
            <a:avLst/>
          </a:prstGeom>
          <a:noFill/>
        </p:spPr>
        <p:txBody>
          <a:bodyPr wrap="square">
            <a:spAutoFit/>
          </a:bodyPr>
          <a:lstStyle/>
          <a:p>
            <a:r>
              <a:rPr sz="1300" b="0" i="0">
                <a:solidFill>
                  <a:srgbClr val="333333"/>
                </a:solidFill>
                <a:latin typeface="Calibri"/>
              </a:rPr>
              <a:t>«Queremos ayudar a la comunidad» es una intención. El impacto es </a:t>
            </a:r>
            <a:r>
              <a:rPr sz="1300" b="1" i="0">
                <a:solidFill>
                  <a:srgbClr val="333333"/>
                </a:solidFill>
                <a:latin typeface="Calibri"/>
              </a:rPr>
              <a:t>lo que de hecho cambia</a:t>
            </a:r>
            <a:r>
              <a:rPr sz="1300" b="0" i="0">
                <a:solidFill>
                  <a:srgbClr val="333333"/>
                </a:solidFill>
                <a:latin typeface="Calibri"/>
              </a:rPr>
              <a:t> en la vida de alguien, medible, ocurra o no lo que queríamos.</a:t>
            </a:r>
          </a:p>
        </p:txBody>
      </p:sp>
      <p:sp>
        <p:nvSpPr>
          <p:cNvPr id="9" name="Rounded Rectangle 8"/>
          <p:cNvSpPr/>
          <p:nvPr/>
        </p:nvSpPr>
        <p:spPr>
          <a:xfrm>
            <a:off x="6187287" y="1261872"/>
            <a:ext cx="5547207" cy="2464308"/>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87287" y="1261872"/>
            <a:ext cx="5547207" cy="91440"/>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1879" y="1490472"/>
            <a:ext cx="5218023" cy="411480"/>
          </a:xfrm>
          <a:prstGeom prst="rect">
            <a:avLst/>
          </a:prstGeom>
          <a:noFill/>
        </p:spPr>
        <p:txBody>
          <a:bodyPr wrap="square">
            <a:spAutoFit/>
          </a:bodyPr>
          <a:lstStyle/>
          <a:p>
            <a:r>
              <a:rPr sz="1500" b="1" i="0">
                <a:solidFill>
                  <a:srgbClr val="095292"/>
                </a:solidFill>
                <a:latin typeface="Calibri"/>
              </a:rPr>
              <a:t>Directo e indirecto</a:t>
            </a:r>
          </a:p>
        </p:txBody>
      </p:sp>
      <p:sp>
        <p:nvSpPr>
          <p:cNvPr id="12" name="TextBox 11"/>
          <p:cNvSpPr txBox="1"/>
          <p:nvPr/>
        </p:nvSpPr>
        <p:spPr>
          <a:xfrm>
            <a:off x="6351879" y="1947672"/>
            <a:ext cx="5218023" cy="1595628"/>
          </a:xfrm>
          <a:prstGeom prst="rect">
            <a:avLst/>
          </a:prstGeom>
          <a:noFill/>
        </p:spPr>
        <p:txBody>
          <a:bodyPr wrap="square">
            <a:spAutoFit/>
          </a:bodyPr>
          <a:lstStyle/>
          <a:p>
            <a:r>
              <a:rPr sz="1300" b="0" i="0">
                <a:solidFill>
                  <a:srgbClr val="333333"/>
                </a:solidFill>
                <a:latin typeface="Calibri"/>
              </a:rPr>
              <a:t>Directo: la persona hace menos viajes en vano. Indirecto: la voluntaria dedica diez minutos más al cierre. </a:t>
            </a:r>
            <a:r>
              <a:rPr sz="1300" b="1" i="0">
                <a:solidFill>
                  <a:srgbClr val="333333"/>
                </a:solidFill>
                <a:latin typeface="Calibri"/>
              </a:rPr>
              <a:t>El indirecto es el que se olvida, y el que trae los problemas.</a:t>
            </a:r>
          </a:p>
        </p:txBody>
      </p:sp>
      <p:sp>
        <p:nvSpPr>
          <p:cNvPr id="13" name="Rounded Rectangle 12"/>
          <p:cNvSpPr/>
          <p:nvPr/>
        </p:nvSpPr>
        <p:spPr>
          <a:xfrm>
            <a:off x="457200" y="3890772"/>
            <a:ext cx="5547207" cy="2464308"/>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890772"/>
            <a:ext cx="5547207" cy="91440"/>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 y="4119372"/>
            <a:ext cx="5218023" cy="411480"/>
          </a:xfrm>
          <a:prstGeom prst="rect">
            <a:avLst/>
          </a:prstGeom>
          <a:noFill/>
        </p:spPr>
        <p:txBody>
          <a:bodyPr wrap="square">
            <a:spAutoFit/>
          </a:bodyPr>
          <a:lstStyle/>
          <a:p>
            <a:r>
              <a:rPr sz="1500" b="1" i="0">
                <a:solidFill>
                  <a:srgbClr val="095292"/>
                </a:solidFill>
                <a:latin typeface="Calibri"/>
              </a:rPr>
              <a:t>Positivo y negativo</a:t>
            </a:r>
          </a:p>
        </p:txBody>
      </p:sp>
      <p:sp>
        <p:nvSpPr>
          <p:cNvPr id="16" name="TextBox 15"/>
          <p:cNvSpPr txBox="1"/>
          <p:nvPr/>
        </p:nvSpPr>
        <p:spPr>
          <a:xfrm>
            <a:off x="621792" y="4576572"/>
            <a:ext cx="5218023" cy="1595628"/>
          </a:xfrm>
          <a:prstGeom prst="rect">
            <a:avLst/>
          </a:prstGeom>
          <a:noFill/>
        </p:spPr>
        <p:txBody>
          <a:bodyPr wrap="square">
            <a:spAutoFit/>
          </a:bodyPr>
          <a:lstStyle/>
          <a:p>
            <a:r>
              <a:rPr sz="1300" b="0" i="0">
                <a:solidFill>
                  <a:srgbClr val="333333"/>
                </a:solidFill>
                <a:latin typeface="Calibri"/>
              </a:rPr>
              <a:t>Toda solución tiene efectos de los dos signos. Un informe con solo impactos positivos no es un informe optimista: </a:t>
            </a:r>
            <a:r>
              <a:rPr sz="1300" b="1" i="0">
                <a:solidFill>
                  <a:srgbClr val="333333"/>
                </a:solidFill>
                <a:latin typeface="Calibri"/>
              </a:rPr>
              <a:t>es un informe incompleto</a:t>
            </a:r>
            <a:r>
              <a:rPr sz="1300" b="0" i="0">
                <a:solidFill>
                  <a:srgbClr val="333333"/>
                </a:solidFill>
                <a:latin typeface="Calibri"/>
              </a:rPr>
              <a:t>.</a:t>
            </a:r>
          </a:p>
        </p:txBody>
      </p:sp>
      <p:sp>
        <p:nvSpPr>
          <p:cNvPr id="17" name="Rounded Rectangle 16"/>
          <p:cNvSpPr/>
          <p:nvPr/>
        </p:nvSpPr>
        <p:spPr>
          <a:xfrm>
            <a:off x="6187287" y="3890772"/>
            <a:ext cx="5547207" cy="2464308"/>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87287" y="3890772"/>
            <a:ext cx="5547207" cy="9144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1879" y="4119372"/>
            <a:ext cx="5218023" cy="411480"/>
          </a:xfrm>
          <a:prstGeom prst="rect">
            <a:avLst/>
          </a:prstGeom>
          <a:noFill/>
        </p:spPr>
        <p:txBody>
          <a:bodyPr wrap="square">
            <a:spAutoFit/>
          </a:bodyPr>
          <a:lstStyle/>
          <a:p>
            <a:r>
              <a:rPr sz="1500" b="1" i="0">
                <a:solidFill>
                  <a:srgbClr val="095292"/>
                </a:solidFill>
                <a:latin typeface="Calibri"/>
              </a:rPr>
              <a:t>Corto y largo plazo</a:t>
            </a:r>
          </a:p>
        </p:txBody>
      </p:sp>
      <p:sp>
        <p:nvSpPr>
          <p:cNvPr id="20" name="TextBox 19"/>
          <p:cNvSpPr txBox="1"/>
          <p:nvPr/>
        </p:nvSpPr>
        <p:spPr>
          <a:xfrm>
            <a:off x="6351879" y="4576572"/>
            <a:ext cx="5218023" cy="1595628"/>
          </a:xfrm>
          <a:prstGeom prst="rect">
            <a:avLst/>
          </a:prstGeom>
          <a:noFill/>
        </p:spPr>
        <p:txBody>
          <a:bodyPr wrap="square">
            <a:spAutoFit/>
          </a:bodyPr>
          <a:lstStyle/>
          <a:p>
            <a:r>
              <a:rPr sz="1300" b="0" i="0">
                <a:solidFill>
                  <a:srgbClr val="333333"/>
                </a:solidFill>
                <a:latin typeface="Calibri"/>
              </a:rPr>
              <a:t>Hay efectos que solo aparecen cuando la solución se usa mucho y por mucho tiempo. Nombrarlos, aunque no se puedan medir hoy, ya es hacer ingeniería.</a:t>
            </a:r>
          </a:p>
        </p:txBody>
      </p:sp>
      <p:sp>
        <p:nvSpPr>
          <p:cNvPr id="21" name="TextBox 20"/>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70432"/>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384048"/>
          </a:xfrm>
          <a:prstGeom prst="rect">
            <a:avLst/>
          </a:prstGeom>
          <a:noFill/>
        </p:spPr>
        <p:txBody>
          <a:bodyPr wrap="square">
            <a:spAutoFit/>
          </a:bodyPr>
          <a:lstStyle/>
          <a:p>
            <a:r>
              <a:rPr sz="2600" b="1" i="0">
                <a:solidFill>
                  <a:srgbClr val="FFFFFF"/>
                </a:solidFill>
                <a:latin typeface="Calibri"/>
              </a:rPr>
              <a:t>Cómo se encuentra a los afectados que no son usuarios</a:t>
            </a:r>
          </a:p>
        </p:txBody>
      </p:sp>
      <p:sp>
        <p:nvSpPr>
          <p:cNvPr id="5" name="TextBox 4"/>
          <p:cNvSpPr txBox="1"/>
          <p:nvPr/>
        </p:nvSpPr>
        <p:spPr>
          <a:xfrm>
            <a:off x="457200" y="566928"/>
            <a:ext cx="11277295" cy="411480"/>
          </a:xfrm>
          <a:prstGeom prst="rect">
            <a:avLst/>
          </a:prstGeom>
          <a:noFill/>
        </p:spPr>
        <p:txBody>
          <a:bodyPr wrap="square">
            <a:spAutoFit/>
          </a:bodyPr>
          <a:lstStyle/>
          <a:p>
            <a:r>
              <a:rPr sz="1400" b="0" i="0">
                <a:solidFill>
                  <a:srgbClr val="B8D8EE"/>
                </a:solidFill>
                <a:latin typeface="Calibri"/>
              </a:rPr>
              <a:t>Los usuarios son la parte fácil: por definición eligieron usarla. Los afectados no eligieron nada</a:t>
            </a:r>
          </a:p>
        </p:txBody>
      </p:sp>
      <p:sp>
        <p:nvSpPr>
          <p:cNvPr id="6" name="Rounded Rectangle 5"/>
          <p:cNvSpPr/>
          <p:nvPr/>
        </p:nvSpPr>
        <p:spPr>
          <a:xfrm>
            <a:off x="457200" y="1444752"/>
            <a:ext cx="11277295" cy="908913"/>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94360" y="1679752"/>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679752"/>
            <a:ext cx="438912" cy="438912"/>
          </a:xfrm>
          <a:prstGeom prst="rect">
            <a:avLst/>
          </a:prstGeom>
          <a:noFill/>
        </p:spPr>
        <p:txBody>
          <a:bodyPr wrap="square" anchor="ctr"/>
          <a:lstStyle/>
          <a:p>
            <a:pPr algn="ctr"/>
            <a:r>
              <a:rPr sz="1600" b="1" i="0">
                <a:solidFill>
                  <a:srgbClr val="FFFFFF"/>
                </a:solidFill>
                <a:latin typeface="Calibri"/>
              </a:rPr>
              <a:t>1</a:t>
            </a:r>
          </a:p>
        </p:txBody>
      </p:sp>
      <p:sp>
        <p:nvSpPr>
          <p:cNvPr id="9" name="TextBox 8"/>
          <p:cNvSpPr txBox="1"/>
          <p:nvPr/>
        </p:nvSpPr>
        <p:spPr>
          <a:xfrm>
            <a:off x="1188720" y="1536192"/>
            <a:ext cx="10271455" cy="744321"/>
          </a:xfrm>
          <a:prstGeom prst="rect">
            <a:avLst/>
          </a:prstGeom>
          <a:noFill/>
        </p:spPr>
        <p:txBody>
          <a:bodyPr wrap="square" anchor="ctr"/>
          <a:lstStyle/>
          <a:p>
            <a:r>
              <a:rPr sz="1500" b="1" i="0">
                <a:solidFill>
                  <a:srgbClr val="095292"/>
                </a:solidFill>
                <a:latin typeface="Calibri"/>
              </a:rPr>
              <a:t>1 · Empiece por su propia lista</a:t>
            </a:r>
          </a:p>
          <a:p>
            <a:pPr>
              <a:spcBef>
                <a:spcPts val="200"/>
              </a:spcBef>
            </a:pPr>
            <a:r>
              <a:rPr sz="1300" b="0" i="0">
                <a:solidFill>
                  <a:srgbClr val="333333"/>
                </a:solidFill>
                <a:latin typeface="Calibri"/>
              </a:rPr>
              <a:t>En la </a:t>
            </a:r>
            <a:r>
              <a:rPr sz="1300" b="1" i="0">
                <a:solidFill>
                  <a:srgbClr val="333333"/>
                </a:solidFill>
                <a:latin typeface="Calibri"/>
              </a:rPr>
              <a:t>sesión 3</a:t>
            </a:r>
            <a:r>
              <a:rPr sz="1300" b="0" i="0">
                <a:solidFill>
                  <a:srgbClr val="333333"/>
                </a:solidFill>
                <a:latin typeface="Calibri"/>
              </a:rPr>
              <a:t> hicieron un listado de actores no usuarios. Ábranlo: la mitad del trabajo de hoy ya está hecho y casi todos lo olvidaron.</a:t>
            </a:r>
          </a:p>
        </p:txBody>
      </p:sp>
      <p:sp>
        <p:nvSpPr>
          <p:cNvPr id="10" name="Rounded Rectangle 9"/>
          <p:cNvSpPr/>
          <p:nvPr/>
        </p:nvSpPr>
        <p:spPr>
          <a:xfrm>
            <a:off x="457200" y="2445105"/>
            <a:ext cx="11277295" cy="908913"/>
          </a:xfrm>
          <a:prstGeom prst="roundRect">
            <a:avLst>
              <a:gd name="adj" fmla="val 12000"/>
            </a:avLst>
          </a:prstGeom>
          <a:solidFill>
            <a:srgbClr val="E8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94360" y="2680106"/>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680106"/>
            <a:ext cx="438912" cy="438912"/>
          </a:xfrm>
          <a:prstGeom prst="rect">
            <a:avLst/>
          </a:prstGeom>
          <a:noFill/>
        </p:spPr>
        <p:txBody>
          <a:bodyPr wrap="square" anchor="ctr"/>
          <a:lstStyle/>
          <a:p>
            <a:pPr algn="ctr"/>
            <a:r>
              <a:rPr sz="1600" b="1" i="0">
                <a:solidFill>
                  <a:srgbClr val="FFFFFF"/>
                </a:solidFill>
                <a:latin typeface="Calibri"/>
              </a:rPr>
              <a:t>2</a:t>
            </a:r>
          </a:p>
        </p:txBody>
      </p:sp>
      <p:sp>
        <p:nvSpPr>
          <p:cNvPr id="13" name="TextBox 12"/>
          <p:cNvSpPr txBox="1"/>
          <p:nvPr/>
        </p:nvSpPr>
        <p:spPr>
          <a:xfrm>
            <a:off x="1188720" y="2536545"/>
            <a:ext cx="10271455" cy="744321"/>
          </a:xfrm>
          <a:prstGeom prst="rect">
            <a:avLst/>
          </a:prstGeom>
          <a:noFill/>
        </p:spPr>
        <p:txBody>
          <a:bodyPr wrap="square" anchor="ctr"/>
          <a:lstStyle/>
          <a:p>
            <a:r>
              <a:rPr sz="1500" b="1" i="0">
                <a:solidFill>
                  <a:srgbClr val="095292"/>
                </a:solidFill>
                <a:latin typeface="Calibri"/>
              </a:rPr>
              <a:t>2 · Siga la cadena de trabajo</a:t>
            </a:r>
          </a:p>
          <a:p>
            <a:pPr>
              <a:spcBef>
                <a:spcPts val="200"/>
              </a:spcBef>
            </a:pPr>
            <a:r>
              <a:rPr sz="1300" b="0" i="0">
                <a:solidFill>
                  <a:srgbClr val="333333"/>
                </a:solidFill>
                <a:latin typeface="Calibri"/>
              </a:rPr>
              <a:t>¿A quién le llega </a:t>
            </a:r>
            <a:r>
              <a:rPr sz="1300" b="1" i="0">
                <a:solidFill>
                  <a:srgbClr val="333333"/>
                </a:solidFill>
                <a:latin typeface="Calibri"/>
              </a:rPr>
              <a:t>más trabajo</a:t>
            </a:r>
            <a:r>
              <a:rPr sz="1300" b="0" i="0">
                <a:solidFill>
                  <a:srgbClr val="333333"/>
                </a:solidFill>
                <a:latin typeface="Calibri"/>
              </a:rPr>
              <a:t> por su solución? ¿A quién le llega menos? Ese es el impacto indirecto más frecuente y el que genera resistencia real.</a:t>
            </a:r>
          </a:p>
        </p:txBody>
      </p:sp>
      <p:sp>
        <p:nvSpPr>
          <p:cNvPr id="14" name="Rounded Rectangle 13"/>
          <p:cNvSpPr/>
          <p:nvPr/>
        </p:nvSpPr>
        <p:spPr>
          <a:xfrm>
            <a:off x="457200" y="3445459"/>
            <a:ext cx="11277295" cy="908913"/>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94360" y="3680460"/>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680460"/>
            <a:ext cx="438912" cy="438912"/>
          </a:xfrm>
          <a:prstGeom prst="rect">
            <a:avLst/>
          </a:prstGeom>
          <a:noFill/>
        </p:spPr>
        <p:txBody>
          <a:bodyPr wrap="square" anchor="ctr"/>
          <a:lstStyle/>
          <a:p>
            <a:pPr algn="ctr"/>
            <a:r>
              <a:rPr sz="1600" b="1" i="0">
                <a:solidFill>
                  <a:srgbClr val="FFFFFF"/>
                </a:solidFill>
                <a:latin typeface="Calibri"/>
              </a:rPr>
              <a:t>3</a:t>
            </a:r>
          </a:p>
        </p:txBody>
      </p:sp>
      <p:sp>
        <p:nvSpPr>
          <p:cNvPr id="17" name="TextBox 16"/>
          <p:cNvSpPr txBox="1"/>
          <p:nvPr/>
        </p:nvSpPr>
        <p:spPr>
          <a:xfrm>
            <a:off x="1188720" y="3536899"/>
            <a:ext cx="10271455" cy="744321"/>
          </a:xfrm>
          <a:prstGeom prst="rect">
            <a:avLst/>
          </a:prstGeom>
          <a:noFill/>
        </p:spPr>
        <p:txBody>
          <a:bodyPr wrap="square" anchor="ctr"/>
          <a:lstStyle/>
          <a:p>
            <a:r>
              <a:rPr sz="1500" b="1" i="0">
                <a:solidFill>
                  <a:srgbClr val="095292"/>
                </a:solidFill>
                <a:latin typeface="Calibri"/>
              </a:rPr>
              <a:t>3 · Pregunte quién NO puede usarla</a:t>
            </a:r>
          </a:p>
          <a:p>
            <a:pPr>
              <a:spcBef>
                <a:spcPts val="200"/>
              </a:spcBef>
            </a:pPr>
            <a:r>
              <a:rPr sz="1300" b="0" i="0">
                <a:solidFill>
                  <a:srgbClr val="333333"/>
                </a:solidFill>
                <a:latin typeface="Calibri"/>
              </a:rPr>
              <a:t>Quien no tiene celular, datos, lectura fluida, buena vista o el idioma. </a:t>
            </a:r>
            <a:r>
              <a:rPr sz="1300" b="1" i="0">
                <a:solidFill>
                  <a:srgbClr val="333333"/>
                </a:solidFill>
                <a:latin typeface="Calibri"/>
              </a:rPr>
              <a:t>Si su solución solo mejora a quien ya estaba mejor, empeoró la brecha.</a:t>
            </a:r>
          </a:p>
        </p:txBody>
      </p:sp>
      <p:sp>
        <p:nvSpPr>
          <p:cNvPr id="18" name="Rounded Rectangle 17"/>
          <p:cNvSpPr/>
          <p:nvPr/>
        </p:nvSpPr>
        <p:spPr>
          <a:xfrm>
            <a:off x="457200" y="4445812"/>
            <a:ext cx="11277295" cy="908913"/>
          </a:xfrm>
          <a:prstGeom prst="roundRect">
            <a:avLst>
              <a:gd name="adj" fmla="val 12000"/>
            </a:avLst>
          </a:prstGeom>
          <a:solidFill>
            <a:srgbClr val="E8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94360" y="4680813"/>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4680813"/>
            <a:ext cx="438912" cy="438912"/>
          </a:xfrm>
          <a:prstGeom prst="rect">
            <a:avLst/>
          </a:prstGeom>
          <a:noFill/>
        </p:spPr>
        <p:txBody>
          <a:bodyPr wrap="square" anchor="ctr"/>
          <a:lstStyle/>
          <a:p>
            <a:pPr algn="ctr"/>
            <a:r>
              <a:rPr sz="1600" b="1" i="0">
                <a:solidFill>
                  <a:srgbClr val="FFFFFF"/>
                </a:solidFill>
                <a:latin typeface="Calibri"/>
              </a:rPr>
              <a:t>4</a:t>
            </a:r>
          </a:p>
        </p:txBody>
      </p:sp>
      <p:sp>
        <p:nvSpPr>
          <p:cNvPr id="21" name="TextBox 20"/>
          <p:cNvSpPr txBox="1"/>
          <p:nvPr/>
        </p:nvSpPr>
        <p:spPr>
          <a:xfrm>
            <a:off x="1188720" y="4537252"/>
            <a:ext cx="10271455" cy="744321"/>
          </a:xfrm>
          <a:prstGeom prst="rect">
            <a:avLst/>
          </a:prstGeom>
          <a:noFill/>
        </p:spPr>
        <p:txBody>
          <a:bodyPr wrap="square" anchor="ctr"/>
          <a:lstStyle/>
          <a:p>
            <a:r>
              <a:rPr sz="1500" b="1" i="0">
                <a:solidFill>
                  <a:srgbClr val="095292"/>
                </a:solidFill>
                <a:latin typeface="Calibri"/>
              </a:rPr>
              <a:t>4 · Mire qué consume</a:t>
            </a:r>
          </a:p>
          <a:p>
            <a:pPr>
              <a:spcBef>
                <a:spcPts val="200"/>
              </a:spcBef>
            </a:pPr>
            <a:r>
              <a:rPr sz="1300" b="0" i="0">
                <a:solidFill>
                  <a:srgbClr val="333333"/>
                </a:solidFill>
                <a:latin typeface="Calibri"/>
              </a:rPr>
              <a:t>Energía, datos móviles, papel, hardware que se vuelve basura. El software también tiene huella, y en la sesión 5 ya midieron un pedazo de la suya.</a:t>
            </a:r>
          </a:p>
        </p:txBody>
      </p:sp>
      <p:sp>
        <p:nvSpPr>
          <p:cNvPr id="22" name="Rounded Rectangle 21"/>
          <p:cNvSpPr/>
          <p:nvPr/>
        </p:nvSpPr>
        <p:spPr>
          <a:xfrm>
            <a:off x="457200" y="5446166"/>
            <a:ext cx="11277295" cy="908913"/>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94360" y="5681167"/>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4360" y="5681167"/>
            <a:ext cx="438912" cy="438912"/>
          </a:xfrm>
          <a:prstGeom prst="rect">
            <a:avLst/>
          </a:prstGeom>
          <a:noFill/>
        </p:spPr>
        <p:txBody>
          <a:bodyPr wrap="square" anchor="ctr"/>
          <a:lstStyle/>
          <a:p>
            <a:pPr algn="ctr"/>
            <a:r>
              <a:rPr sz="1600" b="1" i="0">
                <a:solidFill>
                  <a:srgbClr val="FFFFFF"/>
                </a:solidFill>
                <a:latin typeface="Calibri"/>
              </a:rPr>
              <a:t>5</a:t>
            </a:r>
          </a:p>
        </p:txBody>
      </p:sp>
      <p:sp>
        <p:nvSpPr>
          <p:cNvPr id="25" name="TextBox 24"/>
          <p:cNvSpPr txBox="1"/>
          <p:nvPr/>
        </p:nvSpPr>
        <p:spPr>
          <a:xfrm>
            <a:off x="1188720" y="5537606"/>
            <a:ext cx="10271455" cy="744321"/>
          </a:xfrm>
          <a:prstGeom prst="rect">
            <a:avLst/>
          </a:prstGeom>
          <a:noFill/>
        </p:spPr>
        <p:txBody>
          <a:bodyPr wrap="square" anchor="ctr"/>
          <a:lstStyle/>
          <a:p>
            <a:r>
              <a:rPr sz="1500" b="1" i="0">
                <a:solidFill>
                  <a:srgbClr val="095292"/>
                </a:solidFill>
                <a:latin typeface="Calibri"/>
              </a:rPr>
              <a:t>5 · Pregunte a quién desplaza</a:t>
            </a:r>
          </a:p>
          <a:p>
            <a:pPr>
              <a:spcBef>
                <a:spcPts val="200"/>
              </a:spcBef>
            </a:pPr>
            <a:r>
              <a:rPr sz="1300" b="0" i="0">
                <a:solidFill>
                  <a:srgbClr val="333333"/>
                </a:solidFill>
                <a:latin typeface="Calibri"/>
              </a:rPr>
              <a:t>Si su solución reemplaza algo, alguien hacía ese algo. Ni siempre es malo ni siempre es evitable, pero </a:t>
            </a:r>
            <a:r>
              <a:rPr sz="1300" b="1" i="0">
                <a:solidFill>
                  <a:srgbClr val="333333"/>
                </a:solidFill>
                <a:latin typeface="Calibri"/>
              </a:rPr>
              <a:t>omitirlo sí es un error del análisis</a:t>
            </a:r>
            <a:r>
              <a:rPr sz="1300" b="0" i="0">
                <a:solidFill>
                  <a:srgbClr val="333333"/>
                </a:solidFill>
                <a:latin typeface="Calibri"/>
              </a:rPr>
              <a:t>.</a:t>
            </a:r>
          </a:p>
        </p:txBody>
      </p:sp>
      <p:sp>
        <p:nvSpPr>
          <p:cNvPr id="26" name="TextBox 2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Ejemplo: afectados de la app de turnos que nunca la usan</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fectados-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afectados-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afectados-paso3.png"/>
          <p:cNvPicPr>
            <a:picLocks noChangeAspect="1"/>
          </p:cNvPicPr>
          <p:nvPr/>
        </p:nvPicPr>
        <p:blipFill>
          <a:blip r:embed="rId4"/>
          <a:stretch>
            <a:fillRect/>
          </a:stretch>
        </p:blipFill>
        <p:spPr>
          <a:xfrm>
            <a:off x="5876318" y="1261872"/>
            <a:ext cx="5852160" cy="4681728"/>
          </a:xfrm>
          <a:prstGeom prst="rect">
            <a:avLst/>
          </a:prstGeom>
        </p:spPr>
      </p:pic>
      <p:pic>
        <p:nvPicPr>
          <p:cNvPr id="9" name="Picture 8" descr="afectados-paso4.png"/>
          <p:cNvPicPr>
            <a:picLocks noChangeAspect="1"/>
          </p:cNvPicPr>
          <p:nvPr/>
        </p:nvPicPr>
        <p:blipFill>
          <a:blip r:embed="rId5"/>
          <a:stretch>
            <a:fillRect/>
          </a:stretch>
        </p:blipFill>
        <p:spPr>
          <a:xfrm>
            <a:off x="5876318" y="1261872"/>
            <a:ext cx="5852160" cy="4681728"/>
          </a:xfrm>
          <a:prstGeom prst="rect">
            <a:avLst/>
          </a:prstGeom>
        </p:spPr>
      </p:pic>
      <p:pic>
        <p:nvPicPr>
          <p:cNvPr id="10" name="Picture 9" descr="afectados-paso5.png"/>
          <p:cNvPicPr>
            <a:picLocks noChangeAspect="1"/>
          </p:cNvPicPr>
          <p:nvPr/>
        </p:nvPicPr>
        <p:blipFill>
          <a:blip r:embed="rId6"/>
          <a:stretch>
            <a:fillRect/>
          </a:stretch>
        </p:blipFill>
        <p:spPr>
          <a:xfrm>
            <a:off x="5876318" y="1261872"/>
            <a:ext cx="5852160" cy="4681728"/>
          </a:xfrm>
          <a:prstGeom prst="rect">
            <a:avLst/>
          </a:prstGeom>
        </p:spPr>
      </p:pic>
      <p:sp>
        <p:nvSpPr>
          <p:cNvPr id="23" name="TextBox 2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24" name="TextBox 2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a:t>
            </a:r>
            <a:r>
              <a:rPr sz="2000" b="1" i="0">
                <a:solidFill>
                  <a:srgbClr val="333333"/>
                </a:solidFill>
                <a:latin typeface="Calibri"/>
              </a:rPr>
              <a:t>El cajero:</a:t>
            </a:r>
            <a:r>
              <a:rPr sz="2000" b="0" i="0">
                <a:solidFill>
                  <a:srgbClr val="333333"/>
                </a:solidFill>
                <a:latin typeface="Calibri"/>
              </a:rPr>
              <a:t> Ahora además debe actualizar el turno en el celular: </a:t>
            </a:r>
            <a:r>
              <a:rPr sz="2000" b="1" i="0">
                <a:solidFill>
                  <a:srgbClr val="333333"/>
                </a:solidFill>
                <a:latin typeface="Calibri"/>
              </a:rPr>
              <a:t>más trabajo</a:t>
            </a:r>
            <a:r>
              <a:rPr sz="2000" b="0" i="0">
                <a:solidFill>
                  <a:srgbClr val="333333"/>
                </a:solidFill>
                <a:latin typeface="Calibri"/>
              </a:rPr>
              <a:t> (paso 2).</a:t>
            </a:r>
          </a:p>
          <a:p>
            <a:pPr>
              <a:spcAft>
                <a:spcPts val="800"/>
              </a:spcAft>
            </a:pPr>
            <a:r>
              <a:rPr sz="2000" b="0" i="0">
                <a:solidFill>
                  <a:srgbClr val="333333"/>
                </a:solidFill>
                <a:latin typeface="Calibri"/>
              </a:rPr>
              <a:t>–   </a:t>
            </a:r>
            <a:r>
              <a:rPr sz="2000" b="1" i="0">
                <a:solidFill>
                  <a:srgbClr val="333333"/>
                </a:solidFill>
                <a:latin typeface="Calibri"/>
              </a:rPr>
              <a:t>Doña Rosa, 74 años:</a:t>
            </a:r>
            <a:r>
              <a:rPr sz="2000" b="0" i="0">
                <a:solidFill>
                  <a:srgbClr val="333333"/>
                </a:solidFill>
                <a:latin typeface="Calibri"/>
              </a:rPr>
              <a:t> No tiene datos móviles: </a:t>
            </a:r>
            <a:r>
              <a:rPr sz="2000" b="1" i="0">
                <a:solidFill>
                  <a:srgbClr val="333333"/>
                </a:solidFill>
                <a:latin typeface="Calibri"/>
              </a:rPr>
              <a:t>queda fuera</a:t>
            </a:r>
            <a:r>
              <a:rPr sz="2000" b="0" i="0">
                <a:solidFill>
                  <a:srgbClr val="333333"/>
                </a:solidFill>
                <a:latin typeface="Calibri"/>
              </a:rPr>
              <a:t> si la fila desaparece (paso 3).</a:t>
            </a:r>
          </a:p>
          <a:p>
            <a:pPr>
              <a:spcAft>
                <a:spcPts val="800"/>
              </a:spcAft>
            </a:pPr>
            <a:r>
              <a:rPr sz="2000" b="0" i="0">
                <a:solidFill>
                  <a:srgbClr val="333333"/>
                </a:solidFill>
                <a:latin typeface="Calibri"/>
              </a:rPr>
              <a:t>–   </a:t>
            </a:r>
            <a:r>
              <a:rPr sz="2000" b="1" i="0">
                <a:solidFill>
                  <a:srgbClr val="333333"/>
                </a:solidFill>
                <a:latin typeface="Calibri"/>
              </a:rPr>
              <a:t>El vendedor de fichas:</a:t>
            </a:r>
            <a:r>
              <a:rPr sz="2000" b="0" i="0">
                <a:solidFill>
                  <a:srgbClr val="333333"/>
                </a:solidFill>
                <a:latin typeface="Calibri"/>
              </a:rPr>
              <a:t> La tienda le compraba los talonarios de papel: </a:t>
            </a:r>
            <a:r>
              <a:rPr sz="2000" b="1" i="0">
                <a:solidFill>
                  <a:srgbClr val="333333"/>
                </a:solidFill>
                <a:latin typeface="Calibri"/>
              </a:rPr>
              <a:t>lo desplaza</a:t>
            </a:r>
            <a:r>
              <a:rPr sz="2000" b="0" i="0">
                <a:solidFill>
                  <a:srgbClr val="333333"/>
                </a:solidFill>
                <a:latin typeface="Calibri"/>
              </a:rPr>
              <a:t> (paso 5).</a:t>
            </a:r>
          </a:p>
          <a:p>
            <a:pPr>
              <a:spcAft>
                <a:spcPts val="800"/>
              </a:spcAft>
            </a:pPr>
            <a:r>
              <a:rPr sz="2000" b="0" i="0">
                <a:solidFill>
                  <a:srgbClr val="333333"/>
                </a:solidFill>
                <a:latin typeface="Calibri"/>
              </a:rPr>
              <a:t>–   </a:t>
            </a:r>
            <a:r>
              <a:rPr sz="2000" b="1" i="0">
                <a:solidFill>
                  <a:srgbClr val="333333"/>
                </a:solidFill>
                <a:latin typeface="Calibri"/>
              </a:rPr>
              <a:t>El plan de datos:</a:t>
            </a:r>
            <a:r>
              <a:rPr sz="2000" b="0" i="0">
                <a:solidFill>
                  <a:srgbClr val="333333"/>
                </a:solidFill>
                <a:latin typeface="Calibri"/>
              </a:rPr>
              <a:t> Cada consulta gasta datos que paga el cliente: </a:t>
            </a:r>
            <a:r>
              <a:rPr sz="2000" b="1" i="0">
                <a:solidFill>
                  <a:srgbClr val="333333"/>
                </a:solidFill>
                <a:latin typeface="Calibri"/>
              </a:rPr>
              <a:t>consumo</a:t>
            </a:r>
            <a:r>
              <a:rPr sz="2000" b="0" i="0">
                <a:solidFill>
                  <a:srgbClr val="333333"/>
                </a:solidFill>
                <a:latin typeface="Calibri"/>
              </a:rPr>
              <a:t> (paso 4).</a:t>
            </a:r>
          </a:p>
        </p:txBody>
      </p:sp>
      <p:sp>
        <p:nvSpPr>
          <p:cNvPr id="25" name="TextBox 2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5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4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La matriz de impacto: qué se pregunta en cada dimensión</a:t>
            </a:r>
          </a:p>
        </p:txBody>
      </p:sp>
      <p:graphicFrame>
        <p:nvGraphicFramePr>
          <p:cNvPr id="5" name="Table 4"/>
          <p:cNvGraphicFramePr>
            <a:graphicFrameLocks noGrp="1"/>
          </p:cNvGraphicFramePr>
          <p:nvPr/>
        </p:nvGraphicFramePr>
        <p:xfrm>
          <a:off x="457200" y="1216152"/>
          <a:ext cx="8961120" cy="2688336"/>
        </p:xfrm>
        <a:graphic>
          <a:graphicData uri="http://schemas.openxmlformats.org/drawingml/2006/table">
            <a:tbl>
              <a:tblPr firstRow="1" bandRow="1">
                <a:tableStyleId>{5C22544A-7EE6-4342-B048-85BDC9FD1C3A}</a:tableStyleId>
              </a:tblPr>
              <a:tblGrid>
                <a:gridCol w="2103120"/>
                <a:gridCol w="2834640"/>
                <a:gridCol w="4023360"/>
              </a:tblGrid>
              <a:tr h="384048">
                <a:tc>
                  <a:txBody>
                    <a:bodyPr/>
                    <a:lstStyle/>
                    <a:p>
                      <a:r>
                        <a:rPr sz="1200" b="1" i="0">
                          <a:solidFill>
                            <a:srgbClr val="FFFFFF"/>
                          </a:solidFill>
                          <a:latin typeface="Calibri"/>
                        </a:rPr>
                        <a:t>Dimensión</a:t>
                      </a:r>
                    </a:p>
                  </a:txBody>
                  <a:tcPr>
                    <a:solidFill>
                      <a:srgbClr val="095292"/>
                    </a:solidFill>
                  </a:tcPr>
                </a:tc>
                <a:tc>
                  <a:txBody>
                    <a:bodyPr/>
                    <a:lstStyle/>
                    <a:p>
                      <a:r>
                        <a:rPr sz="1200" b="1" i="0">
                          <a:solidFill>
                            <a:srgbClr val="FFFFFF"/>
                          </a:solidFill>
                          <a:latin typeface="Calibri"/>
                        </a:rPr>
                        <a:t>La pregunta</a:t>
                      </a:r>
                    </a:p>
                  </a:txBody>
                  <a:tcPr>
                    <a:solidFill>
                      <a:srgbClr val="095292"/>
                    </a:solidFill>
                  </a:tcPr>
                </a:tc>
                <a:tc>
                  <a:txBody>
                    <a:bodyPr/>
                    <a:lstStyle/>
                    <a:p>
                      <a:r>
                        <a:rPr sz="1200" b="1" i="0">
                          <a:solidFill>
                            <a:srgbClr val="FFFFFF"/>
                          </a:solidFill>
                          <a:latin typeface="Calibri"/>
                        </a:rPr>
                        <a:t>Cómo se mide</a:t>
                      </a:r>
                    </a:p>
                  </a:txBody>
                  <a:tcPr>
                    <a:solidFill>
                      <a:srgbClr val="095292"/>
                    </a:solidFill>
                  </a:tcPr>
                </a:tc>
              </a:tr>
              <a:tr h="384048">
                <a:tc>
                  <a:txBody>
                    <a:bodyPr/>
                    <a:lstStyle/>
                    <a:p>
                      <a:r>
                        <a:rPr sz="1200" b="1" i="0">
                          <a:solidFill>
                            <a:srgbClr val="333333"/>
                          </a:solidFill>
                          <a:latin typeface="Calibri"/>
                        </a:rPr>
                        <a:t>Social · acceso</a:t>
                      </a:r>
                    </a:p>
                  </a:txBody>
                  <a:tcPr>
                    <a:solidFill>
                      <a:srgbClr val="FFFFFF"/>
                    </a:solidFill>
                  </a:tcPr>
                </a:tc>
                <a:tc>
                  <a:txBody>
                    <a:bodyPr/>
                    <a:lstStyle/>
                    <a:p>
                      <a:r>
                        <a:rPr sz="1200" b="0" i="0">
                          <a:solidFill>
                            <a:srgbClr val="333333"/>
                          </a:solidFill>
                          <a:latin typeface="Calibri"/>
                        </a:rPr>
                        <a:t>¿Quién puede usarla y quién no?</a:t>
                      </a:r>
                    </a:p>
                  </a:txBody>
                  <a:tcPr>
                    <a:solidFill>
                      <a:srgbClr val="FFFFFF"/>
                    </a:solidFill>
                  </a:tcPr>
                </a:tc>
                <a:tc>
                  <a:txBody>
                    <a:bodyPr/>
                    <a:lstStyle/>
                    <a:p>
                      <a:r>
                        <a:rPr sz="1200" b="0" i="0">
                          <a:solidFill>
                            <a:srgbClr val="333333"/>
                          </a:solidFill>
                          <a:latin typeface="Calibri"/>
                        </a:rPr>
                        <a:t>% o número de personas del grupo objetivo que quedan fuera, y por qué motivo.</a:t>
                      </a:r>
                    </a:p>
                  </a:txBody>
                  <a:tcPr>
                    <a:solidFill>
                      <a:srgbClr val="FFFFFF"/>
                    </a:solidFill>
                  </a:tcPr>
                </a:tc>
              </a:tr>
              <a:tr h="384048">
                <a:tc>
                  <a:txBody>
                    <a:bodyPr/>
                    <a:lstStyle/>
                    <a:p>
                      <a:r>
                        <a:rPr sz="1200" b="1" i="0">
                          <a:solidFill>
                            <a:srgbClr val="333333"/>
                          </a:solidFill>
                          <a:latin typeface="Calibri"/>
                        </a:rPr>
                        <a:t>Social · equidad</a:t>
                      </a:r>
                    </a:p>
                  </a:txBody>
                  <a:tcPr>
                    <a:solidFill>
                      <a:srgbClr val="F2F2F2"/>
                    </a:solidFill>
                  </a:tcPr>
                </a:tc>
                <a:tc>
                  <a:txBody>
                    <a:bodyPr/>
                    <a:lstStyle/>
                    <a:p>
                      <a:r>
                        <a:rPr sz="1200" b="0" i="0">
                          <a:solidFill>
                            <a:srgbClr val="333333"/>
                          </a:solidFill>
                          <a:latin typeface="Calibri"/>
                        </a:rPr>
                        <a:t>¿Mejora más a quien ya estaba mejor?</a:t>
                      </a:r>
                    </a:p>
                  </a:txBody>
                  <a:tcPr>
                    <a:solidFill>
                      <a:srgbClr val="F2F2F2"/>
                    </a:solidFill>
                  </a:tcPr>
                </a:tc>
                <a:tc>
                  <a:txBody>
                    <a:bodyPr/>
                    <a:lstStyle/>
                    <a:p>
                      <a:r>
                        <a:rPr sz="1200" b="0" i="0">
                          <a:solidFill>
                            <a:srgbClr val="333333"/>
                          </a:solidFill>
                          <a:latin typeface="Calibri"/>
                        </a:rPr>
                        <a:t>Comparación entre dos grupos: quien tiene el recurso y quien no lo tiene.</a:t>
                      </a:r>
                    </a:p>
                  </a:txBody>
                  <a:tcPr>
                    <a:solidFill>
                      <a:srgbClr val="F2F2F2"/>
                    </a:solidFill>
                  </a:tcPr>
                </a:tc>
              </a:tr>
              <a:tr h="384048">
                <a:tc>
                  <a:txBody>
                    <a:bodyPr/>
                    <a:lstStyle/>
                    <a:p>
                      <a:r>
                        <a:rPr sz="1200" b="1" i="0">
                          <a:solidFill>
                            <a:srgbClr val="333333"/>
                          </a:solidFill>
                          <a:latin typeface="Calibri"/>
                        </a:rPr>
                        <a:t>Social · carga de trabajo</a:t>
                      </a:r>
                    </a:p>
                  </a:txBody>
                  <a:tcPr>
                    <a:solidFill>
                      <a:srgbClr val="FFFFFF"/>
                    </a:solidFill>
                  </a:tcPr>
                </a:tc>
                <a:tc>
                  <a:txBody>
                    <a:bodyPr/>
                    <a:lstStyle/>
                    <a:p>
                      <a:r>
                        <a:rPr sz="1200" b="0" i="0">
                          <a:solidFill>
                            <a:srgbClr val="333333"/>
                          </a:solidFill>
                          <a:latin typeface="Calibri"/>
                        </a:rPr>
                        <a:t>¿A quién le llega más trabajo?</a:t>
                      </a:r>
                    </a:p>
                  </a:txBody>
                  <a:tcPr>
                    <a:solidFill>
                      <a:srgbClr val="FFFFFF"/>
                    </a:solidFill>
                  </a:tcPr>
                </a:tc>
                <a:tc>
                  <a:txBody>
                    <a:bodyPr/>
                    <a:lstStyle/>
                    <a:p>
                      <a:r>
                        <a:rPr sz="1200" b="0" i="0">
                          <a:solidFill>
                            <a:srgbClr val="333333"/>
                          </a:solidFill>
                          <a:latin typeface="Calibri"/>
                        </a:rPr>
                        <a:t>Minutos por día o por semana, para cada rol afectado.</a:t>
                      </a:r>
                    </a:p>
                  </a:txBody>
                  <a:tcPr>
                    <a:solidFill>
                      <a:srgbClr val="FFFFFF"/>
                    </a:solidFill>
                  </a:tcPr>
                </a:tc>
              </a:tr>
              <a:tr h="384048">
                <a:tc>
                  <a:txBody>
                    <a:bodyPr/>
                    <a:lstStyle/>
                    <a:p>
                      <a:r>
                        <a:rPr sz="1200" b="1" i="0">
                          <a:solidFill>
                            <a:srgbClr val="333333"/>
                          </a:solidFill>
                          <a:latin typeface="Calibri"/>
                        </a:rPr>
                        <a:t>Ambiental · consumo</a:t>
                      </a:r>
                    </a:p>
                  </a:txBody>
                  <a:tcPr>
                    <a:solidFill>
                      <a:srgbClr val="F2F2F2"/>
                    </a:solidFill>
                  </a:tcPr>
                </a:tc>
                <a:tc>
                  <a:txBody>
                    <a:bodyPr/>
                    <a:lstStyle/>
                    <a:p>
                      <a:r>
                        <a:rPr sz="1200" b="0" i="0">
                          <a:solidFill>
                            <a:srgbClr val="333333"/>
                          </a:solidFill>
                          <a:latin typeface="Calibri"/>
                        </a:rPr>
                        <a:t>¿Cuántos datos, energía o papel mueve?</a:t>
                      </a:r>
                    </a:p>
                  </a:txBody>
                  <a:tcPr>
                    <a:solidFill>
                      <a:srgbClr val="F2F2F2"/>
                    </a:solidFill>
                  </a:tcPr>
                </a:tc>
                <a:tc>
                  <a:txBody>
                    <a:bodyPr/>
                    <a:lstStyle/>
                    <a:p>
                      <a:r>
                        <a:rPr sz="1200" b="0" i="0">
                          <a:solidFill>
                            <a:srgbClr val="333333"/>
                          </a:solidFill>
                          <a:latin typeface="Calibri"/>
                        </a:rPr>
                        <a:t>KB por consulta × consultas estimadas; hojas al mes; horas de equipo encendido.</a:t>
                      </a:r>
                    </a:p>
                  </a:txBody>
                  <a:tcPr>
                    <a:solidFill>
                      <a:srgbClr val="F2F2F2"/>
                    </a:solidFill>
                  </a:tcPr>
                </a:tc>
              </a:tr>
              <a:tr h="384048">
                <a:tc>
                  <a:txBody>
                    <a:bodyPr/>
                    <a:lstStyle/>
                    <a:p>
                      <a:r>
                        <a:rPr sz="1200" b="1" i="0">
                          <a:solidFill>
                            <a:srgbClr val="333333"/>
                          </a:solidFill>
                          <a:latin typeface="Calibri"/>
                        </a:rPr>
                        <a:t>Ambiental · residuos</a:t>
                      </a:r>
                    </a:p>
                  </a:txBody>
                  <a:tcPr>
                    <a:solidFill>
                      <a:srgbClr val="FFFFFF"/>
                    </a:solidFill>
                  </a:tcPr>
                </a:tc>
                <a:tc>
                  <a:txBody>
                    <a:bodyPr/>
                    <a:lstStyle/>
                    <a:p>
                      <a:r>
                        <a:rPr sz="1200" b="0" i="0">
                          <a:solidFill>
                            <a:srgbClr val="333333"/>
                          </a:solidFill>
                          <a:latin typeface="Calibri"/>
                        </a:rPr>
                        <a:t>¿Exige comprar o botar algo?</a:t>
                      </a:r>
                    </a:p>
                  </a:txBody>
                  <a:tcPr>
                    <a:solidFill>
                      <a:srgbClr val="FFFFFF"/>
                    </a:solidFill>
                  </a:tcPr>
                </a:tc>
                <a:tc>
                  <a:txBody>
                    <a:bodyPr/>
                    <a:lstStyle/>
                    <a:p>
                      <a:r>
                        <a:rPr sz="1200" b="0" i="0">
                          <a:solidFill>
                            <a:srgbClr val="333333"/>
                          </a:solidFill>
                          <a:latin typeface="Calibri"/>
                        </a:rPr>
                        <a:t>Equipos, cartuchos, impresiones. Si no exige nada, </a:t>
                      </a:r>
                      <a:r>
                        <a:rPr sz="1200" b="1" i="0">
                          <a:solidFill>
                            <a:srgbClr val="333333"/>
                          </a:solidFill>
                          <a:latin typeface="Calibri"/>
                        </a:rPr>
                        <a:t>dígalo</a:t>
                      </a:r>
                      <a:r>
                        <a:rPr sz="1200" b="0" i="0">
                          <a:solidFill>
                            <a:srgbClr val="333333"/>
                          </a:solidFill>
                          <a:latin typeface="Calibri"/>
                        </a:rPr>
                        <a:t>: es un resultado.</a:t>
                      </a:r>
                    </a:p>
                  </a:txBody>
                  <a:tcPr>
                    <a:solidFill>
                      <a:srgbClr val="FFFFFF"/>
                    </a:solidFill>
                  </a:tcPr>
                </a:tc>
              </a:tr>
              <a:tr h="384048">
                <a:tc>
                  <a:txBody>
                    <a:bodyPr/>
                    <a:lstStyle/>
                    <a:p>
                      <a:r>
                        <a:rPr sz="1200" b="1" i="0">
                          <a:solidFill>
                            <a:srgbClr val="333333"/>
                          </a:solidFill>
                          <a:latin typeface="Calibri"/>
                        </a:rPr>
                        <a:t>Económico</a:t>
                      </a:r>
                    </a:p>
                  </a:txBody>
                  <a:tcPr>
                    <a:solidFill>
                      <a:srgbClr val="F2F2F2"/>
                    </a:solidFill>
                  </a:tcPr>
                </a:tc>
                <a:tc>
                  <a:txBody>
                    <a:bodyPr/>
                    <a:lstStyle/>
                    <a:p>
                      <a:r>
                        <a:rPr sz="1200" b="0" i="0">
                          <a:solidFill>
                            <a:srgbClr val="333333"/>
                          </a:solidFill>
                          <a:latin typeface="Calibri"/>
                        </a:rPr>
                        <a:t>¿Quién paga y quién ahorra?</a:t>
                      </a:r>
                    </a:p>
                  </a:txBody>
                  <a:tcPr>
                    <a:solidFill>
                      <a:srgbClr val="F2F2F2"/>
                    </a:solidFill>
                  </a:tcPr>
                </a:tc>
                <a:tc>
                  <a:txBody>
                    <a:bodyPr/>
                    <a:lstStyle/>
                    <a:p>
                      <a:r>
                        <a:rPr sz="1200" b="0" i="0">
                          <a:solidFill>
                            <a:srgbClr val="333333"/>
                          </a:solidFill>
                          <a:latin typeface="Calibri"/>
                        </a:rPr>
                        <a:t>Costo mensual de operación, y ahorro estimado para el usuario o la organización.</a:t>
                      </a:r>
                    </a:p>
                  </a:txBody>
                  <a:tcPr>
                    <a:solidFill>
                      <a:srgbClr val="F2F2F2"/>
                    </a:solidFill>
                  </a:tcPr>
                </a:tc>
              </a:tr>
            </a:tbl>
          </a:graphicData>
        </a:graphic>
      </p:graphicFrame>
      <p:sp>
        <p:nvSpPr>
          <p:cNvPr id="6" name="TextBox 5"/>
          <p:cNvSpPr txBox="1"/>
          <p:nvPr/>
        </p:nvSpPr>
        <p:spPr>
          <a:xfrm>
            <a:off x="457200" y="4800600"/>
            <a:ext cx="11277295" cy="457200"/>
          </a:xfrm>
          <a:prstGeom prst="rect">
            <a:avLst/>
          </a:prstGeom>
          <a:noFill/>
        </p:spPr>
        <p:txBody>
          <a:bodyPr wrap="square">
            <a:spAutoFit/>
          </a:bodyPr>
          <a:lstStyle/>
          <a:p>
            <a:r>
              <a:rPr sz="1100" b="0" i="1">
                <a:solidFill>
                  <a:srgbClr val="666666"/>
                </a:solidFill>
                <a:latin typeface="Calibri"/>
              </a:rPr>
              <a:t>No todas las dimensiones aplican a todos los proyectos. Una fila que no aplica se escribe «no aplica» </a:t>
            </a:r>
            <a:r>
              <a:rPr sz="1100" b="1" i="1">
                <a:solidFill>
                  <a:srgbClr val="666666"/>
                </a:solidFill>
                <a:latin typeface="Calibri"/>
              </a:rPr>
              <a:t>con una línea de razón</a:t>
            </a:r>
            <a:r>
              <a:rPr sz="1100" b="0" i="1">
                <a:solidFill>
                  <a:srgbClr val="666666"/>
                </a:solidFill>
                <a:latin typeface="Calibri"/>
              </a:rPr>
              <a:t> — dejarla en blanco parece un olvido, y se lee como tal.</a:t>
            </a:r>
          </a:p>
        </p:txBody>
      </p:sp>
      <p:sp>
        <p:nvSpPr>
          <p:cNvPr id="7" name="TextBox 6"/>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Cómo se califica un impacto, sin fingir precisión</a:t>
            </a:r>
          </a:p>
        </p:txBody>
      </p:sp>
      <p:graphicFrame>
        <p:nvGraphicFramePr>
          <p:cNvPr id="5" name="Table 4"/>
          <p:cNvGraphicFramePr>
            <a:graphicFrameLocks noGrp="1"/>
          </p:cNvGraphicFramePr>
          <p:nvPr/>
        </p:nvGraphicFramePr>
        <p:xfrm>
          <a:off x="457200" y="1216152"/>
          <a:ext cx="8961120" cy="2304288"/>
        </p:xfrm>
        <a:graphic>
          <a:graphicData uri="http://schemas.openxmlformats.org/drawingml/2006/table">
            <a:tbl>
              <a:tblPr firstRow="1" bandRow="1">
                <a:tableStyleId>{5C22544A-7EE6-4342-B048-85BDC9FD1C3A}</a:tableStyleId>
              </a:tblPr>
              <a:tblGrid>
                <a:gridCol w="1828800"/>
                <a:gridCol w="3566160"/>
                <a:gridCol w="3566160"/>
              </a:tblGrid>
              <a:tr h="384048">
                <a:tc>
                  <a:txBody>
                    <a:bodyPr/>
                    <a:lstStyle/>
                    <a:p>
                      <a:r>
                        <a:rPr sz="1200" b="1" i="0">
                          <a:solidFill>
                            <a:srgbClr val="FFFFFF"/>
                          </a:solidFill>
                          <a:latin typeface="Calibri"/>
                        </a:rPr>
                        <a:t>Criterio</a:t>
                      </a:r>
                    </a:p>
                  </a:txBody>
                  <a:tcPr>
                    <a:solidFill>
                      <a:srgbClr val="095292"/>
                    </a:solidFill>
                  </a:tcPr>
                </a:tc>
                <a:tc>
                  <a:txBody>
                    <a:bodyPr/>
                    <a:lstStyle/>
                    <a:p>
                      <a:r>
                        <a:rPr sz="1200" b="1" i="0">
                          <a:solidFill>
                            <a:srgbClr val="FFFFFF"/>
                          </a:solidFill>
                          <a:latin typeface="Calibri"/>
                        </a:rPr>
                        <a:t>Qué pregunta</a:t>
                      </a:r>
                    </a:p>
                  </a:txBody>
                  <a:tcPr>
                    <a:solidFill>
                      <a:srgbClr val="095292"/>
                    </a:solidFill>
                  </a:tcPr>
                </a:tc>
                <a:tc>
                  <a:txBody>
                    <a:bodyPr/>
                    <a:lstStyle/>
                    <a:p>
                      <a:r>
                        <a:rPr sz="1200" b="1" i="0">
                          <a:solidFill>
                            <a:srgbClr val="FFFFFF"/>
                          </a:solidFill>
                          <a:latin typeface="Calibri"/>
                        </a:rPr>
                        <a:t>Escala que usamos</a:t>
                      </a:r>
                    </a:p>
                  </a:txBody>
                  <a:tcPr>
                    <a:solidFill>
                      <a:srgbClr val="095292"/>
                    </a:solidFill>
                  </a:tcPr>
                </a:tc>
              </a:tr>
              <a:tr h="384048">
                <a:tc>
                  <a:txBody>
                    <a:bodyPr/>
                    <a:lstStyle/>
                    <a:p>
                      <a:r>
                        <a:rPr sz="1100" b="1" i="0">
                          <a:solidFill>
                            <a:srgbClr val="333333"/>
                          </a:solidFill>
                          <a:latin typeface="Calibri"/>
                        </a:rPr>
                        <a:t>Carácter</a:t>
                      </a:r>
                    </a:p>
                  </a:txBody>
                  <a:tcPr>
                    <a:solidFill>
                      <a:srgbClr val="FFFFFF"/>
                    </a:solidFill>
                  </a:tcPr>
                </a:tc>
                <a:tc>
                  <a:txBody>
                    <a:bodyPr/>
                    <a:lstStyle/>
                    <a:p>
                      <a:r>
                        <a:rPr sz="1100" b="0" i="0">
                          <a:solidFill>
                            <a:srgbClr val="333333"/>
                          </a:solidFill>
                          <a:latin typeface="Calibri"/>
                        </a:rPr>
                        <a:t>¿Mejora o empeora la situación?</a:t>
                      </a:r>
                    </a:p>
                  </a:txBody>
                  <a:tcPr>
                    <a:solidFill>
                      <a:srgbClr val="FFFFFF"/>
                    </a:solidFill>
                  </a:tcPr>
                </a:tc>
                <a:tc>
                  <a:txBody>
                    <a:bodyPr/>
                    <a:lstStyle/>
                    <a:p>
                      <a:r>
                        <a:rPr sz="1100" b="0" i="0">
                          <a:solidFill>
                            <a:srgbClr val="333333"/>
                          </a:solidFill>
                          <a:latin typeface="Calibri"/>
                        </a:rPr>
                        <a:t>Positivo · Negativo</a:t>
                      </a:r>
                    </a:p>
                  </a:txBody>
                  <a:tcPr>
                    <a:solidFill>
                      <a:srgbClr val="FFFFFF"/>
                    </a:solidFill>
                  </a:tcPr>
                </a:tc>
              </a:tr>
              <a:tr h="384048">
                <a:tc>
                  <a:txBody>
                    <a:bodyPr/>
                    <a:lstStyle/>
                    <a:p>
                      <a:r>
                        <a:rPr sz="1100" b="1" i="0">
                          <a:solidFill>
                            <a:srgbClr val="333333"/>
                          </a:solidFill>
                          <a:latin typeface="Calibri"/>
                        </a:rPr>
                        <a:t>Magnitud</a:t>
                      </a:r>
                    </a:p>
                  </a:txBody>
                  <a:tcPr>
                    <a:solidFill>
                      <a:srgbClr val="F2F2F2"/>
                    </a:solidFill>
                  </a:tcPr>
                </a:tc>
                <a:tc>
                  <a:txBody>
                    <a:bodyPr/>
                    <a:lstStyle/>
                    <a:p>
                      <a:r>
                        <a:rPr sz="1100" b="0" i="0">
                          <a:solidFill>
                            <a:srgbClr val="333333"/>
                          </a:solidFill>
                          <a:latin typeface="Calibri"/>
                        </a:rPr>
                        <a:t>¿Qué tan grande es el cambio para quien lo recibe?</a:t>
                      </a:r>
                    </a:p>
                  </a:txBody>
                  <a:tcPr>
                    <a:solidFill>
                      <a:srgbClr val="F2F2F2"/>
                    </a:solidFill>
                  </a:tcPr>
                </a:tc>
                <a:tc>
                  <a:txBody>
                    <a:bodyPr/>
                    <a:lstStyle/>
                    <a:p>
                      <a:r>
                        <a:rPr sz="1100" b="0" i="0">
                          <a:solidFill>
                            <a:srgbClr val="333333"/>
                          </a:solidFill>
                          <a:latin typeface="Calibri"/>
                        </a:rPr>
                        <a:t>Baja · Media · Alta</a:t>
                      </a:r>
                    </a:p>
                  </a:txBody>
                  <a:tcPr>
                    <a:solidFill>
                      <a:srgbClr val="F2F2F2"/>
                    </a:solidFill>
                  </a:tcPr>
                </a:tc>
              </a:tr>
              <a:tr h="384048">
                <a:tc>
                  <a:txBody>
                    <a:bodyPr/>
                    <a:lstStyle/>
                    <a:p>
                      <a:r>
                        <a:rPr sz="1100" b="1" i="0">
                          <a:solidFill>
                            <a:srgbClr val="333333"/>
                          </a:solidFill>
                          <a:latin typeface="Calibri"/>
                        </a:rPr>
                        <a:t>Extensión</a:t>
                      </a:r>
                    </a:p>
                  </a:txBody>
                  <a:tcPr>
                    <a:solidFill>
                      <a:srgbClr val="FFFFFF"/>
                    </a:solidFill>
                  </a:tcPr>
                </a:tc>
                <a:tc>
                  <a:txBody>
                    <a:bodyPr/>
                    <a:lstStyle/>
                    <a:p>
                      <a:r>
                        <a:rPr sz="1100" b="0" i="0">
                          <a:solidFill>
                            <a:srgbClr val="333333"/>
                          </a:solidFill>
                          <a:latin typeface="Calibri"/>
                        </a:rPr>
                        <a:t>¿A cuánta gente le pasa?</a:t>
                      </a:r>
                    </a:p>
                  </a:txBody>
                  <a:tcPr>
                    <a:solidFill>
                      <a:srgbClr val="FFFFFF"/>
                    </a:solidFill>
                  </a:tcPr>
                </a:tc>
                <a:tc>
                  <a:txBody>
                    <a:bodyPr/>
                    <a:lstStyle/>
                    <a:p>
                      <a:r>
                        <a:rPr sz="1100" b="0" i="0">
                          <a:solidFill>
                            <a:srgbClr val="333333"/>
                          </a:solidFill>
                          <a:latin typeface="Calibri"/>
                        </a:rPr>
                        <a:t>Pocas personas · Un grupo · Todo el barrio</a:t>
                      </a:r>
                    </a:p>
                  </a:txBody>
                  <a:tcPr>
                    <a:solidFill>
                      <a:srgbClr val="FFFFFF"/>
                    </a:solidFill>
                  </a:tcPr>
                </a:tc>
              </a:tr>
              <a:tr h="384048">
                <a:tc>
                  <a:txBody>
                    <a:bodyPr/>
                    <a:lstStyle/>
                    <a:p>
                      <a:r>
                        <a:rPr sz="1100" b="1" i="0">
                          <a:solidFill>
                            <a:srgbClr val="333333"/>
                          </a:solidFill>
                          <a:latin typeface="Calibri"/>
                        </a:rPr>
                        <a:t>Duración</a:t>
                      </a:r>
                    </a:p>
                  </a:txBody>
                  <a:tcPr>
                    <a:solidFill>
                      <a:srgbClr val="F2F2F2"/>
                    </a:solidFill>
                  </a:tcPr>
                </a:tc>
                <a:tc>
                  <a:txBody>
                    <a:bodyPr/>
                    <a:lstStyle/>
                    <a:p>
                      <a:r>
                        <a:rPr sz="1100" b="0" i="0">
                          <a:solidFill>
                            <a:srgbClr val="333333"/>
                          </a:solidFill>
                          <a:latin typeface="Calibri"/>
                        </a:rPr>
                        <a:t>¿Cuánto dura el efecto?</a:t>
                      </a:r>
                    </a:p>
                  </a:txBody>
                  <a:tcPr>
                    <a:solidFill>
                      <a:srgbClr val="F2F2F2"/>
                    </a:solidFill>
                  </a:tcPr>
                </a:tc>
                <a:tc>
                  <a:txBody>
                    <a:bodyPr/>
                    <a:lstStyle/>
                    <a:p>
                      <a:r>
                        <a:rPr sz="1100" b="0" i="0">
                          <a:solidFill>
                            <a:srgbClr val="333333"/>
                          </a:solidFill>
                          <a:latin typeface="Calibri"/>
                        </a:rPr>
                        <a:t>Temporal · Permanente mientras se use</a:t>
                      </a:r>
                    </a:p>
                  </a:txBody>
                  <a:tcPr>
                    <a:solidFill>
                      <a:srgbClr val="F2F2F2"/>
                    </a:solidFill>
                  </a:tcPr>
                </a:tc>
              </a:tr>
              <a:tr h="384048">
                <a:tc>
                  <a:txBody>
                    <a:bodyPr/>
                    <a:lstStyle/>
                    <a:p>
                      <a:r>
                        <a:rPr sz="1100" b="1" i="0">
                          <a:solidFill>
                            <a:srgbClr val="333333"/>
                          </a:solidFill>
                          <a:latin typeface="Calibri"/>
                        </a:rPr>
                        <a:t>Reversibilidad</a:t>
                      </a:r>
                    </a:p>
                  </a:txBody>
                  <a:tcPr>
                    <a:solidFill>
                      <a:srgbClr val="FFFFFF"/>
                    </a:solidFill>
                  </a:tcPr>
                </a:tc>
                <a:tc>
                  <a:txBody>
                    <a:bodyPr/>
                    <a:lstStyle/>
                    <a:p>
                      <a:r>
                        <a:rPr sz="1100" b="0" i="0">
                          <a:solidFill>
                            <a:srgbClr val="333333"/>
                          </a:solidFill>
                          <a:latin typeface="Calibri"/>
                        </a:rPr>
                        <a:t>¿Se puede deshacer si sale mal?</a:t>
                      </a:r>
                    </a:p>
                  </a:txBody>
                  <a:tcPr>
                    <a:solidFill>
                      <a:srgbClr val="FFFFFF"/>
                    </a:solidFill>
                  </a:tcPr>
                </a:tc>
                <a:tc>
                  <a:txBody>
                    <a:bodyPr/>
                    <a:lstStyle/>
                    <a:p>
                      <a:r>
                        <a:rPr sz="1100" b="0" i="0">
                          <a:solidFill>
                            <a:srgbClr val="333333"/>
                          </a:solidFill>
                          <a:latin typeface="Calibri"/>
                        </a:rPr>
                        <a:t>Reversible · Difícil de revertir</a:t>
                      </a:r>
                    </a:p>
                  </a:txBody>
                  <a:tcPr>
                    <a:solidFill>
                      <a:srgbClr val="FFFFFF"/>
                    </a:solidFill>
                  </a:tcPr>
                </a:tc>
              </a:tr>
            </a:tbl>
          </a:graphicData>
        </a:graphic>
      </p:graphicFrame>
      <p:sp>
        <p:nvSpPr>
          <p:cNvPr id="6" name="TextBox 5"/>
          <p:cNvSpPr txBox="1"/>
          <p:nvPr/>
        </p:nvSpPr>
        <p:spPr>
          <a:xfrm>
            <a:off x="457200" y="4297680"/>
            <a:ext cx="11277295" cy="457200"/>
          </a:xfrm>
          <a:prstGeom prst="rect">
            <a:avLst/>
          </a:prstGeom>
          <a:noFill/>
        </p:spPr>
        <p:txBody>
          <a:bodyPr wrap="square">
            <a:spAutoFit/>
          </a:bodyPr>
          <a:lstStyle/>
          <a:p>
            <a:r>
              <a:rPr sz="1100" b="0" i="1">
                <a:solidFill>
                  <a:srgbClr val="666666"/>
                </a:solidFill>
                <a:latin typeface="Calibri"/>
              </a:rPr>
              <a:t>Los cinco criterios vienen de las metodologías de evaluación de impacto ambiental, que trabajan con matrices de este tipo desde los años setenta. Aviso de honestidad intelectual: </a:t>
            </a:r>
            <a:r>
              <a:rPr sz="1100" b="1" i="1">
                <a:solidFill>
                  <a:srgbClr val="666666"/>
                </a:solidFill>
                <a:latin typeface="Calibri"/>
              </a:rPr>
              <a:t>las escalas son una convención para comparar y ordenar, no una medición.</a:t>
            </a:r>
            <a:r>
              <a:rPr sz="1100" b="0" i="1">
                <a:solidFill>
                  <a:srgbClr val="666666"/>
                </a:solidFill>
                <a:latin typeface="Calibri"/>
              </a:rPr>
              <a:t> Dos equipos pueden calificar distinto el mismo impacto; lo que no se puede es no justificar la calificación.</a:t>
            </a:r>
          </a:p>
        </p:txBody>
      </p:sp>
      <p:sp>
        <p:nvSpPr>
          <p:cNvPr id="7" name="TextBox 6"/>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Ejemplo: un impacto negativo calificado</a:t>
            </a:r>
          </a:p>
        </p:txBody>
      </p:sp>
      <p:graphicFrame>
        <p:nvGraphicFramePr>
          <p:cNvPr id="5" name="Table 4"/>
          <p:cNvGraphicFramePr>
            <a:graphicFrameLocks noGrp="1"/>
          </p:cNvGraphicFramePr>
          <p:nvPr/>
        </p:nvGraphicFramePr>
        <p:xfrm>
          <a:off x="457200" y="1216152"/>
          <a:ext cx="11277294" cy="1920240"/>
        </p:xfrm>
        <a:graphic>
          <a:graphicData uri="http://schemas.openxmlformats.org/drawingml/2006/table">
            <a:tbl>
              <a:tblPr firstRow="1" bandRow="1">
                <a:tableStyleId>{5C22544A-7EE6-4342-B048-85BDC9FD1C3A}</a:tableStyleId>
              </a:tblPr>
              <a:tblGrid>
                <a:gridCol w="3759098"/>
                <a:gridCol w="3759098"/>
                <a:gridCol w="3759098"/>
              </a:tblGrid>
              <a:tr h="384048">
                <a:tc>
                  <a:txBody>
                    <a:bodyPr/>
                    <a:lstStyle/>
                    <a:p>
                      <a:r>
                        <a:rPr sz="1200" b="1" i="0">
                          <a:solidFill>
                            <a:srgbClr val="FFFFFF"/>
                          </a:solidFill>
                          <a:latin typeface="Calibri"/>
                        </a:rPr>
                        <a:t>Criterio</a:t>
                      </a:r>
                    </a:p>
                  </a:txBody>
                  <a:tcPr>
                    <a:solidFill>
                      <a:srgbClr val="095292"/>
                    </a:solidFill>
                  </a:tcPr>
                </a:tc>
                <a:tc>
                  <a:txBody>
                    <a:bodyPr/>
                    <a:lstStyle/>
                    <a:p>
                      <a:r>
                        <a:rPr sz="1200" b="1" i="0">
                          <a:solidFill>
                            <a:srgbClr val="FFFFFF"/>
                          </a:solidFill>
                          <a:latin typeface="Calibri"/>
                        </a:rPr>
                        <a:t>Calificación</a:t>
                      </a:r>
                    </a:p>
                  </a:txBody>
                  <a:tcPr>
                    <a:solidFill>
                      <a:srgbClr val="095292"/>
                    </a:solidFill>
                  </a:tcPr>
                </a:tc>
                <a:tc>
                  <a:txBody>
                    <a:bodyPr/>
                    <a:lstStyle/>
                    <a:p>
                      <a:r>
                        <a:rPr sz="1200" b="1" i="0">
                          <a:solidFill>
                            <a:srgbClr val="FFFFFF"/>
                          </a:solidFill>
                          <a:latin typeface="Calibri"/>
                        </a:rPr>
                        <a:t>Por qué</a:t>
                      </a:r>
                    </a:p>
                  </a:txBody>
                  <a:tcPr>
                    <a:solidFill>
                      <a:srgbClr val="095292"/>
                    </a:solidFill>
                  </a:tcPr>
                </a:tc>
              </a:tr>
              <a:tr h="384048">
                <a:tc>
                  <a:txBody>
                    <a:bodyPr/>
                    <a:lstStyle/>
                    <a:p>
                      <a:r>
                        <a:rPr sz="1200" b="0" i="0">
                          <a:solidFill>
                            <a:srgbClr val="333333"/>
                          </a:solidFill>
                          <a:latin typeface="Calibri"/>
                        </a:rPr>
                        <a:t>Carácter</a:t>
                      </a:r>
                    </a:p>
                  </a:txBody>
                  <a:tcPr>
                    <a:solidFill>
                      <a:srgbClr val="FFFFFF"/>
                    </a:solidFill>
                  </a:tcPr>
                </a:tc>
                <a:tc>
                  <a:txBody>
                    <a:bodyPr/>
                    <a:lstStyle/>
                    <a:p>
                      <a:r>
                        <a:rPr sz="1200" b="0" i="0">
                          <a:solidFill>
                            <a:srgbClr val="333333"/>
                          </a:solidFill>
                          <a:latin typeface="Calibri"/>
                        </a:rPr>
                        <a:t>Negativo</a:t>
                      </a:r>
                    </a:p>
                  </a:txBody>
                  <a:tcPr>
                    <a:solidFill>
                      <a:srgbClr val="FFFFFF"/>
                    </a:solidFill>
                  </a:tcPr>
                </a:tc>
                <a:tc>
                  <a:txBody>
                    <a:bodyPr/>
                    <a:lstStyle/>
                    <a:p>
                      <a:r>
                        <a:rPr sz="1200" b="0" i="0">
                          <a:solidFill>
                            <a:srgbClr val="333333"/>
                          </a:solidFill>
                          <a:latin typeface="Calibri"/>
                        </a:rPr>
                        <a:t>Pierden el servicio que tenían</a:t>
                      </a:r>
                    </a:p>
                  </a:txBody>
                  <a:tcPr>
                    <a:solidFill>
                      <a:srgbClr val="FFFFFF"/>
                    </a:solidFill>
                  </a:tcPr>
                </a:tc>
              </a:tr>
              <a:tr h="384048">
                <a:tc>
                  <a:txBody>
                    <a:bodyPr/>
                    <a:lstStyle/>
                    <a:p>
                      <a:r>
                        <a:rPr sz="1200" b="0" i="0">
                          <a:solidFill>
                            <a:srgbClr val="333333"/>
                          </a:solidFill>
                          <a:latin typeface="Calibri"/>
                        </a:rPr>
                        <a:t>Magnitud</a:t>
                      </a:r>
                    </a:p>
                  </a:txBody>
                  <a:tcPr>
                    <a:solidFill>
                      <a:srgbClr val="F2F2F2"/>
                    </a:solidFill>
                  </a:tcPr>
                </a:tc>
                <a:tc>
                  <a:txBody>
                    <a:bodyPr/>
                    <a:lstStyle/>
                    <a:p>
                      <a:r>
                        <a:rPr sz="1200" b="0" i="0">
                          <a:solidFill>
                            <a:srgbClr val="333333"/>
                          </a:solidFill>
                          <a:latin typeface="Calibri"/>
                        </a:rPr>
                        <a:t>Alta</a:t>
                      </a:r>
                    </a:p>
                  </a:txBody>
                  <a:tcPr>
                    <a:solidFill>
                      <a:srgbClr val="F2F2F2"/>
                    </a:solidFill>
                  </a:tcPr>
                </a:tc>
                <a:tc>
                  <a:txBody>
                    <a:bodyPr/>
                    <a:lstStyle/>
                    <a:p>
                      <a:r>
                        <a:rPr sz="1200" b="0" i="0">
                          <a:solidFill>
                            <a:srgbClr val="333333"/>
                          </a:solidFill>
                          <a:latin typeface="Calibri"/>
                        </a:rPr>
                        <a:t>Para ellos, no poder comprar es grave</a:t>
                      </a:r>
                    </a:p>
                  </a:txBody>
                  <a:tcPr>
                    <a:solidFill>
                      <a:srgbClr val="F2F2F2"/>
                    </a:solidFill>
                  </a:tcPr>
                </a:tc>
              </a:tr>
              <a:tr h="384048">
                <a:tc>
                  <a:txBody>
                    <a:bodyPr/>
                    <a:lstStyle/>
                    <a:p>
                      <a:r>
                        <a:rPr sz="1200" b="0" i="0">
                          <a:solidFill>
                            <a:srgbClr val="333333"/>
                          </a:solidFill>
                          <a:latin typeface="Calibri"/>
                        </a:rPr>
                        <a:t>Extensión</a:t>
                      </a:r>
                    </a:p>
                  </a:txBody>
                  <a:tcPr>
                    <a:solidFill>
                      <a:srgbClr val="FFFFFF"/>
                    </a:solidFill>
                  </a:tcPr>
                </a:tc>
                <a:tc>
                  <a:txBody>
                    <a:bodyPr/>
                    <a:lstStyle/>
                    <a:p>
                      <a:r>
                        <a:rPr sz="1200" b="0" i="0">
                          <a:solidFill>
                            <a:srgbClr val="333333"/>
                          </a:solidFill>
                          <a:latin typeface="Calibri"/>
                        </a:rPr>
                        <a:t>Un grupo</a:t>
                      </a:r>
                    </a:p>
                  </a:txBody>
                  <a:tcPr>
                    <a:solidFill>
                      <a:srgbClr val="FFFFFF"/>
                    </a:solidFill>
                  </a:tcPr>
                </a:tc>
                <a:tc>
                  <a:txBody>
                    <a:bodyPr/>
                    <a:lstStyle/>
                    <a:p>
                      <a:r>
                        <a:rPr sz="1200" b="0" i="0">
                          <a:solidFill>
                            <a:srgbClr val="333333"/>
                          </a:solidFill>
                          <a:latin typeface="Calibri"/>
                        </a:rPr>
                        <a:t>Cerca de 1 de cada 5 clientes</a:t>
                      </a:r>
                    </a:p>
                  </a:txBody>
                  <a:tcPr>
                    <a:solidFill>
                      <a:srgbClr val="FFFFFF"/>
                    </a:solidFill>
                  </a:tcPr>
                </a:tc>
              </a:tr>
              <a:tr h="384048">
                <a:tc>
                  <a:txBody>
                    <a:bodyPr/>
                    <a:lstStyle/>
                    <a:p>
                      <a:r>
                        <a:rPr sz="1200" b="0" i="0">
                          <a:solidFill>
                            <a:srgbClr val="333333"/>
                          </a:solidFill>
                          <a:latin typeface="Calibri"/>
                        </a:rPr>
                        <a:t>Reversibilidad</a:t>
                      </a:r>
                    </a:p>
                  </a:txBody>
                  <a:tcPr>
                    <a:solidFill>
                      <a:srgbClr val="F2F2F2"/>
                    </a:solidFill>
                  </a:tcPr>
                </a:tc>
                <a:tc>
                  <a:txBody>
                    <a:bodyPr/>
                    <a:lstStyle/>
                    <a:p>
                      <a:r>
                        <a:rPr sz="1200" b="0" i="0">
                          <a:solidFill>
                            <a:srgbClr val="333333"/>
                          </a:solidFill>
                          <a:latin typeface="Calibri"/>
                        </a:rPr>
                        <a:t>Reversible</a:t>
                      </a:r>
                    </a:p>
                  </a:txBody>
                  <a:tcPr>
                    <a:solidFill>
                      <a:srgbClr val="F2F2F2"/>
                    </a:solidFill>
                  </a:tcPr>
                </a:tc>
                <a:tc>
                  <a:txBody>
                    <a:bodyPr/>
                    <a:lstStyle/>
                    <a:p>
                      <a:r>
                        <a:rPr sz="1200" b="1" i="0">
                          <a:solidFill>
                            <a:srgbClr val="333333"/>
                          </a:solidFill>
                          <a:latin typeface="Calibri"/>
                        </a:rPr>
                        <a:t>Mitigación:</a:t>
                      </a:r>
                      <a:r>
                        <a:rPr sz="1200" b="0" i="0">
                          <a:solidFill>
                            <a:srgbClr val="333333"/>
                          </a:solidFill>
                          <a:latin typeface="Calibri"/>
                        </a:rPr>
                        <a:t> se mantienen fichas de papel</a:t>
                      </a:r>
                    </a:p>
                  </a:txBody>
                  <a:tcPr>
                    <a:solidFill>
                      <a:srgbClr val="F2F2F2"/>
                    </a:solidFill>
                  </a:tcPr>
                </a:tc>
              </a:tr>
            </a:tbl>
          </a:graphicData>
        </a:graphic>
      </p:graphicFrame>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70432"/>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384048"/>
          </a:xfrm>
          <a:prstGeom prst="rect">
            <a:avLst/>
          </a:prstGeom>
          <a:noFill/>
        </p:spPr>
        <p:txBody>
          <a:bodyPr wrap="square">
            <a:spAutoFit/>
          </a:bodyPr>
          <a:lstStyle/>
          <a:p>
            <a:r>
              <a:rPr sz="2600" b="1" i="0">
                <a:solidFill>
                  <a:srgbClr val="FFFFFF"/>
                </a:solidFill>
                <a:latin typeface="Calibri"/>
              </a:rPr>
              <a:t>Un impacto declarado y un impacto medido</a:t>
            </a:r>
          </a:p>
        </p:txBody>
      </p:sp>
      <p:sp>
        <p:nvSpPr>
          <p:cNvPr id="5" name="TextBox 4"/>
          <p:cNvSpPr txBox="1"/>
          <p:nvPr/>
        </p:nvSpPr>
        <p:spPr>
          <a:xfrm>
            <a:off x="457200" y="566928"/>
            <a:ext cx="11277295" cy="411480"/>
          </a:xfrm>
          <a:prstGeom prst="rect">
            <a:avLst/>
          </a:prstGeom>
          <a:noFill/>
        </p:spPr>
        <p:txBody>
          <a:bodyPr wrap="square">
            <a:spAutoFit/>
          </a:bodyPr>
          <a:lstStyle/>
          <a:p>
            <a:r>
              <a:rPr sz="1400" b="0" i="0">
                <a:solidFill>
                  <a:srgbClr val="B8D8EE"/>
                </a:solidFill>
                <a:latin typeface="Calibri"/>
              </a:rPr>
              <a:t>Nótese que las dos últimas líneas de la derecha son impactos NEGATIVOS, y son las que hacen creíble a todas las demás</a:t>
            </a:r>
          </a:p>
        </p:txBody>
      </p:sp>
      <p:sp>
        <p:nvSpPr>
          <p:cNvPr id="6" name="Rounded Rectangle 5"/>
          <p:cNvSpPr/>
          <p:nvPr/>
        </p:nvSpPr>
        <p:spPr>
          <a:xfrm>
            <a:off x="457200" y="1472184"/>
            <a:ext cx="5478627" cy="4882896"/>
          </a:xfrm>
          <a:prstGeom prst="roundRect">
            <a:avLst>
              <a:gd name="adj" fmla="val 12000"/>
            </a:avLst>
          </a:prstGeom>
          <a:solidFill>
            <a:srgbClr val="FB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472184"/>
            <a:ext cx="5478627" cy="502920"/>
          </a:xfrm>
          <a:prstGeom prst="rect">
            <a:avLst/>
          </a:prstGeom>
          <a:solidFill>
            <a:srgbClr val="A0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63624"/>
            <a:ext cx="5204307" cy="365760"/>
          </a:xfrm>
          <a:prstGeom prst="rect">
            <a:avLst/>
          </a:prstGeom>
          <a:noFill/>
        </p:spPr>
        <p:txBody>
          <a:bodyPr wrap="square" anchor="ctr"/>
          <a:lstStyle/>
          <a:p>
            <a:pPr algn="ctr"/>
            <a:r>
              <a:rPr sz="1600" b="1" i="0">
                <a:solidFill>
                  <a:srgbClr val="FFFFFF"/>
                </a:solidFill>
                <a:latin typeface="Calibri"/>
              </a:rPr>
              <a:t>Lo que escribe casi todo el mundo</a:t>
            </a:r>
          </a:p>
        </p:txBody>
      </p:sp>
      <p:sp>
        <p:nvSpPr>
          <p:cNvPr id="9" name="TextBox 8"/>
          <p:cNvSpPr txBox="1"/>
          <p:nvPr/>
        </p:nvSpPr>
        <p:spPr>
          <a:xfrm>
            <a:off x="621792" y="2112263"/>
            <a:ext cx="5158587" cy="4288536"/>
          </a:xfrm>
          <a:prstGeom prst="rect">
            <a:avLst/>
          </a:prstGeom>
          <a:noFill/>
        </p:spPr>
        <p:txBody>
          <a:bodyPr wrap="square">
            <a:spAutoFit/>
          </a:bodyPr>
          <a:lstStyle/>
          <a:p>
            <a:pPr>
              <a:spcAft>
                <a:spcPts val="800"/>
              </a:spcAft>
            </a:pPr>
            <a:r>
              <a:rPr sz="1500" b="0" i="0">
                <a:solidFill>
                  <a:srgbClr val="333333"/>
                </a:solidFill>
                <a:latin typeface="Calibri"/>
              </a:rPr>
              <a:t>–   «Nuestra solución beneficia a la comunidad.»</a:t>
            </a:r>
          </a:p>
          <a:p>
            <a:pPr>
              <a:spcAft>
                <a:spcPts val="800"/>
              </a:spcAft>
            </a:pPr>
            <a:r>
              <a:rPr sz="1500" b="0" i="0">
                <a:solidFill>
                  <a:srgbClr val="333333"/>
                </a:solidFill>
                <a:latin typeface="Calibri"/>
              </a:rPr>
              <a:t>–   «Contribuye al cuidado del medio ambiente.»</a:t>
            </a:r>
          </a:p>
          <a:p>
            <a:pPr>
              <a:spcAft>
                <a:spcPts val="800"/>
              </a:spcAft>
            </a:pPr>
            <a:r>
              <a:rPr sz="1500" b="0" i="0">
                <a:solidFill>
                  <a:srgbClr val="333333"/>
                </a:solidFill>
                <a:latin typeface="Calibri"/>
              </a:rPr>
              <a:t>–   «Mejora la calidad de vida de los usuarios.»</a:t>
            </a:r>
          </a:p>
          <a:p>
            <a:pPr>
              <a:spcAft>
                <a:spcPts val="800"/>
              </a:spcAft>
            </a:pPr>
            <a:r>
              <a:rPr sz="1500" b="0" i="0">
                <a:solidFill>
                  <a:srgbClr val="333333"/>
                </a:solidFill>
                <a:latin typeface="Calibri"/>
              </a:rPr>
              <a:t>–   «Promueve la inclusión y el acceso a la cultura.»</a:t>
            </a:r>
          </a:p>
          <a:p>
            <a:pPr>
              <a:spcAft>
                <a:spcPts val="800"/>
              </a:spcAft>
            </a:pPr>
            <a:r>
              <a:rPr sz="1500" b="0" i="0">
                <a:solidFill>
                  <a:srgbClr val="333333"/>
                </a:solidFill>
                <a:latin typeface="Calibri"/>
              </a:rPr>
              <a:t>–   «No genera ningún impacto negativo.»</a:t>
            </a:r>
          </a:p>
        </p:txBody>
      </p:sp>
      <p:sp>
        <p:nvSpPr>
          <p:cNvPr id="10" name="Rounded Rectangle 9"/>
          <p:cNvSpPr/>
          <p:nvPr/>
        </p:nvSpPr>
        <p:spPr>
          <a:xfrm>
            <a:off x="6255867" y="1472184"/>
            <a:ext cx="5478627" cy="4882896"/>
          </a:xfrm>
          <a:prstGeom prst="roundRect">
            <a:avLst>
              <a:gd name="adj" fmla="val 12000"/>
            </a:avLst>
          </a:prstGeom>
          <a:solidFill>
            <a:srgbClr val="E8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55867" y="1472184"/>
            <a:ext cx="5478627" cy="5029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93027" y="1563624"/>
            <a:ext cx="5204307" cy="365760"/>
          </a:xfrm>
          <a:prstGeom prst="rect">
            <a:avLst/>
          </a:prstGeom>
          <a:noFill/>
        </p:spPr>
        <p:txBody>
          <a:bodyPr wrap="square" anchor="ctr"/>
          <a:lstStyle/>
          <a:p>
            <a:pPr algn="ctr"/>
            <a:r>
              <a:rPr sz="1600" b="1" i="0">
                <a:solidFill>
                  <a:srgbClr val="FFFFFF"/>
                </a:solidFill>
                <a:latin typeface="Calibri"/>
              </a:rPr>
              <a:t>Lo que se puede verificar</a:t>
            </a:r>
          </a:p>
        </p:txBody>
      </p:sp>
      <p:sp>
        <p:nvSpPr>
          <p:cNvPr id="13" name="TextBox 12"/>
          <p:cNvSpPr txBox="1"/>
          <p:nvPr/>
        </p:nvSpPr>
        <p:spPr>
          <a:xfrm>
            <a:off x="6420459" y="2112263"/>
            <a:ext cx="5158587" cy="4288536"/>
          </a:xfrm>
          <a:prstGeom prst="rect">
            <a:avLst/>
          </a:prstGeom>
          <a:noFill/>
        </p:spPr>
        <p:txBody>
          <a:bodyPr wrap="square">
            <a:spAutoFit/>
          </a:bodyPr>
          <a:lstStyle/>
          <a:p>
            <a:pPr>
              <a:spcAft>
                <a:spcPts val="800"/>
              </a:spcAft>
            </a:pPr>
            <a:r>
              <a:rPr sz="1500" b="0" i="0">
                <a:solidFill>
                  <a:srgbClr val="333333"/>
                </a:solidFill>
                <a:latin typeface="Calibri"/>
              </a:rPr>
              <a:t>–   «Evita </a:t>
            </a:r>
            <a:r>
              <a:rPr sz="1500" b="1" i="0">
                <a:solidFill>
                  <a:srgbClr val="333333"/>
                </a:solidFill>
                <a:latin typeface="Calibri"/>
              </a:rPr>
              <a:t>4 de cada 10 viajes</a:t>
            </a:r>
            <a:r>
              <a:rPr sz="1500" b="0" i="0">
                <a:solidFill>
                  <a:srgbClr val="333333"/>
                </a:solidFill>
                <a:latin typeface="Calibri"/>
              </a:rPr>
              <a:t> sin préstamo: unas 60 visitas al mes.»</a:t>
            </a:r>
          </a:p>
          <a:p>
            <a:pPr>
              <a:spcAft>
                <a:spcPts val="800"/>
              </a:spcAft>
            </a:pPr>
            <a:r>
              <a:rPr sz="1500" b="0" i="0">
                <a:solidFill>
                  <a:srgbClr val="333333"/>
                </a:solidFill>
                <a:latin typeface="Calibri"/>
              </a:rPr>
              <a:t>–   «Cada consulta mueve </a:t>
            </a:r>
            <a:r>
              <a:rPr sz="1500" b="1" i="0">
                <a:solidFill>
                  <a:srgbClr val="333333"/>
                </a:solidFill>
                <a:latin typeface="Calibri"/>
              </a:rPr>
              <a:t>menos de 200 KB</a:t>
            </a:r>
            <a:r>
              <a:rPr sz="1500" b="0" i="0">
                <a:solidFill>
                  <a:srgbClr val="333333"/>
                </a:solidFill>
                <a:latin typeface="Calibri"/>
              </a:rPr>
              <a:t>, sin imágenes.»</a:t>
            </a:r>
          </a:p>
          <a:p>
            <a:pPr>
              <a:spcAft>
                <a:spcPts val="800"/>
              </a:spcAft>
            </a:pPr>
            <a:r>
              <a:rPr sz="1500" b="0" i="0">
                <a:solidFill>
                  <a:srgbClr val="333333"/>
                </a:solidFill>
                <a:latin typeface="Calibri"/>
              </a:rPr>
              <a:t>–   «Ahorra al usuario </a:t>
            </a:r>
            <a:r>
              <a:rPr sz="1500" b="1" i="0">
                <a:solidFill>
                  <a:srgbClr val="333333"/>
                </a:solidFill>
                <a:latin typeface="Calibri"/>
              </a:rPr>
              <a:t>un pasaje</a:t>
            </a:r>
            <a:r>
              <a:rPr sz="1500" b="0" i="0">
                <a:solidFill>
                  <a:srgbClr val="333333"/>
                </a:solidFill>
                <a:latin typeface="Calibri"/>
              </a:rPr>
              <a:t> y unos 25 minutos por visita evitada.»</a:t>
            </a:r>
          </a:p>
          <a:p>
            <a:pPr>
              <a:spcAft>
                <a:spcPts val="800"/>
              </a:spcAft>
            </a:pPr>
            <a:r>
              <a:rPr sz="1500" b="0" i="0">
                <a:solidFill>
                  <a:srgbClr val="333333"/>
                </a:solidFill>
                <a:latin typeface="Calibri"/>
              </a:rPr>
              <a:t>–   «Alcanza a quien tiene celular con datos: </a:t>
            </a:r>
            <a:r>
              <a:rPr sz="1500" b="1" i="0">
                <a:solidFill>
                  <a:srgbClr val="333333"/>
                </a:solidFill>
                <a:latin typeface="Calibri"/>
              </a:rPr>
              <a:t>queda fuera 1 de cada 5</a:t>
            </a:r>
            <a:r>
              <a:rPr sz="1500" b="0" i="0">
                <a:solidFill>
                  <a:srgbClr val="333333"/>
                </a:solidFill>
                <a:latin typeface="Calibri"/>
              </a:rPr>
              <a:t> vecinos.»</a:t>
            </a:r>
          </a:p>
          <a:p>
            <a:pPr>
              <a:spcAft>
                <a:spcPts val="800"/>
              </a:spcAft>
            </a:pPr>
            <a:r>
              <a:rPr sz="1500" b="0" i="0">
                <a:solidFill>
                  <a:srgbClr val="333333"/>
                </a:solidFill>
                <a:latin typeface="Calibri"/>
              </a:rPr>
              <a:t>–   «Añade </a:t>
            </a:r>
            <a:r>
              <a:rPr sz="1500" b="1" i="0">
                <a:solidFill>
                  <a:srgbClr val="333333"/>
                </a:solidFill>
                <a:latin typeface="Calibri"/>
              </a:rPr>
              <a:t>10 minutos diarios</a:t>
            </a:r>
            <a:r>
              <a:rPr sz="1500" b="0" i="0">
                <a:solidFill>
                  <a:srgbClr val="333333"/>
                </a:solidFill>
                <a:latin typeface="Calibri"/>
              </a:rPr>
              <a:t> de trabajo a la voluntaria del cierre.»</a:t>
            </a:r>
          </a:p>
        </p:txBody>
      </p:sp>
      <p:pic>
        <p:nvPicPr>
          <p:cNvPr id="14" name="Picture 13" descr="sello_mal.png"/>
          <p:cNvPicPr>
            <a:picLocks noChangeAspect="1"/>
          </p:cNvPicPr>
          <p:nvPr/>
        </p:nvPicPr>
        <p:blipFill>
          <a:blip r:embed="rId2"/>
          <a:stretch>
            <a:fillRect/>
          </a:stretch>
        </p:blipFill>
        <p:spPr>
          <a:xfrm>
            <a:off x="566928" y="1527048"/>
            <a:ext cx="393192" cy="393192"/>
          </a:xfrm>
          <a:prstGeom prst="rect">
            <a:avLst/>
          </a:prstGeom>
        </p:spPr>
      </p:pic>
      <p:pic>
        <p:nvPicPr>
          <p:cNvPr id="15" name="Picture 14" descr="sello_bien.png"/>
          <p:cNvPicPr>
            <a:picLocks noChangeAspect="1"/>
          </p:cNvPicPr>
          <p:nvPr/>
        </p:nvPicPr>
        <p:blipFill>
          <a:blip r:embed="rId3"/>
          <a:stretch>
            <a:fillRect/>
          </a:stretch>
        </p:blipFill>
        <p:spPr>
          <a:xfrm>
            <a:off x="6365595" y="1527048"/>
            <a:ext cx="393192" cy="393192"/>
          </a:xfrm>
          <a:prstGeom prst="rect">
            <a:avLst/>
          </a:prstGeom>
        </p:spPr>
      </p:pic>
      <p:sp>
        <p:nvSpPr>
          <p:cNvPr id="16" name="TextBox 1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Tres verdades sobre el impacto</a:t>
            </a:r>
          </a:p>
        </p:txBody>
      </p:sp>
      <p:sp>
        <p:nvSpPr>
          <p:cNvPr id="5" name="Rounded Rectangle 4"/>
          <p:cNvSpPr/>
          <p:nvPr/>
        </p:nvSpPr>
        <p:spPr>
          <a:xfrm>
            <a:off x="457200" y="1261872"/>
            <a:ext cx="11277295" cy="1051560"/>
          </a:xfrm>
          <a:prstGeom prst="roundRect">
            <a:avLst>
              <a:gd name="adj" fmla="val 12000"/>
            </a:avLst>
          </a:prstGeom>
          <a:solidFill>
            <a:srgbClr val="FB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28016" cy="1051560"/>
          </a:xfrm>
          <a:prstGeom prst="rect">
            <a:avLst/>
          </a:prstGeom>
          <a:solidFill>
            <a:srgbClr val="A0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399031"/>
            <a:ext cx="10774375" cy="822959"/>
          </a:xfrm>
          <a:prstGeom prst="rect">
            <a:avLst/>
          </a:prstGeom>
          <a:noFill/>
        </p:spPr>
        <p:txBody>
          <a:bodyPr wrap="square">
            <a:spAutoFit/>
          </a:bodyPr>
          <a:lstStyle/>
          <a:p>
            <a:r>
              <a:rPr sz="1200" b="1" i="0">
                <a:solidFill>
                  <a:srgbClr val="A02030"/>
                </a:solidFill>
                <a:latin typeface="Calibri"/>
              </a:rPr>
              <a:t>Atención</a:t>
            </a:r>
          </a:p>
          <a:p>
            <a:pPr>
              <a:spcBef>
                <a:spcPts val="400"/>
              </a:spcBef>
            </a:pPr>
            <a:r>
              <a:rPr sz="1400" b="1" i="0">
                <a:solidFill>
                  <a:srgbClr val="333333"/>
                </a:solidFill>
                <a:latin typeface="Calibri"/>
              </a:rPr>
              <a:t>«No genera ningún impacto negativo» es la frase que más credibilidad quita en un informe de ingeniería.</a:t>
            </a:r>
            <a:r>
              <a:rPr sz="1400" b="0" i="0">
                <a:solidFill>
                  <a:srgbClr val="333333"/>
                </a:solidFill>
                <a:latin typeface="Calibri"/>
              </a:rPr>
              <a:t> Toda solución tiene costos: alguien trabaja más, algo se consume, alguien queda fuera. Un equipo que no encuentra ni uno no buscó — y quien lea el informe lo va a notar antes que ustedes.</a:t>
            </a:r>
          </a:p>
        </p:txBody>
      </p:sp>
      <p:sp>
        <p:nvSpPr>
          <p:cNvPr id="8" name="Rounded Rectangle 7"/>
          <p:cNvSpPr/>
          <p:nvPr/>
        </p:nvSpPr>
        <p:spPr>
          <a:xfrm>
            <a:off x="457200" y="2478024"/>
            <a:ext cx="11277295" cy="1051560"/>
          </a:xfrm>
          <a:prstGeom prst="roundRect">
            <a:avLst>
              <a:gd name="adj" fmla="val 12000"/>
            </a:avLst>
          </a:prstGeom>
          <a:solidFill>
            <a:srgbClr val="E8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478024"/>
            <a:ext cx="128016" cy="1051560"/>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615184"/>
            <a:ext cx="10774375" cy="822959"/>
          </a:xfrm>
          <a:prstGeom prst="rect">
            <a:avLst/>
          </a:prstGeom>
          <a:noFill/>
        </p:spPr>
        <p:txBody>
          <a:bodyPr wrap="square">
            <a:spAutoFit/>
          </a:bodyPr>
          <a:lstStyle/>
          <a:p>
            <a:r>
              <a:rPr sz="1200" b="1" i="0">
                <a:solidFill>
                  <a:srgbClr val="269CCB"/>
                </a:solidFill>
                <a:latin typeface="Calibri"/>
              </a:rPr>
              <a:t>Info</a:t>
            </a:r>
          </a:p>
          <a:p>
            <a:pPr>
              <a:spcBef>
                <a:spcPts val="400"/>
              </a:spcBef>
            </a:pPr>
            <a:r>
              <a:rPr sz="1400" b="1" i="0">
                <a:solidFill>
                  <a:srgbClr val="333333"/>
                </a:solidFill>
                <a:latin typeface="Calibri"/>
              </a:rPr>
              <a:t>No todo impacto es cuantificable, y eso no es excusa para no nombrarlo.</a:t>
            </a:r>
            <a:r>
              <a:rPr sz="1400" b="0" i="0">
                <a:solidFill>
                  <a:srgbClr val="333333"/>
                </a:solidFill>
                <a:latin typeface="Calibri"/>
              </a:rPr>
              <a:t> Si no se puede medir, se describe con precisión y se dice cómo </a:t>
            </a:r>
            <a:r>
              <a:rPr sz="1400" b="1" i="0">
                <a:solidFill>
                  <a:srgbClr val="333333"/>
                </a:solidFill>
                <a:latin typeface="Calibri"/>
              </a:rPr>
              <a:t>se podría</a:t>
            </a:r>
            <a:r>
              <a:rPr sz="1400" b="0" i="0">
                <a:solidFill>
                  <a:srgbClr val="333333"/>
                </a:solidFill>
                <a:latin typeface="Calibri"/>
              </a:rPr>
              <a:t> medir. «No sabemos cuántos vecinos no tienen datos móviles; se sabría con una encuesta de diez casas» es una respuesta profesional. «No aplica» no lo es.</a:t>
            </a:r>
          </a:p>
        </p:txBody>
      </p:sp>
      <p:sp>
        <p:nvSpPr>
          <p:cNvPr id="11" name="Rounded Rectangle 10"/>
          <p:cNvSpPr/>
          <p:nvPr/>
        </p:nvSpPr>
        <p:spPr>
          <a:xfrm>
            <a:off x="457200" y="3694176"/>
            <a:ext cx="11277295" cy="1051560"/>
          </a:xfrm>
          <a:prstGeom prst="roundRect">
            <a:avLst>
              <a:gd name="adj" fmla="val 12000"/>
            </a:avLst>
          </a:prstGeom>
          <a:solidFill>
            <a:srgbClr val="FFF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3694176"/>
            <a:ext cx="128016" cy="1051560"/>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3831336"/>
            <a:ext cx="10774375" cy="822959"/>
          </a:xfrm>
          <a:prstGeom prst="rect">
            <a:avLst/>
          </a:prstGeom>
          <a:noFill/>
        </p:spPr>
        <p:txBody>
          <a:bodyPr wrap="square">
            <a:spAutoFit/>
          </a:bodyPr>
          <a:lstStyle/>
          <a:p>
            <a:r>
              <a:rPr sz="1200" b="1" i="0">
                <a:solidFill>
                  <a:srgbClr val="FFD000"/>
                </a:solidFill>
                <a:latin typeface="Calibri"/>
              </a:rPr>
              <a:t>Aclaración</a:t>
            </a:r>
          </a:p>
          <a:p>
            <a:pPr>
              <a:spcBef>
                <a:spcPts val="400"/>
              </a:spcBef>
            </a:pPr>
            <a:r>
              <a:rPr sz="1400" b="1" i="0">
                <a:solidFill>
                  <a:srgbClr val="333333"/>
                </a:solidFill>
                <a:latin typeface="Calibri"/>
              </a:rPr>
              <a:t>El software también consume.</a:t>
            </a:r>
            <a:r>
              <a:rPr sz="1400" b="0" i="0">
                <a:solidFill>
                  <a:srgbClr val="333333"/>
                </a:solidFill>
                <a:latin typeface="Calibri"/>
              </a:rPr>
              <a:t> Datos móviles que alguien paga, energía del servidor, hardware que se vuelve residuo. En la sesión 5 midieron un pedazo de eso —el límite de 200 KB por consulta— y hoy ese número entra a la matriz como indicador ambiental. </a:t>
            </a:r>
            <a:r>
              <a:rPr sz="1400" b="1" i="0">
                <a:solidFill>
                  <a:srgbClr val="333333"/>
                </a:solidFill>
                <a:latin typeface="Calibri"/>
              </a:rPr>
              <a:t>Un requisito no funcional bien elegido es, a la vez, una medida de mitigación.</a:t>
            </a:r>
          </a:p>
        </p:txBody>
      </p:sp>
      <p:sp>
        <p:nvSpPr>
          <p:cNvPr id="14" name="TextBox 13"/>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uniajc_color.png"/>
          <p:cNvPicPr>
            <a:picLocks noChangeAspect="1"/>
          </p:cNvPicPr>
          <p:nvPr/>
        </p:nvPicPr>
        <p:blipFill>
          <a:blip r:embed="rId2"/>
          <a:stretch>
            <a:fillRect/>
          </a:stretch>
        </p:blipFill>
        <p:spPr>
          <a:xfrm>
            <a:off x="10271455" y="5998464"/>
            <a:ext cx="1463040" cy="643233"/>
          </a:xfrm>
          <a:prstGeom prst="rect">
            <a:avLst/>
          </a:prstGeom>
        </p:spPr>
      </p:pic>
      <p:sp>
        <p:nvSpPr>
          <p:cNvPr id="4" name="TextBox 3"/>
          <p:cNvSpPr txBox="1"/>
          <p:nvPr/>
        </p:nvSpPr>
        <p:spPr>
          <a:xfrm>
            <a:off x="457200" y="1737360"/>
            <a:ext cx="11277295" cy="1097280"/>
          </a:xfrm>
          <a:prstGeom prst="rect">
            <a:avLst/>
          </a:prstGeom>
          <a:noFill/>
        </p:spPr>
        <p:txBody>
          <a:bodyPr wrap="square" anchor="ctr"/>
          <a:lstStyle/>
          <a:p>
            <a:pPr algn="ctr"/>
            <a:r>
              <a:rPr sz="3400" b="1" i="0">
                <a:solidFill>
                  <a:srgbClr val="095292"/>
                </a:solidFill>
                <a:latin typeface="Calibri"/>
              </a:rPr>
              <a:t>Nos vemos en la Clase 14</a:t>
            </a:r>
          </a:p>
        </p:txBody>
      </p:sp>
      <p:sp>
        <p:nvSpPr>
          <p:cNvPr id="5" name="TextBox 4"/>
          <p:cNvSpPr txBox="1"/>
          <p:nvPr/>
        </p:nvSpPr>
        <p:spPr>
          <a:xfrm>
            <a:off x="457200" y="3017520"/>
            <a:ext cx="11277295" cy="1645920"/>
          </a:xfrm>
          <a:prstGeom prst="rect">
            <a:avLst/>
          </a:prstGeom>
          <a:noFill/>
        </p:spPr>
        <p:txBody>
          <a:bodyPr wrap="square">
            <a:spAutoFit/>
          </a:bodyPr>
          <a:lstStyle/>
          <a:p>
            <a:pPr algn="ctr">
              <a:spcAft>
                <a:spcPts val="600"/>
              </a:spcAft>
            </a:pPr>
            <a:r>
              <a:rPr sz="1600" b="0" i="0">
                <a:solidFill>
                  <a:srgbClr val="333333"/>
                </a:solidFill>
                <a:latin typeface="Calibri"/>
              </a:rPr>
              <a:t>Evaluación de impacto social y ambiental · Clase 13</a:t>
            </a:r>
          </a:p>
          <a:p>
            <a:pPr algn="ctr">
              <a:spcAft>
                <a:spcPts val="600"/>
              </a:spcAft>
            </a:pPr>
            <a:r>
              <a:rPr sz="1600" b="0" i="0">
                <a:solidFill>
                  <a:srgbClr val="333333"/>
                </a:solidFill>
                <a:latin typeface="Calibri"/>
              </a:rPr>
              <a:t>FI300101 · UNIAJC · Ingeniería de Sistemas</a:t>
            </a:r>
          </a:p>
        </p:txBody>
      </p:sp>
      <p:sp>
        <p:nvSpPr>
          <p:cNvPr id="6" name="TextBox 5"/>
          <p:cNvSpPr txBox="1"/>
          <p:nvPr/>
        </p:nvSpPr>
        <p:spPr>
          <a:xfrm>
            <a:off x="457200" y="4754880"/>
            <a:ext cx="11277295" cy="640080"/>
          </a:xfrm>
          <a:prstGeom prst="rect">
            <a:avLst/>
          </a:prstGeom>
          <a:noFill/>
        </p:spPr>
        <p:txBody>
          <a:bodyPr wrap="square">
            <a:spAutoFit/>
          </a:bodyPr>
          <a:lstStyle/>
          <a:p>
            <a:pPr algn="ctr"/>
            <a:r>
              <a:rPr sz="2000" b="1" i="0">
                <a:solidFill>
                  <a:srgbClr val="269CCB"/>
                </a:solidFill>
                <a:latin typeface="Calibri"/>
              </a:rPr>
              <a:t>Los usuarios eligieron usarla; los afectados no eligieron nada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