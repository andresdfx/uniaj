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2" roundtripDataSignature="AMtx7mgVwhoqek2CIMMWyPxOm+VUZlYZ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E3E18D-4580-46C9-B396-E4D8A849E6FA}">
  <a:tblStyle styleId="{C5E3E18D-4580-46C9-B396-E4D8A849E6F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PREGUNTA DE ENTRADA: DARLE MATERIA A ALGO QUE PARECE NO TENERLA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«¿Dónde está la nube?» funciona porque casi nadie ha visto un centro de datos y porque la metáfora está diseñada para que no se piense en el edificio. La segunda parte —cuánta agua se bebió una consulta a un asistente de IA— incomoda a propósito y hay que manejarla con cuidado: la respuesta honesta es que depende del centro de datos, del modelo, del clima y del año, y que las cifras que circulan varían por órdenes de magnitud. Eso no debilita la clase: es la clase. El objetivo no es que se lleven un número, es que entiendan que hay agua y electricidad detrás de algo que se siente inmaterial, y que quien afirme un número tiene que decir de dónde salió.</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Recoja las respuestas en el muro y no las corrija. En el minuto 20, al llegar al PUE y al enfriamiento, vuelva al muro: alguien va a haber escrito «en internet» o «en un servidor», y ahí se muestra que el servidor está en un edificio que consume tanto en enfriarse como en procesar datos.</a:t>
            </a:r>
            <a:endParaRPr/>
          </a:p>
        </p:txBody>
      </p:sp>
      <p:sp>
        <p:nvSpPr>
          <p:cNvPr id="132" name="Google Shape;13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 CUATRO ETAPAS Y POR QUÉ LA FABRICACIÓN CAMBIA LA RECOMENDACIÓN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huella material de un sistema de software se reparte en cuatro etapas y conviene recorrerlas con un ejemplo único: una aplicación de citas médicas usada desde el celular.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Fabricación. El celular del paciente, el computador de la secretaria y los servidores donde corre el sistema tuvieron que ser fabricados: minería de metales —incluidos varios escasos y con extracción problemática—, ensamblaje y transporte. Este es el punto que más sorprende y el más importante para las decisiones: en muchos dispositivos personales la mayor parte de la huella de toda su vida ya está gastada cuando se enciende por primera vez. La consecuencia sorprende: optimizar el consumo de batería es útil, pero alargar la vida útil del aparato pesa mucho más, y eso depende de decisiones de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Uso. Electricidad del dispositivo, del servidor y —esto es lo que se olvida— del enfriamiento del centro de datos. Aquí entra el PUE.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Red. Cada byte que viaja pasa por antenas, cables, enrutadores y equipos que consumen. No es gratis y crece con el volumen: una pantalla que carga imágenes en tamaño original mil veces al día mueve un múltiplo de lo necesario.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 de vida. El aparato se vuelve residuo electrónico. Tiene metales recuperables y sustancias peligrosas, y cuando no se recoge formalmente se desarma a mano, quemando plásticos, con daño directo a las personas que lo hacen.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punto pedagógico de la diapositiva es que las palabras «software» y «nube» están construidas para que uno no piense en nada de esto. Nombrar las cuatro etapas es lo que permite discutir el tema con seriedad.</a:t>
            </a:r>
            <a:endParaRPr/>
          </a:p>
        </p:txBody>
      </p:sp>
      <p:sp>
        <p:nvSpPr>
          <p:cNvPr id="144" name="Google Shape;14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sorpresa es la fabricación: la mayor parte de la huella de un celular está gastada el día que se compra. Por eso la decisión ambiental más fuerte de software es que el celular dure más años.</a:t>
            </a:r>
            <a:endParaRPr/>
          </a:p>
        </p:txBody>
      </p:sp>
      <p:sp>
        <p:nvSpPr>
          <p:cNvPr id="162" name="Google Shape;162;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PUE, AGUA, RAEE Y OBSOLESCENCIA: LOS CUATRO CONCEPTOS QUE HAY QUE DEJAR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PUE (Power Usage Effectiveness). Es la energía total que entra al centro de datos dividida por la energía que efectivamente llega a los servidores. Si fuera 1.0, todo lo que entra lo usan los servidores. Un PUE de 1.6 significa que por cada vatio que usan los servidores se gastan 0,6 en enfriar, iluminar y en pérdidas. Los centros de datos grandes y modernos operan bastante mejor que el promedio de las salas de servidores de empresa, que suelen estar en el rango de 1.5 a 1.6 según las encuestas del sector. La idea que hay que dejar no es el número exacto: es que una parte grande de la energía de un centro de datos no procesa ningún dato, y que existe una métrica con nombre para medirlo. Un ingeniero que sabe que el PUE existe puede preguntar por él.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agua. Enfriar con evaporación de agua es más barato en electricidad que enfriar con máquinas, así que muchos centros de datos usan agua. Eso traslada el costo: baja la factura de luz y sube el consumo de una cuenca que normalmente abastece a población. Es un buen ejemplo de algo que el curso repite: optimizar una variable suele mover el problema a otra, y el ingeniero tiene que saber a cuál. Hay métricas para esto (WUE, litros por kilovatio-hora), y aquí también vale la advertencia de las cifras.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RAEE y la Ley 1672 de 2013. Es la norma colombiana que fija los lineamientos para la gestión de residuos de aparatos eléctricos y electrónicos. Lo que hay que poder decir: obliga a los productores a establecer sistemas de recolección y gestión, y establece el deber del usuario de entregar el aparato en esos puntos en vez de tirarlo a la basura común. Los informes globales de residuos electrónicos (Global E-waste Monitor, de UNITAR e ITU) reportan decenas de millones de toneladas al año y una tasa de recolección formal baja: el orden de magnitud es que la mayor parte no se recoge. Si un equipo cita una cifra exacta, exija la edición del informe y el año, porque cambia entre ediciones.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Obsolescencia inducida por software. Es el concepto que más les sirve porque está bajo su control profesional. Cuando una nueva versión de una aplicación —o de un sistema operativo— deja de funcionar en dispositivos que servían, el software convierte en basura un aparato que estaba bien. No hace falta discutir si hay intención: el efecto es material y medible. Y la otra cara es una decisión concreta que un equipo de este curso puede tomar: sostener el soporte para dispositivos viejos, que además es lo correcto para el contexto de la universidad, donde muchos estudiantes trabajan con equipos de varios años.</a:t>
            </a:r>
            <a:endParaRPr/>
          </a:p>
        </p:txBody>
      </p:sp>
      <p:sp>
        <p:nvSpPr>
          <p:cNvPr id="188" name="Google Shape;188;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TEXTO COMPLETO DE LA LÁMINA (se proyecta resumido):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 centro de datos consume 1.600 kWh en un día.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 esos, a los servidores —los que procesan los datos— llegan 1.000 kWh.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PUE = 1.600 ÷ 1.000 = 1,6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otros 600 kWh se van en enfriar, iluminar y en pérdidas. No procesan ningún dato.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 PUE de 1,0 sería perfecto. Uno de 2,0 gasta la mitad de la energía en cosas distintas de procesar datos.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Sirve para comparar: entre dos proveedores, el de PUE más bajo desperdicia menos.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 hace falta que memoricen el número. Lo que tiene que quedar es que una parte grande de la energía de un centro de datos no se usa para procesar datos, y que hay una métrica con nombre para medirlo.</a:t>
            </a:r>
            <a:endParaRPr/>
          </a:p>
        </p:txBody>
      </p:sp>
      <p:sp>
        <p:nvSpPr>
          <p:cNvPr id="213" name="Google Shape;213;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 LA CONCIENCIA A LA DECISIÓN: LA DIAPOSITIVA QUE CONVIERTE EL TEMA EN INGENIERÍA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Esta es la diapositiva que salva la clase de volverse un discurso. Las cinco parejas son decisiones reales de diseño, y en las cinco la versión de la derecha cumple la misma función. Eso hay que decirlo explícitamente: no se está pidiendo sacrificar calidad por ambiente, se está pidiendo no desperdiciar.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primera —pedir la ubicación cada cinco segundos o cada cinco minutos— es la más fácil de entender y toca batería y red a la vez. La tercera —guardar el resultado en vez de recalcular el reporte completo en cada consulta— es la que más sorprende, porque el estudiante todavía no tiene la intuición de que procesar datos cuesta energía; sirve para conectar con la sesión 7 y con la idea de que la eficiencia no es un capricho de programador. La cuarta —sostener dispositivos viejos— es la de mayor impacto real por lo dicho sobre la fabricación. Y la quinta es la más contemporánea y hay que decirla sin miedo: agregarle un asistente de IA a una función que resolvía una condición simple gasta energía en cada llamada, para siempre. Es una decisión de arquitectura, y hoy se toma con frecuencia por moda.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método de cinco pasos es el del taller. El paso 2 —buscar lo que se repite— es el que enseña a estimar: lo que ocurre una vez no mueve la aguja, lo que ocurre mil veces al día sí. Y el paso 5 —definir un indicador medible— es el que separa una intención de una decisión de ingeniería. «Vamos a ser sostenibles» no se puede verificar; «vamos a mover menos de 200 KB por consulta» sí, y en la Clase 16 se puede mirar si se cumplió.</a:t>
            </a:r>
            <a:endParaRPr/>
          </a:p>
        </p:txBody>
      </p:sp>
      <p:sp>
        <p:nvSpPr>
          <p:cNvPr id="225" name="Google Shape;22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Haga la cuenta con ellos: un día tiene 86.400 segundos. Es la forma más rápida de que entiendan que una decisión de diseño pequeña se multiplica por todos los usuarios y todos los días.</a:t>
            </a:r>
            <a:endParaRPr/>
          </a:p>
        </p:txBody>
      </p:sp>
      <p:sp>
        <p:nvSpPr>
          <p:cNvPr id="245" name="Google Shape;245;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TEXTO COMPLETO DE LA LÁMINA (se proyecta resumido):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matriz eléctrica. Buena parte de la generación del país es hidráulica, así que un kilovatio-hora consumido en Colombia tiene menos emisiones asociadas que el mismo kilovatio en un país que quema carbón. Un análisis serio no copia cifras de emisiones de otro país: usa el factor local, que publica el operador del sistema (XM).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 su otra cara. Cuando llega el fenómeno de El Niño y baja el nivel de los embalses, entran las plantas térmicas y la misma aplicación pasa a emitir más sin cambiar una línea de código. La huella de un sistema no es un número fijo: depende de cuándo y dónde corre.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Residuos electrónicos. La Ley 1672 de 2013 fija los lineamientos de los RAEE en Colombia: el productor tiene que ofrecer puntos de recolección y el usuario tiene el deber de usarlos. Los informes internacionales (Global E-waste Monitor) muestran que la mayor parte del residuo electrónico del mundo no se recoge formalmente, y lo que no se recoge se desarma a mano, sin protección.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Consecuencia práctica para su proyecto: la decisión ambiental más fuerte que puede tomar un equipo de este curso casi nunca es «consumir menos batería». Es no obligar a cambiar de aparato y no mover datos que no hacen falta.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COLOMBIA, Y LA HONESTIDAD CON LAS CIFRAS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dato local más útil es la composición de la matriz eléctrica. Una parte importante de la generación en Colombia es hidráulica, lo que significa que un kilovatio-hora consumido aquí tiene un factor de emisiones distinto —menor— que en un país con generación a carbón. La consecuencia metodológica es la que hay que enseñar: no se copian factores de emisión de otro país; se usa el factor local, y el operador del sistema (XM) publica datos de generación. Un equipo que cite una fuente colombiana en vez de un blog extranjero ya está haciendo ingeniería.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otra cara es igual de importante y menos conocida: cuando el fenómeno de El Niño reduce los aportes a los embalses, entran las plantas térmicas y el factor de emisiones del país sube. Es decir, la misma aplicación, sin cambiar una línea de código, emite más en un año seco. Eso enseña algo que vale para todo el curso: la huella de un sistema no es una propiedad del sistema, es una propiedad del sistema en su contexto.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diapositiva de las trampas es la más importante para el rigor y conviene dedicarle tiempo real. Las cifras ambientales del sector digital son un campo donde circulan números espectaculares sin alcance definido: litros de agua por consulta a un modelo de lenguaje, gramos de CO₂ por búsqueda, porcentajes del consumo mundial de electricidad. Muchos provienen de estimaciones legítimas pero con supuestos muy específicos, y se citan luego como hechos universales. La regla del curso a partir de hoy es simple y se aplica en la rúbrica: cifra con fuente, año y alcance, o no va. Y hay que decir en voz alta lo que sí se puede afirmar sin exagerar: que la huella existe, que tiene cuatro etapas, que se puede reducir con decisiones de diseño y que casi nadie la mide. Con eso alcanza para trabajar con seriedad, y es mucho más defendible que un número impresionante mal citado.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Sobre la comparación «lo digital contra el papel»: alguien la va a proponer y la respuesta correcta es que depende del número de usos y de si obliga a comprar dispositivos. Un documento leído una vez en un computador nuevo no gana contra una hoja; el mismo documento leído por trescientas personas en aparatos que ya existen, sí. La lección es que comparar sin decir qué se comparó no es un argumento.</a:t>
            </a:r>
            <a:endParaRPr/>
          </a:p>
        </p:txBody>
      </p:sp>
      <p:sp>
        <p:nvSpPr>
          <p:cNvPr id="256" name="Google Shape;25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 LA CONCIENCIA A LA DECISIÓN: LA DIAPOSITIVA QUE CONVIERTE EL TEMA EN INGENIERÍA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Esta es la diapositiva que salva la clase de volverse un discurso. Las cinco parejas son decisiones reales de diseño, y en las cinco la versión de la derecha cumple la misma función. Eso hay que decirlo explícitamente: no se está pidiendo sacrificar calidad por ambiente, se está pidiendo no desperdiciar.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primera —pedir la ubicación cada cinco segundos o cada cinco minutos— es la más fácil de entender y toca batería y red a la vez. La tercera —guardar el resultado en vez de recalcular el reporte completo en cada consulta— es la que más sorprende, porque el estudiante todavía no tiene la intuición de que procesar datos cuesta energía; sirve para conectar con la sesión 7 y con la idea de que la eficiencia no es un capricho de programador. La cuarta —sostener dispositivos viejos— es la de mayor impacto real por lo dicho sobre la fabricación. Y la quinta es la más contemporánea y hay que decirla sin miedo: agregarle un asistente de IA a una función que resolvía una condición simple gasta energía en cada llamada, para siempre. Es una decisión de arquitectura, y hoy se toma con frecuencia por moda.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método de cinco pasos es el del taller. El paso 2 —buscar lo que se repite— es el que enseña a estimar: lo que ocurre una vez no mueve la aguja, lo que ocurre mil veces al día sí. Y el paso 5 —definir un indicador medible— es el que separa una intención de una decisión de ingeniería. «Vamos a ser sostenibles» no se puede verificar; «vamos a mover menos de 200 KB por consulta» sí, y en la Clase 16 se puede mirar si se cumplió.</a:t>
            </a:r>
            <a:endParaRPr/>
          </a:p>
        </p:txBody>
      </p:sp>
      <p:sp>
        <p:nvSpPr>
          <p:cNvPr id="268" name="Google Shape;268;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paso 5 es el que convierte la conciencia en ingeniería: un indicador que se puede medir al final del semestre. Sin indicador, la mejora es una opinión.</a:t>
            </a:r>
            <a:endParaRPr/>
          </a:p>
        </p:txBody>
      </p:sp>
      <p:sp>
        <p:nvSpPr>
          <p:cNvPr id="298" name="Google Shape;29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COLOMBIA, Y LA HONESTIDAD CON LAS CIFRAS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dato local más útil es la composición de la matriz eléctrica. Una parte importante de la generación en Colombia es hidráulica, lo que significa que un kilovatio-hora consumido aquí tiene un factor de emisiones distinto —menor— que en un país con generación a carbón. La consecuencia metodológica es la que hay que enseñar: no se copian factores de emisión de otro país; se usa el factor local, y el operador del sistema (XM) publica datos de generación. Un equipo que cite una fuente colombiana en vez de un blog extranjero ya está haciendo ingeniería.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otra cara es igual de importante y menos conocida: cuando el fenómeno de El Niño reduce los aportes a los embalses, entran las plantas térmicas y el factor de emisiones del país sube. Es decir, la misma aplicación, sin cambiar una línea de código, emite más en un año seco. Eso enseña algo que vale para todo el curso: la huella de un sistema no es una propiedad del sistema, es una propiedad del sistema en su contexto.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diapositiva de las trampas es la más importante para el rigor y conviene dedicarle tiempo real. Las cifras ambientales del sector digital son un campo donde circulan números espectaculares sin alcance definido: litros de agua por consulta a un modelo de lenguaje, gramos de CO₂ por búsqueda, porcentajes del consumo mundial de electricidad. Muchos provienen de estimaciones legítimas pero con supuestos muy específicos, y se citan luego como hechos universales. La regla del curso a partir de hoy es simple y se aplica en la rúbrica: cifra con fuente, año y alcance, o no va. Y hay que decir en voz alta lo que sí se puede afirmar sin exagerar: que la huella existe, que tiene cuatro etapas, que se puede reducir con decisiones de diseño y que casi nadie la mide. Con eso alcanza para trabajar con seriedad, y es mucho más defendible que un número impresionante mal citado.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Sobre la comparación «lo digital contra el papel»: alguien la va a proponer y la respuesta correcta es que depende del número de usos y de si obliga a comprar dispositivos. Un documento leído una vez en un computador nuevo no gana contra una hoja; el mismo documento leído por trescientas personas en aparatos que ya existen, sí. La lección es que comparar sin decir qué se comparó no es un argumento.</a:t>
            </a:r>
            <a:endParaRPr/>
          </a:p>
        </p:txBody>
      </p:sp>
      <p:sp>
        <p:nvSpPr>
          <p:cNvPr id="316" name="Google Shape;316;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2191695" cy="685800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p:nvPr/>
        </p:nvSpPr>
        <p:spPr>
          <a:xfrm>
            <a:off x="0" y="0"/>
            <a:ext cx="12191695" cy="91440"/>
          </a:xfrm>
          <a:prstGeom prst="rect">
            <a:avLst/>
          </a:prstGeom>
          <a:solidFill>
            <a:srgbClr val="269CC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91440"/>
            <a:ext cx="12191695" cy="50292"/>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logo_uniajc_blanco.png" id="87" name="Google Shape;87;p1"/>
          <p:cNvPicPr preferRelativeResize="0"/>
          <p:nvPr/>
        </p:nvPicPr>
        <p:blipFill rotWithShape="1">
          <a:blip r:embed="rId3">
            <a:alphaModFix/>
          </a:blip>
          <a:srcRect b="0" l="0" r="0" t="0"/>
          <a:stretch/>
        </p:blipFill>
        <p:spPr>
          <a:xfrm>
            <a:off x="502920" y="384048"/>
            <a:ext cx="2011680" cy="876815"/>
          </a:xfrm>
          <a:prstGeom prst="rect">
            <a:avLst/>
          </a:prstGeom>
          <a:noFill/>
          <a:ln>
            <a:noFill/>
          </a:ln>
        </p:spPr>
      </p:pic>
      <p:sp>
        <p:nvSpPr>
          <p:cNvPr id="88" name="Google Shape;88;p1"/>
          <p:cNvSpPr/>
          <p:nvPr/>
        </p:nvSpPr>
        <p:spPr>
          <a:xfrm>
            <a:off x="10042855" y="384048"/>
            <a:ext cx="1691640" cy="384048"/>
          </a:xfrm>
          <a:prstGeom prst="roundRect">
            <a:avLst>
              <a:gd fmla="val 12000" name="adj"/>
            </a:avLst>
          </a:prstGeom>
          <a:solidFill>
            <a:srgbClr val="269CC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txBox="1"/>
          <p:nvPr/>
        </p:nvSpPr>
        <p:spPr>
          <a:xfrm>
            <a:off x="10042855" y="384048"/>
            <a:ext cx="16916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Clase 5</a:t>
            </a:r>
            <a:endParaRPr/>
          </a:p>
        </p:txBody>
      </p:sp>
      <p:sp>
        <p:nvSpPr>
          <p:cNvPr id="90" name="Google Shape;90;p1"/>
          <p:cNvSpPr txBox="1"/>
          <p:nvPr/>
        </p:nvSpPr>
        <p:spPr>
          <a:xfrm>
            <a:off x="731520" y="2331720"/>
            <a:ext cx="10728655" cy="182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400" u="none" cap="none" strike="noStrike">
                <a:solidFill>
                  <a:srgbClr val="FFFFFF"/>
                </a:solidFill>
                <a:latin typeface="Calibri"/>
                <a:ea typeface="Calibri"/>
                <a:cs typeface="Calibri"/>
                <a:sym typeface="Calibri"/>
              </a:rPr>
              <a:t>El rol del ingeniero en el contexto ambiental</a:t>
            </a:r>
            <a:endParaRPr/>
          </a:p>
        </p:txBody>
      </p:sp>
      <p:sp>
        <p:nvSpPr>
          <p:cNvPr id="91" name="Google Shape;91;p1"/>
          <p:cNvSpPr/>
          <p:nvPr/>
        </p:nvSpPr>
        <p:spPr>
          <a:xfrm>
            <a:off x="4632807" y="4206240"/>
            <a:ext cx="2926080" cy="50292"/>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 name="Google Shape;92;p1"/>
          <p:cNvSpPr txBox="1"/>
          <p:nvPr/>
        </p:nvSpPr>
        <p:spPr>
          <a:xfrm>
            <a:off x="731520" y="4361688"/>
            <a:ext cx="10728655"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B8D8EE"/>
                </a:solidFill>
                <a:latin typeface="Calibri"/>
                <a:ea typeface="Calibri"/>
                <a:cs typeface="Calibri"/>
                <a:sym typeface="Calibri"/>
              </a:rPr>
              <a:t>El software no es inmaterial: pesa, consume agua y termina en basura</a:t>
            </a:r>
            <a:endParaRPr/>
          </a:p>
        </p:txBody>
      </p:sp>
      <p:sp>
        <p:nvSpPr>
          <p:cNvPr id="93" name="Google Shape;93;p1"/>
          <p:cNvSpPr txBox="1"/>
          <p:nvPr/>
        </p:nvSpPr>
        <p:spPr>
          <a:xfrm>
            <a:off x="11094415" y="6419088"/>
            <a:ext cx="54864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100" u="none" cap="none" strike="noStrike">
                <a:solidFill>
                  <a:srgbClr val="7EB8D4"/>
                </a:solidFill>
                <a:latin typeface="Calibri"/>
                <a:ea typeface="Calibri"/>
                <a:cs typeface="Calibri"/>
                <a:sym typeface="Calibri"/>
              </a:rPr>
              <a: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p:nvPr/>
        </p:nvSpPr>
        <p:spPr>
          <a:xfrm>
            <a:off x="0" y="0"/>
            <a:ext cx="12191695" cy="1170432"/>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2"/>
          <p:cNvSpPr/>
          <p:nvPr/>
        </p:nvSpPr>
        <p:spPr>
          <a:xfrm>
            <a:off x="0" y="1170432"/>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2"/>
          <p:cNvSpPr txBox="1"/>
          <p:nvPr/>
        </p:nvSpPr>
        <p:spPr>
          <a:xfrm>
            <a:off x="457200" y="164592"/>
            <a:ext cx="11277295"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Agenda de hoy (90 min)</a:t>
            </a:r>
            <a:endParaRPr/>
          </a:p>
        </p:txBody>
      </p:sp>
      <p:sp>
        <p:nvSpPr>
          <p:cNvPr id="101" name="Google Shape;101;p2"/>
          <p:cNvSpPr txBox="1"/>
          <p:nvPr/>
        </p:nvSpPr>
        <p:spPr>
          <a:xfrm>
            <a:off x="457200" y="566928"/>
            <a:ext cx="11277295"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a:solidFill>
                  <a:srgbClr val="B8D8EE"/>
                </a:solidFill>
                <a:latin typeface="Calibri"/>
                <a:ea typeface="Calibri"/>
                <a:cs typeface="Calibri"/>
                <a:sym typeface="Calibri"/>
              </a:rPr>
              <a:t>La misma estructura de las 16 sesiones. El reloj de pared de su grupo está en el calendario del curso.</a:t>
            </a:r>
            <a:endParaRPr/>
          </a:p>
        </p:txBody>
      </p:sp>
      <p:sp>
        <p:nvSpPr>
          <p:cNvPr id="102" name="Google Shape;102;p2"/>
          <p:cNvSpPr/>
          <p:nvPr/>
        </p:nvSpPr>
        <p:spPr>
          <a:xfrm>
            <a:off x="457200" y="2386584"/>
            <a:ext cx="11277295" cy="73152"/>
          </a:xfrm>
          <a:prstGeom prst="rect">
            <a:avLst/>
          </a:prstGeom>
          <a:solidFill>
            <a:srgbClr val="269CC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p:nvPr/>
        </p:nvSpPr>
        <p:spPr>
          <a:xfrm>
            <a:off x="1438625" y="2276856"/>
            <a:ext cx="292608" cy="292608"/>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2"/>
          <p:cNvSpPr txBox="1"/>
          <p:nvPr/>
        </p:nvSpPr>
        <p:spPr>
          <a:xfrm>
            <a:off x="457200" y="1563624"/>
            <a:ext cx="2255459"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95292"/>
                </a:solidFill>
                <a:latin typeface="Calibri"/>
                <a:ea typeface="Calibri"/>
                <a:cs typeface="Calibri"/>
                <a:sym typeface="Calibri"/>
              </a:rPr>
              <a:t>00:00–00:10 · 10 min</a:t>
            </a:r>
            <a:endParaRPr/>
          </a:p>
        </p:txBody>
      </p:sp>
      <p:sp>
        <p:nvSpPr>
          <p:cNvPr id="105" name="Google Shape;105;p2"/>
          <p:cNvSpPr txBox="1"/>
          <p:nvPr/>
        </p:nvSpPr>
        <p:spPr>
          <a:xfrm>
            <a:off x="502920" y="2798064"/>
            <a:ext cx="2164019" cy="30998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a:solidFill>
                  <a:srgbClr val="333333"/>
                </a:solidFill>
                <a:latin typeface="Calibri"/>
                <a:ea typeface="Calibri"/>
                <a:cs typeface="Calibri"/>
                <a:sym typeface="Calibri"/>
              </a:rPr>
              <a:t>Pregunta de entrada en el muro mientras se conectan</a:t>
            </a:r>
            <a:endParaRPr/>
          </a:p>
        </p:txBody>
      </p:sp>
      <p:sp>
        <p:nvSpPr>
          <p:cNvPr id="106" name="Google Shape;106;p2"/>
          <p:cNvSpPr/>
          <p:nvPr/>
        </p:nvSpPr>
        <p:spPr>
          <a:xfrm>
            <a:off x="3694084" y="2276856"/>
            <a:ext cx="292608" cy="292608"/>
          </a:xfrm>
          <a:prstGeom prst="roundRect">
            <a:avLst>
              <a:gd fmla="val 12000" name="adj"/>
            </a:avLst>
          </a:prstGeom>
          <a:solidFill>
            <a:srgbClr val="269CC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2"/>
          <p:cNvSpPr txBox="1"/>
          <p:nvPr/>
        </p:nvSpPr>
        <p:spPr>
          <a:xfrm>
            <a:off x="2712659" y="1563624"/>
            <a:ext cx="2255459"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95292"/>
                </a:solidFill>
                <a:latin typeface="Calibri"/>
                <a:ea typeface="Calibri"/>
                <a:cs typeface="Calibri"/>
                <a:sym typeface="Calibri"/>
              </a:rPr>
              <a:t>00:10–00:55 · 45 min</a:t>
            </a:r>
            <a:endParaRPr/>
          </a:p>
        </p:txBody>
      </p:sp>
      <p:sp>
        <p:nvSpPr>
          <p:cNvPr id="108" name="Google Shape;108;p2"/>
          <p:cNvSpPr txBox="1"/>
          <p:nvPr/>
        </p:nvSpPr>
        <p:spPr>
          <a:xfrm>
            <a:off x="2758379" y="2798064"/>
            <a:ext cx="2164019" cy="30998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a:solidFill>
                  <a:srgbClr val="333333"/>
                </a:solidFill>
                <a:latin typeface="Calibri"/>
                <a:ea typeface="Calibri"/>
                <a:cs typeface="Calibri"/>
                <a:sym typeface="Calibri"/>
              </a:rPr>
              <a:t>Teoría — huella material, centros de datos, RAEE y matriz eléctrica colombiana</a:t>
            </a:r>
            <a:endParaRPr/>
          </a:p>
        </p:txBody>
      </p:sp>
      <p:sp>
        <p:nvSpPr>
          <p:cNvPr id="109" name="Google Shape;109;p2"/>
          <p:cNvSpPr/>
          <p:nvPr/>
        </p:nvSpPr>
        <p:spPr>
          <a:xfrm>
            <a:off x="5949543" y="2276856"/>
            <a:ext cx="292608" cy="292608"/>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2"/>
          <p:cNvSpPr txBox="1"/>
          <p:nvPr/>
        </p:nvSpPr>
        <p:spPr>
          <a:xfrm>
            <a:off x="4968118" y="1563624"/>
            <a:ext cx="2255459"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95292"/>
                </a:solidFill>
                <a:latin typeface="Calibri"/>
                <a:ea typeface="Calibri"/>
                <a:cs typeface="Calibri"/>
                <a:sym typeface="Calibri"/>
              </a:rPr>
              <a:t>00:55–01:12 · 17 min</a:t>
            </a:r>
            <a:endParaRPr/>
          </a:p>
        </p:txBody>
      </p:sp>
      <p:sp>
        <p:nvSpPr>
          <p:cNvPr id="111" name="Google Shape;111;p2"/>
          <p:cNvSpPr txBox="1"/>
          <p:nvPr/>
        </p:nvSpPr>
        <p:spPr>
          <a:xfrm>
            <a:off x="5013838" y="2798064"/>
            <a:ext cx="2164019" cy="30998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a:solidFill>
                  <a:srgbClr val="333333"/>
                </a:solidFill>
                <a:latin typeface="Calibri"/>
                <a:ea typeface="Calibri"/>
                <a:cs typeface="Calibri"/>
                <a:sym typeface="Calibri"/>
              </a:rPr>
              <a:t>Práctica en equipos (opcional · la guía está en la carpeta de la clase)</a:t>
            </a:r>
            <a:endParaRPr/>
          </a:p>
        </p:txBody>
      </p:sp>
      <p:sp>
        <p:nvSpPr>
          <p:cNvPr id="112" name="Google Shape;112;p2"/>
          <p:cNvSpPr/>
          <p:nvPr/>
        </p:nvSpPr>
        <p:spPr>
          <a:xfrm>
            <a:off x="8205002" y="2276856"/>
            <a:ext cx="292608" cy="292608"/>
          </a:xfrm>
          <a:prstGeom prst="roundRect">
            <a:avLst>
              <a:gd fmla="val 12000" name="adj"/>
            </a:avLst>
          </a:prstGeom>
          <a:solidFill>
            <a:srgbClr val="269CC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2"/>
          <p:cNvSpPr txBox="1"/>
          <p:nvPr/>
        </p:nvSpPr>
        <p:spPr>
          <a:xfrm>
            <a:off x="7223577" y="1563624"/>
            <a:ext cx="2255459"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95292"/>
                </a:solidFill>
                <a:latin typeface="Calibri"/>
                <a:ea typeface="Calibri"/>
                <a:cs typeface="Calibri"/>
                <a:sym typeface="Calibri"/>
              </a:rPr>
              <a:t>01:12–01:27 · 15 min</a:t>
            </a:r>
            <a:endParaRPr/>
          </a:p>
        </p:txBody>
      </p:sp>
      <p:sp>
        <p:nvSpPr>
          <p:cNvPr id="114" name="Google Shape;114;p2"/>
          <p:cNvSpPr txBox="1"/>
          <p:nvPr/>
        </p:nvSpPr>
        <p:spPr>
          <a:xfrm>
            <a:off x="7269297" y="2798064"/>
            <a:ext cx="2164019" cy="30998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a:solidFill>
                  <a:srgbClr val="333333"/>
                </a:solidFill>
                <a:latin typeface="Calibri"/>
                <a:ea typeface="Calibri"/>
                <a:cs typeface="Calibri"/>
                <a:sym typeface="Calibri"/>
              </a:rPr>
              <a:t>Socialización de la práctica, si se hizo</a:t>
            </a:r>
            <a:endParaRPr/>
          </a:p>
        </p:txBody>
      </p:sp>
      <p:sp>
        <p:nvSpPr>
          <p:cNvPr id="115" name="Google Shape;115;p2"/>
          <p:cNvSpPr/>
          <p:nvPr/>
        </p:nvSpPr>
        <p:spPr>
          <a:xfrm>
            <a:off x="10460461" y="2276856"/>
            <a:ext cx="292608" cy="292608"/>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2"/>
          <p:cNvSpPr txBox="1"/>
          <p:nvPr/>
        </p:nvSpPr>
        <p:spPr>
          <a:xfrm>
            <a:off x="9479036" y="1563624"/>
            <a:ext cx="2255459"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95292"/>
                </a:solidFill>
                <a:latin typeface="Calibri"/>
                <a:ea typeface="Calibri"/>
                <a:cs typeface="Calibri"/>
                <a:sym typeface="Calibri"/>
              </a:rPr>
              <a:t>01:27–01:30 · 3 min</a:t>
            </a:r>
            <a:endParaRPr/>
          </a:p>
        </p:txBody>
      </p:sp>
      <p:sp>
        <p:nvSpPr>
          <p:cNvPr id="117" name="Google Shape;117;p2"/>
          <p:cNvSpPr txBox="1"/>
          <p:nvPr/>
        </p:nvSpPr>
        <p:spPr>
          <a:xfrm>
            <a:off x="9524756" y="2798064"/>
            <a:ext cx="2164019" cy="30998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a:solidFill>
                  <a:srgbClr val="333333"/>
                </a:solidFill>
                <a:latin typeface="Calibri"/>
                <a:ea typeface="Calibri"/>
                <a:cs typeface="Calibri"/>
                <a:sym typeface="Calibri"/>
              </a:rPr>
              <a:t>Una idea, la tarea y los enlaces en el chat</a:t>
            </a:r>
            <a:endParaRPr/>
          </a:p>
        </p:txBody>
      </p:sp>
      <p:sp>
        <p:nvSpPr>
          <p:cNvPr id="118" name="Google Shape;118;p2"/>
          <p:cNvSpPr txBox="1"/>
          <p:nvPr/>
        </p:nvSpPr>
        <p:spPr>
          <a:xfrm>
            <a:off x="457200" y="5806440"/>
            <a:ext cx="11277295"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200">
                <a:solidFill>
                  <a:srgbClr val="666666"/>
                </a:solidFill>
                <a:latin typeface="Calibri"/>
                <a:ea typeface="Calibri"/>
                <a:cs typeface="Calibri"/>
                <a:sym typeface="Calibri"/>
              </a:rPr>
              <a:t>Solo el bloque de </a:t>
            </a:r>
            <a:r>
              <a:rPr b="1" i="1" lang="en-US" sz="1200">
                <a:solidFill>
                  <a:srgbClr val="666666"/>
                </a:solidFill>
                <a:latin typeface="Calibri"/>
                <a:ea typeface="Calibri"/>
                <a:cs typeface="Calibri"/>
                <a:sym typeface="Calibri"/>
              </a:rPr>
              <a:t>esta</a:t>
            </a:r>
            <a:r>
              <a:rPr b="0" i="1" lang="en-US" sz="1200">
                <a:solidFill>
                  <a:srgbClr val="666666"/>
                </a:solidFill>
                <a:latin typeface="Calibri"/>
                <a:ea typeface="Calibri"/>
                <a:cs typeface="Calibri"/>
                <a:sym typeface="Calibri"/>
              </a:rPr>
              <a:t> clase · 120 min</a:t>
            </a:r>
            <a:endParaRPr/>
          </a:p>
        </p:txBody>
      </p:sp>
      <p:sp>
        <p:nvSpPr>
          <p:cNvPr id="119" name="Google Shape;119;p2"/>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3"/>
          <p:cNvSpPr/>
          <p:nvPr/>
        </p:nvSpPr>
        <p:spPr>
          <a:xfrm>
            <a:off x="0" y="0"/>
            <a:ext cx="12191695" cy="96012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3"/>
          <p:cNvSpPr/>
          <p:nvPr/>
        </p:nvSpPr>
        <p:spPr>
          <a:xfrm>
            <a:off x="0" y="960120"/>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3"/>
          <p:cNvSpPr txBox="1"/>
          <p:nvPr/>
        </p:nvSpPr>
        <p:spPr>
          <a:xfrm>
            <a:off x="457200" y="164592"/>
            <a:ext cx="11277295"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Objetivos de la sesión</a:t>
            </a:r>
            <a:endParaRPr/>
          </a:p>
        </p:txBody>
      </p:sp>
      <p:sp>
        <p:nvSpPr>
          <p:cNvPr id="127" name="Google Shape;127;p3"/>
          <p:cNvSpPr txBox="1"/>
          <p:nvPr/>
        </p:nvSpPr>
        <p:spPr>
          <a:xfrm>
            <a:off x="457200" y="1170432"/>
            <a:ext cx="11277295" cy="52303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a:solidFill>
                  <a:srgbClr val="333333"/>
                </a:solidFill>
                <a:latin typeface="Calibri"/>
                <a:ea typeface="Calibri"/>
                <a:cs typeface="Calibri"/>
                <a:sym typeface="Calibri"/>
              </a:rPr>
              <a:t>–   Nombrar las </a:t>
            </a:r>
            <a:r>
              <a:rPr b="1" i="0" lang="en-US" sz="2000">
                <a:solidFill>
                  <a:srgbClr val="333333"/>
                </a:solidFill>
                <a:latin typeface="Calibri"/>
                <a:ea typeface="Calibri"/>
                <a:cs typeface="Calibri"/>
                <a:sym typeface="Calibri"/>
              </a:rPr>
              <a:t>cuatro etapas</a:t>
            </a:r>
            <a:r>
              <a:rPr b="0" i="0" lang="en-US" sz="2000">
                <a:solidFill>
                  <a:srgbClr val="333333"/>
                </a:solidFill>
                <a:latin typeface="Calibri"/>
                <a:ea typeface="Calibri"/>
                <a:cs typeface="Calibri"/>
                <a:sym typeface="Calibri"/>
              </a:rPr>
              <a:t> de la huella material de un sistema de software: fabricación, uso, red y fin de vida.</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Explicar qué mide el </a:t>
            </a:r>
            <a:r>
              <a:rPr b="1" i="0" lang="en-US" sz="2000">
                <a:solidFill>
                  <a:srgbClr val="333333"/>
                </a:solidFill>
                <a:latin typeface="Calibri"/>
                <a:ea typeface="Calibri"/>
                <a:cs typeface="Calibri"/>
                <a:sym typeface="Calibri"/>
              </a:rPr>
              <a:t>PUE</a:t>
            </a:r>
            <a:r>
              <a:rPr b="0" i="0" lang="en-US" sz="2000">
                <a:solidFill>
                  <a:srgbClr val="333333"/>
                </a:solidFill>
                <a:latin typeface="Calibri"/>
                <a:ea typeface="Calibri"/>
                <a:cs typeface="Calibri"/>
                <a:sym typeface="Calibri"/>
              </a:rPr>
              <a:t> de un centro de datos y por qué el enfriamiento cambia la cuenta.</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Relacionar una decisión de diseño con un </a:t>
            </a:r>
            <a:r>
              <a:rPr b="1" i="0" lang="en-US" sz="2000">
                <a:solidFill>
                  <a:srgbClr val="333333"/>
                </a:solidFill>
                <a:latin typeface="Calibri"/>
                <a:ea typeface="Calibri"/>
                <a:cs typeface="Calibri"/>
                <a:sym typeface="Calibri"/>
              </a:rPr>
              <a:t>efecto ambiental medible</a:t>
            </a:r>
            <a:r>
              <a:rPr b="0" i="0" lang="en-US" sz="2000">
                <a:solidFill>
                  <a:srgbClr val="333333"/>
                </a:solidFill>
                <a:latin typeface="Calibri"/>
                <a:ea typeface="Calibri"/>
                <a:cs typeface="Calibri"/>
                <a:sym typeface="Calibri"/>
              </a:rPr>
              <a:t>.</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Nombrar la norma colombiana de </a:t>
            </a:r>
            <a:r>
              <a:rPr b="1" i="0" lang="en-US" sz="2000">
                <a:solidFill>
                  <a:srgbClr val="333333"/>
                </a:solidFill>
                <a:latin typeface="Calibri"/>
                <a:ea typeface="Calibri"/>
                <a:cs typeface="Calibri"/>
                <a:sym typeface="Calibri"/>
              </a:rPr>
              <a:t>residuos electrónicos</a:t>
            </a:r>
            <a:r>
              <a:rPr b="0" i="0" lang="en-US" sz="2000">
                <a:solidFill>
                  <a:srgbClr val="333333"/>
                </a:solidFill>
                <a:latin typeface="Calibri"/>
                <a:ea typeface="Calibri"/>
                <a:cs typeface="Calibri"/>
                <a:sym typeface="Calibri"/>
              </a:rPr>
              <a:t> y qué obliga.</a:t>
            </a:r>
            <a:endParaRPr/>
          </a:p>
        </p:txBody>
      </p:sp>
      <p:sp>
        <p:nvSpPr>
          <p:cNvPr id="128" name="Google Shape;128;p3"/>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4"/>
          <p:cNvSpPr/>
          <p:nvPr/>
        </p:nvSpPr>
        <p:spPr>
          <a:xfrm>
            <a:off x="0" y="0"/>
            <a:ext cx="12191695" cy="685800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4"/>
          <p:cNvSpPr/>
          <p:nvPr/>
        </p:nvSpPr>
        <p:spPr>
          <a:xfrm>
            <a:off x="0" y="0"/>
            <a:ext cx="164592" cy="6858000"/>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_uniajc_blanco.png" id="136" name="Google Shape;136;p4"/>
          <p:cNvPicPr preferRelativeResize="0"/>
          <p:nvPr/>
        </p:nvPicPr>
        <p:blipFill rotWithShape="1">
          <a:blip r:embed="rId3">
            <a:alphaModFix/>
          </a:blip>
          <a:srcRect b="0" l="0" r="0" t="0"/>
          <a:stretch/>
        </p:blipFill>
        <p:spPr>
          <a:xfrm>
            <a:off x="10134295" y="320040"/>
            <a:ext cx="1645920" cy="717394"/>
          </a:xfrm>
          <a:prstGeom prst="rect">
            <a:avLst/>
          </a:prstGeom>
          <a:noFill/>
          <a:ln>
            <a:noFill/>
          </a:ln>
        </p:spPr>
      </p:pic>
      <p:sp>
        <p:nvSpPr>
          <p:cNvPr id="137" name="Google Shape;137;p4"/>
          <p:cNvSpPr txBox="1"/>
          <p:nvPr/>
        </p:nvSpPr>
        <p:spPr>
          <a:xfrm>
            <a:off x="685800" y="1280160"/>
            <a:ext cx="10820095"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269CCB"/>
                </a:solidFill>
                <a:latin typeface="Calibri"/>
                <a:ea typeface="Calibri"/>
                <a:cs typeface="Calibri"/>
                <a:sym typeface="Calibri"/>
              </a:rPr>
              <a:t>Pregunta de entrada</a:t>
            </a:r>
            <a:endParaRPr/>
          </a:p>
        </p:txBody>
      </p:sp>
      <p:sp>
        <p:nvSpPr>
          <p:cNvPr id="138" name="Google Shape;138;p4"/>
          <p:cNvSpPr txBox="1"/>
          <p:nvPr/>
        </p:nvSpPr>
        <p:spPr>
          <a:xfrm>
            <a:off x="685800" y="1828800"/>
            <a:ext cx="10820095" cy="2011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800">
                <a:solidFill>
                  <a:srgbClr val="FFFFFF"/>
                </a:solidFill>
                <a:latin typeface="Calibri"/>
                <a:ea typeface="Calibri"/>
                <a:cs typeface="Calibri"/>
                <a:sym typeface="Calibri"/>
              </a:rPr>
              <a:t>¿Dónde está «la nube»? Y más incómodo: ¿cuánta agua se bebió su última consulta a un asistente de IA?</a:t>
            </a:r>
            <a:endParaRPr/>
          </a:p>
        </p:txBody>
      </p:sp>
      <p:sp>
        <p:nvSpPr>
          <p:cNvPr id="139" name="Google Shape;139;p4"/>
          <p:cNvSpPr txBox="1"/>
          <p:nvPr/>
        </p:nvSpPr>
        <p:spPr>
          <a:xfrm>
            <a:off x="822960" y="4114800"/>
            <a:ext cx="10545775" cy="1645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a:solidFill>
                  <a:srgbClr val="269CCB"/>
                </a:solidFill>
                <a:latin typeface="Calibri"/>
                <a:ea typeface="Calibri"/>
                <a:cs typeface="Calibri"/>
                <a:sym typeface="Calibri"/>
              </a:rPr>
              <a:t>La nube es un edificio con servidores, electricidad y un sistema de enfriamiento.</a:t>
            </a:r>
            <a:endParaRPr/>
          </a:p>
          <a:p>
            <a:pPr indent="0" lvl="0" marL="0" marR="0" rtl="0" algn="ctr">
              <a:spcBef>
                <a:spcPts val="600"/>
              </a:spcBef>
              <a:spcAft>
                <a:spcPts val="0"/>
              </a:spcAft>
              <a:buNone/>
            </a:pPr>
            <a:r>
              <a:rPr b="0" i="0" lang="en-US" sz="1500">
                <a:solidFill>
                  <a:srgbClr val="269CCB"/>
                </a:solidFill>
                <a:latin typeface="Calibri"/>
                <a:ea typeface="Calibri"/>
                <a:cs typeface="Calibri"/>
                <a:sym typeface="Calibri"/>
              </a:rPr>
              <a:t>Hoy le ponemos materia, energía y residuos a algo que parece que no tiene ninguna.</a:t>
            </a:r>
            <a:endParaRPr/>
          </a:p>
        </p:txBody>
      </p:sp>
      <p:sp>
        <p:nvSpPr>
          <p:cNvPr id="140" name="Google Shape;140;p4"/>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5"/>
          <p:cNvSpPr/>
          <p:nvPr/>
        </p:nvSpPr>
        <p:spPr>
          <a:xfrm>
            <a:off x="0" y="0"/>
            <a:ext cx="12191695" cy="1170432"/>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5"/>
          <p:cNvSpPr/>
          <p:nvPr/>
        </p:nvSpPr>
        <p:spPr>
          <a:xfrm>
            <a:off x="0" y="1170432"/>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5"/>
          <p:cNvSpPr txBox="1"/>
          <p:nvPr/>
        </p:nvSpPr>
        <p:spPr>
          <a:xfrm>
            <a:off x="457200" y="164592"/>
            <a:ext cx="11277295"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Las cuatro etapas de la huella de un sistema</a:t>
            </a:r>
            <a:endParaRPr/>
          </a:p>
        </p:txBody>
      </p:sp>
      <p:sp>
        <p:nvSpPr>
          <p:cNvPr id="149" name="Google Shape;149;p5"/>
          <p:cNvSpPr txBox="1"/>
          <p:nvPr/>
        </p:nvSpPr>
        <p:spPr>
          <a:xfrm>
            <a:off x="457200" y="566928"/>
            <a:ext cx="11277295"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a:solidFill>
                  <a:srgbClr val="B8D8EE"/>
                </a:solidFill>
                <a:latin typeface="Calibri"/>
                <a:ea typeface="Calibri"/>
                <a:cs typeface="Calibri"/>
                <a:sym typeface="Calibri"/>
              </a:rPr>
              <a:t>«Software» y «nube» son palabras que suenan inmateriales. Las cuatro etapas son materia, energía y residuo — y la etapa 1 cambia la recomendación: alargar la vida útil pesa más que ahorrar batería</a:t>
            </a:r>
            <a:endParaRPr/>
          </a:p>
        </p:txBody>
      </p:sp>
      <p:sp>
        <p:nvSpPr>
          <p:cNvPr id="150" name="Google Shape;150;p5"/>
          <p:cNvSpPr/>
          <p:nvPr/>
        </p:nvSpPr>
        <p:spPr>
          <a:xfrm>
            <a:off x="5934611" y="1399031"/>
            <a:ext cx="5735574" cy="4617720"/>
          </a:xfrm>
          <a:prstGeom prst="roundRect">
            <a:avLst>
              <a:gd fmla="val 4000" name="adj"/>
            </a:avLst>
          </a:prstGeom>
          <a:solidFill>
            <a:srgbClr val="E8EE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etapas-huella-paso1.png" id="151" name="Google Shape;151;p5"/>
          <p:cNvPicPr preferRelativeResize="0"/>
          <p:nvPr/>
        </p:nvPicPr>
        <p:blipFill rotWithShape="1">
          <a:blip r:embed="rId3">
            <a:alphaModFix/>
          </a:blip>
          <a:srcRect b="0" l="0" r="0" t="0"/>
          <a:stretch/>
        </p:blipFill>
        <p:spPr>
          <a:xfrm>
            <a:off x="6007763" y="1472184"/>
            <a:ext cx="5589270" cy="4471416"/>
          </a:xfrm>
          <a:prstGeom prst="rect">
            <a:avLst/>
          </a:prstGeom>
          <a:noFill/>
          <a:ln>
            <a:noFill/>
          </a:ln>
        </p:spPr>
      </p:pic>
      <p:pic>
        <p:nvPicPr>
          <p:cNvPr descr="etapas-huella-paso2.png" id="152" name="Google Shape;152;p5"/>
          <p:cNvPicPr preferRelativeResize="0"/>
          <p:nvPr/>
        </p:nvPicPr>
        <p:blipFill rotWithShape="1">
          <a:blip r:embed="rId4">
            <a:alphaModFix/>
          </a:blip>
          <a:srcRect b="0" l="0" r="0" t="0"/>
          <a:stretch/>
        </p:blipFill>
        <p:spPr>
          <a:xfrm>
            <a:off x="6007763" y="1472184"/>
            <a:ext cx="5589270" cy="4471416"/>
          </a:xfrm>
          <a:prstGeom prst="rect">
            <a:avLst/>
          </a:prstGeom>
          <a:noFill/>
          <a:ln>
            <a:noFill/>
          </a:ln>
        </p:spPr>
      </p:pic>
      <p:pic>
        <p:nvPicPr>
          <p:cNvPr descr="etapas-huella-paso3.png" id="153" name="Google Shape;153;p5"/>
          <p:cNvPicPr preferRelativeResize="0"/>
          <p:nvPr/>
        </p:nvPicPr>
        <p:blipFill rotWithShape="1">
          <a:blip r:embed="rId5">
            <a:alphaModFix/>
          </a:blip>
          <a:srcRect b="0" l="0" r="0" t="0"/>
          <a:stretch/>
        </p:blipFill>
        <p:spPr>
          <a:xfrm>
            <a:off x="6007763" y="1472184"/>
            <a:ext cx="5589270" cy="4471416"/>
          </a:xfrm>
          <a:prstGeom prst="rect">
            <a:avLst/>
          </a:prstGeom>
          <a:noFill/>
          <a:ln>
            <a:noFill/>
          </a:ln>
        </p:spPr>
      </p:pic>
      <p:pic>
        <p:nvPicPr>
          <p:cNvPr descr="etapas-huella-paso4.png" id="154" name="Google Shape;154;p5"/>
          <p:cNvPicPr preferRelativeResize="0"/>
          <p:nvPr/>
        </p:nvPicPr>
        <p:blipFill rotWithShape="1">
          <a:blip r:embed="rId6">
            <a:alphaModFix/>
          </a:blip>
          <a:srcRect b="0" l="0" r="0" t="0"/>
          <a:stretch/>
        </p:blipFill>
        <p:spPr>
          <a:xfrm>
            <a:off x="6007763" y="1472184"/>
            <a:ext cx="5589270" cy="4471416"/>
          </a:xfrm>
          <a:prstGeom prst="rect">
            <a:avLst/>
          </a:prstGeom>
          <a:noFill/>
          <a:ln>
            <a:noFill/>
          </a:ln>
        </p:spPr>
      </p:pic>
      <p:pic>
        <p:nvPicPr>
          <p:cNvPr descr="etapas-huella-paso5.png" id="155" name="Google Shape;155;p5"/>
          <p:cNvPicPr preferRelativeResize="0"/>
          <p:nvPr/>
        </p:nvPicPr>
        <p:blipFill rotWithShape="1">
          <a:blip r:embed="rId7">
            <a:alphaModFix/>
          </a:blip>
          <a:srcRect b="0" l="0" r="0" t="0"/>
          <a:stretch/>
        </p:blipFill>
        <p:spPr>
          <a:xfrm>
            <a:off x="6007763" y="1472184"/>
            <a:ext cx="5589270" cy="4471416"/>
          </a:xfrm>
          <a:prstGeom prst="rect">
            <a:avLst/>
          </a:prstGeom>
          <a:noFill/>
          <a:ln>
            <a:noFill/>
          </a:ln>
        </p:spPr>
      </p:pic>
      <p:sp>
        <p:nvSpPr>
          <p:cNvPr id="156" name="Google Shape;156;p5"/>
          <p:cNvSpPr txBox="1"/>
          <p:nvPr/>
        </p:nvSpPr>
        <p:spPr>
          <a:xfrm>
            <a:off x="5870301" y="5961888"/>
            <a:ext cx="5864193"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100">
                <a:solidFill>
                  <a:srgbClr val="666666"/>
                </a:solidFill>
                <a:latin typeface="Calibri"/>
                <a:ea typeface="Calibri"/>
                <a:cs typeface="Calibri"/>
                <a:sym typeface="Calibri"/>
              </a:rPr>
              <a:t>Clic para avanzar la animación</a:t>
            </a:r>
            <a:endParaRPr/>
          </a:p>
        </p:txBody>
      </p:sp>
      <p:sp>
        <p:nvSpPr>
          <p:cNvPr id="157" name="Google Shape;157;p5"/>
          <p:cNvSpPr txBox="1"/>
          <p:nvPr/>
        </p:nvSpPr>
        <p:spPr>
          <a:xfrm>
            <a:off x="457200" y="1563624"/>
            <a:ext cx="5093061" cy="483717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FABRICACIÓN:</a:t>
            </a:r>
            <a:r>
              <a:rPr b="0" i="0" lang="en-US" sz="2000">
                <a:solidFill>
                  <a:srgbClr val="333333"/>
                </a:solidFill>
                <a:latin typeface="Calibri"/>
                <a:ea typeface="Calibri"/>
                <a:cs typeface="Calibri"/>
                <a:sym typeface="Calibri"/>
              </a:rPr>
              <a:t> Minería, ensamblaje y transporte de dispositivos y servidores.</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USO:</a:t>
            </a:r>
            <a:r>
              <a:rPr b="0" i="0" lang="en-US" sz="2000">
                <a:solidFill>
                  <a:srgbClr val="333333"/>
                </a:solidFill>
                <a:latin typeface="Calibri"/>
                <a:ea typeface="Calibri"/>
                <a:cs typeface="Calibri"/>
                <a:sym typeface="Calibri"/>
              </a:rPr>
              <a:t> Electricidad del dispositivo, del servidor y del enfriamiento del centro de datos</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RED:</a:t>
            </a:r>
            <a:r>
              <a:rPr b="0" i="0" lang="en-US" sz="2000">
                <a:solidFill>
                  <a:srgbClr val="333333"/>
                </a:solidFill>
                <a:latin typeface="Calibri"/>
                <a:ea typeface="Calibri"/>
                <a:cs typeface="Calibri"/>
                <a:sym typeface="Calibri"/>
              </a:rPr>
              <a:t> Cada byte viaja por antenas, cables y equipos que consumen</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FIN DE VIDA:</a:t>
            </a:r>
            <a:r>
              <a:rPr b="0" i="0" lang="en-US" sz="2000">
                <a:solidFill>
                  <a:srgbClr val="333333"/>
                </a:solidFill>
                <a:latin typeface="Calibri"/>
                <a:ea typeface="Calibri"/>
                <a:cs typeface="Calibri"/>
                <a:sym typeface="Calibri"/>
              </a:rPr>
              <a:t> Residuo electrónico (RAEE): metales, plásticos y sustancias peligrosas</a:t>
            </a:r>
            <a:endParaRPr/>
          </a:p>
        </p:txBody>
      </p:sp>
      <p:sp>
        <p:nvSpPr>
          <p:cNvPr id="158" name="Google Shape;158;p5"/>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45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45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45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45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6"/>
          <p:cNvSpPr/>
          <p:nvPr/>
        </p:nvSpPr>
        <p:spPr>
          <a:xfrm>
            <a:off x="0" y="0"/>
            <a:ext cx="12191695" cy="1170432"/>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6"/>
          <p:cNvSpPr/>
          <p:nvPr/>
        </p:nvSpPr>
        <p:spPr>
          <a:xfrm>
            <a:off x="0" y="1170432"/>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6"/>
          <p:cNvSpPr txBox="1"/>
          <p:nvPr/>
        </p:nvSpPr>
        <p:spPr>
          <a:xfrm>
            <a:off x="457200" y="164592"/>
            <a:ext cx="11277295"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Ejemplo: la huella de una app de citas en el celular</a:t>
            </a:r>
            <a:endParaRPr/>
          </a:p>
        </p:txBody>
      </p:sp>
      <p:sp>
        <p:nvSpPr>
          <p:cNvPr id="167" name="Google Shape;167;p6"/>
          <p:cNvSpPr txBox="1"/>
          <p:nvPr/>
        </p:nvSpPr>
        <p:spPr>
          <a:xfrm>
            <a:off x="457200" y="566928"/>
            <a:ext cx="11277295"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a:solidFill>
                  <a:srgbClr val="B8D8EE"/>
                </a:solidFill>
                <a:latin typeface="Calibri"/>
                <a:ea typeface="Calibri"/>
                <a:cs typeface="Calibri"/>
                <a:sym typeface="Calibri"/>
              </a:rPr>
              <a:t>Las cuatro etapas, sobre algo que todos tienen en el bolsillo.</a:t>
            </a:r>
            <a:endParaRPr/>
          </a:p>
        </p:txBody>
      </p:sp>
      <p:sp>
        <p:nvSpPr>
          <p:cNvPr id="168" name="Google Shape;168;p6"/>
          <p:cNvSpPr/>
          <p:nvPr/>
        </p:nvSpPr>
        <p:spPr>
          <a:xfrm>
            <a:off x="457200" y="1659636"/>
            <a:ext cx="11277295" cy="1051560"/>
          </a:xfrm>
          <a:prstGeom prst="roundRect">
            <a:avLst>
              <a:gd fmla="val 12000" name="adj"/>
            </a:avLst>
          </a:prstGeom>
          <a:solidFill>
            <a:srgbClr val="F2F2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6"/>
          <p:cNvSpPr/>
          <p:nvPr/>
        </p:nvSpPr>
        <p:spPr>
          <a:xfrm>
            <a:off x="594360" y="1965960"/>
            <a:ext cx="438912" cy="438912"/>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6"/>
          <p:cNvSpPr txBox="1"/>
          <p:nvPr/>
        </p:nvSpPr>
        <p:spPr>
          <a:xfrm>
            <a:off x="594360" y="1965960"/>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1</a:t>
            </a:r>
            <a:endParaRPr/>
          </a:p>
        </p:txBody>
      </p:sp>
      <p:sp>
        <p:nvSpPr>
          <p:cNvPr id="171" name="Google Shape;171;p6"/>
          <p:cNvSpPr txBox="1"/>
          <p:nvPr/>
        </p:nvSpPr>
        <p:spPr>
          <a:xfrm>
            <a:off x="1188720" y="1751076"/>
            <a:ext cx="10271455" cy="8869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Fabricación</a:t>
            </a:r>
            <a:endParaRPr/>
          </a:p>
          <a:p>
            <a:pPr indent="0" lvl="0" marL="0" marR="0" rtl="0" algn="l">
              <a:spcBef>
                <a:spcPts val="200"/>
              </a:spcBef>
              <a:spcAft>
                <a:spcPts val="0"/>
              </a:spcAft>
              <a:buNone/>
            </a:pPr>
            <a:r>
              <a:rPr b="0" i="0" lang="en-US" sz="1300">
                <a:solidFill>
                  <a:srgbClr val="333333"/>
                </a:solidFill>
                <a:latin typeface="Calibri"/>
                <a:ea typeface="Calibri"/>
                <a:cs typeface="Calibri"/>
                <a:sym typeface="Calibri"/>
              </a:rPr>
              <a:t>El celular ya gastó la mayor parte de su huella antes de encenderse: minería, ensamblaje, transporte.</a:t>
            </a:r>
            <a:endParaRPr/>
          </a:p>
        </p:txBody>
      </p:sp>
      <p:sp>
        <p:nvSpPr>
          <p:cNvPr id="172" name="Google Shape;172;p6"/>
          <p:cNvSpPr/>
          <p:nvPr/>
        </p:nvSpPr>
        <p:spPr>
          <a:xfrm>
            <a:off x="457200" y="2802636"/>
            <a:ext cx="11277295" cy="1051560"/>
          </a:xfrm>
          <a:prstGeom prst="roundRect">
            <a:avLst>
              <a:gd fmla="val 12000" name="adj"/>
            </a:avLst>
          </a:prstGeom>
          <a:solidFill>
            <a:srgbClr val="E8F4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6"/>
          <p:cNvSpPr/>
          <p:nvPr/>
        </p:nvSpPr>
        <p:spPr>
          <a:xfrm>
            <a:off x="594360" y="3108960"/>
            <a:ext cx="438912" cy="438912"/>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6"/>
          <p:cNvSpPr txBox="1"/>
          <p:nvPr/>
        </p:nvSpPr>
        <p:spPr>
          <a:xfrm>
            <a:off x="594360" y="3108960"/>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2</a:t>
            </a:r>
            <a:endParaRPr/>
          </a:p>
        </p:txBody>
      </p:sp>
      <p:sp>
        <p:nvSpPr>
          <p:cNvPr id="175" name="Google Shape;175;p6"/>
          <p:cNvSpPr txBox="1"/>
          <p:nvPr/>
        </p:nvSpPr>
        <p:spPr>
          <a:xfrm>
            <a:off x="1188720" y="2894076"/>
            <a:ext cx="10271455" cy="8869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Uso</a:t>
            </a:r>
            <a:endParaRPr/>
          </a:p>
          <a:p>
            <a:pPr indent="0" lvl="0" marL="0" marR="0" rtl="0" algn="l">
              <a:spcBef>
                <a:spcPts val="200"/>
              </a:spcBef>
              <a:spcAft>
                <a:spcPts val="0"/>
              </a:spcAft>
              <a:buNone/>
            </a:pPr>
            <a:r>
              <a:rPr b="0" i="0" lang="en-US" sz="1300">
                <a:solidFill>
                  <a:srgbClr val="333333"/>
                </a:solidFill>
                <a:latin typeface="Calibri"/>
                <a:ea typeface="Calibri"/>
                <a:cs typeface="Calibri"/>
                <a:sym typeface="Calibri"/>
              </a:rPr>
              <a:t>Cada vez que se abre la app gasta batería, y el servidor que responde gasta electricidad.</a:t>
            </a:r>
            <a:endParaRPr/>
          </a:p>
        </p:txBody>
      </p:sp>
      <p:sp>
        <p:nvSpPr>
          <p:cNvPr id="176" name="Google Shape;176;p6"/>
          <p:cNvSpPr/>
          <p:nvPr/>
        </p:nvSpPr>
        <p:spPr>
          <a:xfrm>
            <a:off x="457200" y="3945636"/>
            <a:ext cx="11277295" cy="1051560"/>
          </a:xfrm>
          <a:prstGeom prst="roundRect">
            <a:avLst>
              <a:gd fmla="val 12000" name="adj"/>
            </a:avLst>
          </a:prstGeom>
          <a:solidFill>
            <a:srgbClr val="F2F2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6"/>
          <p:cNvSpPr/>
          <p:nvPr/>
        </p:nvSpPr>
        <p:spPr>
          <a:xfrm>
            <a:off x="594360" y="4251960"/>
            <a:ext cx="438912" cy="438912"/>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6"/>
          <p:cNvSpPr txBox="1"/>
          <p:nvPr/>
        </p:nvSpPr>
        <p:spPr>
          <a:xfrm>
            <a:off x="594360" y="4251960"/>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3</a:t>
            </a:r>
            <a:endParaRPr/>
          </a:p>
        </p:txBody>
      </p:sp>
      <p:sp>
        <p:nvSpPr>
          <p:cNvPr id="179" name="Google Shape;179;p6"/>
          <p:cNvSpPr txBox="1"/>
          <p:nvPr/>
        </p:nvSpPr>
        <p:spPr>
          <a:xfrm>
            <a:off x="1188720" y="4037076"/>
            <a:ext cx="10271455" cy="8869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Red</a:t>
            </a:r>
            <a:endParaRPr/>
          </a:p>
          <a:p>
            <a:pPr indent="0" lvl="0" marL="0" marR="0" rtl="0" algn="l">
              <a:spcBef>
                <a:spcPts val="200"/>
              </a:spcBef>
              <a:spcAft>
                <a:spcPts val="0"/>
              </a:spcAft>
              <a:buNone/>
            </a:pPr>
            <a:r>
              <a:rPr b="0" i="0" lang="en-US" sz="1300">
                <a:solidFill>
                  <a:srgbClr val="333333"/>
                </a:solidFill>
                <a:latin typeface="Calibri"/>
                <a:ea typeface="Calibri"/>
                <a:cs typeface="Calibri"/>
                <a:sym typeface="Calibri"/>
              </a:rPr>
              <a:t>Cada foto y cada consulta viaja por antenas y cables que también consumen.</a:t>
            </a:r>
            <a:endParaRPr/>
          </a:p>
        </p:txBody>
      </p:sp>
      <p:sp>
        <p:nvSpPr>
          <p:cNvPr id="180" name="Google Shape;180;p6"/>
          <p:cNvSpPr/>
          <p:nvPr/>
        </p:nvSpPr>
        <p:spPr>
          <a:xfrm>
            <a:off x="457200" y="5088636"/>
            <a:ext cx="11277295" cy="1051560"/>
          </a:xfrm>
          <a:prstGeom prst="roundRect">
            <a:avLst>
              <a:gd fmla="val 12000" name="adj"/>
            </a:avLst>
          </a:prstGeom>
          <a:solidFill>
            <a:srgbClr val="E8F4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6"/>
          <p:cNvSpPr/>
          <p:nvPr/>
        </p:nvSpPr>
        <p:spPr>
          <a:xfrm>
            <a:off x="594360" y="5394960"/>
            <a:ext cx="438912" cy="438912"/>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6"/>
          <p:cNvSpPr txBox="1"/>
          <p:nvPr/>
        </p:nvSpPr>
        <p:spPr>
          <a:xfrm>
            <a:off x="594360" y="5394960"/>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4</a:t>
            </a:r>
            <a:endParaRPr/>
          </a:p>
        </p:txBody>
      </p:sp>
      <p:sp>
        <p:nvSpPr>
          <p:cNvPr id="183" name="Google Shape;183;p6"/>
          <p:cNvSpPr txBox="1"/>
          <p:nvPr/>
        </p:nvSpPr>
        <p:spPr>
          <a:xfrm>
            <a:off x="1188720" y="5180076"/>
            <a:ext cx="10271455" cy="8869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Fin de vida</a:t>
            </a:r>
            <a:endParaRPr/>
          </a:p>
          <a:p>
            <a:pPr indent="0" lvl="0" marL="0" marR="0" rtl="0" algn="l">
              <a:spcBef>
                <a:spcPts val="200"/>
              </a:spcBef>
              <a:spcAft>
                <a:spcPts val="0"/>
              </a:spcAft>
              <a:buNone/>
            </a:pPr>
            <a:r>
              <a:rPr b="0" i="0" lang="en-US" sz="1300">
                <a:solidFill>
                  <a:srgbClr val="333333"/>
                </a:solidFill>
                <a:latin typeface="Calibri"/>
                <a:ea typeface="Calibri"/>
                <a:cs typeface="Calibri"/>
                <a:sym typeface="Calibri"/>
              </a:rPr>
              <a:t>Si la app deja de funcionar en celulares viejos, empuja a cambiar de celular: más residuo.</a:t>
            </a:r>
            <a:endParaRPr/>
          </a:p>
        </p:txBody>
      </p:sp>
      <p:sp>
        <p:nvSpPr>
          <p:cNvPr id="184" name="Google Shape;184;p6"/>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7"/>
          <p:cNvSpPr/>
          <p:nvPr/>
        </p:nvSpPr>
        <p:spPr>
          <a:xfrm>
            <a:off x="0" y="0"/>
            <a:ext cx="12191695" cy="96012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7"/>
          <p:cNvSpPr/>
          <p:nvPr/>
        </p:nvSpPr>
        <p:spPr>
          <a:xfrm>
            <a:off x="0" y="960120"/>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7"/>
          <p:cNvSpPr txBox="1"/>
          <p:nvPr/>
        </p:nvSpPr>
        <p:spPr>
          <a:xfrm>
            <a:off x="457200" y="164592"/>
            <a:ext cx="11277295"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Cuatro conceptos con nombre propio</a:t>
            </a:r>
            <a:endParaRPr/>
          </a:p>
        </p:txBody>
      </p:sp>
      <p:sp>
        <p:nvSpPr>
          <p:cNvPr id="193" name="Google Shape;193;p7"/>
          <p:cNvSpPr/>
          <p:nvPr/>
        </p:nvSpPr>
        <p:spPr>
          <a:xfrm>
            <a:off x="457200" y="1261872"/>
            <a:ext cx="5547207" cy="2464308"/>
          </a:xfrm>
          <a:prstGeom prst="roundRect">
            <a:avLst>
              <a:gd fmla="val 12000" name="adj"/>
            </a:avLst>
          </a:prstGeom>
          <a:solidFill>
            <a:srgbClr val="F2F2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7"/>
          <p:cNvSpPr/>
          <p:nvPr/>
        </p:nvSpPr>
        <p:spPr>
          <a:xfrm>
            <a:off x="457200" y="1261872"/>
            <a:ext cx="5547207" cy="9144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7"/>
          <p:cNvSpPr txBox="1"/>
          <p:nvPr/>
        </p:nvSpPr>
        <p:spPr>
          <a:xfrm>
            <a:off x="621792" y="1490472"/>
            <a:ext cx="5218023"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PUE · Power Usage Effectiveness</a:t>
            </a:r>
            <a:endParaRPr/>
          </a:p>
        </p:txBody>
      </p:sp>
      <p:sp>
        <p:nvSpPr>
          <p:cNvPr id="196" name="Google Shape;196;p7"/>
          <p:cNvSpPr txBox="1"/>
          <p:nvPr/>
        </p:nvSpPr>
        <p:spPr>
          <a:xfrm>
            <a:off x="621792" y="1947672"/>
            <a:ext cx="5218023" cy="15956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a:solidFill>
                  <a:srgbClr val="333333"/>
                </a:solidFill>
                <a:latin typeface="Calibri"/>
                <a:ea typeface="Calibri"/>
                <a:cs typeface="Calibri"/>
                <a:sym typeface="Calibri"/>
              </a:rPr>
              <a:t>Energía total del centro de datos ÷ energía que llega a los servidores. </a:t>
            </a:r>
            <a:r>
              <a:rPr b="1" i="0" lang="en-US" sz="1300">
                <a:solidFill>
                  <a:srgbClr val="333333"/>
                </a:solidFill>
                <a:latin typeface="Calibri"/>
                <a:ea typeface="Calibri"/>
                <a:cs typeface="Calibri"/>
                <a:sym typeface="Calibri"/>
              </a:rPr>
              <a:t>1.0 sería perfecto</a:t>
            </a:r>
            <a:r>
              <a:rPr b="0" i="0" lang="en-US" sz="1300">
                <a:solidFill>
                  <a:srgbClr val="333333"/>
                </a:solidFill>
                <a:latin typeface="Calibri"/>
                <a:ea typeface="Calibri"/>
                <a:cs typeface="Calibri"/>
                <a:sym typeface="Calibri"/>
              </a:rPr>
              <a:t>: todo llega a los servidores. Un valor de 1.6 significa que por cada vatio que usan los servidores se gastan 0,6 en enfriar, iluminar y perder.</a:t>
            </a:r>
            <a:endParaRPr/>
          </a:p>
        </p:txBody>
      </p:sp>
      <p:sp>
        <p:nvSpPr>
          <p:cNvPr id="197" name="Google Shape;197;p7"/>
          <p:cNvSpPr/>
          <p:nvPr/>
        </p:nvSpPr>
        <p:spPr>
          <a:xfrm>
            <a:off x="6187287" y="1261872"/>
            <a:ext cx="5547207" cy="2464308"/>
          </a:xfrm>
          <a:prstGeom prst="roundRect">
            <a:avLst>
              <a:gd fmla="val 12000" name="adj"/>
            </a:avLst>
          </a:prstGeom>
          <a:solidFill>
            <a:srgbClr val="F2F2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7"/>
          <p:cNvSpPr/>
          <p:nvPr/>
        </p:nvSpPr>
        <p:spPr>
          <a:xfrm>
            <a:off x="6187287" y="1261872"/>
            <a:ext cx="5547207" cy="91440"/>
          </a:xfrm>
          <a:prstGeom prst="rect">
            <a:avLst/>
          </a:prstGeom>
          <a:solidFill>
            <a:srgbClr val="269CC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7"/>
          <p:cNvSpPr txBox="1"/>
          <p:nvPr/>
        </p:nvSpPr>
        <p:spPr>
          <a:xfrm>
            <a:off x="6351879" y="1490472"/>
            <a:ext cx="5218023"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Agua de enfriamiento</a:t>
            </a:r>
            <a:endParaRPr/>
          </a:p>
        </p:txBody>
      </p:sp>
      <p:sp>
        <p:nvSpPr>
          <p:cNvPr id="200" name="Google Shape;200;p7"/>
          <p:cNvSpPr txBox="1"/>
          <p:nvPr/>
        </p:nvSpPr>
        <p:spPr>
          <a:xfrm>
            <a:off x="6351879" y="1947672"/>
            <a:ext cx="5218023" cy="15956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a:solidFill>
                  <a:srgbClr val="333333"/>
                </a:solidFill>
                <a:latin typeface="Calibri"/>
                <a:ea typeface="Calibri"/>
                <a:cs typeface="Calibri"/>
                <a:sym typeface="Calibri"/>
              </a:rPr>
              <a:t>Muchos centros de datos se enfrían </a:t>
            </a:r>
            <a:r>
              <a:rPr b="1" i="0" lang="en-US" sz="1300">
                <a:solidFill>
                  <a:srgbClr val="333333"/>
                </a:solidFill>
                <a:latin typeface="Calibri"/>
                <a:ea typeface="Calibri"/>
                <a:cs typeface="Calibri"/>
                <a:sym typeface="Calibri"/>
              </a:rPr>
              <a:t>evaporando agua</a:t>
            </a:r>
            <a:r>
              <a:rPr b="0" i="0" lang="en-US" sz="1300">
                <a:solidFill>
                  <a:srgbClr val="333333"/>
                </a:solidFill>
                <a:latin typeface="Calibri"/>
                <a:ea typeface="Calibri"/>
                <a:cs typeface="Calibri"/>
                <a:sym typeface="Calibri"/>
              </a:rPr>
              <a:t>, porque es más barato que enfriar con electricidad. El costo se muda de la factura de luz a la cuenca de donde sale el agua, que suele estar donde vive gente.</a:t>
            </a:r>
            <a:endParaRPr/>
          </a:p>
        </p:txBody>
      </p:sp>
      <p:sp>
        <p:nvSpPr>
          <p:cNvPr id="201" name="Google Shape;201;p7"/>
          <p:cNvSpPr/>
          <p:nvPr/>
        </p:nvSpPr>
        <p:spPr>
          <a:xfrm>
            <a:off x="457200" y="3890772"/>
            <a:ext cx="5547207" cy="2464308"/>
          </a:xfrm>
          <a:prstGeom prst="roundRect">
            <a:avLst>
              <a:gd fmla="val 12000" name="adj"/>
            </a:avLst>
          </a:prstGeom>
          <a:solidFill>
            <a:srgbClr val="F2F2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7"/>
          <p:cNvSpPr/>
          <p:nvPr/>
        </p:nvSpPr>
        <p:spPr>
          <a:xfrm>
            <a:off x="457200" y="3890772"/>
            <a:ext cx="5547207" cy="91440"/>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7"/>
          <p:cNvSpPr txBox="1"/>
          <p:nvPr/>
        </p:nvSpPr>
        <p:spPr>
          <a:xfrm>
            <a:off x="621792" y="4119372"/>
            <a:ext cx="5218023"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RAEE · Residuos de aparatos eléctricos y electrónicos</a:t>
            </a:r>
            <a:endParaRPr/>
          </a:p>
        </p:txBody>
      </p:sp>
      <p:sp>
        <p:nvSpPr>
          <p:cNvPr id="204" name="Google Shape;204;p7"/>
          <p:cNvSpPr txBox="1"/>
          <p:nvPr/>
        </p:nvSpPr>
        <p:spPr>
          <a:xfrm>
            <a:off x="621792" y="4576572"/>
            <a:ext cx="5218023" cy="15956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a:solidFill>
                  <a:srgbClr val="333333"/>
                </a:solidFill>
                <a:latin typeface="Calibri"/>
                <a:ea typeface="Calibri"/>
                <a:cs typeface="Calibri"/>
                <a:sym typeface="Calibri"/>
              </a:rPr>
              <a:t>En Colombia los regula la </a:t>
            </a:r>
            <a:r>
              <a:rPr b="1" i="0" lang="en-US" sz="1300">
                <a:solidFill>
                  <a:srgbClr val="333333"/>
                </a:solidFill>
                <a:latin typeface="Calibri"/>
                <a:ea typeface="Calibri"/>
                <a:cs typeface="Calibri"/>
                <a:sym typeface="Calibri"/>
              </a:rPr>
              <a:t>Ley 1672 de 2013</a:t>
            </a:r>
            <a:r>
              <a:rPr b="0" i="0" lang="en-US" sz="1300">
                <a:solidFill>
                  <a:srgbClr val="333333"/>
                </a:solidFill>
                <a:latin typeface="Calibri"/>
                <a:ea typeface="Calibri"/>
                <a:cs typeface="Calibri"/>
                <a:sym typeface="Calibri"/>
              </a:rPr>
              <a:t>: obliga a los productores a tener sistemas de recolección y al usuario a entregar el aparato en esos puntos, no en la basura común. Contienen metales valiosos y sustancias peligrosas.</a:t>
            </a:r>
            <a:endParaRPr/>
          </a:p>
        </p:txBody>
      </p:sp>
      <p:sp>
        <p:nvSpPr>
          <p:cNvPr id="205" name="Google Shape;205;p7"/>
          <p:cNvSpPr/>
          <p:nvPr/>
        </p:nvSpPr>
        <p:spPr>
          <a:xfrm>
            <a:off x="6187287" y="3890772"/>
            <a:ext cx="5547207" cy="2464308"/>
          </a:xfrm>
          <a:prstGeom prst="roundRect">
            <a:avLst>
              <a:gd fmla="val 12000" name="adj"/>
            </a:avLst>
          </a:prstGeom>
          <a:solidFill>
            <a:srgbClr val="F2F2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7"/>
          <p:cNvSpPr/>
          <p:nvPr/>
        </p:nvSpPr>
        <p:spPr>
          <a:xfrm>
            <a:off x="6187287" y="3890772"/>
            <a:ext cx="5547207" cy="9144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7"/>
          <p:cNvSpPr txBox="1"/>
          <p:nvPr/>
        </p:nvSpPr>
        <p:spPr>
          <a:xfrm>
            <a:off x="6351879" y="4119372"/>
            <a:ext cx="5218023"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Obsolescencia inducida por software</a:t>
            </a:r>
            <a:endParaRPr/>
          </a:p>
        </p:txBody>
      </p:sp>
      <p:sp>
        <p:nvSpPr>
          <p:cNvPr id="208" name="Google Shape;208;p7"/>
          <p:cNvSpPr txBox="1"/>
          <p:nvPr/>
        </p:nvSpPr>
        <p:spPr>
          <a:xfrm>
            <a:off x="6351879" y="4576572"/>
            <a:ext cx="5218023" cy="15956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a:solidFill>
                  <a:srgbClr val="333333"/>
                </a:solidFill>
                <a:latin typeface="Calibri"/>
                <a:ea typeface="Calibri"/>
                <a:cs typeface="Calibri"/>
                <a:sym typeface="Calibri"/>
              </a:rPr>
              <a:t>Cuando una nueva versión exige un dispositivo más nuevo, el software </a:t>
            </a:r>
            <a:r>
              <a:rPr b="1" i="0" lang="en-US" sz="1300">
                <a:solidFill>
                  <a:srgbClr val="333333"/>
                </a:solidFill>
                <a:latin typeface="Calibri"/>
                <a:ea typeface="Calibri"/>
                <a:cs typeface="Calibri"/>
                <a:sym typeface="Calibri"/>
              </a:rPr>
              <a:t>convierte en basura</a:t>
            </a:r>
            <a:r>
              <a:rPr b="0" i="0" lang="en-US" sz="1300">
                <a:solidFill>
                  <a:srgbClr val="333333"/>
                </a:solidFill>
                <a:latin typeface="Calibri"/>
                <a:ea typeface="Calibri"/>
                <a:cs typeface="Calibri"/>
                <a:sym typeface="Calibri"/>
              </a:rPr>
              <a:t> un aparato que funcionaba. Es una decisión de ingeniería con un resultado material medible en toneladas.</a:t>
            </a:r>
            <a:endParaRPr/>
          </a:p>
        </p:txBody>
      </p:sp>
      <p:sp>
        <p:nvSpPr>
          <p:cNvPr id="209" name="Google Shape;209;p7"/>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8"/>
          <p:cNvSpPr/>
          <p:nvPr/>
        </p:nvSpPr>
        <p:spPr>
          <a:xfrm>
            <a:off x="0" y="0"/>
            <a:ext cx="12191695" cy="96012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8"/>
          <p:cNvSpPr/>
          <p:nvPr/>
        </p:nvSpPr>
        <p:spPr>
          <a:xfrm>
            <a:off x="0" y="960120"/>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8"/>
          <p:cNvSpPr txBox="1"/>
          <p:nvPr/>
        </p:nvSpPr>
        <p:spPr>
          <a:xfrm>
            <a:off x="457200" y="164592"/>
            <a:ext cx="11277295"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Ejemplo: el PUE de un centro de datos, con números</a:t>
            </a:r>
            <a:endParaRPr/>
          </a:p>
        </p:txBody>
      </p:sp>
      <p:sp>
        <p:nvSpPr>
          <p:cNvPr id="218" name="Google Shape;218;p8"/>
          <p:cNvSpPr/>
          <p:nvPr/>
        </p:nvSpPr>
        <p:spPr>
          <a:xfrm>
            <a:off x="5797149" y="1343926"/>
            <a:ext cx="6010497" cy="4837658"/>
          </a:xfrm>
          <a:prstGeom prst="roundRect">
            <a:avLst>
              <a:gd fmla="val 4000" name="adj"/>
            </a:avLst>
          </a:prstGeom>
          <a:solidFill>
            <a:srgbClr val="E8EE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lus-pue-paso1.png" id="219" name="Google Shape;219;p8"/>
          <p:cNvPicPr preferRelativeResize="0"/>
          <p:nvPr/>
        </p:nvPicPr>
        <p:blipFill rotWithShape="1">
          <a:blip r:embed="rId3">
            <a:alphaModFix/>
          </a:blip>
          <a:srcRect b="0" l="0" r="0" t="0"/>
          <a:stretch/>
        </p:blipFill>
        <p:spPr>
          <a:xfrm>
            <a:off x="5870301" y="1417078"/>
            <a:ext cx="5864193" cy="4691354"/>
          </a:xfrm>
          <a:prstGeom prst="rect">
            <a:avLst/>
          </a:prstGeom>
          <a:noFill/>
          <a:ln>
            <a:noFill/>
          </a:ln>
        </p:spPr>
      </p:pic>
      <p:sp>
        <p:nvSpPr>
          <p:cNvPr id="220" name="Google Shape;220;p8"/>
          <p:cNvSpPr txBox="1"/>
          <p:nvPr/>
        </p:nvSpPr>
        <p:spPr>
          <a:xfrm>
            <a:off x="457200" y="1353312"/>
            <a:ext cx="5093061" cy="5047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a:solidFill>
                  <a:srgbClr val="333333"/>
                </a:solidFill>
                <a:latin typeface="Calibri"/>
                <a:ea typeface="Calibri"/>
                <a:cs typeface="Calibri"/>
                <a:sym typeface="Calibri"/>
              </a:rPr>
              <a:t>–   Un centro de datos consume </a:t>
            </a:r>
            <a:r>
              <a:rPr b="1" i="0" lang="en-US" sz="2000">
                <a:solidFill>
                  <a:srgbClr val="333333"/>
                </a:solidFill>
                <a:latin typeface="Calibri"/>
                <a:ea typeface="Calibri"/>
                <a:cs typeface="Calibri"/>
                <a:sym typeface="Calibri"/>
              </a:rPr>
              <a:t>1.600 kWh</a:t>
            </a:r>
            <a:r>
              <a:rPr b="0" i="0" lang="en-US" sz="2000">
                <a:solidFill>
                  <a:srgbClr val="333333"/>
                </a:solidFill>
                <a:latin typeface="Calibri"/>
                <a:ea typeface="Calibri"/>
                <a:cs typeface="Calibri"/>
                <a:sym typeface="Calibri"/>
              </a:rPr>
              <a:t> en un día.</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De esos, a los servidores —los que procesan los datos— llegan </a:t>
            </a:r>
            <a:r>
              <a:rPr b="1" i="0" lang="en-US" sz="2000">
                <a:solidFill>
                  <a:srgbClr val="333333"/>
                </a:solidFill>
                <a:latin typeface="Calibri"/>
                <a:ea typeface="Calibri"/>
                <a:cs typeface="Calibri"/>
                <a:sym typeface="Calibri"/>
              </a:rPr>
              <a:t>1.000 kWh</a:t>
            </a:r>
            <a:r>
              <a:rPr b="0" i="0" lang="en-US" sz="2000">
                <a:solidFill>
                  <a:srgbClr val="333333"/>
                </a:solidFill>
                <a:latin typeface="Calibri"/>
                <a:ea typeface="Calibri"/>
                <a:cs typeface="Calibri"/>
                <a:sym typeface="Calibri"/>
              </a:rPr>
              <a:t>.</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PUE = 1.600 ÷ 1.000 = 1,6</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Los otros </a:t>
            </a:r>
            <a:r>
              <a:rPr b="1" i="0" lang="en-US" sz="2000">
                <a:solidFill>
                  <a:srgbClr val="333333"/>
                </a:solidFill>
                <a:latin typeface="Calibri"/>
                <a:ea typeface="Calibri"/>
                <a:cs typeface="Calibri"/>
                <a:sym typeface="Calibri"/>
              </a:rPr>
              <a:t>600 kWh</a:t>
            </a:r>
            <a:r>
              <a:rPr b="0" i="0" lang="en-US" sz="2000">
                <a:solidFill>
                  <a:srgbClr val="333333"/>
                </a:solidFill>
                <a:latin typeface="Calibri"/>
                <a:ea typeface="Calibri"/>
                <a:cs typeface="Calibri"/>
                <a:sym typeface="Calibri"/>
              </a:rPr>
              <a:t> se van en enfriar, iluminar y en pérdidas. </a:t>
            </a:r>
            <a:r>
              <a:rPr b="1" i="0" lang="en-US" sz="2000">
                <a:solidFill>
                  <a:srgbClr val="333333"/>
                </a:solidFill>
                <a:latin typeface="Calibri"/>
                <a:ea typeface="Calibri"/>
                <a:cs typeface="Calibri"/>
                <a:sym typeface="Calibri"/>
              </a:rPr>
              <a:t>No procesan ningún dato.</a:t>
            </a:r>
            <a:endParaRPr/>
          </a:p>
        </p:txBody>
      </p:sp>
      <p:sp>
        <p:nvSpPr>
          <p:cNvPr id="221" name="Google Shape;221;p8"/>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9"/>
          <p:cNvSpPr/>
          <p:nvPr/>
        </p:nvSpPr>
        <p:spPr>
          <a:xfrm>
            <a:off x="0" y="0"/>
            <a:ext cx="12191695" cy="1170432"/>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9"/>
          <p:cNvSpPr/>
          <p:nvPr/>
        </p:nvSpPr>
        <p:spPr>
          <a:xfrm>
            <a:off x="0" y="1170432"/>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9"/>
          <p:cNvSpPr txBox="1"/>
          <p:nvPr/>
        </p:nvSpPr>
        <p:spPr>
          <a:xfrm>
            <a:off x="457200" y="164592"/>
            <a:ext cx="11277295"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La misma función, dos decisiones</a:t>
            </a:r>
            <a:endParaRPr/>
          </a:p>
        </p:txBody>
      </p:sp>
      <p:sp>
        <p:nvSpPr>
          <p:cNvPr id="230" name="Google Shape;230;p9"/>
          <p:cNvSpPr txBox="1"/>
          <p:nvPr/>
        </p:nvSpPr>
        <p:spPr>
          <a:xfrm>
            <a:off x="457200" y="566928"/>
            <a:ext cx="11277295"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a:solidFill>
                  <a:srgbClr val="B8D8EE"/>
                </a:solidFill>
                <a:latin typeface="Calibri"/>
                <a:ea typeface="Calibri"/>
                <a:cs typeface="Calibri"/>
                <a:sym typeface="Calibri"/>
              </a:rPr>
              <a:t>Ninguna de las cinco decisiones de la derecha es un sacrificio de calidad: son decisiones de ingeniería</a:t>
            </a:r>
            <a:endParaRPr/>
          </a:p>
        </p:txBody>
      </p:sp>
      <p:sp>
        <p:nvSpPr>
          <p:cNvPr id="231" name="Google Shape;231;p9"/>
          <p:cNvSpPr/>
          <p:nvPr/>
        </p:nvSpPr>
        <p:spPr>
          <a:xfrm>
            <a:off x="457200" y="1472184"/>
            <a:ext cx="5478627" cy="4882896"/>
          </a:xfrm>
          <a:prstGeom prst="roundRect">
            <a:avLst>
              <a:gd fmla="val 12000" name="adj"/>
            </a:avLst>
          </a:prstGeom>
          <a:solidFill>
            <a:srgbClr val="FBE4E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9"/>
          <p:cNvSpPr/>
          <p:nvPr/>
        </p:nvSpPr>
        <p:spPr>
          <a:xfrm>
            <a:off x="457200" y="1472184"/>
            <a:ext cx="5478627" cy="502920"/>
          </a:xfrm>
          <a:prstGeom prst="rect">
            <a:avLst/>
          </a:prstGeom>
          <a:solidFill>
            <a:srgbClr val="A0203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9"/>
          <p:cNvSpPr txBox="1"/>
          <p:nvPr/>
        </p:nvSpPr>
        <p:spPr>
          <a:xfrm>
            <a:off x="594360" y="1563624"/>
            <a:ext cx="5204307"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Decisión cómoda para el equipo</a:t>
            </a:r>
            <a:endParaRPr/>
          </a:p>
        </p:txBody>
      </p:sp>
      <p:sp>
        <p:nvSpPr>
          <p:cNvPr id="234" name="Google Shape;234;p9"/>
          <p:cNvSpPr txBox="1"/>
          <p:nvPr/>
        </p:nvSpPr>
        <p:spPr>
          <a:xfrm>
            <a:off x="621792" y="2112263"/>
            <a:ext cx="5158587" cy="42885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a:solidFill>
                  <a:srgbClr val="333333"/>
                </a:solidFill>
                <a:latin typeface="Calibri"/>
                <a:ea typeface="Calibri"/>
                <a:cs typeface="Calibri"/>
                <a:sym typeface="Calibri"/>
              </a:rPr>
              <a:t>–   La app pide la ubicación cada 5 segundos.</a:t>
            </a:r>
            <a:endParaRPr/>
          </a:p>
          <a:p>
            <a:pPr indent="0" lvl="0" marL="0" marR="0" rtl="0" algn="l">
              <a:spcBef>
                <a:spcPts val="800"/>
              </a:spcBef>
              <a:spcAft>
                <a:spcPts val="0"/>
              </a:spcAft>
              <a:buNone/>
            </a:pPr>
            <a:r>
              <a:rPr b="0" i="0" lang="en-US" sz="1500">
                <a:solidFill>
                  <a:srgbClr val="333333"/>
                </a:solidFill>
                <a:latin typeface="Calibri"/>
                <a:ea typeface="Calibri"/>
                <a:cs typeface="Calibri"/>
                <a:sym typeface="Calibri"/>
              </a:rPr>
              <a:t>–   Cada pantalla trae imágenes en tamaño original.</a:t>
            </a:r>
            <a:endParaRPr/>
          </a:p>
          <a:p>
            <a:pPr indent="0" lvl="0" marL="0" marR="0" rtl="0" algn="l">
              <a:spcBef>
                <a:spcPts val="800"/>
              </a:spcBef>
              <a:spcAft>
                <a:spcPts val="0"/>
              </a:spcAft>
              <a:buNone/>
            </a:pPr>
            <a:r>
              <a:rPr b="0" i="0" lang="en-US" sz="1500">
                <a:solidFill>
                  <a:srgbClr val="333333"/>
                </a:solidFill>
                <a:latin typeface="Calibri"/>
                <a:ea typeface="Calibri"/>
                <a:cs typeface="Calibri"/>
                <a:sym typeface="Calibri"/>
              </a:rPr>
              <a:t>–   El reporte se recalcula completo en cada consulta.</a:t>
            </a:r>
            <a:endParaRPr/>
          </a:p>
          <a:p>
            <a:pPr indent="0" lvl="0" marL="0" marR="0" rtl="0" algn="l">
              <a:spcBef>
                <a:spcPts val="800"/>
              </a:spcBef>
              <a:spcAft>
                <a:spcPts val="0"/>
              </a:spcAft>
              <a:buNone/>
            </a:pPr>
            <a:r>
              <a:rPr b="0" i="0" lang="en-US" sz="1500">
                <a:solidFill>
                  <a:srgbClr val="333333"/>
                </a:solidFill>
                <a:latin typeface="Calibri"/>
                <a:ea typeface="Calibri"/>
                <a:cs typeface="Calibri"/>
                <a:sym typeface="Calibri"/>
              </a:rPr>
              <a:t>–   La versión nueva solo corre en dispositivos de los últimos 3 años.</a:t>
            </a:r>
            <a:endParaRPr/>
          </a:p>
          <a:p>
            <a:pPr indent="0" lvl="0" marL="0" marR="0" rtl="0" algn="l">
              <a:spcBef>
                <a:spcPts val="800"/>
              </a:spcBef>
              <a:spcAft>
                <a:spcPts val="0"/>
              </a:spcAft>
              <a:buNone/>
            </a:pPr>
            <a:r>
              <a:rPr b="0" i="0" lang="en-US" sz="1500">
                <a:solidFill>
                  <a:srgbClr val="333333"/>
                </a:solidFill>
                <a:latin typeface="Calibri"/>
                <a:ea typeface="Calibri"/>
                <a:cs typeface="Calibri"/>
                <a:sym typeface="Calibri"/>
              </a:rPr>
              <a:t>–   «Le metemos IA» a una función que resolvía un «if».</a:t>
            </a:r>
            <a:endParaRPr/>
          </a:p>
        </p:txBody>
      </p:sp>
      <p:sp>
        <p:nvSpPr>
          <p:cNvPr id="235" name="Google Shape;235;p9"/>
          <p:cNvSpPr/>
          <p:nvPr/>
        </p:nvSpPr>
        <p:spPr>
          <a:xfrm>
            <a:off x="6255867" y="1472184"/>
            <a:ext cx="5478627" cy="4882896"/>
          </a:xfrm>
          <a:prstGeom prst="roundRect">
            <a:avLst>
              <a:gd fmla="val 12000" name="adj"/>
            </a:avLst>
          </a:prstGeom>
          <a:solidFill>
            <a:srgbClr val="E8F4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9"/>
          <p:cNvSpPr/>
          <p:nvPr/>
        </p:nvSpPr>
        <p:spPr>
          <a:xfrm>
            <a:off x="6255867" y="1472184"/>
            <a:ext cx="5478627" cy="50292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9"/>
          <p:cNvSpPr txBox="1"/>
          <p:nvPr/>
        </p:nvSpPr>
        <p:spPr>
          <a:xfrm>
            <a:off x="6393027" y="1563624"/>
            <a:ext cx="5204307"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Misma función, menos huella</a:t>
            </a:r>
            <a:endParaRPr/>
          </a:p>
        </p:txBody>
      </p:sp>
      <p:sp>
        <p:nvSpPr>
          <p:cNvPr id="238" name="Google Shape;238;p9"/>
          <p:cNvSpPr txBox="1"/>
          <p:nvPr/>
        </p:nvSpPr>
        <p:spPr>
          <a:xfrm>
            <a:off x="6420459" y="2112263"/>
            <a:ext cx="5158587" cy="42885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a:solidFill>
                  <a:srgbClr val="333333"/>
                </a:solidFill>
                <a:latin typeface="Calibri"/>
                <a:ea typeface="Calibri"/>
                <a:cs typeface="Calibri"/>
                <a:sym typeface="Calibri"/>
              </a:rPr>
              <a:t>–   Cada 5 minutos, o cuando el usuario se mueve. </a:t>
            </a:r>
            <a:r>
              <a:rPr b="1" i="0" lang="en-US" sz="1500">
                <a:solidFill>
                  <a:srgbClr val="333333"/>
                </a:solidFill>
                <a:latin typeface="Calibri"/>
                <a:ea typeface="Calibri"/>
                <a:cs typeface="Calibri"/>
                <a:sym typeface="Calibri"/>
              </a:rPr>
              <a:t>Batería y red.</a:t>
            </a:r>
            <a:endParaRPr/>
          </a:p>
          <a:p>
            <a:pPr indent="0" lvl="0" marL="0" marR="0" rtl="0" algn="l">
              <a:spcBef>
                <a:spcPts val="800"/>
              </a:spcBef>
              <a:spcAft>
                <a:spcPts val="0"/>
              </a:spcAft>
              <a:buNone/>
            </a:pPr>
            <a:r>
              <a:rPr b="0" i="0" lang="en-US" sz="1500">
                <a:solidFill>
                  <a:srgbClr val="333333"/>
                </a:solidFill>
                <a:latin typeface="Calibri"/>
                <a:ea typeface="Calibri"/>
                <a:cs typeface="Calibri"/>
                <a:sym typeface="Calibri"/>
              </a:rPr>
              <a:t>–   Imágenes ajustadas al tamaño real. </a:t>
            </a:r>
            <a:r>
              <a:rPr b="1" i="0" lang="en-US" sz="1500">
                <a:solidFill>
                  <a:srgbClr val="333333"/>
                </a:solidFill>
                <a:latin typeface="Calibri"/>
                <a:ea typeface="Calibri"/>
                <a:cs typeface="Calibri"/>
                <a:sym typeface="Calibri"/>
              </a:rPr>
              <a:t>Menos bytes por la red.</a:t>
            </a:r>
            <a:endParaRPr/>
          </a:p>
          <a:p>
            <a:pPr indent="0" lvl="0" marL="0" marR="0" rtl="0" algn="l">
              <a:spcBef>
                <a:spcPts val="800"/>
              </a:spcBef>
              <a:spcAft>
                <a:spcPts val="0"/>
              </a:spcAft>
              <a:buNone/>
            </a:pPr>
            <a:r>
              <a:rPr b="0" i="0" lang="en-US" sz="1500">
                <a:solidFill>
                  <a:srgbClr val="333333"/>
                </a:solidFill>
                <a:latin typeface="Calibri"/>
                <a:ea typeface="Calibri"/>
                <a:cs typeface="Calibri"/>
                <a:sym typeface="Calibri"/>
              </a:rPr>
              <a:t>–   Se guarda el resultado y se recalcula al cambiar. </a:t>
            </a:r>
            <a:r>
              <a:rPr b="1" i="0" lang="en-US" sz="1500">
                <a:solidFill>
                  <a:srgbClr val="333333"/>
                </a:solidFill>
                <a:latin typeface="Calibri"/>
                <a:ea typeface="Calibri"/>
                <a:cs typeface="Calibri"/>
                <a:sym typeface="Calibri"/>
              </a:rPr>
              <a:t>Menos trabajo para los servidores.</a:t>
            </a:r>
            <a:endParaRPr/>
          </a:p>
          <a:p>
            <a:pPr indent="0" lvl="0" marL="0" marR="0" rtl="0" algn="l">
              <a:spcBef>
                <a:spcPts val="800"/>
              </a:spcBef>
              <a:spcAft>
                <a:spcPts val="0"/>
              </a:spcAft>
              <a:buNone/>
            </a:pPr>
            <a:r>
              <a:rPr b="0" i="0" lang="en-US" sz="1500">
                <a:solidFill>
                  <a:srgbClr val="333333"/>
                </a:solidFill>
                <a:latin typeface="Calibri"/>
                <a:ea typeface="Calibri"/>
                <a:cs typeface="Calibri"/>
                <a:sym typeface="Calibri"/>
              </a:rPr>
              <a:t>–   Se sostiene el soporte para dispositivos viejos. </a:t>
            </a:r>
            <a:r>
              <a:rPr b="1" i="0" lang="en-US" sz="1500">
                <a:solidFill>
                  <a:srgbClr val="333333"/>
                </a:solidFill>
                <a:latin typeface="Calibri"/>
                <a:ea typeface="Calibri"/>
                <a:cs typeface="Calibri"/>
                <a:sym typeface="Calibri"/>
              </a:rPr>
              <a:t>Menos RAEE.</a:t>
            </a:r>
            <a:endParaRPr/>
          </a:p>
          <a:p>
            <a:pPr indent="0" lvl="0" marL="0" marR="0" rtl="0" algn="l">
              <a:spcBef>
                <a:spcPts val="800"/>
              </a:spcBef>
              <a:spcAft>
                <a:spcPts val="0"/>
              </a:spcAft>
              <a:buNone/>
            </a:pPr>
            <a:r>
              <a:rPr b="0" i="0" lang="en-US" sz="1500">
                <a:solidFill>
                  <a:srgbClr val="333333"/>
                </a:solidFill>
                <a:latin typeface="Calibri"/>
                <a:ea typeface="Calibri"/>
                <a:cs typeface="Calibri"/>
                <a:sym typeface="Calibri"/>
              </a:rPr>
              <a:t>–   Se usa el «if». </a:t>
            </a:r>
            <a:r>
              <a:rPr b="1" i="0" lang="en-US" sz="1500">
                <a:solidFill>
                  <a:srgbClr val="333333"/>
                </a:solidFill>
                <a:latin typeface="Calibri"/>
                <a:ea typeface="Calibri"/>
                <a:cs typeface="Calibri"/>
                <a:sym typeface="Calibri"/>
              </a:rPr>
              <a:t>La IA cuesta energía en cada llamada.</a:t>
            </a:r>
            <a:endParaRPr/>
          </a:p>
        </p:txBody>
      </p:sp>
      <p:pic>
        <p:nvPicPr>
          <p:cNvPr descr="sello_mal.png" id="239" name="Google Shape;239;p9"/>
          <p:cNvPicPr preferRelativeResize="0"/>
          <p:nvPr/>
        </p:nvPicPr>
        <p:blipFill rotWithShape="1">
          <a:blip r:embed="rId3">
            <a:alphaModFix/>
          </a:blip>
          <a:srcRect b="0" l="0" r="0" t="0"/>
          <a:stretch/>
        </p:blipFill>
        <p:spPr>
          <a:xfrm>
            <a:off x="566928" y="1527048"/>
            <a:ext cx="393192" cy="393192"/>
          </a:xfrm>
          <a:prstGeom prst="rect">
            <a:avLst/>
          </a:prstGeom>
          <a:noFill/>
          <a:ln>
            <a:noFill/>
          </a:ln>
        </p:spPr>
      </p:pic>
      <p:pic>
        <p:nvPicPr>
          <p:cNvPr descr="sello_bien.png" id="240" name="Google Shape;240;p9"/>
          <p:cNvPicPr preferRelativeResize="0"/>
          <p:nvPr/>
        </p:nvPicPr>
        <p:blipFill rotWithShape="1">
          <a:blip r:embed="rId4">
            <a:alphaModFix/>
          </a:blip>
          <a:srcRect b="0" l="0" r="0" t="0"/>
          <a:stretch/>
        </p:blipFill>
        <p:spPr>
          <a:xfrm>
            <a:off x="6365595" y="1527048"/>
            <a:ext cx="393192" cy="393192"/>
          </a:xfrm>
          <a:prstGeom prst="rect">
            <a:avLst/>
          </a:prstGeom>
          <a:noFill/>
          <a:ln>
            <a:noFill/>
          </a:ln>
        </p:spPr>
      </p:pic>
      <p:sp>
        <p:nvSpPr>
          <p:cNvPr id="241" name="Google Shape;241;p9"/>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10"/>
          <p:cNvSpPr/>
          <p:nvPr/>
        </p:nvSpPr>
        <p:spPr>
          <a:xfrm>
            <a:off x="0" y="0"/>
            <a:ext cx="12191695" cy="96012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10"/>
          <p:cNvSpPr/>
          <p:nvPr/>
        </p:nvSpPr>
        <p:spPr>
          <a:xfrm>
            <a:off x="0" y="960120"/>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0"/>
          <p:cNvSpPr txBox="1"/>
          <p:nvPr/>
        </p:nvSpPr>
        <p:spPr>
          <a:xfrm>
            <a:off x="457200" y="164592"/>
            <a:ext cx="11277295"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Ejemplo: cuánto ahorra una sola decisión</a:t>
            </a:r>
            <a:endParaRPr/>
          </a:p>
        </p:txBody>
      </p:sp>
      <p:graphicFrame>
        <p:nvGraphicFramePr>
          <p:cNvPr id="250" name="Google Shape;250;p10"/>
          <p:cNvGraphicFramePr/>
          <p:nvPr/>
        </p:nvGraphicFramePr>
        <p:xfrm>
          <a:off x="457200" y="1216152"/>
          <a:ext cx="3000000" cy="3000000"/>
        </p:xfrm>
        <a:graphic>
          <a:graphicData uri="http://schemas.openxmlformats.org/drawingml/2006/table">
            <a:tbl>
              <a:tblPr bandRow="1" firstRow="1">
                <a:noFill/>
                <a:tableStyleId>{C5E3E18D-4580-46C9-B396-E4D8A849E6FA}</a:tableStyleId>
              </a:tblPr>
              <a:tblGrid>
                <a:gridCol w="3759100"/>
                <a:gridCol w="3759100"/>
                <a:gridCol w="3759100"/>
              </a:tblGrid>
              <a:tr h="384050">
                <a:tc>
                  <a:txBody>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txBody>
                  <a:tcPr marT="45725" marB="45725" marR="91450" marL="91450">
                    <a:solidFill>
                      <a:srgbClr val="095292"/>
                    </a:solidFill>
                  </a:tcPr>
                </a:tc>
                <a:tc>
                  <a:txBody>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Cada 5 segundos</a:t>
                      </a:r>
                      <a:endParaRPr/>
                    </a:p>
                  </a:txBody>
                  <a:tcPr marT="45725" marB="45725" marR="91450" marL="91450">
                    <a:solidFill>
                      <a:srgbClr val="095292"/>
                    </a:solidFill>
                  </a:tcPr>
                </a:tc>
                <a:tc>
                  <a:txBody>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Cada 5 minutos</a:t>
                      </a:r>
                      <a:endParaRPr/>
                    </a:p>
                  </a:txBody>
                  <a:tcPr marT="45725" marB="45725" marR="91450" marL="91450">
                    <a:solidFill>
                      <a:srgbClr val="095292"/>
                    </a:solidFill>
                  </a:tcPr>
                </a:tc>
              </a:tr>
              <a:tr h="384050">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Pedidos de ubicación al día, por usuario</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17.280</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288</a:t>
                      </a:r>
                      <a:endParaRPr/>
                    </a:p>
                  </a:txBody>
                  <a:tcPr marT="45725" marB="45725" marR="91450" marL="91450">
                    <a:solidFill>
                      <a:srgbClr val="FFFFFF"/>
                    </a:solidFill>
                  </a:tcPr>
                </a:tc>
              </a:tr>
              <a:tr h="384050">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Con 1.000 usuarios</a:t>
                      </a:r>
                      <a:endParaRPr/>
                    </a:p>
                  </a:txBody>
                  <a:tcPr marT="45725" marB="45725" marR="91450" marL="91450">
                    <a:solidFill>
                      <a:srgbClr val="F2F2F2"/>
                    </a:solidFill>
                  </a:tcPr>
                </a:tc>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17.280.000</a:t>
                      </a:r>
                      <a:endParaRPr/>
                    </a:p>
                  </a:txBody>
                  <a:tcPr marT="45725" marB="45725" marR="91450" marL="91450">
                    <a:solidFill>
                      <a:srgbClr val="F2F2F2"/>
                    </a:solidFill>
                  </a:tcPr>
                </a:tc>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288.000</a:t>
                      </a:r>
                      <a:endParaRPr/>
                    </a:p>
                  </a:txBody>
                  <a:tcPr marT="45725" marB="45725" marR="91450" marL="91450">
                    <a:solidFill>
                      <a:srgbClr val="F2F2F2"/>
                    </a:solidFill>
                  </a:tcPr>
                </a:tc>
              </a:tr>
              <a:tr h="384050">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¿Cumple la función?</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Sí</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Sí</a:t>
                      </a:r>
                      <a:endParaRPr/>
                    </a:p>
                  </a:txBody>
                  <a:tcPr marT="45725" marB="45725" marR="91450" marL="91450">
                    <a:solidFill>
                      <a:srgbClr val="FFFFFF"/>
                    </a:solidFill>
                  </a:tcPr>
                </a:tc>
              </a:tr>
              <a:tr h="384050">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Batería y red</a:t>
                      </a:r>
                      <a:endParaRPr/>
                    </a:p>
                  </a:txBody>
                  <a:tcPr marT="45725" marB="45725" marR="91450" marL="91450">
                    <a:solidFill>
                      <a:srgbClr val="F2F2F2"/>
                    </a:solidFill>
                  </a:tcPr>
                </a:tc>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Mucho más gasto</a:t>
                      </a:r>
                      <a:endParaRPr/>
                    </a:p>
                  </a:txBody>
                  <a:tcPr marT="45725" marB="45725" marR="91450" marL="91450">
                    <a:solidFill>
                      <a:srgbClr val="F2F2F2"/>
                    </a:solidFill>
                  </a:tcPr>
                </a:tc>
                <a:tc>
                  <a:txBody>
                    <a:bodyPr/>
                    <a:lstStyle/>
                    <a:p>
                      <a:pPr indent="0" lvl="0" marL="0" marR="0" rtl="0" algn="l">
                        <a:spcBef>
                          <a:spcPts val="0"/>
                        </a:spcBef>
                        <a:spcAft>
                          <a:spcPts val="0"/>
                        </a:spcAft>
                        <a:buNone/>
                      </a:pPr>
                      <a:r>
                        <a:rPr b="0" i="0" lang="en-US" sz="1200">
                          <a:solidFill>
                            <a:srgbClr val="333333"/>
                          </a:solidFill>
                          <a:latin typeface="Calibri"/>
                          <a:ea typeface="Calibri"/>
                          <a:cs typeface="Calibri"/>
                          <a:sym typeface="Calibri"/>
                        </a:rPr>
                        <a:t>60 veces menos</a:t>
                      </a:r>
                      <a:endParaRPr/>
                    </a:p>
                  </a:txBody>
                  <a:tcPr marT="45725" marB="45725" marR="91450" marL="91450">
                    <a:solidFill>
                      <a:srgbClr val="F2F2F2"/>
                    </a:solidFill>
                  </a:tcPr>
                </a:tc>
              </a:tr>
            </a:tbl>
          </a:graphicData>
        </a:graphic>
      </p:graphicFrame>
      <p:sp>
        <p:nvSpPr>
          <p:cNvPr id="251" name="Google Shape;251;p10"/>
          <p:cNvSpPr txBox="1"/>
          <p:nvPr/>
        </p:nvSpPr>
        <p:spPr>
          <a:xfrm>
            <a:off x="457200" y="3794760"/>
            <a:ext cx="1127729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100">
                <a:solidFill>
                  <a:srgbClr val="666666"/>
                </a:solidFill>
                <a:latin typeface="Calibri"/>
                <a:ea typeface="Calibri"/>
                <a:cs typeface="Calibri"/>
                <a:sym typeface="Calibri"/>
              </a:rPr>
              <a:t>Un día tiene 86.400 segundos. 86.400 ÷ 5 = 17.280. 86.400 ÷ 300 = 288. La misma app, la misma función, 60 veces menos pedidos.</a:t>
            </a:r>
            <a:endParaRPr/>
          </a:p>
        </p:txBody>
      </p:sp>
      <p:sp>
        <p:nvSpPr>
          <p:cNvPr id="252" name="Google Shape;252;p10"/>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1"/>
          <p:cNvSpPr/>
          <p:nvPr/>
        </p:nvSpPr>
        <p:spPr>
          <a:xfrm>
            <a:off x="0" y="0"/>
            <a:ext cx="12191695" cy="96012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1"/>
          <p:cNvSpPr/>
          <p:nvPr/>
        </p:nvSpPr>
        <p:spPr>
          <a:xfrm>
            <a:off x="0" y="960120"/>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1"/>
          <p:cNvSpPr txBox="1"/>
          <p:nvPr/>
        </p:nvSpPr>
        <p:spPr>
          <a:xfrm>
            <a:off x="457200" y="164592"/>
            <a:ext cx="11277295"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Colombia: dos datos locales que cambian el análisis</a:t>
            </a:r>
            <a:endParaRPr/>
          </a:p>
        </p:txBody>
      </p:sp>
      <p:sp>
        <p:nvSpPr>
          <p:cNvPr id="261" name="Google Shape;261;p11"/>
          <p:cNvSpPr/>
          <p:nvPr/>
        </p:nvSpPr>
        <p:spPr>
          <a:xfrm>
            <a:off x="5797149" y="1343926"/>
            <a:ext cx="6010497" cy="4837658"/>
          </a:xfrm>
          <a:prstGeom prst="roundRect">
            <a:avLst>
              <a:gd fmla="val 4000" name="adj"/>
            </a:avLst>
          </a:prstGeom>
          <a:solidFill>
            <a:srgbClr val="E8EE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lus-colombia-paso1.png" id="262" name="Google Shape;262;p11"/>
          <p:cNvPicPr preferRelativeResize="0"/>
          <p:nvPr/>
        </p:nvPicPr>
        <p:blipFill rotWithShape="1">
          <a:blip r:embed="rId3">
            <a:alphaModFix/>
          </a:blip>
          <a:srcRect b="0" l="0" r="0" t="0"/>
          <a:stretch/>
        </p:blipFill>
        <p:spPr>
          <a:xfrm>
            <a:off x="5870301" y="1417078"/>
            <a:ext cx="5864193" cy="4691354"/>
          </a:xfrm>
          <a:prstGeom prst="rect">
            <a:avLst/>
          </a:prstGeom>
          <a:noFill/>
          <a:ln>
            <a:noFill/>
          </a:ln>
        </p:spPr>
      </p:pic>
      <p:sp>
        <p:nvSpPr>
          <p:cNvPr id="263" name="Google Shape;263;p11"/>
          <p:cNvSpPr txBox="1"/>
          <p:nvPr/>
        </p:nvSpPr>
        <p:spPr>
          <a:xfrm>
            <a:off x="457200" y="1353312"/>
            <a:ext cx="5093061" cy="5047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La matriz eléctrica.</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Y su otra cara.</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Residuos electrónicos.</a:t>
            </a:r>
            <a:r>
              <a:rPr b="0" i="0" lang="en-US" sz="2000">
                <a:solidFill>
                  <a:srgbClr val="333333"/>
                </a:solidFill>
                <a:latin typeface="Calibri"/>
                <a:ea typeface="Calibri"/>
                <a:cs typeface="Calibri"/>
                <a:sym typeface="Calibri"/>
              </a:rPr>
              <a:t> La </a:t>
            </a:r>
            <a:r>
              <a:rPr b="1" i="0" lang="en-US" sz="2000">
                <a:solidFill>
                  <a:srgbClr val="333333"/>
                </a:solidFill>
                <a:latin typeface="Calibri"/>
                <a:ea typeface="Calibri"/>
                <a:cs typeface="Calibri"/>
                <a:sym typeface="Calibri"/>
              </a:rPr>
              <a:t>Ley 1672 de 2013</a:t>
            </a:r>
            <a:r>
              <a:rPr b="0" i="0" lang="en-US" sz="2000">
                <a:solidFill>
                  <a:srgbClr val="333333"/>
                </a:solidFill>
                <a:latin typeface="Calibri"/>
                <a:ea typeface="Calibri"/>
                <a:cs typeface="Calibri"/>
                <a:sym typeface="Calibri"/>
              </a:rPr>
              <a:t> fija los lineamientos de los RAEE en Colombia:</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Consecuencia práctica para su proyecto:</a:t>
            </a:r>
            <a:r>
              <a:rPr b="0" i="0" lang="en-US" sz="2000">
                <a:solidFill>
                  <a:srgbClr val="333333"/>
                </a:solidFill>
                <a:latin typeface="Calibri"/>
                <a:ea typeface="Calibri"/>
                <a:cs typeface="Calibri"/>
                <a:sym typeface="Calibri"/>
              </a:rPr>
              <a:t> la decisión ambiental más fuerte que puede tomar un equipo de este curso casi nunca es…</a:t>
            </a:r>
            <a:endParaRPr/>
          </a:p>
        </p:txBody>
      </p:sp>
      <p:sp>
        <p:nvSpPr>
          <p:cNvPr id="264" name="Google Shape;264;p11"/>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12"/>
          <p:cNvSpPr/>
          <p:nvPr/>
        </p:nvSpPr>
        <p:spPr>
          <a:xfrm>
            <a:off x="0" y="0"/>
            <a:ext cx="12191695" cy="1170432"/>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2"/>
          <p:cNvSpPr/>
          <p:nvPr/>
        </p:nvSpPr>
        <p:spPr>
          <a:xfrm>
            <a:off x="0" y="1170432"/>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12"/>
          <p:cNvSpPr txBox="1"/>
          <p:nvPr/>
        </p:nvSpPr>
        <p:spPr>
          <a:xfrm>
            <a:off x="457200" y="164592"/>
            <a:ext cx="11277295"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Cómo se estima una huella sin ser experto</a:t>
            </a:r>
            <a:endParaRPr/>
          </a:p>
        </p:txBody>
      </p:sp>
      <p:sp>
        <p:nvSpPr>
          <p:cNvPr id="273" name="Google Shape;273;p12"/>
          <p:cNvSpPr txBox="1"/>
          <p:nvPr/>
        </p:nvSpPr>
        <p:spPr>
          <a:xfrm>
            <a:off x="457200" y="566928"/>
            <a:ext cx="11277295"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a:solidFill>
                  <a:srgbClr val="B8D8EE"/>
                </a:solidFill>
                <a:latin typeface="Calibri"/>
                <a:ea typeface="Calibri"/>
                <a:cs typeface="Calibri"/>
                <a:sym typeface="Calibri"/>
              </a:rPr>
              <a:t>El paso 5 es el que distingue una intención ambiental de una decisión de ingeniería</a:t>
            </a:r>
            <a:endParaRPr/>
          </a:p>
        </p:txBody>
      </p:sp>
      <p:sp>
        <p:nvSpPr>
          <p:cNvPr id="274" name="Google Shape;274;p12"/>
          <p:cNvSpPr/>
          <p:nvPr/>
        </p:nvSpPr>
        <p:spPr>
          <a:xfrm>
            <a:off x="457200" y="1444752"/>
            <a:ext cx="11277295" cy="908913"/>
          </a:xfrm>
          <a:prstGeom prst="roundRect">
            <a:avLst>
              <a:gd fmla="val 12000" name="adj"/>
            </a:avLst>
          </a:prstGeom>
          <a:solidFill>
            <a:srgbClr val="F2F2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2"/>
          <p:cNvSpPr/>
          <p:nvPr/>
        </p:nvSpPr>
        <p:spPr>
          <a:xfrm>
            <a:off x="594360" y="1679752"/>
            <a:ext cx="438912" cy="438912"/>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12"/>
          <p:cNvSpPr txBox="1"/>
          <p:nvPr/>
        </p:nvSpPr>
        <p:spPr>
          <a:xfrm>
            <a:off x="594360" y="1679752"/>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1</a:t>
            </a:r>
            <a:endParaRPr/>
          </a:p>
        </p:txBody>
      </p:sp>
      <p:sp>
        <p:nvSpPr>
          <p:cNvPr id="277" name="Google Shape;277;p12"/>
          <p:cNvSpPr txBox="1"/>
          <p:nvPr/>
        </p:nvSpPr>
        <p:spPr>
          <a:xfrm>
            <a:off x="1188720" y="1536192"/>
            <a:ext cx="10271455" cy="74432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1 · Dibuje el recorrido</a:t>
            </a:r>
            <a:endParaRPr/>
          </a:p>
          <a:p>
            <a:pPr indent="0" lvl="0" marL="0" marR="0" rtl="0" algn="l">
              <a:spcBef>
                <a:spcPts val="200"/>
              </a:spcBef>
              <a:spcAft>
                <a:spcPts val="0"/>
              </a:spcAft>
              <a:buNone/>
            </a:pPr>
            <a:r>
              <a:rPr b="0" i="0" lang="en-US" sz="1300">
                <a:solidFill>
                  <a:srgbClr val="333333"/>
                </a:solidFill>
                <a:latin typeface="Calibri"/>
                <a:ea typeface="Calibri"/>
                <a:cs typeface="Calibri"/>
                <a:sym typeface="Calibri"/>
              </a:rPr>
              <a:t>Dispositivo → red → servidor → almacenamiento. Todo lo que se prende para que el sistema funcione.</a:t>
            </a:r>
            <a:endParaRPr/>
          </a:p>
        </p:txBody>
      </p:sp>
      <p:sp>
        <p:nvSpPr>
          <p:cNvPr id="278" name="Google Shape;278;p12"/>
          <p:cNvSpPr/>
          <p:nvPr/>
        </p:nvSpPr>
        <p:spPr>
          <a:xfrm>
            <a:off x="457200" y="2445105"/>
            <a:ext cx="11277295" cy="908913"/>
          </a:xfrm>
          <a:prstGeom prst="roundRect">
            <a:avLst>
              <a:gd fmla="val 12000" name="adj"/>
            </a:avLst>
          </a:prstGeom>
          <a:solidFill>
            <a:srgbClr val="E8F4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2"/>
          <p:cNvSpPr/>
          <p:nvPr/>
        </p:nvSpPr>
        <p:spPr>
          <a:xfrm>
            <a:off x="594360" y="2680106"/>
            <a:ext cx="438912" cy="438912"/>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2"/>
          <p:cNvSpPr txBox="1"/>
          <p:nvPr/>
        </p:nvSpPr>
        <p:spPr>
          <a:xfrm>
            <a:off x="594360" y="2680106"/>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2</a:t>
            </a:r>
            <a:endParaRPr/>
          </a:p>
        </p:txBody>
      </p:sp>
      <p:sp>
        <p:nvSpPr>
          <p:cNvPr id="281" name="Google Shape;281;p12"/>
          <p:cNvSpPr txBox="1"/>
          <p:nvPr/>
        </p:nvSpPr>
        <p:spPr>
          <a:xfrm>
            <a:off x="1188720" y="2536545"/>
            <a:ext cx="10271455" cy="74432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2 · Cuente lo que se repite</a:t>
            </a:r>
            <a:endParaRPr/>
          </a:p>
          <a:p>
            <a:pPr indent="0" lvl="0" marL="0" marR="0" rtl="0" algn="l">
              <a:spcBef>
                <a:spcPts val="200"/>
              </a:spcBef>
              <a:spcAft>
                <a:spcPts val="0"/>
              </a:spcAft>
              <a:buNone/>
            </a:pPr>
            <a:r>
              <a:rPr b="0" i="0" lang="en-US" sz="1300">
                <a:solidFill>
                  <a:srgbClr val="333333"/>
                </a:solidFill>
                <a:latin typeface="Calibri"/>
                <a:ea typeface="Calibri"/>
                <a:cs typeface="Calibri"/>
                <a:sym typeface="Calibri"/>
              </a:rPr>
              <a:t>Lo que pasa una vez no importa; lo que pasa mil veces al día sí. Busque el bucle.</a:t>
            </a:r>
            <a:endParaRPr/>
          </a:p>
        </p:txBody>
      </p:sp>
      <p:sp>
        <p:nvSpPr>
          <p:cNvPr id="282" name="Google Shape;282;p12"/>
          <p:cNvSpPr/>
          <p:nvPr/>
        </p:nvSpPr>
        <p:spPr>
          <a:xfrm>
            <a:off x="457200" y="3445459"/>
            <a:ext cx="11277295" cy="908913"/>
          </a:xfrm>
          <a:prstGeom prst="roundRect">
            <a:avLst>
              <a:gd fmla="val 12000" name="adj"/>
            </a:avLst>
          </a:prstGeom>
          <a:solidFill>
            <a:srgbClr val="F2F2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2"/>
          <p:cNvSpPr/>
          <p:nvPr/>
        </p:nvSpPr>
        <p:spPr>
          <a:xfrm>
            <a:off x="594360" y="3680460"/>
            <a:ext cx="438912" cy="438912"/>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2"/>
          <p:cNvSpPr txBox="1"/>
          <p:nvPr/>
        </p:nvSpPr>
        <p:spPr>
          <a:xfrm>
            <a:off x="594360" y="3680460"/>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3</a:t>
            </a:r>
            <a:endParaRPr/>
          </a:p>
        </p:txBody>
      </p:sp>
      <p:sp>
        <p:nvSpPr>
          <p:cNvPr id="285" name="Google Shape;285;p12"/>
          <p:cNvSpPr txBox="1"/>
          <p:nvPr/>
        </p:nvSpPr>
        <p:spPr>
          <a:xfrm>
            <a:off x="1188720" y="3536899"/>
            <a:ext cx="10271455" cy="74432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3 · Marque la etapa más pesada</a:t>
            </a:r>
            <a:endParaRPr/>
          </a:p>
          <a:p>
            <a:pPr indent="0" lvl="0" marL="0" marR="0" rtl="0" algn="l">
              <a:spcBef>
                <a:spcPts val="200"/>
              </a:spcBef>
              <a:spcAft>
                <a:spcPts val="0"/>
              </a:spcAft>
              <a:buNone/>
            </a:pPr>
            <a:r>
              <a:rPr b="0" i="0" lang="en-US" sz="1300">
                <a:solidFill>
                  <a:srgbClr val="333333"/>
                </a:solidFill>
                <a:latin typeface="Calibri"/>
                <a:ea typeface="Calibri"/>
                <a:cs typeface="Calibri"/>
                <a:sym typeface="Calibri"/>
              </a:rPr>
              <a:t>Con una sola. No hace falta un número exacto: hace falta saber dónde apretar.</a:t>
            </a:r>
            <a:endParaRPr/>
          </a:p>
        </p:txBody>
      </p:sp>
      <p:sp>
        <p:nvSpPr>
          <p:cNvPr id="286" name="Google Shape;286;p12"/>
          <p:cNvSpPr/>
          <p:nvPr/>
        </p:nvSpPr>
        <p:spPr>
          <a:xfrm>
            <a:off x="457200" y="4445812"/>
            <a:ext cx="11277295" cy="908913"/>
          </a:xfrm>
          <a:prstGeom prst="roundRect">
            <a:avLst>
              <a:gd fmla="val 12000" name="adj"/>
            </a:avLst>
          </a:prstGeom>
          <a:solidFill>
            <a:srgbClr val="E8F4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2"/>
          <p:cNvSpPr/>
          <p:nvPr/>
        </p:nvSpPr>
        <p:spPr>
          <a:xfrm>
            <a:off x="594360" y="4680813"/>
            <a:ext cx="438912" cy="438912"/>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2"/>
          <p:cNvSpPr txBox="1"/>
          <p:nvPr/>
        </p:nvSpPr>
        <p:spPr>
          <a:xfrm>
            <a:off x="594360" y="4680813"/>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4</a:t>
            </a:r>
            <a:endParaRPr/>
          </a:p>
        </p:txBody>
      </p:sp>
      <p:sp>
        <p:nvSpPr>
          <p:cNvPr id="289" name="Google Shape;289;p12"/>
          <p:cNvSpPr txBox="1"/>
          <p:nvPr/>
        </p:nvSpPr>
        <p:spPr>
          <a:xfrm>
            <a:off x="1188720" y="4537252"/>
            <a:ext cx="10271455" cy="74432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4 · Proponga dos decisiones</a:t>
            </a:r>
            <a:endParaRPr/>
          </a:p>
          <a:p>
            <a:pPr indent="0" lvl="0" marL="0" marR="0" rtl="0" algn="l">
              <a:spcBef>
                <a:spcPts val="200"/>
              </a:spcBef>
              <a:spcAft>
                <a:spcPts val="0"/>
              </a:spcAft>
              <a:buNone/>
            </a:pPr>
            <a:r>
              <a:rPr b="0" i="0" lang="en-US" sz="1300">
                <a:solidFill>
                  <a:srgbClr val="333333"/>
                </a:solidFill>
                <a:latin typeface="Calibri"/>
                <a:ea typeface="Calibri"/>
                <a:cs typeface="Calibri"/>
                <a:sym typeface="Calibri"/>
              </a:rPr>
              <a:t>Concretas y de diseño, no de comportamiento del usuario.</a:t>
            </a:r>
            <a:endParaRPr/>
          </a:p>
        </p:txBody>
      </p:sp>
      <p:sp>
        <p:nvSpPr>
          <p:cNvPr id="290" name="Google Shape;290;p12"/>
          <p:cNvSpPr/>
          <p:nvPr/>
        </p:nvSpPr>
        <p:spPr>
          <a:xfrm>
            <a:off x="457200" y="5446166"/>
            <a:ext cx="11277295" cy="908913"/>
          </a:xfrm>
          <a:prstGeom prst="roundRect">
            <a:avLst>
              <a:gd fmla="val 12000" name="adj"/>
            </a:avLst>
          </a:prstGeom>
          <a:solidFill>
            <a:srgbClr val="F2F2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2"/>
          <p:cNvSpPr/>
          <p:nvPr/>
        </p:nvSpPr>
        <p:spPr>
          <a:xfrm>
            <a:off x="594360" y="5681167"/>
            <a:ext cx="438912" cy="438912"/>
          </a:xfrm>
          <a:prstGeom prst="roundRect">
            <a:avLst>
              <a:gd fmla="val 12000" name="adj"/>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2"/>
          <p:cNvSpPr txBox="1"/>
          <p:nvPr/>
        </p:nvSpPr>
        <p:spPr>
          <a:xfrm>
            <a:off x="594360" y="5681167"/>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a:solidFill>
                  <a:srgbClr val="FFFFFF"/>
                </a:solidFill>
                <a:latin typeface="Calibri"/>
                <a:ea typeface="Calibri"/>
                <a:cs typeface="Calibri"/>
                <a:sym typeface="Calibri"/>
              </a:rPr>
              <a:t>5</a:t>
            </a:r>
            <a:endParaRPr/>
          </a:p>
        </p:txBody>
      </p:sp>
      <p:sp>
        <p:nvSpPr>
          <p:cNvPr id="293" name="Google Shape;293;p12"/>
          <p:cNvSpPr txBox="1"/>
          <p:nvPr/>
        </p:nvSpPr>
        <p:spPr>
          <a:xfrm>
            <a:off x="1188720" y="5537606"/>
            <a:ext cx="10271455" cy="74432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500">
                <a:solidFill>
                  <a:srgbClr val="095292"/>
                </a:solidFill>
                <a:latin typeface="Calibri"/>
                <a:ea typeface="Calibri"/>
                <a:cs typeface="Calibri"/>
                <a:sym typeface="Calibri"/>
              </a:rPr>
              <a:t>5 · Defina un indicador</a:t>
            </a:r>
            <a:endParaRPr/>
          </a:p>
          <a:p>
            <a:pPr indent="0" lvl="0" marL="0" marR="0" rtl="0" algn="l">
              <a:spcBef>
                <a:spcPts val="200"/>
              </a:spcBef>
              <a:spcAft>
                <a:spcPts val="0"/>
              </a:spcAft>
              <a:buNone/>
            </a:pPr>
            <a:r>
              <a:rPr b="0" i="0" lang="en-US" sz="1300">
                <a:solidFill>
                  <a:srgbClr val="333333"/>
                </a:solidFill>
                <a:latin typeface="Calibri"/>
                <a:ea typeface="Calibri"/>
                <a:cs typeface="Calibri"/>
                <a:sym typeface="Calibri"/>
              </a:rPr>
              <a:t>Algo que se pueda medir al final: bytes por consulta, consultas por día, años de vida útil soportados.</a:t>
            </a:r>
            <a:endParaRPr/>
          </a:p>
        </p:txBody>
      </p:sp>
      <p:sp>
        <p:nvSpPr>
          <p:cNvPr id="294" name="Google Shape;294;p12"/>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13"/>
          <p:cNvSpPr/>
          <p:nvPr/>
        </p:nvSpPr>
        <p:spPr>
          <a:xfrm>
            <a:off x="0" y="0"/>
            <a:ext cx="12191695" cy="1170432"/>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3"/>
          <p:cNvSpPr/>
          <p:nvPr/>
        </p:nvSpPr>
        <p:spPr>
          <a:xfrm>
            <a:off x="0" y="1170432"/>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3"/>
          <p:cNvSpPr txBox="1"/>
          <p:nvPr/>
        </p:nvSpPr>
        <p:spPr>
          <a:xfrm>
            <a:off x="457200" y="164592"/>
            <a:ext cx="11277295"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Ejemplo resuelto: el reporte diario de una tienda</a:t>
            </a:r>
            <a:endParaRPr/>
          </a:p>
        </p:txBody>
      </p:sp>
      <p:sp>
        <p:nvSpPr>
          <p:cNvPr id="303" name="Google Shape;303;p13"/>
          <p:cNvSpPr txBox="1"/>
          <p:nvPr/>
        </p:nvSpPr>
        <p:spPr>
          <a:xfrm>
            <a:off x="457200" y="566928"/>
            <a:ext cx="11277295"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a:solidFill>
                  <a:srgbClr val="B8D8EE"/>
                </a:solidFill>
                <a:latin typeface="Calibri"/>
                <a:ea typeface="Calibri"/>
                <a:cs typeface="Calibri"/>
                <a:sym typeface="Calibri"/>
              </a:rPr>
              <a:t>Los cinco pasos sobre un caso pequeño, sin un solo cálculo difícil.</a:t>
            </a:r>
            <a:endParaRPr/>
          </a:p>
        </p:txBody>
      </p:sp>
      <p:sp>
        <p:nvSpPr>
          <p:cNvPr id="304" name="Google Shape;304;p13"/>
          <p:cNvSpPr/>
          <p:nvPr/>
        </p:nvSpPr>
        <p:spPr>
          <a:xfrm>
            <a:off x="5934611" y="1399031"/>
            <a:ext cx="5735574" cy="4617720"/>
          </a:xfrm>
          <a:prstGeom prst="roundRect">
            <a:avLst>
              <a:gd fmla="val 4000" name="adj"/>
            </a:avLst>
          </a:prstGeom>
          <a:solidFill>
            <a:srgbClr val="E8EE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reporte-tienda-paso1.png" id="305" name="Google Shape;305;p13"/>
          <p:cNvPicPr preferRelativeResize="0"/>
          <p:nvPr/>
        </p:nvPicPr>
        <p:blipFill rotWithShape="1">
          <a:blip r:embed="rId3">
            <a:alphaModFix/>
          </a:blip>
          <a:srcRect b="0" l="0" r="0" t="0"/>
          <a:stretch/>
        </p:blipFill>
        <p:spPr>
          <a:xfrm>
            <a:off x="6007763" y="1472184"/>
            <a:ext cx="5589270" cy="4471416"/>
          </a:xfrm>
          <a:prstGeom prst="rect">
            <a:avLst/>
          </a:prstGeom>
          <a:noFill/>
          <a:ln>
            <a:noFill/>
          </a:ln>
        </p:spPr>
      </p:pic>
      <p:pic>
        <p:nvPicPr>
          <p:cNvPr descr="reporte-tienda-paso2.png" id="306" name="Google Shape;306;p13"/>
          <p:cNvPicPr preferRelativeResize="0"/>
          <p:nvPr/>
        </p:nvPicPr>
        <p:blipFill rotWithShape="1">
          <a:blip r:embed="rId4">
            <a:alphaModFix/>
          </a:blip>
          <a:srcRect b="0" l="0" r="0" t="0"/>
          <a:stretch/>
        </p:blipFill>
        <p:spPr>
          <a:xfrm>
            <a:off x="6007763" y="1472184"/>
            <a:ext cx="5589270" cy="4471416"/>
          </a:xfrm>
          <a:prstGeom prst="rect">
            <a:avLst/>
          </a:prstGeom>
          <a:noFill/>
          <a:ln>
            <a:noFill/>
          </a:ln>
        </p:spPr>
      </p:pic>
      <p:pic>
        <p:nvPicPr>
          <p:cNvPr descr="reporte-tienda-paso3.png" id="307" name="Google Shape;307;p13"/>
          <p:cNvPicPr preferRelativeResize="0"/>
          <p:nvPr/>
        </p:nvPicPr>
        <p:blipFill rotWithShape="1">
          <a:blip r:embed="rId5">
            <a:alphaModFix/>
          </a:blip>
          <a:srcRect b="0" l="0" r="0" t="0"/>
          <a:stretch/>
        </p:blipFill>
        <p:spPr>
          <a:xfrm>
            <a:off x="6007763" y="1472184"/>
            <a:ext cx="5589270" cy="4471416"/>
          </a:xfrm>
          <a:prstGeom prst="rect">
            <a:avLst/>
          </a:prstGeom>
          <a:noFill/>
          <a:ln>
            <a:noFill/>
          </a:ln>
        </p:spPr>
      </p:pic>
      <p:pic>
        <p:nvPicPr>
          <p:cNvPr descr="reporte-tienda-paso4.png" id="308" name="Google Shape;308;p13"/>
          <p:cNvPicPr preferRelativeResize="0"/>
          <p:nvPr/>
        </p:nvPicPr>
        <p:blipFill rotWithShape="1">
          <a:blip r:embed="rId6">
            <a:alphaModFix/>
          </a:blip>
          <a:srcRect b="0" l="0" r="0" t="0"/>
          <a:stretch/>
        </p:blipFill>
        <p:spPr>
          <a:xfrm>
            <a:off x="6007763" y="1472184"/>
            <a:ext cx="5589270" cy="4471416"/>
          </a:xfrm>
          <a:prstGeom prst="rect">
            <a:avLst/>
          </a:prstGeom>
          <a:noFill/>
          <a:ln>
            <a:noFill/>
          </a:ln>
        </p:spPr>
      </p:pic>
      <p:pic>
        <p:nvPicPr>
          <p:cNvPr descr="reporte-tienda-paso5.png" id="309" name="Google Shape;309;p13"/>
          <p:cNvPicPr preferRelativeResize="0"/>
          <p:nvPr/>
        </p:nvPicPr>
        <p:blipFill rotWithShape="1">
          <a:blip r:embed="rId7">
            <a:alphaModFix/>
          </a:blip>
          <a:srcRect b="0" l="0" r="0" t="0"/>
          <a:stretch/>
        </p:blipFill>
        <p:spPr>
          <a:xfrm>
            <a:off x="6007763" y="1472184"/>
            <a:ext cx="5589270" cy="4471416"/>
          </a:xfrm>
          <a:prstGeom prst="rect">
            <a:avLst/>
          </a:prstGeom>
          <a:noFill/>
          <a:ln>
            <a:noFill/>
          </a:ln>
        </p:spPr>
      </p:pic>
      <p:sp>
        <p:nvSpPr>
          <p:cNvPr id="310" name="Google Shape;310;p13"/>
          <p:cNvSpPr txBox="1"/>
          <p:nvPr/>
        </p:nvSpPr>
        <p:spPr>
          <a:xfrm>
            <a:off x="5870301" y="5961888"/>
            <a:ext cx="5864193"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100">
                <a:solidFill>
                  <a:srgbClr val="666666"/>
                </a:solidFill>
                <a:latin typeface="Calibri"/>
                <a:ea typeface="Calibri"/>
                <a:cs typeface="Calibri"/>
                <a:sym typeface="Calibri"/>
              </a:rPr>
              <a:t>Clic para avanzar la animación</a:t>
            </a:r>
            <a:endParaRPr/>
          </a:p>
        </p:txBody>
      </p:sp>
      <p:sp>
        <p:nvSpPr>
          <p:cNvPr id="311" name="Google Shape;311;p13"/>
          <p:cNvSpPr txBox="1"/>
          <p:nvPr/>
        </p:nvSpPr>
        <p:spPr>
          <a:xfrm>
            <a:off x="457200" y="1563624"/>
            <a:ext cx="5093061" cy="483717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1 · El recorrido:</a:t>
            </a:r>
            <a:r>
              <a:rPr b="0" i="0" lang="en-US" sz="2000">
                <a:solidFill>
                  <a:srgbClr val="333333"/>
                </a:solidFill>
                <a:latin typeface="Calibri"/>
                <a:ea typeface="Calibri"/>
                <a:cs typeface="Calibri"/>
                <a:sym typeface="Calibri"/>
              </a:rPr>
              <a:t> Computador de la tienda → internet → servidor → base de datos.</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2 · Lo que se repite:</a:t>
            </a:r>
            <a:r>
              <a:rPr b="0" i="0" lang="en-US" sz="2000">
                <a:solidFill>
                  <a:srgbClr val="333333"/>
                </a:solidFill>
                <a:latin typeface="Calibri"/>
                <a:ea typeface="Calibri"/>
                <a:cs typeface="Calibri"/>
                <a:sym typeface="Calibri"/>
              </a:rPr>
              <a:t> El reporte se genera completo cada vez que alguien lo abre: 40 veces al día.</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3 · La etapa más pesada:</a:t>
            </a:r>
            <a:r>
              <a:rPr b="0" i="0" lang="en-US" sz="2000">
                <a:solidFill>
                  <a:srgbClr val="333333"/>
                </a:solidFill>
                <a:latin typeface="Calibri"/>
                <a:ea typeface="Calibri"/>
                <a:cs typeface="Calibri"/>
                <a:sym typeface="Calibri"/>
              </a:rPr>
              <a:t> El servidor: recalcula todo el mes, 40 veces, aunque nada cambió.</a:t>
            </a:r>
            <a:endParaRPr/>
          </a:p>
          <a:p>
            <a:pPr indent="0" lvl="0" marL="0" marR="0" rtl="0" algn="l">
              <a:spcBef>
                <a:spcPts val="800"/>
              </a:spcBef>
              <a:spcAft>
                <a:spcPts val="0"/>
              </a:spcAft>
              <a:buNone/>
            </a:pPr>
            <a:r>
              <a:rPr b="0" i="0" lang="en-US" sz="2000">
                <a:solidFill>
                  <a:srgbClr val="333333"/>
                </a:solidFill>
                <a:latin typeface="Calibri"/>
                <a:ea typeface="Calibri"/>
                <a:cs typeface="Calibri"/>
                <a:sym typeface="Calibri"/>
              </a:rPr>
              <a:t>–   </a:t>
            </a:r>
            <a:r>
              <a:rPr b="1" i="0" lang="en-US" sz="2000">
                <a:solidFill>
                  <a:srgbClr val="333333"/>
                </a:solidFill>
                <a:latin typeface="Calibri"/>
                <a:ea typeface="Calibri"/>
                <a:cs typeface="Calibri"/>
                <a:sym typeface="Calibri"/>
              </a:rPr>
              <a:t>4 · Dos decisiones:</a:t>
            </a:r>
            <a:r>
              <a:rPr b="0" i="0" lang="en-US" sz="2000">
                <a:solidFill>
                  <a:srgbClr val="333333"/>
                </a:solidFill>
                <a:latin typeface="Calibri"/>
                <a:ea typeface="Calibri"/>
                <a:cs typeface="Calibri"/>
                <a:sym typeface="Calibri"/>
              </a:rPr>
              <a:t> Guardar el resultado y recalcular solo si hay ventas nuevas. Abrir solo el día, no el mes.</a:t>
            </a:r>
            <a:endParaRPr/>
          </a:p>
        </p:txBody>
      </p:sp>
      <p:sp>
        <p:nvSpPr>
          <p:cNvPr id="312" name="Google Shape;312;p13"/>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13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450"/>
                                        <p:tgtEl>
                                          <p:spTgt spid="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45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450"/>
                                        <p:tgtEl>
                                          <p:spTgt spid="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45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14"/>
          <p:cNvSpPr/>
          <p:nvPr/>
        </p:nvSpPr>
        <p:spPr>
          <a:xfrm>
            <a:off x="0" y="0"/>
            <a:ext cx="12191695" cy="960120"/>
          </a:xfrm>
          <a:prstGeom prst="rect">
            <a:avLst/>
          </a:prstGeom>
          <a:solidFill>
            <a:srgbClr val="0952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4"/>
          <p:cNvSpPr/>
          <p:nvPr/>
        </p:nvSpPr>
        <p:spPr>
          <a:xfrm>
            <a:off x="0" y="960120"/>
            <a:ext cx="12191695" cy="41148"/>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4"/>
          <p:cNvSpPr txBox="1"/>
          <p:nvPr/>
        </p:nvSpPr>
        <p:spPr>
          <a:xfrm>
            <a:off x="457200" y="164592"/>
            <a:ext cx="11277295"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Dos trampas de esta clase</a:t>
            </a:r>
            <a:endParaRPr/>
          </a:p>
        </p:txBody>
      </p:sp>
      <p:sp>
        <p:nvSpPr>
          <p:cNvPr id="321" name="Google Shape;321;p14"/>
          <p:cNvSpPr/>
          <p:nvPr/>
        </p:nvSpPr>
        <p:spPr>
          <a:xfrm>
            <a:off x="457200" y="1261872"/>
            <a:ext cx="11277295" cy="1051560"/>
          </a:xfrm>
          <a:prstGeom prst="roundRect">
            <a:avLst>
              <a:gd fmla="val 12000" name="adj"/>
            </a:avLst>
          </a:prstGeom>
          <a:solidFill>
            <a:srgbClr val="FBE4E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4"/>
          <p:cNvSpPr/>
          <p:nvPr/>
        </p:nvSpPr>
        <p:spPr>
          <a:xfrm>
            <a:off x="457200" y="1261872"/>
            <a:ext cx="128016" cy="1051560"/>
          </a:xfrm>
          <a:prstGeom prst="rect">
            <a:avLst/>
          </a:prstGeom>
          <a:solidFill>
            <a:srgbClr val="A0203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4"/>
          <p:cNvSpPr txBox="1"/>
          <p:nvPr/>
        </p:nvSpPr>
        <p:spPr>
          <a:xfrm>
            <a:off x="777240" y="1399031"/>
            <a:ext cx="10774375" cy="8229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A02030"/>
                </a:solidFill>
                <a:latin typeface="Calibri"/>
                <a:ea typeface="Calibri"/>
                <a:cs typeface="Calibri"/>
                <a:sym typeface="Calibri"/>
              </a:rPr>
              <a:t>Atención</a:t>
            </a:r>
            <a:endParaRPr/>
          </a:p>
          <a:p>
            <a:pPr indent="0" lvl="0" marL="0" marR="0" rtl="0" algn="l">
              <a:spcBef>
                <a:spcPts val="400"/>
              </a:spcBef>
              <a:spcAft>
                <a:spcPts val="0"/>
              </a:spcAft>
              <a:buNone/>
            </a:pPr>
            <a:r>
              <a:rPr b="1" i="0" lang="en-US" sz="1400">
                <a:solidFill>
                  <a:srgbClr val="333333"/>
                </a:solidFill>
                <a:latin typeface="Calibri"/>
                <a:ea typeface="Calibri"/>
                <a:cs typeface="Calibri"/>
                <a:sym typeface="Calibri"/>
              </a:rPr>
              <a:t>Las cifras ambientales son el terreno favorito de la invención.</a:t>
            </a:r>
            <a:r>
              <a:rPr b="0" i="0" lang="en-US" sz="1400">
                <a:solidFill>
                  <a:srgbClr val="333333"/>
                </a:solidFill>
                <a:latin typeface="Calibri"/>
                <a:ea typeface="Calibri"/>
                <a:cs typeface="Calibri"/>
                <a:sym typeface="Calibri"/>
              </a:rPr>
              <a:t> Circulan números de litros de agua por consulta y de gramos de CO₂ por búsqueda que cambian por órdenes de magnitud entre fuentes, y muchos se citan sin decir de qué sistema ni de qué año son. Hoy </a:t>
            </a:r>
            <a:r>
              <a:rPr b="1" i="0" lang="en-US" sz="1400">
                <a:solidFill>
                  <a:srgbClr val="333333"/>
                </a:solidFill>
                <a:latin typeface="Calibri"/>
                <a:ea typeface="Calibri"/>
                <a:cs typeface="Calibri"/>
                <a:sym typeface="Calibri"/>
              </a:rPr>
              <a:t>toda cifra va con fuente, año y alcance</a:t>
            </a:r>
            <a:r>
              <a:rPr b="0" i="0" lang="en-US" sz="1400">
                <a:solidFill>
                  <a:srgbClr val="333333"/>
                </a:solidFill>
                <a:latin typeface="Calibri"/>
                <a:ea typeface="Calibri"/>
                <a:cs typeface="Calibri"/>
                <a:sym typeface="Calibri"/>
              </a:rPr>
              <a:t> — o no va.</a:t>
            </a:r>
            <a:endParaRPr/>
          </a:p>
        </p:txBody>
      </p:sp>
      <p:sp>
        <p:nvSpPr>
          <p:cNvPr id="324" name="Google Shape;324;p14"/>
          <p:cNvSpPr/>
          <p:nvPr/>
        </p:nvSpPr>
        <p:spPr>
          <a:xfrm>
            <a:off x="457200" y="2478024"/>
            <a:ext cx="11277295" cy="1051560"/>
          </a:xfrm>
          <a:prstGeom prst="roundRect">
            <a:avLst>
              <a:gd fmla="val 12000" name="adj"/>
            </a:avLst>
          </a:prstGeom>
          <a:solidFill>
            <a:srgbClr val="FFF8E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4"/>
          <p:cNvSpPr/>
          <p:nvPr/>
        </p:nvSpPr>
        <p:spPr>
          <a:xfrm>
            <a:off x="457200" y="2478024"/>
            <a:ext cx="128016" cy="1051560"/>
          </a:xfrm>
          <a:prstGeom prst="rect">
            <a:avLst/>
          </a:prstGeom>
          <a:solidFill>
            <a:srgbClr val="FFD0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4"/>
          <p:cNvSpPr txBox="1"/>
          <p:nvPr/>
        </p:nvSpPr>
        <p:spPr>
          <a:xfrm>
            <a:off x="777240" y="2615184"/>
            <a:ext cx="10774375" cy="8229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D000"/>
                </a:solidFill>
                <a:latin typeface="Calibri"/>
                <a:ea typeface="Calibri"/>
                <a:cs typeface="Calibri"/>
                <a:sym typeface="Calibri"/>
              </a:rPr>
              <a:t>Aclaración</a:t>
            </a:r>
            <a:endParaRPr/>
          </a:p>
          <a:p>
            <a:pPr indent="0" lvl="0" marL="0" marR="0" rtl="0" algn="l">
              <a:spcBef>
                <a:spcPts val="400"/>
              </a:spcBef>
              <a:spcAft>
                <a:spcPts val="0"/>
              </a:spcAft>
              <a:buNone/>
            </a:pPr>
            <a:r>
              <a:rPr b="1" i="0" lang="en-US" sz="1400">
                <a:solidFill>
                  <a:srgbClr val="333333"/>
                </a:solidFill>
                <a:latin typeface="Calibri"/>
                <a:ea typeface="Calibri"/>
                <a:cs typeface="Calibri"/>
                <a:sym typeface="Calibri"/>
              </a:rPr>
              <a:t>«Lo digital contamina menos que el papel» no es una respuesta.</a:t>
            </a:r>
            <a:r>
              <a:rPr b="0" i="0" lang="en-US" sz="1400">
                <a:solidFill>
                  <a:srgbClr val="333333"/>
                </a:solidFill>
                <a:latin typeface="Calibri"/>
                <a:ea typeface="Calibri"/>
                <a:cs typeface="Calibri"/>
                <a:sym typeface="Calibri"/>
              </a:rPr>
              <a:t> A veces sí y a veces no: depende del número de usos, del dispositivo y de si obliga a comprar aparatos nuevos. Comparar sirve solo si se dice qué se comparó.</a:t>
            </a:r>
            <a:endParaRPr/>
          </a:p>
        </p:txBody>
      </p:sp>
      <p:sp>
        <p:nvSpPr>
          <p:cNvPr id="327" name="Google Shape;327;p14"/>
          <p:cNvSpPr/>
          <p:nvPr/>
        </p:nvSpPr>
        <p:spPr>
          <a:xfrm>
            <a:off x="457200" y="3694176"/>
            <a:ext cx="11277295" cy="1051560"/>
          </a:xfrm>
          <a:prstGeom prst="roundRect">
            <a:avLst>
              <a:gd fmla="val 12000" name="adj"/>
            </a:avLst>
          </a:prstGeom>
          <a:solidFill>
            <a:srgbClr val="E8F4F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14"/>
          <p:cNvSpPr/>
          <p:nvPr/>
        </p:nvSpPr>
        <p:spPr>
          <a:xfrm>
            <a:off x="457200" y="3694176"/>
            <a:ext cx="128016" cy="1051560"/>
          </a:xfrm>
          <a:prstGeom prst="rect">
            <a:avLst/>
          </a:prstGeom>
          <a:solidFill>
            <a:srgbClr val="269CC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14"/>
          <p:cNvSpPr txBox="1"/>
          <p:nvPr/>
        </p:nvSpPr>
        <p:spPr>
          <a:xfrm>
            <a:off x="777240" y="3831336"/>
            <a:ext cx="10774375" cy="8229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269CCB"/>
                </a:solidFill>
                <a:latin typeface="Calibri"/>
                <a:ea typeface="Calibri"/>
                <a:cs typeface="Calibri"/>
                <a:sym typeface="Calibri"/>
              </a:rPr>
              <a:t>Info</a:t>
            </a:r>
            <a:endParaRPr/>
          </a:p>
          <a:p>
            <a:pPr indent="0" lvl="0" marL="0" marR="0" rtl="0" algn="l">
              <a:spcBef>
                <a:spcPts val="400"/>
              </a:spcBef>
              <a:spcAft>
                <a:spcPts val="0"/>
              </a:spcAft>
              <a:buNone/>
            </a:pPr>
            <a:r>
              <a:rPr b="1" i="0" lang="en-US" sz="1400">
                <a:solidFill>
                  <a:srgbClr val="333333"/>
                </a:solidFill>
                <a:latin typeface="Calibri"/>
                <a:ea typeface="Calibri"/>
                <a:cs typeface="Calibri"/>
                <a:sym typeface="Calibri"/>
              </a:rPr>
              <a:t>Lo que sí se puede afirmar sin exagerar:</a:t>
            </a:r>
            <a:r>
              <a:rPr b="0" i="0" lang="en-US" sz="1400">
                <a:solidFill>
                  <a:srgbClr val="333333"/>
                </a:solidFill>
                <a:latin typeface="Calibri"/>
                <a:ea typeface="Calibri"/>
                <a:cs typeface="Calibri"/>
                <a:sym typeface="Calibri"/>
              </a:rPr>
              <a:t> que la huella existe, que tiene cuatro etapas, que se puede reducir con decisiones de diseño y que casi nadie la mide. Eso alcanza para trabajar con rigor en primer semestre.</a:t>
            </a:r>
            <a:endParaRPr/>
          </a:p>
        </p:txBody>
      </p:sp>
      <p:sp>
        <p:nvSpPr>
          <p:cNvPr id="330" name="Google Shape;330;p14"/>
          <p:cNvSpPr txBox="1"/>
          <p:nvPr/>
        </p:nvSpPr>
        <p:spPr>
          <a:xfrm>
            <a:off x="11185855" y="6473952"/>
            <a:ext cx="64008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100">
                <a:solidFill>
                  <a:srgbClr val="666666"/>
                </a:solidFill>
                <a:latin typeface="Calibri"/>
                <a:ea typeface="Calibri"/>
                <a:cs typeface="Calibri"/>
                <a:sym typeface="Calibri"/>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15"/>
          <p:cNvSpPr/>
          <p:nvPr/>
        </p:nvSpPr>
        <p:spPr>
          <a:xfrm>
            <a:off x="0" y="0"/>
            <a:ext cx="12191695" cy="164592"/>
          </a:xfrm>
          <a:prstGeom prst="rect">
            <a:avLst/>
          </a:prstGeom>
          <a:solidFill>
            <a:srgbClr val="269CC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_uniajc_color.png" id="336" name="Google Shape;336;p15"/>
          <p:cNvPicPr preferRelativeResize="0"/>
          <p:nvPr/>
        </p:nvPicPr>
        <p:blipFill rotWithShape="1">
          <a:blip r:embed="rId3">
            <a:alphaModFix/>
          </a:blip>
          <a:srcRect b="0" l="0" r="0" t="0"/>
          <a:stretch/>
        </p:blipFill>
        <p:spPr>
          <a:xfrm>
            <a:off x="10271455" y="5998464"/>
            <a:ext cx="1463040" cy="643233"/>
          </a:xfrm>
          <a:prstGeom prst="rect">
            <a:avLst/>
          </a:prstGeom>
          <a:noFill/>
          <a:ln>
            <a:noFill/>
          </a:ln>
        </p:spPr>
      </p:pic>
      <p:sp>
        <p:nvSpPr>
          <p:cNvPr id="337" name="Google Shape;337;p15"/>
          <p:cNvSpPr txBox="1"/>
          <p:nvPr/>
        </p:nvSpPr>
        <p:spPr>
          <a:xfrm>
            <a:off x="457200" y="1737360"/>
            <a:ext cx="11277295"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400">
                <a:solidFill>
                  <a:srgbClr val="095292"/>
                </a:solidFill>
                <a:latin typeface="Calibri"/>
                <a:ea typeface="Calibri"/>
                <a:cs typeface="Calibri"/>
                <a:sym typeface="Calibri"/>
              </a:rPr>
              <a:t>Nos vemos en la sesión 6 — cierra el corte 1</a:t>
            </a:r>
            <a:endParaRPr/>
          </a:p>
        </p:txBody>
      </p:sp>
      <p:sp>
        <p:nvSpPr>
          <p:cNvPr id="338" name="Google Shape;338;p15"/>
          <p:cNvSpPr txBox="1"/>
          <p:nvPr/>
        </p:nvSpPr>
        <p:spPr>
          <a:xfrm>
            <a:off x="457200" y="3017520"/>
            <a:ext cx="11277295" cy="1645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a:solidFill>
                  <a:srgbClr val="333333"/>
                </a:solidFill>
                <a:latin typeface="Calibri"/>
                <a:ea typeface="Calibri"/>
                <a:cs typeface="Calibri"/>
                <a:sym typeface="Calibri"/>
              </a:rPr>
              <a:t>El rol del ingeniero en el contexto ambiental · Clase 5</a:t>
            </a:r>
            <a:endParaRPr/>
          </a:p>
          <a:p>
            <a:pPr indent="0" lvl="0" marL="0" marR="0" rtl="0" algn="ctr">
              <a:spcBef>
                <a:spcPts val="600"/>
              </a:spcBef>
              <a:spcAft>
                <a:spcPts val="0"/>
              </a:spcAft>
              <a:buNone/>
            </a:pPr>
            <a:r>
              <a:rPr b="0" i="0" lang="en-US" sz="1600">
                <a:solidFill>
                  <a:srgbClr val="333333"/>
                </a:solidFill>
                <a:latin typeface="Calibri"/>
                <a:ea typeface="Calibri"/>
                <a:cs typeface="Calibri"/>
                <a:sym typeface="Calibri"/>
              </a:rPr>
              <a:t>FI300101 · UNIAJC · Ingeniería de Sistemas</a:t>
            </a:r>
            <a:endParaRPr/>
          </a:p>
        </p:txBody>
      </p:sp>
      <p:sp>
        <p:nvSpPr>
          <p:cNvPr id="339" name="Google Shape;339;p15"/>
          <p:cNvSpPr txBox="1"/>
          <p:nvPr/>
        </p:nvSpPr>
        <p:spPr>
          <a:xfrm>
            <a:off x="457200" y="4754880"/>
            <a:ext cx="11277295"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rgbClr val="269CCB"/>
                </a:solidFill>
                <a:latin typeface="Calibri"/>
                <a:ea typeface="Calibri"/>
                <a:cs typeface="Calibri"/>
                <a:sym typeface="Calibri"/>
              </a:rPr>
              <a:t>El software no es inmaterial: pesa, consume y termina en basura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