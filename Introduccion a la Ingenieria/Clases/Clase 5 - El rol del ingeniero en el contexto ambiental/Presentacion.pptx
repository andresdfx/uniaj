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que memoricen el número. Lo que tiene que quedar es que una parte grande de la energía de un centro de datos no computa,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computar.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es contraintuitiva: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se usa en computar. Un PUE de 1.6 significa que por cada vatio de cómputo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computa nada,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contracara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Minería, ensamblaje y transporte de dispositivos y servidores. </a:t>
            </a:r>
            <a:r>
              <a:rPr sz="1300" b="1" i="0">
                <a:solidFill>
                  <a:srgbClr val="333333"/>
                </a:solidFill>
                <a:latin typeface="Calibri"/>
              </a:rPr>
              <a:t>En un celular, la mayor parte de la huella ya está gastada antes de encenderlo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Electricidad del dispositivo, del servidor y del enfriamiento del centro de datos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byte viaja por antenas, cables y equipos que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Residuo electrónico (RAEE): metales, plásticos y sustancias peligrosas</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va a computar. Un valor de 1.6 significa que por cada vatio de cómputo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computan—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computan nada.</a:t>
            </a:r>
          </a:p>
          <a:p>
            <a:pPr>
              <a:spcAft>
                <a:spcPts val="800"/>
              </a:spcAft>
            </a:pPr>
            <a:r>
              <a:rPr sz="2000" b="0" i="0">
                <a:solidFill>
                  <a:srgbClr val="333333"/>
                </a:solidFill>
                <a:latin typeface="Calibri"/>
              </a:rPr>
              <a:t>–   Un PUE de </a:t>
            </a:r>
            <a:r>
              <a:rPr sz="2000" b="1" i="0">
                <a:solidFill>
                  <a:srgbClr val="333333"/>
                </a:solidFill>
                <a:latin typeface="Calibri"/>
              </a:rPr>
              <a:t>1,0</a:t>
            </a:r>
            <a:r>
              <a:rPr sz="2000" b="0" i="0">
                <a:solidFill>
                  <a:srgbClr val="333333"/>
                </a:solidFill>
                <a:latin typeface="Calibri"/>
              </a:rPr>
              <a:t> sería perfecto. Uno de </a:t>
            </a:r>
            <a:r>
              <a:rPr sz="2000" b="1" i="0">
                <a:solidFill>
                  <a:srgbClr val="333333"/>
                </a:solidFill>
                <a:latin typeface="Calibri"/>
              </a:rPr>
              <a:t>2,0</a:t>
            </a:r>
            <a:r>
              <a:rPr sz="2000" b="0" i="0">
                <a:solidFill>
                  <a:srgbClr val="333333"/>
                </a:solidFill>
                <a:latin typeface="Calibri"/>
              </a:rPr>
              <a:t> gasta la mitad de la energía en no computar.</a:t>
            </a:r>
          </a:p>
          <a:p>
            <a:pPr>
              <a:spcAft>
                <a:spcPts val="800"/>
              </a:spcAft>
            </a:pPr>
            <a:r>
              <a:rPr sz="2000" b="0" i="0">
                <a:solidFill>
                  <a:srgbClr val="333333"/>
                </a:solidFill>
                <a:latin typeface="Calibri"/>
              </a:rPr>
              <a:t>–   Sirve para comparar: entre dos proveedores, el de PUE más bajo desperdicia menos.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cómputo.</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r>
              <a:rPr sz="2000" b="0" i="0">
                <a:solidFill>
                  <a:srgbClr val="333333"/>
                </a:solidFill>
                <a:latin typeface="Calibri"/>
              </a:rPr>
              <a:t> Buena parte de la generación del país es </a:t>
            </a:r>
            <a:r>
              <a:rPr sz="2000" b="1" i="0">
                <a:solidFill>
                  <a:srgbClr val="333333"/>
                </a:solidFill>
                <a:latin typeface="Calibri"/>
              </a:rPr>
              <a:t>hidráulica</a:t>
            </a:r>
            <a:r>
              <a:rPr sz="2000" b="0" i="0">
                <a:solidFill>
                  <a:srgbClr val="333333"/>
                </a:solidFill>
                <a:latin typeface="Calibri"/>
              </a:rPr>
              <a:t>, así que un kilovatio-hora consumido en Colombia tiene menos emisiones asociadas que el mismo kilovatio en un país que quema carbón. Un análisis serio no copia cifras de emisiones de otro país: </a:t>
            </a:r>
            <a:r>
              <a:rPr sz="2000" b="1" i="0">
                <a:solidFill>
                  <a:srgbClr val="333333"/>
                </a:solidFill>
                <a:latin typeface="Calibri"/>
              </a:rPr>
              <a:t>usa el factor local</a:t>
            </a:r>
            <a:r>
              <a:rPr sz="2000" b="0" i="0">
                <a:solidFill>
                  <a:srgbClr val="333333"/>
                </a:solidFill>
                <a:latin typeface="Calibri"/>
              </a:rPr>
              <a:t>, que publica el operador del sistema (XM).</a:t>
            </a:r>
          </a:p>
          <a:p>
            <a:pPr>
              <a:spcAft>
                <a:spcPts val="800"/>
              </a:spcAft>
            </a:pPr>
            <a:r>
              <a:rPr sz="2000" b="0" i="0">
                <a:solidFill>
                  <a:srgbClr val="333333"/>
                </a:solidFill>
                <a:latin typeface="Calibri"/>
              </a:rPr>
              <a:t>–   </a:t>
            </a:r>
            <a:r>
              <a:rPr sz="2000" b="1" i="0">
                <a:solidFill>
                  <a:srgbClr val="333333"/>
                </a:solidFill>
                <a:latin typeface="Calibri"/>
              </a:rPr>
              <a:t>Y su contracara.</a:t>
            </a:r>
            <a:r>
              <a:rPr sz="2000" b="0" i="0">
                <a:solidFill>
                  <a:srgbClr val="333333"/>
                </a:solidFill>
                <a:latin typeface="Calibri"/>
              </a:rPr>
              <a:t> Cuando llega el fenómeno de El Niño y baja el nivel de los embalses, entran las plantas térmicas y </a:t>
            </a:r>
            <a:r>
              <a:rPr sz="2000" b="1" i="0">
                <a:solidFill>
                  <a:srgbClr val="333333"/>
                </a:solidFill>
                <a:latin typeface="Calibri"/>
              </a:rPr>
              <a:t>la misma aplicación pasa a emitir más sin cambiar una línea de código</a:t>
            </a:r>
            <a:r>
              <a:rPr sz="2000" b="0" i="0">
                <a:solidFill>
                  <a:srgbClr val="333333"/>
                </a:solidFill>
                <a:latin typeface="Calibri"/>
              </a:rPr>
              <a:t>. La huella de un sistema no es un número fijo: depende de cuándo y dónde corre.</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 el productor tiene que ofrecer puntos de recolección y el usuario tiene el deber de usarlos. Los informes internacionales (Global E-waste Monitor) muestran que </a:t>
            </a:r>
            <a:r>
              <a:rPr sz="2000" b="1" i="0">
                <a:solidFill>
                  <a:srgbClr val="333333"/>
                </a:solidFill>
                <a:latin typeface="Calibri"/>
              </a:rPr>
              <a:t>la mayor parte del residuo electrónico del mundo no se recoge formalmente</a:t>
            </a:r>
            <a:r>
              <a:rPr sz="2000" b="0" i="0">
                <a:solidFill>
                  <a:srgbClr val="333333"/>
                </a:solidFill>
                <a:latin typeface="Calibri"/>
              </a:rPr>
              <a:t>, y lo que no se recoge se desarma a mano, sin protección.</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r>
              <a:rPr sz="2000" b="0" i="0">
                <a:solidFill>
                  <a:srgbClr val="333333"/>
                </a:solidFill>
                <a:latin typeface="Calibri"/>
              </a:rPr>
              <a:t> la decisión ambiental más fuerte que puede tomar un equipo de este curso casi nunca es «consumir menos batería». Es </a:t>
            </a:r>
            <a:r>
              <a:rPr sz="2000" b="1" i="0">
                <a:solidFill>
                  <a:srgbClr val="333333"/>
                </a:solidFill>
                <a:latin typeface="Calibri"/>
              </a:rPr>
              <a:t>no obligar a cambiar de aparato</a:t>
            </a:r>
            <a:r>
              <a:rPr sz="2000" b="0" i="0">
                <a:solidFill>
                  <a:srgbClr val="333333"/>
                </a:solidFill>
                <a:latin typeface="Calibri"/>
              </a:rPr>
              <a:t> y </a:t>
            </a:r>
            <a:r>
              <a:rPr sz="2000" b="1" i="0">
                <a:solidFill>
                  <a:srgbClr val="333333"/>
                </a:solidFill>
                <a:latin typeface="Calibri"/>
              </a:rPr>
              <a:t>no mover datos que no hacen falta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El recorrido</a:t>
            </a:r>
          </a:p>
          <a:p>
            <a:pPr>
              <a:spcBef>
                <a:spcPts val="200"/>
              </a:spcBef>
            </a:pPr>
            <a:r>
              <a:rPr sz="1300" b="0" i="0">
                <a:solidFill>
                  <a:srgbClr val="333333"/>
                </a:solidFill>
                <a:latin typeface="Calibri"/>
              </a:rPr>
              <a:t>Computador de la tienda → internet → servidor → base de datos.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que se repite</a:t>
            </a:r>
          </a:p>
          <a:p>
            <a:pPr>
              <a:spcBef>
                <a:spcPts val="200"/>
              </a:spcBef>
            </a:pPr>
            <a:r>
              <a:rPr sz="1300" b="0" i="0">
                <a:solidFill>
                  <a:srgbClr val="333333"/>
                </a:solidFill>
                <a:latin typeface="Calibri"/>
              </a:rPr>
              <a:t>El reporte se genera completo cada vez que alguien lo abre: 40 veces al día.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La etapa más pesada</a:t>
            </a:r>
          </a:p>
          <a:p>
            <a:pPr>
              <a:spcBef>
                <a:spcPts val="200"/>
              </a:spcBef>
            </a:pPr>
            <a:r>
              <a:rPr sz="1300" b="0" i="0">
                <a:solidFill>
                  <a:srgbClr val="333333"/>
                </a:solidFill>
                <a:latin typeface="Calibri"/>
              </a:rPr>
              <a:t>El servidor: recalcula todo el mes, 40 veces, aunque nada cambió.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Dos decisiones</a:t>
            </a:r>
          </a:p>
          <a:p>
            <a:pPr>
              <a:spcBef>
                <a:spcPts val="200"/>
              </a:spcBef>
            </a:pPr>
            <a:r>
              <a:rPr sz="1300" b="0" i="0">
                <a:solidFill>
                  <a:srgbClr val="333333"/>
                </a:solidFill>
                <a:latin typeface="Calibri"/>
              </a:rPr>
              <a:t>Guardar el resultado y recalcular solo si hay ventas nuevas. Abrir solo el día, no el mes.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Un indicador</a:t>
            </a:r>
          </a:p>
          <a:p>
            <a:pPr>
              <a:spcBef>
                <a:spcPts val="200"/>
              </a:spcBef>
            </a:pPr>
            <a:r>
              <a:rPr sz="1300" b="0" i="0">
                <a:solidFill>
                  <a:srgbClr val="333333"/>
                </a:solidFill>
                <a:latin typeface="Calibri"/>
              </a:rPr>
              <a:t>Veces que se recalcula el reporte al día: de 40 a 1.</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