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sorpresa es la fabricación: la mayor parte de la huella de un celular está gastada el día que se compra. Por eso la decisión ambiental más fuerte de software es que el celular dure más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hace falta que memoricen el número. Lo que tiene que quedar es que una parte grande de la energía de un centro de datos no computa, y que hay una métrica con nombre para medirlo.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con ellos: un día tiene 86.400 segundos. Es la forma más rápida de que entiendan que una decisión de diseño pequeña se multiplica por todos los usuarios y todos los días.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que convierte la conciencia en ingeniería: un indicador que se puede medir al final del semestre. Sin indicador, la mejora es una opinión.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DARLE MATERIA A ALGO QUE PARECE NO TENERLA</a:t>
            </a:r>
          </a:p>
          <a:p/>
          <a:p>
            <a:r>
              <a:t>«¿Dónde está la nube?» funciona porque casi nadie ha visto un centro de datos y porque la metáfora está diseñada para que no se piense en el edificio. La segunda parte —cuánta agua se bebió una consulta a un asistente de IA— incomoda a propósito y hay que manejarla con cuidado: la respuesta honesta es que depende del centro de datos, del modelo, del clima y del año, y que las cifras que circulan varían por órdenes de magnitud. Eso no debilita la clase: es la clase. El objetivo no es que se lleven un número, es que entiendan que hay agua y electricidad detrás de algo que se siente inmaterial, y que quien afirme un número tiene que decir de dónde salió.</a:t>
            </a:r>
          </a:p>
          <a:p/>
          <a:p>
            <a:r>
              <a:t>Recoja las respuestas en el muro y no las corrija. En el minuto 20, al llegar al PUE y al enfriamiento, vuelva al muro: alguien va a haber escrito «en internet» o «en un servidor», y ahí se muestra que el servidor está en un edificio que consume tanto en enfriarse como en computar.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ETAPAS Y POR QUÉ LA FABRICACIÓN CAMBIA LA RECOMENDACIÓN</a:t>
            </a:r>
          </a:p>
          <a:p/>
          <a:p>
            <a:r>
              <a:t>La huella material de un sistema de software se reparte en cuatro etapas y conviene recorrerlas con un ejemplo único: una aplicación de citas médicas usada desde el celular.</a:t>
            </a:r>
          </a:p>
          <a:p/>
          <a:p>
            <a:r>
              <a:t>Fabricación. El celular del paciente, el computador de la secretaria y los servidores donde corre el sistema tuvieron que ser fabricados: minería de metales —incluidos varios escasos y con extracción problemática—, ensamblaje y transporte. Este es el punto que más sorprende y el más importante para las decisiones: en muchos dispositivos personales la mayor parte de la huella de toda su vida ya está gastada cuando se enciende por primera vez. La consecuencia es contraintuitiva: optimizar el consumo de batería es útil, pero alargar la vida útil del aparato pesa mucho más, y eso depende de decisiones de software.</a:t>
            </a:r>
          </a:p>
          <a:p/>
          <a:p>
            <a:r>
              <a:t>Uso. Electricidad del dispositivo, del servidor y —esto es lo que se olvida— del enfriamiento del centro de datos. Aquí entra el PUE.</a:t>
            </a:r>
          </a:p>
          <a:p/>
          <a:p>
            <a:r>
              <a:t>Red. Cada byte que viaja pasa por antenas, cables, enrutadores y equipos que consumen. No es gratis y crece con el volumen: una pantalla que carga imágenes en tamaño original mil veces al día mueve un múltiplo de lo necesario.</a:t>
            </a:r>
          </a:p>
          <a:p/>
          <a:p>
            <a:r>
              <a:t>Fin de vida. El aparato se vuelve residuo electrónico. Tiene metales recuperables y sustancias peligrosas, y cuando no se recoge formalmente se desarma a mano, quemando plásticos, con daño directo a las personas que lo hacen.</a:t>
            </a:r>
          </a:p>
          <a:p/>
          <a:p>
            <a:r>
              <a:t>El punto pedagógico de la diapositiva es que las palabras «software» y «nube» están construidas para que uno no piense en nada de esto. Nombrar las cuatro etapas es lo que permite discutir el tema con seriedad.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PUE, AGUA, RAEE Y OBSOLESCENCIA: LOS CUATRO CONCEPTOS QUE HAY QUE DEJAR</a:t>
            </a:r>
          </a:p>
          <a:p/>
          <a:p>
            <a:r>
              <a:t>PUE (Power Usage Effectiveness). Es la energía total que entra al centro de datos dividida por la energía que efectivamente llega a los servidores. Si fuera 1.0, todo lo que entra se usa en computar. Un PUE de 1.6 significa que por cada vatio de cómputo se gastan 0,6 en enfriar, iluminar y en pérdidas. Los centros de datos grandes y modernos operan bastante mejor que el promedio de las salas de servidores de empresa, que suelen estar en el rango de 1.5 a 1.6 según las encuestas del sector. La idea que hay que dejar no es el número exacto: es que una parte grande de la energía de un centro de datos no computa nada, y que existe una métrica con nombre para medirlo. Un ingeniero que sabe que el PUE existe puede preguntar por él.</a:t>
            </a:r>
          </a:p>
          <a:p/>
          <a:p>
            <a:r>
              <a:t>El agua. Enfriar con evaporación de agua es más barato en electricidad que enfriar con máquinas, así que muchos centros de datos usan agua. Eso traslada el costo: baja la factura de luz y sube el consumo de una cuenca que normalmente abastece a población. Es un buen ejemplo de algo que el curso repite: optimizar una variable suele mover el problema a otra, y el ingeniero tiene que saber a cuál. Hay métricas para esto (WUE, litros por kilovatio-hora), y aquí también vale la advertencia de las cifras.</a:t>
            </a:r>
          </a:p>
          <a:p/>
          <a:p>
            <a:r>
              <a:t>RAEE y la Ley 1672 de 2013. Es la norma colombiana que fija los lineamientos para la gestión de residuos de aparatos eléctricos y electrónicos. Lo que hay que poder decir: obliga a los productores a establecer sistemas de recolección y gestión, y establece el deber del usuario de entregar el aparato en esos puntos en vez de tirarlo a la basura común. Los informes globales de residuos electrónicos (Global E-waste Monitor, de UNITAR e ITU) reportan decenas de millones de toneladas al año y una tasa de recolección formal baja: el orden de magnitud es que la mayor parte no se recoge. Si un equipo cita una cifra exacta, exija la edición del informe y el año, porque cambia entre ediciones.</a:t>
            </a:r>
          </a:p>
          <a:p/>
          <a:p>
            <a:r>
              <a:t>Obsolescencia inducida por software. Es el concepto que más les sirve porque está bajo su control profesional. Cuando una nueva versión de una aplicación —o de un sistema operativo— deja de funcionar en dispositivos que servían, el software convierte en basura un aparato que estaba bien. No hace falta discutir si hay intención: el efecto es material y medible. Y la contracara es una decisión concreta que un equipo de este curso puede tomar: sostener el soporte para dispositivos viejos, que además es lo correcto para el contexto de la universidad, donde muchos estudiantes trabajan con equipos de varios años.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5</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El rol del ingeniero en el contexto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software no es inmaterial: pesa, consume agua y termina en basura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huella material, centros de datos, RAEE y matriz eléctrica colombiana</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Nombrar las </a:t>
            </a:r>
            <a:r>
              <a:rPr sz="2000" b="1" i="0">
                <a:solidFill>
                  <a:srgbClr val="333333"/>
                </a:solidFill>
                <a:latin typeface="Calibri"/>
              </a:rPr>
              <a:t>cuatro etapas</a:t>
            </a:r>
            <a:r>
              <a:rPr sz="2000" b="0" i="0">
                <a:solidFill>
                  <a:srgbClr val="333333"/>
                </a:solidFill>
                <a:latin typeface="Calibri"/>
              </a:rPr>
              <a:t> de la huella material de un sistema de software: fabricación, uso, red y fin de vida.</a:t>
            </a:r>
          </a:p>
          <a:p>
            <a:pPr>
              <a:spcAft>
                <a:spcPts val="800"/>
              </a:spcAft>
            </a:pPr>
            <a:r>
              <a:rPr sz="2000" b="0" i="0">
                <a:solidFill>
                  <a:srgbClr val="333333"/>
                </a:solidFill>
                <a:latin typeface="Calibri"/>
              </a:rPr>
              <a:t>–   Explicar qué mide el </a:t>
            </a:r>
            <a:r>
              <a:rPr sz="2000" b="1" i="0">
                <a:solidFill>
                  <a:srgbClr val="333333"/>
                </a:solidFill>
                <a:latin typeface="Calibri"/>
              </a:rPr>
              <a:t>PUE</a:t>
            </a:r>
            <a:r>
              <a:rPr sz="2000" b="0" i="0">
                <a:solidFill>
                  <a:srgbClr val="333333"/>
                </a:solidFill>
                <a:latin typeface="Calibri"/>
              </a:rPr>
              <a:t> de un centro de datos y por qué el enfriamiento cambia la cuenta.</a:t>
            </a:r>
          </a:p>
          <a:p>
            <a:pPr>
              <a:spcAft>
                <a:spcPts val="800"/>
              </a:spcAft>
            </a:pPr>
            <a:r>
              <a:rPr sz="2000" b="0" i="0">
                <a:solidFill>
                  <a:srgbClr val="333333"/>
                </a:solidFill>
                <a:latin typeface="Calibri"/>
              </a:rPr>
              <a:t>–   Relacionar una decisión de diseño con un </a:t>
            </a:r>
            <a:r>
              <a:rPr sz="2000" b="1" i="0">
                <a:solidFill>
                  <a:srgbClr val="333333"/>
                </a:solidFill>
                <a:latin typeface="Calibri"/>
              </a:rPr>
              <a:t>efecto ambiental medible</a:t>
            </a:r>
            <a:r>
              <a:rPr sz="2000" b="0" i="0">
                <a:solidFill>
                  <a:srgbClr val="333333"/>
                </a:solidFill>
                <a:latin typeface="Calibri"/>
              </a:rPr>
              <a:t>.</a:t>
            </a:r>
          </a:p>
          <a:p>
            <a:pPr>
              <a:spcAft>
                <a:spcPts val="800"/>
              </a:spcAft>
            </a:pPr>
            <a:r>
              <a:rPr sz="2000" b="0" i="0">
                <a:solidFill>
                  <a:srgbClr val="333333"/>
                </a:solidFill>
                <a:latin typeface="Calibri"/>
              </a:rPr>
              <a:t>–   Nombrar la norma colombiana de </a:t>
            </a:r>
            <a:r>
              <a:rPr sz="2000" b="1" i="0">
                <a:solidFill>
                  <a:srgbClr val="333333"/>
                </a:solidFill>
                <a:latin typeface="Calibri"/>
              </a:rPr>
              <a:t>residuos electrónicos</a:t>
            </a:r>
            <a:r>
              <a:rPr sz="2000" b="0" i="0">
                <a:solidFill>
                  <a:srgbClr val="333333"/>
                </a:solidFill>
                <a:latin typeface="Calibri"/>
              </a:rPr>
              <a:t> y qué obliga.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¿Dónde está «la nube»? Y más incómodo: ¿cuánta agua se bebió su última consulta a un asistente de IA?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nube es un edificio con servidores, electricidad y un sistema de enfriamiento.</a:t>
            </a:r>
          </a:p>
          <a:p>
            <a:pPr algn="ctr">
              <a:spcAft>
                <a:spcPts val="600"/>
              </a:spcAft>
            </a:pPr>
            <a:r>
              <a:rPr sz="1500" b="0" i="0">
                <a:solidFill>
                  <a:srgbClr val="269CCB"/>
                </a:solidFill>
                <a:latin typeface="Calibri"/>
              </a:rPr>
              <a:t>Hoy le ponemos materia, energía y residuos a algo que parece que no tiene ninguna.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Las cuatro etapas de la huella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«Software» y «nube» son palabras que suenan inmateriales. Las cuatro etapas son materia, energía y residuo — y la etapa 1 cambia la recomendación: alargar la vida útil pesa más que ahorrar batería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tapas-huell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etapas-huell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etapas-huell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etapas-huella-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FABRICACIÓN:</a:t>
            </a:r>
            <a:r>
              <a:rPr sz="2000" b="0" i="0">
                <a:solidFill>
                  <a:srgbClr val="333333"/>
                </a:solidFill>
                <a:latin typeface="Calibri"/>
              </a:rPr>
              <a:t> Minería, ensamblaje y transporte de dispositivos y servidores.</a:t>
            </a:r>
          </a:p>
          <a:p>
            <a:pPr>
              <a:spcAft>
                <a:spcPts val="800"/>
              </a:spcAft>
            </a:pPr>
            <a:r>
              <a:rPr sz="2000" b="0" i="0">
                <a:solidFill>
                  <a:srgbClr val="333333"/>
                </a:solidFill>
                <a:latin typeface="Calibri"/>
              </a:rPr>
              <a:t>–   </a:t>
            </a:r>
            <a:r>
              <a:rPr sz="2000" b="1" i="0">
                <a:solidFill>
                  <a:srgbClr val="333333"/>
                </a:solidFill>
                <a:latin typeface="Calibri"/>
              </a:rPr>
              <a:t>USO:</a:t>
            </a:r>
            <a:r>
              <a:rPr sz="2000" b="0" i="0">
                <a:solidFill>
                  <a:srgbClr val="333333"/>
                </a:solidFill>
                <a:latin typeface="Calibri"/>
              </a:rPr>
              <a:t> Electricidad del dispositivo, del servidor y del enfriamiento del centro de datos</a:t>
            </a:r>
          </a:p>
          <a:p>
            <a:pPr>
              <a:spcAft>
                <a:spcPts val="800"/>
              </a:spcAft>
            </a:pPr>
            <a:r>
              <a:rPr sz="2000" b="0" i="0">
                <a:solidFill>
                  <a:srgbClr val="333333"/>
                </a:solidFill>
                <a:latin typeface="Calibri"/>
              </a:rPr>
              <a:t>–   </a:t>
            </a:r>
            <a:r>
              <a:rPr sz="2000" b="1" i="0">
                <a:solidFill>
                  <a:srgbClr val="333333"/>
                </a:solidFill>
                <a:latin typeface="Calibri"/>
              </a:rPr>
              <a:t>RED:</a:t>
            </a:r>
            <a:r>
              <a:rPr sz="2000" b="0" i="0">
                <a:solidFill>
                  <a:srgbClr val="333333"/>
                </a:solidFill>
                <a:latin typeface="Calibri"/>
              </a:rPr>
              <a:t> Cada byte viaja por antenas, cables y equipos que consumen</a:t>
            </a:r>
          </a:p>
          <a:p>
            <a:pPr>
              <a:spcAft>
                <a:spcPts val="800"/>
              </a:spcAft>
            </a:pPr>
            <a:r>
              <a:rPr sz="2000" b="0" i="0">
                <a:solidFill>
                  <a:srgbClr val="333333"/>
                </a:solidFill>
                <a:latin typeface="Calibri"/>
              </a:rPr>
              <a:t>–   </a:t>
            </a:r>
            <a:r>
              <a:rPr sz="2000" b="1" i="0">
                <a:solidFill>
                  <a:srgbClr val="333333"/>
                </a:solidFill>
                <a:latin typeface="Calibri"/>
              </a:rPr>
              <a:t>FIN DE VIDA:</a:t>
            </a:r>
            <a:r>
              <a:rPr sz="2000" b="0" i="0">
                <a:solidFill>
                  <a:srgbClr val="333333"/>
                </a:solidFill>
                <a:latin typeface="Calibri"/>
              </a:rPr>
              <a:t> Residuo electrónico (RAEE): metales, plásticos y sustancias peligrosas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huella de una app de citas en el celular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Las cuatro etapas, sobre algo que todos tienen en el bolsillo.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Fabricación</a:t>
            </a:r>
          </a:p>
          <a:p>
            <a:pPr>
              <a:spcBef>
                <a:spcPts val="200"/>
              </a:spcBef>
            </a:pPr>
            <a:r>
              <a:rPr sz="1300" b="0" i="0">
                <a:solidFill>
                  <a:srgbClr val="333333"/>
                </a:solidFill>
                <a:latin typeface="Calibri"/>
              </a:rPr>
              <a:t>El celular ya gastó la mayor parte de su huella antes de encenderse: minería, ensamblaje, transporte.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Uso</a:t>
            </a:r>
          </a:p>
          <a:p>
            <a:pPr>
              <a:spcBef>
                <a:spcPts val="200"/>
              </a:spcBef>
            </a:pPr>
            <a:r>
              <a:rPr sz="1300" b="0" i="0">
                <a:solidFill>
                  <a:srgbClr val="333333"/>
                </a:solidFill>
                <a:latin typeface="Calibri"/>
              </a:rPr>
              <a:t>Cada vez que se abre la app gasta batería, y el servidor que responde gasta electricidad.</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Red</a:t>
            </a:r>
          </a:p>
          <a:p>
            <a:pPr>
              <a:spcBef>
                <a:spcPts val="200"/>
              </a:spcBef>
            </a:pPr>
            <a:r>
              <a:rPr sz="1300" b="0" i="0">
                <a:solidFill>
                  <a:srgbClr val="333333"/>
                </a:solidFill>
                <a:latin typeface="Calibri"/>
              </a:rPr>
              <a:t>Cada foto y cada consulta viaja por antenas y cables que también consumen.</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Fin de vida</a:t>
            </a:r>
          </a:p>
          <a:p>
            <a:pPr>
              <a:spcBef>
                <a:spcPts val="200"/>
              </a:spcBef>
            </a:pPr>
            <a:r>
              <a:rPr sz="1300" b="0" i="0">
                <a:solidFill>
                  <a:srgbClr val="333333"/>
                </a:solidFill>
                <a:latin typeface="Calibri"/>
              </a:rPr>
              <a:t>Si la app deja de funcionar en celulares viejos, empuja a cambiar de celular: más residuo.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con nombre propio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PUE · Power Usage Effectiveness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Energía total del centro de datos ÷ energía que llega a los servidores. </a:t>
            </a:r>
            <a:r>
              <a:rPr sz="1300" b="1" i="0">
                <a:solidFill>
                  <a:srgbClr val="333333"/>
                </a:solidFill>
                <a:latin typeface="Calibri"/>
              </a:rPr>
              <a:t>1.0 sería perfecto</a:t>
            </a:r>
            <a:r>
              <a:rPr sz="1300" b="0" i="0">
                <a:solidFill>
                  <a:srgbClr val="333333"/>
                </a:solidFill>
                <a:latin typeface="Calibri"/>
              </a:rPr>
              <a:t>: todo va a computar. Un valor de 1.6 significa que por cada vatio de cómputo se gastan 0,6 en enfriar, iluminar y perder.</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Agua de enfriamiento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Muchos centros de datos se enfrían </a:t>
            </a:r>
            <a:r>
              <a:rPr sz="1300" b="1" i="0">
                <a:solidFill>
                  <a:srgbClr val="333333"/>
                </a:solidFill>
                <a:latin typeface="Calibri"/>
              </a:rPr>
              <a:t>evaporando agua</a:t>
            </a:r>
            <a:r>
              <a:rPr sz="1300" b="0" i="0">
                <a:solidFill>
                  <a:srgbClr val="333333"/>
                </a:solidFill>
                <a:latin typeface="Calibri"/>
              </a:rPr>
              <a:t>, porque es más barato que enfriar con electricidad. El costo se muda de la factura de luz a la cuenca de donde sale el agua, que suele estar donde vive gente.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RAEE · Residuos de aparatos eléctricos y electrónicos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En Colombia los regula la </a:t>
            </a:r>
            <a:r>
              <a:rPr sz="1300" b="1" i="0">
                <a:solidFill>
                  <a:srgbClr val="333333"/>
                </a:solidFill>
                <a:latin typeface="Calibri"/>
              </a:rPr>
              <a:t>Ley 1672 de 2013</a:t>
            </a:r>
            <a:r>
              <a:rPr sz="1300" b="0" i="0">
                <a:solidFill>
                  <a:srgbClr val="333333"/>
                </a:solidFill>
                <a:latin typeface="Calibri"/>
              </a:rPr>
              <a:t>: obliga a los productores a tener sistemas de recolección y al usuario a entregar el aparato en esos puntos, no en la basura común. Contienen metales valiosos y sustancias peligrosas.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Obsolescencia inducida por software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una nueva versión exige un dispositivo más nuevo, el software </a:t>
            </a:r>
            <a:r>
              <a:rPr sz="1300" b="1" i="0">
                <a:solidFill>
                  <a:srgbClr val="333333"/>
                </a:solidFill>
                <a:latin typeface="Calibri"/>
              </a:rPr>
              <a:t>convierte en basura</a:t>
            </a:r>
            <a:r>
              <a:rPr sz="1300" b="0" i="0">
                <a:solidFill>
                  <a:srgbClr val="333333"/>
                </a:solidFill>
                <a:latin typeface="Calibri"/>
              </a:rPr>
              <a:t> un aparato que funcionaba. Es una decisión de ingeniería con un resultado material medible en toneladas.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PUE de un centro de datos, con números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centro de datos consume </a:t>
            </a:r>
            <a:r>
              <a:rPr sz="2000" b="1" i="0">
                <a:solidFill>
                  <a:srgbClr val="333333"/>
                </a:solidFill>
                <a:latin typeface="Calibri"/>
              </a:rPr>
              <a:t>1.600 kWh</a:t>
            </a:r>
            <a:r>
              <a:rPr sz="2000" b="0" i="0">
                <a:solidFill>
                  <a:srgbClr val="333333"/>
                </a:solidFill>
                <a:latin typeface="Calibri"/>
              </a:rPr>
              <a:t> en un día.</a:t>
            </a:r>
          </a:p>
          <a:p>
            <a:pPr>
              <a:spcAft>
                <a:spcPts val="800"/>
              </a:spcAft>
            </a:pPr>
            <a:r>
              <a:rPr sz="2000" b="0" i="0">
                <a:solidFill>
                  <a:srgbClr val="333333"/>
                </a:solidFill>
                <a:latin typeface="Calibri"/>
              </a:rPr>
              <a:t>–   De esos, a los servidores —los que computan— llegan </a:t>
            </a:r>
            <a:r>
              <a:rPr sz="2000" b="1" i="0">
                <a:solidFill>
                  <a:srgbClr val="333333"/>
                </a:solidFill>
                <a:latin typeface="Calibri"/>
              </a:rPr>
              <a:t>1.000 kWh</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PUE = 1.600 ÷ 1.000 = 1,6</a:t>
            </a:r>
          </a:p>
          <a:p>
            <a:pPr>
              <a:spcAft>
                <a:spcPts val="800"/>
              </a:spcAft>
            </a:pPr>
            <a:r>
              <a:rPr sz="2000" b="0" i="0">
                <a:solidFill>
                  <a:srgbClr val="333333"/>
                </a:solidFill>
                <a:latin typeface="Calibri"/>
              </a:rPr>
              <a:t>–   Los otros </a:t>
            </a:r>
            <a:r>
              <a:rPr sz="2000" b="1" i="0">
                <a:solidFill>
                  <a:srgbClr val="333333"/>
                </a:solidFill>
                <a:latin typeface="Calibri"/>
              </a:rPr>
              <a:t>600 kWh</a:t>
            </a:r>
            <a:r>
              <a:rPr sz="2000" b="0" i="0">
                <a:solidFill>
                  <a:srgbClr val="333333"/>
                </a:solidFill>
                <a:latin typeface="Calibri"/>
              </a:rPr>
              <a:t> se van en enfriar, iluminar y en pérdidas. </a:t>
            </a:r>
            <a:r>
              <a:rPr sz="2000" b="1" i="0">
                <a:solidFill>
                  <a:srgbClr val="333333"/>
                </a:solidFill>
                <a:latin typeface="Calibri"/>
              </a:rPr>
              <a:t>No computan nada.</a:t>
            </a:r>
          </a:p>
          <a:p>
            <a:pPr>
              <a:spcAft>
                <a:spcPts val="800"/>
              </a:spcAft>
            </a:pPr>
            <a:r>
              <a:rPr sz="2000" b="0" i="0">
                <a:solidFill>
                  <a:srgbClr val="333333"/>
                </a:solidFill>
                <a:latin typeface="Calibri"/>
              </a:rPr>
              <a:t>–   Un PUE de </a:t>
            </a:r>
            <a:r>
              <a:rPr sz="2000" b="1" i="0">
                <a:solidFill>
                  <a:srgbClr val="333333"/>
                </a:solidFill>
                <a:latin typeface="Calibri"/>
              </a:rPr>
              <a:t>1,0</a:t>
            </a:r>
            <a:r>
              <a:rPr sz="2000" b="0" i="0">
                <a:solidFill>
                  <a:srgbClr val="333333"/>
                </a:solidFill>
                <a:latin typeface="Calibri"/>
              </a:rPr>
              <a:t> sería perfecto. Uno de </a:t>
            </a:r>
            <a:r>
              <a:rPr sz="2000" b="1" i="0">
                <a:solidFill>
                  <a:srgbClr val="333333"/>
                </a:solidFill>
                <a:latin typeface="Calibri"/>
              </a:rPr>
              <a:t>2,0</a:t>
            </a:r>
            <a:r>
              <a:rPr sz="2000" b="0" i="0">
                <a:solidFill>
                  <a:srgbClr val="333333"/>
                </a:solidFill>
                <a:latin typeface="Calibri"/>
              </a:rPr>
              <a:t> gasta la mitad de la energía en no computar.</a:t>
            </a:r>
          </a:p>
          <a:p>
            <a:pPr>
              <a:spcAft>
                <a:spcPts val="800"/>
              </a:spcAft>
            </a:pPr>
            <a:r>
              <a:rPr sz="2000" b="0" i="0">
                <a:solidFill>
                  <a:srgbClr val="333333"/>
                </a:solidFill>
                <a:latin typeface="Calibri"/>
              </a:rPr>
              <a:t>–   Sirve para comparar: entre dos proveedores, el de PUE más bajo desperdicia menos.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misma función, dos decisiones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decisiones de la derecha es un sacrificio de calidad: son decisiones de ingeniería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cómoda para el equipo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app pide la ubicación cada 5 segundos.</a:t>
            </a:r>
          </a:p>
          <a:p>
            <a:pPr>
              <a:spcAft>
                <a:spcPts val="800"/>
              </a:spcAft>
            </a:pPr>
            <a:r>
              <a:rPr sz="1500" b="0" i="0">
                <a:solidFill>
                  <a:srgbClr val="333333"/>
                </a:solidFill>
                <a:latin typeface="Calibri"/>
              </a:rPr>
              <a:t>–   Cada pantalla trae imágenes en tamaño original.</a:t>
            </a:r>
          </a:p>
          <a:p>
            <a:pPr>
              <a:spcAft>
                <a:spcPts val="800"/>
              </a:spcAft>
            </a:pPr>
            <a:r>
              <a:rPr sz="1500" b="0" i="0">
                <a:solidFill>
                  <a:srgbClr val="333333"/>
                </a:solidFill>
                <a:latin typeface="Calibri"/>
              </a:rPr>
              <a:t>–   El reporte se recalcula completo en cada consulta.</a:t>
            </a:r>
          </a:p>
          <a:p>
            <a:pPr>
              <a:spcAft>
                <a:spcPts val="800"/>
              </a:spcAft>
            </a:pPr>
            <a:r>
              <a:rPr sz="1500" b="0" i="0">
                <a:solidFill>
                  <a:srgbClr val="333333"/>
                </a:solidFill>
                <a:latin typeface="Calibri"/>
              </a:rPr>
              <a:t>–   La versión nueva solo corre en dispositivos de los últimos 3 años.</a:t>
            </a:r>
          </a:p>
          <a:p>
            <a:pPr>
              <a:spcAft>
                <a:spcPts val="800"/>
              </a:spcAft>
            </a:pPr>
            <a:r>
              <a:rPr sz="1500" b="0" i="0">
                <a:solidFill>
                  <a:srgbClr val="333333"/>
                </a:solidFill>
                <a:latin typeface="Calibri"/>
              </a:rPr>
              <a:t>–   «Le metemos IA» a una función que resolvía un «if».</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Misma función, menos huella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Cada 5 minutos, o cuando el usuario se mueve. </a:t>
            </a:r>
            <a:r>
              <a:rPr sz="1500" b="1" i="0">
                <a:solidFill>
                  <a:srgbClr val="333333"/>
                </a:solidFill>
                <a:latin typeface="Calibri"/>
              </a:rPr>
              <a:t>Batería y red.</a:t>
            </a:r>
          </a:p>
          <a:p>
            <a:pPr>
              <a:spcAft>
                <a:spcPts val="800"/>
              </a:spcAft>
            </a:pPr>
            <a:r>
              <a:rPr sz="1500" b="0" i="0">
                <a:solidFill>
                  <a:srgbClr val="333333"/>
                </a:solidFill>
                <a:latin typeface="Calibri"/>
              </a:rPr>
              <a:t>–   Imágenes ajustadas al tamaño real. </a:t>
            </a:r>
            <a:r>
              <a:rPr sz="1500" b="1" i="0">
                <a:solidFill>
                  <a:srgbClr val="333333"/>
                </a:solidFill>
                <a:latin typeface="Calibri"/>
              </a:rPr>
              <a:t>Menos bytes por la red.</a:t>
            </a:r>
          </a:p>
          <a:p>
            <a:pPr>
              <a:spcAft>
                <a:spcPts val="800"/>
              </a:spcAft>
            </a:pPr>
            <a:r>
              <a:rPr sz="1500" b="0" i="0">
                <a:solidFill>
                  <a:srgbClr val="333333"/>
                </a:solidFill>
                <a:latin typeface="Calibri"/>
              </a:rPr>
              <a:t>–   Se guarda el resultado y se recalcula al cambiar. </a:t>
            </a:r>
            <a:r>
              <a:rPr sz="1500" b="1" i="0">
                <a:solidFill>
                  <a:srgbClr val="333333"/>
                </a:solidFill>
                <a:latin typeface="Calibri"/>
              </a:rPr>
              <a:t>Menos cómputo.</a:t>
            </a:r>
          </a:p>
          <a:p>
            <a:pPr>
              <a:spcAft>
                <a:spcPts val="800"/>
              </a:spcAft>
            </a:pPr>
            <a:r>
              <a:rPr sz="1500" b="0" i="0">
                <a:solidFill>
                  <a:srgbClr val="333333"/>
                </a:solidFill>
                <a:latin typeface="Calibri"/>
              </a:rPr>
              <a:t>–   Se sostiene el soporte para dispositivos viejos. </a:t>
            </a:r>
            <a:r>
              <a:rPr sz="1500" b="1" i="0">
                <a:solidFill>
                  <a:srgbClr val="333333"/>
                </a:solidFill>
                <a:latin typeface="Calibri"/>
              </a:rPr>
              <a:t>Menos RAEE.</a:t>
            </a:r>
          </a:p>
          <a:p>
            <a:pPr>
              <a:spcAft>
                <a:spcPts val="800"/>
              </a:spcAft>
            </a:pPr>
            <a:r>
              <a:rPr sz="1500" b="0" i="0">
                <a:solidFill>
                  <a:srgbClr val="333333"/>
                </a:solidFill>
                <a:latin typeface="Calibri"/>
              </a:rPr>
              <a:t>–   Se usa el «if». </a:t>
            </a:r>
            <a:r>
              <a:rPr sz="1500" b="1" i="0">
                <a:solidFill>
                  <a:srgbClr val="333333"/>
                </a:solidFill>
                <a:latin typeface="Calibri"/>
              </a:rPr>
              <a:t>La IA cuesta energía en cada llamada.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cuánto ahorra una sola decisión</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Cada 5 segundos</a:t>
                      </a:r>
                    </a:p>
                  </a:txBody>
                  <a:tcPr>
                    <a:solidFill>
                      <a:srgbClr val="095292"/>
                    </a:solidFill>
                  </a:tcPr>
                </a:tc>
                <a:tc>
                  <a:txBody>
                    <a:bodyPr/>
                    <a:lstStyle/>
                    <a:p>
                      <a:r>
                        <a:rPr sz="1200" b="1" i="0">
                          <a:solidFill>
                            <a:srgbClr val="FFFFFF"/>
                          </a:solidFill>
                          <a:latin typeface="Calibri"/>
                        </a:rPr>
                        <a:t>Cada 5 minutos</a:t>
                      </a:r>
                    </a:p>
                  </a:txBody>
                  <a:tcPr>
                    <a:solidFill>
                      <a:srgbClr val="095292"/>
                    </a:solidFill>
                  </a:tcPr>
                </a:tc>
              </a:tr>
              <a:tr h="384048">
                <a:tc>
                  <a:txBody>
                    <a:bodyPr/>
                    <a:lstStyle/>
                    <a:p>
                      <a:r>
                        <a:rPr sz="1200" b="0" i="0">
                          <a:solidFill>
                            <a:srgbClr val="333333"/>
                          </a:solidFill>
                          <a:latin typeface="Calibri"/>
                        </a:rPr>
                        <a:t>Pedidos de ubicación al día, por usuario</a:t>
                      </a:r>
                    </a:p>
                  </a:txBody>
                  <a:tcPr>
                    <a:solidFill>
                      <a:srgbClr val="FFFFFF"/>
                    </a:solidFill>
                  </a:tcPr>
                </a:tc>
                <a:tc>
                  <a:txBody>
                    <a:bodyPr/>
                    <a:lstStyle/>
                    <a:p>
                      <a:r>
                        <a:rPr sz="1200" b="0" i="0">
                          <a:solidFill>
                            <a:srgbClr val="333333"/>
                          </a:solidFill>
                          <a:latin typeface="Calibri"/>
                        </a:rPr>
                        <a:t>17.280</a:t>
                      </a:r>
                    </a:p>
                  </a:txBody>
                  <a:tcPr>
                    <a:solidFill>
                      <a:srgbClr val="FFFFFF"/>
                    </a:solidFill>
                  </a:tcPr>
                </a:tc>
                <a:tc>
                  <a:txBody>
                    <a:bodyPr/>
                    <a:lstStyle/>
                    <a:p>
                      <a:r>
                        <a:rPr sz="1200" b="0" i="0">
                          <a:solidFill>
                            <a:srgbClr val="333333"/>
                          </a:solidFill>
                          <a:latin typeface="Calibri"/>
                        </a:rPr>
                        <a:t>288</a:t>
                      </a:r>
                    </a:p>
                  </a:txBody>
                  <a:tcPr>
                    <a:solidFill>
                      <a:srgbClr val="FFFFFF"/>
                    </a:solidFill>
                  </a:tcPr>
                </a:tc>
              </a:tr>
              <a:tr h="384048">
                <a:tc>
                  <a:txBody>
                    <a:bodyPr/>
                    <a:lstStyle/>
                    <a:p>
                      <a:r>
                        <a:rPr sz="1200" b="0" i="0">
                          <a:solidFill>
                            <a:srgbClr val="333333"/>
                          </a:solidFill>
                          <a:latin typeface="Calibri"/>
                        </a:rPr>
                        <a:t>Con 1.000 usuarios</a:t>
                      </a:r>
                    </a:p>
                  </a:txBody>
                  <a:tcPr>
                    <a:solidFill>
                      <a:srgbClr val="F2F2F2"/>
                    </a:solidFill>
                  </a:tcPr>
                </a:tc>
                <a:tc>
                  <a:txBody>
                    <a:bodyPr/>
                    <a:lstStyle/>
                    <a:p>
                      <a:r>
                        <a:rPr sz="1200" b="0" i="0">
                          <a:solidFill>
                            <a:srgbClr val="333333"/>
                          </a:solidFill>
                          <a:latin typeface="Calibri"/>
                        </a:rPr>
                        <a:t>17.280.000</a:t>
                      </a:r>
                    </a:p>
                  </a:txBody>
                  <a:tcPr>
                    <a:solidFill>
                      <a:srgbClr val="F2F2F2"/>
                    </a:solidFill>
                  </a:tcPr>
                </a:tc>
                <a:tc>
                  <a:txBody>
                    <a:bodyPr/>
                    <a:lstStyle/>
                    <a:p>
                      <a:r>
                        <a:rPr sz="1200" b="0" i="0">
                          <a:solidFill>
                            <a:srgbClr val="333333"/>
                          </a:solidFill>
                          <a:latin typeface="Calibri"/>
                        </a:rPr>
                        <a:t>288.000</a:t>
                      </a:r>
                    </a:p>
                  </a:txBody>
                  <a:tcPr>
                    <a:solidFill>
                      <a:srgbClr val="F2F2F2"/>
                    </a:solidFill>
                  </a:tcPr>
                </a:tc>
              </a:tr>
              <a:tr h="384048">
                <a:tc>
                  <a:txBody>
                    <a:bodyPr/>
                    <a:lstStyle/>
                    <a:p>
                      <a:r>
                        <a:rPr sz="1200" b="0" i="0">
                          <a:solidFill>
                            <a:srgbClr val="333333"/>
                          </a:solidFill>
                          <a:latin typeface="Calibri"/>
                        </a:rPr>
                        <a:t>¿Cumple la función?</a:t>
                      </a:r>
                    </a:p>
                  </a:txBody>
                  <a:tcPr>
                    <a:solidFill>
                      <a:srgbClr val="FFFFFF"/>
                    </a:solidFill>
                  </a:tcPr>
                </a:tc>
                <a:tc>
                  <a:txBody>
                    <a:bodyPr/>
                    <a:lstStyle/>
                    <a:p>
                      <a:r>
                        <a:rPr sz="1200" b="0" i="0">
                          <a:solidFill>
                            <a:srgbClr val="333333"/>
                          </a:solidFill>
                          <a:latin typeface="Calibri"/>
                        </a:rPr>
                        <a:t>Sí</a:t>
                      </a:r>
                    </a:p>
                  </a:txBody>
                  <a:tcPr>
                    <a:solidFill>
                      <a:srgbClr val="FFFFFF"/>
                    </a:solidFill>
                  </a:tcPr>
                </a:tc>
                <a:tc>
                  <a:txBody>
                    <a:bodyPr/>
                    <a:lstStyle/>
                    <a:p>
                      <a:r>
                        <a:rPr sz="1200" b="0" i="0">
                          <a:solidFill>
                            <a:srgbClr val="333333"/>
                          </a:solidFill>
                          <a:latin typeface="Calibri"/>
                        </a:rPr>
                        <a:t>Sí</a:t>
                      </a:r>
                    </a:p>
                  </a:txBody>
                  <a:tcPr>
                    <a:solidFill>
                      <a:srgbClr val="FFFFFF"/>
                    </a:solidFill>
                  </a:tcPr>
                </a:tc>
              </a:tr>
              <a:tr h="384048">
                <a:tc>
                  <a:txBody>
                    <a:bodyPr/>
                    <a:lstStyle/>
                    <a:p>
                      <a:r>
                        <a:rPr sz="1200" b="0" i="0">
                          <a:solidFill>
                            <a:srgbClr val="333333"/>
                          </a:solidFill>
                          <a:latin typeface="Calibri"/>
                        </a:rPr>
                        <a:t>Batería y red</a:t>
                      </a:r>
                    </a:p>
                  </a:txBody>
                  <a:tcPr>
                    <a:solidFill>
                      <a:srgbClr val="F2F2F2"/>
                    </a:solidFill>
                  </a:tcPr>
                </a:tc>
                <a:tc>
                  <a:txBody>
                    <a:bodyPr/>
                    <a:lstStyle/>
                    <a:p>
                      <a:r>
                        <a:rPr sz="1200" b="0" i="0">
                          <a:solidFill>
                            <a:srgbClr val="333333"/>
                          </a:solidFill>
                          <a:latin typeface="Calibri"/>
                        </a:rPr>
                        <a:t>Mucho más gasto</a:t>
                      </a:r>
                    </a:p>
                  </a:txBody>
                  <a:tcPr>
                    <a:solidFill>
                      <a:srgbClr val="F2F2F2"/>
                    </a:solidFill>
                  </a:tcPr>
                </a:tc>
                <a:tc>
                  <a:txBody>
                    <a:bodyPr/>
                    <a:lstStyle/>
                    <a:p>
                      <a:r>
                        <a:rPr sz="1200" b="0" i="0">
                          <a:solidFill>
                            <a:srgbClr val="333333"/>
                          </a:solidFill>
                          <a:latin typeface="Calibri"/>
                        </a:rPr>
                        <a:t>60 veces menos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Un día tiene 86.400 segundos. 86.400 ÷ 5 = 17.280. 86.400 ÷ 300 = 288. La misma app, la misma función, 60 veces menos pedidos.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Colombia: dos datos locales que cambian el análisis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matriz eléctrica.</a:t>
            </a:r>
            <a:r>
              <a:rPr sz="2000" b="0" i="0">
                <a:solidFill>
                  <a:srgbClr val="333333"/>
                </a:solidFill>
                <a:latin typeface="Calibri"/>
              </a:rPr>
              <a:t> Buena parte de la generación del país es </a:t>
            </a:r>
            <a:r>
              <a:rPr sz="2000" b="1" i="0">
                <a:solidFill>
                  <a:srgbClr val="333333"/>
                </a:solidFill>
                <a:latin typeface="Calibri"/>
              </a:rPr>
              <a:t>hidráulica</a:t>
            </a:r>
            <a:r>
              <a:rPr sz="2000" b="0" i="0">
                <a:solidFill>
                  <a:srgbClr val="333333"/>
                </a:solidFill>
                <a:latin typeface="Calibri"/>
              </a:rPr>
              <a:t>, así que un kilovatio-hora consumido en Colombia tiene menos emisiones asociadas que el mismo kilovatio en un país que quema carbón. Un análisis serio no copia cifras de emisiones de otro país: </a:t>
            </a:r>
            <a:r>
              <a:rPr sz="2000" b="1" i="0">
                <a:solidFill>
                  <a:srgbClr val="333333"/>
                </a:solidFill>
                <a:latin typeface="Calibri"/>
              </a:rPr>
              <a:t>usa el factor local</a:t>
            </a:r>
            <a:r>
              <a:rPr sz="2000" b="0" i="0">
                <a:solidFill>
                  <a:srgbClr val="333333"/>
                </a:solidFill>
                <a:latin typeface="Calibri"/>
              </a:rPr>
              <a:t>, que publica el operador del sistema (XM).</a:t>
            </a:r>
          </a:p>
          <a:p>
            <a:pPr>
              <a:spcAft>
                <a:spcPts val="800"/>
              </a:spcAft>
            </a:pPr>
            <a:r>
              <a:rPr sz="2000" b="0" i="0">
                <a:solidFill>
                  <a:srgbClr val="333333"/>
                </a:solidFill>
                <a:latin typeface="Calibri"/>
              </a:rPr>
              <a:t>–   </a:t>
            </a:r>
            <a:r>
              <a:rPr sz="2000" b="1" i="0">
                <a:solidFill>
                  <a:srgbClr val="333333"/>
                </a:solidFill>
                <a:latin typeface="Calibri"/>
              </a:rPr>
              <a:t>Y su contracara.</a:t>
            </a:r>
            <a:r>
              <a:rPr sz="2000" b="0" i="0">
                <a:solidFill>
                  <a:srgbClr val="333333"/>
                </a:solidFill>
                <a:latin typeface="Calibri"/>
              </a:rPr>
              <a:t> Cuando llega el fenómeno de El Niño y baja el nivel de los embalses, entran las plantas térmicas y </a:t>
            </a:r>
            <a:r>
              <a:rPr sz="2000" b="1" i="0">
                <a:solidFill>
                  <a:srgbClr val="333333"/>
                </a:solidFill>
                <a:latin typeface="Calibri"/>
              </a:rPr>
              <a:t>la misma aplicación pasa a emitir más sin cambiar una línea de código</a:t>
            </a:r>
            <a:r>
              <a:rPr sz="2000" b="0" i="0">
                <a:solidFill>
                  <a:srgbClr val="333333"/>
                </a:solidFill>
                <a:latin typeface="Calibri"/>
              </a:rPr>
              <a:t>. La huella de un sistema no es un número fijo: depende de cuándo y dónde corre.</a:t>
            </a:r>
          </a:p>
          <a:p>
            <a:pPr>
              <a:spcAft>
                <a:spcPts val="800"/>
              </a:spcAft>
            </a:pPr>
            <a:r>
              <a:rPr sz="2000" b="0" i="0">
                <a:solidFill>
                  <a:srgbClr val="333333"/>
                </a:solidFill>
                <a:latin typeface="Calibri"/>
              </a:rPr>
              <a:t>–   </a:t>
            </a:r>
            <a:r>
              <a:rPr sz="2000" b="1" i="0">
                <a:solidFill>
                  <a:srgbClr val="333333"/>
                </a:solidFill>
                <a:latin typeface="Calibri"/>
              </a:rPr>
              <a:t>Residuos electrónicos.</a:t>
            </a:r>
            <a:r>
              <a:rPr sz="2000" b="0" i="0">
                <a:solidFill>
                  <a:srgbClr val="333333"/>
                </a:solidFill>
                <a:latin typeface="Calibri"/>
              </a:rPr>
              <a:t> La </a:t>
            </a:r>
            <a:r>
              <a:rPr sz="2000" b="1" i="0">
                <a:solidFill>
                  <a:srgbClr val="333333"/>
                </a:solidFill>
                <a:latin typeface="Calibri"/>
              </a:rPr>
              <a:t>Ley 1672 de 2013</a:t>
            </a:r>
            <a:r>
              <a:rPr sz="2000" b="0" i="0">
                <a:solidFill>
                  <a:srgbClr val="333333"/>
                </a:solidFill>
                <a:latin typeface="Calibri"/>
              </a:rPr>
              <a:t> fija los lineamientos de los RAEE en Colombia: el productor tiene que ofrecer puntos de recolección y el usuario tiene el deber de usarlos. Los informes internacionales (Global E-waste Monitor) muestran que </a:t>
            </a:r>
            <a:r>
              <a:rPr sz="2000" b="1" i="0">
                <a:solidFill>
                  <a:srgbClr val="333333"/>
                </a:solidFill>
                <a:latin typeface="Calibri"/>
              </a:rPr>
              <a:t>la mayor parte del residuo electrónico del mundo no se recoge formalmente</a:t>
            </a:r>
            <a:r>
              <a:rPr sz="2000" b="0" i="0">
                <a:solidFill>
                  <a:srgbClr val="333333"/>
                </a:solidFill>
                <a:latin typeface="Calibri"/>
              </a:rPr>
              <a:t>, y lo que no se recoge se desarma a mano, sin protección.</a:t>
            </a:r>
          </a:p>
          <a:p>
            <a:pPr>
              <a:spcAft>
                <a:spcPts val="800"/>
              </a:spcAft>
            </a:pPr>
            <a:r>
              <a:rPr sz="2000" b="0" i="0">
                <a:solidFill>
                  <a:srgbClr val="333333"/>
                </a:solidFill>
                <a:latin typeface="Calibri"/>
              </a:rPr>
              <a:t>–   </a:t>
            </a:r>
            <a:r>
              <a:rPr sz="2000" b="1" i="0">
                <a:solidFill>
                  <a:srgbClr val="333333"/>
                </a:solidFill>
                <a:latin typeface="Calibri"/>
              </a:rPr>
              <a:t>Consecuencia práctica para su proyecto:</a:t>
            </a:r>
            <a:r>
              <a:rPr sz="2000" b="0" i="0">
                <a:solidFill>
                  <a:srgbClr val="333333"/>
                </a:solidFill>
                <a:latin typeface="Calibri"/>
              </a:rPr>
              <a:t> la decisión ambiental más fuerte que puede tomar un equipo de este curso casi nunca es «consumir menos batería». Es </a:t>
            </a:r>
            <a:r>
              <a:rPr sz="2000" b="1" i="0">
                <a:solidFill>
                  <a:srgbClr val="333333"/>
                </a:solidFill>
                <a:latin typeface="Calibri"/>
              </a:rPr>
              <a:t>no obligar a cambiar de aparato</a:t>
            </a:r>
            <a:r>
              <a:rPr sz="2000" b="0" i="0">
                <a:solidFill>
                  <a:srgbClr val="333333"/>
                </a:solidFill>
                <a:latin typeface="Calibri"/>
              </a:rPr>
              <a:t> y </a:t>
            </a:r>
            <a:r>
              <a:rPr sz="2000" b="1" i="0">
                <a:solidFill>
                  <a:srgbClr val="333333"/>
                </a:solidFill>
                <a:latin typeface="Calibri"/>
              </a:rPr>
              <a:t>no mover datos que no hacen falta</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estima una huella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5 es el que distingue una intención ambiental de una decisión de ingeniería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Dibuje el recorrido</a:t>
            </a:r>
          </a:p>
          <a:p>
            <a:pPr>
              <a:spcBef>
                <a:spcPts val="200"/>
              </a:spcBef>
            </a:pPr>
            <a:r>
              <a:rPr sz="1300" b="0" i="0">
                <a:solidFill>
                  <a:srgbClr val="333333"/>
                </a:solidFill>
                <a:latin typeface="Calibri"/>
              </a:rPr>
              <a:t>Dispositivo → red → servidor → almacenamiento. Todo lo que se prende para que el sistema funcione.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Cuente lo que se repite</a:t>
            </a:r>
          </a:p>
          <a:p>
            <a:pPr>
              <a:spcBef>
                <a:spcPts val="200"/>
              </a:spcBef>
            </a:pPr>
            <a:r>
              <a:rPr sz="1300" b="0" i="0">
                <a:solidFill>
                  <a:srgbClr val="333333"/>
                </a:solidFill>
                <a:latin typeface="Calibri"/>
              </a:rPr>
              <a:t>Lo que pasa una vez no importa; lo que pasa mil veces al día sí. Busque el bucle.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Marque la etapa más pesada</a:t>
            </a:r>
          </a:p>
          <a:p>
            <a:pPr>
              <a:spcBef>
                <a:spcPts val="200"/>
              </a:spcBef>
            </a:pPr>
            <a:r>
              <a:rPr sz="1300" b="0" i="0">
                <a:solidFill>
                  <a:srgbClr val="333333"/>
                </a:solidFill>
                <a:latin typeface="Calibri"/>
              </a:rPr>
              <a:t>Con una sola. No hace falta un número exacto: hace falta saber dónde apretar.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Proponga dos decisiones</a:t>
            </a:r>
          </a:p>
          <a:p>
            <a:pPr>
              <a:spcBef>
                <a:spcPts val="200"/>
              </a:spcBef>
            </a:pPr>
            <a:r>
              <a:rPr sz="1300" b="0" i="0">
                <a:solidFill>
                  <a:srgbClr val="333333"/>
                </a:solidFill>
                <a:latin typeface="Calibri"/>
              </a:rPr>
              <a:t>Concretas y de diseño, no de comportamiento del usuario.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Defina un indicador</a:t>
            </a:r>
          </a:p>
          <a:p>
            <a:pPr>
              <a:spcBef>
                <a:spcPts val="200"/>
              </a:spcBef>
            </a:pPr>
            <a:r>
              <a:rPr sz="1300" b="0" i="0">
                <a:solidFill>
                  <a:srgbClr val="333333"/>
                </a:solidFill>
                <a:latin typeface="Calibri"/>
              </a:rPr>
              <a:t>Algo que se pueda medir al final: bytes por consulta, consultas por día, años de vida útil soportados.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reporte diario de una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pasos sobre un caso pequeño, sin un solo cálculo difícil.</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porte-tiend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reporte-tiend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reporte-tienda-paso3.png"/>
          <p:cNvPicPr>
            <a:picLocks noChangeAspect="1"/>
          </p:cNvPicPr>
          <p:nvPr/>
        </p:nvPicPr>
        <p:blipFill>
          <a:blip r:embed="rId4"/>
          <a:stretch>
            <a:fillRect/>
          </a:stretch>
        </p:blipFill>
        <p:spPr>
          <a:xfrm>
            <a:off x="6007763" y="1472184"/>
            <a:ext cx="5589270" cy="4471416"/>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El recorrido:</a:t>
            </a:r>
            <a:r>
              <a:rPr sz="2000" b="0" i="0">
                <a:solidFill>
                  <a:srgbClr val="333333"/>
                </a:solidFill>
                <a:latin typeface="Calibri"/>
              </a:rPr>
              <a:t> Computador de la tienda → internet → servidor → base de datos.</a:t>
            </a:r>
          </a:p>
          <a:p>
            <a:pPr>
              <a:spcAft>
                <a:spcPts val="800"/>
              </a:spcAft>
            </a:pPr>
            <a:r>
              <a:rPr sz="2000" b="0" i="0">
                <a:solidFill>
                  <a:srgbClr val="333333"/>
                </a:solidFill>
                <a:latin typeface="Calibri"/>
              </a:rPr>
              <a:t>–   </a:t>
            </a:r>
            <a:r>
              <a:rPr sz="2000" b="1" i="0">
                <a:solidFill>
                  <a:srgbClr val="333333"/>
                </a:solidFill>
                <a:latin typeface="Calibri"/>
              </a:rPr>
              <a:t>2 · Lo que se repite:</a:t>
            </a:r>
            <a:r>
              <a:rPr sz="2000" b="0" i="0">
                <a:solidFill>
                  <a:srgbClr val="333333"/>
                </a:solidFill>
                <a:latin typeface="Calibri"/>
              </a:rPr>
              <a:t> El reporte se genera completo cada vez que alguien lo abre: 40 veces al día.</a:t>
            </a:r>
          </a:p>
          <a:p>
            <a:pPr>
              <a:spcAft>
                <a:spcPts val="800"/>
              </a:spcAft>
            </a:pPr>
            <a:r>
              <a:rPr sz="2000" b="0" i="0">
                <a:solidFill>
                  <a:srgbClr val="333333"/>
                </a:solidFill>
                <a:latin typeface="Calibri"/>
              </a:rPr>
              <a:t>–   </a:t>
            </a:r>
            <a:r>
              <a:rPr sz="2000" b="1" i="0">
                <a:solidFill>
                  <a:srgbClr val="333333"/>
                </a:solidFill>
                <a:latin typeface="Calibri"/>
              </a:rPr>
              <a:t>3 · La etapa más pesada:</a:t>
            </a:r>
            <a:r>
              <a:rPr sz="2000" b="0" i="0">
                <a:solidFill>
                  <a:srgbClr val="333333"/>
                </a:solidFill>
                <a:latin typeface="Calibri"/>
              </a:rPr>
              <a:t> El servidor: recalcula todo el mes, 40 veces, aunque nada cambió.</a:t>
            </a:r>
          </a:p>
          <a:p>
            <a:pPr>
              <a:spcAft>
                <a:spcPts val="800"/>
              </a:spcAft>
            </a:pPr>
            <a:r>
              <a:rPr sz="2000" b="0" i="0">
                <a:solidFill>
                  <a:srgbClr val="333333"/>
                </a:solidFill>
                <a:latin typeface="Calibri"/>
              </a:rPr>
              <a:t>–   </a:t>
            </a:r>
            <a:r>
              <a:rPr sz="2000" b="1" i="0">
                <a:solidFill>
                  <a:srgbClr val="333333"/>
                </a:solidFill>
                <a:latin typeface="Calibri"/>
              </a:rPr>
              <a:t>4 · Dos decisiones:</a:t>
            </a:r>
            <a:r>
              <a:rPr sz="2000" b="0" i="0">
                <a:solidFill>
                  <a:srgbClr val="333333"/>
                </a:solidFill>
                <a:latin typeface="Calibri"/>
              </a:rPr>
              <a:t> Guardar el resultado y recalcular solo si hay ventas nuevas. Abrir solo el día, no el mes.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trampas de esta clase</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Las cifras ambientales son el terreno favorito de la invención.</a:t>
            </a:r>
            <a:r>
              <a:rPr sz="1400" b="0" i="0">
                <a:solidFill>
                  <a:srgbClr val="333333"/>
                </a:solidFill>
                <a:latin typeface="Calibri"/>
              </a:rPr>
              <a:t> Circulan números de litros de agua por consulta y de gramos de CO₂ por búsqueda que cambian por órdenes de magnitud entre fuentes, y muchos se citan sin decir de qué sistema ni de qué año son. Hoy </a:t>
            </a:r>
            <a:r>
              <a:rPr sz="1400" b="1" i="0">
                <a:solidFill>
                  <a:srgbClr val="333333"/>
                </a:solidFill>
                <a:latin typeface="Calibri"/>
              </a:rPr>
              <a:t>toda cifra va con fuente, año y alcance</a:t>
            </a:r>
            <a:r>
              <a:rPr sz="1400" b="0" i="0">
                <a:solidFill>
                  <a:srgbClr val="333333"/>
                </a:solidFill>
                <a:latin typeface="Calibri"/>
              </a:rPr>
              <a:t> — o no va.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«Lo digital contamina menos que el papel» no es una respuesta.</a:t>
            </a:r>
            <a:r>
              <a:rPr sz="1400" b="0" i="0">
                <a:solidFill>
                  <a:srgbClr val="333333"/>
                </a:solidFill>
                <a:latin typeface="Calibri"/>
              </a:rPr>
              <a:t> A veces sí y a veces no: depende del número de usos, del dispositivo y de si obliga a comprar aparatos nuevos. Comparar sirve solo si se dice qué se comparó.</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se puede afirmar sin exagerar:</a:t>
            </a:r>
            <a:r>
              <a:rPr sz="1400" b="0" i="0">
                <a:solidFill>
                  <a:srgbClr val="333333"/>
                </a:solidFill>
                <a:latin typeface="Calibri"/>
              </a:rPr>
              <a:t> que la huella existe, que tiene cuatro etapas, que se puede reducir con decisiones de diseño y que casi nadie la mide. Eso alcanza para trabajar con rigor en primer semestre.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6 — cierra el corte 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rol del ingeniero en el contexto ambiental · Clase 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software no es inmaterial: pesa, consume y termina en basura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