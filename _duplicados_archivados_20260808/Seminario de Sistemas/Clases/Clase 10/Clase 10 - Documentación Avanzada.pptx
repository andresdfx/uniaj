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Merriweather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6.xml"/><Relationship Id="rId22" Type="http://schemas.openxmlformats.org/officeDocument/2006/relationships/font" Target="fonts/DMSans-italic.fntdata"/><Relationship Id="rId10" Type="http://schemas.openxmlformats.org/officeDocument/2006/relationships/slide" Target="slides/slide5.xml"/><Relationship Id="rId21" Type="http://schemas.openxmlformats.org/officeDocument/2006/relationships/font" Target="fonts/DM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925478" y="2474565"/>
            <a:ext cx="834104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Documentación Avanzada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503265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124075" y="3827115"/>
            <a:ext cx="79438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Manuales de Usuario y APIs con JavaDoc (Clase 10)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0416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610564" y="2737544"/>
            <a:ext cx="6970871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Leer vs. Escribir Código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6424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 ingeniero de software dedica 10 veces más tiempo a leer código existente que a escribir código nuevo. Si no documentamos el proyecto hoy, será incomprensible mañana.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090737"/>
            <a:ext cx="5276850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90737"/>
            <a:ext cx="52768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Dos Audiencias, Dos Manuales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971550" y="250983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Manual de Usuario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71550" y="3014662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Orientado al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Cliente Final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(Ej. el veterinario o recepcionista).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24650" y="250983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Manual Técnico (API)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3014662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Orientado a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Otros Desarrolladores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y Arquitectos.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143000" y="37671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209675" y="3767137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Responde al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"Cómo usarlo"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143000" y="42148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209675" y="4214812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Lenguaje natural, sin jerga de código.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143000" y="46624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209675" y="4662487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Se enfoca en clics, flujos de pantalla y resultados esperados.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896100" y="34623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962775" y="3462337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Responde al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"Cómo funciona por dentro"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896100" y="39100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962775" y="3910012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Lenguaje altamente técnico (Clases, Patrones).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896100" y="43576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962775" y="4357687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Se enfoca en parámetros, tipos de datos y conexiones a bases de datos.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Manual de Usuario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Estructura Efectiva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81025" y="254793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cliente no tiene acceso al código Java. El manual de usuario debe ser una guía paso a paso, frecuentemente visual, que viva en el README.md o en una Wiki externa.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81025" y="3605212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Debe incluir: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52475" y="40528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19150" y="4052887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Prerrequisitos (Ej. Instalar Java 17).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52475" y="45005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19150" y="4500562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Cómo arrancar la aplicación.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52475" y="49482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19150" y="4948237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Flujos comunes (Ej. "Pasos para registrar un paciente").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52475" y="53959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19150" y="5395912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Sección de resolución de errores (Troubleshooting).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Estándar JavaDoc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Documentación Viva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81025" y="254793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el pasado, los manuales técnicos se hacían en Word y quedaban obsoletos al día siguiente. Hoy, la documentación vive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dentro del código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81025" y="3605212"/>
            <a:ext cx="527685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JavaDoc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 una herramienta oficial que extrae comentarios con formato especial (/** ... */) directamente del código fuente y genera automáticamente un sitio web navegable en HTML.</a:t>
            </a:r>
            <a:endParaRPr/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905000"/>
            <a:ext cx="3422600" cy="408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1905000"/>
            <a:ext cx="3422600" cy="408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1905000"/>
            <a:ext cx="3422600" cy="408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Sintaxis Fundamental de JavaDoc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1382137" y="3190875"/>
            <a:ext cx="182022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Doble Asterisco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76300" y="3629025"/>
            <a:ext cx="28320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 comentario tradicional usa // o /*. Para que el compilador sepa que es documentación técnica pública, DEBE iniciar con /**.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590788" y="3190875"/>
            <a:ext cx="10101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@param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4679900" y="3629025"/>
            <a:ext cx="28320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Etiqueta usada antes de un método para explicar qué datos exactos de entrada (argumentos) está esperando el sistema, sus límites o formatos obligatorios.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394388" y="3190875"/>
            <a:ext cx="10101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@return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483500" y="3629025"/>
            <a:ext cx="283205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Etiqueta usada para explicar la salida del método. ¿Qué objeto devuelve? ¿Devuelve null en caso de error? El desarrollador debe saberlo.</a:t>
            </a:r>
            <a:endParaRPr/>
          </a:p>
        </p:txBody>
      </p:sp>
      <p:pic>
        <p:nvPicPr>
          <p:cNvPr descr="image.png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1275" y="2381250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726" y="23812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1326" y="238125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Anatomía en el Código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Comentario Perfecto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81025" y="25479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 comentario profesional debe situarse justo antes de la firma del método o clase.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81025" y="3300412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Ejemplo Real: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Buenas Prácticas (Clean Code)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"Por Qué", no el "Qué"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81025" y="254793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error más común de un programador novato es explicar la sintaxis. El código bien escrito (Clean Code) se explica por sí mismo.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81025" y="48339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Documenta decisiones de negocio, intenciones arquitectónicas y reglas inusuales.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752475" y="36052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819150" y="3605212"/>
            <a:ext cx="5038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❌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Mal: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// Suma 1 a la variable i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752475" y="40624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19150" y="4062412"/>
            <a:ext cx="50387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✅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Bien: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// Incrementa i para saltar la validación del usuario administrador temporalmente</a:t>
            </a:r>
            <a:endParaRPr/>
          </a:p>
        </p:txBody>
      </p:sp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/>
        </p:nvSpPr>
        <p:spPr>
          <a:xfrm>
            <a:off x="305276" y="1782216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Inicio del Taller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5381625" y="3125241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81025" y="3553866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Abran su proyecto VetCare.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81025" y="4140547"/>
            <a:ext cx="110299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Vamos a embeber el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Manual Técnico</a:t>
            </a: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en nuestro código con etiquetas JavaDoc y redactaremos un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Manual de Usuario</a:t>
            </a: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rápido en Markdown.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804862" y="2383333"/>
            <a:ext cx="1058227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804862" y="3168104"/>
            <a:ext cx="1058227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804862" y="3952875"/>
            <a:ext cx="1058227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804862" y="3158579"/>
            <a:ext cx="10582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804862" y="3158579"/>
            <a:ext cx="10582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804862" y="3943350"/>
            <a:ext cx="10582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804862" y="3943350"/>
            <a:ext cx="10582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804862" y="4728120"/>
            <a:ext cx="10582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804862" y="4728120"/>
            <a:ext cx="10582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862" y="253275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1900237" y="2526208"/>
            <a:ext cx="94869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https://www.techsmith.com/wp-content/uploads/2023/01/user-manual-image2-911x1024.png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1900237" y="2771923"/>
            <a:ext cx="94869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www.techsmith.com</a:t>
            </a:r>
            <a:endParaRPr/>
          </a:p>
        </p:txBody>
      </p:sp>
      <p:pic>
        <p:nvPicPr>
          <p:cNvPr descr="image.png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862" y="33175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1900237" y="3310979"/>
            <a:ext cx="94869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https://i.ytimg.com/vi/9I5HrOPaARc/hq720.jpg?sqp=-oaymwEhCK4FEIIDSFryq4qpAxMIARUAAAAAGAElAADIQj0AgKJD&amp;rs=AOn4CLBBLn9nP74qSBvMfS77Q_2LKijLWA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1900237" y="3556694"/>
            <a:ext cx="94869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www.youtube.com</a:t>
            </a:r>
            <a:endParaRPr/>
          </a:p>
        </p:txBody>
      </p:sp>
      <p:pic>
        <p:nvPicPr>
          <p:cNvPr descr="image.png" id="221" name="Google Shape;22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862" y="41022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1900237" y="4095750"/>
            <a:ext cx="94869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https://i.sstatic.net/CFcSZ.png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1900237" y="4341465"/>
            <a:ext cx="94869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stackoverflow.com</a:t>
            </a:r>
            <a:endParaRPr/>
          </a:p>
        </p:txBody>
      </p:sp>
      <p:pic>
        <p:nvPicPr>
          <p:cNvPr descr="image.png" id="224" name="Google Shape;22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862" y="48870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1900237" y="4880520"/>
            <a:ext cx="94869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https://miro.medium.com/v2/resize:fit:1400/0*4nW0lxKhJ8g0d9CB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1900237" y="5126235"/>
            <a:ext cx="94869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