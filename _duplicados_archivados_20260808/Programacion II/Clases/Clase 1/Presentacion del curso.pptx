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Urbanist Medium"/>
      <p:regular r:id="rId16"/>
      <p:bold r:id="rId17"/>
      <p:italic r:id="rId18"/>
      <p:boldItalic r:id="rId19"/>
    </p:embeddedFont>
    <p:embeddedFont>
      <p:font typeface="Urbanist SemiBold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  <p:embeddedFont>
      <p:font typeface="Urbanist ExtraBold"/>
      <p:bold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0D32FF-5579-4937-8AD4-EED5ECB42346}">
  <a:tblStyle styleId="{F40D32FF-5579-4937-8AD4-EED5ECB4234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regular.fntdata"/><Relationship Id="rId22" Type="http://schemas.openxmlformats.org/officeDocument/2006/relationships/font" Target="fonts/UrbanistSemiBold-italic.fntdata"/><Relationship Id="rId21" Type="http://schemas.openxmlformats.org/officeDocument/2006/relationships/font" Target="fonts/UrbanistSemiBold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Urbanist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8" Type="http://schemas.openxmlformats.org/officeDocument/2006/relationships/font" Target="fonts/UrbanistExtraBold-bold.fntdata"/><Relationship Id="rId27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Extra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UrbanistMedium-bold.fntdata"/><Relationship Id="rId16" Type="http://schemas.openxmlformats.org/officeDocument/2006/relationships/font" Target="fonts/UrbanistMedium-regular.fntdata"/><Relationship Id="rId19" Type="http://schemas.openxmlformats.org/officeDocument/2006/relationships/font" Target="fonts/UrbanistMedium-boldItalic.fntdata"/><Relationship Id="rId18" Type="http://schemas.openxmlformats.org/officeDocument/2006/relationships/font" Target="fonts/Urbanist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cc3b45280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ccc3b45280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59c35619f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959c35619f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58d04f1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958d04f11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58a52fb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958a52fb3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4.jp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11.png"/><Relationship Id="rId11" Type="http://schemas.openxmlformats.org/officeDocument/2006/relationships/image" Target="../media/image32.png"/><Relationship Id="rId10" Type="http://schemas.openxmlformats.org/officeDocument/2006/relationships/image" Target="../media/image13.png"/><Relationship Id="rId9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3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29.png"/><Relationship Id="rId13" Type="http://schemas.openxmlformats.org/officeDocument/2006/relationships/image" Target="../media/image41.png"/><Relationship Id="rId1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5" Type="http://schemas.openxmlformats.org/officeDocument/2006/relationships/image" Target="../media/image34.png"/><Relationship Id="rId14" Type="http://schemas.openxmlformats.org/officeDocument/2006/relationships/image" Target="../media/image35.png"/><Relationship Id="rId16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image" Target="../media/image8.png"/><Relationship Id="rId7" Type="http://schemas.openxmlformats.org/officeDocument/2006/relationships/image" Target="../media/image20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6.png"/><Relationship Id="rId4" Type="http://schemas.openxmlformats.org/officeDocument/2006/relationships/image" Target="../media/image40.png"/><Relationship Id="rId5" Type="http://schemas.openxmlformats.org/officeDocument/2006/relationships/image" Target="../media/image37.png"/><Relationship Id="rId6" Type="http://schemas.openxmlformats.org/officeDocument/2006/relationships/image" Target="../media/image39.png"/><Relationship Id="rId7" Type="http://schemas.openxmlformats.org/officeDocument/2006/relationships/image" Target="../media/image38.png"/><Relationship Id="rId8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71500" y="4131171"/>
            <a:ext cx="8001000" cy="890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75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Programación II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5212250"/>
            <a:ext cx="10320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Programación Orientada a Objetos y Arquitectura de Software en Java.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5703050"/>
            <a:ext cx="113415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75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Empezamos 6:40 PM ..</a:t>
            </a:r>
            <a:endParaRPr b="1" i="1"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6129475" y="1146300"/>
            <a:ext cx="55008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>
                <a:solidFill>
                  <a:srgbClr val="1E293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Julian Castaño</a:t>
            </a:r>
            <a:endParaRPr sz="4125">
              <a:solidFill>
                <a:srgbClr val="1E293B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6129475" y="1870200"/>
            <a:ext cx="523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Ingeniero de Sistemas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6319975" y="2527425"/>
            <a:ext cx="504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Lider Tecnico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6319975" y="3051300"/>
            <a:ext cx="504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Docente Universitario</a:t>
            </a:r>
            <a:r>
              <a:rPr lang="en-US" sz="165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319975" y="3575175"/>
            <a:ext cx="504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AWS Solutions Architect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081850" y="2413125"/>
            <a:ext cx="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563E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081850" y="2937000"/>
            <a:ext cx="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563E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081850" y="3460875"/>
            <a:ext cx="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563E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571500"/>
            <a:ext cx="116016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25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¿Quién soy?</a:t>
            </a:r>
            <a:endParaRPr/>
          </a:p>
        </p:txBody>
      </p:sp>
      <p:pic>
        <p:nvPicPr>
          <p:cNvPr descr="esta bien, pero con fondo blanco" id="101" name="Google Shape;10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5875" y="1747100"/>
            <a:ext cx="3957700" cy="39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6355663" y="4021000"/>
            <a:ext cx="504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</a:t>
            </a: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onferencista en </a:t>
            </a: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Tecnología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105663" y="3967500"/>
            <a:ext cx="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563E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677238" y="4961687"/>
            <a:ext cx="4762500" cy="2772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julianacastano@profesores.uniajc.edu.co</a:t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6605863" y="5468737"/>
            <a:ext cx="476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linkedin.com/in/andresdfx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8613" y="494263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8613" y="5423650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6677225" y="5901412"/>
            <a:ext cx="476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andres_dfx@hotmail.com</a:t>
            </a:r>
            <a:endParaRPr b="1" sz="1800">
              <a:solidFill>
                <a:schemeClr val="dk1"/>
              </a:solidFill>
              <a:highlight>
                <a:srgbClr val="F5D42E"/>
              </a:highlight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09" name="Google Shape;109;p14"/>
          <p:cNvPicPr preferRelativeResize="0"/>
          <p:nvPr/>
        </p:nvPicPr>
        <p:blipFill rotWithShape="1">
          <a:blip r:embed="rId7">
            <a:alphaModFix/>
          </a:blip>
          <a:srcRect b="2272" l="0" r="0" t="2272"/>
          <a:stretch/>
        </p:blipFill>
        <p:spPr>
          <a:xfrm>
            <a:off x="6248600" y="5882350"/>
            <a:ext cx="266700" cy="26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6355663" y="4466825"/>
            <a:ext cx="504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Candidato a Maestría en IA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105663" y="4353150"/>
            <a:ext cx="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563E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6500" y="6143625"/>
            <a:ext cx="15240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619250"/>
            <a:ext cx="5334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666875"/>
            <a:ext cx="523875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1143000" y="2247900"/>
            <a:ext cx="4667250" cy="300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6:30 PM - 6:40 PM</a:t>
            </a:r>
            <a:r>
              <a:rPr b="0" i="0" lang="en-US" sz="1425" u="none" cap="none" strike="noStrike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b="0" i="0" lang="en-US" sz="1425" u="none" cap="none" strike="noStrike">
                <a:solidFill>
                  <a:srgbClr val="1E293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Dudas antes de inicio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143000" y="2738437"/>
            <a:ext cx="4667250" cy="300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6:40 PM - 8:00 PM</a:t>
            </a:r>
            <a:r>
              <a:rPr b="0" i="0" lang="en-US" sz="1425" u="none" cap="none" strike="noStrike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b="0" i="0" lang="en-US" sz="1425" u="none" cap="none" strike="noStrike">
                <a:solidFill>
                  <a:srgbClr val="1E293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Teoría Core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143000" y="3228975"/>
            <a:ext cx="4667250" cy="300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8:00 PM - 8:15 PM</a:t>
            </a:r>
            <a:r>
              <a:rPr b="0" i="0" lang="en-US" sz="1425" u="none" cap="none" strike="noStrike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b="0" i="0" lang="en-US" sz="1425" u="none" cap="none" strike="noStrike">
                <a:solidFill>
                  <a:srgbClr val="1E293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Descanso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143000" y="3719512"/>
            <a:ext cx="46672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8:15 PM - 9:00 PM</a:t>
            </a:r>
            <a:r>
              <a:rPr b="0" i="0" lang="en-US" sz="1425" u="none" cap="none" strike="noStrike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b="0" i="0" lang="en-US" sz="1425" u="none" cap="none" strike="noStrike">
                <a:solidFill>
                  <a:srgbClr val="1E293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Taller Guiado</a:t>
            </a:r>
            <a:r>
              <a:rPr b="0" i="0" lang="en-US" sz="1425" u="none" cap="none" strike="noStrike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b="0" i="1" lang="en-US" sz="1425" u="none" cap="none" strike="noStrike">
                <a:solidFill>
                  <a:srgbClr val="64748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* Calificable: Entrega máxima el domingo a las 11:59 PM.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143000" y="4486275"/>
            <a:ext cx="4667250" cy="300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9:00 PM - 9:05 PM</a:t>
            </a:r>
            <a:r>
              <a:rPr b="0" i="0" lang="en-US" sz="1425" u="none" cap="none" strike="noStrike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b="0" i="0" lang="en-US" sz="1425" u="none" cap="none" strike="noStrike">
                <a:solidFill>
                  <a:srgbClr val="1E293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Quiz Corto de Comprobación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143000" y="4976812"/>
            <a:ext cx="4667250" cy="300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9:05 PM - 9:10 PM</a:t>
            </a:r>
            <a:r>
              <a:rPr b="0" i="0" lang="en-US" sz="1425" u="none" cap="none" strike="noStrike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b="0" i="0" lang="en-US" sz="1425" u="none" cap="none" strike="noStrike">
                <a:solidFill>
                  <a:srgbClr val="1E293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Cierre y Asistencia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0063" y="22860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733675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2242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71475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4481512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500" y="4972050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571500" y="661987"/>
            <a:ext cx="116016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Metodología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6229350"/>
            <a:ext cx="46672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571500" y="571500"/>
            <a:ext cx="55008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25" u="none" cap="none" strike="noStrike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Reglas de Juego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1143000" y="2097881"/>
            <a:ext cx="4667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Modalidad</a:t>
            </a: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Presencialidad asistida: Dos semanas en el mes la clase será virtual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1143000" y="3279793"/>
            <a:ext cx="4667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Participación Activa</a:t>
            </a:r>
            <a:r>
              <a:rPr b="0" i="0" lang="en-US" sz="1650" u="none" cap="none" strike="noStrike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La </a:t>
            </a: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asignatura </a:t>
            </a:r>
            <a:r>
              <a:rPr b="0" i="0" lang="en-US" sz="1650" u="none" cap="none" strike="noStrike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se aprende haciendo, no solo mirando.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143000" y="5530131"/>
            <a:ext cx="4667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Metodología Dual</a:t>
            </a:r>
            <a:r>
              <a:rPr b="0" i="0" lang="en-US" sz="1650" u="none" cap="none" strike="noStrike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Miércoles (Código en Java) + Jueves (Diseño en Seminario).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93118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75031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525368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1143000" y="4456944"/>
            <a:ext cx="4667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Acuerdo Pedagogico</a:t>
            </a:r>
            <a:r>
              <a:rPr b="0" i="0" lang="en-US" sz="1650" u="none" cap="none" strike="noStrike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Acuerdo de clase que permite definir las reglas de juego</a:t>
            </a:r>
            <a:endParaRPr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2925" y="4527050"/>
            <a:ext cx="2381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76425"/>
            <a:ext cx="3524250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5" y="1876425"/>
            <a:ext cx="3524250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1876425"/>
            <a:ext cx="3524250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5162550"/>
            <a:ext cx="302895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81525" y="5162550"/>
            <a:ext cx="302895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43900" y="5162550"/>
            <a:ext cx="302895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819150" y="2238375"/>
            <a:ext cx="3028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1° CORTE</a:t>
            </a:r>
            <a:endParaRPr/>
          </a:p>
        </p:txBody>
      </p:sp>
      <p:pic>
        <p:nvPicPr>
          <p:cNvPr descr="image.png" id="158" name="Google Shape;15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9150" y="2752725"/>
            <a:ext cx="3028950" cy="685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9" name="Google Shape;159;p17"/>
          <p:cNvGraphicFramePr/>
          <p:nvPr/>
        </p:nvGraphicFramePr>
        <p:xfrm>
          <a:off x="819150" y="36290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{F40D32FF-5579-4937-8AD4-EED5ECB42346}</a:tableStyleId>
              </a:tblPr>
              <a:tblGrid>
                <a:gridCol w="2398650"/>
                <a:gridCol w="630275"/>
              </a:tblGrid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Parcial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A0"/>
                          </a:solidFill>
                          <a:latin typeface="Urbanist ExtraBold"/>
                          <a:ea typeface="Urbanist ExtraBold"/>
                          <a:cs typeface="Urbanist ExtraBold"/>
                          <a:sym typeface="Urbanist ExtraBold"/>
                        </a:rPr>
                        <a:t>10%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Talleres y Quiz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A0"/>
                          </a:solidFill>
                          <a:latin typeface="Urbanist ExtraBold"/>
                          <a:ea typeface="Urbanist ExtraBold"/>
                          <a:cs typeface="Urbanist ExtraBold"/>
                          <a:sym typeface="Urbanist ExtraBold"/>
                        </a:rPr>
                        <a:t>10%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Asistencia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A0"/>
                          </a:solidFill>
                          <a:latin typeface="Urbanist ExtraBold"/>
                          <a:ea typeface="Urbanist ExtraBold"/>
                          <a:cs typeface="Urbanist ExtraBold"/>
                          <a:sym typeface="Urbanist ExtraBold"/>
                        </a:rPr>
                        <a:t>10%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0" name="Google Shape;160;p17"/>
          <p:cNvSpPr txBox="1"/>
          <p:nvPr/>
        </p:nvSpPr>
        <p:spPr>
          <a:xfrm>
            <a:off x="4581525" y="2238375"/>
            <a:ext cx="3028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2° CORTE</a:t>
            </a:r>
            <a:endParaRPr/>
          </a:p>
        </p:txBody>
      </p:sp>
      <p:pic>
        <p:nvPicPr>
          <p:cNvPr descr="image.png" id="161" name="Google Shape;161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81525" y="2752725"/>
            <a:ext cx="3028950" cy="685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2" name="Google Shape;162;p17"/>
          <p:cNvGraphicFramePr/>
          <p:nvPr/>
        </p:nvGraphicFramePr>
        <p:xfrm>
          <a:off x="4581525" y="36290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{F40D32FF-5579-4937-8AD4-EED5ECB42346}</a:tableStyleId>
              </a:tblPr>
              <a:tblGrid>
                <a:gridCol w="2398650"/>
                <a:gridCol w="630275"/>
              </a:tblGrid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Parcial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A0"/>
                          </a:solidFill>
                          <a:latin typeface="Urbanist ExtraBold"/>
                          <a:ea typeface="Urbanist ExtraBold"/>
                          <a:cs typeface="Urbanist ExtraBold"/>
                          <a:sym typeface="Urbanist ExtraBold"/>
                        </a:rPr>
                        <a:t>10%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Talleres y Quiz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A0"/>
                          </a:solidFill>
                          <a:latin typeface="Urbanist ExtraBold"/>
                          <a:ea typeface="Urbanist ExtraBold"/>
                          <a:cs typeface="Urbanist ExtraBold"/>
                          <a:sym typeface="Urbanist ExtraBold"/>
                        </a:rPr>
                        <a:t>10%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Asistencia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A0"/>
                          </a:solidFill>
                          <a:latin typeface="Urbanist ExtraBold"/>
                          <a:ea typeface="Urbanist ExtraBold"/>
                          <a:cs typeface="Urbanist ExtraBold"/>
                          <a:sym typeface="Urbanist ExtraBold"/>
                        </a:rPr>
                        <a:t>10%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" name="Google Shape;163;p17"/>
          <p:cNvSpPr txBox="1"/>
          <p:nvPr/>
        </p:nvSpPr>
        <p:spPr>
          <a:xfrm>
            <a:off x="8343900" y="2238375"/>
            <a:ext cx="3028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3° CORTE</a:t>
            </a:r>
            <a:endParaRPr/>
          </a:p>
        </p:txBody>
      </p:sp>
      <p:pic>
        <p:nvPicPr>
          <p:cNvPr descr="image.png" id="164" name="Google Shape;164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43900" y="2752725"/>
            <a:ext cx="3028950" cy="685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5" name="Google Shape;165;p17"/>
          <p:cNvGraphicFramePr/>
          <p:nvPr/>
        </p:nvGraphicFramePr>
        <p:xfrm>
          <a:off x="8343900" y="36290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{F40D32FF-5579-4937-8AD4-EED5ECB42346}</a:tableStyleId>
              </a:tblPr>
              <a:tblGrid>
                <a:gridCol w="2485275"/>
                <a:gridCol w="543675"/>
              </a:tblGrid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Parcial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A0"/>
                          </a:solidFill>
                          <a:latin typeface="Urbanist ExtraBold"/>
                          <a:ea typeface="Urbanist ExtraBold"/>
                          <a:cs typeface="Urbanist ExtraBold"/>
                          <a:sym typeface="Urbanist ExtraBold"/>
                        </a:rPr>
                        <a:t>15%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Proyecto Integrador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A0"/>
                          </a:solidFill>
                          <a:latin typeface="Urbanist ExtraBold"/>
                          <a:ea typeface="Urbanist ExtraBold"/>
                          <a:cs typeface="Urbanist ExtraBold"/>
                          <a:sym typeface="Urbanist ExtraBold"/>
                        </a:rPr>
                        <a:t>20%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Asistencia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A0"/>
                          </a:solidFill>
                          <a:latin typeface="Urbanist ExtraBold"/>
                          <a:ea typeface="Urbanist ExtraBold"/>
                          <a:cs typeface="Urbanist ExtraBold"/>
                          <a:sym typeface="Urbanist ExtraBold"/>
                        </a:rPr>
                        <a:t>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6" name="Google Shape;166;p17"/>
          <p:cNvSpPr txBox="1"/>
          <p:nvPr/>
        </p:nvSpPr>
        <p:spPr>
          <a:xfrm>
            <a:off x="942975" y="2876550"/>
            <a:ext cx="2781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Inicio: [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04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/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03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/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2026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]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942975" y="3095625"/>
            <a:ext cx="2781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Fin: [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08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/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04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/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2026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]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819150" y="4062412"/>
            <a:ext cx="23986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3217812" y="4062412"/>
            <a:ext cx="630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4705350" y="2876550"/>
            <a:ext cx="2781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Inicio: [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15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/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04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/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2026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]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4705350" y="3095625"/>
            <a:ext cx="2781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Fin: [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13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/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05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/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2026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]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4581525" y="4062412"/>
            <a:ext cx="23986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6980187" y="4062412"/>
            <a:ext cx="630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8467725" y="2876550"/>
            <a:ext cx="2781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Inicio: [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20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/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05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/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2026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]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8467725" y="3095625"/>
            <a:ext cx="2781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Fin: [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17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/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06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/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2026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]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8343900" y="4062412"/>
            <a:ext cx="24852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10829180" y="4062412"/>
            <a:ext cx="5436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8" name="Google Shape;178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23975" y="28860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04937" y="310515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/>
          <p:nvPr/>
        </p:nvSpPr>
        <p:spPr>
          <a:xfrm>
            <a:off x="819150" y="4510087"/>
            <a:ext cx="23986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3217812" y="4510087"/>
            <a:ext cx="630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819150" y="4957762"/>
            <a:ext cx="23986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3217812" y="4957762"/>
            <a:ext cx="630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4" name="Google Shape;184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086350" y="28860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167312" y="310515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7"/>
          <p:cNvSpPr/>
          <p:nvPr/>
        </p:nvSpPr>
        <p:spPr>
          <a:xfrm>
            <a:off x="4581525" y="4510087"/>
            <a:ext cx="23986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6980187" y="4510087"/>
            <a:ext cx="630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4581525" y="4957762"/>
            <a:ext cx="23986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6980187" y="4957762"/>
            <a:ext cx="630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0" name="Google Shape;190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848725" y="28860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929687" y="310515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7"/>
          <p:cNvSpPr/>
          <p:nvPr/>
        </p:nvSpPr>
        <p:spPr>
          <a:xfrm>
            <a:off x="8343900" y="4510087"/>
            <a:ext cx="24852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10829180" y="4510087"/>
            <a:ext cx="5436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8343900" y="4957762"/>
            <a:ext cx="24852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10829180" y="4957762"/>
            <a:ext cx="5436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571500" y="919162"/>
            <a:ext cx="116016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0050A0"/>
                </a:solidFill>
                <a:highlight>
                  <a:schemeClr val="lt1"/>
                </a:highlight>
                <a:latin typeface="Urbanist"/>
                <a:ea typeface="Urbanist"/>
                <a:cs typeface="Urbanist"/>
                <a:sym typeface="Urbanist"/>
              </a:rPr>
              <a:t>Aspectos de Evaluación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"/>
          <p:cNvSpPr txBox="1"/>
          <p:nvPr/>
        </p:nvSpPr>
        <p:spPr>
          <a:xfrm>
            <a:off x="590400" y="2851800"/>
            <a:ext cx="116016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Listado de Sesiones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 txBox="1"/>
          <p:nvPr/>
        </p:nvSpPr>
        <p:spPr>
          <a:xfrm>
            <a:off x="1091839" y="482975"/>
            <a:ext cx="10008300" cy="66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1 - Lectura sobre estructuras de datos.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2 - Implementación de listas simples.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3 - Desarrollo de prácticas guiadas.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4 - Análisis y aplicación de mapas.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5 - Diseño de ventanas simples.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6 - Implementación de eventos en interfaces.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7 - Aplicación de patrones en proyectos.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8 - Elaboración de documentación técnica.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9 - Refactorización con apoyo de IA.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10 - Lectura y escritura de archivos.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11 - Revisión de avances con IA.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12 - Ensamblaje de componentes del proyecto.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13 - Manejo avanzado de errores.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14 - Creación de presentaciones y demostraciones.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15 - Evaluación de proyectos.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16 - Entrega del informe final.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50A0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0050A0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00275"/>
            <a:ext cx="3492549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200275"/>
            <a:ext cx="3492549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200275"/>
            <a:ext cx="3492549" cy="3705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1637615" y="3971925"/>
            <a:ext cx="136017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Java (JDK)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866775" y="4391025"/>
            <a:ext cx="290199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Lenguaje de programación principal del curso. Fundamental para entender y aplicar los conceptos de la lógica orientada a objetos.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4960858" y="3971925"/>
            <a:ext cx="22702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Apache NetBeans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4645074" y="4391025"/>
            <a:ext cx="290199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Entorno de Desarrollo Integrado (IDE) oficial del curso para la construcción, compilación y depuración de nuestros proyectos.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9359235" y="3971925"/>
            <a:ext cx="103012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JDoodle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8423374" y="4391025"/>
            <a:ext cx="290199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Plataforma y compilador online ligero para la ejecución y prueba rápida de fragmentos de código Java sin necesidad de instalación.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571500" y="1394037"/>
            <a:ext cx="116016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Recursos y Software</a:t>
            </a:r>
            <a:endParaRPr/>
          </a:p>
        </p:txBody>
      </p:sp>
      <p:pic>
        <p:nvPicPr>
          <p:cNvPr id="221" name="Google Shape;22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29341" y="2472525"/>
            <a:ext cx="1176859" cy="134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00989" y="2536425"/>
            <a:ext cx="1390173" cy="134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124781" y="2472525"/>
            <a:ext cx="1725844" cy="134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6500" y="6143625"/>
            <a:ext cx="15240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590400" y="2851800"/>
            <a:ext cx="116016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¿Alguna Pregunta?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