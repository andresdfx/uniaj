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6858000" cy="9144000"/>
  <p:embeddedFontLst>
    <p:embeddedFont>
      <p:font typeface="Merriweather"/>
      <p:regular r:id="rId12"/>
      <p:bold r:id="rId13"/>
      <p:italic r:id="rId14"/>
      <p:boldItalic r:id="rId15"/>
    </p:embeddedFont>
    <p:embeddedFont>
      <p:font typeface="DM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erriweather-bold.fntdata"/><Relationship Id="rId12" Type="http://schemas.openxmlformats.org/officeDocument/2006/relationships/font" Target="fonts/Merriweather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boldItalic.fntdata"/><Relationship Id="rId14" Type="http://schemas.openxmlformats.org/officeDocument/2006/relationships/font" Target="fonts/Merriweather-italic.fntdata"/><Relationship Id="rId17" Type="http://schemas.openxmlformats.org/officeDocument/2006/relationships/font" Target="fonts/DMSans-bold.fntdata"/><Relationship Id="rId16" Type="http://schemas.openxmlformats.org/officeDocument/2006/relationships/font" Target="fonts/DMSans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2465546" y="2474565"/>
            <a:ext cx="7260907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75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Mapas y Conjuntos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5381625" y="3503265"/>
            <a:ext cx="1428750" cy="38100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638425" y="3827115"/>
            <a:ext cx="69151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Colecciones Avanzadas (HashMap y HashSet) - Proyecto VetCare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/>
          <p:nvPr/>
        </p:nvSpPr>
        <p:spPr>
          <a:xfrm>
            <a:off x="5619750" y="2587079"/>
            <a:ext cx="95250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815464" y="2920454"/>
            <a:ext cx="856107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Optimización y Rendimiento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2286000" y="3825329"/>
            <a:ext cx="762000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Aprenderemos a buscar datos en milisegundos y a evitar registros duplicados de forma automática en nuestra memoria temporal.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8" name="Google Shape;9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862137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HashSet (Conjuntos Únicos)</a:t>
            </a:r>
            <a:endParaRPr/>
          </a:p>
        </p:txBody>
      </p:sp>
      <p:sp>
        <p:nvSpPr>
          <p:cNvPr id="100" name="Google Shape;100;p15"/>
          <p:cNvSpPr txBox="1"/>
          <p:nvPr/>
        </p:nvSpPr>
        <p:spPr>
          <a:xfrm>
            <a:off x="581025" y="1862137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La regla de la exclusividad</a:t>
            </a:r>
            <a:endParaRPr/>
          </a:p>
        </p:txBody>
      </p:sp>
      <p:sp>
        <p:nvSpPr>
          <p:cNvPr id="101" name="Google Shape;101;p15"/>
          <p:cNvSpPr txBox="1"/>
          <p:nvPr/>
        </p:nvSpPr>
        <p:spPr>
          <a:xfrm>
            <a:off x="581025" y="2366962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interfaz Set en Java representa una colección matemática: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no admite elementos duplicados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752475" y="31289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19150" y="31289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Concepto: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intentas guardar dos veces "Perro", Java ignorará el segundo intento silenciosamente.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752475" y="3881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19150" y="3881437"/>
            <a:ext cx="503872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Desordenado: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No mantiene el orden de inserción. No hay índices (no existe get(0)).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752475" y="46434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19150" y="46434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Uso en VetCare: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Ideal para mantener un catálogo de especies únicas atendidas, sin importar la cantidad.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52475" y="53959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819150" y="5395912"/>
            <a:ext cx="50387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Método Clave: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add(elemento).</a:t>
            </a:r>
            <a:endParaRPr/>
          </a:p>
        </p:txBody>
      </p:sp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62137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719262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HashMap (Diccionarios Clave-Valor)</a:t>
            </a:r>
            <a:endParaRPr/>
          </a:p>
        </p:txBody>
      </p:sp>
      <p:sp>
        <p:nvSpPr>
          <p:cNvPr id="117" name="Google Shape;117;p16"/>
          <p:cNvSpPr txBox="1"/>
          <p:nvPr/>
        </p:nvSpPr>
        <p:spPr>
          <a:xfrm>
            <a:off x="581025" y="1719262"/>
            <a:ext cx="5540692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Búsqueda Instantánea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2224087"/>
            <a:ext cx="52768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La interfaz Map almacena pares de datos: una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Clave (Key)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y un </a:t>
            </a: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Valor (Value)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752475" y="2986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19150" y="298608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Concepto: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Funciona como un diccionario. Buscas la palabra (Clave) y obtienes su definición (Valor).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752475" y="37385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19150" y="373856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Rendimiento: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Permite encontrar un registro en tiempo constante O(1).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752475" y="44910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19150" y="4491037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Regla: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Las Claves deben ser únicas (ej. ID de la Mascota), los Valores pueden repetirse.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752475" y="524351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19150" y="5243512"/>
            <a:ext cx="50387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Uso en VetCare: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Reemplazará nuestra base de datos para buscar pacientes directamente por su ID.</a:t>
            </a:r>
            <a:endParaRPr/>
          </a:p>
        </p:txBody>
      </p:sp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719262"/>
            <a:ext cx="5276850" cy="381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824037"/>
            <a:ext cx="52768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24037"/>
            <a:ext cx="527685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71550" y="4767262"/>
            <a:ext cx="44958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24650" y="4919662"/>
            <a:ext cx="4495800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Traducción a Código Java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71550" y="224313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Métodos de HashSet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71550" y="27479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el catálogo de Especies Únicas: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6724650" y="2243137"/>
            <a:ext cx="472059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Métodos de HashMap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6724650" y="2747962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Para la Base de Datos Rápida (ID -&gt; Mascota):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1143000" y="3195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1209675" y="31956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add(elemento): Añade si no existe. Retorna </a:t>
            </a:r>
            <a:r>
              <a:rPr b="0" i="1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false</a:t>
            </a: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 si ya estaba.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1143000" y="3957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1209675" y="39576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contains(elemento): Verifica si el dato existe en el conjunto.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896100" y="31956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962775" y="3195637"/>
            <a:ext cx="4257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put(clave, valor): Inserta o actualiza el par.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896100" y="3652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962775" y="3652837"/>
            <a:ext cx="4257675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get(clave): Devuelve el objeto asociado a esa clave (ej. ID 105).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6896100" y="44148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962775" y="4414837"/>
            <a:ext cx="42576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remove(clave): Elimina el registro por su clave.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8"/>
          <p:cNvSpPr txBox="1"/>
          <p:nvPr/>
        </p:nvSpPr>
        <p:spPr>
          <a:xfrm>
            <a:off x="305276" y="1980307"/>
            <a:ext cx="11581447" cy="962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50A0"/>
                </a:solidFill>
                <a:latin typeface="Merriweather"/>
                <a:ea typeface="Merriweather"/>
                <a:cs typeface="Merriweather"/>
                <a:sym typeface="Merriweather"/>
              </a:rPr>
              <a:t>¿Dudas Técnicas?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381625" y="3323332"/>
            <a:ext cx="1428750" cy="47625"/>
          </a:xfrm>
          <a:prstGeom prst="rect">
            <a:avLst/>
          </a:prstGeom>
          <a:solidFill>
            <a:srgbClr val="F5D4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81025" y="375195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A continuación: </a:t>
            </a:r>
            <a:r>
              <a:rPr b="1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Taller Guiado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81025" y="4338637"/>
            <a:ext cx="110299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rPr>
              <a:t>Refactorizando VetCare: Búsquedas por ID y control de Especies.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