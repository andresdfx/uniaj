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93B"/>
                </a:solidFill>
              </a:rPr>
              <a:t>Programación II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34155"/>
                </a:solidFill>
              </a:rPr>
              <a:t>Lectura y Escritura de Archivos en Java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334155"/>
                </a:solidFill>
              </a:rPr>
              <a:t>Programación Orientada a Objetos y Arquitectura de Software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AB308"/>
                </a:solidFill>
              </a:rPr>
              <a:t>Empezamos 6:45 PM ..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Julian Castaño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Ingeniero de Sistemas | Líder Técnico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Agenda de la Sesión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2000" b="1" dirty="0">
                <a:solidFill>
                  <a:srgbClr val="2563EB"/>
                </a:solidFill>
              </a:rPr>
              <a:t>6:30 PM - 6:40 PM </a:t>
            </a:r>
            <a:pPr indent="0" marL="0">
              <a:lnSpc>
                <a:spcPts val="3500"/>
              </a:lnSpc>
              <a:buNone/>
            </a:pPr>
            <a:r>
              <a:rPr lang="en-US" sz="2000" dirty="0">
                <a:solidFill>
                  <a:srgbClr val="334155"/>
                </a:solidFill>
              </a:rPr>
              <a:t> Dudas antes de inicio
</a:t>
            </a:r>
            <a:pPr indent="0" marL="0">
              <a:lnSpc>
                <a:spcPts val="3500"/>
              </a:lnSpc>
              <a:buNone/>
            </a:pPr>
            <a:r>
              <a:rPr lang="en-US" sz="2000" b="1" dirty="0">
                <a:solidFill>
                  <a:srgbClr val="2563EB"/>
                </a:solidFill>
              </a:rPr>
              <a:t>6:40 PM - 8:00 PM </a:t>
            </a:r>
            <a:pPr indent="0" marL="0">
              <a:lnSpc>
                <a:spcPts val="3500"/>
              </a:lnSpc>
              <a:buNone/>
            </a:pPr>
            <a:r>
              <a:rPr lang="en-US" sz="2000" dirty="0">
                <a:solidFill>
                  <a:srgbClr val="334155"/>
                </a:solidFill>
              </a:rPr>
              <a:t> Teoría Core
</a:t>
            </a:r>
            <a:pPr indent="0" marL="0">
              <a:lnSpc>
                <a:spcPts val="3500"/>
              </a:lnSpc>
              <a:buNone/>
            </a:pPr>
            <a:r>
              <a:rPr lang="en-US" sz="2000" b="1" dirty="0">
                <a:solidFill>
                  <a:srgbClr val="EAB308"/>
                </a:solidFill>
              </a:rPr>
              <a:t>8:00 PM - 8:15 PM </a:t>
            </a:r>
            <a:pPr indent="0" marL="0">
              <a:lnSpc>
                <a:spcPts val="3500"/>
              </a:lnSpc>
              <a:buNone/>
            </a:pPr>
            <a:r>
              <a:rPr lang="en-US" sz="2000" dirty="0">
                <a:solidFill>
                  <a:srgbClr val="334155"/>
                </a:solidFill>
              </a:rPr>
              <a:t> Descanso
</a:t>
            </a:r>
            <a:pPr indent="0" marL="0">
              <a:lnSpc>
                <a:spcPts val="3500"/>
              </a:lnSpc>
              <a:buNone/>
            </a:pPr>
            <a:r>
              <a:rPr lang="en-US" sz="2000" b="1" dirty="0">
                <a:solidFill>
                  <a:srgbClr val="2563EB"/>
                </a:solidFill>
              </a:rPr>
              <a:t>8:15 PM - 9:00 PM </a:t>
            </a:r>
            <a:pPr indent="0" marL="0">
              <a:lnSpc>
                <a:spcPts val="3500"/>
              </a:lnSpc>
              <a:buNone/>
            </a:pPr>
            <a:r>
              <a:rPr lang="en-US" sz="2000" dirty="0">
                <a:solidFill>
                  <a:srgbClr val="334155"/>
                </a:solidFill>
              </a:rPr>
              <a:t> Taller Guiado * Calificable
</a:t>
            </a:r>
            <a:pPr indent="0" marL="0">
              <a:lnSpc>
                <a:spcPts val="3500"/>
              </a:lnSpc>
              <a:buNone/>
            </a:pPr>
            <a:r>
              <a:rPr lang="en-US" sz="2000" b="1" dirty="0">
                <a:solidFill>
                  <a:srgbClr val="2563EB"/>
                </a:solidFill>
              </a:rPr>
              <a:t>9:00 PM - 9:05 PM </a:t>
            </a:r>
            <a:pPr indent="0" marL="0">
              <a:lnSpc>
                <a:spcPts val="3500"/>
              </a:lnSpc>
              <a:buNone/>
            </a:pPr>
            <a:r>
              <a:rPr lang="en-US" sz="2000" dirty="0">
                <a:solidFill>
                  <a:srgbClr val="334155"/>
                </a:solidFill>
              </a:rPr>
              <a:t> Quiz Corto de Comprobación
</a:t>
            </a:r>
            <a:pPr indent="0" marL="0">
              <a:lnSpc>
                <a:spcPts val="3500"/>
              </a:lnSpc>
              <a:buNone/>
            </a:pPr>
            <a:r>
              <a:rPr lang="en-US" sz="2000" b="1" dirty="0">
                <a:solidFill>
                  <a:srgbClr val="2563EB"/>
                </a:solidFill>
              </a:rPr>
              <a:t>9:05 PM - 9:10 PM </a:t>
            </a:r>
            <a:pPr indent="0" marL="0">
              <a:lnSpc>
                <a:spcPts val="3500"/>
              </a:lnSpc>
              <a:buNone/>
            </a:pPr>
            <a:r>
              <a:rPr lang="en-US" sz="2000" dirty="0">
                <a:solidFill>
                  <a:srgbClr val="334155"/>
                </a:solidFill>
              </a:rPr>
              <a:t> Cierre y Asistencia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Teoría Core: Persistencia de Datos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El Problema de la Memoria Volátil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Hasta ahora, los objetos que creamos con 'new' viven en la memoria RAM. Al cerrar NetBeans o detener la ejecución en Replit, los datos de nuestro proyecto desaparecen.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La Solución: java.io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Para construir sistemas reales (como clínicas o inventarios), necesitamos guardar la información en el Disco Duro usando archivos de texto (.txt, .csv) o bases de datos.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Clases Fundamentales de I/O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File:</a:t>
            </a:r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 Representa la ruta y el archivo físico en tu sistema operativo.
</a:t>
            </a:r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FileReader / FileWriter:</a:t>
            </a:r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 Leen o escriben caracteres básicos, flujo directo.
</a:t>
            </a:r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BufferedReader / PrintWriter:</a:t>
            </a:r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 Envuelven a las clases anteriores para optimizar el proceso (crean un buffer en memoria) y ofrecen métodos más fáciles de usar, como leer o escribir línea por línea.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Lectura de Archivos (BufferedReader)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3474720"/>
          </a:xfrm>
          <a:prstGeom prst="rect">
            <a:avLst/>
          </a:prstGeom>
          <a:solidFill>
            <a:srgbClr val="282C3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java.io.*;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archivo = new File("datos.txt");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El bloque try/catch es OBLIGATORIO para manejar errores de disco (IOException)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(BufferedReader lector = new BufferedReader(new FileReader(archivo)))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linea;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Lee línea por línea hasta que el archivo termine (sea null)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((linea = lector.readLine()) != null)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System.out.println("Dato leído: " + linea);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(IOException e)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System.out.println("Error leyendo el archivo: " + e.getMessage());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Escritura de Archivos (PrintWriter)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3474720"/>
          </a:xfrm>
          <a:prstGeom prst="rect">
            <a:avLst/>
          </a:prstGeom>
          <a:solidFill>
            <a:srgbClr val="282C3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java.io.*;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archivo = new File("datos.txt");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NOTA CLAVE: El booleano 'true' en FileWriter activa el modo APPEND.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Esto significa que agrega texto al final, en vez de borrar todo el archivo.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 agregarAlFinal = true;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(PrintWriter escritor = new PrintWriter(new FileWriter(archivo, agregarAlFinal)))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escritor.println("Nueva entrada al sistema");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System.out.println("Guardado exitosamente");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(IOException e)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System.out.println("Error guardando el archivo: " + e.getMessage());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Taller Guiado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Práctica en clase (8:15 PM - 9:00 PM)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Entornos recomendados:
</a:t>
            </a:r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• Apache NetBeans (para integrar con sus proyectos locales)
</a:t>
            </a:r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• Replit / JDoodle (para pruebas rápidas en la nube)
</a:t>
            </a:r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Actividad:
</a:t>
            </a:r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1. Crear un programa que lea un archivo 'nombres.txt'.
</a:t>
            </a:r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2. Utilizar Scanner para pedir un nuevo nombre por consola.
</a:t>
            </a:r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3. Guardar ese nuevo nombre al final del archivo de texto.
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DC2626"/>
                </a:solidFill>
              </a:rPr>
              <a:t>* Calificable: Entrega máxima el domingo a las 11:59 PM.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Quiz Corto de Comprobación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Responde en el chat o levanta la mano: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solidFill>
            <a:srgbClr val="FEF08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¿Para qué sirve exactamente el parámetro 'true' en la siguiente línea de código?</a:t>
            </a:r>
            <a:endParaRPr lang="en-US" sz="2200" dirty="0"/>
          </a:p>
          <a:p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new FileWriter("archivo.txt", true)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9:05 PM - 9:10 PM: Cierre y Asistencia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2026-06-08T20:47:54Z</dcterms:created>
  <dcterms:modified xsi:type="dcterms:W3CDTF">2026-06-08T20:47:54Z</dcterms:modified>
</cp:coreProperties>
</file>