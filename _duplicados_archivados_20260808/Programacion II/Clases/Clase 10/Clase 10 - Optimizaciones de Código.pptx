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Merriweather"/>
      <p:regular r:id="rId12"/>
      <p:bold r:id="rId13"/>
      <p:italic r:id="rId14"/>
      <p:boldItalic r:id="rId15"/>
    </p:embeddedFont>
    <p:embeddedFont>
      <p:font typeface="DM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erriweather-bold.fntdata"/><Relationship Id="rId12" Type="http://schemas.openxmlformats.org/officeDocument/2006/relationships/font" Target="fonts/Merriweather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erriweather-boldItalic.fntdata"/><Relationship Id="rId14" Type="http://schemas.openxmlformats.org/officeDocument/2006/relationships/font" Target="fonts/Merriweather-italic.fntdata"/><Relationship Id="rId17" Type="http://schemas.openxmlformats.org/officeDocument/2006/relationships/font" Target="fonts/DMSans-bold.fntdata"/><Relationship Id="rId16" Type="http://schemas.openxmlformats.org/officeDocument/2006/relationships/font" Target="fonts/DM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boldItalic.fntdata"/><Relationship Id="rId6" Type="http://schemas.openxmlformats.org/officeDocument/2006/relationships/slide" Target="slides/slide1.xml"/><Relationship Id="rId18" Type="http://schemas.openxmlformats.org/officeDocument/2006/relationships/font" Target="fonts/DM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945481" y="2474565"/>
            <a:ext cx="8301037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75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Optimizaciones de Código</a:t>
            </a:r>
            <a:endParaRPr/>
          </a:p>
        </p:txBody>
      </p:sp>
      <p:sp>
        <p:nvSpPr>
          <p:cNvPr id="85" name="Google Shape;85;p13"/>
          <p:cNvSpPr/>
          <p:nvPr/>
        </p:nvSpPr>
        <p:spPr>
          <a:xfrm>
            <a:off x="5381625" y="3503265"/>
            <a:ext cx="142875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2143125" y="3827115"/>
            <a:ext cx="79057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Refactorización, Clean Code e Inteligencia Artificial (Clase 9)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/>
          <p:nvPr/>
        </p:nvSpPr>
        <p:spPr>
          <a:xfrm>
            <a:off x="5619750" y="2404169"/>
            <a:ext cx="952500" cy="47625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2355532" y="2737544"/>
            <a:ext cx="7480935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El Arte del Código Limpio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2286000" y="3642419"/>
            <a:ext cx="762000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Cualquier tonto puede escribir código que una computadora entienda. Los buenos programadores escriben código que los humanos puedan entender.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1833562"/>
            <a:ext cx="5276850" cy="404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833562"/>
            <a:ext cx="5276850" cy="404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Principios Clean Code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971550" y="2252662"/>
            <a:ext cx="472059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Nombres Significativos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971550" y="2757487"/>
            <a:ext cx="4495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Las variables y métodos deben revelar su intención instantáneamente.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6724650" y="2252662"/>
            <a:ext cx="472059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Métodos Pequeños y Únicos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6724650" y="2757487"/>
            <a:ext cx="4495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Una función debe hacer una sola cosa, y debe hacerla bien.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1143000" y="35099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1209675" y="3509962"/>
            <a:ext cx="42576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Malo: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int d; // tiempo transcurrido en días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1143000" y="39671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1209675" y="3967162"/>
            <a:ext cx="42576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Bueno: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int tiempoTranscurridoEnDias;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1143000" y="44243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1209675" y="4424362"/>
            <a:ext cx="4257675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Evita las abreviaturas crípticas y los "números mágicos" (ej. usar un 3 suelto sin explicar qué significa).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6896100" y="35099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6962775" y="3509962"/>
            <a:ext cx="42576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Si un método tiene más de 20 líneas, probablemente hace demasiadas cosas.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6896100" y="42624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6962775" y="4262437"/>
            <a:ext cx="42576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Principio DRY (Don't Repeat Yourself):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Si copias y pegas el mismo bloque de código 3 veces, debes extraerlo en un método separado.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" name="Google Shape;11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643062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Refactorización Continua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581025" y="1643062"/>
            <a:ext cx="554069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Mejorar sin romper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581025" y="2147887"/>
            <a:ext cx="5276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La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Refactorización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es el proceso de reestructurar el código fuente interno sin cambiar su comportamiento externo o funcional.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752475" y="32051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819150" y="3205162"/>
            <a:ext cx="50387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El código "Spaghetti":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Ocurre cuando parches sobre parches entrelazan la lógica (ej. mezclar validaciones de interfaz con guardado en bases de datos).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752475" y="42624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819150" y="4262437"/>
            <a:ext cx="50387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El Flujo Correcto: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Primero haz que funcione (Código Sucio) ➜ Luego escribe las pruebas (JUnit) ➜ Finalmente refactoriza con confianza (Clean Code).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752475" y="531971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819150" y="5319712"/>
            <a:ext cx="5038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En VetCare: Sacaremos las lógicas pesadas de los "ActionListeners" hacia clases especializadas (Servicios).</a:t>
            </a:r>
            <a:endParaRPr/>
          </a:p>
        </p:txBody>
      </p:sp>
      <p:pic>
        <p:nvPicPr>
          <p:cNvPr descr="image.png" id="129" name="Google Shape;12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643062"/>
            <a:ext cx="527685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7"/>
          <p:cNvSpPr txBox="1"/>
          <p:nvPr/>
        </p:nvSpPr>
        <p:spPr>
          <a:xfrm>
            <a:off x="581025" y="581025"/>
            <a:ext cx="5540692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Asistentes de IA (Copilot/ChatGPT)</a:t>
            </a:r>
            <a:endParaRPr/>
          </a:p>
        </p:txBody>
      </p:sp>
      <p:pic>
        <p:nvPicPr>
          <p:cNvPr descr="image.png" id="135" name="Google Shape;13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9525"/>
            <a:ext cx="58483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581025" y="1914525"/>
            <a:ext cx="554069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El Copiloto, no el Capitán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581025" y="2457450"/>
            <a:ext cx="5276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La IA Generativa ha transformado la ingeniería de software, pero no exime al arquitecto de conocer los principios de diseño.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581025" y="3514725"/>
            <a:ext cx="52768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Casos de uso correctos: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581025" y="6096000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El programador es el auditor final. Nunca pegues código de IA que no comprendas línea por línea.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895350" y="41148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962025" y="4114800"/>
            <a:ext cx="4895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"Refactoriza este método largo aplicando el principio DRY."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895350" y="47244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962025" y="4724400"/>
            <a:ext cx="4895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"Genera expresiones regulares para validar este campo de texto."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895350" y="53340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962025" y="5334000"/>
            <a:ext cx="4895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"Encuentra la causa de este NullPointerException en base a mi StackTrace."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8"/>
          <p:cNvSpPr txBox="1"/>
          <p:nvPr/>
        </p:nvSpPr>
        <p:spPr>
          <a:xfrm>
            <a:off x="305276" y="1980307"/>
            <a:ext cx="11581447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¿Dudas Técnicas?</a:t>
            </a:r>
            <a:endParaRPr/>
          </a:p>
        </p:txBody>
      </p:sp>
      <p:sp>
        <p:nvSpPr>
          <p:cNvPr id="151" name="Google Shape;151;p18"/>
          <p:cNvSpPr/>
          <p:nvPr/>
        </p:nvSpPr>
        <p:spPr>
          <a:xfrm>
            <a:off x="5381625" y="3323332"/>
            <a:ext cx="1428750" cy="47625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8"/>
          <p:cNvSpPr txBox="1"/>
          <p:nvPr/>
        </p:nvSpPr>
        <p:spPr>
          <a:xfrm>
            <a:off x="581025" y="3751957"/>
            <a:ext cx="110299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 continuación: </a:t>
            </a:r>
            <a:r>
              <a:rPr b="1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Taller Guiado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581025" y="4338637"/>
            <a:ext cx="110299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Aplicaremos Refactorización y Prompts de IA al código de VetCare.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