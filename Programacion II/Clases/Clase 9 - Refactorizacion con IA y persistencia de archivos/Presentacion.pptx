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Quinto, el catch vacío que se traga la IOException y deja al usuario creyendo que guardó.</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Guardar en disco significa convertir cada objeto Mascota en texto y escribirlo en un archivo que queda en el computador.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eso el error más desconcertante para un principiante es este: el programa corre sin lanzar ninguna excepción, dice 'guardado', y el archivo mascotas.csv aparece con cero bytes.</a:t>
            </a:r>
          </a:p>
          <a:p/>
          <a:p>
            <a:r>
              <a:t>Reemplaza al viejo patrón de finally con verificación de null, que casi nadie escribe bien.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Cargar al arrancar significa que el main construye el repositorio, pide cargar() y solo después muestra la ventana con la tabla ya poblada.</a:t>
            </a:r>
          </a:p>
          <a:p/>
          <a:p>
            <a:r>
              <a:t>Por eso conviene imprimir una vez ruta.toAbsolutePath() para que el estudiante sepa dónde buscarlo en vez de jurar que el programa no guardó nada.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9</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Refactorización con IA · Persistencia en archivos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los datos del sistema de la clinica no se pierdan al cerrar la ventana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Refactorización con IA · Persistencia en archivos — Que los datos del sistema de la clinica no se pierdan al cerrar la ventana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Refactorizar es cambiar la forma interna del código sin cambiar ni un...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Refactorizar es cambiar la forma interna del código sin cambiar ni un milímetro de su comportamiento externo.</a:t>
            </a:r>
          </a:p>
          <a:p>
            <a:pPr>
              <a:spcAft>
                <a:spcPts val="800"/>
              </a:spcAft>
            </a:pPr>
            <a:r>
              <a:rPr sz="2000" b="0" i="0">
                <a:solidFill>
                  <a:srgbClr val="333333"/>
                </a:solidFill>
                <a:latin typeface="Calibri"/>
              </a:rPr>
              <a:t>–   Si antes de tocar nada la aplicación registraba una mascota y mostraba 'Mascota registrada con ID M004', después de refactorizar tiene que registrar exactamente igual y mostrar exactamente el mismo mensaje</a:t>
            </a:r>
          </a:p>
          <a:p>
            <a:pPr>
              <a:spcAft>
                <a:spcPts val="800"/>
              </a:spcAft>
            </a:pPr>
            <a:r>
              <a:rPr sz="2000" b="0" i="0">
                <a:solidFill>
                  <a:srgbClr val="333333"/>
                </a:solidFill>
                <a:latin typeface="Calibri"/>
              </a:rPr>
              <a:t>–   Lo único que cambió es que el código quedó más fácil de leer y de modificar.</a:t>
            </a:r>
          </a:p>
          <a:p>
            <a:pPr>
              <a:spcAft>
                <a:spcPts val="800"/>
              </a:spcAft>
            </a:pPr>
            <a:r>
              <a:rPr sz="2000" b="0" i="0">
                <a:solidFill>
                  <a:srgbClr val="333333"/>
                </a:solidFill>
                <a:latin typeface="Calibri"/>
              </a:rPr>
              <a:t>–   En el sistema de la clinica el caso clásico es el manejador del botón Registrar: un método de noventa líneas que valida el nombre, convierte la edad, genera el ID consecutivo, arma la línea del CSV, abre el archivo, escribe y muestra el aviso.</a:t>
            </a:r>
          </a:p>
          <a:p>
            <a:pPr>
              <a:spcAft>
                <a:spcPts val="800"/>
              </a:spcAft>
            </a:pPr>
            <a:r>
              <a:rPr sz="2000" b="0" i="0">
                <a:solidFill>
                  <a:srgbClr val="333333"/>
                </a:solidFill>
                <a:latin typeface="Calibri"/>
              </a:rPr>
              <a:t>–   Refactorizarlo es partirlo en cuatro métodos con nombre propio (validar, generarId, aLineaCsv, escribirArchivo) y mover los dos últimos a una clase RepositorioMascotasCSV.</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Refactorizar es cambiar la forma interna del código sin cambiar ni un...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aquí va lo que refactorizar NO es: no es agregar funcionalidades nuevas, no es corregir errores de lógica, no es cambiar de librería, no es reescribir el proyecto desde cero.</a:t>
            </a:r>
          </a:p>
          <a:p>
            <a:pPr>
              <a:spcAft>
                <a:spcPts val="800"/>
              </a:spcAft>
            </a:pPr>
            <a:r>
              <a:rPr sz="2000" b="0" i="0">
                <a:solidFill>
                  <a:srgbClr val="333333"/>
                </a:solidFill>
                <a:latin typeface="Calibri"/>
              </a:rPr>
              <a:t>–   Si al terminar la aplicación hace algo distinto, eso ya no fue una refactorización: fue un cambio de requisitos disfrazado, y hay que probarlo como tal.</a:t>
            </a:r>
          </a:p>
          <a:p>
            <a:pPr>
              <a:spcAft>
                <a:spcPts val="800"/>
              </a:spcAft>
            </a:pPr>
            <a:r>
              <a:rPr sz="2000" b="0" i="0">
                <a:solidFill>
                  <a:srgbClr val="333333"/>
                </a:solidFill>
                <a:latin typeface="Calibri"/>
              </a:rPr>
              <a:t>–   La prueba de que el refactor salió bien es aburridamente simple: correr el mismo flujo con los mismos datos y obtener las mismas salidas.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code smell es un síntoma en el código que casi siempre anuncia un...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code smell es un síntoma en el código que casi siempre anuncia un problema mayor; no es un error de compilación ni una excepción, es un olor.</a:t>
            </a:r>
          </a:p>
          <a:p>
            <a:pPr>
              <a:spcAft>
                <a:spcPts val="800"/>
              </a:spcAft>
            </a:pPr>
            <a:r>
              <a:rPr sz="2000" b="0" i="0">
                <a:solidFill>
                  <a:srgbClr val="333333"/>
                </a:solidFill>
                <a:latin typeface="Calibri"/>
              </a:rPr>
              <a:t>–   Los que van a aparecer sí o sí en los proyectos del sistema de la clinica son seis.</a:t>
            </a:r>
          </a:p>
          <a:p>
            <a:pPr>
              <a:spcAft>
                <a:spcPts val="800"/>
              </a:spcAft>
            </a:pPr>
            <a:r>
              <a:rPr sz="2000" b="0" i="0">
                <a:solidFill>
                  <a:srgbClr val="333333"/>
                </a:solidFill>
                <a:latin typeface="Calibri"/>
              </a:rPr>
              <a:t>–   Primero, el método largo: el ActionListener del botón que hace de todo.</a:t>
            </a:r>
          </a:p>
          <a:p>
            <a:pPr>
              <a:spcAft>
                <a:spcPts val="800"/>
              </a:spcAft>
            </a:pPr>
            <a:r>
              <a:rPr sz="2000" b="0" i="0">
                <a:solidFill>
                  <a:srgbClr val="333333"/>
                </a:solidFill>
                <a:latin typeface="Calibri"/>
              </a:rPr>
              <a:t>–   Segundo, la duplicación: el mismo bucle de búsqueda por ID copiado y pegado en el botón Buscar, en el botón Editar y en el botón Eliminar</a:t>
            </a:r>
          </a:p>
          <a:p>
            <a:pPr>
              <a:spcAft>
                <a:spcPts val="800"/>
              </a:spcAft>
            </a:pPr>
            <a:r>
              <a:rPr sz="2000" b="0" i="0">
                <a:solidFill>
                  <a:srgbClr val="333333"/>
                </a:solidFill>
                <a:latin typeface="Calibri"/>
              </a:rPr>
              <a:t>–   De modo que cuando el criterio de búsqueda cambia hay que acordarse de arreglarlo en tres lugares y siempre se olvida uno.</a:t>
            </a:r>
          </a:p>
          <a:p>
            <a:pPr>
              <a:spcAft>
                <a:spcPts val="800"/>
              </a:spcAft>
            </a:pPr>
            <a:r>
              <a:rPr sz="2000" b="0" i="0">
                <a:solidFill>
                  <a:srgbClr val="333333"/>
                </a:solidFill>
                <a:latin typeface="Calibri"/>
              </a:rPr>
              <a:t>–   Tercero, los nombres opacos: ArrayList&lt;String[]&gt; a1, variables x, d, v, un método llamado proceso().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code smell es un síntoma en el código que casi siempre anuncia un...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Cuarto, los números mágicos: un if (edad &gt; 25) sin explicación, cuando lo correcto es una constante EDAD_MAXIMA = 25 con nombre.</a:t>
            </a:r>
          </a:p>
          <a:p>
            <a:pPr>
              <a:spcAft>
                <a:spcPts val="800"/>
              </a:spcAft>
            </a:pPr>
            <a:r>
              <a:rPr sz="2000" b="0" i="0">
                <a:solidFill>
                  <a:srgbClr val="333333"/>
                </a:solidFill>
                <a:latin typeface="Calibri"/>
              </a:rPr>
              <a:t>–   Sexto, la clase Dios: una única clase Principal que es ventana, es lista y es archivo al mismo tiempo.</a:t>
            </a:r>
          </a:p>
          <a:p>
            <a:pPr>
              <a:spcAft>
                <a:spcPts val="800"/>
              </a:spcAft>
            </a:pPr>
            <a:r>
              <a:rPr sz="2000" b="0" i="0">
                <a:solidFill>
                  <a:srgbClr val="333333"/>
                </a:solidFill>
                <a:latin typeface="Calibri"/>
              </a:rPr>
              <a:t>–   VS Code ayuda a atacarlos con acciones seguras: Rename Symbol (F2), y desde la bombilla o Ctrl+Shift+R los refactors «Extract Method» y «Move», que renombran o extraen actualizando todas las referencias, cosa que buscar y reemplazar a mano nunca garantiza.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Persistencia es lograr que los datos sobrevivan al proceso que los creó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Persistencia es lograr que los datos sobrevivan al proceso que los creó.</a:t>
            </a:r>
          </a:p>
          <a:p>
            <a:pPr>
              <a:spcAft>
                <a:spcPts val="800"/>
              </a:spcAft>
            </a:pPr>
            <a:r>
              <a:rPr sz="2000" b="0" i="0">
                <a:solidFill>
                  <a:srgbClr val="333333"/>
                </a:solidFill>
                <a:latin typeface="Calibri"/>
              </a:rPr>
              <a:t>–   Mientras la aplicación está corriendo, el ArrayList&lt;Mascota&gt; vive en la memoria RAM, que es rápida pero volátil: en el instante en que se cierra la ventana, el sistema operativo recupera esa memoria y las mascotas se evaporan.</a:t>
            </a:r>
          </a:p>
          <a:p>
            <a:pPr>
              <a:spcAft>
                <a:spcPts val="800"/>
              </a:spcAft>
            </a:pPr>
            <a:r>
              <a:rPr sz="2000" b="0" i="0">
                <a:solidFill>
                  <a:srgbClr val="333333"/>
                </a:solidFill>
                <a:latin typeface="Calibri"/>
              </a:rPr>
              <a:t>–   Un.txt es texto libre, sirve para una bitácora o un log; un.csv es texto también</a:t>
            </a:r>
          </a:p>
          <a:p>
            <a:pPr>
              <a:spcAft>
                <a:spcPts val="800"/>
              </a:spcAft>
            </a:pPr>
            <a:r>
              <a:rPr sz="2000" b="0" i="0">
                <a:solidFill>
                  <a:srgbClr val="333333"/>
                </a:solidFill>
                <a:latin typeface="Calibri"/>
              </a:rPr>
              <a:t>–   Pero con una estructura tabular acordada: una línea por registro, campos separados por un carácter separador y, opcionalmente, una primera línea de encabezado que documenta el orden de las columnas.</a:t>
            </a:r>
          </a:p>
          <a:p>
            <a:pPr>
              <a:spcAft>
                <a:spcPts val="800"/>
              </a:spcAft>
            </a:pPr>
            <a:r>
              <a:rPr sz="2000" b="0" i="0">
                <a:solidFill>
                  <a:srgbClr val="333333"/>
                </a:solidFill>
                <a:latin typeface="Calibri"/>
              </a:rPr>
              <a:t>–   Para el sistema de la clinica la línea acordada es M001;Firulais;Canino;4;1144556677 con encabezado id;nombre;especie;edad;cedula_dueno.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Persistencia es lograr que los datos sobrevivan al proceso que los creó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Usamos punto y coma y no coma por dos razones muy prácticas: los nombres y las direcciones de los dueños suelen traer comas y le romperían la línea al programa</a:t>
            </a:r>
          </a:p>
          <a:p>
            <a:pPr>
              <a:spcAft>
                <a:spcPts val="800"/>
              </a:spcAft>
            </a:pPr>
            <a:r>
              <a:rPr sz="2000" b="0" i="0">
                <a:solidFill>
                  <a:srgbClr val="333333"/>
                </a:solidFill>
                <a:latin typeface="Calibri"/>
              </a:rPr>
              <a:t>–   Y el Excel en configuración regional de Colombia abre los archivos separados por punto y coma sin pedir nada.</a:t>
            </a:r>
          </a:p>
          <a:p>
            <a:pPr>
              <a:spcAft>
                <a:spcPts val="800"/>
              </a:spcAft>
            </a:pPr>
            <a:r>
              <a:rPr sz="2000" b="0" i="0">
                <a:solidFill>
                  <a:srgbClr val="333333"/>
                </a:solidFill>
                <a:latin typeface="Calibri"/>
              </a:rPr>
              <a:t>–   La ventaja enorme del CSV frente a un formato binario es que se puede abrir en el Bloc de notas y ver el dato: cuando algo falla, el estudiante ve con sus ojos si el problema está en lo que escribió o en cómo lo leyó.</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archivo abierto es un recurso del sistema operativo, y todo recurso...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archivo abierto es un recurso del sistema operativo, y todo recurso hay que cerrarlo.</a:t>
            </a:r>
          </a:p>
          <a:p>
            <a:pPr>
              <a:spcAft>
                <a:spcPts val="800"/>
              </a:spcAft>
            </a:pPr>
            <a:r>
              <a:rPr sz="2000" b="0" i="0">
                <a:solidFill>
                  <a:srgbClr val="333333"/>
                </a:solidFill>
                <a:latin typeface="Calibri"/>
              </a:rPr>
              <a:t>–   Cuando se escribe con un BufferedWriter, el texto no viaja al disco letra por letra: se acumula en un buffer en memoria y se vuelca cuando el buffer se llena o cuando se cierra el flujo.</a:t>
            </a:r>
          </a:p>
          <a:p>
            <a:pPr>
              <a:spcAft>
                <a:spcPts val="800"/>
              </a:spcAft>
            </a:pPr>
            <a:r>
              <a:rPr sz="2000" b="0" i="0">
                <a:solidFill>
                  <a:srgbClr val="333333"/>
                </a:solidFill>
                <a:latin typeface="Calibri"/>
              </a:rPr>
              <a:t>–   No se cerró el escritor y lo que estaba en el buffer nunca bajó al disco.</a:t>
            </a:r>
          </a:p>
          <a:p>
            <a:pPr>
              <a:spcAft>
                <a:spcPts val="800"/>
              </a:spcAft>
            </a:pPr>
            <a:r>
              <a:rPr sz="2000" b="0" i="0">
                <a:solidFill>
                  <a:srgbClr val="333333"/>
                </a:solidFill>
                <a:latin typeface="Calibri"/>
              </a:rPr>
              <a:t>–   La solución moderna es try-with-resources: se declara el recurso entre paréntesis, try (BufferedWriter salida = Files.newBufferedWriter(ruta, StandardCharsets.UTF_8)) {... }</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archivo abierto es un recurso del sistema operativo, y todo recurso...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Java garantiza que se llama a close() al salir del bloque, ocurra lo que ocurra, incluso si se lanzó una excepción en la mitad.</a:t>
            </a:r>
          </a:p>
          <a:p>
            <a:pPr>
              <a:spcAft>
                <a:spcPts val="800"/>
              </a:spcAft>
            </a:pPr>
            <a:r>
              <a:rPr sz="2000" b="0" i="0">
                <a:solidFill>
                  <a:srgbClr val="333333"/>
                </a:solidFill>
                <a:latin typeface="Calibri"/>
              </a:rPr>
              <a:t>–   Además, IOException es una excepción verificada: el compilador obliga a capturarla o a declararla, y eso no es una molestia, es el lenguaje recordando que el disco puede estar lleno, el archivo puede estar abierto en Excel o la ruta puede no existir.</a:t>
            </a:r>
          </a:p>
          <a:p>
            <a:pPr>
              <a:spcAft>
                <a:spcPts val="800"/>
              </a:spcAft>
            </a:pPr>
            <a:r>
              <a:rPr sz="2000" b="0" i="0">
                <a:solidFill>
                  <a:srgbClr val="333333"/>
                </a:solidFill>
                <a:latin typeface="Calibri"/>
              </a:rPr>
              <a:t>–   Especificar StandardCharsets.UTF_8 no es adorno: es lo que evita que 'Ñoño' vuelva del archivo convertido en símbolos raros.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persistencia se conecta al ciclo de vida de la aplicación en dos...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persistencia se conecta al ciclo de vida de la aplicación en dos puntos: se carga al arrancar y se guarda al cerrar (o después de cada cambio, si se quiere ser más seguro).</a:t>
            </a:r>
          </a:p>
          <a:p>
            <a:pPr>
              <a:spcAft>
                <a:spcPts val="800"/>
              </a:spcAft>
            </a:pPr>
            <a:r>
              <a:rPr sz="2000" b="0" i="0">
                <a:solidFill>
                  <a:srgbClr val="333333"/>
                </a:solidFill>
                <a:latin typeface="Calibri"/>
              </a:rPr>
              <a:t>–   Y cargar tiene que ser defensivo, porque el archivo es del mundo real: si mascotas.csv no existe todavía, cargar() devuelve una lista vacía y la aplicación abre normalmente, no revienta con una excepción en la cara del usuario</a:t>
            </a:r>
          </a:p>
          <a:p>
            <a:pPr>
              <a:spcAft>
                <a:spcPts val="800"/>
              </a:spcAft>
            </a:pPr>
            <a:r>
              <a:rPr sz="2000" b="0" i="0">
                <a:solidFill>
                  <a:srgbClr val="333333"/>
                </a:solidFill>
                <a:latin typeface="Calibri"/>
              </a:rPr>
              <a:t>–   Si una línea quedó con cuatro campos en vez de cinco porque alguien la editó en el Bloc de notas, esa línea se ignora, se avisa por consola con el número de línea y las demás sí se cargan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persistencia se conecta al ciclo de vida de la aplicación en dos...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la edad viene como 'dos', el Integer.parseInt lanza NumberFormatException, se captura, se descarta ese registro y se sigue.</a:t>
            </a:r>
          </a:p>
          <a:p>
            <a:pPr>
              <a:spcAft>
                <a:spcPts val="800"/>
              </a:spcAft>
            </a:pPr>
            <a:r>
              <a:rPr sz="2000" b="0" i="0">
                <a:solidFill>
                  <a:srgbClr val="333333"/>
                </a:solidFill>
                <a:latin typeface="Calibri"/>
              </a:rPr>
              <a:t>–   La regla es que un dato malo no puede tumbar la aplicación completa.</a:t>
            </a:r>
          </a:p>
          <a:p>
            <a:pPr>
              <a:spcAft>
                <a:spcPts val="800"/>
              </a:spcAft>
            </a:pPr>
            <a:r>
              <a:rPr sz="2000" b="0" i="0">
                <a:solidFill>
                  <a:srgbClr val="333333"/>
                </a:solidFill>
                <a:latin typeface="Calibri"/>
              </a:rPr>
              <a:t>–   Del lado de la escritura, el detalle que muerde es la ruta: si se usa la ruta relativa "mascotas.csv", el archivo queda en el directorio de trabajo, que al ejecutar desde VS Code es la carpeta del proyecto.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ClinicaPersistencia.java — class ClinicaPersistencia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public class ClinicaPersistencia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ClinicaPersistencia.java — main() (1/2)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public static void main(String[] args) {</a:t>
            </a:r>
          </a:p>
          <a:p>
            <a:pPr>
              <a:spcAft>
                <a:spcPts val="400"/>
              </a:spcAft>
            </a:pPr>
            <a:r>
              <a:rPr sz="1400" b="0" i="0">
                <a:solidFill>
                  <a:srgbClr val="FFFFFF"/>
                </a:solidFill>
                <a:latin typeface="Calibri"/>
              </a:rPr>
              <a:t>        RepositorioMascotasCSV repositorio = new RepositorioMascotasCSV("mascotas.csv");</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System.out.println("=== Clinica: arranque ===");</a:t>
            </a:r>
          </a:p>
          <a:p>
            <a:pPr>
              <a:spcAft>
                <a:spcPts val="400"/>
              </a:spcAft>
            </a:pPr>
            <a:r>
              <a:rPr sz="1400" b="0" i="0">
                <a:solidFill>
                  <a:srgbClr val="FFFFFF"/>
                </a:solidFill>
                <a:latin typeface="Calibri"/>
              </a:rPr>
              <a:t>        System.out.println("Archivo de datos: " + repositorio.rutaAbsoluta());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List&lt;Mascota&gt; mascotas = repositorio.cargar();</a:t>
            </a:r>
          </a:p>
          <a:p>
            <a:pPr>
              <a:spcAft>
                <a:spcPts val="400"/>
              </a:spcAft>
            </a:pPr>
            <a:r>
              <a:rPr sz="1400" b="0" i="0">
                <a:solidFill>
                  <a:srgbClr val="FFFFFF"/>
                </a:solidFill>
                <a:latin typeface="Calibri"/>
              </a:rPr>
              <a:t>        System.out.println("Mascotas recuperadas del archivo: " + mascotas.size());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if (mascotas.isEmpty())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System.out.println("No habia datos previos. Sembrando el arranque de la clinica...");</a:t>
            </a:r>
          </a:p>
          <a:p>
            <a:pPr>
              <a:spcAft>
                <a:spcPts val="400"/>
              </a:spcAft>
            </a:pPr>
            <a:r>
              <a:rPr sz="1400" b="0" i="0">
                <a:solidFill>
                  <a:srgbClr val="FFFFFF"/>
                </a:solidFill>
                <a:latin typeface="Calibri"/>
              </a:rPr>
              <a:t>            mascotas.add(new Mascota("M001", "Firulais", "Canino", 4, "1144556677"));</a:t>
            </a:r>
          </a:p>
          <a:p>
            <a:pPr>
              <a:spcAft>
                <a:spcPts val="400"/>
              </a:spcAft>
            </a:pPr>
            <a:r>
              <a:rPr sz="1400" b="0" i="0">
                <a:solidFill>
                  <a:srgbClr val="FFFFFF"/>
                </a:solidFill>
                <a:latin typeface="Calibri"/>
              </a:rPr>
              <a:t>            mascotas.add(new Mascota("M002", "Michi", "Felino", 2, "1098765432"));</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Mascota nueva = new Mascota(siguienteId(mascotas), "Pelusa", "Felino", 1, "1052233445");</a:t>
            </a:r>
          </a:p>
          <a:p>
            <a:pPr>
              <a:spcAft>
                <a:spcPts val="400"/>
              </a:spcAft>
            </a:pPr>
            <a:r>
              <a:rPr sz="1400" b="0" i="0">
                <a:solidFill>
                  <a:srgbClr val="FFFFFF"/>
                </a:solidFill>
                <a:latin typeface="Calibri"/>
              </a:rPr>
              <a:t>        mascotas.add(nueva);</a:t>
            </a:r>
          </a:p>
          <a:p>
            <a:pPr>
              <a:spcAft>
                <a:spcPts val="400"/>
              </a:spcAft>
            </a:pPr>
            <a:r>
              <a:rPr sz="1400" b="0" i="0">
                <a:solidFill>
                  <a:srgbClr val="FFFFFF"/>
                </a:solidFill>
                <a:latin typeface="Calibri"/>
              </a:rPr>
              <a:t>        System.out.println("Registrada en memoria: " + nueva);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repositorio.guardar(mascotas);</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ClinicaPersistencia.java — main() (2/2)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System.out.println("Datos escritos en disco.");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System.out.println("=== Clinica: simulacion de reapertura ===");</a:t>
            </a:r>
          </a:p>
          <a:p>
            <a:pPr>
              <a:spcAft>
                <a:spcPts val="400"/>
              </a:spcAft>
            </a:pPr>
            <a:r>
              <a:rPr sz="1400" b="0" i="0">
                <a:solidFill>
                  <a:srgbClr val="FFFFFF"/>
                </a:solidFill>
                <a:latin typeface="Calibri"/>
              </a:rPr>
              <a:t>        List&lt;Mascota&gt; verificacion = repositorio.cargar();</a:t>
            </a:r>
          </a:p>
          <a:p>
            <a:pPr>
              <a:spcAft>
                <a:spcPts val="400"/>
              </a:spcAft>
            </a:pPr>
            <a:r>
              <a:rPr sz="1400" b="0" i="0">
                <a:solidFill>
                  <a:srgbClr val="FFFFFF"/>
                </a:solidFill>
                <a:latin typeface="Calibri"/>
              </a:rPr>
              <a:t>        for (Mascota m: verificacion) {</a:t>
            </a:r>
          </a:p>
          <a:p>
            <a:pPr>
              <a:spcAft>
                <a:spcPts val="400"/>
              </a:spcAft>
            </a:pPr>
            <a:r>
              <a:rPr sz="1400" b="0" i="0">
                <a:solidFill>
                  <a:srgbClr val="FFFFFF"/>
                </a:solidFill>
                <a:latin typeface="Calibri"/>
              </a:rPr>
              <a:t>            System.out.println("  " + m);</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System.out.println("Total tras reabrir: " + verificacion.size());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Genera el consecutivo M001, M002, ... sin repetir ids existentes.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ClinicaPersistencia.java — siguienteId() (1/2)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342"/>
              </a:spcAft>
            </a:pPr>
            <a:r>
              <a:rPr sz="1200" b="0" i="0">
                <a:solidFill>
                  <a:srgbClr val="FFFFFF"/>
                </a:solidFill>
                <a:latin typeface="Calibri"/>
              </a:rPr>
              <a:t>    private static String siguienteId(List&lt;Mascota&gt; mascotas) {</a:t>
            </a:r>
          </a:p>
          <a:p>
            <a:pPr>
              <a:spcAft>
                <a:spcPts val="342"/>
              </a:spcAft>
            </a:pPr>
            <a:r>
              <a:rPr sz="1200" b="0" i="0">
                <a:solidFill>
                  <a:srgbClr val="FFFFFF"/>
                </a:solidFill>
                <a:latin typeface="Calibri"/>
              </a:rPr>
              <a:t>        int mayor = 0;</a:t>
            </a:r>
          </a:p>
          <a:p>
            <a:pPr>
              <a:spcAft>
                <a:spcPts val="342"/>
              </a:spcAft>
            </a:pPr>
            <a:r>
              <a:rPr sz="1200" b="0" i="0">
                <a:solidFill>
                  <a:srgbClr val="FFFFFF"/>
                </a:solidFill>
                <a:latin typeface="Calibri"/>
              </a:rPr>
              <a:t>        for (Mascota m: mascotas) {</a:t>
            </a:r>
          </a:p>
          <a:p>
            <a:pPr>
              <a:spcAft>
                <a:spcPts val="342"/>
              </a:spcAft>
            </a:pPr>
            <a:r>
              <a:rPr sz="1200" b="0" i="0">
                <a:solidFill>
                  <a:srgbClr val="FFFFFF"/>
                </a:solidFill>
                <a:latin typeface="Calibri"/>
              </a:rPr>
              <a:t>            String id = m.getId();</a:t>
            </a:r>
          </a:p>
          <a:p>
            <a:pPr>
              <a:spcAft>
                <a:spcPts val="342"/>
              </a:spcAft>
            </a:pPr>
            <a:r>
              <a:rPr sz="1200" b="0" i="0">
                <a:solidFill>
                  <a:srgbClr val="FFFFFF"/>
                </a:solidFill>
                <a:latin typeface="Calibri"/>
              </a:rPr>
              <a:t>            if (id == null || id.length() &lt; 2) {</a:t>
            </a:r>
          </a:p>
          <a:p>
            <a:pPr>
              <a:spcAft>
                <a:spcPts val="342"/>
              </a:spcAft>
            </a:pPr>
            <a:r>
              <a:rPr sz="1200" b="0" i="0">
                <a:solidFill>
                  <a:srgbClr val="FFFFFF"/>
                </a:solidFill>
                <a:latin typeface="Calibri"/>
              </a:rPr>
              <a:t>                continue;</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try {</a:t>
            </a:r>
          </a:p>
          <a:p>
            <a:pPr>
              <a:spcAft>
                <a:spcPts val="342"/>
              </a:spcAft>
            </a:pPr>
            <a:r>
              <a:rPr sz="1200" b="0" i="0">
                <a:solidFill>
                  <a:srgbClr val="FFFFFF"/>
                </a:solidFill>
                <a:latin typeface="Calibri"/>
              </a:rPr>
              <a:t>                int numero = Integer.parseInt(id.substring(1));</a:t>
            </a:r>
          </a:p>
          <a:p>
            <a:pPr>
              <a:spcAft>
                <a:spcPts val="342"/>
              </a:spcAft>
            </a:pPr>
            <a:r>
              <a:rPr sz="1200" b="0" i="0">
                <a:solidFill>
                  <a:srgbClr val="FFFFFF"/>
                </a:solidFill>
                <a:latin typeface="Calibri"/>
              </a:rPr>
              <a:t>                if (numero &gt; mayor) {</a:t>
            </a:r>
          </a:p>
          <a:p>
            <a:pPr>
              <a:spcAft>
                <a:spcPts val="342"/>
              </a:spcAft>
            </a:pPr>
            <a:r>
              <a:rPr sz="1200" b="0" i="0">
                <a:solidFill>
                  <a:srgbClr val="FFFFFF"/>
                </a:solidFill>
                <a:latin typeface="Calibri"/>
              </a:rPr>
              <a:t>                    mayor = numero;</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 catch (NumberFormatException e) {</a:t>
            </a:r>
          </a:p>
          <a:p>
            <a:pPr>
              <a:spcAft>
                <a:spcPts val="342"/>
              </a:spcAft>
            </a:pPr>
            <a:r>
              <a:rPr sz="1200" b="0" i="0">
                <a:solidFill>
                  <a:srgbClr val="FFFFFF"/>
                </a:solidFill>
                <a:latin typeface="Calibri"/>
              </a:rPr>
              <a:t>                System.out.println("Aviso: id con formato inesperado, se ignora: " + id);</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return String.format("M%03d", mayor + 1);</a:t>
            </a:r>
          </a:p>
          <a:p>
            <a:pPr>
              <a:spcAft>
                <a:spcPts val="342"/>
              </a:spcAft>
            </a:pPr>
            <a:r>
              <a:rPr sz="1200" b="0" i="0">
                <a:solidFill>
                  <a:srgbClr val="FFFFFF"/>
                </a:solidFill>
                <a:latin typeface="Calibri"/>
              </a:rPr>
              <a:t>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342"/>
              </a:spcAft>
            </a:pPr>
            <a:r>
              <a:rPr sz="1200" b="0" i="0">
                <a:solidFill>
                  <a:srgbClr val="FFFFFF"/>
                </a:solidFill>
                <a:latin typeface="Calibri"/>
              </a:rPr>
              <a:t>}</a:t>
            </a:r>
          </a:p>
          <a:p>
            <a:pPr>
              <a:spcAft>
                <a:spcPts val="342"/>
              </a:spcAft>
            </a:pPr>
            <a:r>
              <a:rPr sz="1200" b="0" i="0">
                <a:solidFill>
                  <a:srgbClr val="FFFFFF"/>
                </a:solidFill>
                <a:latin typeface="Calibri"/>
              </a:rPr>
              <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ClinicaPersistencia.java — siguienteId() (2/2)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Modelo del dominio: una mascota de la clinica.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ClinicaPersistencia.java — class Mascota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class Mascota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private final String id;</a:t>
            </a:r>
          </a:p>
          <a:p>
            <a:pPr>
              <a:spcAft>
                <a:spcPts val="400"/>
              </a:spcAft>
            </a:pPr>
            <a:r>
              <a:rPr sz="1400" b="0" i="0">
                <a:solidFill>
                  <a:srgbClr val="FFFFFF"/>
                </a:solidFill>
                <a:latin typeface="Calibri"/>
              </a:rPr>
              <a:t>    private final String nombre;</a:t>
            </a:r>
          </a:p>
          <a:p>
            <a:pPr>
              <a:spcAft>
                <a:spcPts val="400"/>
              </a:spcAft>
            </a:pPr>
            <a:r>
              <a:rPr sz="1400" b="0" i="0">
                <a:solidFill>
                  <a:srgbClr val="FFFFFF"/>
                </a:solidFill>
                <a:latin typeface="Calibri"/>
              </a:rPr>
              <a:t>    private final String especie;</a:t>
            </a:r>
          </a:p>
          <a:p>
            <a:pPr>
              <a:spcAft>
                <a:spcPts val="400"/>
              </a:spcAft>
            </a:pPr>
            <a:r>
              <a:rPr sz="1400" b="0" i="0">
                <a:solidFill>
                  <a:srgbClr val="FFFFFF"/>
                </a:solidFill>
                <a:latin typeface="Calibri"/>
              </a:rPr>
              <a:t>    private final int edad;</a:t>
            </a:r>
          </a:p>
          <a:p>
            <a:pPr>
              <a:spcAft>
                <a:spcPts val="400"/>
              </a:spcAft>
            </a:pPr>
            <a:r>
              <a:rPr sz="1400" b="0" i="0">
                <a:solidFill>
                  <a:srgbClr val="FFFFFF"/>
                </a:solidFill>
                <a:latin typeface="Calibri"/>
              </a:rPr>
              <a:t>    private final String cedulaDueno;</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ClinicaPersistencia.java — Mascota()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Mascota(String id, String nombre, String especie, int edad, String cedulaDueno) {</a:t>
            </a:r>
          </a:p>
          <a:p>
            <a:pPr>
              <a:spcAft>
                <a:spcPts val="400"/>
              </a:spcAft>
            </a:pPr>
            <a:r>
              <a:rPr sz="1400" b="0" i="0">
                <a:solidFill>
                  <a:srgbClr val="FFFFFF"/>
                </a:solidFill>
                <a:latin typeface="Calibri"/>
              </a:rPr>
              <a:t>        this.id = id;</a:t>
            </a:r>
          </a:p>
          <a:p>
            <a:pPr>
              <a:spcAft>
                <a:spcPts val="400"/>
              </a:spcAft>
            </a:pPr>
            <a:r>
              <a:rPr sz="1400" b="0" i="0">
                <a:solidFill>
                  <a:srgbClr val="FFFFFF"/>
                </a:solidFill>
                <a:latin typeface="Calibri"/>
              </a:rPr>
              <a:t>        this.nombre = nombre;</a:t>
            </a:r>
          </a:p>
          <a:p>
            <a:pPr>
              <a:spcAft>
                <a:spcPts val="400"/>
              </a:spcAft>
            </a:pPr>
            <a:r>
              <a:rPr sz="1400" b="0" i="0">
                <a:solidFill>
                  <a:srgbClr val="FFFFFF"/>
                </a:solidFill>
                <a:latin typeface="Calibri"/>
              </a:rPr>
              <a:t>        this.especie = especie;</a:t>
            </a:r>
          </a:p>
          <a:p>
            <a:pPr>
              <a:spcAft>
                <a:spcPts val="400"/>
              </a:spcAft>
            </a:pPr>
            <a:r>
              <a:rPr sz="1400" b="0" i="0">
                <a:solidFill>
                  <a:srgbClr val="FFFFFF"/>
                </a:solidFill>
                <a:latin typeface="Calibri"/>
              </a:rPr>
              <a:t>        this.edad = edad;</a:t>
            </a:r>
          </a:p>
          <a:p>
            <a:pPr>
              <a:spcAft>
                <a:spcPts val="400"/>
              </a:spcAft>
            </a:pPr>
            <a:r>
              <a:rPr sz="1400" b="0" i="0">
                <a:solidFill>
                  <a:srgbClr val="FFFFFF"/>
                </a:solidFill>
                <a:latin typeface="Calibri"/>
              </a:rPr>
              <a:t>        this.cedulaDueno = cedulaDueno;</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ClinicaPersistencia.java — class RepositorioMascotasCSV</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class RepositorioMascotasCSV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private static final String SEPARADOR = ";";</a:t>
            </a:r>
          </a:p>
          <a:p>
            <a:pPr>
              <a:spcAft>
                <a:spcPts val="400"/>
              </a:spcAft>
            </a:pPr>
            <a:r>
              <a:rPr sz="1400" b="0" i="0">
                <a:solidFill>
                  <a:srgbClr val="FFFFFF"/>
                </a:solidFill>
                <a:latin typeface="Calibri"/>
              </a:rPr>
              <a:t>    private static final String ENCABEZADO = "id;nombre;especie;edad;cedula_dueno";</a:t>
            </a:r>
          </a:p>
          <a:p>
            <a:pPr>
              <a:spcAft>
                <a:spcPts val="400"/>
              </a:spcAft>
            </a:pPr>
            <a:r>
              <a:rPr sz="1400" b="0" i="0">
                <a:solidFill>
                  <a:srgbClr val="FFFFFF"/>
                </a:solidFill>
                <a:latin typeface="Calibri"/>
              </a:rPr>
              <a:t>    private static final int CAMPOS_ESPERADOS = 5;</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private final Path ruta;</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ClinicaPersistencia.java — RepositorioMascotasCSV()</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RepositorioMascotasCSV(String nombreArchivo) {</a:t>
            </a:r>
          </a:p>
          <a:p>
            <a:pPr>
              <a:spcAft>
                <a:spcPts val="400"/>
              </a:spcAft>
            </a:pPr>
            <a:r>
              <a:rPr sz="1400" b="0" i="0">
                <a:solidFill>
                  <a:srgbClr val="FFFFFF"/>
                </a:solidFill>
                <a:latin typeface="Calibri"/>
              </a:rPr>
              <a:t>        this.ruta = Paths.get(nombreArchivo);</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ClinicaPersistencia.java — rutaAbsoluta()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String rutaAbsoluta() {</a:t>
            </a:r>
          </a:p>
          <a:p>
            <a:pPr>
              <a:spcAft>
                <a:spcPts val="400"/>
              </a:spcAft>
            </a:pPr>
            <a:r>
              <a:rPr sz="1400" b="0" i="0">
                <a:solidFill>
                  <a:srgbClr val="FFFFFF"/>
                </a:solidFill>
                <a:latin typeface="Calibri"/>
              </a:rPr>
              <a:t>        return ruta.toAbsolutePath().toString();</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Escribe TODA la lista. try-with-resources cierra y vacia el buffer pase lo que pase.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ClinicaPersistencia.java — guardar()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void guardar(List&lt;Mascota&gt; mascotas) {</a:t>
            </a:r>
          </a:p>
          <a:p>
            <a:pPr>
              <a:spcAft>
                <a:spcPts val="400"/>
              </a:spcAft>
            </a:pPr>
            <a:r>
              <a:rPr sz="1400" b="0" i="0">
                <a:solidFill>
                  <a:srgbClr val="FFFFFF"/>
                </a:solidFill>
                <a:latin typeface="Calibri"/>
              </a:rPr>
              <a:t>        try (BufferedWriter escritor = Files.newBufferedWriter(ruta, StandardCharsets.UTF_8)) {</a:t>
            </a:r>
          </a:p>
          <a:p>
            <a:pPr>
              <a:spcAft>
                <a:spcPts val="400"/>
              </a:spcAft>
            </a:pPr>
            <a:r>
              <a:rPr sz="1400" b="0" i="0">
                <a:solidFill>
                  <a:srgbClr val="FFFFFF"/>
                </a:solidFill>
                <a:latin typeface="Calibri"/>
              </a:rPr>
              <a:t>            escritor.write(ENCABEZADO);</a:t>
            </a:r>
          </a:p>
          <a:p>
            <a:pPr>
              <a:spcAft>
                <a:spcPts val="400"/>
              </a:spcAft>
            </a:pPr>
            <a:r>
              <a:rPr sz="1400" b="0" i="0">
                <a:solidFill>
                  <a:srgbClr val="FFFFFF"/>
                </a:solidFill>
                <a:latin typeface="Calibri"/>
              </a:rPr>
              <a:t>            escritor.newLine();</a:t>
            </a:r>
          </a:p>
          <a:p>
            <a:pPr>
              <a:spcAft>
                <a:spcPts val="400"/>
              </a:spcAft>
            </a:pPr>
            <a:r>
              <a:rPr sz="1400" b="0" i="0">
                <a:solidFill>
                  <a:srgbClr val="FFFFFF"/>
                </a:solidFill>
                <a:latin typeface="Calibri"/>
              </a:rPr>
              <a:t>            for (Mascota m: mascotas) {</a:t>
            </a:r>
          </a:p>
          <a:p>
            <a:pPr>
              <a:spcAft>
                <a:spcPts val="400"/>
              </a:spcAft>
            </a:pPr>
            <a:r>
              <a:rPr sz="1400" b="0" i="0">
                <a:solidFill>
                  <a:srgbClr val="FFFFFF"/>
                </a:solidFill>
                <a:latin typeface="Calibri"/>
              </a:rPr>
              <a:t>                escritor.write(aLinea(m));</a:t>
            </a:r>
          </a:p>
          <a:p>
            <a:pPr>
              <a:spcAft>
                <a:spcPts val="400"/>
              </a:spcAft>
            </a:pPr>
            <a:r>
              <a:rPr sz="1400" b="0" i="0">
                <a:solidFill>
                  <a:srgbClr val="FFFFFF"/>
                </a:solidFill>
                <a:latin typeface="Calibri"/>
              </a:rPr>
              <a:t>                escritor.newLine();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 catch (IOException e) {</a:t>
            </a:r>
          </a:p>
          <a:p>
            <a:pPr>
              <a:spcAft>
                <a:spcPts val="400"/>
              </a:spcAft>
            </a:pPr>
            <a:r>
              <a:rPr sz="1400" b="0" i="0">
                <a:solidFill>
                  <a:srgbClr val="FFFFFF"/>
                </a:solidFill>
                <a:latin typeface="Calibri"/>
              </a:rPr>
              <a:t>            System.out.println("No se pudo guardar el archivo: " + e.getMessage());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Lectura defensiva: si no hay archivo devuelve lista vacia; una linea mala no tumba la app.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ClinicaPersistencia.java — cargar() (1/2)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public List&lt;Mascota&gt; cargar() {</a:t>
            </a:r>
          </a:p>
          <a:p>
            <a:pPr>
              <a:spcAft>
                <a:spcPts val="400"/>
              </a:spcAft>
            </a:pPr>
            <a:r>
              <a:rPr sz="1400" b="0" i="0">
                <a:solidFill>
                  <a:srgbClr val="FFFFFF"/>
                </a:solidFill>
                <a:latin typeface="Calibri"/>
              </a:rPr>
              <a:t>        List&lt;Mascota&gt; mascotas = new ArrayList&lt;&gt;();</a:t>
            </a:r>
          </a:p>
          <a:p>
            <a:pPr>
              <a:spcAft>
                <a:spcPts val="400"/>
              </a:spcAft>
            </a:pPr>
            <a:r>
              <a:rPr sz="1400" b="0" i="0">
                <a:solidFill>
                  <a:srgbClr val="FFFFFF"/>
                </a:solidFill>
                <a:latin typeface="Calibri"/>
              </a:rPr>
              <a:t>        if (!Files.exists(ruta)) {</a:t>
            </a:r>
          </a:p>
          <a:p>
            <a:pPr>
              <a:spcAft>
                <a:spcPts val="400"/>
              </a:spcAft>
            </a:pPr>
            <a:r>
              <a:rPr sz="1400" b="0" i="0">
                <a:solidFill>
                  <a:srgbClr val="FFFFFF"/>
                </a:solidFill>
                <a:latin typeface="Calibri"/>
              </a:rPr>
              <a:t>            return mascotas;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try (BufferedReader lector = Files.newBufferedReader(ruta, StandardCharsets.UTF_8)) {</a:t>
            </a:r>
          </a:p>
          <a:p>
            <a:pPr>
              <a:spcAft>
                <a:spcPts val="400"/>
              </a:spcAft>
            </a:pPr>
            <a:r>
              <a:rPr sz="1400" b="0" i="0">
                <a:solidFill>
                  <a:srgbClr val="FFFFFF"/>
                </a:solidFill>
                <a:latin typeface="Calibri"/>
              </a:rPr>
              <a:t>            lector.readLine(); // primera linea = encabezado: se descarta a proposito</a:t>
            </a:r>
          </a:p>
          <a:p>
            <a:pPr>
              <a:spcAft>
                <a:spcPts val="400"/>
              </a:spcAft>
            </a:pPr>
            <a:r>
              <a:rPr sz="1400" b="0" i="0">
                <a:solidFill>
                  <a:srgbClr val="FFFFFF"/>
                </a:solidFill>
                <a:latin typeface="Calibri"/>
              </a:rPr>
              <a:t>            String linea;</a:t>
            </a:r>
          </a:p>
          <a:p>
            <a:pPr>
              <a:spcAft>
                <a:spcPts val="400"/>
              </a:spcAft>
            </a:pPr>
            <a:r>
              <a:rPr sz="1400" b="0" i="0">
                <a:solidFill>
                  <a:srgbClr val="FFFFFF"/>
                </a:solidFill>
                <a:latin typeface="Calibri"/>
              </a:rPr>
              <a:t>            int numeroDeLinea = 1;</a:t>
            </a:r>
          </a:p>
          <a:p>
            <a:pPr>
              <a:spcAft>
                <a:spcPts val="400"/>
              </a:spcAft>
            </a:pPr>
            <a:r>
              <a:rPr sz="1400" b="0" i="0">
                <a:solidFill>
                  <a:srgbClr val="FFFFFF"/>
                </a:solidFill>
                <a:latin typeface="Calibri"/>
              </a:rPr>
              <a:t>            while ((linea = lector.readLine()) != null)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numeroDeLinea++;</a:t>
            </a:r>
          </a:p>
          <a:p>
            <a:pPr>
              <a:spcAft>
                <a:spcPts val="400"/>
              </a:spcAft>
            </a:pPr>
            <a:r>
              <a:rPr sz="1400" b="0" i="0">
                <a:solidFill>
                  <a:srgbClr val="FFFFFF"/>
                </a:solidFill>
                <a:latin typeface="Calibri"/>
              </a:rPr>
              <a:t>                if (linea.trim().isEmpty()) {</a:t>
            </a:r>
          </a:p>
          <a:p>
            <a:pPr>
              <a:spcAft>
                <a:spcPts val="400"/>
              </a:spcAft>
            </a:pPr>
            <a:r>
              <a:rPr sz="1400" b="0" i="0">
                <a:solidFill>
                  <a:srgbClr val="FFFFFF"/>
                </a:solidFill>
                <a:latin typeface="Calibri"/>
              </a:rPr>
              <a:t>                    continue;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Mascota m = desdeLinea(linea, numeroDeLinea);</a:t>
            </a:r>
          </a:p>
          <a:p>
            <a:pPr>
              <a:spcAft>
                <a:spcPts val="400"/>
              </a:spcAft>
            </a:pPr>
            <a:r>
              <a:rPr sz="1400" b="0" i="0">
                <a:solidFill>
                  <a:srgbClr val="FFFFFF"/>
                </a:solidFill>
                <a:latin typeface="Calibri"/>
              </a:rPr>
              <a:t>                if (m != null) {</a:t>
            </a:r>
          </a:p>
          <a:p>
            <a:pPr>
              <a:spcAft>
                <a:spcPts val="400"/>
              </a:spcAft>
            </a:pPr>
            <a:r>
              <a:rPr sz="1400" b="0" i="0">
                <a:solidFill>
                  <a:srgbClr val="FFFFFF"/>
                </a:solidFill>
                <a:latin typeface="Calibri"/>
              </a:rPr>
              <a:t>                    mascotas.add(m);</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 catch (IOException e) {</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ClinicaPersistencia.java — cargar() (2/2)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System.out.println("No se pudo leer el archivo: " + e.getMessage());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mascotas;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ClinicaPersistencia.java — aLinea()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String aLinea(Mascota m) {</a:t>
            </a:r>
          </a:p>
          <a:p>
            <a:pPr>
              <a:spcAft>
                <a:spcPts val="400"/>
              </a:spcAft>
            </a:pPr>
            <a:r>
              <a:rPr sz="1400" b="0" i="0">
                <a:solidFill>
                  <a:srgbClr val="FFFFFF"/>
                </a:solidFill>
                <a:latin typeface="Calibri"/>
              </a:rPr>
              <a:t>        return limpiar(m.getId()) + SEPARADOR</a:t>
            </a:r>
          </a:p>
          <a:p>
            <a:pPr>
              <a:spcAft>
                <a:spcPts val="400"/>
              </a:spcAft>
            </a:pPr>
            <a:r>
              <a:rPr sz="1400" b="0" i="0">
                <a:solidFill>
                  <a:srgbClr val="FFFFFF"/>
                </a:solidFill>
                <a:latin typeface="Calibri"/>
              </a:rPr>
              <a:t>                + limpiar(m.getNombre()) + SEPARADOR</a:t>
            </a:r>
          </a:p>
          <a:p>
            <a:pPr>
              <a:spcAft>
                <a:spcPts val="400"/>
              </a:spcAft>
            </a:pPr>
            <a:r>
              <a:rPr sz="1400" b="0" i="0">
                <a:solidFill>
                  <a:srgbClr val="FFFFFF"/>
                </a:solidFill>
                <a:latin typeface="Calibri"/>
              </a:rPr>
              <a:t>                + limpiar(m.getEspecie()) + SEPARADOR</a:t>
            </a:r>
          </a:p>
          <a:p>
            <a:pPr>
              <a:spcAft>
                <a:spcPts val="400"/>
              </a:spcAft>
            </a:pPr>
            <a:r>
              <a:rPr sz="1400" b="0" i="0">
                <a:solidFill>
                  <a:srgbClr val="FFFFFF"/>
                </a:solidFill>
                <a:latin typeface="Calibri"/>
              </a:rPr>
              <a:t>                + m.getEdad() + SEPARADOR</a:t>
            </a:r>
          </a:p>
          <a:p>
            <a:pPr>
              <a:spcAft>
                <a:spcPts val="400"/>
              </a:spcAft>
            </a:pPr>
            <a:r>
              <a:rPr sz="1400" b="0" i="0">
                <a:solidFill>
                  <a:srgbClr val="FFFFFF"/>
                </a:solidFill>
                <a:latin typeface="Calibri"/>
              </a:rPr>
              <a:t>                + limpiar(m.getCedulaDueno());</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ClinicaPersistencia.java — desdeLinea()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14"/>
              </a:spcAft>
            </a:pPr>
            <a:r>
              <a:rPr sz="1100" b="0" i="0">
                <a:solidFill>
                  <a:srgbClr val="FFFFFF"/>
                </a:solidFill>
                <a:latin typeface="Calibri"/>
              </a:rPr>
              <a:t>    private Mascota desdeLinea(String linea, int numeroDeLinea) {</a:t>
            </a:r>
          </a:p>
          <a:p>
            <a:pPr>
              <a:spcAft>
                <a:spcPts val="314"/>
              </a:spcAft>
            </a:pPr>
            <a:r>
              <a:rPr sz="1100" b="0" i="0">
                <a:solidFill>
                  <a:srgbClr val="FFFFFF"/>
                </a:solidFill>
                <a:latin typeface="Calibri"/>
              </a:rPr>
              <a:t>        String[] campos = linea.split(SEPARADOR, -1);</a:t>
            </a:r>
          </a:p>
          <a:p>
            <a:pPr>
              <a:spcAft>
                <a:spcPts val="314"/>
              </a:spcAft>
            </a:pPr>
            <a:r>
              <a:rPr sz="1100" b="0" i="0">
                <a:solidFill>
                  <a:srgbClr val="FFFFFF"/>
                </a:solidFill>
                <a:latin typeface="Calibri"/>
              </a:rPr>
              <a:t>        if (campos.length != CAMPOS_ESPERADOS) {</a:t>
            </a:r>
          </a:p>
          <a:p>
            <a:pPr>
              <a:spcAft>
                <a:spcPts val="314"/>
              </a:spcAft>
            </a:pPr>
            <a:r>
              <a:rPr sz="1100" b="0" i="0">
                <a:solidFill>
                  <a:srgbClr val="FFFFFF"/>
                </a:solidFill>
                <a:latin typeface="Calibri"/>
              </a:rPr>
              <a:t>            System.out.println("Linea " + numeroDeLinea + " ignorada: se esperaban "</a:t>
            </a:r>
          </a:p>
          <a:p>
            <a:pPr>
              <a:spcAft>
                <a:spcPts val="314"/>
              </a:spcAft>
            </a:pPr>
            <a:r>
              <a:rPr sz="1100" b="0" i="0">
                <a:solidFill>
                  <a:srgbClr val="FFFFFF"/>
                </a:solidFill>
                <a:latin typeface="Calibri"/>
              </a:rPr>
              <a:t>                    + CAMPOS_ESPERADOS + " campos y llegaron " + campos.length);</a:t>
            </a:r>
          </a:p>
          <a:p>
            <a:pPr>
              <a:spcAft>
                <a:spcPts val="314"/>
              </a:spcAft>
            </a:pPr>
            <a:r>
              <a:rPr sz="1100" b="0" i="0">
                <a:solidFill>
                  <a:srgbClr val="FFFFFF"/>
                </a:solidFill>
                <a:latin typeface="Calibri"/>
              </a:rPr>
              <a:t>            return null;</a:t>
            </a:r>
          </a:p>
          <a:p>
            <a:pPr>
              <a:spcAft>
                <a:spcPts val="314"/>
              </a:spcAft>
            </a:pPr>
            <a:r>
              <a:rPr sz="1100" b="0" i="0">
                <a:solidFill>
                  <a:srgbClr val="FFFFFF"/>
                </a:solidFill>
                <a:latin typeface="Calibri"/>
              </a:rPr>
              <a:t>        }</a:t>
            </a:r>
          </a:p>
          <a:p>
            <a:pPr>
              <a:spcAft>
                <a:spcPts val="314"/>
              </a:spcAft>
            </a:pPr>
            <a:r>
              <a:rPr sz="1100" b="0" i="0">
                <a:solidFill>
                  <a:srgbClr val="FFFFFF"/>
                </a:solidFill>
                <a:latin typeface="Calibri"/>
              </a:rPr>
              <a:t>        try {</a:t>
            </a:r>
          </a:p>
          <a:p>
            <a:pPr>
              <a:spcAft>
                <a:spcPts val="314"/>
              </a:spcAft>
            </a:pPr>
            <a:r>
              <a:rPr sz="1100" b="0" i="0">
                <a:solidFill>
                  <a:srgbClr val="FFFFFF"/>
                </a:solidFill>
                <a:latin typeface="Calibri"/>
              </a:rPr>
              <a:t>            int edad = Integer.parseInt(campos[3].trim());</a:t>
            </a:r>
          </a:p>
          <a:p>
            <a:pPr>
              <a:spcAft>
                <a:spcPts val="314"/>
              </a:spcAft>
            </a:pPr>
            <a:r>
              <a:rPr sz="1100" b="0" i="0">
                <a:solidFill>
                  <a:srgbClr val="FFFFFF"/>
                </a:solidFill>
                <a:latin typeface="Calibri"/>
              </a:rPr>
              <a:t>            return new Mascota(campos[0].trim(), campos[1].trim(), campos[2].trim(),</a:t>
            </a:r>
          </a:p>
          <a:p>
            <a:pPr>
              <a:spcAft>
                <a:spcPts val="314"/>
              </a:spcAft>
            </a:pPr>
            <a:r>
              <a:rPr sz="1100" b="0" i="0">
                <a:solidFill>
                  <a:srgbClr val="FFFFFF"/>
                </a:solidFill>
                <a:latin typeface="Calibri"/>
              </a:rPr>
              <a:t>                    edad, campos[4].trim());</a:t>
            </a:r>
          </a:p>
          <a:p>
            <a:pPr>
              <a:spcAft>
                <a:spcPts val="314"/>
              </a:spcAft>
            </a:pPr>
            <a:r>
              <a:rPr sz="1100" b="0" i="0">
                <a:solidFill>
                  <a:srgbClr val="FFFFFF"/>
                </a:solidFill>
                <a:latin typeface="Calibri"/>
              </a:rPr>
              <a:t>        } catch (NumberFormatException e) {</a:t>
            </a:r>
          </a:p>
          <a:p>
            <a:pPr>
              <a:spcAft>
                <a:spcPts val="314"/>
              </a:spcAft>
            </a:pPr>
            <a:r>
              <a:rPr sz="1100" b="0" i="0">
                <a:solidFill>
                  <a:srgbClr val="FFFFFF"/>
                </a:solidFill>
                <a:latin typeface="Calibri"/>
              </a:rPr>
              <a:t>            System.out.println("Linea " + numeroDeLinea + " ignorada: la edad '"</a:t>
            </a:r>
          </a:p>
          <a:p>
            <a:pPr>
              <a:spcAft>
                <a:spcPts val="314"/>
              </a:spcAft>
            </a:pPr>
            <a:r>
              <a:rPr sz="1100" b="0" i="0">
                <a:solidFill>
                  <a:srgbClr val="FFFFFF"/>
                </a:solidFill>
                <a:latin typeface="Calibri"/>
              </a:rPr>
              <a:t>                    + campos[3] + "' no es un numero entero.");</a:t>
            </a:r>
          </a:p>
          <a:p>
            <a:pPr>
              <a:spcAft>
                <a:spcPts val="314"/>
              </a:spcAft>
            </a:pPr>
            <a:r>
              <a:rPr sz="1100" b="0" i="0">
                <a:solidFill>
                  <a:srgbClr val="FFFFFF"/>
                </a:solidFill>
                <a:latin typeface="Calibri"/>
              </a:rPr>
              <a:t>            return null;</a:t>
            </a:r>
          </a:p>
          <a:p>
            <a:pPr>
              <a:spcAft>
                <a:spcPts val="314"/>
              </a:spcAft>
            </a:pPr>
            <a:r>
              <a:rPr sz="1100" b="0" i="0">
                <a:solidFill>
                  <a:srgbClr val="FFFFFF"/>
                </a:solidFill>
                <a:latin typeface="Calibri"/>
              </a:rPr>
              <a:t>        }</a:t>
            </a:r>
          </a:p>
          <a:p>
            <a:pPr>
              <a:spcAft>
                <a:spcPts val="314"/>
              </a:spcAft>
            </a:pPr>
            <a:r>
              <a:rPr sz="1100" b="0" i="0">
                <a:solidFill>
                  <a:srgbClr val="FFFFFF"/>
                </a:solidFill>
                <a:latin typeface="Calibri"/>
              </a:rPr>
              <a:t>    }</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    /** Protege el contrato del CSV: un dato con ';' partiria la linea y perderia el registro.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ClinicaPersistencia.java — limpiar()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String limpiar(String texto) {</a:t>
            </a:r>
          </a:p>
          <a:p>
            <a:pPr>
              <a:spcAft>
                <a:spcPts val="400"/>
              </a:spcAft>
            </a:pPr>
            <a:r>
              <a:rPr sz="1400" b="0" i="0">
                <a:solidFill>
                  <a:srgbClr val="FFFFFF"/>
                </a:solidFill>
                <a:latin typeface="Calibri"/>
              </a:rPr>
              <a:t>        if (texto == null) {</a:t>
            </a:r>
          </a:p>
          <a:p>
            <a:pPr>
              <a:spcAft>
                <a:spcPts val="400"/>
              </a:spcAft>
            </a:pPr>
            <a:r>
              <a:rPr sz="1400" b="0" i="0">
                <a:solidFill>
                  <a:srgbClr val="FFFFFF"/>
                </a:solidFill>
                <a:latin typeface="Calibri"/>
              </a:rPr>
              <a:t>            return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texto.replace(SEPARADOR, ",").trim();</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guardar(): el archivo como memoria larga del sistema de la clinica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 Sin esto, al cerrar la ventana la clinica vuelve al papel.</a:t>
            </a:r>
          </a:p>
          <a:p>
            <a:pPr>
              <a:spcAft>
                <a:spcPts val="400"/>
              </a:spcAft>
            </a:pPr>
            <a:r>
              <a:rPr sz="1400" b="0" i="0">
                <a:solidFill>
                  <a:srgbClr val="FFFFFF"/>
                </a:solidFill>
                <a:latin typeface="Calibri"/>
              </a:rPr>
              <a:t>try (BufferedWriter salida = Files.newBufferedWriter(ruta, StandardCharsets.UTF_8)) {</a:t>
            </a:r>
          </a:p>
          <a:p>
            <a:pPr>
              <a:spcAft>
                <a:spcPts val="400"/>
              </a:spcAft>
            </a:pPr>
            <a:r>
              <a:rPr sz="1400" b="0" i="0">
                <a:solidFill>
                  <a:srgbClr val="FFFFFF"/>
                </a:solidFill>
                <a:latin typeface="Calibri"/>
              </a:rPr>
              <a:t>    salida.write("id;nombre;especie;edad;cedula_dueno"); // encabezado = contrato del CSV</a:t>
            </a:r>
          </a:p>
          <a:p>
            <a:pPr>
              <a:spcAft>
                <a:spcPts val="400"/>
              </a:spcAft>
            </a:pPr>
            <a:r>
              <a:rPr sz="1400" b="0" i="0">
                <a:solidFill>
                  <a:srgbClr val="FFFFFF"/>
                </a:solidFill>
                <a:latin typeface="Calibri"/>
              </a:rPr>
              <a:t>    salida.newLine();</a:t>
            </a:r>
          </a:p>
          <a:p>
            <a:pPr>
              <a:spcAft>
                <a:spcPts val="400"/>
              </a:spcAft>
            </a:pPr>
            <a:r>
              <a:rPr sz="1400" b="0" i="0">
                <a:solidFill>
                  <a:srgbClr val="FFFFFF"/>
                </a:solidFill>
                <a:latin typeface="Calibri"/>
              </a:rPr>
              <a:t>    for (Mascota m: mascotas) {</a:t>
            </a:r>
          </a:p>
          <a:p>
            <a:pPr>
              <a:spcAft>
                <a:spcPts val="400"/>
              </a:spcAft>
            </a:pPr>
            <a:r>
              <a:rPr sz="1400" b="0" i="0">
                <a:solidFill>
                  <a:srgbClr val="FFFFFF"/>
                </a:solidFill>
                <a:latin typeface="Calibri"/>
              </a:rPr>
              <a:t>        salida.write(m.getId() + ";" + m.getNombre() + ";" + m.getEspecie()</a:t>
            </a:r>
          </a:p>
          <a:p>
            <a:pPr>
              <a:spcAft>
                <a:spcPts val="400"/>
              </a:spcAft>
            </a:pPr>
            <a:r>
              <a:rPr sz="1400" b="0" i="0">
                <a:solidFill>
                  <a:srgbClr val="FFFFFF"/>
                </a:solidFill>
                <a:latin typeface="Calibri"/>
              </a:rPr>
              <a:t>                   + ";" + m.getEdad() + ";" + m.getCedulaDueno());</a:t>
            </a:r>
          </a:p>
          <a:p>
            <a:pPr>
              <a:spcAft>
                <a:spcPts val="400"/>
              </a:spcAft>
            </a:pPr>
            <a:r>
              <a:rPr sz="1400" b="0" i="0">
                <a:solidFill>
                  <a:srgbClr val="FFFFFF"/>
                </a:solidFill>
                <a:latin typeface="Calibri"/>
              </a:rPr>
              <a:t>        salida.newLine();                 // una mascota = una linea, siempre 4 separadores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 aqui se cierra solo y el buffer baja al disco</a:t>
            </a:r>
          </a:p>
          <a:p>
            <a:pPr>
              <a:spcAft>
                <a:spcPts val="400"/>
              </a:spcAft>
            </a:pPr>
            <a:r>
              <a:rPr sz="1400" b="0" i="0">
                <a:solidFill>
                  <a:srgbClr val="FFFFFF"/>
                </a:solidFill>
                <a:latin typeface="Calibri"/>
              </a:rPr>
              <a:t>catch (IOException e) {                    // IOException es checked: el compilador la exige</a:t>
            </a:r>
          </a:p>
          <a:p>
            <a:pPr>
              <a:spcAft>
                <a:spcPts val="400"/>
              </a:spcAft>
            </a:pPr>
            <a:r>
              <a:rPr sz="1400" b="0" i="0">
                <a:solidFill>
                  <a:srgbClr val="FFFFFF"/>
                </a:solidFill>
                <a:latin typeface="Calibri"/>
              </a:rPr>
              <a:t>    JOptionPane.showMessageDialog(null, "No se pudo guardar: " + e.getMessage());</a:t>
            </a:r>
          </a:p>
          <a:p>
            <a:pPr>
              <a:spcAft>
                <a:spcPts val="400"/>
              </a:spcAft>
            </a:pPr>
            <a:r>
              <a:rPr sz="1400" b="0" i="0">
                <a:solidFill>
                  <a:srgbClr val="FFFFFF"/>
                </a:solidFill>
                <a:latin typeface="Calibri"/>
              </a:rPr>
              <a:t>}                                          // un catch vacio aqui = mascota perdida en silencio</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El try-with-resources cierra el archivo pase lo que pase; si no cierra, el .csv queda en cero bytes aunque el programa diga que guardó.</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registra una mascota, cierra la aplicación, la vuelve a abrir y la mascota sigue ahí; enseguida abre mascotas.csv en el Bloc de notas para mostrar la línea que escribió el programa.</a:t>
            </a:r>
          </a:p>
          <a:p>
            <a:pPr>
              <a:spcAft>
                <a:spcPts val="800"/>
              </a:spcAft>
            </a:pPr>
            <a:r>
              <a:rPr sz="2000" b="0" i="0">
                <a:solidFill>
                  <a:srgbClr val="333333"/>
                </a:solidFill>
                <a:latin typeface="Calibri"/>
              </a:rPr>
              <a:t>–   Mismo dominio de la clinica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9 · Refactorización con IA · Persistencia en archivos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los datos del sistema de la clinica no se pierdan al cerrar la ventana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