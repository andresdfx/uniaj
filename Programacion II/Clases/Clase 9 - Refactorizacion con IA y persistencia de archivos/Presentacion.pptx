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9</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Refactorización con IA · Persistencia en archivos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Que los datos de VetCare no se pierdan al cerrar la ventana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VetCare en:</a:t>
            </a:r>
            <a:r>
              <a:rPr sz="2000" b="0" i="0">
                <a:solidFill>
                  <a:srgbClr val="333333"/>
                </a:solidFill>
                <a:latin typeface="Calibri"/>
              </a:rPr>
              <a:t> VetCare guarda la lista de mascotas en mascotas.csv al cerrar y la vuelve a cargar al abrir.</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La clase RepositorioMascotasCSV con guardar() y cargar() funcionando, el archivo mascotas.csv generado por la propia aplicación y la bitácora REFACTOR.md, subidos a la plataforma del curso.</a:t>
            </a:r>
          </a:p>
          <a:p>
            <a:pPr>
              <a:spcAft>
                <a:spcPts val="800"/>
              </a:spcAft>
            </a:pPr>
            <a:r>
              <a:rPr sz="20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Refactorizar es cambiar la forma interna del código sin cambiar ni un...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Refactorizar es cambiar la forma interna del código sin cambiar ni un milímetro de su comportamiento externo.</a:t>
            </a:r>
          </a:p>
          <a:p>
            <a:pPr>
              <a:spcAft>
                <a:spcPts val="800"/>
              </a:spcAft>
            </a:pPr>
            <a:r>
              <a:rPr sz="2000" b="0" i="0">
                <a:solidFill>
                  <a:srgbClr val="333333"/>
                </a:solidFill>
                <a:latin typeface="Calibri"/>
              </a:rPr>
              <a:t>–   Si antes de tocar nada la aplicación registraba una mascota y mostraba 'Mascota registrada con ID M004', después de refactorizar tiene que registrar exactamente igual y mostrar exactamente el mismo mensaje</a:t>
            </a:r>
          </a:p>
          <a:p>
            <a:pPr>
              <a:spcAft>
                <a:spcPts val="800"/>
              </a:spcAft>
            </a:pPr>
            <a:r>
              <a:rPr sz="2000" b="0" i="0">
                <a:solidFill>
                  <a:srgbClr val="333333"/>
                </a:solidFill>
                <a:latin typeface="Calibri"/>
              </a:rPr>
              <a:t>–   Lo único que cambió es que el código quedó más fácil de leer y de modificar.</a:t>
            </a:r>
          </a:p>
          <a:p>
            <a:pPr>
              <a:spcAft>
                <a:spcPts val="800"/>
              </a:spcAft>
            </a:pPr>
            <a:r>
              <a:rPr sz="2000" b="0" i="0">
                <a:solidFill>
                  <a:srgbClr val="333333"/>
                </a:solidFill>
                <a:latin typeface="Calibri"/>
              </a:rPr>
              <a:t>–   En VetCare el caso clásico es el manejador del botón Registrar: un método de noventa líneas que valida el nombre, convierte la edad, genera el ID consecutivo, arma la línea del CSV, abre el archivo, escribe y muestra el aviso.</a:t>
            </a:r>
          </a:p>
          <a:p>
            <a:pPr>
              <a:spcAft>
                <a:spcPts val="800"/>
              </a:spcAft>
            </a:pPr>
            <a:r>
              <a:rPr sz="2000" b="0" i="0">
                <a:solidFill>
                  <a:srgbClr val="333333"/>
                </a:solidFill>
                <a:latin typeface="Calibri"/>
              </a:rPr>
              <a:t>–   Refactorizarlo es partirlo en cuatro métodos con nombre propio (validar, generarId, aLineaCsv, escribirArchivo) y mover los dos últimos a una clase RepositorioMascotasCSV.</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Refactorizar es cambiar la forma interna del código sin cambiar ni un...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aquí va lo que refactorizar NO es: no es agregar funcionalidades nuevas, no es corregir errores de lógica, no es cambiar de librería, no es reescribir el proyecto desde cero.</a:t>
            </a:r>
          </a:p>
          <a:p>
            <a:pPr>
              <a:spcAft>
                <a:spcPts val="800"/>
              </a:spcAft>
            </a:pPr>
            <a:r>
              <a:rPr sz="2000" b="0" i="0">
                <a:solidFill>
                  <a:srgbClr val="333333"/>
                </a:solidFill>
                <a:latin typeface="Calibri"/>
              </a:rPr>
              <a:t>–   Si al terminar la aplicación hace algo distinto, eso ya no fue una refactorización: fue un cambio de requisitos disfrazado, y hay que probarlo como tal.</a:t>
            </a:r>
          </a:p>
          <a:p>
            <a:pPr>
              <a:spcAft>
                <a:spcPts val="800"/>
              </a:spcAft>
            </a:pPr>
            <a:r>
              <a:rPr sz="2000" b="0" i="0">
                <a:solidFill>
                  <a:srgbClr val="333333"/>
                </a:solidFill>
                <a:latin typeface="Calibri"/>
              </a:rPr>
              <a:t>–   La prueba de que el refactor salió bien es aburridamente simple: correr el mismo flujo con los mismos datos y obtener las mismas salidas.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code smell es un síntoma en el código que casi siempre anuncia un...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code smell es un síntoma en el código que casi siempre anuncia un problema mayor; no es un error de compilación ni una excepción, es un olor.</a:t>
            </a:r>
          </a:p>
          <a:p>
            <a:pPr>
              <a:spcAft>
                <a:spcPts val="800"/>
              </a:spcAft>
            </a:pPr>
            <a:r>
              <a:rPr sz="2000" b="0" i="0">
                <a:solidFill>
                  <a:srgbClr val="333333"/>
                </a:solidFill>
                <a:latin typeface="Calibri"/>
              </a:rPr>
              <a:t>–   Los que van a aparecer sí o sí en los proyectos de VetCare son seis.</a:t>
            </a:r>
          </a:p>
          <a:p>
            <a:pPr>
              <a:spcAft>
                <a:spcPts val="800"/>
              </a:spcAft>
            </a:pPr>
            <a:r>
              <a:rPr sz="2000" b="0" i="0">
                <a:solidFill>
                  <a:srgbClr val="333333"/>
                </a:solidFill>
                <a:latin typeface="Calibri"/>
              </a:rPr>
              <a:t>–   Primero, el método largo: el ActionListener del botón que hace de todo.</a:t>
            </a:r>
          </a:p>
          <a:p>
            <a:pPr>
              <a:spcAft>
                <a:spcPts val="800"/>
              </a:spcAft>
            </a:pPr>
            <a:r>
              <a:rPr sz="2000" b="0" i="0">
                <a:solidFill>
                  <a:srgbClr val="333333"/>
                </a:solidFill>
                <a:latin typeface="Calibri"/>
              </a:rPr>
              <a:t>–   Segundo, la duplicación: el mismo bucle de búsqueda por ID copiado y pegado en el botón Buscar, en el botón Editar y en el botón Eliminar</a:t>
            </a:r>
          </a:p>
          <a:p>
            <a:pPr>
              <a:spcAft>
                <a:spcPts val="800"/>
              </a:spcAft>
            </a:pPr>
            <a:r>
              <a:rPr sz="2000" b="0" i="0">
                <a:solidFill>
                  <a:srgbClr val="333333"/>
                </a:solidFill>
                <a:latin typeface="Calibri"/>
              </a:rPr>
              <a:t>–   De modo que cuando el criterio de búsqueda cambia hay que acordarse de arreglarlo en tres lugares y siempre se olvida uno.</a:t>
            </a:r>
          </a:p>
          <a:p>
            <a:pPr>
              <a:spcAft>
                <a:spcPts val="800"/>
              </a:spcAft>
            </a:pPr>
            <a:r>
              <a:rPr sz="2000" b="0" i="0">
                <a:solidFill>
                  <a:srgbClr val="333333"/>
                </a:solidFill>
                <a:latin typeface="Calibri"/>
              </a:rPr>
              <a:t>–   Tercero, los nombres opacos: ArrayList&lt;String[]&gt; a1, variables x, d, v, un método llamado proceso().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code smell es un síntoma en el código que casi siempre anuncia un...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Cuarto, los números mágicos: un if (edad &gt; 25) sin explicación, cuando lo correcto es una constante EDAD_MAXIMA = 25 con nombre.</a:t>
            </a:r>
          </a:p>
          <a:p>
            <a:pPr>
              <a:spcAft>
                <a:spcPts val="800"/>
              </a:spcAft>
            </a:pPr>
            <a:r>
              <a:rPr sz="2000" b="0" i="0">
                <a:solidFill>
                  <a:srgbClr val="333333"/>
                </a:solidFill>
                <a:latin typeface="Calibri"/>
              </a:rPr>
              <a:t>–   Quinto, el catch vacío que se traga la IOException y deja al usuario creyendo que guardó.</a:t>
            </a:r>
          </a:p>
          <a:p>
            <a:pPr>
              <a:spcAft>
                <a:spcPts val="800"/>
              </a:spcAft>
            </a:pPr>
            <a:r>
              <a:rPr sz="2000" b="0" i="0">
                <a:solidFill>
                  <a:srgbClr val="333333"/>
                </a:solidFill>
                <a:latin typeface="Calibri"/>
              </a:rPr>
              <a:t>–   Sexto, la clase Dios: una única clase Principal que es ventana, es lista y es archivo al mismo tiempo.</a:t>
            </a:r>
          </a:p>
          <a:p>
            <a:pPr>
              <a:spcAft>
                <a:spcPts val="800"/>
              </a:spcAft>
            </a:pPr>
            <a:r>
              <a:rPr sz="2000" b="0" i="0">
                <a:solidFill>
                  <a:srgbClr val="333333"/>
                </a:solidFill>
                <a:latin typeface="Calibri"/>
              </a:rPr>
              <a:t>–   VS Code ayuda a atacarlos con acciones seguras: Rename Symbol (F2), y desde la bombilla o Ctrl+Shift+R los refactors «Extract Method» y «Move», que renombran o extraen actualizando todas las referencias, cosa que buscar y reemplazar a mano nunca garantiza.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Persistencia es lograr que los datos sobrevivan al proceso que los creó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Persistencia es lograr que los datos sobrevivan al proceso que los creó.</a:t>
            </a:r>
          </a:p>
          <a:p>
            <a:pPr>
              <a:spcAft>
                <a:spcPts val="800"/>
              </a:spcAft>
            </a:pPr>
            <a:r>
              <a:rPr sz="2000" b="0" i="0">
                <a:solidFill>
                  <a:srgbClr val="333333"/>
                </a:solidFill>
                <a:latin typeface="Calibri"/>
              </a:rPr>
              <a:t>–   Mientras la aplicación está corriendo, el ArrayList&lt;Mascota&gt; vive en la memoria RAM, que es rápida pero volátil: en el instante en que se cierra la ventana, el sistema operativo recupera esa memoria y las mascotas se evaporan.</a:t>
            </a:r>
          </a:p>
          <a:p>
            <a:pPr>
              <a:spcAft>
                <a:spcPts val="800"/>
              </a:spcAft>
            </a:pPr>
            <a:r>
              <a:rPr sz="2000" b="0" i="0">
                <a:solidFill>
                  <a:srgbClr val="333333"/>
                </a:solidFill>
                <a:latin typeface="Calibri"/>
              </a:rPr>
              <a:t>–   Guardar en disco significa convertir cada objeto Mascota en texto y escribirlo en un archivo que queda en el computador.</a:t>
            </a:r>
          </a:p>
          <a:p>
            <a:pPr>
              <a:spcAft>
                <a:spcPts val="800"/>
              </a:spcAft>
            </a:pPr>
            <a:r>
              <a:rPr sz="2000" b="0" i="0">
                <a:solidFill>
                  <a:srgbClr val="333333"/>
                </a:solidFill>
                <a:latin typeface="Calibri"/>
              </a:rPr>
              <a:t>–   Un.txt es texto libre, sirve para una bitácora o un log; un.csv es texto también</a:t>
            </a:r>
          </a:p>
          <a:p>
            <a:pPr>
              <a:spcAft>
                <a:spcPts val="800"/>
              </a:spcAft>
            </a:pPr>
            <a:r>
              <a:rPr sz="2000" b="0" i="0">
                <a:solidFill>
                  <a:srgbClr val="333333"/>
                </a:solidFill>
                <a:latin typeface="Calibri"/>
              </a:rPr>
              <a:t>–   Pero con una estructura tabular acordada: una línea por registro, campos separados por un carácter separador y, opcionalmente, una primera línea de encabezado que documenta el orden de las columnas.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Persistencia es lograr que los datos sobrevivan al proceso que los creó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Para VetCare la línea acordada es M001;Firulais;Canino;4;1144556677 con encabezado id;nombre;especie;edad;cedula_dueno.</a:t>
            </a:r>
          </a:p>
          <a:p>
            <a:pPr>
              <a:spcAft>
                <a:spcPts val="800"/>
              </a:spcAft>
            </a:pPr>
            <a:r>
              <a:rPr sz="2000" b="0" i="0">
                <a:solidFill>
                  <a:srgbClr val="333333"/>
                </a:solidFill>
                <a:latin typeface="Calibri"/>
              </a:rPr>
              <a:t>–   Usamos punto y coma y no coma por dos razones muy prácticas: los nombres y las direcciones de los dueños suelen traer comas y le romperían la línea al programa</a:t>
            </a:r>
          </a:p>
          <a:p>
            <a:pPr>
              <a:spcAft>
                <a:spcPts val="800"/>
              </a:spcAft>
            </a:pPr>
            <a:r>
              <a:rPr sz="2000" b="0" i="0">
                <a:solidFill>
                  <a:srgbClr val="333333"/>
                </a:solidFill>
                <a:latin typeface="Calibri"/>
              </a:rPr>
              <a:t>–   Y el Excel en configuración regional de Colombia abre los archivos separados por punto y coma sin pedir nada.</a:t>
            </a:r>
          </a:p>
          <a:p>
            <a:pPr>
              <a:spcAft>
                <a:spcPts val="800"/>
              </a:spcAft>
            </a:pPr>
            <a:r>
              <a:rPr sz="2000" b="0" i="0">
                <a:solidFill>
                  <a:srgbClr val="333333"/>
                </a:solidFill>
                <a:latin typeface="Calibri"/>
              </a:rPr>
              <a:t>–   La ventaja enorme del CSV frente a un formato binario es que se puede abrir en el Bloc de notas y ver el dato: cuando algo falla, el estudiante ve con sus ojos si el problema está en lo que escribió o en cómo lo leyó.</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archivo abierto es un recurso del sistema operativo, y todo recurso...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archivo abierto es un recurso del sistema operativo, y todo recurso hay que cerrarlo.</a:t>
            </a:r>
          </a:p>
          <a:p>
            <a:pPr>
              <a:spcAft>
                <a:spcPts val="800"/>
              </a:spcAft>
            </a:pPr>
            <a:r>
              <a:rPr sz="2000" b="0" i="0">
                <a:solidFill>
                  <a:srgbClr val="333333"/>
                </a:solidFill>
                <a:latin typeface="Calibri"/>
              </a:rPr>
              <a:t>–   Cuando se escribe con un BufferedWriter, el texto no viaja al disco letra por letra: se acumula en un buffer en memoria y se vuelca cuando el buffer se llena o cuando se cierra el flujo.</a:t>
            </a:r>
          </a:p>
          <a:p>
            <a:pPr>
              <a:spcAft>
                <a:spcPts val="800"/>
              </a:spcAft>
            </a:pPr>
            <a:r>
              <a:rPr sz="2000" b="0" i="0">
                <a:solidFill>
                  <a:srgbClr val="333333"/>
                </a:solidFill>
                <a:latin typeface="Calibri"/>
              </a:rPr>
              <a:t>–   Por eso el error más desconcertante para un principiante es este: el programa corre sin lanzar ninguna excepción, dice 'guardado', y el archivo mascotas.csv aparece con cero bytes.</a:t>
            </a:r>
          </a:p>
          <a:p>
            <a:pPr>
              <a:spcAft>
                <a:spcPts val="800"/>
              </a:spcAft>
            </a:pPr>
            <a:r>
              <a:rPr sz="2000" b="0" i="0">
                <a:solidFill>
                  <a:srgbClr val="333333"/>
                </a:solidFill>
                <a:latin typeface="Calibri"/>
              </a:rPr>
              <a:t>–   No se cerró el escritor y lo que estaba en el buffer nunca bajó al disco.</a:t>
            </a:r>
          </a:p>
          <a:p>
            <a:pPr>
              <a:spcAft>
                <a:spcPts val="800"/>
              </a:spcAft>
            </a:pPr>
            <a:r>
              <a:rPr sz="2000" b="0" i="0">
                <a:solidFill>
                  <a:srgbClr val="333333"/>
                </a:solidFill>
                <a:latin typeface="Calibri"/>
              </a:rPr>
              <a:t>–   La solución moderna es try-with-resources: se declara el recurso entre paréntesis, try (BufferedWriter salida = Files.newBufferedWriter(ruta, StandardCharsets.UTF_8)) {... }</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archivo abierto es un recurso del sistema operativo, y todo recurso...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Java garantiza que se llama a close() al salir del bloque, ocurra lo que ocurra, incluso si se lanzó una excepción en la mitad.</a:t>
            </a:r>
          </a:p>
          <a:p>
            <a:pPr>
              <a:spcAft>
                <a:spcPts val="800"/>
              </a:spcAft>
            </a:pPr>
            <a:r>
              <a:rPr sz="2000" b="0" i="0">
                <a:solidFill>
                  <a:srgbClr val="333333"/>
                </a:solidFill>
                <a:latin typeface="Calibri"/>
              </a:rPr>
              <a:t>–   Reemplaza al viejo patrón de finally con verificación de null, que casi nadie escribe bien.</a:t>
            </a:r>
          </a:p>
          <a:p>
            <a:pPr>
              <a:spcAft>
                <a:spcPts val="800"/>
              </a:spcAft>
            </a:pPr>
            <a:r>
              <a:rPr sz="2000" b="0" i="0">
                <a:solidFill>
                  <a:srgbClr val="333333"/>
                </a:solidFill>
                <a:latin typeface="Calibri"/>
              </a:rPr>
              <a:t>–   Además, IOException es una excepción verificada: el compilador obliga a capturarla o a declararla, y eso no es una molestia, es el lenguaje recordando que el disco puede estar lleno, el archivo puede estar abierto en Excel o la ruta puede no existir.</a:t>
            </a:r>
          </a:p>
          <a:p>
            <a:pPr>
              <a:spcAft>
                <a:spcPts val="800"/>
              </a:spcAft>
            </a:pPr>
            <a:r>
              <a:rPr sz="2000" b="0" i="0">
                <a:solidFill>
                  <a:srgbClr val="333333"/>
                </a:solidFill>
                <a:latin typeface="Calibri"/>
              </a:rPr>
              <a:t>–   Especificar StandardCharsets.UTF_8 no es adorno: es lo que evita que 'Ñoño' vuelva del archivo convertido en símbolos raros.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persistencia se conecta al ciclo de vida de la aplicación en dos...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persistencia se conecta al ciclo de vida de la aplicación en dos puntos: se carga al arrancar y se guarda al cerrar (o después de cada cambio, si se quiere ser más seguro).</a:t>
            </a:r>
          </a:p>
          <a:p>
            <a:pPr>
              <a:spcAft>
                <a:spcPts val="800"/>
              </a:spcAft>
            </a:pPr>
            <a:r>
              <a:rPr sz="2000" b="0" i="0">
                <a:solidFill>
                  <a:srgbClr val="333333"/>
                </a:solidFill>
                <a:latin typeface="Calibri"/>
              </a:rPr>
              <a:t>–   Cargar al arrancar significa que el main construye el repositorio, pide cargar() y solo después muestra la ventana con la tabla ya poblada.</a:t>
            </a:r>
          </a:p>
          <a:p>
            <a:pPr>
              <a:spcAft>
                <a:spcPts val="800"/>
              </a:spcAft>
            </a:pPr>
            <a:r>
              <a:rPr sz="2000" b="0" i="0">
                <a:solidFill>
                  <a:srgbClr val="333333"/>
                </a:solidFill>
                <a:latin typeface="Calibri"/>
              </a:rPr>
              <a:t>–   Y cargar tiene que ser defensivo, porque el archivo es del mundo real: si mascotas.csv no existe todavía, cargar() devuelve una lista vacía y la aplicación abre normalmente, no revienta con una excepción en la cara del usuario</a:t>
            </a:r>
          </a:p>
          <a:p>
            <a:pPr>
              <a:spcAft>
                <a:spcPts val="800"/>
              </a:spcAft>
            </a:pPr>
            <a:r>
              <a:rPr sz="2000" b="0" i="0">
                <a:solidFill>
                  <a:srgbClr val="333333"/>
                </a:solidFill>
                <a:latin typeface="Calibri"/>
              </a:rPr>
              <a:t>–   Si una línea quedó con cuatro campos en vez de cinco porque alguien la editó en el Bloc de notas, esa línea se ignora, se avisa por consola con el número de línea y las demás sí se cargan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persistencia se conecta al ciclo de vida de la aplicación en dos...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 la edad viene como 'dos', el Integer.parseInt lanza NumberFormatException, se captura, se descarta ese registro y se sigue.</a:t>
            </a:r>
          </a:p>
          <a:p>
            <a:pPr>
              <a:spcAft>
                <a:spcPts val="800"/>
              </a:spcAft>
            </a:pPr>
            <a:r>
              <a:rPr sz="2000" b="0" i="0">
                <a:solidFill>
                  <a:srgbClr val="333333"/>
                </a:solidFill>
                <a:latin typeface="Calibri"/>
              </a:rPr>
              <a:t>–   La regla es que un dato malo no puede tumbar la aplicación completa.</a:t>
            </a:r>
          </a:p>
          <a:p>
            <a:pPr>
              <a:spcAft>
                <a:spcPts val="800"/>
              </a:spcAft>
            </a:pPr>
            <a:r>
              <a:rPr sz="2000" b="0" i="0">
                <a:solidFill>
                  <a:srgbClr val="333333"/>
                </a:solidFill>
                <a:latin typeface="Calibri"/>
              </a:rPr>
              <a:t>–   Del lado de la escritura, el detalle que muerde es la ruta: si se usa la ruta relativa "mascotas.csv", el archivo queda en el directorio de trabajo, que al ejecutar desde VS Code es la carpeta del proyecto.</a:t>
            </a:r>
          </a:p>
          <a:p>
            <a:pPr>
              <a:spcAft>
                <a:spcPts val="800"/>
              </a:spcAft>
            </a:pPr>
            <a:r>
              <a:rPr sz="2000" b="0" i="0">
                <a:solidFill>
                  <a:srgbClr val="333333"/>
                </a:solidFill>
                <a:latin typeface="Calibri"/>
              </a:rPr>
              <a:t>–   Por eso conviene imprimir una vez ruta.toAbsolutePath() para que el estudiante sepa dónde buscarlo en vez de jurar que el programa no guardó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guardar(): el archivo como memoria larga de VetCare</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 Sin esto, al cerrar la ventana la clinica Huellitas vuelve al papel.</a:t>
            </a:r>
          </a:p>
          <a:p>
            <a:pPr>
              <a:spcAft>
                <a:spcPts val="400"/>
              </a:spcAft>
            </a:pPr>
            <a:r>
              <a:rPr sz="1400" b="0" i="0">
                <a:solidFill>
                  <a:srgbClr val="FFFFFF"/>
                </a:solidFill>
                <a:latin typeface="Calibri"/>
              </a:rPr>
              <a:t>try (BufferedWriter salida = Files.newBufferedWriter(ruta, StandardCharsets.UTF_8)) {</a:t>
            </a:r>
          </a:p>
          <a:p>
            <a:pPr>
              <a:spcAft>
                <a:spcPts val="400"/>
              </a:spcAft>
            </a:pPr>
            <a:r>
              <a:rPr sz="1400" b="0" i="0">
                <a:solidFill>
                  <a:srgbClr val="FFFFFF"/>
                </a:solidFill>
                <a:latin typeface="Calibri"/>
              </a:rPr>
              <a:t>    salida.write("id;nombre;especie;edad;cedula_dueno"); // encabezado = contrato del CSV</a:t>
            </a:r>
          </a:p>
          <a:p>
            <a:pPr>
              <a:spcAft>
                <a:spcPts val="400"/>
              </a:spcAft>
            </a:pPr>
            <a:r>
              <a:rPr sz="1400" b="0" i="0">
                <a:solidFill>
                  <a:srgbClr val="FFFFFF"/>
                </a:solidFill>
                <a:latin typeface="Calibri"/>
              </a:rPr>
              <a:t>    salida.newLine();</a:t>
            </a:r>
          </a:p>
          <a:p>
            <a:pPr>
              <a:spcAft>
                <a:spcPts val="400"/>
              </a:spcAft>
            </a:pPr>
            <a:r>
              <a:rPr sz="1400" b="0" i="0">
                <a:solidFill>
                  <a:srgbClr val="FFFFFF"/>
                </a:solidFill>
                <a:latin typeface="Calibri"/>
              </a:rPr>
              <a:t>    for (Mascota m: mascotas) {</a:t>
            </a:r>
          </a:p>
          <a:p>
            <a:pPr>
              <a:spcAft>
                <a:spcPts val="400"/>
              </a:spcAft>
            </a:pPr>
            <a:r>
              <a:rPr sz="1400" b="0" i="0">
                <a:solidFill>
                  <a:srgbClr val="FFFFFF"/>
                </a:solidFill>
                <a:latin typeface="Calibri"/>
              </a:rPr>
              <a:t>        salida.write(m.getId() + ";" + m.getNombre() + ";" + m.getEspecie()</a:t>
            </a:r>
          </a:p>
          <a:p>
            <a:pPr>
              <a:spcAft>
                <a:spcPts val="400"/>
              </a:spcAft>
            </a:pPr>
            <a:r>
              <a:rPr sz="1400" b="0" i="0">
                <a:solidFill>
                  <a:srgbClr val="FFFFFF"/>
                </a:solidFill>
                <a:latin typeface="Calibri"/>
              </a:rPr>
              <a:t>                   + ";" + m.getEdad() + ";" + m.getCedulaDueno());</a:t>
            </a:r>
          </a:p>
          <a:p>
            <a:pPr>
              <a:spcAft>
                <a:spcPts val="400"/>
              </a:spcAft>
            </a:pPr>
            <a:r>
              <a:rPr sz="1400" b="0" i="0">
                <a:solidFill>
                  <a:srgbClr val="FFFFFF"/>
                </a:solidFill>
                <a:latin typeface="Calibri"/>
              </a:rPr>
              <a:t>        salida.newLine();                 // una mascota = una linea, siempre 4 separadores</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 aqui se cierra solo y el buffer baja al disco</a:t>
            </a:r>
          </a:p>
          <a:p>
            <a:pPr>
              <a:spcAft>
                <a:spcPts val="400"/>
              </a:spcAft>
            </a:pPr>
            <a:r>
              <a:rPr sz="1400" b="0" i="0">
                <a:solidFill>
                  <a:srgbClr val="FFFFFF"/>
                </a:solidFill>
                <a:latin typeface="Calibri"/>
              </a:rPr>
              <a:t>catch (IOException e) {                    // IOException es checked: el compilador la exige</a:t>
            </a:r>
          </a:p>
          <a:p>
            <a:pPr>
              <a:spcAft>
                <a:spcPts val="400"/>
              </a:spcAft>
            </a:pPr>
            <a:r>
              <a:rPr sz="1400" b="0" i="0">
                <a:solidFill>
                  <a:srgbClr val="FFFFFF"/>
                </a:solidFill>
                <a:latin typeface="Calibri"/>
              </a:rPr>
              <a:t>    JOptionPane.showMessageDialog(null, "No se pudo guardar: " + e.getMessage());</a:t>
            </a:r>
          </a:p>
          <a:p>
            <a:pPr>
              <a:spcAft>
                <a:spcPts val="400"/>
              </a:spcAft>
            </a:pPr>
            <a:r>
              <a:rPr sz="1400" b="0" i="0">
                <a:solidFill>
                  <a:srgbClr val="FFFFFF"/>
                </a:solidFill>
                <a:latin typeface="Calibri"/>
              </a:rPr>
              <a:t>}                                          // un catch vacio aqui = mascota perdida en silencio</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El try-with-resources cierra el archivo pase lo que pase; si no cierra, el .csv queda en cero bytes aunque el programa diga que guardó.</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registra una mascota, cierra la aplicación, la vuelve a abrir y la mascota sigue ahí; enseguida abre mascotas.csv en el Bloc de notas para mostrar la línea que escribió el programa.</a:t>
            </a:r>
          </a:p>
          <a:p>
            <a:pPr>
              <a:spcAft>
                <a:spcPts val="800"/>
              </a:spcAft>
            </a:pPr>
            <a:r>
              <a:rPr sz="2000" b="0" i="0">
                <a:solidFill>
                  <a:srgbClr val="333333"/>
                </a:solidFill>
                <a:latin typeface="Calibri"/>
              </a:rPr>
              <a:t>–   Mismo dominio VetCare — no otro ejemplo.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que importa al PI:</a:t>
            </a:r>
            <a:r>
              <a:rPr sz="2000" b="0" i="0">
                <a:solidFill>
                  <a:srgbClr val="333333"/>
                </a:solidFill>
                <a:latin typeface="Calibri"/>
              </a:rPr>
              <a:t> el PI exige explícitamente persistencia en archivos .txt o .csv, y sin ella VetCare sigue siendo una libreta que se borra sola: la clínica Huellitas no puede recuperar el expediente de Firulais al día siguiente.</a:t>
            </a:r>
          </a:p>
          <a:p>
            <a:pPr>
              <a:spcAft>
                <a:spcPts val="800"/>
              </a:spcAft>
            </a:pPr>
            <a:r>
              <a:rPr sz="2000" b="0" i="0">
                <a:solidFill>
                  <a:srgbClr val="333333"/>
                </a:solidFill>
                <a:latin typeface="Calibri"/>
              </a:rPr>
              <a:t>–   Esta es la primera clase donde el producto deja de existir solo mientras la ventana está abierta; a partir de hoy el proyecto tiene datos reales acumulados que las clases siguientes van a leer, integrar y revisar.</a:t>
            </a:r>
          </a:p>
          <a:p>
            <a:pPr>
              <a:spcAft>
                <a:spcPts val="800"/>
              </a:spcAft>
            </a:pPr>
            <a:r>
              <a:rPr sz="2000" b="0" i="0">
                <a:solidFill>
                  <a:srgbClr val="333333"/>
                </a:solidFill>
                <a:latin typeface="Calibri"/>
              </a:rPr>
              <a:t>–   La bitácora REFACTOR.md es también la evidencia del uso responsable de IA que se le va a exigir en la sustentación final: quien no pueda explicar su propio código no puede defenderlo.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VetCare ya tiene la clase Mascota con atributos privados y getters, un ArrayList&lt;Mascota&gt; administrado por el servicio y una ventana Swing que registra y lista (trabajo de las clases 1 a 6).</a:t>
            </a:r>
          </a:p>
          <a:p>
            <a:pPr>
              <a:spcAft>
                <a:spcPts val="800"/>
              </a:spcAft>
            </a:pPr>
            <a:r>
              <a:rPr sz="2000" b="0" i="0">
                <a:solidFill>
                  <a:srgbClr val="333333"/>
                </a:solidFill>
                <a:latin typeface="Calibri"/>
              </a:rPr>
              <a:t>–   En la carpeta del proyecto todavía no existe ningún archivo de datos: cada vez que se cierra la aplicación, la lista arranca vacía otra vez.</a:t>
            </a:r>
          </a:p>
          <a:p>
            <a:pPr>
              <a:spcAft>
                <a:spcPts val="800"/>
              </a:spcAft>
            </a:pPr>
            <a:r>
              <a:rPr sz="2000" b="0" i="0">
                <a:solidFill>
                  <a:srgbClr val="333333"/>
                </a:solidFill>
                <a:latin typeface="Calibri"/>
              </a:rPr>
              <a:t>–   Se trabaja con tres mascotas de prueba: M001 Firulais, canino, 4 años, dueño CC 1144556677; M002 Michi, felino, 2 años, dueño CC 1098765432; M003 Pelusa, felino, 1 año, dueño CC 1052233445.</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400" b="1" i="0">
                <a:solidFill>
                  <a:srgbClr val="095292"/>
                </a:solidFill>
                <a:latin typeface="Calibri"/>
              </a:rPr>
              <a:t>Cree el paquete vetcare.datos y dentro la clase RepositorioMascotasCSV con la constante private static final String SEPARADOR = ";", la constante ENCABEZADO con el texto id;nombre;especie;edad;cedula_dueno y un atributo Path ruta construido con Paths.get("mascotas.csv"); compile el proyecto y verifique que no hay errores rojos antes de seguir.</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400" b="1" i="0">
                <a:solidFill>
                  <a:srgbClr val="095292"/>
                </a:solidFill>
                <a:latin typeface="Calibri"/>
              </a:rPr>
              <a:t>Implemente guardar(List&lt;Mascota&gt;) usando try-with-resources: escriba el encabezado, recorra la lista y escriba una línea por mascota; ejecute, abra mascotas.csv en el Bloc de notas y verifique que tiene exactamente tantas líneas como mascotas más una, y el mismo número de punto y coma en todas.</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400" b="1" i="0">
                <a:solidFill>
                  <a:srgbClr val="095292"/>
                </a:solidFill>
                <a:latin typeface="Calibri"/>
              </a:rPr>
              <a:t>Implemente cargar() de forma defensiva: si el archivo no existe devuelve una lista vacía, descarta la línea de encabezado, ignora las líneas que no tengan cinco campos e ignora las que traigan una edad no numérica, avisando por consola el número de la línea; compruébelo dañando a propósito una línea del archivo y volviendo a ejecutar.</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500" b="1" i="0">
                <a:solidFill>
                  <a:srgbClr val="095292"/>
                </a:solidFill>
                <a:latin typeface="Calibri"/>
              </a:rPr>
              <a:t>Conecte el repositorio al ciclo de vida de la aplicación: cargar() al arrancar antes de mostrar la ventana y guardar() al cerrar; cierre la aplicación, vuelva a abrirla y verifique que el conteo de mascotas en la tabla es el mismo que había antes de cerrar.</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400" b="1" i="0">
                <a:solidFill>
                  <a:srgbClr val="095292"/>
                </a:solidFill>
                <a:latin typeface="Calibri"/>
              </a:rPr>
              <a:t>Haga una revisión asistida por IA de su método guardar(): pídale a la herramienta que señale problemas, aplique como máximo dos mejoras que usted pueda explicar en voz alta, rechace por escrito al menos una sugerencia y registre todo en REFACTOR.md con el formato 'sugerencia / la acepté o no / por qué'; vuelva a correr el flujo completo y confirme que el comportamiento es idéntico.</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el archivo aparece con 0 bytes aunque el programa dijo que guardó, ¿quién debía vaciar el buffer y cuándo se supone que eso ocurre?</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Si al reabrir la aplicación aparecen cero mascotas pero el .csv tiene contenido, ¿está descartando el encabezado o lo está intentando convertir en una mascota?</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De las sugerencias que le dio la IA, ¿cuál cambia únicamente la forma del código y cuál cambia lo que el programa hace? ¿Puede explicar la diferencia sin volver a preguntarle a la IA?</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La clase RepositorioMascotasCSV con guardar() y cargar() funcionando, el archivo mascotas.csv generado por la propia aplicación y la bitácora REFACTOR.md, subidos a la plataforma del curso.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Al cerrar la aplicación y volver a abrirla, la tabla muestra las mismas mascotas que había antes: el conteo coincide y los datos no cambiaron de columna.</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archivo mascotas.csv tiene una línea de encabezado y una línea por mascota, todas con el mismo número de separadores y sin líneas en blanco intermedias.</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Toda lectura y escritura de archivo usa try-with-resources y captura IOException informando al usuario: no queda ningún catch vacío en el proyecto.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Si mascotas.csv no existe o si una línea está dañada, la aplicación arranca igual, reporta el problema indicando el número de línea y carga los registros válidos restantes.</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VetCare guarda la lista de mascotas en mascotas.csv al cerrar y la vuelve a cargar al abrir.</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si el docente lo asigna · en la fecha que indique el docente.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9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VetCare guarda la lista de mascotas en mascotas.csv al cerrar y la vuelve a cargar al abrir.</a:t>
            </a:r>
          </a:p>
          <a:p>
            <a:pPr algn="ctr">
              <a:spcAft>
                <a:spcPts val="600"/>
              </a:spcAft>
            </a:pPr>
            <a:r>
              <a:rPr sz="1600" b="0" i="0">
                <a:solidFill>
                  <a:srgbClr val="333333"/>
                </a:solidFill>
                <a:latin typeface="Calibri"/>
              </a:rPr>
              <a:t>Entregable: La clase RepositorioMascotasCSV con guardar() y cargar() funcionando, el archivo mascotas.csv generado por la propia aplicación y la bitácora REFACTOR.md, subidos a la plataforma del curso.</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