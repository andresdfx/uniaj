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Programacion I el estudiante trabajo con programacion estructurada: los datos por un lado y las funciones por otro. Vale la pena hacer visible el limite de ese enfoque con el mismo dominio del proyecto antes de nombrar la palabra objeto. Para registrar mascotas en la clinica se declaraban arreglos paralelos: String[] nombres, String[] especies, int[] edades, y la mascota numero cinco era la casilla cinco de los tres arreglos al mismo tiempo. Eso funciona en un ejercicio de veinte lineas y se cae en cuanto el programa crece, por tres razones concretas. Ordenar la lista por nombre obliga a mover los tres arreglos en perfecta sincronia, y basta olvidar uno para que Luna quede con la edad de otro animal. Agregar un dato nuevo, por ejemplo si la mascota esta activa, obliga a abrir todas las funciones que reciben esos arreglos y agregarles un parametro. Y nada en el lenguaje impide que nombres tenga diez elementos y edades solo nueve: la consistencia depende de que todos los programadores se acuerden de mantenerla. La programacion orientada a objetos propone una unidad distinta: un tipo llamado Mascota que reune en un mismo lugar el estado, que son los datos de la mascota, y el comportamiento, que son las operaciones que se le pueden hacer. La ganancia no es estetica: agregar un dato pasa a ser una linea en un solo archivo, y la responsabilidad de mantener la consistencia queda dentro del tipo y no repartida en la cabeza del equipo.</a:t>
            </a:r>
          </a:p>
          <a:p/>
          <a:p>
            <a:r>
              <a:t>Antes de la POO un programa era una lista de procedimientos que operaban sobre datos sueltos. Cuando el programa crecia, nadie sabia que funcion tocaba que dato, y un cambio pequeno rompia cosas en lugares inesperados. La POO propone lo contrario: juntar en una sola unidad, el objeto, los datos y las operaciones que los manipulan. El programa deja de ser una receta y pasa a ser un conjunto de piezas que se hablan entre si. En el sistema de la clinica, en vez de tener por un lado un arreglo de nombres y por otro un arreglo de edades que hay que mantener sincronizados a mano, se tiene una clase Mascota que guarda juntos su nombre, su especie y su edad.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Recien ahora tiene sentido la analogia clasica. La clase es el molde y el objeto es la pieza fabricada con ese molde; el acto de fabricar se llama instanciar y se hace con new, y por eso objeto e instancia son sinonimos. Mascota es la clase: declara que toda mascota tiene nombre, especie y edad. La mascota con nombre Luna, especie Canino y edad 3 es una instancia. La analogia es util pero tiene tres limites que hay que decir en voz alta, porque el estudiante que se queda solo con la analogia la estira mal. Primero, un molde fisico no sabe cuantas piezas produjo, y una clase tampoco lleva por si sola la lista de sus objetos: si el sistema de la clinica necesita saber cuantas mascotas se han creado, alguien tiene que programar ese conteo. Segundo, la clase no define solo la forma, define tambien el comportamiento: un plano de casa no cocina, mientras que Mascota si sabe calcular si esta al dia con sus vacunas. Tercero, existen miembros que pertenecen a la clase y no a cada objeto, y se marcan con la palabra static: un static int totalMascotas existe una sola vez aunque haya mil mascotas, y se lee como Mascota.totalMascotas y no como luna.totalMascotas. En el sistema de la clinica el uso legitimo de hoy es generar el siguiente identificador con un contador compartido. Y conviene una advertencia que ahorra dolores: static es la puerta de regreso a la programacion estructurada, porque una clase llena de metodos static es un archivo de funciones con otro nombre; en la Clase 7 static reaparece con criterio al estudiar Singleton.</a:t>
            </a:r>
          </a:p>
          <a:p/>
          <a:p>
            <a:r>
              <a:t>La distincion que mas cuesta el primer dia es clase contra objeto. La clase es el molde; el objeto es la pieza fabricada con ese molde. Mascota es la clase: define que toda mascota tiene nombre, especie y edad. La variable luna es un objeto: una mascota concreta, con nombre Luna, especie Canino, edad 3. De una misma clase se crean tantos objetos como haga falta, cada uno con sus propios valores. La analogia que funciona en clase es el plano de una casa (la clase) frente a las casas construidas con ese plano (los objetos): cada casa puede estar pintada de distinto color, pero todas tienen la misma estructura.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Pacientes registrados hoy:</a:t>
            </a:r>
          </a:p>
          <a:p/>
          <a:p>
            <a:r>
              <a:t>M-001 - Luna (Canino, 3 anios)</a:t>
            </a:r>
          </a:p>
          <a:p/>
          <a:p>
            <a:r>
              <a:t>M-002 - Michi (Felino, 5 anios)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el punto que decide el semestre, y por eso va temprano: que es un objeto en la memoria. En Java una variable local vive en la pila, una zona pequena y ordenada asociada al metodo que se esta ejecutando, mientras que el objeto creado con new vive en el monton, una zona grande donde el programa reserva espacio a medida que lo necesita. La consecuencia es que la variable no guarda el objeto: guarda una referencia, que es un valor que indica donde esta el objeto. La imagen que funciona en clase es que la variable es el control remoto y el objeto es el televisor: se pueden tener dos controles del mismo televisor, y apretar el boton en cualquiera de los dos cambia el mismo aparato. Escrito en el tablero: Mascota a = new Mascota("Luna", "Canino", 3); despues Mascota b = a; despues b.setEdad(4); y finalmente System.out.println(a.getEdad()) imprime 4, aunque nadie toco la variable a. No hay dos mascotas, hay una con dos nombres. El contraste hay que hacerlo en el mismo tablero con tipos primitivos: int x = 3; int y = x; y = 5; y x sigue valiendo 3, porque ahi si se copio el valor. Java tiene exactamente ocho tipos primitivos (byte, short, int, long, float, double, char y boolean) y esa es regla dura del lenguaje: todo lo demas, incluido String, se maneja por referencia. De aqui se deriva un tercer hecho que conviene decir hoy aunque se practique despues: cuando se pasa un objeto a un metodo, el metodo puede modificar el objeto y quien llamo vera el cambio, pero si el metodo reasigna su parametro con un new, la variable de afuera no se enteran de 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De lo anterior sale la pregunta que aparece sin falta en las primeras semanas: por que mascota1 == mascota2 dice que son distintas si tienen los mismos datos. La respuesta es exacta y hay que darla asi: el operador == compara referencias, es decir pregunta si las dos variables apuntan al mismo objeto, no si los objetos se parecen. Dos objetos Mascota creados con new a partir de la misma linea de un archivo CSV son dos televisores identicos en fabrica y en habitaciones distintas: == devuelve false y esta bien, porque no son el mismo. Para comparar contenido existe el metodo equals, con una trampa que hay que enunciar: el equals que toda clase hereda de Object hace exactamente lo mismo que ==, asi que mientras usted no lo sobrescriba, equals tampoco compara contenido. Sobrescribirlo significa escribirlo en Mascota para que dos mascotas sean iguales cuando su identificador sea igual. Y viene una regla del lenguaje que no es opcional: si sobrescribe equals debe sobrescribir tambien hashCode, porque las estructuras que se veran en la Clase 4, HashMap y HashSet, ubican los objetos usando hashCode antes de compararlos, y dos objetos iguales que devuelven codigos distintos terminan guardados como si fueran diferentes. Un ultimo detalle que produce mucha confusion: con cadenas de texto escritas literalmente en el codigo, == a veces devuelve true porque Java reutiliza los literales identicos en una zona comun, pero new String("Luna") == "Luna" devuelve false. Por eso la regla practica del curso es sin excepciones: con objetos nunca se usa ==, se usa equals; == se reserva para primitivos y para preguntar si algo es null.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cuatro pilares se entienden por el problema que resuelve cada uno. Abstraccion es quedarse solo con lo que importa del problema: para la clinica, de una mascota importa su especie y su historial, no su color favorito; modelar es decidir que se ignora. Encapsulamiento es que los datos de un objeto no se tocan directamente desde afuera sino a traves de metodos: el atributo va private y se expone con getters y setters, de modo que el objeto pueda validar (por ejemplo, rechazar una edad negativa) en vez de quedar a merced de quien lo 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encapsulamiento se ensena mal cuando se presenta como la orden de poner private y generar getters. Se ensena bien cuando se muestra el problema que resuelve, y en el sistema de la clinica el problema tiene nombre. La clinica tiene una regla del proyecto: una mascota inactiva no puede agendar cita, y toda inactivacion debe quedar con motivo y fecha. Suponga que el atributo se declaro como public boolean activa. Entonces cualquier linea de cualquier archivo del sistema puede escribir luna.activa = false, y la afirmacion toda mascota inactiva tiene motivo y fecha de inactivacion, que es lo que llamamos una invariante porque debe ser verdadera durante toda la vida del objeto, se rompe sin dejar rastro. Peor todavia: para encontrar quien la rompio hay que revisar el proyecto completo, porque el compilador permite esa asignacion en cualquier parte. Si en cambio el atributo es private y la unica forma de apagarlo es el metodo inactivar(String motivo), que exige el motivo, guarda la fecha y deja registro, entonces existe un unico lugar en el mundo donde una mascota puede volverse inactiva. Lo mismo pasa con la edad: luna.edad = -3 es aceptado por el compilador sin una queja, mientras que un setEdad que lanza IllegalArgumentException cuando el valor es negativo detiene el error en el instante en que se comete y no tres pantallas despues. Y aqui va la parte honesta que casi nunca se dice: usar el atajo del entorno de desarrollo para generar getters y setters de los quince campos no es encapsular. Si existe un setActiva(boolean) publico, el campo sigue siendo publico con dos pasos extra. Encapsular es exponer operaciones del dominio, inactivar, agendar, aplicarVacuna, y no casillas. La pregunta del estudiante llega sola: si igual funciona con public, para que me complico. La respuesta concreta es que funciona hoy, con un archivo y con usted como unico autor; en la Clase 12, integrando modulos de tres companeros, quien escriba la pantalla de facturacion pondra activa en false por comodidad y usted perdera una tarde buscando por que las citas desaparecieron.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Luna (4 anios)</a:t>
            </a:r>
          </a:p>
          <a:p/>
          <a:p>
            <a:r>
              <a:t>Edad invalida, sigue en 4</a:t>
            </a:r>
          </a:p>
          <a:p/>
          <a:p>
            <a:r>
              <a:t>Luna (4 anios)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Herencia es que una clase puede extender a otra y reutilizar lo que ya define: Perro extends Mascota hereda nombre y edad, y agrega lo suyo. Advertencia importante: la herencia se sobreusa, y solo aplica cuando de verdad hay una relacion 'es un' (un perro ES una mascota); si la relacion es 'tiene un', no es herencia sino composicion. Polimorfismo es que el mismo mensaje produce comportamientos distintos segun el objeto que lo recibe: si Perro y Gato heredan de Mascota y ambos redefinen hacerSonido(), recorrer una lista de mascotas y llamar ese metodo produce Guau o Miau segun el objeto real, sin que el codigo que recorre la lista necesite saber de que tipo es cada una.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constructor es la pieza que garantiza que el objeto nazca valido. Es un metodo especial que se llama igual que la clase, no declara tipo de retorno y se ejecuta una sola vez, en el momento de la creacion. La instruccion new hace dos cosas: reserva la memoria en el monton y llama al constructor. Si la clase no declara ninguno, Java agrega uno sin parametros; en el instante en que usted escribe un constructor con parametros, el vacio desaparece, y ese es literalmente el primer error de compilacion del curso cuando alguien sigue escribiendo new Mascota() en otro archivo. La responsabilidad del constructor es la validacion: si el nombre llega null o vacio, lanza; si la edad llega negativa, lanza; y como consecuencia, en todo el programa no puede existir una Mascota sin nombre. Eso elimina una familia entera de errores aguas abajo, porque nadie tendra que preguntarse mas adelante si el nombre podria estar vacio. El anti patron a evitar es el constructor vacio seguido de cinco setters: permite que exista un objeto a medio llenar que viajara hasta la interfaz grafica de la Clase 4 y fallara alli, a doscientas lineas del lugar donde en realidad se creo mal, que es el peor escenario de depuracion posible. Como convencion, no como regla, si un constructor pide mas de cuatro o cinco parametros es senal de que la clase esta juntando cosas que no pertenecen al mismo concepto.</a:t>
            </a:r>
          </a:p>
          <a:p/>
          <a:p>
            <a:r>
              <a:t>El constructor es el metodo que se ejecuta al crear el objeto y deja sus atributos en un estado valido. La instruccion new Mascota("Luna", "Canino", 3) reserva memoria y llama al constructor. Si no se escribe ninguno, Java agrega uno vacio por defecto, y ahi es donde aparecen objetos a medio inicializar que despues fallan con NullPointerException en el peor momento. Por eso desde la primera clase se escribe el constructor completo.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Rocky tiene 9 anios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Queda el error mas frecuente de Java, y hay que nombrarlo hoy porque su causa es todo lo anterior. null significa que la referencia no apunta a ningun objeto: es un control remoto sin televisor. No es cero, no es cadena vacia y no es un objeto con los campos en blanco; es la ausencia de destino. NullPointerException es lo que ocurre cuando el programa intenta usar esa referencia, por ejemplo llamando un metodo o leyendo un campo. Los tres casos que produciran esa excepcion en el sistema de la clinica son predecibles: un metodo buscarMascota(id) que devuelve null cuando no encuentra nada y un llamador que hace m.getNombre() sin preguntar; una Cita cuya Mascota nunca se asigno; y una lista declarada pero no inicializada. Dato citable: Tony Hoare introdujo la referencia nula en 1965 y en una conferencia de 2009 la llamo publicamente su error de mil millones de dolares. Las encuestas y los reportes de errores en produccion la ubican de forma consistente como la excepcion mas frecuente en aplicaciones Java, y conviene presentarlo asi, como observacion de la industria y no como ley. Las defensas, en orden de utilidad real: validar en el constructor para que no nazcan objetos incompletos; nunca devolver null en un metodo que devuelve una coleccion, sino una lista vacia; usar Optional cuando la ausencia es un resultado legitimo de una busqueda; y leer el mensaje de la excepcion, porque desde Java 14 el mensaje indica cual variable exacta era null. Pregunta previsible: entonces le pongo cadena vacia y listo. No: eso no resuelve el problema, lo esconde, y cambia una excepcion clara por un dato falso guardado en el archivo de la Clase 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entorno cierra la clase y tiene dos reglas duras que producen el noventa por ciento de los tropiezos del primer dia. El JDK debe estar instalado en una version de soporte extendido, 17 o 21, y se verifica con java -version en la consola, no confiando en la pantalla del instalador; y un archivo .java contiene una clase publica cuyo nombre coincide caracter por caracter con el nombre del archivo, mayusculas incluidas, de modo que la clase Mascota vive en Mascota.java y en ningun otro lugar. El comando javac compila a un archivo .class con bytecode y java lo ejecuta; el entorno de desarrollo hace ambas cosas por dentro, y verlo una vez en consola evita que el estudiante crea que Java es el boton verde del IDE. El amarre con la Clase 2 conviene decirlo explicito al cerrar: hoy quedaron mascota1, mascota2 y mascota3 como variables sueltas, y eso no escala a una clinica con cuatrocientos pacientes, asi que la proxima clase entra ArrayList de Mascota. Todo lo de hoy se vuelve indispensable ahi: la lista guarda referencias y no copias, de modo que modificar el objeto cambia lo que la lista muestra; los metodos contains e indexOf usan equals, asi que sin sobrescribirlo la busqueda por identificador fallara sin dar error; y en la Clase 9, al guardar en CSV, hara falta un constructor que reciba una linea de texto y valide, es decir el mismo constructor de hoy. La Clase 13 formalizara con try-catch lo que hoy se hizo a mano lanzando IllegalArgumentException.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Introduccion a la Programacion Orientada a Objetos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vs objeto y los cuatro pilares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Introduccion a la Programacion Orientada a Objetos — Clase vs objeto y los cuatro pilares</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programa estructurado al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ructurado-vs-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structurado-vs-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structurado-vs-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arreglos paralelos (nombres[], especies[], edades[]) la mascota 5 es la casilla 5 de los tres a la vez.</a:t>
            </a:r>
          </a:p>
          <a:p>
            <a:pPr>
              <a:spcAft>
                <a:spcPts val="800"/>
              </a:spcAft>
            </a:pPr>
            <a:r>
              <a:rPr sz="2000" b="0" i="0">
                <a:solidFill>
                  <a:srgbClr val="333333"/>
                </a:solidFill>
                <a:latin typeface="Calibri"/>
              </a:rPr>
              <a:t>–   Ordenar, agregar un dato o perder la sincronía rompe el programa en sitios inesperados.</a:t>
            </a:r>
          </a:p>
          <a:p>
            <a:pPr>
              <a:spcAft>
                <a:spcPts val="800"/>
              </a:spcAft>
            </a:pPr>
            <a:r>
              <a:rPr sz="2000" b="0" i="0">
                <a:solidFill>
                  <a:srgbClr val="333333"/>
                </a:solidFill>
                <a:latin typeface="Calibri"/>
              </a:rPr>
              <a:t>–   La POO junta en un tipo, Mascota, el estado (sus datos) y el comportamiento (sus operaciones).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y objeto: el molde y la pieza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ase-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lase-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lase-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es el molde: Mascota declara que toda mascota tiene nombre, especie y edad.</a:t>
            </a:r>
          </a:p>
          <a:p>
            <a:pPr>
              <a:spcAft>
                <a:spcPts val="800"/>
              </a:spcAft>
            </a:pPr>
            <a:r>
              <a:rPr sz="2000" b="0" i="0">
                <a:solidFill>
                  <a:srgbClr val="333333"/>
                </a:solidFill>
                <a:latin typeface="Calibri"/>
              </a:rPr>
              <a:t>–   El objeto es la pieza: Luna, Canino, 3 años. Fabricarla se llama instanciar y se hace con new.</a:t>
            </a:r>
          </a:p>
          <a:p>
            <a:pPr>
              <a:spcAft>
                <a:spcPts val="800"/>
              </a:spcAft>
            </a:pPr>
            <a:r>
              <a:rPr sz="2000" b="0" i="0">
                <a:solidFill>
                  <a:srgbClr val="333333"/>
                </a:solidFill>
                <a:latin typeface="Calibri"/>
              </a:rPr>
              <a:t>–   De una clase salen tantos objetos como haga falta, cada uno con sus propios valores.</a:t>
            </a:r>
          </a:p>
          <a:p>
            <a:pPr>
              <a:spcAft>
                <a:spcPts val="800"/>
              </a:spcAft>
            </a:pPr>
            <a:r>
              <a:rPr sz="2000" b="0" i="0">
                <a:solidFill>
                  <a:srgbClr val="333333"/>
                </a:solidFill>
                <a:latin typeface="Calibri"/>
              </a:rPr>
              <a:t>–   static marca lo que es de la clase y no de cada objeto: Mascota.totalMascotas existe una vez.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objetos con new</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 new crea el objeto y llama al constructor</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luna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"Luna"</a:t>
            </a:r>
            <a:r>
              <a:rPr sz="1000" i="0" b="0">
                <a:solidFill>
                  <a:srgbClr val="D4D4D4"/>
                </a:solidFill>
                <a:latin typeface="Consolas"/>
              </a:rPr>
              <a:t>, </a:t>
            </a:r>
            <a:r>
              <a:rPr sz="1000" i="0" b="0">
                <a:solidFill>
                  <a:srgbClr val="CE9178"/>
                </a:solidFill>
                <a:latin typeface="Consolas"/>
              </a:rPr>
              <a:t>"Canino"</a:t>
            </a:r>
            <a:r>
              <a:rPr sz="1000" i="0" b="0">
                <a:solidFill>
                  <a:srgbClr val="D4D4D4"/>
                </a:solidFill>
                <a:latin typeface="Consolas"/>
              </a:rPr>
              <a:t>, </a:t>
            </a:r>
            <a:r>
              <a:rPr sz="1000" i="0" b="0">
                <a:solidFill>
                  <a:srgbClr val="B5CEA8"/>
                </a:solidFill>
                <a:latin typeface="Consolas"/>
              </a:rPr>
              <a:t>3</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michi</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 </a:t>
            </a:r>
            <a:r>
              <a:rPr sz="1000" i="0" b="0">
                <a:solidFill>
                  <a:srgbClr val="CE9178"/>
                </a:solidFill>
                <a:latin typeface="Consolas"/>
              </a:rPr>
              <a:t>"Felino"</a:t>
            </a:r>
            <a:r>
              <a:rPr sz="1000" i="0" b="0">
                <a:solidFill>
                  <a:srgbClr val="D4D4D4"/>
                </a:solidFill>
                <a:latin typeface="Consolas"/>
              </a:rPr>
              <a:t>, </a:t>
            </a:r>
            <a:r>
              <a:rPr sz="1000" i="0" b="0">
                <a:solidFill>
                  <a:srgbClr val="B5CEA8"/>
                </a:solidFill>
                <a:latin typeface="Consolas"/>
              </a:rPr>
              <a:t>5</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"Pacientes registrados hoy:"</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luna</a:t>
            </a:r>
            <a:r>
              <a:rPr sz="1000" i="0" b="0">
                <a:solidFill>
                  <a:srgbClr val="D4D4D4"/>
                </a:solidFill>
                <a:latin typeface="Consolas"/>
              </a:rPr>
              <a:t>);  </a:t>
            </a:r>
            <a:r>
              <a:rPr sz="1000" i="1" b="0">
                <a:solidFill>
                  <a:srgbClr val="6A9955"/>
                </a:solidFill>
                <a:latin typeface="Consolas"/>
              </a:rPr>
              <a:t>// usa toString()</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michi</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especie</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edad</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D4D4D4"/>
                </a:solidFill>
                <a:latin typeface="Consolas"/>
              </a:rPr>
              <a:t>Override</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 + </a:t>
            </a:r>
            <a:r>
              <a:rPr sz="1000" i="0" b="0">
                <a:solidFill>
                  <a:srgbClr val="CE9178"/>
                </a:solidFill>
                <a:latin typeface="Consolas"/>
              </a:rPr>
              <a:t>", "</a:t>
            </a:r>
          </a:p>
          <a:p>
            <a:pPr>
              <a:spcAft>
                <a:spcPts val="71"/>
              </a:spcAft>
            </a:pP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 + </a:t>
            </a:r>
            <a:r>
              <a:rPr sz="1000" i="0" b="0">
                <a:solidFill>
                  <a:srgbClr val="CE9178"/>
                </a:solidFill>
                <a:latin typeface="Consolas"/>
              </a:rPr>
              <a:t>" anios)"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objeto en memoria: pila y montón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mont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mont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mont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mont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variable local vive en la pila; el objeto creado con new vive en el montón.</a:t>
            </a:r>
          </a:p>
          <a:p>
            <a:pPr>
              <a:spcAft>
                <a:spcPts val="800"/>
              </a:spcAft>
            </a:pPr>
            <a:r>
              <a:rPr sz="2000" b="0" i="0">
                <a:solidFill>
                  <a:srgbClr val="333333"/>
                </a:solidFill>
                <a:latin typeface="Calibri"/>
              </a:rPr>
              <a:t>–   La variable no guarda el objeto: guarda una referencia, como un control remoto guarda el televisor.</a:t>
            </a:r>
          </a:p>
          <a:p>
            <a:pPr>
              <a:spcAft>
                <a:spcPts val="800"/>
              </a:spcAft>
            </a:pPr>
            <a:r>
              <a:rPr sz="2000" b="0" i="0">
                <a:solidFill>
                  <a:srgbClr val="333333"/>
                </a:solidFill>
                <a:latin typeface="Calibri"/>
              </a:rPr>
              <a:t>–   Mascota b = a; b.setEdad(4); → a.getEdad() también da 4: hay una mascota con dos nombres.</a:t>
            </a:r>
          </a:p>
          <a:p>
            <a:pPr>
              <a:spcAft>
                <a:spcPts val="800"/>
              </a:spcAft>
            </a:pPr>
            <a:r>
              <a:rPr sz="2000" b="0" i="0">
                <a:solidFill>
                  <a:srgbClr val="333333"/>
                </a:solidFill>
                <a:latin typeface="Calibri"/>
              </a:rPr>
              <a:t>–   Los 8 primitivos (int, double, boolean…) sí se copian: int y = x; y = 5; deja x intacto.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 compara referencias; equals, contenido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gual-equal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gual-equal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gual-equal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gual-equal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igual-equal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pregunta si dos variables apuntan al mismo objeto, no si los objetos se parecen.</a:t>
            </a:r>
          </a:p>
          <a:p>
            <a:pPr>
              <a:spcAft>
                <a:spcPts val="800"/>
              </a:spcAft>
            </a:pPr>
            <a:r>
              <a:rPr sz="2000" b="0" i="0">
                <a:solidFill>
                  <a:srgbClr val="333333"/>
                </a:solidFill>
                <a:latin typeface="Calibri"/>
              </a:rPr>
              <a:t>–   El equals heredado de Object hace lo mismo que ==: hay que sobrescribirlo, por ejemplo por id.</a:t>
            </a:r>
          </a:p>
          <a:p>
            <a:pPr>
              <a:spcAft>
                <a:spcPts val="800"/>
              </a:spcAft>
            </a:pPr>
            <a:r>
              <a:rPr sz="2000" b="0" i="0">
                <a:solidFill>
                  <a:srgbClr val="333333"/>
                </a:solidFill>
                <a:latin typeface="Calibri"/>
              </a:rPr>
              <a:t>–   Quien sobrescribe equals sobrescribe también hashCode: HashMap y HashSet usan los dos.</a:t>
            </a:r>
          </a:p>
          <a:p>
            <a:pPr>
              <a:spcAft>
                <a:spcPts val="800"/>
              </a:spcAft>
            </a:pPr>
            <a:r>
              <a:rPr sz="2000" b="0" i="0">
                <a:solidFill>
                  <a:srgbClr val="333333"/>
                </a:solidFill>
                <a:latin typeface="Calibri"/>
              </a:rPr>
              <a:t>–   Regla del curso: con objetos, equals; == solo para primitivos y para comparar con null.</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Abstracción y encapsulamiento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abstraccion-encapsulamient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Abstracción: quedarse con lo que importa del problema; modelar es decidir qué se ignora.</a:t>
            </a:r>
          </a:p>
          <a:p>
            <a:pPr>
              <a:spcAft>
                <a:spcPts val="800"/>
              </a:spcAft>
            </a:pPr>
            <a:r>
              <a:rPr sz="2000" b="0" i="0">
                <a:solidFill>
                  <a:srgbClr val="333333"/>
                </a:solidFill>
                <a:latin typeface="Calibri"/>
              </a:rPr>
              <a:t>–   Encapsulamiento: los datos no se tocan desde afuera; el atributo va private.</a:t>
            </a:r>
          </a:p>
          <a:p>
            <a:pPr>
              <a:spcAft>
                <a:spcPts val="800"/>
              </a:spcAft>
            </a:pPr>
            <a:r>
              <a:rPr sz="2000" b="0" i="0">
                <a:solidFill>
                  <a:srgbClr val="333333"/>
                </a:solidFill>
                <a:latin typeface="Calibri"/>
              </a:rPr>
              <a:t>–   Se accede por métodos, y así el objeto puede validar: rechazar una edad negativa.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Encapsular es proteger una regla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capsular-reg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capsular-reg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capsular-reg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public boolean activa, cualquier archivo puede hacer luna.activa = false sin dejar rastro.</a:t>
            </a:r>
          </a:p>
          <a:p>
            <a:pPr>
              <a:spcAft>
                <a:spcPts val="800"/>
              </a:spcAft>
            </a:pPr>
            <a:r>
              <a:rPr sz="2000" b="0" i="0">
                <a:solidFill>
                  <a:srgbClr val="333333"/>
                </a:solidFill>
                <a:latin typeface="Calibri"/>
              </a:rPr>
              <a:t>–   Con private y un único inactivar(motivo), hay un solo lugar donde la regla puede romperse.</a:t>
            </a:r>
          </a:p>
          <a:p>
            <a:pPr>
              <a:spcAft>
                <a:spcPts val="800"/>
              </a:spcAft>
            </a:pPr>
            <a:r>
              <a:rPr sz="2000" b="0" i="0">
                <a:solidFill>
                  <a:srgbClr val="333333"/>
                </a:solidFill>
                <a:latin typeface="Calibri"/>
              </a:rPr>
              <a:t>–   Generar getters y setters para todo no es encapsular: se exponen operaciones del dominio.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el objeto se defiende</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luna</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a:t>
            </a:r>
            <a:r>
              <a:rPr sz="1100" i="0" b="0">
                <a:solidFill>
                  <a:srgbClr val="CE9178"/>
                </a:solidFill>
                <a:latin typeface="Consolas"/>
              </a:rPr>
              <a:t>"Luna"</a:t>
            </a:r>
            <a:r>
              <a:rPr sz="1100" i="0" b="0">
                <a:solidFill>
                  <a:srgbClr val="D4D4D4"/>
                </a:solidFill>
                <a:latin typeface="Consolas"/>
              </a:rPr>
              <a:t>, </a:t>
            </a:r>
            <a:r>
              <a:rPr sz="1100" i="0" b="0">
                <a:solidFill>
                  <a:srgbClr val="B5CEA8"/>
                </a:solidFill>
                <a:latin typeface="Consolas"/>
              </a:rPr>
              <a:t>3</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luna.setEdad</a:t>
            </a:r>
            <a:r>
              <a:rPr sz="1100" i="0" b="0">
                <a:solidFill>
                  <a:srgbClr val="D4D4D4"/>
                </a:solidFill>
                <a:latin typeface="Consolas"/>
              </a:rPr>
              <a:t>(</a:t>
            </a:r>
            <a:r>
              <a:rPr sz="1100" i="0" b="0">
                <a:solidFill>
                  <a:srgbClr val="B5CEA8"/>
                </a:solidFill>
                <a:latin typeface="Consolas"/>
              </a:rPr>
              <a:t>4</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4D4D4"/>
                </a:solidFill>
                <a:latin typeface="Consolas"/>
              </a:rPr>
              <a:t>luna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luna.setEdad</a:t>
            </a:r>
            <a:r>
              <a:rPr sz="1100" i="0" b="0">
                <a:solidFill>
                  <a:srgbClr val="D4D4D4"/>
                </a:solidFill>
                <a:latin typeface="Consolas"/>
              </a:rPr>
              <a:t>(-</a:t>
            </a:r>
            <a:r>
              <a:rPr sz="1100" i="0" b="0">
                <a:solidFill>
                  <a:srgbClr val="B5CEA8"/>
                </a:solidFill>
                <a:latin typeface="Consolas"/>
              </a:rPr>
              <a:t>2</a:t>
            </a:r>
            <a:r>
              <a:rPr sz="1100" i="0" b="0">
                <a:solidFill>
                  <a:srgbClr val="D4D4D4"/>
                </a:solidFill>
                <a:latin typeface="Consolas"/>
              </a:rPr>
              <a:t>);   </a:t>
            </a:r>
            <a:r>
              <a:rPr sz="1100" i="1" b="0">
                <a:solidFill>
                  <a:srgbClr val="6A9955"/>
                </a:solidFill>
                <a:latin typeface="Consolas"/>
              </a:rPr>
              <a:t>// el objeto rechaza el dato</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4D4D4"/>
                </a:solidFill>
                <a:latin typeface="Consolas"/>
              </a:rPr>
              <a:t>luna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edad</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Mascota</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edad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nombre</a:t>
            </a:r>
            <a:r>
              <a:rPr sz="1100" i="0" b="0">
                <a:solidFill>
                  <a:srgbClr val="D4D4D4"/>
                </a:solidFill>
                <a:latin typeface="Consolas"/>
              </a:rPr>
              <a:t> =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edad</a:t>
            </a:r>
            <a:r>
              <a:rPr sz="1100" i="0" b="0">
                <a:solidFill>
                  <a:srgbClr val="D4D4D4"/>
                </a:solidFill>
                <a:latin typeface="Consolas"/>
              </a:rPr>
              <a:t> = </a:t>
            </a:r>
            <a:r>
              <a:rPr sz="1100" i="0" b="0">
                <a:solidFill>
                  <a:srgbClr val="D4D4D4"/>
                </a:solidFill>
                <a:latin typeface="Consolas"/>
              </a:rPr>
              <a:t>edad</a:t>
            </a:r>
            <a:r>
              <a:rPr sz="1100" i="0" b="0">
                <a:solidFill>
                  <a:srgbClr val="D4D4D4"/>
                </a:solidFill>
                <a:latin typeface="Consolas"/>
              </a:rPr>
              <a:t>;</a:t>
            </a:r>
          </a:p>
          <a:p>
            <a:pPr>
              <a:spcAft>
                <a:spcPts val="78"/>
              </a:spcAft>
            </a:pPr>
            <a:r>
              <a:rPr sz="11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1" b="0">
                <a:solidFill>
                  <a:srgbClr val="6A9955"/>
                </a:solidFill>
                <a:latin typeface="Consolas"/>
              </a:rPr>
              <a:t>/** El objeto se defiende: una edad negativa no tiene</a:t>
            </a:r>
          </a:p>
          <a:p>
            <a:pPr>
              <a:spcAft>
                <a:spcPts val="78"/>
              </a:spcAft>
            </a:pPr>
            <a:r>
              <a:rPr sz="1100" i="0" b="0">
                <a:solidFill>
                  <a:srgbClr val="D4D4D4"/>
                </a:solidFill>
                <a:latin typeface="Consolas"/>
              </a:rPr>
              <a:t>     </a:t>
            </a:r>
            <a:r>
              <a:rPr sz="1100" i="1" b="0">
                <a:solidFill>
                  <a:srgbClr val="6A9955"/>
                </a:solidFill>
                <a:latin typeface="Consolas"/>
              </a:rPr>
              <a:t>*  sentido en el dominio.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setEdad</a:t>
            </a:r>
            <a:r>
              <a:rPr sz="1100" i="0" b="0">
                <a:solidFill>
                  <a:srgbClr val="D4D4D4"/>
                </a:solidFill>
                <a:latin typeface="Consolas"/>
              </a:rPr>
              <a:t>(</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edad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edad</a:t>
            </a:r>
            <a:r>
              <a:rPr sz="1100" i="0" b="0">
                <a:solidFill>
                  <a:srgbClr val="D4D4D4"/>
                </a:solidFill>
                <a:latin typeface="Consolas"/>
              </a:rPr>
              <a:t> &lt; </a:t>
            </a:r>
            <a:r>
              <a:rPr sz="1100" i="0" b="0">
                <a:solidFill>
                  <a:srgbClr val="B5CEA8"/>
                </a:solidFill>
                <a:latin typeface="Consolas"/>
              </a:rPr>
              <a:t>0</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"Edad invalida, sigue en "</a:t>
            </a:r>
          </a:p>
          <a:p>
            <a:pPr>
              <a:spcAft>
                <a:spcPts val="78"/>
              </a:spcAft>
            </a:pPr>
            <a:r>
              <a:rPr sz="1100" i="0" b="0">
                <a:solidFill>
                  <a:srgbClr val="D4D4D4"/>
                </a:solidFill>
                <a:latin typeface="Consolas"/>
              </a:rPr>
              <a:t>                    +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edad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edad</a:t>
            </a:r>
            <a:r>
              <a:rPr sz="1100" i="0" b="0">
                <a:solidFill>
                  <a:srgbClr val="D4D4D4"/>
                </a:solidFill>
                <a:latin typeface="Consolas"/>
              </a:rPr>
              <a:t> = </a:t>
            </a:r>
            <a:r>
              <a:rPr sz="1100" i="0" b="0">
                <a:solidFill>
                  <a:srgbClr val="D4D4D4"/>
                </a:solidFill>
                <a:latin typeface="Consolas"/>
              </a:rPr>
              <a:t>edad</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D4D4D4"/>
                </a:solidFill>
                <a:latin typeface="Consolas"/>
              </a:rPr>
              <a:t>Override</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toString</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 </a:t>
            </a:r>
            <a:r>
              <a:rPr sz="1100" i="0" b="0">
                <a:solidFill>
                  <a:srgbClr val="CE9178"/>
                </a:solidFill>
                <a:latin typeface="Consolas"/>
              </a:rPr>
              <a:t>" ("</a:t>
            </a:r>
            <a:r>
              <a:rPr sz="1100" i="0" b="0">
                <a:solidFill>
                  <a:srgbClr val="D4D4D4"/>
                </a:solidFill>
                <a:latin typeface="Consolas"/>
              </a:rPr>
              <a:t> + </a:t>
            </a:r>
            <a:r>
              <a:rPr sz="1100" i="0" b="0">
                <a:solidFill>
                  <a:srgbClr val="D4D4D4"/>
                </a:solidFill>
                <a:latin typeface="Consolas"/>
              </a:rPr>
              <a:t>edad</a:t>
            </a:r>
            <a:r>
              <a:rPr sz="1100" i="0" b="0">
                <a:solidFill>
                  <a:srgbClr val="D4D4D4"/>
                </a:solidFill>
                <a:latin typeface="Consolas"/>
              </a:rPr>
              <a:t> + </a:t>
            </a:r>
            <a:r>
              <a:rPr sz="1100" i="0" b="0">
                <a:solidFill>
                  <a:srgbClr val="CE9178"/>
                </a:solidFill>
                <a:latin typeface="Consolas"/>
              </a:rPr>
              <a:t>" anios)"</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Herencia y polimorfismo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erencia-polimorfis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erencia-polimorfis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erencia-polimorfis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Herencia: Perro extends Mascota hereda nombre y edad y agrega lo suyo.</a:t>
            </a:r>
          </a:p>
          <a:p>
            <a:pPr>
              <a:spcAft>
                <a:spcPts val="800"/>
              </a:spcAft>
            </a:pPr>
            <a:r>
              <a:rPr sz="2000" b="0" i="0">
                <a:solidFill>
                  <a:srgbClr val="333333"/>
                </a:solidFill>
                <a:latin typeface="Calibri"/>
              </a:rPr>
              <a:t>–   Solo aplica si hay relación «es un»; si es «tiene un», es composición.</a:t>
            </a:r>
          </a:p>
          <a:p>
            <a:pPr>
              <a:spcAft>
                <a:spcPts val="800"/>
              </a:spcAft>
            </a:pPr>
            <a:r>
              <a:rPr sz="2000" b="0" i="0">
                <a:solidFill>
                  <a:srgbClr val="333333"/>
                </a:solidFill>
                <a:latin typeface="Calibri"/>
              </a:rPr>
              <a:t>–   Polimorfismo: el mismo mensaje, hacerSonido(), da Guau o Miau según el objeto real.</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el objeto nace válido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structor-vali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structor-vali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structor-vali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llama igual que la clase, no declara retorno y se ejecuta una sola vez, al crear.</a:t>
            </a:r>
          </a:p>
          <a:p>
            <a:pPr>
              <a:spcAft>
                <a:spcPts val="800"/>
              </a:spcAft>
            </a:pPr>
            <a:r>
              <a:rPr sz="2000" b="0" i="0">
                <a:solidFill>
                  <a:srgbClr val="333333"/>
                </a:solidFill>
                <a:latin typeface="Calibri"/>
              </a:rPr>
              <a:t>–   new reserva memoria en el montón y llama al constructor.</a:t>
            </a:r>
          </a:p>
          <a:p>
            <a:pPr>
              <a:spcAft>
                <a:spcPts val="800"/>
              </a:spcAft>
            </a:pPr>
            <a:r>
              <a:rPr sz="2000" b="0" i="0">
                <a:solidFill>
                  <a:srgbClr val="333333"/>
                </a:solidFill>
                <a:latin typeface="Calibri"/>
              </a:rPr>
              <a:t>–   Si usted escribe un constructor con parámetros, el vacío por defecto desaparece.</a:t>
            </a:r>
          </a:p>
          <a:p>
            <a:pPr>
              <a:spcAft>
                <a:spcPts val="800"/>
              </a:spcAft>
            </a:pPr>
            <a:r>
              <a:rPr sz="2000" b="0" i="0">
                <a:solidFill>
                  <a:srgbClr val="333333"/>
                </a:solidFill>
                <a:latin typeface="Calibri"/>
              </a:rPr>
              <a:t>–   El constructor valida: si el nombre llega vacío, lanza; no existe una Mascota sin nombre.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Atributos privados y constructor</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rocky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"M-003"</a:t>
            </a:r>
            <a:r>
              <a:rPr sz="1000" i="0" b="0">
                <a:solidFill>
                  <a:srgbClr val="D4D4D4"/>
                </a:solidFill>
                <a:latin typeface="Consolas"/>
              </a:rPr>
              <a:t>, </a:t>
            </a:r>
            <a:r>
              <a:rPr sz="1000" i="0" b="0">
                <a:solidFill>
                  <a:srgbClr val="CE9178"/>
                </a:solidFill>
                <a:latin typeface="Consolas"/>
              </a:rPr>
              <a:t>"Rocky"</a:t>
            </a:r>
            <a:r>
              <a:rPr sz="1000" i="0" b="0">
                <a:solidFill>
                  <a:srgbClr val="D4D4D4"/>
                </a:solidFill>
                <a:latin typeface="Consolas"/>
              </a:rPr>
              <a:t>, </a:t>
            </a:r>
            <a:r>
              <a:rPr sz="1000" i="0" b="0">
                <a:solidFill>
                  <a:srgbClr val="CE9178"/>
                </a:solidFill>
                <a:latin typeface="Consolas"/>
              </a:rPr>
              <a:t>"Canino"</a:t>
            </a:r>
            <a:r>
              <a:rPr sz="1000" i="0" b="0">
                <a:solidFill>
                  <a:srgbClr val="D4D4D4"/>
                </a:solidFill>
                <a:latin typeface="Consolas"/>
              </a:rPr>
              <a:t>, </a:t>
            </a:r>
            <a:r>
              <a:rPr sz="1000" i="0" b="0">
                <a:solidFill>
                  <a:srgbClr val="B5CEA8"/>
                </a:solidFill>
                <a:latin typeface="Consolas"/>
              </a:rPr>
              <a:t>9</a:t>
            </a:r>
            <a:r>
              <a:rPr sz="1000" i="0" b="0">
                <a:solidFill>
                  <a:srgbClr val="D4D4D4"/>
                </a:solidFill>
                <a:latin typeface="Consolas"/>
              </a:rPr>
              <a:t>);</a:t>
            </a:r>
          </a:p>
          <a:p>
            <a:pPr>
              <a:spcAft>
                <a:spcPts val="71"/>
              </a:spcAft>
            </a:pPr>
            <a:r>
              <a:rPr sz="1000" i="0" b="0">
                <a:solidFill>
                  <a:srgbClr val="D4D4D4"/>
                </a:solidFill>
                <a:latin typeface="Consolas"/>
              </a:rPr>
              <a:t>        </a:t>
            </a:r>
            <a:r>
              <a:rPr sz="1000" i="1" b="0">
                <a:solidFill>
                  <a:srgbClr val="6A9955"/>
                </a:solidFill>
                <a:latin typeface="Consolas"/>
              </a:rPr>
              <a:t>// rocky.edad = -5;  no compila: edad es private</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rocky.getNombre</a:t>
            </a:r>
            <a:r>
              <a:rPr sz="1000" i="0" b="0">
                <a:solidFill>
                  <a:srgbClr val="D4D4D4"/>
                </a:solidFill>
                <a:latin typeface="Consolas"/>
              </a:rPr>
              <a:t>() + </a:t>
            </a:r>
            <a:r>
              <a:rPr sz="1000" i="0" b="0">
                <a:solidFill>
                  <a:srgbClr val="CE9178"/>
                </a:solidFill>
                <a:latin typeface="Consolas"/>
              </a:rPr>
              <a:t>" tiene "</a:t>
            </a:r>
          </a:p>
          <a:p>
            <a:pPr>
              <a:spcAft>
                <a:spcPts val="71"/>
              </a:spcAft>
            </a:pPr>
            <a:r>
              <a:rPr sz="1000" i="0" b="0">
                <a:solidFill>
                  <a:srgbClr val="D4D4D4"/>
                </a:solidFill>
                <a:latin typeface="Consolas"/>
              </a:rPr>
              <a:t>                + </a:t>
            </a:r>
            <a:r>
              <a:rPr sz="1000" i="0" b="0">
                <a:solidFill>
                  <a:srgbClr val="DCDCAA"/>
                </a:solidFill>
                <a:latin typeface="Consolas"/>
              </a:rPr>
              <a:t>rocky.getEdad</a:t>
            </a:r>
            <a:r>
              <a:rPr sz="1000" i="0" b="0">
                <a:solidFill>
                  <a:srgbClr val="D4D4D4"/>
                </a:solidFill>
                <a:latin typeface="Consolas"/>
              </a:rPr>
              <a:t>() + </a:t>
            </a:r>
            <a:r>
              <a:rPr sz="1000" i="0" b="0">
                <a:solidFill>
                  <a:srgbClr val="CE9178"/>
                </a:solidFill>
                <a:latin typeface="Consolas"/>
              </a:rPr>
              <a:t>" anios"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1" b="0">
                <a:solidFill>
                  <a:srgbClr val="6A9955"/>
                </a:solidFill>
                <a:latin typeface="Consolas"/>
              </a:rPr>
              <a:t>// nadie lo toca desde afuera</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r>
              <a:rPr sz="1000" i="1" b="0">
                <a:solidFill>
                  <a:srgbClr val="6A9955"/>
                </a:solidFill>
                <a:latin typeface="Consolas"/>
              </a:rPr>
              <a:t>// this.id es el atributo</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especie</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edad</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getNombre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getEspecie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getEdad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null y NullPointerException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ull-contro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null-contro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null-contro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null es una referencia que no apunta a ningún objeto: un control remoto sin televisor.</a:t>
            </a:r>
          </a:p>
          <a:p>
            <a:pPr>
              <a:spcAft>
                <a:spcPts val="800"/>
              </a:spcAft>
            </a:pPr>
            <a:r>
              <a:rPr sz="2000" b="0" i="0">
                <a:solidFill>
                  <a:srgbClr val="333333"/>
                </a:solidFill>
                <a:latin typeface="Calibri"/>
              </a:rPr>
              <a:t>–   NullPointerException ocurre al usar esa referencia: llamar un método o leer un campo.</a:t>
            </a:r>
          </a:p>
          <a:p>
            <a:pPr>
              <a:spcAft>
                <a:spcPts val="800"/>
              </a:spcAft>
            </a:pPr>
            <a:r>
              <a:rPr sz="2000" b="0" i="0">
                <a:solidFill>
                  <a:srgbClr val="333333"/>
                </a:solidFill>
                <a:latin typeface="Calibri"/>
              </a:rPr>
              <a:t>–   Casos típicos: una búsqueda que devuelve null, un atributo nunca asignado, una lista sin new.</a:t>
            </a:r>
          </a:p>
          <a:p>
            <a:pPr>
              <a:spcAft>
                <a:spcPts val="800"/>
              </a:spcAft>
            </a:pPr>
            <a:r>
              <a:rPr sz="2000" b="0" i="0">
                <a:solidFill>
                  <a:srgbClr val="333333"/>
                </a:solidFill>
                <a:latin typeface="Calibri"/>
              </a:rPr>
              <a:t>–   Defensas: validar en el constructor, devolver listas vacías y leer el mensaje del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entorno: JDK, javac y java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ntorno-jdk-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JDK de soporte extendido (17 o 21), verificado con java -version.</a:t>
            </a:r>
          </a:p>
          <a:p>
            <a:pPr>
              <a:spcAft>
                <a:spcPts val="800"/>
              </a:spcAft>
            </a:pPr>
            <a:r>
              <a:rPr sz="2000" b="0" i="0">
                <a:solidFill>
                  <a:srgbClr val="333333"/>
                </a:solidFill>
                <a:latin typeface="Calibri"/>
              </a:rPr>
              <a:t>–   Una clase pública por archivo, con el mismo nombre: Mascota vive en Mascota.java.</a:t>
            </a:r>
          </a:p>
          <a:p>
            <a:pPr>
              <a:spcAft>
                <a:spcPts val="800"/>
              </a:spcAft>
            </a:pPr>
            <a:r>
              <a:rPr sz="2000" b="0" i="0">
                <a:solidFill>
                  <a:srgbClr val="333333"/>
                </a:solidFill>
                <a:latin typeface="Calibri"/>
              </a:rPr>
              <a:t>–   javac compila a .class (bytecode) y java lo ejecuta; el IDE hace ambas cosas por dentro.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Escribir en vivo la clase Mascota y un main que instancia dos mascotas con datos distintos, mostrando que salen del mismo molde</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Introduccion a la Programacion Orientada a Objetos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vs objeto y los cuatro pilares</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