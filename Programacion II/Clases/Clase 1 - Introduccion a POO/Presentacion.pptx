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9859975" y="384048"/>
            <a:ext cx="1691640" cy="384048"/>
          </a:xfrm>
          <a:prstGeom prst="roundRect">
            <a:avLst/>
          </a:prstGeom>
          <a:solidFill>
            <a:srgbClr val="269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59975" y="384048"/>
            <a:ext cx="169164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10362895" cy="1828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Introducción a POO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361688"/>
            <a:ext cx="103628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Clase vs objeto · encapsulamiento · entorno listo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952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88720"/>
            <a:ext cx="12191695" cy="54864"/>
          </a:xfrm>
          <a:prstGeom prst="rect">
            <a:avLst/>
          </a:prstGeom>
          <a:solidFill>
            <a:srgbClr val="269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Encuadre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Objetivo de hoy: activar el modelo mental de POO y dejar el entorno + el arranque del Proyecto Integrador.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Bloque: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120 min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· Diagnóstico · Teoría Core · Laboratorio · Primer avance del proyecto.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Entorno local: JDK + IDE · sin software de pago obligatorio.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952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88720"/>
            <a:ext cx="12191695" cy="54864"/>
          </a:xfrm>
          <a:prstGeom prst="rect">
            <a:avLst/>
          </a:prstGeom>
          <a:solidFill>
            <a:srgbClr val="269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764792"/>
            <a:ext cx="891006" cy="384048"/>
          </a:xfrm>
          <a:prstGeom prst="roundRect">
            <a:avLst/>
          </a:prstGeom>
          <a:solidFill>
            <a:srgbClr val="0952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76656" y="1764792"/>
            <a:ext cx="817854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0-10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585950" y="1764792"/>
            <a:ext cx="2227516" cy="384048"/>
          </a:xfrm>
          <a:prstGeom prst="roundRect">
            <a:avLst/>
          </a:prstGeom>
          <a:solidFill>
            <a:srgbClr val="269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22526" y="1764792"/>
            <a:ext cx="2154364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10-35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868331" y="1764792"/>
            <a:ext cx="3118523" cy="384048"/>
          </a:xfrm>
          <a:prstGeom prst="roundRect">
            <a:avLst/>
          </a:prstGeom>
          <a:solidFill>
            <a:srgbClr val="054F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904907" y="1764792"/>
            <a:ext cx="3045371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35-70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041718" y="1764792"/>
            <a:ext cx="2673019" cy="384048"/>
          </a:xfrm>
          <a:prstGeom prst="roundRect">
            <a:avLst/>
          </a:prstGeom>
          <a:solidFill>
            <a:srgbClr val="269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078294" y="1764792"/>
            <a:ext cx="2599867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70-100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769602" y="1764792"/>
            <a:ext cx="1782013" cy="384048"/>
          </a:xfrm>
          <a:prstGeom prst="roundRect">
            <a:avLst/>
          </a:prstGeom>
          <a:solidFill>
            <a:srgbClr val="0952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06177" y="1764792"/>
            <a:ext cx="1708861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100-120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21992" y="2478024"/>
            <a:ext cx="54864" cy="3529584"/>
          </a:xfrm>
          <a:prstGeom prst="rect">
            <a:avLst/>
          </a:prstGeom>
          <a:solidFill>
            <a:srgbClr val="269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0080" y="2516428"/>
            <a:ext cx="1417320" cy="438912"/>
          </a:xfrm>
          <a:prstGeom prst="roundRect">
            <a:avLst/>
          </a:prstGeom>
          <a:solidFill>
            <a:srgbClr val="0952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2516428"/>
            <a:ext cx="141732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0-10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167128" y="2653588"/>
            <a:ext cx="164592" cy="164592"/>
          </a:xfrm>
          <a:prstGeom prst="roundRect">
            <a:avLst/>
          </a:prstGeom>
          <a:solidFill>
            <a:srgbClr val="0952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2423160" y="2404872"/>
            <a:ext cx="9128455" cy="662025"/>
          </a:xfrm>
          <a:prstGeom prst="round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423160" y="2404872"/>
            <a:ext cx="91440" cy="662025"/>
          </a:xfrm>
          <a:prstGeom prst="rect">
            <a:avLst/>
          </a:prstGeom>
          <a:solidFill>
            <a:srgbClr val="0952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679192" y="2478024"/>
            <a:ext cx="8744407" cy="51572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0" i="0">
                <a:solidFill>
                  <a:srgbClr val="2B2B2B"/>
                </a:solidFill>
                <a:latin typeface="Calibri"/>
              </a:rPr>
              <a:t>Encuadre temático (Sesión 0 ya quedó atrás)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3269894"/>
            <a:ext cx="1417320" cy="438912"/>
          </a:xfrm>
          <a:prstGeom prst="roundRect">
            <a:avLst/>
          </a:prstGeom>
          <a:solidFill>
            <a:srgbClr val="269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3269894"/>
            <a:ext cx="141732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10-35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167128" y="3407054"/>
            <a:ext cx="164592" cy="164592"/>
          </a:xfrm>
          <a:prstGeom prst="roundRect">
            <a:avLst/>
          </a:prstGeom>
          <a:solidFill>
            <a:srgbClr val="269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2423160" y="3158337"/>
            <a:ext cx="9128455" cy="662025"/>
          </a:xfrm>
          <a:prstGeom prst="roundRect">
            <a:avLst/>
          </a:prstGeom>
          <a:solidFill>
            <a:srgbClr val="E8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423160" y="3158337"/>
            <a:ext cx="91440" cy="662025"/>
          </a:xfrm>
          <a:prstGeom prst="rect">
            <a:avLst/>
          </a:prstGeom>
          <a:solidFill>
            <a:srgbClr val="269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679192" y="3231489"/>
            <a:ext cx="8744407" cy="51572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0" i="0">
                <a:solidFill>
                  <a:srgbClr val="2B2B2B"/>
                </a:solidFill>
                <a:latin typeface="Calibri"/>
              </a:rPr>
              <a:t>Diagnóstico de previos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0080" y="4023360"/>
            <a:ext cx="1417320" cy="438912"/>
          </a:xfrm>
          <a:prstGeom prst="roundRect">
            <a:avLst/>
          </a:prstGeom>
          <a:solidFill>
            <a:srgbClr val="0952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4023360"/>
            <a:ext cx="141732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35-70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167128" y="4160520"/>
            <a:ext cx="164592" cy="164592"/>
          </a:xfrm>
          <a:prstGeom prst="roundRect">
            <a:avLst/>
          </a:prstGeom>
          <a:solidFill>
            <a:srgbClr val="0952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2423160" y="3911803"/>
            <a:ext cx="9128455" cy="662025"/>
          </a:xfrm>
          <a:prstGeom prst="round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2423160" y="3911803"/>
            <a:ext cx="91440" cy="662025"/>
          </a:xfrm>
          <a:prstGeom prst="rect">
            <a:avLst/>
          </a:prstGeom>
          <a:solidFill>
            <a:srgbClr val="0952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679192" y="3984955"/>
            <a:ext cx="8744407" cy="51572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0" i="0">
                <a:solidFill>
                  <a:srgbClr val="2B2B2B"/>
                </a:solidFill>
                <a:latin typeface="Calibri"/>
              </a:rPr>
              <a:t>Teoría Core: clase vs objeto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40080" y="4776825"/>
            <a:ext cx="1417320" cy="438912"/>
          </a:xfrm>
          <a:prstGeom prst="roundRect">
            <a:avLst/>
          </a:prstGeom>
          <a:solidFill>
            <a:srgbClr val="269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0080" y="4776825"/>
            <a:ext cx="141732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70-100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167128" y="4913985"/>
            <a:ext cx="164592" cy="164592"/>
          </a:xfrm>
          <a:prstGeom prst="roundRect">
            <a:avLst/>
          </a:prstGeom>
          <a:solidFill>
            <a:srgbClr val="269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2423160" y="4665268"/>
            <a:ext cx="9128455" cy="662025"/>
          </a:xfrm>
          <a:prstGeom prst="roundRect">
            <a:avLst/>
          </a:prstGeom>
          <a:solidFill>
            <a:srgbClr val="E8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423160" y="4665268"/>
            <a:ext cx="91440" cy="662025"/>
          </a:xfrm>
          <a:prstGeom prst="rect">
            <a:avLst/>
          </a:prstGeom>
          <a:solidFill>
            <a:srgbClr val="269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679192" y="4738420"/>
            <a:ext cx="8744407" cy="51572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0" i="0">
                <a:solidFill>
                  <a:srgbClr val="2B2B2B"/>
                </a:solidFill>
                <a:latin typeface="Calibri"/>
              </a:rPr>
              <a:t>Laboratorio: JDK + IDE + HolaPOO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40080" y="5530291"/>
            <a:ext cx="1417320" cy="438912"/>
          </a:xfrm>
          <a:prstGeom prst="roundRect">
            <a:avLst/>
          </a:prstGeom>
          <a:solidFill>
            <a:srgbClr val="0952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0080" y="5530291"/>
            <a:ext cx="141732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100-120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2167128" y="5667451"/>
            <a:ext cx="164592" cy="164592"/>
          </a:xfrm>
          <a:prstGeom prst="roundRect">
            <a:avLst/>
          </a:prstGeom>
          <a:solidFill>
            <a:srgbClr val="FFD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2423160" y="5418734"/>
            <a:ext cx="9128455" cy="662025"/>
          </a:xfrm>
          <a:prstGeom prst="round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2423160" y="5418734"/>
            <a:ext cx="91440" cy="662025"/>
          </a:xfrm>
          <a:prstGeom prst="rect">
            <a:avLst/>
          </a:prstGeom>
          <a:solidFill>
            <a:srgbClr val="FFD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679192" y="5491886"/>
            <a:ext cx="8744407" cy="51572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0" i="0">
                <a:solidFill>
                  <a:srgbClr val="2B2B2B"/>
                </a:solidFill>
                <a:latin typeface="Calibri"/>
              </a:rPr>
              <a:t>PI: primer avance · cierre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0080" y="6199632"/>
            <a:ext cx="1091153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1">
                <a:solidFill>
                  <a:srgbClr val="8F989D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8F989D"/>
                </a:solidFill>
                <a:latin typeface="Calibri"/>
              </a:rPr>
              <a:t>esta</a:t>
            </a:r>
            <a:r>
              <a:rPr sz="1200" b="0" i="1">
                <a:solidFill>
                  <a:srgbClr val="8F989D"/>
                </a:solidFill>
                <a:latin typeface="Calibri"/>
              </a:rPr>
              <a:t> clase · no es el mapa del semestre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952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88720"/>
            <a:ext cx="12191695" cy="54864"/>
          </a:xfrm>
          <a:prstGeom prst="rect">
            <a:avLst/>
          </a:prstGeom>
          <a:solidFill>
            <a:srgbClr val="269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Objetivos de la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Diferenciar con precisión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clase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(molde) 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objeto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(instancia en memoria).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Identificar atributos (estado) y métodos (comportamiento) en un dominio simple.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Dejar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entorno de desarrollo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listo (JDK + IDE + proyecto compilando).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Comprender el alcance del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Proyecto Integrador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fijar el primer avance.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952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88720"/>
            <a:ext cx="12191695" cy="54864"/>
          </a:xfrm>
          <a:prstGeom prst="rect">
            <a:avLst/>
          </a:prstGeom>
          <a:solidFill>
            <a:srgbClr val="269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Clase vs Objeto (analogía)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69CCB"/>
                </a:solidFill>
                <a:latin typeface="Calibri"/>
              </a:rPr>
              <a:t>Clase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= el molde de galleta (plano/especificación).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69CCB"/>
                </a:solidFill>
                <a:latin typeface="Calibri"/>
              </a:rPr>
              <a:t>Objeto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= cada galleta horneada (existe en memoria RAM).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Puedes crear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muchos objetos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 partir de una misma clase.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Cada objeto tiene su propia copia de los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atributos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(estado).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Los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métodos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definen qué puede hacer el objeto.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952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88720"/>
            <a:ext cx="12191695" cy="54864"/>
          </a:xfrm>
          <a:prstGeom prst="rect">
            <a:avLst/>
          </a:prstGeom>
          <a:solidFill>
            <a:srgbClr val="269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Cuatro pilares de la POO (mapa rápido de hoy)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737360"/>
          <a:ext cx="10911534" cy="25146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637178"/>
                <a:gridCol w="3637178"/>
                <a:gridCol w="3637178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Pilar</a:t>
                      </a:r>
                    </a:p>
                  </a:txBody>
                  <a:tcPr anchor="ctr" marL="109728" marR="91440" marT="36576" marB="36576"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Idea clave</a:t>
                      </a:r>
                    </a:p>
                  </a:txBody>
                  <a:tcPr anchor="ctr" marL="109728" marR="91440" marT="36576" marB="36576"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Señal de que lo entendiste</a:t>
                      </a:r>
                    </a:p>
                  </a:txBody>
                  <a:tcPr anchor="ctr" marL="109728" marR="91440" marT="36576" marB="36576">
                    <a:solidFill>
                      <a:srgbClr val="09529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Encapsulamiento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Datos protegidos + API pública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Atributos private + getters/setters con sentido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Herencia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Reutilizar y especializar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Subclase sin copiar/pegar código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Polimorfismo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Misma interfaz, distinta forma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Una lista de Animal con perro/gato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Abstracción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Modelar lo esencial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Clase que refleja el dominio, no la UI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952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88720"/>
            <a:ext cx="12191695" cy="54864"/>
          </a:xfrm>
          <a:prstGeom prst="rect">
            <a:avLst/>
          </a:prstGeom>
          <a:solidFill>
            <a:srgbClr val="269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Mini-demo en código (mental)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`class Mascota { private String nombre; … }`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`Mascota m1 = new Mascota("Luna");`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`Mascota m2 = new Mascota("Rocky");`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m1 y m2 son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dos objetos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; comparten la clase, no el estado.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Error frecuente: confundir el nombre de la clase con una variable… o dejar referencias `null`.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952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88720"/>
            <a:ext cx="12191695" cy="54864"/>
          </a:xfrm>
          <a:prstGeom prst="rect">
            <a:avLst/>
          </a:prstGeom>
          <a:solidFill>
            <a:srgbClr val="269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Laboratorio: entorno listo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Verificar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JDK 17+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(`java -version`, `javac -version`).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Abrir el IDE (IntelliJ / VS Code / NetBeans) y crear proyecto `Prog2_Clase01`.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Crear paquete `co.edu.uniajc.prog2` y clase `HolaPOO` con `main`.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Compilar y ejecutar. Captura/ok verbal al docente = listo.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Independiente dirigido de la semana: terminar configuración y lectura de conceptos previos.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952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88720"/>
            <a:ext cx="12191695" cy="54864"/>
          </a:xfrm>
          <a:prstGeom prst="rect">
            <a:avLst/>
          </a:prstGeom>
          <a:solidFill>
            <a:srgbClr val="269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Proyecto Integrador — primer contacto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Hoy leemos el enunciado, aclaramos el dominio y definimos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primer avance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Entregable de salida: problema en 2–3 frases +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3 entidades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candidatas + 1 funcionalidad cercana.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Criterio de hoy: cada estudiante/equipo deja escrito el problema que resolverá.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Detalle de peso y cortes: Presentación del Curso / Acuerdo pedagógico (no se repite aquí).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952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88720"/>
            <a:ext cx="12191695" cy="54864"/>
          </a:xfrm>
          <a:prstGeom prst="rect">
            <a:avLst/>
          </a:prstGeom>
          <a:solidFill>
            <a:srgbClr val="269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Para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783080"/>
            <a:ext cx="10911535" cy="713232"/>
          </a:xfrm>
          <a:prstGeom prst="roundRect">
            <a:avLst/>
          </a:prstGeom>
          <a:solidFill>
            <a:srgbClr val="FFF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892807"/>
            <a:ext cx="10454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95292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Independiente: lectura de conceptos previos de POO + entorno 100% funcional.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724912"/>
            <a:ext cx="10911535" cy="713232"/>
          </a:xfrm>
          <a:prstGeom prst="roundRect">
            <a:avLst/>
          </a:prstGeom>
          <a:solidFill>
            <a:srgbClr val="E8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834640"/>
            <a:ext cx="10454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95292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Traer a la siguiente clase dudas concretas de ArrayList (siguiente trabajo dirigido).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666744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3776472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95292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El taller/actividad de la semana se entrega a más tardar el domingo 23:59 (regla del Acuerdo).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40447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1737360"/>
            <a:ext cx="10911535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 lista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17520"/>
            <a:ext cx="10911535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Molde ≠ galleta · Clase ≠ objeto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Entorno arriba · Proyecto Integrador encendido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Siguiente paso del tema: colecciones dinámicas (ArrayList)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Entorno listo · ficha del proyecto escrita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UNIAJC</dc:creator>
  <cp:keywords/>
  <dc:description/>
  <cp:lastModifiedBy>UNIAJC</cp:lastModifiedBy>
  <cp:revision>1</cp:revision>
  <dcterms:created xsi:type="dcterms:W3CDTF">2013-01-27T09:14:16Z</dcterms:created>
  <dcterms:modified xsi:type="dcterms:W3CDTF">2013-01-27T09:15:58Z</dcterms:modified>
  <cp:category/>
</cp:coreProperties>
</file>