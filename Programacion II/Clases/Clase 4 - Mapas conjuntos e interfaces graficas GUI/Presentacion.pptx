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Hoy son dos temas en un solo bloque: primero mapas y conjuntos con demo en consola, y despues una introduccion a Swing con la ventana construida en vivo, que termina consultando el HashMap. El hilo que une los dos temas es uno solo: hoy le damos al sistema de la clinica la capacidad de responder en un instante la pregunta que mas hace la recepcionista de la clinica, que es dame el expediente de la mascota M-004, y ademas le damos una pantalla para hacerla sin abrir el editor de codigo.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problema tecnico es este: con un ArrayList, buscar por ID obliga a recorrer la lista comparando uno por uno, lo que se llama busqueda lineal y en el peor caso revisa los 5.000 elementos del archivo historico. Un HashMap resuelve eso con una idea distinta: en vez de guardar solo el objeto, guarda parejas clave-valor, y usa la clave para calcular directamente en que casilla del arreglo interno esta el valor. Ese calculo lo hace el metodo hashCode() del objeto clave: convierte el texto M-004 en un numero, ese numero se transforma en una posicion del arreglo interno, y ahi mismo queda el expediente. Cuando dos claves distintas caen en la misma casilla (una colision), el mapa guarda ambas en esa casilla y usa equals() para distinguirlas al leer. El resultado practico es que get("M-004") no depende de cuantas mascotas haya: con 10 o con 100.000 tarda basicamente lo mismo, y eso es lo que vamos a medir en vivo con System.nanoTime(). En el sistema de la clinica declaramos Map&lt;String, Expediente&gt; expedientes = new HashMap&lt;&gt;(); y la clave es el ID, que es unico por definicion.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API de Map es corta pero tiene trampas que hay que nombrar en voz alta. put(clave, valor) agrega, pero si la clave ya existia reemplaza el valor anterior en silencio y devuelve el que estaba: eso significa que un HashMap nunca tiene claves repetidas, y que guardar dos veces M-001 no da error, simplemente pisa el expediente anterior, lo cual puede ser exactamente lo que usted quiere o un bug grave si no lo controla. get(clave) devuelve el valor o null si la clave no existe, por eso siempre hay que validar antes de usar el resultado; getOrDefault(clave, valorPorDefecto) es la version comoda. containsKey pregunta por la clave y containsValue por el valor, siendo esta ultima lenta porque esa si recorre todo el mapa. Para recorrer se usa for (Map.Entry&lt;String, Expediente&gt; e : expedientes.entrySet()) y dentro se leen e.getKey() y e.getValue(); tambien existen keySet() para las claves y values() para los valores. Y algo crucial: si algun dia usted usa un objeto propio como clave, esta obligado a sobreescribir equals() y hashCode() juntos, porque si no, el mapa guardara duplicados que a los ojos del negocio son el mismo.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HashSet es el hermano del HashMap: por dentro es literalmente un HashMap donde solo importan las claves. Su promesa es una sola y es potente: no admite duplicados y responde en tiempo constante a la pregunta esto ya esta. Su metodo add devuelve un boolean que casi nadie mira y que vale oro: devuelve false si el elemento ya estaba. En el sistema de la clinica lo usamos para dos cosas concretas: un Set&lt;String&gt; de IDs ya usados, para rechazar un registro duplicado sin recorrer nada, y un Set&lt;String&gt; de razas atendidas, que se llena solo y nos dice cuantas razas distintas ha visto la clinica sin que nadie las cuente a mano; como Firulais y Toby son los dos labradores, al guardar el segundo el conjunto responde false y sigue reportando una sola vez esa raza. Lo que un HashSet no le garantiza es el orden: si usted agrega Labrador, Criollo y Persa y luego imprime el conjunto, pueden salir en cualquier orden, porque la posicion la decide el hash. Si necesita conservar el orden de insercion use LinkedHashSet o LinkedHashMap, y si necesita orden alfabetico use TreeSet o TreeMap, que ordenan pero cuestan un poco mas.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la parte grafica, y aqui empieza el segundo bloque de la clase. Swing es la biblioteca de escritorio de Java y funciona por anidamiento: la ventana es un JFrame, dentro del frame hay un contenedor donde se ponen paneles JPanel, y dentro de los paneles van los componentes visibles como JLabel (texto fijo), JTextField (caja donde el usuario escribe) y JButton (boton). Como se acomodan esos componentes lo decide un layout manager: el JFrame usa BorderLayout por defecto, que reparte la ventana en NORTH, SOUTH, EAST, WEST y CENTER; el JPanel usa FlowLayout, que va poniendo los componentes en fila; y GridLayout arma una cuadricula de filas y columnas. Todo JFrame necesita tres lineas obligatorias o el estudiante creera que su programa no sirve: setDefaultCloseOperation(JFrame.EXIT_ON_CLOSE) para que cerrar la ventana termine el programa, setSize o pack para darle tamano, y setVisible(true) para que aparezca. Ademas, la ventana debe crearse dentro de SwingUtilities.invokeLater porque toda la interfaz de Swing vive en un hilo especial llamado EDT; hacerlo bien desde hoy evita cuelgues raros mas adelante.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busca la ficha H-5000 dentro de un archivo historico de 5.000 expedientes, primero recorriendo un ArrayList y luego con get() sobre un HashMap comparando los nanosegundos, y despues ejecuta la misma busqueda desde una ventana Swing escrita linea por linea.</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Mapas, conjuntos e interfaces graficas · HashMap, HashSet y Swing</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Buscar por clave en un instante y darle cara al sistema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Mapas, conjuntos e interfaces graficas · HashMap, HashSet y Swing — Buscar por clave en un instante y darle cara al sistema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Mapas y ventanas: un mismo objetivo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objetiv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 bloque: mapas y conjuntos, con demo en consola.</a:t>
            </a:r>
          </a:p>
          <a:p>
            <a:pPr>
              <a:spcAft>
                <a:spcPts val="800"/>
              </a:spcAft>
            </a:pPr>
            <a:r>
              <a:rPr sz="2000" b="0" i="0">
                <a:solidFill>
                  <a:srgbClr val="333333"/>
                </a:solidFill>
                <a:latin typeface="Calibri"/>
              </a:rPr>
              <a:t>–   Segundo bloque: una ventana Swing construida a mano.</a:t>
            </a:r>
          </a:p>
          <a:p>
            <a:pPr>
              <a:spcAft>
                <a:spcPts val="800"/>
              </a:spcAft>
            </a:pPr>
            <a:r>
              <a:rPr sz="2000" b="0" i="0">
                <a:solidFill>
                  <a:srgbClr val="333333"/>
                </a:solidFill>
                <a:latin typeface="Calibri"/>
              </a:rPr>
              <a:t>–   Objetivo común: responder al instante «dame el expediente de la mascota M-004».</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la búsqueda lineal al HashMap</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squeda-hash-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usqueda-hash-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usqueda-hash-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busqueda-hash-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un ArrayList buscar por id es recorrer: en el peor caso, los 5.000 elementos.</a:t>
            </a:r>
          </a:p>
          <a:p>
            <a:pPr>
              <a:spcAft>
                <a:spcPts val="800"/>
              </a:spcAft>
            </a:pPr>
            <a:r>
              <a:rPr sz="2000" b="0" i="0">
                <a:solidFill>
                  <a:srgbClr val="333333"/>
                </a:solidFill>
                <a:latin typeface="Calibri"/>
              </a:rPr>
              <a:t>–   HashMap guarda parejas clave-valor y calcula la casilla con hashCode() de la clave.</a:t>
            </a:r>
          </a:p>
          <a:p>
            <a:pPr>
              <a:spcAft>
                <a:spcPts val="800"/>
              </a:spcAft>
            </a:pPr>
            <a:r>
              <a:rPr sz="2000" b="0" i="0">
                <a:solidFill>
                  <a:srgbClr val="333333"/>
                </a:solidFill>
                <a:latin typeface="Calibri"/>
              </a:rPr>
              <a:t>–   Si dos claves caen en la misma casilla (colisión), equals() las distingue.</a:t>
            </a:r>
          </a:p>
          <a:p>
            <a:pPr>
              <a:spcAft>
                <a:spcPts val="800"/>
              </a:spcAft>
            </a:pPr>
            <a:r>
              <a:rPr sz="2000" b="0" i="0">
                <a:solidFill>
                  <a:srgbClr val="333333"/>
                </a:solidFill>
                <a:latin typeface="Calibri"/>
              </a:rPr>
              <a:t>–   get("M-004") tarda lo mismo con 10 que con 100.000 elementos.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Expediente: el valor que guarda el mapa</a:t>
            </a:r>
          </a:p>
        </p:txBody>
      </p:sp>
      <p:sp>
        <p:nvSpPr>
          <p:cNvPr id="5" name="Rounded Rectangle 4"/>
          <p:cNvSpPr/>
          <p:nvPr/>
        </p:nvSpPr>
        <p:spPr>
          <a:xfrm>
            <a:off x="457200" y="1261872"/>
            <a:ext cx="11277295" cy="45307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936424"/>
          </a:xfrm>
          <a:prstGeom prst="rect">
            <a:avLst/>
          </a:prstGeom>
          <a:noFill/>
        </p:spPr>
        <p:txBody>
          <a:bodyPr wrap="square">
            <a:spAutoFit/>
          </a:bodyPr>
          <a:lstStyle/>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raza</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nota</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a:t>
            </a:r>
            <a:r>
              <a:rPr sz="2000" i="0" b="0">
                <a:solidFill>
                  <a:srgbClr val="D4D4D4"/>
                </a:solidFill>
                <a:latin typeface="Consolas"/>
              </a:rPr>
              <a:t>Override</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CDCAA"/>
                </a:solidFill>
                <a:latin typeface="Consolas"/>
              </a:rPr>
              <a:t>toString</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 </a:t>
            </a:r>
            <a:r>
              <a:rPr sz="2000" i="0" b="0">
                <a:solidFill>
                  <a:srgbClr val="CE9178"/>
                </a:solidFill>
                <a:latin typeface="Consolas"/>
              </a:rPr>
              <a:t>" | "</a:t>
            </a:r>
            <a:r>
              <a:rPr sz="2000" i="0" b="0">
                <a:solidFill>
                  <a:srgbClr val="D4D4D4"/>
                </a:solidFill>
                <a:latin typeface="Consolas"/>
              </a:rPr>
              <a:t> + </a:t>
            </a:r>
            <a:r>
              <a:rPr sz="2000" i="0" b="0">
                <a:solidFill>
                  <a:srgbClr val="D4D4D4"/>
                </a:solidFill>
                <a:latin typeface="Consolas"/>
              </a:rPr>
              <a:t>nombre</a:t>
            </a:r>
            <a:r>
              <a:rPr sz="2000" i="0" b="0">
                <a:solidFill>
                  <a:srgbClr val="D4D4D4"/>
                </a:solidFill>
                <a:latin typeface="Consolas"/>
              </a:rPr>
              <a:t> + </a:t>
            </a:r>
            <a:r>
              <a:rPr sz="2000" i="0" b="0">
                <a:solidFill>
                  <a:srgbClr val="CE9178"/>
                </a:solidFill>
                <a:latin typeface="Consolas"/>
              </a:rPr>
              <a:t>" ("</a:t>
            </a:r>
            <a:r>
              <a:rPr sz="2000" i="0" b="0">
                <a:solidFill>
                  <a:srgbClr val="D4D4D4"/>
                </a:solidFill>
                <a:latin typeface="Consolas"/>
              </a:rPr>
              <a:t> + </a:t>
            </a:r>
            <a:r>
              <a:rPr sz="2000" i="0" b="0">
                <a:solidFill>
                  <a:srgbClr val="D4D4D4"/>
                </a:solidFill>
                <a:latin typeface="Consolas"/>
              </a:rPr>
              <a:t>raza</a:t>
            </a:r>
            <a:r>
              <a:rPr sz="2000" i="0" b="0">
                <a:solidFill>
                  <a:srgbClr val="D4D4D4"/>
                </a:solidFill>
                <a:latin typeface="Consolas"/>
              </a:rPr>
              <a:t> + </a:t>
            </a:r>
            <a:r>
              <a:rPr sz="2000" i="0" b="0">
                <a:solidFill>
                  <a:srgbClr val="CE9178"/>
                </a:solidFill>
                <a:latin typeface="Consolas"/>
              </a:rPr>
              <a:t>") - dueno: "</a:t>
            </a:r>
            <a:r>
              <a:rPr sz="2000" i="0" b="0">
                <a:solidFill>
                  <a:srgbClr val="D4D4D4"/>
                </a:solidFill>
                <a:latin typeface="Consolas"/>
              </a:rPr>
              <a:t> + </a:t>
            </a:r>
            <a:r>
              <a:rPr sz="2000" i="0" b="0">
                <a:solidFill>
                  <a:srgbClr val="D4D4D4"/>
                </a:solidFill>
                <a:latin typeface="Consolas"/>
              </a:rPr>
              <a:t>dueno</a:t>
            </a:r>
            <a:r>
              <a:rPr sz="2000" i="0" b="0">
                <a:solidFill>
                  <a:srgbClr val="D4D4D4"/>
                </a:solidFill>
                <a:latin typeface="Consolas"/>
              </a:rPr>
              <a:t> + </a:t>
            </a:r>
            <a:r>
              <a:rPr sz="2000" i="0" b="0">
                <a:solidFill>
                  <a:srgbClr val="CE9178"/>
                </a:solidFill>
                <a:latin typeface="Consolas"/>
              </a:rPr>
              <a:t>" - "</a:t>
            </a:r>
            <a:r>
              <a:rPr sz="2000" i="0" b="0">
                <a:solidFill>
                  <a:srgbClr val="D4D4D4"/>
                </a:solidFill>
                <a:latin typeface="Consolas"/>
              </a:rPr>
              <a:t> + </a:t>
            </a:r>
            <a:r>
              <a:rPr sz="2000" i="0" b="0">
                <a:solidFill>
                  <a:srgbClr val="D4D4D4"/>
                </a:solidFill>
                <a:latin typeface="Consolas"/>
              </a:rPr>
              <a:t>nota</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misma ficha en una lista y en un mapa</a:t>
            </a:r>
          </a:p>
        </p:txBody>
      </p:sp>
      <p:sp>
        <p:nvSpPr>
          <p:cNvPr id="5" name="Rounded Rectangle 4"/>
          <p:cNvSpPr/>
          <p:nvPr/>
        </p:nvSpPr>
        <p:spPr>
          <a:xfrm>
            <a:off x="457200" y="1261872"/>
            <a:ext cx="11277295" cy="387256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278207"/>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p:txBody>
      </p:sp>
      <p:sp>
        <p:nvSpPr>
          <p:cNvPr id="12" name="TextBox 11"/>
          <p:cNvSpPr txBox="1"/>
          <p:nvPr/>
        </p:nvSpPr>
        <p:spPr>
          <a:xfrm>
            <a:off x="1188720" y="1719072"/>
            <a:ext cx="10271455" cy="3278207"/>
          </a:xfrm>
          <a:prstGeom prst="rect">
            <a:avLst/>
          </a:prstGeom>
          <a:noFill/>
        </p:spPr>
        <p:txBody>
          <a:bodyPr wrap="square">
            <a:spAutoFit/>
          </a:bodyPr>
          <a:lstStyle/>
          <a:p>
            <a:pPr>
              <a:spcAft>
                <a:spcPts val="428"/>
              </a:spcAft>
            </a:pPr>
            <a:r>
              <a:rPr sz="2000" i="0" b="0">
                <a:solidFill>
                  <a:srgbClr val="4EC9B0"/>
                </a:solidFill>
                <a:latin typeface="Consolas"/>
              </a:rPr>
              <a:t>List</a:t>
            </a:r>
            <a:r>
              <a:rPr sz="2000" i="0" b="0">
                <a:solidFill>
                  <a:srgbClr val="D4D4D4"/>
                </a:solidFill>
                <a:latin typeface="Consolas"/>
              </a:rPr>
              <a:t>&lt;</a:t>
            </a:r>
            <a:r>
              <a:rPr sz="2000" i="0" b="0">
                <a:solidFill>
                  <a:srgbClr val="D4D4D4"/>
                </a:solidFill>
                <a:latin typeface="Consolas"/>
              </a:rPr>
              <a:t>Expediente</a:t>
            </a:r>
            <a:r>
              <a:rPr sz="2000" i="0" b="0">
                <a:solidFill>
                  <a:srgbClr val="D4D4D4"/>
                </a:solidFill>
                <a:latin typeface="Consolas"/>
              </a:rPr>
              <a:t>&gt; </a:t>
            </a:r>
            <a:r>
              <a:rPr sz="2000" i="0" b="0">
                <a:solidFill>
                  <a:srgbClr val="D4D4D4"/>
                </a:solidFill>
                <a:latin typeface="Consolas"/>
              </a:rPr>
              <a:t>archivoHistorico</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ArrayList</a:t>
            </a:r>
            <a:r>
              <a:rPr sz="2000" i="0" b="0">
                <a:solidFill>
                  <a:srgbClr val="D4D4D4"/>
                </a:solidFill>
                <a:latin typeface="Consolas"/>
              </a:rPr>
              <a:t>&lt;&gt;();</a:t>
            </a:r>
          </a:p>
          <a:p>
            <a:pPr>
              <a:spcAft>
                <a:spcPts val="428"/>
              </a:spcAft>
            </a:pPr>
            <a:r>
              <a:rPr sz="2000" i="0" b="0">
                <a:solidFill>
                  <a:srgbClr val="4EC9B0"/>
                </a:solidFill>
                <a:latin typeface="Consolas"/>
              </a:rPr>
              <a:t>Map</a:t>
            </a:r>
            <a:r>
              <a:rPr sz="2000" i="0" b="0">
                <a:solidFill>
                  <a:srgbClr val="D4D4D4"/>
                </a:solidFill>
                <a:latin typeface="Consolas"/>
              </a:rPr>
              <a:t>&lt;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Expediente</a:t>
            </a:r>
            <a:r>
              <a:rPr sz="2000" i="0" b="0">
                <a:solidFill>
                  <a:srgbClr val="D4D4D4"/>
                </a:solidFill>
                <a:latin typeface="Consolas"/>
              </a:rPr>
              <a:t>&gt; </a:t>
            </a:r>
            <a:r>
              <a:rPr sz="2000" i="0" b="0">
                <a:solidFill>
                  <a:srgbClr val="D4D4D4"/>
                </a:solidFill>
                <a:latin typeface="Consolas"/>
              </a:rPr>
              <a:t>indice</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HashMap</a:t>
            </a:r>
            <a:r>
              <a:rPr sz="2000" i="0" b="0">
                <a:solidFill>
                  <a:srgbClr val="D4D4D4"/>
                </a:solidFill>
                <a:latin typeface="Consolas"/>
              </a:rPr>
              <a:t>&lt;&gt;();</a:t>
            </a:r>
          </a:p>
          <a:p>
            <a:pPr>
              <a:spcAft>
                <a:spcPts val="428"/>
              </a:spcAft>
            </a:pPr>
            <a:r>
              <a:rPr sz="2000" i="0" b="0">
                <a:solidFill>
                  <a:srgbClr val="569CD6"/>
                </a:solidFill>
                <a:latin typeface="Consolas"/>
              </a:rPr>
              <a:t>for</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 </a:t>
            </a:r>
            <a:r>
              <a:rPr sz="2000" i="0" b="0">
                <a:solidFill>
                  <a:srgbClr val="B5CEA8"/>
                </a:solidFill>
                <a:latin typeface="Consolas"/>
              </a:rPr>
              <a:t>1</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&lt;= </a:t>
            </a:r>
            <a:r>
              <a:rPr sz="2000" i="0" b="0">
                <a:solidFill>
                  <a:srgbClr val="B5CEA8"/>
                </a:solidFill>
                <a:latin typeface="Consolas"/>
              </a:rPr>
              <a:t>5000</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Expediente</a:t>
            </a:r>
            <a:r>
              <a:rPr sz="2000" i="0" b="0">
                <a:solidFill>
                  <a:srgbClr val="D4D4D4"/>
                </a:solidFill>
                <a:latin typeface="Consolas"/>
              </a:rPr>
              <a:t> </a:t>
            </a:r>
            <a:r>
              <a:rPr sz="2000" i="0" b="0">
                <a:solidFill>
                  <a:srgbClr val="D4D4D4"/>
                </a:solidFill>
                <a:latin typeface="Consolas"/>
              </a:rPr>
              <a:t>e</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Expediente</a:t>
            </a:r>
            <a:r>
              <a:rPr sz="2000" i="0" b="0">
                <a:solidFill>
                  <a:srgbClr val="D4D4D4"/>
                </a:solidFill>
                <a:latin typeface="Consolas"/>
              </a:rPr>
              <a:t>(</a:t>
            </a:r>
            <a:r>
              <a:rPr sz="2000" i="0" b="0">
                <a:solidFill>
                  <a:srgbClr val="CE9178"/>
                </a:solidFill>
                <a:latin typeface="Consolas"/>
              </a:rPr>
              <a:t>"H-"</a:t>
            </a:r>
            <a:r>
              <a:rPr sz="2000" i="0" b="0">
                <a:solidFill>
                  <a:srgbClr val="D4D4D4"/>
                </a:solidFill>
                <a:latin typeface="Consolas"/>
              </a:rPr>
              <a:t> + </a:t>
            </a:r>
            <a:r>
              <a:rPr sz="2000" i="0" b="0">
                <a:solidFill>
                  <a:srgbClr val="D4D4D4"/>
                </a:solidFill>
                <a:latin typeface="Consolas"/>
              </a:rPr>
              <a:t>i</a:t>
            </a:r>
            <a:r>
              <a:rPr sz="2000" i="0" b="0">
                <a:solidFill>
                  <a:srgbClr val="D4D4D4"/>
                </a:solidFill>
                <a:latin typeface="Consolas"/>
              </a:rPr>
              <a:t>, </a:t>
            </a:r>
            <a:r>
              <a:rPr sz="2000" i="0" b="0">
                <a:solidFill>
                  <a:srgbClr val="CE9178"/>
                </a:solidFill>
                <a:latin typeface="Consolas"/>
              </a:rPr>
              <a:t>"Paciente "</a:t>
            </a:r>
            <a:r>
              <a:rPr sz="2000" i="0" b="0">
                <a:solidFill>
                  <a:srgbClr val="D4D4D4"/>
                </a:solidFill>
                <a:latin typeface="Consolas"/>
              </a:rPr>
              <a:t> + </a:t>
            </a:r>
            <a:r>
              <a:rPr sz="2000" i="0" b="0">
                <a:solidFill>
                  <a:srgbClr val="D4D4D4"/>
                </a:solidFill>
                <a:latin typeface="Consolas"/>
              </a:rPr>
              <a:t>i</a:t>
            </a:r>
            <a:r>
              <a:rPr sz="2000" i="0" b="0">
                <a:solidFill>
                  <a:srgbClr val="D4D4D4"/>
                </a:solidFill>
                <a:latin typeface="Consolas"/>
              </a:rPr>
              <a:t>, </a:t>
            </a:r>
            <a:r>
              <a:rPr sz="2000" i="0" b="0">
                <a:solidFill>
                  <a:srgbClr val="CE9178"/>
                </a:solidFill>
                <a:latin typeface="Consolas"/>
              </a:rPr>
              <a:t>"Criollo"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CE9178"/>
                </a:solidFill>
                <a:latin typeface="Consolas"/>
              </a:rPr>
              <a:t>"Dueno "</a:t>
            </a:r>
            <a:r>
              <a:rPr sz="2000" i="0" b="0">
                <a:solidFill>
                  <a:srgbClr val="D4D4D4"/>
                </a:solidFill>
                <a:latin typeface="Consolas"/>
              </a:rPr>
              <a:t> + </a:t>
            </a:r>
            <a:r>
              <a:rPr sz="2000" i="0" b="0">
                <a:solidFill>
                  <a:srgbClr val="D4D4D4"/>
                </a:solidFill>
                <a:latin typeface="Consolas"/>
              </a:rPr>
              <a:t>i</a:t>
            </a:r>
            <a:r>
              <a:rPr sz="2000" i="0" b="0">
                <a:solidFill>
                  <a:srgbClr val="D4D4D4"/>
                </a:solidFill>
                <a:latin typeface="Consolas"/>
              </a:rPr>
              <a:t>, </a:t>
            </a:r>
            <a:r>
              <a:rPr sz="2000" i="0" b="0">
                <a:solidFill>
                  <a:srgbClr val="CE9178"/>
                </a:solidFill>
                <a:latin typeface="Consolas"/>
              </a:rPr>
              <a:t>"Archivo historico"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archivoHistorico.add</a:t>
            </a:r>
            <a:r>
              <a:rPr sz="2000" i="0" b="0">
                <a:solidFill>
                  <a:srgbClr val="D4D4D4"/>
                </a:solidFill>
                <a:latin typeface="Consolas"/>
              </a:rPr>
              <a:t>(</a:t>
            </a:r>
            <a:r>
              <a:rPr sz="2000" i="0" b="0">
                <a:solidFill>
                  <a:srgbClr val="D4D4D4"/>
                </a:solidFill>
                <a:latin typeface="Consolas"/>
              </a:rPr>
              <a:t>e</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indice.put</a:t>
            </a:r>
            <a:r>
              <a:rPr sz="2000" i="0" b="0">
                <a:solidFill>
                  <a:srgbClr val="D4D4D4"/>
                </a:solidFill>
                <a:latin typeface="Consolas"/>
              </a:rPr>
              <a:t>(</a:t>
            </a:r>
            <a:r>
              <a:rPr sz="2000" i="0" b="0">
                <a:solidFill>
                  <a:srgbClr val="DCDCAA"/>
                </a:solidFill>
                <a:latin typeface="Consolas"/>
              </a:rPr>
              <a:t>e.getId</a:t>
            </a:r>
            <a:r>
              <a:rPr sz="2000" i="0" b="0">
                <a:solidFill>
                  <a:srgbClr val="D4D4D4"/>
                </a:solidFill>
                <a:latin typeface="Consolas"/>
              </a:rPr>
              <a:t>(), </a:t>
            </a:r>
            <a:r>
              <a:rPr sz="2000" i="0" b="0">
                <a:solidFill>
                  <a:srgbClr val="D4D4D4"/>
                </a:solidFill>
                <a:latin typeface="Consolas"/>
              </a:rPr>
              <a:t>e</a:t>
            </a:r>
            <a:r>
              <a:rPr sz="2000" i="0" b="0">
                <a:solidFill>
                  <a:srgbClr val="D4D4D4"/>
                </a:solidFill>
                <a:latin typeface="Consolas"/>
              </a:rPr>
              <a:t>);</a:t>
            </a:r>
          </a:p>
          <a:p>
            <a:pPr>
              <a:spcAft>
                <a:spcPts val="428"/>
              </a:spcAft>
            </a:pPr>
            <a:r>
              <a:rPr sz="2000" i="0" b="0">
                <a:solidFill>
                  <a:srgbClr val="D4D4D4"/>
                </a:solidFill>
                <a:latin typeface="Consolas"/>
              </a:rPr>
              <a:t>}</a:t>
            </a:r>
          </a:p>
          <a:p>
            <a:pPr>
              <a:spcAft>
                <a:spcPts val="428"/>
              </a:spcAft>
            </a:pP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buscado</a:t>
            </a:r>
            <a:r>
              <a:rPr sz="2000" i="0" b="0">
                <a:solidFill>
                  <a:srgbClr val="D4D4D4"/>
                </a:solidFill>
                <a:latin typeface="Consolas"/>
              </a:rPr>
              <a:t> = </a:t>
            </a:r>
            <a:r>
              <a:rPr sz="2000" i="0" b="0">
                <a:solidFill>
                  <a:srgbClr val="CE9178"/>
                </a:solidFill>
                <a:latin typeface="Consolas"/>
              </a:rPr>
              <a:t>"H-5000"</a:t>
            </a:r>
            <a:r>
              <a:rPr sz="2000" i="0" b="0">
                <a:solidFill>
                  <a:srgbClr val="D4D4D4"/>
                </a:solidFill>
                <a:latin typeface="Consolas"/>
              </a:rPr>
              <a:t>; </a:t>
            </a:r>
            <a:r>
              <a:rPr sz="2000" i="1" b="0">
                <a:solidFill>
                  <a:srgbClr val="6A9955"/>
                </a:solidFill>
                <a:latin typeface="Consolas"/>
              </a:rPr>
              <a:t>// peor caso: la ultima ficha del archivo</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Medir: recorrer contra get(clave)</a:t>
            </a:r>
          </a:p>
        </p:txBody>
      </p:sp>
      <p:sp>
        <p:nvSpPr>
          <p:cNvPr id="5" name="Rounded Rectangle 4"/>
          <p:cNvSpPr/>
          <p:nvPr/>
        </p:nvSpPr>
        <p:spPr>
          <a:xfrm>
            <a:off x="457200" y="1261872"/>
            <a:ext cx="11277295" cy="47735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79212"/>
          </a:xfrm>
          <a:prstGeom prst="rect">
            <a:avLst/>
          </a:prstGeom>
          <a:noFill/>
        </p:spPr>
        <p:txBody>
          <a:bodyPr wrap="square">
            <a:spAutoFit/>
          </a:bodyPr>
          <a:lstStyle/>
          <a:p>
            <a:pPr algn="r">
              <a:spcAft>
                <a:spcPts val="257"/>
              </a:spcAft>
            </a:pPr>
            <a:r>
              <a:rPr sz="1200" i="0" b="0">
                <a:solidFill>
                  <a:srgbClr val="858585"/>
                </a:solidFill>
                <a:latin typeface="Consolas"/>
              </a:rPr>
              <a:t>1</a:t>
            </a:r>
          </a:p>
          <a:p>
            <a:pPr algn="r">
              <a:spcAft>
                <a:spcPts val="257"/>
              </a:spcAft>
            </a:pPr>
            <a:r>
              <a:rPr sz="1200" i="0" b="0">
                <a:solidFill>
                  <a:srgbClr val="858585"/>
                </a:solidFill>
                <a:latin typeface="Consolas"/>
              </a:rPr>
              <a:t>2</a:t>
            </a:r>
          </a:p>
          <a:p>
            <a:pPr algn="r">
              <a:spcAft>
                <a:spcPts val="257"/>
              </a:spcAft>
            </a:pPr>
            <a:r>
              <a:rPr sz="1200" i="0" b="0">
                <a:solidFill>
                  <a:srgbClr val="858585"/>
                </a:solidFill>
                <a:latin typeface="Consolas"/>
              </a:rPr>
              <a:t>3</a:t>
            </a:r>
          </a:p>
          <a:p>
            <a:pPr algn="r">
              <a:spcAft>
                <a:spcPts val="257"/>
              </a:spcAft>
            </a:pPr>
            <a:r>
              <a:rPr sz="1200" i="0" b="0">
                <a:solidFill>
                  <a:srgbClr val="858585"/>
                </a:solidFill>
                <a:latin typeface="Consolas"/>
              </a:rPr>
              <a:t>4</a:t>
            </a:r>
          </a:p>
          <a:p>
            <a:pPr algn="r">
              <a:spcAft>
                <a:spcPts val="257"/>
              </a:spcAft>
            </a:pPr>
            <a:r>
              <a:rPr sz="1200" i="0" b="0">
                <a:solidFill>
                  <a:srgbClr val="858585"/>
                </a:solidFill>
                <a:latin typeface="Consolas"/>
              </a:rPr>
              <a:t>5</a:t>
            </a:r>
          </a:p>
          <a:p>
            <a:pPr algn="r">
              <a:spcAft>
                <a:spcPts val="257"/>
              </a:spcAft>
            </a:pPr>
            <a:r>
              <a:rPr sz="1200" i="0" b="0">
                <a:solidFill>
                  <a:srgbClr val="858585"/>
                </a:solidFill>
                <a:latin typeface="Consolas"/>
              </a:rPr>
              <a:t>6</a:t>
            </a:r>
          </a:p>
          <a:p>
            <a:pPr algn="r">
              <a:spcAft>
                <a:spcPts val="257"/>
              </a:spcAft>
            </a:pPr>
            <a:r>
              <a:rPr sz="1200" i="0" b="0">
                <a:solidFill>
                  <a:srgbClr val="858585"/>
                </a:solidFill>
                <a:latin typeface="Consolas"/>
              </a:rPr>
              <a:t>7</a:t>
            </a:r>
          </a:p>
          <a:p>
            <a:pPr algn="r">
              <a:spcAft>
                <a:spcPts val="257"/>
              </a:spcAft>
            </a:pPr>
            <a:r>
              <a:rPr sz="1200" i="0" b="0">
                <a:solidFill>
                  <a:srgbClr val="858585"/>
                </a:solidFill>
                <a:latin typeface="Consolas"/>
              </a:rPr>
              <a:t>8</a:t>
            </a:r>
          </a:p>
          <a:p>
            <a:pPr algn="r">
              <a:spcAft>
                <a:spcPts val="257"/>
              </a:spcAft>
            </a:pPr>
            <a:r>
              <a:rPr sz="1200" i="0" b="0">
                <a:solidFill>
                  <a:srgbClr val="858585"/>
                </a:solidFill>
                <a:latin typeface="Consolas"/>
              </a:rPr>
              <a:t>9</a:t>
            </a:r>
          </a:p>
          <a:p>
            <a:pPr algn="r">
              <a:spcAft>
                <a:spcPts val="257"/>
              </a:spcAft>
            </a:pPr>
            <a:r>
              <a:rPr sz="1200" i="0" b="0">
                <a:solidFill>
                  <a:srgbClr val="858585"/>
                </a:solidFill>
                <a:latin typeface="Consolas"/>
              </a:rPr>
              <a:t>10</a:t>
            </a:r>
          </a:p>
          <a:p>
            <a:pPr algn="r">
              <a:spcAft>
                <a:spcPts val="257"/>
              </a:spcAft>
            </a:pPr>
            <a:r>
              <a:rPr sz="1200" i="0" b="0">
                <a:solidFill>
                  <a:srgbClr val="858585"/>
                </a:solidFill>
                <a:latin typeface="Consolas"/>
              </a:rPr>
              <a:t>11</a:t>
            </a:r>
          </a:p>
          <a:p>
            <a:pPr algn="r">
              <a:spcAft>
                <a:spcPts val="257"/>
              </a:spcAft>
            </a:pPr>
            <a:r>
              <a:rPr sz="1200" i="0" b="0">
                <a:solidFill>
                  <a:srgbClr val="858585"/>
                </a:solidFill>
                <a:latin typeface="Consolas"/>
              </a:rPr>
              <a:t>12</a:t>
            </a:r>
          </a:p>
          <a:p>
            <a:pPr algn="r">
              <a:spcAft>
                <a:spcPts val="257"/>
              </a:spcAft>
            </a:pPr>
            <a:r>
              <a:rPr sz="1200" i="0" b="0">
                <a:solidFill>
                  <a:srgbClr val="858585"/>
                </a:solidFill>
                <a:latin typeface="Consolas"/>
              </a:rPr>
              <a:t>13</a:t>
            </a:r>
          </a:p>
          <a:p>
            <a:pPr algn="r">
              <a:spcAft>
                <a:spcPts val="257"/>
              </a:spcAft>
            </a:pPr>
            <a:r>
              <a:rPr sz="1200" i="0" b="0">
                <a:solidFill>
                  <a:srgbClr val="858585"/>
                </a:solidFill>
                <a:latin typeface="Consolas"/>
              </a:rPr>
              <a:t>14</a:t>
            </a:r>
          </a:p>
          <a:p>
            <a:pPr algn="r">
              <a:spcAft>
                <a:spcPts val="257"/>
              </a:spcAft>
            </a:pPr>
            <a:r>
              <a:rPr sz="1200" i="0" b="0">
                <a:solidFill>
                  <a:srgbClr val="858585"/>
                </a:solidFill>
                <a:latin typeface="Consolas"/>
              </a:rPr>
              <a:t>15</a:t>
            </a:r>
          </a:p>
          <a:p>
            <a:pPr algn="r">
              <a:spcAft>
                <a:spcPts val="257"/>
              </a:spcAft>
            </a:pPr>
            <a:r>
              <a:rPr sz="1200" i="0" b="0">
                <a:solidFill>
                  <a:srgbClr val="858585"/>
                </a:solidFill>
                <a:latin typeface="Consolas"/>
              </a:rPr>
              <a:t>16</a:t>
            </a:r>
          </a:p>
          <a:p>
            <a:pPr algn="r">
              <a:spcAft>
                <a:spcPts val="257"/>
              </a:spcAft>
            </a:pPr>
            <a:r>
              <a:rPr sz="1200" i="0" b="0">
                <a:solidFill>
                  <a:srgbClr val="858585"/>
                </a:solidFill>
                <a:latin typeface="Consolas"/>
              </a:rPr>
              <a:t>17</a:t>
            </a:r>
          </a:p>
          <a:p>
            <a:pPr algn="r">
              <a:spcAft>
                <a:spcPts val="257"/>
              </a:spcAft>
            </a:pPr>
            <a:r>
              <a:rPr sz="1200" i="0" b="0">
                <a:solidFill>
                  <a:srgbClr val="858585"/>
                </a:solidFill>
                <a:latin typeface="Consolas"/>
              </a:rPr>
              <a:t>18</a:t>
            </a:r>
          </a:p>
        </p:txBody>
      </p:sp>
      <p:sp>
        <p:nvSpPr>
          <p:cNvPr id="12" name="TextBox 11"/>
          <p:cNvSpPr txBox="1"/>
          <p:nvPr/>
        </p:nvSpPr>
        <p:spPr>
          <a:xfrm>
            <a:off x="1188720" y="1719072"/>
            <a:ext cx="10271455" cy="4179212"/>
          </a:xfrm>
          <a:prstGeom prst="rect">
            <a:avLst/>
          </a:prstGeom>
          <a:noFill/>
        </p:spPr>
        <p:txBody>
          <a:bodyPr wrap="square">
            <a:spAutoFit/>
          </a:bodyPr>
          <a:lstStyle/>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t1</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a:t>
            </a:r>
          </a:p>
          <a:p>
            <a:pPr>
              <a:spcAft>
                <a:spcPts val="257"/>
              </a:spcAft>
            </a:pPr>
            <a:r>
              <a:rPr sz="1200" i="0" b="0">
                <a:solidFill>
                  <a:srgbClr val="D4D4D4"/>
                </a:solidFill>
                <a:latin typeface="Consolas"/>
              </a:rPr>
              <a:t>Expediente</a:t>
            </a:r>
            <a:r>
              <a:rPr sz="1200" i="0" b="0">
                <a:solidFill>
                  <a:srgbClr val="D4D4D4"/>
                </a:solidFill>
                <a:latin typeface="Consolas"/>
              </a:rPr>
              <a:t> </a:t>
            </a:r>
            <a:r>
              <a:rPr sz="1200" i="0" b="0">
                <a:solidFill>
                  <a:srgbClr val="D4D4D4"/>
                </a:solidFill>
                <a:latin typeface="Consolas"/>
              </a:rPr>
              <a:t>porRecorrido</a:t>
            </a:r>
            <a:r>
              <a:rPr sz="1200" i="0" b="0">
                <a:solidFill>
                  <a:srgbClr val="D4D4D4"/>
                </a:solidFill>
                <a:latin typeface="Consolas"/>
              </a:rPr>
              <a:t> = </a:t>
            </a:r>
            <a:r>
              <a:rPr sz="1200" i="0" b="0">
                <a:solidFill>
                  <a:srgbClr val="569CD6"/>
                </a:solidFill>
                <a:latin typeface="Consolas"/>
              </a:rPr>
              <a:t>null</a:t>
            </a:r>
            <a:r>
              <a:rPr sz="1200" i="0" b="0">
                <a:solidFill>
                  <a:srgbClr val="D4D4D4"/>
                </a:solidFill>
                <a:latin typeface="Consolas"/>
              </a:rPr>
              <a:t>;</a:t>
            </a:r>
          </a:p>
          <a:p>
            <a:pPr>
              <a:spcAft>
                <a:spcPts val="257"/>
              </a:spcAft>
            </a:pPr>
            <a:r>
              <a:rPr sz="1200" i="0" b="0">
                <a:solidFill>
                  <a:srgbClr val="569CD6"/>
                </a:solidFill>
                <a:latin typeface="Consolas"/>
              </a:rPr>
              <a:t>for</a:t>
            </a:r>
            <a:r>
              <a:rPr sz="1200" i="0" b="0">
                <a:solidFill>
                  <a:srgbClr val="D4D4D4"/>
                </a:solidFill>
                <a:latin typeface="Consolas"/>
              </a:rPr>
              <a:t> (</a:t>
            </a:r>
            <a:r>
              <a:rPr sz="1200" i="0" b="0">
                <a:solidFill>
                  <a:srgbClr val="D4D4D4"/>
                </a:solidFill>
                <a:latin typeface="Consolas"/>
              </a:rPr>
              <a:t>Expediente</a:t>
            </a:r>
            <a:r>
              <a:rPr sz="1200" i="0" b="0">
                <a:solidFill>
                  <a:srgbClr val="D4D4D4"/>
                </a:solidFill>
                <a:latin typeface="Consolas"/>
              </a:rPr>
              <a:t> </a:t>
            </a:r>
            <a:r>
              <a:rPr sz="1200" i="0" b="0">
                <a:solidFill>
                  <a:srgbClr val="D4D4D4"/>
                </a:solidFill>
                <a:latin typeface="Consolas"/>
              </a:rPr>
              <a:t>e</a:t>
            </a:r>
            <a:r>
              <a:rPr sz="1200" i="0" b="0">
                <a:solidFill>
                  <a:srgbClr val="D4D4D4"/>
                </a:solidFill>
                <a:latin typeface="Consolas"/>
              </a:rPr>
              <a:t> : </a:t>
            </a:r>
            <a:r>
              <a:rPr sz="1200" i="0" b="0">
                <a:solidFill>
                  <a:srgbClr val="D4D4D4"/>
                </a:solidFill>
                <a:latin typeface="Consolas"/>
              </a:rPr>
              <a:t>archivoHistorico</a:t>
            </a:r>
            <a:r>
              <a:rPr sz="1200" i="0" b="0">
                <a:solidFill>
                  <a:srgbClr val="D4D4D4"/>
                </a:solidFill>
                <a:latin typeface="Consolas"/>
              </a:rPr>
              <a:t>) {   </a:t>
            </a:r>
            <a:r>
              <a:rPr sz="1200" i="1" b="0">
                <a:solidFill>
                  <a:srgbClr val="6A9955"/>
                </a:solidFill>
                <a:latin typeface="Consolas"/>
              </a:rPr>
              <a:t>// busqueda lineal: compara una por una</a:t>
            </a:r>
          </a:p>
          <a:p>
            <a:pPr>
              <a:spcAft>
                <a:spcPts val="257"/>
              </a:spcAft>
            </a:pPr>
            <a:r>
              <a:rPr sz="1200" i="0" b="0">
                <a:solidFill>
                  <a:srgbClr val="D4D4D4"/>
                </a:solidFill>
                <a:latin typeface="Consolas"/>
              </a:rPr>
              <a:t>    </a:t>
            </a:r>
            <a:r>
              <a:rPr sz="1200" i="0" b="0">
                <a:solidFill>
                  <a:srgbClr val="569CD6"/>
                </a:solidFill>
                <a:latin typeface="Consolas"/>
              </a:rPr>
              <a:t>if</a:t>
            </a:r>
            <a:r>
              <a:rPr sz="1200" i="0" b="0">
                <a:solidFill>
                  <a:srgbClr val="D4D4D4"/>
                </a:solidFill>
                <a:latin typeface="Consolas"/>
              </a:rPr>
              <a:t> (</a:t>
            </a:r>
            <a:r>
              <a:rPr sz="1200" i="0" b="0">
                <a:solidFill>
                  <a:srgbClr val="DCDCAA"/>
                </a:solidFill>
                <a:latin typeface="Consolas"/>
              </a:rPr>
              <a:t>e.getId</a:t>
            </a:r>
            <a:r>
              <a:rPr sz="1200" i="0" b="0">
                <a:solidFill>
                  <a:srgbClr val="D4D4D4"/>
                </a:solidFill>
                <a:latin typeface="Consolas"/>
              </a:rPr>
              <a:t>().</a:t>
            </a:r>
            <a:r>
              <a:rPr sz="1200" i="0" b="0">
                <a:solidFill>
                  <a:srgbClr val="DCDCAA"/>
                </a:solidFill>
                <a:latin typeface="Consolas"/>
              </a:rPr>
              <a:t>equals</a:t>
            </a:r>
            <a:r>
              <a:rPr sz="1200" i="0" b="0">
                <a:solidFill>
                  <a:srgbClr val="D4D4D4"/>
                </a:solidFill>
                <a:latin typeface="Consolas"/>
              </a:rPr>
              <a:t>(</a:t>
            </a:r>
            <a:r>
              <a:rPr sz="1200" i="0" b="0">
                <a:solidFill>
                  <a:srgbClr val="D4D4D4"/>
                </a:solidFill>
                <a:latin typeface="Consolas"/>
              </a:rPr>
              <a:t>buscado</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D4D4D4"/>
                </a:solidFill>
                <a:latin typeface="Consolas"/>
              </a:rPr>
              <a:t>porRecorrido</a:t>
            </a:r>
            <a:r>
              <a:rPr sz="1200" i="0" b="0">
                <a:solidFill>
                  <a:srgbClr val="D4D4D4"/>
                </a:solidFill>
                <a:latin typeface="Consolas"/>
              </a:rPr>
              <a:t> = </a:t>
            </a:r>
            <a:r>
              <a:rPr sz="1200" i="0" b="0">
                <a:solidFill>
                  <a:srgbClr val="D4D4D4"/>
                </a:solidFill>
                <a:latin typeface="Consolas"/>
              </a:rPr>
              <a:t>e</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569CD6"/>
                </a:solidFill>
                <a:latin typeface="Consolas"/>
              </a:rPr>
              <a:t>break</a:t>
            </a:r>
            <a:r>
              <a:rPr sz="1200" i="0" b="0">
                <a:solidFill>
                  <a:srgbClr val="D4D4D4"/>
                </a:solidFill>
                <a:latin typeface="Consolas"/>
              </a:rPr>
              <a:t>;</a:t>
            </a:r>
          </a:p>
          <a:p>
            <a:pPr>
              <a:spcAft>
                <a:spcPts val="257"/>
              </a:spcAft>
            </a:pPr>
            <a:r>
              <a:rPr sz="1200" i="0" b="0">
                <a:solidFill>
                  <a:srgbClr val="D4D4D4"/>
                </a:solidFill>
                <a:latin typeface="Consolas"/>
              </a:rPr>
              <a:t>    }</a:t>
            </a:r>
          </a:p>
          <a:p>
            <a:pPr>
              <a:spcAft>
                <a:spcPts val="257"/>
              </a:spcAft>
            </a:pPr>
            <a:r>
              <a:rPr sz="1200" i="0" b="0">
                <a:solidFill>
                  <a:srgbClr val="D4D4D4"/>
                </a:solidFill>
                <a:latin typeface="Consolas"/>
              </a:rPr>
              <a:t>}</a:t>
            </a:r>
          </a:p>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nsLineal</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 - </a:t>
            </a:r>
            <a:r>
              <a:rPr sz="1200" i="0" b="0">
                <a:solidFill>
                  <a:srgbClr val="D4D4D4"/>
                </a:solidFill>
                <a:latin typeface="Consolas"/>
              </a:rPr>
              <a:t>t1</a:t>
            </a:r>
            <a:r>
              <a:rPr sz="1200" i="0" b="0">
                <a:solidFill>
                  <a:srgbClr val="D4D4D4"/>
                </a:solidFill>
                <a:latin typeface="Consolas"/>
              </a:rPr>
              <a:t>;</a:t>
            </a:r>
          </a:p>
          <a:p>
            <a:pPr>
              <a:spcAft>
                <a:spcPts val="257"/>
              </a:spcAft>
            </a:pPr>
            <a:r>
              <a:rPr sz="1200" i="0" b="0">
                <a:solidFill>
                  <a:srgbClr val="D4D4D4"/>
                </a:solidFill>
                <a:latin typeface="Consolas"/>
              </a:rPr>
              <a:t/>
            </a:r>
          </a:p>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t2</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a:t>
            </a:r>
          </a:p>
          <a:p>
            <a:pPr>
              <a:spcAft>
                <a:spcPts val="257"/>
              </a:spcAft>
            </a:pPr>
            <a:r>
              <a:rPr sz="1200" i="0" b="0">
                <a:solidFill>
                  <a:srgbClr val="D4D4D4"/>
                </a:solidFill>
                <a:latin typeface="Consolas"/>
              </a:rPr>
              <a:t>Expediente</a:t>
            </a:r>
            <a:r>
              <a:rPr sz="1200" i="0" b="0">
                <a:solidFill>
                  <a:srgbClr val="D4D4D4"/>
                </a:solidFill>
                <a:latin typeface="Consolas"/>
              </a:rPr>
              <a:t> </a:t>
            </a:r>
            <a:r>
              <a:rPr sz="1200" i="0" b="0">
                <a:solidFill>
                  <a:srgbClr val="D4D4D4"/>
                </a:solidFill>
                <a:latin typeface="Consolas"/>
              </a:rPr>
              <a:t>porClave</a:t>
            </a:r>
            <a:r>
              <a:rPr sz="1200" i="0" b="0">
                <a:solidFill>
                  <a:srgbClr val="D4D4D4"/>
                </a:solidFill>
                <a:latin typeface="Consolas"/>
              </a:rPr>
              <a:t> = </a:t>
            </a:r>
            <a:r>
              <a:rPr sz="1200" i="0" b="0">
                <a:solidFill>
                  <a:srgbClr val="DCDCAA"/>
                </a:solidFill>
                <a:latin typeface="Consolas"/>
              </a:rPr>
              <a:t>indice.get</a:t>
            </a:r>
            <a:r>
              <a:rPr sz="1200" i="0" b="0">
                <a:solidFill>
                  <a:srgbClr val="D4D4D4"/>
                </a:solidFill>
                <a:latin typeface="Consolas"/>
              </a:rPr>
              <a:t>(</a:t>
            </a:r>
            <a:r>
              <a:rPr sz="1200" i="0" b="0">
                <a:solidFill>
                  <a:srgbClr val="D4D4D4"/>
                </a:solidFill>
                <a:latin typeface="Consolas"/>
              </a:rPr>
              <a:t>buscado</a:t>
            </a:r>
            <a:r>
              <a:rPr sz="1200" i="0" b="0">
                <a:solidFill>
                  <a:srgbClr val="D4D4D4"/>
                </a:solidFill>
                <a:latin typeface="Consolas"/>
              </a:rPr>
              <a:t>); </a:t>
            </a:r>
            <a:r>
              <a:rPr sz="1200" i="1" b="0">
                <a:solidFill>
                  <a:srgbClr val="6A9955"/>
                </a:solidFill>
                <a:latin typeface="Consolas"/>
              </a:rPr>
              <a:t>// busqueda por clave: no recorre nada</a:t>
            </a:r>
          </a:p>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nsMapa</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 - </a:t>
            </a:r>
            <a:r>
              <a:rPr sz="1200" i="0" b="0">
                <a:solidFill>
                  <a:srgbClr val="D4D4D4"/>
                </a:solidFill>
                <a:latin typeface="Consolas"/>
              </a:rPr>
              <a:t>t2</a:t>
            </a:r>
            <a:r>
              <a:rPr sz="1200" i="0" b="0">
                <a:solidFill>
                  <a:srgbClr val="D4D4D4"/>
                </a:solidFill>
                <a:latin typeface="Consolas"/>
              </a:rPr>
              <a:t>;</a:t>
            </a:r>
          </a:p>
          <a:p>
            <a:pPr>
              <a:spcAft>
                <a:spcPts val="257"/>
              </a:spcAft>
            </a:pPr>
            <a:r>
              <a:rPr sz="1200" i="0" b="0">
                <a:solidFill>
                  <a:srgbClr val="D4D4D4"/>
                </a:solidFill>
                <a:latin typeface="Consolas"/>
              </a:rPr>
              <a:t/>
            </a:r>
          </a:p>
          <a:p>
            <a:pPr>
              <a:spcAft>
                <a:spcPts val="257"/>
              </a:spcAft>
            </a:pP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"ArrayList recorriendo 5.000: encontrado="</a:t>
            </a:r>
            <a:r>
              <a:rPr sz="1200" i="0" b="0">
                <a:solidFill>
                  <a:srgbClr val="D4D4D4"/>
                </a:solidFill>
                <a:latin typeface="Consolas"/>
              </a:rPr>
              <a:t> + (</a:t>
            </a:r>
            <a:r>
              <a:rPr sz="1200" i="0" b="0">
                <a:solidFill>
                  <a:srgbClr val="D4D4D4"/>
                </a:solidFill>
                <a:latin typeface="Consolas"/>
              </a:rPr>
              <a:t>porRecorrido</a:t>
            </a:r>
            <a:r>
              <a:rPr sz="1200" i="0" b="0">
                <a:solidFill>
                  <a:srgbClr val="D4D4D4"/>
                </a:solidFill>
                <a:latin typeface="Consolas"/>
              </a:rPr>
              <a:t> != </a:t>
            </a:r>
            <a:r>
              <a:rPr sz="1200" i="0" b="0">
                <a:solidFill>
                  <a:srgbClr val="569CD6"/>
                </a:solidFill>
                <a:latin typeface="Consolas"/>
              </a:rPr>
              <a:t>null</a:t>
            </a:r>
            <a:r>
              <a:rPr sz="1200" i="0" b="0">
                <a:solidFill>
                  <a:srgbClr val="D4D4D4"/>
                </a:solidFill>
                <a:latin typeface="Consolas"/>
              </a:rPr>
              <a:t>)</a:t>
            </a:r>
          </a:p>
          <a:p>
            <a:pPr>
              <a:spcAft>
                <a:spcPts val="257"/>
              </a:spcAft>
            </a:pPr>
            <a:r>
              <a:rPr sz="1200" i="0" b="0">
                <a:solidFill>
                  <a:srgbClr val="D4D4D4"/>
                </a:solidFill>
                <a:latin typeface="Consolas"/>
              </a:rPr>
              <a:t>        + </a:t>
            </a:r>
            <a:r>
              <a:rPr sz="1200" i="0" b="0">
                <a:solidFill>
                  <a:srgbClr val="CE9178"/>
                </a:solidFill>
                <a:latin typeface="Consolas"/>
              </a:rPr>
              <a:t>" en "</a:t>
            </a:r>
            <a:r>
              <a:rPr sz="1200" i="0" b="0">
                <a:solidFill>
                  <a:srgbClr val="D4D4D4"/>
                </a:solidFill>
                <a:latin typeface="Consolas"/>
              </a:rPr>
              <a:t> + </a:t>
            </a:r>
            <a:r>
              <a:rPr sz="1200" i="0" b="0">
                <a:solidFill>
                  <a:srgbClr val="D4D4D4"/>
                </a:solidFill>
                <a:latin typeface="Consolas"/>
              </a:rPr>
              <a:t>nsLineal</a:t>
            </a:r>
            <a:r>
              <a:rPr sz="1200" i="0" b="0">
                <a:solidFill>
                  <a:srgbClr val="D4D4D4"/>
                </a:solidFill>
                <a:latin typeface="Consolas"/>
              </a:rPr>
              <a:t> + </a:t>
            </a:r>
            <a:r>
              <a:rPr sz="1200" i="0" b="0">
                <a:solidFill>
                  <a:srgbClr val="CE9178"/>
                </a:solidFill>
                <a:latin typeface="Consolas"/>
              </a:rPr>
              <a:t>" ns"</a:t>
            </a:r>
            <a:r>
              <a:rPr sz="1200" i="0" b="0">
                <a:solidFill>
                  <a:srgbClr val="D4D4D4"/>
                </a:solidFill>
                <a:latin typeface="Consolas"/>
              </a:rPr>
              <a:t>);</a:t>
            </a:r>
          </a:p>
          <a:p>
            <a:pPr>
              <a:spcAft>
                <a:spcPts val="257"/>
              </a:spcAft>
            </a:pP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"HashMap con get(clave):      encontrado="</a:t>
            </a:r>
            <a:r>
              <a:rPr sz="1200" i="0" b="0">
                <a:solidFill>
                  <a:srgbClr val="D4D4D4"/>
                </a:solidFill>
                <a:latin typeface="Consolas"/>
              </a:rPr>
              <a:t> + (</a:t>
            </a:r>
            <a:r>
              <a:rPr sz="1200" i="0" b="0">
                <a:solidFill>
                  <a:srgbClr val="D4D4D4"/>
                </a:solidFill>
                <a:latin typeface="Consolas"/>
              </a:rPr>
              <a:t>porClave</a:t>
            </a:r>
            <a:r>
              <a:rPr sz="1200" i="0" b="0">
                <a:solidFill>
                  <a:srgbClr val="D4D4D4"/>
                </a:solidFill>
                <a:latin typeface="Consolas"/>
              </a:rPr>
              <a:t> != </a:t>
            </a:r>
            <a:r>
              <a:rPr sz="1200" i="0" b="0">
                <a:solidFill>
                  <a:srgbClr val="569CD6"/>
                </a:solidFill>
                <a:latin typeface="Consolas"/>
              </a:rPr>
              <a:t>null</a:t>
            </a:r>
            <a:r>
              <a:rPr sz="1200" i="0" b="0">
                <a:solidFill>
                  <a:srgbClr val="D4D4D4"/>
                </a:solidFill>
                <a:latin typeface="Consolas"/>
              </a:rPr>
              <a:t>)</a:t>
            </a:r>
          </a:p>
          <a:p>
            <a:pPr>
              <a:spcAft>
                <a:spcPts val="257"/>
              </a:spcAft>
            </a:pPr>
            <a:r>
              <a:rPr sz="1200" i="0" b="0">
                <a:solidFill>
                  <a:srgbClr val="D4D4D4"/>
                </a:solidFill>
                <a:latin typeface="Consolas"/>
              </a:rPr>
              <a:t>        + </a:t>
            </a:r>
            <a:r>
              <a:rPr sz="1200" i="0" b="0">
                <a:solidFill>
                  <a:srgbClr val="CE9178"/>
                </a:solidFill>
                <a:latin typeface="Consolas"/>
              </a:rPr>
              <a:t>" en "</a:t>
            </a:r>
            <a:r>
              <a:rPr sz="1200" i="0" b="0">
                <a:solidFill>
                  <a:srgbClr val="D4D4D4"/>
                </a:solidFill>
                <a:latin typeface="Consolas"/>
              </a:rPr>
              <a:t> + </a:t>
            </a:r>
            <a:r>
              <a:rPr sz="1200" i="0" b="0">
                <a:solidFill>
                  <a:srgbClr val="D4D4D4"/>
                </a:solidFill>
                <a:latin typeface="Consolas"/>
              </a:rPr>
              <a:t>nsMapa</a:t>
            </a:r>
            <a:r>
              <a:rPr sz="1200" i="0" b="0">
                <a:solidFill>
                  <a:srgbClr val="D4D4D4"/>
                </a:solidFill>
                <a:latin typeface="Consolas"/>
              </a:rPr>
              <a:t> + </a:t>
            </a:r>
            <a:r>
              <a:rPr sz="1200" i="0" b="0">
                <a:solidFill>
                  <a:srgbClr val="CE9178"/>
                </a:solidFill>
                <a:latin typeface="Consolas"/>
              </a:rPr>
              <a:t>" ns"</a:t>
            </a:r>
            <a:r>
              <a:rPr sz="12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API de Map y sus trampas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p-put-ge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p-put-ge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p-put-get-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map-put-get-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put(clave, valor) reemplaza en silencio si la clave ya existía: no hay claves repetidas.</a:t>
            </a:r>
          </a:p>
          <a:p>
            <a:pPr>
              <a:spcAft>
                <a:spcPts val="800"/>
              </a:spcAft>
            </a:pPr>
            <a:r>
              <a:rPr sz="2000" b="0" i="0">
                <a:solidFill>
                  <a:srgbClr val="333333"/>
                </a:solidFill>
                <a:latin typeface="Calibri"/>
              </a:rPr>
              <a:t>–   get devuelve null si la clave no existe; getOrDefault da un valor por defecto.</a:t>
            </a:r>
          </a:p>
          <a:p>
            <a:pPr>
              <a:spcAft>
                <a:spcPts val="800"/>
              </a:spcAft>
            </a:pPr>
            <a:r>
              <a:rPr sz="2000" b="0" i="0">
                <a:solidFill>
                  <a:srgbClr val="333333"/>
                </a:solidFill>
                <a:latin typeface="Calibri"/>
              </a:rPr>
              <a:t>–   Se recorre con entrySet() (getKey, getValue), o con keySet() y values().</a:t>
            </a:r>
          </a:p>
          <a:p>
            <a:pPr>
              <a:spcAft>
                <a:spcPts val="800"/>
              </a:spcAft>
            </a:pPr>
            <a:r>
              <a:rPr sz="2000" b="0" i="0">
                <a:solidFill>
                  <a:srgbClr val="333333"/>
                </a:solidFill>
                <a:latin typeface="Calibri"/>
              </a:rPr>
              <a:t>–   Con una clave de clase propia hay que sobrescribir equals y hashCode juntos.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guardar(): put avisa antes de reemplazar</a:t>
            </a:r>
          </a:p>
        </p:txBody>
      </p:sp>
      <p:sp>
        <p:nvSpPr>
          <p:cNvPr id="5" name="Rounded Rectangle 4"/>
          <p:cNvSpPr/>
          <p:nvPr/>
        </p:nvSpPr>
        <p:spPr>
          <a:xfrm>
            <a:off x="457200" y="1261872"/>
            <a:ext cx="11277295" cy="45068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912512"/>
          </a:xfrm>
          <a:prstGeom prst="rect">
            <a:avLst/>
          </a:prstGeom>
          <a:noFill/>
        </p:spPr>
        <p:txBody>
          <a:bodyPr wrap="square">
            <a:spAutoFit/>
          </a:bodyPr>
          <a:lstStyle/>
          <a:p>
            <a:pPr>
              <a:spcAft>
                <a:spcPts val="385"/>
              </a:spcAft>
            </a:pPr>
            <a:r>
              <a:rPr sz="1800" i="1" b="0">
                <a:solidFill>
                  <a:srgbClr val="6A9955"/>
                </a:solidFill>
                <a:latin typeface="Consolas"/>
              </a:rPr>
              <a:t>/** Regla de negocio: avisar antes de que put reemplace en silencio. */</a:t>
            </a:r>
          </a:p>
          <a:p>
            <a:pPr>
              <a:spcAft>
                <a:spcPts val="385"/>
              </a:spcAft>
            </a:pPr>
            <a:r>
              <a:rPr sz="1800" i="0" b="0">
                <a:solidFill>
                  <a:srgbClr val="569CD6"/>
                </a:solidFill>
                <a:latin typeface="Consolas"/>
              </a:rPr>
              <a:t>private</a:t>
            </a:r>
            <a:r>
              <a:rPr sz="1800" i="0" b="0">
                <a:solidFill>
                  <a:srgbClr val="D4D4D4"/>
                </a:solidFill>
                <a:latin typeface="Consolas"/>
              </a:rPr>
              <a:t> </a:t>
            </a:r>
            <a:r>
              <a:rPr sz="1800" i="0" b="0">
                <a:solidFill>
                  <a:srgbClr val="569CD6"/>
                </a:solidFill>
                <a:latin typeface="Consolas"/>
              </a:rPr>
              <a:t>void</a:t>
            </a:r>
            <a:r>
              <a:rPr sz="1800" i="0" b="0">
                <a:solidFill>
                  <a:srgbClr val="D4D4D4"/>
                </a:solidFill>
                <a:latin typeface="Consolas"/>
              </a:rPr>
              <a:t> </a:t>
            </a:r>
            <a:r>
              <a:rPr sz="1800" i="0" b="0">
                <a:solidFill>
                  <a:srgbClr val="DCDCAA"/>
                </a:solidFill>
                <a:latin typeface="Consolas"/>
              </a:rPr>
              <a:t>guardar</a:t>
            </a:r>
            <a:r>
              <a:rPr sz="1800" i="0" b="0">
                <a:solidFill>
                  <a:srgbClr val="D4D4D4"/>
                </a:solidFill>
                <a:latin typeface="Consolas"/>
              </a:rPr>
              <a:t>(</a:t>
            </a:r>
            <a:r>
              <a:rPr sz="1800" i="0" b="0">
                <a:solidFill>
                  <a:srgbClr val="D4D4D4"/>
                </a:solidFill>
                <a:latin typeface="Consolas"/>
              </a:rPr>
              <a:t>Expediente</a:t>
            </a:r>
            <a:r>
              <a:rPr sz="1800" i="0" b="0">
                <a:solidFill>
                  <a:srgbClr val="D4D4D4"/>
                </a:solidFill>
                <a:latin typeface="Consolas"/>
              </a:rPr>
              <a:t> </a:t>
            </a:r>
            <a:r>
              <a:rPr sz="1800" i="0" b="0">
                <a:solidFill>
                  <a:srgbClr val="D4D4D4"/>
                </a:solidFill>
                <a:latin typeface="Consolas"/>
              </a:rPr>
              <a:t>e</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569CD6"/>
                </a:solidFill>
                <a:latin typeface="Consolas"/>
              </a:rPr>
              <a:t>if</a:t>
            </a:r>
            <a:r>
              <a:rPr sz="1800" i="0" b="0">
                <a:solidFill>
                  <a:srgbClr val="D4D4D4"/>
                </a:solidFill>
                <a:latin typeface="Consolas"/>
              </a:rPr>
              <a:t> (</a:t>
            </a:r>
            <a:r>
              <a:rPr sz="1800" i="0" b="0">
                <a:solidFill>
                  <a:srgbClr val="DCDCAA"/>
                </a:solidFill>
                <a:latin typeface="Consolas"/>
              </a:rPr>
              <a:t>expedientes.containsKey</a:t>
            </a:r>
            <a:r>
              <a:rPr sz="1800" i="0" b="0">
                <a:solidFill>
                  <a:srgbClr val="D4D4D4"/>
                </a:solidFill>
                <a:latin typeface="Consolas"/>
              </a:rPr>
              <a:t>(</a:t>
            </a:r>
            <a:r>
              <a:rPr sz="1800" i="0" b="0">
                <a:solidFill>
                  <a:srgbClr val="DCDCAA"/>
                </a:solidFill>
                <a:latin typeface="Consolas"/>
              </a:rPr>
              <a:t>e.getId</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System.out.println</a:t>
            </a:r>
            <a:r>
              <a:rPr sz="1800" i="0" b="0">
                <a:solidFill>
                  <a:srgbClr val="D4D4D4"/>
                </a:solidFill>
                <a:latin typeface="Consolas"/>
              </a:rPr>
              <a:t>(</a:t>
            </a:r>
            <a:r>
              <a:rPr sz="1800" i="0" b="0">
                <a:solidFill>
                  <a:srgbClr val="CE9178"/>
                </a:solidFill>
                <a:latin typeface="Consolas"/>
              </a:rPr>
              <a:t>"Atencion: el ID "</a:t>
            </a:r>
            <a:r>
              <a:rPr sz="1800" i="0" b="0">
                <a:solidFill>
                  <a:srgbClr val="D4D4D4"/>
                </a:solidFill>
                <a:latin typeface="Consolas"/>
              </a:rPr>
              <a:t> + </a:t>
            </a:r>
            <a:r>
              <a:rPr sz="1800" i="0" b="0">
                <a:solidFill>
                  <a:srgbClr val="DCDCAA"/>
                </a:solidFill>
                <a:latin typeface="Consolas"/>
              </a:rPr>
              <a:t>e.getId</a:t>
            </a:r>
            <a:r>
              <a:rPr sz="1800" i="0" b="0">
                <a:solidFill>
                  <a:srgbClr val="D4D4D4"/>
                </a:solidFill>
                <a:latin typeface="Consolas"/>
              </a:rPr>
              <a:t>() + </a:t>
            </a:r>
            <a:r>
              <a:rPr sz="1800" i="0" b="0">
                <a:solidFill>
                  <a:srgbClr val="CE9178"/>
                </a:solidFill>
                <a:latin typeface="Consolas"/>
              </a:rPr>
              <a:t>" ya existia y sera reemplazado"</a:t>
            </a:r>
            <a:r>
              <a:rPr sz="1800" i="0" b="0">
                <a:solidFill>
                  <a:srgbClr val="D4D4D4"/>
                </a:solidFill>
                <a:latin typeface="Consolas"/>
              </a:rPr>
              <a:t>);</a:t>
            </a:r>
          </a:p>
          <a:p>
            <a:pPr>
              <a:spcAft>
                <a:spcPts val="385"/>
              </a:spcAft>
            </a:pP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expedientes.put</a:t>
            </a:r>
            <a:r>
              <a:rPr sz="1800" i="0" b="0">
                <a:solidFill>
                  <a:srgbClr val="D4D4D4"/>
                </a:solidFill>
                <a:latin typeface="Consolas"/>
              </a:rPr>
              <a:t>(</a:t>
            </a:r>
            <a:r>
              <a:rPr sz="1800" i="0" b="0">
                <a:solidFill>
                  <a:srgbClr val="DCDCAA"/>
                </a:solidFill>
                <a:latin typeface="Consolas"/>
              </a:rPr>
              <a:t>e.getId</a:t>
            </a:r>
            <a:r>
              <a:rPr sz="1800" i="0" b="0">
                <a:solidFill>
                  <a:srgbClr val="D4D4D4"/>
                </a:solidFill>
                <a:latin typeface="Consolas"/>
              </a:rPr>
              <a:t>(), </a:t>
            </a:r>
            <a:r>
              <a:rPr sz="1800" i="0" b="0">
                <a:solidFill>
                  <a:srgbClr val="D4D4D4"/>
                </a:solidFill>
                <a:latin typeface="Consolas"/>
              </a:rPr>
              <a:t>e</a:t>
            </a:r>
            <a:r>
              <a:rPr sz="1800" i="0" b="0">
                <a:solidFill>
                  <a:srgbClr val="D4D4D4"/>
                </a:solidFill>
                <a:latin typeface="Consolas"/>
              </a:rPr>
              <a:t>);              </a:t>
            </a:r>
            <a:r>
              <a:rPr sz="1800" i="1" b="0">
                <a:solidFill>
                  <a:srgbClr val="6A9955"/>
                </a:solidFill>
                <a:latin typeface="Consolas"/>
              </a:rPr>
              <a:t>// clave -&gt; valor</a:t>
            </a:r>
          </a:p>
          <a:p>
            <a:pPr>
              <a:spcAft>
                <a:spcPts val="385"/>
              </a:spcAft>
            </a:pPr>
            <a:r>
              <a:rPr sz="1800" i="0" b="0">
                <a:solidFill>
                  <a:srgbClr val="D4D4D4"/>
                </a:solidFill>
                <a:latin typeface="Consolas"/>
              </a:rPr>
              <a:t>    </a:t>
            </a:r>
            <a:r>
              <a:rPr sz="1800" i="0" b="0">
                <a:solidFill>
                  <a:srgbClr val="4EC9B0"/>
                </a:solidFill>
                <a:latin typeface="Consolas"/>
              </a:rPr>
              <a:t>boolean</a:t>
            </a:r>
            <a:r>
              <a:rPr sz="1800" i="0" b="0">
                <a:solidFill>
                  <a:srgbClr val="D4D4D4"/>
                </a:solidFill>
                <a:latin typeface="Consolas"/>
              </a:rPr>
              <a:t> </a:t>
            </a:r>
            <a:r>
              <a:rPr sz="1800" i="0" b="0">
                <a:solidFill>
                  <a:srgbClr val="D4D4D4"/>
                </a:solidFill>
                <a:latin typeface="Consolas"/>
              </a:rPr>
              <a:t>razaNueva</a:t>
            </a:r>
            <a:r>
              <a:rPr sz="1800" i="0" b="0">
                <a:solidFill>
                  <a:srgbClr val="D4D4D4"/>
                </a:solidFill>
                <a:latin typeface="Consolas"/>
              </a:rPr>
              <a:t> = </a:t>
            </a:r>
            <a:r>
              <a:rPr sz="1800" i="0" b="0">
                <a:solidFill>
                  <a:srgbClr val="DCDCAA"/>
                </a:solidFill>
                <a:latin typeface="Consolas"/>
              </a:rPr>
              <a:t>razas.add</a:t>
            </a:r>
            <a:r>
              <a:rPr sz="1800" i="0" b="0">
                <a:solidFill>
                  <a:srgbClr val="D4D4D4"/>
                </a:solidFill>
                <a:latin typeface="Consolas"/>
              </a:rPr>
              <a:t>(</a:t>
            </a:r>
            <a:r>
              <a:rPr sz="1800" i="0" b="0">
                <a:solidFill>
                  <a:srgbClr val="DCDCAA"/>
                </a:solidFill>
                <a:latin typeface="Consolas"/>
              </a:rPr>
              <a:t>e.getRaza</a:t>
            </a:r>
            <a:r>
              <a:rPr sz="1800" i="0" b="0">
                <a:solidFill>
                  <a:srgbClr val="D4D4D4"/>
                </a:solidFill>
                <a:latin typeface="Consolas"/>
              </a:rPr>
              <a:t>()); </a:t>
            </a:r>
            <a:r>
              <a:rPr sz="1800" i="1" b="0">
                <a:solidFill>
                  <a:srgbClr val="6A9955"/>
                </a:solidFill>
                <a:latin typeface="Consolas"/>
              </a:rPr>
              <a:t>// add devuelve false si ya estaba</a:t>
            </a:r>
          </a:p>
          <a:p>
            <a:pPr>
              <a:spcAft>
                <a:spcPts val="385"/>
              </a:spcAft>
            </a:pPr>
            <a:r>
              <a:rPr sz="1800" i="0" b="0">
                <a:solidFill>
                  <a:srgbClr val="D4D4D4"/>
                </a:solidFill>
                <a:latin typeface="Consolas"/>
              </a:rPr>
              <a:t>    </a:t>
            </a:r>
            <a:r>
              <a:rPr sz="1800" i="0" b="0">
                <a:solidFill>
                  <a:srgbClr val="569CD6"/>
                </a:solidFill>
                <a:latin typeface="Consolas"/>
              </a:rPr>
              <a:t>if</a:t>
            </a:r>
            <a:r>
              <a:rPr sz="1800" i="0" b="0">
                <a:solidFill>
                  <a:srgbClr val="D4D4D4"/>
                </a:solidFill>
                <a:latin typeface="Consolas"/>
              </a:rPr>
              <a:t> (!</a:t>
            </a:r>
            <a:r>
              <a:rPr sz="1800" i="0" b="0">
                <a:solidFill>
                  <a:srgbClr val="D4D4D4"/>
                </a:solidFill>
                <a:latin typeface="Consolas"/>
              </a:rPr>
              <a:t>razaNueva</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System.out.println</a:t>
            </a:r>
            <a:r>
              <a:rPr sz="1800" i="0" b="0">
                <a:solidFill>
                  <a:srgbClr val="D4D4D4"/>
                </a:solidFill>
                <a:latin typeface="Consolas"/>
              </a:rPr>
              <a:t>(</a:t>
            </a:r>
            <a:r>
              <a:rPr sz="1800" i="0" b="0">
                <a:solidFill>
                  <a:srgbClr val="CE9178"/>
                </a:solidFill>
                <a:latin typeface="Consolas"/>
              </a:rPr>
              <a:t>"Raza ya registrada: "</a:t>
            </a:r>
            <a:r>
              <a:rPr sz="1800" i="0" b="0">
                <a:solidFill>
                  <a:srgbClr val="D4D4D4"/>
                </a:solidFill>
                <a:latin typeface="Consolas"/>
              </a:rPr>
              <a:t> + </a:t>
            </a:r>
            <a:r>
              <a:rPr sz="1800" i="0" b="0">
                <a:solidFill>
                  <a:srgbClr val="DCDCAA"/>
                </a:solidFill>
                <a:latin typeface="Consolas"/>
              </a:rPr>
              <a:t>e.getRaza</a:t>
            </a:r>
            <a:r>
              <a:rPr sz="1800" i="0" b="0">
                <a:solidFill>
                  <a:srgbClr val="D4D4D4"/>
                </a:solidFill>
                <a:latin typeface="Consolas"/>
              </a:rPr>
              <a:t>());</a:t>
            </a:r>
          </a:p>
          <a:p>
            <a:pPr>
              <a:spcAft>
                <a:spcPts val="385"/>
              </a:spcAft>
            </a:pPr>
            <a:r>
              <a:rPr sz="1800" i="0" b="0">
                <a:solidFill>
                  <a:srgbClr val="D4D4D4"/>
                </a:solidFill>
                <a:latin typeface="Consolas"/>
              </a:rPr>
              <a:t>    }</a:t>
            </a:r>
          </a:p>
          <a:p>
            <a:pPr>
              <a:spcAft>
                <a:spcPts val="385"/>
              </a:spcAft>
            </a:pPr>
            <a:r>
              <a:rPr sz="18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HashSet: el conjunto sin duplicados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shset-duplic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hashset-duplic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hashset-duplic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Por dentro es un HashMap donde solo importan las claves.</a:t>
            </a:r>
          </a:p>
          <a:p>
            <a:pPr>
              <a:spcAft>
                <a:spcPts val="800"/>
              </a:spcAft>
            </a:pPr>
            <a:r>
              <a:rPr sz="2000" b="0" i="0">
                <a:solidFill>
                  <a:srgbClr val="333333"/>
                </a:solidFill>
                <a:latin typeface="Calibri"/>
              </a:rPr>
              <a:t>–   Responde en tiempo constante «¿esto ya está?»; add devuelve false si ya estaba.</a:t>
            </a:r>
          </a:p>
          <a:p>
            <a:pPr>
              <a:spcAft>
                <a:spcPts val="800"/>
              </a:spcAft>
            </a:pPr>
            <a:r>
              <a:rPr sz="2000" b="0" i="0">
                <a:solidFill>
                  <a:srgbClr val="333333"/>
                </a:solidFill>
                <a:latin typeface="Calibri"/>
              </a:rPr>
              <a:t>–   No garantiza orden: LinkedHashSet conserva la inserción y TreeSet ordena.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mapa y un conjunto como atributos</a:t>
            </a:r>
          </a:p>
        </p:txBody>
      </p:sp>
      <p:sp>
        <p:nvSpPr>
          <p:cNvPr id="5" name="Rounded Rectangle 4"/>
          <p:cNvSpPr/>
          <p:nvPr/>
        </p:nvSpPr>
        <p:spPr>
          <a:xfrm>
            <a:off x="457200" y="1261872"/>
            <a:ext cx="11277295" cy="4219411"/>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625051"/>
          </a:xfrm>
          <a:prstGeom prst="rect">
            <a:avLst/>
          </a:prstGeom>
          <a:noFill/>
        </p:spPr>
        <p:txBody>
          <a:bodyPr wrap="square">
            <a:spAutoFit/>
          </a:bodyPr>
          <a:lstStyle/>
          <a:p>
            <a:pPr>
              <a:spcAft>
                <a:spcPts val="321"/>
              </a:spcAft>
            </a:pPr>
            <a:r>
              <a:rPr sz="1500" i="1" b="0">
                <a:solidFill>
                  <a:srgbClr val="6A9955"/>
                </a:solidFill>
                <a:latin typeface="Consolas"/>
              </a:rPr>
              <a:t>// ---- Datos: la inteligencia del sistema vive aqui, no en el boton ----</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final</a:t>
            </a:r>
            <a:r>
              <a:rPr sz="1500" i="0" b="0">
                <a:solidFill>
                  <a:srgbClr val="D4D4D4"/>
                </a:solidFill>
                <a:latin typeface="Consolas"/>
              </a:rPr>
              <a:t> </a:t>
            </a:r>
            <a:r>
              <a:rPr sz="1500" i="0" b="0">
                <a:solidFill>
                  <a:srgbClr val="4EC9B0"/>
                </a:solidFill>
                <a:latin typeface="Consolas"/>
              </a:rPr>
              <a:t>Map</a:t>
            </a:r>
            <a:r>
              <a:rPr sz="1500" i="0" b="0">
                <a:solidFill>
                  <a:srgbClr val="D4D4D4"/>
                </a:solidFill>
                <a:latin typeface="Consolas"/>
              </a:rPr>
              <a:t>&lt;</a:t>
            </a:r>
            <a:r>
              <a:rPr sz="1500" i="0" b="0">
                <a:solidFill>
                  <a:srgbClr val="4EC9B0"/>
                </a:solidFill>
                <a:latin typeface="Consolas"/>
              </a:rPr>
              <a:t>String</a:t>
            </a:r>
            <a:r>
              <a:rPr sz="1500" i="0" b="0">
                <a:solidFill>
                  <a:srgbClr val="D4D4D4"/>
                </a:solidFill>
                <a:latin typeface="Consolas"/>
              </a:rPr>
              <a:t>, </a:t>
            </a:r>
            <a:r>
              <a:rPr sz="1500" i="0" b="0">
                <a:solidFill>
                  <a:srgbClr val="D4D4D4"/>
                </a:solidFill>
                <a:latin typeface="Consolas"/>
              </a:rPr>
              <a:t>Expediente</a:t>
            </a:r>
            <a:r>
              <a:rPr sz="1500" i="0" b="0">
                <a:solidFill>
                  <a:srgbClr val="D4D4D4"/>
                </a:solidFill>
                <a:latin typeface="Consolas"/>
              </a:rPr>
              <a:t>&gt; </a:t>
            </a:r>
            <a:r>
              <a:rPr sz="1500" i="0" b="0">
                <a:solidFill>
                  <a:srgbClr val="D4D4D4"/>
                </a:solidFill>
                <a:latin typeface="Consolas"/>
              </a:rPr>
              <a:t>expedientes</a:t>
            </a:r>
            <a:r>
              <a:rPr sz="1500" i="0" b="0">
                <a:solidFill>
                  <a:srgbClr val="D4D4D4"/>
                </a:solidFill>
                <a:latin typeface="Consolas"/>
              </a:rPr>
              <a:t> =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HashMap</a:t>
            </a:r>
            <a:r>
              <a:rPr sz="1500" i="0" b="0">
                <a:solidFill>
                  <a:srgbClr val="D4D4D4"/>
                </a:solidFill>
                <a:latin typeface="Consolas"/>
              </a:rPr>
              <a:t>&lt;&gt;();</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final</a:t>
            </a:r>
            <a:r>
              <a:rPr sz="1500" i="0" b="0">
                <a:solidFill>
                  <a:srgbClr val="D4D4D4"/>
                </a:solidFill>
                <a:latin typeface="Consolas"/>
              </a:rPr>
              <a:t> </a:t>
            </a:r>
            <a:r>
              <a:rPr sz="1500" i="0" b="0">
                <a:solidFill>
                  <a:srgbClr val="4EC9B0"/>
                </a:solidFill>
                <a:latin typeface="Consolas"/>
              </a:rPr>
              <a:t>Set</a:t>
            </a:r>
            <a:r>
              <a:rPr sz="1500" i="0" b="0">
                <a:solidFill>
                  <a:srgbClr val="D4D4D4"/>
                </a:solidFill>
                <a:latin typeface="Consolas"/>
              </a:rPr>
              <a:t>&lt;</a:t>
            </a:r>
            <a:r>
              <a:rPr sz="1500" i="0" b="0">
                <a:solidFill>
                  <a:srgbClr val="4EC9B0"/>
                </a:solidFill>
                <a:latin typeface="Consolas"/>
              </a:rPr>
              <a:t>String</a:t>
            </a:r>
            <a:r>
              <a:rPr sz="1500" i="0" b="0">
                <a:solidFill>
                  <a:srgbClr val="D4D4D4"/>
                </a:solidFill>
                <a:latin typeface="Consolas"/>
              </a:rPr>
              <a:t>&gt; </a:t>
            </a:r>
            <a:r>
              <a:rPr sz="1500" i="0" b="0">
                <a:solidFill>
                  <a:srgbClr val="D4D4D4"/>
                </a:solidFill>
                <a:latin typeface="Consolas"/>
              </a:rPr>
              <a:t>razas</a:t>
            </a:r>
            <a:r>
              <a:rPr sz="1500" i="0" b="0">
                <a:solidFill>
                  <a:srgbClr val="D4D4D4"/>
                </a:solidFill>
                <a:latin typeface="Consolas"/>
              </a:rPr>
              <a:t> =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HashSet</a:t>
            </a:r>
            <a:r>
              <a:rPr sz="1500" i="0" b="0">
                <a:solidFill>
                  <a:srgbClr val="D4D4D4"/>
                </a:solidFill>
                <a:latin typeface="Consolas"/>
              </a:rPr>
              <a:t>&lt;&gt;();</a:t>
            </a:r>
          </a:p>
          <a:p>
            <a:pPr>
              <a:spcAft>
                <a:spcPts val="321"/>
              </a:spcAft>
            </a:pPr>
            <a:r>
              <a:rPr sz="1500" i="0" b="0">
                <a:solidFill>
                  <a:srgbClr val="D4D4D4"/>
                </a:solidFill>
                <a:latin typeface="Consolas"/>
              </a:rPr>
              <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void</a:t>
            </a:r>
            <a:r>
              <a:rPr sz="1500" i="0" b="0">
                <a:solidFill>
                  <a:srgbClr val="D4D4D4"/>
                </a:solidFill>
                <a:latin typeface="Consolas"/>
              </a:rPr>
              <a:t> </a:t>
            </a:r>
            <a:r>
              <a:rPr sz="1500" i="0" b="0">
                <a:solidFill>
                  <a:srgbClr val="DCDCAA"/>
                </a:solidFill>
                <a:latin typeface="Consolas"/>
              </a:rPr>
              <a:t>cargarDatosDePrueba</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"M-001"</a:t>
            </a:r>
            <a:r>
              <a:rPr sz="1500" i="0" b="0">
                <a:solidFill>
                  <a:srgbClr val="D4D4D4"/>
                </a:solidFill>
                <a:latin typeface="Consolas"/>
              </a:rPr>
              <a:t>, </a:t>
            </a:r>
            <a:r>
              <a:rPr sz="1500" i="0" b="0">
                <a:solidFill>
                  <a:srgbClr val="CE9178"/>
                </a:solidFill>
                <a:latin typeface="Consolas"/>
              </a:rPr>
              <a:t>"Firulais"</a:t>
            </a:r>
            <a:r>
              <a:rPr sz="1500" i="0" b="0">
                <a:solidFill>
                  <a:srgbClr val="D4D4D4"/>
                </a:solidFill>
                <a:latin typeface="Consolas"/>
              </a:rPr>
              <a:t>, </a:t>
            </a:r>
            <a:r>
              <a:rPr sz="1500" i="0" b="0">
                <a:solidFill>
                  <a:srgbClr val="CE9178"/>
                </a:solidFill>
                <a:latin typeface="Consolas"/>
              </a:rPr>
              <a:t>"Labrador"</a:t>
            </a:r>
            <a:r>
              <a:rPr sz="1500" i="0" b="0">
                <a:solidFill>
                  <a:srgbClr val="D4D4D4"/>
                </a:solidFill>
                <a:latin typeface="Consolas"/>
              </a:rPr>
              <a:t>, </a:t>
            </a:r>
            <a:r>
              <a:rPr sz="1500" i="0" b="0">
                <a:solidFill>
                  <a:srgbClr val="CE9178"/>
                </a:solidFill>
                <a:latin typeface="Consolas"/>
              </a:rPr>
              <a:t>"Ana Gomez"</a:t>
            </a:r>
            <a:r>
              <a:rPr sz="1500" i="0" b="0">
                <a:solidFill>
                  <a:srgbClr val="D4D4D4"/>
                </a:solidFill>
                <a:latin typeface="Consolas"/>
              </a:rPr>
              <a:t>, </a:t>
            </a:r>
            <a:r>
              <a:rPr sz="1500" i="0" b="0">
                <a:solidFill>
                  <a:srgbClr val="CE9178"/>
                </a:solidFill>
                <a:latin typeface="Consolas"/>
              </a:rPr>
              <a:t>"Vacunacion al dia"</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"M-002"</a:t>
            </a:r>
            <a:r>
              <a:rPr sz="1500" i="0" b="0">
                <a:solidFill>
                  <a:srgbClr val="D4D4D4"/>
                </a:solidFill>
                <a:latin typeface="Consolas"/>
              </a:rPr>
              <a:t>, </a:t>
            </a:r>
            <a:r>
              <a:rPr sz="1500" i="0" b="0">
                <a:solidFill>
                  <a:srgbClr val="CE9178"/>
                </a:solidFill>
                <a:latin typeface="Consolas"/>
              </a:rPr>
              <a:t>"Michi"</a:t>
            </a:r>
            <a:r>
              <a:rPr sz="1500" i="0" b="0">
                <a:solidFill>
                  <a:srgbClr val="D4D4D4"/>
                </a:solidFill>
                <a:latin typeface="Consolas"/>
              </a:rPr>
              <a:t>, </a:t>
            </a:r>
            <a:r>
              <a:rPr sz="1500" i="0" b="0">
                <a:solidFill>
                  <a:srgbClr val="CE9178"/>
                </a:solidFill>
                <a:latin typeface="Consolas"/>
              </a:rPr>
              <a:t>"Criollo"</a:t>
            </a:r>
            <a:r>
              <a:rPr sz="1500" i="0" b="0">
                <a:solidFill>
                  <a:srgbClr val="D4D4D4"/>
                </a:solidFill>
                <a:latin typeface="Consolas"/>
              </a:rPr>
              <a:t>, </a:t>
            </a:r>
            <a:r>
              <a:rPr sz="1500" i="0" b="0">
                <a:solidFill>
                  <a:srgbClr val="CE9178"/>
                </a:solidFill>
                <a:latin typeface="Consolas"/>
              </a:rPr>
              <a:t>"Luis Perez"</a:t>
            </a:r>
            <a:r>
              <a:rPr sz="1500" i="0" b="0">
                <a:solidFill>
                  <a:srgbClr val="D4D4D4"/>
                </a:solidFill>
                <a:latin typeface="Consolas"/>
              </a:rPr>
              <a:t>, </a:t>
            </a:r>
            <a:r>
              <a:rPr sz="1500" i="0" b="0">
                <a:solidFill>
                  <a:srgbClr val="CE9178"/>
                </a:solidFill>
                <a:latin typeface="Consolas"/>
              </a:rPr>
              <a:t>"Control de peso"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"M-003"</a:t>
            </a:r>
            <a:r>
              <a:rPr sz="1500" i="0" b="0">
                <a:solidFill>
                  <a:srgbClr val="D4D4D4"/>
                </a:solidFill>
                <a:latin typeface="Consolas"/>
              </a:rPr>
              <a:t>, </a:t>
            </a:r>
            <a:r>
              <a:rPr sz="1500" i="0" b="0">
                <a:solidFill>
                  <a:srgbClr val="CE9178"/>
                </a:solidFill>
                <a:latin typeface="Consolas"/>
              </a:rPr>
              <a:t>"Rocky"</a:t>
            </a:r>
            <a:r>
              <a:rPr sz="1500" i="0" b="0">
                <a:solidFill>
                  <a:srgbClr val="D4D4D4"/>
                </a:solidFill>
                <a:latin typeface="Consolas"/>
              </a:rPr>
              <a:t>, </a:t>
            </a:r>
            <a:r>
              <a:rPr sz="1500" i="0" b="0">
                <a:solidFill>
                  <a:srgbClr val="CE9178"/>
                </a:solidFill>
                <a:latin typeface="Consolas"/>
              </a:rPr>
              <a:t>"Pastor Aleman"</a:t>
            </a:r>
            <a:r>
              <a:rPr sz="1500" i="0" b="0">
                <a:solidFill>
                  <a:srgbClr val="D4D4D4"/>
                </a:solidFill>
                <a:latin typeface="Consolas"/>
              </a:rPr>
              <a:t>, </a:t>
            </a:r>
            <a:r>
              <a:rPr sz="1500" i="0" b="0">
                <a:solidFill>
                  <a:srgbClr val="CE9178"/>
                </a:solidFill>
                <a:latin typeface="Consolas"/>
              </a:rPr>
              <a:t>"Ana Gomez"</a:t>
            </a:r>
            <a:r>
              <a:rPr sz="1500" i="0" b="0">
                <a:solidFill>
                  <a:srgbClr val="D4D4D4"/>
                </a:solidFill>
                <a:latin typeface="Consolas"/>
              </a:rPr>
              <a:t>, </a:t>
            </a:r>
            <a:r>
              <a:rPr sz="1500" i="0" b="0">
                <a:solidFill>
                  <a:srgbClr val="CE9178"/>
                </a:solidFill>
                <a:latin typeface="Consolas"/>
              </a:rPr>
              <a:t>"Revision de patas"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"M-004"</a:t>
            </a:r>
            <a:r>
              <a:rPr sz="1500" i="0" b="0">
                <a:solidFill>
                  <a:srgbClr val="D4D4D4"/>
                </a:solidFill>
                <a:latin typeface="Consolas"/>
              </a:rPr>
              <a:t>, </a:t>
            </a:r>
            <a:r>
              <a:rPr sz="1500" i="0" b="0">
                <a:solidFill>
                  <a:srgbClr val="CE9178"/>
                </a:solidFill>
                <a:latin typeface="Consolas"/>
              </a:rPr>
              <a:t>"Nieve"</a:t>
            </a:r>
            <a:r>
              <a:rPr sz="1500" i="0" b="0">
                <a:solidFill>
                  <a:srgbClr val="D4D4D4"/>
                </a:solidFill>
                <a:latin typeface="Consolas"/>
              </a:rPr>
              <a:t>, </a:t>
            </a:r>
            <a:r>
              <a:rPr sz="1500" i="0" b="0">
                <a:solidFill>
                  <a:srgbClr val="CE9178"/>
                </a:solidFill>
                <a:latin typeface="Consolas"/>
              </a:rPr>
              <a:t>"Persa"</a:t>
            </a:r>
            <a:r>
              <a:rPr sz="1500" i="0" b="0">
                <a:solidFill>
                  <a:srgbClr val="D4D4D4"/>
                </a:solidFill>
                <a:latin typeface="Consolas"/>
              </a:rPr>
              <a:t>, </a:t>
            </a:r>
            <a:r>
              <a:rPr sz="1500" i="0" b="0">
                <a:solidFill>
                  <a:srgbClr val="CE9178"/>
                </a:solidFill>
                <a:latin typeface="Consolas"/>
              </a:rPr>
              <a:t>"Sara Diaz"</a:t>
            </a:r>
            <a:r>
              <a:rPr sz="1500" i="0" b="0">
                <a:solidFill>
                  <a:srgbClr val="D4D4D4"/>
                </a:solidFill>
                <a:latin typeface="Consolas"/>
              </a:rPr>
              <a:t>, </a:t>
            </a:r>
            <a:r>
              <a:rPr sz="1500" i="0" b="0">
                <a:solidFill>
                  <a:srgbClr val="CE9178"/>
                </a:solidFill>
                <a:latin typeface="Consolas"/>
              </a:rPr>
              <a:t>"Desparasitacion"</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"M-005"</a:t>
            </a:r>
            <a:r>
              <a:rPr sz="1500" i="0" b="0">
                <a:solidFill>
                  <a:srgbClr val="D4D4D4"/>
                </a:solidFill>
                <a:latin typeface="Consolas"/>
              </a:rPr>
              <a:t>, </a:t>
            </a:r>
            <a:r>
              <a:rPr sz="1500" i="0" b="0">
                <a:solidFill>
                  <a:srgbClr val="CE9178"/>
                </a:solidFill>
                <a:latin typeface="Consolas"/>
              </a:rPr>
              <a:t>"Toby"</a:t>
            </a:r>
            <a:r>
              <a:rPr sz="1500" i="0" b="0">
                <a:solidFill>
                  <a:srgbClr val="D4D4D4"/>
                </a:solidFill>
                <a:latin typeface="Consolas"/>
              </a:rPr>
              <a:t>, </a:t>
            </a:r>
            <a:r>
              <a:rPr sz="1500" i="0" b="0">
                <a:solidFill>
                  <a:srgbClr val="CE9178"/>
                </a:solidFill>
                <a:latin typeface="Consolas"/>
              </a:rPr>
              <a:t>"Labrador"</a:t>
            </a:r>
            <a:r>
              <a:rPr sz="1500" i="0" b="0">
                <a:solidFill>
                  <a:srgbClr val="D4D4D4"/>
                </a:solidFill>
                <a:latin typeface="Consolas"/>
              </a:rPr>
              <a:t>, </a:t>
            </a:r>
            <a:r>
              <a:rPr sz="1500" i="0" b="0">
                <a:solidFill>
                  <a:srgbClr val="CE9178"/>
                </a:solidFill>
                <a:latin typeface="Consolas"/>
              </a:rPr>
              <a:t>"Sara Diaz"</a:t>
            </a:r>
            <a:r>
              <a:rPr sz="1500" i="0" b="0">
                <a:solidFill>
                  <a:srgbClr val="D4D4D4"/>
                </a:solidFill>
                <a:latin typeface="Consolas"/>
              </a:rPr>
              <a:t>, </a:t>
            </a:r>
            <a:r>
              <a:rPr sz="1500" i="0" b="0">
                <a:solidFill>
                  <a:srgbClr val="CE9178"/>
                </a:solidFill>
                <a:latin typeface="Consolas"/>
              </a:rPr>
              <a:t>"Control geriatrico"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System.out.println</a:t>
            </a:r>
            <a:r>
              <a:rPr sz="1500" i="0" b="0">
                <a:solidFill>
                  <a:srgbClr val="D4D4D4"/>
                </a:solidFill>
                <a:latin typeface="Consolas"/>
              </a:rPr>
              <a:t>(</a:t>
            </a:r>
            <a:r>
              <a:rPr sz="1500" i="0" b="0">
                <a:solidFill>
                  <a:srgbClr val="CE9178"/>
                </a:solidFill>
                <a:latin typeface="Consolas"/>
              </a:rPr>
              <a:t>"Expedientes: "</a:t>
            </a:r>
            <a:r>
              <a:rPr sz="1500" i="0" b="0">
                <a:solidFill>
                  <a:srgbClr val="D4D4D4"/>
                </a:solidFill>
                <a:latin typeface="Consolas"/>
              </a:rPr>
              <a:t> + </a:t>
            </a:r>
            <a:r>
              <a:rPr sz="1500" i="0" b="0">
                <a:solidFill>
                  <a:srgbClr val="DCDCAA"/>
                </a:solidFill>
                <a:latin typeface="Consolas"/>
              </a:rPr>
              <a:t>expedientes.size</a:t>
            </a:r>
            <a:r>
              <a:rPr sz="1500" i="0" b="0">
                <a:solidFill>
                  <a:srgbClr val="D4D4D4"/>
                </a:solidFill>
                <a:latin typeface="Consolas"/>
              </a:rPr>
              <a:t>() + </a:t>
            </a:r>
            <a:r>
              <a:rPr sz="1500" i="0" b="0">
                <a:solidFill>
                  <a:srgbClr val="CE9178"/>
                </a:solidFill>
                <a:latin typeface="Consolas"/>
              </a:rPr>
              <a:t>" | Razas distintas: "</a:t>
            </a:r>
            <a:r>
              <a:rPr sz="1500" i="0" b="0">
                <a:solidFill>
                  <a:srgbClr val="D4D4D4"/>
                </a:solidFill>
                <a:latin typeface="Consolas"/>
              </a:rPr>
              <a:t> + </a:t>
            </a:r>
            <a:r>
              <a:rPr sz="1500" i="0" b="0">
                <a:solidFill>
                  <a:srgbClr val="DCDCAA"/>
                </a:solidFill>
                <a:latin typeface="Consolas"/>
              </a:rPr>
              <a:t>razas.size</a:t>
            </a:r>
            <a:r>
              <a:rPr sz="1500" i="0" b="0">
                <a:solidFill>
                  <a:srgbClr val="D4D4D4"/>
                </a:solidFill>
                <a:latin typeface="Consolas"/>
              </a:rPr>
              <a:t>());</a:t>
            </a:r>
          </a:p>
          <a:p>
            <a:pPr>
              <a:spcAft>
                <a:spcPts val="321"/>
              </a:spcAft>
            </a:pPr>
            <a:r>
              <a:rPr sz="15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Swing: ventana, paneles y componentes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wing-anidamien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wing-anidamien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wing-anidamient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swing-anidamient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Anidamiento: JFrame contiene JPanel, y el panel contiene JLabel, JTextField y JButton.</a:t>
            </a:r>
          </a:p>
          <a:p>
            <a:pPr>
              <a:spcAft>
                <a:spcPts val="800"/>
              </a:spcAft>
            </a:pPr>
            <a:r>
              <a:rPr sz="2000" b="0" i="0">
                <a:solidFill>
                  <a:srgbClr val="333333"/>
                </a:solidFill>
                <a:latin typeface="Calibri"/>
              </a:rPr>
              <a:t>–   El layout acomoda: BorderLayout (NORTH, CENTER…) en el JFrame, FlowLayout en el JPanel.</a:t>
            </a:r>
          </a:p>
          <a:p>
            <a:pPr>
              <a:spcAft>
                <a:spcPts val="800"/>
              </a:spcAft>
            </a:pPr>
            <a:r>
              <a:rPr sz="2000" b="0" i="0">
                <a:solidFill>
                  <a:srgbClr val="333333"/>
                </a:solidFill>
                <a:latin typeface="Calibri"/>
              </a:rPr>
              <a:t>–   Tres líneas obligatorias: setDefaultCloseOperation, setSize o pack, setVisible(true).</a:t>
            </a:r>
          </a:p>
          <a:p>
            <a:pPr>
              <a:spcAft>
                <a:spcPts val="800"/>
              </a:spcAft>
            </a:pPr>
            <a:r>
              <a:rPr sz="2000" b="0" i="0">
                <a:solidFill>
                  <a:srgbClr val="333333"/>
                </a:solidFill>
                <a:latin typeface="Calibri"/>
              </a:rPr>
              <a:t>–   La ventana se crea en SwingUtilities.invokeLater: Swing vive en el hilo EDT.</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Paneles y layouts, escritos a mano</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0" b="0">
                <a:solidFill>
                  <a:srgbClr val="D4D4D4"/>
                </a:solidFill>
                <a:latin typeface="Consolas"/>
              </a:rPr>
              <a:t>JPanel</a:t>
            </a:r>
            <a:r>
              <a:rPr sz="1600" i="0" b="0">
                <a:solidFill>
                  <a:srgbClr val="D4D4D4"/>
                </a:solidFill>
                <a:latin typeface="Consolas"/>
              </a:rPr>
              <a:t> </a:t>
            </a:r>
            <a:r>
              <a:rPr sz="1600" i="0" b="0">
                <a:solidFill>
                  <a:srgbClr val="D4D4D4"/>
                </a:solidFill>
                <a:latin typeface="Consolas"/>
              </a:rPr>
              <a:t>panelSuperior</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JPanel</a:t>
            </a:r>
            <a:r>
              <a:rPr sz="1600" i="0" b="0">
                <a:solidFill>
                  <a:srgbClr val="D4D4D4"/>
                </a:solidFill>
                <a:latin typeface="Consolas"/>
              </a:rPr>
              <a:t>();           </a:t>
            </a:r>
            <a:r>
              <a:rPr sz="1600" i="1" b="0">
                <a:solidFill>
                  <a:srgbClr val="6A9955"/>
                </a:solidFill>
                <a:latin typeface="Consolas"/>
              </a:rPr>
              <a:t>// FlowLayout por defecto</a:t>
            </a:r>
          </a:p>
          <a:p>
            <a:pPr>
              <a:spcAft>
                <a:spcPts val="342"/>
              </a:spcAft>
            </a:pPr>
            <a:r>
              <a:rPr sz="1600" i="0" b="0">
                <a:solidFill>
                  <a:srgbClr val="DCDCAA"/>
                </a:solidFill>
                <a:latin typeface="Consolas"/>
              </a:rPr>
              <a:t>panelSuperior.add</a:t>
            </a:r>
            <a:r>
              <a:rPr sz="1600" i="0" b="0">
                <a:solidFill>
                  <a:srgbClr val="D4D4D4"/>
                </a:solidFill>
                <a:latin typeface="Consolas"/>
              </a:rPr>
              <a:t>(</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JLabel</a:t>
            </a:r>
            <a:r>
              <a:rPr sz="1600" i="0" b="0">
                <a:solidFill>
                  <a:srgbClr val="D4D4D4"/>
                </a:solidFill>
                <a:latin typeface="Consolas"/>
              </a:rPr>
              <a:t>(</a:t>
            </a:r>
            <a:r>
              <a:rPr sz="1600" i="0" b="0">
                <a:solidFill>
                  <a:srgbClr val="CE9178"/>
                </a:solidFill>
                <a:latin typeface="Consolas"/>
              </a:rPr>
              <a:t>"ID de la mascota:"</a:t>
            </a:r>
            <a:r>
              <a:rPr sz="1600" i="0" b="0">
                <a:solidFill>
                  <a:srgbClr val="D4D4D4"/>
                </a:solidFill>
                <a:latin typeface="Consolas"/>
              </a:rPr>
              <a:t>));</a:t>
            </a:r>
          </a:p>
          <a:p>
            <a:pPr>
              <a:spcAft>
                <a:spcPts val="342"/>
              </a:spcAft>
            </a:pPr>
            <a:r>
              <a:rPr sz="1600" i="0" b="0">
                <a:solidFill>
                  <a:srgbClr val="DCDCAA"/>
                </a:solidFill>
                <a:latin typeface="Consolas"/>
              </a:rPr>
              <a:t>panelSuperior.add</a:t>
            </a:r>
            <a:r>
              <a:rPr sz="1600" i="0" b="0">
                <a:solidFill>
                  <a:srgbClr val="D4D4D4"/>
                </a:solidFill>
                <a:latin typeface="Consolas"/>
              </a:rPr>
              <a:t>(</a:t>
            </a:r>
            <a:r>
              <a:rPr sz="1600" i="0" b="0">
                <a:solidFill>
                  <a:srgbClr val="D4D4D4"/>
                </a:solidFill>
                <a:latin typeface="Consolas"/>
              </a:rPr>
              <a:t>txtId</a:t>
            </a:r>
            <a:r>
              <a:rPr sz="1600" i="0" b="0">
                <a:solidFill>
                  <a:srgbClr val="D4D4D4"/>
                </a:solidFill>
                <a:latin typeface="Consolas"/>
              </a:rPr>
              <a:t>);</a:t>
            </a:r>
          </a:p>
          <a:p>
            <a:pPr>
              <a:spcAft>
                <a:spcPts val="342"/>
              </a:spcAft>
            </a:pPr>
            <a:r>
              <a:rPr sz="1600" i="0" b="0">
                <a:solidFill>
                  <a:srgbClr val="DCDCAA"/>
                </a:solidFill>
                <a:latin typeface="Consolas"/>
              </a:rPr>
              <a:t>panelSuperior.add</a:t>
            </a:r>
            <a:r>
              <a:rPr sz="1600" i="0" b="0">
                <a:solidFill>
                  <a:srgbClr val="D4D4D4"/>
                </a:solidFill>
                <a:latin typeface="Consolas"/>
              </a:rPr>
              <a:t>(</a:t>
            </a:r>
            <a:r>
              <a:rPr sz="1600" i="0" b="0">
                <a:solidFill>
                  <a:srgbClr val="D4D4D4"/>
                </a:solidFill>
                <a:latin typeface="Consolas"/>
              </a:rPr>
              <a:t>btnBuscar</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CDCAA"/>
                </a:solidFill>
                <a:latin typeface="Consolas"/>
              </a:rPr>
              <a:t>lblResultado.setFont</a:t>
            </a:r>
            <a:r>
              <a:rPr sz="1600" i="0" b="0">
                <a:solidFill>
                  <a:srgbClr val="D4D4D4"/>
                </a:solidFill>
                <a:latin typeface="Consolas"/>
              </a:rPr>
              <a:t>(</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Font</a:t>
            </a:r>
            <a:r>
              <a:rPr sz="1600" i="0" b="0">
                <a:solidFill>
                  <a:srgbClr val="D4D4D4"/>
                </a:solidFill>
                <a:latin typeface="Consolas"/>
              </a:rPr>
              <a:t>(</a:t>
            </a:r>
            <a:r>
              <a:rPr sz="1600" i="0" b="0">
                <a:solidFill>
                  <a:srgbClr val="CE9178"/>
                </a:solidFill>
                <a:latin typeface="Consolas"/>
              </a:rPr>
              <a:t>"SansSerif"</a:t>
            </a:r>
            <a:r>
              <a:rPr sz="1600" i="0" b="0">
                <a:solidFill>
                  <a:srgbClr val="D4D4D4"/>
                </a:solidFill>
                <a:latin typeface="Consolas"/>
              </a:rPr>
              <a:t>, </a:t>
            </a:r>
            <a:r>
              <a:rPr sz="1600" i="0" b="0">
                <a:solidFill>
                  <a:srgbClr val="D4D4D4"/>
                </a:solidFill>
                <a:latin typeface="Consolas"/>
              </a:rPr>
              <a:t>Font</a:t>
            </a:r>
            <a:r>
              <a:rPr sz="1600" i="0" b="0">
                <a:solidFill>
                  <a:srgbClr val="D4D4D4"/>
                </a:solidFill>
                <a:latin typeface="Consolas"/>
              </a:rPr>
              <a:t>.</a:t>
            </a:r>
            <a:r>
              <a:rPr sz="1600" i="0" b="0">
                <a:solidFill>
                  <a:srgbClr val="D4D4D4"/>
                </a:solidFill>
                <a:latin typeface="Consolas"/>
              </a:rPr>
              <a:t>PLAIN</a:t>
            </a:r>
            <a:r>
              <a:rPr sz="1600" i="0" b="0">
                <a:solidFill>
                  <a:srgbClr val="D4D4D4"/>
                </a:solidFill>
                <a:latin typeface="Consolas"/>
              </a:rPr>
              <a:t>, </a:t>
            </a:r>
            <a:r>
              <a:rPr sz="1600" i="0" b="0">
                <a:solidFill>
                  <a:srgbClr val="B5CEA8"/>
                </a:solidFill>
                <a:latin typeface="Consolas"/>
              </a:rPr>
              <a:t>14</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JLabel</a:t>
            </a:r>
            <a:r>
              <a:rPr sz="1600" i="0" b="0">
                <a:solidFill>
                  <a:srgbClr val="D4D4D4"/>
                </a:solidFill>
                <a:latin typeface="Consolas"/>
              </a:rPr>
              <a:t> </a:t>
            </a:r>
            <a:r>
              <a:rPr sz="1600" i="0" b="0">
                <a:solidFill>
                  <a:srgbClr val="D4D4D4"/>
                </a:solidFill>
                <a:latin typeface="Consolas"/>
              </a:rPr>
              <a:t>pie</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JLabel</a:t>
            </a:r>
            <a:r>
              <a:rPr sz="1600" i="0" b="0">
                <a:solidFill>
                  <a:srgbClr val="D4D4D4"/>
                </a:solidFill>
                <a:latin typeface="Consolas"/>
              </a:rPr>
              <a:t>(</a:t>
            </a:r>
            <a:r>
              <a:rPr sz="1600" i="0" b="0">
                <a:solidFill>
                  <a:srgbClr val="CE9178"/>
                </a:solidFill>
                <a:latin typeface="Consolas"/>
              </a:rPr>
              <a:t>"Expedientes cargados: "</a:t>
            </a:r>
            <a:r>
              <a:rPr sz="1600" i="0" b="0">
                <a:solidFill>
                  <a:srgbClr val="D4D4D4"/>
                </a:solidFill>
                <a:latin typeface="Consolas"/>
              </a:rPr>
              <a:t> + </a:t>
            </a:r>
            <a:r>
              <a:rPr sz="1600" i="0" b="0">
                <a:solidFill>
                  <a:srgbClr val="DCDCAA"/>
                </a:solidFill>
                <a:latin typeface="Consolas"/>
              </a:rPr>
              <a:t>expedientes.size</a:t>
            </a:r>
            <a:r>
              <a:rPr sz="1600" i="0" b="0">
                <a:solidFill>
                  <a:srgbClr val="D4D4D4"/>
                </a:solidFill>
                <a:latin typeface="Consolas"/>
              </a:rPr>
              <a:t>()</a:t>
            </a:r>
          </a:p>
          <a:p>
            <a:pPr>
              <a:spcAft>
                <a:spcPts val="342"/>
              </a:spcAft>
            </a:pPr>
            <a:r>
              <a:rPr sz="1600" i="0" b="0">
                <a:solidFill>
                  <a:srgbClr val="D4D4D4"/>
                </a:solidFill>
                <a:latin typeface="Consolas"/>
              </a:rPr>
              <a:t>        + </a:t>
            </a:r>
            <a:r>
              <a:rPr sz="1600" i="0" b="0">
                <a:solidFill>
                  <a:srgbClr val="CE9178"/>
                </a:solidFill>
                <a:latin typeface="Consolas"/>
              </a:rPr>
              <a:t>"  |  Razas distintas: "</a:t>
            </a:r>
            <a:r>
              <a:rPr sz="1600" i="0" b="0">
                <a:solidFill>
                  <a:srgbClr val="D4D4D4"/>
                </a:solidFill>
                <a:latin typeface="Consolas"/>
              </a:rPr>
              <a:t> + </a:t>
            </a:r>
            <a:r>
              <a:rPr sz="1600" i="0" b="0">
                <a:solidFill>
                  <a:srgbClr val="DCDCAA"/>
                </a:solidFill>
                <a:latin typeface="Consolas"/>
              </a:rPr>
              <a:t>razas.size</a:t>
            </a:r>
            <a:r>
              <a:rPr sz="1600" i="0" b="0">
                <a:solidFill>
                  <a:srgbClr val="D4D4D4"/>
                </a:solidFill>
                <a:latin typeface="Consolas"/>
              </a:rPr>
              <a:t>(), </a:t>
            </a:r>
            <a:r>
              <a:rPr sz="1600" i="0" b="0">
                <a:solidFill>
                  <a:srgbClr val="D4D4D4"/>
                </a:solidFill>
                <a:latin typeface="Consolas"/>
              </a:rPr>
              <a:t>SwingConstants</a:t>
            </a:r>
            <a:r>
              <a:rPr sz="1600" i="0" b="0">
                <a:solidFill>
                  <a:srgbClr val="D4D4D4"/>
                </a:solidFill>
                <a:latin typeface="Consolas"/>
              </a:rPr>
              <a:t>.</a:t>
            </a:r>
            <a:r>
              <a:rPr sz="1600" i="0" b="0">
                <a:solidFill>
                  <a:srgbClr val="D4D4D4"/>
                </a:solidFill>
                <a:latin typeface="Consolas"/>
              </a:rPr>
              <a:t>CENTER</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CDCAA"/>
                </a:solidFill>
                <a:latin typeface="Consolas"/>
              </a:rPr>
              <a:t>setLayout</a:t>
            </a:r>
            <a:r>
              <a:rPr sz="1600" i="0" b="0">
                <a:solidFill>
                  <a:srgbClr val="D4D4D4"/>
                </a:solidFill>
                <a:latin typeface="Consolas"/>
              </a:rPr>
              <a:t>(</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BorderLayout</a:t>
            </a:r>
            <a:r>
              <a:rPr sz="1600" i="0" b="0">
                <a:solidFill>
                  <a:srgbClr val="D4D4D4"/>
                </a:solidFill>
                <a:latin typeface="Consolas"/>
              </a:rPr>
              <a:t>(</a:t>
            </a:r>
            <a:r>
              <a:rPr sz="1600" i="0" b="0">
                <a:solidFill>
                  <a:srgbClr val="B5CEA8"/>
                </a:solidFill>
                <a:latin typeface="Consolas"/>
              </a:rPr>
              <a:t>10</a:t>
            </a:r>
            <a:r>
              <a:rPr sz="1600" i="0" b="0">
                <a:solidFill>
                  <a:srgbClr val="D4D4D4"/>
                </a:solidFill>
                <a:latin typeface="Consolas"/>
              </a:rPr>
              <a:t>, </a:t>
            </a:r>
            <a:r>
              <a:rPr sz="1600" i="0" b="0">
                <a:solidFill>
                  <a:srgbClr val="B5CEA8"/>
                </a:solidFill>
                <a:latin typeface="Consolas"/>
              </a:rPr>
              <a:t>10</a:t>
            </a:r>
            <a:r>
              <a:rPr sz="1600" i="0" b="0">
                <a:solidFill>
                  <a:srgbClr val="D4D4D4"/>
                </a:solidFill>
                <a:latin typeface="Consolas"/>
              </a:rPr>
              <a:t>));           </a:t>
            </a:r>
            <a:r>
              <a:rPr sz="1600" i="1" b="0">
                <a:solidFill>
                  <a:srgbClr val="6A9955"/>
                </a:solidFill>
                <a:latin typeface="Consolas"/>
              </a:rPr>
              <a:t>// el JFrame usa BorderLayout</a:t>
            </a:r>
          </a:p>
          <a:p>
            <a:pPr>
              <a:spcAft>
                <a:spcPts val="342"/>
              </a:spcAft>
            </a:pPr>
            <a:r>
              <a:rPr sz="1600" i="0" b="0">
                <a:solidFill>
                  <a:srgbClr val="DCDCAA"/>
                </a:solidFill>
                <a:latin typeface="Consolas"/>
              </a:rPr>
              <a:t>add</a:t>
            </a:r>
            <a:r>
              <a:rPr sz="1600" i="0" b="0">
                <a:solidFill>
                  <a:srgbClr val="D4D4D4"/>
                </a:solidFill>
                <a:latin typeface="Consolas"/>
              </a:rPr>
              <a:t>(</a:t>
            </a:r>
            <a:r>
              <a:rPr sz="1600" i="0" b="0">
                <a:solidFill>
                  <a:srgbClr val="D4D4D4"/>
                </a:solidFill>
                <a:latin typeface="Consolas"/>
              </a:rPr>
              <a:t>panelSuperior</a:t>
            </a:r>
            <a:r>
              <a:rPr sz="1600" i="0" b="0">
                <a:solidFill>
                  <a:srgbClr val="D4D4D4"/>
                </a:solidFill>
                <a:latin typeface="Consolas"/>
              </a:rPr>
              <a:t>, </a:t>
            </a:r>
            <a:r>
              <a:rPr sz="1600" i="0" b="0">
                <a:solidFill>
                  <a:srgbClr val="D4D4D4"/>
                </a:solidFill>
                <a:latin typeface="Consolas"/>
              </a:rPr>
              <a:t>BorderLayout</a:t>
            </a:r>
            <a:r>
              <a:rPr sz="1600" i="0" b="0">
                <a:solidFill>
                  <a:srgbClr val="D4D4D4"/>
                </a:solidFill>
                <a:latin typeface="Consolas"/>
              </a:rPr>
              <a:t>.</a:t>
            </a:r>
            <a:r>
              <a:rPr sz="1600" i="0" b="0">
                <a:solidFill>
                  <a:srgbClr val="D4D4D4"/>
                </a:solidFill>
                <a:latin typeface="Consolas"/>
              </a:rPr>
              <a:t>NORTH</a:t>
            </a:r>
            <a:r>
              <a:rPr sz="1600" i="0" b="0">
                <a:solidFill>
                  <a:srgbClr val="D4D4D4"/>
                </a:solidFill>
                <a:latin typeface="Consolas"/>
              </a:rPr>
              <a:t>);</a:t>
            </a:r>
          </a:p>
          <a:p>
            <a:pPr>
              <a:spcAft>
                <a:spcPts val="342"/>
              </a:spcAft>
            </a:pPr>
            <a:r>
              <a:rPr sz="1600" i="0" b="0">
                <a:solidFill>
                  <a:srgbClr val="DCDCAA"/>
                </a:solidFill>
                <a:latin typeface="Consolas"/>
              </a:rPr>
              <a:t>add</a:t>
            </a:r>
            <a:r>
              <a:rPr sz="1600" i="0" b="0">
                <a:solidFill>
                  <a:srgbClr val="D4D4D4"/>
                </a:solidFill>
                <a:latin typeface="Consolas"/>
              </a:rPr>
              <a:t>(</a:t>
            </a:r>
            <a:r>
              <a:rPr sz="1600" i="0" b="0">
                <a:solidFill>
                  <a:srgbClr val="D4D4D4"/>
                </a:solidFill>
                <a:latin typeface="Consolas"/>
              </a:rPr>
              <a:t>lblResultado</a:t>
            </a:r>
            <a:r>
              <a:rPr sz="1600" i="0" b="0">
                <a:solidFill>
                  <a:srgbClr val="D4D4D4"/>
                </a:solidFill>
                <a:latin typeface="Consolas"/>
              </a:rPr>
              <a:t>, </a:t>
            </a:r>
            <a:r>
              <a:rPr sz="1600" i="0" b="0">
                <a:solidFill>
                  <a:srgbClr val="D4D4D4"/>
                </a:solidFill>
                <a:latin typeface="Consolas"/>
              </a:rPr>
              <a:t>BorderLayout</a:t>
            </a:r>
            <a:r>
              <a:rPr sz="1600" i="0" b="0">
                <a:solidFill>
                  <a:srgbClr val="D4D4D4"/>
                </a:solidFill>
                <a:latin typeface="Consolas"/>
              </a:rPr>
              <a:t>.</a:t>
            </a:r>
            <a:r>
              <a:rPr sz="1600" i="0" b="0">
                <a:solidFill>
                  <a:srgbClr val="D4D4D4"/>
                </a:solidFill>
                <a:latin typeface="Consolas"/>
              </a:rPr>
              <a:t>CENTER</a:t>
            </a:r>
            <a:r>
              <a:rPr sz="1600" i="0" b="0">
                <a:solidFill>
                  <a:srgbClr val="D4D4D4"/>
                </a:solidFill>
                <a:latin typeface="Consolas"/>
              </a:rPr>
              <a:t>);</a:t>
            </a:r>
          </a:p>
          <a:p>
            <a:pPr>
              <a:spcAft>
                <a:spcPts val="342"/>
              </a:spcAft>
            </a:pPr>
            <a:r>
              <a:rPr sz="1600" i="0" b="0">
                <a:solidFill>
                  <a:srgbClr val="DCDCAA"/>
                </a:solidFill>
                <a:latin typeface="Consolas"/>
              </a:rPr>
              <a:t>add</a:t>
            </a:r>
            <a:r>
              <a:rPr sz="1600" i="0" b="0">
                <a:solidFill>
                  <a:srgbClr val="D4D4D4"/>
                </a:solidFill>
                <a:latin typeface="Consolas"/>
              </a:rPr>
              <a:t>(</a:t>
            </a:r>
            <a:r>
              <a:rPr sz="1600" i="0" b="0">
                <a:solidFill>
                  <a:srgbClr val="D4D4D4"/>
                </a:solidFill>
                <a:latin typeface="Consolas"/>
              </a:rPr>
              <a:t>pie</a:t>
            </a:r>
            <a:r>
              <a:rPr sz="1600" i="0" b="0">
                <a:solidFill>
                  <a:srgbClr val="D4D4D4"/>
                </a:solidFill>
                <a:latin typeface="Consolas"/>
              </a:rPr>
              <a:t>, </a:t>
            </a:r>
            <a:r>
              <a:rPr sz="1600" i="0" b="0">
                <a:solidFill>
                  <a:srgbClr val="D4D4D4"/>
                </a:solidFill>
                <a:latin typeface="Consolas"/>
              </a:rPr>
              <a:t>BorderLayout</a:t>
            </a:r>
            <a:r>
              <a:rPr sz="1600" i="0" b="0">
                <a:solidFill>
                  <a:srgbClr val="D4D4D4"/>
                </a:solidFill>
                <a:latin typeface="Consolas"/>
              </a:rPr>
              <a:t>.</a:t>
            </a:r>
            <a:r>
              <a:rPr sz="1600" i="0" b="0">
                <a:solidFill>
                  <a:srgbClr val="D4D4D4"/>
                </a:solidFill>
                <a:latin typeface="Consolas"/>
              </a:rPr>
              <a:t>SOUTH</a:t>
            </a: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evento, el cierre y el arranque en el EDT</a:t>
            </a:r>
          </a:p>
        </p:txBody>
      </p:sp>
      <p:sp>
        <p:nvSpPr>
          <p:cNvPr id="5" name="Rounded Rectangle 4"/>
          <p:cNvSpPr/>
          <p:nvPr/>
        </p:nvSpPr>
        <p:spPr>
          <a:xfrm>
            <a:off x="457200" y="1261872"/>
            <a:ext cx="11277295" cy="46929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098547"/>
          </a:xfrm>
          <a:prstGeom prst="rect">
            <a:avLst/>
          </a:prstGeom>
          <a:noFill/>
        </p:spPr>
        <p:txBody>
          <a:bodyPr wrap="square">
            <a:spAutoFit/>
          </a:bodyPr>
          <a:lstStyle/>
          <a:p>
            <a:pPr>
              <a:spcAft>
                <a:spcPts val="407"/>
              </a:spcAft>
            </a:pPr>
            <a:r>
              <a:rPr sz="1900" i="0" b="0">
                <a:solidFill>
                  <a:srgbClr val="DCDCAA"/>
                </a:solidFill>
                <a:latin typeface="Consolas"/>
              </a:rPr>
              <a:t>btnBuscar.addActionListener</a:t>
            </a:r>
            <a:r>
              <a:rPr sz="1900" i="0" b="0">
                <a:solidFill>
                  <a:srgbClr val="D4D4D4"/>
                </a:solidFill>
                <a:latin typeface="Consolas"/>
              </a:rPr>
              <a:t>(</a:t>
            </a:r>
            <a:r>
              <a:rPr sz="1900" i="0" b="0">
                <a:solidFill>
                  <a:srgbClr val="D4D4D4"/>
                </a:solidFill>
                <a:latin typeface="Consolas"/>
              </a:rPr>
              <a:t>e</a:t>
            </a:r>
            <a:r>
              <a:rPr sz="1900" i="0" b="0">
                <a:solidFill>
                  <a:srgbClr val="D4D4D4"/>
                </a:solidFill>
                <a:latin typeface="Consolas"/>
              </a:rPr>
              <a:t> -&gt; </a:t>
            </a:r>
            <a:r>
              <a:rPr sz="1900" i="0" b="0">
                <a:solidFill>
                  <a:srgbClr val="DCDCAA"/>
                </a:solidFill>
                <a:latin typeface="Consolas"/>
              </a:rPr>
              <a:t>buscar</a:t>
            </a:r>
            <a:r>
              <a:rPr sz="1900" i="0" b="0">
                <a:solidFill>
                  <a:srgbClr val="D4D4D4"/>
                </a:solidFill>
                <a:latin typeface="Consolas"/>
              </a:rPr>
              <a:t>());    </a:t>
            </a:r>
            <a:r>
              <a:rPr sz="1900" i="1" b="0">
                <a:solidFill>
                  <a:srgbClr val="6A9955"/>
                </a:solidFill>
                <a:latin typeface="Consolas"/>
              </a:rPr>
              <a:t>// el evento solo delega</a:t>
            </a:r>
          </a:p>
          <a:p>
            <a:pPr>
              <a:spcAft>
                <a:spcPts val="407"/>
              </a:spcAft>
            </a:pPr>
            <a:r>
              <a:rPr sz="1900" i="0" b="0">
                <a:solidFill>
                  <a:srgbClr val="DCDCAA"/>
                </a:solidFill>
                <a:latin typeface="Consolas"/>
              </a:rPr>
              <a:t>txtId.addActionListener</a:t>
            </a:r>
            <a:r>
              <a:rPr sz="1900" i="0" b="0">
                <a:solidFill>
                  <a:srgbClr val="D4D4D4"/>
                </a:solidFill>
                <a:latin typeface="Consolas"/>
              </a:rPr>
              <a:t>(</a:t>
            </a:r>
            <a:r>
              <a:rPr sz="1900" i="0" b="0">
                <a:solidFill>
                  <a:srgbClr val="D4D4D4"/>
                </a:solidFill>
                <a:latin typeface="Consolas"/>
              </a:rPr>
              <a:t>e</a:t>
            </a:r>
            <a:r>
              <a:rPr sz="1900" i="0" b="0">
                <a:solidFill>
                  <a:srgbClr val="D4D4D4"/>
                </a:solidFill>
                <a:latin typeface="Consolas"/>
              </a:rPr>
              <a:t> -&gt; </a:t>
            </a:r>
            <a:r>
              <a:rPr sz="1900" i="0" b="0">
                <a:solidFill>
                  <a:srgbClr val="DCDCAA"/>
                </a:solidFill>
                <a:latin typeface="Consolas"/>
              </a:rPr>
              <a:t>buscar</a:t>
            </a:r>
            <a:r>
              <a:rPr sz="1900" i="0" b="0">
                <a:solidFill>
                  <a:srgbClr val="D4D4D4"/>
                </a:solidFill>
                <a:latin typeface="Consolas"/>
              </a:rPr>
              <a:t>());        </a:t>
            </a:r>
            <a:r>
              <a:rPr sz="1900" i="1" b="0">
                <a:solidFill>
                  <a:srgbClr val="6A9955"/>
                </a:solidFill>
                <a:latin typeface="Consolas"/>
              </a:rPr>
              <a:t>// Enter tambien busca</a:t>
            </a:r>
          </a:p>
          <a:p>
            <a:pPr>
              <a:spcAft>
                <a:spcPts val="407"/>
              </a:spcAft>
            </a:pPr>
            <a:r>
              <a:rPr sz="1900" i="0" b="0">
                <a:solidFill>
                  <a:srgbClr val="D4D4D4"/>
                </a:solidFill>
                <a:latin typeface="Consolas"/>
              </a:rPr>
              <a:t/>
            </a:r>
          </a:p>
          <a:p>
            <a:pPr>
              <a:spcAft>
                <a:spcPts val="407"/>
              </a:spcAft>
            </a:pPr>
            <a:r>
              <a:rPr sz="1900" i="0" b="0">
                <a:solidFill>
                  <a:srgbClr val="DCDCAA"/>
                </a:solidFill>
                <a:latin typeface="Consolas"/>
              </a:rPr>
              <a:t>setDefaultCloseOperation</a:t>
            </a:r>
            <a:r>
              <a:rPr sz="1900" i="0" b="0">
                <a:solidFill>
                  <a:srgbClr val="D4D4D4"/>
                </a:solidFill>
                <a:latin typeface="Consolas"/>
              </a:rPr>
              <a:t>(</a:t>
            </a:r>
            <a:r>
              <a:rPr sz="1900" i="0" b="0">
                <a:solidFill>
                  <a:srgbClr val="D4D4D4"/>
                </a:solidFill>
                <a:latin typeface="Consolas"/>
              </a:rPr>
              <a:t>JFrame</a:t>
            </a:r>
            <a:r>
              <a:rPr sz="1900" i="0" b="0">
                <a:solidFill>
                  <a:srgbClr val="D4D4D4"/>
                </a:solidFill>
                <a:latin typeface="Consolas"/>
              </a:rPr>
              <a:t>.</a:t>
            </a:r>
            <a:r>
              <a:rPr sz="1900" i="0" b="0">
                <a:solidFill>
                  <a:srgbClr val="D4D4D4"/>
                </a:solidFill>
                <a:latin typeface="Consolas"/>
              </a:rPr>
              <a:t>EXIT_ON_CLOSE</a:t>
            </a:r>
            <a:r>
              <a:rPr sz="1900" i="0" b="0">
                <a:solidFill>
                  <a:srgbClr val="D4D4D4"/>
                </a:solidFill>
                <a:latin typeface="Consolas"/>
              </a:rPr>
              <a:t>);</a:t>
            </a:r>
          </a:p>
          <a:p>
            <a:pPr>
              <a:spcAft>
                <a:spcPts val="407"/>
              </a:spcAft>
            </a:pPr>
            <a:r>
              <a:rPr sz="1900" i="0" b="0">
                <a:solidFill>
                  <a:srgbClr val="DCDCAA"/>
                </a:solidFill>
                <a:latin typeface="Consolas"/>
              </a:rPr>
              <a:t>setSize</a:t>
            </a:r>
            <a:r>
              <a:rPr sz="1900" i="0" b="0">
                <a:solidFill>
                  <a:srgbClr val="D4D4D4"/>
                </a:solidFill>
                <a:latin typeface="Consolas"/>
              </a:rPr>
              <a:t>(</a:t>
            </a:r>
            <a:r>
              <a:rPr sz="1900" i="0" b="0">
                <a:solidFill>
                  <a:srgbClr val="B5CEA8"/>
                </a:solidFill>
                <a:latin typeface="Consolas"/>
              </a:rPr>
              <a:t>600</a:t>
            </a:r>
            <a:r>
              <a:rPr sz="1900" i="0" b="0">
                <a:solidFill>
                  <a:srgbClr val="D4D4D4"/>
                </a:solidFill>
                <a:latin typeface="Consolas"/>
              </a:rPr>
              <a:t>, </a:t>
            </a:r>
            <a:r>
              <a:rPr sz="1900" i="0" b="0">
                <a:solidFill>
                  <a:srgbClr val="B5CEA8"/>
                </a:solidFill>
                <a:latin typeface="Consolas"/>
              </a:rPr>
              <a:t>230</a:t>
            </a:r>
            <a:r>
              <a:rPr sz="1900" i="0" b="0">
                <a:solidFill>
                  <a:srgbClr val="D4D4D4"/>
                </a:solidFill>
                <a:latin typeface="Consolas"/>
              </a:rPr>
              <a:t>);</a:t>
            </a:r>
          </a:p>
          <a:p>
            <a:pPr>
              <a:spcAft>
                <a:spcPts val="407"/>
              </a:spcAft>
            </a:pPr>
            <a:r>
              <a:rPr sz="1900" i="0" b="0">
                <a:solidFill>
                  <a:srgbClr val="DCDCAA"/>
                </a:solidFill>
                <a:latin typeface="Consolas"/>
              </a:rPr>
              <a:t>setLocationRelativeTo</a:t>
            </a:r>
            <a:r>
              <a:rPr sz="1900" i="0" b="0">
                <a:solidFill>
                  <a:srgbClr val="D4D4D4"/>
                </a:solidFill>
                <a:latin typeface="Consolas"/>
              </a:rPr>
              <a:t>(</a:t>
            </a:r>
            <a:r>
              <a:rPr sz="1900" i="0" b="0">
                <a:solidFill>
                  <a:srgbClr val="569CD6"/>
                </a:solidFill>
                <a:latin typeface="Consolas"/>
              </a:rPr>
              <a:t>null</a:t>
            </a:r>
            <a:r>
              <a:rPr sz="1900" i="0" b="0">
                <a:solidFill>
                  <a:srgbClr val="D4D4D4"/>
                </a:solidFill>
                <a:latin typeface="Consolas"/>
              </a:rPr>
              <a:t>);                   </a:t>
            </a:r>
            <a:r>
              <a:rPr sz="1900" i="1" b="0">
                <a:solidFill>
                  <a:srgbClr val="6A9955"/>
                </a:solidFill>
                <a:latin typeface="Consolas"/>
              </a:rPr>
              <a:t>// centrada en pantalla</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569CD6"/>
                </a:solidFill>
                <a:latin typeface="Consolas"/>
              </a:rPr>
              <a:t>static</a:t>
            </a:r>
            <a:r>
              <a:rPr sz="1900" i="0" b="0">
                <a:solidFill>
                  <a:srgbClr val="D4D4D4"/>
                </a:solidFill>
                <a:latin typeface="Consolas"/>
              </a:rPr>
              <a:t> </a:t>
            </a:r>
            <a:r>
              <a:rPr sz="1900" i="0" b="0">
                <a:solidFill>
                  <a:srgbClr val="569CD6"/>
                </a:solidFill>
                <a:latin typeface="Consolas"/>
              </a:rPr>
              <a:t>void</a:t>
            </a:r>
            <a:r>
              <a:rPr sz="1900" i="0" b="0">
                <a:solidFill>
                  <a:srgbClr val="D4D4D4"/>
                </a:solidFill>
                <a:latin typeface="Consolas"/>
              </a:rPr>
              <a:t> </a:t>
            </a:r>
            <a:r>
              <a:rPr sz="1900" i="0" b="0">
                <a:solidFill>
                  <a:srgbClr val="DCDCAA"/>
                </a:solidFill>
                <a:latin typeface="Consolas"/>
              </a:rPr>
              <a:t>main</a:t>
            </a:r>
            <a:r>
              <a:rPr sz="1900" i="0" b="0">
                <a:solidFill>
                  <a:srgbClr val="D4D4D4"/>
                </a:solidFill>
                <a:latin typeface="Consolas"/>
              </a:rPr>
              <a:t>(</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args</a:t>
            </a:r>
            <a:r>
              <a:rPr sz="1900" i="0" b="0">
                <a:solidFill>
                  <a:srgbClr val="D4D4D4"/>
                </a:solidFill>
                <a:latin typeface="Consolas"/>
              </a:rPr>
              <a:t>) {</a:t>
            </a:r>
          </a:p>
          <a:p>
            <a:pPr>
              <a:spcAft>
                <a:spcPts val="407"/>
              </a:spcAft>
            </a:pPr>
            <a:r>
              <a:rPr sz="1900" i="0" b="0">
                <a:solidFill>
                  <a:srgbClr val="D4D4D4"/>
                </a:solidFill>
                <a:latin typeface="Consolas"/>
              </a:rPr>
              <a:t>    </a:t>
            </a:r>
            <a:r>
              <a:rPr sz="1900" i="1" b="0">
                <a:solidFill>
                  <a:srgbClr val="6A9955"/>
                </a:solidFill>
                <a:latin typeface="Consolas"/>
              </a:rPr>
              <a:t>// La interfaz se construye en el hilo de eventos de Swing (EDT)</a:t>
            </a:r>
          </a:p>
          <a:p>
            <a:pPr>
              <a:spcAft>
                <a:spcPts val="407"/>
              </a:spcAft>
            </a:pPr>
            <a:r>
              <a:rPr sz="1900" i="0" b="0">
                <a:solidFill>
                  <a:srgbClr val="D4D4D4"/>
                </a:solidFill>
                <a:latin typeface="Consolas"/>
              </a:rPr>
              <a:t>    </a:t>
            </a:r>
            <a:r>
              <a:rPr sz="1900" i="0" b="0">
                <a:solidFill>
                  <a:srgbClr val="DCDCAA"/>
                </a:solidFill>
                <a:latin typeface="Consolas"/>
              </a:rPr>
              <a:t>SwingUtilities.invokeLater</a:t>
            </a:r>
            <a:r>
              <a:rPr sz="1900" i="0" b="0">
                <a:solidFill>
                  <a:srgbClr val="D4D4D4"/>
                </a:solidFill>
                <a:latin typeface="Consolas"/>
              </a:rPr>
              <a:t>(() -&gt; </a:t>
            </a:r>
            <a:r>
              <a:rPr sz="1900" i="0" b="0">
                <a:solidFill>
                  <a:srgbClr val="569CD6"/>
                </a:solidFill>
                <a:latin typeface="Consolas"/>
              </a:rPr>
              <a:t>new</a:t>
            </a:r>
            <a:r>
              <a:rPr sz="1900" i="0" b="0">
                <a:solidFill>
                  <a:srgbClr val="D4D4D4"/>
                </a:solidFill>
                <a:latin typeface="Consolas"/>
              </a:rPr>
              <a:t> </a:t>
            </a:r>
            <a:r>
              <a:rPr sz="1900" i="0" b="0">
                <a:solidFill>
                  <a:srgbClr val="4EC9B0"/>
                </a:solidFill>
                <a:latin typeface="Consolas"/>
              </a:rPr>
              <a:t>ClinicaBuscarExpediente</a:t>
            </a:r>
            <a:r>
              <a:rPr sz="1900" i="0" b="0">
                <a:solidFill>
                  <a:srgbClr val="D4D4D4"/>
                </a:solidFill>
                <a:latin typeface="Consolas"/>
              </a:rPr>
              <a:t>().</a:t>
            </a:r>
            <a:r>
              <a:rPr sz="1900" i="0" b="0">
                <a:solidFill>
                  <a:srgbClr val="DCDCAA"/>
                </a:solidFill>
                <a:latin typeface="Consolas"/>
              </a:rPr>
              <a:t>setVisible</a:t>
            </a:r>
            <a:r>
              <a:rPr sz="1900" i="0" b="0">
                <a:solidFill>
                  <a:srgbClr val="D4D4D4"/>
                </a:solidFill>
                <a:latin typeface="Consolas"/>
              </a:rPr>
              <a:t>(</a:t>
            </a:r>
            <a:r>
              <a:rPr sz="1900" i="0" b="0">
                <a:solidFill>
                  <a:srgbClr val="569CD6"/>
                </a:solidFill>
                <a:latin typeface="Consolas"/>
              </a:rPr>
              <a:t>true</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buscar(): get y el caso null</a:t>
            </a:r>
          </a:p>
        </p:txBody>
      </p:sp>
      <p:sp>
        <p:nvSpPr>
          <p:cNvPr id="5" name="Rounded Rectangle 4"/>
          <p:cNvSpPr/>
          <p:nvPr/>
        </p:nvSpPr>
        <p:spPr>
          <a:xfrm>
            <a:off x="457200" y="1261872"/>
            <a:ext cx="11277295" cy="46548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060447"/>
          </a:xfrm>
          <a:prstGeom prst="rect">
            <a:avLst/>
          </a:prstGeom>
          <a:noFill/>
        </p:spPr>
        <p:txBody>
          <a:bodyPr wrap="square">
            <a:spAutoFit/>
          </a:bodyPr>
          <a:lstStyle/>
          <a:p>
            <a:pPr>
              <a:spcAft>
                <a:spcPts val="407"/>
              </a:spcAft>
            </a:pP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e</a:t>
            </a:r>
            <a:r>
              <a:rPr sz="1900" i="0" b="0">
                <a:solidFill>
                  <a:srgbClr val="D4D4D4"/>
                </a:solidFill>
                <a:latin typeface="Consolas"/>
              </a:rPr>
              <a:t> = </a:t>
            </a:r>
            <a:r>
              <a:rPr sz="1900" i="0" b="0">
                <a:solidFill>
                  <a:srgbClr val="DCDCAA"/>
                </a:solidFill>
                <a:latin typeface="Consolas"/>
              </a:rPr>
              <a:t>expedientes.get</a:t>
            </a:r>
            <a:r>
              <a:rPr sz="1900" i="0" b="0">
                <a:solidFill>
                  <a:srgbClr val="D4D4D4"/>
                </a:solidFill>
                <a:latin typeface="Consolas"/>
              </a:rPr>
              <a:t>(</a:t>
            </a:r>
            <a:r>
              <a:rPr sz="1900" i="0" b="0">
                <a:solidFill>
                  <a:srgbClr val="D4D4D4"/>
                </a:solidFill>
                <a:latin typeface="Consolas"/>
              </a:rPr>
              <a:t>id</a:t>
            </a:r>
            <a:r>
              <a:rPr sz="1900" i="0" b="0">
                <a:solidFill>
                  <a:srgbClr val="D4D4D4"/>
                </a:solidFill>
                <a:latin typeface="Consolas"/>
              </a:rPr>
              <a:t>);        </a:t>
            </a:r>
            <a:r>
              <a:rPr sz="1900" i="1" b="0">
                <a:solidFill>
                  <a:srgbClr val="6A9955"/>
                </a:solidFill>
                <a:latin typeface="Consolas"/>
              </a:rPr>
              <a:t>// busqueda por clave, sin recorrer</a:t>
            </a:r>
          </a:p>
          <a:p>
            <a:pPr>
              <a:spcAft>
                <a:spcPts val="407"/>
              </a:spcAft>
            </a:pPr>
            <a:r>
              <a:rPr sz="1900" i="0" b="0">
                <a:solidFill>
                  <a:srgbClr val="569CD6"/>
                </a:solidFill>
                <a:latin typeface="Consolas"/>
              </a:rPr>
              <a:t>if</a:t>
            </a:r>
            <a:r>
              <a:rPr sz="1900" i="0" b="0">
                <a:solidFill>
                  <a:srgbClr val="D4D4D4"/>
                </a:solidFill>
                <a:latin typeface="Consolas"/>
              </a:rPr>
              <a:t> (</a:t>
            </a:r>
            <a:r>
              <a:rPr sz="1900" i="0" b="0">
                <a:solidFill>
                  <a:srgbClr val="D4D4D4"/>
                </a:solidFill>
                <a:latin typeface="Consolas"/>
              </a:rPr>
              <a:t>e</a:t>
            </a:r>
            <a:r>
              <a:rPr sz="1900" i="0" b="0">
                <a:solidFill>
                  <a:srgbClr val="D4D4D4"/>
                </a:solidFill>
                <a:latin typeface="Consolas"/>
              </a:rPr>
              <a:t> == </a:t>
            </a:r>
            <a:r>
              <a:rPr sz="1900" i="0" b="0">
                <a:solidFill>
                  <a:srgbClr val="569CD6"/>
                </a:solidFill>
                <a:latin typeface="Consolas"/>
              </a:rPr>
              <a:t>null</a:t>
            </a:r>
            <a:r>
              <a:rPr sz="1900" i="0" b="0">
                <a:solidFill>
                  <a:srgbClr val="D4D4D4"/>
                </a:solidFill>
                <a:latin typeface="Consolas"/>
              </a:rPr>
              <a:t>) {                           </a:t>
            </a:r>
            <a:r>
              <a:rPr sz="1900" i="1" b="0">
                <a:solidFill>
                  <a:srgbClr val="6A9955"/>
                </a:solidFill>
                <a:latin typeface="Consolas"/>
              </a:rPr>
              <a:t>// get devuelve null si no existe</a:t>
            </a:r>
          </a:p>
          <a:p>
            <a:pPr>
              <a:spcAft>
                <a:spcPts val="407"/>
              </a:spcAft>
            </a:pPr>
            <a:r>
              <a:rPr sz="1900" i="0" b="0">
                <a:solidFill>
                  <a:srgbClr val="D4D4D4"/>
                </a:solidFill>
                <a:latin typeface="Consolas"/>
              </a:rPr>
              <a:t>    </a:t>
            </a:r>
            <a:r>
              <a:rPr sz="1900" i="0" b="0">
                <a:solidFill>
                  <a:srgbClr val="DCDCAA"/>
                </a:solidFill>
                <a:latin typeface="Consolas"/>
              </a:rPr>
              <a:t>lblResultado.setText</a:t>
            </a:r>
            <a:r>
              <a:rPr sz="1900" i="0" b="0">
                <a:solidFill>
                  <a:srgbClr val="D4D4D4"/>
                </a:solidFill>
                <a:latin typeface="Consolas"/>
              </a:rPr>
              <a:t>(</a:t>
            </a:r>
            <a:r>
              <a:rPr sz="1900" i="0" b="0">
                <a:solidFill>
                  <a:srgbClr val="CE9178"/>
                </a:solidFill>
                <a:latin typeface="Consolas"/>
              </a:rPr>
              <a:t>"No existe expediente con ID "</a:t>
            </a:r>
            <a:r>
              <a:rPr sz="1900" i="0" b="0">
                <a:solidFill>
                  <a:srgbClr val="D4D4D4"/>
                </a:solidFill>
                <a:latin typeface="Consolas"/>
              </a:rPr>
              <a:t> + </a:t>
            </a:r>
            <a:r>
              <a:rPr sz="1900" i="0" b="0">
                <a:solidFill>
                  <a:srgbClr val="D4D4D4"/>
                </a:solidFill>
                <a:latin typeface="Consolas"/>
              </a:rPr>
              <a:t>id</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JOptionPane.showMessageDialog</a:t>
            </a:r>
            <a:r>
              <a:rPr sz="1900" i="0" b="0">
                <a:solidFill>
                  <a:srgbClr val="D4D4D4"/>
                </a:solidFill>
                <a:latin typeface="Consolas"/>
              </a:rPr>
              <a:t>(</a:t>
            </a:r>
            <a:r>
              <a:rPr sz="1900" i="0" b="0">
                <a:solidFill>
                  <a:srgbClr val="569CD6"/>
                </a:solidFill>
                <a:latin typeface="Consolas"/>
              </a:rPr>
              <a:t>this</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CE9178"/>
                </a:solidFill>
                <a:latin typeface="Consolas"/>
              </a:rPr>
              <a:t>"No existe expediente con ID "</a:t>
            </a:r>
            <a:r>
              <a:rPr sz="1900" i="0" b="0">
                <a:solidFill>
                  <a:srgbClr val="D4D4D4"/>
                </a:solidFill>
                <a:latin typeface="Consolas"/>
              </a:rPr>
              <a:t> + </a:t>
            </a:r>
            <a:r>
              <a:rPr sz="1900" i="0" b="0">
                <a:solidFill>
                  <a:srgbClr val="D4D4D4"/>
                </a:solidFill>
                <a:latin typeface="Consolas"/>
              </a:rPr>
              <a:t>id</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CE9178"/>
                </a:solidFill>
                <a:latin typeface="Consolas"/>
              </a:rPr>
              <a:t>"Sin resultados"</a:t>
            </a:r>
            <a:r>
              <a:rPr sz="1900" i="0" b="0">
                <a:solidFill>
                  <a:srgbClr val="D4D4D4"/>
                </a:solidFill>
                <a:latin typeface="Consolas"/>
              </a:rPr>
              <a:t>, </a:t>
            </a:r>
            <a:r>
              <a:rPr sz="1900" i="0" b="0">
                <a:solidFill>
                  <a:srgbClr val="D4D4D4"/>
                </a:solidFill>
                <a:latin typeface="Consolas"/>
              </a:rPr>
              <a:t>JOptionPane</a:t>
            </a:r>
            <a:r>
              <a:rPr sz="1900" i="0" b="0">
                <a:solidFill>
                  <a:srgbClr val="D4D4D4"/>
                </a:solidFill>
                <a:latin typeface="Consolas"/>
              </a:rPr>
              <a:t>.</a:t>
            </a:r>
            <a:r>
              <a:rPr sz="1900" i="0" b="0">
                <a:solidFill>
                  <a:srgbClr val="D4D4D4"/>
                </a:solidFill>
                <a:latin typeface="Consolas"/>
              </a:rPr>
              <a:t>WARNING_MESSAGE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return</a:t>
            </a:r>
            <a:r>
              <a:rPr sz="1900" i="0" b="0">
                <a:solidFill>
                  <a:srgbClr val="D4D4D4"/>
                </a:solidFill>
                <a:latin typeface="Consolas"/>
              </a:rPr>
              <a:t>;</a:t>
            </a:r>
          </a:p>
          <a:p>
            <a:pPr>
              <a:spcAft>
                <a:spcPts val="407"/>
              </a:spcAft>
            </a:pPr>
            <a:r>
              <a:rPr sz="1900" i="0" b="0">
                <a:solidFill>
                  <a:srgbClr val="D4D4D4"/>
                </a:solidFill>
                <a:latin typeface="Consolas"/>
              </a:rPr>
              <a:t>}</a:t>
            </a:r>
          </a:p>
          <a:p>
            <a:pPr>
              <a:spcAft>
                <a:spcPts val="407"/>
              </a:spcAft>
            </a:pPr>
            <a:r>
              <a:rPr sz="1900" i="0" b="0">
                <a:solidFill>
                  <a:srgbClr val="DCDCAA"/>
                </a:solidFill>
                <a:latin typeface="Consolas"/>
              </a:rPr>
              <a:t>lblResultado.setText</a:t>
            </a:r>
            <a:r>
              <a:rPr sz="1900" i="0" b="0">
                <a:solidFill>
                  <a:srgbClr val="D4D4D4"/>
                </a:solidFill>
                <a:latin typeface="Consolas"/>
              </a:rPr>
              <a:t>(</a:t>
            </a:r>
            <a:r>
              <a:rPr sz="1900" i="0" b="0">
                <a:solidFill>
                  <a:srgbClr val="CE9178"/>
                </a:solidFill>
                <a:latin typeface="Consolas"/>
              </a:rPr>
              <a:t>"&lt;html&gt;&lt;b&gt;"</a:t>
            </a:r>
            <a:r>
              <a:rPr sz="1900" i="0" b="0">
                <a:solidFill>
                  <a:srgbClr val="D4D4D4"/>
                </a:solidFill>
                <a:latin typeface="Consolas"/>
              </a:rPr>
              <a:t> + </a:t>
            </a:r>
            <a:r>
              <a:rPr sz="1900" i="0" b="0">
                <a:solidFill>
                  <a:srgbClr val="DCDCAA"/>
                </a:solidFill>
                <a:latin typeface="Consolas"/>
              </a:rPr>
              <a:t>e.getNombre</a:t>
            </a:r>
            <a:r>
              <a:rPr sz="1900" i="0" b="0">
                <a:solidFill>
                  <a:srgbClr val="D4D4D4"/>
                </a:solidFill>
                <a:latin typeface="Consolas"/>
              </a:rPr>
              <a:t>() + </a:t>
            </a:r>
            <a:r>
              <a:rPr sz="1900" i="0" b="0">
                <a:solidFill>
                  <a:srgbClr val="CE9178"/>
                </a:solidFill>
                <a:latin typeface="Consolas"/>
              </a:rPr>
              <a:t>"&lt;/b&gt; ("</a:t>
            </a:r>
            <a:r>
              <a:rPr sz="1900" i="0" b="0">
                <a:solidFill>
                  <a:srgbClr val="D4D4D4"/>
                </a:solidFill>
                <a:latin typeface="Consolas"/>
              </a:rPr>
              <a:t> + </a:t>
            </a:r>
            <a:r>
              <a:rPr sz="1900" i="0" b="0">
                <a:solidFill>
                  <a:srgbClr val="DCDCAA"/>
                </a:solidFill>
                <a:latin typeface="Consolas"/>
              </a:rPr>
              <a:t>e.getRaza</a:t>
            </a:r>
            <a:r>
              <a:rPr sz="1900" i="0" b="0">
                <a:solidFill>
                  <a:srgbClr val="D4D4D4"/>
                </a:solidFill>
                <a:latin typeface="Consolas"/>
              </a:rPr>
              <a:t>() + </a:t>
            </a:r>
            <a:r>
              <a:rPr sz="1900" i="0" b="0">
                <a:solidFill>
                  <a:srgbClr val="CE9178"/>
                </a:solidFill>
                <a:latin typeface="Consolas"/>
              </a:rPr>
              <a:t>")&lt;br&gt;"</a:t>
            </a:r>
          </a:p>
          <a:p>
            <a:pPr>
              <a:spcAft>
                <a:spcPts val="407"/>
              </a:spcAft>
            </a:pPr>
            <a:r>
              <a:rPr sz="1900" i="0" b="0">
                <a:solidFill>
                  <a:srgbClr val="D4D4D4"/>
                </a:solidFill>
                <a:latin typeface="Consolas"/>
              </a:rPr>
              <a:t>        + </a:t>
            </a:r>
            <a:r>
              <a:rPr sz="1900" i="0" b="0">
                <a:solidFill>
                  <a:srgbClr val="CE9178"/>
                </a:solidFill>
                <a:latin typeface="Consolas"/>
              </a:rPr>
              <a:t>"Dueno: "</a:t>
            </a:r>
            <a:r>
              <a:rPr sz="1900" i="0" b="0">
                <a:solidFill>
                  <a:srgbClr val="D4D4D4"/>
                </a:solidFill>
                <a:latin typeface="Consolas"/>
              </a:rPr>
              <a:t> + </a:t>
            </a:r>
            <a:r>
              <a:rPr sz="1900" i="0" b="0">
                <a:solidFill>
                  <a:srgbClr val="DCDCAA"/>
                </a:solidFill>
                <a:latin typeface="Consolas"/>
              </a:rPr>
              <a:t>e.getDueno</a:t>
            </a:r>
            <a:r>
              <a:rPr sz="1900" i="0" b="0">
                <a:solidFill>
                  <a:srgbClr val="D4D4D4"/>
                </a:solidFill>
                <a:latin typeface="Consolas"/>
              </a:rPr>
              <a:t>() + </a:t>
            </a:r>
            <a:r>
              <a:rPr sz="1900" i="0" b="0">
                <a:solidFill>
                  <a:srgbClr val="CE9178"/>
                </a:solidFill>
                <a:latin typeface="Consolas"/>
              </a:rPr>
              <a:t>"&lt;br&gt;Nota clinica: "</a:t>
            </a:r>
            <a:r>
              <a:rPr sz="1900" i="0" b="0">
                <a:solidFill>
                  <a:srgbClr val="D4D4D4"/>
                </a:solidFill>
                <a:latin typeface="Consolas"/>
              </a:rPr>
              <a:t> + </a:t>
            </a:r>
            <a:r>
              <a:rPr sz="1900" i="0" b="0">
                <a:solidFill>
                  <a:srgbClr val="DCDCAA"/>
                </a:solidFill>
                <a:latin typeface="Consolas"/>
              </a:rPr>
              <a:t>e.getNota</a:t>
            </a:r>
            <a:r>
              <a:rPr sz="1900" i="0" b="0">
                <a:solidFill>
                  <a:srgbClr val="D4D4D4"/>
                </a:solidFill>
                <a:latin typeface="Consolas"/>
              </a:rPr>
              <a:t>() + </a:t>
            </a:r>
            <a:r>
              <a:rPr sz="1900" i="0" b="0">
                <a:solidFill>
                  <a:srgbClr val="CE9178"/>
                </a:solidFill>
                <a:latin typeface="Consolas"/>
              </a:rPr>
              <a:t>"&lt;/html&gt;"</a:t>
            </a:r>
            <a:r>
              <a:rPr sz="19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busca la ficha H-5000 dentro de un archivo historico de 5.000 expedientes, primero recorriendo un ArrayList y luego con get()…</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Mapas, conjuntos e interfaces graficas · HashMap, HashSet y Swing</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Buscar por clave en un instante y darle cara al sistema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