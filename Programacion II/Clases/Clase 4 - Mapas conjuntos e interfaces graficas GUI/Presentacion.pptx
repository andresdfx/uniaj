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dos claves distintas caen en la misma casilla (una colision), el mapa guarda ambas en esa casilla y usa equals() para distinguirlas al leer.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un HashSet no le garantiza es el orden: si usted agrega Labrador, Criollo y Persa y luego imprime el conjunto, pueden salir en cualquier orden, porque la posicion la decide el hash.</a:t>
            </a:r>
          </a:p>
          <a:p/>
          <a:p>
            <a:r>
              <a:t>Si necesita conservar el orden de insercion use LinkedHashSet o LinkedHashMap, y si necesita orden alfabetico use TreeSet o TreeMap, que ordenan pero cuestan un poco mas.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la parte grafica, y aqui empieza el segundo bloque de la clase.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4</a:t>
            </a:r>
          </a:p>
        </p:txBody>
      </p:sp>
      <p:sp>
        <p:nvSpPr>
          <p:cNvPr id="8" name="TextBox 7"/>
          <p:cNvSpPr txBox="1"/>
          <p:nvPr/>
        </p:nvSpPr>
        <p:spPr>
          <a:xfrm>
            <a:off x="731520" y="2331720"/>
            <a:ext cx="10728655" cy="1828800"/>
          </a:xfrm>
          <a:prstGeom prst="rect">
            <a:avLst/>
          </a:prstGeom>
          <a:noFill/>
        </p:spPr>
        <p:txBody>
          <a:bodyPr wrap="square" anchor="ctr"/>
          <a:lstStyle/>
          <a:p>
            <a:pPr algn="ctr"/>
            <a:r>
              <a:rPr sz="2800" b="1" i="0">
                <a:solidFill>
                  <a:srgbClr val="FFFFFF"/>
                </a:solidFill>
                <a:latin typeface="Calibri"/>
              </a:rPr>
              <a:t>Mapas, conjuntos e interfaces graficas · HashMap, HashSet y Swing</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Buscar por clave en un instante y darle cara al sistema</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Mapas, conjuntos e interfaces graficas · HashMap, HashSet y Swing — Buscar por clave en un instante y darle cara al sistema</a:t>
            </a:r>
          </a:p>
          <a:p>
            <a:pPr>
              <a:spcAft>
                <a:spcPts val="800"/>
              </a:spcAft>
            </a:pPr>
            <a:r>
              <a:rPr sz="2000" b="0" i="0">
                <a:solidFill>
                  <a:srgbClr val="333333"/>
                </a:solidFill>
                <a:latin typeface="Calibri"/>
              </a:rPr>
              <a:t>–   Herramienta: </a:t>
            </a:r>
            <a:r>
              <a:rPr sz="2000" b="1" i="0">
                <a:solidFill>
                  <a:srgbClr val="333333"/>
                </a:solidFill>
                <a:latin typeface="Calibri"/>
              </a:rPr>
              <a:t>Visual Studio Code (Java)</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Primero el concepto, despues el codigo que lo muestra y la demo en vivo.</a:t>
            </a:r>
          </a:p>
          <a:p>
            <a:pPr>
              <a:spcAft>
                <a:spcPts val="800"/>
              </a:spcAft>
            </a:pPr>
            <a:r>
              <a:rPr sz="2000" b="0" i="0">
                <a:solidFill>
                  <a:srgbClr val="333333"/>
                </a:solidFill>
                <a:latin typeface="Calibri"/>
              </a:rPr>
              <a:t>–   Todo con el mismo dominio: una clinica veterinaria.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 de la clase anterior</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el tema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(opcional, guia en la carpeta)</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Repaso de conceptos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Hoy son dos temas en un solo bloque: primero mapas y conjuntos con demo...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Hoy son dos temas en un solo bloque: primero mapas y conjuntos con demo en consola, y despues una introduccion a Swing con la ventana construida en vivo, que termina consultando el HashMap.</a:t>
            </a:r>
          </a:p>
          <a:p>
            <a:pPr>
              <a:spcAft>
                <a:spcPts val="800"/>
              </a:spcAft>
            </a:pPr>
            <a:r>
              <a:rPr sz="2000" b="0" i="0">
                <a:solidFill>
                  <a:srgbClr val="333333"/>
                </a:solidFill>
                <a:latin typeface="Calibri"/>
              </a:rPr>
              <a:t>–   El hilo que une los dos temas es uno solo: hoy le damos al sistema de la clinica la capacidad de responder en un instante la pregunta que mas hace la recepcionista de la clinica, que es dame el expediente de la mascota M-004</a:t>
            </a:r>
          </a:p>
          <a:p>
            <a:pPr>
              <a:spcAft>
                <a:spcPts val="800"/>
              </a:spcAft>
            </a:pPr>
            <a:r>
              <a:rPr sz="2000" b="0" i="0">
                <a:solidFill>
                  <a:srgbClr val="333333"/>
                </a:solidFill>
                <a:latin typeface="Calibri"/>
              </a:rPr>
              <a:t>–   Y ademas le damos una pantalla para hacerla sin abrir el editor de codigo.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problema tecnico es este: con un ArrayList, buscar por ID obliga a...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problema tecnico es este: con un ArrayList, buscar por ID obliga a recorrer la lista comparando uno por uno, lo que se llama busqueda lineal y en el peor caso revisa los 5.000 elementos del archivo historico.</a:t>
            </a:r>
          </a:p>
          <a:p>
            <a:pPr>
              <a:spcAft>
                <a:spcPts val="800"/>
              </a:spcAft>
            </a:pPr>
            <a:r>
              <a:rPr sz="2000" b="0" i="0">
                <a:solidFill>
                  <a:srgbClr val="333333"/>
                </a:solidFill>
                <a:latin typeface="Calibri"/>
              </a:rPr>
              <a:t>–   Un HashMap resuelve eso con una idea distinta: en vez de guardar solo el objeto, guarda parejas clave-valor, y usa la clave para calcular directamente en que casilla del arreglo interno esta el valor.</a:t>
            </a:r>
          </a:p>
          <a:p>
            <a:pPr>
              <a:spcAft>
                <a:spcPts val="800"/>
              </a:spcAft>
            </a:pPr>
            <a:r>
              <a:rPr sz="2000" b="0" i="0">
                <a:solidFill>
                  <a:srgbClr val="333333"/>
                </a:solidFill>
                <a:latin typeface="Calibri"/>
              </a:rPr>
              <a:t>–   Ese calculo lo hace el metodo hashCode() del objeto clave: convierte el texto M-004 en un numero, ese numero se transforma en una posicion del arreglo interno, y ahi mismo queda el expediente.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problema tecnico es este: con un ArrayList, buscar por ID obliga a...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resultado practico es que get("M-004") no depende de cuantas mascotas haya: con 10 o con 100.000 tarda basicamente lo mismo, y eso es lo que vamos a medir en vivo con System.nanoTime().</a:t>
            </a:r>
          </a:p>
          <a:p>
            <a:pPr>
              <a:spcAft>
                <a:spcPts val="800"/>
              </a:spcAft>
            </a:pPr>
            <a:r>
              <a:rPr sz="2000" b="0" i="0">
                <a:solidFill>
                  <a:srgbClr val="333333"/>
                </a:solidFill>
                <a:latin typeface="Calibri"/>
              </a:rPr>
              <a:t>–   En el sistema de la clinica declaramos; y la clave es el ID, que es unico por definicion.</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problema tecnico es este: con un... — sintaxis</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Map&lt;String, Expediente&gt; expedientes = new HashMap&lt;&gt;()</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API de Map es corta pero tiene trampas que hay que nombrar en voz...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La API de Map es corta pero tiene trampas que hay que nombrar en voz alta. put(clave, valor) agrega, pero si la clave ya existia reemplaza el valor anterior en silencio y devuelve el que estaba: eso significa que un HashMap nunca tiene claves repetidas</a:t>
            </a:r>
          </a:p>
          <a:p>
            <a:pPr>
              <a:spcAft>
                <a:spcPts val="800"/>
              </a:spcAft>
            </a:pPr>
            <a:r>
              <a:rPr sz="2000" b="0" i="0">
                <a:solidFill>
                  <a:srgbClr val="333333"/>
                </a:solidFill>
                <a:latin typeface="Calibri"/>
              </a:rPr>
              <a:t>–   Y que guardar dos veces M-001 no da error, simplemente pisa el expediente anterior</a:t>
            </a:r>
          </a:p>
          <a:p>
            <a:pPr>
              <a:spcAft>
                <a:spcPts val="800"/>
              </a:spcAft>
            </a:pPr>
            <a:r>
              <a:rPr sz="2000" b="0" i="0">
                <a:solidFill>
                  <a:srgbClr val="333333"/>
                </a:solidFill>
                <a:latin typeface="Calibri"/>
              </a:rPr>
              <a:t>–   Lo cual puede ser exactamente lo que usted quiere o un bug grave si no lo controla. get(clave) devuelve el valor o null si la clave no existe, por eso siempre hay que validar antes de usar el resultado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API de Map es corta pero tiene trampas que hay que nombrar en voz...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GetOrDefault(clave, valorPorDefecto) es la version comoda. containsKey pregunta por la clave y containsValue por el valor, siendo esta ultima lenta porque esa si recorre todo el mapa.</a:t>
            </a:r>
          </a:p>
          <a:p>
            <a:pPr>
              <a:spcAft>
                <a:spcPts val="800"/>
              </a:spcAft>
            </a:pPr>
            <a:r>
              <a:rPr sz="2000" b="0" i="0">
                <a:solidFill>
                  <a:srgbClr val="333333"/>
                </a:solidFill>
                <a:latin typeface="Calibri"/>
              </a:rPr>
              <a:t>–   Para recorrer se usa ) y dentro se leen e.getKey() y e.getValue(); tambien existen keySet() para las claves y values() para los valores.</a:t>
            </a:r>
          </a:p>
          <a:p>
            <a:pPr>
              <a:spcAft>
                <a:spcPts val="800"/>
              </a:spcAft>
            </a:pPr>
            <a:r>
              <a:rPr sz="2000" b="0" i="0">
                <a:solidFill>
                  <a:srgbClr val="333333"/>
                </a:solidFill>
                <a:latin typeface="Calibri"/>
              </a:rPr>
              <a:t>–   Y algo crucial: si algun dia usted usa un objeto propio como clave, esta obligado a sobreescribir equals() y hashCode() juntos, porque si no, el mapa guardara duplicados que a los ojos del negocio son el mismo.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API de Map es corta pero tiene trampas que... — sintaxis</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for (Map.Entry&lt;String, Expediente&gt; e: expedientes.entrySet()</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HashSet es el hermano del HashMap: por dentro es literalmente un...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HashSet es el hermano del HashMap: por dentro es literalmente un HashMap donde solo importan las claves.</a:t>
            </a:r>
          </a:p>
          <a:p>
            <a:pPr>
              <a:spcAft>
                <a:spcPts val="800"/>
              </a:spcAft>
            </a:pPr>
            <a:r>
              <a:rPr sz="2000" b="0" i="0">
                <a:solidFill>
                  <a:srgbClr val="333333"/>
                </a:solidFill>
                <a:latin typeface="Calibri"/>
              </a:rPr>
              <a:t>–   Su promesa es una sola y es potente: no admite duplicados y responde en tiempo constante a la pregunta esto ya esta.</a:t>
            </a:r>
          </a:p>
          <a:p>
            <a:pPr>
              <a:spcAft>
                <a:spcPts val="800"/>
              </a:spcAft>
            </a:pPr>
            <a:r>
              <a:rPr sz="2000" b="0" i="0">
                <a:solidFill>
                  <a:srgbClr val="333333"/>
                </a:solidFill>
                <a:latin typeface="Calibri"/>
              </a:rPr>
              <a:t>–   Su metodo add devuelve un boolean que casi nadie mira y que vale oro: devuelve false si el elemento ya estaba.</a:t>
            </a:r>
          </a:p>
          <a:p>
            <a:pPr>
              <a:spcAft>
                <a:spcPts val="800"/>
              </a:spcAft>
            </a:pPr>
            <a:r>
              <a:rPr sz="2000" b="0" i="0">
                <a:solidFill>
                  <a:srgbClr val="333333"/>
                </a:solidFill>
                <a:latin typeface="Calibri"/>
              </a:rPr>
              <a:t>–   En el sistema de la clinica lo usamos para dos cosas concretas: un Set&lt;String&gt; de IDs ya usados, para rechazar un registro duplicado sin recorrer nada</a:t>
            </a:r>
          </a:p>
          <a:p>
            <a:pPr>
              <a:spcAft>
                <a:spcPts val="800"/>
              </a:spcAft>
            </a:pPr>
            <a:r>
              <a:rPr sz="2000" b="0" i="0">
                <a:solidFill>
                  <a:srgbClr val="333333"/>
                </a:solidFill>
                <a:latin typeface="Calibri"/>
              </a:rPr>
              <a:t>–   Y un Set&lt;String&gt; de razas atendidas, que se llena solo y nos dice cuantas razas distintas ha visto la clinica sin que nadie las cuente a mano</a:t>
            </a:r>
          </a:p>
          <a:p>
            <a:pPr>
              <a:spcAft>
                <a:spcPts val="800"/>
              </a:spcAft>
            </a:pPr>
            <a:r>
              <a:rPr sz="2000" b="0" i="0">
                <a:solidFill>
                  <a:srgbClr val="333333"/>
                </a:solidFill>
                <a:latin typeface="Calibri"/>
              </a:rPr>
              <a:t>–   Como Firulais y Toby son los dos labradores, al guardar el segundo el conjunto responde false y sigue reportando una sola vez esa raza.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Ahora la parte grafica, y aqui empieza el segundo bloque de la clase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Swing es la biblioteca de escritorio de Java y funciona por anidamiento: la ventana es un JFrame, dentro del frame hay un contenedor donde se ponen paneles JPanel</a:t>
            </a:r>
          </a:p>
          <a:p>
            <a:pPr>
              <a:spcAft>
                <a:spcPts val="800"/>
              </a:spcAft>
            </a:pPr>
            <a:r>
              <a:rPr sz="2000" b="0" i="0">
                <a:solidFill>
                  <a:srgbClr val="333333"/>
                </a:solidFill>
                <a:latin typeface="Calibri"/>
              </a:rPr>
              <a:t>–   Y dentro de los paneles van los componentes visibles como JLabel (texto fijo), JTextField (caja donde el usuario escribe) y JButton (boton).</a:t>
            </a:r>
          </a:p>
          <a:p>
            <a:pPr>
              <a:spcAft>
                <a:spcPts val="800"/>
              </a:spcAft>
            </a:pPr>
            <a:r>
              <a:rPr sz="2000" b="0" i="0">
                <a:solidFill>
                  <a:srgbClr val="333333"/>
                </a:solidFill>
                <a:latin typeface="Calibri"/>
              </a:rPr>
              <a:t>–   Como se acomodan esos componentes lo decide un layout manager: el JFrame usa BorderLayout por defecto</a:t>
            </a:r>
          </a:p>
          <a:p>
            <a:pPr>
              <a:spcAft>
                <a:spcPts val="800"/>
              </a:spcAft>
            </a:pPr>
            <a:r>
              <a:rPr sz="2000" b="0" i="0">
                <a:solidFill>
                  <a:srgbClr val="333333"/>
                </a:solidFill>
                <a:latin typeface="Calibri"/>
              </a:rPr>
              <a:t>–   Que reparte la ventana en NORTH, SOUTH, EAST, WEST y CENTER; el JPanel usa FlowLayout, que va poniendo los componentes en fila; y GridLayout arma una cuadricula de filas y columnas.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Ahora la parte grafica, y aqui empieza el segundo bloque de la clase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Todo JFrame necesita tres lineas obligatorias o el estudiante creera que su programa no sirve: setDefaultCloseOperation(JFrame.EXIT_ON_CLOSE) para que cerrar la ventana termine el programa</a:t>
            </a:r>
          </a:p>
          <a:p>
            <a:pPr>
              <a:spcAft>
                <a:spcPts val="800"/>
              </a:spcAft>
            </a:pPr>
            <a:r>
              <a:rPr sz="2000" b="0" i="0">
                <a:solidFill>
                  <a:srgbClr val="333333"/>
                </a:solidFill>
                <a:latin typeface="Calibri"/>
              </a:rPr>
              <a:t>–   SetSize o pack para darle tamano, y setVisible(true) para que aparezca.</a:t>
            </a:r>
          </a:p>
          <a:p>
            <a:pPr>
              <a:spcAft>
                <a:spcPts val="800"/>
              </a:spcAft>
            </a:pPr>
            <a:r>
              <a:rPr sz="2000" b="0" i="0">
                <a:solidFill>
                  <a:srgbClr val="333333"/>
                </a:solidFill>
                <a:latin typeface="Calibri"/>
              </a:rPr>
              <a:t>–   Ademas, la ventana debe crearse dentro de SwingUtilities.invokeLater porque toda la interfaz de Swing vive en un hilo especial llamado EDT; hacerlo bien desde hoy evita cuelgues raros mas adelante.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class ClinicaBuscarExpediente</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public class ClinicaBuscarExpediente extends JFrame {</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 ---- Datos: la inteligencia del sistema vive aqui, no en el boton ----</a:t>
            </a:r>
          </a:p>
          <a:p>
            <a:pPr>
              <a:spcAft>
                <a:spcPts val="400"/>
              </a:spcAft>
            </a:pPr>
            <a:r>
              <a:rPr sz="1400" b="0" i="0">
                <a:solidFill>
                  <a:srgbClr val="FFFFFF"/>
                </a:solidFill>
                <a:latin typeface="Calibri"/>
              </a:rPr>
              <a:t>    private final Map&lt;String, Expediente&gt; expedientes = new HashMap&lt;&gt;();</a:t>
            </a:r>
          </a:p>
          <a:p>
            <a:pPr>
              <a:spcAft>
                <a:spcPts val="400"/>
              </a:spcAft>
            </a:pPr>
            <a:r>
              <a:rPr sz="1400" b="0" i="0">
                <a:solidFill>
                  <a:srgbClr val="FFFFFF"/>
                </a:solidFill>
                <a:latin typeface="Calibri"/>
              </a:rPr>
              <a:t>    private final Set&lt;String&gt; razas = new HashSet&lt;&gt;();</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 ---- Componentes de la interfaz ----</a:t>
            </a:r>
          </a:p>
          <a:p>
            <a:pPr>
              <a:spcAft>
                <a:spcPts val="400"/>
              </a:spcAft>
            </a:pPr>
            <a:r>
              <a:rPr sz="1400" b="0" i="0">
                <a:solidFill>
                  <a:srgbClr val="FFFFFF"/>
                </a:solidFill>
                <a:latin typeface="Calibri"/>
              </a:rPr>
              <a:t>    private final JTextField txtId = new JTextField(12);</a:t>
            </a:r>
          </a:p>
          <a:p>
            <a:pPr>
              <a:spcAft>
                <a:spcPts val="400"/>
              </a:spcAft>
            </a:pPr>
            <a:r>
              <a:rPr sz="1400" b="0" i="0">
                <a:solidFill>
                  <a:srgbClr val="FFFFFF"/>
                </a:solidFill>
                <a:latin typeface="Calibri"/>
              </a:rPr>
              <a:t>    private final JButton btnBuscar = new JButton("Buscar expediente");</a:t>
            </a:r>
          </a:p>
          <a:p>
            <a:pPr>
              <a:spcAft>
                <a:spcPts val="400"/>
              </a:spcAft>
            </a:pPr>
            <a:r>
              <a:rPr sz="1400" b="0" i="0">
                <a:solidFill>
                  <a:srgbClr val="FFFFFF"/>
                </a:solidFill>
                <a:latin typeface="Calibri"/>
              </a:rPr>
              <a:t>    private final JLabel lblResultado = new JLabel("Escriba un ID (ej: M-002) y presione Buscar", SwingConstants.CENTER);</a:t>
            </a:r>
          </a:p>
          <a:p>
            <a:pPr>
              <a:spcAft>
                <a:spcPts val="400"/>
              </a:spcAft>
            </a:pPr>
            <a:r>
              <a:rPr sz="1400" b="0" i="0">
                <a:solidFill>
                  <a:srgbClr val="FFFFFF"/>
                </a:solidFill>
                <a:latin typeface="Calibri"/>
              </a:rPr>
              <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ClinicaBuscarExpediente()</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public ClinicaBuscarExpediente() {</a:t>
            </a:r>
          </a:p>
          <a:p>
            <a:pPr>
              <a:spcAft>
                <a:spcPts val="400"/>
              </a:spcAft>
            </a:pPr>
            <a:r>
              <a:rPr sz="1400" b="0" i="0">
                <a:solidFill>
                  <a:srgbClr val="FFFFFF"/>
                </a:solidFill>
                <a:latin typeface="Calibri"/>
              </a:rPr>
              <a:t>        super("Clinica - Buscar expediente");</a:t>
            </a:r>
          </a:p>
          <a:p>
            <a:pPr>
              <a:spcAft>
                <a:spcPts val="400"/>
              </a:spcAft>
            </a:pPr>
            <a:r>
              <a:rPr sz="1400" b="0" i="0">
                <a:solidFill>
                  <a:srgbClr val="FFFFFF"/>
                </a:solidFill>
                <a:latin typeface="Calibri"/>
              </a:rPr>
              <a:t>        cargarDatosDePrueba();</a:t>
            </a:r>
          </a:p>
          <a:p>
            <a:pPr>
              <a:spcAft>
                <a:spcPts val="400"/>
              </a:spcAft>
            </a:pPr>
            <a:r>
              <a:rPr sz="1400" b="0" i="0">
                <a:solidFill>
                  <a:srgbClr val="FFFFFF"/>
                </a:solidFill>
                <a:latin typeface="Calibri"/>
              </a:rPr>
              <a:t>        compararBusquedas();</a:t>
            </a:r>
          </a:p>
          <a:p>
            <a:pPr>
              <a:spcAft>
                <a:spcPts val="400"/>
              </a:spcAft>
            </a:pPr>
            <a:r>
              <a:rPr sz="1400" b="0" i="0">
                <a:solidFill>
                  <a:srgbClr val="FFFFFF"/>
                </a:solidFill>
                <a:latin typeface="Calibri"/>
              </a:rPr>
              <a:t>        construirInterfaz();</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cargarDatosDePrueba()</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private void cargarDatosDePrueba() {</a:t>
            </a:r>
          </a:p>
          <a:p>
            <a:pPr>
              <a:spcAft>
                <a:spcPts val="400"/>
              </a:spcAft>
            </a:pPr>
            <a:r>
              <a:rPr sz="1400" b="0" i="0">
                <a:solidFill>
                  <a:srgbClr val="FFFFFF"/>
                </a:solidFill>
                <a:latin typeface="Calibri"/>
              </a:rPr>
              <a:t>        guardar(new Expediente("M-001", "Firulais", "Labrador", "Ana Gomez", "Vacunacion al dia"));</a:t>
            </a:r>
          </a:p>
          <a:p>
            <a:pPr>
              <a:spcAft>
                <a:spcPts val="400"/>
              </a:spcAft>
            </a:pPr>
            <a:r>
              <a:rPr sz="1400" b="0" i="0">
                <a:solidFill>
                  <a:srgbClr val="FFFFFF"/>
                </a:solidFill>
                <a:latin typeface="Calibri"/>
              </a:rPr>
              <a:t>        guardar(new Expediente("M-002", "Michi", "Criollo", "Luis Perez", "Control de peso"));</a:t>
            </a:r>
          </a:p>
          <a:p>
            <a:pPr>
              <a:spcAft>
                <a:spcPts val="400"/>
              </a:spcAft>
            </a:pPr>
            <a:r>
              <a:rPr sz="1400" b="0" i="0">
                <a:solidFill>
                  <a:srgbClr val="FFFFFF"/>
                </a:solidFill>
                <a:latin typeface="Calibri"/>
              </a:rPr>
              <a:t>        guardar(new Expediente("M-003", "Rocky", "Pastor Aleman", "Ana Gomez", "Revision de patas"));</a:t>
            </a:r>
          </a:p>
          <a:p>
            <a:pPr>
              <a:spcAft>
                <a:spcPts val="400"/>
              </a:spcAft>
            </a:pPr>
            <a:r>
              <a:rPr sz="1400" b="0" i="0">
                <a:solidFill>
                  <a:srgbClr val="FFFFFF"/>
                </a:solidFill>
                <a:latin typeface="Calibri"/>
              </a:rPr>
              <a:t>        guardar(new Expediente("M-004", "Nieve", "Persa", "Sara Diaz", "Desparasitacion"));</a:t>
            </a:r>
          </a:p>
          <a:p>
            <a:pPr>
              <a:spcAft>
                <a:spcPts val="400"/>
              </a:spcAft>
            </a:pPr>
            <a:r>
              <a:rPr sz="1400" b="0" i="0">
                <a:solidFill>
                  <a:srgbClr val="FFFFFF"/>
                </a:solidFill>
                <a:latin typeface="Calibri"/>
              </a:rPr>
              <a:t>        guardar(new Expediente("M-005", "Toby", "Labrador", "Sara Diaz", "Control geriatrico"));</a:t>
            </a:r>
          </a:p>
          <a:p>
            <a:pPr>
              <a:spcAft>
                <a:spcPts val="400"/>
              </a:spcAft>
            </a:pPr>
            <a:r>
              <a:rPr sz="1400" b="0" i="0">
                <a:solidFill>
                  <a:srgbClr val="FFFFFF"/>
                </a:solidFill>
                <a:latin typeface="Calibri"/>
              </a:rPr>
              <a:t>        System.out.println("Expedientes: " + expedientes.size() + " | Razas distintas: " + razas.size());</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 Regla de negocio: avisar antes de que put reemplace en silencio. */</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guardar()</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private void guardar(Expediente e) {</a:t>
            </a:r>
          </a:p>
          <a:p>
            <a:pPr>
              <a:spcAft>
                <a:spcPts val="400"/>
              </a:spcAft>
            </a:pPr>
            <a:r>
              <a:rPr sz="1400" b="0" i="0">
                <a:solidFill>
                  <a:srgbClr val="FFFFFF"/>
                </a:solidFill>
                <a:latin typeface="Calibri"/>
              </a:rPr>
              <a:t>        if (expedientes.containsKey(e.getId())) {</a:t>
            </a:r>
          </a:p>
          <a:p>
            <a:pPr>
              <a:spcAft>
                <a:spcPts val="400"/>
              </a:spcAft>
            </a:pPr>
            <a:r>
              <a:rPr sz="1400" b="0" i="0">
                <a:solidFill>
                  <a:srgbClr val="FFFFFF"/>
                </a:solidFill>
                <a:latin typeface="Calibri"/>
              </a:rPr>
              <a:t>            System.out.println("Atencion: el ID " + e.getId() + " ya existia y sera reemplazado");</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expedientes.put(e.getId(), e);              // clave -&gt; valor</a:t>
            </a:r>
          </a:p>
          <a:p>
            <a:pPr>
              <a:spcAft>
                <a:spcPts val="400"/>
              </a:spcAft>
            </a:pPr>
            <a:r>
              <a:rPr sz="1400" b="0" i="0">
                <a:solidFill>
                  <a:srgbClr val="FFFFFF"/>
                </a:solidFill>
                <a:latin typeface="Calibri"/>
              </a:rPr>
              <a:t>        boolean razaNueva = razas.add(e.getRaza()); // add devuelve false si ya estaba</a:t>
            </a:r>
          </a:p>
          <a:p>
            <a:pPr>
              <a:spcAft>
                <a:spcPts val="400"/>
              </a:spcAft>
            </a:pPr>
            <a:r>
              <a:rPr sz="1400" b="0" i="0">
                <a:solidFill>
                  <a:srgbClr val="FFFFFF"/>
                </a:solidFill>
                <a:latin typeface="Calibri"/>
              </a:rPr>
              <a:t>        if (!razaNueva) {</a:t>
            </a:r>
          </a:p>
          <a:p>
            <a:pPr>
              <a:spcAft>
                <a:spcPts val="400"/>
              </a:spcAft>
            </a:pPr>
            <a:r>
              <a:rPr sz="1400" b="0" i="0">
                <a:solidFill>
                  <a:srgbClr val="FFFFFF"/>
                </a:solidFill>
                <a:latin typeface="Calibri"/>
              </a:rPr>
              <a:t>            System.out.println("Raza ya registrada: " + e.getRaza());</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 Demo del dia: recorrer 5.000 fichas contra preguntarle la clave al mapa. */</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compararBusquedas() (1/2)</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5181447" cy="4453128"/>
          </a:xfrm>
          <a:prstGeom prst="rect">
            <a:avLst/>
          </a:prstGeom>
          <a:noFill/>
        </p:spPr>
        <p:txBody>
          <a:bodyPr wrap="square">
            <a:spAutoFit/>
          </a:bodyPr>
          <a:lstStyle/>
          <a:p>
            <a:pPr>
              <a:spcAft>
                <a:spcPts val="400"/>
              </a:spcAft>
            </a:pPr>
            <a:r>
              <a:rPr sz="1400" b="0" i="0">
                <a:solidFill>
                  <a:srgbClr val="FFFFFF"/>
                </a:solidFill>
                <a:latin typeface="Calibri"/>
              </a:rPr>
              <a:t>    private void compararBusquedas() {</a:t>
            </a:r>
          </a:p>
          <a:p>
            <a:pPr>
              <a:spcAft>
                <a:spcPts val="400"/>
              </a:spcAft>
            </a:pPr>
            <a:r>
              <a:rPr sz="1400" b="0" i="0">
                <a:solidFill>
                  <a:srgbClr val="FFFFFF"/>
                </a:solidFill>
                <a:latin typeface="Calibri"/>
              </a:rPr>
              <a:t>        List&lt;Expediente&gt; archivoHistorico = new ArrayList&lt;&gt;();</a:t>
            </a:r>
          </a:p>
          <a:p>
            <a:pPr>
              <a:spcAft>
                <a:spcPts val="400"/>
              </a:spcAft>
            </a:pPr>
            <a:r>
              <a:rPr sz="1400" b="0" i="0">
                <a:solidFill>
                  <a:srgbClr val="FFFFFF"/>
                </a:solidFill>
                <a:latin typeface="Calibri"/>
              </a:rPr>
              <a:t>        Map&lt;String, Expediente&gt; indice = new HashMap&lt;&gt;();</a:t>
            </a:r>
          </a:p>
          <a:p>
            <a:pPr>
              <a:spcAft>
                <a:spcPts val="400"/>
              </a:spcAft>
            </a:pPr>
            <a:r>
              <a:rPr sz="1400" b="0" i="0">
                <a:solidFill>
                  <a:srgbClr val="FFFFFF"/>
                </a:solidFill>
                <a:latin typeface="Calibri"/>
              </a:rPr>
              <a:t>        for (int i = 1; i &lt;= 5000; i++) {</a:t>
            </a:r>
          </a:p>
          <a:p>
            <a:pPr>
              <a:spcAft>
                <a:spcPts val="400"/>
              </a:spcAft>
            </a:pPr>
            <a:r>
              <a:rPr sz="1400" b="0" i="0">
                <a:solidFill>
                  <a:srgbClr val="FFFFFF"/>
                </a:solidFill>
                <a:latin typeface="Calibri"/>
              </a:rPr>
              <a:t>            Expediente e = new Expediente("H-" + i, "Paciente " + i, "Criollo",</a:t>
            </a:r>
          </a:p>
          <a:p>
            <a:pPr>
              <a:spcAft>
                <a:spcPts val="400"/>
              </a:spcAft>
            </a:pPr>
            <a:r>
              <a:rPr sz="1400" b="0" i="0">
                <a:solidFill>
                  <a:srgbClr val="FFFFFF"/>
                </a:solidFill>
                <a:latin typeface="Calibri"/>
              </a:rPr>
              <a:t>                    "Dueno " + i, "Archivo historico");</a:t>
            </a:r>
          </a:p>
          <a:p>
            <a:pPr>
              <a:spcAft>
                <a:spcPts val="400"/>
              </a:spcAft>
            </a:pPr>
            <a:r>
              <a:rPr sz="1400" b="0" i="0">
                <a:solidFill>
                  <a:srgbClr val="FFFFFF"/>
                </a:solidFill>
                <a:latin typeface="Calibri"/>
              </a:rPr>
              <a:t>            archivoHistorico.add(e);</a:t>
            </a:r>
          </a:p>
          <a:p>
            <a:pPr>
              <a:spcAft>
                <a:spcPts val="400"/>
              </a:spcAft>
            </a:pPr>
            <a:r>
              <a:rPr sz="1400" b="0" i="0">
                <a:solidFill>
                  <a:srgbClr val="FFFFFF"/>
                </a:solidFill>
                <a:latin typeface="Calibri"/>
              </a:rPr>
              <a:t>            indice.put(e.getId(), e);</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String buscado = "H-5000"; // peor caso: la ultima ficha del archivo</a:t>
            </a:r>
          </a:p>
        </p:txBody>
      </p:sp>
      <p:sp>
        <p:nvSpPr>
          <p:cNvPr id="9" name="TextBox 8"/>
          <p:cNvSpPr txBox="1"/>
          <p:nvPr/>
        </p:nvSpPr>
        <p:spPr>
          <a:xfrm>
            <a:off x="6233007" y="1719072"/>
            <a:ext cx="5181447" cy="4453128"/>
          </a:xfrm>
          <a:prstGeom prst="rect">
            <a:avLst/>
          </a:prstGeom>
          <a:noFill/>
        </p:spPr>
        <p:txBody>
          <a:bodyPr wrap="square">
            <a:spAutoFit/>
          </a:bodyPr>
          <a:lstStyle/>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long t1 = System.nanoTime();</a:t>
            </a:r>
          </a:p>
          <a:p>
            <a:pPr>
              <a:spcAft>
                <a:spcPts val="400"/>
              </a:spcAft>
            </a:pPr>
            <a:r>
              <a:rPr sz="1400" b="0" i="0">
                <a:solidFill>
                  <a:srgbClr val="FFFFFF"/>
                </a:solidFill>
                <a:latin typeface="Calibri"/>
              </a:rPr>
              <a:t>        Expediente porRecorrido = null;</a:t>
            </a:r>
          </a:p>
          <a:p>
            <a:pPr>
              <a:spcAft>
                <a:spcPts val="400"/>
              </a:spcAft>
            </a:pPr>
            <a:r>
              <a:rPr sz="1400" b="0" i="0">
                <a:solidFill>
                  <a:srgbClr val="FFFFFF"/>
                </a:solidFill>
                <a:latin typeface="Calibri"/>
              </a:rPr>
              <a:t>        for (Expediente e: archivoHistorico) {   // busqueda lineal: compara una por una</a:t>
            </a:r>
          </a:p>
          <a:p>
            <a:pPr>
              <a:spcAft>
                <a:spcPts val="400"/>
              </a:spcAft>
            </a:pPr>
            <a:r>
              <a:rPr sz="1400" b="0" i="0">
                <a:solidFill>
                  <a:srgbClr val="FFFFFF"/>
                </a:solidFill>
                <a:latin typeface="Calibri"/>
              </a:rPr>
              <a:t>            if (e.getId().equals(buscado)) {</a:t>
            </a:r>
          </a:p>
          <a:p>
            <a:pPr>
              <a:spcAft>
                <a:spcPts val="400"/>
              </a:spcAft>
            </a:pPr>
            <a:r>
              <a:rPr sz="1400" b="0" i="0">
                <a:solidFill>
                  <a:srgbClr val="FFFFFF"/>
                </a:solidFill>
                <a:latin typeface="Calibri"/>
              </a:rPr>
              <a:t>                porRecorrido = e;</a:t>
            </a:r>
          </a:p>
          <a:p>
            <a:pPr>
              <a:spcAft>
                <a:spcPts val="400"/>
              </a:spcAft>
            </a:pPr>
            <a:r>
              <a:rPr sz="1400" b="0" i="0">
                <a:solidFill>
                  <a:srgbClr val="FFFFFF"/>
                </a:solidFill>
                <a:latin typeface="Calibri"/>
              </a:rPr>
              <a:t>                break;</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long nsLineal = System.nanoTime() - t1;</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compararBusquedas() (2/2)</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long t2 = System.nanoTime();</a:t>
            </a:r>
          </a:p>
          <a:p>
            <a:pPr>
              <a:spcAft>
                <a:spcPts val="400"/>
              </a:spcAft>
            </a:pPr>
            <a:r>
              <a:rPr sz="1400" b="0" i="0">
                <a:solidFill>
                  <a:srgbClr val="FFFFFF"/>
                </a:solidFill>
                <a:latin typeface="Calibri"/>
              </a:rPr>
              <a:t>        Expediente porClave = indice.get(buscado); // busqueda por clave: no recorre nada</a:t>
            </a:r>
          </a:p>
          <a:p>
            <a:pPr>
              <a:spcAft>
                <a:spcPts val="400"/>
              </a:spcAft>
            </a:pPr>
            <a:r>
              <a:rPr sz="1400" b="0" i="0">
                <a:solidFill>
                  <a:srgbClr val="FFFFFF"/>
                </a:solidFill>
                <a:latin typeface="Calibri"/>
              </a:rPr>
              <a:t>        long nsMapa = System.nanoTime() - t2;</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System.out.println("ArrayList recorriendo 5.000: encontrado=" + (porRecorrido != null)</a:t>
            </a:r>
          </a:p>
          <a:p>
            <a:pPr>
              <a:spcAft>
                <a:spcPts val="400"/>
              </a:spcAft>
            </a:pPr>
            <a:r>
              <a:rPr sz="1400" b="0" i="0">
                <a:solidFill>
                  <a:srgbClr val="FFFFFF"/>
                </a:solidFill>
                <a:latin typeface="Calibri"/>
              </a:rPr>
              <a:t>                + " en " + nsLineal + " ns");</a:t>
            </a:r>
          </a:p>
          <a:p>
            <a:pPr>
              <a:spcAft>
                <a:spcPts val="400"/>
              </a:spcAft>
            </a:pPr>
            <a:r>
              <a:rPr sz="1400" b="0" i="0">
                <a:solidFill>
                  <a:srgbClr val="FFFFFF"/>
                </a:solidFill>
                <a:latin typeface="Calibri"/>
              </a:rPr>
              <a:t>        System.out.println("HashMap con get(clave):      encontrado=" + (porClave != null)</a:t>
            </a:r>
          </a:p>
          <a:p>
            <a:pPr>
              <a:spcAft>
                <a:spcPts val="400"/>
              </a:spcAft>
            </a:pPr>
            <a:r>
              <a:rPr sz="1400" b="0" i="0">
                <a:solidFill>
                  <a:srgbClr val="FFFFFF"/>
                </a:solidFill>
                <a:latin typeface="Calibri"/>
              </a:rPr>
              <a:t>                + " en " + nsMapa + " ns");</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construirInterfaz() (1/2)</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5181447" cy="4453128"/>
          </a:xfrm>
          <a:prstGeom prst="rect">
            <a:avLst/>
          </a:prstGeom>
          <a:noFill/>
        </p:spPr>
        <p:txBody>
          <a:bodyPr wrap="square">
            <a:spAutoFit/>
          </a:bodyPr>
          <a:lstStyle/>
          <a:p>
            <a:pPr>
              <a:spcAft>
                <a:spcPts val="400"/>
              </a:spcAft>
            </a:pPr>
            <a:r>
              <a:rPr sz="1400" b="0" i="0">
                <a:solidFill>
                  <a:srgbClr val="FFFFFF"/>
                </a:solidFill>
                <a:latin typeface="Calibri"/>
              </a:rPr>
              <a:t>    private void construirInterfaz() {</a:t>
            </a:r>
          </a:p>
          <a:p>
            <a:pPr>
              <a:spcAft>
                <a:spcPts val="400"/>
              </a:spcAft>
            </a:pPr>
            <a:r>
              <a:rPr sz="1400" b="0" i="0">
                <a:solidFill>
                  <a:srgbClr val="FFFFFF"/>
                </a:solidFill>
                <a:latin typeface="Calibri"/>
              </a:rPr>
              <a:t>        JPanel panelSuperior = new JPanel();           // FlowLayout por defecto</a:t>
            </a:r>
          </a:p>
          <a:p>
            <a:pPr>
              <a:spcAft>
                <a:spcPts val="400"/>
              </a:spcAft>
            </a:pPr>
            <a:r>
              <a:rPr sz="1400" b="0" i="0">
                <a:solidFill>
                  <a:srgbClr val="FFFFFF"/>
                </a:solidFill>
                <a:latin typeface="Calibri"/>
              </a:rPr>
              <a:t>        panelSuperior.add(new JLabel("ID de la mascota:"));</a:t>
            </a:r>
          </a:p>
          <a:p>
            <a:pPr>
              <a:spcAft>
                <a:spcPts val="400"/>
              </a:spcAft>
            </a:pPr>
            <a:r>
              <a:rPr sz="1400" b="0" i="0">
                <a:solidFill>
                  <a:srgbClr val="FFFFFF"/>
                </a:solidFill>
                <a:latin typeface="Calibri"/>
              </a:rPr>
              <a:t>        panelSuperior.add(txtId);</a:t>
            </a:r>
          </a:p>
          <a:p>
            <a:pPr>
              <a:spcAft>
                <a:spcPts val="400"/>
              </a:spcAft>
            </a:pPr>
            <a:r>
              <a:rPr sz="1400" b="0" i="0">
                <a:solidFill>
                  <a:srgbClr val="FFFFFF"/>
                </a:solidFill>
                <a:latin typeface="Calibri"/>
              </a:rPr>
              <a:t>        panelSuperior.add(btnBuscar);</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lblResultado.setFont(new Font("SansSerif", Font.PLAIN, 14));</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JLabel pie = new JLabel("Expedientes cargados: " + expedientes.size()</a:t>
            </a:r>
          </a:p>
          <a:p>
            <a:pPr>
              <a:spcAft>
                <a:spcPts val="400"/>
              </a:spcAft>
            </a:pPr>
            <a:r>
              <a:rPr sz="1400" b="0" i="0">
                <a:solidFill>
                  <a:srgbClr val="FFFFFF"/>
                </a:solidFill>
                <a:latin typeface="Calibri"/>
              </a:rPr>
              <a:t>                + "  |  Razas distintas: " + razas.size(), SwingConstants.CENTER);</a:t>
            </a:r>
          </a:p>
        </p:txBody>
      </p:sp>
      <p:sp>
        <p:nvSpPr>
          <p:cNvPr id="9" name="TextBox 8"/>
          <p:cNvSpPr txBox="1"/>
          <p:nvPr/>
        </p:nvSpPr>
        <p:spPr>
          <a:xfrm>
            <a:off x="6233007" y="1719072"/>
            <a:ext cx="5181447" cy="4453128"/>
          </a:xfrm>
          <a:prstGeom prst="rect">
            <a:avLst/>
          </a:prstGeom>
          <a:noFill/>
        </p:spPr>
        <p:txBody>
          <a:bodyPr wrap="square">
            <a:spAutoFit/>
          </a:bodyPr>
          <a:lstStyle/>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setLayout(new BorderLayout(10, 10));           // el JFrame usa BorderLayout</a:t>
            </a:r>
          </a:p>
          <a:p>
            <a:pPr>
              <a:spcAft>
                <a:spcPts val="400"/>
              </a:spcAft>
            </a:pPr>
            <a:r>
              <a:rPr sz="1400" b="0" i="0">
                <a:solidFill>
                  <a:srgbClr val="FFFFFF"/>
                </a:solidFill>
                <a:latin typeface="Calibri"/>
              </a:rPr>
              <a:t>        add(panelSuperior, BorderLayout.NORTH);</a:t>
            </a:r>
          </a:p>
          <a:p>
            <a:pPr>
              <a:spcAft>
                <a:spcPts val="400"/>
              </a:spcAft>
            </a:pPr>
            <a:r>
              <a:rPr sz="1400" b="0" i="0">
                <a:solidFill>
                  <a:srgbClr val="FFFFFF"/>
                </a:solidFill>
                <a:latin typeface="Calibri"/>
              </a:rPr>
              <a:t>        add(lblResultado, BorderLayout.CENTER);</a:t>
            </a:r>
          </a:p>
          <a:p>
            <a:pPr>
              <a:spcAft>
                <a:spcPts val="400"/>
              </a:spcAft>
            </a:pPr>
            <a:r>
              <a:rPr sz="1400" b="0" i="0">
                <a:solidFill>
                  <a:srgbClr val="FFFFFF"/>
                </a:solidFill>
                <a:latin typeface="Calibri"/>
              </a:rPr>
              <a:t>        add(pie, BorderLayout.SOUTH);</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btnBuscar.addActionListener(e -&gt; buscar());    // el evento solo delega</a:t>
            </a:r>
          </a:p>
          <a:p>
            <a:pPr>
              <a:spcAft>
                <a:spcPts val="400"/>
              </a:spcAft>
            </a:pPr>
            <a:r>
              <a:rPr sz="1400" b="0" i="0">
                <a:solidFill>
                  <a:srgbClr val="FFFFFF"/>
                </a:solidFill>
                <a:latin typeface="Calibri"/>
              </a:rPr>
              <a:t>        txtId.addActionListener(e -&gt; buscar());        // Enter tambien busca</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setDefaultCloseOperation(JFrame.EXIT_ON_CLOSE);</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construirInterfaz() (2/2)</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setSize(600, 230);</a:t>
            </a:r>
          </a:p>
          <a:p>
            <a:pPr>
              <a:spcAft>
                <a:spcPts val="400"/>
              </a:spcAft>
            </a:pPr>
            <a:r>
              <a:rPr sz="1400" b="0" i="0">
                <a:solidFill>
                  <a:srgbClr val="FFFFFF"/>
                </a:solidFill>
                <a:latin typeface="Calibri"/>
              </a:rPr>
              <a:t>        setLocationRelativeTo(null);                   // centrada en pantalla</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 Lee la entrada, consulta el mapa y pinta el resultado. Nada mas. */</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buscar() (1/2)</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5181447" cy="4453128"/>
          </a:xfrm>
          <a:prstGeom prst="rect">
            <a:avLst/>
          </a:prstGeom>
          <a:noFill/>
        </p:spPr>
        <p:txBody>
          <a:bodyPr wrap="square">
            <a:spAutoFit/>
          </a:bodyPr>
          <a:lstStyle/>
          <a:p>
            <a:pPr>
              <a:spcAft>
                <a:spcPts val="400"/>
              </a:spcAft>
            </a:pPr>
            <a:r>
              <a:rPr sz="1400" b="0" i="0">
                <a:solidFill>
                  <a:srgbClr val="FFFFFF"/>
                </a:solidFill>
                <a:latin typeface="Calibri"/>
              </a:rPr>
              <a:t>    private void buscar() {</a:t>
            </a:r>
          </a:p>
          <a:p>
            <a:pPr>
              <a:spcAft>
                <a:spcPts val="400"/>
              </a:spcAft>
            </a:pPr>
            <a:r>
              <a:rPr sz="1400" b="0" i="0">
                <a:solidFill>
                  <a:srgbClr val="FFFFFF"/>
                </a:solidFill>
                <a:latin typeface="Calibri"/>
              </a:rPr>
              <a:t>        try {</a:t>
            </a:r>
          </a:p>
          <a:p>
            <a:pPr>
              <a:spcAft>
                <a:spcPts val="400"/>
              </a:spcAft>
            </a:pPr>
            <a:r>
              <a:rPr sz="1400" b="0" i="0">
                <a:solidFill>
                  <a:srgbClr val="FFFFFF"/>
                </a:solidFill>
                <a:latin typeface="Calibri"/>
              </a:rPr>
              <a:t>            String id = txtId.getText().trim().toUpperCase();</a:t>
            </a:r>
          </a:p>
          <a:p>
            <a:pPr>
              <a:spcAft>
                <a:spcPts val="400"/>
              </a:spcAft>
            </a:pPr>
            <a:r>
              <a:rPr sz="1400" b="0" i="0">
                <a:solidFill>
                  <a:srgbClr val="FFFFFF"/>
                </a:solidFill>
                <a:latin typeface="Calibri"/>
              </a:rPr>
              <a:t>            if (id.isEmpty()) {</a:t>
            </a:r>
          </a:p>
          <a:p>
            <a:pPr>
              <a:spcAft>
                <a:spcPts val="400"/>
              </a:spcAft>
            </a:pPr>
            <a:r>
              <a:rPr sz="1400" b="0" i="0">
                <a:solidFill>
                  <a:srgbClr val="FFFFFF"/>
                </a:solidFill>
                <a:latin typeface="Calibri"/>
              </a:rPr>
              <a:t>                throw new IllegalArgumentException("Debe escribir un ID, por ejemplo M-002");</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Expediente e = expedientes.get(id);        // busqueda por clave, sin recorrer</a:t>
            </a:r>
          </a:p>
          <a:p>
            <a:pPr>
              <a:spcAft>
                <a:spcPts val="400"/>
              </a:spcAft>
            </a:pPr>
            <a:r>
              <a:rPr sz="1400" b="0" i="0">
                <a:solidFill>
                  <a:srgbClr val="FFFFFF"/>
                </a:solidFill>
                <a:latin typeface="Calibri"/>
              </a:rPr>
              <a:t>            if (e == null) {                           // get devuelve null si no existe</a:t>
            </a:r>
          </a:p>
          <a:p>
            <a:pPr>
              <a:spcAft>
                <a:spcPts val="400"/>
              </a:spcAft>
            </a:pPr>
            <a:r>
              <a:rPr sz="1400" b="0" i="0">
                <a:solidFill>
                  <a:srgbClr val="FFFFFF"/>
                </a:solidFill>
                <a:latin typeface="Calibri"/>
              </a:rPr>
              <a:t>                lblResultado.setText("No existe expediente con ID " + id);</a:t>
            </a:r>
          </a:p>
          <a:p>
            <a:pPr>
              <a:spcAft>
                <a:spcPts val="400"/>
              </a:spcAft>
            </a:pPr>
            <a:r>
              <a:rPr sz="1400" b="0" i="0">
                <a:solidFill>
                  <a:srgbClr val="FFFFFF"/>
                </a:solidFill>
                <a:latin typeface="Calibri"/>
              </a:rPr>
              <a:t>                JOptionPane.showMessageDialog(this,</a:t>
            </a:r>
          </a:p>
        </p:txBody>
      </p:sp>
      <p:sp>
        <p:nvSpPr>
          <p:cNvPr id="9" name="TextBox 8"/>
          <p:cNvSpPr txBox="1"/>
          <p:nvPr/>
        </p:nvSpPr>
        <p:spPr>
          <a:xfrm>
            <a:off x="6233007" y="1719072"/>
            <a:ext cx="5181447" cy="4453128"/>
          </a:xfrm>
          <a:prstGeom prst="rect">
            <a:avLst/>
          </a:prstGeom>
          <a:noFill/>
        </p:spPr>
        <p:txBody>
          <a:bodyPr wrap="square">
            <a:spAutoFit/>
          </a:bodyPr>
          <a:lstStyle/>
          <a:p>
            <a:pPr>
              <a:spcAft>
                <a:spcPts val="400"/>
              </a:spcAft>
            </a:pPr>
            <a:r>
              <a:rPr sz="1400" b="0" i="0">
                <a:solidFill>
                  <a:srgbClr val="FFFFFF"/>
                </a:solidFill>
                <a:latin typeface="Calibri"/>
              </a:rPr>
              <a:t>                        "No existe expediente con ID " + id,</a:t>
            </a:r>
          </a:p>
          <a:p>
            <a:pPr>
              <a:spcAft>
                <a:spcPts val="400"/>
              </a:spcAft>
            </a:pPr>
            <a:r>
              <a:rPr sz="1400" b="0" i="0">
                <a:solidFill>
                  <a:srgbClr val="FFFFFF"/>
                </a:solidFill>
                <a:latin typeface="Calibri"/>
              </a:rPr>
              <a:t>                        "Sin resultados", JOptionPane.WARNING_MESSAGE);</a:t>
            </a:r>
          </a:p>
          <a:p>
            <a:pPr>
              <a:spcAft>
                <a:spcPts val="400"/>
              </a:spcAft>
            </a:pPr>
            <a:r>
              <a:rPr sz="1400" b="0" i="0">
                <a:solidFill>
                  <a:srgbClr val="FFFFFF"/>
                </a:solidFill>
                <a:latin typeface="Calibri"/>
              </a:rPr>
              <a:t>                return;</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lblResultado.setText("&lt;html&gt;&lt;b&gt;" + e.getNombre() + "&lt;/b&gt; (" + e.getRaza() + ")&lt;br&gt;"</a:t>
            </a:r>
          </a:p>
          <a:p>
            <a:pPr>
              <a:spcAft>
                <a:spcPts val="400"/>
              </a:spcAft>
            </a:pPr>
            <a:r>
              <a:rPr sz="1400" b="0" i="0">
                <a:solidFill>
                  <a:srgbClr val="FFFFFF"/>
                </a:solidFill>
                <a:latin typeface="Calibri"/>
              </a:rPr>
              <a:t>                    + "Dueno: " + e.getDueno() + "&lt;br&gt;Nota clinica: " + e.getNota() + "&lt;/html&gt;");</a:t>
            </a:r>
          </a:p>
          <a:p>
            <a:pPr>
              <a:spcAft>
                <a:spcPts val="400"/>
              </a:spcAft>
            </a:pPr>
            <a:r>
              <a:rPr sz="1400" b="0" i="0">
                <a:solidFill>
                  <a:srgbClr val="FFFFFF"/>
                </a:solidFill>
                <a:latin typeface="Calibri"/>
              </a:rPr>
              <a:t>        } catch (IllegalArgumentException ex) {</a:t>
            </a:r>
          </a:p>
          <a:p>
            <a:pPr>
              <a:spcAft>
                <a:spcPts val="400"/>
              </a:spcAft>
            </a:pPr>
            <a:r>
              <a:rPr sz="1400" b="0" i="0">
                <a:solidFill>
                  <a:srgbClr val="FFFFFF"/>
                </a:solidFill>
                <a:latin typeface="Calibri"/>
              </a:rPr>
              <a:t>            JOptionPane.showMessageDialog(this, ex.getMessage(),</a:t>
            </a:r>
          </a:p>
          <a:p>
            <a:pPr>
              <a:spcAft>
                <a:spcPts val="400"/>
              </a:spcAft>
            </a:pPr>
            <a:r>
              <a:rPr sz="1400" b="0" i="0">
                <a:solidFill>
                  <a:srgbClr val="FFFFFF"/>
                </a:solidFill>
                <a:latin typeface="Calibri"/>
              </a:rPr>
              <a:t>                    "Dato invalido", JOptionPane.ERROR_MESSAGE);</a:t>
            </a:r>
          </a:p>
          <a:p>
            <a:pPr>
              <a:spcAft>
                <a:spcPts val="400"/>
              </a:spcAft>
            </a:pPr>
            <a:r>
              <a:rPr sz="1400" b="0" i="0">
                <a:solidFill>
                  <a:srgbClr val="FFFFFF"/>
                </a:solidFill>
                <a:latin typeface="Calibri"/>
              </a:rPr>
              <a:t>        }</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buscar() (2/2)</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main()</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public static void main(String[] args) {</a:t>
            </a:r>
          </a:p>
          <a:p>
            <a:pPr>
              <a:spcAft>
                <a:spcPts val="400"/>
              </a:spcAft>
            </a:pPr>
            <a:r>
              <a:rPr sz="1400" b="0" i="0">
                <a:solidFill>
                  <a:srgbClr val="FFFFFF"/>
                </a:solidFill>
                <a:latin typeface="Calibri"/>
              </a:rPr>
              <a:t>        // La interfaz se construye en el hilo de eventos de Swing (EDT)</a:t>
            </a:r>
          </a:p>
          <a:p>
            <a:pPr>
              <a:spcAft>
                <a:spcPts val="400"/>
              </a:spcAft>
            </a:pPr>
            <a:r>
              <a:rPr sz="1400" b="0" i="0">
                <a:solidFill>
                  <a:srgbClr val="FFFFFF"/>
                </a:solidFill>
                <a:latin typeface="Calibri"/>
              </a:rPr>
              <a:t>        SwingUtilities.invokeLater(() -&gt; new ClinicaBuscarExpediente().setVisible(true));</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a:t>
            </a:r>
          </a:p>
          <a:p>
            <a:pPr>
              <a:spcAft>
                <a:spcPts val="400"/>
              </a:spcAft>
            </a:pPr>
            <a:r>
              <a:rPr sz="1400" b="0" i="0">
                <a:solidFill>
                  <a:srgbClr val="FFFFFF"/>
                </a:solidFill>
                <a:latin typeface="Calibri"/>
              </a:rPr>
              <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class Expediente</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class Expediente {</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private final String id;</a:t>
            </a:r>
          </a:p>
          <a:p>
            <a:pPr>
              <a:spcAft>
                <a:spcPts val="400"/>
              </a:spcAft>
            </a:pPr>
            <a:r>
              <a:rPr sz="1400" b="0" i="0">
                <a:solidFill>
                  <a:srgbClr val="FFFFFF"/>
                </a:solidFill>
                <a:latin typeface="Calibri"/>
              </a:rPr>
              <a:t>    private final String nombre;</a:t>
            </a:r>
          </a:p>
          <a:p>
            <a:pPr>
              <a:spcAft>
                <a:spcPts val="400"/>
              </a:spcAft>
            </a:pPr>
            <a:r>
              <a:rPr sz="1400" b="0" i="0">
                <a:solidFill>
                  <a:srgbClr val="FFFFFF"/>
                </a:solidFill>
                <a:latin typeface="Calibri"/>
              </a:rPr>
              <a:t>    private final String raza;</a:t>
            </a:r>
          </a:p>
          <a:p>
            <a:pPr>
              <a:spcAft>
                <a:spcPts val="400"/>
              </a:spcAft>
            </a:pPr>
            <a:r>
              <a:rPr sz="1400" b="0" i="0">
                <a:solidFill>
                  <a:srgbClr val="FFFFFF"/>
                </a:solidFill>
                <a:latin typeface="Calibri"/>
              </a:rPr>
              <a:t>    private final String dueno;</a:t>
            </a:r>
          </a:p>
          <a:p>
            <a:pPr>
              <a:spcAft>
                <a:spcPts val="400"/>
              </a:spcAft>
            </a:pPr>
            <a:r>
              <a:rPr sz="1400" b="0" i="0">
                <a:solidFill>
                  <a:srgbClr val="FFFFFF"/>
                </a:solidFill>
                <a:latin typeface="Calibri"/>
              </a:rPr>
              <a:t>    private final String nota;</a:t>
            </a:r>
          </a:p>
          <a:p>
            <a:pPr>
              <a:spcAft>
                <a:spcPts val="400"/>
              </a:spcAft>
            </a:pPr>
            <a:r>
              <a:rPr sz="1400" b="0" i="0">
                <a:solidFill>
                  <a:srgbClr val="FFFFFF"/>
                </a:solidFill>
                <a:latin typeface="Calibri"/>
              </a:rPr>
              <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ClinicaBuscarExpediente.java — Expediente()</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public Expediente(String id, String nombre, String raza, String dueno, String nota) {</a:t>
            </a:r>
          </a:p>
          <a:p>
            <a:pPr>
              <a:spcAft>
                <a:spcPts val="400"/>
              </a:spcAft>
            </a:pPr>
            <a:r>
              <a:rPr sz="1400" b="0" i="0">
                <a:solidFill>
                  <a:srgbClr val="FFFFFF"/>
                </a:solidFill>
                <a:latin typeface="Calibri"/>
              </a:rPr>
              <a:t>        this.id = id;</a:t>
            </a:r>
          </a:p>
          <a:p>
            <a:pPr>
              <a:spcAft>
                <a:spcPts val="400"/>
              </a:spcAft>
            </a:pPr>
            <a:r>
              <a:rPr sz="1400" b="0" i="0">
                <a:solidFill>
                  <a:srgbClr val="FFFFFF"/>
                </a:solidFill>
                <a:latin typeface="Calibri"/>
              </a:rPr>
              <a:t>        this.nombre = nombre;</a:t>
            </a:r>
          </a:p>
          <a:p>
            <a:pPr>
              <a:spcAft>
                <a:spcPts val="400"/>
              </a:spcAft>
            </a:pPr>
            <a:r>
              <a:rPr sz="1400" b="0" i="0">
                <a:solidFill>
                  <a:srgbClr val="FFFFFF"/>
                </a:solidFill>
                <a:latin typeface="Calibri"/>
              </a:rPr>
              <a:t>        this.raza = raza;</a:t>
            </a:r>
          </a:p>
          <a:p>
            <a:pPr>
              <a:spcAft>
                <a:spcPts val="400"/>
              </a:spcAft>
            </a:pPr>
            <a:r>
              <a:rPr sz="1400" b="0" i="0">
                <a:solidFill>
                  <a:srgbClr val="FFFFFF"/>
                </a:solidFill>
                <a:latin typeface="Calibri"/>
              </a:rPr>
              <a:t>        this.dueno = dueno;</a:t>
            </a:r>
          </a:p>
          <a:p>
            <a:pPr>
              <a:spcAft>
                <a:spcPts val="400"/>
              </a:spcAft>
            </a:pPr>
            <a:r>
              <a:rPr sz="1400" b="0" i="0">
                <a:solidFill>
                  <a:srgbClr val="FFFFFF"/>
                </a:solidFill>
                <a:latin typeface="Calibri"/>
              </a:rPr>
              <a:t>        this.nota = nota;</a:t>
            </a:r>
          </a:p>
          <a:p>
            <a:pPr>
              <a:spcAft>
                <a:spcPts val="400"/>
              </a:spcAft>
            </a:pPr>
            <a:r>
              <a:rPr sz="1400" b="0" i="0">
                <a:solidFill>
                  <a:srgbClr val="FFFFFF"/>
                </a:solidFill>
                <a:latin typeface="Calibri"/>
              </a:rPr>
              <a:t>    }</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public String getId() { return id; }</a:t>
            </a:r>
          </a:p>
          <a:p>
            <a:pPr>
              <a:spcAft>
                <a:spcPts val="400"/>
              </a:spcAft>
            </a:pPr>
            <a:r>
              <a:rPr sz="1400" b="0" i="0">
                <a:solidFill>
                  <a:srgbClr val="FFFFFF"/>
                </a:solidFill>
                <a:latin typeface="Calibri"/>
              </a:rPr>
              <a:t>    public String getNombre() { return nombre; }</a:t>
            </a:r>
          </a:p>
          <a:p>
            <a:pPr>
              <a:spcAft>
                <a:spcPts val="400"/>
              </a:spcAft>
            </a:pPr>
            <a:r>
              <a:rPr sz="1400" b="0" i="0">
                <a:solidFill>
                  <a:srgbClr val="FFFFFF"/>
                </a:solidFill>
                <a:latin typeface="Calibri"/>
              </a:rPr>
              <a:t>    public String getRaza() { return raza; }</a:t>
            </a:r>
          </a:p>
          <a:p>
            <a:pPr>
              <a:spcAft>
                <a:spcPts val="400"/>
              </a:spcAft>
            </a:pPr>
            <a:r>
              <a:rPr sz="1400" b="0" i="0">
                <a:solidFill>
                  <a:srgbClr val="FFFFFF"/>
                </a:solidFill>
                <a:latin typeface="Calibri"/>
              </a:rPr>
              <a:t>    public String getDueno() { return dueno; }</a:t>
            </a:r>
          </a:p>
          <a:p>
            <a:pPr>
              <a:spcAft>
                <a:spcPts val="400"/>
              </a:spcAft>
            </a:pPr>
            <a:r>
              <a:rPr sz="1400" b="0" i="0">
                <a:solidFill>
                  <a:srgbClr val="FFFFFF"/>
                </a:solidFill>
                <a:latin typeface="Calibri"/>
              </a:rPr>
              <a:t>    public String getNota() { return nota; }</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@Override</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mapa busca; la ventana solo pregunta</a:t>
            </a:r>
          </a:p>
        </p:txBody>
      </p:sp>
      <p:sp>
        <p:nvSpPr>
          <p:cNvPr id="5" name="Rounded Rectangle 4"/>
          <p:cNvSpPr/>
          <p:nvPr/>
        </p:nvSpPr>
        <p:spPr>
          <a:xfrm>
            <a:off x="457200" y="1261872"/>
            <a:ext cx="11277295" cy="477316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133087"/>
          </a:xfrm>
          <a:prstGeom prst="rect">
            <a:avLst/>
          </a:prstGeom>
          <a:noFill/>
        </p:spPr>
        <p:txBody>
          <a:bodyPr wrap="square">
            <a:spAutoFit/>
          </a:bodyPr>
          <a:lstStyle/>
          <a:p>
            <a:pPr>
              <a:spcAft>
                <a:spcPts val="342"/>
              </a:spcAft>
            </a:pPr>
            <a:r>
              <a:rPr sz="1200" b="0" i="0">
                <a:solidFill>
                  <a:srgbClr val="FFFFFF"/>
                </a:solidFill>
                <a:latin typeface="Calibri"/>
              </a:rPr>
              <a:t>Map&lt;String, Expediente&gt; fichas = new HashMap&lt;&gt;();   // clave = ID unico</a:t>
            </a:r>
          </a:p>
          <a:p>
            <a:pPr>
              <a:spcAft>
                <a:spcPts val="342"/>
              </a:spcAft>
            </a:pPr>
            <a:r>
              <a:rPr sz="1200" b="0" i="0">
                <a:solidFill>
                  <a:srgbClr val="FFFFFF"/>
                </a:solidFill>
                <a:latin typeface="Calibri"/>
              </a:rPr>
              <a:t>fichas.put("M-001", firulais);                      // put REEMPLAZA si la clave existe</a:t>
            </a:r>
          </a:p>
          <a:p>
            <a:pPr>
              <a:spcAft>
                <a:spcPts val="342"/>
              </a:spcAft>
            </a:pPr>
            <a:r>
              <a:rPr sz="1200" b="0" i="0">
                <a:solidFill>
                  <a:srgbClr val="FFFFFF"/>
                </a:solidFill>
                <a:latin typeface="Calibri"/>
              </a:rPr>
              <a:t>Expediente e = fichas.get("M-004");                 // O(1) promedio: no recorre nada</a:t>
            </a:r>
          </a:p>
          <a:p>
            <a:pPr>
              <a:spcAft>
                <a:spcPts val="342"/>
              </a:spcAft>
            </a:pPr>
            <a:r>
              <a:rPr sz="1200" b="0" i="0">
                <a:solidFill>
                  <a:srgbClr val="FFFFFF"/>
                </a:solidFill>
                <a:latin typeface="Calibri"/>
              </a:rPr>
              <a:t>if (e == null) { /* la clave no existe: validar SIEMPRE */ }</a:t>
            </a:r>
          </a:p>
          <a:p>
            <a:pPr>
              <a:spcAft>
                <a:spcPts val="342"/>
              </a:spcAft>
            </a:pPr>
            <a:r>
              <a:rPr sz="1200" b="0" i="0">
                <a:solidFill>
                  <a:srgbClr val="FFFFFF"/>
                </a:solidFill>
                <a:latin typeface="Calibri"/>
              </a:rPr>
              <a:t/>
            </a:r>
          </a:p>
          <a:p>
            <a:pPr>
              <a:spcAft>
                <a:spcPts val="342"/>
              </a:spcAft>
            </a:pPr>
            <a:r>
              <a:rPr sz="1200" b="0" i="0">
                <a:solidFill>
                  <a:srgbClr val="FFFFFF"/>
                </a:solidFill>
                <a:latin typeface="Calibri"/>
              </a:rPr>
              <a:t>Set&lt;String&gt; razas = new HashSet&lt;&gt;();</a:t>
            </a:r>
          </a:p>
          <a:p>
            <a:pPr>
              <a:spcAft>
                <a:spcPts val="342"/>
              </a:spcAft>
            </a:pPr>
            <a:r>
              <a:rPr sz="1200" b="0" i="0">
                <a:solidFill>
                  <a:srgbClr val="FFFFFF"/>
                </a:solidFill>
                <a:latin typeface="Calibri"/>
              </a:rPr>
              <a:t>boolean nueva = razas.add("Labrador");              // false si ya estaba: sin duplicados</a:t>
            </a:r>
          </a:p>
          <a:p>
            <a:pPr>
              <a:spcAft>
                <a:spcPts val="342"/>
              </a:spcAft>
            </a:pPr>
            <a:r>
              <a:rPr sz="1200" b="0" i="0">
                <a:solidFill>
                  <a:srgbClr val="FFFFFF"/>
                </a:solidFill>
                <a:latin typeface="Calibri"/>
              </a:rPr>
              <a:t/>
            </a:r>
          </a:p>
          <a:p>
            <a:pPr>
              <a:spcAft>
                <a:spcPts val="342"/>
              </a:spcAft>
            </a:pPr>
            <a:r>
              <a:rPr sz="1200" b="0" i="0">
                <a:solidFill>
                  <a:srgbClr val="FFFFFF"/>
                </a:solidFill>
                <a:latin typeface="Calibri"/>
              </a:rPr>
              <a:t>JFrame v = new JFrame("Clinica");                   // 1) la ventana</a:t>
            </a:r>
          </a:p>
          <a:p>
            <a:pPr>
              <a:spcAft>
                <a:spcPts val="342"/>
              </a:spcAft>
            </a:pPr>
            <a:r>
              <a:rPr sz="1200" b="0" i="0">
                <a:solidFill>
                  <a:srgbClr val="FFFFFF"/>
                </a:solidFill>
                <a:latin typeface="Calibri"/>
              </a:rPr>
              <a:t>JPanel p = new JPanel();                            // 2) el panel contenedor</a:t>
            </a:r>
          </a:p>
          <a:p>
            <a:pPr>
              <a:spcAft>
                <a:spcPts val="342"/>
              </a:spcAft>
            </a:pPr>
            <a:r>
              <a:rPr sz="1200" b="0" i="0">
                <a:solidFill>
                  <a:srgbClr val="FFFFFF"/>
                </a:solidFill>
                <a:latin typeface="Calibri"/>
              </a:rPr>
              <a:t>JTextField txtId = new JTextField(12);              // 3) los componentes</a:t>
            </a:r>
          </a:p>
          <a:p>
            <a:pPr>
              <a:spcAft>
                <a:spcPts val="342"/>
              </a:spcAft>
            </a:pPr>
            <a:r>
              <a:rPr sz="1200" b="0" i="0">
                <a:solidFill>
                  <a:srgbClr val="FFFFFF"/>
                </a:solidFill>
                <a:latin typeface="Calibri"/>
              </a:rPr>
              <a:t>JButton btn = new JButton("Buscar");</a:t>
            </a:r>
          </a:p>
          <a:p>
            <a:pPr>
              <a:spcAft>
                <a:spcPts val="342"/>
              </a:spcAft>
            </a:pPr>
            <a:r>
              <a:rPr sz="1200" b="0" i="0">
                <a:solidFill>
                  <a:srgbClr val="FFFFFF"/>
                </a:solidFill>
                <a:latin typeface="Calibri"/>
              </a:rPr>
              <a:t>p.add(new JLabel("ID:")); p.add(txtId); p.add(btn);</a:t>
            </a:r>
          </a:p>
          <a:p>
            <a:pPr>
              <a:spcAft>
                <a:spcPts val="342"/>
              </a:spcAft>
            </a:pPr>
            <a:r>
              <a:rPr sz="1200" b="0" i="0">
                <a:solidFill>
                  <a:srgbClr val="FFFFFF"/>
                </a:solidFill>
                <a:latin typeface="Calibri"/>
              </a:rPr>
              <a:t>v.add(p, BorderLayout.NORTH);</a:t>
            </a:r>
          </a:p>
          <a:p>
            <a:pPr>
              <a:spcAft>
                <a:spcPts val="342"/>
              </a:spcAft>
            </a:pPr>
            <a:r>
              <a:rPr sz="1200" b="0" i="0">
                <a:solidFill>
                  <a:srgbClr val="FFFFFF"/>
                </a:solidFill>
                <a:latin typeface="Calibri"/>
              </a:rPr>
              <a:t>btn.addActionListener(ev -&gt; buscar());              // la GUI llama, NO calcula</a:t>
            </a:r>
          </a:p>
          <a:p>
            <a:pPr>
              <a:spcAft>
                <a:spcPts val="342"/>
              </a:spcAft>
            </a:pPr>
            <a:r>
              <a:rPr sz="1200" b="0" i="0">
                <a:solidFill>
                  <a:srgbClr val="FFFFFF"/>
                </a:solidFill>
                <a:latin typeface="Calibri"/>
              </a:rPr>
              <a:t>v.setDefaultCloseOperation(JFrame.EXIT_ON_CLOSE);</a:t>
            </a:r>
          </a:p>
          <a:p>
            <a:pPr>
              <a:spcAft>
                <a:spcPts val="342"/>
              </a:spcAft>
            </a:pPr>
            <a:r>
              <a:rPr sz="1200" b="0" i="0">
                <a:solidFill>
                  <a:srgbClr val="FFFFFF"/>
                </a:solidFill>
                <a:latin typeface="Calibri"/>
              </a:rPr>
              <a:t>v.setVisible(true);                                 // sin esta linea no aparece nada</a:t>
            </a:r>
          </a:p>
        </p:txBody>
      </p:sp>
      <p:sp>
        <p:nvSpPr>
          <p:cNvPr id="9" name="TextBox 8"/>
          <p:cNvSpPr txBox="1"/>
          <p:nvPr/>
        </p:nvSpPr>
        <p:spPr>
          <a:xfrm>
            <a:off x="457200" y="6080760"/>
            <a:ext cx="11277295" cy="320040"/>
          </a:xfrm>
          <a:prstGeom prst="rect">
            <a:avLst/>
          </a:prstGeom>
          <a:noFill/>
        </p:spPr>
        <p:txBody>
          <a:bodyPr wrap="square">
            <a:spAutoFit/>
          </a:bodyPr>
          <a:lstStyle/>
          <a:p>
            <a:pPr algn="ctr"/>
            <a:r>
              <a:rPr sz="1200" b="0" i="1">
                <a:solidFill>
                  <a:srgbClr val="666666"/>
                </a:solidFill>
                <a:latin typeface="Calibri"/>
              </a:rPr>
              <a:t>El HashMap guarda la inteligencia y la ventana solo pregunta: si la logica se le mete al boton, el sistema deja de ser reutilizable.</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Visual Studio Code (Java)</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El docente busca la ficha H-5000 dentro de un archivo historico de 5.000 expedientes, primero recorriendo un ArrayList y luego con get() sobre un HashMap comparando los nanosegundos, y despues ejecuta la misma busqueda desde una ventana Swing escrita linea por linea.</a:t>
            </a:r>
          </a:p>
          <a:p>
            <a:pPr>
              <a:spcAft>
                <a:spcPts val="800"/>
              </a:spcAft>
            </a:pPr>
            <a:r>
              <a:rPr sz="2000" b="0" i="0">
                <a:solidFill>
                  <a:srgbClr val="333333"/>
                </a:solidFill>
                <a:latin typeface="Calibri"/>
              </a:rPr>
              <a:t>–   Mismo dominio de la clinica — no otro ejemplo.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4 · Mapas, conjuntos e interfaces graficas · HashMap, HashSet y Swing</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Buscar por clave en un instante y darle cara al sistema</a:t>
            </a:r>
          </a:p>
          <a:p>
            <a:pPr algn="ctr">
              <a:spcAft>
                <a:spcPts val="600"/>
              </a:spcAft>
            </a:pPr>
            <a:r>
              <a:rPr sz="1600" b="0" i="0">
                <a:solidFill>
                  <a:srgbClr val="333333"/>
                </a:solidFill>
                <a:latin typeface="Calibri"/>
              </a:rPr>
              <a:t>Repasa las laminas de concepto y el codigo de la demo</a:t>
            </a:r>
          </a:p>
          <a:p>
            <a:pPr algn="ctr">
              <a:spcAft>
                <a:spcPts val="600"/>
              </a:spcAft>
            </a:pPr>
            <a:r>
              <a:rPr sz="1600" b="0" i="0">
                <a:solidFill>
                  <a:srgbClr val="333333"/>
                </a:solidFill>
                <a:latin typeface="Calibri"/>
              </a:rPr>
              <a:t>Siguiente clase: continuamos el hilo del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proyecto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