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el problema real de Huellitas.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arquitectura explica el rendimiento: get(i) es instantaneo porque salta directo a la posicion i del arreglo interno, agregar al final es barato casi siempre, pero add(0, mascota) o remove(0) obligan a correr un puesto a todos los demas elementos.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&lt;Mascota&gt; entre los picos se llama generico y no es decoracion: le dice al compilador que ahi solo entran Mascotas, de modo que si un estudiante intenta guardar un String el error aparece al compilar y no como un ClassCastException en plena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la lista tiene dos formas y cada una tiene su momento.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ultima idea es de diseno, y es la que hace que este codigo sirva para el resto del proyecto integrador.</a:t>
            </a:r>
          </a:p>
          <a:p/>
          <a:p>
            <a:r>
              <a:t>Eso es encapsulamiento aplicado a colecciones, y es lo que hara posible que en las proximas clases la misma clase RegistroMascotas alimente una tabla de Swing y despues se guarde en un archivo CSV sin cambiar una sola linea de la logica.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la clinica veterinaria Huellitas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Huellitas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la clinica guarda las fichas de las mascotas en una carpeta de carton con 50 separadores; cuando llega la mascota 51 toca comprar otra carpeta y volver a organizar todo.</a:t>
            </a:r>
          </a:p>
          <a:p>
            <a:pPr>
              <a:spcAft>
                <a:spcPts val="800"/>
              </a:spcAft>
            </a:pPr>
            <a:r>
              <a:rPr sz="2000" b="0" i="0">
                <a:solidFill>
                  <a:srgbClr val="333333"/>
                </a:solidFill>
                <a:latin typeface="Calibri"/>
              </a:rPr>
              <a:t>–   En Java eso mismo es un arreglo: cuando usted escribe Mascota[] fichero = new Mascota[50] esta pidiendole a la maquina un bloque de memoria contiguo con exactamente 50 casillas, y ese numero queda grabado en piedra para toda la vida del objeto.</a:t>
            </a:r>
          </a:p>
          <a:p>
            <a:pPr>
              <a:spcAft>
                <a:spcPts val="800"/>
              </a:spcAft>
            </a:pPr>
            <a:r>
              <a:rPr sz="2000" b="0" i="0">
                <a:solidFill>
                  <a:srgbClr val="333333"/>
                </a:solidFill>
                <a:latin typeface="Calibri"/>
              </a:rPr>
              <a:t>–   El arreglo no tiene metodo para crecer, solo tiene el atributo length, que es de solo lectura; si quiere 80 casillas debe crear otro arreglo mas grande, copiar una por una las 50 fichas viejas y reasignar la variable.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Huellitas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arreglo es rapidisimo y perfectamente valido cuando usted sabe de antemano cuantos elementos va a tener (los 7 dias de la semana, los 12 meses)</a:t>
            </a:r>
          </a:p>
          <a:p>
            <a:pPr>
              <a:spcAft>
                <a:spcPts val="800"/>
              </a:spcAft>
            </a:pPr>
            <a:r>
              <a:rPr sz="2000" b="0" i="0">
                <a:solidFill>
                  <a:srgbClr val="333333"/>
                </a:solidFill>
                <a:latin typeface="Calibri"/>
              </a:rPr>
              <a:t>–   Pero es una pesima idea para algo que crece todos los dias, como el numero de pacientes de una veterinaria que apenas esta digitalizando su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ArrayList es exactamente esa carpeta que se agranda sola, y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ArrayList es exactamente esa carpeta que se agranda sola, y aqui viene lo importante: por dentro tambien es un arreglo.</a:t>
            </a:r>
          </a:p>
          <a:p>
            <a:pPr>
              <a:spcAft>
                <a:spcPts val="800"/>
              </a:spcAft>
            </a:pPr>
            <a:r>
              <a:rPr sz="2000" b="0" i="0">
                <a:solidFill>
                  <a:srgbClr val="333333"/>
                </a:solidFill>
                <a:latin typeface="Calibri"/>
              </a:rPr>
              <a:t>–   La clase ArrayList guarda un arreglo interno oculto (llamado elementData) y lleva dos numeros distintos: la capacidad, que es cuantas casillas tiene el arreglo interno, y el tamano, que es cuantos elementos usted realmente guardo.</a:t>
            </a:r>
          </a:p>
          <a:p>
            <a:pPr>
              <a:spcAft>
                <a:spcPts val="800"/>
              </a:spcAft>
            </a:pPr>
            <a:r>
              <a:rPr sz="2000" b="0" i="0">
                <a:solidFill>
                  <a:srgbClr val="333333"/>
                </a:solidFill>
                <a:latin typeface="Calibri"/>
              </a:rPr>
              <a:t>–   Cuando usted hace add y el arreglo interno se llena, ArrayList crea silenciosamente uno nuevo aproximadamente 1.5 veces mas grande, copia todo con Arrays.copyOf y sigue como si nada; usted nunca se entera.</a:t>
            </a:r>
          </a:p>
          <a:p>
            <a:pPr>
              <a:spcAft>
                <a:spcPts val="800"/>
              </a:spcAft>
            </a:pPr>
            <a:r>
              <a:rPr sz="2000" b="0" i="0">
                <a:solidFill>
                  <a:srgbClr val="333333"/>
                </a:solidFill>
                <a:latin typeface="Calibri"/>
              </a:rPr>
              <a:t>–   En VetCare eso significa que agregar la mascota nueva al final del registro no cuesta nada, mientras que borrar siempre la primera ficha de una lista de 5.000 pacientes es la operacion mas cara que usted puede 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interfaz de trabajo es corta y hay que dominarla de memoria.</a:t>
            </a:r>
          </a:p>
          <a:p>
            <a:pPr>
              <a:spcAft>
                <a:spcPts val="800"/>
              </a:spcAft>
            </a:pPr>
            <a:r>
              <a:rPr sz="2000" b="0" i="0">
                <a:solidFill>
                  <a:srgbClr val="333333"/>
                </a:solidFill>
                <a:latin typeface="Calibri"/>
              </a:rPr>
              <a:t>–   Se declara asi:; el List&lt;Mascota&gt; del lado izquierdo es la interfaz (el contrato) y el ArrayList&lt;&gt; del lado derecho es la implementacion concreta.</a:t>
            </a:r>
          </a:p>
          <a:p>
            <a:pPr>
              <a:spcAft>
                <a:spcPts val="800"/>
              </a:spcAft>
            </a:pPr>
            <a:r>
              <a:rPr sz="2000" b="0" i="0">
                <a:solidFill>
                  <a:srgbClr val="333333"/>
                </a:solidFill>
                <a:latin typeface="Calibri"/>
              </a:rPr>
              <a:t>–   Los metodos que usaremos toda la clase son add(objeto) para agregar al final, get(indice) para leer la posicion indicada, size() para saber cuantos hay</a:t>
            </a:r>
          </a:p>
          <a:p>
            <a:pPr>
              <a:spcAft>
                <a:spcPts val="800"/>
              </a:spcAft>
            </a:pPr>
            <a:r>
              <a:rPr sz="2000" b="0" i="0">
                <a:solidFill>
                  <a:srgbClr val="333333"/>
                </a:solidFill>
                <a:latin typeface="Calibri"/>
              </a:rPr>
              <a:t>–   Remove(indice) o remove(objeto) para sacar, set(indice, objeto) para reemplazar, isEmpty(), contains(objeto) e indexOf(objeto).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Ojo con un detalle fino que confunde a todo el mundo: contains e indexOf comparan usando equals, asi que si usted no sobreescribe equals en Mascota, dos objetos con el mismo ID pero creados por separado seran considerados diferentes</a:t>
            </a:r>
          </a:p>
          <a:p>
            <a:pPr>
              <a:spcAft>
                <a:spcPts val="800"/>
              </a:spcAft>
            </a:pPr>
            <a:r>
              <a:rPr sz="2000" b="0" i="0">
                <a:solidFill>
                  <a:srgbClr val="333333"/>
                </a:solidFill>
                <a:latin typeface="Calibri"/>
              </a:rPr>
              <a:t>–   Por eso en VetCare buscamos por ID recorriendo la lista y comparando m.getId().equalsIgnoreCase(id).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List&lt;Mascota&gt; mascotas = new ArrayList&lt;&gt;()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for clasico con indice (for (int i = 0; i &lt; mascotas.size(); i++)) se usa cuando usted necesita el numero de la posicion, por ejemplo para imprimir el listado numerado de la sala de espera.</a:t>
            </a:r>
          </a:p>
          <a:p>
            <a:pPr>
              <a:spcAft>
                <a:spcPts val="800"/>
              </a:spcAft>
            </a:pPr>
            <a:r>
              <a:rPr sz="2000" b="0" i="0">
                <a:solidFill>
                  <a:srgbClr val="333333"/>
                </a:solidFill>
                <a:latin typeface="Calibri"/>
              </a:rPr>
              <a:t>–   El for-each (for (Mascota m: mascotas)) se usa cuando solo va a leer, es mas limpio y es el que debe volverse su reflejo.</a:t>
            </a:r>
          </a:p>
          <a:p>
            <a:pPr>
              <a:spcAft>
                <a:spcPts val="800"/>
              </a:spcAft>
            </a:pPr>
            <a:r>
              <a:rPr sz="2000" b="0" i="0">
                <a:solidFill>
                  <a:srgbClr val="333333"/>
                </a:solidFill>
                <a:latin typeface="Calibri"/>
              </a:rPr>
              <a:t>–   Ahora la trampa que se lleva por delante a media clase: si usted borra un elemento dentro de un for-each, Java lanza ConcurrentModificationException, porque el recorrido se da cuenta de que la lista cambio debajo de sus pies.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correcta es usar un Iterator explicito y llamar a it.remove(), o usar mascotas.removeIf(m -&gt; m.getEdad() &gt;= 9).</a:t>
            </a:r>
          </a:p>
          <a:p>
            <a:pPr>
              <a:spcAft>
                <a:spcPts val="800"/>
              </a:spcAft>
            </a:pPr>
            <a:r>
              <a:rPr sz="2000" b="0" i="0">
                <a:solidFill>
                  <a:srgbClr val="333333"/>
                </a:solidFill>
                <a:latin typeface="Calibri"/>
              </a:rPr>
              <a:t>–   En VetCare esto aparece apenas queremos pasar a control geriatrico a todas las mascotas de nueve anios o mas: se recorre con Iterator, se saca con it.remove() y no truena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ultima idea es de diseno, y es la que hace que este codigo sirva...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lista no debe ser un atributo publico que cualquiera manipula desde main; debe vivir privada dentro de la clase RegistroMascotas</a:t>
            </a:r>
          </a:p>
          <a:p>
            <a:pPr>
              <a:spcAft>
                <a:spcPts val="800"/>
              </a:spcAft>
            </a:pPr>
            <a:r>
              <a:rPr sz="2000" b="0" i="0">
                <a:solidFill>
                  <a:srgbClr val="333333"/>
                </a:solidFill>
                <a:latin typeface="Calibri"/>
              </a:rPr>
              <a:t>–   Y el mundo exterior solo puede hablarle a traves de metodos con reglas de negocio: agregar valida que el ID no este repetido, eliminarPorId avisa si la mascota no existe, buscarPorId devuelve null cuando no la encuentra.</a:t>
            </a:r>
          </a:p>
          <a:p>
            <a:pPr>
              <a:spcAft>
                <a:spcPts val="800"/>
              </a:spcAft>
            </a:pPr>
            <a:r>
              <a:rPr sz="2000" b="0" i="0">
                <a:solidFill>
                  <a:srgbClr val="333333"/>
                </a:solidFill>
                <a:latin typeface="Calibri"/>
              </a:rPr>
              <a:t>–   Programe siempre contra la interfaz (List) y no contra la implementacion (ArrayList), porque si manana necesita cambiar a LinkedList solo toca una linea.</a:t>
            </a:r>
          </a:p>
          <a:p>
            <a:pPr>
              <a:spcAft>
                <a:spcPts val="800"/>
              </a:spcAft>
            </a:pPr>
            <a:r>
              <a:rPr sz="2000" b="0" i="0">
                <a:solidFill>
                  <a:srgbClr val="333333"/>
                </a:solidFill>
                <a:latin typeface="Calibri"/>
              </a:rPr>
              <a:t>–   Y sobreescriba toString() en Mascota desde ya: sin el, imprimir la lista muestra basura como vetcare.Mascota@6d06d69c y los estudiantes creen que el programa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VetCareRegistroMascotas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VetCareRegistroMascotas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1. El arreglo fijo se queda corto ===");</a:t>
            </a:r>
          </a:p>
          <a:p>
            <a:pPr>
              <a:spcAft>
                <a:spcPts val="400"/>
              </a:spcAft>
            </a:pPr>
            <a:r>
              <a:rPr sz="1400" b="0" i="0">
                <a:solidFill>
                  <a:srgbClr val="FFFFFF"/>
                </a:solidFill>
                <a:latin typeface="Calibri"/>
              </a:rPr>
              <a:t>        Mascota[] fichero = new Mascota[3]; // el tamano se decide hoy y ya no cambia</a:t>
            </a:r>
          </a:p>
          <a:p>
            <a:pPr>
              <a:spcAft>
                <a:spcPts val="400"/>
              </a:spcAft>
            </a:pPr>
            <a:r>
              <a:rPr sz="1400" b="0" i="0">
                <a:solidFill>
                  <a:srgbClr val="FFFFFF"/>
                </a:solidFill>
                <a:latin typeface="Calibri"/>
              </a:rPr>
              <a:t>        fichero[0] = new Mascota("M-001", "Firulais", "Canino", 4, "Ana Gomez");</a:t>
            </a:r>
          </a:p>
          <a:p>
            <a:pPr>
              <a:spcAft>
                <a:spcPts val="400"/>
              </a:spcAft>
            </a:pPr>
            <a:r>
              <a:rPr sz="1400" b="0" i="0">
                <a:solidFill>
                  <a:srgbClr val="FFFFFF"/>
                </a:solidFill>
                <a:latin typeface="Calibri"/>
              </a:rPr>
              <a:t>        fichero[1] = new Mascota("M-002", "Michi", "Felino", 2, "Luis Perez");</a:t>
            </a:r>
          </a:p>
          <a:p>
            <a:pPr>
              <a:spcAft>
                <a:spcPts val="400"/>
              </a:spcAft>
            </a:pPr>
            <a:r>
              <a:rPr sz="1400" b="0" i="0">
                <a:solidFill>
                  <a:srgbClr val="FFFFFF"/>
                </a:solidFill>
                <a:latin typeface="Calibri"/>
              </a:rPr>
              <a:t>        fichero[2] = new Mascota("M-003", "Rocky", "Canino", 9, "Ana Gomez");</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fichero[3] = new Mascota("M-004", "Nieve", "Felino", 1, "Sara Diaz");</a:t>
            </a:r>
          </a:p>
          <a:p>
            <a:pPr>
              <a:spcAft>
                <a:spcPts val="400"/>
              </a:spcAft>
            </a:pPr>
            <a:r>
              <a:rPr sz="1400" b="0" i="0">
                <a:solidFill>
                  <a:srgbClr val="FFFFFF"/>
                </a:solidFill>
                <a:latin typeface="Calibri"/>
              </a:rPr>
              <a:t>        } catch (ArrayIndexOutOfBoundsException e)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cabe la cuarta mascota: fichero.length = " + fichero.length);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2. El mismo caso con ArrayList ===");</a:t>
            </a:r>
          </a:p>
          <a:p>
            <a:pPr>
              <a:spcAft>
                <a:spcPts val="400"/>
              </a:spcAft>
            </a:pPr>
            <a:r>
              <a:rPr sz="1400" b="0" i="0">
                <a:solidFill>
                  <a:srgbClr val="FFFFFF"/>
                </a:solidFill>
                <a:latin typeface="Calibri"/>
              </a:rPr>
              <a:t>        RegistroMascotas registro = new RegistroMascotas();</a:t>
            </a:r>
          </a:p>
          <a:p>
            <a:pPr>
              <a:spcAft>
                <a:spcPts val="400"/>
              </a:spcAft>
            </a:pPr>
            <a:r>
              <a:rPr sz="1400" b="0" i="0">
                <a:solidFill>
                  <a:srgbClr val="FFFFFF"/>
                </a:solidFill>
                <a:latin typeface="Calibri"/>
              </a:rPr>
              <a:t>        for (Mascota m: fichero) {</a:t>
            </a:r>
          </a:p>
          <a:p>
            <a:pPr>
              <a:spcAft>
                <a:spcPts val="400"/>
              </a:spcAft>
            </a:pPr>
            <a:r>
              <a:rPr sz="1400" b="0" i="0">
                <a:solidFill>
                  <a:srgbClr val="FFFFFF"/>
                </a:solidFill>
                <a:latin typeface="Calibri"/>
              </a:rPr>
              <a:t>            registro.agregar(m);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registro.agregar(new Mascota("M-004", "Nieve", "Felino", 1, "Sara Diaz"));</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registro.agregar(new Mascota("M-005", "Toby", "Canino", 11, "Sara Diaz"));</a:t>
            </a:r>
          </a:p>
          <a:p>
            <a:pPr>
              <a:spcAft>
                <a:spcPts val="400"/>
              </a:spcAft>
            </a:pPr>
            <a:r>
              <a:rPr sz="1400" b="0" i="0">
                <a:solidFill>
                  <a:srgbClr val="FFFFFF"/>
                </a:solidFill>
                <a:latin typeface="Calibri"/>
              </a:rPr>
              <a:t>        registro.agregar(new Mascota("M-001", "Firulais repetida", "Canino", 4, "Ana Gomez"));</a:t>
            </a:r>
          </a:p>
          <a:p>
            <a:pPr>
              <a:spcAft>
                <a:spcPts val="400"/>
              </a:spcAft>
            </a:pPr>
            <a:r>
              <a:rPr sz="1400" b="0" i="0">
                <a:solidFill>
                  <a:srgbClr val="FFFFFF"/>
                </a:solidFill>
                <a:latin typeface="Calibri"/>
              </a:rPr>
              <a:t>        System.out.println("size() = " + registro.cantidad() + " (la lista crecio sola)");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3. Recorrido y busqueda por ID ===");</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System.out.println("buscarPorId(M-003) -&gt; " + registro.buscarPorId("M-003"));</a:t>
            </a:r>
          </a:p>
          <a:p>
            <a:pPr>
              <a:spcAft>
                <a:spcPts val="400"/>
              </a:spcAft>
            </a:pPr>
            <a:r>
              <a:rPr sz="1400" b="0" i="0">
                <a:solidFill>
                  <a:srgbClr val="FFFFFF"/>
                </a:solidFill>
                <a:latin typeface="Calibri"/>
              </a:rPr>
              <a:t>        System.out.println("buscarPorId(M-099) -&gt; " + registro.buscarPorId("M-099"));</a:t>
            </a:r>
          </a:p>
          <a:p>
            <a:pPr>
              <a:spcAft>
                <a:spcPts val="400"/>
              </a:spcAft>
            </a:pPr>
            <a:r>
              <a:rPr sz="1400" b="0" i="0">
                <a:solidFill>
                  <a:srgbClr val="FFFFFF"/>
                </a:solidFill>
                <a:latin typeface="Calibri"/>
              </a:rPr>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4. Eliminar sin romper el recorrido ===");</a:t>
            </a:r>
          </a:p>
          <a:p>
            <a:pPr>
              <a:spcAft>
                <a:spcPts val="400"/>
              </a:spcAft>
            </a:pPr>
            <a:r>
              <a:rPr sz="1400" b="0" i="0">
                <a:solidFill>
                  <a:srgbClr val="FFFFFF"/>
                </a:solidFill>
                <a:latin typeface="Calibri"/>
              </a:rPr>
              <a:t>        registro.eliminarPorId("M-002");</a:t>
            </a:r>
          </a:p>
          <a:p>
            <a:pPr>
              <a:spcAft>
                <a:spcPts val="400"/>
              </a:spcAft>
            </a:pPr>
            <a:r>
              <a:rPr sz="1400" b="0" i="0">
                <a:solidFill>
                  <a:srgbClr val="FFFFFF"/>
                </a:solidFill>
                <a:latin typeface="Calibri"/>
              </a:rPr>
              <a:t>        registro.pasarAGeriatria(9); // con Iterator: borrar en un for-each lanza excepcion</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System.out.println("Total activo: " + registro.cantidad());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5. Menu de consola (el main nunca toca la lista) ===");</a:t>
            </a:r>
          </a:p>
          <a:p>
            <a:pPr>
              <a:spcAft>
                <a:spcPts val="400"/>
              </a:spcAft>
            </a:pPr>
            <a:r>
              <a:rPr sz="1400" b="0" i="0">
                <a:solidFill>
                  <a:srgbClr val="FFFFFF"/>
                </a:solidFill>
                <a:latin typeface="Calibri"/>
              </a:rPr>
              <a:t>        menu(registro);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El menu solo conversa con RegistroMascotas: no conoce la lista por dentro.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menu(RegistroMascotas registro) {</a:t>
            </a:r>
          </a:p>
          <a:p>
            <a:pPr>
              <a:spcAft>
                <a:spcPts val="400"/>
              </a:spcAft>
            </a:pPr>
            <a:r>
              <a:rPr sz="1400" b="0" i="0">
                <a:solidFill>
                  <a:srgbClr val="FFFFFF"/>
                </a:solidFill>
                <a:latin typeface="Calibri"/>
              </a:rPr>
              <a:t>        Scanner sc = new Scanner(System.in);</a:t>
            </a:r>
          </a:p>
          <a:p>
            <a:pPr>
              <a:spcAft>
                <a:spcPts val="400"/>
              </a:spcAft>
            </a:pPr>
            <a:r>
              <a:rPr sz="1400" b="0" i="0">
                <a:solidFill>
                  <a:srgbClr val="FFFFFF"/>
                </a:solidFill>
                <a:latin typeface="Calibri"/>
              </a:rPr>
              <a:t>        int opcion = 0;</a:t>
            </a:r>
          </a:p>
          <a:p>
            <a:pPr>
              <a:spcAft>
                <a:spcPts val="400"/>
              </a:spcAft>
            </a:pPr>
            <a:r>
              <a:rPr sz="1400" b="0" i="0">
                <a:solidFill>
                  <a:srgbClr val="FFFFFF"/>
                </a:solidFill>
                <a:latin typeface="Calibri"/>
              </a:rPr>
              <a:t>        while (opcion != 5)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System.out.println("1-Agregar  2-Listar  3-Buscar por ID  4-Eliminar  5-Salir");</a:t>
            </a:r>
          </a:p>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if (!sc.hasNextLine()) {</a:t>
            </a:r>
          </a:p>
          <a:p>
            <a:pPr>
              <a:spcAft>
                <a:spcPts val="400"/>
              </a:spcAft>
            </a:pPr>
            <a:r>
              <a:rPr sz="1400" b="0" i="0">
                <a:solidFill>
                  <a:srgbClr val="FFFFFF"/>
                </a:solidFill>
                <a:latin typeface="Calibri"/>
              </a:rPr>
              <a:t>                break; // la consola no tiene mas entrada disponible</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opcion =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System.out.println("Escriba un numero del 1 al 5");</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System.out.print("ID: ");</a:t>
            </a:r>
          </a:p>
          <a:p>
            <a:pPr>
              <a:spcAft>
                <a:spcPts val="400"/>
              </a:spcAft>
            </a:pPr>
            <a:r>
              <a:rPr sz="1400" b="0" i="0">
                <a:solidFill>
                  <a:srgbClr val="FFFFFF"/>
                </a:solidFill>
                <a:latin typeface="Calibri"/>
              </a:rPr>
              <a:t>                    String id = sc.nextLine().trim();</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System.out.print("Nombre: ");</a:t>
            </a:r>
          </a:p>
          <a:p>
            <a:pPr>
              <a:spcAft>
                <a:spcPts val="400"/>
              </a:spcAft>
            </a:pPr>
            <a:r>
              <a:rPr sz="1400" b="0" i="0">
                <a:solidFill>
                  <a:srgbClr val="FFFFFF"/>
                </a:solidFill>
                <a:latin typeface="Calibri"/>
              </a:rPr>
              <a:t>                    String nombre = sc.nextLine().trim();</a:t>
            </a:r>
          </a:p>
          <a:p>
            <a:pPr>
              <a:spcAft>
                <a:spcPts val="400"/>
              </a:spcAft>
            </a:pPr>
            <a:r>
              <a:rPr sz="1400" b="0" i="0">
                <a:solidFill>
                  <a:srgbClr val="FFFFFF"/>
                </a:solidFill>
                <a:latin typeface="Calibri"/>
              </a:rPr>
              <a:t>                    System.out.print("Especie: ");</a:t>
            </a:r>
          </a:p>
          <a:p>
            <a:pPr>
              <a:spcAft>
                <a:spcPts val="400"/>
              </a:spcAft>
            </a:pPr>
            <a:r>
              <a:rPr sz="1400" b="0" i="0">
                <a:solidFill>
                  <a:srgbClr val="FFFFFF"/>
                </a:solidFill>
                <a:latin typeface="Calibri"/>
              </a:rPr>
              <a:t>                    String especie = sc.nextLine().trim();</a:t>
            </a:r>
          </a:p>
          <a:p>
            <a:pPr>
              <a:spcAft>
                <a:spcPts val="400"/>
              </a:spcAft>
            </a:pPr>
            <a:r>
              <a:rPr sz="1400" b="0" i="0">
                <a:solidFill>
                  <a:srgbClr val="FFFFFF"/>
                </a:solidFill>
                <a:latin typeface="Calibri"/>
              </a:rPr>
              <a:t>                    System.out.print("Edad: ");</a:t>
            </a:r>
          </a:p>
          <a:p>
            <a:pPr>
              <a:spcAft>
                <a:spcPts val="400"/>
              </a:spcAft>
            </a:pPr>
            <a:r>
              <a:rPr sz="1400" b="0" i="0">
                <a:solidFill>
                  <a:srgbClr val="FFFFFF"/>
                </a:solidFill>
                <a:latin typeface="Calibri"/>
              </a:rPr>
              <a:t>                    int edad = leerEntero(sc);</a:t>
            </a:r>
          </a:p>
          <a:p>
            <a:pPr>
              <a:spcAft>
                <a:spcPts val="400"/>
              </a:spcAft>
            </a:pPr>
            <a:r>
              <a:rPr sz="1400" b="0" i="0">
                <a:solidFill>
                  <a:srgbClr val="FFFFFF"/>
                </a:solidFill>
                <a:latin typeface="Calibri"/>
              </a:rPr>
              <a:t>                    System.out.print("Dueno: ");</a:t>
            </a:r>
          </a:p>
          <a:p>
            <a:pPr>
              <a:spcAft>
                <a:spcPts val="400"/>
              </a:spcAft>
            </a:pPr>
            <a:r>
              <a:rPr sz="1400" b="0" i="0">
                <a:solidFill>
                  <a:srgbClr val="FFFFFF"/>
                </a:solidFill>
                <a:latin typeface="Calibri"/>
              </a:rPr>
              <a:t>                    String dueno = sc.nextLine().trim();</a:t>
            </a:r>
          </a:p>
          <a:p>
            <a:pPr>
              <a:spcAft>
                <a:spcPts val="400"/>
              </a:spcAft>
            </a:pPr>
            <a:r>
              <a:rPr sz="1400" b="0" i="0">
                <a:solidFill>
                  <a:srgbClr val="FFFFFF"/>
                </a:solidFill>
                <a:latin typeface="Calibri"/>
              </a:rPr>
              <a:t>                    registro.agregar(new Mascota(id, nombre, especie, edad, dueno));</a:t>
            </a:r>
          </a:p>
          <a:p>
            <a:pPr>
              <a:spcAft>
                <a:spcPts val="400"/>
              </a:spcAft>
            </a:pPr>
            <a:r>
              <a:rPr sz="1400" b="0" i="0">
                <a:solidFill>
                  <a:srgbClr val="FFFFFF"/>
                </a:solidFill>
                <a:latin typeface="Calibri"/>
              </a:rPr>
              <a:t>                    break;</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a:p>
            <a:pPr>
              <a:spcAft>
                <a:spcPts val="400"/>
              </a:spcAft>
            </a:pPr>
            <a:r>
              <a:rPr sz="1400" b="0" i="0">
                <a:solidFill>
                  <a:srgbClr val="FFFFFF"/>
                </a:solidFill>
                <a:latin typeface="Calibri"/>
              </a:rPr>
              <a:t>                    System.out.print("ID a buscar: ");</a:t>
            </a:r>
          </a:p>
          <a:p>
            <a:pPr>
              <a:spcAft>
                <a:spcPts val="400"/>
              </a:spcAft>
            </a:pPr>
            <a:r>
              <a:rPr sz="1400" b="0" i="0">
                <a:solidFill>
                  <a:srgbClr val="FFFFFF"/>
                </a:solidFill>
                <a:latin typeface="Calibri"/>
              </a:rPr>
              <a:t>                    Mascota encontrada = registro.buscarPorId(sc.nextLine().trim());</a:t>
            </a:r>
          </a:p>
          <a:p>
            <a:pPr>
              <a:spcAft>
                <a:spcPts val="400"/>
              </a:spcAft>
            </a:pPr>
            <a:r>
              <a:rPr sz="1400" b="0" i="0">
                <a:solidFill>
                  <a:srgbClr val="FFFFFF"/>
                </a:solidFill>
                <a:latin typeface="Calibri"/>
              </a:rPr>
              <a:t>                    System.out.println(encontrada != null ? encontrada: "No existe esa mascota");</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4:</a:t>
            </a:r>
          </a:p>
          <a:p>
            <a:pPr>
              <a:spcAft>
                <a:spcPts val="400"/>
              </a:spcAft>
            </a:pPr>
            <a:r>
              <a:rPr sz="1400" b="0" i="0">
                <a:solidFill>
                  <a:srgbClr val="FFFFFF"/>
                </a:solidFill>
                <a:latin typeface="Calibri"/>
              </a:rPr>
              <a:t>                    System.out.print("ID a eliminar: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registro.eliminarPorId(sc.nextLine().trim());</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5:</a:t>
            </a:r>
          </a:p>
          <a:p>
            <a:pPr>
              <a:spcAft>
                <a:spcPts val="400"/>
              </a:spcAft>
            </a:pPr>
            <a:r>
              <a:rPr sz="1400" b="0" i="0">
                <a:solidFill>
                  <a:srgbClr val="FFFFFF"/>
                </a:solidFill>
                <a:latin typeface="Calibri"/>
              </a:rPr>
              <a:t>                    System.out.println("Hasta luego");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default:</a:t>
            </a:r>
          </a:p>
          <a:p>
            <a:pPr>
              <a:spcAft>
                <a:spcPts val="400"/>
              </a:spcAft>
            </a:pPr>
            <a:r>
              <a:rPr sz="1400" b="0" i="0">
                <a:solidFill>
                  <a:srgbClr val="FFFFFF"/>
                </a:solidFill>
                <a:latin typeface="Calibri"/>
              </a:rPr>
              <a:t>                    System.out.println("Opcion no valida");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leerEntero()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leerEntero(Scanner sc) {</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return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System.out.println("Edad invalida: se registra 0");</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this.dueno = 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String getId() { return id; }</a:t>
            </a:r>
          </a:p>
          <a:p>
            <a:pPr>
              <a:spcAft>
                <a:spcPts val="400"/>
              </a:spcAft>
            </a:pPr>
            <a:r>
              <a:rPr sz="1400" b="0" i="0">
                <a:solidFill>
                  <a:srgbClr val="FFFFFF"/>
                </a:solidFill>
                <a:latin typeface="Calibri"/>
              </a:rPr>
              <a:t>    public String getNombre() { return nombre; }</a:t>
            </a:r>
          </a:p>
          <a:p>
            <a:pPr>
              <a:spcAft>
                <a:spcPts val="400"/>
              </a:spcAft>
            </a:pPr>
            <a:r>
              <a:rPr sz="1400" b="0" i="0">
                <a:solidFill>
                  <a:srgbClr val="FFFFFF"/>
                </a:solidFill>
                <a:latin typeface="Calibri"/>
              </a:rPr>
              <a:t>    public String getEspecie() { return especie; }</a:t>
            </a:r>
          </a:p>
          <a:p>
            <a:pPr>
              <a:spcAft>
                <a:spcPts val="400"/>
              </a:spcAft>
            </a:pPr>
            <a:r>
              <a:rPr sz="1400" b="0" i="0">
                <a:solidFill>
                  <a:srgbClr val="FFFFFF"/>
                </a:solidFill>
                <a:latin typeface="Calibri"/>
              </a:rPr>
              <a:t>    public int getEdad() { return edad; }</a:t>
            </a:r>
          </a:p>
          <a:p>
            <a:pPr>
              <a:spcAft>
                <a:spcPts val="400"/>
              </a:spcAft>
            </a:pPr>
            <a:r>
              <a:rPr sz="1400" b="0" i="0">
                <a:solidFill>
                  <a:srgbClr val="FFFFFF"/>
                </a:solidFill>
                <a:latin typeface="Calibri"/>
              </a:rPr>
              <a:t>    public String getDueno() { return dueno;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@Override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class 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RegistroMascotas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La lista vive privada: nadie le mete mano sin pasar por las reglas del negocio</a:t>
            </a:r>
          </a:p>
          <a:p>
            <a:pPr>
              <a:spcAft>
                <a:spcPts val="400"/>
              </a:spcAft>
            </a:pPr>
            <a:r>
              <a:rPr sz="1400" b="0" i="0">
                <a:solidFill>
                  <a:srgbClr val="FFFFFF"/>
                </a:solidFill>
                <a:latin typeface="Calibri"/>
              </a:rPr>
              <a:t>    private final List&lt;Mascota&gt; mascotas = new ArrayList&lt;&gt;();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agregar()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agregar(Mascota m) {</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System.out.println("Ficha nula, no se registra");</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if (buscarPorId(m.getId()) != null) {</a:t>
            </a:r>
          </a:p>
          <a:p>
            <a:pPr>
              <a:spcAft>
                <a:spcPts val="400"/>
              </a:spcAft>
            </a:pPr>
            <a:r>
              <a:rPr sz="1400" b="0" i="0">
                <a:solidFill>
                  <a:srgbClr val="FFFFFF"/>
                </a:solidFill>
                <a:latin typeface="Calibri"/>
              </a:rPr>
              <a:t>            System.out.println("ID repetido, se rechaza: " + m.getId());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mascotas.add(m); // add siempre agrega al final</a:t>
            </a:r>
          </a:p>
          <a:p>
            <a:pPr>
              <a:spcAft>
                <a:spcPts val="400"/>
              </a:spcAft>
            </a:pPr>
            <a:r>
              <a:rPr sz="1400" b="0" i="0">
                <a:solidFill>
                  <a:srgbClr val="FFFFFF"/>
                </a:solidFill>
                <a:latin typeface="Calibri"/>
              </a:rPr>
              <a:t>        System.out.println("Registrada: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buscarPorId()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 buscarPorId(String id) {</a:t>
            </a:r>
          </a:p>
          <a:p>
            <a:pPr>
              <a:spcAft>
                <a:spcPts val="400"/>
              </a:spcAft>
            </a:pPr>
            <a:r>
              <a:rPr sz="1400" b="0" i="0">
                <a:solidFill>
                  <a:srgbClr val="FFFFFF"/>
                </a:solidFill>
                <a:latin typeface="Calibri"/>
              </a:rPr>
              <a:t>        if (id == null) {</a:t>
            </a:r>
          </a:p>
          <a:p>
            <a:pPr>
              <a:spcAft>
                <a:spcPts val="400"/>
              </a:spcAft>
            </a:pPr>
            <a:r>
              <a:rPr sz="1400" b="0" i="0">
                <a:solidFill>
                  <a:srgbClr val="FFFFFF"/>
                </a:solidFill>
                <a:latin typeface="Calibri"/>
              </a:rPr>
              <a:t>            return null;</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(Mascota m: mascotas) { // for-each: solo para leer</a:t>
            </a:r>
          </a:p>
          <a:p>
            <a:pPr>
              <a:spcAft>
                <a:spcPts val="400"/>
              </a:spcAft>
            </a:pPr>
            <a:r>
              <a:rPr sz="1400" b="0" i="0">
                <a:solidFill>
                  <a:srgbClr val="FFFFFF"/>
                </a:solidFill>
                <a:latin typeface="Calibri"/>
              </a:rPr>
              <a:t>            if (m.getId().equalsIgnoreCase(id.trim())) {</a:t>
            </a:r>
          </a:p>
          <a:p>
            <a:pPr>
              <a:spcAft>
                <a:spcPts val="400"/>
              </a:spcAft>
            </a:pPr>
            <a:r>
              <a:rPr sz="1400" b="0" i="0">
                <a:solidFill>
                  <a:srgbClr val="FFFFFF"/>
                </a:solidFill>
                <a:latin typeface="Calibri"/>
              </a:rPr>
              <a:t>                return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null; // null = no esta; quien llama debe validarlo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eliminarPorId()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eliminarPorId(String id) {</a:t>
            </a:r>
          </a:p>
          <a:p>
            <a:pPr>
              <a:spcAft>
                <a:spcPts val="400"/>
              </a:spcAft>
            </a:pPr>
            <a:r>
              <a:rPr sz="1400" b="0" i="0">
                <a:solidFill>
                  <a:srgbClr val="FFFFFF"/>
                </a:solidFill>
                <a:latin typeface="Calibri"/>
              </a:rPr>
              <a:t>        Mascota m = buscarPorId(id);</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System.out.println("No existe la mascota " + 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mascotas.remove(m); // remove(Object), no remove(indice)</a:t>
            </a:r>
          </a:p>
          <a:p>
            <a:pPr>
              <a:spcAft>
                <a:spcPts val="400"/>
              </a:spcAft>
            </a:pPr>
            <a:r>
              <a:rPr sz="1400" b="0" i="0">
                <a:solidFill>
                  <a:srgbClr val="FFFFFF"/>
                </a:solidFill>
                <a:latin typeface="Calibri"/>
              </a:rPr>
              <a:t>        System.out.println("Retirada de la lista activa: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pasarAGeriatria()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pasarAGeriatria(int edadMinima) {</a:t>
            </a:r>
          </a:p>
          <a:p>
            <a:pPr>
              <a:spcAft>
                <a:spcPts val="400"/>
              </a:spcAft>
            </a:pPr>
            <a:r>
              <a:rPr sz="1400" b="0" i="0">
                <a:solidFill>
                  <a:srgbClr val="FFFFFF"/>
                </a:solidFill>
                <a:latin typeface="Calibri"/>
              </a:rPr>
              <a:t>        Iterator&lt;Mascota&gt; it = mascotas.iterator();</a:t>
            </a:r>
          </a:p>
          <a:p>
            <a:pPr>
              <a:spcAft>
                <a:spcPts val="400"/>
              </a:spcAft>
            </a:pPr>
            <a:r>
              <a:rPr sz="1400" b="0" i="0">
                <a:solidFill>
                  <a:srgbClr val="FFFFFF"/>
                </a:solidFill>
                <a:latin typeface="Calibri"/>
              </a:rPr>
              <a:t>        while (it.hasNext()) {</a:t>
            </a:r>
          </a:p>
          <a:p>
            <a:pPr>
              <a:spcAft>
                <a:spcPts val="400"/>
              </a:spcAft>
            </a:pPr>
            <a:r>
              <a:rPr sz="1400" b="0" i="0">
                <a:solidFill>
                  <a:srgbClr val="FFFFFF"/>
                </a:solidFill>
                <a:latin typeface="Calibri"/>
              </a:rPr>
              <a:t>            Mascota m = it.next();</a:t>
            </a:r>
          </a:p>
          <a:p>
            <a:pPr>
              <a:spcAft>
                <a:spcPts val="400"/>
              </a:spcAft>
            </a:pPr>
            <a:r>
              <a:rPr sz="1400" b="0" i="0">
                <a:solidFill>
                  <a:srgbClr val="FFFFFF"/>
                </a:solidFill>
                <a:latin typeface="Calibri"/>
              </a:rPr>
              <a:t>            if (m.getEdad() &gt;= edadMinima) {</a:t>
            </a:r>
          </a:p>
          <a:p>
            <a:pPr>
              <a:spcAft>
                <a:spcPts val="400"/>
              </a:spcAft>
            </a:pPr>
            <a:r>
              <a:rPr sz="1400" b="0" i="0">
                <a:solidFill>
                  <a:srgbClr val="FFFFFF"/>
                </a:solidFill>
                <a:latin typeface="Calibri"/>
              </a:rPr>
              <a:t>                it.remove(); // unica forma segura de borrar mientras se recorre</a:t>
            </a:r>
          </a:p>
          <a:p>
            <a:pPr>
              <a:spcAft>
                <a:spcPts val="400"/>
              </a:spcAft>
            </a:pPr>
            <a:r>
              <a:rPr sz="1400" b="0" i="0">
                <a:solidFill>
                  <a:srgbClr val="FFFFFF"/>
                </a:solidFill>
                <a:latin typeface="Calibri"/>
              </a:rPr>
              <a:t>                System.out.println("Pasa a control geriatrico: " + m.getNombre());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listar()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listar() {</a:t>
            </a:r>
          </a:p>
          <a:p>
            <a:pPr>
              <a:spcAft>
                <a:spcPts val="400"/>
              </a:spcAft>
            </a:pPr>
            <a:r>
              <a:rPr sz="1400" b="0" i="0">
                <a:solidFill>
                  <a:srgbClr val="FFFFFF"/>
                </a:solidFill>
                <a:latin typeface="Calibri"/>
              </a:rPr>
              <a:t>        if (mascotas.isEmpty()) {</a:t>
            </a:r>
          </a:p>
          <a:p>
            <a:pPr>
              <a:spcAft>
                <a:spcPts val="400"/>
              </a:spcAft>
            </a:pPr>
            <a:r>
              <a:rPr sz="1400" b="0" i="0">
                <a:solidFill>
                  <a:srgbClr val="FFFFFF"/>
                </a:solidFill>
                <a:latin typeface="Calibri"/>
              </a:rPr>
              <a:t>            System.out.println("(no hay mascotas registradas)");</a:t>
            </a:r>
          </a:p>
          <a:p>
            <a:pPr>
              <a:spcAft>
                <a:spcPts val="400"/>
              </a:spcAft>
            </a:pPr>
            <a:r>
              <a:rPr sz="1400" b="0" i="0">
                <a:solidFill>
                  <a:srgbClr val="FFFFFF"/>
                </a:solidFill>
                <a:latin typeface="Calibri"/>
              </a:rPr>
              <a:t>            return;</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(int i = 0; i &lt; mascotas.size(); i++) { // ojo: &lt; size(), nunca &lt;=</a:t>
            </a:r>
          </a:p>
          <a:p>
            <a:pPr>
              <a:spcAft>
                <a:spcPts val="400"/>
              </a:spcAft>
            </a:pPr>
            <a:r>
              <a:rPr sz="1400" b="0" i="0">
                <a:solidFill>
                  <a:srgbClr val="FFFFFF"/>
                </a:solidFill>
                <a:latin typeface="Calibri"/>
              </a:rPr>
              <a:t>            System.out.println((i + 1) + ". " + mascotas.get(i));</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cantidad()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int cantidad() {</a:t>
            </a:r>
          </a:p>
          <a:p>
            <a:pPr>
              <a:spcAft>
                <a:spcPts val="400"/>
              </a:spcAft>
            </a:pPr>
            <a:r>
              <a:rPr sz="1400" b="0" i="0">
                <a:solidFill>
                  <a:srgbClr val="FFFFFF"/>
                </a:solidFill>
                <a:latin typeface="Calibri"/>
              </a:rPr>
              <a:t>        return mascotas.size();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se llena; la lista crece sola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314"/>
              </a:spcAft>
            </a:pPr>
            <a:r>
              <a:rPr sz="1100" b="0" i="0">
                <a:solidFill>
                  <a:srgbClr val="FFFFFF"/>
                </a:solidFill>
                <a:latin typeface="Calibri"/>
              </a:rPr>
              <a:t>Mascota nieve = new Mascota("M-004", "Nieve", "Felino", 1, "Sara Diaz");</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Mascota[] fichero = new Mascota[3];          // tamano decidido HOY, para siempre</a:t>
            </a:r>
          </a:p>
          <a:p>
            <a:pPr>
              <a:spcAft>
                <a:spcPts val="314"/>
              </a:spcAft>
            </a:pPr>
            <a:r>
              <a:rPr sz="1100" b="0" i="0">
                <a:solidFill>
                  <a:srgbClr val="FFFFFF"/>
                </a:solidFill>
                <a:latin typeface="Calibri"/>
              </a:rPr>
              <a:t>fichero[3] = nieve;                          // ArrayIndexOutOfBoundsException</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List&lt;Mascota&gt; mascotas = new ArrayList&lt;&gt;();  // interfaz List, implementacion ArrayList</a:t>
            </a:r>
          </a:p>
          <a:p>
            <a:pPr>
              <a:spcAft>
                <a:spcPts val="314"/>
              </a:spcAft>
            </a:pPr>
            <a:r>
              <a:rPr sz="1100" b="0" i="0">
                <a:solidFill>
                  <a:srgbClr val="FFFFFF"/>
                </a:solidFill>
                <a:latin typeface="Calibri"/>
              </a:rPr>
              <a:t>mascotas.add(nieve);                         // add SIEMPRE agrega al final</a:t>
            </a:r>
          </a:p>
          <a:p>
            <a:pPr>
              <a:spcAft>
                <a:spcPts val="314"/>
              </a:spcAft>
            </a:pPr>
            <a:r>
              <a:rPr sz="1100" b="0" i="0">
                <a:solidFill>
                  <a:srgbClr val="FFFFFF"/>
                </a:solidFill>
                <a:latin typeface="Calibri"/>
              </a:rPr>
              <a:t>System.out.println(mascotas.size());         // size() = cuantas hay, no capacidad</a:t>
            </a:r>
          </a:p>
          <a:p>
            <a:pPr>
              <a:spcAft>
                <a:spcPts val="314"/>
              </a:spcAft>
            </a:pPr>
            <a:r>
              <a:rPr sz="1100" b="0" i="0">
                <a:solidFill>
                  <a:srgbClr val="FFFFFF"/>
                </a:solidFill>
                <a:latin typeface="Calibri"/>
              </a:rPr>
              <a:t>Mascota m = mascotas.get(0);                 // get(indice): de 0 a size()-1</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for (Mascota x: mascotas) {                 // for-each: solo para LEER</a:t>
            </a:r>
          </a:p>
          <a:p>
            <a:pPr>
              <a:spcAft>
                <a:spcPts val="314"/>
              </a:spcAft>
            </a:pPr>
            <a:r>
              <a:rPr sz="1100" b="0" i="0">
                <a:solidFill>
                  <a:srgbClr val="FFFFFF"/>
                </a:solidFill>
                <a:latin typeface="Calibri"/>
              </a:rPr>
              <a:t>    System.out.println(x);                   // usa toString() de Mascota</a:t>
            </a:r>
          </a:p>
          <a:p>
            <a:pPr>
              <a:spcAft>
                <a:spcPts val="314"/>
              </a:spcAft>
            </a:pPr>
            <a:r>
              <a:rPr sz="1100" b="0" i="0">
                <a:solidFill>
                  <a:srgbClr val="FFFFFF"/>
                </a:solidFill>
                <a:latin typeface="Calibri"/>
              </a:rPr>
              <a:t>}</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Iterator&lt;Mascota&gt; it = mascotas.iterator();  // para BORRAR mientras se recorre</a:t>
            </a:r>
          </a:p>
          <a:p>
            <a:pPr>
              <a:spcAft>
                <a:spcPts val="314"/>
              </a:spcAft>
            </a:pPr>
            <a:r>
              <a:rPr sz="1100" b="0" i="0">
                <a:solidFill>
                  <a:srgbClr val="FFFFFF"/>
                </a:solidFill>
                <a:latin typeface="Calibri"/>
              </a:rPr>
              <a:t>while (it.hasNext()) {</a:t>
            </a:r>
          </a:p>
          <a:p>
            <a:pPr>
              <a:spcAft>
                <a:spcPts val="314"/>
              </a:spcAft>
            </a:pPr>
            <a:r>
              <a:rPr sz="1100" b="0" i="0">
                <a:solidFill>
                  <a:srgbClr val="FFFFFF"/>
                </a:solidFill>
                <a:latin typeface="Calibri"/>
              </a:rPr>
              <a:t>    if (it.next().getEdad() &gt;= 9) it.remove();   // geriatria, sin excepcion</a:t>
            </a:r>
          </a:p>
          <a:p>
            <a:pPr>
              <a:spcAft>
                <a:spcPts val="314"/>
              </a:spcAft>
            </a:pPr>
            <a:r>
              <a:rPr sz="11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arreglo obliga a adivinar el futuro; el ArrayList lo administra por usted, siempre que respete size() y borre con Iterator.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 size() despues de cada operacion.</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