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Empecemos por el problema real de la clinica. Hoy la clinica guarda las fichas de las mascotas en una carpeta de carton con 50 separadores; cuando llega la mascota 51 toca comprar otra carpeta y volver a organizar todo. En Java eso mismo es un arreglo: cuando usted escribe Mascota[] fichero = new Mascota[50] esta pidiendole a la maquina un bloque de memoria contiguo con exactamente 50 casillas, y ese numero queda grabado en piedra para toda la vida del objeto. El arreglo no tiene metodo para crecer, solo tiene el atributo length, que es de solo lectura; si quiere 80 casillas debe crear otro arreglo mas grande, copiar una por una las 50 fichas viejas y reasignar la variable. Un arreglo es rapidisimo y perfectamente valido cuando usted sabe de antemano cuantos elementos va a tener (los 7 dias de la semana, los 12 meses), pero es una pesima idea para algo que crece todos los dias, como el numero de pacientes de una veterinaria que apenas esta digitalizando su operacion.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 ArrayList es exactamente esa carpeta que se agranda sola, y aqui viene lo importante: por dentro tambien es un arreglo. La clase ArrayList guarda un arreglo interno oculto (llamado elementData) y lleva dos numeros distintos: la capacidad, que es cuantas casillas tiene el arreglo interno, y el tamano, que es cuantos elementos usted realmente guardo. Cuando usted hace add y el arreglo interno se llena, ArrayList crea silenciosamente uno nuevo aproximadamente 1.5 veces mas grande, copia todo con Arrays.copyOf y sigue como si nada; usted nunca se entera. Esa arquitectura explica el rendimiento: get(i) es instantaneo porque salta directo a la posicion i del arreglo interno, agregar al final es barato casi siempre, pero add(0, mascota) o remove(0) obligan a correr un puesto a todos los demas elementos. En el sistema de la clinica eso significa que agregar la mascota nueva al final del registro no cuesta nada, mientras que borrar siempre la primera ficha de una lista de 5.000 pacientes es la operacion mas cara que usted puede pedir.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interfaz de trabajo es corta y hay que dominarla de memoria. Se declara asi: List&lt;Mascota&gt; mascotas = new ArrayList&lt;&gt;(); el List&lt;Mascota&gt; del lado izquierdo es la interfaz (el contrato) y el ArrayList&lt;&gt; del lado derecho es la implementacion concreta. Los metodos que usaremos toda la clase son add(objeto) para agregar al final, get(indice) para leer la posicion indicada, size() para saber cuantos hay, remove(indice) o remove(objeto) para sacar, set(indice, objeto) para reemplazar, isEmpty(), contains(objeto) e indexOf(objeto). El &lt;Mascota&gt; entre los picos se llama generico y no es decoracion: le dice al compilador que ahi solo entran Mascotas, de modo que si un estudiante intenta guardar un String el error aparece al compilar y no como un ClassCastException en plena sustentacion. Ojo con un detalle fino que confunde a todo el mundo: contains e indexOf comparan usando equals, asi que si usted no sobreescribe equals en Mascota, dos objetos con el mismo ID pero creados por separado seran considerados diferentes; por eso en el sistema de la clinica buscamos por ID recorriendo la lista y comparando m.getId().equalsIgnoreCase(id).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Recorrer la lista tiene dos formas y cada una tiene su momento. El for clasico con indice (for (int i = 0; i &lt; mascotas.size(); i++)) se usa cuando usted necesita el numero de la posicion, por ejemplo para imprimir el listado numerado de la sala de espera. El for-each (for (Mascota m : mascotas)) se usa cuando solo va a leer, es mas limpio y es el que debe volverse su reflejo. Ahora la trampa que se lleva por delante a media clase: si usted borra un elemento dentro de un for-each, Java lanza ConcurrentModificationException, porque el recorrido se da cuenta de que la lista cambio debajo de sus pies. La solucion correcta es usar un Iterator explicito y llamar a it.remove(), o usar mascotas.removeIf(m -&gt; m.getEdad() &gt;= 9). En el sistema de la clinica esto aparece apenas queremos pasar a control geriatrico a todas las mascotas de nueve anios o mas: se recorre con Iterator, se saca con it.remove() y no truena nada.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ultima idea es de diseno, y es la que hace que este codigo sirva para el resto del proyecto integrador. La lista no debe ser un atributo publico que cualquiera manipula desde main; debe vivir privada dentro de la clase RegistroMascotas, y el mundo exterior solo puede hablarle a traves de metodos con reglas de negocio: agregar valida que el ID no este repetido, eliminarPorId avisa si la mascota no existe, buscarPorId devuelve null cuando no la encuentra. Eso es encapsulamiento aplicado a colecciones, y es lo que hara posible que en las proximas clases la misma clase RegistroMascotas alimente una tabla de Swing y despues se guarde en un archivo CSV sin cambiar una sola linea de la logica. Programe siempre contra la interfaz (List) y no contra la implementacion (ArrayList), porque si manana necesita cambiar a LinkedList solo toca una linea. Y sobreescriba toString() en Mascota desde ya: sin el, imprimir la lista muestra basura como clinica.Mascota@6d06d69c y los estudiantes creen que el programa fallo.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Herramienta: Visual Studio Code (Java)</a:t>
            </a:r>
          </a:p>
          <a:p/>
          <a:p>
            <a:r>
              <a:t>Demo: El docente muestra un Mascota[3] que revienta al intentar guardar la cuarta ficha y luego el mismo caso resuelto con ArrayList, imprimiendo size() despues de cada operacion.</a:t>
            </a:r>
          </a:p>
          <a:p/>
          <a:p>
            <a:r>
              <a:t>Mismo dominio de la clinica — no otro ejemplo.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2</a:t>
            </a:r>
          </a:p>
        </p:txBody>
      </p:sp>
      <p:sp>
        <p:nvSpPr>
          <p:cNvPr id="8" name="TextBox 7"/>
          <p:cNvSpPr txBox="1"/>
          <p:nvPr/>
        </p:nvSpPr>
        <p:spPr>
          <a:xfrm>
            <a:off x="731520" y="2331720"/>
            <a:ext cx="10728655" cy="1828800"/>
          </a:xfrm>
          <a:prstGeom prst="rect">
            <a:avLst/>
          </a:prstGeom>
          <a:noFill/>
        </p:spPr>
        <p:txBody>
          <a:bodyPr wrap="square" anchor="ctr"/>
          <a:lstStyle/>
          <a:p>
            <a:pPr algn="ctr"/>
            <a:r>
              <a:rPr sz="4000" b="1" i="0">
                <a:solidFill>
                  <a:srgbClr val="FFFFFF"/>
                </a:solidFill>
                <a:latin typeface="Calibri"/>
              </a:rPr>
              <a:t>Colecciones dinamicas · ArrayList</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De arreglos fijos a listas que crecen</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a:t>
            </a:r>
          </a:p>
        </p:txBody>
      </p:sp>
      <p:sp>
        <p:nvSpPr>
          <p:cNvPr id="5" name="Rounded Rectangle 4"/>
          <p:cNvSpPr/>
          <p:nvPr/>
        </p:nvSpPr>
        <p:spPr>
          <a:xfrm>
            <a:off x="5797149" y="1573813"/>
            <a:ext cx="6010497" cy="4057845"/>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notebook-planning-desk-coffee.jpg"/>
          <p:cNvPicPr>
            <a:picLocks noChangeAspect="1"/>
          </p:cNvPicPr>
          <p:nvPr/>
        </p:nvPicPr>
        <p:blipFill>
          <a:blip r:embed="rId2"/>
          <a:stretch>
            <a:fillRect/>
          </a:stretch>
        </p:blipFill>
        <p:spPr>
          <a:xfrm>
            <a:off x="5870301" y="1646965"/>
            <a:ext cx="5864193" cy="3911541"/>
          </a:xfrm>
          <a:prstGeom prst="rect">
            <a:avLst/>
          </a:prstGeom>
        </p:spPr>
      </p:pic>
      <p:sp>
        <p:nvSpPr>
          <p:cNvPr id="7" name="TextBox 6"/>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Foto: Cup of  Couple · Pexels</a:t>
            </a:r>
          </a:p>
        </p:txBody>
      </p:sp>
      <p:sp>
        <p:nvSpPr>
          <p:cNvPr id="8" name="TextBox 7"/>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 de hoy:</a:t>
            </a:r>
            <a:r>
              <a:rPr sz="2000" b="0" i="0">
                <a:solidFill>
                  <a:srgbClr val="333333"/>
                </a:solidFill>
                <a:latin typeface="Calibri"/>
              </a:rPr>
              <a:t> Colecciones dinamicas · ArrayList — De arreglos fijos a listas que crecen</a:t>
            </a:r>
          </a:p>
          <a:p>
            <a:pPr>
              <a:spcAft>
                <a:spcPts val="800"/>
              </a:spcAft>
            </a:pPr>
            <a:r>
              <a:rPr sz="2000" b="0" i="0">
                <a:solidFill>
                  <a:srgbClr val="333333"/>
                </a:solidFill>
                <a:latin typeface="Calibri"/>
              </a:rPr>
              <a:t>–   Herramienta: </a:t>
            </a:r>
            <a:r>
              <a:rPr sz="2000" b="1" i="0">
                <a:solidFill>
                  <a:srgbClr val="333333"/>
                </a:solidFill>
                <a:latin typeface="Calibri"/>
              </a:rPr>
              <a:t>Visual Studio Code (Java)</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Primero el concepto, despues el codigo que lo muestra y la demo en vivo.</a:t>
            </a:r>
          </a:p>
          <a:p>
            <a:pPr>
              <a:spcAft>
                <a:spcPts val="800"/>
              </a:spcAft>
            </a:pPr>
            <a:r>
              <a:rPr sz="2000" b="0" i="0">
                <a:solidFill>
                  <a:srgbClr val="333333"/>
                </a:solidFill>
                <a:latin typeface="Calibri"/>
              </a:rPr>
              <a:t>–   Todo con el mismo dominio: una clinica veterinaria.</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y repaso de la clase anterior</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10-40</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Teoria Core del tema de hoy</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40-60</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en vivo sobre el tema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60-105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Practica sobre el codigo de la demo</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Repaso de conceptos y cierre</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arreglo tiene tamaño fijo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rreglo-fij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arreglo-fij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arreglo-fijo-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new Mascota[50] reserva exactamente 50 casillas contiguas, para siempre.</a:t>
            </a:r>
          </a:p>
          <a:p>
            <a:pPr>
              <a:spcAft>
                <a:spcPts val="800"/>
              </a:spcAft>
            </a:pPr>
            <a:r>
              <a:rPr sz="2000" b="0" i="0">
                <a:solidFill>
                  <a:srgbClr val="333333"/>
                </a:solidFill>
                <a:latin typeface="Calibri"/>
              </a:rPr>
              <a:t>–   No tiene método para crecer: length es de solo lectura; crecer es crear otro y copiar.</a:t>
            </a:r>
          </a:p>
          <a:p>
            <a:pPr>
              <a:spcAft>
                <a:spcPts val="800"/>
              </a:spcAft>
            </a:pPr>
            <a:r>
              <a:rPr sz="2000" b="0" i="0">
                <a:solidFill>
                  <a:srgbClr val="333333"/>
                </a:solidFill>
                <a:latin typeface="Calibri"/>
              </a:rPr>
              <a:t>–   Sirve cuando el tamaño se conoce (7 días, 12 meses), no para pacientes que llegan cada día.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Del arreglo fijo a la lista que crece</a:t>
            </a:r>
          </a:p>
        </p:txBody>
      </p:sp>
      <p:sp>
        <p:nvSpPr>
          <p:cNvPr id="5" name="Rounded Rectangle 4"/>
          <p:cNvSpPr/>
          <p:nvPr/>
        </p:nvSpPr>
        <p:spPr>
          <a:xfrm>
            <a:off x="457200" y="1261872"/>
            <a:ext cx="11277295" cy="481298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4218627"/>
          </a:xfrm>
          <a:prstGeom prst="rect">
            <a:avLst/>
          </a:prstGeom>
          <a:noFill/>
        </p:spPr>
        <p:txBody>
          <a:bodyPr wrap="square">
            <a:spAutoFit/>
          </a:bodyPr>
          <a:lstStyle/>
          <a:p>
            <a:pPr algn="r">
              <a:spcAft>
                <a:spcPts val="278"/>
              </a:spcAft>
            </a:pPr>
            <a:r>
              <a:rPr sz="1300" i="0" b="0">
                <a:solidFill>
                  <a:srgbClr val="858585"/>
                </a:solidFill>
                <a:latin typeface="Consolas"/>
              </a:rPr>
              <a:t>1</a:t>
            </a:r>
          </a:p>
          <a:p>
            <a:pPr algn="r">
              <a:spcAft>
                <a:spcPts val="278"/>
              </a:spcAft>
            </a:pPr>
            <a:r>
              <a:rPr sz="1300" i="0" b="0">
                <a:solidFill>
                  <a:srgbClr val="858585"/>
                </a:solidFill>
                <a:latin typeface="Consolas"/>
              </a:rPr>
              <a:t>2</a:t>
            </a:r>
          </a:p>
          <a:p>
            <a:pPr algn="r">
              <a:spcAft>
                <a:spcPts val="278"/>
              </a:spcAft>
            </a:pPr>
            <a:r>
              <a:rPr sz="1300" i="0" b="0">
                <a:solidFill>
                  <a:srgbClr val="858585"/>
                </a:solidFill>
                <a:latin typeface="Consolas"/>
              </a:rPr>
              <a:t>3</a:t>
            </a:r>
          </a:p>
          <a:p>
            <a:pPr algn="r">
              <a:spcAft>
                <a:spcPts val="278"/>
              </a:spcAft>
            </a:pPr>
            <a:r>
              <a:rPr sz="1300" i="0" b="0">
                <a:solidFill>
                  <a:srgbClr val="858585"/>
                </a:solidFill>
                <a:latin typeface="Consolas"/>
              </a:rPr>
              <a:t>4</a:t>
            </a:r>
          </a:p>
          <a:p>
            <a:pPr algn="r">
              <a:spcAft>
                <a:spcPts val="278"/>
              </a:spcAft>
            </a:pPr>
            <a:r>
              <a:rPr sz="1300" i="0" b="0">
                <a:solidFill>
                  <a:srgbClr val="858585"/>
                </a:solidFill>
                <a:latin typeface="Consolas"/>
              </a:rPr>
              <a:t>5</a:t>
            </a:r>
          </a:p>
          <a:p>
            <a:pPr algn="r">
              <a:spcAft>
                <a:spcPts val="278"/>
              </a:spcAft>
            </a:pPr>
            <a:r>
              <a:rPr sz="1300" i="0" b="0">
                <a:solidFill>
                  <a:srgbClr val="858585"/>
                </a:solidFill>
                <a:latin typeface="Consolas"/>
              </a:rPr>
              <a:t>6</a:t>
            </a:r>
          </a:p>
          <a:p>
            <a:pPr algn="r">
              <a:spcAft>
                <a:spcPts val="278"/>
              </a:spcAft>
            </a:pPr>
            <a:r>
              <a:rPr sz="1300" i="0" b="0">
                <a:solidFill>
                  <a:srgbClr val="858585"/>
                </a:solidFill>
                <a:latin typeface="Consolas"/>
              </a:rPr>
              <a:t>7</a:t>
            </a:r>
          </a:p>
          <a:p>
            <a:pPr algn="r">
              <a:spcAft>
                <a:spcPts val="278"/>
              </a:spcAft>
            </a:pPr>
            <a:r>
              <a:rPr sz="1300" i="0" b="0">
                <a:solidFill>
                  <a:srgbClr val="858585"/>
                </a:solidFill>
                <a:latin typeface="Consolas"/>
              </a:rPr>
              <a:t>8</a:t>
            </a:r>
          </a:p>
          <a:p>
            <a:pPr algn="r">
              <a:spcAft>
                <a:spcPts val="278"/>
              </a:spcAft>
            </a:pPr>
            <a:r>
              <a:rPr sz="1300" i="0" b="0">
                <a:solidFill>
                  <a:srgbClr val="858585"/>
                </a:solidFill>
                <a:latin typeface="Consolas"/>
              </a:rPr>
              <a:t>9</a:t>
            </a:r>
          </a:p>
          <a:p>
            <a:pPr algn="r">
              <a:spcAft>
                <a:spcPts val="278"/>
              </a:spcAft>
            </a:pPr>
            <a:r>
              <a:rPr sz="1300" i="0" b="0">
                <a:solidFill>
                  <a:srgbClr val="858585"/>
                </a:solidFill>
                <a:latin typeface="Consolas"/>
              </a:rPr>
              <a:t>10</a:t>
            </a:r>
          </a:p>
          <a:p>
            <a:pPr algn="r">
              <a:spcAft>
                <a:spcPts val="278"/>
              </a:spcAft>
            </a:pPr>
            <a:r>
              <a:rPr sz="1300" i="0" b="0">
                <a:solidFill>
                  <a:srgbClr val="858585"/>
                </a:solidFill>
                <a:latin typeface="Consolas"/>
              </a:rPr>
              <a:t>11</a:t>
            </a:r>
          </a:p>
          <a:p>
            <a:pPr algn="r">
              <a:spcAft>
                <a:spcPts val="278"/>
              </a:spcAft>
            </a:pPr>
            <a:r>
              <a:rPr sz="1300" i="0" b="0">
                <a:solidFill>
                  <a:srgbClr val="858585"/>
                </a:solidFill>
                <a:latin typeface="Consolas"/>
              </a:rPr>
              <a:t>12</a:t>
            </a:r>
          </a:p>
          <a:p>
            <a:pPr algn="r">
              <a:spcAft>
                <a:spcPts val="278"/>
              </a:spcAft>
            </a:pPr>
            <a:r>
              <a:rPr sz="1300" i="0" b="0">
                <a:solidFill>
                  <a:srgbClr val="858585"/>
                </a:solidFill>
                <a:latin typeface="Consolas"/>
              </a:rPr>
              <a:t>13</a:t>
            </a:r>
          </a:p>
          <a:p>
            <a:pPr algn="r">
              <a:spcAft>
                <a:spcPts val="278"/>
              </a:spcAft>
            </a:pPr>
            <a:r>
              <a:rPr sz="1300" i="0" b="0">
                <a:solidFill>
                  <a:srgbClr val="858585"/>
                </a:solidFill>
                <a:latin typeface="Consolas"/>
              </a:rPr>
              <a:t>14</a:t>
            </a:r>
          </a:p>
          <a:p>
            <a:pPr algn="r">
              <a:spcAft>
                <a:spcPts val="278"/>
              </a:spcAft>
            </a:pPr>
            <a:r>
              <a:rPr sz="1300" i="0" b="0">
                <a:solidFill>
                  <a:srgbClr val="858585"/>
                </a:solidFill>
                <a:latin typeface="Consolas"/>
              </a:rPr>
              <a:t>15</a:t>
            </a:r>
          </a:p>
          <a:p>
            <a:pPr algn="r">
              <a:spcAft>
                <a:spcPts val="278"/>
              </a:spcAft>
            </a:pPr>
            <a:r>
              <a:rPr sz="1300" i="0" b="0">
                <a:solidFill>
                  <a:srgbClr val="858585"/>
                </a:solidFill>
                <a:latin typeface="Consolas"/>
              </a:rPr>
              <a:t>16</a:t>
            </a:r>
          </a:p>
          <a:p>
            <a:pPr algn="r">
              <a:spcAft>
                <a:spcPts val="278"/>
              </a:spcAft>
            </a:pPr>
            <a:r>
              <a:rPr sz="1300" i="0" b="0">
                <a:solidFill>
                  <a:srgbClr val="858585"/>
                </a:solidFill>
                <a:latin typeface="Consolas"/>
              </a:rPr>
              <a:t>17</a:t>
            </a:r>
          </a:p>
        </p:txBody>
      </p:sp>
      <p:sp>
        <p:nvSpPr>
          <p:cNvPr id="12" name="TextBox 11"/>
          <p:cNvSpPr txBox="1"/>
          <p:nvPr/>
        </p:nvSpPr>
        <p:spPr>
          <a:xfrm>
            <a:off x="1188720" y="1719072"/>
            <a:ext cx="10271455" cy="4218627"/>
          </a:xfrm>
          <a:prstGeom prst="rect">
            <a:avLst/>
          </a:prstGeom>
          <a:noFill/>
        </p:spPr>
        <p:txBody>
          <a:bodyPr wrap="square">
            <a:spAutoFit/>
          </a:bodyPr>
          <a:lstStyle/>
          <a:p>
            <a:pPr>
              <a:spcAft>
                <a:spcPts val="278"/>
              </a:spcAft>
            </a:pPr>
            <a:r>
              <a:rPr sz="1300" i="0" b="0">
                <a:solidFill>
                  <a:srgbClr val="D4D4D4"/>
                </a:solidFill>
                <a:latin typeface="Consolas"/>
              </a:rPr>
              <a:t>Mascota</a:t>
            </a:r>
            <a:r>
              <a:rPr sz="1300" i="0" b="0">
                <a:solidFill>
                  <a:srgbClr val="D4D4D4"/>
                </a:solidFill>
                <a:latin typeface="Consolas"/>
              </a:rPr>
              <a:t> </a:t>
            </a:r>
            <a:r>
              <a:rPr sz="1300" i="0" b="0">
                <a:solidFill>
                  <a:srgbClr val="D4D4D4"/>
                </a:solidFill>
                <a:latin typeface="Consolas"/>
              </a:rPr>
              <a:t>nieve</a:t>
            </a:r>
            <a:r>
              <a:rPr sz="1300" i="0" b="0">
                <a:solidFill>
                  <a:srgbClr val="D4D4D4"/>
                </a:solidFill>
                <a:latin typeface="Consolas"/>
              </a:rPr>
              <a:t> = </a:t>
            </a:r>
            <a:r>
              <a:rPr sz="1300" i="0" b="0">
                <a:solidFill>
                  <a:srgbClr val="569CD6"/>
                </a:solidFill>
                <a:latin typeface="Consolas"/>
              </a:rPr>
              <a:t>new</a:t>
            </a:r>
            <a:r>
              <a:rPr sz="1300" i="0" b="0">
                <a:solidFill>
                  <a:srgbClr val="D4D4D4"/>
                </a:solidFill>
                <a:latin typeface="Consolas"/>
              </a:rPr>
              <a:t> </a:t>
            </a:r>
            <a:r>
              <a:rPr sz="1300" i="0" b="0">
                <a:solidFill>
                  <a:srgbClr val="4EC9B0"/>
                </a:solidFill>
                <a:latin typeface="Consolas"/>
              </a:rPr>
              <a:t>Mascota</a:t>
            </a:r>
            <a:r>
              <a:rPr sz="1300" i="0" b="0">
                <a:solidFill>
                  <a:srgbClr val="D4D4D4"/>
                </a:solidFill>
                <a:latin typeface="Consolas"/>
              </a:rPr>
              <a:t>(</a:t>
            </a:r>
            <a:r>
              <a:rPr sz="1300" i="0" b="0">
                <a:solidFill>
                  <a:srgbClr val="CE9178"/>
                </a:solidFill>
                <a:latin typeface="Consolas"/>
              </a:rPr>
              <a:t>"M-004"</a:t>
            </a:r>
            <a:r>
              <a:rPr sz="1300" i="0" b="0">
                <a:solidFill>
                  <a:srgbClr val="D4D4D4"/>
                </a:solidFill>
                <a:latin typeface="Consolas"/>
              </a:rPr>
              <a:t>, </a:t>
            </a:r>
            <a:r>
              <a:rPr sz="1300" i="0" b="0">
                <a:solidFill>
                  <a:srgbClr val="CE9178"/>
                </a:solidFill>
                <a:latin typeface="Consolas"/>
              </a:rPr>
              <a:t>"Nieve"</a:t>
            </a:r>
            <a:r>
              <a:rPr sz="1300" i="0" b="0">
                <a:solidFill>
                  <a:srgbClr val="D4D4D4"/>
                </a:solidFill>
                <a:latin typeface="Consolas"/>
              </a:rPr>
              <a:t>, </a:t>
            </a:r>
            <a:r>
              <a:rPr sz="1300" i="0" b="0">
                <a:solidFill>
                  <a:srgbClr val="CE9178"/>
                </a:solidFill>
                <a:latin typeface="Consolas"/>
              </a:rPr>
              <a:t>"Felino"</a:t>
            </a:r>
            <a:r>
              <a:rPr sz="1300" i="0" b="0">
                <a:solidFill>
                  <a:srgbClr val="D4D4D4"/>
                </a:solidFill>
                <a:latin typeface="Consolas"/>
              </a:rPr>
              <a:t>, </a:t>
            </a:r>
            <a:r>
              <a:rPr sz="1300" i="0" b="0">
                <a:solidFill>
                  <a:srgbClr val="B5CEA8"/>
                </a:solidFill>
                <a:latin typeface="Consolas"/>
              </a:rPr>
              <a:t>1</a:t>
            </a:r>
            <a:r>
              <a:rPr sz="1300" i="0" b="0">
                <a:solidFill>
                  <a:srgbClr val="D4D4D4"/>
                </a:solidFill>
                <a:latin typeface="Consolas"/>
              </a:rPr>
              <a:t>, </a:t>
            </a:r>
            <a:r>
              <a:rPr sz="1300" i="0" b="0">
                <a:solidFill>
                  <a:srgbClr val="CE9178"/>
                </a:solidFill>
                <a:latin typeface="Consolas"/>
              </a:rPr>
              <a:t>"Sara Diaz"</a:t>
            </a:r>
            <a:r>
              <a:rPr sz="1300" i="0" b="0">
                <a:solidFill>
                  <a:srgbClr val="D4D4D4"/>
                </a:solidFill>
                <a:latin typeface="Consolas"/>
              </a:rPr>
              <a:t>);</a:t>
            </a:r>
          </a:p>
          <a:p>
            <a:pPr>
              <a:spcAft>
                <a:spcPts val="278"/>
              </a:spcAft>
            </a:pPr>
            <a:r>
              <a:rPr sz="1300" i="0" b="0">
                <a:solidFill>
                  <a:srgbClr val="D4D4D4"/>
                </a:solidFill>
                <a:latin typeface="Consolas"/>
              </a:rPr>
              <a:t>Mascota</a:t>
            </a:r>
            <a:r>
              <a:rPr sz="1300" i="0" b="0">
                <a:solidFill>
                  <a:srgbClr val="D4D4D4"/>
                </a:solidFill>
                <a:latin typeface="Consolas"/>
              </a:rPr>
              <a:t>[] </a:t>
            </a:r>
            <a:r>
              <a:rPr sz="1300" i="0" b="0">
                <a:solidFill>
                  <a:srgbClr val="D4D4D4"/>
                </a:solidFill>
                <a:latin typeface="Consolas"/>
              </a:rPr>
              <a:t>fichero</a:t>
            </a:r>
            <a:r>
              <a:rPr sz="1300" i="0" b="0">
                <a:solidFill>
                  <a:srgbClr val="D4D4D4"/>
                </a:solidFill>
                <a:latin typeface="Consolas"/>
              </a:rPr>
              <a:t> = </a:t>
            </a:r>
            <a:r>
              <a:rPr sz="1300" i="0" b="0">
                <a:solidFill>
                  <a:srgbClr val="569CD6"/>
                </a:solidFill>
                <a:latin typeface="Consolas"/>
              </a:rPr>
              <a:t>new</a:t>
            </a:r>
            <a:r>
              <a:rPr sz="1300" i="0" b="0">
                <a:solidFill>
                  <a:srgbClr val="D4D4D4"/>
                </a:solidFill>
                <a:latin typeface="Consolas"/>
              </a:rPr>
              <a:t> </a:t>
            </a:r>
            <a:r>
              <a:rPr sz="1300" i="0" b="0">
                <a:solidFill>
                  <a:srgbClr val="4EC9B0"/>
                </a:solidFill>
                <a:latin typeface="Consolas"/>
              </a:rPr>
              <a:t>Mascota</a:t>
            </a:r>
            <a:r>
              <a:rPr sz="1300" i="0" b="0">
                <a:solidFill>
                  <a:srgbClr val="D4D4D4"/>
                </a:solidFill>
                <a:latin typeface="Consolas"/>
              </a:rPr>
              <a:t>[</a:t>
            </a:r>
            <a:r>
              <a:rPr sz="1300" i="0" b="0">
                <a:solidFill>
                  <a:srgbClr val="B5CEA8"/>
                </a:solidFill>
                <a:latin typeface="Consolas"/>
              </a:rPr>
              <a:t>3</a:t>
            </a:r>
            <a:r>
              <a:rPr sz="1300" i="0" b="0">
                <a:solidFill>
                  <a:srgbClr val="D4D4D4"/>
                </a:solidFill>
                <a:latin typeface="Consolas"/>
              </a:rPr>
              <a:t>];          </a:t>
            </a:r>
            <a:r>
              <a:rPr sz="1300" i="1" b="0">
                <a:solidFill>
                  <a:srgbClr val="6A9955"/>
                </a:solidFill>
                <a:latin typeface="Consolas"/>
              </a:rPr>
              <a:t>// tamano decidido HOY, para siempre</a:t>
            </a:r>
          </a:p>
          <a:p>
            <a:pPr>
              <a:spcAft>
                <a:spcPts val="278"/>
              </a:spcAft>
            </a:pPr>
            <a:r>
              <a:rPr sz="1300" i="0" b="0">
                <a:solidFill>
                  <a:srgbClr val="D4D4D4"/>
                </a:solidFill>
                <a:latin typeface="Consolas"/>
              </a:rPr>
              <a:t>fichero</a:t>
            </a:r>
            <a:r>
              <a:rPr sz="1300" i="0" b="0">
                <a:solidFill>
                  <a:srgbClr val="D4D4D4"/>
                </a:solidFill>
                <a:latin typeface="Consolas"/>
              </a:rPr>
              <a:t>[</a:t>
            </a:r>
            <a:r>
              <a:rPr sz="1300" i="0" b="0">
                <a:solidFill>
                  <a:srgbClr val="B5CEA8"/>
                </a:solidFill>
                <a:latin typeface="Consolas"/>
              </a:rPr>
              <a:t>3</a:t>
            </a:r>
            <a:r>
              <a:rPr sz="1300" i="0" b="0">
                <a:solidFill>
                  <a:srgbClr val="D4D4D4"/>
                </a:solidFill>
                <a:latin typeface="Consolas"/>
              </a:rPr>
              <a:t>] = </a:t>
            </a:r>
            <a:r>
              <a:rPr sz="1300" i="0" b="0">
                <a:solidFill>
                  <a:srgbClr val="D4D4D4"/>
                </a:solidFill>
                <a:latin typeface="Consolas"/>
              </a:rPr>
              <a:t>nieve</a:t>
            </a:r>
            <a:r>
              <a:rPr sz="1300" i="0" b="0">
                <a:solidFill>
                  <a:srgbClr val="D4D4D4"/>
                </a:solidFill>
                <a:latin typeface="Consolas"/>
              </a:rPr>
              <a:t>;                          </a:t>
            </a:r>
            <a:r>
              <a:rPr sz="1300" i="1" b="0">
                <a:solidFill>
                  <a:srgbClr val="6A9955"/>
                </a:solidFill>
                <a:latin typeface="Consolas"/>
              </a:rPr>
              <a:t>// ArrayIndexOutOfBoundsException</a:t>
            </a:r>
          </a:p>
          <a:p>
            <a:pPr>
              <a:spcAft>
                <a:spcPts val="278"/>
              </a:spcAft>
            </a:pPr>
            <a:r>
              <a:rPr sz="1300" i="0" b="0">
                <a:solidFill>
                  <a:srgbClr val="D4D4D4"/>
                </a:solidFill>
                <a:latin typeface="Consolas"/>
              </a:rPr>
              <a:t/>
            </a:r>
          </a:p>
          <a:p>
            <a:pPr>
              <a:spcAft>
                <a:spcPts val="278"/>
              </a:spcAft>
            </a:pPr>
            <a:r>
              <a:rPr sz="1300" i="0" b="0">
                <a:solidFill>
                  <a:srgbClr val="4EC9B0"/>
                </a:solidFill>
                <a:latin typeface="Consolas"/>
              </a:rPr>
              <a:t>List</a:t>
            </a:r>
            <a:r>
              <a:rPr sz="1300" i="0" b="0">
                <a:solidFill>
                  <a:srgbClr val="D4D4D4"/>
                </a:solidFill>
                <a:latin typeface="Consolas"/>
              </a:rPr>
              <a:t>&lt;</a:t>
            </a:r>
            <a:r>
              <a:rPr sz="1300" i="0" b="0">
                <a:solidFill>
                  <a:srgbClr val="D4D4D4"/>
                </a:solidFill>
                <a:latin typeface="Consolas"/>
              </a:rPr>
              <a:t>Mascota</a:t>
            </a:r>
            <a:r>
              <a:rPr sz="1300" i="0" b="0">
                <a:solidFill>
                  <a:srgbClr val="D4D4D4"/>
                </a:solidFill>
                <a:latin typeface="Consolas"/>
              </a:rPr>
              <a:t>&gt; </a:t>
            </a:r>
            <a:r>
              <a:rPr sz="1300" i="0" b="0">
                <a:solidFill>
                  <a:srgbClr val="D4D4D4"/>
                </a:solidFill>
                <a:latin typeface="Consolas"/>
              </a:rPr>
              <a:t>mascotas</a:t>
            </a:r>
            <a:r>
              <a:rPr sz="1300" i="0" b="0">
                <a:solidFill>
                  <a:srgbClr val="D4D4D4"/>
                </a:solidFill>
                <a:latin typeface="Consolas"/>
              </a:rPr>
              <a:t> = </a:t>
            </a:r>
            <a:r>
              <a:rPr sz="1300" i="0" b="0">
                <a:solidFill>
                  <a:srgbClr val="569CD6"/>
                </a:solidFill>
                <a:latin typeface="Consolas"/>
              </a:rPr>
              <a:t>new</a:t>
            </a:r>
            <a:r>
              <a:rPr sz="1300" i="0" b="0">
                <a:solidFill>
                  <a:srgbClr val="D4D4D4"/>
                </a:solidFill>
                <a:latin typeface="Consolas"/>
              </a:rPr>
              <a:t> </a:t>
            </a:r>
            <a:r>
              <a:rPr sz="1300" i="0" b="0">
                <a:solidFill>
                  <a:srgbClr val="4EC9B0"/>
                </a:solidFill>
                <a:latin typeface="Consolas"/>
              </a:rPr>
              <a:t>ArrayList</a:t>
            </a:r>
            <a:r>
              <a:rPr sz="1300" i="0" b="0">
                <a:solidFill>
                  <a:srgbClr val="D4D4D4"/>
                </a:solidFill>
                <a:latin typeface="Consolas"/>
              </a:rPr>
              <a:t>&lt;&gt;();  </a:t>
            </a:r>
            <a:r>
              <a:rPr sz="1300" i="1" b="0">
                <a:solidFill>
                  <a:srgbClr val="6A9955"/>
                </a:solidFill>
                <a:latin typeface="Consolas"/>
              </a:rPr>
              <a:t>// interfaz List, implementacion ArrayList</a:t>
            </a:r>
          </a:p>
          <a:p>
            <a:pPr>
              <a:spcAft>
                <a:spcPts val="278"/>
              </a:spcAft>
            </a:pPr>
            <a:r>
              <a:rPr sz="1300" i="0" b="0">
                <a:solidFill>
                  <a:srgbClr val="DCDCAA"/>
                </a:solidFill>
                <a:latin typeface="Consolas"/>
              </a:rPr>
              <a:t>mascotas.add</a:t>
            </a:r>
            <a:r>
              <a:rPr sz="1300" i="0" b="0">
                <a:solidFill>
                  <a:srgbClr val="D4D4D4"/>
                </a:solidFill>
                <a:latin typeface="Consolas"/>
              </a:rPr>
              <a:t>(</a:t>
            </a:r>
            <a:r>
              <a:rPr sz="1300" i="0" b="0">
                <a:solidFill>
                  <a:srgbClr val="D4D4D4"/>
                </a:solidFill>
                <a:latin typeface="Consolas"/>
              </a:rPr>
              <a:t>nieve</a:t>
            </a:r>
            <a:r>
              <a:rPr sz="1300" i="0" b="0">
                <a:solidFill>
                  <a:srgbClr val="D4D4D4"/>
                </a:solidFill>
                <a:latin typeface="Consolas"/>
              </a:rPr>
              <a:t>);                         </a:t>
            </a:r>
            <a:r>
              <a:rPr sz="1300" i="1" b="0">
                <a:solidFill>
                  <a:srgbClr val="6A9955"/>
                </a:solidFill>
                <a:latin typeface="Consolas"/>
              </a:rPr>
              <a:t>// add SIEMPRE agrega al final</a:t>
            </a:r>
          </a:p>
          <a:p>
            <a:pPr>
              <a:spcAft>
                <a:spcPts val="278"/>
              </a:spcAft>
            </a:pPr>
            <a:r>
              <a:rPr sz="1300" i="0" b="0">
                <a:solidFill>
                  <a:srgbClr val="DCDCAA"/>
                </a:solidFill>
                <a:latin typeface="Consolas"/>
              </a:rPr>
              <a:t>System.out.println</a:t>
            </a:r>
            <a:r>
              <a:rPr sz="1300" i="0" b="0">
                <a:solidFill>
                  <a:srgbClr val="D4D4D4"/>
                </a:solidFill>
                <a:latin typeface="Consolas"/>
              </a:rPr>
              <a:t>(</a:t>
            </a:r>
            <a:r>
              <a:rPr sz="1300" i="0" b="0">
                <a:solidFill>
                  <a:srgbClr val="DCDCAA"/>
                </a:solidFill>
                <a:latin typeface="Consolas"/>
              </a:rPr>
              <a:t>mascotas.size</a:t>
            </a:r>
            <a:r>
              <a:rPr sz="1300" i="0" b="0">
                <a:solidFill>
                  <a:srgbClr val="D4D4D4"/>
                </a:solidFill>
                <a:latin typeface="Consolas"/>
              </a:rPr>
              <a:t>());         </a:t>
            </a:r>
            <a:r>
              <a:rPr sz="1300" i="1" b="0">
                <a:solidFill>
                  <a:srgbClr val="6A9955"/>
                </a:solidFill>
                <a:latin typeface="Consolas"/>
              </a:rPr>
              <a:t>// size() = cuantas hay, no capacidad</a:t>
            </a:r>
          </a:p>
          <a:p>
            <a:pPr>
              <a:spcAft>
                <a:spcPts val="278"/>
              </a:spcAft>
            </a:pPr>
            <a:r>
              <a:rPr sz="1300" i="0" b="0">
                <a:solidFill>
                  <a:srgbClr val="D4D4D4"/>
                </a:solidFill>
                <a:latin typeface="Consolas"/>
              </a:rPr>
              <a:t>Mascota</a:t>
            </a:r>
            <a:r>
              <a:rPr sz="1300" i="0" b="0">
                <a:solidFill>
                  <a:srgbClr val="D4D4D4"/>
                </a:solidFill>
                <a:latin typeface="Consolas"/>
              </a:rPr>
              <a:t> </a:t>
            </a:r>
            <a:r>
              <a:rPr sz="1300" i="0" b="0">
                <a:solidFill>
                  <a:srgbClr val="D4D4D4"/>
                </a:solidFill>
                <a:latin typeface="Consolas"/>
              </a:rPr>
              <a:t>m</a:t>
            </a:r>
            <a:r>
              <a:rPr sz="1300" i="0" b="0">
                <a:solidFill>
                  <a:srgbClr val="D4D4D4"/>
                </a:solidFill>
                <a:latin typeface="Consolas"/>
              </a:rPr>
              <a:t> = </a:t>
            </a:r>
            <a:r>
              <a:rPr sz="1300" i="0" b="0">
                <a:solidFill>
                  <a:srgbClr val="DCDCAA"/>
                </a:solidFill>
                <a:latin typeface="Consolas"/>
              </a:rPr>
              <a:t>mascotas.get</a:t>
            </a:r>
            <a:r>
              <a:rPr sz="1300" i="0" b="0">
                <a:solidFill>
                  <a:srgbClr val="D4D4D4"/>
                </a:solidFill>
                <a:latin typeface="Consolas"/>
              </a:rPr>
              <a:t>(</a:t>
            </a:r>
            <a:r>
              <a:rPr sz="1300" i="0" b="0">
                <a:solidFill>
                  <a:srgbClr val="B5CEA8"/>
                </a:solidFill>
                <a:latin typeface="Consolas"/>
              </a:rPr>
              <a:t>0</a:t>
            </a:r>
            <a:r>
              <a:rPr sz="1300" i="0" b="0">
                <a:solidFill>
                  <a:srgbClr val="D4D4D4"/>
                </a:solidFill>
                <a:latin typeface="Consolas"/>
              </a:rPr>
              <a:t>);                 </a:t>
            </a:r>
            <a:r>
              <a:rPr sz="1300" i="1" b="0">
                <a:solidFill>
                  <a:srgbClr val="6A9955"/>
                </a:solidFill>
                <a:latin typeface="Consolas"/>
              </a:rPr>
              <a:t>// get(indice): de 0 a size()-1</a:t>
            </a:r>
          </a:p>
          <a:p>
            <a:pPr>
              <a:spcAft>
                <a:spcPts val="278"/>
              </a:spcAft>
            </a:pPr>
            <a:r>
              <a:rPr sz="1300" i="0" b="0">
                <a:solidFill>
                  <a:srgbClr val="D4D4D4"/>
                </a:solidFill>
                <a:latin typeface="Consolas"/>
              </a:rPr>
              <a:t/>
            </a:r>
          </a:p>
          <a:p>
            <a:pPr>
              <a:spcAft>
                <a:spcPts val="278"/>
              </a:spcAft>
            </a:pPr>
            <a:r>
              <a:rPr sz="1300" i="0" b="0">
                <a:solidFill>
                  <a:srgbClr val="569CD6"/>
                </a:solidFill>
                <a:latin typeface="Consolas"/>
              </a:rPr>
              <a:t>for</a:t>
            </a:r>
            <a:r>
              <a:rPr sz="1300" i="0" b="0">
                <a:solidFill>
                  <a:srgbClr val="D4D4D4"/>
                </a:solidFill>
                <a:latin typeface="Consolas"/>
              </a:rPr>
              <a:t> (</a:t>
            </a:r>
            <a:r>
              <a:rPr sz="1300" i="0" b="0">
                <a:solidFill>
                  <a:srgbClr val="D4D4D4"/>
                </a:solidFill>
                <a:latin typeface="Consolas"/>
              </a:rPr>
              <a:t>Mascota</a:t>
            </a:r>
            <a:r>
              <a:rPr sz="1300" i="0" b="0">
                <a:solidFill>
                  <a:srgbClr val="D4D4D4"/>
                </a:solidFill>
                <a:latin typeface="Consolas"/>
              </a:rPr>
              <a:t> </a:t>
            </a:r>
            <a:r>
              <a:rPr sz="1300" i="0" b="0">
                <a:solidFill>
                  <a:srgbClr val="D4D4D4"/>
                </a:solidFill>
                <a:latin typeface="Consolas"/>
              </a:rPr>
              <a:t>x</a:t>
            </a:r>
            <a:r>
              <a:rPr sz="1300" i="0" b="0">
                <a:solidFill>
                  <a:srgbClr val="D4D4D4"/>
                </a:solidFill>
                <a:latin typeface="Consolas"/>
              </a:rPr>
              <a:t> : </a:t>
            </a:r>
            <a:r>
              <a:rPr sz="1300" i="0" b="0">
                <a:solidFill>
                  <a:srgbClr val="D4D4D4"/>
                </a:solidFill>
                <a:latin typeface="Consolas"/>
              </a:rPr>
              <a:t>mascotas</a:t>
            </a:r>
            <a:r>
              <a:rPr sz="1300" i="0" b="0">
                <a:solidFill>
                  <a:srgbClr val="D4D4D4"/>
                </a:solidFill>
                <a:latin typeface="Consolas"/>
              </a:rPr>
              <a:t>) {                 </a:t>
            </a:r>
            <a:r>
              <a:rPr sz="1300" i="1" b="0">
                <a:solidFill>
                  <a:srgbClr val="6A9955"/>
                </a:solidFill>
                <a:latin typeface="Consolas"/>
              </a:rPr>
              <a:t>// for-each: solo para LEER</a:t>
            </a:r>
          </a:p>
          <a:p>
            <a:pPr>
              <a:spcAft>
                <a:spcPts val="278"/>
              </a:spcAft>
            </a:pPr>
            <a:r>
              <a:rPr sz="1300" i="0" b="0">
                <a:solidFill>
                  <a:srgbClr val="D4D4D4"/>
                </a:solidFill>
                <a:latin typeface="Consolas"/>
              </a:rPr>
              <a:t>    </a:t>
            </a:r>
            <a:r>
              <a:rPr sz="1300" i="0" b="0">
                <a:solidFill>
                  <a:srgbClr val="DCDCAA"/>
                </a:solidFill>
                <a:latin typeface="Consolas"/>
              </a:rPr>
              <a:t>System.out.println</a:t>
            </a:r>
            <a:r>
              <a:rPr sz="1300" i="0" b="0">
                <a:solidFill>
                  <a:srgbClr val="D4D4D4"/>
                </a:solidFill>
                <a:latin typeface="Consolas"/>
              </a:rPr>
              <a:t>(</a:t>
            </a:r>
            <a:r>
              <a:rPr sz="1300" i="0" b="0">
                <a:solidFill>
                  <a:srgbClr val="D4D4D4"/>
                </a:solidFill>
                <a:latin typeface="Consolas"/>
              </a:rPr>
              <a:t>x</a:t>
            </a:r>
            <a:r>
              <a:rPr sz="1300" i="0" b="0">
                <a:solidFill>
                  <a:srgbClr val="D4D4D4"/>
                </a:solidFill>
                <a:latin typeface="Consolas"/>
              </a:rPr>
              <a:t>);                   </a:t>
            </a:r>
            <a:r>
              <a:rPr sz="1300" i="1" b="0">
                <a:solidFill>
                  <a:srgbClr val="6A9955"/>
                </a:solidFill>
                <a:latin typeface="Consolas"/>
              </a:rPr>
              <a:t>// usa toString() de Mascota</a:t>
            </a:r>
          </a:p>
          <a:p>
            <a:pPr>
              <a:spcAft>
                <a:spcPts val="278"/>
              </a:spcAft>
            </a:pPr>
            <a:r>
              <a:rPr sz="1300" i="0" b="0">
                <a:solidFill>
                  <a:srgbClr val="D4D4D4"/>
                </a:solidFill>
                <a:latin typeface="Consolas"/>
              </a:rPr>
              <a:t>}</a:t>
            </a:r>
          </a:p>
          <a:p>
            <a:pPr>
              <a:spcAft>
                <a:spcPts val="278"/>
              </a:spcAft>
            </a:pPr>
            <a:r>
              <a:rPr sz="1300" i="0" b="0">
                <a:solidFill>
                  <a:srgbClr val="D4D4D4"/>
                </a:solidFill>
                <a:latin typeface="Consolas"/>
              </a:rPr>
              <a:t/>
            </a:r>
          </a:p>
          <a:p>
            <a:pPr>
              <a:spcAft>
                <a:spcPts val="278"/>
              </a:spcAft>
            </a:pPr>
            <a:r>
              <a:rPr sz="1300" i="0" b="0">
                <a:solidFill>
                  <a:srgbClr val="4EC9B0"/>
                </a:solidFill>
                <a:latin typeface="Consolas"/>
              </a:rPr>
              <a:t>Iterator</a:t>
            </a:r>
            <a:r>
              <a:rPr sz="1300" i="0" b="0">
                <a:solidFill>
                  <a:srgbClr val="D4D4D4"/>
                </a:solidFill>
                <a:latin typeface="Consolas"/>
              </a:rPr>
              <a:t>&lt;</a:t>
            </a:r>
            <a:r>
              <a:rPr sz="1300" i="0" b="0">
                <a:solidFill>
                  <a:srgbClr val="D4D4D4"/>
                </a:solidFill>
                <a:latin typeface="Consolas"/>
              </a:rPr>
              <a:t>Mascota</a:t>
            </a:r>
            <a:r>
              <a:rPr sz="1300" i="0" b="0">
                <a:solidFill>
                  <a:srgbClr val="D4D4D4"/>
                </a:solidFill>
                <a:latin typeface="Consolas"/>
              </a:rPr>
              <a:t>&gt; </a:t>
            </a:r>
            <a:r>
              <a:rPr sz="1300" i="0" b="0">
                <a:solidFill>
                  <a:srgbClr val="D4D4D4"/>
                </a:solidFill>
                <a:latin typeface="Consolas"/>
              </a:rPr>
              <a:t>it</a:t>
            </a:r>
            <a:r>
              <a:rPr sz="1300" i="0" b="0">
                <a:solidFill>
                  <a:srgbClr val="D4D4D4"/>
                </a:solidFill>
                <a:latin typeface="Consolas"/>
              </a:rPr>
              <a:t> = </a:t>
            </a:r>
            <a:r>
              <a:rPr sz="1300" i="0" b="0">
                <a:solidFill>
                  <a:srgbClr val="DCDCAA"/>
                </a:solidFill>
                <a:latin typeface="Consolas"/>
              </a:rPr>
              <a:t>mascotas.iterator</a:t>
            </a:r>
            <a:r>
              <a:rPr sz="1300" i="0" b="0">
                <a:solidFill>
                  <a:srgbClr val="D4D4D4"/>
                </a:solidFill>
                <a:latin typeface="Consolas"/>
              </a:rPr>
              <a:t>();  </a:t>
            </a:r>
            <a:r>
              <a:rPr sz="1300" i="1" b="0">
                <a:solidFill>
                  <a:srgbClr val="6A9955"/>
                </a:solidFill>
                <a:latin typeface="Consolas"/>
              </a:rPr>
              <a:t>// para BORRAR mientras se recorre</a:t>
            </a:r>
          </a:p>
          <a:p>
            <a:pPr>
              <a:spcAft>
                <a:spcPts val="278"/>
              </a:spcAft>
            </a:pPr>
            <a:r>
              <a:rPr sz="1300" i="0" b="0">
                <a:solidFill>
                  <a:srgbClr val="569CD6"/>
                </a:solidFill>
                <a:latin typeface="Consolas"/>
              </a:rPr>
              <a:t>while</a:t>
            </a:r>
            <a:r>
              <a:rPr sz="1300" i="0" b="0">
                <a:solidFill>
                  <a:srgbClr val="D4D4D4"/>
                </a:solidFill>
                <a:latin typeface="Consolas"/>
              </a:rPr>
              <a:t> (</a:t>
            </a:r>
            <a:r>
              <a:rPr sz="1300" i="0" b="0">
                <a:solidFill>
                  <a:srgbClr val="DCDCAA"/>
                </a:solidFill>
                <a:latin typeface="Consolas"/>
              </a:rPr>
              <a:t>it.hasNext</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569CD6"/>
                </a:solidFill>
                <a:latin typeface="Consolas"/>
              </a:rPr>
              <a:t>if</a:t>
            </a:r>
            <a:r>
              <a:rPr sz="1300" i="0" b="0">
                <a:solidFill>
                  <a:srgbClr val="D4D4D4"/>
                </a:solidFill>
                <a:latin typeface="Consolas"/>
              </a:rPr>
              <a:t> (</a:t>
            </a:r>
            <a:r>
              <a:rPr sz="1300" i="0" b="0">
                <a:solidFill>
                  <a:srgbClr val="DCDCAA"/>
                </a:solidFill>
                <a:latin typeface="Consolas"/>
              </a:rPr>
              <a:t>it.next</a:t>
            </a:r>
            <a:r>
              <a:rPr sz="1300" i="0" b="0">
                <a:solidFill>
                  <a:srgbClr val="D4D4D4"/>
                </a:solidFill>
                <a:latin typeface="Consolas"/>
              </a:rPr>
              <a:t>().</a:t>
            </a:r>
            <a:r>
              <a:rPr sz="1300" i="0" b="0">
                <a:solidFill>
                  <a:srgbClr val="DCDCAA"/>
                </a:solidFill>
                <a:latin typeface="Consolas"/>
              </a:rPr>
              <a:t>getEdad</a:t>
            </a:r>
            <a:r>
              <a:rPr sz="1300" i="0" b="0">
                <a:solidFill>
                  <a:srgbClr val="D4D4D4"/>
                </a:solidFill>
                <a:latin typeface="Consolas"/>
              </a:rPr>
              <a:t>() &gt;= </a:t>
            </a:r>
            <a:r>
              <a:rPr sz="1300" i="0" b="0">
                <a:solidFill>
                  <a:srgbClr val="B5CEA8"/>
                </a:solidFill>
                <a:latin typeface="Consolas"/>
              </a:rPr>
              <a:t>9</a:t>
            </a:r>
            <a:r>
              <a:rPr sz="1300" i="0" b="0">
                <a:solidFill>
                  <a:srgbClr val="D4D4D4"/>
                </a:solidFill>
                <a:latin typeface="Consolas"/>
              </a:rPr>
              <a:t>) </a:t>
            </a:r>
            <a:r>
              <a:rPr sz="1300" i="0" b="0">
                <a:solidFill>
                  <a:srgbClr val="DCDCAA"/>
                </a:solidFill>
                <a:latin typeface="Consolas"/>
              </a:rPr>
              <a:t>it.remove</a:t>
            </a:r>
            <a:r>
              <a:rPr sz="1300" i="0" b="0">
                <a:solidFill>
                  <a:srgbClr val="D4D4D4"/>
                </a:solidFill>
                <a:latin typeface="Consolas"/>
              </a:rPr>
              <a:t>();   </a:t>
            </a:r>
            <a:r>
              <a:rPr sz="1300" i="1" b="0">
                <a:solidFill>
                  <a:srgbClr val="6A9955"/>
                </a:solidFill>
                <a:latin typeface="Consolas"/>
              </a:rPr>
              <a:t>// geriatria, sin excepcion</a:t>
            </a:r>
          </a:p>
          <a:p>
            <a:pPr>
              <a:spcAft>
                <a:spcPts val="278"/>
              </a:spcAft>
            </a:pPr>
            <a:r>
              <a:rPr sz="13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ClinicaRegistroMascotas.java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ArrayList por dentro: un arreglo que crece</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rraylist-crece-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arraylist-crece-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arraylist-crece-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arraylist-crece-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Guarda un arreglo interno y dos números: capacidad (casillas) y tamaño (elementos).</a:t>
            </a:r>
          </a:p>
          <a:p>
            <a:pPr>
              <a:spcAft>
                <a:spcPts val="800"/>
              </a:spcAft>
            </a:pPr>
            <a:r>
              <a:rPr sz="2000" b="0" i="0">
                <a:solidFill>
                  <a:srgbClr val="333333"/>
                </a:solidFill>
                <a:latin typeface="Calibri"/>
              </a:rPr>
              <a:t>–   Cuando se llena, crea otro ~1,5 veces más grande y copia todo, sin que usted se entere.</a:t>
            </a:r>
          </a:p>
          <a:p>
            <a:pPr>
              <a:spcAft>
                <a:spcPts val="800"/>
              </a:spcAft>
            </a:pPr>
            <a:r>
              <a:rPr sz="2000" b="0" i="0">
                <a:solidFill>
                  <a:srgbClr val="333333"/>
                </a:solidFill>
                <a:latin typeface="Calibri"/>
              </a:rPr>
              <a:t>–   get(i) es inmediato y agregar al final es barato; add(0, x) o remove(0) corren a todos.</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interfaz List: add, get, size, remove</a:t>
            </a:r>
          </a:p>
        </p:txBody>
      </p:sp>
      <p:sp>
        <p:nvSpPr>
          <p:cNvPr id="5" name="Rounded Rectangle 4"/>
          <p:cNvSpPr/>
          <p:nvPr/>
        </p:nvSpPr>
        <p:spPr>
          <a:xfrm>
            <a:off x="5797149" y="1879499"/>
            <a:ext cx="6010497" cy="344647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st-notebook-checklist.jpg"/>
          <p:cNvPicPr>
            <a:picLocks noChangeAspect="1"/>
          </p:cNvPicPr>
          <p:nvPr/>
        </p:nvPicPr>
        <p:blipFill>
          <a:blip r:embed="rId2"/>
          <a:stretch>
            <a:fillRect/>
          </a:stretch>
        </p:blipFill>
        <p:spPr>
          <a:xfrm>
            <a:off x="5870301" y="1952651"/>
            <a:ext cx="5864193" cy="3300168"/>
          </a:xfrm>
          <a:prstGeom prst="rect">
            <a:avLst/>
          </a:prstGeom>
        </p:spPr>
      </p:pic>
      <p:sp>
        <p:nvSpPr>
          <p:cNvPr id="7" name="TextBox 6"/>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Foto: Jakub Zerdzicki · Pexels</a:t>
            </a:r>
          </a:p>
        </p:txBody>
      </p:sp>
      <p:sp>
        <p:nvSpPr>
          <p:cNvPr id="8" name="TextBox 7"/>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List&lt;Mascota&gt; mascotas = new ArrayList&lt;&gt;(); a la izquierda el contrato, a la derecha la clase.</a:t>
            </a:r>
          </a:p>
          <a:p>
            <a:pPr>
              <a:spcAft>
                <a:spcPts val="800"/>
              </a:spcAft>
            </a:pPr>
            <a:r>
              <a:rPr sz="2000" b="0" i="0">
                <a:solidFill>
                  <a:srgbClr val="333333"/>
                </a:solidFill>
                <a:latin typeface="Calibri"/>
              </a:rPr>
              <a:t>–   add, get, size, remove, set, isEmpty, contains, indexOf: la API de toda la clase.</a:t>
            </a:r>
          </a:p>
          <a:p>
            <a:pPr>
              <a:spcAft>
                <a:spcPts val="800"/>
              </a:spcAft>
            </a:pPr>
            <a:r>
              <a:rPr sz="2000" b="0" i="0">
                <a:solidFill>
                  <a:srgbClr val="333333"/>
                </a:solidFill>
                <a:latin typeface="Calibri"/>
              </a:rPr>
              <a:t>–   &lt;Mascota&gt; es el genérico: si entra un String, el error aparece al compilar.</a:t>
            </a:r>
          </a:p>
          <a:p>
            <a:pPr>
              <a:spcAft>
                <a:spcPts val="800"/>
              </a:spcAft>
            </a:pPr>
            <a:r>
              <a:rPr sz="2000" b="0" i="0">
                <a:solidFill>
                  <a:srgbClr val="333333"/>
                </a:solidFill>
                <a:latin typeface="Calibri"/>
              </a:rPr>
              <a:t>–   contains e indexOf usan equals: sin sobrescribirlo, se busca por id recorriendo.</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agregar(): validar antes de add</a:t>
            </a:r>
          </a:p>
        </p:txBody>
      </p:sp>
      <p:sp>
        <p:nvSpPr>
          <p:cNvPr id="5" name="Rounded Rectangle 4"/>
          <p:cNvSpPr/>
          <p:nvPr/>
        </p:nvSpPr>
        <p:spPr>
          <a:xfrm>
            <a:off x="457200" y="1261872"/>
            <a:ext cx="11277295" cy="4573349"/>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978989"/>
          </a:xfrm>
          <a:prstGeom prst="rect">
            <a:avLst/>
          </a:prstGeom>
          <a:noFill/>
        </p:spPr>
        <p:txBody>
          <a:bodyPr wrap="square">
            <a:spAutoFit/>
          </a:bodyPr>
          <a:lstStyle/>
          <a:p>
            <a:pPr algn="r">
              <a:spcAft>
                <a:spcPts val="278"/>
              </a:spcAft>
            </a:pPr>
            <a:r>
              <a:rPr sz="1300" i="0" b="0">
                <a:solidFill>
                  <a:srgbClr val="858585"/>
                </a:solidFill>
                <a:latin typeface="Consolas"/>
              </a:rPr>
              <a:t>1</a:t>
            </a:r>
          </a:p>
          <a:p>
            <a:pPr algn="r">
              <a:spcAft>
                <a:spcPts val="278"/>
              </a:spcAft>
            </a:pPr>
            <a:r>
              <a:rPr sz="1300" i="0" b="0">
                <a:solidFill>
                  <a:srgbClr val="858585"/>
                </a:solidFill>
                <a:latin typeface="Consolas"/>
              </a:rPr>
              <a:t>2</a:t>
            </a:r>
          </a:p>
          <a:p>
            <a:pPr algn="r">
              <a:spcAft>
                <a:spcPts val="278"/>
              </a:spcAft>
            </a:pPr>
            <a:r>
              <a:rPr sz="1300" i="0" b="0">
                <a:solidFill>
                  <a:srgbClr val="858585"/>
                </a:solidFill>
                <a:latin typeface="Consolas"/>
              </a:rPr>
              <a:t>3</a:t>
            </a:r>
          </a:p>
          <a:p>
            <a:pPr algn="r">
              <a:spcAft>
                <a:spcPts val="278"/>
              </a:spcAft>
            </a:pPr>
            <a:r>
              <a:rPr sz="1300" i="0" b="0">
                <a:solidFill>
                  <a:srgbClr val="858585"/>
                </a:solidFill>
                <a:latin typeface="Consolas"/>
              </a:rPr>
              <a:t>4</a:t>
            </a:r>
          </a:p>
          <a:p>
            <a:pPr algn="r">
              <a:spcAft>
                <a:spcPts val="278"/>
              </a:spcAft>
            </a:pPr>
            <a:r>
              <a:rPr sz="1300" i="0" b="0">
                <a:solidFill>
                  <a:srgbClr val="858585"/>
                </a:solidFill>
                <a:latin typeface="Consolas"/>
              </a:rPr>
              <a:t>5</a:t>
            </a:r>
          </a:p>
          <a:p>
            <a:pPr algn="r">
              <a:spcAft>
                <a:spcPts val="278"/>
              </a:spcAft>
            </a:pPr>
            <a:r>
              <a:rPr sz="1300" i="0" b="0">
                <a:solidFill>
                  <a:srgbClr val="858585"/>
                </a:solidFill>
                <a:latin typeface="Consolas"/>
              </a:rPr>
              <a:t>6</a:t>
            </a:r>
          </a:p>
          <a:p>
            <a:pPr algn="r">
              <a:spcAft>
                <a:spcPts val="278"/>
              </a:spcAft>
            </a:pPr>
            <a:r>
              <a:rPr sz="1300" i="0" b="0">
                <a:solidFill>
                  <a:srgbClr val="858585"/>
                </a:solidFill>
                <a:latin typeface="Consolas"/>
              </a:rPr>
              <a:t>7</a:t>
            </a:r>
          </a:p>
          <a:p>
            <a:pPr algn="r">
              <a:spcAft>
                <a:spcPts val="278"/>
              </a:spcAft>
            </a:pPr>
            <a:r>
              <a:rPr sz="1300" i="0" b="0">
                <a:solidFill>
                  <a:srgbClr val="858585"/>
                </a:solidFill>
                <a:latin typeface="Consolas"/>
              </a:rPr>
              <a:t>8</a:t>
            </a:r>
          </a:p>
          <a:p>
            <a:pPr algn="r">
              <a:spcAft>
                <a:spcPts val="278"/>
              </a:spcAft>
            </a:pPr>
            <a:r>
              <a:rPr sz="1300" i="0" b="0">
                <a:solidFill>
                  <a:srgbClr val="858585"/>
                </a:solidFill>
                <a:latin typeface="Consolas"/>
              </a:rPr>
              <a:t>9</a:t>
            </a:r>
          </a:p>
          <a:p>
            <a:pPr algn="r">
              <a:spcAft>
                <a:spcPts val="278"/>
              </a:spcAft>
            </a:pPr>
            <a:r>
              <a:rPr sz="1300" i="0" b="0">
                <a:solidFill>
                  <a:srgbClr val="858585"/>
                </a:solidFill>
                <a:latin typeface="Consolas"/>
              </a:rPr>
              <a:t>10</a:t>
            </a:r>
          </a:p>
          <a:p>
            <a:pPr algn="r">
              <a:spcAft>
                <a:spcPts val="278"/>
              </a:spcAft>
            </a:pPr>
            <a:r>
              <a:rPr sz="1300" i="0" b="0">
                <a:solidFill>
                  <a:srgbClr val="858585"/>
                </a:solidFill>
                <a:latin typeface="Consolas"/>
              </a:rPr>
              <a:t>11</a:t>
            </a:r>
          </a:p>
          <a:p>
            <a:pPr algn="r">
              <a:spcAft>
                <a:spcPts val="278"/>
              </a:spcAft>
            </a:pPr>
            <a:r>
              <a:rPr sz="1300" i="0" b="0">
                <a:solidFill>
                  <a:srgbClr val="858585"/>
                </a:solidFill>
                <a:latin typeface="Consolas"/>
              </a:rPr>
              <a:t>12</a:t>
            </a:r>
          </a:p>
          <a:p>
            <a:pPr algn="r">
              <a:spcAft>
                <a:spcPts val="278"/>
              </a:spcAft>
            </a:pPr>
            <a:r>
              <a:rPr sz="1300" i="0" b="0">
                <a:solidFill>
                  <a:srgbClr val="858585"/>
                </a:solidFill>
                <a:latin typeface="Consolas"/>
              </a:rPr>
              <a:t>13</a:t>
            </a:r>
          </a:p>
          <a:p>
            <a:pPr algn="r">
              <a:spcAft>
                <a:spcPts val="278"/>
              </a:spcAft>
            </a:pPr>
            <a:r>
              <a:rPr sz="1300" i="0" b="0">
                <a:solidFill>
                  <a:srgbClr val="858585"/>
                </a:solidFill>
                <a:latin typeface="Consolas"/>
              </a:rPr>
              <a:t>14</a:t>
            </a:r>
          </a:p>
          <a:p>
            <a:pPr algn="r">
              <a:spcAft>
                <a:spcPts val="278"/>
              </a:spcAft>
            </a:pPr>
            <a:r>
              <a:rPr sz="1300" i="0" b="0">
                <a:solidFill>
                  <a:srgbClr val="858585"/>
                </a:solidFill>
                <a:latin typeface="Consolas"/>
              </a:rPr>
              <a:t>15</a:t>
            </a:r>
          </a:p>
          <a:p>
            <a:pPr algn="r">
              <a:spcAft>
                <a:spcPts val="278"/>
              </a:spcAft>
            </a:pPr>
            <a:r>
              <a:rPr sz="1300" i="0" b="0">
                <a:solidFill>
                  <a:srgbClr val="858585"/>
                </a:solidFill>
                <a:latin typeface="Consolas"/>
              </a:rPr>
              <a:t>16</a:t>
            </a:r>
          </a:p>
        </p:txBody>
      </p:sp>
      <p:sp>
        <p:nvSpPr>
          <p:cNvPr id="12" name="TextBox 11"/>
          <p:cNvSpPr txBox="1"/>
          <p:nvPr/>
        </p:nvSpPr>
        <p:spPr>
          <a:xfrm>
            <a:off x="1188720" y="1719072"/>
            <a:ext cx="10271455" cy="3978989"/>
          </a:xfrm>
          <a:prstGeom prst="rect">
            <a:avLst/>
          </a:prstGeom>
          <a:noFill/>
        </p:spPr>
        <p:txBody>
          <a:bodyPr wrap="square">
            <a:spAutoFit/>
          </a:bodyPr>
          <a:lstStyle/>
          <a:p>
            <a:pPr>
              <a:spcAft>
                <a:spcPts val="278"/>
              </a:spcAft>
            </a:pPr>
            <a:r>
              <a:rPr sz="1300" i="1" b="0">
                <a:solidFill>
                  <a:srgbClr val="6A9955"/>
                </a:solidFill>
                <a:latin typeface="Consolas"/>
              </a:rPr>
              <a:t>// La lista vive privada: nadie le mete mano sin pasar por las reglas del negocio</a:t>
            </a:r>
          </a:p>
          <a:p>
            <a:pPr>
              <a:spcAft>
                <a:spcPts val="278"/>
              </a:spcAft>
            </a:pPr>
            <a:r>
              <a:rPr sz="1300" i="0" b="0">
                <a:solidFill>
                  <a:srgbClr val="569CD6"/>
                </a:solidFill>
                <a:latin typeface="Consolas"/>
              </a:rPr>
              <a:t>private</a:t>
            </a:r>
            <a:r>
              <a:rPr sz="1300" i="0" b="0">
                <a:solidFill>
                  <a:srgbClr val="D4D4D4"/>
                </a:solidFill>
                <a:latin typeface="Consolas"/>
              </a:rPr>
              <a:t> </a:t>
            </a:r>
            <a:r>
              <a:rPr sz="1300" i="0" b="0">
                <a:solidFill>
                  <a:srgbClr val="569CD6"/>
                </a:solidFill>
                <a:latin typeface="Consolas"/>
              </a:rPr>
              <a:t>final</a:t>
            </a:r>
            <a:r>
              <a:rPr sz="1300" i="0" b="0">
                <a:solidFill>
                  <a:srgbClr val="D4D4D4"/>
                </a:solidFill>
                <a:latin typeface="Consolas"/>
              </a:rPr>
              <a:t> </a:t>
            </a:r>
            <a:r>
              <a:rPr sz="1300" i="0" b="0">
                <a:solidFill>
                  <a:srgbClr val="4EC9B0"/>
                </a:solidFill>
                <a:latin typeface="Consolas"/>
              </a:rPr>
              <a:t>List</a:t>
            </a:r>
            <a:r>
              <a:rPr sz="1300" i="0" b="0">
                <a:solidFill>
                  <a:srgbClr val="D4D4D4"/>
                </a:solidFill>
                <a:latin typeface="Consolas"/>
              </a:rPr>
              <a:t>&lt;</a:t>
            </a:r>
            <a:r>
              <a:rPr sz="1300" i="0" b="0">
                <a:solidFill>
                  <a:srgbClr val="D4D4D4"/>
                </a:solidFill>
                <a:latin typeface="Consolas"/>
              </a:rPr>
              <a:t>Mascota</a:t>
            </a:r>
            <a:r>
              <a:rPr sz="1300" i="0" b="0">
                <a:solidFill>
                  <a:srgbClr val="D4D4D4"/>
                </a:solidFill>
                <a:latin typeface="Consolas"/>
              </a:rPr>
              <a:t>&gt; </a:t>
            </a:r>
            <a:r>
              <a:rPr sz="1300" i="0" b="0">
                <a:solidFill>
                  <a:srgbClr val="D4D4D4"/>
                </a:solidFill>
                <a:latin typeface="Consolas"/>
              </a:rPr>
              <a:t>mascotas</a:t>
            </a:r>
            <a:r>
              <a:rPr sz="1300" i="0" b="0">
                <a:solidFill>
                  <a:srgbClr val="D4D4D4"/>
                </a:solidFill>
                <a:latin typeface="Consolas"/>
              </a:rPr>
              <a:t> = </a:t>
            </a:r>
            <a:r>
              <a:rPr sz="1300" i="0" b="0">
                <a:solidFill>
                  <a:srgbClr val="569CD6"/>
                </a:solidFill>
                <a:latin typeface="Consolas"/>
              </a:rPr>
              <a:t>new</a:t>
            </a:r>
            <a:r>
              <a:rPr sz="1300" i="0" b="0">
                <a:solidFill>
                  <a:srgbClr val="D4D4D4"/>
                </a:solidFill>
                <a:latin typeface="Consolas"/>
              </a:rPr>
              <a:t> </a:t>
            </a:r>
            <a:r>
              <a:rPr sz="1300" i="0" b="0">
                <a:solidFill>
                  <a:srgbClr val="4EC9B0"/>
                </a:solidFill>
                <a:latin typeface="Consolas"/>
              </a:rPr>
              <a:t>ArrayList</a:t>
            </a:r>
            <a:r>
              <a:rPr sz="1300" i="0" b="0">
                <a:solidFill>
                  <a:srgbClr val="D4D4D4"/>
                </a:solidFill>
                <a:latin typeface="Consolas"/>
              </a:rPr>
              <a:t>&lt;&gt;();</a:t>
            </a:r>
          </a:p>
          <a:p>
            <a:pPr>
              <a:spcAft>
                <a:spcPts val="278"/>
              </a:spcAft>
            </a:pPr>
            <a:r>
              <a:rPr sz="1300" i="0" b="0">
                <a:solidFill>
                  <a:srgbClr val="D4D4D4"/>
                </a:solidFill>
                <a:latin typeface="Consolas"/>
              </a:rPr>
              <a:t/>
            </a:r>
          </a:p>
          <a:p>
            <a:pPr>
              <a:spcAft>
                <a:spcPts val="278"/>
              </a:spcAft>
            </a:pPr>
            <a:r>
              <a:rPr sz="1300" i="0" b="0">
                <a:solidFill>
                  <a:srgbClr val="569CD6"/>
                </a:solidFill>
                <a:latin typeface="Consolas"/>
              </a:rPr>
              <a:t>public</a:t>
            </a:r>
            <a:r>
              <a:rPr sz="1300" i="0" b="0">
                <a:solidFill>
                  <a:srgbClr val="D4D4D4"/>
                </a:solidFill>
                <a:latin typeface="Consolas"/>
              </a:rPr>
              <a:t> </a:t>
            </a:r>
            <a:r>
              <a:rPr sz="1300" i="0" b="0">
                <a:solidFill>
                  <a:srgbClr val="4EC9B0"/>
                </a:solidFill>
                <a:latin typeface="Consolas"/>
              </a:rPr>
              <a:t>boolean</a:t>
            </a:r>
            <a:r>
              <a:rPr sz="1300" i="0" b="0">
                <a:solidFill>
                  <a:srgbClr val="D4D4D4"/>
                </a:solidFill>
                <a:latin typeface="Consolas"/>
              </a:rPr>
              <a:t> </a:t>
            </a:r>
            <a:r>
              <a:rPr sz="1300" i="0" b="0">
                <a:solidFill>
                  <a:srgbClr val="DCDCAA"/>
                </a:solidFill>
                <a:latin typeface="Consolas"/>
              </a:rPr>
              <a:t>agregar</a:t>
            </a:r>
            <a:r>
              <a:rPr sz="1300" i="0" b="0">
                <a:solidFill>
                  <a:srgbClr val="D4D4D4"/>
                </a:solidFill>
                <a:latin typeface="Consolas"/>
              </a:rPr>
              <a:t>(</a:t>
            </a:r>
            <a:r>
              <a:rPr sz="1300" i="0" b="0">
                <a:solidFill>
                  <a:srgbClr val="D4D4D4"/>
                </a:solidFill>
                <a:latin typeface="Consolas"/>
              </a:rPr>
              <a:t>Mascota</a:t>
            </a:r>
            <a:r>
              <a:rPr sz="1300" i="0" b="0">
                <a:solidFill>
                  <a:srgbClr val="D4D4D4"/>
                </a:solidFill>
                <a:latin typeface="Consolas"/>
              </a:rPr>
              <a:t> </a:t>
            </a:r>
            <a:r>
              <a:rPr sz="1300" i="0" b="0">
                <a:solidFill>
                  <a:srgbClr val="D4D4D4"/>
                </a:solidFill>
                <a:latin typeface="Consolas"/>
              </a:rPr>
              <a:t>m</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569CD6"/>
                </a:solidFill>
                <a:latin typeface="Consolas"/>
              </a:rPr>
              <a:t>if</a:t>
            </a:r>
            <a:r>
              <a:rPr sz="1300" i="0" b="0">
                <a:solidFill>
                  <a:srgbClr val="D4D4D4"/>
                </a:solidFill>
                <a:latin typeface="Consolas"/>
              </a:rPr>
              <a:t> (</a:t>
            </a:r>
            <a:r>
              <a:rPr sz="1300" i="0" b="0">
                <a:solidFill>
                  <a:srgbClr val="D4D4D4"/>
                </a:solidFill>
                <a:latin typeface="Consolas"/>
              </a:rPr>
              <a:t>m</a:t>
            </a:r>
            <a:r>
              <a:rPr sz="1300" i="0" b="0">
                <a:solidFill>
                  <a:srgbClr val="D4D4D4"/>
                </a:solidFill>
                <a:latin typeface="Consolas"/>
              </a:rPr>
              <a:t> == </a:t>
            </a:r>
            <a:r>
              <a:rPr sz="1300" i="0" b="0">
                <a:solidFill>
                  <a:srgbClr val="569CD6"/>
                </a:solidFill>
                <a:latin typeface="Consolas"/>
              </a:rPr>
              <a:t>null</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DCDCAA"/>
                </a:solidFill>
                <a:latin typeface="Consolas"/>
              </a:rPr>
              <a:t>System.out.println</a:t>
            </a:r>
            <a:r>
              <a:rPr sz="1300" i="0" b="0">
                <a:solidFill>
                  <a:srgbClr val="D4D4D4"/>
                </a:solidFill>
                <a:latin typeface="Consolas"/>
              </a:rPr>
              <a:t>(</a:t>
            </a:r>
            <a:r>
              <a:rPr sz="1300" i="0" b="0">
                <a:solidFill>
                  <a:srgbClr val="CE9178"/>
                </a:solidFill>
                <a:latin typeface="Consolas"/>
              </a:rPr>
              <a:t>"Ficha nula, no se registra"</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569CD6"/>
                </a:solidFill>
                <a:latin typeface="Consolas"/>
              </a:rPr>
              <a:t>return</a:t>
            </a:r>
            <a:r>
              <a:rPr sz="1300" i="0" b="0">
                <a:solidFill>
                  <a:srgbClr val="D4D4D4"/>
                </a:solidFill>
                <a:latin typeface="Consolas"/>
              </a:rPr>
              <a:t> </a:t>
            </a:r>
            <a:r>
              <a:rPr sz="1300" i="0" b="0">
                <a:solidFill>
                  <a:srgbClr val="569CD6"/>
                </a:solidFill>
                <a:latin typeface="Consolas"/>
              </a:rPr>
              <a:t>false</a:t>
            </a:r>
            <a:r>
              <a:rPr sz="1300" i="0" b="0">
                <a:solidFill>
                  <a:srgbClr val="D4D4D4"/>
                </a:solidFill>
                <a:latin typeface="Consolas"/>
              </a:rPr>
              <a:t>;</a:t>
            </a:r>
          </a:p>
          <a:p>
            <a:pPr>
              <a:spcAft>
                <a:spcPts val="278"/>
              </a:spcAft>
            </a:pP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569CD6"/>
                </a:solidFill>
                <a:latin typeface="Consolas"/>
              </a:rPr>
              <a:t>if</a:t>
            </a:r>
            <a:r>
              <a:rPr sz="1300" i="0" b="0">
                <a:solidFill>
                  <a:srgbClr val="D4D4D4"/>
                </a:solidFill>
                <a:latin typeface="Consolas"/>
              </a:rPr>
              <a:t> (</a:t>
            </a:r>
            <a:r>
              <a:rPr sz="1300" i="0" b="0">
                <a:solidFill>
                  <a:srgbClr val="DCDCAA"/>
                </a:solidFill>
                <a:latin typeface="Consolas"/>
              </a:rPr>
              <a:t>buscarPorId</a:t>
            </a:r>
            <a:r>
              <a:rPr sz="1300" i="0" b="0">
                <a:solidFill>
                  <a:srgbClr val="D4D4D4"/>
                </a:solidFill>
                <a:latin typeface="Consolas"/>
              </a:rPr>
              <a:t>(</a:t>
            </a:r>
            <a:r>
              <a:rPr sz="1300" i="0" b="0">
                <a:solidFill>
                  <a:srgbClr val="DCDCAA"/>
                </a:solidFill>
                <a:latin typeface="Consolas"/>
              </a:rPr>
              <a:t>m.getId</a:t>
            </a:r>
            <a:r>
              <a:rPr sz="1300" i="0" b="0">
                <a:solidFill>
                  <a:srgbClr val="D4D4D4"/>
                </a:solidFill>
                <a:latin typeface="Consolas"/>
              </a:rPr>
              <a:t>()) != </a:t>
            </a:r>
            <a:r>
              <a:rPr sz="1300" i="0" b="0">
                <a:solidFill>
                  <a:srgbClr val="569CD6"/>
                </a:solidFill>
                <a:latin typeface="Consolas"/>
              </a:rPr>
              <a:t>null</a:t>
            </a: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DCDCAA"/>
                </a:solidFill>
                <a:latin typeface="Consolas"/>
              </a:rPr>
              <a:t>System.out.println</a:t>
            </a:r>
            <a:r>
              <a:rPr sz="1300" i="0" b="0">
                <a:solidFill>
                  <a:srgbClr val="D4D4D4"/>
                </a:solidFill>
                <a:latin typeface="Consolas"/>
              </a:rPr>
              <a:t>(</a:t>
            </a:r>
            <a:r>
              <a:rPr sz="1300" i="0" b="0">
                <a:solidFill>
                  <a:srgbClr val="CE9178"/>
                </a:solidFill>
                <a:latin typeface="Consolas"/>
              </a:rPr>
              <a:t>"ID repetido, se rechaza: "</a:t>
            </a:r>
            <a:r>
              <a:rPr sz="1300" i="0" b="0">
                <a:solidFill>
                  <a:srgbClr val="D4D4D4"/>
                </a:solidFill>
                <a:latin typeface="Consolas"/>
              </a:rPr>
              <a:t> + </a:t>
            </a:r>
            <a:r>
              <a:rPr sz="1300" i="0" b="0">
                <a:solidFill>
                  <a:srgbClr val="DCDCAA"/>
                </a:solidFill>
                <a:latin typeface="Consolas"/>
              </a:rPr>
              <a:t>m.getId</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569CD6"/>
                </a:solidFill>
                <a:latin typeface="Consolas"/>
              </a:rPr>
              <a:t>return</a:t>
            </a:r>
            <a:r>
              <a:rPr sz="1300" i="0" b="0">
                <a:solidFill>
                  <a:srgbClr val="D4D4D4"/>
                </a:solidFill>
                <a:latin typeface="Consolas"/>
              </a:rPr>
              <a:t> </a:t>
            </a:r>
            <a:r>
              <a:rPr sz="1300" i="0" b="0">
                <a:solidFill>
                  <a:srgbClr val="569CD6"/>
                </a:solidFill>
                <a:latin typeface="Consolas"/>
              </a:rPr>
              <a:t>false</a:t>
            </a:r>
            <a:r>
              <a:rPr sz="1300" i="0" b="0">
                <a:solidFill>
                  <a:srgbClr val="D4D4D4"/>
                </a:solidFill>
                <a:latin typeface="Consolas"/>
              </a:rPr>
              <a:t>;</a:t>
            </a:r>
          </a:p>
          <a:p>
            <a:pPr>
              <a:spcAft>
                <a:spcPts val="278"/>
              </a:spcAft>
            </a:pPr>
            <a:r>
              <a:rPr sz="1300" i="0" b="0">
                <a:solidFill>
                  <a:srgbClr val="D4D4D4"/>
                </a:solidFill>
                <a:latin typeface="Consolas"/>
              </a:rPr>
              <a:t>    }</a:t>
            </a:r>
          </a:p>
          <a:p>
            <a:pPr>
              <a:spcAft>
                <a:spcPts val="278"/>
              </a:spcAft>
            </a:pPr>
            <a:r>
              <a:rPr sz="1300" i="0" b="0">
                <a:solidFill>
                  <a:srgbClr val="D4D4D4"/>
                </a:solidFill>
                <a:latin typeface="Consolas"/>
              </a:rPr>
              <a:t>    </a:t>
            </a:r>
            <a:r>
              <a:rPr sz="1300" i="0" b="0">
                <a:solidFill>
                  <a:srgbClr val="DCDCAA"/>
                </a:solidFill>
                <a:latin typeface="Consolas"/>
              </a:rPr>
              <a:t>mascotas.add</a:t>
            </a:r>
            <a:r>
              <a:rPr sz="1300" i="0" b="0">
                <a:solidFill>
                  <a:srgbClr val="D4D4D4"/>
                </a:solidFill>
                <a:latin typeface="Consolas"/>
              </a:rPr>
              <a:t>(</a:t>
            </a:r>
            <a:r>
              <a:rPr sz="1300" i="0" b="0">
                <a:solidFill>
                  <a:srgbClr val="D4D4D4"/>
                </a:solidFill>
                <a:latin typeface="Consolas"/>
              </a:rPr>
              <a:t>m</a:t>
            </a:r>
            <a:r>
              <a:rPr sz="1300" i="0" b="0">
                <a:solidFill>
                  <a:srgbClr val="D4D4D4"/>
                </a:solidFill>
                <a:latin typeface="Consolas"/>
              </a:rPr>
              <a:t>); </a:t>
            </a:r>
            <a:r>
              <a:rPr sz="1300" i="1" b="0">
                <a:solidFill>
                  <a:srgbClr val="6A9955"/>
                </a:solidFill>
                <a:latin typeface="Consolas"/>
              </a:rPr>
              <a:t>// add siempre agrega al final</a:t>
            </a:r>
          </a:p>
          <a:p>
            <a:pPr>
              <a:spcAft>
                <a:spcPts val="278"/>
              </a:spcAft>
            </a:pPr>
            <a:r>
              <a:rPr sz="1300" i="0" b="0">
                <a:solidFill>
                  <a:srgbClr val="D4D4D4"/>
                </a:solidFill>
                <a:latin typeface="Consolas"/>
              </a:rPr>
              <a:t>    </a:t>
            </a:r>
            <a:r>
              <a:rPr sz="1300" i="0" b="0">
                <a:solidFill>
                  <a:srgbClr val="DCDCAA"/>
                </a:solidFill>
                <a:latin typeface="Consolas"/>
              </a:rPr>
              <a:t>System.out.println</a:t>
            </a:r>
            <a:r>
              <a:rPr sz="1300" i="0" b="0">
                <a:solidFill>
                  <a:srgbClr val="D4D4D4"/>
                </a:solidFill>
                <a:latin typeface="Consolas"/>
              </a:rPr>
              <a:t>(</a:t>
            </a:r>
            <a:r>
              <a:rPr sz="1300" i="0" b="0">
                <a:solidFill>
                  <a:srgbClr val="CE9178"/>
                </a:solidFill>
                <a:latin typeface="Consolas"/>
              </a:rPr>
              <a:t>"Registrada: "</a:t>
            </a:r>
            <a:r>
              <a:rPr sz="1300" i="0" b="0">
                <a:solidFill>
                  <a:srgbClr val="D4D4D4"/>
                </a:solidFill>
                <a:latin typeface="Consolas"/>
              </a:rPr>
              <a:t> + </a:t>
            </a:r>
            <a:r>
              <a:rPr sz="1300" i="0" b="0">
                <a:solidFill>
                  <a:srgbClr val="DCDCAA"/>
                </a:solidFill>
                <a:latin typeface="Consolas"/>
              </a:rPr>
              <a:t>m.getNombre</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569CD6"/>
                </a:solidFill>
                <a:latin typeface="Consolas"/>
              </a:rPr>
              <a:t>return</a:t>
            </a:r>
            <a:r>
              <a:rPr sz="1300" i="0" b="0">
                <a:solidFill>
                  <a:srgbClr val="D4D4D4"/>
                </a:solidFill>
                <a:latin typeface="Consolas"/>
              </a:rPr>
              <a:t> </a:t>
            </a:r>
            <a:r>
              <a:rPr sz="1300" i="0" b="0">
                <a:solidFill>
                  <a:srgbClr val="569CD6"/>
                </a:solidFill>
                <a:latin typeface="Consolas"/>
              </a:rPr>
              <a:t>true</a:t>
            </a:r>
            <a:r>
              <a:rPr sz="1300" i="0" b="0">
                <a:solidFill>
                  <a:srgbClr val="D4D4D4"/>
                </a:solidFill>
                <a:latin typeface="Consolas"/>
              </a:rPr>
              <a:t>;</a:t>
            </a:r>
          </a:p>
          <a:p>
            <a:pPr>
              <a:spcAft>
                <a:spcPts val="278"/>
              </a:spcAft>
            </a:pPr>
            <a:r>
              <a:rPr sz="13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ClinicaRegistroMascotas.java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buscarPorId(): recorrer y comparar por id</a:t>
            </a:r>
          </a:p>
        </p:txBody>
      </p:sp>
      <p:sp>
        <p:nvSpPr>
          <p:cNvPr id="5" name="Rounded Rectangle 4"/>
          <p:cNvSpPr/>
          <p:nvPr/>
        </p:nvSpPr>
        <p:spPr>
          <a:xfrm>
            <a:off x="457200" y="1261872"/>
            <a:ext cx="11277295" cy="4568884"/>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974524"/>
          </a:xfrm>
          <a:prstGeom prst="rect">
            <a:avLst/>
          </a:prstGeom>
          <a:noFill/>
        </p:spPr>
        <p:txBody>
          <a:bodyPr wrap="square">
            <a:spAutoFit/>
          </a:bodyPr>
          <a:lstStyle/>
          <a:p>
            <a:pPr algn="r">
              <a:spcAft>
                <a:spcPts val="428"/>
              </a:spcAft>
            </a:pPr>
            <a:r>
              <a:rPr sz="2000" i="0" b="0">
                <a:solidFill>
                  <a:srgbClr val="858585"/>
                </a:solidFill>
                <a:latin typeface="Consolas"/>
              </a:rPr>
              <a:t>1</a:t>
            </a:r>
          </a:p>
          <a:p>
            <a:pPr algn="r">
              <a:spcAft>
                <a:spcPts val="428"/>
              </a:spcAft>
            </a:pPr>
            <a:r>
              <a:rPr sz="2000" i="0" b="0">
                <a:solidFill>
                  <a:srgbClr val="858585"/>
                </a:solidFill>
                <a:latin typeface="Consolas"/>
              </a:rPr>
              <a:t>2</a:t>
            </a:r>
          </a:p>
          <a:p>
            <a:pPr algn="r">
              <a:spcAft>
                <a:spcPts val="428"/>
              </a:spcAft>
            </a:pPr>
            <a:r>
              <a:rPr sz="2000" i="0" b="0">
                <a:solidFill>
                  <a:srgbClr val="858585"/>
                </a:solidFill>
                <a:latin typeface="Consolas"/>
              </a:rPr>
              <a:t>3</a:t>
            </a:r>
          </a:p>
          <a:p>
            <a:pPr algn="r">
              <a:spcAft>
                <a:spcPts val="428"/>
              </a:spcAft>
            </a:pPr>
            <a:r>
              <a:rPr sz="2000" i="0" b="0">
                <a:solidFill>
                  <a:srgbClr val="858585"/>
                </a:solidFill>
                <a:latin typeface="Consolas"/>
              </a:rPr>
              <a:t>4</a:t>
            </a:r>
          </a:p>
          <a:p>
            <a:pPr algn="r">
              <a:spcAft>
                <a:spcPts val="428"/>
              </a:spcAft>
            </a:pPr>
            <a:r>
              <a:rPr sz="2000" i="0" b="0">
                <a:solidFill>
                  <a:srgbClr val="858585"/>
                </a:solidFill>
                <a:latin typeface="Consolas"/>
              </a:rPr>
              <a:t>5</a:t>
            </a:r>
          </a:p>
          <a:p>
            <a:pPr algn="r">
              <a:spcAft>
                <a:spcPts val="428"/>
              </a:spcAft>
            </a:pPr>
            <a:r>
              <a:rPr sz="2000" i="0" b="0">
                <a:solidFill>
                  <a:srgbClr val="858585"/>
                </a:solidFill>
                <a:latin typeface="Consolas"/>
              </a:rPr>
              <a:t>6</a:t>
            </a:r>
          </a:p>
          <a:p>
            <a:pPr algn="r">
              <a:spcAft>
                <a:spcPts val="428"/>
              </a:spcAft>
            </a:pPr>
            <a:r>
              <a:rPr sz="2000" i="0" b="0">
                <a:solidFill>
                  <a:srgbClr val="858585"/>
                </a:solidFill>
                <a:latin typeface="Consolas"/>
              </a:rPr>
              <a:t>7</a:t>
            </a:r>
          </a:p>
          <a:p>
            <a:pPr algn="r">
              <a:spcAft>
                <a:spcPts val="428"/>
              </a:spcAft>
            </a:pPr>
            <a:r>
              <a:rPr sz="2000" i="0" b="0">
                <a:solidFill>
                  <a:srgbClr val="858585"/>
                </a:solidFill>
                <a:latin typeface="Consolas"/>
              </a:rPr>
              <a:t>8</a:t>
            </a:r>
          </a:p>
          <a:p>
            <a:pPr algn="r">
              <a:spcAft>
                <a:spcPts val="428"/>
              </a:spcAft>
            </a:pPr>
            <a:r>
              <a:rPr sz="2000" i="0" b="0">
                <a:solidFill>
                  <a:srgbClr val="858585"/>
                </a:solidFill>
                <a:latin typeface="Consolas"/>
              </a:rPr>
              <a:t>9</a:t>
            </a:r>
          </a:p>
          <a:p>
            <a:pPr algn="r">
              <a:spcAft>
                <a:spcPts val="428"/>
              </a:spcAft>
            </a:pPr>
            <a:r>
              <a:rPr sz="2000" i="0" b="0">
                <a:solidFill>
                  <a:srgbClr val="858585"/>
                </a:solidFill>
                <a:latin typeface="Consolas"/>
              </a:rPr>
              <a:t>10</a:t>
            </a:r>
          </a:p>
          <a:p>
            <a:pPr algn="r">
              <a:spcAft>
                <a:spcPts val="428"/>
              </a:spcAft>
            </a:pPr>
            <a:r>
              <a:rPr sz="2000" i="0" b="0">
                <a:solidFill>
                  <a:srgbClr val="858585"/>
                </a:solidFill>
                <a:latin typeface="Consolas"/>
              </a:rPr>
              <a:t>11</a:t>
            </a:r>
          </a:p>
        </p:txBody>
      </p:sp>
      <p:sp>
        <p:nvSpPr>
          <p:cNvPr id="12" name="TextBox 11"/>
          <p:cNvSpPr txBox="1"/>
          <p:nvPr/>
        </p:nvSpPr>
        <p:spPr>
          <a:xfrm>
            <a:off x="1188720" y="1719072"/>
            <a:ext cx="10271455" cy="3974524"/>
          </a:xfrm>
          <a:prstGeom prst="rect">
            <a:avLst/>
          </a:prstGeom>
          <a:noFill/>
        </p:spPr>
        <p:txBody>
          <a:bodyPr wrap="square">
            <a:spAutoFit/>
          </a:bodyPr>
          <a:lstStyle/>
          <a:p>
            <a:pPr>
              <a:spcAft>
                <a:spcPts val="428"/>
              </a:spcAft>
            </a:pPr>
            <a:r>
              <a:rPr sz="2000" i="0" b="0">
                <a:solidFill>
                  <a:srgbClr val="569CD6"/>
                </a:solidFill>
                <a:latin typeface="Consolas"/>
              </a:rPr>
              <a:t>public</a:t>
            </a:r>
            <a:r>
              <a:rPr sz="2000" i="0" b="0">
                <a:solidFill>
                  <a:srgbClr val="D4D4D4"/>
                </a:solidFill>
                <a:latin typeface="Consolas"/>
              </a:rPr>
              <a:t> </a:t>
            </a:r>
            <a:r>
              <a:rPr sz="2000" i="0" b="0">
                <a:solidFill>
                  <a:srgbClr val="D4D4D4"/>
                </a:solidFill>
                <a:latin typeface="Consolas"/>
              </a:rPr>
              <a:t>Mascota</a:t>
            </a:r>
            <a:r>
              <a:rPr sz="2000" i="0" b="0">
                <a:solidFill>
                  <a:srgbClr val="D4D4D4"/>
                </a:solidFill>
                <a:latin typeface="Consolas"/>
              </a:rPr>
              <a:t> </a:t>
            </a:r>
            <a:r>
              <a:rPr sz="2000" i="0" b="0">
                <a:solidFill>
                  <a:srgbClr val="DCDCAA"/>
                </a:solidFill>
                <a:latin typeface="Consolas"/>
              </a:rPr>
              <a:t>buscarPorId</a:t>
            </a:r>
            <a:r>
              <a:rPr sz="2000" i="0" b="0">
                <a:solidFill>
                  <a:srgbClr val="D4D4D4"/>
                </a:solidFill>
                <a:latin typeface="Consolas"/>
              </a:rPr>
              <a:t>(</a:t>
            </a:r>
            <a:r>
              <a:rPr sz="2000" i="0" b="0">
                <a:solidFill>
                  <a:srgbClr val="4EC9B0"/>
                </a:solidFill>
                <a:latin typeface="Consolas"/>
              </a:rPr>
              <a:t>String</a:t>
            </a:r>
            <a:r>
              <a:rPr sz="2000" i="0" b="0">
                <a:solidFill>
                  <a:srgbClr val="D4D4D4"/>
                </a:solidFill>
                <a:latin typeface="Consolas"/>
              </a:rPr>
              <a:t> </a:t>
            </a:r>
            <a:r>
              <a:rPr sz="2000" i="0" b="0">
                <a:solidFill>
                  <a:srgbClr val="D4D4D4"/>
                </a:solidFill>
                <a:latin typeface="Consolas"/>
              </a:rPr>
              <a:t>id</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569CD6"/>
                </a:solidFill>
                <a:latin typeface="Consolas"/>
              </a:rPr>
              <a:t>if</a:t>
            </a:r>
            <a:r>
              <a:rPr sz="2000" i="0" b="0">
                <a:solidFill>
                  <a:srgbClr val="D4D4D4"/>
                </a:solidFill>
                <a:latin typeface="Consolas"/>
              </a:rPr>
              <a:t> (</a:t>
            </a:r>
            <a:r>
              <a:rPr sz="2000" i="0" b="0">
                <a:solidFill>
                  <a:srgbClr val="D4D4D4"/>
                </a:solidFill>
                <a:latin typeface="Consolas"/>
              </a:rPr>
              <a:t>id</a:t>
            </a:r>
            <a:r>
              <a:rPr sz="2000" i="0" b="0">
                <a:solidFill>
                  <a:srgbClr val="D4D4D4"/>
                </a:solidFill>
                <a:latin typeface="Consolas"/>
              </a:rPr>
              <a:t> == </a:t>
            </a:r>
            <a:r>
              <a:rPr sz="2000" i="0" b="0">
                <a:solidFill>
                  <a:srgbClr val="569CD6"/>
                </a:solidFill>
                <a:latin typeface="Consolas"/>
              </a:rPr>
              <a:t>null</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569CD6"/>
                </a:solidFill>
                <a:latin typeface="Consolas"/>
              </a:rPr>
              <a:t>return</a:t>
            </a:r>
            <a:r>
              <a:rPr sz="2000" i="0" b="0">
                <a:solidFill>
                  <a:srgbClr val="D4D4D4"/>
                </a:solidFill>
                <a:latin typeface="Consolas"/>
              </a:rPr>
              <a:t> </a:t>
            </a:r>
            <a:r>
              <a:rPr sz="2000" i="0" b="0">
                <a:solidFill>
                  <a:srgbClr val="569CD6"/>
                </a:solidFill>
                <a:latin typeface="Consolas"/>
              </a:rPr>
              <a:t>null</a:t>
            </a:r>
            <a:r>
              <a:rPr sz="2000" i="0" b="0">
                <a:solidFill>
                  <a:srgbClr val="D4D4D4"/>
                </a:solidFill>
                <a:latin typeface="Consolas"/>
              </a:rPr>
              <a:t>;</a:t>
            </a:r>
          </a:p>
          <a:p>
            <a:pPr>
              <a:spcAft>
                <a:spcPts val="428"/>
              </a:spcAft>
            </a:pP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569CD6"/>
                </a:solidFill>
                <a:latin typeface="Consolas"/>
              </a:rPr>
              <a:t>for</a:t>
            </a:r>
            <a:r>
              <a:rPr sz="2000" i="0" b="0">
                <a:solidFill>
                  <a:srgbClr val="D4D4D4"/>
                </a:solidFill>
                <a:latin typeface="Consolas"/>
              </a:rPr>
              <a:t> (</a:t>
            </a:r>
            <a:r>
              <a:rPr sz="2000" i="0" b="0">
                <a:solidFill>
                  <a:srgbClr val="D4D4D4"/>
                </a:solidFill>
                <a:latin typeface="Consolas"/>
              </a:rPr>
              <a:t>Mascota</a:t>
            </a:r>
            <a:r>
              <a:rPr sz="2000" i="0" b="0">
                <a:solidFill>
                  <a:srgbClr val="D4D4D4"/>
                </a:solidFill>
                <a:latin typeface="Consolas"/>
              </a:rPr>
              <a:t> </a:t>
            </a:r>
            <a:r>
              <a:rPr sz="2000" i="0" b="0">
                <a:solidFill>
                  <a:srgbClr val="D4D4D4"/>
                </a:solidFill>
                <a:latin typeface="Consolas"/>
              </a:rPr>
              <a:t>m</a:t>
            </a:r>
            <a:r>
              <a:rPr sz="2000" i="0" b="0">
                <a:solidFill>
                  <a:srgbClr val="D4D4D4"/>
                </a:solidFill>
                <a:latin typeface="Consolas"/>
              </a:rPr>
              <a:t> : </a:t>
            </a:r>
            <a:r>
              <a:rPr sz="2000" i="0" b="0">
                <a:solidFill>
                  <a:srgbClr val="D4D4D4"/>
                </a:solidFill>
                <a:latin typeface="Consolas"/>
              </a:rPr>
              <a:t>mascotas</a:t>
            </a:r>
            <a:r>
              <a:rPr sz="2000" i="0" b="0">
                <a:solidFill>
                  <a:srgbClr val="D4D4D4"/>
                </a:solidFill>
                <a:latin typeface="Consolas"/>
              </a:rPr>
              <a:t>) { </a:t>
            </a:r>
            <a:r>
              <a:rPr sz="2000" i="1" b="0">
                <a:solidFill>
                  <a:srgbClr val="6A9955"/>
                </a:solidFill>
                <a:latin typeface="Consolas"/>
              </a:rPr>
              <a:t>// for-each: solo para leer</a:t>
            </a:r>
          </a:p>
          <a:p>
            <a:pPr>
              <a:spcAft>
                <a:spcPts val="428"/>
              </a:spcAft>
            </a:pPr>
            <a:r>
              <a:rPr sz="2000" i="0" b="0">
                <a:solidFill>
                  <a:srgbClr val="D4D4D4"/>
                </a:solidFill>
                <a:latin typeface="Consolas"/>
              </a:rPr>
              <a:t>        </a:t>
            </a:r>
            <a:r>
              <a:rPr sz="2000" i="0" b="0">
                <a:solidFill>
                  <a:srgbClr val="569CD6"/>
                </a:solidFill>
                <a:latin typeface="Consolas"/>
              </a:rPr>
              <a:t>if</a:t>
            </a:r>
            <a:r>
              <a:rPr sz="2000" i="0" b="0">
                <a:solidFill>
                  <a:srgbClr val="D4D4D4"/>
                </a:solidFill>
                <a:latin typeface="Consolas"/>
              </a:rPr>
              <a:t> (</a:t>
            </a:r>
            <a:r>
              <a:rPr sz="2000" i="0" b="0">
                <a:solidFill>
                  <a:srgbClr val="DCDCAA"/>
                </a:solidFill>
                <a:latin typeface="Consolas"/>
              </a:rPr>
              <a:t>m.getId</a:t>
            </a:r>
            <a:r>
              <a:rPr sz="2000" i="0" b="0">
                <a:solidFill>
                  <a:srgbClr val="D4D4D4"/>
                </a:solidFill>
                <a:latin typeface="Consolas"/>
              </a:rPr>
              <a:t>().</a:t>
            </a:r>
            <a:r>
              <a:rPr sz="2000" i="0" b="0">
                <a:solidFill>
                  <a:srgbClr val="DCDCAA"/>
                </a:solidFill>
                <a:latin typeface="Consolas"/>
              </a:rPr>
              <a:t>equalsIgnoreCase</a:t>
            </a:r>
            <a:r>
              <a:rPr sz="2000" i="0" b="0">
                <a:solidFill>
                  <a:srgbClr val="D4D4D4"/>
                </a:solidFill>
                <a:latin typeface="Consolas"/>
              </a:rPr>
              <a:t>(</a:t>
            </a:r>
            <a:r>
              <a:rPr sz="2000" i="0" b="0">
                <a:solidFill>
                  <a:srgbClr val="DCDCAA"/>
                </a:solidFill>
                <a:latin typeface="Consolas"/>
              </a:rPr>
              <a:t>id.trim</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569CD6"/>
                </a:solidFill>
                <a:latin typeface="Consolas"/>
              </a:rPr>
              <a:t>return</a:t>
            </a:r>
            <a:r>
              <a:rPr sz="2000" i="0" b="0">
                <a:solidFill>
                  <a:srgbClr val="D4D4D4"/>
                </a:solidFill>
                <a:latin typeface="Consolas"/>
              </a:rPr>
              <a:t> </a:t>
            </a:r>
            <a:r>
              <a:rPr sz="2000" i="0" b="0">
                <a:solidFill>
                  <a:srgbClr val="D4D4D4"/>
                </a:solidFill>
                <a:latin typeface="Consolas"/>
              </a:rPr>
              <a:t>m</a:t>
            </a:r>
            <a:r>
              <a:rPr sz="2000" i="0" b="0">
                <a:solidFill>
                  <a:srgbClr val="D4D4D4"/>
                </a:solidFill>
                <a:latin typeface="Consolas"/>
              </a:rPr>
              <a:t>;</a:t>
            </a:r>
          </a:p>
          <a:p>
            <a:pPr>
              <a:spcAft>
                <a:spcPts val="428"/>
              </a:spcAft>
            </a:pPr>
            <a:r>
              <a:rPr sz="2000" i="0" b="0">
                <a:solidFill>
                  <a:srgbClr val="D4D4D4"/>
                </a:solidFill>
                <a:latin typeface="Consolas"/>
              </a:rPr>
              <a:t>        }</a:t>
            </a:r>
          </a:p>
          <a:p>
            <a:pPr>
              <a:spcAft>
                <a:spcPts val="428"/>
              </a:spcAft>
            </a:pP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569CD6"/>
                </a:solidFill>
                <a:latin typeface="Consolas"/>
              </a:rPr>
              <a:t>return</a:t>
            </a:r>
            <a:r>
              <a:rPr sz="2000" i="0" b="0">
                <a:solidFill>
                  <a:srgbClr val="D4D4D4"/>
                </a:solidFill>
                <a:latin typeface="Consolas"/>
              </a:rPr>
              <a:t> </a:t>
            </a:r>
            <a:r>
              <a:rPr sz="2000" i="0" b="0">
                <a:solidFill>
                  <a:srgbClr val="569CD6"/>
                </a:solidFill>
                <a:latin typeface="Consolas"/>
              </a:rPr>
              <a:t>null</a:t>
            </a:r>
            <a:r>
              <a:rPr sz="2000" i="0" b="0">
                <a:solidFill>
                  <a:srgbClr val="D4D4D4"/>
                </a:solidFill>
                <a:latin typeface="Consolas"/>
              </a:rPr>
              <a:t>; </a:t>
            </a:r>
            <a:r>
              <a:rPr sz="2000" i="1" b="0">
                <a:solidFill>
                  <a:srgbClr val="6A9955"/>
                </a:solidFill>
                <a:latin typeface="Consolas"/>
              </a:rPr>
              <a:t>// null = no esta; quien llama debe validarlo</a:t>
            </a:r>
          </a:p>
          <a:p>
            <a:pPr>
              <a:spcAft>
                <a:spcPts val="428"/>
              </a:spcAft>
            </a:pPr>
            <a:r>
              <a:rPr sz="20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ClinicaRegistroMascotas.java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eliminarPorId(): remove(Object)</a:t>
            </a:r>
          </a:p>
        </p:txBody>
      </p:sp>
      <p:sp>
        <p:nvSpPr>
          <p:cNvPr id="5" name="Rounded Rectangle 4"/>
          <p:cNvSpPr/>
          <p:nvPr/>
        </p:nvSpPr>
        <p:spPr>
          <a:xfrm>
            <a:off x="457200" y="1261872"/>
            <a:ext cx="11277295" cy="4220725"/>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626365"/>
          </a:xfrm>
          <a:prstGeom prst="rect">
            <a:avLst/>
          </a:prstGeom>
          <a:noFill/>
        </p:spPr>
        <p:txBody>
          <a:bodyPr wrap="square">
            <a:spAutoFit/>
          </a:bodyPr>
          <a:lstStyle/>
          <a:p>
            <a:pPr algn="r">
              <a:spcAft>
                <a:spcPts val="428"/>
              </a:spcAft>
            </a:pPr>
            <a:r>
              <a:rPr sz="2000" i="0" b="0">
                <a:solidFill>
                  <a:srgbClr val="858585"/>
                </a:solidFill>
                <a:latin typeface="Consolas"/>
              </a:rPr>
              <a:t>1</a:t>
            </a:r>
          </a:p>
          <a:p>
            <a:pPr algn="r">
              <a:spcAft>
                <a:spcPts val="428"/>
              </a:spcAft>
            </a:pPr>
            <a:r>
              <a:rPr sz="2000" i="0" b="0">
                <a:solidFill>
                  <a:srgbClr val="858585"/>
                </a:solidFill>
                <a:latin typeface="Consolas"/>
              </a:rPr>
              <a:t>2</a:t>
            </a:r>
          </a:p>
          <a:p>
            <a:pPr algn="r">
              <a:spcAft>
                <a:spcPts val="428"/>
              </a:spcAft>
            </a:pPr>
            <a:r>
              <a:rPr sz="2000" i="0" b="0">
                <a:solidFill>
                  <a:srgbClr val="858585"/>
                </a:solidFill>
                <a:latin typeface="Consolas"/>
              </a:rPr>
              <a:t>3</a:t>
            </a:r>
          </a:p>
          <a:p>
            <a:pPr algn="r">
              <a:spcAft>
                <a:spcPts val="428"/>
              </a:spcAft>
            </a:pPr>
            <a:r>
              <a:rPr sz="2000" i="0" b="0">
                <a:solidFill>
                  <a:srgbClr val="858585"/>
                </a:solidFill>
                <a:latin typeface="Consolas"/>
              </a:rPr>
              <a:t>4</a:t>
            </a:r>
          </a:p>
          <a:p>
            <a:pPr algn="r">
              <a:spcAft>
                <a:spcPts val="428"/>
              </a:spcAft>
            </a:pPr>
            <a:r>
              <a:rPr sz="2000" i="0" b="0">
                <a:solidFill>
                  <a:srgbClr val="858585"/>
                </a:solidFill>
                <a:latin typeface="Consolas"/>
              </a:rPr>
              <a:t>5</a:t>
            </a:r>
          </a:p>
          <a:p>
            <a:pPr algn="r">
              <a:spcAft>
                <a:spcPts val="428"/>
              </a:spcAft>
            </a:pPr>
            <a:r>
              <a:rPr sz="2000" i="0" b="0">
                <a:solidFill>
                  <a:srgbClr val="858585"/>
                </a:solidFill>
                <a:latin typeface="Consolas"/>
              </a:rPr>
              <a:t>6</a:t>
            </a:r>
          </a:p>
          <a:p>
            <a:pPr algn="r">
              <a:spcAft>
                <a:spcPts val="428"/>
              </a:spcAft>
            </a:pPr>
            <a:r>
              <a:rPr sz="2000" i="0" b="0">
                <a:solidFill>
                  <a:srgbClr val="858585"/>
                </a:solidFill>
                <a:latin typeface="Consolas"/>
              </a:rPr>
              <a:t>7</a:t>
            </a:r>
          </a:p>
          <a:p>
            <a:pPr algn="r">
              <a:spcAft>
                <a:spcPts val="428"/>
              </a:spcAft>
            </a:pPr>
            <a:r>
              <a:rPr sz="2000" i="0" b="0">
                <a:solidFill>
                  <a:srgbClr val="858585"/>
                </a:solidFill>
                <a:latin typeface="Consolas"/>
              </a:rPr>
              <a:t>8</a:t>
            </a:r>
          </a:p>
          <a:p>
            <a:pPr algn="r">
              <a:spcAft>
                <a:spcPts val="428"/>
              </a:spcAft>
            </a:pPr>
            <a:r>
              <a:rPr sz="2000" i="0" b="0">
                <a:solidFill>
                  <a:srgbClr val="858585"/>
                </a:solidFill>
                <a:latin typeface="Consolas"/>
              </a:rPr>
              <a:t>9</a:t>
            </a:r>
          </a:p>
          <a:p>
            <a:pPr algn="r">
              <a:spcAft>
                <a:spcPts val="428"/>
              </a:spcAft>
            </a:pPr>
            <a:r>
              <a:rPr sz="2000" i="0" b="0">
                <a:solidFill>
                  <a:srgbClr val="858585"/>
                </a:solidFill>
                <a:latin typeface="Consolas"/>
              </a:rPr>
              <a:t>10</a:t>
            </a:r>
          </a:p>
        </p:txBody>
      </p:sp>
      <p:sp>
        <p:nvSpPr>
          <p:cNvPr id="12" name="TextBox 11"/>
          <p:cNvSpPr txBox="1"/>
          <p:nvPr/>
        </p:nvSpPr>
        <p:spPr>
          <a:xfrm>
            <a:off x="1188720" y="1719072"/>
            <a:ext cx="10271455" cy="3626365"/>
          </a:xfrm>
          <a:prstGeom prst="rect">
            <a:avLst/>
          </a:prstGeom>
          <a:noFill/>
        </p:spPr>
        <p:txBody>
          <a:bodyPr wrap="square">
            <a:spAutoFit/>
          </a:bodyPr>
          <a:lstStyle/>
          <a:p>
            <a:pPr>
              <a:spcAft>
                <a:spcPts val="428"/>
              </a:spcAft>
            </a:pPr>
            <a:r>
              <a:rPr sz="2000" i="0" b="0">
                <a:solidFill>
                  <a:srgbClr val="569CD6"/>
                </a:solidFill>
                <a:latin typeface="Consolas"/>
              </a:rPr>
              <a:t>public</a:t>
            </a:r>
            <a:r>
              <a:rPr sz="2000" i="0" b="0">
                <a:solidFill>
                  <a:srgbClr val="D4D4D4"/>
                </a:solidFill>
                <a:latin typeface="Consolas"/>
              </a:rPr>
              <a:t> </a:t>
            </a:r>
            <a:r>
              <a:rPr sz="2000" i="0" b="0">
                <a:solidFill>
                  <a:srgbClr val="4EC9B0"/>
                </a:solidFill>
                <a:latin typeface="Consolas"/>
              </a:rPr>
              <a:t>boolean</a:t>
            </a:r>
            <a:r>
              <a:rPr sz="2000" i="0" b="0">
                <a:solidFill>
                  <a:srgbClr val="D4D4D4"/>
                </a:solidFill>
                <a:latin typeface="Consolas"/>
              </a:rPr>
              <a:t> </a:t>
            </a:r>
            <a:r>
              <a:rPr sz="2000" i="0" b="0">
                <a:solidFill>
                  <a:srgbClr val="DCDCAA"/>
                </a:solidFill>
                <a:latin typeface="Consolas"/>
              </a:rPr>
              <a:t>eliminarPorId</a:t>
            </a:r>
            <a:r>
              <a:rPr sz="2000" i="0" b="0">
                <a:solidFill>
                  <a:srgbClr val="D4D4D4"/>
                </a:solidFill>
                <a:latin typeface="Consolas"/>
              </a:rPr>
              <a:t>(</a:t>
            </a:r>
            <a:r>
              <a:rPr sz="2000" i="0" b="0">
                <a:solidFill>
                  <a:srgbClr val="4EC9B0"/>
                </a:solidFill>
                <a:latin typeface="Consolas"/>
              </a:rPr>
              <a:t>String</a:t>
            </a:r>
            <a:r>
              <a:rPr sz="2000" i="0" b="0">
                <a:solidFill>
                  <a:srgbClr val="D4D4D4"/>
                </a:solidFill>
                <a:latin typeface="Consolas"/>
              </a:rPr>
              <a:t> </a:t>
            </a:r>
            <a:r>
              <a:rPr sz="2000" i="0" b="0">
                <a:solidFill>
                  <a:srgbClr val="D4D4D4"/>
                </a:solidFill>
                <a:latin typeface="Consolas"/>
              </a:rPr>
              <a:t>id</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D4D4D4"/>
                </a:solidFill>
                <a:latin typeface="Consolas"/>
              </a:rPr>
              <a:t>Mascota</a:t>
            </a:r>
            <a:r>
              <a:rPr sz="2000" i="0" b="0">
                <a:solidFill>
                  <a:srgbClr val="D4D4D4"/>
                </a:solidFill>
                <a:latin typeface="Consolas"/>
              </a:rPr>
              <a:t> </a:t>
            </a:r>
            <a:r>
              <a:rPr sz="2000" i="0" b="0">
                <a:solidFill>
                  <a:srgbClr val="D4D4D4"/>
                </a:solidFill>
                <a:latin typeface="Consolas"/>
              </a:rPr>
              <a:t>m</a:t>
            </a:r>
            <a:r>
              <a:rPr sz="2000" i="0" b="0">
                <a:solidFill>
                  <a:srgbClr val="D4D4D4"/>
                </a:solidFill>
                <a:latin typeface="Consolas"/>
              </a:rPr>
              <a:t> = </a:t>
            </a:r>
            <a:r>
              <a:rPr sz="2000" i="0" b="0">
                <a:solidFill>
                  <a:srgbClr val="DCDCAA"/>
                </a:solidFill>
                <a:latin typeface="Consolas"/>
              </a:rPr>
              <a:t>buscarPorId</a:t>
            </a:r>
            <a:r>
              <a:rPr sz="2000" i="0" b="0">
                <a:solidFill>
                  <a:srgbClr val="D4D4D4"/>
                </a:solidFill>
                <a:latin typeface="Consolas"/>
              </a:rPr>
              <a:t>(</a:t>
            </a:r>
            <a:r>
              <a:rPr sz="2000" i="0" b="0">
                <a:solidFill>
                  <a:srgbClr val="D4D4D4"/>
                </a:solidFill>
                <a:latin typeface="Consolas"/>
              </a:rPr>
              <a:t>id</a:t>
            </a:r>
            <a:r>
              <a:rPr sz="2000" i="0" b="0">
                <a:solidFill>
                  <a:srgbClr val="D4D4D4"/>
                </a:solidFill>
                <a:latin typeface="Consolas"/>
              </a:rPr>
              <a:t>);</a:t>
            </a:r>
          </a:p>
          <a:p>
            <a:pPr>
              <a:spcAft>
                <a:spcPts val="428"/>
              </a:spcAft>
            </a:pPr>
            <a:r>
              <a:rPr sz="2000" i="0" b="0">
                <a:solidFill>
                  <a:srgbClr val="D4D4D4"/>
                </a:solidFill>
                <a:latin typeface="Consolas"/>
              </a:rPr>
              <a:t>    </a:t>
            </a:r>
            <a:r>
              <a:rPr sz="2000" i="0" b="0">
                <a:solidFill>
                  <a:srgbClr val="569CD6"/>
                </a:solidFill>
                <a:latin typeface="Consolas"/>
              </a:rPr>
              <a:t>if</a:t>
            </a:r>
            <a:r>
              <a:rPr sz="2000" i="0" b="0">
                <a:solidFill>
                  <a:srgbClr val="D4D4D4"/>
                </a:solidFill>
                <a:latin typeface="Consolas"/>
              </a:rPr>
              <a:t> (</a:t>
            </a:r>
            <a:r>
              <a:rPr sz="2000" i="0" b="0">
                <a:solidFill>
                  <a:srgbClr val="D4D4D4"/>
                </a:solidFill>
                <a:latin typeface="Consolas"/>
              </a:rPr>
              <a:t>m</a:t>
            </a:r>
            <a:r>
              <a:rPr sz="2000" i="0" b="0">
                <a:solidFill>
                  <a:srgbClr val="D4D4D4"/>
                </a:solidFill>
                <a:latin typeface="Consolas"/>
              </a:rPr>
              <a:t> == </a:t>
            </a:r>
            <a:r>
              <a:rPr sz="2000" i="0" b="0">
                <a:solidFill>
                  <a:srgbClr val="569CD6"/>
                </a:solidFill>
                <a:latin typeface="Consolas"/>
              </a:rPr>
              <a:t>null</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DCDCAA"/>
                </a:solidFill>
                <a:latin typeface="Consolas"/>
              </a:rPr>
              <a:t>System.out.println</a:t>
            </a:r>
            <a:r>
              <a:rPr sz="2000" i="0" b="0">
                <a:solidFill>
                  <a:srgbClr val="D4D4D4"/>
                </a:solidFill>
                <a:latin typeface="Consolas"/>
              </a:rPr>
              <a:t>(</a:t>
            </a:r>
            <a:r>
              <a:rPr sz="2000" i="0" b="0">
                <a:solidFill>
                  <a:srgbClr val="CE9178"/>
                </a:solidFill>
                <a:latin typeface="Consolas"/>
              </a:rPr>
              <a:t>"No existe la mascota "</a:t>
            </a:r>
            <a:r>
              <a:rPr sz="2000" i="0" b="0">
                <a:solidFill>
                  <a:srgbClr val="D4D4D4"/>
                </a:solidFill>
                <a:latin typeface="Consolas"/>
              </a:rPr>
              <a:t> + </a:t>
            </a:r>
            <a:r>
              <a:rPr sz="2000" i="0" b="0">
                <a:solidFill>
                  <a:srgbClr val="D4D4D4"/>
                </a:solidFill>
                <a:latin typeface="Consolas"/>
              </a:rPr>
              <a:t>id</a:t>
            </a:r>
            <a:r>
              <a:rPr sz="2000" i="0" b="0">
                <a:solidFill>
                  <a:srgbClr val="D4D4D4"/>
                </a:solidFill>
                <a:latin typeface="Consolas"/>
              </a:rPr>
              <a:t>);</a:t>
            </a:r>
          </a:p>
          <a:p>
            <a:pPr>
              <a:spcAft>
                <a:spcPts val="428"/>
              </a:spcAft>
            </a:pPr>
            <a:r>
              <a:rPr sz="2000" i="0" b="0">
                <a:solidFill>
                  <a:srgbClr val="D4D4D4"/>
                </a:solidFill>
                <a:latin typeface="Consolas"/>
              </a:rPr>
              <a:t>        </a:t>
            </a:r>
            <a:r>
              <a:rPr sz="2000" i="0" b="0">
                <a:solidFill>
                  <a:srgbClr val="569CD6"/>
                </a:solidFill>
                <a:latin typeface="Consolas"/>
              </a:rPr>
              <a:t>return</a:t>
            </a:r>
            <a:r>
              <a:rPr sz="2000" i="0" b="0">
                <a:solidFill>
                  <a:srgbClr val="D4D4D4"/>
                </a:solidFill>
                <a:latin typeface="Consolas"/>
              </a:rPr>
              <a:t> </a:t>
            </a:r>
            <a:r>
              <a:rPr sz="2000" i="0" b="0">
                <a:solidFill>
                  <a:srgbClr val="569CD6"/>
                </a:solidFill>
                <a:latin typeface="Consolas"/>
              </a:rPr>
              <a:t>false</a:t>
            </a:r>
            <a:r>
              <a:rPr sz="2000" i="0" b="0">
                <a:solidFill>
                  <a:srgbClr val="D4D4D4"/>
                </a:solidFill>
                <a:latin typeface="Consolas"/>
              </a:rPr>
              <a:t>;</a:t>
            </a:r>
          </a:p>
          <a:p>
            <a:pPr>
              <a:spcAft>
                <a:spcPts val="428"/>
              </a:spcAft>
            </a:pP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DCDCAA"/>
                </a:solidFill>
                <a:latin typeface="Consolas"/>
              </a:rPr>
              <a:t>mascotas.remove</a:t>
            </a:r>
            <a:r>
              <a:rPr sz="2000" i="0" b="0">
                <a:solidFill>
                  <a:srgbClr val="D4D4D4"/>
                </a:solidFill>
                <a:latin typeface="Consolas"/>
              </a:rPr>
              <a:t>(</a:t>
            </a:r>
            <a:r>
              <a:rPr sz="2000" i="0" b="0">
                <a:solidFill>
                  <a:srgbClr val="D4D4D4"/>
                </a:solidFill>
                <a:latin typeface="Consolas"/>
              </a:rPr>
              <a:t>m</a:t>
            </a:r>
            <a:r>
              <a:rPr sz="2000" i="0" b="0">
                <a:solidFill>
                  <a:srgbClr val="D4D4D4"/>
                </a:solidFill>
                <a:latin typeface="Consolas"/>
              </a:rPr>
              <a:t>); </a:t>
            </a:r>
            <a:r>
              <a:rPr sz="2000" i="1" b="0">
                <a:solidFill>
                  <a:srgbClr val="6A9955"/>
                </a:solidFill>
                <a:latin typeface="Consolas"/>
              </a:rPr>
              <a:t>// remove(Object), no remove(indice)</a:t>
            </a:r>
          </a:p>
          <a:p>
            <a:pPr>
              <a:spcAft>
                <a:spcPts val="428"/>
              </a:spcAft>
            </a:pPr>
            <a:r>
              <a:rPr sz="2000" i="0" b="0">
                <a:solidFill>
                  <a:srgbClr val="D4D4D4"/>
                </a:solidFill>
                <a:latin typeface="Consolas"/>
              </a:rPr>
              <a:t>    </a:t>
            </a:r>
            <a:r>
              <a:rPr sz="2000" i="0" b="0">
                <a:solidFill>
                  <a:srgbClr val="DCDCAA"/>
                </a:solidFill>
                <a:latin typeface="Consolas"/>
              </a:rPr>
              <a:t>System.out.println</a:t>
            </a:r>
            <a:r>
              <a:rPr sz="2000" i="0" b="0">
                <a:solidFill>
                  <a:srgbClr val="D4D4D4"/>
                </a:solidFill>
                <a:latin typeface="Consolas"/>
              </a:rPr>
              <a:t>(</a:t>
            </a:r>
            <a:r>
              <a:rPr sz="2000" i="0" b="0">
                <a:solidFill>
                  <a:srgbClr val="CE9178"/>
                </a:solidFill>
                <a:latin typeface="Consolas"/>
              </a:rPr>
              <a:t>"Retirada de la lista activa: "</a:t>
            </a:r>
            <a:r>
              <a:rPr sz="2000" i="0" b="0">
                <a:solidFill>
                  <a:srgbClr val="D4D4D4"/>
                </a:solidFill>
                <a:latin typeface="Consolas"/>
              </a:rPr>
              <a:t> + </a:t>
            </a:r>
            <a:r>
              <a:rPr sz="2000" i="0" b="0">
                <a:solidFill>
                  <a:srgbClr val="DCDCAA"/>
                </a:solidFill>
                <a:latin typeface="Consolas"/>
              </a:rPr>
              <a:t>m.getNombre</a:t>
            </a:r>
            <a:r>
              <a:rPr sz="2000" i="0" b="0">
                <a:solidFill>
                  <a:srgbClr val="D4D4D4"/>
                </a:solidFill>
                <a:latin typeface="Consolas"/>
              </a:rPr>
              <a:t>());</a:t>
            </a:r>
          </a:p>
          <a:p>
            <a:pPr>
              <a:spcAft>
                <a:spcPts val="428"/>
              </a:spcAft>
            </a:pPr>
            <a:r>
              <a:rPr sz="2000" i="0" b="0">
                <a:solidFill>
                  <a:srgbClr val="D4D4D4"/>
                </a:solidFill>
                <a:latin typeface="Consolas"/>
              </a:rPr>
              <a:t>    </a:t>
            </a:r>
            <a:r>
              <a:rPr sz="2000" i="0" b="0">
                <a:solidFill>
                  <a:srgbClr val="569CD6"/>
                </a:solidFill>
                <a:latin typeface="Consolas"/>
              </a:rPr>
              <a:t>return</a:t>
            </a:r>
            <a:r>
              <a:rPr sz="2000" i="0" b="0">
                <a:solidFill>
                  <a:srgbClr val="D4D4D4"/>
                </a:solidFill>
                <a:latin typeface="Consolas"/>
              </a:rPr>
              <a:t> </a:t>
            </a:r>
            <a:r>
              <a:rPr sz="2000" i="0" b="0">
                <a:solidFill>
                  <a:srgbClr val="569CD6"/>
                </a:solidFill>
                <a:latin typeface="Consolas"/>
              </a:rPr>
              <a:t>true</a:t>
            </a:r>
            <a:r>
              <a:rPr sz="2000" i="0" b="0">
                <a:solidFill>
                  <a:srgbClr val="D4D4D4"/>
                </a:solidFill>
                <a:latin typeface="Consolas"/>
              </a:rPr>
              <a:t>;</a:t>
            </a:r>
          </a:p>
          <a:p>
            <a:pPr>
              <a:spcAft>
                <a:spcPts val="428"/>
              </a:spcAft>
            </a:pPr>
            <a:r>
              <a:rPr sz="20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ClinicaRegistroMascotas.java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Recorrer: índice, for-each e Iterator</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correr-iterator-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recorrer-iterator-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recorrer-iterator-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for con índice cuando se necesita la posición: el listado numerado.</a:t>
            </a:r>
          </a:p>
          <a:p>
            <a:pPr>
              <a:spcAft>
                <a:spcPts val="800"/>
              </a:spcAft>
            </a:pPr>
            <a:r>
              <a:rPr sz="2000" b="0" i="0">
                <a:solidFill>
                  <a:srgbClr val="333333"/>
                </a:solidFill>
                <a:latin typeface="Calibri"/>
              </a:rPr>
              <a:t>–   for-each cuando solo se lee: más limpio, debe volverse reflejo.</a:t>
            </a:r>
          </a:p>
          <a:p>
            <a:pPr>
              <a:spcAft>
                <a:spcPts val="800"/>
              </a:spcAft>
            </a:pPr>
            <a:r>
              <a:rPr sz="2000" b="0" i="0">
                <a:solidFill>
                  <a:srgbClr val="333333"/>
                </a:solidFill>
                <a:latin typeface="Calibri"/>
              </a:rPr>
              <a:t>–   Borrar dentro de un for-each lanza ConcurrentModificationException.</a:t>
            </a:r>
          </a:p>
          <a:p>
            <a:pPr>
              <a:spcAft>
                <a:spcPts val="800"/>
              </a:spcAft>
            </a:pPr>
            <a:r>
              <a:rPr sz="2000" b="0" i="0">
                <a:solidFill>
                  <a:srgbClr val="333333"/>
                </a:solidFill>
                <a:latin typeface="Calibri"/>
              </a:rPr>
              <a:t>–   Para borrar mientras se recorre: Iterator con it.remove(), o removeIf.</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listar(): el for con índice</a:t>
            </a:r>
          </a:p>
        </p:txBody>
      </p:sp>
      <p:sp>
        <p:nvSpPr>
          <p:cNvPr id="5" name="Rounded Rectangle 4"/>
          <p:cNvSpPr/>
          <p:nvPr/>
        </p:nvSpPr>
        <p:spPr>
          <a:xfrm>
            <a:off x="457200" y="1261872"/>
            <a:ext cx="11277295" cy="466058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4066227"/>
          </a:xfrm>
          <a:prstGeom prst="rect">
            <a:avLst/>
          </a:prstGeom>
          <a:noFill/>
        </p:spPr>
        <p:txBody>
          <a:bodyPr wrap="square">
            <a:spAutoFit/>
          </a:bodyPr>
          <a:lstStyle/>
          <a:p>
            <a:pPr algn="r">
              <a:spcAft>
                <a:spcPts val="364"/>
              </a:spcAft>
            </a:pPr>
            <a:r>
              <a:rPr sz="1700" i="0" b="0">
                <a:solidFill>
                  <a:srgbClr val="858585"/>
                </a:solidFill>
                <a:latin typeface="Consolas"/>
              </a:rPr>
              <a:t>1</a:t>
            </a:r>
          </a:p>
          <a:p>
            <a:pPr algn="r">
              <a:spcAft>
                <a:spcPts val="364"/>
              </a:spcAft>
            </a:pPr>
            <a:r>
              <a:rPr sz="1700" i="0" b="0">
                <a:solidFill>
                  <a:srgbClr val="858585"/>
                </a:solidFill>
                <a:latin typeface="Consolas"/>
              </a:rPr>
              <a:t>2</a:t>
            </a:r>
          </a:p>
          <a:p>
            <a:pPr algn="r">
              <a:spcAft>
                <a:spcPts val="364"/>
              </a:spcAft>
            </a:pPr>
            <a:r>
              <a:rPr sz="1700" i="0" b="0">
                <a:solidFill>
                  <a:srgbClr val="858585"/>
                </a:solidFill>
                <a:latin typeface="Consolas"/>
              </a:rPr>
              <a:t>3</a:t>
            </a:r>
          </a:p>
          <a:p>
            <a:pPr algn="r">
              <a:spcAft>
                <a:spcPts val="364"/>
              </a:spcAft>
            </a:pPr>
            <a:r>
              <a:rPr sz="1700" i="0" b="0">
                <a:solidFill>
                  <a:srgbClr val="858585"/>
                </a:solidFill>
                <a:latin typeface="Consolas"/>
              </a:rPr>
              <a:t>4</a:t>
            </a:r>
          </a:p>
          <a:p>
            <a:pPr algn="r">
              <a:spcAft>
                <a:spcPts val="364"/>
              </a:spcAft>
            </a:pPr>
            <a:r>
              <a:rPr sz="1700" i="0" b="0">
                <a:solidFill>
                  <a:srgbClr val="858585"/>
                </a:solidFill>
                <a:latin typeface="Consolas"/>
              </a:rPr>
              <a:t>5</a:t>
            </a:r>
          </a:p>
          <a:p>
            <a:pPr algn="r">
              <a:spcAft>
                <a:spcPts val="364"/>
              </a:spcAft>
            </a:pPr>
            <a:r>
              <a:rPr sz="1700" i="0" b="0">
                <a:solidFill>
                  <a:srgbClr val="858585"/>
                </a:solidFill>
                <a:latin typeface="Consolas"/>
              </a:rPr>
              <a:t>6</a:t>
            </a:r>
          </a:p>
          <a:p>
            <a:pPr algn="r">
              <a:spcAft>
                <a:spcPts val="364"/>
              </a:spcAft>
            </a:pPr>
            <a:r>
              <a:rPr sz="1700" i="0" b="0">
                <a:solidFill>
                  <a:srgbClr val="858585"/>
                </a:solidFill>
                <a:latin typeface="Consolas"/>
              </a:rPr>
              <a:t>7</a:t>
            </a:r>
          </a:p>
          <a:p>
            <a:pPr algn="r">
              <a:spcAft>
                <a:spcPts val="364"/>
              </a:spcAft>
            </a:pPr>
            <a:r>
              <a:rPr sz="1700" i="0" b="0">
                <a:solidFill>
                  <a:srgbClr val="858585"/>
                </a:solidFill>
                <a:latin typeface="Consolas"/>
              </a:rPr>
              <a:t>8</a:t>
            </a:r>
          </a:p>
          <a:p>
            <a:pPr algn="r">
              <a:spcAft>
                <a:spcPts val="364"/>
              </a:spcAft>
            </a:pPr>
            <a:r>
              <a:rPr sz="1700" i="0" b="0">
                <a:solidFill>
                  <a:srgbClr val="858585"/>
                </a:solidFill>
                <a:latin typeface="Consolas"/>
              </a:rPr>
              <a:t>9</a:t>
            </a:r>
          </a:p>
          <a:p>
            <a:pPr algn="r">
              <a:spcAft>
                <a:spcPts val="364"/>
              </a:spcAft>
            </a:pPr>
            <a:r>
              <a:rPr sz="1700" i="0" b="0">
                <a:solidFill>
                  <a:srgbClr val="858585"/>
                </a:solidFill>
                <a:latin typeface="Consolas"/>
              </a:rPr>
              <a:t>10</a:t>
            </a:r>
          </a:p>
          <a:p>
            <a:pPr algn="r">
              <a:spcAft>
                <a:spcPts val="364"/>
              </a:spcAft>
            </a:pPr>
            <a:r>
              <a:rPr sz="1700" i="0" b="0">
                <a:solidFill>
                  <a:srgbClr val="858585"/>
                </a:solidFill>
                <a:latin typeface="Consolas"/>
              </a:rPr>
              <a:t>11</a:t>
            </a:r>
          </a:p>
          <a:p>
            <a:pPr algn="r">
              <a:spcAft>
                <a:spcPts val="364"/>
              </a:spcAft>
            </a:pPr>
            <a:r>
              <a:rPr sz="1700" i="0" b="0">
                <a:solidFill>
                  <a:srgbClr val="858585"/>
                </a:solidFill>
                <a:latin typeface="Consolas"/>
              </a:rPr>
              <a:t>12</a:t>
            </a:r>
          </a:p>
          <a:p>
            <a:pPr algn="r">
              <a:spcAft>
                <a:spcPts val="364"/>
              </a:spcAft>
            </a:pPr>
            <a:r>
              <a:rPr sz="1700" i="0" b="0">
                <a:solidFill>
                  <a:srgbClr val="858585"/>
                </a:solidFill>
                <a:latin typeface="Consolas"/>
              </a:rPr>
              <a:t>13</a:t>
            </a:r>
          </a:p>
        </p:txBody>
      </p:sp>
      <p:sp>
        <p:nvSpPr>
          <p:cNvPr id="12" name="TextBox 11"/>
          <p:cNvSpPr txBox="1"/>
          <p:nvPr/>
        </p:nvSpPr>
        <p:spPr>
          <a:xfrm>
            <a:off x="1188720" y="1719072"/>
            <a:ext cx="10271455" cy="4066227"/>
          </a:xfrm>
          <a:prstGeom prst="rect">
            <a:avLst/>
          </a:prstGeom>
          <a:noFill/>
        </p:spPr>
        <p:txBody>
          <a:bodyPr wrap="square">
            <a:spAutoFit/>
          </a:bodyPr>
          <a:lstStyle/>
          <a:p>
            <a:pPr>
              <a:spcAft>
                <a:spcPts val="364"/>
              </a:spcAft>
            </a:pPr>
            <a:r>
              <a:rPr sz="1700" i="0" b="0">
                <a:solidFill>
                  <a:srgbClr val="569CD6"/>
                </a:solidFill>
                <a:latin typeface="Consolas"/>
              </a:rPr>
              <a:t>public</a:t>
            </a:r>
            <a:r>
              <a:rPr sz="1700" i="0" b="0">
                <a:solidFill>
                  <a:srgbClr val="D4D4D4"/>
                </a:solidFill>
                <a:latin typeface="Consolas"/>
              </a:rPr>
              <a:t> </a:t>
            </a:r>
            <a:r>
              <a:rPr sz="1700" i="0" b="0">
                <a:solidFill>
                  <a:srgbClr val="569CD6"/>
                </a:solidFill>
                <a:latin typeface="Consolas"/>
              </a:rPr>
              <a:t>void</a:t>
            </a:r>
            <a:r>
              <a:rPr sz="1700" i="0" b="0">
                <a:solidFill>
                  <a:srgbClr val="D4D4D4"/>
                </a:solidFill>
                <a:latin typeface="Consolas"/>
              </a:rPr>
              <a:t> </a:t>
            </a:r>
            <a:r>
              <a:rPr sz="1700" i="0" b="0">
                <a:solidFill>
                  <a:srgbClr val="DCDCAA"/>
                </a:solidFill>
                <a:latin typeface="Consolas"/>
              </a:rPr>
              <a:t>listar</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569CD6"/>
                </a:solidFill>
                <a:latin typeface="Consolas"/>
              </a:rPr>
              <a:t>if</a:t>
            </a:r>
            <a:r>
              <a:rPr sz="1700" i="0" b="0">
                <a:solidFill>
                  <a:srgbClr val="D4D4D4"/>
                </a:solidFill>
                <a:latin typeface="Consolas"/>
              </a:rPr>
              <a:t> (</a:t>
            </a:r>
            <a:r>
              <a:rPr sz="1700" i="0" b="0">
                <a:solidFill>
                  <a:srgbClr val="DCDCAA"/>
                </a:solidFill>
                <a:latin typeface="Consolas"/>
              </a:rPr>
              <a:t>mascotas.isEmpty</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DCDCAA"/>
                </a:solidFill>
                <a:latin typeface="Consolas"/>
              </a:rPr>
              <a:t>System.out.println</a:t>
            </a:r>
            <a:r>
              <a:rPr sz="1700" i="0" b="0">
                <a:solidFill>
                  <a:srgbClr val="D4D4D4"/>
                </a:solidFill>
                <a:latin typeface="Consolas"/>
              </a:rPr>
              <a:t>(</a:t>
            </a:r>
            <a:r>
              <a:rPr sz="1700" i="0" b="0">
                <a:solidFill>
                  <a:srgbClr val="CE9178"/>
                </a:solidFill>
                <a:latin typeface="Consolas"/>
              </a:rPr>
              <a:t>"(no hay mascotas registradas)"</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569CD6"/>
                </a:solidFill>
                <a:latin typeface="Consolas"/>
              </a:rPr>
              <a:t>return</a:t>
            </a:r>
            <a:r>
              <a:rPr sz="1700" i="0" b="0">
                <a:solidFill>
                  <a:srgbClr val="D4D4D4"/>
                </a:solidFill>
                <a:latin typeface="Consolas"/>
              </a:rPr>
              <a:t>;</a:t>
            </a:r>
          </a:p>
          <a:p>
            <a:pPr>
              <a:spcAft>
                <a:spcPts val="364"/>
              </a:spcAft>
            </a:pP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569CD6"/>
                </a:solidFill>
                <a:latin typeface="Consolas"/>
              </a:rPr>
              <a:t>for</a:t>
            </a:r>
            <a:r>
              <a:rPr sz="1700" i="0" b="0">
                <a:solidFill>
                  <a:srgbClr val="D4D4D4"/>
                </a:solidFill>
                <a:latin typeface="Consolas"/>
              </a:rPr>
              <a:t> (</a:t>
            </a:r>
            <a:r>
              <a:rPr sz="1700" i="0" b="0">
                <a:solidFill>
                  <a:srgbClr val="4EC9B0"/>
                </a:solidFill>
                <a:latin typeface="Consolas"/>
              </a:rPr>
              <a:t>int</a:t>
            </a:r>
            <a:r>
              <a:rPr sz="1700" i="0" b="0">
                <a:solidFill>
                  <a:srgbClr val="D4D4D4"/>
                </a:solidFill>
                <a:latin typeface="Consolas"/>
              </a:rPr>
              <a:t> </a:t>
            </a:r>
            <a:r>
              <a:rPr sz="1700" i="0" b="0">
                <a:solidFill>
                  <a:srgbClr val="D4D4D4"/>
                </a:solidFill>
                <a:latin typeface="Consolas"/>
              </a:rPr>
              <a:t>i</a:t>
            </a:r>
            <a:r>
              <a:rPr sz="1700" i="0" b="0">
                <a:solidFill>
                  <a:srgbClr val="D4D4D4"/>
                </a:solidFill>
                <a:latin typeface="Consolas"/>
              </a:rPr>
              <a:t> = </a:t>
            </a:r>
            <a:r>
              <a:rPr sz="1700" i="0" b="0">
                <a:solidFill>
                  <a:srgbClr val="B5CEA8"/>
                </a:solidFill>
                <a:latin typeface="Consolas"/>
              </a:rPr>
              <a:t>0</a:t>
            </a:r>
            <a:r>
              <a:rPr sz="1700" i="0" b="0">
                <a:solidFill>
                  <a:srgbClr val="D4D4D4"/>
                </a:solidFill>
                <a:latin typeface="Consolas"/>
              </a:rPr>
              <a:t>; </a:t>
            </a:r>
            <a:r>
              <a:rPr sz="1700" i="0" b="0">
                <a:solidFill>
                  <a:srgbClr val="D4D4D4"/>
                </a:solidFill>
                <a:latin typeface="Consolas"/>
              </a:rPr>
              <a:t>i</a:t>
            </a:r>
            <a:r>
              <a:rPr sz="1700" i="0" b="0">
                <a:solidFill>
                  <a:srgbClr val="D4D4D4"/>
                </a:solidFill>
                <a:latin typeface="Consolas"/>
              </a:rPr>
              <a:t> &lt; </a:t>
            </a:r>
            <a:r>
              <a:rPr sz="1700" i="0" b="0">
                <a:solidFill>
                  <a:srgbClr val="DCDCAA"/>
                </a:solidFill>
                <a:latin typeface="Consolas"/>
              </a:rPr>
              <a:t>mascotas.size</a:t>
            </a:r>
            <a:r>
              <a:rPr sz="1700" i="0" b="0">
                <a:solidFill>
                  <a:srgbClr val="D4D4D4"/>
                </a:solidFill>
                <a:latin typeface="Consolas"/>
              </a:rPr>
              <a:t>(); </a:t>
            </a:r>
            <a:r>
              <a:rPr sz="1700" i="0" b="0">
                <a:solidFill>
                  <a:srgbClr val="D4D4D4"/>
                </a:solidFill>
                <a:latin typeface="Consolas"/>
              </a:rPr>
              <a:t>i</a:t>
            </a:r>
            <a:r>
              <a:rPr sz="1700" i="0" b="0">
                <a:solidFill>
                  <a:srgbClr val="D4D4D4"/>
                </a:solidFill>
                <a:latin typeface="Consolas"/>
              </a:rPr>
              <a:t>++) { </a:t>
            </a:r>
            <a:r>
              <a:rPr sz="1700" i="1" b="0">
                <a:solidFill>
                  <a:srgbClr val="6A9955"/>
                </a:solidFill>
                <a:latin typeface="Consolas"/>
              </a:rPr>
              <a:t>// ojo: &lt; size(), nunca &lt;=</a:t>
            </a:r>
          </a:p>
          <a:p>
            <a:pPr>
              <a:spcAft>
                <a:spcPts val="364"/>
              </a:spcAft>
            </a:pPr>
            <a:r>
              <a:rPr sz="1700" i="0" b="0">
                <a:solidFill>
                  <a:srgbClr val="D4D4D4"/>
                </a:solidFill>
                <a:latin typeface="Consolas"/>
              </a:rPr>
              <a:t>        </a:t>
            </a:r>
            <a:r>
              <a:rPr sz="1700" i="0" b="0">
                <a:solidFill>
                  <a:srgbClr val="DCDCAA"/>
                </a:solidFill>
                <a:latin typeface="Consolas"/>
              </a:rPr>
              <a:t>System.out.println</a:t>
            </a:r>
            <a:r>
              <a:rPr sz="1700" i="0" b="0">
                <a:solidFill>
                  <a:srgbClr val="D4D4D4"/>
                </a:solidFill>
                <a:latin typeface="Consolas"/>
              </a:rPr>
              <a:t>((</a:t>
            </a:r>
            <a:r>
              <a:rPr sz="1700" i="0" b="0">
                <a:solidFill>
                  <a:srgbClr val="D4D4D4"/>
                </a:solidFill>
                <a:latin typeface="Consolas"/>
              </a:rPr>
              <a:t>i</a:t>
            </a:r>
            <a:r>
              <a:rPr sz="1700" i="0" b="0">
                <a:solidFill>
                  <a:srgbClr val="D4D4D4"/>
                </a:solidFill>
                <a:latin typeface="Consolas"/>
              </a:rPr>
              <a:t> + </a:t>
            </a:r>
            <a:r>
              <a:rPr sz="1700" i="0" b="0">
                <a:solidFill>
                  <a:srgbClr val="B5CEA8"/>
                </a:solidFill>
                <a:latin typeface="Consolas"/>
              </a:rPr>
              <a:t>1</a:t>
            </a:r>
            <a:r>
              <a:rPr sz="1700" i="0" b="0">
                <a:solidFill>
                  <a:srgbClr val="D4D4D4"/>
                </a:solidFill>
                <a:latin typeface="Consolas"/>
              </a:rPr>
              <a:t>) + </a:t>
            </a:r>
            <a:r>
              <a:rPr sz="1700" i="0" b="0">
                <a:solidFill>
                  <a:srgbClr val="CE9178"/>
                </a:solidFill>
                <a:latin typeface="Consolas"/>
              </a:rPr>
              <a:t>". "</a:t>
            </a:r>
            <a:r>
              <a:rPr sz="1700" i="0" b="0">
                <a:solidFill>
                  <a:srgbClr val="D4D4D4"/>
                </a:solidFill>
                <a:latin typeface="Consolas"/>
              </a:rPr>
              <a:t> + </a:t>
            </a:r>
            <a:r>
              <a:rPr sz="1700" i="0" b="0">
                <a:solidFill>
                  <a:srgbClr val="DCDCAA"/>
                </a:solidFill>
                <a:latin typeface="Consolas"/>
              </a:rPr>
              <a:t>mascotas.get</a:t>
            </a:r>
            <a:r>
              <a:rPr sz="1700" i="0" b="0">
                <a:solidFill>
                  <a:srgbClr val="D4D4D4"/>
                </a:solidFill>
                <a:latin typeface="Consolas"/>
              </a:rPr>
              <a:t>(</a:t>
            </a:r>
            <a:r>
              <a:rPr sz="1700" i="0" b="0">
                <a:solidFill>
                  <a:srgbClr val="D4D4D4"/>
                </a:solidFill>
                <a:latin typeface="Consolas"/>
              </a:rPr>
              <a:t>i</a:t>
            </a:r>
            <a:r>
              <a:rPr sz="1700" i="0" b="0">
                <a:solidFill>
                  <a:srgbClr val="D4D4D4"/>
                </a:solidFill>
                <a:latin typeface="Consolas"/>
              </a:rPr>
              <a:t>));</a:t>
            </a:r>
          </a:p>
          <a:p>
            <a:pPr>
              <a:spcAft>
                <a:spcPts val="364"/>
              </a:spcAft>
            </a:pPr>
            <a:r>
              <a:rPr sz="1700" i="0" b="0">
                <a:solidFill>
                  <a:srgbClr val="D4D4D4"/>
                </a:solidFill>
                <a:latin typeface="Consolas"/>
              </a:rPr>
              <a:t>    }</a:t>
            </a:r>
          </a:p>
          <a:p>
            <a:pPr>
              <a:spcAft>
                <a:spcPts val="364"/>
              </a:spcAft>
            </a:pPr>
            <a:r>
              <a:rPr sz="1700" i="0" b="0">
                <a:solidFill>
                  <a:srgbClr val="D4D4D4"/>
                </a:solidFill>
                <a:latin typeface="Consolas"/>
              </a:rPr>
              <a:t>}</a:t>
            </a:r>
          </a:p>
          <a:p>
            <a:pPr>
              <a:spcAft>
                <a:spcPts val="364"/>
              </a:spcAft>
            </a:pPr>
            <a:r>
              <a:rPr sz="1700" i="0" b="0">
                <a:solidFill>
                  <a:srgbClr val="D4D4D4"/>
                </a:solidFill>
                <a:latin typeface="Consolas"/>
              </a:rPr>
              <a:t/>
            </a:r>
          </a:p>
          <a:p>
            <a:pPr>
              <a:spcAft>
                <a:spcPts val="364"/>
              </a:spcAft>
            </a:pPr>
            <a:r>
              <a:rPr sz="1700" i="0" b="0">
                <a:solidFill>
                  <a:srgbClr val="569CD6"/>
                </a:solidFill>
                <a:latin typeface="Consolas"/>
              </a:rPr>
              <a:t>public</a:t>
            </a:r>
            <a:r>
              <a:rPr sz="1700" i="0" b="0">
                <a:solidFill>
                  <a:srgbClr val="D4D4D4"/>
                </a:solidFill>
                <a:latin typeface="Consolas"/>
              </a:rPr>
              <a:t> </a:t>
            </a:r>
            <a:r>
              <a:rPr sz="1700" i="0" b="0">
                <a:solidFill>
                  <a:srgbClr val="4EC9B0"/>
                </a:solidFill>
                <a:latin typeface="Consolas"/>
              </a:rPr>
              <a:t>int</a:t>
            </a:r>
            <a:r>
              <a:rPr sz="1700" i="0" b="0">
                <a:solidFill>
                  <a:srgbClr val="D4D4D4"/>
                </a:solidFill>
                <a:latin typeface="Consolas"/>
              </a:rPr>
              <a:t> </a:t>
            </a:r>
            <a:r>
              <a:rPr sz="1700" i="0" b="0">
                <a:solidFill>
                  <a:srgbClr val="DCDCAA"/>
                </a:solidFill>
                <a:latin typeface="Consolas"/>
              </a:rPr>
              <a:t>cantidad</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569CD6"/>
                </a:solidFill>
                <a:latin typeface="Consolas"/>
              </a:rPr>
              <a:t>return</a:t>
            </a:r>
            <a:r>
              <a:rPr sz="1700" i="0" b="0">
                <a:solidFill>
                  <a:srgbClr val="D4D4D4"/>
                </a:solidFill>
                <a:latin typeface="Consolas"/>
              </a:rPr>
              <a:t> </a:t>
            </a:r>
            <a:r>
              <a:rPr sz="1700" i="0" b="0">
                <a:solidFill>
                  <a:srgbClr val="DCDCAA"/>
                </a:solidFill>
                <a:latin typeface="Consolas"/>
              </a:rPr>
              <a:t>mascotas.size</a:t>
            </a:r>
            <a:r>
              <a:rPr sz="1700" i="0" b="0">
                <a:solidFill>
                  <a:srgbClr val="D4D4D4"/>
                </a:solidFill>
                <a:latin typeface="Consolas"/>
              </a:rPr>
              <a:t>();</a:t>
            </a:r>
          </a:p>
          <a:p>
            <a:pPr>
              <a:spcAft>
                <a:spcPts val="364"/>
              </a:spcAft>
            </a:pPr>
            <a:r>
              <a:rPr sz="17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ClinicaRegistroMascotas.java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pasarAGeriatria(): borrar con Iterator</a:t>
            </a:r>
          </a:p>
        </p:txBody>
      </p:sp>
      <p:sp>
        <p:nvSpPr>
          <p:cNvPr id="5" name="Rounded Rectangle 4"/>
          <p:cNvSpPr/>
          <p:nvPr/>
        </p:nvSpPr>
        <p:spPr>
          <a:xfrm>
            <a:off x="457200" y="1261872"/>
            <a:ext cx="11277295" cy="4220725"/>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626365"/>
          </a:xfrm>
          <a:prstGeom prst="rect">
            <a:avLst/>
          </a:prstGeom>
          <a:noFill/>
        </p:spPr>
        <p:txBody>
          <a:bodyPr wrap="square">
            <a:spAutoFit/>
          </a:bodyPr>
          <a:lstStyle/>
          <a:p>
            <a:pPr algn="r">
              <a:spcAft>
                <a:spcPts val="428"/>
              </a:spcAft>
            </a:pPr>
            <a:r>
              <a:rPr sz="2000" i="0" b="0">
                <a:solidFill>
                  <a:srgbClr val="858585"/>
                </a:solidFill>
                <a:latin typeface="Consolas"/>
              </a:rPr>
              <a:t>1</a:t>
            </a:r>
          </a:p>
          <a:p>
            <a:pPr algn="r">
              <a:spcAft>
                <a:spcPts val="428"/>
              </a:spcAft>
            </a:pPr>
            <a:r>
              <a:rPr sz="2000" i="0" b="0">
                <a:solidFill>
                  <a:srgbClr val="858585"/>
                </a:solidFill>
                <a:latin typeface="Consolas"/>
              </a:rPr>
              <a:t>2</a:t>
            </a:r>
          </a:p>
          <a:p>
            <a:pPr algn="r">
              <a:spcAft>
                <a:spcPts val="428"/>
              </a:spcAft>
            </a:pPr>
            <a:r>
              <a:rPr sz="2000" i="0" b="0">
                <a:solidFill>
                  <a:srgbClr val="858585"/>
                </a:solidFill>
                <a:latin typeface="Consolas"/>
              </a:rPr>
              <a:t>3</a:t>
            </a:r>
          </a:p>
          <a:p>
            <a:pPr algn="r">
              <a:spcAft>
                <a:spcPts val="428"/>
              </a:spcAft>
            </a:pPr>
            <a:r>
              <a:rPr sz="2000" i="0" b="0">
                <a:solidFill>
                  <a:srgbClr val="858585"/>
                </a:solidFill>
                <a:latin typeface="Consolas"/>
              </a:rPr>
              <a:t>4</a:t>
            </a:r>
          </a:p>
          <a:p>
            <a:pPr algn="r">
              <a:spcAft>
                <a:spcPts val="428"/>
              </a:spcAft>
            </a:pPr>
            <a:r>
              <a:rPr sz="2000" i="0" b="0">
                <a:solidFill>
                  <a:srgbClr val="858585"/>
                </a:solidFill>
                <a:latin typeface="Consolas"/>
              </a:rPr>
              <a:t>5</a:t>
            </a:r>
          </a:p>
          <a:p>
            <a:pPr algn="r">
              <a:spcAft>
                <a:spcPts val="428"/>
              </a:spcAft>
            </a:pPr>
            <a:r>
              <a:rPr sz="2000" i="0" b="0">
                <a:solidFill>
                  <a:srgbClr val="858585"/>
                </a:solidFill>
                <a:latin typeface="Consolas"/>
              </a:rPr>
              <a:t>6</a:t>
            </a:r>
          </a:p>
          <a:p>
            <a:pPr algn="r">
              <a:spcAft>
                <a:spcPts val="428"/>
              </a:spcAft>
            </a:pPr>
            <a:r>
              <a:rPr sz="2000" i="0" b="0">
                <a:solidFill>
                  <a:srgbClr val="858585"/>
                </a:solidFill>
                <a:latin typeface="Consolas"/>
              </a:rPr>
              <a:t>7</a:t>
            </a:r>
          </a:p>
          <a:p>
            <a:pPr algn="r">
              <a:spcAft>
                <a:spcPts val="428"/>
              </a:spcAft>
            </a:pPr>
            <a:r>
              <a:rPr sz="2000" i="0" b="0">
                <a:solidFill>
                  <a:srgbClr val="858585"/>
                </a:solidFill>
                <a:latin typeface="Consolas"/>
              </a:rPr>
              <a:t>8</a:t>
            </a:r>
          </a:p>
          <a:p>
            <a:pPr algn="r">
              <a:spcAft>
                <a:spcPts val="428"/>
              </a:spcAft>
            </a:pPr>
            <a:r>
              <a:rPr sz="2000" i="0" b="0">
                <a:solidFill>
                  <a:srgbClr val="858585"/>
                </a:solidFill>
                <a:latin typeface="Consolas"/>
              </a:rPr>
              <a:t>9</a:t>
            </a:r>
          </a:p>
          <a:p>
            <a:pPr algn="r">
              <a:spcAft>
                <a:spcPts val="428"/>
              </a:spcAft>
            </a:pPr>
            <a:r>
              <a:rPr sz="2000" i="0" b="0">
                <a:solidFill>
                  <a:srgbClr val="858585"/>
                </a:solidFill>
                <a:latin typeface="Consolas"/>
              </a:rPr>
              <a:t>10</a:t>
            </a:r>
          </a:p>
        </p:txBody>
      </p:sp>
      <p:sp>
        <p:nvSpPr>
          <p:cNvPr id="12" name="TextBox 11"/>
          <p:cNvSpPr txBox="1"/>
          <p:nvPr/>
        </p:nvSpPr>
        <p:spPr>
          <a:xfrm>
            <a:off x="1188720" y="1719072"/>
            <a:ext cx="10271455" cy="3626365"/>
          </a:xfrm>
          <a:prstGeom prst="rect">
            <a:avLst/>
          </a:prstGeom>
          <a:noFill/>
        </p:spPr>
        <p:txBody>
          <a:bodyPr wrap="square">
            <a:spAutoFit/>
          </a:bodyPr>
          <a:lstStyle/>
          <a:p>
            <a:pPr>
              <a:spcAft>
                <a:spcPts val="428"/>
              </a:spcAft>
            </a:pPr>
            <a:r>
              <a:rPr sz="2000" i="0" b="0">
                <a:solidFill>
                  <a:srgbClr val="569CD6"/>
                </a:solidFill>
                <a:latin typeface="Consolas"/>
              </a:rPr>
              <a:t>public</a:t>
            </a:r>
            <a:r>
              <a:rPr sz="2000" i="0" b="0">
                <a:solidFill>
                  <a:srgbClr val="D4D4D4"/>
                </a:solidFill>
                <a:latin typeface="Consolas"/>
              </a:rPr>
              <a:t> </a:t>
            </a:r>
            <a:r>
              <a:rPr sz="2000" i="0" b="0">
                <a:solidFill>
                  <a:srgbClr val="569CD6"/>
                </a:solidFill>
                <a:latin typeface="Consolas"/>
              </a:rPr>
              <a:t>void</a:t>
            </a:r>
            <a:r>
              <a:rPr sz="2000" i="0" b="0">
                <a:solidFill>
                  <a:srgbClr val="D4D4D4"/>
                </a:solidFill>
                <a:latin typeface="Consolas"/>
              </a:rPr>
              <a:t> </a:t>
            </a:r>
            <a:r>
              <a:rPr sz="2000" i="0" b="0">
                <a:solidFill>
                  <a:srgbClr val="DCDCAA"/>
                </a:solidFill>
                <a:latin typeface="Consolas"/>
              </a:rPr>
              <a:t>pasarAGeriatria</a:t>
            </a:r>
            <a:r>
              <a:rPr sz="2000" i="0" b="0">
                <a:solidFill>
                  <a:srgbClr val="D4D4D4"/>
                </a:solidFill>
                <a:latin typeface="Consolas"/>
              </a:rPr>
              <a:t>(</a:t>
            </a:r>
            <a:r>
              <a:rPr sz="2000" i="0" b="0">
                <a:solidFill>
                  <a:srgbClr val="4EC9B0"/>
                </a:solidFill>
                <a:latin typeface="Consolas"/>
              </a:rPr>
              <a:t>int</a:t>
            </a:r>
            <a:r>
              <a:rPr sz="2000" i="0" b="0">
                <a:solidFill>
                  <a:srgbClr val="D4D4D4"/>
                </a:solidFill>
                <a:latin typeface="Consolas"/>
              </a:rPr>
              <a:t> </a:t>
            </a:r>
            <a:r>
              <a:rPr sz="2000" i="0" b="0">
                <a:solidFill>
                  <a:srgbClr val="D4D4D4"/>
                </a:solidFill>
                <a:latin typeface="Consolas"/>
              </a:rPr>
              <a:t>edadMinima</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4EC9B0"/>
                </a:solidFill>
                <a:latin typeface="Consolas"/>
              </a:rPr>
              <a:t>Iterator</a:t>
            </a:r>
            <a:r>
              <a:rPr sz="2000" i="0" b="0">
                <a:solidFill>
                  <a:srgbClr val="D4D4D4"/>
                </a:solidFill>
                <a:latin typeface="Consolas"/>
              </a:rPr>
              <a:t>&lt;</a:t>
            </a:r>
            <a:r>
              <a:rPr sz="2000" i="0" b="0">
                <a:solidFill>
                  <a:srgbClr val="D4D4D4"/>
                </a:solidFill>
                <a:latin typeface="Consolas"/>
              </a:rPr>
              <a:t>Mascota</a:t>
            </a:r>
            <a:r>
              <a:rPr sz="2000" i="0" b="0">
                <a:solidFill>
                  <a:srgbClr val="D4D4D4"/>
                </a:solidFill>
                <a:latin typeface="Consolas"/>
              </a:rPr>
              <a:t>&gt; </a:t>
            </a:r>
            <a:r>
              <a:rPr sz="2000" i="0" b="0">
                <a:solidFill>
                  <a:srgbClr val="D4D4D4"/>
                </a:solidFill>
                <a:latin typeface="Consolas"/>
              </a:rPr>
              <a:t>it</a:t>
            </a:r>
            <a:r>
              <a:rPr sz="2000" i="0" b="0">
                <a:solidFill>
                  <a:srgbClr val="D4D4D4"/>
                </a:solidFill>
                <a:latin typeface="Consolas"/>
              </a:rPr>
              <a:t> = </a:t>
            </a:r>
            <a:r>
              <a:rPr sz="2000" i="0" b="0">
                <a:solidFill>
                  <a:srgbClr val="DCDCAA"/>
                </a:solidFill>
                <a:latin typeface="Consolas"/>
              </a:rPr>
              <a:t>mascotas.iterator</a:t>
            </a:r>
            <a:r>
              <a:rPr sz="2000" i="0" b="0">
                <a:solidFill>
                  <a:srgbClr val="D4D4D4"/>
                </a:solidFill>
                <a:latin typeface="Consolas"/>
              </a:rPr>
              <a:t>();</a:t>
            </a:r>
          </a:p>
          <a:p>
            <a:pPr>
              <a:spcAft>
                <a:spcPts val="428"/>
              </a:spcAft>
            </a:pPr>
            <a:r>
              <a:rPr sz="2000" i="0" b="0">
                <a:solidFill>
                  <a:srgbClr val="D4D4D4"/>
                </a:solidFill>
                <a:latin typeface="Consolas"/>
              </a:rPr>
              <a:t>    </a:t>
            </a:r>
            <a:r>
              <a:rPr sz="2000" i="0" b="0">
                <a:solidFill>
                  <a:srgbClr val="569CD6"/>
                </a:solidFill>
                <a:latin typeface="Consolas"/>
              </a:rPr>
              <a:t>while</a:t>
            </a:r>
            <a:r>
              <a:rPr sz="2000" i="0" b="0">
                <a:solidFill>
                  <a:srgbClr val="D4D4D4"/>
                </a:solidFill>
                <a:latin typeface="Consolas"/>
              </a:rPr>
              <a:t> (</a:t>
            </a:r>
            <a:r>
              <a:rPr sz="2000" i="0" b="0">
                <a:solidFill>
                  <a:srgbClr val="DCDCAA"/>
                </a:solidFill>
                <a:latin typeface="Consolas"/>
              </a:rPr>
              <a:t>it.hasNext</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D4D4D4"/>
                </a:solidFill>
                <a:latin typeface="Consolas"/>
              </a:rPr>
              <a:t>Mascota</a:t>
            </a:r>
            <a:r>
              <a:rPr sz="2000" i="0" b="0">
                <a:solidFill>
                  <a:srgbClr val="D4D4D4"/>
                </a:solidFill>
                <a:latin typeface="Consolas"/>
              </a:rPr>
              <a:t> </a:t>
            </a:r>
            <a:r>
              <a:rPr sz="2000" i="0" b="0">
                <a:solidFill>
                  <a:srgbClr val="D4D4D4"/>
                </a:solidFill>
                <a:latin typeface="Consolas"/>
              </a:rPr>
              <a:t>m</a:t>
            </a:r>
            <a:r>
              <a:rPr sz="2000" i="0" b="0">
                <a:solidFill>
                  <a:srgbClr val="D4D4D4"/>
                </a:solidFill>
                <a:latin typeface="Consolas"/>
              </a:rPr>
              <a:t> = </a:t>
            </a:r>
            <a:r>
              <a:rPr sz="2000" i="0" b="0">
                <a:solidFill>
                  <a:srgbClr val="DCDCAA"/>
                </a:solidFill>
                <a:latin typeface="Consolas"/>
              </a:rPr>
              <a:t>it.next</a:t>
            </a:r>
            <a:r>
              <a:rPr sz="2000" i="0" b="0">
                <a:solidFill>
                  <a:srgbClr val="D4D4D4"/>
                </a:solidFill>
                <a:latin typeface="Consolas"/>
              </a:rPr>
              <a:t>();</a:t>
            </a:r>
          </a:p>
          <a:p>
            <a:pPr>
              <a:spcAft>
                <a:spcPts val="428"/>
              </a:spcAft>
            </a:pPr>
            <a:r>
              <a:rPr sz="2000" i="0" b="0">
                <a:solidFill>
                  <a:srgbClr val="D4D4D4"/>
                </a:solidFill>
                <a:latin typeface="Consolas"/>
              </a:rPr>
              <a:t>        </a:t>
            </a:r>
            <a:r>
              <a:rPr sz="2000" i="0" b="0">
                <a:solidFill>
                  <a:srgbClr val="569CD6"/>
                </a:solidFill>
                <a:latin typeface="Consolas"/>
              </a:rPr>
              <a:t>if</a:t>
            </a:r>
            <a:r>
              <a:rPr sz="2000" i="0" b="0">
                <a:solidFill>
                  <a:srgbClr val="D4D4D4"/>
                </a:solidFill>
                <a:latin typeface="Consolas"/>
              </a:rPr>
              <a:t> (</a:t>
            </a:r>
            <a:r>
              <a:rPr sz="2000" i="0" b="0">
                <a:solidFill>
                  <a:srgbClr val="DCDCAA"/>
                </a:solidFill>
                <a:latin typeface="Consolas"/>
              </a:rPr>
              <a:t>m.getEdad</a:t>
            </a:r>
            <a:r>
              <a:rPr sz="2000" i="0" b="0">
                <a:solidFill>
                  <a:srgbClr val="D4D4D4"/>
                </a:solidFill>
                <a:latin typeface="Consolas"/>
              </a:rPr>
              <a:t>() &gt;= </a:t>
            </a:r>
            <a:r>
              <a:rPr sz="2000" i="0" b="0">
                <a:solidFill>
                  <a:srgbClr val="D4D4D4"/>
                </a:solidFill>
                <a:latin typeface="Consolas"/>
              </a:rPr>
              <a:t>edadMinima</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DCDCAA"/>
                </a:solidFill>
                <a:latin typeface="Consolas"/>
              </a:rPr>
              <a:t>it.remove</a:t>
            </a:r>
            <a:r>
              <a:rPr sz="2000" i="0" b="0">
                <a:solidFill>
                  <a:srgbClr val="D4D4D4"/>
                </a:solidFill>
                <a:latin typeface="Consolas"/>
              </a:rPr>
              <a:t>(); </a:t>
            </a:r>
            <a:r>
              <a:rPr sz="2000" i="1" b="0">
                <a:solidFill>
                  <a:srgbClr val="6A9955"/>
                </a:solidFill>
                <a:latin typeface="Consolas"/>
              </a:rPr>
              <a:t>// unica forma segura de borrar mientras se recorre</a:t>
            </a:r>
          </a:p>
          <a:p>
            <a:pPr>
              <a:spcAft>
                <a:spcPts val="428"/>
              </a:spcAft>
            </a:pPr>
            <a:r>
              <a:rPr sz="2000" i="0" b="0">
                <a:solidFill>
                  <a:srgbClr val="D4D4D4"/>
                </a:solidFill>
                <a:latin typeface="Consolas"/>
              </a:rPr>
              <a:t>            </a:t>
            </a:r>
            <a:r>
              <a:rPr sz="2000" i="0" b="0">
                <a:solidFill>
                  <a:srgbClr val="DCDCAA"/>
                </a:solidFill>
                <a:latin typeface="Consolas"/>
              </a:rPr>
              <a:t>System.out.println</a:t>
            </a:r>
            <a:r>
              <a:rPr sz="2000" i="0" b="0">
                <a:solidFill>
                  <a:srgbClr val="D4D4D4"/>
                </a:solidFill>
                <a:latin typeface="Consolas"/>
              </a:rPr>
              <a:t>(</a:t>
            </a:r>
            <a:r>
              <a:rPr sz="2000" i="0" b="0">
                <a:solidFill>
                  <a:srgbClr val="CE9178"/>
                </a:solidFill>
                <a:latin typeface="Consolas"/>
              </a:rPr>
              <a:t>"Pasa a control geriatrico: "</a:t>
            </a:r>
            <a:r>
              <a:rPr sz="2000" i="0" b="0">
                <a:solidFill>
                  <a:srgbClr val="D4D4D4"/>
                </a:solidFill>
                <a:latin typeface="Consolas"/>
              </a:rPr>
              <a:t> + </a:t>
            </a:r>
            <a:r>
              <a:rPr sz="2000" i="0" b="0">
                <a:solidFill>
                  <a:srgbClr val="DCDCAA"/>
                </a:solidFill>
                <a:latin typeface="Consolas"/>
              </a:rPr>
              <a:t>m.getNombre</a:t>
            </a:r>
            <a:r>
              <a:rPr sz="2000" i="0" b="0">
                <a:solidFill>
                  <a:srgbClr val="D4D4D4"/>
                </a:solidFill>
                <a:latin typeface="Consolas"/>
              </a:rPr>
              <a:t>());</a:t>
            </a:r>
          </a:p>
          <a:p>
            <a:pPr>
              <a:spcAft>
                <a:spcPts val="428"/>
              </a:spcAft>
            </a:pPr>
            <a:r>
              <a:rPr sz="2000" i="0" b="0">
                <a:solidFill>
                  <a:srgbClr val="D4D4D4"/>
                </a:solidFill>
                <a:latin typeface="Consolas"/>
              </a:rPr>
              <a:t>        }</a:t>
            </a:r>
          </a:p>
          <a:p>
            <a:pPr>
              <a:spcAft>
                <a:spcPts val="428"/>
              </a:spcAft>
            </a:pPr>
            <a:r>
              <a:rPr sz="2000" i="0" b="0">
                <a:solidFill>
                  <a:srgbClr val="D4D4D4"/>
                </a:solidFill>
                <a:latin typeface="Consolas"/>
              </a:rPr>
              <a:t>    }</a:t>
            </a:r>
          </a:p>
          <a:p>
            <a:pPr>
              <a:spcAft>
                <a:spcPts val="428"/>
              </a:spcAft>
            </a:pPr>
            <a:r>
              <a:rPr sz="20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ClinicaRegistroMascotas.java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lista encapsulada en su clase</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sta-encapsulad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lista-encapsulad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lista-encapsulad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lista vive private dentro de RegistroMascotas, no suelta en el main.</a:t>
            </a:r>
          </a:p>
          <a:p>
            <a:pPr>
              <a:spcAft>
                <a:spcPts val="800"/>
              </a:spcAft>
            </a:pPr>
            <a:r>
              <a:rPr sz="2000" b="0" i="0">
                <a:solidFill>
                  <a:srgbClr val="333333"/>
                </a:solidFill>
                <a:latin typeface="Calibri"/>
              </a:rPr>
              <a:t>–   Afuera solo hay métodos con reglas: agregar rechaza ids repetidos, buscarPorId devuelve null.</a:t>
            </a:r>
          </a:p>
          <a:p>
            <a:pPr>
              <a:spcAft>
                <a:spcPts val="800"/>
              </a:spcAft>
            </a:pPr>
            <a:r>
              <a:rPr sz="2000" b="0" i="0">
                <a:solidFill>
                  <a:srgbClr val="333333"/>
                </a:solidFill>
                <a:latin typeface="Calibri"/>
              </a:rPr>
              <a:t>–   Se programa contra la interfaz (List), no contra la implementación (ArrayList).</a:t>
            </a:r>
          </a:p>
          <a:p>
            <a:pPr>
              <a:spcAft>
                <a:spcPts val="800"/>
              </a:spcAft>
            </a:pPr>
            <a:r>
              <a:rPr sz="2000" b="0" i="0">
                <a:solidFill>
                  <a:srgbClr val="333333"/>
                </a:solidFill>
                <a:latin typeface="Calibri"/>
              </a:rPr>
              <a:t>–   toString() en Mascota evita imprimir clinica.Mascota@6d06d69c.</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Mascota: atributos privados y toString()</a:t>
            </a:r>
          </a:p>
        </p:txBody>
      </p:sp>
      <p:sp>
        <p:nvSpPr>
          <p:cNvPr id="5" name="Rounded Rectangle 4"/>
          <p:cNvSpPr/>
          <p:nvPr/>
        </p:nvSpPr>
        <p:spPr>
          <a:xfrm>
            <a:off x="457200" y="1261872"/>
            <a:ext cx="11277295" cy="4530784"/>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1188720" y="1719072"/>
            <a:ext cx="10271455" cy="3936424"/>
          </a:xfrm>
          <a:prstGeom prst="rect">
            <a:avLst/>
          </a:prstGeom>
          <a:noFill/>
        </p:spPr>
        <p:txBody>
          <a:bodyPr wrap="square">
            <a:spAutoFit/>
          </a:bodyPr>
          <a:lstStyle/>
          <a:p>
            <a:pPr>
              <a:spcAft>
                <a:spcPts val="428"/>
              </a:spcAft>
            </a:pPr>
            <a:r>
              <a:rPr sz="2000" i="0" b="0">
                <a:solidFill>
                  <a:srgbClr val="569CD6"/>
                </a:solidFill>
                <a:latin typeface="Consolas"/>
              </a:rPr>
              <a:t>private</a:t>
            </a:r>
            <a:r>
              <a:rPr sz="2000" i="0" b="0">
                <a:solidFill>
                  <a:srgbClr val="D4D4D4"/>
                </a:solidFill>
                <a:latin typeface="Consolas"/>
              </a:rPr>
              <a:t> </a:t>
            </a:r>
            <a:r>
              <a:rPr sz="2000" i="0" b="0">
                <a:solidFill>
                  <a:srgbClr val="569CD6"/>
                </a:solidFill>
                <a:latin typeface="Consolas"/>
              </a:rPr>
              <a:t>final</a:t>
            </a:r>
            <a:r>
              <a:rPr sz="2000" i="0" b="0">
                <a:solidFill>
                  <a:srgbClr val="D4D4D4"/>
                </a:solidFill>
                <a:latin typeface="Consolas"/>
              </a:rPr>
              <a:t> </a:t>
            </a:r>
            <a:r>
              <a:rPr sz="2000" i="0" b="0">
                <a:solidFill>
                  <a:srgbClr val="4EC9B0"/>
                </a:solidFill>
                <a:latin typeface="Consolas"/>
              </a:rPr>
              <a:t>String</a:t>
            </a:r>
            <a:r>
              <a:rPr sz="2000" i="0" b="0">
                <a:solidFill>
                  <a:srgbClr val="D4D4D4"/>
                </a:solidFill>
                <a:latin typeface="Consolas"/>
              </a:rPr>
              <a:t> </a:t>
            </a:r>
            <a:r>
              <a:rPr sz="2000" i="0" b="0">
                <a:solidFill>
                  <a:srgbClr val="D4D4D4"/>
                </a:solidFill>
                <a:latin typeface="Consolas"/>
              </a:rPr>
              <a:t>id</a:t>
            </a:r>
            <a:r>
              <a:rPr sz="2000" i="0" b="0">
                <a:solidFill>
                  <a:srgbClr val="D4D4D4"/>
                </a:solidFill>
                <a:latin typeface="Consolas"/>
              </a:rPr>
              <a:t>;</a:t>
            </a:r>
          </a:p>
          <a:p>
            <a:pPr>
              <a:spcAft>
                <a:spcPts val="428"/>
              </a:spcAft>
            </a:pPr>
            <a:r>
              <a:rPr sz="2000" i="0" b="0">
                <a:solidFill>
                  <a:srgbClr val="569CD6"/>
                </a:solidFill>
                <a:latin typeface="Consolas"/>
              </a:rPr>
              <a:t>private</a:t>
            </a:r>
            <a:r>
              <a:rPr sz="2000" i="0" b="0">
                <a:solidFill>
                  <a:srgbClr val="D4D4D4"/>
                </a:solidFill>
                <a:latin typeface="Consolas"/>
              </a:rPr>
              <a:t> </a:t>
            </a:r>
            <a:r>
              <a:rPr sz="2000" i="0" b="0">
                <a:solidFill>
                  <a:srgbClr val="569CD6"/>
                </a:solidFill>
                <a:latin typeface="Consolas"/>
              </a:rPr>
              <a:t>final</a:t>
            </a:r>
            <a:r>
              <a:rPr sz="2000" i="0" b="0">
                <a:solidFill>
                  <a:srgbClr val="D4D4D4"/>
                </a:solidFill>
                <a:latin typeface="Consolas"/>
              </a:rPr>
              <a:t> </a:t>
            </a:r>
            <a:r>
              <a:rPr sz="2000" i="0" b="0">
                <a:solidFill>
                  <a:srgbClr val="4EC9B0"/>
                </a:solidFill>
                <a:latin typeface="Consolas"/>
              </a:rPr>
              <a:t>String</a:t>
            </a:r>
            <a:r>
              <a:rPr sz="2000" i="0" b="0">
                <a:solidFill>
                  <a:srgbClr val="D4D4D4"/>
                </a:solidFill>
                <a:latin typeface="Consolas"/>
              </a:rPr>
              <a:t> </a:t>
            </a:r>
            <a:r>
              <a:rPr sz="2000" i="0" b="0">
                <a:solidFill>
                  <a:srgbClr val="D4D4D4"/>
                </a:solidFill>
                <a:latin typeface="Consolas"/>
              </a:rPr>
              <a:t>nombre</a:t>
            </a:r>
            <a:r>
              <a:rPr sz="2000" i="0" b="0">
                <a:solidFill>
                  <a:srgbClr val="D4D4D4"/>
                </a:solidFill>
                <a:latin typeface="Consolas"/>
              </a:rPr>
              <a:t>;</a:t>
            </a:r>
          </a:p>
          <a:p>
            <a:pPr>
              <a:spcAft>
                <a:spcPts val="428"/>
              </a:spcAft>
            </a:pPr>
            <a:r>
              <a:rPr sz="2000" i="0" b="0">
                <a:solidFill>
                  <a:srgbClr val="569CD6"/>
                </a:solidFill>
                <a:latin typeface="Consolas"/>
              </a:rPr>
              <a:t>private</a:t>
            </a:r>
            <a:r>
              <a:rPr sz="2000" i="0" b="0">
                <a:solidFill>
                  <a:srgbClr val="D4D4D4"/>
                </a:solidFill>
                <a:latin typeface="Consolas"/>
              </a:rPr>
              <a:t> </a:t>
            </a:r>
            <a:r>
              <a:rPr sz="2000" i="0" b="0">
                <a:solidFill>
                  <a:srgbClr val="569CD6"/>
                </a:solidFill>
                <a:latin typeface="Consolas"/>
              </a:rPr>
              <a:t>final</a:t>
            </a:r>
            <a:r>
              <a:rPr sz="2000" i="0" b="0">
                <a:solidFill>
                  <a:srgbClr val="D4D4D4"/>
                </a:solidFill>
                <a:latin typeface="Consolas"/>
              </a:rPr>
              <a:t> </a:t>
            </a:r>
            <a:r>
              <a:rPr sz="2000" i="0" b="0">
                <a:solidFill>
                  <a:srgbClr val="4EC9B0"/>
                </a:solidFill>
                <a:latin typeface="Consolas"/>
              </a:rPr>
              <a:t>String</a:t>
            </a:r>
            <a:r>
              <a:rPr sz="2000" i="0" b="0">
                <a:solidFill>
                  <a:srgbClr val="D4D4D4"/>
                </a:solidFill>
                <a:latin typeface="Consolas"/>
              </a:rPr>
              <a:t> </a:t>
            </a:r>
            <a:r>
              <a:rPr sz="2000" i="0" b="0">
                <a:solidFill>
                  <a:srgbClr val="D4D4D4"/>
                </a:solidFill>
                <a:latin typeface="Consolas"/>
              </a:rPr>
              <a:t>especie</a:t>
            </a:r>
            <a:r>
              <a:rPr sz="2000" i="0" b="0">
                <a:solidFill>
                  <a:srgbClr val="D4D4D4"/>
                </a:solidFill>
                <a:latin typeface="Consolas"/>
              </a:rPr>
              <a:t>;</a:t>
            </a:r>
          </a:p>
          <a:p>
            <a:pPr>
              <a:spcAft>
                <a:spcPts val="428"/>
              </a:spcAft>
            </a:pPr>
            <a:r>
              <a:rPr sz="2000" i="0" b="0">
                <a:solidFill>
                  <a:srgbClr val="569CD6"/>
                </a:solidFill>
                <a:latin typeface="Consolas"/>
              </a:rPr>
              <a:t>private</a:t>
            </a:r>
            <a:r>
              <a:rPr sz="2000" i="0" b="0">
                <a:solidFill>
                  <a:srgbClr val="D4D4D4"/>
                </a:solidFill>
                <a:latin typeface="Consolas"/>
              </a:rPr>
              <a:t> </a:t>
            </a:r>
            <a:r>
              <a:rPr sz="2000" i="0" b="0">
                <a:solidFill>
                  <a:srgbClr val="569CD6"/>
                </a:solidFill>
                <a:latin typeface="Consolas"/>
              </a:rPr>
              <a:t>final</a:t>
            </a:r>
            <a:r>
              <a:rPr sz="2000" i="0" b="0">
                <a:solidFill>
                  <a:srgbClr val="D4D4D4"/>
                </a:solidFill>
                <a:latin typeface="Consolas"/>
              </a:rPr>
              <a:t> </a:t>
            </a:r>
            <a:r>
              <a:rPr sz="2000" i="0" b="0">
                <a:solidFill>
                  <a:srgbClr val="4EC9B0"/>
                </a:solidFill>
                <a:latin typeface="Consolas"/>
              </a:rPr>
              <a:t>int</a:t>
            </a:r>
            <a:r>
              <a:rPr sz="2000" i="0" b="0">
                <a:solidFill>
                  <a:srgbClr val="D4D4D4"/>
                </a:solidFill>
                <a:latin typeface="Consolas"/>
              </a:rPr>
              <a:t> </a:t>
            </a:r>
            <a:r>
              <a:rPr sz="2000" i="0" b="0">
                <a:solidFill>
                  <a:srgbClr val="D4D4D4"/>
                </a:solidFill>
                <a:latin typeface="Consolas"/>
              </a:rPr>
              <a:t>edad</a:t>
            </a:r>
            <a:r>
              <a:rPr sz="2000" i="0" b="0">
                <a:solidFill>
                  <a:srgbClr val="D4D4D4"/>
                </a:solidFill>
                <a:latin typeface="Consolas"/>
              </a:rPr>
              <a:t>;</a:t>
            </a:r>
          </a:p>
          <a:p>
            <a:pPr>
              <a:spcAft>
                <a:spcPts val="428"/>
              </a:spcAft>
            </a:pPr>
            <a:r>
              <a:rPr sz="2000" i="0" b="0">
                <a:solidFill>
                  <a:srgbClr val="569CD6"/>
                </a:solidFill>
                <a:latin typeface="Consolas"/>
              </a:rPr>
              <a:t>private</a:t>
            </a:r>
            <a:r>
              <a:rPr sz="2000" i="0" b="0">
                <a:solidFill>
                  <a:srgbClr val="D4D4D4"/>
                </a:solidFill>
                <a:latin typeface="Consolas"/>
              </a:rPr>
              <a:t> </a:t>
            </a:r>
            <a:r>
              <a:rPr sz="2000" i="0" b="0">
                <a:solidFill>
                  <a:srgbClr val="569CD6"/>
                </a:solidFill>
                <a:latin typeface="Consolas"/>
              </a:rPr>
              <a:t>final</a:t>
            </a:r>
            <a:r>
              <a:rPr sz="2000" i="0" b="0">
                <a:solidFill>
                  <a:srgbClr val="D4D4D4"/>
                </a:solidFill>
                <a:latin typeface="Consolas"/>
              </a:rPr>
              <a:t> </a:t>
            </a:r>
            <a:r>
              <a:rPr sz="2000" i="0" b="0">
                <a:solidFill>
                  <a:srgbClr val="4EC9B0"/>
                </a:solidFill>
                <a:latin typeface="Consolas"/>
              </a:rPr>
              <a:t>String</a:t>
            </a:r>
            <a:r>
              <a:rPr sz="2000" i="0" b="0">
                <a:solidFill>
                  <a:srgbClr val="D4D4D4"/>
                </a:solidFill>
                <a:latin typeface="Consolas"/>
              </a:rPr>
              <a:t> </a:t>
            </a:r>
            <a:r>
              <a:rPr sz="2000" i="0" b="0">
                <a:solidFill>
                  <a:srgbClr val="D4D4D4"/>
                </a:solidFill>
                <a:latin typeface="Consolas"/>
              </a:rPr>
              <a:t>dueno</a:t>
            </a:r>
            <a:r>
              <a:rPr sz="2000" i="0" b="0">
                <a:solidFill>
                  <a:srgbClr val="D4D4D4"/>
                </a:solidFill>
                <a:latin typeface="Consolas"/>
              </a:rPr>
              <a:t>;</a:t>
            </a:r>
          </a:p>
          <a:p>
            <a:pPr>
              <a:spcAft>
                <a:spcPts val="428"/>
              </a:spcAft>
            </a:pPr>
            <a:r>
              <a:rPr sz="2000" i="0" b="0">
                <a:solidFill>
                  <a:srgbClr val="D4D4D4"/>
                </a:solidFill>
                <a:latin typeface="Consolas"/>
              </a:rPr>
              <a:t/>
            </a:r>
          </a:p>
          <a:p>
            <a:pPr>
              <a:spcAft>
                <a:spcPts val="428"/>
              </a:spcAft>
            </a:pPr>
            <a:r>
              <a:rPr sz="2000" i="0" b="0">
                <a:solidFill>
                  <a:srgbClr val="D4D4D4"/>
                </a:solidFill>
                <a:latin typeface="Consolas"/>
              </a:rPr>
              <a:t>@</a:t>
            </a:r>
            <a:r>
              <a:rPr sz="2000" i="0" b="0">
                <a:solidFill>
                  <a:srgbClr val="D4D4D4"/>
                </a:solidFill>
                <a:latin typeface="Consolas"/>
              </a:rPr>
              <a:t>Override</a:t>
            </a:r>
          </a:p>
          <a:p>
            <a:pPr>
              <a:spcAft>
                <a:spcPts val="428"/>
              </a:spcAft>
            </a:pPr>
            <a:r>
              <a:rPr sz="2000" i="0" b="0">
                <a:solidFill>
                  <a:srgbClr val="569CD6"/>
                </a:solidFill>
                <a:latin typeface="Consolas"/>
              </a:rPr>
              <a:t>public</a:t>
            </a:r>
            <a:r>
              <a:rPr sz="2000" i="0" b="0">
                <a:solidFill>
                  <a:srgbClr val="D4D4D4"/>
                </a:solidFill>
                <a:latin typeface="Consolas"/>
              </a:rPr>
              <a:t> </a:t>
            </a:r>
            <a:r>
              <a:rPr sz="2000" i="0" b="0">
                <a:solidFill>
                  <a:srgbClr val="4EC9B0"/>
                </a:solidFill>
                <a:latin typeface="Consolas"/>
              </a:rPr>
              <a:t>String</a:t>
            </a:r>
            <a:r>
              <a:rPr sz="2000" i="0" b="0">
                <a:solidFill>
                  <a:srgbClr val="D4D4D4"/>
                </a:solidFill>
                <a:latin typeface="Consolas"/>
              </a:rPr>
              <a:t> </a:t>
            </a:r>
            <a:r>
              <a:rPr sz="2000" i="0" b="0">
                <a:solidFill>
                  <a:srgbClr val="DCDCAA"/>
                </a:solidFill>
                <a:latin typeface="Consolas"/>
              </a:rPr>
              <a:t>toString</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569CD6"/>
                </a:solidFill>
                <a:latin typeface="Consolas"/>
              </a:rPr>
              <a:t>return</a:t>
            </a:r>
            <a:r>
              <a:rPr sz="2000" i="0" b="0">
                <a:solidFill>
                  <a:srgbClr val="D4D4D4"/>
                </a:solidFill>
                <a:latin typeface="Consolas"/>
              </a:rPr>
              <a:t> </a:t>
            </a:r>
            <a:r>
              <a:rPr sz="2000" i="0" b="0">
                <a:solidFill>
                  <a:srgbClr val="D4D4D4"/>
                </a:solidFill>
                <a:latin typeface="Consolas"/>
              </a:rPr>
              <a:t>id</a:t>
            </a:r>
            <a:r>
              <a:rPr sz="2000" i="0" b="0">
                <a:solidFill>
                  <a:srgbClr val="D4D4D4"/>
                </a:solidFill>
                <a:latin typeface="Consolas"/>
              </a:rPr>
              <a:t> + </a:t>
            </a:r>
            <a:r>
              <a:rPr sz="2000" i="0" b="0">
                <a:solidFill>
                  <a:srgbClr val="CE9178"/>
                </a:solidFill>
                <a:latin typeface="Consolas"/>
              </a:rPr>
              <a:t>" | "</a:t>
            </a:r>
            <a:r>
              <a:rPr sz="2000" i="0" b="0">
                <a:solidFill>
                  <a:srgbClr val="D4D4D4"/>
                </a:solidFill>
                <a:latin typeface="Consolas"/>
              </a:rPr>
              <a:t> + </a:t>
            </a:r>
            <a:r>
              <a:rPr sz="2000" i="0" b="0">
                <a:solidFill>
                  <a:srgbClr val="D4D4D4"/>
                </a:solidFill>
                <a:latin typeface="Consolas"/>
              </a:rPr>
              <a:t>nombre</a:t>
            </a:r>
            <a:r>
              <a:rPr sz="2000" i="0" b="0">
                <a:solidFill>
                  <a:srgbClr val="D4D4D4"/>
                </a:solidFill>
                <a:latin typeface="Consolas"/>
              </a:rPr>
              <a:t> + </a:t>
            </a:r>
            <a:r>
              <a:rPr sz="2000" i="0" b="0">
                <a:solidFill>
                  <a:srgbClr val="CE9178"/>
                </a:solidFill>
                <a:latin typeface="Consolas"/>
              </a:rPr>
              <a:t>" ("</a:t>
            </a:r>
            <a:r>
              <a:rPr sz="2000" i="0" b="0">
                <a:solidFill>
                  <a:srgbClr val="D4D4D4"/>
                </a:solidFill>
                <a:latin typeface="Consolas"/>
              </a:rPr>
              <a:t> + </a:t>
            </a:r>
            <a:r>
              <a:rPr sz="2000" i="0" b="0">
                <a:solidFill>
                  <a:srgbClr val="D4D4D4"/>
                </a:solidFill>
                <a:latin typeface="Consolas"/>
              </a:rPr>
              <a:t>especie</a:t>
            </a:r>
            <a:r>
              <a:rPr sz="2000" i="0" b="0">
                <a:solidFill>
                  <a:srgbClr val="D4D4D4"/>
                </a:solidFill>
                <a:latin typeface="Consolas"/>
              </a:rPr>
              <a:t> + </a:t>
            </a:r>
            <a:r>
              <a:rPr sz="2000" i="0" b="0">
                <a:solidFill>
                  <a:srgbClr val="CE9178"/>
                </a:solidFill>
                <a:latin typeface="Consolas"/>
              </a:rPr>
              <a:t>", "</a:t>
            </a:r>
            <a:r>
              <a:rPr sz="2000" i="0" b="0">
                <a:solidFill>
                  <a:srgbClr val="D4D4D4"/>
                </a:solidFill>
                <a:latin typeface="Consolas"/>
              </a:rPr>
              <a:t> + </a:t>
            </a:r>
            <a:r>
              <a:rPr sz="2000" i="0" b="0">
                <a:solidFill>
                  <a:srgbClr val="D4D4D4"/>
                </a:solidFill>
                <a:latin typeface="Consolas"/>
              </a:rPr>
              <a:t>edad</a:t>
            </a:r>
            <a:r>
              <a:rPr sz="2000" i="0" b="0">
                <a:solidFill>
                  <a:srgbClr val="D4D4D4"/>
                </a:solidFill>
                <a:latin typeface="Consolas"/>
              </a:rPr>
              <a:t> + </a:t>
            </a:r>
            <a:r>
              <a:rPr sz="2000" i="0" b="0">
                <a:solidFill>
                  <a:srgbClr val="CE9178"/>
                </a:solidFill>
                <a:latin typeface="Consolas"/>
              </a:rPr>
              <a:t>" anios) - dueno: "</a:t>
            </a:r>
            <a:r>
              <a:rPr sz="2000" i="0" b="0">
                <a:solidFill>
                  <a:srgbClr val="D4D4D4"/>
                </a:solidFill>
                <a:latin typeface="Consolas"/>
              </a:rPr>
              <a:t> + </a:t>
            </a:r>
            <a:r>
              <a:rPr sz="2000" i="0" b="0">
                <a:solidFill>
                  <a:srgbClr val="D4D4D4"/>
                </a:solidFill>
                <a:latin typeface="Consolas"/>
              </a:rPr>
              <a:t>dueno</a:t>
            </a:r>
            <a:r>
              <a:rPr sz="2000" i="0" b="0">
                <a:solidFill>
                  <a:srgbClr val="D4D4D4"/>
                </a:solidFill>
                <a:latin typeface="Consolas"/>
              </a:rPr>
              <a:t>;</a:t>
            </a:r>
          </a:p>
          <a:p>
            <a:pPr>
              <a:spcAft>
                <a:spcPts val="428"/>
              </a:spcAft>
            </a:pPr>
            <a:r>
              <a:rPr sz="2000" i="0" b="0">
                <a:solidFill>
                  <a:srgbClr val="D4D4D4"/>
                </a:solidFill>
                <a:latin typeface="Consolas"/>
              </a:rPr>
              <a:t>}</a:t>
            </a:r>
          </a:p>
        </p:txBody>
      </p:sp>
      <p:sp>
        <p:nvSpPr>
          <p:cNvPr id="12" name="TextBox 11"/>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ClinicaRegistroMascotas.java</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Rounded Rectangle 4"/>
          <p:cNvSpPr/>
          <p:nvPr/>
        </p:nvSpPr>
        <p:spPr>
          <a:xfrm>
            <a:off x="5797149" y="1573813"/>
            <a:ext cx="6010497" cy="4057845"/>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aptop-code-live-demo.jpg"/>
          <p:cNvPicPr>
            <a:picLocks noChangeAspect="1"/>
          </p:cNvPicPr>
          <p:nvPr/>
        </p:nvPicPr>
        <p:blipFill>
          <a:blip r:embed="rId2"/>
          <a:stretch>
            <a:fillRect/>
          </a:stretch>
        </p:blipFill>
        <p:spPr>
          <a:xfrm>
            <a:off x="5870301" y="1646965"/>
            <a:ext cx="5864193" cy="3911541"/>
          </a:xfrm>
          <a:prstGeom prst="rect">
            <a:avLst/>
          </a:prstGeom>
        </p:spPr>
      </p:pic>
      <p:sp>
        <p:nvSpPr>
          <p:cNvPr id="7" name="TextBox 6"/>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Foto: olia danilevich · Pexels</a:t>
            </a:r>
          </a:p>
        </p:txBody>
      </p:sp>
      <p:sp>
        <p:nvSpPr>
          <p:cNvPr id="8" name="TextBox 7"/>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Herramienta:</a:t>
            </a:r>
            <a:r>
              <a:rPr sz="2000" b="0" i="0">
                <a:solidFill>
                  <a:srgbClr val="333333"/>
                </a:solidFill>
                <a:latin typeface="Calibri"/>
              </a:rPr>
              <a:t> Visual Studio Code (Java)</a:t>
            </a:r>
          </a:p>
          <a:p>
            <a:pPr>
              <a:spcAft>
                <a:spcPts val="800"/>
              </a:spcAft>
            </a:pPr>
            <a:r>
              <a:rPr sz="2000" b="0" i="0">
                <a:solidFill>
                  <a:srgbClr val="333333"/>
                </a:solidFill>
                <a:latin typeface="Calibri"/>
              </a:rPr>
              <a:t>–   </a:t>
            </a:r>
            <a:r>
              <a:rPr sz="2000" b="1" i="0">
                <a:solidFill>
                  <a:srgbClr val="333333"/>
                </a:solidFill>
                <a:latin typeface="Calibri"/>
              </a:rPr>
              <a:t>Demo:</a:t>
            </a:r>
          </a:p>
          <a:p>
            <a:pPr>
              <a:spcAft>
                <a:spcPts val="800"/>
              </a:spcAft>
            </a:pPr>
            <a:r>
              <a:rPr sz="2000" b="0" i="0">
                <a:solidFill>
                  <a:srgbClr val="333333"/>
                </a:solidFill>
                <a:latin typeface="Calibri"/>
              </a:rPr>
              <a:t>–   Mismo dominio de la clinica — no otro ejemplo.</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2 · Colecciones dinamicas · ArrayList</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De arreglos fijos a listas que crecen</a:t>
            </a:r>
          </a:p>
          <a:p>
            <a:pPr algn="ctr">
              <a:spcAft>
                <a:spcPts val="600"/>
              </a:spcAft>
            </a:pPr>
            <a:r>
              <a:rPr sz="1600" b="0" i="0">
                <a:solidFill>
                  <a:srgbClr val="333333"/>
                </a:solidFill>
                <a:latin typeface="Calibri"/>
              </a:rPr>
              <a:t>Repasa las laminas de concepto y el codigo de la demo</a:t>
            </a:r>
          </a:p>
          <a:p>
            <a:pPr algn="ctr">
              <a:spcAft>
                <a:spcPts val="600"/>
              </a:spcAft>
            </a:pPr>
            <a:r>
              <a:rPr sz="1600" b="0" i="0">
                <a:solidFill>
                  <a:srgbClr val="333333"/>
                </a:solidFill>
                <a:latin typeface="Calibri"/>
              </a:rPr>
              <a:t>Siguiente clase: continuamos el hilo del tema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Teoria al servicio del proyecto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