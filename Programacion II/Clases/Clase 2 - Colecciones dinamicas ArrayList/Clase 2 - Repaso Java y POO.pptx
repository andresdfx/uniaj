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</p:sldIdLst>
  <p:sldSz cy="6858000" cx="12192000"/>
  <p:notesSz cx="6858000" cy="9144000"/>
  <p:embeddedFontLst>
    <p:embeddedFont>
      <p:font typeface="Urbanist"/>
      <p:regular r:id="rId12"/>
      <p:bold r:id="rId13"/>
      <p:italic r:id="rId14"/>
      <p:boldItalic r:id="rId15"/>
    </p:embeddedFont>
    <p:embeddedFont>
      <p:font typeface="Merriweather"/>
      <p:regular r:id="rId16"/>
      <p:bold r:id="rId17"/>
      <p:italic r:id="rId18"/>
      <p:boldItalic r:id="rId19"/>
    </p:embeddedFont>
    <p:embeddedFont>
      <p:font typeface="DM Sans"/>
      <p:regular r:id="rId20"/>
      <p:bold r:id="rId21"/>
      <p:italic r:id="rId22"/>
      <p:boldItalic r:id="rId23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DMSans-regular.fntdata"/><Relationship Id="rId11" Type="http://schemas.openxmlformats.org/officeDocument/2006/relationships/slide" Target="slides/slide6.xml"/><Relationship Id="rId22" Type="http://schemas.openxmlformats.org/officeDocument/2006/relationships/font" Target="fonts/DMSans-italic.fntdata"/><Relationship Id="rId10" Type="http://schemas.openxmlformats.org/officeDocument/2006/relationships/slide" Target="slides/slide5.xml"/><Relationship Id="rId21" Type="http://schemas.openxmlformats.org/officeDocument/2006/relationships/font" Target="fonts/DMSans-bold.fntdata"/><Relationship Id="rId13" Type="http://schemas.openxmlformats.org/officeDocument/2006/relationships/font" Target="fonts/Urbanist-bold.fntdata"/><Relationship Id="rId12" Type="http://schemas.openxmlformats.org/officeDocument/2006/relationships/font" Target="fonts/Urbanist-regular.fntdata"/><Relationship Id="rId23" Type="http://schemas.openxmlformats.org/officeDocument/2006/relationships/font" Target="fonts/DMSans-boldItalic.fnt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font" Target="fonts/Urbanist-boldItalic.fntdata"/><Relationship Id="rId14" Type="http://schemas.openxmlformats.org/officeDocument/2006/relationships/font" Target="fonts/Urbanist-italic.fntdata"/><Relationship Id="rId17" Type="http://schemas.openxmlformats.org/officeDocument/2006/relationships/font" Target="fonts/Merriweather-bold.fntdata"/><Relationship Id="rId16" Type="http://schemas.openxmlformats.org/officeDocument/2006/relationships/font" Target="fonts/Merriweather-regular.fntdata"/><Relationship Id="rId5" Type="http://schemas.openxmlformats.org/officeDocument/2006/relationships/notesMaster" Target="notesMasters/notesMaster1.xml"/><Relationship Id="rId19" Type="http://schemas.openxmlformats.org/officeDocument/2006/relationships/font" Target="fonts/Merriweather-boldItalic.fntdata"/><Relationship Id="rId6" Type="http://schemas.openxmlformats.org/officeDocument/2006/relationships/slide" Target="slides/slide1.xml"/><Relationship Id="rId18" Type="http://schemas.openxmlformats.org/officeDocument/2006/relationships/font" Target="fonts/Merriweather-italic.fntdata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0" name="Google Shape;90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7" name="Google Shape;97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2" name="Google Shape;112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9" name="Google Shape;129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3" name="Google Shape;143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3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4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5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6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6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7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7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7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7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9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9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0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1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1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1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2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1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.png"/><Relationship Id="rId4" Type="http://schemas.openxmlformats.org/officeDocument/2006/relationships/image" Target="../media/image8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3.png"/><Relationship Id="rId4" Type="http://schemas.openxmlformats.org/officeDocument/2006/relationships/image" Target="../media/image4.png"/><Relationship Id="rId5" Type="http://schemas.openxmlformats.org/officeDocument/2006/relationships/image" Target="../media/image1.png"/><Relationship Id="rId6" Type="http://schemas.openxmlformats.org/officeDocument/2006/relationships/image" Target="../media/image10.png"/><Relationship Id="rId7" Type="http://schemas.openxmlformats.org/officeDocument/2006/relationships/image" Target="../media/image7.png"/><Relationship Id="rId8" Type="http://schemas.openxmlformats.org/officeDocument/2006/relationships/image" Target="../media/image6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9.png"/><Relationship Id="rId4" Type="http://schemas.openxmlformats.org/officeDocument/2006/relationships/image" Target="../media/image5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3"/>
          <p:cNvSpPr txBox="1"/>
          <p:nvPr/>
        </p:nvSpPr>
        <p:spPr>
          <a:xfrm>
            <a:off x="3005613" y="2474565"/>
            <a:ext cx="6180772" cy="7429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875" u="none" cap="none" strike="noStrike">
                <a:solidFill>
                  <a:srgbClr val="0050A0"/>
                </a:solidFill>
                <a:latin typeface="Merriweather"/>
                <a:ea typeface="Merriweather"/>
                <a:cs typeface="Merriweather"/>
                <a:sym typeface="Merriweather"/>
              </a:rPr>
              <a:t>Repaso Java y POO</a:t>
            </a:r>
            <a:endParaRPr/>
          </a:p>
        </p:txBody>
      </p:sp>
      <p:sp>
        <p:nvSpPr>
          <p:cNvPr id="85" name="Google Shape;85;p13"/>
          <p:cNvSpPr/>
          <p:nvPr/>
        </p:nvSpPr>
        <p:spPr>
          <a:xfrm>
            <a:off x="5381625" y="3503265"/>
            <a:ext cx="1428750" cy="38100"/>
          </a:xfrm>
          <a:prstGeom prst="rect">
            <a:avLst/>
          </a:prstGeom>
          <a:solidFill>
            <a:srgbClr val="F5D42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" name="Google Shape;86;p13"/>
          <p:cNvSpPr txBox="1"/>
          <p:nvPr/>
        </p:nvSpPr>
        <p:spPr>
          <a:xfrm>
            <a:off x="3152775" y="3827115"/>
            <a:ext cx="5886450" cy="3656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333333"/>
                </a:solidFill>
                <a:latin typeface="DM Sans"/>
                <a:ea typeface="DM Sans"/>
                <a:cs typeface="DM Sans"/>
                <a:sym typeface="DM Sans"/>
              </a:rPr>
              <a:t>Clases, Objetos y Herencia - Inicio de Proyecto VetCare</a:t>
            </a:r>
            <a:endParaRPr/>
          </a:p>
        </p:txBody>
      </p:sp>
      <p:sp>
        <p:nvSpPr>
          <p:cNvPr id="87" name="Google Shape;87;p13"/>
          <p:cNvSpPr txBox="1"/>
          <p:nvPr/>
        </p:nvSpPr>
        <p:spPr>
          <a:xfrm>
            <a:off x="571500" y="6308425"/>
            <a:ext cx="10320300" cy="300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994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-US" sz="1950">
                <a:solidFill>
                  <a:srgbClr val="475569"/>
                </a:solidFill>
                <a:latin typeface="Urbanist"/>
                <a:ea typeface="Urbanist"/>
                <a:cs typeface="Urbanist"/>
                <a:sym typeface="Urbanist"/>
              </a:rPr>
              <a:t>Empezamos 6:45 PM ..</a:t>
            </a:r>
            <a:endParaRPr b="1" i="1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14"/>
          <p:cNvSpPr/>
          <p:nvPr/>
        </p:nvSpPr>
        <p:spPr>
          <a:xfrm>
            <a:off x="5619750" y="2404169"/>
            <a:ext cx="952500" cy="47625"/>
          </a:xfrm>
          <a:prstGeom prst="rect">
            <a:avLst/>
          </a:prstGeom>
          <a:solidFill>
            <a:srgbClr val="F5D42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3" name="Google Shape;93;p14"/>
          <p:cNvSpPr txBox="1"/>
          <p:nvPr/>
        </p:nvSpPr>
        <p:spPr>
          <a:xfrm>
            <a:off x="2515552" y="2737544"/>
            <a:ext cx="7160895" cy="7143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500" u="none" cap="none" strike="noStrike">
                <a:solidFill>
                  <a:srgbClr val="0050A0"/>
                </a:solidFill>
                <a:latin typeface="Merriweather"/>
                <a:ea typeface="Merriweather"/>
                <a:cs typeface="Merriweather"/>
                <a:sym typeface="Merriweather"/>
              </a:rPr>
              <a:t>El Paradigma de Objetos</a:t>
            </a:r>
            <a:endParaRPr/>
          </a:p>
        </p:txBody>
      </p:sp>
      <p:sp>
        <p:nvSpPr>
          <p:cNvPr id="94" name="Google Shape;94;p14"/>
          <p:cNvSpPr txBox="1"/>
          <p:nvPr/>
        </p:nvSpPr>
        <p:spPr>
          <a:xfrm>
            <a:off x="2286000" y="3642419"/>
            <a:ext cx="7620000" cy="109701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333333"/>
                </a:solidFill>
                <a:latin typeface="DM Sans"/>
                <a:ea typeface="DM Sans"/>
                <a:cs typeface="DM Sans"/>
                <a:sym typeface="DM Sans"/>
              </a:rPr>
              <a:t>Los ingenieros no escriben código lineal interminable. Modelamos el mundo real dentro de la computadora creando representaciones digitales (Objetos).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99" name="Google Shape;99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334125" y="1785937"/>
            <a:ext cx="5276850" cy="3810000"/>
          </a:xfrm>
          <a:prstGeom prst="rect">
            <a:avLst/>
          </a:prstGeom>
          <a:noFill/>
          <a:ln>
            <a:noFill/>
          </a:ln>
        </p:spPr>
      </p:pic>
      <p:sp>
        <p:nvSpPr>
          <p:cNvPr id="100" name="Google Shape;100;p15"/>
          <p:cNvSpPr txBox="1"/>
          <p:nvPr/>
        </p:nvSpPr>
        <p:spPr>
          <a:xfrm>
            <a:off x="581025" y="581025"/>
            <a:ext cx="11581447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000" u="none" cap="none" strike="noStrike">
                <a:solidFill>
                  <a:srgbClr val="0050A0"/>
                </a:solidFill>
                <a:latin typeface="Merriweather"/>
                <a:ea typeface="Merriweather"/>
                <a:cs typeface="Merriweather"/>
                <a:sym typeface="Merriweather"/>
              </a:rPr>
              <a:t>Clases vs Objetos</a:t>
            </a:r>
            <a:endParaRPr/>
          </a:p>
        </p:txBody>
      </p:sp>
      <p:sp>
        <p:nvSpPr>
          <p:cNvPr id="101" name="Google Shape;101;p15"/>
          <p:cNvSpPr txBox="1"/>
          <p:nvPr/>
        </p:nvSpPr>
        <p:spPr>
          <a:xfrm>
            <a:off x="581025" y="1785937"/>
            <a:ext cx="5540692" cy="3619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250" u="none" cap="none" strike="noStrike">
                <a:solidFill>
                  <a:srgbClr val="0050A0"/>
                </a:solidFill>
                <a:latin typeface="Merriweather"/>
                <a:ea typeface="Merriweather"/>
                <a:cs typeface="Merriweather"/>
                <a:sym typeface="Merriweather"/>
              </a:rPr>
              <a:t>El Molde y la Creación</a:t>
            </a:r>
            <a:endParaRPr/>
          </a:p>
        </p:txBody>
      </p:sp>
      <p:sp>
        <p:nvSpPr>
          <p:cNvPr id="102" name="Google Shape;102;p15"/>
          <p:cNvSpPr txBox="1"/>
          <p:nvPr/>
        </p:nvSpPr>
        <p:spPr>
          <a:xfrm>
            <a:off x="581025" y="2290762"/>
            <a:ext cx="5276850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33333"/>
                </a:solidFill>
                <a:latin typeface="DM Sans"/>
                <a:ea typeface="DM Sans"/>
                <a:cs typeface="DM Sans"/>
                <a:sym typeface="DM Sans"/>
              </a:rPr>
              <a:t>Para construir el sistema de nuestra clínica veterinaria, primero debemos entender la diferencia crucial de la POO:</a:t>
            </a:r>
            <a:endParaRPr/>
          </a:p>
        </p:txBody>
      </p:sp>
      <p:sp>
        <p:nvSpPr>
          <p:cNvPr id="103" name="Google Shape;103;p15"/>
          <p:cNvSpPr txBox="1"/>
          <p:nvPr/>
        </p:nvSpPr>
        <p:spPr>
          <a:xfrm>
            <a:off x="752475" y="3043237"/>
            <a:ext cx="66675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33333"/>
                </a:solidFill>
                <a:latin typeface="DM Sans"/>
                <a:ea typeface="DM Sans"/>
                <a:cs typeface="DM Sans"/>
                <a:sym typeface="DM Sans"/>
              </a:rPr>
              <a:t>•</a:t>
            </a:r>
            <a:endParaRPr/>
          </a:p>
        </p:txBody>
      </p:sp>
      <p:sp>
        <p:nvSpPr>
          <p:cNvPr id="104" name="Google Shape;104;p15"/>
          <p:cNvSpPr txBox="1"/>
          <p:nvPr/>
        </p:nvSpPr>
        <p:spPr>
          <a:xfrm>
            <a:off x="819150" y="3043237"/>
            <a:ext cx="5038725" cy="9239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66675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333333"/>
                </a:solidFill>
                <a:latin typeface="DM Sans"/>
                <a:ea typeface="DM Sans"/>
                <a:cs typeface="DM Sans"/>
                <a:sym typeface="DM Sans"/>
              </a:rPr>
              <a:t>Clase (El Plano):</a:t>
            </a:r>
            <a:r>
              <a:rPr b="0" i="0" lang="en-US" sz="1500" u="none" cap="none" strike="noStrike">
                <a:solidFill>
                  <a:srgbClr val="333333"/>
                </a:solidFill>
                <a:latin typeface="DM Sans"/>
                <a:ea typeface="DM Sans"/>
                <a:cs typeface="DM Sans"/>
                <a:sym typeface="DM Sans"/>
              </a:rPr>
              <a:t> Es el molde o plantilla. Define qué atributos (datos) y qué métodos (acciones) tendrá algo. </a:t>
            </a:r>
            <a:r>
              <a:rPr b="0" i="1" lang="en-US" sz="1500" u="none" cap="none" strike="noStrike">
                <a:solidFill>
                  <a:srgbClr val="333333"/>
                </a:solidFill>
                <a:latin typeface="DM Sans"/>
                <a:ea typeface="DM Sans"/>
                <a:cs typeface="DM Sans"/>
                <a:sym typeface="DM Sans"/>
              </a:rPr>
              <a:t>Ejemplo: La clase Mascota</a:t>
            </a:r>
            <a:r>
              <a:rPr b="0" i="0" lang="en-US" sz="1500" u="none" cap="none" strike="noStrike">
                <a:solidFill>
                  <a:srgbClr val="333333"/>
                </a:solidFill>
                <a:latin typeface="DM Sans"/>
                <a:ea typeface="DM Sans"/>
                <a:cs typeface="DM Sans"/>
                <a:sym typeface="DM Sans"/>
              </a:rPr>
              <a:t>.</a:t>
            </a:r>
            <a:endParaRPr/>
          </a:p>
        </p:txBody>
      </p:sp>
      <p:sp>
        <p:nvSpPr>
          <p:cNvPr id="105" name="Google Shape;105;p15"/>
          <p:cNvSpPr txBox="1"/>
          <p:nvPr/>
        </p:nvSpPr>
        <p:spPr>
          <a:xfrm>
            <a:off x="752475" y="4110037"/>
            <a:ext cx="66675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33333"/>
                </a:solidFill>
                <a:latin typeface="DM Sans"/>
                <a:ea typeface="DM Sans"/>
                <a:cs typeface="DM Sans"/>
                <a:sym typeface="DM Sans"/>
              </a:rPr>
              <a:t>•</a:t>
            </a:r>
            <a:endParaRPr/>
          </a:p>
        </p:txBody>
      </p:sp>
      <p:sp>
        <p:nvSpPr>
          <p:cNvPr id="106" name="Google Shape;106;p15"/>
          <p:cNvSpPr txBox="1"/>
          <p:nvPr/>
        </p:nvSpPr>
        <p:spPr>
          <a:xfrm>
            <a:off x="819150" y="4110037"/>
            <a:ext cx="5038725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66675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333333"/>
                </a:solidFill>
                <a:latin typeface="DM Sans"/>
                <a:ea typeface="DM Sans"/>
                <a:cs typeface="DM Sans"/>
                <a:sym typeface="DM Sans"/>
              </a:rPr>
              <a:t>Objeto (La Realidad):</a:t>
            </a:r>
            <a:r>
              <a:rPr b="0" i="0" lang="en-US" sz="1500" u="none" cap="none" strike="noStrike">
                <a:solidFill>
                  <a:srgbClr val="333333"/>
                </a:solidFill>
                <a:latin typeface="DM Sans"/>
                <a:ea typeface="DM Sans"/>
                <a:cs typeface="DM Sans"/>
                <a:sym typeface="DM Sans"/>
              </a:rPr>
              <a:t> Es la instancia física construida a partir del plano, la cual ocupa memoria RAM. </a:t>
            </a:r>
            <a:r>
              <a:rPr b="0" i="1" lang="en-US" sz="1500" u="none" cap="none" strike="noStrike">
                <a:solidFill>
                  <a:srgbClr val="333333"/>
                </a:solidFill>
                <a:latin typeface="DM Sans"/>
                <a:ea typeface="DM Sans"/>
                <a:cs typeface="DM Sans"/>
                <a:sym typeface="DM Sans"/>
              </a:rPr>
              <a:t>Ejemplo: El paciente específico "Firulais"</a:t>
            </a:r>
            <a:r>
              <a:rPr b="0" i="0" lang="en-US" sz="1500" u="none" cap="none" strike="noStrike">
                <a:solidFill>
                  <a:srgbClr val="333333"/>
                </a:solidFill>
                <a:latin typeface="DM Sans"/>
                <a:ea typeface="DM Sans"/>
                <a:cs typeface="DM Sans"/>
                <a:sym typeface="DM Sans"/>
              </a:rPr>
              <a:t>.</a:t>
            </a:r>
            <a:endParaRPr/>
          </a:p>
        </p:txBody>
      </p:sp>
      <p:sp>
        <p:nvSpPr>
          <p:cNvPr id="107" name="Google Shape;107;p15"/>
          <p:cNvSpPr txBox="1"/>
          <p:nvPr/>
        </p:nvSpPr>
        <p:spPr>
          <a:xfrm>
            <a:off x="752475" y="5167312"/>
            <a:ext cx="66675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33333"/>
                </a:solidFill>
                <a:latin typeface="DM Sans"/>
                <a:ea typeface="DM Sans"/>
                <a:cs typeface="DM Sans"/>
                <a:sym typeface="DM Sans"/>
              </a:rPr>
              <a:t>•</a:t>
            </a:r>
            <a:endParaRPr/>
          </a:p>
        </p:txBody>
      </p:sp>
      <p:sp>
        <p:nvSpPr>
          <p:cNvPr id="108" name="Google Shape;108;p15"/>
          <p:cNvSpPr txBox="1"/>
          <p:nvPr/>
        </p:nvSpPr>
        <p:spPr>
          <a:xfrm>
            <a:off x="819150" y="5167312"/>
            <a:ext cx="5038725" cy="6191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66675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33333"/>
                </a:solidFill>
                <a:latin typeface="DM Sans"/>
                <a:ea typeface="DM Sans"/>
                <a:cs typeface="DM Sans"/>
                <a:sym typeface="DM Sans"/>
              </a:rPr>
              <a:t>Usamos la palabra reservada new para crear un Objeto a partir de una Clase.</a:t>
            </a:r>
            <a:endParaRPr/>
          </a:p>
        </p:txBody>
      </p:sp>
      <p:pic>
        <p:nvPicPr>
          <p:cNvPr descr="image.png" id="109" name="Google Shape;109;p1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334125" y="1785937"/>
            <a:ext cx="5276850" cy="3810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14" name="Google Shape;114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81025" y="1776412"/>
            <a:ext cx="3422600" cy="41624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15" name="Google Shape;115;p1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384625" y="1776412"/>
            <a:ext cx="3422600" cy="41624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16" name="Google Shape;116;p1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8188225" y="1776412"/>
            <a:ext cx="3422600" cy="4162425"/>
          </a:xfrm>
          <a:prstGeom prst="rect">
            <a:avLst/>
          </a:prstGeom>
          <a:noFill/>
          <a:ln>
            <a:noFill/>
          </a:ln>
        </p:spPr>
      </p:pic>
      <p:sp>
        <p:nvSpPr>
          <p:cNvPr id="117" name="Google Shape;117;p16"/>
          <p:cNvSpPr txBox="1"/>
          <p:nvPr/>
        </p:nvSpPr>
        <p:spPr>
          <a:xfrm>
            <a:off x="581025" y="581025"/>
            <a:ext cx="11581447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000" u="none" cap="none" strike="noStrike">
                <a:solidFill>
                  <a:srgbClr val="0050A0"/>
                </a:solidFill>
                <a:latin typeface="Merriweather"/>
                <a:ea typeface="Merriweather"/>
                <a:cs typeface="Merriweather"/>
                <a:sym typeface="Merriweather"/>
              </a:rPr>
              <a:t>Pilares de la POO en VetCare</a:t>
            </a:r>
            <a:endParaRPr/>
          </a:p>
        </p:txBody>
      </p:sp>
      <p:sp>
        <p:nvSpPr>
          <p:cNvPr id="118" name="Google Shape;118;p16"/>
          <p:cNvSpPr txBox="1"/>
          <p:nvPr/>
        </p:nvSpPr>
        <p:spPr>
          <a:xfrm>
            <a:off x="1527155" y="3119437"/>
            <a:ext cx="1530191" cy="3143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950" u="none" cap="none" strike="noStrike">
                <a:solidFill>
                  <a:srgbClr val="0050A0"/>
                </a:solidFill>
                <a:latin typeface="Merriweather"/>
                <a:ea typeface="Merriweather"/>
                <a:cs typeface="Merriweather"/>
                <a:sym typeface="Merriweather"/>
              </a:rPr>
              <a:t>Abstracción</a:t>
            </a:r>
            <a:endParaRPr/>
          </a:p>
        </p:txBody>
      </p:sp>
      <p:sp>
        <p:nvSpPr>
          <p:cNvPr id="119" name="Google Shape;119;p16"/>
          <p:cNvSpPr txBox="1"/>
          <p:nvPr/>
        </p:nvSpPr>
        <p:spPr>
          <a:xfrm>
            <a:off x="876300" y="3576637"/>
            <a:ext cx="2832050" cy="1524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33333"/>
                </a:solidFill>
                <a:latin typeface="DM Sans"/>
                <a:ea typeface="DM Sans"/>
                <a:cs typeface="DM Sans"/>
                <a:sym typeface="DM Sans"/>
              </a:rPr>
              <a:t>Ignorar los detalles innecesarios. A VetCare no le importa el color de ojos del dueño, solo necesitamos abstraer datos útiles: ID, Nombre, Especie.</a:t>
            </a:r>
            <a:endParaRPr/>
          </a:p>
        </p:txBody>
      </p:sp>
      <p:sp>
        <p:nvSpPr>
          <p:cNvPr id="120" name="Google Shape;120;p16"/>
          <p:cNvSpPr txBox="1"/>
          <p:nvPr/>
        </p:nvSpPr>
        <p:spPr>
          <a:xfrm>
            <a:off x="4970710" y="3119437"/>
            <a:ext cx="2250281" cy="3143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950" u="none" cap="none" strike="noStrike">
                <a:solidFill>
                  <a:srgbClr val="0050A0"/>
                </a:solidFill>
                <a:latin typeface="Merriweather"/>
                <a:ea typeface="Merriweather"/>
                <a:cs typeface="Merriweather"/>
                <a:sym typeface="Merriweather"/>
              </a:rPr>
              <a:t>Encapsulamiento</a:t>
            </a:r>
            <a:endParaRPr/>
          </a:p>
        </p:txBody>
      </p:sp>
      <p:sp>
        <p:nvSpPr>
          <p:cNvPr id="121" name="Google Shape;121;p16"/>
          <p:cNvSpPr txBox="1"/>
          <p:nvPr/>
        </p:nvSpPr>
        <p:spPr>
          <a:xfrm>
            <a:off x="4679900" y="3576637"/>
            <a:ext cx="2832050" cy="15430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33333"/>
                </a:solidFill>
                <a:latin typeface="DM Sans"/>
                <a:ea typeface="DM Sans"/>
                <a:cs typeface="DM Sans"/>
                <a:sym typeface="DM Sans"/>
              </a:rPr>
              <a:t>Proteger los datos internos. Ponemos los atributos como private y accedemos a ellos solo a través de métodos seguros Getters y Setters.</a:t>
            </a:r>
            <a:endParaRPr/>
          </a:p>
        </p:txBody>
      </p:sp>
      <p:sp>
        <p:nvSpPr>
          <p:cNvPr id="122" name="Google Shape;122;p16"/>
          <p:cNvSpPr txBox="1"/>
          <p:nvPr/>
        </p:nvSpPr>
        <p:spPr>
          <a:xfrm>
            <a:off x="9324379" y="3119437"/>
            <a:ext cx="1150143" cy="3143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950" u="none" cap="none" strike="noStrike">
                <a:solidFill>
                  <a:srgbClr val="0050A0"/>
                </a:solidFill>
                <a:latin typeface="Merriweather"/>
                <a:ea typeface="Merriweather"/>
                <a:cs typeface="Merriweather"/>
                <a:sym typeface="Merriweather"/>
              </a:rPr>
              <a:t>Herencia</a:t>
            </a:r>
            <a:endParaRPr/>
          </a:p>
        </p:txBody>
      </p:sp>
      <p:sp>
        <p:nvSpPr>
          <p:cNvPr id="123" name="Google Shape;123;p16"/>
          <p:cNvSpPr txBox="1"/>
          <p:nvPr/>
        </p:nvSpPr>
        <p:spPr>
          <a:xfrm>
            <a:off x="8483500" y="3576637"/>
            <a:ext cx="2832050" cy="1828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33333"/>
                </a:solidFill>
                <a:latin typeface="DM Sans"/>
                <a:ea typeface="DM Sans"/>
                <a:cs typeface="DM Sans"/>
                <a:sym typeface="DM Sans"/>
              </a:rPr>
              <a:t>La capacidad de una clase de adoptar (heredar) los atributos y métodos de otra, promoviendo la reutilización de código. (Ej: Un Perro *es una* Mascota).</a:t>
            </a:r>
            <a:endParaRPr/>
          </a:p>
        </p:txBody>
      </p:sp>
      <p:pic>
        <p:nvPicPr>
          <p:cNvPr descr="image.png" id="124" name="Google Shape;124;p16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1963638" y="2262187"/>
            <a:ext cx="657225" cy="5238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25" name="Google Shape;125;p16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5867251" y="2262187"/>
            <a:ext cx="457200" cy="5238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26" name="Google Shape;126;p16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9604176" y="2262187"/>
            <a:ext cx="590550" cy="5238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31" name="Google Shape;131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334125" y="9525"/>
            <a:ext cx="5848350" cy="6838950"/>
          </a:xfrm>
          <a:prstGeom prst="rect">
            <a:avLst/>
          </a:prstGeom>
          <a:noFill/>
          <a:ln>
            <a:noFill/>
          </a:ln>
        </p:spPr>
      </p:pic>
      <p:sp>
        <p:nvSpPr>
          <p:cNvPr id="132" name="Google Shape;132;p17"/>
          <p:cNvSpPr txBox="1"/>
          <p:nvPr/>
        </p:nvSpPr>
        <p:spPr>
          <a:xfrm>
            <a:off x="581025" y="581025"/>
            <a:ext cx="5540692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000" u="none" cap="none" strike="noStrike">
                <a:solidFill>
                  <a:srgbClr val="0050A0"/>
                </a:solidFill>
                <a:latin typeface="Merriweather"/>
                <a:ea typeface="Merriweather"/>
                <a:cs typeface="Merriweather"/>
                <a:sym typeface="Merriweather"/>
              </a:rPr>
              <a:t>Entornos de Trabajo</a:t>
            </a:r>
            <a:endParaRPr/>
          </a:p>
        </p:txBody>
      </p:sp>
      <p:pic>
        <p:nvPicPr>
          <p:cNvPr descr="image.png" id="133" name="Google Shape;133;p1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334125" y="0"/>
            <a:ext cx="584835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34" name="Google Shape;134;p17"/>
          <p:cNvSpPr txBox="1"/>
          <p:nvPr/>
        </p:nvSpPr>
        <p:spPr>
          <a:xfrm>
            <a:off x="581025" y="1447800"/>
            <a:ext cx="5540700" cy="39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550" u="none" cap="none" strike="noStrike">
                <a:solidFill>
                  <a:srgbClr val="0050A0"/>
                </a:solidFill>
                <a:latin typeface="Merriweather"/>
                <a:ea typeface="Merriweather"/>
                <a:cs typeface="Merriweather"/>
                <a:sym typeface="Merriweather"/>
              </a:rPr>
              <a:t>Tus Herramientas</a:t>
            </a:r>
            <a:endParaRPr/>
          </a:p>
        </p:txBody>
      </p:sp>
      <p:sp>
        <p:nvSpPr>
          <p:cNvPr id="135" name="Google Shape;135;p17"/>
          <p:cNvSpPr txBox="1"/>
          <p:nvPr/>
        </p:nvSpPr>
        <p:spPr>
          <a:xfrm>
            <a:off x="581025" y="2043300"/>
            <a:ext cx="5277000" cy="23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33333"/>
                </a:solidFill>
                <a:latin typeface="DM Sans"/>
                <a:ea typeface="DM Sans"/>
                <a:cs typeface="DM Sans"/>
                <a:sym typeface="DM Sans"/>
              </a:rPr>
              <a:t>Escribir código Java requiere herramientas adecuadas:</a:t>
            </a:r>
            <a:endParaRPr/>
          </a:p>
        </p:txBody>
      </p:sp>
      <p:sp>
        <p:nvSpPr>
          <p:cNvPr id="136" name="Google Shape;136;p17"/>
          <p:cNvSpPr txBox="1"/>
          <p:nvPr/>
        </p:nvSpPr>
        <p:spPr>
          <a:xfrm>
            <a:off x="581025" y="5267325"/>
            <a:ext cx="5276850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33333"/>
                </a:solidFill>
                <a:latin typeface="DM Sans"/>
                <a:ea typeface="DM Sans"/>
                <a:cs typeface="DM Sans"/>
                <a:sym typeface="DM Sans"/>
              </a:rPr>
              <a:t>*Para VetCare, recomendamos establecer NetBeans como entorno principal desde el día 1.*</a:t>
            </a:r>
            <a:endParaRPr/>
          </a:p>
        </p:txBody>
      </p:sp>
      <p:sp>
        <p:nvSpPr>
          <p:cNvPr id="137" name="Google Shape;137;p17"/>
          <p:cNvSpPr txBox="1"/>
          <p:nvPr/>
        </p:nvSpPr>
        <p:spPr>
          <a:xfrm>
            <a:off x="895350" y="2556375"/>
            <a:ext cx="572700" cy="23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33333"/>
                </a:solidFill>
                <a:latin typeface="DM Sans"/>
                <a:ea typeface="DM Sans"/>
                <a:cs typeface="DM Sans"/>
                <a:sym typeface="DM Sans"/>
              </a:rPr>
              <a:t>•</a:t>
            </a:r>
            <a:endParaRPr/>
          </a:p>
        </p:txBody>
      </p:sp>
      <p:sp>
        <p:nvSpPr>
          <p:cNvPr id="138" name="Google Shape;138;p17"/>
          <p:cNvSpPr txBox="1"/>
          <p:nvPr/>
        </p:nvSpPr>
        <p:spPr>
          <a:xfrm>
            <a:off x="962025" y="2556375"/>
            <a:ext cx="4896000" cy="96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66675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333333"/>
                </a:solidFill>
                <a:latin typeface="DM Sans"/>
                <a:ea typeface="DM Sans"/>
                <a:cs typeface="DM Sans"/>
                <a:sym typeface="DM Sans"/>
              </a:rPr>
              <a:t>JDoodle / Replit:</a:t>
            </a:r>
            <a:r>
              <a:rPr b="0" i="0" lang="en-US" sz="1500" u="none" cap="none" strike="noStrike">
                <a:solidFill>
                  <a:srgbClr val="333333"/>
                </a:solidFill>
                <a:latin typeface="DM Sans"/>
                <a:ea typeface="DM Sans"/>
                <a:cs typeface="DM Sans"/>
                <a:sym typeface="DM Sans"/>
              </a:rPr>
              <a:t> Compiladores en la nube. Excelentes para pruebas rápidas y algoritmos lógicos en cualquier computadora sin instalar nada.</a:t>
            </a:r>
            <a:endParaRPr/>
          </a:p>
        </p:txBody>
      </p:sp>
      <p:sp>
        <p:nvSpPr>
          <p:cNvPr id="139" name="Google Shape;139;p17"/>
          <p:cNvSpPr txBox="1"/>
          <p:nvPr/>
        </p:nvSpPr>
        <p:spPr>
          <a:xfrm>
            <a:off x="895350" y="3752850"/>
            <a:ext cx="66675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33333"/>
                </a:solidFill>
                <a:latin typeface="DM Sans"/>
                <a:ea typeface="DM Sans"/>
                <a:cs typeface="DM Sans"/>
                <a:sym typeface="DM Sans"/>
              </a:rPr>
              <a:t>•</a:t>
            </a:r>
            <a:endParaRPr/>
          </a:p>
        </p:txBody>
      </p:sp>
      <p:sp>
        <p:nvSpPr>
          <p:cNvPr id="140" name="Google Shape;140;p17"/>
          <p:cNvSpPr txBox="1"/>
          <p:nvPr/>
        </p:nvSpPr>
        <p:spPr>
          <a:xfrm>
            <a:off x="962025" y="3752850"/>
            <a:ext cx="4895850" cy="121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66675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333333"/>
                </a:solidFill>
                <a:latin typeface="DM Sans"/>
                <a:ea typeface="DM Sans"/>
                <a:cs typeface="DM Sans"/>
                <a:sym typeface="DM Sans"/>
              </a:rPr>
              <a:t>Apache NetBeans / Eclipse:</a:t>
            </a:r>
            <a:r>
              <a:rPr b="0" i="0" lang="en-US" sz="1500" u="none" cap="none" strike="noStrike">
                <a:solidFill>
                  <a:srgbClr val="333333"/>
                </a:solidFill>
                <a:latin typeface="DM Sans"/>
                <a:ea typeface="DM Sans"/>
                <a:cs typeface="DM Sans"/>
                <a:sym typeface="DM Sans"/>
              </a:rPr>
              <a:t> IDEs Locales. Son obligatorios para el mundo profesional, ya que permiten construir Interfaces Gráficas (ventanas) y gestionar archivos.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18"/>
          <p:cNvSpPr txBox="1"/>
          <p:nvPr/>
        </p:nvSpPr>
        <p:spPr>
          <a:xfrm>
            <a:off x="305276" y="1980307"/>
            <a:ext cx="11581447" cy="962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6000" u="none" cap="none" strike="noStrike">
                <a:solidFill>
                  <a:srgbClr val="0050A0"/>
                </a:solidFill>
                <a:latin typeface="Merriweather"/>
                <a:ea typeface="Merriweather"/>
                <a:cs typeface="Merriweather"/>
                <a:sym typeface="Merriweather"/>
              </a:rPr>
              <a:t>¿Dudas Técnicas?</a:t>
            </a:r>
            <a:endParaRPr/>
          </a:p>
        </p:txBody>
      </p:sp>
      <p:sp>
        <p:nvSpPr>
          <p:cNvPr id="146" name="Google Shape;146;p18"/>
          <p:cNvSpPr/>
          <p:nvPr/>
        </p:nvSpPr>
        <p:spPr>
          <a:xfrm>
            <a:off x="5381625" y="3323332"/>
            <a:ext cx="1428750" cy="47625"/>
          </a:xfrm>
          <a:prstGeom prst="rect">
            <a:avLst/>
          </a:prstGeom>
          <a:solidFill>
            <a:srgbClr val="F5D42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7" name="Google Shape;147;p18"/>
          <p:cNvSpPr txBox="1"/>
          <p:nvPr/>
        </p:nvSpPr>
        <p:spPr>
          <a:xfrm>
            <a:off x="581025" y="3751957"/>
            <a:ext cx="11029950" cy="3961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950" u="none" cap="none" strike="noStrike">
                <a:solidFill>
                  <a:srgbClr val="333333"/>
                </a:solidFill>
                <a:latin typeface="DM Sans"/>
                <a:ea typeface="DM Sans"/>
                <a:cs typeface="DM Sans"/>
                <a:sym typeface="DM Sans"/>
              </a:rPr>
              <a:t>A continuación: </a:t>
            </a:r>
            <a:r>
              <a:rPr b="1" i="0" lang="en-US" sz="1950" u="none" cap="none" strike="noStrike">
                <a:solidFill>
                  <a:srgbClr val="333333"/>
                </a:solidFill>
                <a:latin typeface="DM Sans"/>
                <a:ea typeface="DM Sans"/>
                <a:cs typeface="DM Sans"/>
                <a:sym typeface="DM Sans"/>
              </a:rPr>
              <a:t>Taller Guiado</a:t>
            </a:r>
            <a:endParaRPr/>
          </a:p>
        </p:txBody>
      </p:sp>
      <p:sp>
        <p:nvSpPr>
          <p:cNvPr id="148" name="Google Shape;148;p18"/>
          <p:cNvSpPr txBox="1"/>
          <p:nvPr/>
        </p:nvSpPr>
        <p:spPr>
          <a:xfrm>
            <a:off x="581025" y="4338637"/>
            <a:ext cx="11029950" cy="3961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950" u="none" cap="none" strike="noStrike">
                <a:solidFill>
                  <a:srgbClr val="333333"/>
                </a:solidFill>
                <a:latin typeface="DM Sans"/>
                <a:ea typeface="DM Sans"/>
                <a:cs typeface="DM Sans"/>
                <a:sym typeface="DM Sans"/>
              </a:rPr>
              <a:t>Modelaremos el núcleo de VetCare: La clase base Mascota y su herencia.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