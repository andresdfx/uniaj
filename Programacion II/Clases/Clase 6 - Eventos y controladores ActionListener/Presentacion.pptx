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Hasta ahora los programas del sistema de la clinica corrian en linea recta: el main llamaba un metodo, ese metodo llamaba a otro y el programa terminaba. Una aplicacion con ventanas no funciona asi. Cuando usted hace setVisible(true), Swing arranca un hilo especial llamado EDT (Event Dispatch Thread) que se queda vivo esperando que el usuario haga algo: mover el mouse, escribir en un campo, oprimir un boton. Cada una de esas acciones se convierte en un objeto de evento que entra a una cola, y Swing va sacando esos eventos uno por uno y le avisa al objeto que previamente dijo 'a mi me interesa ese boton'. Eso es programacion dirigida por eventos: usted ya no decide cuando corre su codigo; usted lo deja escrito y registrado, y quien decide cuando se ejecuta es la recepcionista de la clinica el dia que oprima 'Registrar mascota'. Por eso el metodo que guarda la mascota nunca aparece llamado desde el main: aparece registrado, no llamado, y esa diferencia es la que hay que entender hoy.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ActionListener es una interfaz de java.awt.event que tiene un solo metodo: void actionPerformed(ActionEvent e). Implementarla es firmar un contrato que dice 'yo se reaccionar a una accion'. El registro se hace con btnRegistrar.addActionListener(objetoQueEscucha): desde esa linea el boton guarda una referencia a su objeto y, cuando lo oprimen, Swing invoca actionPerformed pasandole un ActionEvent con informacion del disparo (quien lo genero, en que instante, con que comando). Hay tres formas validas de escribirlo en Java y conviene mostrarlas todas: una clase aparte que implements ActionListener, una clase anonima escrita ahi mismo con new ActionListener() { ... }, o una expresion lambda e -&gt; registrar() si el proyecto esta en Java 8 o superior. Un detalle practico que confunde a medio salon: la lambda solo sirve si la interfaz tiene UN solo metodo abstracto, que es el caso de ActionListener. Con una de dos metodos no compila, y el mensaje del editor no lo dice con esas palabras y ahi adentro va su llamada.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Separar la logica de la interfaz significa que la ventana no conoce reglas de negocio y que las reglas no saben que existe una ventana. En el sistema de la clinica vamos a tener tres capas claras: el modelo (Mascota, Dueno, Cita), que solo guarda datos y comportamiento propio; el servicio o controlador (ControladorRegistro, RepositorioMascotas), donde viven las validaciones, la busqueda por ID y el ArrayList; y la vista (VentanaRegistroMascota), que unicamente pinta campos, lee texto y muestra mensajes. La prueba acida es esta pregunta: si mañana la clinica pide la misma funcionalidad en consola, o migramos a JavaFX, cuanto codigo hay que reescribir? Si la respuesta es 'solamente la ventana', el diseño esta bien. Si toca reescribir todo porque la conversion de la edad estaba adentro del boton, el diseño esta mal. Y hay una razon adicional que se vuelve evidente en la clase 8: a un ControladorRegistro se le pueden hacer pruebas automaticas; a un boton no se le puede.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Vale la pena desarmar en camara lenta lo que ocurre en un click de 'Registrar mascota'. Primero la vista lee texto crudo: txtId.getText(), txtNombre.getText(), txtEdad.getText(); todo lo que sale de un JTextField es String, incluida la edad. Segundo, ese texto viaja al controlador, que hace el trabajo sucio: recorta espacios con trim(), rechaza campos vacios, convierte la edad con Integer.parseInt dentro de un try-catch porque si la auxiliar escribio 'tres' salta NumberFormatException, y le pregunta al repositorio si ese ID ya existe. Tercero, si algo esta mal el controlador lanza una excepcion con un mensaje entendible para un humano ('La edad debe ser un numero entero'); si todo esta bien, construye el objeto Mascota y lo agrega al ArrayList. Cuarto, la vista atrapa esa excepcion y la convierte en un JOptionPane, o, si no hubo error, limpia los campos y refresca el area de listado. Ese ciclo leer-validar-delegar-refrescar es exactamente el mismo que vamos a repetir despues para agendar citas, para buscar expedientes y para guardar en archivo.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Dos detalles mas que le van a servir. El ActionEvent trae e.getSource(), que devuelve el componente que disparo el evento; eso permite que un mismo listener atienda varios botones y decida con un if (e.getSource() == btnBuscar). Es comodo, pero uselo con cabeza: si el metodo se llena de ifs, es mas limpio un listener por boton. Ademas de ActionListener existen otros escuchadores que ya vamos a necesitar en el sistema de la clinica: ItemListener para el JComboBox de especie, ListSelectionListener para cuando el usuario selecciona una fila del listado de mascotas, y WindowListener para preguntar 'desea guardar antes de salir' cuando lleguemos a persistencia. Y una advertencia de rendimiento: todo lo que usted escriba dentro de actionPerformed corre en el EDT, el mismo hilo que dibuja la ventana; si ahi mete una tarea larga, la interfaz se congela y el usuario cree que el programa se colgo. Para eso existe SwingWorker. Por ahora la regla es simple: listeners cortos que solo leen, delegan y muestran.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Visual Studio Code (Java)</a:t>
            </a:r>
          </a:p>
          <a:p/>
          <a:p>
            <a:r>
              <a:t>Demo: El docente oprime el boton de la ventana ya corriendo y muestra en vivo como la mascota pasa del formulario al ArrayList, incluyendo que pasa cuando la edad se escribe como texto.</a:t>
            </a:r>
          </a:p>
          <a:p/>
          <a:p>
            <a:r>
              <a:t>Mismo dominio de la clinica — no otro ejemplo.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6</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Eventos y controladores · ActionListener</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El boton que de verdad guarda</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Rounded Rectangle 4"/>
          <p:cNvSpPr/>
          <p:nvPr/>
        </p:nvSpPr>
        <p:spPr>
          <a:xfrm>
            <a:off x="5797149" y="1573813"/>
            <a:ext cx="6010497" cy="4057845"/>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otebook-planning-desk-coffee.jpg"/>
          <p:cNvPicPr>
            <a:picLocks noChangeAspect="1"/>
          </p:cNvPicPr>
          <p:nvPr/>
        </p:nvPicPr>
        <p:blipFill>
          <a:blip r:embed="rId2"/>
          <a:stretch>
            <a:fillRect/>
          </a:stretch>
        </p:blipFill>
        <p:spPr>
          <a:xfrm>
            <a:off x="5870301" y="1646965"/>
            <a:ext cx="5864193" cy="3911541"/>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Cup of  Couple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Eventos y controladores · ActionListener — El boton que de verdad guarda</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sobre el codigo de la demo</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Del programa en línea recta al evento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dt-event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edt-event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edt-event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Antes: main llama un método, ese llama a otro y el programa termina.</a:t>
            </a:r>
          </a:p>
          <a:p>
            <a:pPr>
              <a:spcAft>
                <a:spcPts val="800"/>
              </a:spcAft>
            </a:pPr>
            <a:r>
              <a:rPr sz="2000" b="0" i="0">
                <a:solidFill>
                  <a:srgbClr val="333333"/>
                </a:solidFill>
                <a:latin typeface="Calibri"/>
              </a:rPr>
              <a:t>–   Con setVisible(true) arranca el EDT, un hilo que espera acciones del usuario.</a:t>
            </a:r>
          </a:p>
          <a:p>
            <a:pPr>
              <a:spcAft>
                <a:spcPts val="800"/>
              </a:spcAft>
            </a:pPr>
            <a:r>
              <a:rPr sz="2000" b="0" i="0">
                <a:solidFill>
                  <a:srgbClr val="333333"/>
                </a:solidFill>
                <a:latin typeface="Calibri"/>
              </a:rPr>
              <a:t>–   Cada acción es un evento en cola; Swing avisa al objeto que se registró para ese botón.</a:t>
            </a:r>
          </a:p>
          <a:p>
            <a:pPr>
              <a:spcAft>
                <a:spcPts val="800"/>
              </a:spcAft>
            </a:pPr>
            <a:r>
              <a:rPr sz="2000" b="0" i="0">
                <a:solidFill>
                  <a:srgbClr val="333333"/>
                </a:solidFill>
                <a:latin typeface="Calibri"/>
              </a:rPr>
              <a:t>–   Su código no se llama desde main: queda registrado y lo dispara el usuario.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main(): la ventana arranca en el EDT</a:t>
            </a:r>
          </a:p>
        </p:txBody>
      </p:sp>
      <p:sp>
        <p:nvSpPr>
          <p:cNvPr id="5" name="Rounded Rectangle 4"/>
          <p:cNvSpPr/>
          <p:nvPr/>
        </p:nvSpPr>
        <p:spPr>
          <a:xfrm>
            <a:off x="457200" y="1261872"/>
            <a:ext cx="11277295" cy="35244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2930048"/>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a:p>
            <a:pPr algn="r">
              <a:spcAft>
                <a:spcPts val="428"/>
              </a:spcAft>
            </a:pPr>
            <a:r>
              <a:rPr sz="2000" i="0" b="0">
                <a:solidFill>
                  <a:srgbClr val="858585"/>
                </a:solidFill>
                <a:latin typeface="Consolas"/>
              </a:rPr>
              <a:t>7</a:t>
            </a:r>
          </a:p>
          <a:p>
            <a:pPr algn="r">
              <a:spcAft>
                <a:spcPts val="428"/>
              </a:spcAft>
            </a:pPr>
            <a:r>
              <a:rPr sz="2000" i="0" b="0">
                <a:solidFill>
                  <a:srgbClr val="858585"/>
                </a:solidFill>
                <a:latin typeface="Consolas"/>
              </a:rPr>
              <a:t>8</a:t>
            </a:r>
          </a:p>
        </p:txBody>
      </p:sp>
      <p:sp>
        <p:nvSpPr>
          <p:cNvPr id="12" name="TextBox 11"/>
          <p:cNvSpPr txBox="1"/>
          <p:nvPr/>
        </p:nvSpPr>
        <p:spPr>
          <a:xfrm>
            <a:off x="1188720" y="1719072"/>
            <a:ext cx="10271455" cy="2930048"/>
          </a:xfrm>
          <a:prstGeom prst="rect">
            <a:avLst/>
          </a:prstGeom>
          <a:noFill/>
        </p:spPr>
        <p:txBody>
          <a:bodyPr wrap="square">
            <a:spAutoFit/>
          </a:bodyPr>
          <a:lstStyle/>
          <a:p>
            <a:pPr>
              <a:spcAft>
                <a:spcPts val="428"/>
              </a:spcAft>
            </a:pPr>
            <a:r>
              <a:rPr sz="2000" i="0" b="0">
                <a:solidFill>
                  <a:srgbClr val="569CD6"/>
                </a:solidFill>
                <a:latin typeface="Consolas"/>
              </a:rPr>
              <a:t>public</a:t>
            </a:r>
            <a:r>
              <a:rPr sz="2000" i="0" b="0">
                <a:solidFill>
                  <a:srgbClr val="D4D4D4"/>
                </a:solidFill>
                <a:latin typeface="Consolas"/>
              </a:rPr>
              <a:t> </a:t>
            </a:r>
            <a:r>
              <a:rPr sz="2000" i="0" b="0">
                <a:solidFill>
                  <a:srgbClr val="569CD6"/>
                </a:solidFill>
                <a:latin typeface="Consolas"/>
              </a:rPr>
              <a:t>static</a:t>
            </a:r>
            <a:r>
              <a:rPr sz="2000" i="0" b="0">
                <a:solidFill>
                  <a:srgbClr val="D4D4D4"/>
                </a:solidFill>
                <a:latin typeface="Consolas"/>
              </a:rPr>
              <a:t> </a:t>
            </a:r>
            <a:r>
              <a:rPr sz="2000" i="0" b="0">
                <a:solidFill>
                  <a:srgbClr val="569CD6"/>
                </a:solidFill>
                <a:latin typeface="Consolas"/>
              </a:rPr>
              <a:t>void</a:t>
            </a:r>
            <a:r>
              <a:rPr sz="2000" i="0" b="0">
                <a:solidFill>
                  <a:srgbClr val="D4D4D4"/>
                </a:solidFill>
                <a:latin typeface="Consolas"/>
              </a:rPr>
              <a:t> </a:t>
            </a:r>
            <a:r>
              <a:rPr sz="2000" i="0" b="0">
                <a:solidFill>
                  <a:srgbClr val="DCDCAA"/>
                </a:solidFill>
                <a:latin typeface="Consolas"/>
              </a:rPr>
              <a:t>main</a:t>
            </a:r>
            <a:r>
              <a:rPr sz="2000" i="0" b="0">
                <a:solidFill>
                  <a:srgbClr val="D4D4D4"/>
                </a:solidFill>
                <a:latin typeface="Consolas"/>
              </a:rPr>
              <a:t>(</a:t>
            </a:r>
            <a:r>
              <a:rPr sz="2000" i="0" b="0">
                <a:solidFill>
                  <a:srgbClr val="4EC9B0"/>
                </a:solidFill>
                <a:latin typeface="Consolas"/>
              </a:rPr>
              <a:t>String</a:t>
            </a:r>
            <a:r>
              <a:rPr sz="2000" i="0" b="0">
                <a:solidFill>
                  <a:srgbClr val="D4D4D4"/>
                </a:solidFill>
                <a:latin typeface="Consolas"/>
              </a:rPr>
              <a:t>[] </a:t>
            </a:r>
            <a:r>
              <a:rPr sz="2000" i="0" b="0">
                <a:solidFill>
                  <a:srgbClr val="D4D4D4"/>
                </a:solidFill>
                <a:latin typeface="Consolas"/>
              </a:rPr>
              <a:t>args</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CDCAA"/>
                </a:solidFill>
                <a:latin typeface="Consolas"/>
              </a:rPr>
              <a:t>SwingUtilities.invokeLater</a:t>
            </a:r>
            <a:r>
              <a:rPr sz="2000" i="0" b="0">
                <a:solidFill>
                  <a:srgbClr val="D4D4D4"/>
                </a:solidFill>
                <a:latin typeface="Consolas"/>
              </a:rPr>
              <a:t>(</a:t>
            </a:r>
            <a:r>
              <a:rPr sz="2000" i="0" b="0">
                <a:solidFill>
                  <a:srgbClr val="569CD6"/>
                </a:solidFill>
                <a:latin typeface="Consolas"/>
              </a:rPr>
              <a:t>new</a:t>
            </a:r>
            <a:r>
              <a:rPr sz="2000" i="0" b="0">
                <a:solidFill>
                  <a:srgbClr val="D4D4D4"/>
                </a:solidFill>
                <a:latin typeface="Consolas"/>
              </a:rPr>
              <a:t> </a:t>
            </a:r>
            <a:r>
              <a:rPr sz="2000" i="0" b="0">
                <a:solidFill>
                  <a:srgbClr val="4EC9B0"/>
                </a:solidFill>
                <a:latin typeface="Consolas"/>
              </a:rPr>
              <a:t>Runnable</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4D4D4"/>
                </a:solidFill>
                <a:latin typeface="Consolas"/>
              </a:rPr>
              <a:t>Override</a:t>
            </a:r>
          </a:p>
          <a:p>
            <a:pPr>
              <a:spcAft>
                <a:spcPts val="428"/>
              </a:spcAft>
            </a:pPr>
            <a:r>
              <a:rPr sz="2000" i="0" b="0">
                <a:solidFill>
                  <a:srgbClr val="D4D4D4"/>
                </a:solidFill>
                <a:latin typeface="Consolas"/>
              </a:rPr>
              <a:t>        </a:t>
            </a:r>
            <a:r>
              <a:rPr sz="2000" i="0" b="0">
                <a:solidFill>
                  <a:srgbClr val="569CD6"/>
                </a:solidFill>
                <a:latin typeface="Consolas"/>
              </a:rPr>
              <a:t>public</a:t>
            </a:r>
            <a:r>
              <a:rPr sz="2000" i="0" b="0">
                <a:solidFill>
                  <a:srgbClr val="D4D4D4"/>
                </a:solidFill>
                <a:latin typeface="Consolas"/>
              </a:rPr>
              <a:t> </a:t>
            </a:r>
            <a:r>
              <a:rPr sz="2000" i="0" b="0">
                <a:solidFill>
                  <a:srgbClr val="569CD6"/>
                </a:solidFill>
                <a:latin typeface="Consolas"/>
              </a:rPr>
              <a:t>void</a:t>
            </a:r>
            <a:r>
              <a:rPr sz="2000" i="0" b="0">
                <a:solidFill>
                  <a:srgbClr val="D4D4D4"/>
                </a:solidFill>
                <a:latin typeface="Consolas"/>
              </a:rPr>
              <a:t> </a:t>
            </a:r>
            <a:r>
              <a:rPr sz="2000" i="0" b="0">
                <a:solidFill>
                  <a:srgbClr val="DCDCAA"/>
                </a:solidFill>
                <a:latin typeface="Consolas"/>
              </a:rPr>
              <a:t>run</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569CD6"/>
                </a:solidFill>
                <a:latin typeface="Consolas"/>
              </a:rPr>
              <a:t>new</a:t>
            </a:r>
            <a:r>
              <a:rPr sz="2000" i="0" b="0">
                <a:solidFill>
                  <a:srgbClr val="D4D4D4"/>
                </a:solidFill>
                <a:latin typeface="Consolas"/>
              </a:rPr>
              <a:t> </a:t>
            </a:r>
            <a:r>
              <a:rPr sz="2000" i="0" b="0">
                <a:solidFill>
                  <a:srgbClr val="4EC9B0"/>
                </a:solidFill>
                <a:latin typeface="Consolas"/>
              </a:rPr>
              <a:t>VentanaRegistroMascota</a:t>
            </a:r>
            <a:r>
              <a:rPr sz="2000" i="0" b="0">
                <a:solidFill>
                  <a:srgbClr val="D4D4D4"/>
                </a:solidFill>
                <a:latin typeface="Consolas"/>
              </a:rPr>
              <a:t>().</a:t>
            </a:r>
            <a:r>
              <a:rPr sz="2000" i="0" b="0">
                <a:solidFill>
                  <a:srgbClr val="DCDCAA"/>
                </a:solidFill>
                <a:latin typeface="Consolas"/>
              </a:rPr>
              <a:t>setVisible</a:t>
            </a:r>
            <a:r>
              <a:rPr sz="2000" i="0" b="0">
                <a:solidFill>
                  <a:srgbClr val="D4D4D4"/>
                </a:solidFill>
                <a:latin typeface="Consolas"/>
              </a:rPr>
              <a:t>(</a:t>
            </a:r>
            <a:r>
              <a:rPr sz="2000" i="0" b="0">
                <a:solidFill>
                  <a:srgbClr val="569CD6"/>
                </a:solidFill>
                <a:latin typeface="Consolas"/>
              </a:rPr>
              <a:t>true</a:t>
            </a:r>
            <a:r>
              <a:rPr sz="2000" i="0" b="0">
                <a:solidFill>
                  <a:srgbClr val="D4D4D4"/>
                </a:solidFill>
                <a:latin typeface="Consolas"/>
              </a:rPr>
              <a:t>);</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ClinicaEventosDemo.java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ActionListener: el contrato del clic</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ener-registr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listener-registr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listener-registr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Interfaz de java.awt.event con un solo método: actionPerformed(ActionEvent e).</a:t>
            </a:r>
          </a:p>
          <a:p>
            <a:pPr>
              <a:spcAft>
                <a:spcPts val="800"/>
              </a:spcAft>
            </a:pPr>
            <a:r>
              <a:rPr sz="2000" b="0" i="0">
                <a:solidFill>
                  <a:srgbClr val="333333"/>
                </a:solidFill>
                <a:latin typeface="Calibri"/>
              </a:rPr>
              <a:t>–   btn.addActionListener(escucha) registra; al oprimir, Swing invoca actionPerformed.</a:t>
            </a:r>
          </a:p>
          <a:p>
            <a:pPr>
              <a:spcAft>
                <a:spcPts val="800"/>
              </a:spcAft>
            </a:pPr>
            <a:r>
              <a:rPr sz="2000" b="0" i="0">
                <a:solidFill>
                  <a:srgbClr val="333333"/>
                </a:solidFill>
                <a:latin typeface="Calibri"/>
              </a:rPr>
              <a:t>–   Tres formas: clase que implementa la interfaz, clase anónima o lambda e -&gt; registrar().</a:t>
            </a:r>
          </a:p>
          <a:p>
            <a:pPr>
              <a:spcAft>
                <a:spcPts val="800"/>
              </a:spcAft>
            </a:pPr>
            <a:r>
              <a:rPr sz="2000" b="0" i="0">
                <a:solidFill>
                  <a:srgbClr val="333333"/>
                </a:solidFill>
                <a:latin typeface="Calibri"/>
              </a:rPr>
              <a:t>–   La lambda solo sirve con interfaces de un único método abstracto, como esta.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formulario: GridLayout de 5 × 2</a:t>
            </a:r>
          </a:p>
        </p:txBody>
      </p:sp>
      <p:sp>
        <p:nvSpPr>
          <p:cNvPr id="5" name="Rounded Rectangle 4"/>
          <p:cNvSpPr/>
          <p:nvPr/>
        </p:nvSpPr>
        <p:spPr>
          <a:xfrm>
            <a:off x="457200" y="1261872"/>
            <a:ext cx="11277295" cy="479879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4204439"/>
          </a:xfrm>
          <a:prstGeom prst="rect">
            <a:avLst/>
          </a:prstGeom>
          <a:noFill/>
        </p:spPr>
        <p:txBody>
          <a:bodyPr wrap="square">
            <a:spAutoFit/>
          </a:bodyPr>
          <a:lstStyle/>
          <a:p>
            <a:pPr algn="r">
              <a:spcAft>
                <a:spcPts val="321"/>
              </a:spcAft>
            </a:pPr>
            <a:r>
              <a:rPr sz="1500" i="0" b="0">
                <a:solidFill>
                  <a:srgbClr val="858585"/>
                </a:solidFill>
                <a:latin typeface="Consolas"/>
              </a:rPr>
              <a:t>1</a:t>
            </a:r>
          </a:p>
          <a:p>
            <a:pPr algn="r">
              <a:spcAft>
                <a:spcPts val="321"/>
              </a:spcAft>
            </a:pPr>
            <a:r>
              <a:rPr sz="1500" i="0" b="0">
                <a:solidFill>
                  <a:srgbClr val="858585"/>
                </a:solidFill>
                <a:latin typeface="Consolas"/>
              </a:rPr>
              <a:t>2</a:t>
            </a:r>
          </a:p>
          <a:p>
            <a:pPr algn="r">
              <a:spcAft>
                <a:spcPts val="321"/>
              </a:spcAft>
            </a:pPr>
            <a:r>
              <a:rPr sz="1500" i="0" b="0">
                <a:solidFill>
                  <a:srgbClr val="858585"/>
                </a:solidFill>
                <a:latin typeface="Consolas"/>
              </a:rPr>
              <a:t>3</a:t>
            </a:r>
          </a:p>
          <a:p>
            <a:pPr algn="r">
              <a:spcAft>
                <a:spcPts val="321"/>
              </a:spcAft>
            </a:pPr>
            <a:r>
              <a:rPr sz="1500" i="0" b="0">
                <a:solidFill>
                  <a:srgbClr val="858585"/>
                </a:solidFill>
                <a:latin typeface="Consolas"/>
              </a:rPr>
              <a:t>4</a:t>
            </a:r>
          </a:p>
          <a:p>
            <a:pPr algn="r">
              <a:spcAft>
                <a:spcPts val="321"/>
              </a:spcAft>
            </a:pPr>
            <a:r>
              <a:rPr sz="1500" i="0" b="0">
                <a:solidFill>
                  <a:srgbClr val="858585"/>
                </a:solidFill>
                <a:latin typeface="Consolas"/>
              </a:rPr>
              <a:t>5</a:t>
            </a:r>
          </a:p>
          <a:p>
            <a:pPr algn="r">
              <a:spcAft>
                <a:spcPts val="321"/>
              </a:spcAft>
            </a:pPr>
            <a:r>
              <a:rPr sz="1500" i="0" b="0">
                <a:solidFill>
                  <a:srgbClr val="858585"/>
                </a:solidFill>
                <a:latin typeface="Consolas"/>
              </a:rPr>
              <a:t>6</a:t>
            </a:r>
          </a:p>
          <a:p>
            <a:pPr algn="r">
              <a:spcAft>
                <a:spcPts val="321"/>
              </a:spcAft>
            </a:pPr>
            <a:r>
              <a:rPr sz="1500" i="0" b="0">
                <a:solidFill>
                  <a:srgbClr val="858585"/>
                </a:solidFill>
                <a:latin typeface="Consolas"/>
              </a:rPr>
              <a:t>7</a:t>
            </a:r>
          </a:p>
          <a:p>
            <a:pPr algn="r">
              <a:spcAft>
                <a:spcPts val="321"/>
              </a:spcAft>
            </a:pPr>
            <a:r>
              <a:rPr sz="1500" i="0" b="0">
                <a:solidFill>
                  <a:srgbClr val="858585"/>
                </a:solidFill>
                <a:latin typeface="Consolas"/>
              </a:rPr>
              <a:t>8</a:t>
            </a:r>
          </a:p>
          <a:p>
            <a:pPr algn="r">
              <a:spcAft>
                <a:spcPts val="321"/>
              </a:spcAft>
            </a:pPr>
            <a:r>
              <a:rPr sz="1500" i="0" b="0">
                <a:solidFill>
                  <a:srgbClr val="858585"/>
                </a:solidFill>
                <a:latin typeface="Consolas"/>
              </a:rPr>
              <a:t>9</a:t>
            </a:r>
          </a:p>
          <a:p>
            <a:pPr algn="r">
              <a:spcAft>
                <a:spcPts val="321"/>
              </a:spcAft>
            </a:pPr>
            <a:r>
              <a:rPr sz="1500" i="0" b="0">
                <a:solidFill>
                  <a:srgbClr val="858585"/>
                </a:solidFill>
                <a:latin typeface="Consolas"/>
              </a:rPr>
              <a:t>10</a:t>
            </a:r>
          </a:p>
          <a:p>
            <a:pPr algn="r">
              <a:spcAft>
                <a:spcPts val="321"/>
              </a:spcAft>
            </a:pPr>
            <a:r>
              <a:rPr sz="1500" i="0" b="0">
                <a:solidFill>
                  <a:srgbClr val="858585"/>
                </a:solidFill>
                <a:latin typeface="Consolas"/>
              </a:rPr>
              <a:t>11</a:t>
            </a:r>
          </a:p>
          <a:p>
            <a:pPr algn="r">
              <a:spcAft>
                <a:spcPts val="321"/>
              </a:spcAft>
            </a:pPr>
            <a:r>
              <a:rPr sz="1500" i="0" b="0">
                <a:solidFill>
                  <a:srgbClr val="858585"/>
                </a:solidFill>
                <a:latin typeface="Consolas"/>
              </a:rPr>
              <a:t>12</a:t>
            </a:r>
          </a:p>
          <a:p>
            <a:pPr algn="r">
              <a:spcAft>
                <a:spcPts val="321"/>
              </a:spcAft>
            </a:pPr>
            <a:r>
              <a:rPr sz="1500" i="0" b="0">
                <a:solidFill>
                  <a:srgbClr val="858585"/>
                </a:solidFill>
                <a:latin typeface="Consolas"/>
              </a:rPr>
              <a:t>13</a:t>
            </a:r>
          </a:p>
          <a:p>
            <a:pPr algn="r">
              <a:spcAft>
                <a:spcPts val="321"/>
              </a:spcAft>
            </a:pPr>
            <a:r>
              <a:rPr sz="1500" i="0" b="0">
                <a:solidFill>
                  <a:srgbClr val="858585"/>
                </a:solidFill>
                <a:latin typeface="Consolas"/>
              </a:rPr>
              <a:t>14</a:t>
            </a:r>
          </a:p>
          <a:p>
            <a:pPr algn="r">
              <a:spcAft>
                <a:spcPts val="321"/>
              </a:spcAft>
            </a:pPr>
            <a:r>
              <a:rPr sz="1500" i="0" b="0">
                <a:solidFill>
                  <a:srgbClr val="858585"/>
                </a:solidFill>
                <a:latin typeface="Consolas"/>
              </a:rPr>
              <a:t>15</a:t>
            </a:r>
          </a:p>
        </p:txBody>
      </p:sp>
      <p:sp>
        <p:nvSpPr>
          <p:cNvPr id="12" name="TextBox 11"/>
          <p:cNvSpPr txBox="1"/>
          <p:nvPr/>
        </p:nvSpPr>
        <p:spPr>
          <a:xfrm>
            <a:off x="1188720" y="1719072"/>
            <a:ext cx="10271455" cy="4204439"/>
          </a:xfrm>
          <a:prstGeom prst="rect">
            <a:avLst/>
          </a:prstGeom>
          <a:noFill/>
        </p:spPr>
        <p:txBody>
          <a:bodyPr wrap="square">
            <a:spAutoFit/>
          </a:bodyPr>
          <a:lstStyle/>
          <a:p>
            <a:pPr>
              <a:spcAft>
                <a:spcPts val="321"/>
              </a:spcAft>
            </a:pPr>
            <a:r>
              <a:rPr sz="1500" i="0" b="0">
                <a:solidFill>
                  <a:srgbClr val="D4D4D4"/>
                </a:solidFill>
                <a:latin typeface="Consolas"/>
              </a:rPr>
              <a:t>JPanel</a:t>
            </a:r>
            <a:r>
              <a:rPr sz="1500" i="0" b="0">
                <a:solidFill>
                  <a:srgbClr val="D4D4D4"/>
                </a:solidFill>
                <a:latin typeface="Consolas"/>
              </a:rPr>
              <a:t> </a:t>
            </a:r>
            <a:r>
              <a:rPr sz="1500" i="0" b="0">
                <a:solidFill>
                  <a:srgbClr val="D4D4D4"/>
                </a:solidFill>
                <a:latin typeface="Consolas"/>
              </a:rPr>
              <a:t>formulario</a:t>
            </a:r>
            <a:r>
              <a:rPr sz="1500" i="0" b="0">
                <a:solidFill>
                  <a:srgbClr val="D4D4D4"/>
                </a:solidFill>
                <a:latin typeface="Consolas"/>
              </a:rPr>
              <a:t> = </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JPanel</a:t>
            </a:r>
            <a:r>
              <a:rPr sz="1500" i="0" b="0">
                <a:solidFill>
                  <a:srgbClr val="D4D4D4"/>
                </a:solidFill>
                <a:latin typeface="Consolas"/>
              </a:rPr>
              <a:t>(</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GridLayout</a:t>
            </a:r>
            <a:r>
              <a:rPr sz="1500" i="0" b="0">
                <a:solidFill>
                  <a:srgbClr val="D4D4D4"/>
                </a:solidFill>
                <a:latin typeface="Consolas"/>
              </a:rPr>
              <a:t>(</a:t>
            </a:r>
            <a:r>
              <a:rPr sz="1500" i="0" b="0">
                <a:solidFill>
                  <a:srgbClr val="B5CEA8"/>
                </a:solidFill>
                <a:latin typeface="Consolas"/>
              </a:rPr>
              <a:t>5</a:t>
            </a:r>
            <a:r>
              <a:rPr sz="1500" i="0" b="0">
                <a:solidFill>
                  <a:srgbClr val="D4D4D4"/>
                </a:solidFill>
                <a:latin typeface="Consolas"/>
              </a:rPr>
              <a:t>, </a:t>
            </a:r>
            <a:r>
              <a:rPr sz="1500" i="0" b="0">
                <a:solidFill>
                  <a:srgbClr val="B5CEA8"/>
                </a:solidFill>
                <a:latin typeface="Consolas"/>
              </a:rPr>
              <a:t>2</a:t>
            </a:r>
            <a:r>
              <a:rPr sz="1500" i="0" b="0">
                <a:solidFill>
                  <a:srgbClr val="D4D4D4"/>
                </a:solidFill>
                <a:latin typeface="Consolas"/>
              </a:rPr>
              <a:t>, </a:t>
            </a:r>
            <a:r>
              <a:rPr sz="1500" i="0" b="0">
                <a:solidFill>
                  <a:srgbClr val="B5CEA8"/>
                </a:solidFill>
                <a:latin typeface="Consolas"/>
              </a:rPr>
              <a:t>6</a:t>
            </a:r>
            <a:r>
              <a:rPr sz="1500" i="0" b="0">
                <a:solidFill>
                  <a:srgbClr val="D4D4D4"/>
                </a:solidFill>
                <a:latin typeface="Consolas"/>
              </a:rPr>
              <a:t>, </a:t>
            </a:r>
            <a:r>
              <a:rPr sz="1500" i="0" b="0">
                <a:solidFill>
                  <a:srgbClr val="B5CEA8"/>
                </a:solidFill>
                <a:latin typeface="Consolas"/>
              </a:rPr>
              <a:t>6</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JLabel</a:t>
            </a:r>
            <a:r>
              <a:rPr sz="1500" i="0" b="0">
                <a:solidFill>
                  <a:srgbClr val="D4D4D4"/>
                </a:solidFill>
                <a:latin typeface="Consolas"/>
              </a:rPr>
              <a:t>(</a:t>
            </a:r>
            <a:r>
              <a:rPr sz="1500" i="0" b="0">
                <a:solidFill>
                  <a:srgbClr val="CE9178"/>
                </a:solidFill>
                <a:latin typeface="Consolas"/>
              </a:rPr>
              <a:t>"ID (ej. M-001):"</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D4D4D4"/>
                </a:solidFill>
                <a:latin typeface="Consolas"/>
              </a:rPr>
              <a:t>txtId</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JLabel</a:t>
            </a:r>
            <a:r>
              <a:rPr sz="1500" i="0" b="0">
                <a:solidFill>
                  <a:srgbClr val="D4D4D4"/>
                </a:solidFill>
                <a:latin typeface="Consolas"/>
              </a:rPr>
              <a:t>(</a:t>
            </a:r>
            <a:r>
              <a:rPr sz="1500" i="0" b="0">
                <a:solidFill>
                  <a:srgbClr val="CE9178"/>
                </a:solidFill>
                <a:latin typeface="Consolas"/>
              </a:rPr>
              <a:t>"Nombre:"</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D4D4D4"/>
                </a:solidFill>
                <a:latin typeface="Consolas"/>
              </a:rPr>
              <a:t>txtNombre</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JLabel</a:t>
            </a:r>
            <a:r>
              <a:rPr sz="1500" i="0" b="0">
                <a:solidFill>
                  <a:srgbClr val="D4D4D4"/>
                </a:solidFill>
                <a:latin typeface="Consolas"/>
              </a:rPr>
              <a:t>(</a:t>
            </a:r>
            <a:r>
              <a:rPr sz="1500" i="0" b="0">
                <a:solidFill>
                  <a:srgbClr val="CE9178"/>
                </a:solidFill>
                <a:latin typeface="Consolas"/>
              </a:rPr>
              <a:t>"Especie:"</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D4D4D4"/>
                </a:solidFill>
                <a:latin typeface="Consolas"/>
              </a:rPr>
              <a:t>txtEspecie</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JLabel</a:t>
            </a:r>
            <a:r>
              <a:rPr sz="1500" i="0" b="0">
                <a:solidFill>
                  <a:srgbClr val="D4D4D4"/>
                </a:solidFill>
                <a:latin typeface="Consolas"/>
              </a:rPr>
              <a:t>(</a:t>
            </a:r>
            <a:r>
              <a:rPr sz="1500" i="0" b="0">
                <a:solidFill>
                  <a:srgbClr val="CE9178"/>
                </a:solidFill>
                <a:latin typeface="Consolas"/>
              </a:rPr>
              <a:t>"Edad (anios):"</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D4D4D4"/>
                </a:solidFill>
                <a:latin typeface="Consolas"/>
              </a:rPr>
              <a:t>txtEdad</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JLabel</a:t>
            </a:r>
            <a:r>
              <a:rPr sz="1500" i="0" b="0">
                <a:solidFill>
                  <a:srgbClr val="D4D4D4"/>
                </a:solidFill>
                <a:latin typeface="Consolas"/>
              </a:rPr>
              <a:t>(</a:t>
            </a:r>
            <a:r>
              <a:rPr sz="1500" i="0" b="0">
                <a:solidFill>
                  <a:srgbClr val="CE9178"/>
                </a:solidFill>
                <a:latin typeface="Consolas"/>
              </a:rPr>
              <a:t>""</a:t>
            </a:r>
            <a:r>
              <a:rPr sz="1500" i="0" b="0">
                <a:solidFill>
                  <a:srgbClr val="D4D4D4"/>
                </a:solidFill>
                <a:latin typeface="Consolas"/>
              </a:rPr>
              <a:t>));</a:t>
            </a:r>
          </a:p>
          <a:p>
            <a:pPr>
              <a:spcAft>
                <a:spcPts val="321"/>
              </a:spcAft>
            </a:pPr>
            <a:r>
              <a:rPr sz="1500" i="0" b="0">
                <a:solidFill>
                  <a:srgbClr val="DCDCAA"/>
                </a:solidFill>
                <a:latin typeface="Consolas"/>
              </a:rPr>
              <a:t>formulario.add</a:t>
            </a:r>
            <a:r>
              <a:rPr sz="1500" i="0" b="0">
                <a:solidFill>
                  <a:srgbClr val="D4D4D4"/>
                </a:solidFill>
                <a:latin typeface="Consolas"/>
              </a:rPr>
              <a:t>(</a:t>
            </a:r>
            <a:r>
              <a:rPr sz="1500" i="0" b="0">
                <a:solidFill>
                  <a:srgbClr val="D4D4D4"/>
                </a:solidFill>
                <a:latin typeface="Consolas"/>
              </a:rPr>
              <a:t>btnRegistrar</a:t>
            </a:r>
            <a:r>
              <a:rPr sz="1500" i="0" b="0">
                <a:solidFill>
                  <a:srgbClr val="D4D4D4"/>
                </a:solidFill>
                <a:latin typeface="Consolas"/>
              </a:rPr>
              <a:t>);</a:t>
            </a:r>
          </a:p>
          <a:p>
            <a:pPr>
              <a:spcAft>
                <a:spcPts val="321"/>
              </a:spcAft>
            </a:pPr>
            <a:r>
              <a:rPr sz="1500" i="0" b="0">
                <a:solidFill>
                  <a:srgbClr val="D4D4D4"/>
                </a:solidFill>
                <a:latin typeface="Consolas"/>
              </a:rPr>
              <a:t/>
            </a:r>
          </a:p>
          <a:p>
            <a:pPr>
              <a:spcAft>
                <a:spcPts val="321"/>
              </a:spcAft>
            </a:pPr>
            <a:r>
              <a:rPr sz="1500" i="0" b="0">
                <a:solidFill>
                  <a:srgbClr val="DCDCAA"/>
                </a:solidFill>
                <a:latin typeface="Consolas"/>
              </a:rPr>
              <a:t>areaListado.setEditable</a:t>
            </a:r>
            <a:r>
              <a:rPr sz="1500" i="0" b="0">
                <a:solidFill>
                  <a:srgbClr val="D4D4D4"/>
                </a:solidFill>
                <a:latin typeface="Consolas"/>
              </a:rPr>
              <a:t>(</a:t>
            </a:r>
            <a:r>
              <a:rPr sz="1500" i="0" b="0">
                <a:solidFill>
                  <a:srgbClr val="569CD6"/>
                </a:solidFill>
                <a:latin typeface="Consolas"/>
              </a:rPr>
              <a:t>false</a:t>
            </a:r>
            <a:r>
              <a:rPr sz="1500" i="0" b="0">
                <a:solidFill>
                  <a:srgbClr val="D4D4D4"/>
                </a:solidFill>
                <a:latin typeface="Consolas"/>
              </a:rPr>
              <a:t>);</a:t>
            </a:r>
          </a:p>
          <a:p>
            <a:pPr>
              <a:spcAft>
                <a:spcPts val="321"/>
              </a:spcAft>
            </a:pPr>
            <a:r>
              <a:rPr sz="1500" i="0" b="0">
                <a:solidFill>
                  <a:srgbClr val="DCDCAA"/>
                </a:solidFill>
                <a:latin typeface="Consolas"/>
              </a:rPr>
              <a:t>add</a:t>
            </a:r>
            <a:r>
              <a:rPr sz="1500" i="0" b="0">
                <a:solidFill>
                  <a:srgbClr val="D4D4D4"/>
                </a:solidFill>
                <a:latin typeface="Consolas"/>
              </a:rPr>
              <a:t>(</a:t>
            </a:r>
            <a:r>
              <a:rPr sz="1500" i="0" b="0">
                <a:solidFill>
                  <a:srgbClr val="D4D4D4"/>
                </a:solidFill>
                <a:latin typeface="Consolas"/>
              </a:rPr>
              <a:t>formulario</a:t>
            </a:r>
            <a:r>
              <a:rPr sz="1500" i="0" b="0">
                <a:solidFill>
                  <a:srgbClr val="D4D4D4"/>
                </a:solidFill>
                <a:latin typeface="Consolas"/>
              </a:rPr>
              <a:t>, </a:t>
            </a:r>
            <a:r>
              <a:rPr sz="1500" i="0" b="0">
                <a:solidFill>
                  <a:srgbClr val="D4D4D4"/>
                </a:solidFill>
                <a:latin typeface="Consolas"/>
              </a:rPr>
              <a:t>BorderLayout</a:t>
            </a:r>
            <a:r>
              <a:rPr sz="1500" i="0" b="0">
                <a:solidFill>
                  <a:srgbClr val="D4D4D4"/>
                </a:solidFill>
                <a:latin typeface="Consolas"/>
              </a:rPr>
              <a:t>.</a:t>
            </a:r>
            <a:r>
              <a:rPr sz="1500" i="0" b="0">
                <a:solidFill>
                  <a:srgbClr val="D4D4D4"/>
                </a:solidFill>
                <a:latin typeface="Consolas"/>
              </a:rPr>
              <a:t>NORTH</a:t>
            </a:r>
            <a:r>
              <a:rPr sz="1500" i="0" b="0">
                <a:solidFill>
                  <a:srgbClr val="D4D4D4"/>
                </a:solidFill>
                <a:latin typeface="Consolas"/>
              </a:rPr>
              <a:t>);</a:t>
            </a:r>
          </a:p>
          <a:p>
            <a:pPr>
              <a:spcAft>
                <a:spcPts val="321"/>
              </a:spcAft>
            </a:pPr>
            <a:r>
              <a:rPr sz="1500" i="0" b="0">
                <a:solidFill>
                  <a:srgbClr val="DCDCAA"/>
                </a:solidFill>
                <a:latin typeface="Consolas"/>
              </a:rPr>
              <a:t>add</a:t>
            </a:r>
            <a:r>
              <a:rPr sz="1500" i="0" b="0">
                <a:solidFill>
                  <a:srgbClr val="D4D4D4"/>
                </a:solidFill>
                <a:latin typeface="Consolas"/>
              </a:rPr>
              <a:t>(</a:t>
            </a:r>
            <a:r>
              <a:rPr sz="1500" i="0" b="0">
                <a:solidFill>
                  <a:srgbClr val="569CD6"/>
                </a:solidFill>
                <a:latin typeface="Consolas"/>
              </a:rPr>
              <a:t>new</a:t>
            </a:r>
            <a:r>
              <a:rPr sz="1500" i="0" b="0">
                <a:solidFill>
                  <a:srgbClr val="D4D4D4"/>
                </a:solidFill>
                <a:latin typeface="Consolas"/>
              </a:rPr>
              <a:t> </a:t>
            </a:r>
            <a:r>
              <a:rPr sz="1500" i="0" b="0">
                <a:solidFill>
                  <a:srgbClr val="4EC9B0"/>
                </a:solidFill>
                <a:latin typeface="Consolas"/>
              </a:rPr>
              <a:t>JScrollPane</a:t>
            </a:r>
            <a:r>
              <a:rPr sz="1500" i="0" b="0">
                <a:solidFill>
                  <a:srgbClr val="D4D4D4"/>
                </a:solidFill>
                <a:latin typeface="Consolas"/>
              </a:rPr>
              <a:t>(</a:t>
            </a:r>
            <a:r>
              <a:rPr sz="1500" i="0" b="0">
                <a:solidFill>
                  <a:srgbClr val="D4D4D4"/>
                </a:solidFill>
                <a:latin typeface="Consolas"/>
              </a:rPr>
              <a:t>areaListado</a:t>
            </a:r>
            <a:r>
              <a:rPr sz="1500" i="0" b="0">
                <a:solidFill>
                  <a:srgbClr val="D4D4D4"/>
                </a:solidFill>
                <a:latin typeface="Consolas"/>
              </a:rPr>
              <a:t>), </a:t>
            </a:r>
            <a:r>
              <a:rPr sz="1500" i="0" b="0">
                <a:solidFill>
                  <a:srgbClr val="D4D4D4"/>
                </a:solidFill>
                <a:latin typeface="Consolas"/>
              </a:rPr>
              <a:t>BorderLayout</a:t>
            </a:r>
            <a:r>
              <a:rPr sz="1500" i="0" b="0">
                <a:solidFill>
                  <a:srgbClr val="D4D4D4"/>
                </a:solidFill>
                <a:latin typeface="Consolas"/>
              </a:rPr>
              <a:t>.</a:t>
            </a:r>
            <a:r>
              <a:rPr sz="1500" i="0" b="0">
                <a:solidFill>
                  <a:srgbClr val="D4D4D4"/>
                </a:solidFill>
                <a:latin typeface="Consolas"/>
              </a:rPr>
              <a:t>CENTER</a:t>
            </a:r>
            <a:r>
              <a:rPr sz="15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ClinicaEventosDemo.java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addActionListener: el botón guarda a quien lo escucha</a:t>
            </a:r>
          </a:p>
        </p:txBody>
      </p:sp>
      <p:sp>
        <p:nvSpPr>
          <p:cNvPr id="5" name="Rounded Rectangle 4"/>
          <p:cNvSpPr/>
          <p:nvPr/>
        </p:nvSpPr>
        <p:spPr>
          <a:xfrm>
            <a:off x="457200" y="1261872"/>
            <a:ext cx="11277295" cy="2828091"/>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2233731"/>
          </a:xfrm>
          <a:prstGeom prst="rect">
            <a:avLst/>
          </a:prstGeom>
          <a:noFill/>
        </p:spPr>
        <p:txBody>
          <a:bodyPr wrap="square">
            <a:spAutoFit/>
          </a:bodyPr>
          <a:lstStyle/>
          <a:p>
            <a:pPr algn="r">
              <a:spcAft>
                <a:spcPts val="428"/>
              </a:spcAft>
            </a:pPr>
            <a:r>
              <a:rPr sz="2000" i="0" b="0">
                <a:solidFill>
                  <a:srgbClr val="858585"/>
                </a:solidFill>
                <a:latin typeface="Consolas"/>
              </a:rPr>
              <a:t>1</a:t>
            </a:r>
          </a:p>
          <a:p>
            <a:pPr algn="r">
              <a:spcAft>
                <a:spcPts val="428"/>
              </a:spcAft>
            </a:pPr>
            <a:r>
              <a:rPr sz="2000" i="0" b="0">
                <a:solidFill>
                  <a:srgbClr val="858585"/>
                </a:solidFill>
                <a:latin typeface="Consolas"/>
              </a:rPr>
              <a:t>2</a:t>
            </a:r>
          </a:p>
          <a:p>
            <a:pPr algn="r">
              <a:spcAft>
                <a:spcPts val="428"/>
              </a:spcAft>
            </a:pPr>
            <a:r>
              <a:rPr sz="2000" i="0" b="0">
                <a:solidFill>
                  <a:srgbClr val="858585"/>
                </a:solidFill>
                <a:latin typeface="Consolas"/>
              </a:rPr>
              <a:t>3</a:t>
            </a:r>
          </a:p>
          <a:p>
            <a:pPr algn="r">
              <a:spcAft>
                <a:spcPts val="428"/>
              </a:spcAft>
            </a:pPr>
            <a:r>
              <a:rPr sz="2000" i="0" b="0">
                <a:solidFill>
                  <a:srgbClr val="858585"/>
                </a:solidFill>
                <a:latin typeface="Consolas"/>
              </a:rPr>
              <a:t>4</a:t>
            </a:r>
          </a:p>
          <a:p>
            <a:pPr algn="r">
              <a:spcAft>
                <a:spcPts val="428"/>
              </a:spcAft>
            </a:pPr>
            <a:r>
              <a:rPr sz="2000" i="0" b="0">
                <a:solidFill>
                  <a:srgbClr val="858585"/>
                </a:solidFill>
                <a:latin typeface="Consolas"/>
              </a:rPr>
              <a:t>5</a:t>
            </a:r>
          </a:p>
          <a:p>
            <a:pPr algn="r">
              <a:spcAft>
                <a:spcPts val="428"/>
              </a:spcAft>
            </a:pPr>
            <a:r>
              <a:rPr sz="2000" i="0" b="0">
                <a:solidFill>
                  <a:srgbClr val="858585"/>
                </a:solidFill>
                <a:latin typeface="Consolas"/>
              </a:rPr>
              <a:t>6</a:t>
            </a:r>
          </a:p>
        </p:txBody>
      </p:sp>
      <p:sp>
        <p:nvSpPr>
          <p:cNvPr id="12" name="TextBox 11"/>
          <p:cNvSpPr txBox="1"/>
          <p:nvPr/>
        </p:nvSpPr>
        <p:spPr>
          <a:xfrm>
            <a:off x="1188720" y="1719072"/>
            <a:ext cx="10271455" cy="2233731"/>
          </a:xfrm>
          <a:prstGeom prst="rect">
            <a:avLst/>
          </a:prstGeom>
          <a:noFill/>
        </p:spPr>
        <p:txBody>
          <a:bodyPr wrap="square">
            <a:spAutoFit/>
          </a:bodyPr>
          <a:lstStyle/>
          <a:p>
            <a:pPr>
              <a:spcAft>
                <a:spcPts val="428"/>
              </a:spcAft>
            </a:pPr>
            <a:r>
              <a:rPr sz="2000" i="0" b="0">
                <a:solidFill>
                  <a:srgbClr val="DCDCAA"/>
                </a:solidFill>
                <a:latin typeface="Consolas"/>
              </a:rPr>
              <a:t>btnRegistrar.addActionListener</a:t>
            </a:r>
            <a:r>
              <a:rPr sz="2000" i="0" b="0">
                <a:solidFill>
                  <a:srgbClr val="D4D4D4"/>
                </a:solidFill>
                <a:latin typeface="Consolas"/>
              </a:rPr>
              <a:t>(</a:t>
            </a:r>
            <a:r>
              <a:rPr sz="2000" i="0" b="0">
                <a:solidFill>
                  <a:srgbClr val="569CD6"/>
                </a:solidFill>
                <a:latin typeface="Consolas"/>
              </a:rPr>
              <a:t>new</a:t>
            </a:r>
            <a:r>
              <a:rPr sz="2000" i="0" b="0">
                <a:solidFill>
                  <a:srgbClr val="D4D4D4"/>
                </a:solidFill>
                <a:latin typeface="Consolas"/>
              </a:rPr>
              <a:t> </a:t>
            </a:r>
            <a:r>
              <a:rPr sz="2000" i="0" b="0">
                <a:solidFill>
                  <a:srgbClr val="4EC9B0"/>
                </a:solidFill>
                <a:latin typeface="Consolas"/>
              </a:rPr>
              <a:t>ActionListener</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4D4D4"/>
                </a:solidFill>
                <a:latin typeface="Consolas"/>
              </a:rPr>
              <a:t>Override</a:t>
            </a:r>
          </a:p>
          <a:p>
            <a:pPr>
              <a:spcAft>
                <a:spcPts val="428"/>
              </a:spcAft>
            </a:pPr>
            <a:r>
              <a:rPr sz="2000" i="0" b="0">
                <a:solidFill>
                  <a:srgbClr val="D4D4D4"/>
                </a:solidFill>
                <a:latin typeface="Consolas"/>
              </a:rPr>
              <a:t>    </a:t>
            </a:r>
            <a:r>
              <a:rPr sz="2000" i="0" b="0">
                <a:solidFill>
                  <a:srgbClr val="569CD6"/>
                </a:solidFill>
                <a:latin typeface="Consolas"/>
              </a:rPr>
              <a:t>public</a:t>
            </a:r>
            <a:r>
              <a:rPr sz="2000" i="0" b="0">
                <a:solidFill>
                  <a:srgbClr val="D4D4D4"/>
                </a:solidFill>
                <a:latin typeface="Consolas"/>
              </a:rPr>
              <a:t> </a:t>
            </a:r>
            <a:r>
              <a:rPr sz="2000" i="0" b="0">
                <a:solidFill>
                  <a:srgbClr val="569CD6"/>
                </a:solidFill>
                <a:latin typeface="Consolas"/>
              </a:rPr>
              <a:t>void</a:t>
            </a:r>
            <a:r>
              <a:rPr sz="2000" i="0" b="0">
                <a:solidFill>
                  <a:srgbClr val="D4D4D4"/>
                </a:solidFill>
                <a:latin typeface="Consolas"/>
              </a:rPr>
              <a:t> </a:t>
            </a:r>
            <a:r>
              <a:rPr sz="2000" i="0" b="0">
                <a:solidFill>
                  <a:srgbClr val="DCDCAA"/>
                </a:solidFill>
                <a:latin typeface="Consolas"/>
              </a:rPr>
              <a:t>actionPerformed</a:t>
            </a:r>
            <a:r>
              <a:rPr sz="2000" i="0" b="0">
                <a:solidFill>
                  <a:srgbClr val="D4D4D4"/>
                </a:solidFill>
                <a:latin typeface="Consolas"/>
              </a:rPr>
              <a:t>(</a:t>
            </a:r>
            <a:r>
              <a:rPr sz="2000" i="0" b="0">
                <a:solidFill>
                  <a:srgbClr val="D4D4D4"/>
                </a:solidFill>
                <a:latin typeface="Consolas"/>
              </a:rPr>
              <a:t>ActionEvent</a:t>
            </a:r>
            <a:r>
              <a:rPr sz="2000" i="0" b="0">
                <a:solidFill>
                  <a:srgbClr val="D4D4D4"/>
                </a:solidFill>
                <a:latin typeface="Consolas"/>
              </a:rPr>
              <a:t> </a:t>
            </a:r>
            <a:r>
              <a:rPr sz="2000" i="0" b="0">
                <a:solidFill>
                  <a:srgbClr val="D4D4D4"/>
                </a:solidFill>
                <a:latin typeface="Consolas"/>
              </a:rPr>
              <a:t>e</a:t>
            </a:r>
            <a:r>
              <a:rPr sz="2000" i="0" b="0">
                <a:solidFill>
                  <a:srgbClr val="D4D4D4"/>
                </a:solidFill>
                <a:latin typeface="Consolas"/>
              </a:rPr>
              <a:t>) {</a:t>
            </a:r>
          </a:p>
          <a:p>
            <a:pPr>
              <a:spcAft>
                <a:spcPts val="428"/>
              </a:spcAft>
            </a:pPr>
            <a:r>
              <a:rPr sz="2000" i="0" b="0">
                <a:solidFill>
                  <a:srgbClr val="D4D4D4"/>
                </a:solidFill>
                <a:latin typeface="Consolas"/>
              </a:rPr>
              <a:t>        </a:t>
            </a:r>
            <a:r>
              <a:rPr sz="2000" i="0" b="0">
                <a:solidFill>
                  <a:srgbClr val="DCDCAA"/>
                </a:solidFill>
                <a:latin typeface="Consolas"/>
              </a:rPr>
              <a:t>registrar</a:t>
            </a:r>
            <a:r>
              <a:rPr sz="2000" i="0" b="0">
                <a:solidFill>
                  <a:srgbClr val="D4D4D4"/>
                </a:solidFill>
                <a:latin typeface="Consolas"/>
              </a:rPr>
              <a:t>();</a:t>
            </a:r>
          </a:p>
          <a:p>
            <a:pPr>
              <a:spcAft>
                <a:spcPts val="428"/>
              </a:spcAft>
            </a:pPr>
            <a:r>
              <a:rPr sz="2000" i="0" b="0">
                <a:solidFill>
                  <a:srgbClr val="D4D4D4"/>
                </a:solidFill>
                <a:latin typeface="Consolas"/>
              </a:rPr>
              <a:t>    }</a:t>
            </a:r>
          </a:p>
          <a:p>
            <a:pPr>
              <a:spcAft>
                <a:spcPts val="428"/>
              </a:spcAft>
            </a:pPr>
            <a:r>
              <a:rPr sz="20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ClinicaEventosDemo.java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Separar la lógica de la interfaz</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s-capa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res-capa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res-capa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Modelo (Mascota): datos y comportamiento propio.</a:t>
            </a:r>
          </a:p>
          <a:p>
            <a:pPr>
              <a:spcAft>
                <a:spcPts val="800"/>
              </a:spcAft>
            </a:pPr>
            <a:r>
              <a:rPr sz="2000" b="0" i="0">
                <a:solidFill>
                  <a:srgbClr val="333333"/>
                </a:solidFill>
                <a:latin typeface="Calibri"/>
              </a:rPr>
              <a:t>–   Servicio (ControladorRegistro, RepositorioMascotas): validaciones, búsqueda y la lista.</a:t>
            </a:r>
          </a:p>
          <a:p>
            <a:pPr>
              <a:spcAft>
                <a:spcPts val="800"/>
              </a:spcAft>
            </a:pPr>
            <a:r>
              <a:rPr sz="2000" b="0" i="0">
                <a:solidFill>
                  <a:srgbClr val="333333"/>
                </a:solidFill>
                <a:latin typeface="Calibri"/>
              </a:rPr>
              <a:t>–   Vista (VentanaRegistroMascota): pinta campos, lee texto y muestra mensajes.</a:t>
            </a:r>
          </a:p>
          <a:p>
            <a:pPr>
              <a:spcAft>
                <a:spcPts val="800"/>
              </a:spcAft>
            </a:pPr>
            <a:r>
              <a:rPr sz="2000" b="0" i="0">
                <a:solidFill>
                  <a:srgbClr val="333333"/>
                </a:solidFill>
                <a:latin typeface="Calibri"/>
              </a:rPr>
              <a:t>–   Prueba ácida: si mañana es consola o JavaFX, solo se reescribe la ventana.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repositorio no sabe de ventanas</a:t>
            </a:r>
          </a:p>
        </p:txBody>
      </p:sp>
      <p:sp>
        <p:nvSpPr>
          <p:cNvPr id="5" name="Rounded Rectangle 4"/>
          <p:cNvSpPr/>
          <p:nvPr/>
        </p:nvSpPr>
        <p:spPr>
          <a:xfrm>
            <a:off x="457200" y="1261872"/>
            <a:ext cx="11277295" cy="445904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864689"/>
          </a:xfrm>
          <a:prstGeom prst="rect">
            <a:avLst/>
          </a:prstGeom>
          <a:noFill/>
        </p:spPr>
        <p:txBody>
          <a:bodyPr wrap="square">
            <a:spAutoFit/>
          </a:bodyPr>
          <a:lstStyle/>
          <a:p>
            <a:pPr algn="r">
              <a:spcAft>
                <a:spcPts val="342"/>
              </a:spcAft>
            </a:pPr>
            <a:r>
              <a:rPr sz="1600" i="0" b="0">
                <a:solidFill>
                  <a:srgbClr val="858585"/>
                </a:solidFill>
                <a:latin typeface="Consolas"/>
              </a:rPr>
              <a:t>1</a:t>
            </a:r>
          </a:p>
          <a:p>
            <a:pPr algn="r">
              <a:spcAft>
                <a:spcPts val="342"/>
              </a:spcAft>
            </a:pPr>
            <a:r>
              <a:rPr sz="1600" i="0" b="0">
                <a:solidFill>
                  <a:srgbClr val="858585"/>
                </a:solidFill>
                <a:latin typeface="Consolas"/>
              </a:rPr>
              <a:t>2</a:t>
            </a:r>
          </a:p>
          <a:p>
            <a:pPr algn="r">
              <a:spcAft>
                <a:spcPts val="342"/>
              </a:spcAft>
            </a:pPr>
            <a:r>
              <a:rPr sz="1600" i="0" b="0">
                <a:solidFill>
                  <a:srgbClr val="858585"/>
                </a:solidFill>
                <a:latin typeface="Consolas"/>
              </a:rPr>
              <a:t>3</a:t>
            </a:r>
          </a:p>
          <a:p>
            <a:pPr algn="r">
              <a:spcAft>
                <a:spcPts val="342"/>
              </a:spcAft>
            </a:pPr>
            <a:r>
              <a:rPr sz="1600" i="0" b="0">
                <a:solidFill>
                  <a:srgbClr val="858585"/>
                </a:solidFill>
                <a:latin typeface="Consolas"/>
              </a:rPr>
              <a:t>4</a:t>
            </a:r>
          </a:p>
          <a:p>
            <a:pPr algn="r">
              <a:spcAft>
                <a:spcPts val="342"/>
              </a:spcAft>
            </a:pPr>
            <a:r>
              <a:rPr sz="1600" i="0" b="0">
                <a:solidFill>
                  <a:srgbClr val="858585"/>
                </a:solidFill>
                <a:latin typeface="Consolas"/>
              </a:rPr>
              <a:t>5</a:t>
            </a:r>
          </a:p>
          <a:p>
            <a:pPr algn="r">
              <a:spcAft>
                <a:spcPts val="342"/>
              </a:spcAft>
            </a:pPr>
            <a:r>
              <a:rPr sz="1600" i="0" b="0">
                <a:solidFill>
                  <a:srgbClr val="858585"/>
                </a:solidFill>
                <a:latin typeface="Consolas"/>
              </a:rPr>
              <a:t>6</a:t>
            </a:r>
          </a:p>
          <a:p>
            <a:pPr algn="r">
              <a:spcAft>
                <a:spcPts val="342"/>
              </a:spcAft>
            </a:pPr>
            <a:r>
              <a:rPr sz="1600" i="0" b="0">
                <a:solidFill>
                  <a:srgbClr val="858585"/>
                </a:solidFill>
                <a:latin typeface="Consolas"/>
              </a:rPr>
              <a:t>7</a:t>
            </a:r>
          </a:p>
          <a:p>
            <a:pPr algn="r">
              <a:spcAft>
                <a:spcPts val="342"/>
              </a:spcAft>
            </a:pPr>
            <a:r>
              <a:rPr sz="1600" i="0" b="0">
                <a:solidFill>
                  <a:srgbClr val="858585"/>
                </a:solidFill>
                <a:latin typeface="Consolas"/>
              </a:rPr>
              <a:t>8</a:t>
            </a:r>
          </a:p>
          <a:p>
            <a:pPr algn="r">
              <a:spcAft>
                <a:spcPts val="342"/>
              </a:spcAft>
            </a:pPr>
            <a:r>
              <a:rPr sz="1600" i="0" b="0">
                <a:solidFill>
                  <a:srgbClr val="858585"/>
                </a:solidFill>
                <a:latin typeface="Consolas"/>
              </a:rPr>
              <a:t>9</a:t>
            </a:r>
          </a:p>
          <a:p>
            <a:pPr algn="r">
              <a:spcAft>
                <a:spcPts val="342"/>
              </a:spcAft>
            </a:pPr>
            <a:r>
              <a:rPr sz="1600" i="0" b="0">
                <a:solidFill>
                  <a:srgbClr val="858585"/>
                </a:solidFill>
                <a:latin typeface="Consolas"/>
              </a:rPr>
              <a:t>10</a:t>
            </a:r>
          </a:p>
          <a:p>
            <a:pPr algn="r">
              <a:spcAft>
                <a:spcPts val="342"/>
              </a:spcAft>
            </a:pPr>
            <a:r>
              <a:rPr sz="1600" i="0" b="0">
                <a:solidFill>
                  <a:srgbClr val="858585"/>
                </a:solidFill>
                <a:latin typeface="Consolas"/>
              </a:rPr>
              <a:t>11</a:t>
            </a:r>
          </a:p>
          <a:p>
            <a:pPr algn="r">
              <a:spcAft>
                <a:spcPts val="342"/>
              </a:spcAft>
            </a:pPr>
            <a:r>
              <a:rPr sz="1600" i="0" b="0">
                <a:solidFill>
                  <a:srgbClr val="858585"/>
                </a:solidFill>
                <a:latin typeface="Consolas"/>
              </a:rPr>
              <a:t>12</a:t>
            </a:r>
          </a:p>
          <a:p>
            <a:pPr algn="r">
              <a:spcAft>
                <a:spcPts val="342"/>
              </a:spcAft>
            </a:pPr>
            <a:r>
              <a:rPr sz="1600" i="0" b="0">
                <a:solidFill>
                  <a:srgbClr val="858585"/>
                </a:solidFill>
                <a:latin typeface="Consolas"/>
              </a:rPr>
              <a:t>13</a:t>
            </a:r>
          </a:p>
        </p:txBody>
      </p:sp>
      <p:sp>
        <p:nvSpPr>
          <p:cNvPr id="12" name="TextBox 11"/>
          <p:cNvSpPr txBox="1"/>
          <p:nvPr/>
        </p:nvSpPr>
        <p:spPr>
          <a:xfrm>
            <a:off x="1188720" y="1719072"/>
            <a:ext cx="10271455" cy="3864689"/>
          </a:xfrm>
          <a:prstGeom prst="rect">
            <a:avLst/>
          </a:prstGeom>
          <a:noFill/>
        </p:spPr>
        <p:txBody>
          <a:bodyPr wrap="square">
            <a:spAutoFit/>
          </a:bodyPr>
          <a:lstStyle/>
          <a:p>
            <a:pPr>
              <a:spcAft>
                <a:spcPts val="342"/>
              </a:spcAft>
            </a:pPr>
            <a:r>
              <a:rPr sz="1600" i="0" b="0">
                <a:solidFill>
                  <a:srgbClr val="569CD6"/>
                </a:solidFill>
                <a:latin typeface="Consolas"/>
              </a:rPr>
              <a:t>public</a:t>
            </a:r>
            <a:r>
              <a:rPr sz="1600" i="0" b="0">
                <a:solidFill>
                  <a:srgbClr val="D4D4D4"/>
                </a:solidFill>
                <a:latin typeface="Consolas"/>
              </a:rPr>
              <a:t> </a:t>
            </a:r>
            <a:r>
              <a:rPr sz="1600" i="0" b="0">
                <a:solidFill>
                  <a:srgbClr val="569CD6"/>
                </a:solidFill>
                <a:latin typeface="Consolas"/>
              </a:rPr>
              <a:t>void</a:t>
            </a:r>
            <a:r>
              <a:rPr sz="1600" i="0" b="0">
                <a:solidFill>
                  <a:srgbClr val="D4D4D4"/>
                </a:solidFill>
                <a:latin typeface="Consolas"/>
              </a:rPr>
              <a:t> </a:t>
            </a:r>
            <a:r>
              <a:rPr sz="1600" i="0" b="0">
                <a:solidFill>
                  <a:srgbClr val="DCDCAA"/>
                </a:solidFill>
                <a:latin typeface="Consolas"/>
              </a:rPr>
              <a:t>registrar</a:t>
            </a:r>
            <a:r>
              <a:rPr sz="1600" i="0" b="0">
                <a:solidFill>
                  <a:srgbClr val="D4D4D4"/>
                </a:solidFill>
                <a:latin typeface="Consolas"/>
              </a:rPr>
              <a:t>(</a:t>
            </a:r>
            <a:r>
              <a:rPr sz="1600" i="0" b="0">
                <a:solidFill>
                  <a:srgbClr val="D4D4D4"/>
                </a:solidFill>
                <a:latin typeface="Consolas"/>
              </a:rPr>
              <a:t>Mascota</a:t>
            </a:r>
            <a:r>
              <a:rPr sz="1600" i="0" b="0">
                <a:solidFill>
                  <a:srgbClr val="D4D4D4"/>
                </a:solidFill>
                <a:latin typeface="Consolas"/>
              </a:rPr>
              <a:t> </a:t>
            </a:r>
            <a:r>
              <a:rPr sz="1600" i="0" b="0">
                <a:solidFill>
                  <a:srgbClr val="D4D4D4"/>
                </a:solidFill>
                <a:latin typeface="Consolas"/>
              </a:rPr>
              <a:t>mascota</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if</a:t>
            </a:r>
            <a:r>
              <a:rPr sz="1600" i="0" b="0">
                <a:solidFill>
                  <a:srgbClr val="D4D4D4"/>
                </a:solidFill>
                <a:latin typeface="Consolas"/>
              </a:rPr>
              <a:t> (</a:t>
            </a:r>
            <a:r>
              <a:rPr sz="1600" i="0" b="0">
                <a:solidFill>
                  <a:srgbClr val="D4D4D4"/>
                </a:solidFill>
                <a:latin typeface="Consolas"/>
              </a:rPr>
              <a:t>mascota</a:t>
            </a:r>
            <a:r>
              <a:rPr sz="1600" i="0" b="0">
                <a:solidFill>
                  <a:srgbClr val="D4D4D4"/>
                </a:solidFill>
                <a:latin typeface="Consolas"/>
              </a:rPr>
              <a:t> == </a:t>
            </a:r>
            <a:r>
              <a:rPr sz="1600" i="0" b="0">
                <a:solidFill>
                  <a:srgbClr val="569CD6"/>
                </a:solidFill>
                <a:latin typeface="Consolas"/>
              </a:rPr>
              <a:t>null</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throw</a:t>
            </a:r>
            <a:r>
              <a:rPr sz="1600" i="0" b="0">
                <a:solidFill>
                  <a:srgbClr val="D4D4D4"/>
                </a:solidFill>
                <a:latin typeface="Consolas"/>
              </a:rPr>
              <a:t> </a:t>
            </a:r>
            <a:r>
              <a:rPr sz="1600" i="0" b="0">
                <a:solidFill>
                  <a:srgbClr val="569CD6"/>
                </a:solidFill>
                <a:latin typeface="Consolas"/>
              </a:rPr>
              <a:t>new</a:t>
            </a:r>
            <a:r>
              <a:rPr sz="1600" i="0" b="0">
                <a:solidFill>
                  <a:srgbClr val="D4D4D4"/>
                </a:solidFill>
                <a:latin typeface="Consolas"/>
              </a:rPr>
              <a:t> </a:t>
            </a:r>
            <a:r>
              <a:rPr sz="1600" i="0" b="0">
                <a:solidFill>
                  <a:srgbClr val="4EC9B0"/>
                </a:solidFill>
                <a:latin typeface="Consolas"/>
              </a:rPr>
              <a:t>IllegalArgumentException</a:t>
            </a:r>
            <a:r>
              <a:rPr sz="1600" i="0" b="0">
                <a:solidFill>
                  <a:srgbClr val="D4D4D4"/>
                </a:solidFill>
                <a:latin typeface="Consolas"/>
              </a:rPr>
              <a:t>(</a:t>
            </a:r>
            <a:r>
              <a:rPr sz="1600" i="0" b="0">
                <a:solidFill>
                  <a:srgbClr val="CE9178"/>
                </a:solidFill>
                <a:latin typeface="Consolas"/>
              </a:rPr>
              <a:t>"No se puede registrar una mascota nula."</a:t>
            </a:r>
            <a:r>
              <a:rPr sz="1600" i="0" b="0">
                <a:solidFill>
                  <a:srgbClr val="D4D4D4"/>
                </a:solidFill>
                <a:latin typeface="Consolas"/>
              </a:rPr>
              <a:t>);</a:t>
            </a:r>
          </a:p>
          <a:p>
            <a:pPr>
              <a:spcAft>
                <a:spcPts val="342"/>
              </a:spcAft>
            </a:pP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if</a:t>
            </a:r>
            <a:r>
              <a:rPr sz="1600" i="0" b="0">
                <a:solidFill>
                  <a:srgbClr val="D4D4D4"/>
                </a:solidFill>
                <a:latin typeface="Consolas"/>
              </a:rPr>
              <a:t> (</a:t>
            </a:r>
            <a:r>
              <a:rPr sz="1600" i="0" b="0">
                <a:solidFill>
                  <a:srgbClr val="DCDCAA"/>
                </a:solidFill>
                <a:latin typeface="Consolas"/>
              </a:rPr>
              <a:t>buscarPorId</a:t>
            </a:r>
            <a:r>
              <a:rPr sz="1600" i="0" b="0">
                <a:solidFill>
                  <a:srgbClr val="D4D4D4"/>
                </a:solidFill>
                <a:latin typeface="Consolas"/>
              </a:rPr>
              <a:t>(</a:t>
            </a:r>
            <a:r>
              <a:rPr sz="1600" i="0" b="0">
                <a:solidFill>
                  <a:srgbClr val="DCDCAA"/>
                </a:solidFill>
                <a:latin typeface="Consolas"/>
              </a:rPr>
              <a:t>mascota.getId</a:t>
            </a:r>
            <a:r>
              <a:rPr sz="1600" i="0" b="0">
                <a:solidFill>
                  <a:srgbClr val="D4D4D4"/>
                </a:solidFill>
                <a:latin typeface="Consolas"/>
              </a:rPr>
              <a:t>()) != </a:t>
            </a:r>
            <a:r>
              <a:rPr sz="1600" i="0" b="0">
                <a:solidFill>
                  <a:srgbClr val="569CD6"/>
                </a:solidFill>
                <a:latin typeface="Consolas"/>
              </a:rPr>
              <a:t>null</a:t>
            </a: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569CD6"/>
                </a:solidFill>
                <a:latin typeface="Consolas"/>
              </a:rPr>
              <a:t>throw</a:t>
            </a:r>
            <a:r>
              <a:rPr sz="1600" i="0" b="0">
                <a:solidFill>
                  <a:srgbClr val="D4D4D4"/>
                </a:solidFill>
                <a:latin typeface="Consolas"/>
              </a:rPr>
              <a:t> </a:t>
            </a:r>
            <a:r>
              <a:rPr sz="1600" i="0" b="0">
                <a:solidFill>
                  <a:srgbClr val="569CD6"/>
                </a:solidFill>
                <a:latin typeface="Consolas"/>
              </a:rPr>
              <a:t>new</a:t>
            </a:r>
            <a:r>
              <a:rPr sz="1600" i="0" b="0">
                <a:solidFill>
                  <a:srgbClr val="D4D4D4"/>
                </a:solidFill>
                <a:latin typeface="Consolas"/>
              </a:rPr>
              <a:t> </a:t>
            </a:r>
            <a:r>
              <a:rPr sz="1600" i="0" b="0">
                <a:solidFill>
                  <a:srgbClr val="4EC9B0"/>
                </a:solidFill>
                <a:latin typeface="Consolas"/>
              </a:rPr>
              <a:t>IllegalArgumentException</a:t>
            </a:r>
            <a:r>
              <a:rPr sz="1600" i="0" b="0">
                <a:solidFill>
                  <a:srgbClr val="D4D4D4"/>
                </a:solidFill>
                <a:latin typeface="Consolas"/>
              </a:rPr>
              <a:t>(</a:t>
            </a:r>
            <a:r>
              <a:rPr sz="1600" i="0" b="0">
                <a:solidFill>
                  <a:srgbClr val="CE9178"/>
                </a:solidFill>
                <a:latin typeface="Consolas"/>
              </a:rPr>
              <a:t>"Ya existe una mascota con el ID "</a:t>
            </a:r>
            <a:r>
              <a:rPr sz="1600" i="0" b="0">
                <a:solidFill>
                  <a:srgbClr val="D4D4D4"/>
                </a:solidFill>
                <a:latin typeface="Consolas"/>
              </a:rPr>
              <a:t> + </a:t>
            </a:r>
            <a:r>
              <a:rPr sz="1600" i="0" b="0">
                <a:solidFill>
                  <a:srgbClr val="DCDCAA"/>
                </a:solidFill>
                <a:latin typeface="Consolas"/>
              </a:rPr>
              <a:t>mascota.getId</a:t>
            </a:r>
            <a:r>
              <a:rPr sz="1600" i="0" b="0">
                <a:solidFill>
                  <a:srgbClr val="D4D4D4"/>
                </a:solidFill>
                <a:latin typeface="Consolas"/>
              </a:rPr>
              <a:t>());</a:t>
            </a:r>
          </a:p>
          <a:p>
            <a:pPr>
              <a:spcAft>
                <a:spcPts val="342"/>
              </a:spcAft>
            </a:pPr>
            <a:r>
              <a:rPr sz="1600" i="0" b="0">
                <a:solidFill>
                  <a:srgbClr val="D4D4D4"/>
                </a:solidFill>
                <a:latin typeface="Consolas"/>
              </a:rPr>
              <a:t>    }</a:t>
            </a:r>
          </a:p>
          <a:p>
            <a:pPr>
              <a:spcAft>
                <a:spcPts val="342"/>
              </a:spcAft>
            </a:pPr>
            <a:r>
              <a:rPr sz="1600" i="0" b="0">
                <a:solidFill>
                  <a:srgbClr val="D4D4D4"/>
                </a:solidFill>
                <a:latin typeface="Consolas"/>
              </a:rPr>
              <a:t>    </a:t>
            </a:r>
            <a:r>
              <a:rPr sz="1600" i="0" b="0">
                <a:solidFill>
                  <a:srgbClr val="DCDCAA"/>
                </a:solidFill>
                <a:latin typeface="Consolas"/>
              </a:rPr>
              <a:t>mascotas.add</a:t>
            </a:r>
            <a:r>
              <a:rPr sz="1600" i="0" b="0">
                <a:solidFill>
                  <a:srgbClr val="D4D4D4"/>
                </a:solidFill>
                <a:latin typeface="Consolas"/>
              </a:rPr>
              <a:t>(</a:t>
            </a:r>
            <a:r>
              <a:rPr sz="1600" i="0" b="0">
                <a:solidFill>
                  <a:srgbClr val="D4D4D4"/>
                </a:solidFill>
                <a:latin typeface="Consolas"/>
              </a:rPr>
              <a:t>mascota</a:t>
            </a:r>
            <a:r>
              <a:rPr sz="1600" i="0" b="0">
                <a:solidFill>
                  <a:srgbClr val="D4D4D4"/>
                </a:solidFill>
                <a:latin typeface="Consolas"/>
              </a:rPr>
              <a:t>);</a:t>
            </a:r>
          </a:p>
          <a:p>
            <a:pPr>
              <a:spcAft>
                <a:spcPts val="342"/>
              </a:spcAft>
            </a:pPr>
            <a:r>
              <a:rPr sz="1600" i="0" b="0">
                <a:solidFill>
                  <a:srgbClr val="D4D4D4"/>
                </a:solidFill>
                <a:latin typeface="Consolas"/>
              </a:rPr>
              <a:t>}</a:t>
            </a:r>
          </a:p>
          <a:p>
            <a:pPr>
              <a:spcAft>
                <a:spcPts val="342"/>
              </a:spcAft>
            </a:pPr>
            <a:r>
              <a:rPr sz="1600" i="0" b="0">
                <a:solidFill>
                  <a:srgbClr val="D4D4D4"/>
                </a:solidFill>
                <a:latin typeface="Consolas"/>
              </a:rPr>
              <a:t/>
            </a:r>
          </a:p>
          <a:p>
            <a:pPr>
              <a:spcAft>
                <a:spcPts val="342"/>
              </a:spcAft>
            </a:pPr>
            <a:r>
              <a:rPr sz="1600" i="0" b="0">
                <a:solidFill>
                  <a:srgbClr val="569CD6"/>
                </a:solidFill>
                <a:latin typeface="Consolas"/>
              </a:rPr>
              <a:t>public</a:t>
            </a:r>
            <a:r>
              <a:rPr sz="1600" i="0" b="0">
                <a:solidFill>
                  <a:srgbClr val="D4D4D4"/>
                </a:solidFill>
                <a:latin typeface="Consolas"/>
              </a:rPr>
              <a:t> </a:t>
            </a:r>
            <a:r>
              <a:rPr sz="1600" i="0" b="0">
                <a:solidFill>
                  <a:srgbClr val="4EC9B0"/>
                </a:solidFill>
                <a:latin typeface="Consolas"/>
              </a:rPr>
              <a:t>List</a:t>
            </a:r>
            <a:r>
              <a:rPr sz="1600" i="0" b="0">
                <a:solidFill>
                  <a:srgbClr val="D4D4D4"/>
                </a:solidFill>
                <a:latin typeface="Consolas"/>
              </a:rPr>
              <a:t>&lt;</a:t>
            </a:r>
            <a:r>
              <a:rPr sz="1600" i="0" b="0">
                <a:solidFill>
                  <a:srgbClr val="D4D4D4"/>
                </a:solidFill>
                <a:latin typeface="Consolas"/>
              </a:rPr>
              <a:t>Mascota</a:t>
            </a:r>
            <a:r>
              <a:rPr sz="1600" i="0" b="0">
                <a:solidFill>
                  <a:srgbClr val="D4D4D4"/>
                </a:solidFill>
                <a:latin typeface="Consolas"/>
              </a:rPr>
              <a:t>&gt; </a:t>
            </a:r>
            <a:r>
              <a:rPr sz="1600" i="0" b="0">
                <a:solidFill>
                  <a:srgbClr val="DCDCAA"/>
                </a:solidFill>
                <a:latin typeface="Consolas"/>
              </a:rPr>
              <a:t>listar</a:t>
            </a:r>
            <a:r>
              <a:rPr sz="1600" i="0" b="0">
                <a:solidFill>
                  <a:srgbClr val="D4D4D4"/>
                </a:solidFill>
                <a:latin typeface="Consolas"/>
              </a:rPr>
              <a:t>() { </a:t>
            </a:r>
            <a:r>
              <a:rPr sz="1600" i="0" b="0">
                <a:solidFill>
                  <a:srgbClr val="569CD6"/>
                </a:solidFill>
                <a:latin typeface="Consolas"/>
              </a:rPr>
              <a:t>return</a:t>
            </a:r>
            <a:r>
              <a:rPr sz="1600" i="0" b="0">
                <a:solidFill>
                  <a:srgbClr val="D4D4D4"/>
                </a:solidFill>
                <a:latin typeface="Consolas"/>
              </a:rPr>
              <a:t> </a:t>
            </a:r>
            <a:r>
              <a:rPr sz="1600" i="0" b="0">
                <a:solidFill>
                  <a:srgbClr val="569CD6"/>
                </a:solidFill>
                <a:latin typeface="Consolas"/>
              </a:rPr>
              <a:t>new</a:t>
            </a:r>
            <a:r>
              <a:rPr sz="1600" i="0" b="0">
                <a:solidFill>
                  <a:srgbClr val="D4D4D4"/>
                </a:solidFill>
                <a:latin typeface="Consolas"/>
              </a:rPr>
              <a:t> </a:t>
            </a:r>
            <a:r>
              <a:rPr sz="1600" i="0" b="0">
                <a:solidFill>
                  <a:srgbClr val="4EC9B0"/>
                </a:solidFill>
                <a:latin typeface="Consolas"/>
              </a:rPr>
              <a:t>ArrayList</a:t>
            </a:r>
            <a:r>
              <a:rPr sz="1600" i="0" b="0">
                <a:solidFill>
                  <a:srgbClr val="D4D4D4"/>
                </a:solidFill>
                <a:latin typeface="Consolas"/>
              </a:rPr>
              <a:t>&lt;</a:t>
            </a:r>
            <a:r>
              <a:rPr sz="1600" i="0" b="0">
                <a:solidFill>
                  <a:srgbClr val="D4D4D4"/>
                </a:solidFill>
                <a:latin typeface="Consolas"/>
              </a:rPr>
              <a:t>Mascota</a:t>
            </a:r>
            <a:r>
              <a:rPr sz="1600" i="0" b="0">
                <a:solidFill>
                  <a:srgbClr val="D4D4D4"/>
                </a:solidFill>
                <a:latin typeface="Consolas"/>
              </a:rPr>
              <a:t>&gt;(</a:t>
            </a:r>
            <a:r>
              <a:rPr sz="1600" i="0" b="0">
                <a:solidFill>
                  <a:srgbClr val="D4D4D4"/>
                </a:solidFill>
                <a:latin typeface="Consolas"/>
              </a:rPr>
              <a:t>mascotas</a:t>
            </a:r>
            <a:r>
              <a:rPr sz="1600" i="0" b="0">
                <a:solidFill>
                  <a:srgbClr val="D4D4D4"/>
                </a:solidFill>
                <a:latin typeface="Consolas"/>
              </a:rPr>
              <a:t>); }</a:t>
            </a:r>
          </a:p>
          <a:p>
            <a:pPr>
              <a:spcAft>
                <a:spcPts val="342"/>
              </a:spcAft>
            </a:pPr>
            <a:r>
              <a:rPr sz="1600" i="0" b="0">
                <a:solidFill>
                  <a:srgbClr val="D4D4D4"/>
                </a:solidFill>
                <a:latin typeface="Consolas"/>
              </a:rPr>
              <a:t/>
            </a:r>
          </a:p>
          <a:p>
            <a:pPr>
              <a:spcAft>
                <a:spcPts val="342"/>
              </a:spcAft>
            </a:pPr>
            <a:r>
              <a:rPr sz="1600" i="0" b="0">
                <a:solidFill>
                  <a:srgbClr val="569CD6"/>
                </a:solidFill>
                <a:latin typeface="Consolas"/>
              </a:rPr>
              <a:t>public</a:t>
            </a:r>
            <a:r>
              <a:rPr sz="1600" i="0" b="0">
                <a:solidFill>
                  <a:srgbClr val="D4D4D4"/>
                </a:solidFill>
                <a:latin typeface="Consolas"/>
              </a:rPr>
              <a:t> </a:t>
            </a:r>
            <a:r>
              <a:rPr sz="1600" i="0" b="0">
                <a:solidFill>
                  <a:srgbClr val="4EC9B0"/>
                </a:solidFill>
                <a:latin typeface="Consolas"/>
              </a:rPr>
              <a:t>int</a:t>
            </a:r>
            <a:r>
              <a:rPr sz="1600" i="0" b="0">
                <a:solidFill>
                  <a:srgbClr val="D4D4D4"/>
                </a:solidFill>
                <a:latin typeface="Consolas"/>
              </a:rPr>
              <a:t> </a:t>
            </a:r>
            <a:r>
              <a:rPr sz="1600" i="0" b="0">
                <a:solidFill>
                  <a:srgbClr val="DCDCAA"/>
                </a:solidFill>
                <a:latin typeface="Consolas"/>
              </a:rPr>
              <a:t>total</a:t>
            </a:r>
            <a:r>
              <a:rPr sz="1600" i="0" b="0">
                <a:solidFill>
                  <a:srgbClr val="D4D4D4"/>
                </a:solidFill>
                <a:latin typeface="Consolas"/>
              </a:rPr>
              <a:t>() { </a:t>
            </a:r>
            <a:r>
              <a:rPr sz="1600" i="0" b="0">
                <a:solidFill>
                  <a:srgbClr val="569CD6"/>
                </a:solidFill>
                <a:latin typeface="Consolas"/>
              </a:rPr>
              <a:t>return</a:t>
            </a:r>
            <a:r>
              <a:rPr sz="1600" i="0" b="0">
                <a:solidFill>
                  <a:srgbClr val="D4D4D4"/>
                </a:solidFill>
                <a:latin typeface="Consolas"/>
              </a:rPr>
              <a:t> </a:t>
            </a:r>
            <a:r>
              <a:rPr sz="1600" i="0" b="0">
                <a:solidFill>
                  <a:srgbClr val="DCDCAA"/>
                </a:solidFill>
                <a:latin typeface="Consolas"/>
              </a:rPr>
              <a:t>mascotas.size</a:t>
            </a:r>
            <a:r>
              <a:rPr sz="1600" i="0" b="0">
                <a:solidFill>
                  <a:srgbClr val="D4D4D4"/>
                </a:solidFill>
                <a:latin typeface="Consolas"/>
              </a:rPr>
              <a:t>(); }</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ClinicaEventosDemo.java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Un clic en cámara lenta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ic-camara-lent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lic-camara-lent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lic-camara-lenta-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clic-camara-lenta-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Primero, la vista lee texto crudo con getText(): todo es String, incluida la edad.</a:t>
            </a:r>
          </a:p>
          <a:p>
            <a:pPr>
              <a:spcAft>
                <a:spcPts val="800"/>
              </a:spcAft>
            </a:pPr>
            <a:r>
              <a:rPr sz="2000" b="0" i="0">
                <a:solidFill>
                  <a:srgbClr val="333333"/>
                </a:solidFill>
                <a:latin typeface="Calibri"/>
              </a:rPr>
              <a:t>–   Después, el controlador recorta, rechaza vacíos y convierte la edad con parseInt dentro de try.</a:t>
            </a:r>
          </a:p>
          <a:p>
            <a:pPr>
              <a:spcAft>
                <a:spcPts val="800"/>
              </a:spcAft>
            </a:pPr>
            <a:r>
              <a:rPr sz="2000" b="0" i="0">
                <a:solidFill>
                  <a:srgbClr val="333333"/>
                </a:solidFill>
                <a:latin typeface="Calibri"/>
              </a:rPr>
              <a:t>–   Si algo falla, lanza una excepción con un mensaje para humanos; si no, registra.</a:t>
            </a:r>
          </a:p>
          <a:p>
            <a:pPr>
              <a:spcAft>
                <a:spcPts val="800"/>
              </a:spcAft>
            </a:pPr>
            <a:r>
              <a:rPr sz="2000" b="0" i="0">
                <a:solidFill>
                  <a:srgbClr val="333333"/>
                </a:solidFill>
                <a:latin typeface="Calibri"/>
              </a:rPr>
              <a:t>–   Al final, la vista muestra el error en un JOptionPane, o limpia y refresca el listado.</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registrar(): la vista lee, delega y muestra</a:t>
            </a:r>
          </a:p>
        </p:txBody>
      </p:sp>
      <p:sp>
        <p:nvSpPr>
          <p:cNvPr id="5" name="Rounded Rectangle 4"/>
          <p:cNvSpPr/>
          <p:nvPr/>
        </p:nvSpPr>
        <p:spPr>
          <a:xfrm>
            <a:off x="457200" y="1261872"/>
            <a:ext cx="11277295" cy="435893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764577"/>
          </a:xfrm>
          <a:prstGeom prst="rect">
            <a:avLst/>
          </a:prstGeom>
          <a:noFill/>
        </p:spPr>
        <p:txBody>
          <a:bodyPr wrap="square">
            <a:spAutoFit/>
          </a:bodyPr>
          <a:lstStyle/>
          <a:p>
            <a:pPr algn="r">
              <a:spcAft>
                <a:spcPts val="364"/>
              </a:spcAft>
            </a:pPr>
            <a:r>
              <a:rPr sz="1700" i="0" b="0">
                <a:solidFill>
                  <a:srgbClr val="858585"/>
                </a:solidFill>
                <a:latin typeface="Consolas"/>
              </a:rPr>
              <a:t>1</a:t>
            </a:r>
          </a:p>
          <a:p>
            <a:pPr algn="r">
              <a:spcAft>
                <a:spcPts val="364"/>
              </a:spcAft>
            </a:pPr>
            <a:r>
              <a:rPr sz="1700" i="0" b="0">
                <a:solidFill>
                  <a:srgbClr val="858585"/>
                </a:solidFill>
                <a:latin typeface="Consolas"/>
              </a:rPr>
              <a:t>2</a:t>
            </a:r>
          </a:p>
          <a:p>
            <a:pPr algn="r">
              <a:spcAft>
                <a:spcPts val="364"/>
              </a:spcAft>
            </a:pPr>
            <a:r>
              <a:rPr sz="1700" i="0" b="0">
                <a:solidFill>
                  <a:srgbClr val="858585"/>
                </a:solidFill>
                <a:latin typeface="Consolas"/>
              </a:rPr>
              <a:t>3</a:t>
            </a:r>
          </a:p>
          <a:p>
            <a:pPr algn="r">
              <a:spcAft>
                <a:spcPts val="364"/>
              </a:spcAft>
            </a:pPr>
            <a:r>
              <a:rPr sz="1700" i="0" b="0">
                <a:solidFill>
                  <a:srgbClr val="858585"/>
                </a:solidFill>
                <a:latin typeface="Consolas"/>
              </a:rPr>
              <a:t>4</a:t>
            </a:r>
          </a:p>
          <a:p>
            <a:pPr algn="r">
              <a:spcAft>
                <a:spcPts val="364"/>
              </a:spcAft>
            </a:pPr>
            <a:r>
              <a:rPr sz="1700" i="0" b="0">
                <a:solidFill>
                  <a:srgbClr val="858585"/>
                </a:solidFill>
                <a:latin typeface="Consolas"/>
              </a:rPr>
              <a:t>5</a:t>
            </a:r>
          </a:p>
          <a:p>
            <a:pPr algn="r">
              <a:spcAft>
                <a:spcPts val="364"/>
              </a:spcAft>
            </a:pPr>
            <a:r>
              <a:rPr sz="1700" i="0" b="0">
                <a:solidFill>
                  <a:srgbClr val="858585"/>
                </a:solidFill>
                <a:latin typeface="Consolas"/>
              </a:rPr>
              <a:t>6</a:t>
            </a:r>
          </a:p>
          <a:p>
            <a:pPr algn="r">
              <a:spcAft>
                <a:spcPts val="364"/>
              </a:spcAft>
            </a:pPr>
            <a:r>
              <a:rPr sz="1700" i="0" b="0">
                <a:solidFill>
                  <a:srgbClr val="858585"/>
                </a:solidFill>
                <a:latin typeface="Consolas"/>
              </a:rPr>
              <a:t>7</a:t>
            </a:r>
          </a:p>
          <a:p>
            <a:pPr algn="r">
              <a:spcAft>
                <a:spcPts val="364"/>
              </a:spcAft>
            </a:pPr>
            <a:r>
              <a:rPr sz="1700" i="0" b="0">
                <a:solidFill>
                  <a:srgbClr val="858585"/>
                </a:solidFill>
                <a:latin typeface="Consolas"/>
              </a:rPr>
              <a:t>8</a:t>
            </a:r>
          </a:p>
          <a:p>
            <a:pPr algn="r">
              <a:spcAft>
                <a:spcPts val="364"/>
              </a:spcAft>
            </a:pPr>
            <a:r>
              <a:rPr sz="1700" i="0" b="0">
                <a:solidFill>
                  <a:srgbClr val="858585"/>
                </a:solidFill>
                <a:latin typeface="Consolas"/>
              </a:rPr>
              <a:t>9</a:t>
            </a:r>
          </a:p>
          <a:p>
            <a:pPr algn="r">
              <a:spcAft>
                <a:spcPts val="364"/>
              </a:spcAft>
            </a:pPr>
            <a:r>
              <a:rPr sz="1700" i="0" b="0">
                <a:solidFill>
                  <a:srgbClr val="858585"/>
                </a:solidFill>
                <a:latin typeface="Consolas"/>
              </a:rPr>
              <a:t>10</a:t>
            </a:r>
          </a:p>
          <a:p>
            <a:pPr algn="r">
              <a:spcAft>
                <a:spcPts val="364"/>
              </a:spcAft>
            </a:pPr>
            <a:r>
              <a:rPr sz="1700" i="0" b="0">
                <a:solidFill>
                  <a:srgbClr val="858585"/>
                </a:solidFill>
                <a:latin typeface="Consolas"/>
              </a:rPr>
              <a:t>11</a:t>
            </a:r>
          </a:p>
          <a:p>
            <a:pPr algn="r">
              <a:spcAft>
                <a:spcPts val="364"/>
              </a:spcAft>
            </a:pPr>
            <a:r>
              <a:rPr sz="1700" i="0" b="0">
                <a:solidFill>
                  <a:srgbClr val="858585"/>
                </a:solidFill>
                <a:latin typeface="Consolas"/>
              </a:rPr>
              <a:t>12</a:t>
            </a:r>
          </a:p>
        </p:txBody>
      </p:sp>
      <p:sp>
        <p:nvSpPr>
          <p:cNvPr id="12" name="TextBox 11"/>
          <p:cNvSpPr txBox="1"/>
          <p:nvPr/>
        </p:nvSpPr>
        <p:spPr>
          <a:xfrm>
            <a:off x="1188720" y="1719072"/>
            <a:ext cx="10271455" cy="3764577"/>
          </a:xfrm>
          <a:prstGeom prst="rect">
            <a:avLst/>
          </a:prstGeom>
          <a:noFill/>
        </p:spPr>
        <p:txBody>
          <a:bodyPr wrap="square">
            <a:spAutoFit/>
          </a:bodyPr>
          <a:lstStyle/>
          <a:p>
            <a:pPr>
              <a:spcAft>
                <a:spcPts val="364"/>
              </a:spcAft>
            </a:pPr>
            <a:r>
              <a:rPr sz="1700" i="0" b="0">
                <a:solidFill>
                  <a:srgbClr val="569CD6"/>
                </a:solidFill>
                <a:latin typeface="Consolas"/>
              </a:rPr>
              <a:t>private</a:t>
            </a:r>
            <a:r>
              <a:rPr sz="1700" i="0" b="0">
                <a:solidFill>
                  <a:srgbClr val="D4D4D4"/>
                </a:solidFill>
                <a:latin typeface="Consolas"/>
              </a:rPr>
              <a:t> </a:t>
            </a:r>
            <a:r>
              <a:rPr sz="1700" i="0" b="0">
                <a:solidFill>
                  <a:srgbClr val="569CD6"/>
                </a:solidFill>
                <a:latin typeface="Consolas"/>
              </a:rPr>
              <a:t>void</a:t>
            </a:r>
            <a:r>
              <a:rPr sz="1700" i="0" b="0">
                <a:solidFill>
                  <a:srgbClr val="D4D4D4"/>
                </a:solidFill>
                <a:latin typeface="Consolas"/>
              </a:rPr>
              <a:t> </a:t>
            </a:r>
            <a:r>
              <a:rPr sz="1700" i="0" b="0">
                <a:solidFill>
                  <a:srgbClr val="DCDCAA"/>
                </a:solidFill>
                <a:latin typeface="Consolas"/>
              </a:rPr>
              <a:t>registrar</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569CD6"/>
                </a:solidFill>
                <a:latin typeface="Consolas"/>
              </a:rPr>
              <a:t>try</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4D4D4"/>
                </a:solidFill>
                <a:latin typeface="Consolas"/>
              </a:rPr>
              <a:t>Mascota</a:t>
            </a:r>
            <a:r>
              <a:rPr sz="1700" i="0" b="0">
                <a:solidFill>
                  <a:srgbClr val="D4D4D4"/>
                </a:solidFill>
                <a:latin typeface="Consolas"/>
              </a:rPr>
              <a:t> </a:t>
            </a:r>
            <a:r>
              <a:rPr sz="1700" i="0" b="0">
                <a:solidFill>
                  <a:srgbClr val="D4D4D4"/>
                </a:solidFill>
                <a:latin typeface="Consolas"/>
              </a:rPr>
              <a:t>mascota</a:t>
            </a:r>
            <a:r>
              <a:rPr sz="1700" i="0" b="0">
                <a:solidFill>
                  <a:srgbClr val="D4D4D4"/>
                </a:solidFill>
                <a:latin typeface="Consolas"/>
              </a:rPr>
              <a:t> = </a:t>
            </a:r>
            <a:r>
              <a:rPr sz="1700" i="0" b="0">
                <a:solidFill>
                  <a:srgbClr val="DCDCAA"/>
                </a:solidFill>
                <a:latin typeface="Consolas"/>
              </a:rPr>
              <a:t>controlador.registrarMascota</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txtId.getText</a:t>
            </a:r>
            <a:r>
              <a:rPr sz="1700" i="0" b="0">
                <a:solidFill>
                  <a:srgbClr val="D4D4D4"/>
                </a:solidFill>
                <a:latin typeface="Consolas"/>
              </a:rPr>
              <a:t>(), </a:t>
            </a:r>
            <a:r>
              <a:rPr sz="1700" i="0" b="0">
                <a:solidFill>
                  <a:srgbClr val="DCDCAA"/>
                </a:solidFill>
                <a:latin typeface="Consolas"/>
              </a:rPr>
              <a:t>txtNombre.getText</a:t>
            </a:r>
            <a:r>
              <a:rPr sz="1700" i="0" b="0">
                <a:solidFill>
                  <a:srgbClr val="D4D4D4"/>
                </a:solidFill>
                <a:latin typeface="Consolas"/>
              </a:rPr>
              <a:t>(), </a:t>
            </a:r>
            <a:r>
              <a:rPr sz="1700" i="0" b="0">
                <a:solidFill>
                  <a:srgbClr val="DCDCAA"/>
                </a:solidFill>
                <a:latin typeface="Consolas"/>
              </a:rPr>
              <a:t>txtEspecie.getText</a:t>
            </a:r>
            <a:r>
              <a:rPr sz="1700" i="0" b="0">
                <a:solidFill>
                  <a:srgbClr val="D4D4D4"/>
                </a:solidFill>
                <a:latin typeface="Consolas"/>
              </a:rPr>
              <a:t>(), </a:t>
            </a:r>
            <a:r>
              <a:rPr sz="1700" i="0" b="0">
                <a:solidFill>
                  <a:srgbClr val="DCDCAA"/>
                </a:solidFill>
                <a:latin typeface="Consolas"/>
              </a:rPr>
              <a:t>txtEdad.getText</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areaListado.setText</a:t>
            </a:r>
            <a:r>
              <a:rPr sz="1700" i="0" b="0">
                <a:solidFill>
                  <a:srgbClr val="D4D4D4"/>
                </a:solidFill>
                <a:latin typeface="Consolas"/>
              </a:rPr>
              <a:t>(</a:t>
            </a:r>
            <a:r>
              <a:rPr sz="1700" i="0" b="0">
                <a:solidFill>
                  <a:srgbClr val="DCDCAA"/>
                </a:solidFill>
                <a:latin typeface="Consolas"/>
              </a:rPr>
              <a:t>controlador.reporteListado</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limpiar</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CDCAA"/>
                </a:solidFill>
                <a:latin typeface="Consolas"/>
              </a:rPr>
              <a:t>JOptionPane.showMessageDialog</a:t>
            </a:r>
            <a:r>
              <a:rPr sz="1700" i="0" b="0">
                <a:solidFill>
                  <a:srgbClr val="D4D4D4"/>
                </a:solidFill>
                <a:latin typeface="Consolas"/>
              </a:rPr>
              <a:t>(</a:t>
            </a:r>
            <a:r>
              <a:rPr sz="1700" i="0" b="0">
                <a:solidFill>
                  <a:srgbClr val="569CD6"/>
                </a:solidFill>
                <a:latin typeface="Consolas"/>
              </a:rPr>
              <a:t>this</a:t>
            </a:r>
            <a:r>
              <a:rPr sz="1700" i="0" b="0">
                <a:solidFill>
                  <a:srgbClr val="D4D4D4"/>
                </a:solidFill>
                <a:latin typeface="Consolas"/>
              </a:rPr>
              <a:t>, </a:t>
            </a:r>
            <a:r>
              <a:rPr sz="1700" i="0" b="0">
                <a:solidFill>
                  <a:srgbClr val="CE9178"/>
                </a:solidFill>
                <a:latin typeface="Consolas"/>
              </a:rPr>
              <a:t>"Mascota registrada: "</a:t>
            </a:r>
            <a:r>
              <a:rPr sz="1700" i="0" b="0">
                <a:solidFill>
                  <a:srgbClr val="D4D4D4"/>
                </a:solidFill>
                <a:latin typeface="Consolas"/>
              </a:rPr>
              <a:t> + </a:t>
            </a:r>
            <a:r>
              <a:rPr sz="1700" i="0" b="0">
                <a:solidFill>
                  <a:srgbClr val="DCDCAA"/>
                </a:solidFill>
                <a:latin typeface="Consolas"/>
              </a:rPr>
              <a:t>mascota.getNombre</a:t>
            </a:r>
            <a:r>
              <a:rPr sz="1700" i="0" b="0">
                <a:solidFill>
                  <a:srgbClr val="D4D4D4"/>
                </a:solidFill>
                <a:latin typeface="Consolas"/>
              </a:rPr>
              <a:t>());</a:t>
            </a:r>
          </a:p>
          <a:p>
            <a:pPr>
              <a:spcAft>
                <a:spcPts val="364"/>
              </a:spcAft>
            </a:pPr>
            <a:r>
              <a:rPr sz="1700" i="0" b="0">
                <a:solidFill>
                  <a:srgbClr val="D4D4D4"/>
                </a:solidFill>
                <a:latin typeface="Consolas"/>
              </a:rPr>
              <a:t>    } </a:t>
            </a:r>
            <a:r>
              <a:rPr sz="1700" i="0" b="0">
                <a:solidFill>
                  <a:srgbClr val="569CD6"/>
                </a:solidFill>
                <a:latin typeface="Consolas"/>
              </a:rPr>
              <a:t>catch</a:t>
            </a:r>
            <a:r>
              <a:rPr sz="1700" i="0" b="0">
                <a:solidFill>
                  <a:srgbClr val="D4D4D4"/>
                </a:solidFill>
                <a:latin typeface="Consolas"/>
              </a:rPr>
              <a:t> (</a:t>
            </a:r>
            <a:r>
              <a:rPr sz="1700" i="0" b="0">
                <a:solidFill>
                  <a:srgbClr val="D4D4D4"/>
                </a:solidFill>
                <a:latin typeface="Consolas"/>
              </a:rPr>
              <a:t>IllegalArgumentException</a:t>
            </a:r>
            <a:r>
              <a:rPr sz="1700" i="0" b="0">
                <a:solidFill>
                  <a:srgbClr val="D4D4D4"/>
                </a:solidFill>
                <a:latin typeface="Consolas"/>
              </a:rPr>
              <a:t> </a:t>
            </a:r>
            <a:r>
              <a:rPr sz="1700" i="0" b="0">
                <a:solidFill>
                  <a:srgbClr val="D4D4D4"/>
                </a:solidFill>
                <a:latin typeface="Consolas"/>
              </a:rPr>
              <a:t>ex</a:t>
            </a:r>
            <a:r>
              <a:rPr sz="1700" i="0" b="0">
                <a:solidFill>
                  <a:srgbClr val="D4D4D4"/>
                </a:solidFill>
                <a:latin typeface="Consolas"/>
              </a:rPr>
              <a:t>) {</a:t>
            </a:r>
          </a:p>
          <a:p>
            <a:pPr>
              <a:spcAft>
                <a:spcPts val="364"/>
              </a:spcAft>
            </a:pPr>
            <a:r>
              <a:rPr sz="1700" i="0" b="0">
                <a:solidFill>
                  <a:srgbClr val="D4D4D4"/>
                </a:solidFill>
                <a:latin typeface="Consolas"/>
              </a:rPr>
              <a:t>        </a:t>
            </a:r>
            <a:r>
              <a:rPr sz="1700" i="0" b="0">
                <a:solidFill>
                  <a:srgbClr val="DCDCAA"/>
                </a:solidFill>
                <a:latin typeface="Consolas"/>
              </a:rPr>
              <a:t>JOptionPane.showMessageDialog</a:t>
            </a:r>
            <a:r>
              <a:rPr sz="1700" i="0" b="0">
                <a:solidFill>
                  <a:srgbClr val="D4D4D4"/>
                </a:solidFill>
                <a:latin typeface="Consolas"/>
              </a:rPr>
              <a:t>(</a:t>
            </a:r>
            <a:r>
              <a:rPr sz="1700" i="0" b="0">
                <a:solidFill>
                  <a:srgbClr val="569CD6"/>
                </a:solidFill>
                <a:latin typeface="Consolas"/>
              </a:rPr>
              <a:t>this</a:t>
            </a:r>
            <a:r>
              <a:rPr sz="1700" i="0" b="0">
                <a:solidFill>
                  <a:srgbClr val="D4D4D4"/>
                </a:solidFill>
                <a:latin typeface="Consolas"/>
              </a:rPr>
              <a:t>, </a:t>
            </a:r>
            <a:r>
              <a:rPr sz="1700" i="0" b="0">
                <a:solidFill>
                  <a:srgbClr val="DCDCAA"/>
                </a:solidFill>
                <a:latin typeface="Consolas"/>
              </a:rPr>
              <a:t>ex.getMessage</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CE9178"/>
                </a:solidFill>
                <a:latin typeface="Consolas"/>
              </a:rPr>
              <a:t>"Datos invalidos"</a:t>
            </a:r>
            <a:r>
              <a:rPr sz="1700" i="0" b="0">
                <a:solidFill>
                  <a:srgbClr val="D4D4D4"/>
                </a:solidFill>
                <a:latin typeface="Consolas"/>
              </a:rPr>
              <a:t>, </a:t>
            </a:r>
            <a:r>
              <a:rPr sz="1700" i="0" b="0">
                <a:solidFill>
                  <a:srgbClr val="D4D4D4"/>
                </a:solidFill>
                <a:latin typeface="Consolas"/>
              </a:rPr>
              <a:t>JOptionPane</a:t>
            </a:r>
            <a:r>
              <a:rPr sz="1700" i="0" b="0">
                <a:solidFill>
                  <a:srgbClr val="D4D4D4"/>
                </a:solidFill>
                <a:latin typeface="Consolas"/>
              </a:rPr>
              <a:t>.</a:t>
            </a:r>
            <a:r>
              <a:rPr sz="1700" i="0" b="0">
                <a:solidFill>
                  <a:srgbClr val="D4D4D4"/>
                </a:solidFill>
                <a:latin typeface="Consolas"/>
              </a:rPr>
              <a:t>WARNING_MESSAGE</a:t>
            </a:r>
            <a:r>
              <a:rPr sz="1700" i="0" b="0">
                <a:solidFill>
                  <a:srgbClr val="D4D4D4"/>
                </a:solidFill>
                <a:latin typeface="Consolas"/>
              </a:rPr>
              <a:t>);</a:t>
            </a:r>
          </a:p>
          <a:p>
            <a:pPr>
              <a:spcAft>
                <a:spcPts val="364"/>
              </a:spcAft>
            </a:pPr>
            <a:r>
              <a:rPr sz="1700" i="0" b="0">
                <a:solidFill>
                  <a:srgbClr val="D4D4D4"/>
                </a:solidFill>
                <a:latin typeface="Consolas"/>
              </a:rPr>
              <a:t>    }</a:t>
            </a:r>
          </a:p>
          <a:p>
            <a:pPr>
              <a:spcAft>
                <a:spcPts val="364"/>
              </a:spcAft>
            </a:pPr>
            <a:r>
              <a:rPr sz="17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ClinicaEventosDemo.java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registrarMascota(): el controlador valida y convierte</a:t>
            </a:r>
          </a:p>
        </p:txBody>
      </p:sp>
      <p:sp>
        <p:nvSpPr>
          <p:cNvPr id="5" name="Rounded Rectangle 4"/>
          <p:cNvSpPr/>
          <p:nvPr/>
        </p:nvSpPr>
        <p:spPr>
          <a:xfrm>
            <a:off x="457200" y="1261872"/>
            <a:ext cx="11277295" cy="4566255"/>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Java</a:t>
            </a:r>
          </a:p>
        </p:txBody>
      </p:sp>
      <p:sp>
        <p:nvSpPr>
          <p:cNvPr id="11" name="TextBox 10"/>
          <p:cNvSpPr txBox="1"/>
          <p:nvPr/>
        </p:nvSpPr>
        <p:spPr>
          <a:xfrm>
            <a:off x="685800" y="1719072"/>
            <a:ext cx="502920" cy="3971895"/>
          </a:xfrm>
          <a:prstGeom prst="rect">
            <a:avLst/>
          </a:prstGeom>
          <a:noFill/>
        </p:spPr>
        <p:txBody>
          <a:bodyPr wrap="square">
            <a:spAutoFit/>
          </a:bodyPr>
          <a:lstStyle/>
          <a:p>
            <a:pPr algn="r">
              <a:spcAft>
                <a:spcPts val="300"/>
              </a:spcAft>
            </a:pPr>
            <a:r>
              <a:rPr sz="1400" i="0" b="0">
                <a:solidFill>
                  <a:srgbClr val="858585"/>
                </a:solidFill>
                <a:latin typeface="Consolas"/>
              </a:rPr>
              <a:t>1</a:t>
            </a:r>
          </a:p>
          <a:p>
            <a:pPr algn="r">
              <a:spcAft>
                <a:spcPts val="300"/>
              </a:spcAft>
            </a:pPr>
            <a:r>
              <a:rPr sz="1400" i="0" b="0">
                <a:solidFill>
                  <a:srgbClr val="858585"/>
                </a:solidFill>
                <a:latin typeface="Consolas"/>
              </a:rPr>
              <a:t>2</a:t>
            </a:r>
          </a:p>
          <a:p>
            <a:pPr algn="r">
              <a:spcAft>
                <a:spcPts val="300"/>
              </a:spcAft>
            </a:pPr>
            <a:r>
              <a:rPr sz="1400" i="0" b="0">
                <a:solidFill>
                  <a:srgbClr val="858585"/>
                </a:solidFill>
                <a:latin typeface="Consolas"/>
              </a:rPr>
              <a:t>3</a:t>
            </a:r>
          </a:p>
          <a:p>
            <a:pPr algn="r">
              <a:spcAft>
                <a:spcPts val="300"/>
              </a:spcAft>
            </a:pPr>
            <a:r>
              <a:rPr sz="1400" i="0" b="0">
                <a:solidFill>
                  <a:srgbClr val="858585"/>
                </a:solidFill>
                <a:latin typeface="Consolas"/>
              </a:rPr>
              <a:t>4</a:t>
            </a:r>
          </a:p>
          <a:p>
            <a:pPr algn="r">
              <a:spcAft>
                <a:spcPts val="300"/>
              </a:spcAft>
            </a:pPr>
            <a:r>
              <a:rPr sz="1400" i="0" b="0">
                <a:solidFill>
                  <a:srgbClr val="858585"/>
                </a:solidFill>
                <a:latin typeface="Consolas"/>
              </a:rPr>
              <a:t>5</a:t>
            </a:r>
          </a:p>
          <a:p>
            <a:pPr algn="r">
              <a:spcAft>
                <a:spcPts val="300"/>
              </a:spcAft>
            </a:pPr>
            <a:r>
              <a:rPr sz="1400" i="0" b="0">
                <a:solidFill>
                  <a:srgbClr val="858585"/>
                </a:solidFill>
                <a:latin typeface="Consolas"/>
              </a:rPr>
              <a:t>6</a:t>
            </a:r>
          </a:p>
          <a:p>
            <a:pPr algn="r">
              <a:spcAft>
                <a:spcPts val="300"/>
              </a:spcAft>
            </a:pPr>
            <a:r>
              <a:rPr sz="1400" i="0" b="0">
                <a:solidFill>
                  <a:srgbClr val="858585"/>
                </a:solidFill>
                <a:latin typeface="Consolas"/>
              </a:rPr>
              <a:t>7</a:t>
            </a:r>
          </a:p>
          <a:p>
            <a:pPr algn="r">
              <a:spcAft>
                <a:spcPts val="300"/>
              </a:spcAft>
            </a:pPr>
            <a:r>
              <a:rPr sz="1400" i="0" b="0">
                <a:solidFill>
                  <a:srgbClr val="858585"/>
                </a:solidFill>
                <a:latin typeface="Consolas"/>
              </a:rPr>
              <a:t>8</a:t>
            </a:r>
          </a:p>
          <a:p>
            <a:pPr algn="r">
              <a:spcAft>
                <a:spcPts val="300"/>
              </a:spcAft>
            </a:pPr>
            <a:r>
              <a:rPr sz="1400" i="0" b="0">
                <a:solidFill>
                  <a:srgbClr val="858585"/>
                </a:solidFill>
                <a:latin typeface="Consolas"/>
              </a:rPr>
              <a:t>9</a:t>
            </a:r>
          </a:p>
          <a:p>
            <a:pPr algn="r">
              <a:spcAft>
                <a:spcPts val="300"/>
              </a:spcAft>
            </a:pPr>
            <a:r>
              <a:rPr sz="1400" i="0" b="0">
                <a:solidFill>
                  <a:srgbClr val="858585"/>
                </a:solidFill>
                <a:latin typeface="Consolas"/>
              </a:rPr>
              <a:t>10</a:t>
            </a:r>
          </a:p>
          <a:p>
            <a:pPr algn="r">
              <a:spcAft>
                <a:spcPts val="300"/>
              </a:spcAft>
            </a:pPr>
            <a:r>
              <a:rPr sz="1400" i="0" b="0">
                <a:solidFill>
                  <a:srgbClr val="858585"/>
                </a:solidFill>
                <a:latin typeface="Consolas"/>
              </a:rPr>
              <a:t>11</a:t>
            </a:r>
          </a:p>
          <a:p>
            <a:pPr algn="r">
              <a:spcAft>
                <a:spcPts val="300"/>
              </a:spcAft>
            </a:pPr>
            <a:r>
              <a:rPr sz="1400" i="0" b="0">
                <a:solidFill>
                  <a:srgbClr val="858585"/>
                </a:solidFill>
                <a:latin typeface="Consolas"/>
              </a:rPr>
              <a:t>12</a:t>
            </a:r>
          </a:p>
          <a:p>
            <a:pPr algn="r">
              <a:spcAft>
                <a:spcPts val="300"/>
              </a:spcAft>
            </a:pPr>
            <a:r>
              <a:rPr sz="1400" i="0" b="0">
                <a:solidFill>
                  <a:srgbClr val="858585"/>
                </a:solidFill>
                <a:latin typeface="Consolas"/>
              </a:rPr>
              <a:t>13</a:t>
            </a:r>
          </a:p>
          <a:p>
            <a:pPr algn="r">
              <a:spcAft>
                <a:spcPts val="300"/>
              </a:spcAft>
            </a:pPr>
            <a:r>
              <a:rPr sz="1400" i="0" b="0">
                <a:solidFill>
                  <a:srgbClr val="858585"/>
                </a:solidFill>
                <a:latin typeface="Consolas"/>
              </a:rPr>
              <a:t>14</a:t>
            </a:r>
          </a:p>
          <a:p>
            <a:pPr algn="r">
              <a:spcAft>
                <a:spcPts val="300"/>
              </a:spcAft>
            </a:pPr>
            <a:r>
              <a:rPr sz="1400" i="0" b="0">
                <a:solidFill>
                  <a:srgbClr val="858585"/>
                </a:solidFill>
                <a:latin typeface="Consolas"/>
              </a:rPr>
              <a:t>15</a:t>
            </a:r>
          </a:p>
        </p:txBody>
      </p:sp>
      <p:sp>
        <p:nvSpPr>
          <p:cNvPr id="12" name="TextBox 11"/>
          <p:cNvSpPr txBox="1"/>
          <p:nvPr/>
        </p:nvSpPr>
        <p:spPr>
          <a:xfrm>
            <a:off x="1188720" y="1719072"/>
            <a:ext cx="10271455" cy="3971895"/>
          </a:xfrm>
          <a:prstGeom prst="rect">
            <a:avLst/>
          </a:prstGeom>
          <a:noFill/>
        </p:spPr>
        <p:txBody>
          <a:bodyPr wrap="square">
            <a:spAutoFit/>
          </a:bodyPr>
          <a:lstStyle/>
          <a:p>
            <a:pPr>
              <a:spcAft>
                <a:spcPts val="300"/>
              </a:spcAft>
            </a:pPr>
            <a:r>
              <a:rPr sz="1400" i="0" b="0">
                <a:solidFill>
                  <a:srgbClr val="569CD6"/>
                </a:solidFill>
                <a:latin typeface="Consolas"/>
              </a:rPr>
              <a:t>if</a:t>
            </a:r>
            <a:r>
              <a:rPr sz="1400" i="0" b="0">
                <a:solidFill>
                  <a:srgbClr val="D4D4D4"/>
                </a:solidFill>
                <a:latin typeface="Consolas"/>
              </a:rPr>
              <a:t> (</a:t>
            </a:r>
            <a:r>
              <a:rPr sz="1400" i="0" b="0">
                <a:solidFill>
                  <a:srgbClr val="D4D4D4"/>
                </a:solidFill>
                <a:latin typeface="Consolas"/>
              </a:rPr>
              <a:t>id</a:t>
            </a:r>
            <a:r>
              <a:rPr sz="1400" i="0" b="0">
                <a:solidFill>
                  <a:srgbClr val="D4D4D4"/>
                </a:solidFill>
                <a:latin typeface="Consolas"/>
              </a:rPr>
              <a:t> == </a:t>
            </a:r>
            <a:r>
              <a:rPr sz="1400" i="0" b="0">
                <a:solidFill>
                  <a:srgbClr val="569CD6"/>
                </a:solidFill>
                <a:latin typeface="Consolas"/>
              </a:rPr>
              <a:t>null</a:t>
            </a:r>
            <a:r>
              <a:rPr sz="1400" i="0" b="0">
                <a:solidFill>
                  <a:srgbClr val="D4D4D4"/>
                </a:solidFill>
                <a:latin typeface="Consolas"/>
              </a:rPr>
              <a:t> || </a:t>
            </a:r>
            <a:r>
              <a:rPr sz="1400" i="0" b="0">
                <a:solidFill>
                  <a:srgbClr val="DCDCAA"/>
                </a:solidFill>
                <a:latin typeface="Consolas"/>
              </a:rPr>
              <a:t>id.trim</a:t>
            </a:r>
            <a:r>
              <a:rPr sz="1400" i="0" b="0">
                <a:solidFill>
                  <a:srgbClr val="D4D4D4"/>
                </a:solidFill>
                <a:latin typeface="Consolas"/>
              </a:rPr>
              <a:t>().</a:t>
            </a:r>
            <a:r>
              <a:rPr sz="1400" i="0" b="0">
                <a:solidFill>
                  <a:srgbClr val="DCDCAA"/>
                </a:solidFill>
                <a:latin typeface="Consolas"/>
              </a:rPr>
              <a:t>isEmpty</a:t>
            </a:r>
            <a:r>
              <a:rPr sz="1400" i="0" b="0">
                <a:solidFill>
                  <a:srgbClr val="D4D4D4"/>
                </a:solidFill>
                <a:latin typeface="Consolas"/>
              </a:rPr>
              <a:t>()) {</a:t>
            </a:r>
          </a:p>
          <a:p>
            <a:pPr>
              <a:spcAft>
                <a:spcPts val="300"/>
              </a:spcAft>
            </a:pPr>
            <a:r>
              <a:rPr sz="1400" i="0" b="0">
                <a:solidFill>
                  <a:srgbClr val="D4D4D4"/>
                </a:solidFill>
                <a:latin typeface="Consolas"/>
              </a:rPr>
              <a:t>    </a:t>
            </a:r>
            <a:r>
              <a:rPr sz="1400" i="0" b="0">
                <a:solidFill>
                  <a:srgbClr val="569CD6"/>
                </a:solidFill>
                <a:latin typeface="Consolas"/>
              </a:rPr>
              <a:t>throw</a:t>
            </a:r>
            <a:r>
              <a:rPr sz="1400" i="0" b="0">
                <a:solidFill>
                  <a:srgbClr val="D4D4D4"/>
                </a:solidFill>
                <a:latin typeface="Consolas"/>
              </a:rPr>
              <a:t> </a:t>
            </a:r>
            <a:r>
              <a:rPr sz="1400" i="0" b="0">
                <a:solidFill>
                  <a:srgbClr val="569CD6"/>
                </a:solidFill>
                <a:latin typeface="Consolas"/>
              </a:rPr>
              <a:t>new</a:t>
            </a:r>
            <a:r>
              <a:rPr sz="1400" i="0" b="0">
                <a:solidFill>
                  <a:srgbClr val="D4D4D4"/>
                </a:solidFill>
                <a:latin typeface="Consolas"/>
              </a:rPr>
              <a:t> </a:t>
            </a:r>
            <a:r>
              <a:rPr sz="1400" i="0" b="0">
                <a:solidFill>
                  <a:srgbClr val="4EC9B0"/>
                </a:solidFill>
                <a:latin typeface="Consolas"/>
              </a:rPr>
              <a:t>IllegalArgumentException</a:t>
            </a:r>
            <a:r>
              <a:rPr sz="1400" i="0" b="0">
                <a:solidFill>
                  <a:srgbClr val="D4D4D4"/>
                </a:solidFill>
                <a:latin typeface="Consolas"/>
              </a:rPr>
              <a:t>(</a:t>
            </a:r>
            <a:r>
              <a:rPr sz="1400" i="0" b="0">
                <a:solidFill>
                  <a:srgbClr val="CE9178"/>
                </a:solidFill>
                <a:latin typeface="Consolas"/>
              </a:rPr>
              <a:t>"El ID de la mascota es obligatorio."</a:t>
            </a:r>
            <a:r>
              <a:rPr sz="1400" i="0" b="0">
                <a:solidFill>
                  <a:srgbClr val="D4D4D4"/>
                </a:solidFill>
                <a:latin typeface="Consolas"/>
              </a:rPr>
              <a:t>);</a:t>
            </a:r>
          </a:p>
          <a:p>
            <a:pPr>
              <a:spcAft>
                <a:spcPts val="300"/>
              </a:spcAft>
            </a:pPr>
            <a:r>
              <a:rPr sz="1400" i="0" b="0">
                <a:solidFill>
                  <a:srgbClr val="D4D4D4"/>
                </a:solidFill>
                <a:latin typeface="Consolas"/>
              </a:rPr>
              <a:t>}</a:t>
            </a:r>
          </a:p>
          <a:p>
            <a:pPr>
              <a:spcAft>
                <a:spcPts val="300"/>
              </a:spcAft>
            </a:pPr>
            <a:r>
              <a:rPr sz="1400" i="0" b="0">
                <a:solidFill>
                  <a:srgbClr val="569CD6"/>
                </a:solidFill>
                <a:latin typeface="Consolas"/>
              </a:rPr>
              <a:t>if</a:t>
            </a:r>
            <a:r>
              <a:rPr sz="1400" i="0" b="0">
                <a:solidFill>
                  <a:srgbClr val="D4D4D4"/>
                </a:solidFill>
                <a:latin typeface="Consolas"/>
              </a:rPr>
              <a:t> (</a:t>
            </a:r>
            <a:r>
              <a:rPr sz="1400" i="0" b="0">
                <a:solidFill>
                  <a:srgbClr val="D4D4D4"/>
                </a:solidFill>
                <a:latin typeface="Consolas"/>
              </a:rPr>
              <a:t>nombre</a:t>
            </a:r>
            <a:r>
              <a:rPr sz="1400" i="0" b="0">
                <a:solidFill>
                  <a:srgbClr val="D4D4D4"/>
                </a:solidFill>
                <a:latin typeface="Consolas"/>
              </a:rPr>
              <a:t> == </a:t>
            </a:r>
            <a:r>
              <a:rPr sz="1400" i="0" b="0">
                <a:solidFill>
                  <a:srgbClr val="569CD6"/>
                </a:solidFill>
                <a:latin typeface="Consolas"/>
              </a:rPr>
              <a:t>null</a:t>
            </a:r>
            <a:r>
              <a:rPr sz="1400" i="0" b="0">
                <a:solidFill>
                  <a:srgbClr val="D4D4D4"/>
                </a:solidFill>
                <a:latin typeface="Consolas"/>
              </a:rPr>
              <a:t> || </a:t>
            </a:r>
            <a:r>
              <a:rPr sz="1400" i="0" b="0">
                <a:solidFill>
                  <a:srgbClr val="DCDCAA"/>
                </a:solidFill>
                <a:latin typeface="Consolas"/>
              </a:rPr>
              <a:t>nombre.trim</a:t>
            </a:r>
            <a:r>
              <a:rPr sz="1400" i="0" b="0">
                <a:solidFill>
                  <a:srgbClr val="D4D4D4"/>
                </a:solidFill>
                <a:latin typeface="Consolas"/>
              </a:rPr>
              <a:t>().</a:t>
            </a:r>
            <a:r>
              <a:rPr sz="1400" i="0" b="0">
                <a:solidFill>
                  <a:srgbClr val="DCDCAA"/>
                </a:solidFill>
                <a:latin typeface="Consolas"/>
              </a:rPr>
              <a:t>isEmpty</a:t>
            </a:r>
            <a:r>
              <a:rPr sz="1400" i="0" b="0">
                <a:solidFill>
                  <a:srgbClr val="D4D4D4"/>
                </a:solidFill>
                <a:latin typeface="Consolas"/>
              </a:rPr>
              <a:t>()) {</a:t>
            </a:r>
          </a:p>
          <a:p>
            <a:pPr>
              <a:spcAft>
                <a:spcPts val="300"/>
              </a:spcAft>
            </a:pPr>
            <a:r>
              <a:rPr sz="1400" i="0" b="0">
                <a:solidFill>
                  <a:srgbClr val="D4D4D4"/>
                </a:solidFill>
                <a:latin typeface="Consolas"/>
              </a:rPr>
              <a:t>    </a:t>
            </a:r>
            <a:r>
              <a:rPr sz="1400" i="0" b="0">
                <a:solidFill>
                  <a:srgbClr val="569CD6"/>
                </a:solidFill>
                <a:latin typeface="Consolas"/>
              </a:rPr>
              <a:t>throw</a:t>
            </a:r>
            <a:r>
              <a:rPr sz="1400" i="0" b="0">
                <a:solidFill>
                  <a:srgbClr val="D4D4D4"/>
                </a:solidFill>
                <a:latin typeface="Consolas"/>
              </a:rPr>
              <a:t> </a:t>
            </a:r>
            <a:r>
              <a:rPr sz="1400" i="0" b="0">
                <a:solidFill>
                  <a:srgbClr val="569CD6"/>
                </a:solidFill>
                <a:latin typeface="Consolas"/>
              </a:rPr>
              <a:t>new</a:t>
            </a:r>
            <a:r>
              <a:rPr sz="1400" i="0" b="0">
                <a:solidFill>
                  <a:srgbClr val="D4D4D4"/>
                </a:solidFill>
                <a:latin typeface="Consolas"/>
              </a:rPr>
              <a:t> </a:t>
            </a:r>
            <a:r>
              <a:rPr sz="1400" i="0" b="0">
                <a:solidFill>
                  <a:srgbClr val="4EC9B0"/>
                </a:solidFill>
                <a:latin typeface="Consolas"/>
              </a:rPr>
              <a:t>IllegalArgumentException</a:t>
            </a:r>
            <a:r>
              <a:rPr sz="1400" i="0" b="0">
                <a:solidFill>
                  <a:srgbClr val="D4D4D4"/>
                </a:solidFill>
                <a:latin typeface="Consolas"/>
              </a:rPr>
              <a:t>(</a:t>
            </a:r>
            <a:r>
              <a:rPr sz="1400" i="0" b="0">
                <a:solidFill>
                  <a:srgbClr val="CE9178"/>
                </a:solidFill>
                <a:latin typeface="Consolas"/>
              </a:rPr>
              <a:t>"El nombre de la mascota es obligatorio."</a:t>
            </a:r>
            <a:r>
              <a:rPr sz="1400" i="0" b="0">
                <a:solidFill>
                  <a:srgbClr val="D4D4D4"/>
                </a:solidFill>
                <a:latin typeface="Consolas"/>
              </a:rPr>
              <a:t>);</a:t>
            </a:r>
          </a:p>
          <a:p>
            <a:pPr>
              <a:spcAft>
                <a:spcPts val="300"/>
              </a:spcAft>
            </a:pPr>
            <a:r>
              <a:rPr sz="1400" i="0" b="0">
                <a:solidFill>
                  <a:srgbClr val="D4D4D4"/>
                </a:solidFill>
                <a:latin typeface="Consolas"/>
              </a:rPr>
              <a:t>}</a:t>
            </a:r>
          </a:p>
          <a:p>
            <a:pPr>
              <a:spcAft>
                <a:spcPts val="300"/>
              </a:spcAft>
            </a:pPr>
            <a:r>
              <a:rPr sz="1400" i="0" b="0">
                <a:solidFill>
                  <a:srgbClr val="4EC9B0"/>
                </a:solidFill>
                <a:latin typeface="Consolas"/>
              </a:rPr>
              <a:t>int</a:t>
            </a:r>
            <a:r>
              <a:rPr sz="1400" i="0" b="0">
                <a:solidFill>
                  <a:srgbClr val="D4D4D4"/>
                </a:solidFill>
                <a:latin typeface="Consolas"/>
              </a:rPr>
              <a:t> </a:t>
            </a:r>
            <a:r>
              <a:rPr sz="1400" i="0" b="0">
                <a:solidFill>
                  <a:srgbClr val="D4D4D4"/>
                </a:solidFill>
                <a:latin typeface="Consolas"/>
              </a:rPr>
              <a:t>edad</a:t>
            </a:r>
            <a:r>
              <a:rPr sz="1400" i="0" b="0">
                <a:solidFill>
                  <a:srgbClr val="D4D4D4"/>
                </a:solidFill>
                <a:latin typeface="Consolas"/>
              </a:rPr>
              <a:t>;</a:t>
            </a:r>
          </a:p>
          <a:p>
            <a:pPr>
              <a:spcAft>
                <a:spcPts val="300"/>
              </a:spcAft>
            </a:pPr>
            <a:r>
              <a:rPr sz="1400" i="0" b="0">
                <a:solidFill>
                  <a:srgbClr val="569CD6"/>
                </a:solidFill>
                <a:latin typeface="Consolas"/>
              </a:rPr>
              <a:t>try</a:t>
            </a:r>
            <a:r>
              <a:rPr sz="1400" i="0" b="0">
                <a:solidFill>
                  <a:srgbClr val="D4D4D4"/>
                </a:solidFill>
                <a:latin typeface="Consolas"/>
              </a:rPr>
              <a:t> {</a:t>
            </a:r>
          </a:p>
          <a:p>
            <a:pPr>
              <a:spcAft>
                <a:spcPts val="300"/>
              </a:spcAft>
            </a:pPr>
            <a:r>
              <a:rPr sz="1400" i="0" b="0">
                <a:solidFill>
                  <a:srgbClr val="D4D4D4"/>
                </a:solidFill>
                <a:latin typeface="Consolas"/>
              </a:rPr>
              <a:t>    </a:t>
            </a:r>
            <a:r>
              <a:rPr sz="1400" i="0" b="0">
                <a:solidFill>
                  <a:srgbClr val="D4D4D4"/>
                </a:solidFill>
                <a:latin typeface="Consolas"/>
              </a:rPr>
              <a:t>edad</a:t>
            </a:r>
            <a:r>
              <a:rPr sz="1400" i="0" b="0">
                <a:solidFill>
                  <a:srgbClr val="D4D4D4"/>
                </a:solidFill>
                <a:latin typeface="Consolas"/>
              </a:rPr>
              <a:t> = </a:t>
            </a:r>
            <a:r>
              <a:rPr sz="1400" i="0" b="0">
                <a:solidFill>
                  <a:srgbClr val="DCDCAA"/>
                </a:solidFill>
                <a:latin typeface="Consolas"/>
              </a:rPr>
              <a:t>Integer.parseInt</a:t>
            </a:r>
            <a:r>
              <a:rPr sz="1400" i="0" b="0">
                <a:solidFill>
                  <a:srgbClr val="D4D4D4"/>
                </a:solidFill>
                <a:latin typeface="Consolas"/>
              </a:rPr>
              <a:t>(</a:t>
            </a:r>
            <a:r>
              <a:rPr sz="1400" i="0" b="0">
                <a:solidFill>
                  <a:srgbClr val="D4D4D4"/>
                </a:solidFill>
                <a:latin typeface="Consolas"/>
              </a:rPr>
              <a:t>edadTexto</a:t>
            </a:r>
            <a:r>
              <a:rPr sz="1400" i="0" b="0">
                <a:solidFill>
                  <a:srgbClr val="D4D4D4"/>
                </a:solidFill>
                <a:latin typeface="Consolas"/>
              </a:rPr>
              <a:t> == </a:t>
            </a:r>
            <a:r>
              <a:rPr sz="1400" i="0" b="0">
                <a:solidFill>
                  <a:srgbClr val="569CD6"/>
                </a:solidFill>
                <a:latin typeface="Consolas"/>
              </a:rPr>
              <a:t>null</a:t>
            </a:r>
            <a:r>
              <a:rPr sz="1400" i="0" b="0">
                <a:solidFill>
                  <a:srgbClr val="D4D4D4"/>
                </a:solidFill>
                <a:latin typeface="Consolas"/>
              </a:rPr>
              <a:t> ? </a:t>
            </a:r>
            <a:r>
              <a:rPr sz="1400" i="0" b="0">
                <a:solidFill>
                  <a:srgbClr val="CE9178"/>
                </a:solidFill>
                <a:latin typeface="Consolas"/>
              </a:rPr>
              <a:t>""</a:t>
            </a:r>
            <a:r>
              <a:rPr sz="1400" i="0" b="0">
                <a:solidFill>
                  <a:srgbClr val="D4D4D4"/>
                </a:solidFill>
                <a:latin typeface="Consolas"/>
              </a:rPr>
              <a:t> : </a:t>
            </a:r>
            <a:r>
              <a:rPr sz="1400" i="0" b="0">
                <a:solidFill>
                  <a:srgbClr val="DCDCAA"/>
                </a:solidFill>
                <a:latin typeface="Consolas"/>
              </a:rPr>
              <a:t>edadTexto.trim</a:t>
            </a:r>
            <a:r>
              <a:rPr sz="1400" i="0" b="0">
                <a:solidFill>
                  <a:srgbClr val="D4D4D4"/>
                </a:solidFill>
                <a:latin typeface="Consolas"/>
              </a:rPr>
              <a:t>());</a:t>
            </a:r>
          </a:p>
          <a:p>
            <a:pPr>
              <a:spcAft>
                <a:spcPts val="300"/>
              </a:spcAft>
            </a:pPr>
            <a:r>
              <a:rPr sz="1400" i="0" b="0">
                <a:solidFill>
                  <a:srgbClr val="D4D4D4"/>
                </a:solidFill>
                <a:latin typeface="Consolas"/>
              </a:rPr>
              <a:t>} </a:t>
            </a:r>
            <a:r>
              <a:rPr sz="1400" i="0" b="0">
                <a:solidFill>
                  <a:srgbClr val="569CD6"/>
                </a:solidFill>
                <a:latin typeface="Consolas"/>
              </a:rPr>
              <a:t>catch</a:t>
            </a:r>
            <a:r>
              <a:rPr sz="1400" i="0" b="0">
                <a:solidFill>
                  <a:srgbClr val="D4D4D4"/>
                </a:solidFill>
                <a:latin typeface="Consolas"/>
              </a:rPr>
              <a:t> (</a:t>
            </a:r>
            <a:r>
              <a:rPr sz="1400" i="0" b="0">
                <a:solidFill>
                  <a:srgbClr val="D4D4D4"/>
                </a:solidFill>
                <a:latin typeface="Consolas"/>
              </a:rPr>
              <a:t>NumberFormatException</a:t>
            </a:r>
            <a:r>
              <a:rPr sz="1400" i="0" b="0">
                <a:solidFill>
                  <a:srgbClr val="D4D4D4"/>
                </a:solidFill>
                <a:latin typeface="Consolas"/>
              </a:rPr>
              <a:t> </a:t>
            </a:r>
            <a:r>
              <a:rPr sz="1400" i="0" b="0">
                <a:solidFill>
                  <a:srgbClr val="D4D4D4"/>
                </a:solidFill>
                <a:latin typeface="Consolas"/>
              </a:rPr>
              <a:t>e</a:t>
            </a:r>
            <a:r>
              <a:rPr sz="1400" i="0" b="0">
                <a:solidFill>
                  <a:srgbClr val="D4D4D4"/>
                </a:solidFill>
                <a:latin typeface="Consolas"/>
              </a:rPr>
              <a:t>) {</a:t>
            </a:r>
          </a:p>
          <a:p>
            <a:pPr>
              <a:spcAft>
                <a:spcPts val="300"/>
              </a:spcAft>
            </a:pPr>
            <a:r>
              <a:rPr sz="1400" i="0" b="0">
                <a:solidFill>
                  <a:srgbClr val="D4D4D4"/>
                </a:solidFill>
                <a:latin typeface="Consolas"/>
              </a:rPr>
              <a:t>    </a:t>
            </a:r>
            <a:r>
              <a:rPr sz="1400" i="0" b="0">
                <a:solidFill>
                  <a:srgbClr val="569CD6"/>
                </a:solidFill>
                <a:latin typeface="Consolas"/>
              </a:rPr>
              <a:t>throw</a:t>
            </a:r>
            <a:r>
              <a:rPr sz="1400" i="0" b="0">
                <a:solidFill>
                  <a:srgbClr val="D4D4D4"/>
                </a:solidFill>
                <a:latin typeface="Consolas"/>
              </a:rPr>
              <a:t> </a:t>
            </a:r>
            <a:r>
              <a:rPr sz="1400" i="0" b="0">
                <a:solidFill>
                  <a:srgbClr val="569CD6"/>
                </a:solidFill>
                <a:latin typeface="Consolas"/>
              </a:rPr>
              <a:t>new</a:t>
            </a:r>
            <a:r>
              <a:rPr sz="1400" i="0" b="0">
                <a:solidFill>
                  <a:srgbClr val="D4D4D4"/>
                </a:solidFill>
                <a:latin typeface="Consolas"/>
              </a:rPr>
              <a:t> </a:t>
            </a:r>
            <a:r>
              <a:rPr sz="1400" i="0" b="0">
                <a:solidFill>
                  <a:srgbClr val="4EC9B0"/>
                </a:solidFill>
                <a:latin typeface="Consolas"/>
              </a:rPr>
              <a:t>IllegalArgumentException</a:t>
            </a:r>
            <a:r>
              <a:rPr sz="1400" i="0" b="0">
                <a:solidFill>
                  <a:srgbClr val="D4D4D4"/>
                </a:solidFill>
                <a:latin typeface="Consolas"/>
              </a:rPr>
              <a:t>(</a:t>
            </a:r>
            <a:r>
              <a:rPr sz="1400" i="0" b="0">
                <a:solidFill>
                  <a:srgbClr val="CE9178"/>
                </a:solidFill>
                <a:latin typeface="Consolas"/>
              </a:rPr>
              <a:t>"La edad debe ser un numero entero. Se recibio: "</a:t>
            </a:r>
            <a:r>
              <a:rPr sz="1400" i="0" b="0">
                <a:solidFill>
                  <a:srgbClr val="D4D4D4"/>
                </a:solidFill>
                <a:latin typeface="Consolas"/>
              </a:rPr>
              <a:t> + </a:t>
            </a:r>
            <a:r>
              <a:rPr sz="1400" i="0" b="0">
                <a:solidFill>
                  <a:srgbClr val="D4D4D4"/>
                </a:solidFill>
                <a:latin typeface="Consolas"/>
              </a:rPr>
              <a:t>edadTexto</a:t>
            </a:r>
            <a:r>
              <a:rPr sz="1400" i="0" b="0">
                <a:solidFill>
                  <a:srgbClr val="D4D4D4"/>
                </a:solidFill>
                <a:latin typeface="Consolas"/>
              </a:rPr>
              <a:t>);</a:t>
            </a:r>
          </a:p>
          <a:p>
            <a:pPr>
              <a:spcAft>
                <a:spcPts val="300"/>
              </a:spcAft>
            </a:pPr>
            <a:r>
              <a:rPr sz="1400" i="0" b="0">
                <a:solidFill>
                  <a:srgbClr val="D4D4D4"/>
                </a:solidFill>
                <a:latin typeface="Consolas"/>
              </a:rPr>
              <a:t>}</a:t>
            </a:r>
          </a:p>
          <a:p>
            <a:pPr>
              <a:spcAft>
                <a:spcPts val="300"/>
              </a:spcAft>
            </a:pPr>
            <a:r>
              <a:rPr sz="1400" i="0" b="0">
                <a:solidFill>
                  <a:srgbClr val="569CD6"/>
                </a:solidFill>
                <a:latin typeface="Consolas"/>
              </a:rPr>
              <a:t>if</a:t>
            </a:r>
            <a:r>
              <a:rPr sz="1400" i="0" b="0">
                <a:solidFill>
                  <a:srgbClr val="D4D4D4"/>
                </a:solidFill>
                <a:latin typeface="Consolas"/>
              </a:rPr>
              <a:t> (</a:t>
            </a:r>
            <a:r>
              <a:rPr sz="1400" i="0" b="0">
                <a:solidFill>
                  <a:srgbClr val="D4D4D4"/>
                </a:solidFill>
                <a:latin typeface="Consolas"/>
              </a:rPr>
              <a:t>edad</a:t>
            </a:r>
            <a:r>
              <a:rPr sz="1400" i="0" b="0">
                <a:solidFill>
                  <a:srgbClr val="D4D4D4"/>
                </a:solidFill>
                <a:latin typeface="Consolas"/>
              </a:rPr>
              <a:t> &lt; </a:t>
            </a:r>
            <a:r>
              <a:rPr sz="1400" i="0" b="0">
                <a:solidFill>
                  <a:srgbClr val="B5CEA8"/>
                </a:solidFill>
                <a:latin typeface="Consolas"/>
              </a:rPr>
              <a:t>0</a:t>
            </a:r>
            <a:r>
              <a:rPr sz="1400" i="0" b="0">
                <a:solidFill>
                  <a:srgbClr val="D4D4D4"/>
                </a:solidFill>
                <a:latin typeface="Consolas"/>
              </a:rPr>
              <a:t> || </a:t>
            </a:r>
            <a:r>
              <a:rPr sz="1400" i="0" b="0">
                <a:solidFill>
                  <a:srgbClr val="D4D4D4"/>
                </a:solidFill>
                <a:latin typeface="Consolas"/>
              </a:rPr>
              <a:t>edad</a:t>
            </a:r>
            <a:r>
              <a:rPr sz="1400" i="0" b="0">
                <a:solidFill>
                  <a:srgbClr val="D4D4D4"/>
                </a:solidFill>
                <a:latin typeface="Consolas"/>
              </a:rPr>
              <a:t> &gt; </a:t>
            </a:r>
            <a:r>
              <a:rPr sz="1400" i="0" b="0">
                <a:solidFill>
                  <a:srgbClr val="B5CEA8"/>
                </a:solidFill>
                <a:latin typeface="Consolas"/>
              </a:rPr>
              <a:t>40</a:t>
            </a:r>
            <a:r>
              <a:rPr sz="1400" i="0" b="0">
                <a:solidFill>
                  <a:srgbClr val="D4D4D4"/>
                </a:solidFill>
                <a:latin typeface="Consolas"/>
              </a:rPr>
              <a:t>) {</a:t>
            </a:r>
          </a:p>
          <a:p>
            <a:pPr>
              <a:spcAft>
                <a:spcPts val="300"/>
              </a:spcAft>
            </a:pPr>
            <a:r>
              <a:rPr sz="1400" i="0" b="0">
                <a:solidFill>
                  <a:srgbClr val="D4D4D4"/>
                </a:solidFill>
                <a:latin typeface="Consolas"/>
              </a:rPr>
              <a:t>    </a:t>
            </a:r>
            <a:r>
              <a:rPr sz="1400" i="0" b="0">
                <a:solidFill>
                  <a:srgbClr val="569CD6"/>
                </a:solidFill>
                <a:latin typeface="Consolas"/>
              </a:rPr>
              <a:t>throw</a:t>
            </a:r>
            <a:r>
              <a:rPr sz="1400" i="0" b="0">
                <a:solidFill>
                  <a:srgbClr val="D4D4D4"/>
                </a:solidFill>
                <a:latin typeface="Consolas"/>
              </a:rPr>
              <a:t> </a:t>
            </a:r>
            <a:r>
              <a:rPr sz="1400" i="0" b="0">
                <a:solidFill>
                  <a:srgbClr val="569CD6"/>
                </a:solidFill>
                <a:latin typeface="Consolas"/>
              </a:rPr>
              <a:t>new</a:t>
            </a:r>
            <a:r>
              <a:rPr sz="1400" i="0" b="0">
                <a:solidFill>
                  <a:srgbClr val="D4D4D4"/>
                </a:solidFill>
                <a:latin typeface="Consolas"/>
              </a:rPr>
              <a:t> </a:t>
            </a:r>
            <a:r>
              <a:rPr sz="1400" i="0" b="0">
                <a:solidFill>
                  <a:srgbClr val="4EC9B0"/>
                </a:solidFill>
                <a:latin typeface="Consolas"/>
              </a:rPr>
              <a:t>IllegalArgumentException</a:t>
            </a:r>
            <a:r>
              <a:rPr sz="1400" i="0" b="0">
                <a:solidFill>
                  <a:srgbClr val="D4D4D4"/>
                </a:solidFill>
                <a:latin typeface="Consolas"/>
              </a:rPr>
              <a:t>(</a:t>
            </a:r>
            <a:r>
              <a:rPr sz="1400" i="0" b="0">
                <a:solidFill>
                  <a:srgbClr val="CE9178"/>
                </a:solidFill>
                <a:latin typeface="Consolas"/>
              </a:rPr>
              <a:t>"La edad debe estar entre 0 y 40 anios."</a:t>
            </a:r>
            <a:r>
              <a:rPr sz="1400" i="0" b="0">
                <a:solidFill>
                  <a:srgbClr val="D4D4D4"/>
                </a:solidFill>
                <a:latin typeface="Consolas"/>
              </a:rPr>
              <a:t>);</a:t>
            </a:r>
          </a:p>
          <a:p>
            <a:pPr>
              <a:spcAft>
                <a:spcPts val="300"/>
              </a:spcAft>
            </a:pPr>
            <a:r>
              <a:rPr sz="14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De ClinicaEventosDemo.java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getSource y otros escuchadores</a:t>
            </a:r>
          </a:p>
        </p:txBody>
      </p:sp>
      <p:sp>
        <p:nvSpPr>
          <p:cNvPr id="5" name="Rounded Rectangle 4"/>
          <p:cNvSpPr/>
          <p:nvPr/>
        </p:nvSpPr>
        <p:spPr>
          <a:xfrm>
            <a:off x="5797149" y="1573813"/>
            <a:ext cx="6010497" cy="4057845"/>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mote-control-buttons.jpg"/>
          <p:cNvPicPr>
            <a:picLocks noChangeAspect="1"/>
          </p:cNvPicPr>
          <p:nvPr/>
        </p:nvPicPr>
        <p:blipFill>
          <a:blip r:embed="rId2"/>
          <a:stretch>
            <a:fillRect/>
          </a:stretch>
        </p:blipFill>
        <p:spPr>
          <a:xfrm>
            <a:off x="5870301" y="1646965"/>
            <a:ext cx="5864193" cy="3911541"/>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Robert Schwarz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e.getSource() dice qué componente disparó el evento: un listener para varios botones.</a:t>
            </a:r>
          </a:p>
          <a:p>
            <a:pPr>
              <a:spcAft>
                <a:spcPts val="800"/>
              </a:spcAft>
            </a:pPr>
            <a:r>
              <a:rPr sz="2000" b="0" i="0">
                <a:solidFill>
                  <a:srgbClr val="333333"/>
                </a:solidFill>
                <a:latin typeface="Calibri"/>
              </a:rPr>
              <a:t>–   Si se llena de ifs, es más limpio un listener por botón.</a:t>
            </a:r>
          </a:p>
          <a:p>
            <a:pPr>
              <a:spcAft>
                <a:spcPts val="800"/>
              </a:spcAft>
            </a:pPr>
            <a:r>
              <a:rPr sz="2000" b="0" i="0">
                <a:solidFill>
                  <a:srgbClr val="333333"/>
                </a:solidFill>
                <a:latin typeface="Calibri"/>
              </a:rPr>
              <a:t>–   ItemListener (combo), ListSelectionListener (fila de tabla), WindowListener (cerrar).</a:t>
            </a:r>
          </a:p>
          <a:p>
            <a:pPr>
              <a:spcAft>
                <a:spcPts val="800"/>
              </a:spcAft>
            </a:pPr>
            <a:r>
              <a:rPr sz="2000" b="0" i="0">
                <a:solidFill>
                  <a:srgbClr val="333333"/>
                </a:solidFill>
                <a:latin typeface="Calibri"/>
              </a:rPr>
              <a:t>–   actionPerformed corre en el EDT: una tarea larga congela la ventana.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573813"/>
            <a:ext cx="6010497" cy="4057845"/>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aptop-code-live-demo.jpg"/>
          <p:cNvPicPr>
            <a:picLocks noChangeAspect="1"/>
          </p:cNvPicPr>
          <p:nvPr/>
        </p:nvPicPr>
        <p:blipFill>
          <a:blip r:embed="rId2"/>
          <a:stretch>
            <a:fillRect/>
          </a:stretch>
        </p:blipFill>
        <p:spPr>
          <a:xfrm>
            <a:off x="5870301" y="1646965"/>
            <a:ext cx="5864193" cy="3911541"/>
          </a:xfrm>
          <a:prstGeom prst="rect">
            <a:avLst/>
          </a:prstGeom>
        </p:spPr>
      </p:pic>
      <p:sp>
        <p:nvSpPr>
          <p:cNvPr id="7" name="TextBox 6"/>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Foto: olia danilevich · Pexels</a:t>
            </a:r>
          </a:p>
        </p:txBody>
      </p:sp>
      <p:sp>
        <p:nvSpPr>
          <p:cNvPr id="8" name="TextBox 7"/>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p>
          <a:p>
            <a:pPr>
              <a:spcAft>
                <a:spcPts val="800"/>
              </a:spcAft>
            </a:pPr>
            <a:r>
              <a:rPr sz="2000" b="0" i="0">
                <a:solidFill>
                  <a:srgbClr val="333333"/>
                </a:solidFill>
                <a:latin typeface="Calibri"/>
              </a:rPr>
              <a:t>–   Mismo dominio de la clinica — no otro ejemplo.</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6 · Eventos y controladores · ActionListener</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El boton que de verdad guarda</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