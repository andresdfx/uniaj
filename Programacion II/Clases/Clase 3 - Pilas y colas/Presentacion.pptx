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clase pasada nos dio un ArrayList, que es una herramienta poderosa justamente porque permite todo: agregar al final, insertar en la mitad, sacar de cualquier posicion, reordenar. Ese poder es un problema cuando lo que usted esta modelando tiene reglas. La sala de espera de la clinica tiene una regla sagrada: el que llega primero pasa primero. Si la sala de espera es un ArrayList, cualquier programador del equipo (o usted mismo a las once de la noche) puede escribir salaEspera.add(0, mascotaDelAmigo) y colar a alguien sin que nada falle: compila, corre y la clinica pierde la confianza de sus clientes. Una estructura restrictiva como Queue no ofrece ese metodo; simplemente no existe en su contrato, entonces el error se vuelve imposible de escribir. Esa es la idea grande de hoy: elegir la estructura mas limitada que resuelva el problema no es una limitacion tecnica, es una forma de blindar la regla del negocio dentro del tipo de dato.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cola, o Queue, funciona con disciplina FIFO: First In, First Out, el primero que entra es el primero que sale, igual que la fila del banco. En Java, Queue es una interfaz, no una clase, asi que se declara Queue&lt;Turno&gt; salaEspera = new LinkedList&lt;&gt;(); o new ArrayDeque&lt;&gt;(); intentar new Queue&lt;&gt;() no compila y ese es el primer error que veremos en pantalla. La cola tiene tres operaciones utiles y cada una viene en dos sabores: offer(x) agrega al final y devuelve false si no cabe (la version add lanza IllegalStateException en ese caso), poll() saca y devuelve el primero o null si esta vacia (la version remove lanza NoSuchElementException), y peek() mira el primero sin sacarlo o devuelve null (la version element tambien lanza excepcion). En el sistema de la clinica usamos siempre offer/poll/peek porque avisan con false o con null en vez de reventar, y en una recepcion que puede quedar vacia a media manana eso es exactamente lo que queremos. peek es lo que alimenta la pantalla de turnos que ve el publico; poll es lo que hace el medico cuando abre la puerta del consultorio.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pila, o Stack, funciona al reves: LIFO, Last In, First Out, como la pila de historias clinicas sobre el escritorio, donde uno siempre coge la de encima. Sus operaciones son push(x) para poner encima, pop() para sacar el de encima y peek() para mirarlo sin sacarlo. Java trae una clase llamada Stack, pero es codigo de 1995: hereda de Vector, esta sincronizada (lo que la hace mas lenta sin necesidad) y permite acceder por indice, con lo cual rompe la propia restriccion que dice defender. La practica actual es usar Deque&lt;String&gt; historial = new ArrayDeque&lt;&gt;(); y llamarle push/pop/peek, que es exactamente la misma API pero sobre una implementacion moderna. En el sistema de la clinica la pila guarda el historial de atenciones recientes: cada consulta terminada se apila, la pantalla del medico muestra siempre la de encima con peek, y si registro una atencion por equivocacion, pop la deshace. Eso es literalmente como funciona el Ctrl+Z de cualquier programa.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Vale la pena entender por que estas estructuras son rapidas, porque ahi esta el argumento tecnico y no solo el pedagogico. ArrayDeque es un arreglo circular con dos punteros, uno al frente y otro al final: cuando usted saca del frente no mueve ni un elemento, solo corre el puntero, y cuando el puntero llega al final del arreglo da la vuelta al inicio. Por eso agregar y sacar por cualquiera de los dos extremos cuesta tiempo constante. LinkedList, en cambio, es una cadena de nodos donde cada nodo apunta al siguiente y al anterior, asi que sacar el primero es simplemente mover la cabeza de la cadena. Compare eso con usar un ArrayList como cola: mascotas.remove(0) obliga a desplazar todos los elementos restantes un puesto hacia la izquierda, lo que en una jornada de 300 turnos significa decenas de miles de movimientos innecesarios. La estructura correcta no solo previene errores de negocio, tambien evita que el programa se arrastre.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punto que confunde mucho: una cola no se recorre para buscar. Si usted se descubre iterando la sala de espera para encontrar a Firulais y sacarlo del medio, la senal es que ese caso de uso no es una cola pura, y que necesita otra estructura al lado (por ejemplo un Deque que permita addFirst para urgencias, o un HashMap que veremos la proxima clase). En el sistema de la clinica resolvemos la urgencia sin traicionar el modelo: usamos Deque&lt;Turno&gt; y decimos addLast para el que llega normal y addFirst para el caso critico, dejando explicito en el codigo que colarse es una operacion excepcional y con nombre propio, no un accidente. Ademas, recorrer una cola con for-each la muestra pero no la consume; muchos estudiantes imprimen la cola con un for-each, ven todos los turnos y creen que ya los atendieron, cuando en realidad size() sigue igual. Consumir es poll; mirar es peek o for-each.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Visual Studio Code (Java)</a:t>
            </a:r>
          </a:p>
          <a:p/>
          <a:p>
            <a:r>
              <a:t>Demo: El docente encola cuatro mascotas, muestra en pantalla la diferencia entre peek() y poll() atendiendo en orden de llegada, y luego usa push/pop para deshacer la ultima atencion registrada.</a:t>
            </a:r>
          </a:p>
          <a:p/>
          <a:p>
            <a:r>
              <a:t>Mismo dominio de la clinica — no otro ejemplo.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3</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Pilas y colas · Stack y Queue</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Cuando restringir el acceso hace el software mas seguro</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Rounded Rectangle 4"/>
          <p:cNvSpPr/>
          <p:nvPr/>
        </p:nvSpPr>
        <p:spPr>
          <a:xfrm>
            <a:off x="5797149" y="1573813"/>
            <a:ext cx="6010497" cy="4057845"/>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otebook-planning-desk-coffee.jpg"/>
          <p:cNvPicPr>
            <a:picLocks noChangeAspect="1"/>
          </p:cNvPicPr>
          <p:nvPr/>
        </p:nvPicPr>
        <p:blipFill>
          <a:blip r:embed="rId2"/>
          <a:stretch>
            <a:fillRect/>
          </a:stretch>
        </p:blipFill>
        <p:spPr>
          <a:xfrm>
            <a:off x="5870301" y="1646965"/>
            <a:ext cx="5864193" cy="3911541"/>
          </a:xfrm>
          <a:prstGeom prst="rect">
            <a:avLst/>
          </a:prstGeom>
        </p:spPr>
      </p:pic>
      <p:sp>
        <p:nvSpPr>
          <p:cNvPr id="7" name="TextBox 6"/>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Foto: Cup of  Couple · Pexels</a:t>
            </a:r>
          </a:p>
        </p:txBody>
      </p:sp>
      <p:sp>
        <p:nvSpPr>
          <p:cNvPr id="8" name="TextBox 7"/>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Pilas y colas · Stack y Queue — Cuando restringir el acceso hace el software mas seguro</a:t>
            </a:r>
          </a:p>
          <a:p>
            <a:pPr>
              <a:spcAft>
                <a:spcPts val="800"/>
              </a:spcAft>
            </a:pPr>
            <a:r>
              <a:rPr sz="2000" b="0" i="0">
                <a:solidFill>
                  <a:srgbClr val="333333"/>
                </a:solidFill>
                <a:latin typeface="Calibri"/>
              </a:rPr>
              <a:t>–   Herramienta: </a:t>
            </a:r>
            <a:r>
              <a:rPr sz="2000" b="1" i="0">
                <a:solidFill>
                  <a:srgbClr val="333333"/>
                </a:solidFill>
                <a:latin typeface="Calibri"/>
              </a:rPr>
              <a:t>Visual Studio Code (Java)</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Primero el concepto, despues el codigo que lo muestra y la demo en vivo.</a:t>
            </a:r>
          </a:p>
          <a:p>
            <a:pPr>
              <a:spcAft>
                <a:spcPts val="800"/>
              </a:spcAft>
            </a:pPr>
            <a:r>
              <a:rPr sz="2000" b="0" i="0">
                <a:solidFill>
                  <a:srgbClr val="333333"/>
                </a:solidFill>
                <a:latin typeface="Calibri"/>
              </a:rPr>
              <a:t>–   Todo con el mismo dominio: una clinica veterinaria.</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 de la clase anterior</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el tema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sobre el codigo de la demo</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Repaso de conceptos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Cuando la lista permite demasiado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a-vs-col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lista-vs-col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lista-vs-col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ArrayList deja agregar, insertar, sacar y reordenar en cualquier posición.</a:t>
            </a:r>
          </a:p>
          <a:p>
            <a:pPr>
              <a:spcAft>
                <a:spcPts val="800"/>
              </a:spcAft>
            </a:pPr>
            <a:r>
              <a:rPr sz="2000" b="0" i="0">
                <a:solidFill>
                  <a:srgbClr val="333333"/>
                </a:solidFill>
                <a:latin typeface="Calibri"/>
              </a:rPr>
              <a:t>–   La sala de espera tiene una regla: el que llega primero pasa primero.</a:t>
            </a:r>
          </a:p>
          <a:p>
            <a:pPr>
              <a:spcAft>
                <a:spcPts val="800"/>
              </a:spcAft>
            </a:pPr>
            <a:r>
              <a:rPr sz="2000" b="0" i="0">
                <a:solidFill>
                  <a:srgbClr val="333333"/>
                </a:solidFill>
                <a:latin typeface="Calibri"/>
              </a:rPr>
              <a:t>–   Con un ArrayList, add(0, otro) cuela a alguien y compila sin queja.</a:t>
            </a:r>
          </a:p>
          <a:p>
            <a:pPr>
              <a:spcAft>
                <a:spcPts val="800"/>
              </a:spcAft>
            </a:pPr>
            <a:r>
              <a:rPr sz="2000" b="0" i="0">
                <a:solidFill>
                  <a:srgbClr val="333333"/>
                </a:solidFill>
                <a:latin typeface="Calibri"/>
              </a:rPr>
              <a:t>–   Elegir la estructura más limitada que resuelve el problema blinda la regla del negocio.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cola: FIFO con Queue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la-fif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ola-fif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ola-fifo-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cola-fifo-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First In, First Out: el primero que entra es el primero que sale, como la fila del banco.</a:t>
            </a:r>
          </a:p>
          <a:p>
            <a:pPr>
              <a:spcAft>
                <a:spcPts val="800"/>
              </a:spcAft>
            </a:pPr>
            <a:r>
              <a:rPr sz="2000" b="0" i="0">
                <a:solidFill>
                  <a:srgbClr val="333333"/>
                </a:solidFill>
                <a:latin typeface="Calibri"/>
              </a:rPr>
              <a:t>–   Queue es una interfaz: Queue&lt;Turno&gt; sala = new LinkedList&lt;&gt;(); new Queue&lt;&gt;() no compila.</a:t>
            </a:r>
          </a:p>
          <a:p>
            <a:pPr>
              <a:spcAft>
                <a:spcPts val="800"/>
              </a:spcAft>
            </a:pPr>
            <a:r>
              <a:rPr sz="2000" b="0" i="0">
                <a:solidFill>
                  <a:srgbClr val="333333"/>
                </a:solidFill>
                <a:latin typeface="Calibri"/>
              </a:rPr>
              <a:t>–   offer agrega al final, peek mira el primero sin sacarlo, poll lo saca.</a:t>
            </a:r>
          </a:p>
          <a:p>
            <a:pPr>
              <a:spcAft>
                <a:spcPts val="800"/>
              </a:spcAft>
            </a:pPr>
            <a:r>
              <a:rPr sz="2000" b="0" i="0">
                <a:solidFill>
                  <a:srgbClr val="333333"/>
                </a:solidFill>
                <a:latin typeface="Calibri"/>
              </a:rPr>
              <a:t>–   Con cola vacía, poll y peek devuelven null en vez de lanzar excepción.</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Turno: lo que guarda la cola</a:t>
            </a:r>
          </a:p>
        </p:txBody>
      </p:sp>
      <p:sp>
        <p:nvSpPr>
          <p:cNvPr id="5" name="Rounded Rectangle 4"/>
          <p:cNvSpPr/>
          <p:nvPr/>
        </p:nvSpPr>
        <p:spPr>
          <a:xfrm>
            <a:off x="457200" y="1261872"/>
            <a:ext cx="11277295" cy="387256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278207"/>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a:p>
            <a:pPr algn="r">
              <a:spcAft>
                <a:spcPts val="428"/>
              </a:spcAft>
            </a:pPr>
            <a:r>
              <a:rPr sz="2000" i="0" b="0">
                <a:solidFill>
                  <a:srgbClr val="858585"/>
                </a:solidFill>
                <a:latin typeface="Consolas"/>
              </a:rPr>
              <a:t>7</a:t>
            </a:r>
          </a:p>
          <a:p>
            <a:pPr algn="r">
              <a:spcAft>
                <a:spcPts val="428"/>
              </a:spcAft>
            </a:pPr>
            <a:r>
              <a:rPr sz="2000" i="0" b="0">
                <a:solidFill>
                  <a:srgbClr val="858585"/>
                </a:solidFill>
                <a:latin typeface="Consolas"/>
              </a:rPr>
              <a:t>8</a:t>
            </a:r>
          </a:p>
          <a:p>
            <a:pPr algn="r">
              <a:spcAft>
                <a:spcPts val="428"/>
              </a:spcAft>
            </a:pPr>
            <a:r>
              <a:rPr sz="2000" i="0" b="0">
                <a:solidFill>
                  <a:srgbClr val="858585"/>
                </a:solidFill>
                <a:latin typeface="Consolas"/>
              </a:rPr>
              <a:t>9</a:t>
            </a:r>
          </a:p>
        </p:txBody>
      </p:sp>
      <p:sp>
        <p:nvSpPr>
          <p:cNvPr id="12" name="TextBox 11"/>
          <p:cNvSpPr txBox="1"/>
          <p:nvPr/>
        </p:nvSpPr>
        <p:spPr>
          <a:xfrm>
            <a:off x="1188720" y="1719072"/>
            <a:ext cx="10271455" cy="3278207"/>
          </a:xfrm>
          <a:prstGeom prst="rect">
            <a:avLst/>
          </a:prstGeom>
          <a:noFill/>
        </p:spPr>
        <p:txBody>
          <a:bodyPr wrap="square">
            <a:spAutoFit/>
          </a:bodyPr>
          <a:lstStyle/>
          <a:p>
            <a:pPr>
              <a:spcAft>
                <a:spcPts val="428"/>
              </a:spcAft>
            </a:pPr>
            <a:r>
              <a:rPr sz="2000" i="0" b="0">
                <a:solidFill>
                  <a:srgbClr val="569CD6"/>
                </a:solidFill>
                <a:latin typeface="Consolas"/>
              </a:rPr>
              <a:t>private</a:t>
            </a:r>
            <a:r>
              <a:rPr sz="2000" i="0" b="0">
                <a:solidFill>
                  <a:srgbClr val="D4D4D4"/>
                </a:solidFill>
                <a:latin typeface="Consolas"/>
              </a:rPr>
              <a:t> </a:t>
            </a:r>
            <a:r>
              <a:rPr sz="2000" i="0" b="0">
                <a:solidFill>
                  <a:srgbClr val="569CD6"/>
                </a:solidFill>
                <a:latin typeface="Consolas"/>
              </a:rPr>
              <a:t>final</a:t>
            </a:r>
            <a:r>
              <a:rPr sz="2000" i="0" b="0">
                <a:solidFill>
                  <a:srgbClr val="D4D4D4"/>
                </a:solidFill>
                <a:latin typeface="Consolas"/>
              </a:rPr>
              <a:t> </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id</a:t>
            </a:r>
            <a:r>
              <a:rPr sz="2000" i="0" b="0">
                <a:solidFill>
                  <a:srgbClr val="D4D4D4"/>
                </a:solidFill>
                <a:latin typeface="Consolas"/>
              </a:rPr>
              <a:t>;</a:t>
            </a:r>
          </a:p>
          <a:p>
            <a:pPr>
              <a:spcAft>
                <a:spcPts val="428"/>
              </a:spcAft>
            </a:pPr>
            <a:r>
              <a:rPr sz="2000" i="0" b="0">
                <a:solidFill>
                  <a:srgbClr val="569CD6"/>
                </a:solidFill>
                <a:latin typeface="Consolas"/>
              </a:rPr>
              <a:t>private</a:t>
            </a:r>
            <a:r>
              <a:rPr sz="2000" i="0" b="0">
                <a:solidFill>
                  <a:srgbClr val="D4D4D4"/>
                </a:solidFill>
                <a:latin typeface="Consolas"/>
              </a:rPr>
              <a:t> </a:t>
            </a:r>
            <a:r>
              <a:rPr sz="2000" i="0" b="0">
                <a:solidFill>
                  <a:srgbClr val="569CD6"/>
                </a:solidFill>
                <a:latin typeface="Consolas"/>
              </a:rPr>
              <a:t>final</a:t>
            </a:r>
            <a:r>
              <a:rPr sz="2000" i="0" b="0">
                <a:solidFill>
                  <a:srgbClr val="D4D4D4"/>
                </a:solidFill>
                <a:latin typeface="Consolas"/>
              </a:rPr>
              <a:t> </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nombre</a:t>
            </a:r>
            <a:r>
              <a:rPr sz="2000" i="0" b="0">
                <a:solidFill>
                  <a:srgbClr val="D4D4D4"/>
                </a:solidFill>
                <a:latin typeface="Consolas"/>
              </a:rPr>
              <a:t>;</a:t>
            </a:r>
          </a:p>
          <a:p>
            <a:pPr>
              <a:spcAft>
                <a:spcPts val="428"/>
              </a:spcAft>
            </a:pPr>
            <a:r>
              <a:rPr sz="2000" i="0" b="0">
                <a:solidFill>
                  <a:srgbClr val="569CD6"/>
                </a:solidFill>
                <a:latin typeface="Consolas"/>
              </a:rPr>
              <a:t>private</a:t>
            </a:r>
            <a:r>
              <a:rPr sz="2000" i="0" b="0">
                <a:solidFill>
                  <a:srgbClr val="D4D4D4"/>
                </a:solidFill>
                <a:latin typeface="Consolas"/>
              </a:rPr>
              <a:t> </a:t>
            </a:r>
            <a:r>
              <a:rPr sz="2000" i="0" b="0">
                <a:solidFill>
                  <a:srgbClr val="569CD6"/>
                </a:solidFill>
                <a:latin typeface="Consolas"/>
              </a:rPr>
              <a:t>final</a:t>
            </a:r>
            <a:r>
              <a:rPr sz="2000" i="0" b="0">
                <a:solidFill>
                  <a:srgbClr val="D4D4D4"/>
                </a:solidFill>
                <a:latin typeface="Consolas"/>
              </a:rPr>
              <a:t> </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dueno</a:t>
            </a:r>
            <a:r>
              <a:rPr sz="2000" i="0" b="0">
                <a:solidFill>
                  <a:srgbClr val="D4D4D4"/>
                </a:solidFill>
                <a:latin typeface="Consolas"/>
              </a:rPr>
              <a:t>;</a:t>
            </a:r>
          </a:p>
          <a:p>
            <a:pPr>
              <a:spcAft>
                <a:spcPts val="428"/>
              </a:spcAft>
            </a:pPr>
            <a:r>
              <a:rPr sz="2000" i="0" b="0">
                <a:solidFill>
                  <a:srgbClr val="569CD6"/>
                </a:solidFill>
                <a:latin typeface="Consolas"/>
              </a:rPr>
              <a:t>private</a:t>
            </a:r>
            <a:r>
              <a:rPr sz="2000" i="0" b="0">
                <a:solidFill>
                  <a:srgbClr val="D4D4D4"/>
                </a:solidFill>
                <a:latin typeface="Consolas"/>
              </a:rPr>
              <a:t> </a:t>
            </a:r>
            <a:r>
              <a:rPr sz="2000" i="0" b="0">
                <a:solidFill>
                  <a:srgbClr val="569CD6"/>
                </a:solidFill>
                <a:latin typeface="Consolas"/>
              </a:rPr>
              <a:t>final</a:t>
            </a:r>
            <a:r>
              <a:rPr sz="2000" i="0" b="0">
                <a:solidFill>
                  <a:srgbClr val="D4D4D4"/>
                </a:solidFill>
                <a:latin typeface="Consolas"/>
              </a:rPr>
              <a:t> </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motivo</a:t>
            </a:r>
            <a:r>
              <a:rPr sz="2000" i="0" b="0">
                <a:solidFill>
                  <a:srgbClr val="D4D4D4"/>
                </a:solidFill>
                <a:latin typeface="Consolas"/>
              </a:rPr>
              <a:t>;</a:t>
            </a:r>
          </a:p>
          <a:p>
            <a:pPr>
              <a:spcAft>
                <a:spcPts val="428"/>
              </a:spcAft>
            </a:pPr>
            <a:r>
              <a:rPr sz="2000" i="0" b="0">
                <a:solidFill>
                  <a:srgbClr val="D4D4D4"/>
                </a:solidFill>
                <a:latin typeface="Consolas"/>
              </a:rPr>
              <a:t/>
            </a:r>
          </a:p>
          <a:p>
            <a:pPr>
              <a:spcAft>
                <a:spcPts val="428"/>
              </a:spcAft>
            </a:pPr>
            <a:r>
              <a:rPr sz="2000" i="0" b="0">
                <a:solidFill>
                  <a:srgbClr val="D4D4D4"/>
                </a:solidFill>
                <a:latin typeface="Consolas"/>
              </a:rPr>
              <a:t>@</a:t>
            </a:r>
            <a:r>
              <a:rPr sz="2000" i="0" b="0">
                <a:solidFill>
                  <a:srgbClr val="D4D4D4"/>
                </a:solidFill>
                <a:latin typeface="Consolas"/>
              </a:rPr>
              <a:t>Override</a:t>
            </a:r>
          </a:p>
          <a:p>
            <a:pPr>
              <a:spcAft>
                <a:spcPts val="428"/>
              </a:spcAft>
            </a:pPr>
            <a:r>
              <a:rPr sz="2000" i="0" b="0">
                <a:solidFill>
                  <a:srgbClr val="569CD6"/>
                </a:solidFill>
                <a:latin typeface="Consolas"/>
              </a:rPr>
              <a:t>public</a:t>
            </a:r>
            <a:r>
              <a:rPr sz="2000" i="0" b="0">
                <a:solidFill>
                  <a:srgbClr val="D4D4D4"/>
                </a:solidFill>
                <a:latin typeface="Consolas"/>
              </a:rPr>
              <a:t> </a:t>
            </a:r>
            <a:r>
              <a:rPr sz="2000" i="0" b="0">
                <a:solidFill>
                  <a:srgbClr val="4EC9B0"/>
                </a:solidFill>
                <a:latin typeface="Consolas"/>
              </a:rPr>
              <a:t>String</a:t>
            </a:r>
            <a:r>
              <a:rPr sz="2000" i="0" b="0">
                <a:solidFill>
                  <a:srgbClr val="D4D4D4"/>
                </a:solidFill>
                <a:latin typeface="Consolas"/>
              </a:rPr>
              <a:t> </a:t>
            </a:r>
            <a:r>
              <a:rPr sz="2000" i="0" b="0">
                <a:solidFill>
                  <a:srgbClr val="DCDCAA"/>
                </a:solidFill>
                <a:latin typeface="Consolas"/>
              </a:rPr>
              <a:t>toString</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569CD6"/>
                </a:solidFill>
                <a:latin typeface="Consolas"/>
              </a:rPr>
              <a:t>return</a:t>
            </a:r>
            <a:r>
              <a:rPr sz="2000" i="0" b="0">
                <a:solidFill>
                  <a:srgbClr val="D4D4D4"/>
                </a:solidFill>
                <a:latin typeface="Consolas"/>
              </a:rPr>
              <a:t> </a:t>
            </a:r>
            <a:r>
              <a:rPr sz="2000" i="0" b="0">
                <a:solidFill>
                  <a:srgbClr val="D4D4D4"/>
                </a:solidFill>
                <a:latin typeface="Consolas"/>
              </a:rPr>
              <a:t>nombre</a:t>
            </a:r>
            <a:r>
              <a:rPr sz="2000" i="0" b="0">
                <a:solidFill>
                  <a:srgbClr val="D4D4D4"/>
                </a:solidFill>
                <a:latin typeface="Consolas"/>
              </a:rPr>
              <a:t> + </a:t>
            </a:r>
            <a:r>
              <a:rPr sz="2000" i="0" b="0">
                <a:solidFill>
                  <a:srgbClr val="CE9178"/>
                </a:solidFill>
                <a:latin typeface="Consolas"/>
              </a:rPr>
              <a:t>" ("</a:t>
            </a:r>
            <a:r>
              <a:rPr sz="2000" i="0" b="0">
                <a:solidFill>
                  <a:srgbClr val="D4D4D4"/>
                </a:solidFill>
                <a:latin typeface="Consolas"/>
              </a:rPr>
              <a:t> + </a:t>
            </a:r>
            <a:r>
              <a:rPr sz="2000" i="0" b="0">
                <a:solidFill>
                  <a:srgbClr val="D4D4D4"/>
                </a:solidFill>
                <a:latin typeface="Consolas"/>
              </a:rPr>
              <a:t>id</a:t>
            </a:r>
            <a:r>
              <a:rPr sz="2000" i="0" b="0">
                <a:solidFill>
                  <a:srgbClr val="D4D4D4"/>
                </a:solidFill>
                <a:latin typeface="Consolas"/>
              </a:rPr>
              <a:t> + </a:t>
            </a:r>
            <a:r>
              <a:rPr sz="2000" i="0" b="0">
                <a:solidFill>
                  <a:srgbClr val="CE9178"/>
                </a:solidFill>
                <a:latin typeface="Consolas"/>
              </a:rPr>
              <a:t>") - "</a:t>
            </a:r>
            <a:r>
              <a:rPr sz="2000" i="0" b="0">
                <a:solidFill>
                  <a:srgbClr val="D4D4D4"/>
                </a:solidFill>
                <a:latin typeface="Consolas"/>
              </a:rPr>
              <a:t> + </a:t>
            </a:r>
            <a:r>
              <a:rPr sz="2000" i="0" b="0">
                <a:solidFill>
                  <a:srgbClr val="D4D4D4"/>
                </a:solidFill>
                <a:latin typeface="Consolas"/>
              </a:rPr>
              <a:t>motivo</a:t>
            </a:r>
            <a:r>
              <a:rPr sz="2000" i="0" b="0">
                <a:solidFill>
                  <a:srgbClr val="D4D4D4"/>
                </a:solidFill>
                <a:latin typeface="Consolas"/>
              </a:rPr>
              <a:t> + </a:t>
            </a:r>
            <a:r>
              <a:rPr sz="2000" i="0" b="0">
                <a:solidFill>
                  <a:srgbClr val="CE9178"/>
                </a:solidFill>
                <a:latin typeface="Consolas"/>
              </a:rPr>
              <a:t>" | dueno: "</a:t>
            </a:r>
            <a:r>
              <a:rPr sz="2000" i="0" b="0">
                <a:solidFill>
                  <a:srgbClr val="D4D4D4"/>
                </a:solidFill>
                <a:latin typeface="Consolas"/>
              </a:rPr>
              <a:t> + </a:t>
            </a:r>
            <a:r>
              <a:rPr sz="2000" i="0" b="0">
                <a:solidFill>
                  <a:srgbClr val="D4D4D4"/>
                </a:solidFill>
                <a:latin typeface="Consolas"/>
              </a:rPr>
              <a:t>dueno</a:t>
            </a:r>
            <a:r>
              <a:rPr sz="2000" i="0" b="0">
                <a:solidFill>
                  <a:srgbClr val="D4D4D4"/>
                </a:solidFill>
                <a:latin typeface="Consolas"/>
              </a:rPr>
              <a:t>;</a:t>
            </a:r>
          </a:p>
          <a:p>
            <a:pPr>
              <a:spcAft>
                <a:spcPts val="428"/>
              </a:spcAft>
            </a:pP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ClinicaSalaDeEspera.java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SalaDeEspera: offer y peek</a:t>
            </a:r>
          </a:p>
        </p:txBody>
      </p:sp>
      <p:sp>
        <p:nvSpPr>
          <p:cNvPr id="5" name="Rounded Rectangle 4"/>
          <p:cNvSpPr/>
          <p:nvPr/>
        </p:nvSpPr>
        <p:spPr>
          <a:xfrm>
            <a:off x="457200" y="1261872"/>
            <a:ext cx="11277295" cy="4398352"/>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803992"/>
          </a:xfrm>
          <a:prstGeom prst="rect">
            <a:avLst/>
          </a:prstGeom>
          <a:noFill/>
        </p:spPr>
        <p:txBody>
          <a:bodyPr wrap="square">
            <a:spAutoFit/>
          </a:bodyPr>
          <a:lstStyle/>
          <a:p>
            <a:pPr algn="r">
              <a:spcAft>
                <a:spcPts val="407"/>
              </a:spcAft>
            </a:pPr>
            <a:r>
              <a:rPr sz="1900" i="0" b="0">
                <a:solidFill>
                  <a:srgbClr val="858585"/>
                </a:solidFill>
                <a:latin typeface="Consolas"/>
              </a:rPr>
              <a:t>1</a:t>
            </a:r>
          </a:p>
          <a:p>
            <a:pPr algn="r">
              <a:spcAft>
                <a:spcPts val="407"/>
              </a:spcAft>
            </a:pPr>
            <a:r>
              <a:rPr sz="1900" i="0" b="0">
                <a:solidFill>
                  <a:srgbClr val="858585"/>
                </a:solidFill>
                <a:latin typeface="Consolas"/>
              </a:rPr>
              <a:t>2</a:t>
            </a:r>
          </a:p>
          <a:p>
            <a:pPr algn="r">
              <a:spcAft>
                <a:spcPts val="407"/>
              </a:spcAft>
            </a:pPr>
            <a:r>
              <a:rPr sz="1900" i="0" b="0">
                <a:solidFill>
                  <a:srgbClr val="858585"/>
                </a:solidFill>
                <a:latin typeface="Consolas"/>
              </a:rPr>
              <a:t>3</a:t>
            </a:r>
          </a:p>
          <a:p>
            <a:pPr algn="r">
              <a:spcAft>
                <a:spcPts val="407"/>
              </a:spcAft>
            </a:pPr>
            <a:r>
              <a:rPr sz="1900" i="0" b="0">
                <a:solidFill>
                  <a:srgbClr val="858585"/>
                </a:solidFill>
                <a:latin typeface="Consolas"/>
              </a:rPr>
              <a:t>4</a:t>
            </a:r>
          </a:p>
          <a:p>
            <a:pPr algn="r">
              <a:spcAft>
                <a:spcPts val="407"/>
              </a:spcAft>
            </a:pPr>
            <a:r>
              <a:rPr sz="1900" i="0" b="0">
                <a:solidFill>
                  <a:srgbClr val="858585"/>
                </a:solidFill>
                <a:latin typeface="Consolas"/>
              </a:rPr>
              <a:t>5</a:t>
            </a:r>
          </a:p>
          <a:p>
            <a:pPr algn="r">
              <a:spcAft>
                <a:spcPts val="407"/>
              </a:spcAft>
            </a:pPr>
            <a:r>
              <a:rPr sz="1900" i="0" b="0">
                <a:solidFill>
                  <a:srgbClr val="858585"/>
                </a:solidFill>
                <a:latin typeface="Consolas"/>
              </a:rPr>
              <a:t>6</a:t>
            </a:r>
          </a:p>
          <a:p>
            <a:pPr algn="r">
              <a:spcAft>
                <a:spcPts val="407"/>
              </a:spcAft>
            </a:pPr>
            <a:r>
              <a:rPr sz="1900" i="0" b="0">
                <a:solidFill>
                  <a:srgbClr val="858585"/>
                </a:solidFill>
                <a:latin typeface="Consolas"/>
              </a:rPr>
              <a:t>7</a:t>
            </a:r>
          </a:p>
          <a:p>
            <a:pPr algn="r">
              <a:spcAft>
                <a:spcPts val="407"/>
              </a:spcAft>
            </a:pPr>
            <a:r>
              <a:rPr sz="1900" i="0" b="0">
                <a:solidFill>
                  <a:srgbClr val="858585"/>
                </a:solidFill>
                <a:latin typeface="Consolas"/>
              </a:rPr>
              <a:t>8</a:t>
            </a:r>
          </a:p>
          <a:p>
            <a:pPr algn="r">
              <a:spcAft>
                <a:spcPts val="407"/>
              </a:spcAft>
            </a:pPr>
            <a:r>
              <a:rPr sz="1900" i="0" b="0">
                <a:solidFill>
                  <a:srgbClr val="858585"/>
                </a:solidFill>
                <a:latin typeface="Consolas"/>
              </a:rPr>
              <a:t>9</a:t>
            </a:r>
          </a:p>
          <a:p>
            <a:pPr algn="r">
              <a:spcAft>
                <a:spcPts val="407"/>
              </a:spcAft>
            </a:pPr>
            <a:r>
              <a:rPr sz="1900" i="0" b="0">
                <a:solidFill>
                  <a:srgbClr val="858585"/>
                </a:solidFill>
                <a:latin typeface="Consolas"/>
              </a:rPr>
              <a:t>10</a:t>
            </a:r>
          </a:p>
          <a:p>
            <a:pPr algn="r">
              <a:spcAft>
                <a:spcPts val="407"/>
              </a:spcAft>
            </a:pPr>
            <a:r>
              <a:rPr sz="1900" i="0" b="0">
                <a:solidFill>
                  <a:srgbClr val="858585"/>
                </a:solidFill>
                <a:latin typeface="Consolas"/>
              </a:rPr>
              <a:t>11</a:t>
            </a:r>
          </a:p>
        </p:txBody>
      </p:sp>
      <p:sp>
        <p:nvSpPr>
          <p:cNvPr id="12" name="TextBox 11"/>
          <p:cNvSpPr txBox="1"/>
          <p:nvPr/>
        </p:nvSpPr>
        <p:spPr>
          <a:xfrm>
            <a:off x="1188720" y="1719072"/>
            <a:ext cx="10271455" cy="3803992"/>
          </a:xfrm>
          <a:prstGeom prst="rect">
            <a:avLst/>
          </a:prstGeom>
          <a:noFill/>
        </p:spPr>
        <p:txBody>
          <a:bodyPr wrap="square">
            <a:spAutoFit/>
          </a:bodyPr>
          <a:lstStyle/>
          <a:p>
            <a:pPr>
              <a:spcAft>
                <a:spcPts val="407"/>
              </a:spcAft>
            </a:pPr>
            <a:r>
              <a:rPr sz="1900" i="0" b="0">
                <a:solidFill>
                  <a:srgbClr val="569CD6"/>
                </a:solidFill>
                <a:latin typeface="Consolas"/>
              </a:rPr>
              <a:t>private</a:t>
            </a:r>
            <a:r>
              <a:rPr sz="1900" i="0" b="0">
                <a:solidFill>
                  <a:srgbClr val="D4D4D4"/>
                </a:solidFill>
                <a:latin typeface="Consolas"/>
              </a:rPr>
              <a:t> </a:t>
            </a:r>
            <a:r>
              <a:rPr sz="1900" i="0" b="0">
                <a:solidFill>
                  <a:srgbClr val="569CD6"/>
                </a:solidFill>
                <a:latin typeface="Consolas"/>
              </a:rPr>
              <a:t>final</a:t>
            </a:r>
            <a:r>
              <a:rPr sz="1900" i="0" b="0">
                <a:solidFill>
                  <a:srgbClr val="D4D4D4"/>
                </a:solidFill>
                <a:latin typeface="Consolas"/>
              </a:rPr>
              <a:t> </a:t>
            </a:r>
            <a:r>
              <a:rPr sz="1900" i="0" b="0">
                <a:solidFill>
                  <a:srgbClr val="4EC9B0"/>
                </a:solidFill>
                <a:latin typeface="Consolas"/>
              </a:rPr>
              <a:t>Queue</a:t>
            </a:r>
            <a:r>
              <a:rPr sz="1900" i="0" b="0">
                <a:solidFill>
                  <a:srgbClr val="D4D4D4"/>
                </a:solidFill>
                <a:latin typeface="Consolas"/>
              </a:rPr>
              <a:t>&lt;</a:t>
            </a:r>
            <a:r>
              <a:rPr sz="1900" i="0" b="0">
                <a:solidFill>
                  <a:srgbClr val="D4D4D4"/>
                </a:solidFill>
                <a:latin typeface="Consolas"/>
              </a:rPr>
              <a:t>Turno</a:t>
            </a:r>
            <a:r>
              <a:rPr sz="1900" i="0" b="0">
                <a:solidFill>
                  <a:srgbClr val="D4D4D4"/>
                </a:solidFill>
                <a:latin typeface="Consolas"/>
              </a:rPr>
              <a:t>&gt; </a:t>
            </a:r>
            <a:r>
              <a:rPr sz="1900" i="0" b="0">
                <a:solidFill>
                  <a:srgbClr val="D4D4D4"/>
                </a:solidFill>
                <a:latin typeface="Consolas"/>
              </a:rPr>
              <a:t>cola</a:t>
            </a:r>
            <a:r>
              <a:rPr sz="1900" i="0" b="0">
                <a:solidFill>
                  <a:srgbClr val="D4D4D4"/>
                </a:solidFill>
                <a:latin typeface="Consolas"/>
              </a:rPr>
              <a:t> = </a:t>
            </a:r>
            <a:r>
              <a:rPr sz="1900" i="0" b="0">
                <a:solidFill>
                  <a:srgbClr val="569CD6"/>
                </a:solidFill>
                <a:latin typeface="Consolas"/>
              </a:rPr>
              <a:t>new</a:t>
            </a:r>
            <a:r>
              <a:rPr sz="1900" i="0" b="0">
                <a:solidFill>
                  <a:srgbClr val="D4D4D4"/>
                </a:solidFill>
                <a:latin typeface="Consolas"/>
              </a:rPr>
              <a:t> </a:t>
            </a:r>
            <a:r>
              <a:rPr sz="1900" i="0" b="0">
                <a:solidFill>
                  <a:srgbClr val="4EC9B0"/>
                </a:solidFill>
                <a:latin typeface="Consolas"/>
              </a:rPr>
              <a:t>LinkedList</a:t>
            </a:r>
            <a:r>
              <a:rPr sz="1900" i="0" b="0">
                <a:solidFill>
                  <a:srgbClr val="D4D4D4"/>
                </a:solidFill>
                <a:latin typeface="Consolas"/>
              </a:rPr>
              <a:t>&lt;&gt;(); </a:t>
            </a:r>
            <a:r>
              <a:rPr sz="1900" i="1" b="0">
                <a:solidFill>
                  <a:srgbClr val="6A9955"/>
                </a:solidFill>
                <a:latin typeface="Consolas"/>
              </a:rPr>
              <a:t>// Queue es interfaz</a:t>
            </a:r>
          </a:p>
          <a:p>
            <a:pPr>
              <a:spcAft>
                <a:spcPts val="407"/>
              </a:spcAft>
            </a:pPr>
            <a:r>
              <a:rPr sz="1900" i="0" b="0">
                <a:solidFill>
                  <a:srgbClr val="D4D4D4"/>
                </a:solidFill>
                <a:latin typeface="Consolas"/>
              </a:rPr>
              <a:t/>
            </a:r>
          </a:p>
          <a:p>
            <a:pPr>
              <a:spcAft>
                <a:spcPts val="407"/>
              </a:spcAft>
            </a:pPr>
            <a:r>
              <a:rPr sz="1900" i="0" b="0">
                <a:solidFill>
                  <a:srgbClr val="569CD6"/>
                </a:solidFill>
                <a:latin typeface="Consolas"/>
              </a:rPr>
              <a:t>public</a:t>
            </a:r>
            <a:r>
              <a:rPr sz="1900" i="0" b="0">
                <a:solidFill>
                  <a:srgbClr val="D4D4D4"/>
                </a:solidFill>
                <a:latin typeface="Consolas"/>
              </a:rPr>
              <a:t> </a:t>
            </a:r>
            <a:r>
              <a:rPr sz="1900" i="0" b="0">
                <a:solidFill>
                  <a:srgbClr val="4EC9B0"/>
                </a:solidFill>
                <a:latin typeface="Consolas"/>
              </a:rPr>
              <a:t>int</a:t>
            </a:r>
            <a:r>
              <a:rPr sz="1900" i="0" b="0">
                <a:solidFill>
                  <a:srgbClr val="D4D4D4"/>
                </a:solidFill>
                <a:latin typeface="Consolas"/>
              </a:rPr>
              <a:t> </a:t>
            </a:r>
            <a:r>
              <a:rPr sz="1900" i="0" b="0">
                <a:solidFill>
                  <a:srgbClr val="DCDCAA"/>
                </a:solidFill>
                <a:latin typeface="Consolas"/>
              </a:rPr>
              <a:t>registrarLlegada</a:t>
            </a:r>
            <a:r>
              <a:rPr sz="1900" i="0" b="0">
                <a:solidFill>
                  <a:srgbClr val="D4D4D4"/>
                </a:solidFill>
                <a:latin typeface="Consolas"/>
              </a:rPr>
              <a:t>(</a:t>
            </a:r>
            <a:r>
              <a:rPr sz="1900" i="0" b="0">
                <a:solidFill>
                  <a:srgbClr val="D4D4D4"/>
                </a:solidFill>
                <a:latin typeface="Consolas"/>
              </a:rPr>
              <a:t>Turno</a:t>
            </a:r>
            <a:r>
              <a:rPr sz="1900" i="0" b="0">
                <a:solidFill>
                  <a:srgbClr val="D4D4D4"/>
                </a:solidFill>
                <a:latin typeface="Consolas"/>
              </a:rPr>
              <a:t> </a:t>
            </a:r>
            <a:r>
              <a:rPr sz="1900" i="0" b="0">
                <a:solidFill>
                  <a:srgbClr val="D4D4D4"/>
                </a:solidFill>
                <a:latin typeface="Consolas"/>
              </a:rPr>
              <a:t>t</a:t>
            </a:r>
            <a:r>
              <a:rPr sz="1900" i="0" b="0">
                <a:solidFill>
                  <a:srgbClr val="D4D4D4"/>
                </a:solidFill>
                <a:latin typeface="Consolas"/>
              </a:rPr>
              <a:t>) {</a:t>
            </a:r>
          </a:p>
          <a:p>
            <a:pPr>
              <a:spcAft>
                <a:spcPts val="407"/>
              </a:spcAft>
            </a:pPr>
            <a:r>
              <a:rPr sz="1900" i="0" b="0">
                <a:solidFill>
                  <a:srgbClr val="D4D4D4"/>
                </a:solidFill>
                <a:latin typeface="Consolas"/>
              </a:rPr>
              <a:t>    </a:t>
            </a:r>
            <a:r>
              <a:rPr sz="1900" i="0" b="0">
                <a:solidFill>
                  <a:srgbClr val="DCDCAA"/>
                </a:solidFill>
                <a:latin typeface="Consolas"/>
              </a:rPr>
              <a:t>cola.offer</a:t>
            </a:r>
            <a:r>
              <a:rPr sz="1900" i="0" b="0">
                <a:solidFill>
                  <a:srgbClr val="D4D4D4"/>
                </a:solidFill>
                <a:latin typeface="Consolas"/>
              </a:rPr>
              <a:t>(</a:t>
            </a:r>
            <a:r>
              <a:rPr sz="1900" i="0" b="0">
                <a:solidFill>
                  <a:srgbClr val="D4D4D4"/>
                </a:solidFill>
                <a:latin typeface="Consolas"/>
              </a:rPr>
              <a:t>t</a:t>
            </a:r>
            <a:r>
              <a:rPr sz="1900" i="0" b="0">
                <a:solidFill>
                  <a:srgbClr val="D4D4D4"/>
                </a:solidFill>
                <a:latin typeface="Consolas"/>
              </a:rPr>
              <a:t>); </a:t>
            </a:r>
            <a:r>
              <a:rPr sz="1900" i="1" b="0">
                <a:solidFill>
                  <a:srgbClr val="6A9955"/>
                </a:solidFill>
                <a:latin typeface="Consolas"/>
              </a:rPr>
              <a:t>// offer = agregar al final</a:t>
            </a:r>
          </a:p>
          <a:p>
            <a:pPr>
              <a:spcAft>
                <a:spcPts val="407"/>
              </a:spcAft>
            </a:pPr>
            <a:r>
              <a:rPr sz="1900" i="0" b="0">
                <a:solidFill>
                  <a:srgbClr val="D4D4D4"/>
                </a:solidFill>
                <a:latin typeface="Consolas"/>
              </a:rPr>
              <a:t>    </a:t>
            </a:r>
            <a:r>
              <a:rPr sz="1900" i="1" b="0">
                <a:solidFill>
                  <a:srgbClr val="6A9955"/>
                </a:solidFill>
                <a:latin typeface="Consolas"/>
              </a:rPr>
              <a:t>// ...</a:t>
            </a:r>
          </a:p>
          <a:p>
            <a:pPr>
              <a:spcAft>
                <a:spcPts val="407"/>
              </a:spcAft>
            </a:pPr>
            <a:r>
              <a:rPr sz="1900" i="0" b="0">
                <a:solidFill>
                  <a:srgbClr val="D4D4D4"/>
                </a:solidFill>
                <a:latin typeface="Consolas"/>
              </a:rPr>
              <a:t>    </a:t>
            </a:r>
            <a:r>
              <a:rPr sz="1900" i="0" b="0">
                <a:solidFill>
                  <a:srgbClr val="569CD6"/>
                </a:solidFill>
                <a:latin typeface="Consolas"/>
              </a:rPr>
              <a:t>return</a:t>
            </a:r>
            <a:r>
              <a:rPr sz="1900" i="0" b="0">
                <a:solidFill>
                  <a:srgbClr val="D4D4D4"/>
                </a:solidFill>
                <a:latin typeface="Consolas"/>
              </a:rPr>
              <a:t> </a:t>
            </a:r>
            <a:r>
              <a:rPr sz="1900" i="0" b="0">
                <a:solidFill>
                  <a:srgbClr val="DCDCAA"/>
                </a:solidFill>
                <a:latin typeface="Consolas"/>
              </a:rPr>
              <a:t>cola.size</a:t>
            </a:r>
            <a:r>
              <a:rPr sz="1900" i="0" b="0">
                <a:solidFill>
                  <a:srgbClr val="D4D4D4"/>
                </a:solidFill>
                <a:latin typeface="Consolas"/>
              </a:rPr>
              <a:t>();</a:t>
            </a:r>
          </a:p>
          <a:p>
            <a:pPr>
              <a:spcAft>
                <a:spcPts val="407"/>
              </a:spcAft>
            </a:pPr>
            <a:r>
              <a:rPr sz="1900" i="0" b="0">
                <a:solidFill>
                  <a:srgbClr val="D4D4D4"/>
                </a:solidFill>
                <a:latin typeface="Consolas"/>
              </a:rPr>
              <a:t>}</a:t>
            </a:r>
          </a:p>
          <a:p>
            <a:pPr>
              <a:spcAft>
                <a:spcPts val="407"/>
              </a:spcAft>
            </a:pPr>
            <a:r>
              <a:rPr sz="1900" i="0" b="0">
                <a:solidFill>
                  <a:srgbClr val="D4D4D4"/>
                </a:solidFill>
                <a:latin typeface="Consolas"/>
              </a:rPr>
              <a:t/>
            </a:r>
          </a:p>
          <a:p>
            <a:pPr>
              <a:spcAft>
                <a:spcPts val="407"/>
              </a:spcAft>
            </a:pPr>
            <a:r>
              <a:rPr sz="1900" i="0" b="0">
                <a:solidFill>
                  <a:srgbClr val="569CD6"/>
                </a:solidFill>
                <a:latin typeface="Consolas"/>
              </a:rPr>
              <a:t>public</a:t>
            </a:r>
            <a:r>
              <a:rPr sz="1900" i="0" b="0">
                <a:solidFill>
                  <a:srgbClr val="D4D4D4"/>
                </a:solidFill>
                <a:latin typeface="Consolas"/>
              </a:rPr>
              <a:t> </a:t>
            </a:r>
            <a:r>
              <a:rPr sz="1900" i="0" b="0">
                <a:solidFill>
                  <a:srgbClr val="D4D4D4"/>
                </a:solidFill>
                <a:latin typeface="Consolas"/>
              </a:rPr>
              <a:t>Turno</a:t>
            </a:r>
            <a:r>
              <a:rPr sz="1900" i="0" b="0">
                <a:solidFill>
                  <a:srgbClr val="D4D4D4"/>
                </a:solidFill>
                <a:latin typeface="Consolas"/>
              </a:rPr>
              <a:t> </a:t>
            </a:r>
            <a:r>
              <a:rPr sz="1900" i="0" b="0">
                <a:solidFill>
                  <a:srgbClr val="DCDCAA"/>
                </a:solidFill>
                <a:latin typeface="Consolas"/>
              </a:rPr>
              <a:t>siguienteEnPantalla</a:t>
            </a:r>
            <a:r>
              <a:rPr sz="1900" i="0" b="0">
                <a:solidFill>
                  <a:srgbClr val="D4D4D4"/>
                </a:solidFill>
                <a:latin typeface="Consolas"/>
              </a:rPr>
              <a:t>() {</a:t>
            </a:r>
          </a:p>
          <a:p>
            <a:pPr>
              <a:spcAft>
                <a:spcPts val="407"/>
              </a:spcAft>
            </a:pPr>
            <a:r>
              <a:rPr sz="1900" i="0" b="0">
                <a:solidFill>
                  <a:srgbClr val="D4D4D4"/>
                </a:solidFill>
                <a:latin typeface="Consolas"/>
              </a:rPr>
              <a:t>    </a:t>
            </a:r>
            <a:r>
              <a:rPr sz="1900" i="0" b="0">
                <a:solidFill>
                  <a:srgbClr val="569CD6"/>
                </a:solidFill>
                <a:latin typeface="Consolas"/>
              </a:rPr>
              <a:t>return</a:t>
            </a:r>
            <a:r>
              <a:rPr sz="1900" i="0" b="0">
                <a:solidFill>
                  <a:srgbClr val="D4D4D4"/>
                </a:solidFill>
                <a:latin typeface="Consolas"/>
              </a:rPr>
              <a:t> </a:t>
            </a:r>
            <a:r>
              <a:rPr sz="1900" i="0" b="0">
                <a:solidFill>
                  <a:srgbClr val="DCDCAA"/>
                </a:solidFill>
                <a:latin typeface="Consolas"/>
              </a:rPr>
              <a:t>cola.peek</a:t>
            </a:r>
            <a:r>
              <a:rPr sz="1900" i="0" b="0">
                <a:solidFill>
                  <a:srgbClr val="D4D4D4"/>
                </a:solidFill>
                <a:latin typeface="Consolas"/>
              </a:rPr>
              <a:t>(); </a:t>
            </a:r>
            <a:r>
              <a:rPr sz="1900" i="1" b="0">
                <a:solidFill>
                  <a:srgbClr val="6A9955"/>
                </a:solidFill>
                <a:latin typeface="Consolas"/>
              </a:rPr>
              <a:t>// MIRA el primero: el tamano no cambia</a:t>
            </a:r>
          </a:p>
          <a:p>
            <a:pPr>
              <a:spcAft>
                <a:spcPts val="407"/>
              </a:spcAft>
            </a:pPr>
            <a:r>
              <a:rPr sz="19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ClinicaSalaDeEspera.java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atender(): poll sin sorpresas</a:t>
            </a:r>
          </a:p>
        </p:txBody>
      </p:sp>
      <p:sp>
        <p:nvSpPr>
          <p:cNvPr id="5" name="Rounded Rectangle 4"/>
          <p:cNvSpPr/>
          <p:nvPr/>
        </p:nvSpPr>
        <p:spPr>
          <a:xfrm>
            <a:off x="457200" y="1261872"/>
            <a:ext cx="11277295" cy="466058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4066227"/>
          </a:xfrm>
          <a:prstGeom prst="rect">
            <a:avLst/>
          </a:prstGeom>
          <a:noFill/>
        </p:spPr>
        <p:txBody>
          <a:bodyPr wrap="square">
            <a:spAutoFit/>
          </a:bodyPr>
          <a:lstStyle/>
          <a:p>
            <a:pPr algn="r">
              <a:spcAft>
                <a:spcPts val="364"/>
              </a:spcAft>
            </a:pPr>
            <a:r>
              <a:rPr sz="1700" i="0" b="0">
                <a:solidFill>
                  <a:srgbClr val="858585"/>
                </a:solidFill>
                <a:latin typeface="Consolas"/>
              </a:rPr>
              <a:t>1</a:t>
            </a:r>
          </a:p>
          <a:p>
            <a:pPr algn="r">
              <a:spcAft>
                <a:spcPts val="364"/>
              </a:spcAft>
            </a:pPr>
            <a:r>
              <a:rPr sz="1700" i="0" b="0">
                <a:solidFill>
                  <a:srgbClr val="858585"/>
                </a:solidFill>
                <a:latin typeface="Consolas"/>
              </a:rPr>
              <a:t>2</a:t>
            </a:r>
          </a:p>
          <a:p>
            <a:pPr algn="r">
              <a:spcAft>
                <a:spcPts val="364"/>
              </a:spcAft>
            </a:pPr>
            <a:r>
              <a:rPr sz="1700" i="0" b="0">
                <a:solidFill>
                  <a:srgbClr val="858585"/>
                </a:solidFill>
                <a:latin typeface="Consolas"/>
              </a:rPr>
              <a:t>3</a:t>
            </a:r>
          </a:p>
          <a:p>
            <a:pPr algn="r">
              <a:spcAft>
                <a:spcPts val="364"/>
              </a:spcAft>
            </a:pPr>
            <a:r>
              <a:rPr sz="1700" i="0" b="0">
                <a:solidFill>
                  <a:srgbClr val="858585"/>
                </a:solidFill>
                <a:latin typeface="Consolas"/>
              </a:rPr>
              <a:t>4</a:t>
            </a:r>
          </a:p>
          <a:p>
            <a:pPr algn="r">
              <a:spcAft>
                <a:spcPts val="364"/>
              </a:spcAft>
            </a:pPr>
            <a:r>
              <a:rPr sz="1700" i="0" b="0">
                <a:solidFill>
                  <a:srgbClr val="858585"/>
                </a:solidFill>
                <a:latin typeface="Consolas"/>
              </a:rPr>
              <a:t>5</a:t>
            </a:r>
          </a:p>
          <a:p>
            <a:pPr algn="r">
              <a:spcAft>
                <a:spcPts val="364"/>
              </a:spcAft>
            </a:pPr>
            <a:r>
              <a:rPr sz="1700" i="0" b="0">
                <a:solidFill>
                  <a:srgbClr val="858585"/>
                </a:solidFill>
                <a:latin typeface="Consolas"/>
              </a:rPr>
              <a:t>6</a:t>
            </a:r>
          </a:p>
          <a:p>
            <a:pPr algn="r">
              <a:spcAft>
                <a:spcPts val="364"/>
              </a:spcAft>
            </a:pPr>
            <a:r>
              <a:rPr sz="1700" i="0" b="0">
                <a:solidFill>
                  <a:srgbClr val="858585"/>
                </a:solidFill>
                <a:latin typeface="Consolas"/>
              </a:rPr>
              <a:t>7</a:t>
            </a:r>
          </a:p>
          <a:p>
            <a:pPr algn="r">
              <a:spcAft>
                <a:spcPts val="364"/>
              </a:spcAft>
            </a:pPr>
            <a:r>
              <a:rPr sz="1700" i="0" b="0">
                <a:solidFill>
                  <a:srgbClr val="858585"/>
                </a:solidFill>
                <a:latin typeface="Consolas"/>
              </a:rPr>
              <a:t>8</a:t>
            </a:r>
          </a:p>
          <a:p>
            <a:pPr algn="r">
              <a:spcAft>
                <a:spcPts val="364"/>
              </a:spcAft>
            </a:pPr>
            <a:r>
              <a:rPr sz="1700" i="0" b="0">
                <a:solidFill>
                  <a:srgbClr val="858585"/>
                </a:solidFill>
                <a:latin typeface="Consolas"/>
              </a:rPr>
              <a:t>9</a:t>
            </a:r>
          </a:p>
          <a:p>
            <a:pPr algn="r">
              <a:spcAft>
                <a:spcPts val="364"/>
              </a:spcAft>
            </a:pPr>
            <a:r>
              <a:rPr sz="1700" i="0" b="0">
                <a:solidFill>
                  <a:srgbClr val="858585"/>
                </a:solidFill>
                <a:latin typeface="Consolas"/>
              </a:rPr>
              <a:t>10</a:t>
            </a:r>
          </a:p>
          <a:p>
            <a:pPr algn="r">
              <a:spcAft>
                <a:spcPts val="364"/>
              </a:spcAft>
            </a:pPr>
            <a:r>
              <a:rPr sz="1700" i="0" b="0">
                <a:solidFill>
                  <a:srgbClr val="858585"/>
                </a:solidFill>
                <a:latin typeface="Consolas"/>
              </a:rPr>
              <a:t>11</a:t>
            </a:r>
          </a:p>
          <a:p>
            <a:pPr algn="r">
              <a:spcAft>
                <a:spcPts val="364"/>
              </a:spcAft>
            </a:pPr>
            <a:r>
              <a:rPr sz="1700" i="0" b="0">
                <a:solidFill>
                  <a:srgbClr val="858585"/>
                </a:solidFill>
                <a:latin typeface="Consolas"/>
              </a:rPr>
              <a:t>12</a:t>
            </a:r>
          </a:p>
          <a:p>
            <a:pPr algn="r">
              <a:spcAft>
                <a:spcPts val="364"/>
              </a:spcAft>
            </a:pPr>
            <a:r>
              <a:rPr sz="1700" i="0" b="0">
                <a:solidFill>
                  <a:srgbClr val="858585"/>
                </a:solidFill>
                <a:latin typeface="Consolas"/>
              </a:rPr>
              <a:t>13</a:t>
            </a:r>
          </a:p>
        </p:txBody>
      </p:sp>
      <p:sp>
        <p:nvSpPr>
          <p:cNvPr id="12" name="TextBox 11"/>
          <p:cNvSpPr txBox="1"/>
          <p:nvPr/>
        </p:nvSpPr>
        <p:spPr>
          <a:xfrm>
            <a:off x="1188720" y="1719072"/>
            <a:ext cx="10271455" cy="4066227"/>
          </a:xfrm>
          <a:prstGeom prst="rect">
            <a:avLst/>
          </a:prstGeom>
          <a:noFill/>
        </p:spPr>
        <p:txBody>
          <a:bodyPr wrap="square">
            <a:spAutoFit/>
          </a:bodyPr>
          <a:lstStyle/>
          <a:p>
            <a:pPr>
              <a:spcAft>
                <a:spcPts val="364"/>
              </a:spcAft>
            </a:pPr>
            <a:r>
              <a:rPr sz="1700" i="0" b="0">
                <a:solidFill>
                  <a:srgbClr val="569CD6"/>
                </a:solidFill>
                <a:latin typeface="Consolas"/>
              </a:rPr>
              <a:t>public</a:t>
            </a:r>
            <a:r>
              <a:rPr sz="1700" i="0" b="0">
                <a:solidFill>
                  <a:srgbClr val="D4D4D4"/>
                </a:solidFill>
                <a:latin typeface="Consolas"/>
              </a:rPr>
              <a:t> </a:t>
            </a:r>
            <a:r>
              <a:rPr sz="1700" i="0" b="0">
                <a:solidFill>
                  <a:srgbClr val="D4D4D4"/>
                </a:solidFill>
                <a:latin typeface="Consolas"/>
              </a:rPr>
              <a:t>Turno</a:t>
            </a:r>
            <a:r>
              <a:rPr sz="1700" i="0" b="0">
                <a:solidFill>
                  <a:srgbClr val="D4D4D4"/>
                </a:solidFill>
                <a:latin typeface="Consolas"/>
              </a:rPr>
              <a:t> </a:t>
            </a:r>
            <a:r>
              <a:rPr sz="1700" i="0" b="0">
                <a:solidFill>
                  <a:srgbClr val="DCDCAA"/>
                </a:solidFill>
                <a:latin typeface="Consolas"/>
              </a:rPr>
              <a:t>atender</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569CD6"/>
                </a:solidFill>
                <a:latin typeface="Consolas"/>
              </a:rPr>
              <a:t>if</a:t>
            </a:r>
            <a:r>
              <a:rPr sz="1700" i="0" b="0">
                <a:solidFill>
                  <a:srgbClr val="D4D4D4"/>
                </a:solidFill>
                <a:latin typeface="Consolas"/>
              </a:rPr>
              <a:t> (</a:t>
            </a:r>
            <a:r>
              <a:rPr sz="1700" i="0" b="0">
                <a:solidFill>
                  <a:srgbClr val="DCDCAA"/>
                </a:solidFill>
                <a:latin typeface="Consolas"/>
              </a:rPr>
              <a:t>cola.isEmpty</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CDCAA"/>
                </a:solidFill>
                <a:latin typeface="Consolas"/>
              </a:rPr>
              <a:t>System.out.println</a:t>
            </a:r>
            <a:r>
              <a:rPr sz="1700" i="0" b="0">
                <a:solidFill>
                  <a:srgbClr val="D4D4D4"/>
                </a:solidFill>
                <a:latin typeface="Consolas"/>
              </a:rPr>
              <a:t>(</a:t>
            </a:r>
            <a:r>
              <a:rPr sz="1700" i="0" b="0">
                <a:solidFill>
                  <a:srgbClr val="CE9178"/>
                </a:solidFill>
                <a:latin typeface="Consolas"/>
              </a:rPr>
              <a:t>"Sala de espera vacia: no hay a quien atender"</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569CD6"/>
                </a:solidFill>
                <a:latin typeface="Consolas"/>
              </a:rPr>
              <a:t>return</a:t>
            </a:r>
            <a:r>
              <a:rPr sz="1700" i="0" b="0">
                <a:solidFill>
                  <a:srgbClr val="D4D4D4"/>
                </a:solidFill>
                <a:latin typeface="Consolas"/>
              </a:rPr>
              <a:t> </a:t>
            </a:r>
            <a:r>
              <a:rPr sz="1700" i="0" b="0">
                <a:solidFill>
                  <a:srgbClr val="569CD6"/>
                </a:solidFill>
                <a:latin typeface="Consolas"/>
              </a:rPr>
              <a:t>null</a:t>
            </a:r>
            <a:r>
              <a:rPr sz="1700" i="0" b="0">
                <a:solidFill>
                  <a:srgbClr val="D4D4D4"/>
                </a:solidFill>
                <a:latin typeface="Consolas"/>
              </a:rPr>
              <a:t>;</a:t>
            </a:r>
          </a:p>
          <a:p>
            <a:pPr>
              <a:spcAft>
                <a:spcPts val="364"/>
              </a:spcAft>
            </a:pP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4D4D4"/>
                </a:solidFill>
                <a:latin typeface="Consolas"/>
              </a:rPr>
              <a:t>Turno</a:t>
            </a:r>
            <a:r>
              <a:rPr sz="1700" i="0" b="0">
                <a:solidFill>
                  <a:srgbClr val="D4D4D4"/>
                </a:solidFill>
                <a:latin typeface="Consolas"/>
              </a:rPr>
              <a:t> </a:t>
            </a:r>
            <a:r>
              <a:rPr sz="1700" i="0" b="0">
                <a:solidFill>
                  <a:srgbClr val="D4D4D4"/>
                </a:solidFill>
                <a:latin typeface="Consolas"/>
              </a:rPr>
              <a:t>t</a:t>
            </a:r>
            <a:r>
              <a:rPr sz="1700" i="0" b="0">
                <a:solidFill>
                  <a:srgbClr val="D4D4D4"/>
                </a:solidFill>
                <a:latin typeface="Consolas"/>
              </a:rPr>
              <a:t> = </a:t>
            </a:r>
            <a:r>
              <a:rPr sz="1700" i="0" b="0">
                <a:solidFill>
                  <a:srgbClr val="DCDCAA"/>
                </a:solidFill>
                <a:latin typeface="Consolas"/>
              </a:rPr>
              <a:t>cola.poll</a:t>
            </a:r>
            <a:r>
              <a:rPr sz="1700" i="0" b="0">
                <a:solidFill>
                  <a:srgbClr val="D4D4D4"/>
                </a:solidFill>
                <a:latin typeface="Consolas"/>
              </a:rPr>
              <a:t>(); </a:t>
            </a:r>
            <a:r>
              <a:rPr sz="1700" i="1" b="0">
                <a:solidFill>
                  <a:srgbClr val="6A9955"/>
                </a:solidFill>
                <a:latin typeface="Consolas"/>
              </a:rPr>
              <a:t>// SACA el primero</a:t>
            </a:r>
          </a:p>
          <a:p>
            <a:pPr>
              <a:spcAft>
                <a:spcPts val="364"/>
              </a:spcAft>
            </a:pPr>
            <a:r>
              <a:rPr sz="1700" i="0" b="0">
                <a:solidFill>
                  <a:srgbClr val="D4D4D4"/>
                </a:solidFill>
                <a:latin typeface="Consolas"/>
              </a:rPr>
              <a:t>    </a:t>
            </a:r>
            <a:r>
              <a:rPr sz="1700" i="0" b="0">
                <a:solidFill>
                  <a:srgbClr val="DCDCAA"/>
                </a:solidFill>
                <a:latin typeface="Consolas"/>
              </a:rPr>
              <a:t>System.out.println</a:t>
            </a:r>
            <a:r>
              <a:rPr sz="1700" i="0" b="0">
                <a:solidFill>
                  <a:srgbClr val="D4D4D4"/>
                </a:solidFill>
                <a:latin typeface="Consolas"/>
              </a:rPr>
              <a:t>(</a:t>
            </a:r>
            <a:r>
              <a:rPr sz="1700" i="0" b="0">
                <a:solidFill>
                  <a:srgbClr val="CE9178"/>
                </a:solidFill>
                <a:latin typeface="Consolas"/>
              </a:rPr>
              <a:t>"Pasa a consultorio: "</a:t>
            </a:r>
            <a:r>
              <a:rPr sz="1700" i="0" b="0">
                <a:solidFill>
                  <a:srgbClr val="D4D4D4"/>
                </a:solidFill>
                <a:latin typeface="Consolas"/>
              </a:rPr>
              <a:t> + </a:t>
            </a:r>
            <a:r>
              <a:rPr sz="1700" i="0" b="0">
                <a:solidFill>
                  <a:srgbClr val="D4D4D4"/>
                </a:solidFill>
                <a:latin typeface="Consolas"/>
              </a:rPr>
              <a:t>t</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569CD6"/>
                </a:solidFill>
                <a:latin typeface="Consolas"/>
              </a:rPr>
              <a:t>return</a:t>
            </a:r>
            <a:r>
              <a:rPr sz="1700" i="0" b="0">
                <a:solidFill>
                  <a:srgbClr val="D4D4D4"/>
                </a:solidFill>
                <a:latin typeface="Consolas"/>
              </a:rPr>
              <a:t> </a:t>
            </a:r>
            <a:r>
              <a:rPr sz="1700" i="0" b="0">
                <a:solidFill>
                  <a:srgbClr val="D4D4D4"/>
                </a:solidFill>
                <a:latin typeface="Consolas"/>
              </a:rPr>
              <a:t>t</a:t>
            </a:r>
            <a:r>
              <a:rPr sz="1700" i="0" b="0">
                <a:solidFill>
                  <a:srgbClr val="D4D4D4"/>
                </a:solidFill>
                <a:latin typeface="Consolas"/>
              </a:rPr>
              <a:t>;</a:t>
            </a:r>
          </a:p>
          <a:p>
            <a:pPr>
              <a:spcAft>
                <a:spcPts val="364"/>
              </a:spcAft>
            </a:pPr>
            <a:r>
              <a:rPr sz="1700" i="0" b="0">
                <a:solidFill>
                  <a:srgbClr val="D4D4D4"/>
                </a:solidFill>
                <a:latin typeface="Consolas"/>
              </a:rPr>
              <a:t>}</a:t>
            </a:r>
          </a:p>
          <a:p>
            <a:pPr>
              <a:spcAft>
                <a:spcPts val="364"/>
              </a:spcAft>
            </a:pPr>
            <a:r>
              <a:rPr sz="1700" i="0" b="0">
                <a:solidFill>
                  <a:srgbClr val="D4D4D4"/>
                </a:solidFill>
                <a:latin typeface="Consolas"/>
              </a:rPr>
              <a:t/>
            </a:r>
          </a:p>
          <a:p>
            <a:pPr>
              <a:spcAft>
                <a:spcPts val="364"/>
              </a:spcAft>
            </a:pPr>
            <a:r>
              <a:rPr sz="1700" i="0" b="0">
                <a:solidFill>
                  <a:srgbClr val="569CD6"/>
                </a:solidFill>
                <a:latin typeface="Consolas"/>
              </a:rPr>
              <a:t>public</a:t>
            </a:r>
            <a:r>
              <a:rPr sz="1700" i="0" b="0">
                <a:solidFill>
                  <a:srgbClr val="D4D4D4"/>
                </a:solidFill>
                <a:latin typeface="Consolas"/>
              </a:rPr>
              <a:t> </a:t>
            </a:r>
            <a:r>
              <a:rPr sz="1700" i="0" b="0">
                <a:solidFill>
                  <a:srgbClr val="4EC9B0"/>
                </a:solidFill>
                <a:latin typeface="Consolas"/>
              </a:rPr>
              <a:t>boolean</a:t>
            </a:r>
            <a:r>
              <a:rPr sz="1700" i="0" b="0">
                <a:solidFill>
                  <a:srgbClr val="D4D4D4"/>
                </a:solidFill>
                <a:latin typeface="Consolas"/>
              </a:rPr>
              <a:t> </a:t>
            </a:r>
            <a:r>
              <a:rPr sz="1700" i="0" b="0">
                <a:solidFill>
                  <a:srgbClr val="DCDCAA"/>
                </a:solidFill>
                <a:latin typeface="Consolas"/>
              </a:rPr>
              <a:t>estaVacia</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569CD6"/>
                </a:solidFill>
                <a:latin typeface="Consolas"/>
              </a:rPr>
              <a:t>return</a:t>
            </a:r>
            <a:r>
              <a:rPr sz="1700" i="0" b="0">
                <a:solidFill>
                  <a:srgbClr val="D4D4D4"/>
                </a:solidFill>
                <a:latin typeface="Consolas"/>
              </a:rPr>
              <a:t> </a:t>
            </a:r>
            <a:r>
              <a:rPr sz="1700" i="0" b="0">
                <a:solidFill>
                  <a:srgbClr val="DCDCAA"/>
                </a:solidFill>
                <a:latin typeface="Consolas"/>
              </a:rPr>
              <a:t>cola.isEmpty</a:t>
            </a:r>
            <a:r>
              <a:rPr sz="1700" i="0" b="0">
                <a:solidFill>
                  <a:srgbClr val="D4D4D4"/>
                </a:solidFill>
                <a:latin typeface="Consolas"/>
              </a:rPr>
              <a:t>();</a:t>
            </a:r>
          </a:p>
          <a:p>
            <a:pPr>
              <a:spcAft>
                <a:spcPts val="364"/>
              </a:spcAft>
            </a:pPr>
            <a:r>
              <a:rPr sz="17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ClinicaSalaDeEspera.java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pila: LIFO con Deque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ila-lif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pila-lif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pila-lifo-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pila-lifo-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Last In, First Out: siempre se toma el de encima, como la pila de historias clínicas.</a:t>
            </a:r>
          </a:p>
          <a:p>
            <a:pPr>
              <a:spcAft>
                <a:spcPts val="800"/>
              </a:spcAft>
            </a:pPr>
            <a:r>
              <a:rPr sz="2000" b="0" i="0">
                <a:solidFill>
                  <a:srgbClr val="333333"/>
                </a:solidFill>
                <a:latin typeface="Calibri"/>
              </a:rPr>
              <a:t>–   push pone encima, pop saca el de encima, peek lo mira sin sacarlo.</a:t>
            </a:r>
          </a:p>
          <a:p>
            <a:pPr>
              <a:spcAft>
                <a:spcPts val="800"/>
              </a:spcAft>
            </a:pPr>
            <a:r>
              <a:rPr sz="2000" b="0" i="0">
                <a:solidFill>
                  <a:srgbClr val="333333"/>
                </a:solidFill>
                <a:latin typeface="Calibri"/>
              </a:rPr>
              <a:t>–   La clase Stack es de 1995 (hereda de Vector); hoy se usa Deque con ArrayDeque.</a:t>
            </a:r>
          </a:p>
          <a:p>
            <a:pPr>
              <a:spcAft>
                <a:spcPts val="800"/>
              </a:spcAft>
            </a:pPr>
            <a:r>
              <a:rPr sz="2000" b="0" i="0">
                <a:solidFill>
                  <a:srgbClr val="333333"/>
                </a:solidFill>
                <a:latin typeface="Calibri"/>
              </a:rPr>
              <a:t>–   Es el Ctrl+Z de cualquier programa: pop deshace la última atención registrada.</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HistorialReciente: push, peek y pop</a:t>
            </a:r>
          </a:p>
        </p:txBody>
      </p:sp>
      <p:sp>
        <p:nvSpPr>
          <p:cNvPr id="5" name="Rounded Rectangle 4"/>
          <p:cNvSpPr/>
          <p:nvPr/>
        </p:nvSpPr>
        <p:spPr>
          <a:xfrm>
            <a:off x="457200" y="1261872"/>
            <a:ext cx="11277295" cy="481298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4218627"/>
          </a:xfrm>
          <a:prstGeom prst="rect">
            <a:avLst/>
          </a:prstGeom>
          <a:noFill/>
        </p:spPr>
        <p:txBody>
          <a:bodyPr wrap="square">
            <a:spAutoFit/>
          </a:bodyPr>
          <a:lstStyle/>
          <a:p>
            <a:pPr algn="r">
              <a:spcAft>
                <a:spcPts val="278"/>
              </a:spcAft>
            </a:pPr>
            <a:r>
              <a:rPr sz="1300" i="0" b="0">
                <a:solidFill>
                  <a:srgbClr val="858585"/>
                </a:solidFill>
                <a:latin typeface="Consolas"/>
              </a:rPr>
              <a:t>1</a:t>
            </a:r>
          </a:p>
          <a:p>
            <a:pPr algn="r">
              <a:spcAft>
                <a:spcPts val="278"/>
              </a:spcAft>
            </a:pPr>
            <a:r>
              <a:rPr sz="1300" i="0" b="0">
                <a:solidFill>
                  <a:srgbClr val="858585"/>
                </a:solidFill>
                <a:latin typeface="Consolas"/>
              </a:rPr>
              <a:t>2</a:t>
            </a:r>
          </a:p>
          <a:p>
            <a:pPr algn="r">
              <a:spcAft>
                <a:spcPts val="278"/>
              </a:spcAft>
            </a:pPr>
            <a:r>
              <a:rPr sz="1300" i="0" b="0">
                <a:solidFill>
                  <a:srgbClr val="858585"/>
                </a:solidFill>
                <a:latin typeface="Consolas"/>
              </a:rPr>
              <a:t>3</a:t>
            </a:r>
          </a:p>
          <a:p>
            <a:pPr algn="r">
              <a:spcAft>
                <a:spcPts val="278"/>
              </a:spcAft>
            </a:pPr>
            <a:r>
              <a:rPr sz="1300" i="0" b="0">
                <a:solidFill>
                  <a:srgbClr val="858585"/>
                </a:solidFill>
                <a:latin typeface="Consolas"/>
              </a:rPr>
              <a:t>4</a:t>
            </a:r>
          </a:p>
          <a:p>
            <a:pPr algn="r">
              <a:spcAft>
                <a:spcPts val="278"/>
              </a:spcAft>
            </a:pPr>
            <a:r>
              <a:rPr sz="1300" i="0" b="0">
                <a:solidFill>
                  <a:srgbClr val="858585"/>
                </a:solidFill>
                <a:latin typeface="Consolas"/>
              </a:rPr>
              <a:t>5</a:t>
            </a:r>
          </a:p>
          <a:p>
            <a:pPr algn="r">
              <a:spcAft>
                <a:spcPts val="278"/>
              </a:spcAft>
            </a:pPr>
            <a:r>
              <a:rPr sz="1300" i="0" b="0">
                <a:solidFill>
                  <a:srgbClr val="858585"/>
                </a:solidFill>
                <a:latin typeface="Consolas"/>
              </a:rPr>
              <a:t>6</a:t>
            </a:r>
          </a:p>
          <a:p>
            <a:pPr algn="r">
              <a:spcAft>
                <a:spcPts val="278"/>
              </a:spcAft>
            </a:pPr>
            <a:r>
              <a:rPr sz="1300" i="0" b="0">
                <a:solidFill>
                  <a:srgbClr val="858585"/>
                </a:solidFill>
                <a:latin typeface="Consolas"/>
              </a:rPr>
              <a:t>7</a:t>
            </a:r>
          </a:p>
          <a:p>
            <a:pPr algn="r">
              <a:spcAft>
                <a:spcPts val="278"/>
              </a:spcAft>
            </a:pPr>
            <a:r>
              <a:rPr sz="1300" i="0" b="0">
                <a:solidFill>
                  <a:srgbClr val="858585"/>
                </a:solidFill>
                <a:latin typeface="Consolas"/>
              </a:rPr>
              <a:t>8</a:t>
            </a:r>
          </a:p>
          <a:p>
            <a:pPr algn="r">
              <a:spcAft>
                <a:spcPts val="278"/>
              </a:spcAft>
            </a:pPr>
            <a:r>
              <a:rPr sz="1300" i="0" b="0">
                <a:solidFill>
                  <a:srgbClr val="858585"/>
                </a:solidFill>
                <a:latin typeface="Consolas"/>
              </a:rPr>
              <a:t>9</a:t>
            </a:r>
          </a:p>
          <a:p>
            <a:pPr algn="r">
              <a:spcAft>
                <a:spcPts val="278"/>
              </a:spcAft>
            </a:pPr>
            <a:r>
              <a:rPr sz="1300" i="0" b="0">
                <a:solidFill>
                  <a:srgbClr val="858585"/>
                </a:solidFill>
                <a:latin typeface="Consolas"/>
              </a:rPr>
              <a:t>10</a:t>
            </a:r>
          </a:p>
          <a:p>
            <a:pPr algn="r">
              <a:spcAft>
                <a:spcPts val="278"/>
              </a:spcAft>
            </a:pPr>
            <a:r>
              <a:rPr sz="1300" i="0" b="0">
                <a:solidFill>
                  <a:srgbClr val="858585"/>
                </a:solidFill>
                <a:latin typeface="Consolas"/>
              </a:rPr>
              <a:t>11</a:t>
            </a:r>
          </a:p>
          <a:p>
            <a:pPr algn="r">
              <a:spcAft>
                <a:spcPts val="278"/>
              </a:spcAft>
            </a:pPr>
            <a:r>
              <a:rPr sz="1300" i="0" b="0">
                <a:solidFill>
                  <a:srgbClr val="858585"/>
                </a:solidFill>
                <a:latin typeface="Consolas"/>
              </a:rPr>
              <a:t>12</a:t>
            </a:r>
          </a:p>
          <a:p>
            <a:pPr algn="r">
              <a:spcAft>
                <a:spcPts val="278"/>
              </a:spcAft>
            </a:pPr>
            <a:r>
              <a:rPr sz="1300" i="0" b="0">
                <a:solidFill>
                  <a:srgbClr val="858585"/>
                </a:solidFill>
                <a:latin typeface="Consolas"/>
              </a:rPr>
              <a:t>13</a:t>
            </a:r>
          </a:p>
          <a:p>
            <a:pPr algn="r">
              <a:spcAft>
                <a:spcPts val="278"/>
              </a:spcAft>
            </a:pPr>
            <a:r>
              <a:rPr sz="1300" i="0" b="0">
                <a:solidFill>
                  <a:srgbClr val="858585"/>
                </a:solidFill>
                <a:latin typeface="Consolas"/>
              </a:rPr>
              <a:t>14</a:t>
            </a:r>
          </a:p>
          <a:p>
            <a:pPr algn="r">
              <a:spcAft>
                <a:spcPts val="278"/>
              </a:spcAft>
            </a:pPr>
            <a:r>
              <a:rPr sz="1300" i="0" b="0">
                <a:solidFill>
                  <a:srgbClr val="858585"/>
                </a:solidFill>
                <a:latin typeface="Consolas"/>
              </a:rPr>
              <a:t>15</a:t>
            </a:r>
          </a:p>
          <a:p>
            <a:pPr algn="r">
              <a:spcAft>
                <a:spcPts val="278"/>
              </a:spcAft>
            </a:pPr>
            <a:r>
              <a:rPr sz="1300" i="0" b="0">
                <a:solidFill>
                  <a:srgbClr val="858585"/>
                </a:solidFill>
                <a:latin typeface="Consolas"/>
              </a:rPr>
              <a:t>16</a:t>
            </a:r>
          </a:p>
          <a:p>
            <a:pPr algn="r">
              <a:spcAft>
                <a:spcPts val="278"/>
              </a:spcAft>
            </a:pPr>
            <a:r>
              <a:rPr sz="1300" i="0" b="0">
                <a:solidFill>
                  <a:srgbClr val="858585"/>
                </a:solidFill>
                <a:latin typeface="Consolas"/>
              </a:rPr>
              <a:t>17</a:t>
            </a:r>
          </a:p>
        </p:txBody>
      </p:sp>
      <p:sp>
        <p:nvSpPr>
          <p:cNvPr id="12" name="TextBox 11"/>
          <p:cNvSpPr txBox="1"/>
          <p:nvPr/>
        </p:nvSpPr>
        <p:spPr>
          <a:xfrm>
            <a:off x="1188720" y="1719072"/>
            <a:ext cx="10271455" cy="4218627"/>
          </a:xfrm>
          <a:prstGeom prst="rect">
            <a:avLst/>
          </a:prstGeom>
          <a:noFill/>
        </p:spPr>
        <p:txBody>
          <a:bodyPr wrap="square">
            <a:spAutoFit/>
          </a:bodyPr>
          <a:lstStyle/>
          <a:p>
            <a:pPr>
              <a:spcAft>
                <a:spcPts val="278"/>
              </a:spcAft>
            </a:pPr>
            <a:r>
              <a:rPr sz="1300" i="0" b="0">
                <a:solidFill>
                  <a:srgbClr val="569CD6"/>
                </a:solidFill>
                <a:latin typeface="Consolas"/>
              </a:rPr>
              <a:t>private</a:t>
            </a:r>
            <a:r>
              <a:rPr sz="1300" i="0" b="0">
                <a:solidFill>
                  <a:srgbClr val="D4D4D4"/>
                </a:solidFill>
                <a:latin typeface="Consolas"/>
              </a:rPr>
              <a:t> </a:t>
            </a:r>
            <a:r>
              <a:rPr sz="1300" i="0" b="0">
                <a:solidFill>
                  <a:srgbClr val="569CD6"/>
                </a:solidFill>
                <a:latin typeface="Consolas"/>
              </a:rPr>
              <a:t>final</a:t>
            </a:r>
            <a:r>
              <a:rPr sz="1300" i="0" b="0">
                <a:solidFill>
                  <a:srgbClr val="D4D4D4"/>
                </a:solidFill>
                <a:latin typeface="Consolas"/>
              </a:rPr>
              <a:t> </a:t>
            </a:r>
            <a:r>
              <a:rPr sz="1300" i="0" b="0">
                <a:solidFill>
                  <a:srgbClr val="4EC9B0"/>
                </a:solidFill>
                <a:latin typeface="Consolas"/>
              </a:rPr>
              <a:t>Deque</a:t>
            </a:r>
            <a:r>
              <a:rPr sz="1300" i="0" b="0">
                <a:solidFill>
                  <a:srgbClr val="D4D4D4"/>
                </a:solidFill>
                <a:latin typeface="Consolas"/>
              </a:rPr>
              <a:t>&lt;</a:t>
            </a:r>
            <a:r>
              <a:rPr sz="1300" i="0" b="0">
                <a:solidFill>
                  <a:srgbClr val="4EC9B0"/>
                </a:solidFill>
                <a:latin typeface="Consolas"/>
              </a:rPr>
              <a:t>String</a:t>
            </a:r>
            <a:r>
              <a:rPr sz="1300" i="0" b="0">
                <a:solidFill>
                  <a:srgbClr val="D4D4D4"/>
                </a:solidFill>
                <a:latin typeface="Consolas"/>
              </a:rPr>
              <a:t>&gt; </a:t>
            </a:r>
            <a:r>
              <a:rPr sz="1300" i="0" b="0">
                <a:solidFill>
                  <a:srgbClr val="D4D4D4"/>
                </a:solidFill>
                <a:latin typeface="Consolas"/>
              </a:rPr>
              <a:t>pila</a:t>
            </a:r>
            <a:r>
              <a:rPr sz="1300" i="0" b="0">
                <a:solidFill>
                  <a:srgbClr val="D4D4D4"/>
                </a:solidFill>
                <a:latin typeface="Consolas"/>
              </a:rPr>
              <a:t> =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ArrayDeque</a:t>
            </a:r>
            <a:r>
              <a:rPr sz="1300" i="0" b="0">
                <a:solidFill>
                  <a:srgbClr val="D4D4D4"/>
                </a:solidFill>
                <a:latin typeface="Consolas"/>
              </a:rPr>
              <a:t>&lt;&gt;();</a:t>
            </a:r>
          </a:p>
          <a:p>
            <a:pPr>
              <a:spcAft>
                <a:spcPts val="278"/>
              </a:spcAft>
            </a:pPr>
            <a:r>
              <a:rPr sz="1300" i="0" b="0">
                <a:solidFill>
                  <a:srgbClr val="D4D4D4"/>
                </a:solidFill>
                <a:latin typeface="Consolas"/>
              </a:rPr>
              <a:t/>
            </a:r>
          </a:p>
          <a:p>
            <a:pPr>
              <a:spcAft>
                <a:spcPts val="278"/>
              </a:spcAft>
            </a:pPr>
            <a:r>
              <a:rPr sz="1300" i="0" b="0">
                <a:solidFill>
                  <a:srgbClr val="569CD6"/>
                </a:solidFill>
                <a:latin typeface="Consolas"/>
              </a:rPr>
              <a:t>public</a:t>
            </a:r>
            <a:r>
              <a:rPr sz="1300" i="0" b="0">
                <a:solidFill>
                  <a:srgbClr val="D4D4D4"/>
                </a:solidFill>
                <a:latin typeface="Consolas"/>
              </a:rPr>
              <a:t> </a:t>
            </a:r>
            <a:r>
              <a:rPr sz="1300" i="0" b="0">
                <a:solidFill>
                  <a:srgbClr val="569CD6"/>
                </a:solidFill>
                <a:latin typeface="Consolas"/>
              </a:rPr>
              <a:t>void</a:t>
            </a:r>
            <a:r>
              <a:rPr sz="1300" i="0" b="0">
                <a:solidFill>
                  <a:srgbClr val="D4D4D4"/>
                </a:solidFill>
                <a:latin typeface="Consolas"/>
              </a:rPr>
              <a:t> </a:t>
            </a:r>
            <a:r>
              <a:rPr sz="1300" i="0" b="0">
                <a:solidFill>
                  <a:srgbClr val="DCDCAA"/>
                </a:solidFill>
                <a:latin typeface="Consolas"/>
              </a:rPr>
              <a:t>registrar</a:t>
            </a:r>
            <a:r>
              <a:rPr sz="1300" i="0" b="0">
                <a:solidFill>
                  <a:srgbClr val="D4D4D4"/>
                </a:solidFill>
                <a:latin typeface="Consolas"/>
              </a:rPr>
              <a:t>(</a:t>
            </a:r>
            <a:r>
              <a:rPr sz="1300" i="0" b="0">
                <a:solidFill>
                  <a:srgbClr val="4EC9B0"/>
                </a:solidFill>
                <a:latin typeface="Consolas"/>
              </a:rPr>
              <a:t>String</a:t>
            </a:r>
            <a:r>
              <a:rPr sz="1300" i="0" b="0">
                <a:solidFill>
                  <a:srgbClr val="D4D4D4"/>
                </a:solidFill>
                <a:latin typeface="Consolas"/>
              </a:rPr>
              <a:t> </a:t>
            </a:r>
            <a:r>
              <a:rPr sz="1300" i="0" b="0">
                <a:solidFill>
                  <a:srgbClr val="D4D4D4"/>
                </a:solidFill>
                <a:latin typeface="Consolas"/>
              </a:rPr>
              <a:t>consulta</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DCDCAA"/>
                </a:solidFill>
                <a:latin typeface="Consolas"/>
              </a:rPr>
              <a:t>pila.push</a:t>
            </a:r>
            <a:r>
              <a:rPr sz="1300" i="0" b="0">
                <a:solidFill>
                  <a:srgbClr val="D4D4D4"/>
                </a:solidFill>
                <a:latin typeface="Consolas"/>
              </a:rPr>
              <a:t>(</a:t>
            </a:r>
            <a:r>
              <a:rPr sz="1300" i="0" b="0">
                <a:solidFill>
                  <a:srgbClr val="D4D4D4"/>
                </a:solidFill>
                <a:latin typeface="Consolas"/>
              </a:rPr>
              <a:t>consulta</a:t>
            </a:r>
            <a:r>
              <a:rPr sz="1300" i="0" b="0">
                <a:solidFill>
                  <a:srgbClr val="D4D4D4"/>
                </a:solidFill>
                <a:latin typeface="Consolas"/>
              </a:rPr>
              <a:t>); </a:t>
            </a:r>
            <a:r>
              <a:rPr sz="1300" i="1" b="0">
                <a:solidFill>
                  <a:srgbClr val="6A9955"/>
                </a:solidFill>
                <a:latin typeface="Consolas"/>
              </a:rPr>
              <a:t>// push = poner encima</a:t>
            </a:r>
          </a:p>
          <a:p>
            <a:pPr>
              <a:spcAft>
                <a:spcPts val="278"/>
              </a:spcAft>
            </a:pPr>
            <a:r>
              <a:rPr sz="1300" i="0" b="0">
                <a:solidFill>
                  <a:srgbClr val="D4D4D4"/>
                </a:solidFill>
                <a:latin typeface="Consolas"/>
              </a:rPr>
              <a:t>    </a:t>
            </a:r>
            <a:r>
              <a:rPr sz="1300" i="0" b="0">
                <a:solidFill>
                  <a:srgbClr val="DCDCAA"/>
                </a:solidFill>
                <a:latin typeface="Consolas"/>
              </a:rPr>
              <a:t>System.out.println</a:t>
            </a:r>
            <a:r>
              <a:rPr sz="1300" i="0" b="0">
                <a:solidFill>
                  <a:srgbClr val="D4D4D4"/>
                </a:solidFill>
                <a:latin typeface="Consolas"/>
              </a:rPr>
              <a:t>(</a:t>
            </a:r>
            <a:r>
              <a:rPr sz="1300" i="0" b="0">
                <a:solidFill>
                  <a:srgbClr val="CE9178"/>
                </a:solidFill>
                <a:latin typeface="Consolas"/>
              </a:rPr>
              <a:t>"Historial &lt;- "</a:t>
            </a:r>
            <a:r>
              <a:rPr sz="1300" i="0" b="0">
                <a:solidFill>
                  <a:srgbClr val="D4D4D4"/>
                </a:solidFill>
                <a:latin typeface="Consolas"/>
              </a:rPr>
              <a:t> + </a:t>
            </a:r>
            <a:r>
              <a:rPr sz="1300" i="0" b="0">
                <a:solidFill>
                  <a:srgbClr val="D4D4D4"/>
                </a:solidFill>
                <a:latin typeface="Consolas"/>
              </a:rPr>
              <a:t>consulta</a:t>
            </a:r>
            <a:r>
              <a:rPr sz="1300" i="0" b="0">
                <a:solidFill>
                  <a:srgbClr val="D4D4D4"/>
                </a:solidFill>
                <a:latin typeface="Consolas"/>
              </a:rPr>
              <a:t>);</a:t>
            </a:r>
          </a:p>
          <a:p>
            <a:pPr>
              <a:spcAft>
                <a:spcPts val="278"/>
              </a:spcAft>
            </a:pPr>
            <a:r>
              <a:rPr sz="1300" i="0" b="0">
                <a:solidFill>
                  <a:srgbClr val="D4D4D4"/>
                </a:solidFill>
                <a:latin typeface="Consolas"/>
              </a:rPr>
              <a:t>}</a:t>
            </a:r>
          </a:p>
          <a:p>
            <a:pPr>
              <a:spcAft>
                <a:spcPts val="278"/>
              </a:spcAft>
            </a:pPr>
            <a:r>
              <a:rPr sz="1300" i="0" b="0">
                <a:solidFill>
                  <a:srgbClr val="D4D4D4"/>
                </a:solidFill>
                <a:latin typeface="Consolas"/>
              </a:rPr>
              <a:t/>
            </a:r>
          </a:p>
          <a:p>
            <a:pPr>
              <a:spcAft>
                <a:spcPts val="278"/>
              </a:spcAft>
            </a:pPr>
            <a:r>
              <a:rPr sz="1300" i="0" b="0">
                <a:solidFill>
                  <a:srgbClr val="569CD6"/>
                </a:solidFill>
                <a:latin typeface="Consolas"/>
              </a:rPr>
              <a:t>public</a:t>
            </a:r>
            <a:r>
              <a:rPr sz="1300" i="0" b="0">
                <a:solidFill>
                  <a:srgbClr val="D4D4D4"/>
                </a:solidFill>
                <a:latin typeface="Consolas"/>
              </a:rPr>
              <a:t> </a:t>
            </a:r>
            <a:r>
              <a:rPr sz="1300" i="0" b="0">
                <a:solidFill>
                  <a:srgbClr val="4EC9B0"/>
                </a:solidFill>
                <a:latin typeface="Consolas"/>
              </a:rPr>
              <a:t>String</a:t>
            </a:r>
            <a:r>
              <a:rPr sz="1300" i="0" b="0">
                <a:solidFill>
                  <a:srgbClr val="D4D4D4"/>
                </a:solidFill>
                <a:latin typeface="Consolas"/>
              </a:rPr>
              <a:t> </a:t>
            </a:r>
            <a:r>
              <a:rPr sz="1300" i="0" b="0">
                <a:solidFill>
                  <a:srgbClr val="DCDCAA"/>
                </a:solidFill>
                <a:latin typeface="Consolas"/>
              </a:rPr>
              <a:t>ultimaAtencion</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return</a:t>
            </a:r>
            <a:r>
              <a:rPr sz="1300" i="0" b="0">
                <a:solidFill>
                  <a:srgbClr val="D4D4D4"/>
                </a:solidFill>
                <a:latin typeface="Consolas"/>
              </a:rPr>
              <a:t> </a:t>
            </a:r>
            <a:r>
              <a:rPr sz="1300" i="0" b="0">
                <a:solidFill>
                  <a:srgbClr val="DCDCAA"/>
                </a:solidFill>
                <a:latin typeface="Consolas"/>
              </a:rPr>
              <a:t>pila.isEmpty</a:t>
            </a:r>
            <a:r>
              <a:rPr sz="1300" i="0" b="0">
                <a:solidFill>
                  <a:srgbClr val="D4D4D4"/>
                </a:solidFill>
                <a:latin typeface="Consolas"/>
              </a:rPr>
              <a:t>() ? </a:t>
            </a:r>
            <a:r>
              <a:rPr sz="1300" i="0" b="0">
                <a:solidFill>
                  <a:srgbClr val="CE9178"/>
                </a:solidFill>
                <a:latin typeface="Consolas"/>
              </a:rPr>
              <a:t>"(sin movimientos)"</a:t>
            </a:r>
            <a:r>
              <a:rPr sz="1300" i="0" b="0">
                <a:solidFill>
                  <a:srgbClr val="D4D4D4"/>
                </a:solidFill>
                <a:latin typeface="Consolas"/>
              </a:rPr>
              <a:t> : </a:t>
            </a:r>
            <a:r>
              <a:rPr sz="1300" i="0" b="0">
                <a:solidFill>
                  <a:srgbClr val="DCDCAA"/>
                </a:solidFill>
                <a:latin typeface="Consolas"/>
              </a:rPr>
              <a:t>pila.peek</a:t>
            </a:r>
            <a:r>
              <a:rPr sz="1300" i="0" b="0">
                <a:solidFill>
                  <a:srgbClr val="D4D4D4"/>
                </a:solidFill>
                <a:latin typeface="Consolas"/>
              </a:rPr>
              <a:t>();</a:t>
            </a:r>
          </a:p>
          <a:p>
            <a:pPr>
              <a:spcAft>
                <a:spcPts val="278"/>
              </a:spcAft>
            </a:pPr>
            <a:r>
              <a:rPr sz="1300" i="0" b="0">
                <a:solidFill>
                  <a:srgbClr val="D4D4D4"/>
                </a:solidFill>
                <a:latin typeface="Consolas"/>
              </a:rPr>
              <a:t>}</a:t>
            </a:r>
          </a:p>
          <a:p>
            <a:pPr>
              <a:spcAft>
                <a:spcPts val="278"/>
              </a:spcAft>
            </a:pPr>
            <a:r>
              <a:rPr sz="1300" i="0" b="0">
                <a:solidFill>
                  <a:srgbClr val="D4D4D4"/>
                </a:solidFill>
                <a:latin typeface="Consolas"/>
              </a:rPr>
              <a:t/>
            </a:r>
          </a:p>
          <a:p>
            <a:pPr>
              <a:spcAft>
                <a:spcPts val="278"/>
              </a:spcAft>
            </a:pPr>
            <a:r>
              <a:rPr sz="1300" i="0" b="0">
                <a:solidFill>
                  <a:srgbClr val="569CD6"/>
                </a:solidFill>
                <a:latin typeface="Consolas"/>
              </a:rPr>
              <a:t>public</a:t>
            </a:r>
            <a:r>
              <a:rPr sz="1300" i="0" b="0">
                <a:solidFill>
                  <a:srgbClr val="D4D4D4"/>
                </a:solidFill>
                <a:latin typeface="Consolas"/>
              </a:rPr>
              <a:t> </a:t>
            </a:r>
            <a:r>
              <a:rPr sz="1300" i="0" b="0">
                <a:solidFill>
                  <a:srgbClr val="4EC9B0"/>
                </a:solidFill>
                <a:latin typeface="Consolas"/>
              </a:rPr>
              <a:t>String</a:t>
            </a:r>
            <a:r>
              <a:rPr sz="1300" i="0" b="0">
                <a:solidFill>
                  <a:srgbClr val="D4D4D4"/>
                </a:solidFill>
                <a:latin typeface="Consolas"/>
              </a:rPr>
              <a:t> </a:t>
            </a:r>
            <a:r>
              <a:rPr sz="1300" i="0" b="0">
                <a:solidFill>
                  <a:srgbClr val="DCDCAA"/>
                </a:solidFill>
                <a:latin typeface="Consolas"/>
              </a:rPr>
              <a:t>deshacer</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if</a:t>
            </a:r>
            <a:r>
              <a:rPr sz="1300" i="0" b="0">
                <a:solidFill>
                  <a:srgbClr val="D4D4D4"/>
                </a:solidFill>
                <a:latin typeface="Consolas"/>
              </a:rPr>
              <a:t> (</a:t>
            </a:r>
            <a:r>
              <a:rPr sz="1300" i="0" b="0">
                <a:solidFill>
                  <a:srgbClr val="DCDCAA"/>
                </a:solidFill>
                <a:latin typeface="Consolas"/>
              </a:rPr>
              <a:t>pila.isEmpty</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return</a:t>
            </a:r>
            <a:r>
              <a:rPr sz="1300" i="0" b="0">
                <a:solidFill>
                  <a:srgbClr val="D4D4D4"/>
                </a:solidFill>
                <a:latin typeface="Consolas"/>
              </a:rPr>
              <a:t> </a:t>
            </a:r>
            <a:r>
              <a:rPr sz="1300" i="0" b="0">
                <a:solidFill>
                  <a:srgbClr val="CE9178"/>
                </a:solidFill>
                <a:latin typeface="Consolas"/>
              </a:rPr>
              <a:t>"Nada que deshacer"</a:t>
            </a:r>
            <a:r>
              <a:rPr sz="1300" i="0" b="0">
                <a:solidFill>
                  <a:srgbClr val="D4D4D4"/>
                </a:solidFill>
                <a:latin typeface="Consolas"/>
              </a:rPr>
              <a:t>; </a:t>
            </a:r>
            <a:r>
              <a:rPr sz="1300" i="1" b="0">
                <a:solidFill>
                  <a:srgbClr val="6A9955"/>
                </a:solidFill>
                <a:latin typeface="Consolas"/>
              </a:rPr>
              <a:t>// nunca se llama pop() sin preguntar por isEmpty()</a:t>
            </a:r>
          </a:p>
          <a:p>
            <a:pPr>
              <a:spcAft>
                <a:spcPts val="278"/>
              </a:spcAft>
            </a:pP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return</a:t>
            </a:r>
            <a:r>
              <a:rPr sz="1300" i="0" b="0">
                <a:solidFill>
                  <a:srgbClr val="D4D4D4"/>
                </a:solidFill>
                <a:latin typeface="Consolas"/>
              </a:rPr>
              <a:t> </a:t>
            </a:r>
            <a:r>
              <a:rPr sz="1300" i="0" b="0">
                <a:solidFill>
                  <a:srgbClr val="CE9178"/>
                </a:solidFill>
                <a:latin typeface="Consolas"/>
              </a:rPr>
              <a:t>"Se deshizo: "</a:t>
            </a:r>
            <a:r>
              <a:rPr sz="1300" i="0" b="0">
                <a:solidFill>
                  <a:srgbClr val="D4D4D4"/>
                </a:solidFill>
                <a:latin typeface="Consolas"/>
              </a:rPr>
              <a:t> + </a:t>
            </a:r>
            <a:r>
              <a:rPr sz="1300" i="0" b="0">
                <a:solidFill>
                  <a:srgbClr val="DCDCAA"/>
                </a:solidFill>
                <a:latin typeface="Consolas"/>
              </a:rPr>
              <a:t>pila.pop</a:t>
            </a:r>
            <a:r>
              <a:rPr sz="1300" i="0" b="0">
                <a:solidFill>
                  <a:srgbClr val="D4D4D4"/>
                </a:solidFill>
                <a:latin typeface="Consolas"/>
              </a:rPr>
              <a:t>();</a:t>
            </a:r>
          </a:p>
          <a:p>
            <a:pPr>
              <a:spcAft>
                <a:spcPts val="278"/>
              </a:spcAft>
            </a:pPr>
            <a:r>
              <a:rPr sz="13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ClinicaSalaDeEspera.java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cola y la pila trabajando juntas</a:t>
            </a:r>
          </a:p>
        </p:txBody>
      </p:sp>
      <p:sp>
        <p:nvSpPr>
          <p:cNvPr id="5" name="Rounded Rectangle 4"/>
          <p:cNvSpPr/>
          <p:nvPr/>
        </p:nvSpPr>
        <p:spPr>
          <a:xfrm>
            <a:off x="457200" y="1261872"/>
            <a:ext cx="11277295" cy="466058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4066227"/>
          </a:xfrm>
          <a:prstGeom prst="rect">
            <a:avLst/>
          </a:prstGeom>
          <a:noFill/>
        </p:spPr>
        <p:txBody>
          <a:bodyPr wrap="square">
            <a:spAutoFit/>
          </a:bodyPr>
          <a:lstStyle/>
          <a:p>
            <a:pPr algn="r">
              <a:spcAft>
                <a:spcPts val="364"/>
              </a:spcAft>
            </a:pPr>
            <a:r>
              <a:rPr sz="1700" i="0" b="0">
                <a:solidFill>
                  <a:srgbClr val="858585"/>
                </a:solidFill>
                <a:latin typeface="Consolas"/>
              </a:rPr>
              <a:t>1</a:t>
            </a:r>
          </a:p>
          <a:p>
            <a:pPr algn="r">
              <a:spcAft>
                <a:spcPts val="364"/>
              </a:spcAft>
            </a:pPr>
            <a:r>
              <a:rPr sz="1700" i="0" b="0">
                <a:solidFill>
                  <a:srgbClr val="858585"/>
                </a:solidFill>
                <a:latin typeface="Consolas"/>
              </a:rPr>
              <a:t>2</a:t>
            </a:r>
          </a:p>
          <a:p>
            <a:pPr algn="r">
              <a:spcAft>
                <a:spcPts val="364"/>
              </a:spcAft>
            </a:pPr>
            <a:r>
              <a:rPr sz="1700" i="0" b="0">
                <a:solidFill>
                  <a:srgbClr val="858585"/>
                </a:solidFill>
                <a:latin typeface="Consolas"/>
              </a:rPr>
              <a:t>3</a:t>
            </a:r>
          </a:p>
          <a:p>
            <a:pPr algn="r">
              <a:spcAft>
                <a:spcPts val="364"/>
              </a:spcAft>
            </a:pPr>
            <a:r>
              <a:rPr sz="1700" i="0" b="0">
                <a:solidFill>
                  <a:srgbClr val="858585"/>
                </a:solidFill>
                <a:latin typeface="Consolas"/>
              </a:rPr>
              <a:t>4</a:t>
            </a:r>
          </a:p>
          <a:p>
            <a:pPr algn="r">
              <a:spcAft>
                <a:spcPts val="364"/>
              </a:spcAft>
            </a:pPr>
            <a:r>
              <a:rPr sz="1700" i="0" b="0">
                <a:solidFill>
                  <a:srgbClr val="858585"/>
                </a:solidFill>
                <a:latin typeface="Consolas"/>
              </a:rPr>
              <a:t>5</a:t>
            </a:r>
          </a:p>
          <a:p>
            <a:pPr algn="r">
              <a:spcAft>
                <a:spcPts val="364"/>
              </a:spcAft>
            </a:pPr>
            <a:r>
              <a:rPr sz="1700" i="0" b="0">
                <a:solidFill>
                  <a:srgbClr val="858585"/>
                </a:solidFill>
                <a:latin typeface="Consolas"/>
              </a:rPr>
              <a:t>6</a:t>
            </a:r>
          </a:p>
          <a:p>
            <a:pPr algn="r">
              <a:spcAft>
                <a:spcPts val="364"/>
              </a:spcAft>
            </a:pPr>
            <a:r>
              <a:rPr sz="1700" i="0" b="0">
                <a:solidFill>
                  <a:srgbClr val="858585"/>
                </a:solidFill>
                <a:latin typeface="Consolas"/>
              </a:rPr>
              <a:t>7</a:t>
            </a:r>
          </a:p>
          <a:p>
            <a:pPr algn="r">
              <a:spcAft>
                <a:spcPts val="364"/>
              </a:spcAft>
            </a:pPr>
            <a:r>
              <a:rPr sz="1700" i="0" b="0">
                <a:solidFill>
                  <a:srgbClr val="858585"/>
                </a:solidFill>
                <a:latin typeface="Consolas"/>
              </a:rPr>
              <a:t>8</a:t>
            </a:r>
          </a:p>
          <a:p>
            <a:pPr algn="r">
              <a:spcAft>
                <a:spcPts val="364"/>
              </a:spcAft>
            </a:pPr>
            <a:r>
              <a:rPr sz="1700" i="0" b="0">
                <a:solidFill>
                  <a:srgbClr val="858585"/>
                </a:solidFill>
                <a:latin typeface="Consolas"/>
              </a:rPr>
              <a:t>9</a:t>
            </a:r>
          </a:p>
          <a:p>
            <a:pPr algn="r">
              <a:spcAft>
                <a:spcPts val="364"/>
              </a:spcAft>
            </a:pPr>
            <a:r>
              <a:rPr sz="1700" i="0" b="0">
                <a:solidFill>
                  <a:srgbClr val="858585"/>
                </a:solidFill>
                <a:latin typeface="Consolas"/>
              </a:rPr>
              <a:t>10</a:t>
            </a:r>
          </a:p>
          <a:p>
            <a:pPr algn="r">
              <a:spcAft>
                <a:spcPts val="364"/>
              </a:spcAft>
            </a:pPr>
            <a:r>
              <a:rPr sz="1700" i="0" b="0">
                <a:solidFill>
                  <a:srgbClr val="858585"/>
                </a:solidFill>
                <a:latin typeface="Consolas"/>
              </a:rPr>
              <a:t>11</a:t>
            </a:r>
          </a:p>
          <a:p>
            <a:pPr algn="r">
              <a:spcAft>
                <a:spcPts val="364"/>
              </a:spcAft>
            </a:pPr>
            <a:r>
              <a:rPr sz="1700" i="0" b="0">
                <a:solidFill>
                  <a:srgbClr val="858585"/>
                </a:solidFill>
                <a:latin typeface="Consolas"/>
              </a:rPr>
              <a:t>12</a:t>
            </a:r>
          </a:p>
          <a:p>
            <a:pPr algn="r">
              <a:spcAft>
                <a:spcPts val="364"/>
              </a:spcAft>
            </a:pPr>
            <a:r>
              <a:rPr sz="1700" i="0" b="0">
                <a:solidFill>
                  <a:srgbClr val="858585"/>
                </a:solidFill>
                <a:latin typeface="Consolas"/>
              </a:rPr>
              <a:t>13</a:t>
            </a:r>
          </a:p>
        </p:txBody>
      </p:sp>
      <p:sp>
        <p:nvSpPr>
          <p:cNvPr id="12" name="TextBox 11"/>
          <p:cNvSpPr txBox="1"/>
          <p:nvPr/>
        </p:nvSpPr>
        <p:spPr>
          <a:xfrm>
            <a:off x="1188720" y="1719072"/>
            <a:ext cx="10271455" cy="4066227"/>
          </a:xfrm>
          <a:prstGeom prst="rect">
            <a:avLst/>
          </a:prstGeom>
          <a:noFill/>
        </p:spPr>
        <p:txBody>
          <a:bodyPr wrap="square">
            <a:spAutoFit/>
          </a:bodyPr>
          <a:lstStyle/>
          <a:p>
            <a:pPr>
              <a:spcAft>
                <a:spcPts val="364"/>
              </a:spcAft>
            </a:pPr>
            <a:r>
              <a:rPr sz="1700" i="0" b="0">
                <a:solidFill>
                  <a:srgbClr val="DCDCAA"/>
                </a:solidFill>
                <a:latin typeface="Consolas"/>
              </a:rPr>
              <a:t>System.out.println</a:t>
            </a:r>
            <a:r>
              <a:rPr sz="1700" i="0" b="0">
                <a:solidFill>
                  <a:srgbClr val="D4D4D4"/>
                </a:solidFill>
                <a:latin typeface="Consolas"/>
              </a:rPr>
              <a:t>(</a:t>
            </a:r>
            <a:r>
              <a:rPr sz="1700" i="0" b="0">
                <a:solidFill>
                  <a:srgbClr val="CE9178"/>
                </a:solidFill>
                <a:latin typeface="Consolas"/>
              </a:rPr>
              <a:t>"=== 2. El consultorio atiende (poll = saca el primero) ==="</a:t>
            </a:r>
            <a:r>
              <a:rPr sz="1700" i="0" b="0">
                <a:solidFill>
                  <a:srgbClr val="D4D4D4"/>
                </a:solidFill>
                <a:latin typeface="Consolas"/>
              </a:rPr>
              <a:t>);</a:t>
            </a:r>
          </a:p>
          <a:p>
            <a:pPr>
              <a:spcAft>
                <a:spcPts val="364"/>
              </a:spcAft>
            </a:pPr>
            <a:r>
              <a:rPr sz="1700" i="0" b="0">
                <a:solidFill>
                  <a:srgbClr val="569CD6"/>
                </a:solidFill>
                <a:latin typeface="Consolas"/>
              </a:rPr>
              <a:t>while</a:t>
            </a:r>
            <a:r>
              <a:rPr sz="1700" i="0" b="0">
                <a:solidFill>
                  <a:srgbClr val="D4D4D4"/>
                </a:solidFill>
                <a:latin typeface="Consolas"/>
              </a:rPr>
              <a:t> (!</a:t>
            </a:r>
            <a:r>
              <a:rPr sz="1700" i="0" b="0">
                <a:solidFill>
                  <a:srgbClr val="DCDCAA"/>
                </a:solidFill>
                <a:latin typeface="Consolas"/>
              </a:rPr>
              <a:t>sala.estaVacia</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4D4D4"/>
                </a:solidFill>
                <a:latin typeface="Consolas"/>
              </a:rPr>
              <a:t>Turno</a:t>
            </a:r>
            <a:r>
              <a:rPr sz="1700" i="0" b="0">
                <a:solidFill>
                  <a:srgbClr val="D4D4D4"/>
                </a:solidFill>
                <a:latin typeface="Consolas"/>
              </a:rPr>
              <a:t> </a:t>
            </a:r>
            <a:r>
              <a:rPr sz="1700" i="0" b="0">
                <a:solidFill>
                  <a:srgbClr val="D4D4D4"/>
                </a:solidFill>
                <a:latin typeface="Consolas"/>
              </a:rPr>
              <a:t>t</a:t>
            </a:r>
            <a:r>
              <a:rPr sz="1700" i="0" b="0">
                <a:solidFill>
                  <a:srgbClr val="D4D4D4"/>
                </a:solidFill>
                <a:latin typeface="Consolas"/>
              </a:rPr>
              <a:t> = </a:t>
            </a:r>
            <a:r>
              <a:rPr sz="1700" i="0" b="0">
                <a:solidFill>
                  <a:srgbClr val="DCDCAA"/>
                </a:solidFill>
                <a:latin typeface="Consolas"/>
              </a:rPr>
              <a:t>sala.atender</a:t>
            </a:r>
            <a:r>
              <a:rPr sz="1700" i="0" b="0">
                <a:solidFill>
                  <a:srgbClr val="D4D4D4"/>
                </a:solidFill>
                <a:latin typeface="Consolas"/>
              </a:rPr>
              <a:t>(); </a:t>
            </a:r>
            <a:r>
              <a:rPr sz="1700" i="1" b="0">
                <a:solidFill>
                  <a:srgbClr val="6A9955"/>
                </a:solidFill>
                <a:latin typeface="Consolas"/>
              </a:rPr>
              <a:t>// dentro del while nunca es null</a:t>
            </a:r>
          </a:p>
          <a:p>
            <a:pPr>
              <a:spcAft>
                <a:spcPts val="364"/>
              </a:spcAft>
            </a:pPr>
            <a:r>
              <a:rPr sz="1700" i="0" b="0">
                <a:solidFill>
                  <a:srgbClr val="D4D4D4"/>
                </a:solidFill>
                <a:latin typeface="Consolas"/>
              </a:rPr>
              <a:t>    </a:t>
            </a:r>
            <a:r>
              <a:rPr sz="1700" i="0" b="0">
                <a:solidFill>
                  <a:srgbClr val="DCDCAA"/>
                </a:solidFill>
                <a:latin typeface="Consolas"/>
              </a:rPr>
              <a:t>historial.registrar</a:t>
            </a:r>
            <a:r>
              <a:rPr sz="1700" i="0" b="0">
                <a:solidFill>
                  <a:srgbClr val="D4D4D4"/>
                </a:solidFill>
                <a:latin typeface="Consolas"/>
              </a:rPr>
              <a:t>(</a:t>
            </a:r>
            <a:r>
              <a:rPr sz="1700" i="0" b="0">
                <a:solidFill>
                  <a:srgbClr val="CE9178"/>
                </a:solidFill>
                <a:latin typeface="Consolas"/>
              </a:rPr>
              <a:t>"Consulta de "</a:t>
            </a:r>
            <a:r>
              <a:rPr sz="1700" i="0" b="0">
                <a:solidFill>
                  <a:srgbClr val="D4D4D4"/>
                </a:solidFill>
                <a:latin typeface="Consolas"/>
              </a:rPr>
              <a:t> + </a:t>
            </a:r>
            <a:r>
              <a:rPr sz="1700" i="0" b="0">
                <a:solidFill>
                  <a:srgbClr val="DCDCAA"/>
                </a:solidFill>
                <a:latin typeface="Consolas"/>
              </a:rPr>
              <a:t>t.getNombre</a:t>
            </a:r>
            <a:r>
              <a:rPr sz="1700" i="0" b="0">
                <a:solidFill>
                  <a:srgbClr val="D4D4D4"/>
                </a:solidFill>
                <a:latin typeface="Consolas"/>
              </a:rPr>
              <a:t>() + </a:t>
            </a:r>
            <a:r>
              <a:rPr sz="1700" i="0" b="0">
                <a:solidFill>
                  <a:srgbClr val="CE9178"/>
                </a:solidFill>
                <a:latin typeface="Consolas"/>
              </a:rPr>
              <a:t>" ("</a:t>
            </a:r>
            <a:r>
              <a:rPr sz="1700" i="0" b="0">
                <a:solidFill>
                  <a:srgbClr val="D4D4D4"/>
                </a:solidFill>
                <a:latin typeface="Consolas"/>
              </a:rPr>
              <a:t> + </a:t>
            </a:r>
            <a:r>
              <a:rPr sz="1700" i="0" b="0">
                <a:solidFill>
                  <a:srgbClr val="DCDCAA"/>
                </a:solidFill>
                <a:latin typeface="Consolas"/>
              </a:rPr>
              <a:t>t.getId</a:t>
            </a:r>
            <a:r>
              <a:rPr sz="1700" i="0" b="0">
                <a:solidFill>
                  <a:srgbClr val="D4D4D4"/>
                </a:solidFill>
                <a:latin typeface="Consolas"/>
              </a:rPr>
              <a:t>() + </a:t>
            </a:r>
            <a:r>
              <a:rPr sz="1700" i="0" b="0">
                <a:solidFill>
                  <a:srgbClr val="CE9178"/>
                </a:solidFill>
                <a:latin typeface="Consolas"/>
              </a:rPr>
              <a:t>")"</a:t>
            </a:r>
            <a:r>
              <a:rPr sz="1700" i="0" b="0">
                <a:solidFill>
                  <a:srgbClr val="D4D4D4"/>
                </a:solidFill>
                <a:latin typeface="Consolas"/>
              </a:rPr>
              <a:t>);</a:t>
            </a:r>
          </a:p>
          <a:p>
            <a:pPr>
              <a:spcAft>
                <a:spcPts val="364"/>
              </a:spcAft>
            </a:pPr>
            <a:r>
              <a:rPr sz="1700" i="0" b="0">
                <a:solidFill>
                  <a:srgbClr val="D4D4D4"/>
                </a:solidFill>
                <a:latin typeface="Consolas"/>
              </a:rPr>
              <a:t>}</a:t>
            </a:r>
          </a:p>
          <a:p>
            <a:pPr>
              <a:spcAft>
                <a:spcPts val="364"/>
              </a:spcAft>
            </a:pPr>
            <a:r>
              <a:rPr sz="1700" i="0" b="0">
                <a:solidFill>
                  <a:srgbClr val="DCDCAA"/>
                </a:solidFill>
                <a:latin typeface="Consolas"/>
              </a:rPr>
              <a:t>sala.atender</a:t>
            </a:r>
            <a:r>
              <a:rPr sz="1700" i="0" b="0">
                <a:solidFill>
                  <a:srgbClr val="D4D4D4"/>
                </a:solidFill>
                <a:latin typeface="Consolas"/>
              </a:rPr>
              <a:t>(); </a:t>
            </a:r>
            <a:r>
              <a:rPr sz="1700" i="1" b="0">
                <a:solidFill>
                  <a:srgbClr val="6A9955"/>
                </a:solidFill>
                <a:latin typeface="Consolas"/>
              </a:rPr>
              <a:t>// sala vacia: mensaje controlado, sin excepcion</a:t>
            </a:r>
          </a:p>
          <a:p>
            <a:pPr>
              <a:spcAft>
                <a:spcPts val="364"/>
              </a:spcAft>
            </a:pPr>
            <a:r>
              <a:rPr sz="1700" i="0" b="0">
                <a:solidFill>
                  <a:srgbClr val="D4D4D4"/>
                </a:solidFill>
                <a:latin typeface="Consolas"/>
              </a:rPr>
              <a:t/>
            </a:r>
          </a:p>
          <a:p>
            <a:pPr>
              <a:spcAft>
                <a:spcPts val="364"/>
              </a:spcAft>
            </a:pPr>
            <a:r>
              <a:rPr sz="1700" i="0" b="0">
                <a:solidFill>
                  <a:srgbClr val="DCDCAA"/>
                </a:solidFill>
                <a:latin typeface="Consolas"/>
              </a:rPr>
              <a:t>System.out.println</a:t>
            </a:r>
            <a:r>
              <a:rPr sz="1700" i="0" b="0">
                <a:solidFill>
                  <a:srgbClr val="D4D4D4"/>
                </a:solidFill>
                <a:latin typeface="Consolas"/>
              </a:rPr>
              <a:t>();</a:t>
            </a:r>
          </a:p>
          <a:p>
            <a:pPr>
              <a:spcAft>
                <a:spcPts val="364"/>
              </a:spcAft>
            </a:pPr>
            <a:r>
              <a:rPr sz="1700" i="0" b="0">
                <a:solidFill>
                  <a:srgbClr val="DCDCAA"/>
                </a:solidFill>
                <a:latin typeface="Consolas"/>
              </a:rPr>
              <a:t>System.out.println</a:t>
            </a:r>
            <a:r>
              <a:rPr sz="1700" i="0" b="0">
                <a:solidFill>
                  <a:srgbClr val="D4D4D4"/>
                </a:solidFill>
                <a:latin typeface="Consolas"/>
              </a:rPr>
              <a:t>(</a:t>
            </a:r>
            <a:r>
              <a:rPr sz="1700" i="0" b="0">
                <a:solidFill>
                  <a:srgbClr val="CE9178"/>
                </a:solidFill>
                <a:latin typeface="Consolas"/>
              </a:rPr>
              <a:t>"=== 3. Historial reciente (LIFO) ==="</a:t>
            </a:r>
            <a:r>
              <a:rPr sz="1700" i="0" b="0">
                <a:solidFill>
                  <a:srgbClr val="D4D4D4"/>
                </a:solidFill>
                <a:latin typeface="Consolas"/>
              </a:rPr>
              <a:t>);</a:t>
            </a:r>
          </a:p>
          <a:p>
            <a:pPr>
              <a:spcAft>
                <a:spcPts val="364"/>
              </a:spcAft>
            </a:pPr>
            <a:r>
              <a:rPr sz="1700" i="0" b="0">
                <a:solidFill>
                  <a:srgbClr val="DCDCAA"/>
                </a:solidFill>
                <a:latin typeface="Consolas"/>
              </a:rPr>
              <a:t>System.out.println</a:t>
            </a:r>
            <a:r>
              <a:rPr sz="1700" i="0" b="0">
                <a:solidFill>
                  <a:srgbClr val="D4D4D4"/>
                </a:solidFill>
                <a:latin typeface="Consolas"/>
              </a:rPr>
              <a:t>(</a:t>
            </a:r>
            <a:r>
              <a:rPr sz="1700" i="0" b="0">
                <a:solidFill>
                  <a:srgbClr val="CE9178"/>
                </a:solidFill>
                <a:latin typeface="Consolas"/>
              </a:rPr>
              <a:t>"Ultimo movimiento (peek): "</a:t>
            </a:r>
            <a:r>
              <a:rPr sz="1700" i="0" b="0">
                <a:solidFill>
                  <a:srgbClr val="D4D4D4"/>
                </a:solidFill>
                <a:latin typeface="Consolas"/>
              </a:rPr>
              <a:t> + </a:t>
            </a:r>
            <a:r>
              <a:rPr sz="1700" i="0" b="0">
                <a:solidFill>
                  <a:srgbClr val="DCDCAA"/>
                </a:solidFill>
                <a:latin typeface="Consolas"/>
              </a:rPr>
              <a:t>historial.ultimaAtencion</a:t>
            </a:r>
            <a:r>
              <a:rPr sz="1700" i="0" b="0">
                <a:solidFill>
                  <a:srgbClr val="D4D4D4"/>
                </a:solidFill>
                <a:latin typeface="Consolas"/>
              </a:rPr>
              <a:t>());</a:t>
            </a:r>
          </a:p>
          <a:p>
            <a:pPr>
              <a:spcAft>
                <a:spcPts val="364"/>
              </a:spcAft>
            </a:pPr>
            <a:r>
              <a:rPr sz="1700" i="0" b="0">
                <a:solidFill>
                  <a:srgbClr val="DCDCAA"/>
                </a:solidFill>
                <a:latin typeface="Consolas"/>
              </a:rPr>
              <a:t>System.out.println</a:t>
            </a:r>
            <a:r>
              <a:rPr sz="1700" i="0" b="0">
                <a:solidFill>
                  <a:srgbClr val="D4D4D4"/>
                </a:solidFill>
                <a:latin typeface="Consolas"/>
              </a:rPr>
              <a:t>(</a:t>
            </a:r>
            <a:r>
              <a:rPr sz="1700" i="0" b="0">
                <a:solidFill>
                  <a:srgbClr val="DCDCAA"/>
                </a:solidFill>
                <a:latin typeface="Consolas"/>
              </a:rPr>
              <a:t>historial.deshacer</a:t>
            </a:r>
            <a:r>
              <a:rPr sz="1700" i="0" b="0">
                <a:solidFill>
                  <a:srgbClr val="D4D4D4"/>
                </a:solidFill>
                <a:latin typeface="Consolas"/>
              </a:rPr>
              <a:t>());</a:t>
            </a:r>
          </a:p>
          <a:p>
            <a:pPr>
              <a:spcAft>
                <a:spcPts val="364"/>
              </a:spcAft>
            </a:pPr>
            <a:r>
              <a:rPr sz="1700" i="0" b="0">
                <a:solidFill>
                  <a:srgbClr val="DCDCAA"/>
                </a:solidFill>
                <a:latin typeface="Consolas"/>
              </a:rPr>
              <a:t>System.out.println</a:t>
            </a:r>
            <a:r>
              <a:rPr sz="1700" i="0" b="0">
                <a:solidFill>
                  <a:srgbClr val="D4D4D4"/>
                </a:solidFill>
                <a:latin typeface="Consolas"/>
              </a:rPr>
              <a:t>(</a:t>
            </a:r>
            <a:r>
              <a:rPr sz="1700" i="0" b="0">
                <a:solidFill>
                  <a:srgbClr val="CE9178"/>
                </a:solidFill>
                <a:latin typeface="Consolas"/>
              </a:rPr>
              <a:t>"Ahora el ultimo es: "</a:t>
            </a:r>
            <a:r>
              <a:rPr sz="1700" i="0" b="0">
                <a:solidFill>
                  <a:srgbClr val="D4D4D4"/>
                </a:solidFill>
                <a:latin typeface="Consolas"/>
              </a:rPr>
              <a:t> + </a:t>
            </a:r>
            <a:r>
              <a:rPr sz="1700" i="0" b="0">
                <a:solidFill>
                  <a:srgbClr val="DCDCAA"/>
                </a:solidFill>
                <a:latin typeface="Consolas"/>
              </a:rPr>
              <a:t>historial.ultimaAtencion</a:t>
            </a:r>
            <a:r>
              <a:rPr sz="1700" i="0" b="0">
                <a:solidFill>
                  <a:srgbClr val="D4D4D4"/>
                </a:solidFill>
                <a:latin typeface="Consolas"/>
              </a:rPr>
              <a:t>());</a:t>
            </a:r>
          </a:p>
          <a:p>
            <a:pPr>
              <a:spcAft>
                <a:spcPts val="364"/>
              </a:spcAft>
            </a:pPr>
            <a:r>
              <a:rPr sz="1700" i="0" b="0">
                <a:solidFill>
                  <a:srgbClr val="DCDCAA"/>
                </a:solidFill>
                <a:latin typeface="Consolas"/>
              </a:rPr>
              <a:t>System.out.println</a:t>
            </a:r>
            <a:r>
              <a:rPr sz="1700" i="0" b="0">
                <a:solidFill>
                  <a:srgbClr val="D4D4D4"/>
                </a:solidFill>
                <a:latin typeface="Consolas"/>
              </a:rPr>
              <a:t>(</a:t>
            </a:r>
            <a:r>
              <a:rPr sz="1700" i="0" b="0">
                <a:solidFill>
                  <a:srgbClr val="CE9178"/>
                </a:solidFill>
                <a:latin typeface="Consolas"/>
              </a:rPr>
              <a:t>"Movimientos guardados: "</a:t>
            </a:r>
            <a:r>
              <a:rPr sz="1700" i="0" b="0">
                <a:solidFill>
                  <a:srgbClr val="D4D4D4"/>
                </a:solidFill>
                <a:latin typeface="Consolas"/>
              </a:rPr>
              <a:t> + </a:t>
            </a:r>
            <a:r>
              <a:rPr sz="1700" i="0" b="0">
                <a:solidFill>
                  <a:srgbClr val="DCDCAA"/>
                </a:solidFill>
                <a:latin typeface="Consolas"/>
              </a:rPr>
              <a:t>historial.cantidad</a:t>
            </a:r>
            <a:r>
              <a:rPr sz="17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ClinicaSalaDeEspera.java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Por qué son rápidas: ArrayDeque y LinkedList</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reglo-circular-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arreglo-circular-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arreglo-circular-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ArrayDeque es un arreglo circular con dos punteros: sacar del frente solo corre el puntero.</a:t>
            </a:r>
          </a:p>
          <a:p>
            <a:pPr>
              <a:spcAft>
                <a:spcPts val="800"/>
              </a:spcAft>
            </a:pPr>
            <a:r>
              <a:rPr sz="2000" b="0" i="0">
                <a:solidFill>
                  <a:srgbClr val="333333"/>
                </a:solidFill>
                <a:latin typeface="Calibri"/>
              </a:rPr>
              <a:t>–   LinkedList es una cadena de nodos: sacar el primero es mover la cabeza.</a:t>
            </a:r>
          </a:p>
          <a:p>
            <a:pPr>
              <a:spcAft>
                <a:spcPts val="800"/>
              </a:spcAft>
            </a:pPr>
            <a:r>
              <a:rPr sz="2000" b="0" i="0">
                <a:solidFill>
                  <a:srgbClr val="333333"/>
                </a:solidFill>
                <a:latin typeface="Calibri"/>
              </a:rPr>
              <a:t>–   Un ArrayList como cola obliga a remove(0), que desplaza a todos los demás.</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Una cola no se recorre para buscar</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rgencia-addfirst-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urgencia-addfirst-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urgencia-addfirst-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Buscar a alguien dentro de la cola para sacarlo indica que no es una cola pura.</a:t>
            </a:r>
          </a:p>
          <a:p>
            <a:pPr>
              <a:spcAft>
                <a:spcPts val="800"/>
              </a:spcAft>
            </a:pPr>
            <a:r>
              <a:rPr sz="2000" b="0" i="0">
                <a:solidFill>
                  <a:srgbClr val="333333"/>
                </a:solidFill>
                <a:latin typeface="Calibri"/>
              </a:rPr>
              <a:t>–   La urgencia se modela con Deque: addLast para el que llega, addFirst para el caso crítico.</a:t>
            </a:r>
          </a:p>
          <a:p>
            <a:pPr>
              <a:spcAft>
                <a:spcPts val="800"/>
              </a:spcAft>
            </a:pPr>
            <a:r>
              <a:rPr sz="2000" b="0" i="0">
                <a:solidFill>
                  <a:srgbClr val="333333"/>
                </a:solidFill>
                <a:latin typeface="Calibri"/>
              </a:rPr>
              <a:t>–   Imprimir la cola con for-each la muestra pero no la consume: size() sigue igual.</a:t>
            </a:r>
          </a:p>
          <a:p>
            <a:pPr>
              <a:spcAft>
                <a:spcPts val="800"/>
              </a:spcAft>
            </a:pPr>
            <a:r>
              <a:rPr sz="2000" b="0" i="0">
                <a:solidFill>
                  <a:srgbClr val="333333"/>
                </a:solidFill>
                <a:latin typeface="Calibri"/>
              </a:rPr>
              <a:t>–   Consumir es poll; mirar es peek o for-each.</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urgencia entra con addFirst</a:t>
            </a:r>
          </a:p>
        </p:txBody>
      </p:sp>
      <p:sp>
        <p:nvSpPr>
          <p:cNvPr id="5" name="Rounded Rectangle 4"/>
          <p:cNvSpPr/>
          <p:nvPr/>
        </p:nvSpPr>
        <p:spPr>
          <a:xfrm>
            <a:off x="457200" y="1261872"/>
            <a:ext cx="11277295" cy="4106425"/>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1188720" y="1719072"/>
            <a:ext cx="10271455" cy="3512065"/>
          </a:xfrm>
          <a:prstGeom prst="rect">
            <a:avLst/>
          </a:prstGeom>
          <a:noFill/>
        </p:spPr>
        <p:txBody>
          <a:bodyPr wrap="square">
            <a:spAutoFit/>
          </a:bodyPr>
          <a:lstStyle/>
          <a:p>
            <a:pPr>
              <a:spcAft>
                <a:spcPts val="428"/>
              </a:spcAft>
            </a:pPr>
            <a:r>
              <a:rPr sz="2000" i="0" b="0">
                <a:solidFill>
                  <a:srgbClr val="4EC9B0"/>
                </a:solidFill>
                <a:latin typeface="Consolas"/>
              </a:rPr>
              <a:t>Deque</a:t>
            </a:r>
            <a:r>
              <a:rPr sz="2000" i="0" b="0">
                <a:solidFill>
                  <a:srgbClr val="D4D4D4"/>
                </a:solidFill>
                <a:latin typeface="Consolas"/>
              </a:rPr>
              <a:t>&lt;</a:t>
            </a:r>
            <a:r>
              <a:rPr sz="2000" i="0" b="0">
                <a:solidFill>
                  <a:srgbClr val="D4D4D4"/>
                </a:solidFill>
                <a:latin typeface="Consolas"/>
              </a:rPr>
              <a:t>Turno</a:t>
            </a:r>
            <a:r>
              <a:rPr sz="2000" i="0" b="0">
                <a:solidFill>
                  <a:srgbClr val="D4D4D4"/>
                </a:solidFill>
                <a:latin typeface="Consolas"/>
              </a:rPr>
              <a:t>&gt; </a:t>
            </a:r>
            <a:r>
              <a:rPr sz="2000" i="0" b="0">
                <a:solidFill>
                  <a:srgbClr val="D4D4D4"/>
                </a:solidFill>
                <a:latin typeface="Consolas"/>
              </a:rPr>
              <a:t>filaConUrgencias</a:t>
            </a:r>
            <a:r>
              <a:rPr sz="2000" i="0" b="0">
                <a:solidFill>
                  <a:srgbClr val="D4D4D4"/>
                </a:solidFill>
                <a:latin typeface="Consolas"/>
              </a:rPr>
              <a:t> = </a:t>
            </a:r>
            <a:r>
              <a:rPr sz="2000" i="0" b="0">
                <a:solidFill>
                  <a:srgbClr val="569CD6"/>
                </a:solidFill>
                <a:latin typeface="Consolas"/>
              </a:rPr>
              <a:t>new</a:t>
            </a:r>
            <a:r>
              <a:rPr sz="2000" i="0" b="0">
                <a:solidFill>
                  <a:srgbClr val="D4D4D4"/>
                </a:solidFill>
                <a:latin typeface="Consolas"/>
              </a:rPr>
              <a:t> </a:t>
            </a:r>
            <a:r>
              <a:rPr sz="2000" i="0" b="0">
                <a:solidFill>
                  <a:srgbClr val="4EC9B0"/>
                </a:solidFill>
                <a:latin typeface="Consolas"/>
              </a:rPr>
              <a:t>ArrayDeque</a:t>
            </a:r>
            <a:r>
              <a:rPr sz="2000" i="0" b="0">
                <a:solidFill>
                  <a:srgbClr val="D4D4D4"/>
                </a:solidFill>
                <a:latin typeface="Consolas"/>
              </a:rPr>
              <a:t>&lt;&gt;();</a:t>
            </a:r>
          </a:p>
          <a:p>
            <a:pPr>
              <a:spcAft>
                <a:spcPts val="428"/>
              </a:spcAft>
            </a:pPr>
            <a:r>
              <a:rPr sz="2000" i="0" b="0">
                <a:solidFill>
                  <a:srgbClr val="DCDCAA"/>
                </a:solidFill>
                <a:latin typeface="Consolas"/>
              </a:rPr>
              <a:t>filaConUrgencias.addLast</a:t>
            </a:r>
            <a:r>
              <a:rPr sz="2000" i="0" b="0">
                <a:solidFill>
                  <a:srgbClr val="D4D4D4"/>
                </a:solidFill>
                <a:latin typeface="Consolas"/>
              </a:rPr>
              <a:t>(</a:t>
            </a:r>
            <a:r>
              <a:rPr sz="2000" i="0" b="0">
                <a:solidFill>
                  <a:srgbClr val="569CD6"/>
                </a:solidFill>
                <a:latin typeface="Consolas"/>
              </a:rPr>
              <a:t>new</a:t>
            </a:r>
            <a:r>
              <a:rPr sz="2000" i="0" b="0">
                <a:solidFill>
                  <a:srgbClr val="D4D4D4"/>
                </a:solidFill>
                <a:latin typeface="Consolas"/>
              </a:rPr>
              <a:t> </a:t>
            </a:r>
            <a:r>
              <a:rPr sz="2000" i="0" b="0">
                <a:solidFill>
                  <a:srgbClr val="4EC9B0"/>
                </a:solidFill>
                <a:latin typeface="Consolas"/>
              </a:rPr>
              <a:t>Turno</a:t>
            </a:r>
            <a:r>
              <a:rPr sz="2000" i="0" b="0">
                <a:solidFill>
                  <a:srgbClr val="D4D4D4"/>
                </a:solidFill>
                <a:latin typeface="Consolas"/>
              </a:rPr>
              <a:t>(</a:t>
            </a:r>
            <a:r>
              <a:rPr sz="2000" i="0" b="0">
                <a:solidFill>
                  <a:srgbClr val="CE9178"/>
                </a:solidFill>
                <a:latin typeface="Consolas"/>
              </a:rPr>
              <a:t>"M-004"</a:t>
            </a:r>
            <a:r>
              <a:rPr sz="2000" i="0" b="0">
                <a:solidFill>
                  <a:srgbClr val="D4D4D4"/>
                </a:solidFill>
                <a:latin typeface="Consolas"/>
              </a:rPr>
              <a:t>, </a:t>
            </a:r>
            <a:r>
              <a:rPr sz="2000" i="0" b="0">
                <a:solidFill>
                  <a:srgbClr val="CE9178"/>
                </a:solidFill>
                <a:latin typeface="Consolas"/>
              </a:rPr>
              <a:t>"Nieve"</a:t>
            </a:r>
            <a:r>
              <a:rPr sz="2000" i="0" b="0">
                <a:solidFill>
                  <a:srgbClr val="D4D4D4"/>
                </a:solidFill>
                <a:latin typeface="Consolas"/>
              </a:rPr>
              <a:t>, </a:t>
            </a:r>
            <a:r>
              <a:rPr sz="2000" i="0" b="0">
                <a:solidFill>
                  <a:srgbClr val="CE9178"/>
                </a:solidFill>
                <a:latin typeface="Consolas"/>
              </a:rPr>
              <a:t>"Sara Diaz"</a:t>
            </a:r>
            <a:r>
              <a:rPr sz="2000" i="0" b="0">
                <a:solidFill>
                  <a:srgbClr val="D4D4D4"/>
                </a:solidFill>
                <a:latin typeface="Consolas"/>
              </a:rPr>
              <a:t>, </a:t>
            </a:r>
            <a:r>
              <a:rPr sz="2000" i="0" b="0">
                <a:solidFill>
                  <a:srgbClr val="CE9178"/>
                </a:solidFill>
                <a:latin typeface="Consolas"/>
              </a:rPr>
              <a:t>"Desparasitacion"</a:t>
            </a:r>
            <a:r>
              <a:rPr sz="2000" i="0" b="0">
                <a:solidFill>
                  <a:srgbClr val="D4D4D4"/>
                </a:solidFill>
                <a:latin typeface="Consolas"/>
              </a:rPr>
              <a:t>));</a:t>
            </a:r>
          </a:p>
          <a:p>
            <a:pPr>
              <a:spcAft>
                <a:spcPts val="428"/>
              </a:spcAft>
            </a:pPr>
            <a:r>
              <a:rPr sz="2000" i="0" b="0">
                <a:solidFill>
                  <a:srgbClr val="DCDCAA"/>
                </a:solidFill>
                <a:latin typeface="Consolas"/>
              </a:rPr>
              <a:t>filaConUrgencias.addLast</a:t>
            </a:r>
            <a:r>
              <a:rPr sz="2000" i="0" b="0">
                <a:solidFill>
                  <a:srgbClr val="D4D4D4"/>
                </a:solidFill>
                <a:latin typeface="Consolas"/>
              </a:rPr>
              <a:t>(</a:t>
            </a:r>
            <a:r>
              <a:rPr sz="2000" i="0" b="0">
                <a:solidFill>
                  <a:srgbClr val="569CD6"/>
                </a:solidFill>
                <a:latin typeface="Consolas"/>
              </a:rPr>
              <a:t>new</a:t>
            </a:r>
            <a:r>
              <a:rPr sz="2000" i="0" b="0">
                <a:solidFill>
                  <a:srgbClr val="D4D4D4"/>
                </a:solidFill>
                <a:latin typeface="Consolas"/>
              </a:rPr>
              <a:t> </a:t>
            </a:r>
            <a:r>
              <a:rPr sz="2000" i="0" b="0">
                <a:solidFill>
                  <a:srgbClr val="4EC9B0"/>
                </a:solidFill>
                <a:latin typeface="Consolas"/>
              </a:rPr>
              <a:t>Turno</a:t>
            </a:r>
            <a:r>
              <a:rPr sz="2000" i="0" b="0">
                <a:solidFill>
                  <a:srgbClr val="D4D4D4"/>
                </a:solidFill>
                <a:latin typeface="Consolas"/>
              </a:rPr>
              <a:t>(</a:t>
            </a:r>
            <a:r>
              <a:rPr sz="2000" i="0" b="0">
                <a:solidFill>
                  <a:srgbClr val="CE9178"/>
                </a:solidFill>
                <a:latin typeface="Consolas"/>
              </a:rPr>
              <a:t>"M-005"</a:t>
            </a:r>
            <a:r>
              <a:rPr sz="2000" i="0" b="0">
                <a:solidFill>
                  <a:srgbClr val="D4D4D4"/>
                </a:solidFill>
                <a:latin typeface="Consolas"/>
              </a:rPr>
              <a:t>, </a:t>
            </a:r>
            <a:r>
              <a:rPr sz="2000" i="0" b="0">
                <a:solidFill>
                  <a:srgbClr val="CE9178"/>
                </a:solidFill>
                <a:latin typeface="Consolas"/>
              </a:rPr>
              <a:t>"Toby"</a:t>
            </a:r>
            <a:r>
              <a:rPr sz="2000" i="0" b="0">
                <a:solidFill>
                  <a:srgbClr val="D4D4D4"/>
                </a:solidFill>
                <a:latin typeface="Consolas"/>
              </a:rPr>
              <a:t>, </a:t>
            </a:r>
            <a:r>
              <a:rPr sz="2000" i="0" b="0">
                <a:solidFill>
                  <a:srgbClr val="CE9178"/>
                </a:solidFill>
                <a:latin typeface="Consolas"/>
              </a:rPr>
              <a:t>"Sara Diaz"</a:t>
            </a:r>
            <a:r>
              <a:rPr sz="2000" i="0" b="0">
                <a:solidFill>
                  <a:srgbClr val="D4D4D4"/>
                </a:solidFill>
                <a:latin typeface="Consolas"/>
              </a:rPr>
              <a:t>, </a:t>
            </a:r>
            <a:r>
              <a:rPr sz="2000" i="0" b="0">
                <a:solidFill>
                  <a:srgbClr val="CE9178"/>
                </a:solidFill>
                <a:latin typeface="Consolas"/>
              </a:rPr>
              <a:t>"Control"</a:t>
            </a:r>
            <a:r>
              <a:rPr sz="2000" i="0" b="0">
                <a:solidFill>
                  <a:srgbClr val="D4D4D4"/>
                </a:solidFill>
                <a:latin typeface="Consolas"/>
              </a:rPr>
              <a:t>));</a:t>
            </a:r>
          </a:p>
          <a:p>
            <a:pPr>
              <a:spcAft>
                <a:spcPts val="428"/>
              </a:spcAft>
            </a:pPr>
            <a:r>
              <a:rPr sz="2000" i="0" b="0">
                <a:solidFill>
                  <a:srgbClr val="DCDCAA"/>
                </a:solidFill>
                <a:latin typeface="Consolas"/>
              </a:rPr>
              <a:t>filaConUrgencias.addFirst</a:t>
            </a:r>
            <a:r>
              <a:rPr sz="2000" i="0" b="0">
                <a:solidFill>
                  <a:srgbClr val="D4D4D4"/>
                </a:solidFill>
                <a:latin typeface="Consolas"/>
              </a:rPr>
              <a:t>(</a:t>
            </a:r>
            <a:r>
              <a:rPr sz="2000" i="0" b="0">
                <a:solidFill>
                  <a:srgbClr val="569CD6"/>
                </a:solidFill>
                <a:latin typeface="Consolas"/>
              </a:rPr>
              <a:t>new</a:t>
            </a:r>
            <a:r>
              <a:rPr sz="2000" i="0" b="0">
                <a:solidFill>
                  <a:srgbClr val="D4D4D4"/>
                </a:solidFill>
                <a:latin typeface="Consolas"/>
              </a:rPr>
              <a:t> </a:t>
            </a:r>
            <a:r>
              <a:rPr sz="2000" i="0" b="0">
                <a:solidFill>
                  <a:srgbClr val="4EC9B0"/>
                </a:solidFill>
                <a:latin typeface="Consolas"/>
              </a:rPr>
              <a:t>Turno</a:t>
            </a:r>
            <a:r>
              <a:rPr sz="2000" i="0" b="0">
                <a:solidFill>
                  <a:srgbClr val="D4D4D4"/>
                </a:solidFill>
                <a:latin typeface="Consolas"/>
              </a:rPr>
              <a:t>(</a:t>
            </a:r>
            <a:r>
              <a:rPr sz="2000" i="0" b="0">
                <a:solidFill>
                  <a:srgbClr val="CE9178"/>
                </a:solidFill>
                <a:latin typeface="Consolas"/>
              </a:rPr>
              <a:t>"M-009"</a:t>
            </a:r>
            <a:r>
              <a:rPr sz="2000" i="0" b="0">
                <a:solidFill>
                  <a:srgbClr val="D4D4D4"/>
                </a:solidFill>
                <a:latin typeface="Consolas"/>
              </a:rPr>
              <a:t>, </a:t>
            </a:r>
            <a:r>
              <a:rPr sz="2000" i="0" b="0">
                <a:solidFill>
                  <a:srgbClr val="CE9178"/>
                </a:solidFill>
                <a:latin typeface="Consolas"/>
              </a:rPr>
              <a:t>"Canela"</a:t>
            </a:r>
            <a:r>
              <a:rPr sz="2000" i="0" b="0">
                <a:solidFill>
                  <a:srgbClr val="D4D4D4"/>
                </a:solidFill>
                <a:latin typeface="Consolas"/>
              </a:rPr>
              <a:t>, </a:t>
            </a:r>
            <a:r>
              <a:rPr sz="2000" i="0" b="0">
                <a:solidFill>
                  <a:srgbClr val="CE9178"/>
                </a:solidFill>
                <a:latin typeface="Consolas"/>
              </a:rPr>
              <a:t>"Ana Gomez"</a:t>
            </a:r>
            <a:r>
              <a:rPr sz="2000" i="0" b="0">
                <a:solidFill>
                  <a:srgbClr val="D4D4D4"/>
                </a:solidFill>
                <a:latin typeface="Consolas"/>
              </a:rPr>
              <a:t>, </a:t>
            </a:r>
            <a:r>
              <a:rPr sz="2000" i="0" b="0">
                <a:solidFill>
                  <a:srgbClr val="CE9178"/>
                </a:solidFill>
                <a:latin typeface="Consolas"/>
              </a:rPr>
              <a:t>"URGENCIA"</a:t>
            </a:r>
            <a:r>
              <a:rPr sz="2000" i="0" b="0">
                <a:solidFill>
                  <a:srgbClr val="D4D4D4"/>
                </a:solidFill>
                <a:latin typeface="Consolas"/>
              </a:rPr>
              <a:t>));</a:t>
            </a:r>
          </a:p>
          <a:p>
            <a:pPr>
              <a:spcAft>
                <a:spcPts val="428"/>
              </a:spcAft>
            </a:pPr>
            <a:r>
              <a:rPr sz="2000" i="0" b="0">
                <a:solidFill>
                  <a:srgbClr val="569CD6"/>
                </a:solidFill>
                <a:latin typeface="Consolas"/>
              </a:rPr>
              <a:t>while</a:t>
            </a:r>
            <a:r>
              <a:rPr sz="2000" i="0" b="0">
                <a:solidFill>
                  <a:srgbClr val="D4D4D4"/>
                </a:solidFill>
                <a:latin typeface="Consolas"/>
              </a:rPr>
              <a:t> (!</a:t>
            </a:r>
            <a:r>
              <a:rPr sz="2000" i="0" b="0">
                <a:solidFill>
                  <a:srgbClr val="DCDCAA"/>
                </a:solidFill>
                <a:latin typeface="Consolas"/>
              </a:rPr>
              <a:t>filaConUrgencias.isEmpty</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CDCAA"/>
                </a:solidFill>
                <a:latin typeface="Consolas"/>
              </a:rPr>
              <a:t>System.out.println</a:t>
            </a:r>
            <a:r>
              <a:rPr sz="2000" i="0" b="0">
                <a:solidFill>
                  <a:srgbClr val="D4D4D4"/>
                </a:solidFill>
                <a:latin typeface="Consolas"/>
              </a:rPr>
              <a:t>(</a:t>
            </a:r>
            <a:r>
              <a:rPr sz="2000" i="0" b="0">
                <a:solidFill>
                  <a:srgbClr val="CE9178"/>
                </a:solidFill>
                <a:latin typeface="Consolas"/>
              </a:rPr>
              <a:t>"Pasa: "</a:t>
            </a:r>
            <a:r>
              <a:rPr sz="2000" i="0" b="0">
                <a:solidFill>
                  <a:srgbClr val="D4D4D4"/>
                </a:solidFill>
                <a:latin typeface="Consolas"/>
              </a:rPr>
              <a:t> + </a:t>
            </a:r>
            <a:r>
              <a:rPr sz="2000" i="0" b="0">
                <a:solidFill>
                  <a:srgbClr val="DCDCAA"/>
                </a:solidFill>
                <a:latin typeface="Consolas"/>
              </a:rPr>
              <a:t>filaConUrgencias.pollFirst</a:t>
            </a:r>
            <a:r>
              <a:rPr sz="2000" i="0" b="0">
                <a:solidFill>
                  <a:srgbClr val="D4D4D4"/>
                </a:solidFill>
                <a:latin typeface="Consolas"/>
              </a:rPr>
              <a:t>());</a:t>
            </a:r>
          </a:p>
          <a:p>
            <a:pPr>
              <a:spcAft>
                <a:spcPts val="428"/>
              </a:spcAft>
            </a:pPr>
            <a:r>
              <a:rPr sz="2000" i="0" b="0">
                <a:solidFill>
                  <a:srgbClr val="D4D4D4"/>
                </a:solidFill>
                <a:latin typeface="Consolas"/>
              </a:rPr>
              <a:t>}</a:t>
            </a:r>
          </a:p>
        </p:txBody>
      </p:sp>
      <p:sp>
        <p:nvSpPr>
          <p:cNvPr id="12" name="TextBox 11"/>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ClinicaSalaDeEspera.java</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573813"/>
            <a:ext cx="6010497" cy="4057845"/>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aptop-code-live-demo.jpg"/>
          <p:cNvPicPr>
            <a:picLocks noChangeAspect="1"/>
          </p:cNvPicPr>
          <p:nvPr/>
        </p:nvPicPr>
        <p:blipFill>
          <a:blip r:embed="rId2"/>
          <a:stretch>
            <a:fillRect/>
          </a:stretch>
        </p:blipFill>
        <p:spPr>
          <a:xfrm>
            <a:off x="5870301" y="1646965"/>
            <a:ext cx="5864193" cy="3911541"/>
          </a:xfrm>
          <a:prstGeom prst="rect">
            <a:avLst/>
          </a:prstGeom>
        </p:spPr>
      </p:pic>
      <p:sp>
        <p:nvSpPr>
          <p:cNvPr id="7" name="TextBox 6"/>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Foto: olia danilevich · Pexels</a:t>
            </a:r>
          </a:p>
        </p:txBody>
      </p:sp>
      <p:sp>
        <p:nvSpPr>
          <p:cNvPr id="8" name="TextBox 7"/>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Visual Studio Code (Java)</a:t>
            </a:r>
          </a:p>
          <a:p>
            <a:pPr>
              <a:spcAft>
                <a:spcPts val="800"/>
              </a:spcAft>
            </a:pPr>
            <a:r>
              <a:rPr sz="2000" b="0" i="0">
                <a:solidFill>
                  <a:srgbClr val="333333"/>
                </a:solidFill>
                <a:latin typeface="Calibri"/>
              </a:rPr>
              <a:t>–   </a:t>
            </a:r>
            <a:r>
              <a:rPr sz="2000" b="1" i="0">
                <a:solidFill>
                  <a:srgbClr val="333333"/>
                </a:solidFill>
                <a:latin typeface="Calibri"/>
              </a:rPr>
              <a:t>Demo:</a:t>
            </a:r>
          </a:p>
          <a:p>
            <a:pPr>
              <a:spcAft>
                <a:spcPts val="800"/>
              </a:spcAft>
            </a:pPr>
            <a:r>
              <a:rPr sz="2000" b="0" i="0">
                <a:solidFill>
                  <a:srgbClr val="333333"/>
                </a:solidFill>
                <a:latin typeface="Calibri"/>
              </a:rPr>
              <a:t>–   Mismo dominio de la clinica — no otro ejemplo.</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3 · Pilas y colas · Stack y Queue</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Cuando restringir el acceso hace el software mas seguro</a:t>
            </a:r>
          </a:p>
          <a:p>
            <a:pPr algn="ctr">
              <a:spcAft>
                <a:spcPts val="600"/>
              </a:spcAft>
            </a:pPr>
            <a:r>
              <a:rPr sz="1600" b="0" i="0">
                <a:solidFill>
                  <a:srgbClr val="333333"/>
                </a:solidFill>
                <a:latin typeface="Calibri"/>
              </a:rPr>
              <a:t>Repasa las laminas de concepto y el codigo de la demo</a:t>
            </a:r>
          </a:p>
          <a:p>
            <a:pPr algn="ctr">
              <a:spcAft>
                <a:spcPts val="600"/>
              </a:spcAft>
            </a:pPr>
            <a:r>
              <a:rPr sz="1600" b="0" i="0">
                <a:solidFill>
                  <a:srgbClr val="333333"/>
                </a:solidFill>
                <a:latin typeface="Calibri"/>
              </a:rPr>
              <a:t>Siguiente clase: continuamos el hilo del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proyecto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