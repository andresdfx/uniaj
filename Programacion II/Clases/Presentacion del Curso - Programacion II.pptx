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1463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Programación II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B8D8EE"/>
                </a:solidFill>
                <a:latin typeface="Calibri"/>
              </a:rPr>
              <a:t>Programación Orientada a Objetos</a:t>
            </a:r>
          </a:p>
        </p:txBody>
      </p:sp>
      <p:pic>
        <p:nvPicPr>
          <p:cNvPr id="5" name="Picture 4" descr="logo_uniajc_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920240" cy="836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337560"/>
            <a:ext cx="112772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Código: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FI303204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· Grupo: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341C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· Periodo: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2026-2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Programa: Ingeniería de Sistemas · Facultad de Ingeniería · UNIAJC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Horario: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Miércoles 18:00 – 20:00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(120 min) · Franja Norte-Noche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Docente: Julian Andres Castaño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Campus Virtual: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[URL Campus Virtual UNIAJC — pendiente]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Listado de estudiantes: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[PENDIENTE listado]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Julian Andres Castaño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057400"/>
            <a:ext cx="9174175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  <a:latin typeface="Calibri"/>
              </a:rPr>
              <a:t>Ingeniero de Sistemas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  <a:latin typeface="Calibri"/>
              </a:rPr>
              <a:t>Candidato a MsC en Inteligencia Artificial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  <a:latin typeface="Calibri"/>
              </a:rPr>
              <a:t>Líder Técnico</a:t>
            </a:r>
          </a:p>
        </p:txBody>
      </p:sp>
      <p:pic>
        <p:nvPicPr>
          <p:cNvPr id="6" name="Picture 5" descr="outlook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3666744"/>
            <a:ext cx="292608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063239" y="3648456"/>
            <a:ext cx="8671255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600" b="1" i="0">
                <a:solidFill>
                  <a:srgbClr val="0D7A8C"/>
                </a:solidFill>
                <a:latin typeface="Calibri"/>
              </a:rPr>
              <a:t>julianacastano@profesores.uniajc.edu.co</a:t>
            </a:r>
          </a:p>
        </p:txBody>
      </p:sp>
      <p:pic>
        <p:nvPicPr>
          <p:cNvPr id="8" name="Picture 7" descr="logo_uniajc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879592"/>
            <a:ext cx="1645920" cy="7236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Rompe-hielo · Padlet del grupo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6583680" cy="4160520"/>
          </a:xfrm>
          <a:prstGeom prst="roundRect">
            <a:avLst>
              <a:gd name="adj" fmla="val 12000"/>
            </a:avLst>
          </a:prstGeom>
          <a:solidFill>
            <a:srgbClr val="E8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28016" cy="416052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6080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Escanea el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QR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o abre el enlace del tablero colaborativo.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Deja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1 nota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en cada columna: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333333"/>
                </a:solidFill>
                <a:latin typeface="Calibri"/>
              </a:rPr>
              <a:t>1.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¿Quién soy? (nombre + una habilidad o hobby)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333333"/>
                </a:solidFill>
                <a:latin typeface="Calibri"/>
              </a:rPr>
              <a:t>2.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Expectativa del curso (1 frase)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333333"/>
                </a:solidFill>
                <a:latin typeface="Calibri"/>
              </a:rPr>
              <a:t>3.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Pregunta al docente / al grupo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–   5–8 min · sin instalar · solo navegador.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–   Enlace: </a:t>
            </a:r>
            <a:r>
              <a:rPr sz="1300" b="1" i="0">
                <a:solidFill>
                  <a:srgbClr val="333333"/>
                </a:solidFill>
                <a:latin typeface="Calibri"/>
              </a:rPr>
              <a:t>https://padlet.com/andres_dfx/uniaj-l77e9uu16trgdvcp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1234440"/>
            <a:ext cx="4465015" cy="41605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qr_padlet_uniaj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1787" y="1554480"/>
            <a:ext cx="3200400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60920" y="4937760"/>
            <a:ext cx="42821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66666"/>
                </a:solidFill>
                <a:latin typeface="Calibri"/>
              </a:rPr>
              <a:t>QR oficial Padlet UNIAJC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¿Para qué existe este curso?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Profundizar el paradigma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POO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en Java: aplicaciones avanzadas, eventos, estructuras de datos y patrones básicos.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Metodología activa basada en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proyectos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(ABPr) para construir soluciones sostenibles y éticas.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Complementa Programación I y prepara para Ingeniería de Software.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Objeto de estudio: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desarrollo avanzado de aplicaciones orientadas a objetos.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Objetivo y resultados de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Objetivo: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diseñar e implementar aplicaciones avanzadas con POO, eficientes, mantenibles y escalables.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RAA1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— Implementa estructuras de datos aplicadas a la resolución de problemas.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RAA2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— Desarrolla aplicaciones con manejo de eventos y componentes gráficos.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RAA3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— Aplica patrones de diseño básicos para optimizar la arquitectura del software.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Cómo trabajamos en clase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Sesión 0 (hoy)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= logística + acuerdo pedagógico + evaluación + CONTENIDO +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socialización del Proyecto Integrador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Clase 1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(material en archivo aparte) = diagnóstico de conocimientos previos + arranque temático — mismo bloque de hoy.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Cada miércoles (120 min):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Teoría Core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→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Taller Guiado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→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cierre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. Modalidad: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Presencialidad asistida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: Clase 1 y parciales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presencial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; resto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virtual síncrona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; festivos =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clase autónoma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Taller calificable: entrega máxima el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domingo 23:59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Hilo conductor de todo el semestre: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Proyecto Integrador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continuo. Enfoque: aprender haciendo · aprendizaje invertido.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Sistema de evaluación (Acuerdo pedagógico)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3545738" cy="4910327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3545738" cy="50292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07592"/>
            <a:ext cx="327141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Corte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56231"/>
            <a:ext cx="327141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269CCB"/>
                </a:solidFill>
                <a:latin typeface="Calibri"/>
              </a:rPr>
              <a:t>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79191"/>
            <a:ext cx="32714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66666"/>
                </a:solidFill>
                <a:latin typeface="Calibri"/>
              </a:rPr>
              <a:t>10/08 – 13/09/2026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90672"/>
            <a:ext cx="3271418" cy="2990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250" b="1" i="0">
                <a:solidFill>
                  <a:srgbClr val="333333"/>
                </a:solidFill>
                <a:latin typeface="Calibri"/>
              </a:rPr>
              <a:t>Parcial 1</a:t>
            </a:r>
            <a:r>
              <a:rPr sz="1250" b="0" i="0">
                <a:solidFill>
                  <a:srgbClr val="333333"/>
                </a:solidFill>
                <a:latin typeface="Calibri"/>
              </a:rPr>
              <a:t> (Clase 5) · 10%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Talleres / Quiz · 10%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Asistencia · 10%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2978" y="1261872"/>
            <a:ext cx="3545738" cy="4910327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2978" y="1261872"/>
            <a:ext cx="3545738" cy="50292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0138" y="1307592"/>
            <a:ext cx="327141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095292"/>
                </a:solidFill>
                <a:latin typeface="Calibri"/>
              </a:rPr>
              <a:t>Corte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0138" y="1856231"/>
            <a:ext cx="327141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D000"/>
                </a:solidFill>
                <a:latin typeface="Calibri"/>
              </a:rPr>
              <a:t>30%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0138" y="2679191"/>
            <a:ext cx="32714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66666"/>
                </a:solidFill>
                <a:latin typeface="Calibri"/>
              </a:rPr>
              <a:t>14/09 – 18/10/2026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0138" y="3090672"/>
            <a:ext cx="3271418" cy="2990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250" b="1" i="0">
                <a:solidFill>
                  <a:srgbClr val="333333"/>
                </a:solidFill>
                <a:latin typeface="Calibri"/>
              </a:rPr>
              <a:t>Parcial 2</a:t>
            </a:r>
            <a:r>
              <a:rPr sz="1250" b="0" i="0">
                <a:solidFill>
                  <a:srgbClr val="333333"/>
                </a:solidFill>
                <a:latin typeface="Calibri"/>
              </a:rPr>
              <a:t> (Clase 10) · 10%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Talleres / Quiz · 10%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Asistencia · 10%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8756" y="1261872"/>
            <a:ext cx="3545738" cy="4910327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8756" y="1261872"/>
            <a:ext cx="3545738" cy="5029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5916" y="1307592"/>
            <a:ext cx="327141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Corte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5916" y="1856231"/>
            <a:ext cx="327141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95292"/>
                </a:solidFill>
                <a:latin typeface="Calibri"/>
              </a:rPr>
              <a:t>40%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5916" y="2679191"/>
            <a:ext cx="32714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66666"/>
                </a:solidFill>
                <a:latin typeface="Calibri"/>
              </a:rPr>
              <a:t>19/10 – 22/11/2026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5916" y="3090672"/>
            <a:ext cx="3271418" cy="2990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250" b="1" i="0">
                <a:solidFill>
                  <a:srgbClr val="333333"/>
                </a:solidFill>
                <a:latin typeface="Calibri"/>
              </a:rPr>
              <a:t>Parcial 3</a:t>
            </a:r>
            <a:r>
              <a:rPr sz="1250" b="0" i="0">
                <a:solidFill>
                  <a:srgbClr val="333333"/>
                </a:solidFill>
                <a:latin typeface="Calibri"/>
              </a:rPr>
              <a:t> (Clase 15) · 15%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250" b="1" i="0">
                <a:solidFill>
                  <a:srgbClr val="333333"/>
                </a:solidFill>
                <a:latin typeface="Calibri"/>
              </a:rPr>
              <a:t>Proyecto Integrador</a:t>
            </a:r>
            <a:r>
              <a:rPr sz="1250" b="0" i="0">
                <a:solidFill>
                  <a:srgbClr val="333333"/>
                </a:solidFill>
                <a:latin typeface="Calibri"/>
              </a:rPr>
              <a:t> · 20%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–   Asistencia · 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30936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666666"/>
                </a:solidFill>
                <a:latin typeface="Calibri"/>
              </a:rPr>
              <a:t>Parcial al cierre de cada corte · nunca en festivo/autónoma. Día de parcial = solo evaluación.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2004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77295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2800" b="1" i="0">
                <a:solidFill>
                  <a:srgbClr val="095292"/>
                </a:solidFill>
                <a:latin typeface="Calibri"/>
              </a:rPr>
              <a:t>CONTENIDO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06424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66666"/>
                </a:solidFill>
                <a:latin typeface="Calibri"/>
              </a:rPr>
              <a:t>Día 1: Sesión 0 (Presentación del curso) + Clase 1 (diagnóstico · tema)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53895"/>
            <a:ext cx="5364327" cy="4946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Sesión 0 –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Presentación del curso (logística) + socialización del PI (12/08)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Clase 1 –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Diagnóstico · Introducción a POO (12/08)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Clase 2 –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Colecciones dinámicas ArrayList (19/08)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Clase 3 –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Pilas y colas (26/08)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Clase 4 –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Mapas y conjuntos (02/09)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Clase 5 –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Interfaces gráficas GUI · Parcial 1 (09/09)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Clase 6 –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Eventos y controladores (16/09)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Clase 7 –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Patrones de diseño (23/09)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87287" y="1453895"/>
            <a:ext cx="5364327" cy="4946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Clase 8 –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Documentación y QA (30/09)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Clase 9 –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Refactorización con IA y persistencia (07/10)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Clase 10 –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Parcial 2 (14/10)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Clase 11 –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Revisión de código cruzada (21/10)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Clase 12 –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Integración de módulos (28/10)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Clase 13 –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Control de excepciones (04/11)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Clase 14 –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Preparación presentación final (11/11)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Clase 15 –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Parcial 3 · Cierre (18/11)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Proyecto Integrador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Una aplicación completa que integre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estructuras de datos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,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GUI/eventos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y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patrones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Orientada a una necesidad real del entorno.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Se construye por avances a lo largo del semestre; pesa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20%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en el tercer corte.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El enunciado detallado se trabaja desde la Clase 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Recursos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Campus Virtual UNIAJC: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[URL Campus Virtual UNIAJC — pendiente]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IDE recomendado: IntelliJ IDEA / VS Code / NetBeans (Java 17+).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Bibliografía (microcurrículo): Deitel &amp; Deitel · Design Patterns (GoF) · Head First Design Patterns · JavaFX Docs.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–   Material de clase: carpeta `Clases/Clase N` + talleres; guiones en `Guiones/` / `Kit docente/`.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Acuerdos importantes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1051560"/>
          </a:xfrm>
          <a:prstGeom prst="roundRect">
            <a:avLst>
              <a:gd name="adj" fmla="val 12000"/>
            </a:avLst>
          </a:prstGeom>
          <a:solidFill>
            <a:srgbClr val="E8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28016" cy="105156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99031"/>
            <a:ext cx="10774375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69CCB"/>
                </a:solidFill>
                <a:latin typeface="Calibri"/>
              </a:rPr>
              <a:t>Info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333333"/>
                </a:solidFill>
                <a:latin typeface="Calibri"/>
              </a:rPr>
              <a:t>Horario fijo del grupo 341C: miércoles 18:00–20:00 · Norte-Noche.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78024"/>
            <a:ext cx="11277295" cy="1051560"/>
          </a:xfrm>
          <a:prstGeom prst="roundRect">
            <a:avLst>
              <a:gd name="adj" fmla="val 12000"/>
            </a:avLst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478024"/>
            <a:ext cx="128016" cy="105156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15184"/>
            <a:ext cx="10774375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FD000"/>
                </a:solidFill>
                <a:latin typeface="Calibri"/>
              </a:rPr>
              <a:t>Aclaración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333333"/>
                </a:solidFill>
                <a:latin typeface="Calibri"/>
              </a:rPr>
              <a:t>Los talleres guiados se entregan a más tardar el domingo 23:59 de la semana correspondiente.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694176"/>
            <a:ext cx="11277295" cy="1051560"/>
          </a:xfrm>
          <a:prstGeom prst="roundRect">
            <a:avLst>
              <a:gd name="adj" fmla="val 12000"/>
            </a:avLst>
          </a:prstGeom>
          <a:solidFill>
            <a:srgbClr val="FB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694176"/>
            <a:ext cx="128016" cy="1051560"/>
          </a:xfrm>
          <a:prstGeom prst="rect">
            <a:avLst/>
          </a:prstGeom>
          <a:solidFill>
            <a:srgbClr val="A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831336"/>
            <a:ext cx="10774375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A02030"/>
                </a:solidFill>
                <a:latin typeface="Calibri"/>
              </a:rPr>
              <a:t>Atención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333333"/>
                </a:solidFill>
                <a:latin typeface="Calibri"/>
              </a:rPr>
              <a:t>La asistencia tiene peso en cada corte (10% / 10% / 5%). Llega a tiempo y participa. Listado: [PENDIENTE listado].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uniajc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5998464"/>
            <a:ext cx="1463040" cy="6432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11277295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095292"/>
                </a:solidFill>
                <a:latin typeface="Calibri"/>
              </a:rPr>
              <a:t>¡Empezamos!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Programación II · Grupo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341C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· 2026-2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Miércoles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18:00 – 20:00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UNIAJC · Ingeniería de Sistemas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69CCB"/>
                </a:solidFill>
                <a:latin typeface="Calibri"/>
              </a:rPr>
              <a:t>POO con propósito: código limpio + proyecto real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