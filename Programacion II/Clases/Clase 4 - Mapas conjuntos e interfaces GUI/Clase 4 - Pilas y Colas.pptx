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6858000" cx="12192000"/>
  <p:notesSz cx="6858000" cy="9144000"/>
  <p:embeddedFontLst>
    <p:embeddedFont>
      <p:font typeface="Merriweather"/>
      <p:regular r:id="rId12"/>
      <p:bold r:id="rId13"/>
      <p:italic r:id="rId14"/>
      <p:boldItalic r:id="rId15"/>
    </p:embeddedFont>
    <p:embeddedFont>
      <p:font typeface="DM Sans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Merriweather-bold.fntdata"/><Relationship Id="rId12" Type="http://schemas.openxmlformats.org/officeDocument/2006/relationships/font" Target="fonts/Merriweather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Merriweather-boldItalic.fntdata"/><Relationship Id="rId14" Type="http://schemas.openxmlformats.org/officeDocument/2006/relationships/font" Target="fonts/Merriweather-italic.fntdata"/><Relationship Id="rId17" Type="http://schemas.openxmlformats.org/officeDocument/2006/relationships/font" Target="fonts/DMSans-bold.fntdata"/><Relationship Id="rId16" Type="http://schemas.openxmlformats.org/officeDocument/2006/relationships/font" Target="fonts/DMSans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DMSans-boldItalic.fntdata"/><Relationship Id="rId6" Type="http://schemas.openxmlformats.org/officeDocument/2006/relationships/slide" Target="slides/slide1.xml"/><Relationship Id="rId18" Type="http://schemas.openxmlformats.org/officeDocument/2006/relationships/font" Target="fonts/DMSans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2.png"/><Relationship Id="rId5" Type="http://schemas.openxmlformats.org/officeDocument/2006/relationships/image" Target="../media/image6.png"/><Relationship Id="rId6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/>
        </p:nvSpPr>
        <p:spPr>
          <a:xfrm>
            <a:off x="2900600" y="2474565"/>
            <a:ext cx="6390798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75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Pilas y Colas en Java</a:t>
            </a:r>
            <a:endParaRPr/>
          </a:p>
        </p:txBody>
      </p:sp>
      <p:sp>
        <p:nvSpPr>
          <p:cNvPr id="85" name="Google Shape;85;p13"/>
          <p:cNvSpPr/>
          <p:nvPr/>
        </p:nvSpPr>
        <p:spPr>
          <a:xfrm>
            <a:off x="5381625" y="3503265"/>
            <a:ext cx="1428750" cy="38100"/>
          </a:xfrm>
          <a:prstGeom prst="rect">
            <a:avLst/>
          </a:prstGeom>
          <a:solidFill>
            <a:srgbClr val="F5D4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3052762" y="3827115"/>
            <a:ext cx="6086475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Estructuras Lineales (LIFO / FIFO) - Proyecto VetCare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/>
          <p:nvPr/>
        </p:nvSpPr>
        <p:spPr>
          <a:xfrm>
            <a:off x="5619750" y="2404169"/>
            <a:ext cx="952500" cy="47625"/>
          </a:xfrm>
          <a:prstGeom prst="rect">
            <a:avLst/>
          </a:prstGeom>
          <a:solidFill>
            <a:srgbClr val="F5D4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4"/>
          <p:cNvSpPr txBox="1"/>
          <p:nvPr/>
        </p:nvSpPr>
        <p:spPr>
          <a:xfrm>
            <a:off x="1765458" y="2737544"/>
            <a:ext cx="8661082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Controlando el Flujo de Datos</a:t>
            </a:r>
            <a:endParaRPr/>
          </a:p>
        </p:txBody>
      </p:sp>
      <p:sp>
        <p:nvSpPr>
          <p:cNvPr id="93" name="Google Shape;93;p14"/>
          <p:cNvSpPr txBox="1"/>
          <p:nvPr/>
        </p:nvSpPr>
        <p:spPr>
          <a:xfrm>
            <a:off x="2286000" y="3642419"/>
            <a:ext cx="7620000" cy="10970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A diferencia del ArrayList, a veces necesitamos restringir por dónde se insertan y eliminan los datos para modelar la vida real con mayor precisión.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8" name="Google Shape;9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34125" y="1714500"/>
            <a:ext cx="52768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5"/>
          <p:cNvSpPr txBox="1"/>
          <p:nvPr/>
        </p:nvSpPr>
        <p:spPr>
          <a:xfrm>
            <a:off x="581025" y="581025"/>
            <a:ext cx="11581447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Colas (Queues) - La Sala de Espera</a:t>
            </a:r>
            <a:endParaRPr/>
          </a:p>
        </p:txBody>
      </p:sp>
      <p:sp>
        <p:nvSpPr>
          <p:cNvPr id="100" name="Google Shape;100;p15"/>
          <p:cNvSpPr txBox="1"/>
          <p:nvPr/>
        </p:nvSpPr>
        <p:spPr>
          <a:xfrm>
            <a:off x="581025" y="1714500"/>
            <a:ext cx="5540692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Comportamiento FIFO</a:t>
            </a:r>
            <a:endParaRPr/>
          </a:p>
        </p:txBody>
      </p:sp>
      <p:sp>
        <p:nvSpPr>
          <p:cNvPr id="101" name="Google Shape;101;p15"/>
          <p:cNvSpPr txBox="1"/>
          <p:nvPr/>
        </p:nvSpPr>
        <p:spPr>
          <a:xfrm>
            <a:off x="581025" y="2219325"/>
            <a:ext cx="52768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First In, First Out</a:t>
            </a: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(El primero en entrar es el primero en salir).</a:t>
            </a:r>
            <a:endParaRPr/>
          </a:p>
        </p:txBody>
      </p:sp>
      <p:sp>
        <p:nvSpPr>
          <p:cNvPr id="102" name="Google Shape;102;p15"/>
          <p:cNvSpPr txBox="1"/>
          <p:nvPr/>
        </p:nvSpPr>
        <p:spPr>
          <a:xfrm>
            <a:off x="752475" y="2971800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03" name="Google Shape;103;p15"/>
          <p:cNvSpPr txBox="1"/>
          <p:nvPr/>
        </p:nvSpPr>
        <p:spPr>
          <a:xfrm>
            <a:off x="819150" y="2971800"/>
            <a:ext cx="50387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Concepto:</a:t>
            </a: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Funciona exactamente igual que una fila en un banco o la sala de espera de nuestra clínica VetCare.</a:t>
            </a:r>
            <a:endParaRPr/>
          </a:p>
        </p:txBody>
      </p:sp>
      <p:sp>
        <p:nvSpPr>
          <p:cNvPr id="104" name="Google Shape;104;p15"/>
          <p:cNvSpPr txBox="1"/>
          <p:nvPr/>
        </p:nvSpPr>
        <p:spPr>
          <a:xfrm>
            <a:off x="752475" y="3724275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05" name="Google Shape;105;p15"/>
          <p:cNvSpPr txBox="1"/>
          <p:nvPr/>
        </p:nvSpPr>
        <p:spPr>
          <a:xfrm>
            <a:off x="819150" y="3724275"/>
            <a:ext cx="50387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Inserción (Encolar):</a:t>
            </a: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Los elementos siempre se añaden estrictamente al final de la fila.</a:t>
            </a:r>
            <a:endParaRPr/>
          </a:p>
        </p:txBody>
      </p:sp>
      <p:sp>
        <p:nvSpPr>
          <p:cNvPr id="106" name="Google Shape;106;p15"/>
          <p:cNvSpPr txBox="1"/>
          <p:nvPr/>
        </p:nvSpPr>
        <p:spPr>
          <a:xfrm>
            <a:off x="752475" y="4476750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07" name="Google Shape;107;p15"/>
          <p:cNvSpPr txBox="1"/>
          <p:nvPr/>
        </p:nvSpPr>
        <p:spPr>
          <a:xfrm>
            <a:off x="819150" y="4476750"/>
            <a:ext cx="50387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Extracción (Desencolar):</a:t>
            </a: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Los elementos siempre se retiran por el frente de la fila.</a:t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752475" y="5229225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09" name="Google Shape;109;p15"/>
          <p:cNvSpPr txBox="1"/>
          <p:nvPr/>
        </p:nvSpPr>
        <p:spPr>
          <a:xfrm>
            <a:off x="819150" y="5229225"/>
            <a:ext cx="5038725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Uso en Java:</a:t>
            </a: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Se utiliza la interfaz Queue implementada habitualmente por la clase LinkedList.</a:t>
            </a:r>
            <a:endParaRPr/>
          </a:p>
        </p:txBody>
      </p:sp>
      <p:pic>
        <p:nvPicPr>
          <p:cNvPr descr="image.png" id="110" name="Google Shape;110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714500"/>
            <a:ext cx="5276850" cy="381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5" name="Google Shape;11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34125" y="1719262"/>
            <a:ext cx="52768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6"/>
          <p:cNvSpPr txBox="1"/>
          <p:nvPr/>
        </p:nvSpPr>
        <p:spPr>
          <a:xfrm>
            <a:off x="581025" y="581025"/>
            <a:ext cx="11581447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Pilas (Stacks) - El Historial Clínico</a:t>
            </a:r>
            <a:endParaRPr/>
          </a:p>
        </p:txBody>
      </p:sp>
      <p:sp>
        <p:nvSpPr>
          <p:cNvPr id="117" name="Google Shape;117;p16"/>
          <p:cNvSpPr txBox="1"/>
          <p:nvPr/>
        </p:nvSpPr>
        <p:spPr>
          <a:xfrm>
            <a:off x="581025" y="1719262"/>
            <a:ext cx="5540692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Comportamiento LIFO</a:t>
            </a:r>
            <a:endParaRPr/>
          </a:p>
        </p:txBody>
      </p:sp>
      <p:sp>
        <p:nvSpPr>
          <p:cNvPr id="118" name="Google Shape;118;p16"/>
          <p:cNvSpPr txBox="1"/>
          <p:nvPr/>
        </p:nvSpPr>
        <p:spPr>
          <a:xfrm>
            <a:off x="581025" y="2224087"/>
            <a:ext cx="52768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Last In, First Out</a:t>
            </a: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(El último en entrar es el primero en salir).</a:t>
            </a:r>
            <a:endParaRPr/>
          </a:p>
        </p:txBody>
      </p:sp>
      <p:sp>
        <p:nvSpPr>
          <p:cNvPr id="119" name="Google Shape;119;p16"/>
          <p:cNvSpPr txBox="1"/>
          <p:nvPr/>
        </p:nvSpPr>
        <p:spPr>
          <a:xfrm>
            <a:off x="752475" y="2671762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20" name="Google Shape;120;p16"/>
          <p:cNvSpPr txBox="1"/>
          <p:nvPr/>
        </p:nvSpPr>
        <p:spPr>
          <a:xfrm>
            <a:off x="819150" y="2671762"/>
            <a:ext cx="503872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Concepto:</a:t>
            </a: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Imagina una pila de expedientes. Solo puedes tomar el que está arriba del todo, y si pones uno nuevo, también va arriba.</a:t>
            </a:r>
            <a:endParaRPr/>
          </a:p>
        </p:txBody>
      </p:sp>
      <p:sp>
        <p:nvSpPr>
          <p:cNvPr id="121" name="Google Shape;121;p16"/>
          <p:cNvSpPr txBox="1"/>
          <p:nvPr/>
        </p:nvSpPr>
        <p:spPr>
          <a:xfrm>
            <a:off x="752475" y="3729037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22" name="Google Shape;122;p16"/>
          <p:cNvSpPr txBox="1"/>
          <p:nvPr/>
        </p:nvSpPr>
        <p:spPr>
          <a:xfrm>
            <a:off x="819150" y="3729037"/>
            <a:ext cx="50387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Inserción (Apilar/Push):</a:t>
            </a: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El elemento se coloca en la "cima" de la pila.</a:t>
            </a:r>
            <a:endParaRPr/>
          </a:p>
        </p:txBody>
      </p:sp>
      <p:sp>
        <p:nvSpPr>
          <p:cNvPr id="123" name="Google Shape;123;p16"/>
          <p:cNvSpPr txBox="1"/>
          <p:nvPr/>
        </p:nvSpPr>
        <p:spPr>
          <a:xfrm>
            <a:off x="752475" y="4481512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24" name="Google Shape;124;p16"/>
          <p:cNvSpPr txBox="1"/>
          <p:nvPr/>
        </p:nvSpPr>
        <p:spPr>
          <a:xfrm>
            <a:off x="819150" y="4481512"/>
            <a:ext cx="50387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Extracción (Desapilar/Pop):</a:t>
            </a: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Se retira el elemento que está en la "cima".</a:t>
            </a:r>
            <a:endParaRPr/>
          </a:p>
        </p:txBody>
      </p:sp>
      <p:sp>
        <p:nvSpPr>
          <p:cNvPr id="125" name="Google Shape;125;p16"/>
          <p:cNvSpPr txBox="1"/>
          <p:nvPr/>
        </p:nvSpPr>
        <p:spPr>
          <a:xfrm>
            <a:off x="752475" y="5233987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26" name="Google Shape;126;p16"/>
          <p:cNvSpPr txBox="1"/>
          <p:nvPr/>
        </p:nvSpPr>
        <p:spPr>
          <a:xfrm>
            <a:off x="819150" y="5233987"/>
            <a:ext cx="503872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Uso en Java:</a:t>
            </a: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Utilizaremos la clase Stack provista por el framework de colecciones.</a:t>
            </a:r>
            <a:endParaRPr/>
          </a:p>
        </p:txBody>
      </p:sp>
      <p:pic>
        <p:nvPicPr>
          <p:cNvPr descr="image.png" id="127" name="Google Shape;127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719262"/>
            <a:ext cx="5276850" cy="381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2" name="Google Shape;132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1025" y="1519237"/>
            <a:ext cx="5276850" cy="4676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3" name="Google Shape;133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519237"/>
            <a:ext cx="5276850" cy="4676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4" name="Google Shape;134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71550" y="5224462"/>
            <a:ext cx="4495800" cy="581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5" name="Google Shape;135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24650" y="5224462"/>
            <a:ext cx="4495800" cy="581025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7"/>
          <p:cNvSpPr txBox="1"/>
          <p:nvPr/>
        </p:nvSpPr>
        <p:spPr>
          <a:xfrm>
            <a:off x="581025" y="581025"/>
            <a:ext cx="11581447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Traducción a Código Java</a:t>
            </a:r>
            <a:endParaRPr/>
          </a:p>
        </p:txBody>
      </p:sp>
      <p:sp>
        <p:nvSpPr>
          <p:cNvPr id="137" name="Google Shape;137;p17"/>
          <p:cNvSpPr txBox="1"/>
          <p:nvPr/>
        </p:nvSpPr>
        <p:spPr>
          <a:xfrm>
            <a:off x="971550" y="1938337"/>
            <a:ext cx="472059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Métodos de Queue (Cola)</a:t>
            </a:r>
            <a:endParaRPr/>
          </a:p>
        </p:txBody>
      </p:sp>
      <p:sp>
        <p:nvSpPr>
          <p:cNvPr id="138" name="Google Shape;138;p17"/>
          <p:cNvSpPr txBox="1"/>
          <p:nvPr/>
        </p:nvSpPr>
        <p:spPr>
          <a:xfrm>
            <a:off x="971550" y="2443162"/>
            <a:ext cx="4495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Para gestionar la Sala de Espera de VetCare:</a:t>
            </a:r>
            <a:endParaRPr/>
          </a:p>
        </p:txBody>
      </p:sp>
      <p:sp>
        <p:nvSpPr>
          <p:cNvPr id="139" name="Google Shape;139;p17"/>
          <p:cNvSpPr txBox="1"/>
          <p:nvPr/>
        </p:nvSpPr>
        <p:spPr>
          <a:xfrm>
            <a:off x="6724650" y="1938337"/>
            <a:ext cx="472059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Métodos de Stack (Pila)</a:t>
            </a:r>
            <a:endParaRPr/>
          </a:p>
        </p:txBody>
      </p:sp>
      <p:sp>
        <p:nvSpPr>
          <p:cNvPr id="140" name="Google Shape;140;p17"/>
          <p:cNvSpPr txBox="1"/>
          <p:nvPr/>
        </p:nvSpPr>
        <p:spPr>
          <a:xfrm>
            <a:off x="6724650" y="2443162"/>
            <a:ext cx="4495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Para gestionar el Historial de Atenciones del día:</a:t>
            </a:r>
            <a:endParaRPr/>
          </a:p>
        </p:txBody>
      </p:sp>
      <p:sp>
        <p:nvSpPr>
          <p:cNvPr id="141" name="Google Shape;141;p17"/>
          <p:cNvSpPr txBox="1"/>
          <p:nvPr/>
        </p:nvSpPr>
        <p:spPr>
          <a:xfrm>
            <a:off x="1143000" y="2890837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42" name="Google Shape;142;p17"/>
          <p:cNvSpPr txBox="1"/>
          <p:nvPr/>
        </p:nvSpPr>
        <p:spPr>
          <a:xfrm>
            <a:off x="1209675" y="2890837"/>
            <a:ext cx="425767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offer(elemento): Añade de forma segura al final de la cola.</a:t>
            </a:r>
            <a:endParaRPr/>
          </a:p>
        </p:txBody>
      </p:sp>
      <p:sp>
        <p:nvSpPr>
          <p:cNvPr id="143" name="Google Shape;143;p17"/>
          <p:cNvSpPr txBox="1"/>
          <p:nvPr/>
        </p:nvSpPr>
        <p:spPr>
          <a:xfrm>
            <a:off x="1143000" y="3652837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44" name="Google Shape;144;p17"/>
          <p:cNvSpPr txBox="1"/>
          <p:nvPr/>
        </p:nvSpPr>
        <p:spPr>
          <a:xfrm>
            <a:off x="1209675" y="3652837"/>
            <a:ext cx="425767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poll(): Extrae y devuelve el primer elemento (el más antiguo). Retorna null si está vacía.</a:t>
            </a:r>
            <a:endParaRPr/>
          </a:p>
        </p:txBody>
      </p:sp>
      <p:sp>
        <p:nvSpPr>
          <p:cNvPr id="145" name="Google Shape;145;p17"/>
          <p:cNvSpPr txBox="1"/>
          <p:nvPr/>
        </p:nvSpPr>
        <p:spPr>
          <a:xfrm>
            <a:off x="1143000" y="4414837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46" name="Google Shape;146;p17"/>
          <p:cNvSpPr txBox="1"/>
          <p:nvPr/>
        </p:nvSpPr>
        <p:spPr>
          <a:xfrm>
            <a:off x="1209675" y="4414837"/>
            <a:ext cx="425767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peek(): Solo mira al paciente que sigue sin sacarlo de la fila.</a:t>
            </a:r>
            <a:endParaRPr/>
          </a:p>
        </p:txBody>
      </p:sp>
      <p:sp>
        <p:nvSpPr>
          <p:cNvPr id="147" name="Google Shape;147;p17"/>
          <p:cNvSpPr txBox="1"/>
          <p:nvPr/>
        </p:nvSpPr>
        <p:spPr>
          <a:xfrm>
            <a:off x="6896100" y="2890837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48" name="Google Shape;148;p17"/>
          <p:cNvSpPr txBox="1"/>
          <p:nvPr/>
        </p:nvSpPr>
        <p:spPr>
          <a:xfrm>
            <a:off x="6962775" y="2890837"/>
            <a:ext cx="425767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push(elemento): Apila el elemento en la cima del historial.</a:t>
            </a:r>
            <a:endParaRPr/>
          </a:p>
        </p:txBody>
      </p:sp>
      <p:sp>
        <p:nvSpPr>
          <p:cNvPr id="149" name="Google Shape;149;p17"/>
          <p:cNvSpPr txBox="1"/>
          <p:nvPr/>
        </p:nvSpPr>
        <p:spPr>
          <a:xfrm>
            <a:off x="6896100" y="3652837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50" name="Google Shape;150;p17"/>
          <p:cNvSpPr txBox="1"/>
          <p:nvPr/>
        </p:nvSpPr>
        <p:spPr>
          <a:xfrm>
            <a:off x="6962775" y="3652837"/>
            <a:ext cx="425767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pop(): Extrae y devuelve el elemento de la cima (el más reciente).</a:t>
            </a:r>
            <a:endParaRPr/>
          </a:p>
        </p:txBody>
      </p:sp>
      <p:sp>
        <p:nvSpPr>
          <p:cNvPr id="151" name="Google Shape;151;p17"/>
          <p:cNvSpPr txBox="1"/>
          <p:nvPr/>
        </p:nvSpPr>
        <p:spPr>
          <a:xfrm>
            <a:off x="6896100" y="4414837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52" name="Google Shape;152;p17"/>
          <p:cNvSpPr txBox="1"/>
          <p:nvPr/>
        </p:nvSpPr>
        <p:spPr>
          <a:xfrm>
            <a:off x="6962775" y="4414837"/>
            <a:ext cx="425767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peek(): Solo mira el último paciente atendido sin sacarlo del historial.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8"/>
          <p:cNvSpPr txBox="1"/>
          <p:nvPr/>
        </p:nvSpPr>
        <p:spPr>
          <a:xfrm>
            <a:off x="305276" y="1980307"/>
            <a:ext cx="11581447" cy="962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¿Dudas Técnicas?</a:t>
            </a:r>
            <a:endParaRPr/>
          </a:p>
        </p:txBody>
      </p:sp>
      <p:sp>
        <p:nvSpPr>
          <p:cNvPr id="158" name="Google Shape;158;p18"/>
          <p:cNvSpPr/>
          <p:nvPr/>
        </p:nvSpPr>
        <p:spPr>
          <a:xfrm>
            <a:off x="5381625" y="3323332"/>
            <a:ext cx="1428750" cy="47625"/>
          </a:xfrm>
          <a:prstGeom prst="rect">
            <a:avLst/>
          </a:prstGeom>
          <a:solidFill>
            <a:srgbClr val="F5D4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8"/>
          <p:cNvSpPr txBox="1"/>
          <p:nvPr/>
        </p:nvSpPr>
        <p:spPr>
          <a:xfrm>
            <a:off x="581025" y="3751957"/>
            <a:ext cx="11029950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A continuación: </a:t>
            </a:r>
            <a:r>
              <a:rPr b="1" i="0" lang="en-US" sz="19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Taller Guiado</a:t>
            </a:r>
            <a:endParaRPr/>
          </a:p>
        </p:txBody>
      </p:sp>
      <p:sp>
        <p:nvSpPr>
          <p:cNvPr id="160" name="Google Shape;160;p18"/>
          <p:cNvSpPr txBox="1"/>
          <p:nvPr/>
        </p:nvSpPr>
        <p:spPr>
          <a:xfrm>
            <a:off x="581025" y="4338637"/>
            <a:ext cx="11029950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Implementaremos el flujo de atención en VetCare: De la Cola al Historial.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