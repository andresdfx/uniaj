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guion escrito, con minutos y evidencia por bloque (y el nombre del responsable si hay equipo), convierte una exposicion nerviosa en algo que se puede ensayar y medir; en VetCare ese guion tiene cinco bloques y suma siete minutos, con cuatro dedicados a la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demo en vivo no falla por mala suerte, falla por falta de preparacion, y se blinda con un chequeo previo que llamaremos pre-vuelo.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hoy ensayamos con reloj y anotamos el tiempo real de cada bloque frente al planeado, y se repite hasta que el total caiga entre cinco y ocho minutos con margen.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Preparacion de la presentacion final · Sustentacion de VetCare — Que mostrar, en que orden y como lograr que la demo no falle</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la clinica veterinaria Huellitas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proyecto de software no es exponer diapositivas: 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proyecto de software no es exponer diapositivas: es demostrar, delante de un jurado que duda con razon, que un problema real quedo resuelto por un programa que corre.</a:t>
            </a:r>
          </a:p>
          <a:p>
            <a:pPr>
              <a:spcAft>
                <a:spcPts val="800"/>
              </a:spcAft>
            </a:pPr>
            <a:r>
              <a:rPr sz="2000" b="0" i="0">
                <a:solidFill>
                  <a:srgbClr val="333333"/>
                </a:solidFill>
                <a:latin typeface="Calibri"/>
              </a:rPr>
              <a:t>–   El jurado no compra promesas ni diagramas bonitos, compra evidencia; por eso la regla practica es que al menos la mitad del tiempo debe ser aplicacion corriendo en pantalla.</a:t>
            </a:r>
          </a:p>
          <a:p>
            <a:pPr>
              <a:spcAft>
                <a:spcPts val="800"/>
              </a:spcAft>
            </a:pPr>
            <a:r>
              <a:rPr sz="2000" b="0" i="0">
                <a:solidFill>
                  <a:srgbClr val="333333"/>
                </a:solidFill>
                <a:latin typeface="Calibri"/>
              </a:rPr>
              <a:t>–   El orden que funciona es siempre el mismo y va de lo humano a lo tecnico y de vuelta a lo humano: primero el problema de la clinica Huellitas en una frase concreta (todo en papel, se pierden expedientes, no se sabe quien tiene cita manana)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proyecto de software no es exponer diapositivas: 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Luego la solucion en una frase (una aplicacion de escritorio en Java que registra duenos y mascotas, agenda citas y conserva los datos)</a:t>
            </a:r>
          </a:p>
          <a:p>
            <a:pPr>
              <a:spcAft>
                <a:spcPts val="800"/>
              </a:spcAft>
            </a:pPr>
            <a:r>
              <a:rPr sz="2000" b="0" i="0">
                <a:solidFill>
                  <a:srgbClr val="333333"/>
                </a:solidFill>
                <a:latin typeface="Calibri"/>
              </a:rPr>
              <a:t>–   Despues la arquitectura en treinta segundos (las clases Dueno, Mascota y Cita y como se relacionan), enseguida la demo en vivo que es el corazon, y al cerrar los aprendizajes y las limitaciones.</a:t>
            </a:r>
          </a:p>
          <a:p>
            <a:pPr>
              <a:spcAft>
                <a:spcPts val="800"/>
              </a:spcAft>
            </a:pPr>
            <a:r>
              <a:rPr sz="2000" b="0" i="0">
                <a:solidFill>
                  <a:srgbClr val="333333"/>
                </a:solidFill>
                <a:latin typeface="Calibri"/>
              </a:rPr>
              <a:t>–   Empezar por el diagrama de clases o por la lista de tecnologias es el error mas comun: nadie sabe todavia para que sirve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sustentacion es una coreografia y hay que repartirla como se reparte...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sustentacion es una coreografia y hay que repartirla como se reparte una obra de teatro, aunque suba una sola persona.</a:t>
            </a:r>
          </a:p>
          <a:p>
            <a:pPr>
              <a:spcAft>
                <a:spcPts val="800"/>
              </a:spcAft>
            </a:pPr>
            <a:r>
              <a:rPr sz="2000" b="0" i="0">
                <a:solidFill>
                  <a:srgbClr val="333333"/>
                </a:solidFill>
                <a:latin typeface="Calibri"/>
              </a:rPr>
              <a:t>–   La sustentacion es individual por defecto: el estudiante trocea su exposicion en bloques completos con inicio, final y evidencia en pantalla —no frases sueltas—</a:t>
            </a:r>
          </a:p>
          <a:p>
            <a:pPr>
              <a:spcAft>
                <a:spcPts val="800"/>
              </a:spcAft>
            </a:pPr>
            <a:r>
              <a:rPr sz="2000" b="0" i="0">
                <a:solidFill>
                  <a:srgbClr val="333333"/>
                </a:solidFill>
                <a:latin typeface="Calibri"/>
              </a:rPr>
              <a:t>–   Define en que momento suelta la diapositiva y toma el mouse, y deja listo un computador de respaldo con el proyecto ya abierto.</a:t>
            </a:r>
          </a:p>
          <a:p>
            <a:pPr>
              <a:spcAft>
                <a:spcPts val="800"/>
              </a:spcAft>
            </a:pPr>
            <a:r>
              <a:rPr sz="2000" b="0" i="0">
                <a:solidFill>
                  <a:srgbClr val="333333"/>
                </a:solidFill>
                <a:latin typeface="Calibri"/>
              </a:rPr>
              <a:t>–   Las transiciones entre bloques se dicen en voz alta, con una formula corta del tipo 'para mostrar como quedan guardados esos datos, abro de nuevo la aplicacion', porque los silencios incomodos al cambiar de tema son lo que mas se nota.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sustentacion es una coreografia y hay que repartirla como se reparte...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el docente autorizo equipo de 2 o 3, cada integrante toma bloques completos, ninguno se queda callado aunque otro domine mas el codigo</a:t>
            </a:r>
          </a:p>
          <a:p>
            <a:pPr>
              <a:spcAft>
                <a:spcPts val="800"/>
              </a:spcAft>
            </a:pPr>
            <a:r>
              <a:rPr sz="2000" b="0" i="0">
                <a:solidFill>
                  <a:srgbClr val="333333"/>
                </a:solidFill>
                <a:latin typeface="Calibri"/>
              </a:rPr>
              <a:t>–   Y las transiciones se nombran ('sigue Julian'), porque el jurado pregunta quien hizo que y tiene derecho a preguntarle a cualquiera sobre cualquier parte.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vivo no falla por mala suerte, falla por falta de...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primero es sembrar datos de demostracion: tres duenos, cuatro mascotas y tres citas ya cargadas en los CSV, porque una aplicacion con la lista vacia parece una aplicacion que no funciona</a:t>
            </a:r>
          </a:p>
          <a:p>
            <a:pPr>
              <a:spcAft>
                <a:spcPts val="800"/>
              </a:spcAft>
            </a:pPr>
            <a:r>
              <a:rPr sz="2000" b="0" i="0">
                <a:solidFill>
                  <a:srgbClr val="333333"/>
                </a:solidFill>
                <a:latin typeface="Calibri"/>
              </a:rPr>
              <a:t>–   Y ademas los datos deben ser creibles del dominio (Marta Lopez con Firulais, labrador de 4 anios) y nunca 'aaa' ni 'prueba1'.</a:t>
            </a:r>
          </a:p>
          <a:p>
            <a:pPr>
              <a:spcAft>
                <a:spcPts val="800"/>
              </a:spcAft>
            </a:pPr>
            <a:r>
              <a:rPr sz="2000" b="0" i="0">
                <a:solidFill>
                  <a:srgbClr val="333333"/>
                </a:solidFill>
                <a:latin typeface="Calibri"/>
              </a:rPr>
              <a:t>–   Lo segundo es tener ensayado el camino feliz exacto, es decir la secuencia de clics que se va a hacer, sin improvisar busquedas ni teclear rutas largas frente al publico.</a:t>
            </a:r>
          </a:p>
          <a:p>
            <a:pPr>
              <a:spcAft>
                <a:spcPts val="800"/>
              </a:spcAft>
            </a:pPr>
            <a:r>
              <a:rPr sz="2000" b="0" i="0">
                <a:solidFill>
                  <a:srgbClr val="333333"/>
                </a:solidFill>
                <a:latin typeface="Calibri"/>
              </a:rPr>
              <a:t>–   Lo tercero es la higiene de pantalla: aumentar el tamano de fuente del IDE, cerrar notificaciones y pestanas ajenas, dejar el proyecto ya compilado y, si es posible, ejecutar el.jar en lugar de compilar delante del jurado.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vivo no falla por mala suerte, falla por falta de...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cuarto es el plan B: un video de dos o tres minutos de la ruta feliz y seis capturas de pantalla listas, para que si el computador falla la presentacion continue sin panico.</a:t>
            </a:r>
          </a:p>
          <a:p>
            <a:pPr>
              <a:spcAft>
                <a:spcPts val="800"/>
              </a:spcAft>
            </a:pPr>
            <a:r>
              <a:rPr sz="2000" b="0" i="0">
                <a:solidFill>
                  <a:srgbClr val="333333"/>
                </a:solidFill>
                <a:latin typeface="Calibri"/>
              </a:rPr>
              <a:t>–   Y hay un quinto detalle que suma puntos: provocar a proposito un error de edad para mostrar la validacion de la clase 13 como una fortaleza, no como un accidente.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casi siempre las mismas y se pueden...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del jurado son casi siempre las mismas y se pueden preparar una por una.</a:t>
            </a:r>
          </a:p>
          <a:p>
            <a:pPr>
              <a:spcAft>
                <a:spcPts val="800"/>
              </a:spcAft>
            </a:pPr>
            <a:r>
              <a:rPr sz="2000" b="0" i="0">
                <a:solidFill>
                  <a:srgbClr val="333333"/>
                </a:solidFill>
                <a:latin typeface="Calibri"/>
              </a:rPr>
              <a:t>–   Donde esta la herencia y por que la usaron; por que ArrayList y no un arreglo fijo; que pasa si borro el archivo mascotas.csv; como controlan que alguien escriba texto donde va la edad; quien programo cada parte; que harian distinto si empezaran de nuevo.</a:t>
            </a:r>
          </a:p>
          <a:p>
            <a:pPr>
              <a:spcAft>
                <a:spcPts val="800"/>
              </a:spcAft>
            </a:pPr>
            <a:r>
              <a:rPr sz="2000" b="0" i="0">
                <a:solidFill>
                  <a:srgbClr val="333333"/>
                </a:solidFill>
                <a:latin typeface="Calibri"/>
              </a:rPr>
              <a:t>–   La forma de responder tiene tres reglas: responda con la aplicacion o el codigo en pantalla</a:t>
            </a:r>
          </a:p>
          <a:p>
            <a:pPr>
              <a:spcAft>
                <a:spcPts val="800"/>
              </a:spcAft>
            </a:pPr>
            <a:r>
              <a:rPr sz="2000" b="0" i="0">
                <a:solidFill>
                  <a:srgbClr val="333333"/>
                </a:solidFill>
                <a:latin typeface="Calibri"/>
              </a:rPr>
              <a:t>–   Porque mostrar vale mas que explicar; no se demore mas de treinta o cuarenta segundos por respuesta; y si no sabe, digalo con dignidad y proponga como lo averiguaria, que eso el jurado lo respeta mucho mas que un invento.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casi siempre las mismas y se pueden...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Tambien conviene tener a la mano el archivo de cada respuesta ya abierto en una pestana del IDE (Dueno.java para la herencia</a:t>
            </a:r>
          </a:p>
          <a:p>
            <a:pPr>
              <a:spcAft>
                <a:spcPts val="800"/>
              </a:spcAft>
            </a:pPr>
            <a:r>
              <a:rPr sz="2000" b="0" i="0">
                <a:solidFill>
                  <a:srgbClr val="333333"/>
                </a:solidFill>
                <a:latin typeface="Calibri"/>
              </a:rPr>
              <a:t>–   Mascota.java para las validaciones, la clase de persistencia para el CSV), de modo que la respuesta sea abrir una pestana y no buscar en vivo.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del tiempo y del nervio se entrena, no se improvisa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manejo del tiempo y del nervio se entrena, no se improvisa.</a:t>
            </a:r>
          </a:p>
          <a:p>
            <a:pPr>
              <a:spcAft>
                <a:spcPts val="800"/>
              </a:spcAft>
            </a:pPr>
            <a:r>
              <a:rPr sz="2000" b="0" i="0">
                <a:solidFill>
                  <a:srgbClr val="333333"/>
                </a:solidFill>
                <a:latin typeface="Calibri"/>
              </a:rPr>
              <a:t>–   Un ensayo cronometrado revela cosas que el papel no muestra: que la introduccion se come tres minutos, que la demo se atasca en un formulario, que el cierre queda cortado.</a:t>
            </a:r>
          </a:p>
          <a:p>
            <a:pPr>
              <a:spcAft>
                <a:spcPts val="800"/>
              </a:spcAft>
            </a:pPr>
            <a:r>
              <a:rPr sz="2000" b="0" i="0">
                <a:solidFill>
                  <a:srgbClr val="333333"/>
                </a:solidFill>
                <a:latin typeface="Calibri"/>
              </a:rPr>
              <a:t>–   Hay cosas que restan puntos siempre: leer las diapositivas de espaldas al jurado, pedir disculpas por el proyecto antes de mostrarlo, culpar al computador, hablar de lo que 'iban a hacer' en vez de mostrar lo que hicieron</a:t>
            </a:r>
          </a:p>
          <a:p>
            <a:pPr>
              <a:spcAft>
                <a:spcPts val="800"/>
              </a:spcAft>
            </a:pPr>
            <a:r>
              <a:rPr sz="2000" b="0" i="0">
                <a:solidFill>
                  <a:srgbClr val="333333"/>
                </a:solidFill>
                <a:latin typeface="Calibri"/>
              </a:rPr>
              <a:t>–   Y pasarse del tiempo, porque eso obliga al jurado a cortar justo en la parte que mas les costo.</a:t>
            </a:r>
          </a:p>
          <a:p>
            <a:pPr>
              <a:spcAft>
                <a:spcPts val="800"/>
              </a:spcAft>
            </a:pPr>
            <a:r>
              <a:rPr sz="2000" b="0" i="0">
                <a:solidFill>
                  <a:srgbClr val="333333"/>
                </a:solidFill>
                <a:latin typeface="Calibri"/>
              </a:rPr>
              <a:t>–   Al reves, suman: hablar mirando al jurado, usar el vocabulario del dominio (dueno, mascota, cita, historia clinica) y reconocer con naturalidad las limitaciones conocidas.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class EnsayoSustentacionVetCare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public class EnsayoSustentacionVetCare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static final String CARPETA = "datos_demo";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Modalidad de trabajo: INDIVIDUAL por defecto. Si el docente autoriza equipo de 2 o 3,</a:t>
            </a:r>
          </a:p>
          <a:p>
            <a:pPr>
              <a:spcAft>
                <a:spcPts val="400"/>
              </a:spcAft>
            </a:pPr>
            <a:r>
              <a:rPr sz="1400" b="0" i="0">
                <a:solidFill>
                  <a:srgbClr val="FFFFFF"/>
                </a:solidFill>
                <a:latin typeface="Calibri"/>
              </a:rPr>
              <a:t>    // escriba los nombres aqui y el reparto de bloques se calcula solo.</a:t>
            </a:r>
          </a:p>
          <a:p>
            <a:pPr>
              <a:spcAft>
                <a:spcPts val="400"/>
              </a:spcAft>
            </a:pPr>
            <a:r>
              <a:rPr sz="1400" b="0" i="0">
                <a:solidFill>
                  <a:srgbClr val="FFFFFF"/>
                </a:solidFill>
                <a:latin typeface="Calibri"/>
              </a:rPr>
              <a:t>    // Individual: {"Usted"}   |   Equipo: {"Marta", "Julian", "Sara"}</a:t>
            </a:r>
          </a:p>
          <a:p>
            <a:pPr>
              <a:spcAft>
                <a:spcPts val="400"/>
              </a:spcAft>
            </a:pPr>
            <a:r>
              <a:rPr sz="1400" b="0" i="0">
                <a:solidFill>
                  <a:srgbClr val="FFFFFF"/>
                </a:solidFill>
                <a:latin typeface="Calibri"/>
              </a:rPr>
              <a:t>    private static final String[] PRESENTADORES = {"Usted"};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Guion: bloque, evidencia que se muestra en pantalla y minutos planeados.</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 Total 7 minutos, con la demo ocupando 4. El guion no cambia por el numero de expositores.</a:t>
            </a:r>
          </a:p>
          <a:p>
            <a:pPr>
              <a:spcAft>
                <a:spcPts val="400"/>
              </a:spcAft>
            </a:pPr>
            <a:r>
              <a:rPr sz="1400" b="0" i="0">
                <a:solidFill>
                  <a:srgbClr val="FFFFFF"/>
                </a:solidFill>
                <a:latin typeface="Calibri"/>
              </a:rPr>
              <a:t>    private static final String[][] GUION = {</a:t>
            </a:r>
          </a:p>
          <a:p>
            <a:pPr>
              <a:spcAft>
                <a:spcPts val="400"/>
              </a:spcAft>
            </a:pPr>
            <a:r>
              <a:rPr sz="1400" b="0" i="0">
                <a:solidFill>
                  <a:srgbClr val="FFFFFF"/>
                </a:solidFill>
                <a:latin typeface="Calibri"/>
              </a:rPr>
              <a:t>        {"Problema de la clinica Huellitas y solucion propuesta", "Diapositiva con los 3 dolores", "1"},</a:t>
            </a:r>
          </a:p>
          <a:p>
            <a:pPr>
              <a:spcAft>
                <a:spcPts val="400"/>
              </a:spcAft>
            </a:pPr>
            <a:r>
              <a:rPr sz="1400" b="0" i="0">
                <a:solidFill>
                  <a:srgbClr val="FFFFFF"/>
                </a:solidFill>
                <a:latin typeface="Calibri"/>
              </a:rPr>
              <a:t>        {"Arquitectura: clases, herencia y colecciones", "Persona.java al lado de Dueno.java", "1"},</a:t>
            </a:r>
          </a:p>
          <a:p>
            <a:pPr>
              <a:spcAft>
                <a:spcPts val="400"/>
              </a:spcAft>
            </a:pPr>
            <a:r>
              <a:rPr sz="1400" b="0" i="0">
                <a:solidFill>
                  <a:srgbClr val="FFFFFF"/>
                </a:solidFill>
                <a:latin typeface="Calibri"/>
              </a:rPr>
              <a:t>        {"DEMO: registrar dueno y mascota (con validacion de edad)", "La aplicacion corriendo", "2"},</a:t>
            </a:r>
          </a:p>
          <a:p>
            <a:pPr>
              <a:spcAft>
                <a:spcPts val="400"/>
              </a:spcAft>
            </a:pPr>
            <a:r>
              <a:rPr sz="1400" b="0" i="0">
                <a:solidFill>
                  <a:srgbClr val="FFFFFF"/>
                </a:solidFill>
                <a:latin typeface="Calibri"/>
              </a:rPr>
              <a:t>        {"DEMO: agendar cita, buscar por ID y guardar en CSV", "Cerrar y reabrir con los datos ahi", "2"},</a:t>
            </a:r>
          </a:p>
          <a:p>
            <a:pPr>
              <a:spcAft>
                <a:spcPts val="400"/>
              </a:spcAft>
            </a:pPr>
            <a:r>
              <a:rPr sz="1400" b="0" i="0">
                <a:solidFill>
                  <a:srgbClr val="FFFFFF"/>
                </a:solidFill>
                <a:latin typeface="Calibri"/>
              </a:rPr>
              <a:t>        {"Limitaciones, aprendizajes y cierre", "Lista de 3 limitaciones", "1"}</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Quien habla el bloque i. Con un solo presentador, todos los bloques son suyos.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responsableDe()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String responsableDe(int i) {</a:t>
            </a:r>
          </a:p>
          <a:p>
            <a:pPr>
              <a:spcAft>
                <a:spcPts val="400"/>
              </a:spcAft>
            </a:pPr>
            <a:r>
              <a:rPr sz="1400" b="0" i="0">
                <a:solidFill>
                  <a:srgbClr val="FFFFFF"/>
                </a:solidFill>
                <a:latin typeface="Calibri"/>
              </a:rPr>
              <a:t>        if (PRESENTADORES.length == 0) {</a:t>
            </a:r>
          </a:p>
          <a:p>
            <a:pPr>
              <a:spcAft>
                <a:spcPts val="400"/>
              </a:spcAft>
            </a:pPr>
            <a:r>
              <a:rPr sz="1400" b="0" i="0">
                <a:solidFill>
                  <a:srgbClr val="FFFFFF"/>
                </a:solidFill>
                <a:latin typeface="Calibri"/>
              </a:rPr>
              <a:t>            return "Usted";</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PRESENTADORES[i % PRESENTADORES.length];</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main()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static void main(String[] args) {</a:t>
            </a:r>
          </a:p>
          <a:p>
            <a:pPr>
              <a:spcAft>
                <a:spcPts val="400"/>
              </a:spcAft>
            </a:pPr>
            <a:r>
              <a:rPr sz="1400" b="0" i="0">
                <a:solidFill>
                  <a:srgbClr val="FFFFFF"/>
                </a:solidFill>
                <a:latin typeface="Calibri"/>
              </a:rPr>
              <a:t>        Scanner teclado = new Scanner(System.in);</a:t>
            </a:r>
          </a:p>
          <a:p>
            <a:pPr>
              <a:spcAft>
                <a:spcPts val="400"/>
              </a:spcAft>
            </a:pPr>
            <a:r>
              <a:rPr sz="1400" b="0" i="0">
                <a:solidFill>
                  <a:srgbClr val="FFFFFF"/>
                </a:solidFill>
                <a:latin typeface="Calibri"/>
              </a:rPr>
              <a:t>        boolean seguir = true;</a:t>
            </a:r>
          </a:p>
          <a:p>
            <a:pPr>
              <a:spcAft>
                <a:spcPts val="400"/>
              </a:spcAft>
            </a:pPr>
            <a:r>
              <a:rPr sz="1400" b="0" i="0">
                <a:solidFill>
                  <a:srgbClr val="FFFFFF"/>
                </a:solidFill>
                <a:latin typeface="Calibri"/>
              </a:rPr>
              <a:t>        while (seguir)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VetCare | Preparacion de la sustentacion ===");</a:t>
            </a:r>
          </a:p>
          <a:p>
            <a:pPr>
              <a:spcAft>
                <a:spcPts val="400"/>
              </a:spcAft>
            </a:pPr>
            <a:r>
              <a:rPr sz="1400" b="0" i="0">
                <a:solidFill>
                  <a:srgbClr val="FFFFFF"/>
                </a:solidFill>
                <a:latin typeface="Calibri"/>
              </a:rPr>
              <a:t>            System.out.println("1. Sembrar datos de demostracion");</a:t>
            </a:r>
          </a:p>
          <a:p>
            <a:pPr>
              <a:spcAft>
                <a:spcPts val="400"/>
              </a:spcAft>
            </a:pPr>
            <a:r>
              <a:rPr sz="1400" b="0" i="0">
                <a:solidFill>
                  <a:srgbClr val="FFFFFF"/>
                </a:solidFill>
                <a:latin typeface="Calibri"/>
              </a:rPr>
              <a:t>            System.out.println("2. Chequeo pre-vuelo");</a:t>
            </a:r>
          </a:p>
          <a:p>
            <a:pPr>
              <a:spcAft>
                <a:spcPts val="400"/>
              </a:spcAft>
            </a:pPr>
            <a:r>
              <a:rPr sz="1400" b="0" i="0">
                <a:solidFill>
                  <a:srgbClr val="FFFFFF"/>
                </a:solidFill>
                <a:latin typeface="Calibri"/>
              </a:rPr>
              <a:t>            System.out.println("3. Ensayo cronometrado");</a:t>
            </a:r>
          </a:p>
          <a:p>
            <a:pPr>
              <a:spcAft>
                <a:spcPts val="400"/>
              </a:spcAft>
            </a:pPr>
            <a:r>
              <a:rPr sz="1400" b="0" i="0">
                <a:solidFill>
                  <a:srgbClr val="FFFFFF"/>
                </a:solidFill>
                <a:latin typeface="Calibri"/>
              </a:rPr>
              <a:t>            System.out.println("4. Salir");</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System.out.print("Opcion: ");</a:t>
            </a:r>
          </a:p>
          <a:p>
            <a:pPr>
              <a:spcAft>
                <a:spcPts val="400"/>
              </a:spcAft>
            </a:pPr>
            <a:r>
              <a:rPr sz="1400" b="0" i="0">
                <a:solidFill>
                  <a:srgbClr val="FFFFFF"/>
                </a:solidFill>
                <a:latin typeface="Calibri"/>
              </a:rPr>
              <a:t>            String opcion = teclado.nextLine().trim();</a:t>
            </a:r>
          </a:p>
          <a:p>
            <a:pPr>
              <a:spcAft>
                <a:spcPts val="400"/>
              </a:spcAft>
            </a:pPr>
            <a:r>
              <a:rPr sz="1400" b="0" i="0">
                <a:solidFill>
                  <a:srgbClr val="FFFFFF"/>
                </a:solidFill>
                <a:latin typeface="Calibri"/>
              </a:rPr>
              <a:t>            switch (opcion) {</a:t>
            </a:r>
          </a:p>
          <a:p>
            <a:pPr>
              <a:spcAft>
                <a:spcPts val="400"/>
              </a:spcAft>
            </a:pPr>
            <a:r>
              <a:rPr sz="1400" b="0" i="0">
                <a:solidFill>
                  <a:srgbClr val="FFFFFF"/>
                </a:solidFill>
                <a:latin typeface="Calibri"/>
              </a:rPr>
              <a:t>                case "1":</a:t>
            </a:r>
          </a:p>
          <a:p>
            <a:pPr>
              <a:spcAft>
                <a:spcPts val="400"/>
              </a:spcAft>
            </a:pPr>
            <a:r>
              <a:rPr sz="1400" b="0" i="0">
                <a:solidFill>
                  <a:srgbClr val="FFFFFF"/>
                </a:solidFill>
                <a:latin typeface="Calibri"/>
              </a:rPr>
              <a:t>                    sembrarDatosDemo();</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"2":</a:t>
            </a:r>
          </a:p>
          <a:p>
            <a:pPr>
              <a:spcAft>
                <a:spcPts val="400"/>
              </a:spcAft>
            </a:pPr>
            <a:r>
              <a:rPr sz="1400" b="0" i="0">
                <a:solidFill>
                  <a:srgbClr val="FFFFFF"/>
                </a:solidFill>
                <a:latin typeface="Calibri"/>
              </a:rPr>
              <a:t>                    chequeoPreVuelo();</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"3":</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main()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42"/>
              </a:spcAft>
            </a:pPr>
            <a:r>
              <a:rPr sz="1200" b="0" i="0">
                <a:solidFill>
                  <a:srgbClr val="FFFFFF"/>
                </a:solidFill>
                <a:latin typeface="Calibri"/>
              </a:rPr>
              <a:t>                    if (chequeoPreVuelo()) {</a:t>
            </a:r>
          </a:p>
          <a:p>
            <a:pPr>
              <a:spcAft>
                <a:spcPts val="342"/>
              </a:spcAft>
            </a:pPr>
            <a:r>
              <a:rPr sz="1200" b="0" i="0">
                <a:solidFill>
                  <a:srgbClr val="FFFFFF"/>
                </a:solidFill>
                <a:latin typeface="Calibri"/>
              </a:rPr>
              <a:t>                        ensayo(teclado);</a:t>
            </a:r>
          </a:p>
          <a:p>
            <a:pPr>
              <a:spcAft>
                <a:spcPts val="342"/>
              </a:spcAft>
            </a:pPr>
            <a:r>
              <a:rPr sz="1200" b="0" i="0">
                <a:solidFill>
                  <a:srgbClr val="FFFFFF"/>
                </a:solidFill>
                <a:latin typeface="Calibri"/>
              </a:rPr>
              <a:t>                    } else {</a:t>
            </a:r>
          </a:p>
          <a:p>
            <a:pPr>
              <a:spcAft>
                <a:spcPts val="342"/>
              </a:spcAft>
            </a:pPr>
            <a:r>
              <a:rPr sz="1200" b="0" i="0">
                <a:solidFill>
                  <a:srgbClr val="FFFFFF"/>
                </a:solidFill>
                <a:latin typeface="Calibri"/>
              </a:rPr>
              <a:t>                        System.out.println("Primero siembre los datos: nadie ensaya con la aplicacion vacia.");</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break;</a:t>
            </a:r>
          </a:p>
          <a:p>
            <a:pPr>
              <a:spcAft>
                <a:spcPts val="342"/>
              </a:spcAft>
            </a:pPr>
            <a:r>
              <a:rPr sz="1200" b="0" i="0">
                <a:solidFill>
                  <a:srgbClr val="FFFFFF"/>
                </a:solidFill>
                <a:latin typeface="Calibri"/>
              </a:rPr>
              <a:t>                case "4":</a:t>
            </a:r>
          </a:p>
          <a:p>
            <a:pPr>
              <a:spcAft>
                <a:spcPts val="342"/>
              </a:spcAft>
            </a:pPr>
            <a:r>
              <a:rPr sz="1200" b="0" i="0">
                <a:solidFill>
                  <a:srgbClr val="FFFFFF"/>
                </a:solidFill>
                <a:latin typeface="Calibri"/>
              </a:rPr>
              <a:t>                    seguir = false;</a:t>
            </a:r>
          </a:p>
          <a:p>
            <a:pPr>
              <a:spcAft>
                <a:spcPts val="342"/>
              </a:spcAft>
            </a:pPr>
            <a:r>
              <a:rPr sz="1200" b="0" i="0">
                <a:solidFill>
                  <a:srgbClr val="FFFFFF"/>
                </a:solidFill>
                <a:latin typeface="Calibri"/>
              </a:rPr>
              <a:t>                    break;</a:t>
            </a:r>
          </a:p>
          <a:p>
            <a:pPr>
              <a:spcAft>
                <a:spcPts val="342"/>
              </a:spcAft>
            </a:pPr>
            <a:r>
              <a:rPr sz="1200" b="0" i="0">
                <a:solidFill>
                  <a:srgbClr val="FFFFFF"/>
                </a:solidFill>
                <a:latin typeface="Calibri"/>
              </a:rPr>
              <a:t>                default:</a:t>
            </a:r>
          </a:p>
          <a:p>
            <a:pPr>
              <a:spcAft>
                <a:spcPts val="342"/>
              </a:spcAft>
            </a:pPr>
            <a:r>
              <a:rPr sz="1200" b="0" i="0">
                <a:solidFill>
                  <a:srgbClr val="FFFFFF"/>
                </a:solidFill>
                <a:latin typeface="Calibri"/>
              </a:rPr>
              <a:t>                    System.out.println("Opcion no valida.");</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teclado.close();</a:t>
            </a:r>
          </a:p>
          <a:p>
            <a:pPr>
              <a:spcAft>
                <a:spcPts val="342"/>
              </a:spcAft>
            </a:pPr>
            <a:r>
              <a:rPr sz="1200" b="0" i="0">
                <a:solidFill>
                  <a:srgbClr val="FFFFFF"/>
                </a:solidFill>
                <a:latin typeface="Calibri"/>
              </a:rPr>
              <a:t>        System.out.println("Recuerde: dos ensayos cronometrados antes de sustentar.");</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a:r>
          </a:p>
          <a:p>
            <a:pPr>
              <a:spcAft>
                <a:spcPts val="342"/>
              </a:spcAft>
            </a:pPr>
            <a:r>
              <a:rPr sz="1200" b="0" i="0">
                <a:solidFill>
                  <a:srgbClr val="FFFFFF"/>
                </a:solidFill>
                <a:latin typeface="Calibri"/>
              </a:rPr>
              <a:t>    /** Datos creibles del dominio veterinario: nombres reales, no 'prueba1' ni 'aaa'.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sembrarDatosDemo()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sembrarDatosDemo() {</a:t>
            </a:r>
          </a:p>
          <a:p>
            <a:pPr>
              <a:spcAft>
                <a:spcPts val="400"/>
              </a:spcAft>
            </a:pPr>
            <a:r>
              <a:rPr sz="1400" b="0" i="0">
                <a:solidFill>
                  <a:srgbClr val="FFFFFF"/>
                </a:solidFill>
                <a:latin typeface="Calibri"/>
              </a:rPr>
              <a:t>        File carpeta = new File(CARPETA);</a:t>
            </a:r>
          </a:p>
          <a:p>
            <a:pPr>
              <a:spcAft>
                <a:spcPts val="400"/>
              </a:spcAft>
            </a:pPr>
            <a:r>
              <a:rPr sz="1400" b="0" i="0">
                <a:solidFill>
                  <a:srgbClr val="FFFFFF"/>
                </a:solidFill>
                <a:latin typeface="Calibri"/>
              </a:rPr>
              <a:t>        if (!carpeta.exists()) {</a:t>
            </a:r>
          </a:p>
          <a:p>
            <a:pPr>
              <a:spcAft>
                <a:spcPts val="400"/>
              </a:spcAft>
            </a:pPr>
            <a:r>
              <a:rPr sz="1400" b="0" i="0">
                <a:solidFill>
                  <a:srgbClr val="FFFFFF"/>
                </a:solidFill>
                <a:latin typeface="Calibri"/>
              </a:rPr>
              <a:t>            carpeta.mkdirs();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escribir(CARPETA + "/duenos.csv", new String[]{</a:t>
            </a:r>
          </a:p>
          <a:p>
            <a:pPr>
              <a:spcAft>
                <a:spcPts val="400"/>
              </a:spcAft>
            </a:pPr>
            <a:r>
              <a:rPr sz="1400" b="0" i="0">
                <a:solidFill>
                  <a:srgbClr val="FFFFFF"/>
                </a:solidFill>
                <a:latin typeface="Calibri"/>
              </a:rPr>
              <a:t>            "D-001;Marta Lopez;3155551212;Calle 5 #23-41",</a:t>
            </a:r>
          </a:p>
          <a:p>
            <a:pPr>
              <a:spcAft>
                <a:spcPts val="400"/>
              </a:spcAft>
            </a:pPr>
            <a:r>
              <a:rPr sz="1400" b="0" i="0">
                <a:solidFill>
                  <a:srgbClr val="FFFFFF"/>
                </a:solidFill>
                <a:latin typeface="Calibri"/>
              </a:rPr>
              <a:t>            "D-002;Julian Perez;3009998877;Carrera 8 #12-30",</a:t>
            </a:r>
          </a:p>
          <a:p>
            <a:pPr>
              <a:spcAft>
                <a:spcPts val="400"/>
              </a:spcAft>
            </a:pPr>
            <a:r>
              <a:rPr sz="1400" b="0" i="0">
                <a:solidFill>
                  <a:srgbClr val="FFFFFF"/>
                </a:solidFill>
                <a:latin typeface="Calibri"/>
              </a:rPr>
              <a:t>            "D-003;Sara Quintero;3126665544;Avenida 4N #10-15"</a:t>
            </a:r>
          </a:p>
          <a:p>
            <a:pPr>
              <a:spcAft>
                <a:spcPts val="400"/>
              </a:spcAft>
            </a:pPr>
            <a:r>
              <a:rPr sz="1400" b="0" i="0">
                <a:solidFill>
                  <a:srgbClr val="FFFFFF"/>
                </a:solidFill>
                <a:latin typeface="Calibri"/>
              </a:rPr>
              <a:t>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escribir(CARPETA + "/mascotas.csv", new String[]{</a:t>
            </a:r>
          </a:p>
          <a:p>
            <a:pPr>
              <a:spcAft>
                <a:spcPts val="400"/>
              </a:spcAft>
            </a:pPr>
            <a:r>
              <a:rPr sz="1400" b="0" i="0">
                <a:solidFill>
                  <a:srgbClr val="FFFFFF"/>
                </a:solidFill>
                <a:latin typeface="Calibri"/>
              </a:rPr>
              <a:t>            "M-001;Firulais;Canino;Labrador;4;28.5;D-001",</a:t>
            </a:r>
          </a:p>
          <a:p>
            <a:pPr>
              <a:spcAft>
                <a:spcPts val="400"/>
              </a:spcAft>
            </a:pPr>
            <a:r>
              <a:rPr sz="1400" b="0" i="0">
                <a:solidFill>
                  <a:srgbClr val="FFFFFF"/>
                </a:solidFill>
                <a:latin typeface="Calibri"/>
              </a:rPr>
              <a:t>            "M-002;Michi;Felino;Criollo;2;3.8;D-001",</a:t>
            </a:r>
          </a:p>
          <a:p>
            <a:pPr>
              <a:spcAft>
                <a:spcPts val="400"/>
              </a:spcAft>
            </a:pPr>
            <a:r>
              <a:rPr sz="1400" b="0" i="0">
                <a:solidFill>
                  <a:srgbClr val="FFFFFF"/>
                </a:solidFill>
                <a:latin typeface="Calibri"/>
              </a:rPr>
              <a:t>            "M-003;Rocky;Canino;Pastor;6;32.0;D-002",</a:t>
            </a:r>
          </a:p>
          <a:p>
            <a:pPr>
              <a:spcAft>
                <a:spcPts val="400"/>
              </a:spcAft>
            </a:pPr>
            <a:r>
              <a:rPr sz="1400" b="0" i="0">
                <a:solidFill>
                  <a:srgbClr val="FFFFFF"/>
                </a:solidFill>
                <a:latin typeface="Calibri"/>
              </a:rPr>
              <a:t>            "M-004;Luna;Felino;Siames;1;2.9;D-003"</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escribir(CARPETA + "/citas.csv", new String[]{</a:t>
            </a:r>
          </a:p>
          <a:p>
            <a:pPr>
              <a:spcAft>
                <a:spcPts val="400"/>
              </a:spcAft>
            </a:pPr>
            <a:r>
              <a:rPr sz="1400" b="0" i="0">
                <a:solidFill>
                  <a:srgbClr val="FFFFFF"/>
                </a:solidFill>
                <a:latin typeface="Calibri"/>
              </a:rPr>
              <a:t>            "C-001;M-001;08:00;Vacunacion anual;Programada",</a:t>
            </a:r>
          </a:p>
          <a:p>
            <a:pPr>
              <a:spcAft>
                <a:spcPts val="400"/>
              </a:spcAft>
            </a:pPr>
            <a:r>
              <a:rPr sz="1400" b="0" i="0">
                <a:solidFill>
                  <a:srgbClr val="FFFFFF"/>
                </a:solidFill>
                <a:latin typeface="Calibri"/>
              </a:rPr>
              <a:t>            "C-002;M-003;09:30;Control de peso;Programada",</a:t>
            </a:r>
          </a:p>
          <a:p>
            <a:pPr>
              <a:spcAft>
                <a:spcPts val="400"/>
              </a:spcAft>
            </a:pPr>
            <a:r>
              <a:rPr sz="1400" b="0" i="0">
                <a:solidFill>
                  <a:srgbClr val="FFFFFF"/>
                </a:solidFill>
                <a:latin typeface="Calibri"/>
              </a:rPr>
              <a:t>            "C-003;M-004;11:00;Desparasitacion;Atendida"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sembrarDatosDemo()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System.out.println("Datos de demostracion listos en la carpeta " + CARPETA);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escribir()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escribir(String ruta, String[] lineas) {</a:t>
            </a:r>
          </a:p>
          <a:p>
            <a:pPr>
              <a:spcAft>
                <a:spcPts val="400"/>
              </a:spcAft>
            </a:pPr>
            <a:r>
              <a:rPr sz="1400" b="0" i="0">
                <a:solidFill>
                  <a:srgbClr val="FFFFFF"/>
                </a:solidFill>
                <a:latin typeface="Calibri"/>
              </a:rPr>
              <a:t>        try (PrintWriter salida = new PrintWriter(ruta)) {</a:t>
            </a:r>
          </a:p>
          <a:p>
            <a:pPr>
              <a:spcAft>
                <a:spcPts val="400"/>
              </a:spcAft>
            </a:pPr>
            <a:r>
              <a:rPr sz="1400" b="0" i="0">
                <a:solidFill>
                  <a:srgbClr val="FFFFFF"/>
                </a:solidFill>
                <a:latin typeface="Calibri"/>
              </a:rPr>
              <a:t>            for (String linea: lineas) {</a:t>
            </a:r>
          </a:p>
          <a:p>
            <a:pPr>
              <a:spcAft>
                <a:spcPts val="400"/>
              </a:spcAft>
            </a:pPr>
            <a:r>
              <a:rPr sz="1400" b="0" i="0">
                <a:solidFill>
                  <a:srgbClr val="FFFFFF"/>
                </a:solidFill>
                <a:latin typeface="Calibri"/>
              </a:rPr>
              <a:t>                salida.println(linea);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  [OK] " + ruta + " (" + lineas.length + " registros)");</a:t>
            </a:r>
          </a:p>
          <a:p>
            <a:pPr>
              <a:spcAft>
                <a:spcPts val="400"/>
              </a:spcAft>
            </a:pPr>
            <a:r>
              <a:rPr sz="1400" b="0" i="0">
                <a:solidFill>
                  <a:srgbClr val="FFFFFF"/>
                </a:solidFill>
                <a:latin typeface="Calibri"/>
              </a:rPr>
              <a:t>        } catch (FileNotFoundException e) {</a:t>
            </a:r>
          </a:p>
          <a:p>
            <a:pPr>
              <a:spcAft>
                <a:spcPts val="400"/>
              </a:spcAft>
            </a:pPr>
            <a:r>
              <a:rPr sz="1400" b="0" i="0">
                <a:solidFill>
                  <a:srgbClr val="FFFFFF"/>
                </a:solidFill>
                <a:latin typeface="Calibri"/>
              </a:rPr>
              <a:t>            System.out.println("  [ERROR] No pude crear " + ruta + ": " + e.getMessage());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Si esto no da verde, no se conecta el videobeam.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chequeoPreVuelo()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boolean chequeoPreVuelo() {</a:t>
            </a:r>
          </a:p>
          <a:p>
            <a:pPr>
              <a:spcAft>
                <a:spcPts val="400"/>
              </a:spcAft>
            </a:pPr>
            <a:r>
              <a:rPr sz="1400" b="0" i="0">
                <a:solidFill>
                  <a:srgbClr val="FFFFFF"/>
                </a:solidFill>
                <a:latin typeface="Calibri"/>
              </a:rPr>
              <a:t>        String[] requeridos = {CARPETA + "/duenos.csv", CARPETA + "/mascotas.csv", CARPETA + "/citas.csv"};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System.out.println("--- Chequeo pre-vuelo ---");</a:t>
            </a:r>
          </a:p>
          <a:p>
            <a:pPr>
              <a:spcAft>
                <a:spcPts val="400"/>
              </a:spcAft>
            </a:pPr>
            <a:r>
              <a:rPr sz="1400" b="0" i="0">
                <a:solidFill>
                  <a:srgbClr val="FFFFFF"/>
                </a:solidFill>
                <a:latin typeface="Calibri"/>
              </a:rPr>
              <a:t>        for (String ruta: requeridos) {</a:t>
            </a:r>
          </a:p>
          <a:p>
            <a:pPr>
              <a:spcAft>
                <a:spcPts val="400"/>
              </a:spcAft>
            </a:pPr>
            <a:r>
              <a:rPr sz="1400" b="0" i="0">
                <a:solidFill>
                  <a:srgbClr val="FFFFFF"/>
                </a:solidFill>
                <a:latin typeface="Calibri"/>
              </a:rPr>
              <a:t>            int filas = contarFilas(ruta);</a:t>
            </a:r>
          </a:p>
          <a:p>
            <a:pPr>
              <a:spcAft>
                <a:spcPts val="400"/>
              </a:spcAft>
            </a:pPr>
            <a:r>
              <a:rPr sz="1400" b="0" i="0">
                <a:solidFill>
                  <a:srgbClr val="FFFFFF"/>
                </a:solidFill>
                <a:latin typeface="Calibri"/>
              </a:rPr>
              <a:t>            System.out.println((filas &gt; 0 ? "  [OK]    ":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System.out.println(listo ? "  Listos para la demo en vivo.": "  Siembre los datos con la opcion 1 antes de continuar.");</a:t>
            </a:r>
          </a:p>
          <a:p>
            <a:pPr>
              <a:spcAft>
                <a:spcPts val="400"/>
              </a:spcAft>
            </a:pPr>
            <a:r>
              <a:rPr sz="1400" b="0" i="0">
                <a:solidFill>
                  <a:srgbClr val="FFFFFF"/>
                </a:solidFill>
                <a:latin typeface="Calibri"/>
              </a:rPr>
              <a:t>        return listo;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contarFilas()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int contarFilas(String ruta) {</a:t>
            </a:r>
          </a:p>
          <a:p>
            <a:pPr>
              <a:spcAft>
                <a:spcPts val="400"/>
              </a:spcAft>
            </a:pPr>
            <a:r>
              <a:rPr sz="1400" b="0" i="0">
                <a:solidFill>
                  <a:srgbClr val="FFFFFF"/>
                </a:solidFill>
                <a:latin typeface="Calibri"/>
              </a:rPr>
              <a:t>        int filas = 0;</a:t>
            </a:r>
          </a:p>
          <a:p>
            <a:pPr>
              <a:spcAft>
                <a:spcPts val="400"/>
              </a:spcAft>
            </a:pPr>
            <a:r>
              <a:rPr sz="1400" b="0" i="0">
                <a:solidFill>
                  <a:srgbClr val="FFFFFF"/>
                </a:solidFill>
                <a:latin typeface="Calibri"/>
              </a:rPr>
              <a:t>        try (BufferedReader lector = new BufferedReader(new FileReader(ruta))) {</a:t>
            </a:r>
          </a:p>
          <a:p>
            <a:pPr>
              <a:spcAft>
                <a:spcPts val="400"/>
              </a:spcAft>
            </a:pPr>
            <a:r>
              <a:rPr sz="1400" b="0" i="0">
                <a:solidFill>
                  <a:srgbClr val="FFFFFF"/>
                </a:solidFill>
                <a:latin typeface="Calibri"/>
              </a:rPr>
              <a:t>            while (lector.readLine() != null) {</a:t>
            </a:r>
          </a:p>
          <a:p>
            <a:pPr>
              <a:spcAft>
                <a:spcPts val="400"/>
              </a:spcAft>
            </a:pPr>
            <a:r>
              <a:rPr sz="1400" b="0" i="0">
                <a:solidFill>
                  <a:srgbClr val="FFFFFF"/>
                </a:solidFill>
                <a:latin typeface="Calibri"/>
              </a:rPr>
              <a:t>                filas++;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catch (IOException e) {</a:t>
            </a:r>
          </a:p>
          <a:p>
            <a:pPr>
              <a:spcAft>
                <a:spcPts val="400"/>
              </a:spcAft>
            </a:pPr>
            <a:r>
              <a:rPr sz="1400" b="0" i="0">
                <a:solidFill>
                  <a:srgbClr val="FFFFFF"/>
                </a:solidFill>
                <a:latin typeface="Calibri"/>
              </a:rPr>
              <a:t>            // El archivo no existe o no se puede leer: para la demo es lo mismo que estar vacio.</a:t>
            </a:r>
          </a:p>
          <a:p>
            <a:pPr>
              <a:spcAft>
                <a:spcPts val="400"/>
              </a:spcAft>
            </a:pPr>
            <a:r>
              <a:rPr sz="1400" b="0" i="0">
                <a:solidFill>
                  <a:srgbClr val="FFFFFF"/>
                </a:solidFill>
                <a:latin typeface="Calibri"/>
              </a:rPr>
              <a:t>            return 0;</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filas;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Cronometro real: se avanza con Enter al terminar cada bloque.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ensayo()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ensayo(Scanner teclado) {</a:t>
            </a:r>
          </a:p>
          <a:p>
            <a:pPr>
              <a:spcAft>
                <a:spcPts val="400"/>
              </a:spcAft>
            </a:pPr>
            <a:r>
              <a:rPr sz="1400" b="0" i="0">
                <a:solidFill>
                  <a:srgbClr val="FFFFFF"/>
                </a:solidFill>
                <a:latin typeface="Calibri"/>
              </a:rPr>
              <a:t>        System.out.println("--- Ensayo cronometrado. Presione Enter al terminar cada bloque ---");</a:t>
            </a:r>
          </a:p>
          <a:p>
            <a:pPr>
              <a:spcAft>
                <a:spcPts val="400"/>
              </a:spcAft>
            </a:pPr>
            <a:r>
              <a:rPr sz="1400" b="0" i="0">
                <a:solidFill>
                  <a:srgbClr val="FFFFFF"/>
                </a:solidFill>
                <a:latin typeface="Calibri"/>
              </a:rPr>
              <a:t>        long inicio = System.currentTimeMillis();</a:t>
            </a:r>
          </a:p>
          <a:p>
            <a:pPr>
              <a:spcAft>
                <a:spcPts val="400"/>
              </a:spcAft>
            </a:pPr>
            <a:r>
              <a:rPr sz="1400" b="0" i="0">
                <a:solidFill>
                  <a:srgbClr val="FFFFFF"/>
                </a:solidFill>
                <a:latin typeface="Calibri"/>
              </a:rPr>
              <a:t>        long anterior = inicio;</a:t>
            </a:r>
          </a:p>
          <a:p>
            <a:pPr>
              <a:spcAft>
                <a:spcPts val="400"/>
              </a:spcAft>
            </a:pPr>
            <a:r>
              <a:rPr sz="1400" b="0" i="0">
                <a:solidFill>
                  <a:srgbClr val="FFFFFF"/>
                </a:solidFill>
                <a:latin typeface="Calibri"/>
              </a:rPr>
              <a:t>        for (int i = 0; i &lt; GUION.length; i++) {</a:t>
            </a:r>
          </a:p>
          <a:p>
            <a:pPr>
              <a:spcAft>
                <a:spcPts val="400"/>
              </a:spcAft>
            </a:pPr>
            <a:r>
              <a:rPr sz="1400" b="0" i="0">
                <a:solidFill>
                  <a:srgbClr val="FFFFFF"/>
                </a:solidFill>
                <a:latin typeface="Calibri"/>
              </a:rPr>
              <a:t>            String[] bloque = GUION[i];</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System.out.println("-&gt; " + bloque[0]);</a:t>
            </a:r>
          </a:p>
          <a:p>
            <a:pPr>
              <a:spcAft>
                <a:spcPts val="400"/>
              </a:spcAft>
            </a:pPr>
            <a:r>
              <a:rPr sz="1400" b="0" i="0">
                <a:solidFill>
                  <a:srgbClr val="FFFFFF"/>
                </a:solidFill>
                <a:latin typeface="Calibri"/>
              </a:rPr>
              <a:t>            System.out.println("   Evidencia: " + bloque[1]);</a:t>
            </a:r>
          </a:p>
          <a:p>
            <a:pPr>
              <a:spcAft>
                <a:spcPts val="400"/>
              </a:spcAft>
            </a:pPr>
            <a:r>
              <a:rPr sz="1400" b="0" i="0">
                <a:solidFill>
                  <a:srgbClr val="FFFFFF"/>
                </a:solidFill>
                <a:latin typeface="Calibri"/>
              </a:rPr>
              <a:t>            System.out.println("   Habla: " + responsableDe(i) + " | Planeado: " + bloque[2] + " min");</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teclado.nextLine();</a:t>
            </a:r>
          </a:p>
          <a:p>
            <a:pPr>
              <a:spcAft>
                <a:spcPts val="400"/>
              </a:spcAft>
            </a:pPr>
            <a:r>
              <a:rPr sz="1400" b="0" i="0">
                <a:solidFill>
                  <a:srgbClr val="FFFFFF"/>
                </a:solidFill>
                <a:latin typeface="Calibri"/>
              </a:rPr>
              <a:t>            long ahora = System.currentTimeMillis();</a:t>
            </a:r>
          </a:p>
          <a:p>
            <a:pPr>
              <a:spcAft>
                <a:spcPts val="400"/>
              </a:spcAft>
            </a:pPr>
            <a:r>
              <a:rPr sz="1400" b="0" i="0">
                <a:solidFill>
                  <a:srgbClr val="FFFFFF"/>
                </a:solidFill>
                <a:latin typeface="Calibri"/>
              </a:rPr>
              <a:t>            double real = (ahora - anterior) / 60000.0;</a:t>
            </a:r>
          </a:p>
          <a:p>
            <a:pPr>
              <a:spcAft>
                <a:spcPts val="400"/>
              </a:spcAft>
            </a:pPr>
            <a:r>
              <a:rPr sz="1400" b="0" i="0">
                <a:solidFill>
                  <a:srgbClr val="FFFFFF"/>
                </a:solidFill>
                <a:latin typeface="Calibri"/>
              </a:rPr>
              <a:t>            double plan = Double.parseDouble(bloque[2]);</a:t>
            </a:r>
          </a:p>
          <a:p>
            <a:pPr>
              <a:spcAft>
                <a:spcPts val="400"/>
              </a:spcAft>
            </a:pPr>
            <a:r>
              <a:rPr sz="1400" b="0" i="0">
                <a:solidFill>
                  <a:srgbClr val="FFFFFF"/>
                </a:solidFill>
                <a:latin typeface="Calibri"/>
              </a:rPr>
              <a:t>            String veredicto = real &gt; plan ? "SE PASO": "en tiempo";</a:t>
            </a:r>
          </a:p>
          <a:p>
            <a:pPr>
              <a:spcAft>
                <a:spcPts val="400"/>
              </a:spcAft>
            </a:pPr>
            <a:r>
              <a:rPr sz="1400" b="0" i="0">
                <a:solidFill>
                  <a:srgbClr val="FFFFFF"/>
                </a:solidFill>
                <a:latin typeface="Calibri"/>
              </a:rPr>
              <a:t>            System.out.println(String.format("   Real: %.2f min | Planeado: %.0f min | %s", real, plan, veredicto));</a:t>
            </a:r>
          </a:p>
          <a:p>
            <a:pPr>
              <a:spcAft>
                <a:spcPts val="400"/>
              </a:spcAft>
            </a:pPr>
            <a:r>
              <a:rPr sz="1400" b="0" i="0">
                <a:solidFill>
                  <a:srgbClr val="FFFFFF"/>
                </a:solidFill>
                <a:latin typeface="Calibri"/>
              </a:rPr>
              <a:t>            anterior = ahora;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double total = (System.currentTimeMillis() - inicio) / 60000.0;</a:t>
            </a:r>
          </a:p>
          <a:p>
            <a:pPr>
              <a:spcAft>
                <a:spcPts val="400"/>
              </a:spcAft>
            </a:pPr>
            <a:r>
              <a:rPr sz="1400" b="0" i="0">
                <a:solidFill>
                  <a:srgbClr val="FFFFFF"/>
                </a:solidFill>
                <a:latin typeface="Calibri"/>
              </a:rPr>
              <a:t>        System.out.println(String.format("TOTAL: %.2f min", total));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ensayo()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if (total &lt; 5) {</a:t>
            </a:r>
          </a:p>
          <a:p>
            <a:pPr>
              <a:spcAft>
                <a:spcPts val="400"/>
              </a:spcAft>
            </a:pPr>
            <a:r>
              <a:rPr sz="1400" b="0" i="0">
                <a:solidFill>
                  <a:srgbClr val="FFFFFF"/>
                </a:solidFill>
                <a:latin typeface="Calibri"/>
              </a:rPr>
              <a:t>            System.out.println("Muy corto: falto profundidad en la demo. Meta: entre 5 y 8 minutos.");</a:t>
            </a:r>
          </a:p>
          <a:p>
            <a:pPr>
              <a:spcAft>
                <a:spcPts val="400"/>
              </a:spcAft>
            </a:pPr>
            <a:r>
              <a:rPr sz="1400" b="0" i="0">
                <a:solidFill>
                  <a:srgbClr val="FFFFFF"/>
                </a:solidFill>
                <a:latin typeface="Calibri"/>
              </a:rPr>
              <a:t>        } else if (total &gt; 8) {</a:t>
            </a:r>
          </a:p>
          <a:p>
            <a:pPr>
              <a:spcAft>
                <a:spcPts val="400"/>
              </a:spcAft>
            </a:pPr>
            <a:r>
              <a:rPr sz="1400" b="0" i="0">
                <a:solidFill>
                  <a:srgbClr val="FFFFFF"/>
                </a:solidFill>
                <a:latin typeface="Calibri"/>
              </a:rPr>
              <a:t>            System.out.println("Se paso: recorte la parte teorica, nunca la demo.");</a:t>
            </a:r>
          </a:p>
          <a:p>
            <a:pPr>
              <a:spcAft>
                <a:spcPts val="400"/>
              </a:spcAft>
            </a:pPr>
            <a:r>
              <a:rPr sz="1400" b="0" i="0">
                <a:solidFill>
                  <a:srgbClr val="FFFFFF"/>
                </a:solidFill>
                <a:latin typeface="Calibri"/>
              </a:rPr>
              <a:t>        } else {</a:t>
            </a:r>
          </a:p>
          <a:p>
            <a:pPr>
              <a:spcAft>
                <a:spcPts val="400"/>
              </a:spcAft>
            </a:pPr>
            <a:r>
              <a:rPr sz="1400" b="0" i="0">
                <a:solidFill>
                  <a:srgbClr val="FFFFFF"/>
                </a:solidFill>
                <a:latin typeface="Calibri"/>
              </a:rPr>
              <a:t>            System.out.println("Tiempo dentro de la ventana. Repita el ensayo una vez mas.");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 pre-vuelo: la demo que no falla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private static boolean chequeoPreVuelo() {          // se ejecuta 10 minutos antes de sustentar</a:t>
            </a:r>
          </a:p>
          <a:p>
            <a:pPr>
              <a:spcAft>
                <a:spcPts val="400"/>
              </a:spcAft>
            </a:pPr>
            <a:r>
              <a:rPr sz="1400" b="0" i="0">
                <a:solidFill>
                  <a:srgbClr val="FFFFFF"/>
                </a:solidFill>
                <a:latin typeface="Calibri"/>
              </a:rPr>
              <a:t>    String[] requeridos = {"datos_demo/duenos.csv", "datos_demo/mascotas.csv", "datos_demo/citas.csv"};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for (String ruta: requeridos) {</a:t>
            </a:r>
          </a:p>
          <a:p>
            <a:pPr>
              <a:spcAft>
                <a:spcPts val="400"/>
              </a:spcAft>
            </a:pPr>
            <a:r>
              <a:rPr sz="1400" b="0" i="0">
                <a:solidFill>
                  <a:srgbClr val="FFFFFF"/>
                </a:solidFill>
                <a:latin typeface="Calibri"/>
              </a:rPr>
              <a:t>        int filas = contarFilas(ruta);              // 0 filas = pantalla vacia frente al jurado</a:t>
            </a:r>
          </a:p>
          <a:p>
            <a:pPr>
              <a:spcAft>
                <a:spcPts val="400"/>
              </a:spcAft>
            </a:pPr>
            <a:r>
              <a:rPr sz="1400" b="0" i="0">
                <a:solidFill>
                  <a:srgbClr val="FFFFFF"/>
                </a:solidFill>
                <a:latin typeface="Calibri"/>
              </a:rPr>
              <a:t>        System.out.println((filas &gt; 0 ? "[OK]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listo;   // si devuelve false, todavia no se sustenta ni se ensaya</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demo se prepara con codigo, no con fe: si el pre-vuelo no da verde, la sustentacion no arranca.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VetCare en 6 minutos delante del grupo, provoca a proposito un error de edad para mostrar la validacion, y luego repite la misma demo con la lista vacia para que se vea el desastre de no sembrar datos.</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Preparacion de la presentacion final · Sustentacion de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mostrar, en que orden y como lograr que la demo no falle</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