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VetCare queda con guion de sustentacion, juego de datos de demostracion sembrado y ensayo cronometrado dentro de la ventana de 5 a 8 minutos.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proyecto de software no es exponer diapositivas: es...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proyecto de software no es exponer diapositivas: es demostrar, delante de un jurado que duda con razon, que un problema real quedo resuelto por un programa que corre.</a:t>
            </a:r>
          </a:p>
          <a:p>
            <a:pPr>
              <a:spcAft>
                <a:spcPts val="800"/>
              </a:spcAft>
            </a:pPr>
            <a:r>
              <a:rPr sz="2000" b="0" i="0">
                <a:solidFill>
                  <a:srgbClr val="333333"/>
                </a:solidFill>
                <a:latin typeface="Calibri"/>
              </a:rPr>
              <a:t>–   El jurado no compra promesas ni diagramas bonitos, compra evidencia; por eso la regla practica es que al menos la mitad del tiempo debe ser aplicacion corriendo en pantalla.</a:t>
            </a:r>
          </a:p>
          <a:p>
            <a:pPr>
              <a:spcAft>
                <a:spcPts val="800"/>
              </a:spcAft>
            </a:pPr>
            <a:r>
              <a:rPr sz="2000" b="0" i="0">
                <a:solidFill>
                  <a:srgbClr val="333333"/>
                </a:solidFill>
                <a:latin typeface="Calibri"/>
              </a:rPr>
              <a:t>–   El orden que funciona es siempre el mismo y va de lo humano a lo tecnico y de vuelta a lo humano: primero el problema de la clinica Huellitas en una frase concreta (todo en papel, se pierden expedientes, no se sabe quien tiene cita manana)</a:t>
            </a:r>
          </a:p>
          <a:p>
            <a:pPr>
              <a:spcAft>
                <a:spcPts val="800"/>
              </a:spcAft>
            </a:pPr>
            <a:r>
              <a:rPr sz="2000" b="0" i="0">
                <a:solidFill>
                  <a:srgbClr val="333333"/>
                </a:solidFill>
                <a:latin typeface="Calibri"/>
              </a:rPr>
              <a:t>–   Luego la solucion en una frase (una aplicacion de escritorio en Java que registra duenos y mascotas, agenda citas y conserva los datos)</a:t>
            </a:r>
          </a:p>
          <a:p>
            <a:pPr>
              <a:spcAft>
                <a:spcPts val="800"/>
              </a:spcAft>
            </a:pPr>
            <a:r>
              <a:rPr sz="2000" b="0" i="0">
                <a:solidFill>
                  <a:srgbClr val="333333"/>
                </a:solidFill>
                <a:latin typeface="Calibri"/>
              </a:rPr>
              <a:t>–   Despues la arquitectura en treinta segundos (las clases Dueno, Mascota y Cita y como se relacionan), enseguida la demo en vivo que es el corazon, y al cerrar los aprendizajes y las limitaciones.</a:t>
            </a:r>
          </a:p>
          <a:p>
            <a:pPr>
              <a:spcAft>
                <a:spcPts val="800"/>
              </a:spcAft>
            </a:pPr>
            <a:r>
              <a:rPr sz="2000" b="0" i="0">
                <a:solidFill>
                  <a:srgbClr val="333333"/>
                </a:solidFill>
                <a:latin typeface="Calibri"/>
              </a:rPr>
              <a:t>–   Empezar por el diagrama de clases o por la lista de tecnologias es el error mas comun: nadie sabe todavia para que sirve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sustentacion es una coreografia y hay que repartirla como se reparte una obra de teatro, aunque suba una sola persona.</a:t>
            </a:r>
          </a:p>
          <a:p>
            <a:pPr>
              <a:spcAft>
                <a:spcPts val="800"/>
              </a:spcAft>
            </a:pPr>
            <a:r>
              <a:rPr sz="2000" b="0" i="0">
                <a:solidFill>
                  <a:srgbClr val="333333"/>
                </a:solidFill>
                <a:latin typeface="Calibri"/>
              </a:rPr>
              <a:t>–   La sustentacion es individual por defecto: el estudiante trocea su exposicion en bloques completos con inicio, final y evidencia en pantalla —no frases sueltas—</a:t>
            </a:r>
          </a:p>
          <a:p>
            <a:pPr>
              <a:spcAft>
                <a:spcPts val="800"/>
              </a:spcAft>
            </a:pPr>
            <a:r>
              <a:rPr sz="2000" b="0" i="0">
                <a:solidFill>
                  <a:srgbClr val="333333"/>
                </a:solidFill>
                <a:latin typeface="Calibri"/>
              </a:rPr>
              <a:t>–   Define en que momento suelta la diapositiva y toma el mouse, y deja listo un computador de respaldo con el proyecto ya abierto.</a:t>
            </a:r>
          </a:p>
          <a:p>
            <a:pPr>
              <a:spcAft>
                <a:spcPts val="800"/>
              </a:spcAft>
            </a:pPr>
            <a:r>
              <a:rPr sz="2000" b="0" i="0">
                <a:solidFill>
                  <a:srgbClr val="333333"/>
                </a:solidFill>
                <a:latin typeface="Calibri"/>
              </a:rPr>
              <a:t>–   Las transiciones entre bloques se dicen en voz alta, con una formula corta del tipo 'para mostrar como quedan guardados esos datos, abro de nuevo la aplicacion', porque los silencios incomodos al cambiar de tema son lo que mas se nota.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el docente autorizo equipo de 2 o 3, cada integrante toma bloques completos, ninguno se queda callado aunque otro domine mas el codigo</a:t>
            </a:r>
          </a:p>
          <a:p>
            <a:pPr>
              <a:spcAft>
                <a:spcPts val="800"/>
              </a:spcAft>
            </a:pPr>
            <a:r>
              <a:rPr sz="2000" b="0" i="0">
                <a:solidFill>
                  <a:srgbClr val="333333"/>
                </a:solidFill>
                <a:latin typeface="Calibri"/>
              </a:rPr>
              <a:t>–   Y las transiciones se nombran ('sigue Julian'), porque el jurado pregunta quien hizo que y tiene derecho a preguntarle a cualquiera sobre cualquier parte.</a:t>
            </a:r>
          </a:p>
          <a:p>
            <a:pPr>
              <a:spcAft>
                <a:spcPts val="800"/>
              </a:spcAft>
            </a:pPr>
            <a:r>
              <a:rPr sz="2000" b="0" i="0">
                <a:solidFill>
                  <a:srgbClr val="333333"/>
                </a:solidFill>
                <a:latin typeface="Calibri"/>
              </a:rPr>
              <a:t>–   Un guion escrito, con minutos y evidencia por bloque (y el nombre del responsable si hay equipo), convierte una exposicion nerviosa en algo que se puede ensayar y medir</a:t>
            </a:r>
          </a:p>
          <a:p>
            <a:pPr>
              <a:spcAft>
                <a:spcPts val="800"/>
              </a:spcAft>
            </a:pPr>
            <a:r>
              <a:rPr sz="2000" b="0" i="0">
                <a:solidFill>
                  <a:srgbClr val="333333"/>
                </a:solidFill>
                <a:latin typeface="Calibri"/>
              </a:rPr>
              <a:t>–   En VetCare ese guion tiene cinco bloques y suma siete minutos, con cuatro dedicados a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en vivo no falla por mala suerte, falla por falta de preparacion, y se blinda con un chequeo previo que llamaremos pre-vuelo.</a:t>
            </a:r>
          </a:p>
          <a:p>
            <a:pPr>
              <a:spcAft>
                <a:spcPts val="800"/>
              </a:spcAft>
            </a:pPr>
            <a:r>
              <a:rPr sz="2000" b="0" i="0">
                <a:solidFill>
                  <a:srgbClr val="333333"/>
                </a:solidFill>
                <a:latin typeface="Calibri"/>
              </a:rPr>
              <a:t>–   Lo primero es sembrar datos de demostracion: tres duenos, cuatro mascotas y tres citas ya cargadas en los CSV, porque una aplicacion con la lista vacia parece una aplicacion que no funciona</a:t>
            </a:r>
          </a:p>
          <a:p>
            <a:pPr>
              <a:spcAft>
                <a:spcPts val="800"/>
              </a:spcAft>
            </a:pPr>
            <a:r>
              <a:rPr sz="2000" b="0" i="0">
                <a:solidFill>
                  <a:srgbClr val="333333"/>
                </a:solidFill>
                <a:latin typeface="Calibri"/>
              </a:rPr>
              <a:t>–   Y ademas los datos deben ser creibles del dominio (Marta Lopez con Firulais, labrador de 4 anios) y nunca 'aaa' ni 'prueba1'.</a:t>
            </a:r>
          </a:p>
          <a:p>
            <a:pPr>
              <a:spcAft>
                <a:spcPts val="800"/>
              </a:spcAft>
            </a:pPr>
            <a:r>
              <a:rPr sz="2000" b="0" i="0">
                <a:solidFill>
                  <a:srgbClr val="333333"/>
                </a:solidFill>
                <a:latin typeface="Calibri"/>
              </a:rPr>
              <a:t>–   Lo segundo es tener ensayado el camino feliz exacto, es decir la secuencia de clics que se va a hacer, sin improvisar busquedas ni teclear rutas largas frente al publico.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tercero es la higiene de pantalla: aumentar el tamano de fuente del IDE, cerrar notificaciones y pestanas ajenas, dejar el proyecto ya compilado y, si es posible, ejecutar el.jar en lugar de compilar delante del jurado.</a:t>
            </a:r>
          </a:p>
          <a:p>
            <a:pPr>
              <a:spcAft>
                <a:spcPts val="800"/>
              </a:spcAft>
            </a:pPr>
            <a:r>
              <a:rPr sz="2000" b="0" i="0">
                <a:solidFill>
                  <a:srgbClr val="333333"/>
                </a:solidFill>
                <a:latin typeface="Calibri"/>
              </a:rPr>
              <a:t>–   Lo cuarto es el plan B: un video de dos o tres minutos de la ruta feliz y seis capturas de pantalla listas, para que si el computador falla la presentacion continue sin panico.</a:t>
            </a:r>
          </a:p>
          <a:p>
            <a:pPr>
              <a:spcAft>
                <a:spcPts val="800"/>
              </a:spcAft>
            </a:pPr>
            <a:r>
              <a:rPr sz="2000" b="0" i="0">
                <a:solidFill>
                  <a:srgbClr val="333333"/>
                </a:solidFill>
                <a:latin typeface="Calibri"/>
              </a:rPr>
              <a:t>–   Y hay un quinto detalle que suma puntos: provocar a proposito un error de edad para mostrar la validacion de la clase 13 como una fortaleza, no como un accidente.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casi siempre las mismas y se pueden...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del jurado son casi siempre las mismas y se pueden preparar una por una.</a:t>
            </a:r>
          </a:p>
          <a:p>
            <a:pPr>
              <a:spcAft>
                <a:spcPts val="800"/>
              </a:spcAft>
            </a:pPr>
            <a:r>
              <a:rPr sz="2000" b="0" i="0">
                <a:solidFill>
                  <a:srgbClr val="333333"/>
                </a:solidFill>
                <a:latin typeface="Calibri"/>
              </a:rPr>
              <a:t>–   Donde esta la herencia y por que la usaron; por que ArrayList y no un arreglo fijo; que pasa si borro el archivo mascotas.csv; como controlan que alguien escriba texto donde va la edad; quien programo cada parte; que harian distinto si empezaran de nuevo.</a:t>
            </a:r>
          </a:p>
          <a:p>
            <a:pPr>
              <a:spcAft>
                <a:spcPts val="800"/>
              </a:spcAft>
            </a:pPr>
            <a:r>
              <a:rPr sz="2000" b="0" i="0">
                <a:solidFill>
                  <a:srgbClr val="333333"/>
                </a:solidFill>
                <a:latin typeface="Calibri"/>
              </a:rPr>
              <a:t>–   La forma de responder tiene tres reglas: responda con la aplicacion o el codigo en pantalla</a:t>
            </a:r>
          </a:p>
          <a:p>
            <a:pPr>
              <a:spcAft>
                <a:spcPts val="800"/>
              </a:spcAft>
            </a:pPr>
            <a:r>
              <a:rPr sz="2000" b="0" i="0">
                <a:solidFill>
                  <a:srgbClr val="333333"/>
                </a:solidFill>
                <a:latin typeface="Calibri"/>
              </a:rPr>
              <a:t>–   Porque mostrar vale mas que explicar; no se demore mas de treinta o cuarenta segundos por respuesta; y si no sabe, digalo con dignidad y proponga como lo averiguaria, que eso el jurado lo respeta mucho mas que un invento.</a:t>
            </a:r>
          </a:p>
          <a:p>
            <a:pPr>
              <a:spcAft>
                <a:spcPts val="800"/>
              </a:spcAft>
            </a:pPr>
            <a:r>
              <a:rPr sz="2000" b="0" i="0">
                <a:solidFill>
                  <a:srgbClr val="333333"/>
                </a:solidFill>
                <a:latin typeface="Calibri"/>
              </a:rPr>
              <a:t>–   Tambien conviene tener a la mano el archivo de cada respuesta ya abierto en una pestana del IDE (Dueno.java para la herencia</a:t>
            </a:r>
          </a:p>
          <a:p>
            <a:pPr>
              <a:spcAft>
                <a:spcPts val="800"/>
              </a:spcAft>
            </a:pPr>
            <a:r>
              <a:rPr sz="2000" b="0" i="0">
                <a:solidFill>
                  <a:srgbClr val="333333"/>
                </a:solidFill>
                <a:latin typeface="Calibri"/>
              </a:rPr>
              <a:t>–   Mascota.java para las validaciones, la clase de persistencia para el CSV), de modo que la respuesta sea abrir una pestana y no buscar en vivo.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del tiempo y del nervio se entrena, no se improvisa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manejo del tiempo y del nervio se entrena, no se improvisa.</a:t>
            </a:r>
          </a:p>
          <a:p>
            <a:pPr>
              <a:spcAft>
                <a:spcPts val="800"/>
              </a:spcAft>
            </a:pPr>
            <a:r>
              <a:rPr sz="2000" b="0" i="0">
                <a:solidFill>
                  <a:srgbClr val="333333"/>
                </a:solidFill>
                <a:latin typeface="Calibri"/>
              </a:rPr>
              <a:t>–   Un ensayo cronometrado revela cosas que el papel no muestra: que la introduccion se come tres minutos, que la demo se atasca en un formulario, que el cierre queda cortado.</a:t>
            </a:r>
          </a:p>
          <a:p>
            <a:pPr>
              <a:spcAft>
                <a:spcPts val="800"/>
              </a:spcAft>
            </a:pPr>
            <a:r>
              <a:rPr sz="2000" b="0" i="0">
                <a:solidFill>
                  <a:srgbClr val="333333"/>
                </a:solidFill>
                <a:latin typeface="Calibri"/>
              </a:rPr>
              <a:t>–   Por eso hoy ensayamos con reloj y anotamos el tiempo real de cada bloque frente al planeado, y se repite hasta que el total caiga entre cinco y ocho minutos con margen.</a:t>
            </a:r>
          </a:p>
          <a:p>
            <a:pPr>
              <a:spcAft>
                <a:spcPts val="800"/>
              </a:spcAft>
            </a:pPr>
            <a:r>
              <a:rPr sz="2000" b="0" i="0">
                <a:solidFill>
                  <a:srgbClr val="333333"/>
                </a:solidFill>
                <a:latin typeface="Calibri"/>
              </a:rPr>
              <a:t>–   Hay cosas que restan puntos siempre: leer las diapositivas de espaldas al jurado, pedir disculpas por el proyecto antes de mostrarlo, culpar al computador, hablar de lo que 'iban a hacer' en vez de mostrar lo que hicieron</a:t>
            </a:r>
          </a:p>
          <a:p>
            <a:pPr>
              <a:spcAft>
                <a:spcPts val="800"/>
              </a:spcAft>
            </a:pPr>
            <a:r>
              <a:rPr sz="2000" b="0" i="0">
                <a:solidFill>
                  <a:srgbClr val="333333"/>
                </a:solidFill>
                <a:latin typeface="Calibri"/>
              </a:rPr>
              <a:t>–   Y pasarse del tiempo, porque eso obliga al jurado a cortar justo en la parte que mas les costo.</a:t>
            </a:r>
          </a:p>
          <a:p>
            <a:pPr>
              <a:spcAft>
                <a:spcPts val="800"/>
              </a:spcAft>
            </a:pPr>
            <a:r>
              <a:rPr sz="2000" b="0" i="0">
                <a:solidFill>
                  <a:srgbClr val="333333"/>
                </a:solidFill>
                <a:latin typeface="Calibri"/>
              </a:rPr>
              <a:t>–   Al reves, suman: hablar mirando al jurado, usar el vocabulario del dominio (dueno, mascota, cita, historia clinica) y reconocer con naturalidad las limitaciones conocidas.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la nota del Proyecto Integrador no se define solo por el codigo sino por lo que el jurado alcance a ver en 5 a 8 minutos, y una demo que falla borra tres meses de trabajo bien hecho.</a:t>
            </a:r>
          </a:p>
          <a:p>
            <a:pPr>
              <a:spcAft>
                <a:spcPts val="800"/>
              </a:spcAft>
            </a:pPr>
            <a:r>
              <a:rPr sz="2000" b="0" i="0">
                <a:solidFill>
                  <a:srgbClr val="333333"/>
                </a:solidFill>
                <a:latin typeface="Calibri"/>
              </a:rPr>
              <a:t>–   VetCare ya cumple los requisitos tecnicos (POO, colecciones, interfaz grafica, manejo de errores y persistencia); hoy lo que se construye es la evidencia de que todo eso funciona junto y en vivo.</a:t>
            </a:r>
          </a:p>
          <a:p>
            <a:pPr>
              <a:spcAft>
                <a:spcPts val="800"/>
              </a:spcAft>
            </a:pPr>
            <a:r>
              <a:rPr sz="2000" b="0" i="0">
                <a:solidFill>
                  <a:srgbClr val="333333"/>
                </a:solidFill>
                <a:latin typeface="Calibri"/>
              </a:rPr>
              <a:t>–   El guion, los datos sembrados y el video de respaldo son artefactos reales del oficio: en la industria a esto se le llama preparar el demo day, y se hace exactamente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estudiante llega con su VetCare compilando y corriendo, con las funciones de registrar dueno y mascota, agendar cita, buscar por ID y guardar en archivo ya terminadas.</a:t>
            </a:r>
          </a:p>
          <a:p>
            <a:pPr>
              <a:spcAft>
                <a:spcPts val="800"/>
              </a:spcAft>
            </a:pPr>
            <a:r>
              <a:rPr sz="2000" b="0" i="0">
                <a:solidFill>
                  <a:srgbClr val="333333"/>
                </a:solidFill>
                <a:latin typeface="Calibri"/>
              </a:rPr>
              <a:t>–   La carpeta datos del proyecto puede estar vacia o con basura de las pruebas de la clase pasada; el chequeo pre-vuelo debe detectarlo antes del primer ensayo.</a:t>
            </a:r>
          </a:p>
          <a:p>
            <a:pPr>
              <a:spcAft>
                <a:spcPts val="800"/>
              </a:spcAft>
            </a:pPr>
            <a:r>
              <a:rPr sz="2000" b="0" i="0">
                <a:solidFill>
                  <a:srgbClr val="333333"/>
                </a:solidFill>
                <a:latin typeface="Calibri"/>
              </a:rPr>
              <a:t>–   El salon tiene videobeam y un solo cable: cada proyecto dispone de 8 minutos de reloj y una unica oportunidad de conectar, igual que el dia de la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Paso 1. Escriban el guion de la sustentacion en una tabla de cinco bloques con tres columnas: bloque, minutos planeados y evidencia exacta que se muestra en pantalla (si el docente autorizo equipo, agreguen una cuarta columna con el responsable); el total debe sumar entre 5 y 7 minutos, dejando margen, y la demo en vivo debe ocupar por lo menos la mitad.</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Ejecuten el sembrador de datos de demostracion para dejar datos_demo con duenos.csv, mascotas.csv y citas.csv, y corran el chequeo pre-vuelo hasta que las tres lineas salgan en [OK] con filas mayores que cero.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Hagan el ensayo numero uno con el cronometro del programa: hablen cada bloque completo de pie y sin saltarse ninguno (si trabajan en equipo, cada integrante el suyo), y al final anoten tiempo real contra tiempo planeado de cada bloque en la planilla.</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Graben el plan B: un video de dos a tres minutos con la ruta feliz completa (registrar dueno, registrar mascota, agendar cita, buscar por ID, cerrar y volver a abrir mostrando que los datos siguen ahi) y exporten seis capturas de pantalla de esos mismos momentos.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Intercambien con otro compañero (o con otro equipo, si el docente lo autorizo) una ronda de cinco preguntas de jurado, ajusten el guion con lo que fallo, hagan el ensayo numero dos y suban a la plataforma del curso el guion, la planilla de tiempos de los dos ensayos y el video de respaldo.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computador no enciende cinco minutos antes de sustentar, ¿que muestra en su lugar y donde lo tiene a la mano?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¿Cual es la primera pantalla que ve el jurado y que informacion tiene: hay datos, o una tabla vacia que parece un programa que no sirve?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jurado pregunta 'donde esta la herencia en su proyecto', ¿en cuantos segundos puede tener ese archivo en pantalla?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escrito cubre los cinco bloques con minutos y evidencia, sin bloques huerfanos; si el docente autorizo equipo, todos los integrantes tienen bloque y ninguno queda sin intervencion.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chequeo pre-vuelo devuelve [OK] en los tres archivos de datos_demo y la aplicacion arranca mostrando informacion, nunca una lista vacia.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Los dos ensayos quedan cronometrados y el segundo cae entre 5 y 8 minutos, con la demo en vivo ocupando al menos la mitad del tiempo.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plan B verificado: video de la ruta feliz reproducible sin internet y seis capturas exportadas en la carpeta del proyecto.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queda con guion de sustentacion, juego de datos de demostracion sembrado y ensayo cronometrado dentro de la ventana de 5 a 8 minutos.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queda con guion de sustentacion, juego de datos de demostracion sembrado y ensayo cronometrado dentro de la ventana de 5 a 8 minutos.</a:t>
            </a:r>
          </a:p>
          <a:p>
            <a:pPr algn="ctr">
              <a:spcAft>
                <a:spcPts val="600"/>
              </a:spcAft>
            </a:pPr>
            <a:r>
              <a:rPr sz="1600" b="0" i="0">
                <a:solidFill>
                  <a:srgbClr val="333333"/>
                </a:solidFill>
                <a:latin typeface="Calibri"/>
              </a:rPr>
              <a:t>Entregable: Guion de sustentacion con bloques, minutos y evidencia que se muestra (mas el responsable nominal solo si el docente autorizo equipo), mas la planilla de tiempos de dos ensayos y el video de respaldo de la ruta feliz,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