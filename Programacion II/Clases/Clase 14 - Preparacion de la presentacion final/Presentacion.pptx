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Sustentar un proyecto de software no es exponer diapositivas: es demostrar, delante de un jurado que duda con razon, que un problema real quedo resuelto por un programa que corre. El jurado no compra promesas ni diagramas bonitos, compra evidencia; por eso la regla practica es que al menos la mitad del tiempo debe ser aplicacion corriendo en pantalla. El orden que funciona es siempre el mismo y va de lo humano a lo tecnico y de vuelta a lo humano: primero el problema de la clinica en una frase concreta (todo en papel, se pierden expedientes, no se sabe quien tiene cita manana), luego la solucion en una frase (una aplicacion de escritorio en Java que registra duenos y mascotas, agenda citas y conserva los datos), despues la arquitectura en treinta segundos (las clases Dueno, Mascota y Cita y como se relacionan), enseguida la demo en vivo que es el corazon, y al cerrar los aprendizajes y las limitaciones. Empezar por el diagrama de clases o por la lista de tecnologias es el error mas comun: nadie sabe todavia para que sirve eso.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sustentacion es una coreografia y hay que repartirla como se reparte una obra de teatro, aunque suba una sola persona. La sustentacion es individual por defecto: el estudiante parte su exposicion en bloques completos con inicio, final y evidencia en pantalla —no frases sueltas—, define en que momento suelta la diapositiva y toma el mouse, y deja listo un computador de respaldo con el proyecto ya abierto. Las transiciones entre bloques se dicen en voz alta, con una formula corta del tipo 'para mostrar como quedan guardados esos datos, abro de nuevo la aplicacion', porque los silencios incomodos al cambiar de tema son lo que mas se nota. Si el docente autorizo equipo de 2 o 3, cada integrante toma bloques completos, ninguno se queda callado aunque otro domine mas el codigo, y las transiciones se nombran ('sigue Julian'), porque el jurado pregunta quien hizo que y tiene derecho a preguntarle a cualquiera sobre cualquier parte. Un guion escrito, con minutos y evidencia por bloque (y el nombre del responsable si hay equipo), convierte una exposicion nerviosa en algo que se puede ensayar y medir; en el sistema de la clinica ese guion tiene cinco bloques y suma siete minutos, con cuatro dedicados a la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1 min | Problema de la clinica y solucion propuesta</a:t>
            </a:r>
          </a:p>
          <a:p/>
          <a:p>
            <a:r>
              <a:t>1 min | Arquitectura: clases, herencia y colecciones</a:t>
            </a:r>
          </a:p>
          <a:p/>
          <a:p>
            <a:r>
              <a:t>2 min | DEMO: registrar dueno y mascota (validacion de edad)</a:t>
            </a:r>
          </a:p>
          <a:p/>
          <a:p>
            <a:r>
              <a:t>2 min | DEMO: agendar cita, buscar por ID y guardar en CSV</a:t>
            </a:r>
          </a:p>
          <a:p/>
          <a:p>
            <a:r>
              <a:t>1 min | Limitaciones, aprendizajes y cierre</a:t>
            </a:r>
          </a:p>
          <a:p/>
          <a:p>
            <a:r>
              <a:t>Total planeado: 7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demo en vivo no falla por mala suerte, falla por falta de preparacion, y se blinda con un chequeo previo que llamaremos pre-vuelo. Lo primero es sembrar datos de demostracion: tres duenos, cuatro mascotas y tres citas ya cargadas en los CSV, porque una aplicacion con la lista vacia parece una aplicacion que no funciona, y ademas los datos deben ser creibles del dominio (Marta Lopez con Firulais, labrador de 4 anios) y nunca 'aaa' ni 'prueba1'. Lo segundo es tener ensayado el camino feliz exacto, es decir la secuencia de clics que se va a hacer, sin improvisar busquedas ni teclear rutas largas frente al publico. Lo tercero es la higiene de pantalla: aumentar el tamano de fuente del IDE, cerrar notificaciones y pestanas ajenas, dejar el proyecto ya compilado y, si es posible, ejecutar el .jar en lugar de compilar delante del jurado. Lo cuarto es el plan B: un video de dos o tres minutos de la ruta feliz y seis capturas de pantalla listas, para que si el computador falla la presentacion continue sin panico. Y hay un quinto detalle que juega a favor: provocar a proposito un error de edad para mostrar la validacion de la clase 13 como una fortaleza, no como un accidente.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[OK] datos_demo/mascotas.csv (4 registros)</a:t>
            </a:r>
          </a:p>
          <a:p/>
          <a:p>
            <a:r>
              <a:t>Datos de demostracion listos en la carpeta datos_demo</a:t>
            </a:r>
          </a:p>
          <a:p/>
          <a:p>
            <a:r>
              <a:t>Crea (o sobrescribe) la carpeta datos_demo con mascotas.csv donde se ejecuta.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 Chequeo pre-vuelo ---</a:t>
            </a:r>
          </a:p>
          <a:p/>
          <a:p>
            <a:r>
              <a:t>[OK]    datos_demo/duenos.csv -&gt; 1 filas</a:t>
            </a:r>
          </a:p>
          <a:p/>
          <a:p>
            <a:r>
              <a:t>[OK]    datos_demo/mascotas.csv -&gt; 1 filas</a:t>
            </a:r>
          </a:p>
          <a:p/>
          <a:p>
            <a:r>
              <a:t>[FALLA] datos_demo/citas.csv -&gt; 0 filas</a:t>
            </a:r>
          </a:p>
          <a:p/>
          <a:p>
            <a:r>
              <a:t>Siembre los datos primero.</a:t>
            </a:r>
          </a:p>
          <a:p/>
          <a:p>
            <a:r>
              <a:t>--- Chequeo pre-vuelo ---</a:t>
            </a:r>
          </a:p>
          <a:p/>
          <a:p>
            <a:r>
              <a:t>[OK]    datos_demo/duenos.csv -&gt; 1 filas</a:t>
            </a:r>
          </a:p>
          <a:p/>
          <a:p>
            <a:r>
              <a:t>[OK]    datos_demo/mascotas.csv -&gt; 1 filas</a:t>
            </a:r>
          </a:p>
          <a:p/>
          <a:p>
            <a:r>
              <a:t>[OK]    datos_demo/citas.csv -&gt; 1 filas</a:t>
            </a:r>
          </a:p>
          <a:p/>
          <a:p>
            <a:r>
              <a:t>Listos para la demo.</a:t>
            </a:r>
          </a:p>
          <a:p/>
          <a:p>
            <a:r>
              <a:t>Crea la carpeta datos_demo donde se ejecuta; borra citas.csv al empezar para mostrar primero la FALLA y luego el verde.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Las preguntas del jurado son casi siempre las mismas y se pueden preparar una por una. Donde esta la herencia y por que la usaron; por que ArrayList y no un arreglo fijo; que pasa si borro el archivo mascotas.csv; como controlan que alguien escriba texto donde va la edad; quien programo cada parte; que harian distinto si empezaran de nuevo. La forma de responder tiene tres reglas: responda con la aplicacion o el codigo en pantalla, porque mostrar vale mas que explicar; no se demore mas de treinta o cuarenta segundos por respuesta; y si no sabe, digalo con dignidad y proponga como lo averiguaria, que eso el jurado lo respeta mucho mas que un invento. Tambien conviene tener a la mano el archivo de cada respuesta ya abierto en una pestana del IDE (Dueno.java para la herencia, Mascota.java para las validaciones, la clase de persistencia para el CSV), de modo que la respuesta sea abrir una pestana y no buscar en vivo.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manejo del tiempo y del nervio se entrena, no se improvisa. Un ensayo cronometrado revela cosas que el papel no muestra: que la introduccion se come tres minutos, que la demo se atasca en un formulario, que el cierre queda cortado. Por eso hoy ensayamos con reloj y anotamos el tiempo real de cada bloque frente al planeado, y se repite hasta que el total caiga entre cinco y ocho minutos con margen. Hay cosas que juegan en contra siempre: leer las diapositivas de espaldas al jurado, pedir disculpas por el proyecto antes de mostrarlo, culpar al computador, hablar de lo que 'iban a hacer' en vez de mostrar lo que hicieron, y pasarse del tiempo, porque eso obliga al jurado a cortar justo en la parte que mas les costo. Al reves, suman: hablar mirando al jurado, usar el vocabulario del dominio (dueno, mascota, cita, historia clinica) y reconocer con naturalidad las limitaciones conocidas.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Mide tiempo real, asi que la salida cambia en cada corrida. En el ensayo de verdad cada bloque termina con Enter (Scanner); aqui una pausa de 0,2 s lo simula para que corra solo. El guion va abreviado para que quepa.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sustenta el sistema de la clinica en 6 minutos delante del grupo, provoca a proposito un error de edad para mostrar la validacion, y luego repite la misma demo con la lista vacia para que se vea el desastre de no sembrar datos.</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14</a:t>
            </a:r>
          </a:p>
        </p:txBody>
      </p:sp>
      <p:sp>
        <p:nvSpPr>
          <p:cNvPr id="8" name="TextBox 7"/>
          <p:cNvSpPr txBox="1"/>
          <p:nvPr/>
        </p:nvSpPr>
        <p:spPr>
          <a:xfrm>
            <a:off x="731520" y="2331720"/>
            <a:ext cx="10728655" cy="1828800"/>
          </a:xfrm>
          <a:prstGeom prst="rect">
            <a:avLst/>
          </a:prstGeom>
          <a:noFill/>
        </p:spPr>
        <p:txBody>
          <a:bodyPr wrap="square" anchor="ctr"/>
          <a:lstStyle/>
          <a:p>
            <a:pPr algn="ctr"/>
            <a:r>
              <a:rPr sz="2800" b="1" i="0">
                <a:solidFill>
                  <a:srgbClr val="FFFFFF"/>
                </a:solidFill>
                <a:latin typeface="Calibri"/>
              </a:rPr>
              <a:t>Preparacion de la presentacion final · Sustentacion del sistema de la clinica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Que mostrar, en que orden y como lograr que la demo no falle</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Preparacion de la presentacion final · Sustentacion del sistema de la clinica — Que mostrar, en que orden y como lograr que la demo no falle</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Sustentar es demostrar</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sustentar-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Ante un jurado que duda, se demuestra que un problema real quedó resuelto por un programa que corre.</a:t>
            </a:r>
          </a:p>
          <a:p>
            <a:pPr>
              <a:spcAft>
                <a:spcPts val="800"/>
              </a:spcAft>
            </a:pPr>
            <a:r>
              <a:rPr sz="2000" b="0" i="0">
                <a:solidFill>
                  <a:srgbClr val="333333"/>
                </a:solidFill>
                <a:latin typeface="Calibri"/>
              </a:rPr>
              <a:t>–   Al menos la mitad del tiempo, la aplicación corriendo en pantalla.</a:t>
            </a:r>
          </a:p>
          <a:p>
            <a:pPr>
              <a:spcAft>
                <a:spcPts val="800"/>
              </a:spcAft>
            </a:pPr>
            <a:r>
              <a:rPr sz="2000" b="0" i="0">
                <a:solidFill>
                  <a:srgbClr val="333333"/>
                </a:solidFill>
                <a:latin typeface="Calibri"/>
              </a:rPr>
              <a:t>–   Orden: problema, solución, arquitectura en 30 segundos, demo en vivo, aprendizajes.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sustentación es una coreografía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uion-bloqu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guion-bloqu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guion-bloque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exposición se parte en bloques completos, con evidencia en pantalla.</a:t>
            </a:r>
          </a:p>
          <a:p>
            <a:pPr>
              <a:spcAft>
                <a:spcPts val="800"/>
              </a:spcAft>
            </a:pPr>
            <a:r>
              <a:rPr sz="2000" b="0" i="0">
                <a:solidFill>
                  <a:srgbClr val="333333"/>
                </a:solidFill>
                <a:latin typeface="Calibri"/>
              </a:rPr>
              <a:t>–   Las transiciones se dicen: «para mostrar cómo quedan guardados, abro de nuevo la app».</a:t>
            </a:r>
          </a:p>
          <a:p>
            <a:pPr>
              <a:spcAft>
                <a:spcPts val="800"/>
              </a:spcAft>
            </a:pPr>
            <a:r>
              <a:rPr sz="2000" b="0" i="0">
                <a:solidFill>
                  <a:srgbClr val="333333"/>
                </a:solidFill>
                <a:latin typeface="Calibri"/>
              </a:rPr>
              <a:t>–   Un guion con minutos y evidencia por bloque: cinco bloques, siete minutos, cuatro de demo.</a:t>
            </a:r>
          </a:p>
          <a:p>
            <a:pPr>
              <a:spcAft>
                <a:spcPts val="800"/>
              </a:spcAft>
            </a:pPr>
            <a:r>
              <a:rPr sz="2000" b="0" i="0">
                <a:solidFill>
                  <a:srgbClr val="333333"/>
                </a:solidFill>
                <a:latin typeface="Calibri"/>
              </a:rPr>
              <a:t>–   En equipo, cada integrante toma bloques completos y nadie se queda callado.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guion de la sustentación en código</a:t>
            </a:r>
          </a:p>
        </p:txBody>
      </p:sp>
      <p:sp>
        <p:nvSpPr>
          <p:cNvPr id="5" name="Rounded Rectangle 4"/>
          <p:cNvSpPr/>
          <p:nvPr/>
        </p:nvSpPr>
        <p:spPr>
          <a:xfrm>
            <a:off x="457200" y="1261872"/>
            <a:ext cx="11277295" cy="5136713"/>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542353"/>
          </a:xfrm>
          <a:prstGeom prst="rect">
            <a:avLst/>
          </a:prstGeom>
          <a:noFill/>
        </p:spPr>
        <p:txBody>
          <a:bodyPr wrap="square">
            <a:spAutoFit/>
          </a:bodyPr>
          <a:lstStyle/>
          <a:p>
            <a:pPr algn="r">
              <a:spcAft>
                <a:spcPts val="85"/>
              </a:spcAft>
            </a:pPr>
            <a:r>
              <a:rPr sz="1200" i="0" b="0">
                <a:solidFill>
                  <a:srgbClr val="858585"/>
                </a:solidFill>
                <a:latin typeface="Consolas"/>
              </a:rPr>
              <a:t>1</a:t>
            </a:r>
          </a:p>
          <a:p>
            <a:pPr algn="r">
              <a:spcAft>
                <a:spcPts val="85"/>
              </a:spcAft>
            </a:pPr>
            <a:r>
              <a:rPr sz="1200" i="0" b="0">
                <a:solidFill>
                  <a:srgbClr val="858585"/>
                </a:solidFill>
                <a:latin typeface="Consolas"/>
              </a:rPr>
              <a:t>2</a:t>
            </a:r>
          </a:p>
          <a:p>
            <a:pPr algn="r">
              <a:spcAft>
                <a:spcPts val="85"/>
              </a:spcAft>
            </a:pPr>
            <a:r>
              <a:rPr sz="1200" i="0" b="0">
                <a:solidFill>
                  <a:srgbClr val="858585"/>
                </a:solidFill>
                <a:latin typeface="Consolas"/>
              </a:rPr>
              <a:t>3</a:t>
            </a:r>
          </a:p>
          <a:p>
            <a:pPr algn="r">
              <a:spcAft>
                <a:spcPts val="85"/>
              </a:spcAft>
            </a:pPr>
            <a:r>
              <a:rPr sz="1200" i="0" b="0">
                <a:solidFill>
                  <a:srgbClr val="858585"/>
                </a:solidFill>
                <a:latin typeface="Consolas"/>
              </a:rPr>
              <a:t>4</a:t>
            </a:r>
          </a:p>
          <a:p>
            <a:pPr algn="r">
              <a:spcAft>
                <a:spcPts val="85"/>
              </a:spcAft>
            </a:pPr>
            <a:r>
              <a:rPr sz="1200" i="0" b="0">
                <a:solidFill>
                  <a:srgbClr val="858585"/>
                </a:solidFill>
                <a:latin typeface="Consolas"/>
              </a:rPr>
              <a:t>5</a:t>
            </a:r>
          </a:p>
          <a:p>
            <a:pPr algn="r">
              <a:spcAft>
                <a:spcPts val="85"/>
              </a:spcAft>
            </a:pPr>
            <a:r>
              <a:rPr sz="1200" i="0" b="0">
                <a:solidFill>
                  <a:srgbClr val="858585"/>
                </a:solidFill>
                <a:latin typeface="Consolas"/>
              </a:rPr>
              <a:t>6</a:t>
            </a:r>
          </a:p>
          <a:p>
            <a:pPr algn="r">
              <a:spcAft>
                <a:spcPts val="85"/>
              </a:spcAft>
            </a:pPr>
            <a:r>
              <a:rPr sz="1200" i="0" b="0">
                <a:solidFill>
                  <a:srgbClr val="858585"/>
                </a:solidFill>
                <a:latin typeface="Consolas"/>
              </a:rPr>
              <a:t>7</a:t>
            </a:r>
          </a:p>
          <a:p>
            <a:pPr algn="r">
              <a:spcAft>
                <a:spcPts val="85"/>
              </a:spcAft>
            </a:pPr>
            <a:r>
              <a:rPr sz="1200" i="0" b="0">
                <a:solidFill>
                  <a:srgbClr val="858585"/>
                </a:solidFill>
                <a:latin typeface="Consolas"/>
              </a:rPr>
              <a:t>8</a:t>
            </a:r>
          </a:p>
          <a:p>
            <a:pPr algn="r">
              <a:spcAft>
                <a:spcPts val="85"/>
              </a:spcAft>
            </a:pPr>
            <a:r>
              <a:rPr sz="1200" i="0" b="0">
                <a:solidFill>
                  <a:srgbClr val="858585"/>
                </a:solidFill>
                <a:latin typeface="Consolas"/>
              </a:rPr>
              <a:t>9</a:t>
            </a:r>
          </a:p>
          <a:p>
            <a:pPr algn="r">
              <a:spcAft>
                <a:spcPts val="85"/>
              </a:spcAft>
            </a:pPr>
            <a:r>
              <a:rPr sz="1200" i="0" b="0">
                <a:solidFill>
                  <a:srgbClr val="858585"/>
                </a:solidFill>
                <a:latin typeface="Consolas"/>
              </a:rPr>
              <a:t>10</a:t>
            </a:r>
          </a:p>
          <a:p>
            <a:pPr algn="r">
              <a:spcAft>
                <a:spcPts val="85"/>
              </a:spcAft>
            </a:pPr>
            <a:r>
              <a:rPr sz="1200" i="0" b="0">
                <a:solidFill>
                  <a:srgbClr val="858585"/>
                </a:solidFill>
                <a:latin typeface="Consolas"/>
              </a:rPr>
              <a:t>11</a:t>
            </a:r>
          </a:p>
          <a:p>
            <a:pPr algn="r">
              <a:spcAft>
                <a:spcPts val="85"/>
              </a:spcAft>
            </a:pPr>
            <a:r>
              <a:rPr sz="1200" i="0" b="0">
                <a:solidFill>
                  <a:srgbClr val="858585"/>
                </a:solidFill>
                <a:latin typeface="Consolas"/>
              </a:rPr>
              <a:t>12</a:t>
            </a:r>
          </a:p>
          <a:p>
            <a:pPr algn="r">
              <a:spcAft>
                <a:spcPts val="85"/>
              </a:spcAft>
            </a:pPr>
            <a:r>
              <a:rPr sz="1200" i="0" b="0">
                <a:solidFill>
                  <a:srgbClr val="858585"/>
                </a:solidFill>
                <a:latin typeface="Consolas"/>
              </a:rPr>
              <a:t>13</a:t>
            </a:r>
          </a:p>
          <a:p>
            <a:pPr algn="r">
              <a:spcAft>
                <a:spcPts val="85"/>
              </a:spcAft>
            </a:pPr>
            <a:r>
              <a:rPr sz="1200" i="0" b="0">
                <a:solidFill>
                  <a:srgbClr val="858585"/>
                </a:solidFill>
                <a:latin typeface="Consolas"/>
              </a:rPr>
              <a:t>14</a:t>
            </a:r>
          </a:p>
          <a:p>
            <a:pPr algn="r">
              <a:spcAft>
                <a:spcPts val="85"/>
              </a:spcAft>
            </a:pPr>
            <a:r>
              <a:rPr sz="1200" i="0" b="0">
                <a:solidFill>
                  <a:srgbClr val="858585"/>
                </a:solidFill>
                <a:latin typeface="Consolas"/>
              </a:rPr>
              <a:t>15</a:t>
            </a:r>
          </a:p>
          <a:p>
            <a:pPr algn="r">
              <a:spcAft>
                <a:spcPts val="85"/>
              </a:spcAft>
            </a:pPr>
            <a:r>
              <a:rPr sz="1200" i="0" b="0">
                <a:solidFill>
                  <a:srgbClr val="858585"/>
                </a:solidFill>
                <a:latin typeface="Consolas"/>
              </a:rPr>
              <a:t>16</a:t>
            </a:r>
          </a:p>
          <a:p>
            <a:pPr algn="r">
              <a:spcAft>
                <a:spcPts val="85"/>
              </a:spcAft>
            </a:pPr>
            <a:r>
              <a:rPr sz="1200" i="0" b="0">
                <a:solidFill>
                  <a:srgbClr val="858585"/>
                </a:solidFill>
                <a:latin typeface="Consolas"/>
              </a:rPr>
              <a:t>17</a:t>
            </a:r>
          </a:p>
          <a:p>
            <a:pPr algn="r">
              <a:spcAft>
                <a:spcPts val="85"/>
              </a:spcAft>
            </a:pPr>
            <a:r>
              <a:rPr sz="1200" i="0" b="0">
                <a:solidFill>
                  <a:srgbClr val="858585"/>
                </a:solidFill>
                <a:latin typeface="Consolas"/>
              </a:rPr>
              <a:t>18</a:t>
            </a:r>
          </a:p>
          <a:p>
            <a:pPr algn="r">
              <a:spcAft>
                <a:spcPts val="85"/>
              </a:spcAft>
            </a:pPr>
            <a:r>
              <a:rPr sz="1200" i="0" b="0">
                <a:solidFill>
                  <a:srgbClr val="858585"/>
                </a:solidFill>
                <a:latin typeface="Consolas"/>
              </a:rPr>
              <a:t>19</a:t>
            </a:r>
          </a:p>
          <a:p>
            <a:pPr algn="r">
              <a:spcAft>
                <a:spcPts val="85"/>
              </a:spcAft>
            </a:pPr>
            <a:r>
              <a:rPr sz="1200" i="0" b="0">
                <a:solidFill>
                  <a:srgbClr val="858585"/>
                </a:solidFill>
                <a:latin typeface="Consolas"/>
              </a:rPr>
              <a:t>20</a:t>
            </a:r>
          </a:p>
          <a:p>
            <a:pPr algn="r">
              <a:spcAft>
                <a:spcPts val="85"/>
              </a:spcAft>
            </a:pPr>
            <a:r>
              <a:rPr sz="1200" i="0" b="0">
                <a:solidFill>
                  <a:srgbClr val="858585"/>
                </a:solidFill>
                <a:latin typeface="Consolas"/>
              </a:rPr>
              <a:t>21</a:t>
            </a:r>
          </a:p>
          <a:p>
            <a:pPr algn="r">
              <a:spcAft>
                <a:spcPts val="85"/>
              </a:spcAft>
            </a:pPr>
            <a:r>
              <a:rPr sz="1200" i="0" b="0">
                <a:solidFill>
                  <a:srgbClr val="858585"/>
                </a:solidFill>
                <a:latin typeface="Consolas"/>
              </a:rPr>
              <a:t>22</a:t>
            </a:r>
          </a:p>
        </p:txBody>
      </p:sp>
      <p:sp>
        <p:nvSpPr>
          <p:cNvPr id="12" name="TextBox 11"/>
          <p:cNvSpPr txBox="1"/>
          <p:nvPr/>
        </p:nvSpPr>
        <p:spPr>
          <a:xfrm>
            <a:off x="1188720" y="1719072"/>
            <a:ext cx="10271455" cy="4542353"/>
          </a:xfrm>
          <a:prstGeom prst="rect">
            <a:avLst/>
          </a:prstGeom>
          <a:noFill/>
        </p:spPr>
        <p:txBody>
          <a:bodyPr wrap="square">
            <a:spAutoFit/>
          </a:bodyPr>
          <a:lstStyle/>
          <a:p>
            <a:pPr>
              <a:spcAft>
                <a:spcPts val="85"/>
              </a:spcAft>
            </a:pPr>
            <a:r>
              <a:rPr sz="1200" i="0" b="0">
                <a:solidFill>
                  <a:srgbClr val="569CD6"/>
                </a:solidFill>
                <a:latin typeface="Consolas"/>
              </a:rPr>
              <a:t>class</a:t>
            </a:r>
            <a:r>
              <a:rPr sz="1200" i="0" b="0">
                <a:solidFill>
                  <a:srgbClr val="D4D4D4"/>
                </a:solidFill>
                <a:latin typeface="Consolas"/>
              </a:rPr>
              <a:t> </a:t>
            </a:r>
            <a:r>
              <a:rPr sz="1200" i="0" b="0">
                <a:solidFill>
                  <a:srgbClr val="4EC9B0"/>
                </a:solidFill>
                <a:latin typeface="Consolas"/>
              </a:rPr>
              <a:t>Main</a:t>
            </a:r>
            <a:r>
              <a:rPr sz="1200" i="0" b="0">
                <a:solidFill>
                  <a:srgbClr val="D4D4D4"/>
                </a:solidFill>
                <a:latin typeface="Consolas"/>
              </a:rPr>
              <a:t> {</a:t>
            </a:r>
          </a:p>
          <a:p>
            <a:pPr>
              <a:spcAft>
                <a:spcPts val="85"/>
              </a:spcAft>
            </a:pPr>
            <a:r>
              <a:rPr sz="1200" i="0" b="0">
                <a:solidFill>
                  <a:srgbClr val="D4D4D4"/>
                </a:solidFill>
                <a:latin typeface="Consolas"/>
              </a:rPr>
              <a:t>    </a:t>
            </a:r>
            <a:r>
              <a:rPr sz="1200" i="0" b="0">
                <a:solidFill>
                  <a:srgbClr val="569CD6"/>
                </a:solidFill>
                <a:latin typeface="Consolas"/>
              </a:rPr>
              <a:t>public</a:t>
            </a:r>
            <a:r>
              <a:rPr sz="1200" i="0" b="0">
                <a:solidFill>
                  <a:srgbClr val="D4D4D4"/>
                </a:solidFill>
                <a:latin typeface="Consolas"/>
              </a:rPr>
              <a:t> </a:t>
            </a:r>
            <a:r>
              <a:rPr sz="1200" i="0" b="0">
                <a:solidFill>
                  <a:srgbClr val="569CD6"/>
                </a:solidFill>
                <a:latin typeface="Consolas"/>
              </a:rPr>
              <a:t>static</a:t>
            </a:r>
            <a:r>
              <a:rPr sz="1200" i="0" b="0">
                <a:solidFill>
                  <a:srgbClr val="D4D4D4"/>
                </a:solidFill>
                <a:latin typeface="Consolas"/>
              </a:rPr>
              <a:t> </a:t>
            </a:r>
            <a:r>
              <a:rPr sz="1200" i="0" b="0">
                <a:solidFill>
                  <a:srgbClr val="569CD6"/>
                </a:solidFill>
                <a:latin typeface="Consolas"/>
              </a:rPr>
              <a:t>void</a:t>
            </a:r>
            <a:r>
              <a:rPr sz="1200" i="0" b="0">
                <a:solidFill>
                  <a:srgbClr val="D4D4D4"/>
                </a:solidFill>
                <a:latin typeface="Consolas"/>
              </a:rPr>
              <a:t> </a:t>
            </a:r>
            <a:r>
              <a:rPr sz="1200" i="0" b="0">
                <a:solidFill>
                  <a:srgbClr val="DCDCAA"/>
                </a:solidFill>
                <a:latin typeface="Consolas"/>
              </a:rPr>
              <a:t>main</a:t>
            </a:r>
            <a:r>
              <a:rPr sz="1200" i="0" b="0">
                <a:solidFill>
                  <a:srgbClr val="D4D4D4"/>
                </a:solidFill>
                <a:latin typeface="Consolas"/>
              </a:rPr>
              <a:t>(</a:t>
            </a:r>
            <a:r>
              <a:rPr sz="1200" i="0" b="0">
                <a:solidFill>
                  <a:srgbClr val="4EC9B0"/>
                </a:solidFill>
                <a:latin typeface="Consolas"/>
              </a:rPr>
              <a:t>String</a:t>
            </a:r>
            <a:r>
              <a:rPr sz="1200" i="0" b="0">
                <a:solidFill>
                  <a:srgbClr val="D4D4D4"/>
                </a:solidFill>
                <a:latin typeface="Consolas"/>
              </a:rPr>
              <a:t>[] </a:t>
            </a:r>
            <a:r>
              <a:rPr sz="1200" i="0" b="0">
                <a:solidFill>
                  <a:srgbClr val="D4D4D4"/>
                </a:solidFill>
                <a:latin typeface="Consolas"/>
              </a:rPr>
              <a:t>args</a:t>
            </a:r>
            <a:r>
              <a:rPr sz="1200" i="0" b="0">
                <a:solidFill>
                  <a:srgbClr val="D4D4D4"/>
                </a:solidFill>
                <a:latin typeface="Consolas"/>
              </a:rPr>
              <a:t>) {</a:t>
            </a:r>
          </a:p>
          <a:p>
            <a:pPr>
              <a:spcAft>
                <a:spcPts val="85"/>
              </a:spcAft>
            </a:pP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 </a:t>
            </a:r>
            <a:r>
              <a:rPr sz="1200" i="0" b="0">
                <a:solidFill>
                  <a:srgbClr val="D4D4D4"/>
                </a:solidFill>
                <a:latin typeface="Consolas"/>
              </a:rPr>
              <a:t>total</a:t>
            </a:r>
            <a:r>
              <a:rPr sz="1200" i="0" b="0">
                <a:solidFill>
                  <a:srgbClr val="D4D4D4"/>
                </a:solidFill>
                <a:latin typeface="Consolas"/>
              </a:rPr>
              <a:t> = </a:t>
            </a:r>
            <a:r>
              <a:rPr sz="1200" i="0" b="0">
                <a:solidFill>
                  <a:srgbClr val="B5CEA8"/>
                </a:solidFill>
                <a:latin typeface="Consolas"/>
              </a:rPr>
              <a:t>0</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569CD6"/>
                </a:solidFill>
                <a:latin typeface="Consolas"/>
              </a:rPr>
              <a:t>for</a:t>
            </a:r>
            <a:r>
              <a:rPr sz="1200" i="0" b="0">
                <a:solidFill>
                  <a:srgbClr val="D4D4D4"/>
                </a:solidFill>
                <a:latin typeface="Consolas"/>
              </a:rPr>
              <a:t> (</a:t>
            </a:r>
            <a:r>
              <a:rPr sz="1200" i="0" b="0">
                <a:solidFill>
                  <a:srgbClr val="4EC9B0"/>
                </a:solidFill>
                <a:latin typeface="Consolas"/>
              </a:rPr>
              <a:t>String</a:t>
            </a:r>
            <a:r>
              <a:rPr sz="1200" i="0" b="0">
                <a:solidFill>
                  <a:srgbClr val="D4D4D4"/>
                </a:solidFill>
                <a:latin typeface="Consolas"/>
              </a:rPr>
              <a:t>[] </a:t>
            </a:r>
            <a:r>
              <a:rPr sz="1200" i="0" b="0">
                <a:solidFill>
                  <a:srgbClr val="D4D4D4"/>
                </a:solidFill>
                <a:latin typeface="Consolas"/>
              </a:rPr>
              <a:t>bloque</a:t>
            </a:r>
            <a:r>
              <a:rPr sz="1200" i="0" b="0">
                <a:solidFill>
                  <a:srgbClr val="D4D4D4"/>
                </a:solidFill>
                <a:latin typeface="Consolas"/>
              </a:rPr>
              <a:t> : </a:t>
            </a:r>
            <a:r>
              <a:rPr sz="1200" i="0" b="0">
                <a:solidFill>
                  <a:srgbClr val="D4D4D4"/>
                </a:solidFill>
                <a:latin typeface="Consolas"/>
              </a:rPr>
              <a:t>EnsayoSustentacionClinica</a:t>
            </a:r>
            <a:r>
              <a:rPr sz="1200" i="0" b="0">
                <a:solidFill>
                  <a:srgbClr val="D4D4D4"/>
                </a:solidFill>
                <a:latin typeface="Consolas"/>
              </a:rPr>
              <a:t>.</a:t>
            </a:r>
            <a:r>
              <a:rPr sz="1200" i="0" b="0">
                <a:solidFill>
                  <a:srgbClr val="D4D4D4"/>
                </a:solidFill>
                <a:latin typeface="Consolas"/>
              </a:rPr>
              <a:t>GUION</a:t>
            </a:r>
            <a:r>
              <a:rPr sz="1200" i="0" b="0">
                <a:solidFill>
                  <a:srgbClr val="D4D4D4"/>
                </a:solidFill>
                <a:latin typeface="Consolas"/>
              </a:rPr>
              <a:t>) {</a:t>
            </a:r>
          </a:p>
          <a:p>
            <a:pPr>
              <a:spcAft>
                <a:spcPts val="85"/>
              </a:spcAft>
            </a:pPr>
            <a:r>
              <a:rPr sz="1200" i="0" b="0">
                <a:solidFill>
                  <a:srgbClr val="D4D4D4"/>
                </a:solidFill>
                <a:latin typeface="Consolas"/>
              </a:rPr>
              <a:t>            </a:t>
            </a:r>
            <a:r>
              <a:rPr sz="1200" i="0" b="0">
                <a:solidFill>
                  <a:srgbClr val="DCDCAA"/>
                </a:solidFill>
                <a:latin typeface="Consolas"/>
              </a:rPr>
              <a:t>System.out.println</a:t>
            </a:r>
            <a:r>
              <a:rPr sz="1200" i="0" b="0">
                <a:solidFill>
                  <a:srgbClr val="D4D4D4"/>
                </a:solidFill>
                <a:latin typeface="Consolas"/>
              </a:rPr>
              <a:t>(</a:t>
            </a:r>
            <a:r>
              <a:rPr sz="1200" i="0" b="0">
                <a:solidFill>
                  <a:srgbClr val="D4D4D4"/>
                </a:solidFill>
                <a:latin typeface="Consolas"/>
              </a:rPr>
              <a:t>bloque</a:t>
            </a:r>
            <a:r>
              <a:rPr sz="1200" i="0" b="0">
                <a:solidFill>
                  <a:srgbClr val="D4D4D4"/>
                </a:solidFill>
                <a:latin typeface="Consolas"/>
              </a:rPr>
              <a:t>[</a:t>
            </a:r>
            <a:r>
              <a:rPr sz="1200" i="0" b="0">
                <a:solidFill>
                  <a:srgbClr val="B5CEA8"/>
                </a:solidFill>
                <a:latin typeface="Consolas"/>
              </a:rPr>
              <a:t>2</a:t>
            </a:r>
            <a:r>
              <a:rPr sz="1200" i="0" b="0">
                <a:solidFill>
                  <a:srgbClr val="D4D4D4"/>
                </a:solidFill>
                <a:latin typeface="Consolas"/>
              </a:rPr>
              <a:t>] + </a:t>
            </a:r>
            <a:r>
              <a:rPr sz="1200" i="0" b="0">
                <a:solidFill>
                  <a:srgbClr val="CE9178"/>
                </a:solidFill>
                <a:latin typeface="Consolas"/>
              </a:rPr>
              <a:t>" min | "</a:t>
            </a:r>
            <a:r>
              <a:rPr sz="1200" i="0" b="0">
                <a:solidFill>
                  <a:srgbClr val="D4D4D4"/>
                </a:solidFill>
                <a:latin typeface="Consolas"/>
              </a:rPr>
              <a:t> + </a:t>
            </a:r>
            <a:r>
              <a:rPr sz="1200" i="0" b="0">
                <a:solidFill>
                  <a:srgbClr val="D4D4D4"/>
                </a:solidFill>
                <a:latin typeface="Consolas"/>
              </a:rPr>
              <a:t>bloque</a:t>
            </a:r>
            <a:r>
              <a:rPr sz="1200" i="0" b="0">
                <a:solidFill>
                  <a:srgbClr val="D4D4D4"/>
                </a:solidFill>
                <a:latin typeface="Consolas"/>
              </a:rPr>
              <a:t>[</a:t>
            </a:r>
            <a:r>
              <a:rPr sz="1200" i="0" b="0">
                <a:solidFill>
                  <a:srgbClr val="B5CEA8"/>
                </a:solidFill>
                <a:latin typeface="Consolas"/>
              </a:rPr>
              <a:t>0</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D4D4D4"/>
                </a:solidFill>
                <a:latin typeface="Consolas"/>
              </a:rPr>
              <a:t>total</a:t>
            </a:r>
            <a:r>
              <a:rPr sz="1200" i="0" b="0">
                <a:solidFill>
                  <a:srgbClr val="D4D4D4"/>
                </a:solidFill>
                <a:latin typeface="Consolas"/>
              </a:rPr>
              <a:t> += </a:t>
            </a:r>
            <a:r>
              <a:rPr sz="1200" i="0" b="0">
                <a:solidFill>
                  <a:srgbClr val="DCDCAA"/>
                </a:solidFill>
                <a:latin typeface="Consolas"/>
              </a:rPr>
              <a:t>Integer.parseInt</a:t>
            </a:r>
            <a:r>
              <a:rPr sz="1200" i="0" b="0">
                <a:solidFill>
                  <a:srgbClr val="D4D4D4"/>
                </a:solidFill>
                <a:latin typeface="Consolas"/>
              </a:rPr>
              <a:t>(</a:t>
            </a:r>
            <a:r>
              <a:rPr sz="1200" i="0" b="0">
                <a:solidFill>
                  <a:srgbClr val="D4D4D4"/>
                </a:solidFill>
                <a:latin typeface="Consolas"/>
              </a:rPr>
              <a:t>bloque</a:t>
            </a:r>
            <a:r>
              <a:rPr sz="1200" i="0" b="0">
                <a:solidFill>
                  <a:srgbClr val="D4D4D4"/>
                </a:solidFill>
                <a:latin typeface="Consolas"/>
              </a:rPr>
              <a:t>[</a:t>
            </a:r>
            <a:r>
              <a:rPr sz="1200" i="0" b="0">
                <a:solidFill>
                  <a:srgbClr val="B5CEA8"/>
                </a:solidFill>
                <a:latin typeface="Consolas"/>
              </a:rPr>
              <a:t>2</a:t>
            </a:r>
            <a:r>
              <a:rPr sz="1200" i="0" b="0">
                <a:solidFill>
                  <a:srgbClr val="D4D4D4"/>
                </a:solidFill>
                <a:latin typeface="Consolas"/>
              </a:rPr>
              <a:t>]);</a:t>
            </a:r>
          </a:p>
          <a:p>
            <a:pPr>
              <a:spcAft>
                <a:spcPts val="85"/>
              </a:spcAft>
            </a:pPr>
            <a:r>
              <a:rPr sz="1200" i="0" b="0">
                <a:solidFill>
                  <a:srgbClr val="D4D4D4"/>
                </a:solidFill>
                <a:latin typeface="Consolas"/>
              </a:rPr>
              <a:t>        }</a:t>
            </a:r>
          </a:p>
          <a:p>
            <a:pPr>
              <a:spcAft>
                <a:spcPts val="85"/>
              </a:spcAft>
            </a:pPr>
            <a:r>
              <a:rPr sz="1200" i="0" b="0">
                <a:solidFill>
                  <a:srgbClr val="D4D4D4"/>
                </a:solidFill>
                <a:latin typeface="Consolas"/>
              </a:rPr>
              <a:t>        </a:t>
            </a:r>
            <a:r>
              <a:rPr sz="1200" i="0" b="0">
                <a:solidFill>
                  <a:srgbClr val="DCDCAA"/>
                </a:solidFill>
                <a:latin typeface="Consolas"/>
              </a:rPr>
              <a:t>System.out.println</a:t>
            </a:r>
            <a:r>
              <a:rPr sz="1200" i="0" b="0">
                <a:solidFill>
                  <a:srgbClr val="D4D4D4"/>
                </a:solidFill>
                <a:latin typeface="Consolas"/>
              </a:rPr>
              <a:t>(</a:t>
            </a:r>
            <a:r>
              <a:rPr sz="1200" i="0" b="0">
                <a:solidFill>
                  <a:srgbClr val="CE9178"/>
                </a:solidFill>
                <a:latin typeface="Consolas"/>
              </a:rPr>
              <a:t>"Total planeado: "</a:t>
            </a:r>
            <a:r>
              <a:rPr sz="1200" i="0" b="0">
                <a:solidFill>
                  <a:srgbClr val="D4D4D4"/>
                </a:solidFill>
                <a:latin typeface="Consolas"/>
              </a:rPr>
              <a:t> + </a:t>
            </a:r>
            <a:r>
              <a:rPr sz="1200" i="0" b="0">
                <a:solidFill>
                  <a:srgbClr val="D4D4D4"/>
                </a:solidFill>
                <a:latin typeface="Consolas"/>
              </a:rPr>
              <a:t>total</a:t>
            </a:r>
            <a:r>
              <a:rPr sz="1200" i="0" b="0">
                <a:solidFill>
                  <a:srgbClr val="D4D4D4"/>
                </a:solidFill>
                <a:latin typeface="Consolas"/>
              </a:rPr>
              <a:t> + </a:t>
            </a:r>
            <a:r>
              <a:rPr sz="1200" i="0" b="0">
                <a:solidFill>
                  <a:srgbClr val="CE9178"/>
                </a:solidFill>
                <a:latin typeface="Consolas"/>
              </a:rPr>
              <a:t>" min"</a:t>
            </a:r>
            <a:r>
              <a:rPr sz="1200" i="0" b="0">
                <a:solidFill>
                  <a:srgbClr val="D4D4D4"/>
                </a:solidFill>
                <a:latin typeface="Consolas"/>
              </a:rPr>
              <a:t>);</a:t>
            </a:r>
          </a:p>
          <a:p>
            <a:pPr>
              <a:spcAft>
                <a:spcPts val="85"/>
              </a:spcAft>
            </a:pPr>
            <a:r>
              <a:rPr sz="1200" i="0" b="0">
                <a:solidFill>
                  <a:srgbClr val="D4D4D4"/>
                </a:solidFill>
                <a:latin typeface="Consolas"/>
              </a:rPr>
              <a:t>    }</a:t>
            </a:r>
          </a:p>
          <a:p>
            <a:pPr>
              <a:spcAft>
                <a:spcPts val="85"/>
              </a:spcAft>
            </a:pPr>
            <a:r>
              <a:rPr sz="1200" i="0" b="0">
                <a:solidFill>
                  <a:srgbClr val="D4D4D4"/>
                </a:solidFill>
                <a:latin typeface="Consolas"/>
              </a:rPr>
              <a:t>}</a:t>
            </a:r>
          </a:p>
          <a:p>
            <a:pPr>
              <a:spcAft>
                <a:spcPts val="85"/>
              </a:spcAft>
            </a:pPr>
            <a:r>
              <a:rPr sz="1200" i="0" b="0">
                <a:solidFill>
                  <a:srgbClr val="D4D4D4"/>
                </a:solidFill>
                <a:latin typeface="Consolas"/>
              </a:rPr>
              <a:t/>
            </a:r>
          </a:p>
          <a:p>
            <a:pPr>
              <a:spcAft>
                <a:spcPts val="85"/>
              </a:spcAft>
            </a:pPr>
            <a:r>
              <a:rPr sz="1200" i="0" b="0">
                <a:solidFill>
                  <a:srgbClr val="569CD6"/>
                </a:solidFill>
                <a:latin typeface="Consolas"/>
              </a:rPr>
              <a:t>class</a:t>
            </a:r>
            <a:r>
              <a:rPr sz="1200" i="0" b="0">
                <a:solidFill>
                  <a:srgbClr val="D4D4D4"/>
                </a:solidFill>
                <a:latin typeface="Consolas"/>
              </a:rPr>
              <a:t> </a:t>
            </a:r>
            <a:r>
              <a:rPr sz="1200" i="0" b="0">
                <a:solidFill>
                  <a:srgbClr val="4EC9B0"/>
                </a:solidFill>
                <a:latin typeface="Consolas"/>
              </a:rPr>
              <a:t>EnsayoSustentacionClinica</a:t>
            </a:r>
            <a:r>
              <a:rPr sz="1200" i="0" b="0">
                <a:solidFill>
                  <a:srgbClr val="D4D4D4"/>
                </a:solidFill>
                <a:latin typeface="Consolas"/>
              </a:rPr>
              <a:t> {</a:t>
            </a:r>
          </a:p>
          <a:p>
            <a:pPr>
              <a:spcAft>
                <a:spcPts val="85"/>
              </a:spcAft>
            </a:pPr>
            <a:r>
              <a:rPr sz="1200" i="0" b="0">
                <a:solidFill>
                  <a:srgbClr val="D4D4D4"/>
                </a:solidFill>
                <a:latin typeface="Consolas"/>
              </a:rPr>
              <a:t>    </a:t>
            </a:r>
            <a:r>
              <a:rPr sz="1200" i="1" b="0">
                <a:solidFill>
                  <a:srgbClr val="6A9955"/>
                </a:solidFill>
                <a:latin typeface="Consolas"/>
              </a:rPr>
              <a:t>// Guion: bloque, evidencia que se muestra en pantalla y minutos planeados.</a:t>
            </a:r>
          </a:p>
          <a:p>
            <a:pPr>
              <a:spcAft>
                <a:spcPts val="85"/>
              </a:spcAft>
            </a:pPr>
            <a:r>
              <a:rPr sz="1200" i="0" b="0">
                <a:solidFill>
                  <a:srgbClr val="D4D4D4"/>
                </a:solidFill>
                <a:latin typeface="Consolas"/>
              </a:rPr>
              <a:t>    </a:t>
            </a:r>
            <a:r>
              <a:rPr sz="1200" i="1" b="0">
                <a:solidFill>
                  <a:srgbClr val="6A9955"/>
                </a:solidFill>
                <a:latin typeface="Consolas"/>
              </a:rPr>
              <a:t>// Total 7 minutos, con la demo ocupando 4. No cambia por el numero de expositores.</a:t>
            </a:r>
          </a:p>
          <a:p>
            <a:pPr>
              <a:spcAft>
                <a:spcPts val="85"/>
              </a:spcAft>
            </a:pPr>
            <a:r>
              <a:rPr sz="1200" i="0" b="0">
                <a:solidFill>
                  <a:srgbClr val="D4D4D4"/>
                </a:solidFill>
                <a:latin typeface="Consolas"/>
              </a:rPr>
              <a:t>    </a:t>
            </a:r>
            <a:r>
              <a:rPr sz="1200" i="0" b="0">
                <a:solidFill>
                  <a:srgbClr val="569CD6"/>
                </a:solidFill>
                <a:latin typeface="Consolas"/>
              </a:rPr>
              <a:t>static</a:t>
            </a:r>
            <a:r>
              <a:rPr sz="1200" i="0" b="0">
                <a:solidFill>
                  <a:srgbClr val="D4D4D4"/>
                </a:solidFill>
                <a:latin typeface="Consolas"/>
              </a:rPr>
              <a:t> </a:t>
            </a:r>
            <a:r>
              <a:rPr sz="1200" i="0" b="0">
                <a:solidFill>
                  <a:srgbClr val="569CD6"/>
                </a:solidFill>
                <a:latin typeface="Consolas"/>
              </a:rPr>
              <a:t>final</a:t>
            </a:r>
            <a:r>
              <a:rPr sz="1200" i="0" b="0">
                <a:solidFill>
                  <a:srgbClr val="D4D4D4"/>
                </a:solidFill>
                <a:latin typeface="Consolas"/>
              </a:rPr>
              <a:t> </a:t>
            </a:r>
            <a:r>
              <a:rPr sz="1200" i="0" b="0">
                <a:solidFill>
                  <a:srgbClr val="4EC9B0"/>
                </a:solidFill>
                <a:latin typeface="Consolas"/>
              </a:rPr>
              <a:t>String</a:t>
            </a:r>
            <a:r>
              <a:rPr sz="1200" i="0" b="0">
                <a:solidFill>
                  <a:srgbClr val="D4D4D4"/>
                </a:solidFill>
                <a:latin typeface="Consolas"/>
              </a:rPr>
              <a:t>[][] </a:t>
            </a:r>
            <a:r>
              <a:rPr sz="1200" i="0" b="0">
                <a:solidFill>
                  <a:srgbClr val="D4D4D4"/>
                </a:solidFill>
                <a:latin typeface="Consolas"/>
              </a:rPr>
              <a:t>GUION</a:t>
            </a:r>
            <a:r>
              <a:rPr sz="1200" i="0" b="0">
                <a:solidFill>
                  <a:srgbClr val="D4D4D4"/>
                </a:solidFill>
                <a:latin typeface="Consolas"/>
              </a:rPr>
              <a:t> = {</a:t>
            </a:r>
          </a:p>
          <a:p>
            <a:pPr>
              <a:spcAft>
                <a:spcPts val="85"/>
              </a:spcAft>
            </a:pPr>
            <a:r>
              <a:rPr sz="1200" i="0" b="0">
                <a:solidFill>
                  <a:srgbClr val="D4D4D4"/>
                </a:solidFill>
                <a:latin typeface="Consolas"/>
              </a:rPr>
              <a:t>        {</a:t>
            </a:r>
            <a:r>
              <a:rPr sz="1200" i="0" b="0">
                <a:solidFill>
                  <a:srgbClr val="CE9178"/>
                </a:solidFill>
                <a:latin typeface="Consolas"/>
              </a:rPr>
              <a:t>"Problema de la clinica y solucion propuesta"</a:t>
            </a:r>
            <a:r>
              <a:rPr sz="1200" i="0" b="0">
                <a:solidFill>
                  <a:srgbClr val="D4D4D4"/>
                </a:solidFill>
                <a:latin typeface="Consolas"/>
              </a:rPr>
              <a:t>, </a:t>
            </a:r>
            <a:r>
              <a:rPr sz="1200" i="0" b="0">
                <a:solidFill>
                  <a:srgbClr val="CE9178"/>
                </a:solidFill>
                <a:latin typeface="Consolas"/>
              </a:rPr>
              <a:t>"Diapositiva con los 3 dolores"</a:t>
            </a:r>
            <a:r>
              <a:rPr sz="1200" i="0" b="0">
                <a:solidFill>
                  <a:srgbClr val="D4D4D4"/>
                </a:solidFill>
                <a:latin typeface="Consolas"/>
              </a:rPr>
              <a:t>, </a:t>
            </a:r>
            <a:r>
              <a:rPr sz="1200" i="0" b="0">
                <a:solidFill>
                  <a:srgbClr val="CE9178"/>
                </a:solidFill>
                <a:latin typeface="Consolas"/>
              </a:rPr>
              <a:t>"1"</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CE9178"/>
                </a:solidFill>
                <a:latin typeface="Consolas"/>
              </a:rPr>
              <a:t>"Arquitectura: clases, herencia y colecciones"</a:t>
            </a:r>
            <a:r>
              <a:rPr sz="1200" i="0" b="0">
                <a:solidFill>
                  <a:srgbClr val="D4D4D4"/>
                </a:solidFill>
                <a:latin typeface="Consolas"/>
              </a:rPr>
              <a:t>, </a:t>
            </a:r>
            <a:r>
              <a:rPr sz="1200" i="0" b="0">
                <a:solidFill>
                  <a:srgbClr val="CE9178"/>
                </a:solidFill>
                <a:latin typeface="Consolas"/>
              </a:rPr>
              <a:t>"Persona.java al lado de Dueno.java"</a:t>
            </a:r>
            <a:r>
              <a:rPr sz="1200" i="0" b="0">
                <a:solidFill>
                  <a:srgbClr val="D4D4D4"/>
                </a:solidFill>
                <a:latin typeface="Consolas"/>
              </a:rPr>
              <a:t>, </a:t>
            </a:r>
            <a:r>
              <a:rPr sz="1200" i="0" b="0">
                <a:solidFill>
                  <a:srgbClr val="CE9178"/>
                </a:solidFill>
                <a:latin typeface="Consolas"/>
              </a:rPr>
              <a:t>"1"</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CE9178"/>
                </a:solidFill>
                <a:latin typeface="Consolas"/>
              </a:rPr>
              <a:t>"DEMO: registrar dueno y mascota (validacion de edad)"</a:t>
            </a:r>
            <a:r>
              <a:rPr sz="1200" i="0" b="0">
                <a:solidFill>
                  <a:srgbClr val="D4D4D4"/>
                </a:solidFill>
                <a:latin typeface="Consolas"/>
              </a:rPr>
              <a:t>, </a:t>
            </a:r>
            <a:r>
              <a:rPr sz="1200" i="0" b="0">
                <a:solidFill>
                  <a:srgbClr val="CE9178"/>
                </a:solidFill>
                <a:latin typeface="Consolas"/>
              </a:rPr>
              <a:t>"La aplicacion corriendo"</a:t>
            </a:r>
            <a:r>
              <a:rPr sz="1200" i="0" b="0">
                <a:solidFill>
                  <a:srgbClr val="D4D4D4"/>
                </a:solidFill>
                <a:latin typeface="Consolas"/>
              </a:rPr>
              <a:t>, </a:t>
            </a:r>
            <a:r>
              <a:rPr sz="1200" i="0" b="0">
                <a:solidFill>
                  <a:srgbClr val="CE9178"/>
                </a:solidFill>
                <a:latin typeface="Consolas"/>
              </a:rPr>
              <a:t>"2"</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CE9178"/>
                </a:solidFill>
                <a:latin typeface="Consolas"/>
              </a:rPr>
              <a:t>"DEMO: agendar cita, buscar por ID y guardar en CSV"</a:t>
            </a:r>
            <a:r>
              <a:rPr sz="1200" i="0" b="0">
                <a:solidFill>
                  <a:srgbClr val="D4D4D4"/>
                </a:solidFill>
                <a:latin typeface="Consolas"/>
              </a:rPr>
              <a:t>, </a:t>
            </a:r>
            <a:r>
              <a:rPr sz="1200" i="0" b="0">
                <a:solidFill>
                  <a:srgbClr val="CE9178"/>
                </a:solidFill>
                <a:latin typeface="Consolas"/>
              </a:rPr>
              <a:t>"Reabrir y ver los datos ahi"</a:t>
            </a:r>
            <a:r>
              <a:rPr sz="1200" i="0" b="0">
                <a:solidFill>
                  <a:srgbClr val="D4D4D4"/>
                </a:solidFill>
                <a:latin typeface="Consolas"/>
              </a:rPr>
              <a:t>, </a:t>
            </a:r>
            <a:r>
              <a:rPr sz="1200" i="0" b="0">
                <a:solidFill>
                  <a:srgbClr val="CE9178"/>
                </a:solidFill>
                <a:latin typeface="Consolas"/>
              </a:rPr>
              <a:t>"2"</a:t>
            </a:r>
            <a:r>
              <a:rPr sz="1200" i="0" b="0">
                <a:solidFill>
                  <a:srgbClr val="D4D4D4"/>
                </a:solidFill>
                <a:latin typeface="Consolas"/>
              </a:rPr>
              <a:t>},</a:t>
            </a:r>
          </a:p>
          <a:p>
            <a:pPr>
              <a:spcAft>
                <a:spcPts val="85"/>
              </a:spcAft>
            </a:pPr>
            <a:r>
              <a:rPr sz="1200" i="0" b="0">
                <a:solidFill>
                  <a:srgbClr val="D4D4D4"/>
                </a:solidFill>
                <a:latin typeface="Consolas"/>
              </a:rPr>
              <a:t>        {</a:t>
            </a:r>
            <a:r>
              <a:rPr sz="1200" i="0" b="0">
                <a:solidFill>
                  <a:srgbClr val="CE9178"/>
                </a:solidFill>
                <a:latin typeface="Consolas"/>
              </a:rPr>
              <a:t>"Limitaciones, aprendizajes y cierre"</a:t>
            </a:r>
            <a:r>
              <a:rPr sz="1200" i="0" b="0">
                <a:solidFill>
                  <a:srgbClr val="D4D4D4"/>
                </a:solidFill>
                <a:latin typeface="Consolas"/>
              </a:rPr>
              <a:t>, </a:t>
            </a:r>
            <a:r>
              <a:rPr sz="1200" i="0" b="0">
                <a:solidFill>
                  <a:srgbClr val="CE9178"/>
                </a:solidFill>
                <a:latin typeface="Consolas"/>
              </a:rPr>
              <a:t>"Lista de 3 limitaciones"</a:t>
            </a:r>
            <a:r>
              <a:rPr sz="1200" i="0" b="0">
                <a:solidFill>
                  <a:srgbClr val="D4D4D4"/>
                </a:solidFill>
                <a:latin typeface="Consolas"/>
              </a:rPr>
              <a:t>, </a:t>
            </a:r>
            <a:r>
              <a:rPr sz="1200" i="0" b="0">
                <a:solidFill>
                  <a:srgbClr val="CE9178"/>
                </a:solidFill>
                <a:latin typeface="Consolas"/>
              </a:rPr>
              <a:t>"1"</a:t>
            </a:r>
            <a:r>
              <a:rPr sz="1200" i="0" b="0">
                <a:solidFill>
                  <a:srgbClr val="D4D4D4"/>
                </a:solidFill>
                <a:latin typeface="Consolas"/>
              </a:rPr>
              <a:t>}</a:t>
            </a:r>
          </a:p>
          <a:p>
            <a:pPr>
              <a:spcAft>
                <a:spcPts val="85"/>
              </a:spcAft>
            </a:pPr>
            <a:r>
              <a:rPr sz="1200" i="0" b="0">
                <a:solidFill>
                  <a:srgbClr val="D4D4D4"/>
                </a:solidFill>
                <a:latin typeface="Consolas"/>
              </a:rPr>
              <a:t>    };</a:t>
            </a:r>
          </a:p>
          <a:p>
            <a:pPr>
              <a:spcAft>
                <a:spcPts val="85"/>
              </a:spcAft>
            </a:pPr>
            <a:r>
              <a:rPr sz="1200" i="0" b="0">
                <a:solidFill>
                  <a:srgbClr val="D4D4D4"/>
                </a:solidFill>
                <a:latin typeface="Consolas"/>
              </a:rPr>
              <a:t>}</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demo blindada: el pre-vuelo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evuel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revuel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revuelo-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prevuelo-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Datos sembrados y creíbles: tres dueños, cuatro mascotas, tres citas.</a:t>
            </a:r>
          </a:p>
          <a:p>
            <a:pPr>
              <a:spcAft>
                <a:spcPts val="800"/>
              </a:spcAft>
            </a:pPr>
            <a:r>
              <a:rPr sz="2000" b="0" i="0">
                <a:solidFill>
                  <a:srgbClr val="333333"/>
                </a:solidFill>
                <a:latin typeface="Calibri"/>
              </a:rPr>
              <a:t>–   El camino feliz ensayado, sin búsquedas improvisadas.</a:t>
            </a:r>
          </a:p>
          <a:p>
            <a:pPr>
              <a:spcAft>
                <a:spcPts val="800"/>
              </a:spcAft>
            </a:pPr>
            <a:r>
              <a:rPr sz="2000" b="0" i="0">
                <a:solidFill>
                  <a:srgbClr val="333333"/>
                </a:solidFill>
                <a:latin typeface="Calibri"/>
              </a:rPr>
              <a:t>–   Pantalla limpia: fuente grande, sin notificaciones, el proyecto ya compilado.</a:t>
            </a:r>
          </a:p>
          <a:p>
            <a:pPr>
              <a:spcAft>
                <a:spcPts val="800"/>
              </a:spcAft>
            </a:pPr>
            <a:r>
              <a:rPr sz="2000" b="0" i="0">
                <a:solidFill>
                  <a:srgbClr val="333333"/>
                </a:solidFill>
                <a:latin typeface="Calibri"/>
              </a:rPr>
              <a:t>–   Plan B: un video corto de la ruta feliz y capturas listas.</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sembrarDatosDemo(): datos creíbles</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FileNotFoundException</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PrintWriter</a:t>
            </a: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"datos_demo"</a:t>
            </a:r>
            <a:r>
              <a:rPr sz="1000" i="0" b="0">
                <a:solidFill>
                  <a:srgbClr val="D4D4D4"/>
                </a:solidFill>
                <a:latin typeface="Consolas"/>
              </a:rPr>
              <a:t>;</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sembrarDatosDemo</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1" b="0">
                <a:solidFill>
                  <a:srgbClr val="6A9955"/>
                </a:solidFill>
                <a:latin typeface="Consolas"/>
              </a:rPr>
              <a:t>/** Datos creibles: nombres reales, no 'prueba1'.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sembrarDatosDemo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4D4D4"/>
                </a:solidFill>
                <a:latin typeface="Consolas"/>
              </a:rPr>
              <a:t>File</a:t>
            </a:r>
            <a:r>
              <a:rPr sz="1000" i="0" b="0">
                <a:solidFill>
                  <a:srgbClr val="D4D4D4"/>
                </a:solidFill>
                <a:latin typeface="Consolas"/>
              </a:rPr>
              <a:t> </a:t>
            </a:r>
            <a:r>
              <a:rPr sz="1000" i="0" b="0">
                <a:solidFill>
                  <a:srgbClr val="D4D4D4"/>
                </a:solidFill>
                <a:latin typeface="Consolas"/>
              </a:rPr>
              <a:t>carpeta</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File</a:t>
            </a:r>
            <a:r>
              <a:rPr sz="1000" i="0" b="0">
                <a:solidFill>
                  <a:srgbClr val="D4D4D4"/>
                </a:solidFill>
                <a:latin typeface="Consolas"/>
              </a:rPr>
              <a:t>(</a:t>
            </a:r>
            <a:r>
              <a:rPr sz="1000" i="0" b="0">
                <a:solidFill>
                  <a:srgbClr val="D4D4D4"/>
                </a:solidFill>
                <a:latin typeface="Consolas"/>
              </a:rPr>
              <a:t>CARPETA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CDCAA"/>
                </a:solidFill>
                <a:latin typeface="Consolas"/>
              </a:rPr>
              <a:t>carpeta.exists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carpeta.mkdirs</a:t>
            </a:r>
            <a:r>
              <a:rPr sz="1000" i="0" b="0">
                <a:solidFill>
                  <a:srgbClr val="D4D4D4"/>
                </a:solidFill>
                <a:latin typeface="Consolas"/>
              </a:rPr>
              <a:t>();</a:t>
            </a:r>
          </a:p>
          <a:p>
            <a:pPr>
              <a:spcAft>
                <a:spcPts val="71"/>
              </a:spcAft>
            </a:pPr>
            <a:r>
              <a:rPr sz="1000" i="0" b="0">
                <a:solidFill>
                  <a:srgbClr val="D4D4D4"/>
                </a:solidFill>
                <a:latin typeface="Consolas"/>
              </a:rPr>
              <a:t>        }</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D4D4D4"/>
                </a:solidFill>
                <a:latin typeface="Consolas"/>
              </a:rPr>
              <a:t>        </a:t>
            </a:r>
            <a:r>
              <a:rPr sz="1000" i="1" b="0">
                <a:solidFill>
                  <a:srgbClr val="6A9955"/>
                </a:solidFill>
                <a:latin typeface="Consolas"/>
              </a:rPr>
              <a:t>// duenos.csv y citas.csv se siembran igual</a:t>
            </a:r>
          </a:p>
          <a:p>
            <a:pPr>
              <a:spcAft>
                <a:spcPts val="71"/>
              </a:spcAft>
            </a:pPr>
            <a:r>
              <a:rPr sz="1000" i="0" b="0">
                <a:solidFill>
                  <a:srgbClr val="D4D4D4"/>
                </a:solidFill>
                <a:latin typeface="Consolas"/>
              </a:rPr>
              <a:t>        </a:t>
            </a:r>
            <a:r>
              <a:rPr sz="1000" i="0" b="0">
                <a:solidFill>
                  <a:srgbClr val="DCDCAA"/>
                </a:solidFill>
                <a:latin typeface="Consolas"/>
              </a:rPr>
              <a:t>escribir</a:t>
            </a:r>
            <a:r>
              <a:rPr sz="1000" i="0" b="0">
                <a:solidFill>
                  <a:srgbClr val="D4D4D4"/>
                </a:solidFill>
                <a:latin typeface="Consolas"/>
              </a:rPr>
              <a:t>(</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"/mascotas.csv"</a:t>
            </a: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"M-001;Firulais;Canino;Labrador;4;28.5;D-001"</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"M-002;Michi;Felino;Criollo;2;3.8;D-001"</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"M-003;Rocky;Canino;Pastor;6;32.0;D-002"</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"M-004;Luna;Felino;Siames;1;2.9;D-003"</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"Datos de demostracion listos"</a:t>
            </a:r>
          </a:p>
          <a:p>
            <a:pPr>
              <a:spcAft>
                <a:spcPts val="71"/>
              </a:spcAft>
            </a:pPr>
            <a:r>
              <a:rPr sz="1000" i="0" b="0">
                <a:solidFill>
                  <a:srgbClr val="D4D4D4"/>
                </a:solidFill>
                <a:latin typeface="Consolas"/>
              </a:rPr>
              <a:t>                + </a:t>
            </a:r>
            <a:r>
              <a:rPr sz="1000" i="0" b="0">
                <a:solidFill>
                  <a:srgbClr val="CE9178"/>
                </a:solidFill>
                <a:latin typeface="Consolas"/>
              </a:rPr>
              <a:t>" en la carpeta "</a:t>
            </a:r>
            <a:r>
              <a:rPr sz="1000" i="0" b="0">
                <a:solidFill>
                  <a:srgbClr val="D4D4D4"/>
                </a:solidFill>
                <a:latin typeface="Consolas"/>
              </a:rPr>
              <a:t> + </a:t>
            </a:r>
            <a:r>
              <a:rPr sz="1000" i="0" b="0">
                <a:solidFill>
                  <a:srgbClr val="D4D4D4"/>
                </a:solidFill>
                <a:latin typeface="Consolas"/>
              </a:rPr>
              <a:t>CARPETA</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escribir</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lineas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try</a:t>
            </a:r>
            <a:r>
              <a:rPr sz="1000" i="0" b="0">
                <a:solidFill>
                  <a:srgbClr val="D4D4D4"/>
                </a:solidFill>
                <a:latin typeface="Consolas"/>
              </a:rPr>
              <a:t> (</a:t>
            </a:r>
            <a:r>
              <a:rPr sz="1000" i="0" b="0">
                <a:solidFill>
                  <a:srgbClr val="D4D4D4"/>
                </a:solidFill>
                <a:latin typeface="Consolas"/>
              </a:rPr>
              <a:t>PrintWriter</a:t>
            </a:r>
            <a:r>
              <a:rPr sz="1000" i="0" b="0">
                <a:solidFill>
                  <a:srgbClr val="D4D4D4"/>
                </a:solidFill>
                <a:latin typeface="Consolas"/>
              </a:rPr>
              <a:t> </a:t>
            </a:r>
            <a:r>
              <a:rPr sz="1000" i="0" b="0">
                <a:solidFill>
                  <a:srgbClr val="D4D4D4"/>
                </a:solidFill>
                <a:latin typeface="Consolas"/>
              </a:rPr>
              <a:t>salida</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PrintWriter</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linea</a:t>
            </a:r>
            <a:r>
              <a:rPr sz="1000" i="0" b="0">
                <a:solidFill>
                  <a:srgbClr val="D4D4D4"/>
                </a:solidFill>
                <a:latin typeface="Consolas"/>
              </a:rPr>
              <a:t> : </a:t>
            </a:r>
            <a:r>
              <a:rPr sz="1000" i="0" b="0">
                <a:solidFill>
                  <a:srgbClr val="D4D4D4"/>
                </a:solidFill>
                <a:latin typeface="Consolas"/>
              </a:rPr>
              <a:t>lineas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salida.println</a:t>
            </a:r>
            <a:r>
              <a:rPr sz="1000" i="0" b="0">
                <a:solidFill>
                  <a:srgbClr val="D4D4D4"/>
                </a:solidFill>
                <a:latin typeface="Consolas"/>
              </a:rPr>
              <a:t>(</a:t>
            </a:r>
            <a:r>
              <a:rPr sz="1000" i="0" b="0">
                <a:solidFill>
                  <a:srgbClr val="D4D4D4"/>
                </a:solidFill>
                <a:latin typeface="Consolas"/>
              </a:rPr>
              <a:t>linea</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[OK] "</a:t>
            </a:r>
            <a:r>
              <a:rPr sz="1000" i="0" b="0">
                <a:solidFill>
                  <a:srgbClr val="D4D4D4"/>
                </a:solidFill>
                <a:latin typeface="Consolas"/>
              </a:rPr>
              <a:t> + </a:t>
            </a:r>
            <a:r>
              <a:rPr sz="1000" i="0" b="0">
                <a:solidFill>
                  <a:srgbClr val="D4D4D4"/>
                </a:solidFill>
                <a:latin typeface="Consolas"/>
              </a:rPr>
              <a:t>ruta</a:t>
            </a:r>
            <a:r>
              <a:rPr sz="1000" i="0" b="0">
                <a:solidFill>
                  <a:srgbClr val="D4D4D4"/>
                </a:solidFill>
                <a:latin typeface="Consolas"/>
              </a:rPr>
              <a:t> + </a:t>
            </a:r>
            <a:r>
              <a:rPr sz="1000" i="0" b="0">
                <a:solidFill>
                  <a:srgbClr val="CE9178"/>
                </a:solidFill>
                <a:latin typeface="Consolas"/>
              </a:rPr>
              <a:t>" ("</a:t>
            </a:r>
          </a:p>
          <a:p>
            <a:pPr>
              <a:spcAft>
                <a:spcPts val="71"/>
              </a:spcAft>
            </a:pPr>
            <a:r>
              <a:rPr sz="1000" i="0" b="0">
                <a:solidFill>
                  <a:srgbClr val="D4D4D4"/>
                </a:solidFill>
                <a:latin typeface="Consolas"/>
              </a:rPr>
              <a:t>                    + </a:t>
            </a:r>
            <a:r>
              <a:rPr sz="1000" i="0" b="0">
                <a:solidFill>
                  <a:srgbClr val="D4D4D4"/>
                </a:solidFill>
                <a:latin typeface="Consolas"/>
              </a:rPr>
              <a:t>lineas</a:t>
            </a:r>
            <a:r>
              <a:rPr sz="1000" i="0" b="0">
                <a:solidFill>
                  <a:srgbClr val="D4D4D4"/>
                </a:solidFill>
                <a:latin typeface="Consolas"/>
              </a:rPr>
              <a:t>.</a:t>
            </a:r>
            <a:r>
              <a:rPr sz="1000" i="0" b="0">
                <a:solidFill>
                  <a:srgbClr val="D4D4D4"/>
                </a:solidFill>
                <a:latin typeface="Consolas"/>
              </a:rPr>
              <a:t>length</a:t>
            </a:r>
            <a:r>
              <a:rPr sz="1000" i="0" b="0">
                <a:solidFill>
                  <a:srgbClr val="D4D4D4"/>
                </a:solidFill>
                <a:latin typeface="Consolas"/>
              </a:rPr>
              <a:t> + </a:t>
            </a:r>
            <a:r>
              <a:rPr sz="1000" i="0" b="0">
                <a:solidFill>
                  <a:srgbClr val="CE9178"/>
                </a:solidFill>
                <a:latin typeface="Consolas"/>
              </a:rPr>
              <a:t>" registros)"</a:t>
            </a:r>
            <a:r>
              <a:rPr sz="1000" i="0" b="0">
                <a:solidFill>
                  <a:srgbClr val="D4D4D4"/>
                </a:solidFill>
                <a:latin typeface="Consolas"/>
              </a:rPr>
              <a:t>);</a:t>
            </a:r>
          </a:p>
          <a:p>
            <a:pPr>
              <a:spcAft>
                <a:spcPts val="71"/>
              </a:spcAft>
            </a:pPr>
            <a:r>
              <a:rPr sz="1000" i="0" b="0">
                <a:solidFill>
                  <a:srgbClr val="D4D4D4"/>
                </a:solidFill>
                <a:latin typeface="Consolas"/>
              </a:rPr>
              <a:t>        } </a:t>
            </a:r>
            <a:r>
              <a:rPr sz="1000" i="0" b="0">
                <a:solidFill>
                  <a:srgbClr val="569CD6"/>
                </a:solidFill>
                <a:latin typeface="Consolas"/>
              </a:rPr>
              <a:t>catch</a:t>
            </a:r>
            <a:r>
              <a:rPr sz="1000" i="0" b="0">
                <a:solidFill>
                  <a:srgbClr val="D4D4D4"/>
                </a:solidFill>
                <a:latin typeface="Consolas"/>
              </a:rPr>
              <a:t> (</a:t>
            </a:r>
            <a:r>
              <a:rPr sz="1000" i="0" b="0">
                <a:solidFill>
                  <a:srgbClr val="D4D4D4"/>
                </a:solidFill>
                <a:latin typeface="Consolas"/>
              </a:rPr>
              <a:t>FileNotFoundException</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[ERROR] No pude crear "</a:t>
            </a:r>
          </a:p>
          <a:p>
            <a:pPr>
              <a:spcAft>
                <a:spcPts val="71"/>
              </a:spcAft>
            </a:pPr>
            <a:r>
              <a:rPr sz="1000" i="0" b="0">
                <a:solidFill>
                  <a:srgbClr val="D4D4D4"/>
                </a:solidFill>
                <a:latin typeface="Consolas"/>
              </a:rPr>
              <a:t>                    + </a:t>
            </a:r>
            <a:r>
              <a:rPr sz="1000" i="0" b="0">
                <a:solidFill>
                  <a:srgbClr val="D4D4D4"/>
                </a:solidFill>
                <a:latin typeface="Consolas"/>
              </a:rPr>
              <a:t>ruta</a:t>
            </a:r>
            <a:r>
              <a:rPr sz="1000" i="0" b="0">
                <a:solidFill>
                  <a:srgbClr val="D4D4D4"/>
                </a:solidFill>
                <a:latin typeface="Consolas"/>
              </a:rPr>
              <a:t> + </a:t>
            </a:r>
            <a:r>
              <a:rPr sz="1000" i="0" b="0">
                <a:solidFill>
                  <a:srgbClr val="CE9178"/>
                </a:solidFill>
                <a:latin typeface="Consolas"/>
              </a:rPr>
              <a:t>": "</a:t>
            </a:r>
            <a:r>
              <a:rPr sz="1000" i="0" b="0">
                <a:solidFill>
                  <a:srgbClr val="D4D4D4"/>
                </a:solidFill>
                <a:latin typeface="Consolas"/>
              </a:rPr>
              <a:t> + </a:t>
            </a:r>
            <a:r>
              <a:rPr sz="1000" i="0" b="0">
                <a:solidFill>
                  <a:srgbClr val="DCDCAA"/>
                </a:solidFill>
                <a:latin typeface="Consolas"/>
              </a:rPr>
              <a:t>e.getMessage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chequeoPreVuelo(): verde o no se presenta</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IOException</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Files</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Path</a:t>
            </a: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"datos_demo"</a:t>
            </a:r>
            <a:r>
              <a:rPr sz="1000" i="0" b="0">
                <a:solidFill>
                  <a:srgbClr val="D4D4D4"/>
                </a:solidFill>
                <a:latin typeface="Consolas"/>
              </a:rPr>
              <a:t>;</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Files.createDirectories</a:t>
            </a:r>
            <a:r>
              <a:rPr sz="1000" i="0" b="0">
                <a:solidFill>
                  <a:srgbClr val="D4D4D4"/>
                </a:solidFill>
                <a:latin typeface="Consolas"/>
              </a:rPr>
              <a:t>(</a:t>
            </a:r>
            <a:r>
              <a:rPr sz="1000" i="0" b="0">
                <a:solidFill>
                  <a:srgbClr val="DCDCAA"/>
                </a:solidFill>
                <a:latin typeface="Consolas"/>
              </a:rPr>
              <a:t>Path.of</a:t>
            </a:r>
            <a:r>
              <a:rPr sz="1000" i="0" b="0">
                <a:solidFill>
                  <a:srgbClr val="D4D4D4"/>
                </a:solidFill>
                <a:latin typeface="Consolas"/>
              </a:rPr>
              <a:t>(</a:t>
            </a:r>
            <a:r>
              <a:rPr sz="1000" i="0" b="0">
                <a:solidFill>
                  <a:srgbClr val="D4D4D4"/>
                </a:solidFill>
                <a:latin typeface="Consolas"/>
              </a:rPr>
              <a:t>CARPETA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crear</a:t>
            </a:r>
            <a:r>
              <a:rPr sz="1000" i="0" b="0">
                <a:solidFill>
                  <a:srgbClr val="D4D4D4"/>
                </a:solidFill>
                <a:latin typeface="Consolas"/>
              </a:rPr>
              <a:t>(</a:t>
            </a:r>
            <a:r>
              <a:rPr sz="1000" i="0" b="0">
                <a:solidFill>
                  <a:srgbClr val="CE9178"/>
                </a:solidFill>
                <a:latin typeface="Consolas"/>
              </a:rPr>
              <a:t>"duenos.csv"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crear</a:t>
            </a:r>
            <a:r>
              <a:rPr sz="1000" i="0" b="0">
                <a:solidFill>
                  <a:srgbClr val="D4D4D4"/>
                </a:solidFill>
                <a:latin typeface="Consolas"/>
              </a:rPr>
              <a:t>(</a:t>
            </a:r>
            <a:r>
              <a:rPr sz="1000" i="0" b="0">
                <a:solidFill>
                  <a:srgbClr val="CE9178"/>
                </a:solidFill>
                <a:latin typeface="Consolas"/>
              </a:rPr>
              <a:t>"mascotas.csv"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Files.deleteIfExists</a:t>
            </a:r>
            <a:r>
              <a:rPr sz="1000" i="0" b="0">
                <a:solidFill>
                  <a:srgbClr val="D4D4D4"/>
                </a:solidFill>
                <a:latin typeface="Consolas"/>
              </a:rPr>
              <a:t>(</a:t>
            </a:r>
            <a:r>
              <a:rPr sz="1000" i="0" b="0">
                <a:solidFill>
                  <a:srgbClr val="DCDCAA"/>
                </a:solidFill>
                <a:latin typeface="Consolas"/>
              </a:rPr>
              <a:t>Path.of</a:t>
            </a:r>
            <a:r>
              <a:rPr sz="1000" i="0" b="0">
                <a:solidFill>
                  <a:srgbClr val="D4D4D4"/>
                </a:solidFill>
                <a:latin typeface="Consolas"/>
              </a:rPr>
              <a:t>(</a:t>
            </a:r>
            <a:r>
              <a:rPr sz="1000" i="0" b="0">
                <a:solidFill>
                  <a:srgbClr val="D4D4D4"/>
                </a:solidFill>
                <a:latin typeface="Consolas"/>
              </a:rPr>
              <a:t>CARPETA</a:t>
            </a:r>
            <a:r>
              <a:rPr sz="1000" i="0" b="0">
                <a:solidFill>
                  <a:srgbClr val="D4D4D4"/>
                </a:solidFill>
                <a:latin typeface="Consolas"/>
              </a:rPr>
              <a:t>, </a:t>
            </a:r>
            <a:r>
              <a:rPr sz="1000" i="0" b="0">
                <a:solidFill>
                  <a:srgbClr val="CE9178"/>
                </a:solidFill>
                <a:latin typeface="Consolas"/>
              </a:rPr>
              <a:t>"citas.csv"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chequeoPreVuelo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crear</a:t>
            </a:r>
            <a:r>
              <a:rPr sz="1000" i="0" b="0">
                <a:solidFill>
                  <a:srgbClr val="D4D4D4"/>
                </a:solidFill>
                <a:latin typeface="Consolas"/>
              </a:rPr>
              <a:t>(</a:t>
            </a:r>
            <a:r>
              <a:rPr sz="1000" i="0" b="0">
                <a:solidFill>
                  <a:srgbClr val="CE9178"/>
                </a:solidFill>
                <a:latin typeface="Consolas"/>
              </a:rPr>
              <a:t>"citas.csv"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chequeoPreVuelo</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CDCAA"/>
                </a:solidFill>
                <a:latin typeface="Consolas"/>
              </a:rPr>
              <a:t>contarFilas</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try</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CDCAA"/>
                </a:solidFill>
                <a:latin typeface="Consolas"/>
              </a:rPr>
              <a:t>Files.readAllLines</a:t>
            </a:r>
            <a:r>
              <a:rPr sz="1000" i="0" b="0">
                <a:solidFill>
                  <a:srgbClr val="D4D4D4"/>
                </a:solidFill>
                <a:latin typeface="Consolas"/>
              </a:rPr>
              <a:t>(</a:t>
            </a:r>
            <a:r>
              <a:rPr sz="1000" i="0" b="0">
                <a:solidFill>
                  <a:srgbClr val="DCDCAA"/>
                </a:solidFill>
                <a:latin typeface="Consolas"/>
              </a:rPr>
              <a:t>Path.of</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r>
              <a:rPr sz="1000" i="0" b="0">
                <a:solidFill>
                  <a:srgbClr val="DCDCAA"/>
                </a:solidFill>
                <a:latin typeface="Consolas"/>
              </a:rPr>
              <a:t>size</a:t>
            </a:r>
            <a:r>
              <a:rPr sz="1000" i="0" b="0">
                <a:solidFill>
                  <a:srgbClr val="D4D4D4"/>
                </a:solidFill>
                <a:latin typeface="Consolas"/>
              </a:rPr>
              <a:t>();</a:t>
            </a:r>
          </a:p>
          <a:p>
            <a:pPr>
              <a:spcAft>
                <a:spcPts val="71"/>
              </a:spcAft>
            </a:pPr>
            <a:r>
              <a:rPr sz="1000" i="0" b="0">
                <a:solidFill>
                  <a:srgbClr val="D4D4D4"/>
                </a:solidFill>
                <a:latin typeface="Consolas"/>
              </a:rPr>
              <a:t>        } </a:t>
            </a:r>
            <a:r>
              <a:rPr sz="1000" i="0" b="0">
                <a:solidFill>
                  <a:srgbClr val="569CD6"/>
                </a:solidFill>
                <a:latin typeface="Consolas"/>
              </a:rPr>
              <a:t>catch</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B5CEA8"/>
                </a:solidFill>
                <a:latin typeface="Consolas"/>
              </a:rPr>
              <a:t>0</a:t>
            </a:r>
            <a:r>
              <a:rPr sz="1000" i="0" b="0">
                <a:solidFill>
                  <a:srgbClr val="D4D4D4"/>
                </a:solidFill>
                <a:latin typeface="Consolas"/>
              </a:rPr>
              <a:t>;   </a:t>
            </a:r>
            <a:r>
              <a:rPr sz="1000" i="1" b="0">
                <a:solidFill>
                  <a:srgbClr val="6A9955"/>
                </a:solidFill>
                <a:latin typeface="Consolas"/>
              </a:rPr>
              <a:t>// no existe: es como estar vacio</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25</a:t>
            </a:r>
          </a:p>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a:p>
            <a:pPr algn="r">
              <a:spcAft>
                <a:spcPts val="71"/>
              </a:spcAft>
            </a:pPr>
            <a:r>
              <a:rPr sz="1000" i="0" b="0">
                <a:solidFill>
                  <a:srgbClr val="858585"/>
                </a:solidFill>
                <a:latin typeface="Consolas"/>
              </a:rPr>
              <a:t>49</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crear</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archivo</a:t>
            </a: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Files.writeString</a:t>
            </a:r>
            <a:r>
              <a:rPr sz="1000" i="0" b="0">
                <a:solidFill>
                  <a:srgbClr val="D4D4D4"/>
                </a:solidFill>
                <a:latin typeface="Consolas"/>
              </a:rPr>
              <a:t>(</a:t>
            </a:r>
            <a:r>
              <a:rPr sz="1000" i="0" b="0">
                <a:solidFill>
                  <a:srgbClr val="DCDCAA"/>
                </a:solidFill>
                <a:latin typeface="Consolas"/>
              </a:rPr>
              <a:t>Path.of</a:t>
            </a:r>
            <a:r>
              <a:rPr sz="1000" i="0" b="0">
                <a:solidFill>
                  <a:srgbClr val="D4D4D4"/>
                </a:solidFill>
                <a:latin typeface="Consolas"/>
              </a:rPr>
              <a:t>(</a:t>
            </a:r>
            <a:r>
              <a:rPr sz="1000" i="0" b="0">
                <a:solidFill>
                  <a:srgbClr val="D4D4D4"/>
                </a:solidFill>
                <a:latin typeface="Consolas"/>
              </a:rPr>
              <a:t>CARPETA</a:t>
            </a:r>
            <a:r>
              <a:rPr sz="1000" i="0" b="0">
                <a:solidFill>
                  <a:srgbClr val="D4D4D4"/>
                </a:solidFill>
                <a:latin typeface="Consolas"/>
              </a:rPr>
              <a:t>, </a:t>
            </a:r>
            <a:r>
              <a:rPr sz="1000" i="0" b="0">
                <a:solidFill>
                  <a:srgbClr val="D4D4D4"/>
                </a:solidFill>
                <a:latin typeface="Consolas"/>
              </a:rPr>
              <a:t>archivo</a:t>
            </a:r>
            <a:r>
              <a:rPr sz="1000" i="0" b="0">
                <a:solidFill>
                  <a:srgbClr val="D4D4D4"/>
                </a:solidFill>
                <a:latin typeface="Consolas"/>
              </a:rPr>
              <a:t>), </a:t>
            </a:r>
            <a:r>
              <a:rPr sz="1000" i="0" b="0">
                <a:solidFill>
                  <a:srgbClr val="CE9178"/>
                </a:solidFill>
                <a:latin typeface="Consolas"/>
              </a:rPr>
              <a:t>"x"</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1" b="0">
                <a:solidFill>
                  <a:srgbClr val="6A9955"/>
                </a:solidFill>
                <a:latin typeface="Consolas"/>
              </a:rPr>
              <a:t>/** Si esto no da verde, no se comparte pantalla.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4EC9B0"/>
                </a:solidFill>
                <a:latin typeface="Consolas"/>
              </a:rPr>
              <a:t>boolean</a:t>
            </a:r>
            <a:r>
              <a:rPr sz="1000" i="0" b="0">
                <a:solidFill>
                  <a:srgbClr val="D4D4D4"/>
                </a:solidFill>
                <a:latin typeface="Consolas"/>
              </a:rPr>
              <a:t> </a:t>
            </a:r>
            <a:r>
              <a:rPr sz="1000" i="0" b="0">
                <a:solidFill>
                  <a:srgbClr val="DCDCAA"/>
                </a:solidFill>
                <a:latin typeface="Consolas"/>
              </a:rPr>
              <a:t>chequeoPreVuelo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requeridos</a:t>
            </a:r>
            <a:r>
              <a:rPr sz="1000" i="0" b="0">
                <a:solidFill>
                  <a:srgbClr val="D4D4D4"/>
                </a:solidFill>
                <a:latin typeface="Consolas"/>
              </a:rPr>
              <a:t> = {</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"/duenos.csv"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CARPETA</a:t>
            </a:r>
            <a:r>
              <a:rPr sz="1000" i="0" b="0">
                <a:solidFill>
                  <a:srgbClr val="D4D4D4"/>
                </a:solidFill>
                <a:latin typeface="Consolas"/>
              </a:rPr>
              <a:t> + </a:t>
            </a:r>
            <a:r>
              <a:rPr sz="1000" i="0" b="0">
                <a:solidFill>
                  <a:srgbClr val="CE9178"/>
                </a:solidFill>
                <a:latin typeface="Consolas"/>
              </a:rPr>
              <a:t>"/citas.csv"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boolean</a:t>
            </a:r>
            <a:r>
              <a:rPr sz="1000" i="0" b="0">
                <a:solidFill>
                  <a:srgbClr val="D4D4D4"/>
                </a:solidFill>
                <a:latin typeface="Consolas"/>
              </a:rPr>
              <a:t> </a:t>
            </a:r>
            <a:r>
              <a:rPr sz="1000" i="0" b="0">
                <a:solidFill>
                  <a:srgbClr val="D4D4D4"/>
                </a:solidFill>
                <a:latin typeface="Consolas"/>
              </a:rPr>
              <a:t>listo</a:t>
            </a:r>
            <a:r>
              <a:rPr sz="1000" i="0" b="0">
                <a:solidFill>
                  <a:srgbClr val="D4D4D4"/>
                </a:solidFill>
                <a:latin typeface="Consolas"/>
              </a:rPr>
              <a:t> = </a:t>
            </a:r>
            <a:r>
              <a:rPr sz="1000" i="0" b="0">
                <a:solidFill>
                  <a:srgbClr val="569CD6"/>
                </a:solidFill>
                <a:latin typeface="Consolas"/>
              </a:rPr>
              <a:t>true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Chequeo pre-vuelo ---"</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 : </a:t>
            </a:r>
            <a:r>
              <a:rPr sz="1000" i="0" b="0">
                <a:solidFill>
                  <a:srgbClr val="D4D4D4"/>
                </a:solidFill>
                <a:latin typeface="Consolas"/>
              </a:rPr>
              <a:t>requeridos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filas</a:t>
            </a:r>
            <a:r>
              <a:rPr sz="1000" i="0" b="0">
                <a:solidFill>
                  <a:srgbClr val="D4D4D4"/>
                </a:solidFill>
                <a:latin typeface="Consolas"/>
              </a:rPr>
              <a:t> = </a:t>
            </a:r>
            <a:r>
              <a:rPr sz="1000" i="0" b="0">
                <a:solidFill>
                  <a:srgbClr val="DCDCAA"/>
                </a:solidFill>
                <a:latin typeface="Consolas"/>
              </a:rPr>
              <a:t>contarFilas</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4D4D4"/>
                </a:solidFill>
                <a:latin typeface="Consolas"/>
              </a:rPr>
              <a:t>filas</a:t>
            </a:r>
            <a:r>
              <a:rPr sz="1000" i="0" b="0">
                <a:solidFill>
                  <a:srgbClr val="D4D4D4"/>
                </a:solidFill>
                <a:latin typeface="Consolas"/>
              </a:rPr>
              <a:t> &gt; </a:t>
            </a:r>
            <a:r>
              <a:rPr sz="1000" i="0" b="0">
                <a:solidFill>
                  <a:srgbClr val="B5CEA8"/>
                </a:solidFill>
                <a:latin typeface="Consolas"/>
              </a:rPr>
              <a:t>0</a:t>
            </a:r>
            <a:r>
              <a:rPr sz="1000" i="0" b="0">
                <a:solidFill>
                  <a:srgbClr val="D4D4D4"/>
                </a:solidFill>
                <a:latin typeface="Consolas"/>
              </a:rPr>
              <a:t> ? </a:t>
            </a:r>
            <a:r>
              <a:rPr sz="1000" i="0" b="0">
                <a:solidFill>
                  <a:srgbClr val="CE9178"/>
                </a:solidFill>
                <a:latin typeface="Consolas"/>
              </a:rPr>
              <a:t>"  [OK]    "</a:t>
            </a:r>
          </a:p>
          <a:p>
            <a:pPr>
              <a:spcAft>
                <a:spcPts val="71"/>
              </a:spcAft>
            </a:pPr>
            <a:r>
              <a:rPr sz="1000" i="0" b="0">
                <a:solidFill>
                  <a:srgbClr val="D4D4D4"/>
                </a:solidFill>
                <a:latin typeface="Consolas"/>
              </a:rPr>
              <a:t>                    : </a:t>
            </a:r>
            <a:r>
              <a:rPr sz="1000" i="0" b="0">
                <a:solidFill>
                  <a:srgbClr val="CE9178"/>
                </a:solidFill>
                <a:latin typeface="Consolas"/>
              </a:rPr>
              <a:t>"  [FALLA] "</a:t>
            </a:r>
            <a:r>
              <a:rPr sz="1000" i="0" b="0">
                <a:solidFill>
                  <a:srgbClr val="D4D4D4"/>
                </a:solidFill>
                <a:latin typeface="Consolas"/>
              </a:rPr>
              <a:t>) + </a:t>
            </a:r>
            <a:r>
              <a:rPr sz="1000" i="0" b="0">
                <a:solidFill>
                  <a:srgbClr val="D4D4D4"/>
                </a:solidFill>
                <a:latin typeface="Consolas"/>
              </a:rPr>
              <a:t>ruta</a:t>
            </a:r>
            <a:r>
              <a:rPr sz="1000" i="0" b="0">
                <a:solidFill>
                  <a:srgbClr val="D4D4D4"/>
                </a:solidFill>
                <a:latin typeface="Consolas"/>
              </a:rPr>
              <a:t> + </a:t>
            </a:r>
            <a:r>
              <a:rPr sz="1000" i="0" b="0">
                <a:solidFill>
                  <a:srgbClr val="CE9178"/>
                </a:solidFill>
                <a:latin typeface="Consolas"/>
              </a:rPr>
              <a:t>" -&gt; "</a:t>
            </a:r>
            <a:r>
              <a:rPr sz="1000" i="0" b="0">
                <a:solidFill>
                  <a:srgbClr val="D4D4D4"/>
                </a:solidFill>
                <a:latin typeface="Consolas"/>
              </a:rPr>
              <a:t> + </a:t>
            </a:r>
            <a:r>
              <a:rPr sz="1000" i="0" b="0">
                <a:solidFill>
                  <a:srgbClr val="D4D4D4"/>
                </a:solidFill>
                <a:latin typeface="Consolas"/>
              </a:rPr>
              <a:t>filas</a:t>
            </a:r>
          </a:p>
          <a:p>
            <a:pPr>
              <a:spcAft>
                <a:spcPts val="71"/>
              </a:spcAft>
            </a:pPr>
            <a:r>
              <a:rPr sz="1000" i="0" b="0">
                <a:solidFill>
                  <a:srgbClr val="D4D4D4"/>
                </a:solidFill>
                <a:latin typeface="Consolas"/>
              </a:rPr>
              <a:t>                    + </a:t>
            </a:r>
            <a:r>
              <a:rPr sz="1000" i="0" b="0">
                <a:solidFill>
                  <a:srgbClr val="CE9178"/>
                </a:solidFill>
                <a:latin typeface="Consolas"/>
              </a:rPr>
              <a:t>" filas"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4D4D4"/>
                </a:solidFill>
                <a:latin typeface="Consolas"/>
              </a:rPr>
              <a:t>filas</a:t>
            </a:r>
            <a:r>
              <a:rPr sz="1000" i="0" b="0">
                <a:solidFill>
                  <a:srgbClr val="D4D4D4"/>
                </a:solidFill>
                <a:latin typeface="Consolas"/>
              </a:rPr>
              <a:t> == </a:t>
            </a:r>
            <a:r>
              <a:rPr sz="1000" i="0" b="0">
                <a:solidFill>
                  <a:srgbClr val="B5CEA8"/>
                </a:solidFill>
                <a:latin typeface="Consolas"/>
              </a:rPr>
              <a:t>0</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4D4D4"/>
                </a:solidFill>
                <a:latin typeface="Consolas"/>
              </a:rPr>
              <a:t>listo</a:t>
            </a:r>
            <a:r>
              <a:rPr sz="1000" i="0" b="0">
                <a:solidFill>
                  <a:srgbClr val="D4D4D4"/>
                </a:solidFill>
                <a:latin typeface="Consolas"/>
              </a:rPr>
              <a:t> = </a:t>
            </a:r>
            <a:r>
              <a:rPr sz="1000" i="0" b="0">
                <a:solidFill>
                  <a:srgbClr val="569CD6"/>
                </a:solidFill>
                <a:latin typeface="Consolas"/>
              </a:rPr>
              <a:t>false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4D4D4"/>
                </a:solidFill>
                <a:latin typeface="Consolas"/>
              </a:rPr>
              <a:t>listo</a:t>
            </a:r>
            <a:r>
              <a:rPr sz="1000" i="0" b="0">
                <a:solidFill>
                  <a:srgbClr val="D4D4D4"/>
                </a:solidFill>
                <a:latin typeface="Consolas"/>
              </a:rPr>
              <a:t> ? </a:t>
            </a:r>
            <a:r>
              <a:rPr sz="1000" i="0" b="0">
                <a:solidFill>
                  <a:srgbClr val="CE9178"/>
                </a:solidFill>
                <a:latin typeface="Consolas"/>
              </a:rPr>
              <a:t>"  Listos para la demo."</a:t>
            </a:r>
          </a:p>
          <a:p>
            <a:pPr>
              <a:spcAft>
                <a:spcPts val="71"/>
              </a:spcAft>
            </a:pPr>
            <a:r>
              <a:rPr sz="1000" i="0" b="0">
                <a:solidFill>
                  <a:srgbClr val="D4D4D4"/>
                </a:solidFill>
                <a:latin typeface="Consolas"/>
              </a:rPr>
              <a:t>                : </a:t>
            </a:r>
            <a:r>
              <a:rPr sz="1000" i="0" b="0">
                <a:solidFill>
                  <a:srgbClr val="CE9178"/>
                </a:solidFill>
                <a:latin typeface="Consolas"/>
              </a:rPr>
              <a:t>"  Siembre los datos primero."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listo</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preguntas del jurado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pregunta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¿Dónde está la herencia? ¿Por qué ArrayList? ¿Qué pasa si borro el CSV?</a:t>
            </a:r>
          </a:p>
          <a:p>
            <a:pPr>
              <a:spcAft>
                <a:spcPts val="800"/>
              </a:spcAft>
            </a:pPr>
            <a:r>
              <a:rPr sz="2000" b="0" i="0">
                <a:solidFill>
                  <a:srgbClr val="333333"/>
                </a:solidFill>
                <a:latin typeface="Calibri"/>
              </a:rPr>
              <a:t>–   Se responde con la aplicación o el código en pantalla, en 30 a 40 segundos.</a:t>
            </a:r>
          </a:p>
          <a:p>
            <a:pPr>
              <a:spcAft>
                <a:spcPts val="800"/>
              </a:spcAft>
            </a:pPr>
            <a:r>
              <a:rPr sz="2000" b="0" i="0">
                <a:solidFill>
                  <a:srgbClr val="333333"/>
                </a:solidFill>
                <a:latin typeface="Calibri"/>
              </a:rPr>
              <a:t>–   Si no sabe, dígalo y proponga cómo lo averiguaría.</a:t>
            </a:r>
          </a:p>
          <a:p>
            <a:pPr>
              <a:spcAft>
                <a:spcPts val="800"/>
              </a:spcAft>
            </a:pPr>
            <a:r>
              <a:rPr sz="2000" b="0" i="0">
                <a:solidFill>
                  <a:srgbClr val="333333"/>
                </a:solidFill>
                <a:latin typeface="Calibri"/>
              </a:rPr>
              <a:t>–   Tenga abiertas las pestañas de cada respuesta.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Tiempo y nervios: el ensayo cronometrado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nsayo-cronometr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nsayo-cronometr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nsayo-cronometr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ensayo con reloj revela lo que el papel no: la intro larga, la demo que se atasca.</a:t>
            </a:r>
          </a:p>
          <a:p>
            <a:pPr>
              <a:spcAft>
                <a:spcPts val="800"/>
              </a:spcAft>
            </a:pPr>
            <a:r>
              <a:rPr sz="2000" b="0" i="0">
                <a:solidFill>
                  <a:srgbClr val="333333"/>
                </a:solidFill>
                <a:latin typeface="Calibri"/>
              </a:rPr>
              <a:t>–   Se anota el tiempo real de cada bloque frente al planeado, hasta caer entre 5 y 8 minutos.</a:t>
            </a:r>
          </a:p>
          <a:p>
            <a:pPr>
              <a:spcAft>
                <a:spcPts val="800"/>
              </a:spcAft>
            </a:pPr>
            <a:r>
              <a:rPr sz="2000" b="0" i="0">
                <a:solidFill>
                  <a:srgbClr val="333333"/>
                </a:solidFill>
                <a:latin typeface="Calibri"/>
              </a:rPr>
              <a:t>–   Restan: leer de espaldas, pedir disculpas, culpar al computador, pasarse del tiempo.</a:t>
            </a:r>
          </a:p>
          <a:p>
            <a:pPr>
              <a:spcAft>
                <a:spcPts val="800"/>
              </a:spcAft>
            </a:pPr>
            <a:r>
              <a:rPr sz="2000" b="0" i="0">
                <a:solidFill>
                  <a:srgbClr val="333333"/>
                </a:solidFill>
                <a:latin typeface="Calibri"/>
              </a:rPr>
              <a:t>–   Suman: mirar al jurado, el vocabulario del dominio y admitir las limitaciones.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ensayo(): planeado contra real</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a:t>
            </a:r>
          </a:p>
          <a:p>
            <a:pPr algn="r">
              <a:spcAft>
                <a:spcPts val="78"/>
              </a:spcAft>
            </a:pPr>
            <a:r>
              <a:rPr sz="1100" i="0" b="0">
                <a:solidFill>
                  <a:srgbClr val="858585"/>
                </a:solidFill>
                <a:latin typeface="Consolas"/>
              </a:rPr>
              <a:t>2</a:t>
            </a:r>
          </a:p>
          <a:p>
            <a:pPr algn="r">
              <a:spcAft>
                <a:spcPts val="78"/>
              </a:spcAft>
            </a:pPr>
            <a:r>
              <a:rPr sz="1100" i="0" b="0">
                <a:solidFill>
                  <a:srgbClr val="858585"/>
                </a:solidFill>
                <a:latin typeface="Consolas"/>
              </a:rPr>
              <a:t>3</a:t>
            </a:r>
          </a:p>
          <a:p>
            <a:pPr algn="r">
              <a:spcAft>
                <a:spcPts val="78"/>
              </a:spcAft>
            </a:pPr>
            <a:r>
              <a:rPr sz="1100" i="0" b="0">
                <a:solidFill>
                  <a:srgbClr val="858585"/>
                </a:solidFill>
                <a:latin typeface="Consolas"/>
              </a:rPr>
              <a:t>4</a:t>
            </a:r>
          </a:p>
          <a:p>
            <a:pPr algn="r">
              <a:spcAft>
                <a:spcPts val="78"/>
              </a:spcAft>
            </a:pPr>
            <a:r>
              <a:rPr sz="1100" i="0" b="0">
                <a:solidFill>
                  <a:srgbClr val="858585"/>
                </a:solidFill>
                <a:latin typeface="Consolas"/>
              </a:rPr>
              <a:t>5</a:t>
            </a:r>
          </a:p>
          <a:p>
            <a:pPr algn="r">
              <a:spcAft>
                <a:spcPts val="78"/>
              </a:spcAft>
            </a:pPr>
            <a:r>
              <a:rPr sz="1100" i="0" b="0">
                <a:solidFill>
                  <a:srgbClr val="858585"/>
                </a:solidFill>
                <a:latin typeface="Consolas"/>
              </a:rPr>
              <a:t>6</a:t>
            </a:r>
          </a:p>
          <a:p>
            <a:pPr algn="r">
              <a:spcAft>
                <a:spcPts val="78"/>
              </a:spcAft>
            </a:pPr>
            <a:r>
              <a:rPr sz="1100" i="0" b="0">
                <a:solidFill>
                  <a:srgbClr val="858585"/>
                </a:solidFill>
                <a:latin typeface="Consolas"/>
              </a:rPr>
              <a:t>7</a:t>
            </a:r>
          </a:p>
          <a:p>
            <a:pPr algn="r">
              <a:spcAft>
                <a:spcPts val="78"/>
              </a:spcAft>
            </a:pPr>
            <a:r>
              <a:rPr sz="1100" i="0" b="0">
                <a:solidFill>
                  <a:srgbClr val="858585"/>
                </a:solidFill>
                <a:latin typeface="Consolas"/>
              </a:rPr>
              <a:t>8</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Main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final</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GUION</a:t>
            </a:r>
            <a:r>
              <a:rPr sz="1100" i="0" b="0">
                <a:solidFill>
                  <a:srgbClr val="D4D4D4"/>
                </a:solidFill>
                <a:latin typeface="Consolas"/>
              </a:rPr>
              <a:t> = {</a:t>
            </a:r>
          </a:p>
          <a:p>
            <a:pPr>
              <a:spcAft>
                <a:spcPts val="78"/>
              </a:spcAft>
            </a:pPr>
            <a:r>
              <a:rPr sz="1100" i="0" b="0">
                <a:solidFill>
                  <a:srgbClr val="D4D4D4"/>
                </a:solidFill>
                <a:latin typeface="Consolas"/>
              </a:rPr>
              <a:t>        {</a:t>
            </a:r>
            <a:r>
              <a:rPr sz="1100" i="0" b="0">
                <a:solidFill>
                  <a:srgbClr val="CE9178"/>
                </a:solidFill>
                <a:latin typeface="Consolas"/>
              </a:rPr>
              <a:t>"Problema y solucion"</a:t>
            </a:r>
            <a:r>
              <a:rPr sz="1100" i="0" b="0">
                <a:solidFill>
                  <a:srgbClr val="D4D4D4"/>
                </a:solidFill>
                <a:latin typeface="Consolas"/>
              </a:rPr>
              <a:t>, </a:t>
            </a:r>
            <a:r>
              <a:rPr sz="1100" i="0" b="0">
                <a:solidFill>
                  <a:srgbClr val="CE9178"/>
                </a:solidFill>
                <a:latin typeface="Consolas"/>
              </a:rPr>
              <a:t>"Los 3 dolores"</a:t>
            </a:r>
            <a:r>
              <a:rPr sz="1100" i="0" b="0">
                <a:solidFill>
                  <a:srgbClr val="D4D4D4"/>
                </a:solidFill>
                <a:latin typeface="Consolas"/>
              </a:rPr>
              <a:t>, </a:t>
            </a:r>
            <a:r>
              <a:rPr sz="1100" i="0" b="0">
                <a:solidFill>
                  <a:srgbClr val="CE917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"Arquitectura"</a:t>
            </a:r>
            <a:r>
              <a:rPr sz="1100" i="0" b="0">
                <a:solidFill>
                  <a:srgbClr val="D4D4D4"/>
                </a:solidFill>
                <a:latin typeface="Consolas"/>
              </a:rPr>
              <a:t>, </a:t>
            </a:r>
            <a:r>
              <a:rPr sz="1100" i="0" b="0">
                <a:solidFill>
                  <a:srgbClr val="CE9178"/>
                </a:solidFill>
                <a:latin typeface="Consolas"/>
              </a:rPr>
              <a:t>"Persona.java y Dueno.java"</a:t>
            </a:r>
            <a:r>
              <a:rPr sz="1100" i="0" b="0">
                <a:solidFill>
                  <a:srgbClr val="D4D4D4"/>
                </a:solidFill>
                <a:latin typeface="Consolas"/>
              </a:rPr>
              <a:t>, </a:t>
            </a:r>
            <a:r>
              <a:rPr sz="1100" i="0" b="0">
                <a:solidFill>
                  <a:srgbClr val="CE917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"DEMO: dueno y mascota"</a:t>
            </a:r>
            <a:r>
              <a:rPr sz="1100" i="0" b="0">
                <a:solidFill>
                  <a:srgbClr val="D4D4D4"/>
                </a:solidFill>
                <a:latin typeface="Consolas"/>
              </a:rPr>
              <a:t>, </a:t>
            </a:r>
            <a:r>
              <a:rPr sz="1100" i="0" b="0">
                <a:solidFill>
                  <a:srgbClr val="CE9178"/>
                </a:solidFill>
                <a:latin typeface="Consolas"/>
              </a:rPr>
              <a:t>"La app corriendo"</a:t>
            </a:r>
            <a:r>
              <a:rPr sz="1100" i="0" b="0">
                <a:solidFill>
                  <a:srgbClr val="D4D4D4"/>
                </a:solidFill>
                <a:latin typeface="Consolas"/>
              </a:rPr>
              <a:t>, </a:t>
            </a:r>
            <a:r>
              <a:rPr sz="1100" i="0" b="0">
                <a:solidFill>
                  <a:srgbClr val="CE9178"/>
                </a:solidFill>
                <a:latin typeface="Consolas"/>
              </a:rPr>
              <a:t>"2"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"DEMO: cita, busqueda y CSV"</a:t>
            </a:r>
            <a:r>
              <a:rPr sz="1100" i="0" b="0">
                <a:solidFill>
                  <a:srgbClr val="D4D4D4"/>
                </a:solidFill>
                <a:latin typeface="Consolas"/>
              </a:rPr>
              <a:t>, </a:t>
            </a:r>
            <a:r>
              <a:rPr sz="1100" i="0" b="0">
                <a:solidFill>
                  <a:srgbClr val="CE9178"/>
                </a:solidFill>
                <a:latin typeface="Consolas"/>
              </a:rPr>
              <a:t>"Reabrir"</a:t>
            </a:r>
            <a:r>
              <a:rPr sz="1100" i="0" b="0">
                <a:solidFill>
                  <a:srgbClr val="D4D4D4"/>
                </a:solidFill>
                <a:latin typeface="Consolas"/>
              </a:rPr>
              <a:t>, </a:t>
            </a:r>
            <a:r>
              <a:rPr sz="1100" i="0" b="0">
                <a:solidFill>
                  <a:srgbClr val="CE9178"/>
                </a:solidFill>
                <a:latin typeface="Consolas"/>
              </a:rPr>
              <a:t>"2"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"Limitaciones y cierre"</a:t>
            </a:r>
            <a:r>
              <a:rPr sz="1100" i="0" b="0">
                <a:solidFill>
                  <a:srgbClr val="D4D4D4"/>
                </a:solidFill>
                <a:latin typeface="Consolas"/>
              </a:rPr>
              <a:t>, </a:t>
            </a:r>
            <a:r>
              <a:rPr sz="1100" i="0" b="0">
                <a:solidFill>
                  <a:srgbClr val="CE9178"/>
                </a:solidFill>
                <a:latin typeface="Consolas"/>
              </a:rPr>
              <a:t>"3 limitaciones"</a:t>
            </a:r>
            <a:r>
              <a:rPr sz="1100" i="0" b="0">
                <a:solidFill>
                  <a:srgbClr val="D4D4D4"/>
                </a:solidFill>
                <a:latin typeface="Consolas"/>
              </a:rPr>
              <a:t>, </a:t>
            </a:r>
            <a:r>
              <a:rPr sz="1100" i="0" b="0">
                <a:solidFill>
                  <a:srgbClr val="CE917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9</a:t>
            </a:r>
          </a:p>
          <a:p>
            <a:pPr algn="r">
              <a:spcAft>
                <a:spcPts val="78"/>
              </a:spcAft>
            </a:pPr>
            <a:r>
              <a:rPr sz="1100" i="0" b="0">
                <a:solidFill>
                  <a:srgbClr val="858585"/>
                </a:solidFill>
                <a:latin typeface="Consolas"/>
              </a:rPr>
              <a:t>10</a:t>
            </a:r>
          </a:p>
          <a:p>
            <a:pPr algn="r">
              <a:spcAft>
                <a:spcPts val="78"/>
              </a:spcAft>
            </a:pPr>
            <a:r>
              <a:rPr sz="1100" i="0" b="0">
                <a:solidFill>
                  <a:srgbClr val="858585"/>
                </a:solidFill>
                <a:latin typeface="Consolas"/>
              </a:rPr>
              <a:t>11</a:t>
            </a:r>
          </a:p>
          <a:p>
            <a:pPr algn="r">
              <a:spcAft>
                <a:spcPts val="78"/>
              </a:spcAft>
            </a:pPr>
            <a:r>
              <a:rPr sz="1100" i="0" b="0">
                <a:solidFill>
                  <a:srgbClr val="858585"/>
                </a:solidFill>
                <a:latin typeface="Consolas"/>
              </a:rPr>
              <a:t>12</a:t>
            </a:r>
          </a:p>
          <a:p>
            <a:pPr algn="r">
              <a:spcAft>
                <a:spcPts val="78"/>
              </a:spcAft>
            </a:pPr>
            <a:r>
              <a:rPr sz="1100" i="0" b="0">
                <a:solidFill>
                  <a:srgbClr val="858585"/>
                </a:solidFill>
                <a:latin typeface="Consolas"/>
              </a:rPr>
              <a:t>13</a:t>
            </a:r>
          </a:p>
          <a:p>
            <a:pPr algn="r">
              <a:spcAft>
                <a:spcPts val="78"/>
              </a:spcAft>
            </a:pPr>
            <a:r>
              <a:rPr sz="1100" i="0" b="0">
                <a:solidFill>
                  <a:srgbClr val="858585"/>
                </a:solidFill>
                <a:latin typeface="Consolas"/>
              </a:rPr>
              <a:t>14</a:t>
            </a:r>
          </a:p>
          <a:p>
            <a:pPr algn="r">
              <a:spcAft>
                <a:spcPts val="78"/>
              </a:spcAft>
            </a:pPr>
            <a:r>
              <a:rPr sz="1100" i="0" b="0">
                <a:solidFill>
                  <a:srgbClr val="858585"/>
                </a:solidFill>
                <a:latin typeface="Consolas"/>
              </a:rPr>
              <a:t>15</a:t>
            </a:r>
          </a:p>
          <a:p>
            <a:pPr algn="r">
              <a:spcAft>
                <a:spcPts val="78"/>
              </a:spcAft>
            </a:pPr>
            <a:r>
              <a:rPr sz="1100" i="0" b="0">
                <a:solidFill>
                  <a:srgbClr val="858585"/>
                </a:solidFill>
                <a:latin typeface="Consolas"/>
              </a:rPr>
              <a:t>16</a:t>
            </a:r>
          </a:p>
          <a:p>
            <a:pPr algn="r">
              <a:spcAft>
                <a:spcPts val="78"/>
              </a:spcAft>
            </a:pPr>
            <a:r>
              <a:rPr sz="1100" i="0" b="0">
                <a:solidFill>
                  <a:srgbClr val="858585"/>
                </a:solidFill>
                <a:latin typeface="Consolas"/>
              </a:rPr>
              <a:t>17</a:t>
            </a:r>
          </a:p>
          <a:p>
            <a:pPr algn="r">
              <a:spcAft>
                <a:spcPts val="78"/>
              </a:spcAft>
            </a:pPr>
            <a:r>
              <a:rPr sz="1100" i="0" b="0">
                <a:solidFill>
                  <a:srgbClr val="858585"/>
                </a:solidFill>
                <a:latin typeface="Consolas"/>
              </a:rPr>
              <a:t>18</a:t>
            </a:r>
          </a:p>
          <a:p>
            <a:pPr algn="r">
              <a:spcAft>
                <a:spcPts val="78"/>
              </a:spcAft>
            </a:pPr>
            <a:r>
              <a:rPr sz="1100" i="0" b="0">
                <a:solidFill>
                  <a:srgbClr val="858585"/>
                </a:solidFill>
                <a:latin typeface="Consolas"/>
              </a:rPr>
              <a:t>19</a:t>
            </a:r>
          </a:p>
          <a:p>
            <a:pPr algn="r">
              <a:spcAft>
                <a:spcPts val="78"/>
              </a:spcAft>
            </a:pPr>
            <a:r>
              <a:rPr sz="1100" i="0" b="0">
                <a:solidFill>
                  <a:srgbClr val="858585"/>
                </a:solidFill>
                <a:latin typeface="Consolas"/>
              </a:rPr>
              <a:t>20</a:t>
            </a:r>
          </a:p>
          <a:p>
            <a:pPr algn="r">
              <a:spcAft>
                <a:spcPts val="78"/>
              </a:spcAft>
            </a:pPr>
            <a:r>
              <a:rPr sz="1100" i="0" b="0">
                <a:solidFill>
                  <a:srgbClr val="858585"/>
                </a:solidFill>
                <a:latin typeface="Consolas"/>
              </a:rPr>
              <a:t>21</a:t>
            </a:r>
          </a:p>
          <a:p>
            <a:pPr algn="r">
              <a:spcAft>
                <a:spcPts val="78"/>
              </a:spcAft>
            </a:pPr>
            <a:r>
              <a:rPr sz="1100" i="0" b="0">
                <a:solidFill>
                  <a:srgbClr val="858585"/>
                </a:solidFill>
                <a:latin typeface="Consolas"/>
              </a:rPr>
              <a:t>22</a:t>
            </a:r>
          </a:p>
          <a:p>
            <a:pPr algn="r">
              <a:spcAft>
                <a:spcPts val="78"/>
              </a:spcAft>
            </a:pPr>
            <a:r>
              <a:rPr sz="1100" i="0" b="0">
                <a:solidFill>
                  <a:srgbClr val="858585"/>
                </a:solidFill>
                <a:latin typeface="Consolas"/>
              </a:rPr>
              <a:t>23</a:t>
            </a:r>
          </a:p>
          <a:p>
            <a:pPr algn="r">
              <a:spcAft>
                <a:spcPts val="78"/>
              </a:spcAft>
            </a:pPr>
            <a:r>
              <a:rPr sz="1100" i="0" b="0">
                <a:solidFill>
                  <a:srgbClr val="858585"/>
                </a:solidFill>
                <a:latin typeface="Consolas"/>
              </a:rPr>
              <a:t>24</a:t>
            </a:r>
          </a:p>
          <a:p>
            <a:pPr algn="r">
              <a:spcAft>
                <a:spcPts val="78"/>
              </a:spcAft>
            </a:pPr>
            <a:r>
              <a:rPr sz="1100" i="0" b="0">
                <a:solidFill>
                  <a:srgbClr val="858585"/>
                </a:solidFill>
                <a:latin typeface="Consolas"/>
              </a:rPr>
              <a:t>25</a:t>
            </a:r>
          </a:p>
          <a:p>
            <a:pPr algn="r">
              <a:spcAft>
                <a:spcPts val="78"/>
              </a:spcAft>
            </a:pPr>
            <a:r>
              <a:rPr sz="1100" i="0" b="0">
                <a:solidFill>
                  <a:srgbClr val="858585"/>
                </a:solidFill>
                <a:latin typeface="Consolas"/>
              </a:rPr>
              <a:t>26</a:t>
            </a:r>
          </a:p>
          <a:p>
            <a:pPr algn="r">
              <a:spcAft>
                <a:spcPts val="78"/>
              </a:spcAft>
            </a:pPr>
            <a:r>
              <a:rPr sz="1100" i="0" b="0">
                <a:solidFill>
                  <a:srgbClr val="858585"/>
                </a:solidFill>
                <a:latin typeface="Consolas"/>
              </a:rPr>
              <a:t>27</a:t>
            </a:r>
          </a:p>
          <a:p>
            <a:pPr algn="r">
              <a:spcAft>
                <a:spcPts val="78"/>
              </a:spcAft>
            </a:pPr>
            <a:r>
              <a:rPr sz="1100" i="0" b="0">
                <a:solidFill>
                  <a:srgbClr val="858585"/>
                </a:solidFill>
                <a:latin typeface="Consolas"/>
              </a:rPr>
              <a:t>28</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main</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args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throws</a:t>
            </a:r>
            <a:r>
              <a:rPr sz="1100" i="0" b="0">
                <a:solidFill>
                  <a:srgbClr val="D4D4D4"/>
                </a:solidFill>
                <a:latin typeface="Consolas"/>
              </a:rPr>
              <a:t> </a:t>
            </a:r>
            <a:r>
              <a:rPr sz="1100" i="0" b="0">
                <a:solidFill>
                  <a:srgbClr val="D4D4D4"/>
                </a:solidFill>
                <a:latin typeface="Consolas"/>
              </a:rPr>
              <a:t>InterruptedException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long</a:t>
            </a:r>
            <a:r>
              <a:rPr sz="1100" i="0" b="0">
                <a:solidFill>
                  <a:srgbClr val="D4D4D4"/>
                </a:solidFill>
                <a:latin typeface="Consolas"/>
              </a:rPr>
              <a:t> </a:t>
            </a:r>
            <a:r>
              <a:rPr sz="1100" i="0" b="0">
                <a:solidFill>
                  <a:srgbClr val="D4D4D4"/>
                </a:solidFill>
                <a:latin typeface="Consolas"/>
              </a:rPr>
              <a:t>anterior</a:t>
            </a:r>
            <a:r>
              <a:rPr sz="1100" i="0" b="0">
                <a:solidFill>
                  <a:srgbClr val="D4D4D4"/>
                </a:solidFill>
                <a:latin typeface="Consolas"/>
              </a:rPr>
              <a:t> = </a:t>
            </a:r>
            <a:r>
              <a:rPr sz="1100" i="0" b="0">
                <a:solidFill>
                  <a:srgbClr val="DCDCAA"/>
                </a:solidFill>
                <a:latin typeface="Consolas"/>
              </a:rPr>
              <a:t>System.currentTimeMillis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for</a:t>
            </a:r>
            <a:r>
              <a:rPr sz="1100" i="0" b="0">
                <a:solidFill>
                  <a:srgbClr val="D4D4D4"/>
                </a:solidFill>
                <a:latin typeface="Consolas"/>
              </a:rPr>
              <a:t> (</a:t>
            </a:r>
            <a:r>
              <a:rPr sz="1100" i="0" b="0">
                <a:solidFill>
                  <a:srgbClr val="4EC9B0"/>
                </a:solidFill>
                <a:latin typeface="Consolas"/>
              </a:rPr>
              <a:t>int</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 </a:t>
            </a:r>
            <a:r>
              <a:rPr sz="1100" i="0" b="0">
                <a:solidFill>
                  <a:srgbClr val="B5CEA8"/>
                </a:solidFill>
                <a:latin typeface="Consolas"/>
              </a:rPr>
              <a:t>0</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&lt; </a:t>
            </a:r>
            <a:r>
              <a:rPr sz="1100" i="0" b="0">
                <a:solidFill>
                  <a:srgbClr val="D4D4D4"/>
                </a:solidFill>
                <a:latin typeface="Consolas"/>
              </a:rPr>
              <a:t>GUION</a:t>
            </a:r>
            <a:r>
              <a:rPr sz="1100" i="0" b="0">
                <a:solidFill>
                  <a:srgbClr val="D4D4D4"/>
                </a:solidFill>
                <a:latin typeface="Consolas"/>
              </a:rPr>
              <a:t>.</a:t>
            </a:r>
            <a:r>
              <a:rPr sz="1100" i="0" b="0">
                <a:solidFill>
                  <a:srgbClr val="D4D4D4"/>
                </a:solidFill>
                <a:latin typeface="Consolas"/>
              </a:rPr>
              <a:t>length</a:t>
            </a:r>
            <a:r>
              <a:rPr sz="1100" i="0" b="0">
                <a:solidFill>
                  <a:srgbClr val="D4D4D4"/>
                </a:solidFill>
                <a:latin typeface="Consolas"/>
              </a:rPr>
              <a:t>; </a:t>
            </a:r>
            <a:r>
              <a:rPr sz="1100" i="0" b="0">
                <a:solidFill>
                  <a:srgbClr val="D4D4D4"/>
                </a:solidFill>
                <a:latin typeface="Consolas"/>
              </a:rPr>
              <a:t>i</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bloque</a:t>
            </a:r>
            <a:r>
              <a:rPr sz="1100" i="0" b="0">
                <a:solidFill>
                  <a:srgbClr val="D4D4D4"/>
                </a:solidFill>
                <a:latin typeface="Consolas"/>
              </a:rPr>
              <a:t> = </a:t>
            </a:r>
            <a:r>
              <a:rPr sz="1100" i="0" b="0">
                <a:solidFill>
                  <a:srgbClr val="D4D4D4"/>
                </a:solidFill>
                <a:latin typeface="Consolas"/>
              </a:rPr>
              <a:t>GUION</a:t>
            </a:r>
            <a:r>
              <a:rPr sz="1100" i="0" b="0">
                <a:solidFill>
                  <a:srgbClr val="D4D4D4"/>
                </a:solidFill>
                <a:latin typeface="Consolas"/>
              </a:rPr>
              <a:t>[</a:t>
            </a:r>
            <a:r>
              <a:rPr sz="1100" i="0" b="0">
                <a:solidFill>
                  <a:srgbClr val="D4D4D4"/>
                </a:solidFill>
                <a:latin typeface="Consolas"/>
              </a:rPr>
              <a:t>i</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"-&gt; "</a:t>
            </a:r>
            <a:r>
              <a:rPr sz="1100" i="0" b="0">
                <a:solidFill>
                  <a:srgbClr val="D4D4D4"/>
                </a:solidFill>
                <a:latin typeface="Consolas"/>
              </a:rPr>
              <a:t> + </a:t>
            </a:r>
            <a:r>
              <a:rPr sz="1100" i="0" b="0">
                <a:solidFill>
                  <a:srgbClr val="D4D4D4"/>
                </a:solidFill>
                <a:latin typeface="Consolas"/>
              </a:rPr>
              <a:t>bloque</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a:t>
            </a:r>
          </a:p>
          <a:p>
            <a:pPr>
              <a:spcAft>
                <a:spcPts val="78"/>
              </a:spcAft>
            </a:pPr>
            <a:r>
              <a:rPr sz="1100" i="0" b="0">
                <a:solidFill>
                  <a:srgbClr val="D4D4D4"/>
                </a:solidFill>
                <a:latin typeface="Consolas"/>
              </a:rPr>
              <a:t>                    + </a:t>
            </a:r>
            <a:r>
              <a:rPr sz="1100" i="0" b="0">
                <a:solidFill>
                  <a:srgbClr val="CE9178"/>
                </a:solidFill>
                <a:latin typeface="Consolas"/>
              </a:rPr>
              <a:t>" | Evidencia: "</a:t>
            </a:r>
            <a:r>
              <a:rPr sz="1100" i="0" b="0">
                <a:solidFill>
                  <a:srgbClr val="D4D4D4"/>
                </a:solidFill>
                <a:latin typeface="Consolas"/>
              </a:rPr>
              <a:t> + </a:t>
            </a:r>
            <a:r>
              <a:rPr sz="1100" i="0" b="0">
                <a:solidFill>
                  <a:srgbClr val="D4D4D4"/>
                </a:solidFill>
                <a:latin typeface="Consolas"/>
              </a:rPr>
              <a:t>bloque</a:t>
            </a:r>
            <a:r>
              <a:rPr sz="1100" i="0" b="0">
                <a:solidFill>
                  <a:srgbClr val="D4D4D4"/>
                </a:solidFill>
                <a:latin typeface="Consolas"/>
              </a:rPr>
              <a:t>[</a:t>
            </a:r>
            <a:r>
              <a:rPr sz="1100" i="0" b="0">
                <a:solidFill>
                  <a:srgbClr val="B5CEA8"/>
                </a:solidFill>
                <a:latin typeface="Consolas"/>
              </a:rPr>
              <a:t>1</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Thread.sleep</a:t>
            </a:r>
            <a:r>
              <a:rPr sz="1100" i="0" b="0">
                <a:solidFill>
                  <a:srgbClr val="D4D4D4"/>
                </a:solidFill>
                <a:latin typeface="Consolas"/>
              </a:rPr>
              <a:t>(</a:t>
            </a:r>
            <a:r>
              <a:rPr sz="1100" i="0" b="0">
                <a:solidFill>
                  <a:srgbClr val="B5CEA8"/>
                </a:solidFill>
                <a:latin typeface="Consolas"/>
              </a:rPr>
              <a:t>200</a:t>
            </a:r>
            <a:r>
              <a:rPr sz="1100" i="0" b="0">
                <a:solidFill>
                  <a:srgbClr val="D4D4D4"/>
                </a:solidFill>
                <a:latin typeface="Consolas"/>
              </a:rPr>
              <a:t>);   </a:t>
            </a:r>
            <a:r>
              <a:rPr sz="1100" i="1" b="0">
                <a:solidFill>
                  <a:srgbClr val="6A9955"/>
                </a:solidFill>
                <a:latin typeface="Consolas"/>
              </a:rPr>
              <a:t>// en vivo: Enter</a:t>
            </a:r>
          </a:p>
          <a:p>
            <a:pPr>
              <a:spcAft>
                <a:spcPts val="78"/>
              </a:spcAft>
            </a:pPr>
            <a:r>
              <a:rPr sz="1100" i="0" b="0">
                <a:solidFill>
                  <a:srgbClr val="D4D4D4"/>
                </a:solidFill>
                <a:latin typeface="Consolas"/>
              </a:rPr>
              <a:t>            </a:t>
            </a:r>
            <a:r>
              <a:rPr sz="1100" i="0" b="0">
                <a:solidFill>
                  <a:srgbClr val="4EC9B0"/>
                </a:solidFill>
                <a:latin typeface="Consolas"/>
              </a:rPr>
              <a:t>long</a:t>
            </a:r>
            <a:r>
              <a:rPr sz="1100" i="0" b="0">
                <a:solidFill>
                  <a:srgbClr val="D4D4D4"/>
                </a:solidFill>
                <a:latin typeface="Consolas"/>
              </a:rPr>
              <a:t> </a:t>
            </a:r>
            <a:r>
              <a:rPr sz="1100" i="0" b="0">
                <a:solidFill>
                  <a:srgbClr val="D4D4D4"/>
                </a:solidFill>
                <a:latin typeface="Consolas"/>
              </a:rPr>
              <a:t>ahora</a:t>
            </a:r>
            <a:r>
              <a:rPr sz="1100" i="0" b="0">
                <a:solidFill>
                  <a:srgbClr val="D4D4D4"/>
                </a:solidFill>
                <a:latin typeface="Consolas"/>
              </a:rPr>
              <a:t> = </a:t>
            </a:r>
            <a:r>
              <a:rPr sz="1100" i="0" b="0">
                <a:solidFill>
                  <a:srgbClr val="DCDCAA"/>
                </a:solidFill>
                <a:latin typeface="Consolas"/>
              </a:rPr>
              <a:t>System.currentTimeMillis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double</a:t>
            </a:r>
            <a:r>
              <a:rPr sz="1100" i="0" b="0">
                <a:solidFill>
                  <a:srgbClr val="D4D4D4"/>
                </a:solidFill>
                <a:latin typeface="Consolas"/>
              </a:rPr>
              <a:t> </a:t>
            </a:r>
            <a:r>
              <a:rPr sz="1100" i="0" b="0">
                <a:solidFill>
                  <a:srgbClr val="D4D4D4"/>
                </a:solidFill>
                <a:latin typeface="Consolas"/>
              </a:rPr>
              <a:t>real</a:t>
            </a:r>
            <a:r>
              <a:rPr sz="1100" i="0" b="0">
                <a:solidFill>
                  <a:srgbClr val="D4D4D4"/>
                </a:solidFill>
                <a:latin typeface="Consolas"/>
              </a:rPr>
              <a:t> = (</a:t>
            </a:r>
            <a:r>
              <a:rPr sz="1100" i="0" b="0">
                <a:solidFill>
                  <a:srgbClr val="D4D4D4"/>
                </a:solidFill>
                <a:latin typeface="Consolas"/>
              </a:rPr>
              <a:t>ahora</a:t>
            </a:r>
            <a:r>
              <a:rPr sz="1100" i="0" b="0">
                <a:solidFill>
                  <a:srgbClr val="D4D4D4"/>
                </a:solidFill>
                <a:latin typeface="Consolas"/>
              </a:rPr>
              <a:t> - </a:t>
            </a:r>
            <a:r>
              <a:rPr sz="1100" i="0" b="0">
                <a:solidFill>
                  <a:srgbClr val="D4D4D4"/>
                </a:solidFill>
                <a:latin typeface="Consolas"/>
              </a:rPr>
              <a:t>anterior</a:t>
            </a:r>
            <a:r>
              <a:rPr sz="1100" i="0" b="0">
                <a:solidFill>
                  <a:srgbClr val="D4D4D4"/>
                </a:solidFill>
                <a:latin typeface="Consolas"/>
              </a:rPr>
              <a:t>) / </a:t>
            </a:r>
            <a:r>
              <a:rPr sz="1100" i="0" b="0">
                <a:solidFill>
                  <a:srgbClr val="B5CEA8"/>
                </a:solidFill>
                <a:latin typeface="Consolas"/>
              </a:rPr>
              <a:t>60000.0</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double</a:t>
            </a:r>
            <a:r>
              <a:rPr sz="1100" i="0" b="0">
                <a:solidFill>
                  <a:srgbClr val="D4D4D4"/>
                </a:solidFill>
                <a:latin typeface="Consolas"/>
              </a:rPr>
              <a:t> </a:t>
            </a:r>
            <a:r>
              <a:rPr sz="1100" i="0" b="0">
                <a:solidFill>
                  <a:srgbClr val="D4D4D4"/>
                </a:solidFill>
                <a:latin typeface="Consolas"/>
              </a:rPr>
              <a:t>plan</a:t>
            </a:r>
            <a:r>
              <a:rPr sz="1100" i="0" b="0">
                <a:solidFill>
                  <a:srgbClr val="D4D4D4"/>
                </a:solidFill>
                <a:latin typeface="Consolas"/>
              </a:rPr>
              <a:t> = </a:t>
            </a:r>
            <a:r>
              <a:rPr sz="1100" i="0" b="0">
                <a:solidFill>
                  <a:srgbClr val="DCDCAA"/>
                </a:solidFill>
                <a:latin typeface="Consolas"/>
              </a:rPr>
              <a:t>Double.parseDouble</a:t>
            </a:r>
            <a:r>
              <a:rPr sz="1100" i="0" b="0">
                <a:solidFill>
                  <a:srgbClr val="D4D4D4"/>
                </a:solidFill>
                <a:latin typeface="Consolas"/>
              </a:rPr>
              <a:t>(</a:t>
            </a:r>
            <a:r>
              <a:rPr sz="1100" i="0" b="0">
                <a:solidFill>
                  <a:srgbClr val="D4D4D4"/>
                </a:solidFill>
                <a:latin typeface="Consolas"/>
              </a:rPr>
              <a:t>bloque</a:t>
            </a:r>
            <a:r>
              <a:rPr sz="1100" i="0" b="0">
                <a:solidFill>
                  <a:srgbClr val="D4D4D4"/>
                </a:solidFill>
                <a:latin typeface="Consolas"/>
              </a:rPr>
              <a:t>[</a:t>
            </a:r>
            <a:r>
              <a:rPr sz="1100" i="0" b="0">
                <a:solidFill>
                  <a:srgbClr val="B5CEA8"/>
                </a:solidFill>
                <a:latin typeface="Consolas"/>
              </a:rPr>
              <a:t>2</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veredicto</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4D4D4"/>
                </a:solidFill>
                <a:latin typeface="Consolas"/>
              </a:rPr>
              <a:t>real</a:t>
            </a:r>
            <a:r>
              <a:rPr sz="1100" i="0" b="0">
                <a:solidFill>
                  <a:srgbClr val="D4D4D4"/>
                </a:solidFill>
                <a:latin typeface="Consolas"/>
              </a:rPr>
              <a:t> &gt; </a:t>
            </a:r>
            <a:r>
              <a:rPr sz="1100" i="0" b="0">
                <a:solidFill>
                  <a:srgbClr val="D4D4D4"/>
                </a:solidFill>
                <a:latin typeface="Consolas"/>
              </a:rPr>
              <a:t>plan</a:t>
            </a:r>
            <a:r>
              <a:rPr sz="1100" i="0" b="0">
                <a:solidFill>
                  <a:srgbClr val="D4D4D4"/>
                </a:solidFill>
                <a:latin typeface="Consolas"/>
              </a:rPr>
              <a:t> ? </a:t>
            </a:r>
            <a:r>
              <a:rPr sz="1100" i="0" b="0">
                <a:solidFill>
                  <a:srgbClr val="CE9178"/>
                </a:solidFill>
                <a:latin typeface="Consolas"/>
              </a:rPr>
              <a:t>"SE PASO"</a:t>
            </a:r>
            <a:r>
              <a:rPr sz="1100" i="0" b="0">
                <a:solidFill>
                  <a:srgbClr val="D4D4D4"/>
                </a:solidFill>
                <a:latin typeface="Consolas"/>
              </a:rPr>
              <a:t> : </a:t>
            </a:r>
            <a:r>
              <a:rPr sz="1100" i="0" b="0">
                <a:solidFill>
                  <a:srgbClr val="CE9178"/>
                </a:solidFill>
                <a:latin typeface="Consolas"/>
              </a:rPr>
              <a:t>"en tiempo"</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DCDCAA"/>
                </a:solidFill>
                <a:latin typeface="Consolas"/>
              </a:rPr>
              <a:t>String.format</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CE9178"/>
                </a:solidFill>
                <a:latin typeface="Consolas"/>
              </a:rPr>
              <a:t>"   Real: %.2f | Plan: %.0f min | %s"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real</a:t>
            </a:r>
            <a:r>
              <a:rPr sz="1100" i="0" b="0">
                <a:solidFill>
                  <a:srgbClr val="D4D4D4"/>
                </a:solidFill>
                <a:latin typeface="Consolas"/>
              </a:rPr>
              <a:t>, </a:t>
            </a:r>
            <a:r>
              <a:rPr sz="1100" i="0" b="0">
                <a:solidFill>
                  <a:srgbClr val="D4D4D4"/>
                </a:solidFill>
                <a:latin typeface="Consolas"/>
              </a:rPr>
              <a:t>plan</a:t>
            </a:r>
            <a:r>
              <a:rPr sz="1100" i="0" b="0">
                <a:solidFill>
                  <a:srgbClr val="D4D4D4"/>
                </a:solidFill>
                <a:latin typeface="Consolas"/>
              </a:rPr>
              <a:t>, </a:t>
            </a:r>
            <a:r>
              <a:rPr sz="1100" i="0" b="0">
                <a:solidFill>
                  <a:srgbClr val="D4D4D4"/>
                </a:solidFill>
                <a:latin typeface="Consolas"/>
              </a:rPr>
              <a:t>veredicto</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anterior</a:t>
            </a:r>
            <a:r>
              <a:rPr sz="1100" i="0" b="0">
                <a:solidFill>
                  <a:srgbClr val="D4D4D4"/>
                </a:solidFill>
                <a:latin typeface="Consolas"/>
              </a:rPr>
              <a:t> = </a:t>
            </a:r>
            <a:r>
              <a:rPr sz="1100" i="0" b="0">
                <a:solidFill>
                  <a:srgbClr val="D4D4D4"/>
                </a:solidFill>
                <a:latin typeface="Consolas"/>
              </a:rPr>
              <a:t>ahora</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sustenta el sistema de la clinica en 6 minutos delante del grupo, provoca a proposito un error de edad para mostrar la…</a:t>
            </a:r>
          </a:p>
          <a:p>
            <a:pPr>
              <a:spcAft>
                <a:spcPts val="800"/>
              </a:spcAft>
            </a:pPr>
            <a:r>
              <a:rPr sz="2000" b="0" i="0">
                <a:solidFill>
                  <a:srgbClr val="333333"/>
                </a:solidFill>
                <a:latin typeface="Calibri"/>
              </a:rPr>
              <a:t>–   Mismo dominio de la clinica — no otro ejemplo.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14 · Preparacion de la presentacion final · Sustentacion del sistema de la clinica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Que mostrar, en que orden y como lograr que la demo no falle</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