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Una excepcion es un objeto que Java crea en el momento exacto en que una instruccion no puede cumplir lo que promete, y que interrumpe el flujo normal del programa para buscar a alguien que se haga cargo. No es un mensaje de texto: es un objeto con tipo, mensaje y rastro de llamadas (stack trace). Toda la familia cuelga de Throwable, que se divide en Error (fallas de la maquina virtual, como quedarse sin memoria, que no debemos atrapar) y Exception (fallas del programa o del entorno, que si podemos atender). En el sistema de la clinica esto se ve todos los dias: cuando la secretaria de la clinica escribe 'tres' en el campo edad y el codigo hace Integer.parseInt(txtEdad.getText()), Java no puede convertir esa palabra en numero, entonces fabrica un objeto NumberFormatException, lo lanza hacia arriba y, como nadie lo recibe, el hilo muere: la ventana queda congelada y en la consola aparece el chorro rojo que asusta al usuario. La excepcion no es el enemigo, es el mensajero; el problema es que nadie la esta esperando.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Java parte las excepciones en dos grupos y esa division decide cuanto codigo debe escribir usted. Las checked (Exception y sus hijas, menos RuntimeException) representan fallas previsibles del mundo exterior: el archivo mascotas.csv que alguien borro, el disco lleno, la carpeta sin permisos; el compilador las vigila y obliga a capturarlas con try-catch o a declararlas con throws, y si no lo hace su proyecto ni siquiera compila. Las unchecked (RuntimeException y sus hijas: NumberFormatException, NullPointerException, ArrayIndexOutOfBoundsException, ArithmeticException) representan errores de programacion o datos que nadie valido, y el compilador las deja pasar en silencio hasta que explotan en ejecucion. La regla practica que le sirve al estudiante es esta: si la falla viene de afuera (archivo, red, base de datos) casi siempre es checked; si la falla viene de adentro (usted no valido, usted no inicializo el objeto, usted se salio del arreglo) casi siempre es unchecked. En el sistema de la clinica la lectura de datos/mascotas.csv lanza IOException, que es checked, y la conversion de la edad lanza NumberFormatException, que es unchecked; por eso se manejan en lugares distintos del programa y por eso una obliga a escribir throws y la otra 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estructura try-catch-finally tiene una anatomia que conviene explicar despacio. En el try va el codigo que puede fallar y nada mas: entre menos lineas tenga el try, mas facil es saber quien fallo. En los catch va la reaccion, y se escriben del tipo mas especifico al mas general, porque Java entrega la excepcion al primer catch que la acepte; si usted pone catch (Exception e) antes de catch (NumberFormatException e), VS Code marca error de compilacion con el mensaje 'exception has already been caught'. Por la misma razon, al leer el CSV del sistema de la clinica, catch (FileNotFoundException e) va antes que catch (IOException e), porque la primera es hija de la segunda. Desde Java 7 se pueden unir tipos hermanos con multi-catch: catch (NumberFormatException | NullPointerException e). El bloque finally se ejecuta siempre, haya o no haya excepcion, e incluso si dentro del try hay un return (lo unico que se lo salta es apagar la maquina virtual con System.exit), y por eso fue durante anios el sitio para cerrar archivos y liberar recursos. Hoy preferimos el try-with-resources, que abre el recurso entre los parentesis del try y lo cierra solo, y funciona con cualquier objeto que implemente la interfaz AutoCloseable, como BufferedReader o PrintWriter: try (BufferedReader lector = new BufferedReader(new FileReader('datos/mascotas.csv'))) { ... }. En el sistema de la clinica esto significa que si el CSV esta corrupto a la mitad, el archivo igual se cierra y la aplicacion sigue viva con las mascotas que alcanzo a leer.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throw y throws se parecen en el nombre y hacen cosas opuestas, y esa confusion es la que mas cuesta en el parcial. throw (sin s) es una instruccion que se ejecuta y lanza un objeto en ese instante: throw new DatoInvalidoException('La edad debe estar entre 0 y 30 anios.'). throws (con s) es una advertencia escrita en la firma del metodo: public void setEdad(String texto) throws DatoInvalidoException, y significa 'yo no resuelvo esto, quien me llame vera que hace'. De ahi sale la regla de capas que usaremos en el sistema de la clinica: las clases del dominio (Mascota, Dueno, Cita) validan y LANZAN, porque no saben si hay una ventana, una consola o un servidor al otro lado; la capa de interfaz (el JFrame o el menu de consola) CAPTURA y traduce ese error a un JOptionPane que el usuario entiende. Crear una excepcion propia vale la pena por dos motivos: como DatoInvalidoException extiende Exception queda checked, es decir que el compilador no deja que nadie llame a setEdad sin hacerse cargo del error, y ademas el mensaje ya viene escrito en lenguaje de la clinica y no en lenguaje de la maquina: el usuario lee 'La edad debe ser un numero entero' y no 'For input string: tres'.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catch vacio, ese catch (Exception e) { } que aparece cuando VS Code ofrece en la bombilla 'Surround with try/catch' y el estudiante borra el contenido para que no moleste, es el error mas caro del curso. Silencia la falla pero no la arregla: el objeto queda a medio construir, la mascota nunca se agrego a la lista, el usuario cree que guardo y el error reaparece tres pantallas mas adelante como un NullPointerException que no tiene nada que ver con la causa real. Manejar una excepcion significa hacer al menos una de cuatro cosas: informarle al usuario en su idioma, registrar el problema para poder repararlo despues, asumir un valor por defecto que este documentado, o relanzar la excepcion envuelta en otra con mas contexto. Ojo: e.printStackTrace() tampoco es manejar, es apenas dejar una nota en una consola que el usuario final nunca ve. Y la mejor excepcion es la que no ocurre: validar antes de convertir (revisar null, aplicar trim, verificar isEmpty y comprobar el rango) evita el 80 por ciento de los try-catch del sistema de la clinica y hace que el codigo se lea como las reglas del negocio.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escribe 'tres' en el campo edad, muestra la aplicacion reventando con el stack trace rojo, y en vivo la envuelve en try-catch hasta que responde con un aviso amable.</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13</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Control de excepciones · try-catch-finally</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Que el sistema de la clinica no se caiga porque escribieron 'tres' en la edad</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otebook-planning-desk-coffee.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Cup of  Couple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Control de excepciones · try-catch-finally — Que el sistema de la clinica no se caiga porque escribieron 'tres' en la edad</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una excepción</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xcepcion-sube-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excepcion-sube-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excepcion-sube-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objeto que Java crea cuando una instrucción no puede cumplir lo que promete.</a:t>
            </a:r>
          </a:p>
          <a:p>
            <a:pPr>
              <a:spcAft>
                <a:spcPts val="800"/>
              </a:spcAft>
            </a:pPr>
            <a:r>
              <a:rPr sz="2000" b="0" i="0">
                <a:solidFill>
                  <a:srgbClr val="333333"/>
                </a:solidFill>
                <a:latin typeface="Calibri"/>
              </a:rPr>
              <a:t>–   Tiene tipo, mensaje y rastro de llamadas (stack trace).</a:t>
            </a:r>
          </a:p>
          <a:p>
            <a:pPr>
              <a:spcAft>
                <a:spcPts val="800"/>
              </a:spcAft>
            </a:pPr>
            <a:r>
              <a:rPr sz="2000" b="0" i="0">
                <a:solidFill>
                  <a:srgbClr val="333333"/>
                </a:solidFill>
                <a:latin typeface="Calibri"/>
              </a:rPr>
              <a:t>–   Throwable se divide en Error (la máquina virtual) y Exception (el programa y su entorno).</a:t>
            </a:r>
          </a:p>
          <a:p>
            <a:pPr>
              <a:spcAft>
                <a:spcPts val="800"/>
              </a:spcAft>
            </a:pPr>
            <a:r>
              <a:rPr sz="2000" b="0" i="0">
                <a:solidFill>
                  <a:srgbClr val="333333"/>
                </a:solidFill>
                <a:latin typeface="Calibri"/>
              </a:rPr>
              <a:t>–   parseInt("tres") lanza NumberFormatException; si nadie la recibe, el hilo muere.</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Checked y unchecked</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ed-unchecked-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hecked-unchecked-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hecked-unchecked-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Checked: fallas previsibles de afuera (archivo borrado, disco lleno); el compilador las exige.</a:t>
            </a:r>
          </a:p>
          <a:p>
            <a:pPr>
              <a:spcAft>
                <a:spcPts val="800"/>
              </a:spcAft>
            </a:pPr>
            <a:r>
              <a:rPr sz="2000" b="0" i="0">
                <a:solidFill>
                  <a:srgbClr val="333333"/>
                </a:solidFill>
                <a:latin typeface="Calibri"/>
              </a:rPr>
              <a:t>–   Se capturan con try-catch o se declaran con throws, o el proyecto no compila.</a:t>
            </a:r>
          </a:p>
          <a:p>
            <a:pPr>
              <a:spcAft>
                <a:spcPts val="800"/>
              </a:spcAft>
            </a:pPr>
            <a:r>
              <a:rPr sz="2000" b="0" i="0">
                <a:solidFill>
                  <a:srgbClr val="333333"/>
                </a:solidFill>
                <a:latin typeface="Calibri"/>
              </a:rPr>
              <a:t>–   Unchecked (RuntimeException): datos sin validar o errores de programación.</a:t>
            </a:r>
          </a:p>
          <a:p>
            <a:pPr>
              <a:spcAft>
                <a:spcPts val="800"/>
              </a:spcAft>
            </a:pPr>
            <a:r>
              <a:rPr sz="2000" b="0" i="0">
                <a:solidFill>
                  <a:srgbClr val="333333"/>
                </a:solidFill>
                <a:latin typeface="Calibri"/>
              </a:rPr>
              <a:t>–   Leer el CSV lanza IOException (checked); convertir la edad, NumberFormatException.</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Una excepción checked propia</a:t>
            </a:r>
          </a:p>
        </p:txBody>
      </p:sp>
      <p:sp>
        <p:nvSpPr>
          <p:cNvPr id="5" name="Rounded Rectangle 4"/>
          <p:cNvSpPr/>
          <p:nvPr/>
        </p:nvSpPr>
        <p:spPr>
          <a:xfrm>
            <a:off x="457200" y="1261872"/>
            <a:ext cx="11277295" cy="34863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1188720" y="1719072"/>
            <a:ext cx="10271455" cy="2891948"/>
          </a:xfrm>
          <a:prstGeom prst="rect">
            <a:avLst/>
          </a:prstGeom>
          <a:noFill/>
        </p:spPr>
        <p:txBody>
          <a:bodyPr wrap="square">
            <a:spAutoFit/>
          </a:bodyPr>
          <a:lstStyle/>
          <a:p>
            <a:pPr>
              <a:spcAft>
                <a:spcPts val="428"/>
              </a:spcAft>
            </a:pPr>
            <a:r>
              <a:rPr sz="2000" i="1" b="0">
                <a:solidFill>
                  <a:srgbClr val="6A9955"/>
                </a:solidFill>
                <a:latin typeface="Consolas"/>
              </a:rPr>
              <a:t>/** Excepcion CHECKED propia: al extender Exception el compilador obliga a capturarla o a declararla. */</a:t>
            </a:r>
          </a:p>
          <a:p>
            <a:pPr>
              <a:spcAft>
                <a:spcPts val="428"/>
              </a:spcAft>
            </a:pPr>
            <a:r>
              <a:rPr sz="2000" i="0" b="0">
                <a:solidFill>
                  <a:srgbClr val="569CD6"/>
                </a:solidFill>
                <a:latin typeface="Consolas"/>
              </a:rPr>
              <a:t>public</a:t>
            </a:r>
            <a:r>
              <a:rPr sz="2000" i="0" b="0">
                <a:solidFill>
                  <a:srgbClr val="D4D4D4"/>
                </a:solidFill>
                <a:latin typeface="Consolas"/>
              </a:rPr>
              <a:t> </a:t>
            </a:r>
            <a:r>
              <a:rPr sz="2000" i="0" b="0">
                <a:solidFill>
                  <a:srgbClr val="569CD6"/>
                </a:solidFill>
                <a:latin typeface="Consolas"/>
              </a:rPr>
              <a:t>static</a:t>
            </a:r>
            <a:r>
              <a:rPr sz="2000" i="0" b="0">
                <a:solidFill>
                  <a:srgbClr val="D4D4D4"/>
                </a:solidFill>
                <a:latin typeface="Consolas"/>
              </a:rPr>
              <a:t> </a:t>
            </a:r>
            <a:r>
              <a:rPr sz="2000" i="0" b="0">
                <a:solidFill>
                  <a:srgbClr val="569CD6"/>
                </a:solidFill>
                <a:latin typeface="Consolas"/>
              </a:rPr>
              <a:t>class</a:t>
            </a:r>
            <a:r>
              <a:rPr sz="2000" i="0" b="0">
                <a:solidFill>
                  <a:srgbClr val="D4D4D4"/>
                </a:solidFill>
                <a:latin typeface="Consolas"/>
              </a:rPr>
              <a:t> </a:t>
            </a:r>
            <a:r>
              <a:rPr sz="2000" i="0" b="0">
                <a:solidFill>
                  <a:srgbClr val="4EC9B0"/>
                </a:solidFill>
                <a:latin typeface="Consolas"/>
              </a:rPr>
              <a:t>DatoInvalidoException</a:t>
            </a:r>
            <a:r>
              <a:rPr sz="2000" i="0" b="0">
                <a:solidFill>
                  <a:srgbClr val="D4D4D4"/>
                </a:solidFill>
                <a:latin typeface="Consolas"/>
              </a:rPr>
              <a:t> </a:t>
            </a:r>
            <a:r>
              <a:rPr sz="2000" i="0" b="0">
                <a:solidFill>
                  <a:srgbClr val="569CD6"/>
                </a:solidFill>
                <a:latin typeface="Consolas"/>
              </a:rPr>
              <a:t>extends</a:t>
            </a:r>
            <a:r>
              <a:rPr sz="2000" i="0" b="0">
                <a:solidFill>
                  <a:srgbClr val="D4D4D4"/>
                </a:solidFill>
                <a:latin typeface="Consolas"/>
              </a:rPr>
              <a:t> </a:t>
            </a:r>
            <a:r>
              <a:rPr sz="2000" i="0" b="0">
                <a:solidFill>
                  <a:srgbClr val="4EC9B0"/>
                </a:solidFill>
                <a:latin typeface="Consolas"/>
              </a:rPr>
              <a:t>Exception</a:t>
            </a:r>
            <a:r>
              <a:rPr sz="2000" i="0" b="0">
                <a:solidFill>
                  <a:srgbClr val="D4D4D4"/>
                </a:solidFill>
                <a:latin typeface="Consolas"/>
              </a:rPr>
              <a:t> {</a:t>
            </a:r>
          </a:p>
          <a:p>
            <a:pPr>
              <a:spcAft>
                <a:spcPts val="428"/>
              </a:spcAft>
            </a:pPr>
            <a:r>
              <a:rPr sz="2000" i="0" b="0">
                <a:solidFill>
                  <a:srgbClr val="D4D4D4"/>
                </a:solidFill>
                <a:latin typeface="Consolas"/>
              </a:rPr>
              <a:t/>
            </a:r>
          </a:p>
          <a:p>
            <a:pPr>
              <a:spcAft>
                <a:spcPts val="428"/>
              </a:spcAft>
            </a:pPr>
            <a:r>
              <a:rPr sz="2000" i="0" b="0">
                <a:solidFill>
                  <a:srgbClr val="D4D4D4"/>
                </a:solidFill>
                <a:latin typeface="Consolas"/>
              </a:rPr>
              <a:t>    </a:t>
            </a:r>
            <a:r>
              <a:rPr sz="2000" i="0" b="0">
                <a:solidFill>
                  <a:srgbClr val="569CD6"/>
                </a:solidFill>
                <a:latin typeface="Consolas"/>
              </a:rPr>
              <a:t>public</a:t>
            </a:r>
            <a:r>
              <a:rPr sz="2000" i="0" b="0">
                <a:solidFill>
                  <a:srgbClr val="D4D4D4"/>
                </a:solidFill>
                <a:latin typeface="Consolas"/>
              </a:rPr>
              <a:t> </a:t>
            </a:r>
            <a:r>
              <a:rPr sz="2000" i="0" b="0">
                <a:solidFill>
                  <a:srgbClr val="DCDCAA"/>
                </a:solidFill>
                <a:latin typeface="Consolas"/>
              </a:rPr>
              <a:t>DatoInvalidoException</a:t>
            </a:r>
            <a:r>
              <a:rPr sz="2000" i="0" b="0">
                <a:solidFill>
                  <a:srgbClr val="D4D4D4"/>
                </a:solidFill>
                <a:latin typeface="Consolas"/>
              </a:rPr>
              <a:t>(</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mensaje</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super</a:t>
            </a:r>
            <a:r>
              <a:rPr sz="2000" i="0" b="0">
                <a:solidFill>
                  <a:srgbClr val="D4D4D4"/>
                </a:solidFill>
                <a:latin typeface="Consolas"/>
              </a:rPr>
              <a:t>(</a:t>
            </a:r>
            <a:r>
              <a:rPr sz="2000" i="0" b="0">
                <a:solidFill>
                  <a:srgbClr val="D4D4D4"/>
                </a:solidFill>
                <a:latin typeface="Consolas"/>
              </a:rPr>
              <a:t>mensaje</a:t>
            </a:r>
            <a:r>
              <a:rPr sz="2000" i="0" b="0">
                <a:solidFill>
                  <a:srgbClr val="D4D4D4"/>
                </a:solidFill>
                <a:latin typeface="Consolas"/>
              </a:rPr>
              <a:t>);</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a:t>
            </a:r>
          </a:p>
        </p:txBody>
      </p:sp>
      <p:sp>
        <p:nvSpPr>
          <p:cNvPr id="12" name="TextBox 11"/>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DemoExcepcionesClinica.java</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Anatomía de try-catch-finally</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y-catch-finally-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y-catch-finally-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y-catch-finally-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try: solo lo que puede fallar. catch: del tipo más específico al más general.</a:t>
            </a:r>
          </a:p>
          <a:p>
            <a:pPr>
              <a:spcAft>
                <a:spcPts val="800"/>
              </a:spcAft>
            </a:pPr>
            <a:r>
              <a:rPr sz="2000" b="0" i="0">
                <a:solidFill>
                  <a:srgbClr val="333333"/>
                </a:solidFill>
                <a:latin typeface="Calibri"/>
              </a:rPr>
              <a:t>–   FileNotFoundException va antes que IOException porque es su hija.</a:t>
            </a:r>
          </a:p>
          <a:p>
            <a:pPr>
              <a:spcAft>
                <a:spcPts val="800"/>
              </a:spcAft>
            </a:pPr>
            <a:r>
              <a:rPr sz="2000" b="0" i="0">
                <a:solidFill>
                  <a:srgbClr val="333333"/>
                </a:solidFill>
                <a:latin typeface="Calibri"/>
              </a:rPr>
              <a:t>–   finally se ejecuta siempre, incluso si el try hizo return.</a:t>
            </a:r>
          </a:p>
          <a:p>
            <a:pPr>
              <a:spcAft>
                <a:spcPts val="800"/>
              </a:spcAft>
            </a:pPr>
            <a:r>
              <a:rPr sz="2000" b="0" i="0">
                <a:solidFill>
                  <a:srgbClr val="333333"/>
                </a:solidFill>
                <a:latin typeface="Calibri"/>
              </a:rPr>
              <a:t>–   try-with-resources cierra solo cualquier AutoCloseable, como BufferedReader.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registrar(): try, catch y finally</a:t>
            </a:r>
          </a:p>
        </p:txBody>
      </p:sp>
      <p:sp>
        <p:nvSpPr>
          <p:cNvPr id="5" name="Rounded Rectangle 4"/>
          <p:cNvSpPr/>
          <p:nvPr/>
        </p:nvSpPr>
        <p:spPr>
          <a:xfrm>
            <a:off x="457200" y="1261872"/>
            <a:ext cx="11277295" cy="45352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1188720" y="1719072"/>
            <a:ext cx="10271455" cy="3940889"/>
          </a:xfrm>
          <a:prstGeom prst="rect">
            <a:avLst/>
          </a:prstGeom>
          <a:noFill/>
        </p:spPr>
        <p:txBody>
          <a:bodyPr wrap="square">
            <a:spAutoFit/>
          </a:bodyPr>
          <a:lstStyle/>
          <a:p>
            <a:pPr>
              <a:spcAft>
                <a:spcPts val="278"/>
              </a:spcAft>
            </a:pPr>
            <a:r>
              <a:rPr sz="1300" i="1" b="0">
                <a:solidFill>
                  <a:srgbClr val="6A9955"/>
                </a:solidFill>
                <a:latin typeface="Consolas"/>
              </a:rPr>
              <a:t>/** Capa de aplicacion: aqui SI se captura, porque aqui se le habla al usuario. */</a:t>
            </a:r>
          </a:p>
          <a:p>
            <a:pPr>
              <a:spcAft>
                <a:spcPts val="278"/>
              </a:spcAft>
            </a:pPr>
            <a:r>
              <a:rPr sz="1300" i="0" b="0">
                <a:solidFill>
                  <a:srgbClr val="569CD6"/>
                </a:solidFill>
                <a:latin typeface="Consolas"/>
              </a:rPr>
              <a:t>private</a:t>
            </a:r>
            <a:r>
              <a:rPr sz="1300" i="0" b="0">
                <a:solidFill>
                  <a:srgbClr val="D4D4D4"/>
                </a:solidFill>
                <a:latin typeface="Consolas"/>
              </a:rPr>
              <a:t> </a:t>
            </a:r>
            <a:r>
              <a:rPr sz="1300" i="0" b="0">
                <a:solidFill>
                  <a:srgbClr val="569CD6"/>
                </a:solidFill>
                <a:latin typeface="Consolas"/>
              </a:rPr>
              <a:t>static</a:t>
            </a:r>
            <a:r>
              <a:rPr sz="1300" i="0" b="0">
                <a:solidFill>
                  <a:srgbClr val="D4D4D4"/>
                </a:solidFill>
                <a:latin typeface="Consolas"/>
              </a:rPr>
              <a:t> </a:t>
            </a:r>
            <a:r>
              <a:rPr sz="1300" i="0" b="0">
                <a:solidFill>
                  <a:srgbClr val="569CD6"/>
                </a:solidFill>
                <a:latin typeface="Consolas"/>
              </a:rPr>
              <a:t>void</a:t>
            </a:r>
            <a:r>
              <a:rPr sz="1300" i="0" b="0">
                <a:solidFill>
                  <a:srgbClr val="D4D4D4"/>
                </a:solidFill>
                <a:latin typeface="Consolas"/>
              </a:rPr>
              <a:t> </a:t>
            </a:r>
            <a:r>
              <a:rPr sz="1300" i="0" b="0">
                <a:solidFill>
                  <a:srgbClr val="DCDCAA"/>
                </a:solidFill>
                <a:latin typeface="Consolas"/>
              </a:rPr>
              <a:t>registrar</a:t>
            </a:r>
            <a:r>
              <a:rPr sz="1300" i="0" b="0">
                <a:solidFill>
                  <a:srgbClr val="D4D4D4"/>
                </a:solidFill>
                <a:latin typeface="Consolas"/>
              </a:rPr>
              <a:t>(</a:t>
            </a:r>
            <a:r>
              <a:rPr sz="1300" i="0" b="0">
                <a:solidFill>
                  <a:srgbClr val="4EC9B0"/>
                </a:solidFill>
                <a:latin typeface="Consolas"/>
              </a:rPr>
              <a:t>List</a:t>
            </a:r>
            <a:r>
              <a:rPr sz="1300" i="0" b="0">
                <a:solidFill>
                  <a:srgbClr val="D4D4D4"/>
                </a:solidFill>
                <a:latin typeface="Consolas"/>
              </a:rPr>
              <a:t>&lt;</a:t>
            </a:r>
            <a:r>
              <a:rPr sz="1300" i="0" b="0">
                <a:solidFill>
                  <a:srgbClr val="D4D4D4"/>
                </a:solidFill>
                <a:latin typeface="Consolas"/>
              </a:rPr>
              <a:t>Mascota</a:t>
            </a:r>
            <a:r>
              <a:rPr sz="1300" i="0" b="0">
                <a:solidFill>
                  <a:srgbClr val="D4D4D4"/>
                </a:solidFill>
                <a:latin typeface="Consolas"/>
              </a:rPr>
              <a:t>&gt; </a:t>
            </a:r>
            <a:r>
              <a:rPr sz="1300" i="0" b="0">
                <a:solidFill>
                  <a:srgbClr val="D4D4D4"/>
                </a:solidFill>
                <a:latin typeface="Consolas"/>
              </a:rPr>
              <a:t>agenda</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id</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nombre</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edad</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peso</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try</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4D4D4"/>
                </a:solidFill>
                <a:latin typeface="Consolas"/>
              </a:rPr>
              <a:t>Mascota</a:t>
            </a:r>
            <a:r>
              <a:rPr sz="1300" i="0" b="0">
                <a:solidFill>
                  <a:srgbClr val="D4D4D4"/>
                </a:solidFill>
                <a:latin typeface="Consolas"/>
              </a:rPr>
              <a:t> </a:t>
            </a:r>
            <a:r>
              <a:rPr sz="1300" i="0" b="0">
                <a:solidFill>
                  <a:srgbClr val="D4D4D4"/>
                </a:solidFill>
                <a:latin typeface="Consolas"/>
              </a:rPr>
              <a:t>m</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Mascota</a:t>
            </a:r>
            <a:r>
              <a:rPr sz="1300" i="0" b="0">
                <a:solidFill>
                  <a:srgbClr val="D4D4D4"/>
                </a:solidFill>
                <a:latin typeface="Consolas"/>
              </a:rPr>
              <a:t>(</a:t>
            </a:r>
            <a:r>
              <a:rPr sz="1300" i="0" b="0">
                <a:solidFill>
                  <a:srgbClr val="D4D4D4"/>
                </a:solidFill>
                <a:latin typeface="Consolas"/>
              </a:rPr>
              <a:t>id</a:t>
            </a:r>
            <a:r>
              <a:rPr sz="1300" i="0" b="0">
                <a:solidFill>
                  <a:srgbClr val="D4D4D4"/>
                </a:solidFill>
                <a:latin typeface="Consolas"/>
              </a:rPr>
              <a:t>, </a:t>
            </a:r>
            <a:r>
              <a:rPr sz="1300" i="0" b="0">
                <a:solidFill>
                  <a:srgbClr val="D4D4D4"/>
                </a:solidFill>
                <a:latin typeface="Consolas"/>
              </a:rPr>
              <a:t>nombre</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CDCAA"/>
                </a:solidFill>
                <a:latin typeface="Consolas"/>
              </a:rPr>
              <a:t>m.setEdad</a:t>
            </a:r>
            <a:r>
              <a:rPr sz="1300" i="0" b="0">
                <a:solidFill>
                  <a:srgbClr val="D4D4D4"/>
                </a:solidFill>
                <a:latin typeface="Consolas"/>
              </a:rPr>
              <a:t>(</a:t>
            </a:r>
            <a:r>
              <a:rPr sz="1300" i="0" b="0">
                <a:solidFill>
                  <a:srgbClr val="D4D4D4"/>
                </a:solidFill>
                <a:latin typeface="Consolas"/>
              </a:rPr>
              <a:t>edad</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CDCAA"/>
                </a:solidFill>
                <a:latin typeface="Consolas"/>
              </a:rPr>
              <a:t>m.setPeso</a:t>
            </a:r>
            <a:r>
              <a:rPr sz="1300" i="0" b="0">
                <a:solidFill>
                  <a:srgbClr val="D4D4D4"/>
                </a:solidFill>
                <a:latin typeface="Consolas"/>
              </a:rPr>
              <a:t>(</a:t>
            </a:r>
            <a:r>
              <a:rPr sz="1300" i="0" b="0">
                <a:solidFill>
                  <a:srgbClr val="D4D4D4"/>
                </a:solidFill>
                <a:latin typeface="Consolas"/>
              </a:rPr>
              <a:t>peso</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CDCAA"/>
                </a:solidFill>
                <a:latin typeface="Consolas"/>
              </a:rPr>
              <a:t>agenda.add</a:t>
            </a:r>
            <a:r>
              <a:rPr sz="1300" i="0" b="0">
                <a:solidFill>
                  <a:srgbClr val="D4D4D4"/>
                </a:solidFill>
                <a:latin typeface="Consolas"/>
              </a:rPr>
              <a:t>(</a:t>
            </a:r>
            <a:r>
              <a:rPr sz="1300" i="0" b="0">
                <a:solidFill>
                  <a:srgbClr val="D4D4D4"/>
                </a:solidFill>
                <a:latin typeface="Consolas"/>
              </a:rPr>
              <a:t>m</a:t>
            </a:r>
            <a:r>
              <a:rPr sz="1300" i="0" b="0">
                <a:solidFill>
                  <a:srgbClr val="D4D4D4"/>
                </a:solidFill>
                <a:latin typeface="Consolas"/>
              </a:rPr>
              <a:t>);   </a:t>
            </a:r>
            <a:r>
              <a:rPr sz="1300" i="1" b="0">
                <a:solidFill>
                  <a:srgbClr val="6A9955"/>
                </a:solidFill>
                <a:latin typeface="Consolas"/>
              </a:rPr>
              <a:t>// el add va DESPUES de validar: nada incompleto entra a la coleccion</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  [OK] Registrada: "</a:t>
            </a:r>
            <a:r>
              <a:rPr sz="1300" i="0" b="0">
                <a:solidFill>
                  <a:srgbClr val="D4D4D4"/>
                </a:solidFill>
                <a:latin typeface="Consolas"/>
              </a:rPr>
              <a:t> + </a:t>
            </a:r>
            <a:r>
              <a:rPr sz="1300" i="0" b="0">
                <a:solidFill>
                  <a:srgbClr val="D4D4D4"/>
                </a:solidFill>
                <a:latin typeface="Consolas"/>
              </a:rPr>
              <a:t>m</a:t>
            </a:r>
            <a:r>
              <a:rPr sz="1300" i="0" b="0">
                <a:solidFill>
                  <a:srgbClr val="D4D4D4"/>
                </a:solidFill>
                <a:latin typeface="Consolas"/>
              </a:rPr>
              <a:t>);</a:t>
            </a:r>
          </a:p>
          <a:p>
            <a:pPr>
              <a:spcAft>
                <a:spcPts val="278"/>
              </a:spcAft>
            </a:pPr>
            <a:r>
              <a:rPr sz="1300" i="0" b="0">
                <a:solidFill>
                  <a:srgbClr val="D4D4D4"/>
                </a:solidFill>
                <a:latin typeface="Consolas"/>
              </a:rPr>
              <a:t>    } </a:t>
            </a:r>
            <a:r>
              <a:rPr sz="1300" i="0" b="0">
                <a:solidFill>
                  <a:srgbClr val="569CD6"/>
                </a:solidFill>
                <a:latin typeface="Consolas"/>
              </a:rPr>
              <a:t>catch</a:t>
            </a:r>
            <a:r>
              <a:rPr sz="1300" i="0" b="0">
                <a:solidFill>
                  <a:srgbClr val="D4D4D4"/>
                </a:solidFill>
                <a:latin typeface="Consolas"/>
              </a:rPr>
              <a:t> (</a:t>
            </a:r>
            <a:r>
              <a:rPr sz="1300" i="0" b="0">
                <a:solidFill>
                  <a:srgbClr val="D4D4D4"/>
                </a:solidFill>
                <a:latin typeface="Consolas"/>
              </a:rPr>
              <a:t>DatoInvalidoException</a:t>
            </a:r>
            <a:r>
              <a:rPr sz="1300" i="0" b="0">
                <a:solidFill>
                  <a:srgbClr val="D4D4D4"/>
                </a:solidFill>
                <a:latin typeface="Consolas"/>
              </a:rPr>
              <a:t> </a:t>
            </a:r>
            <a:r>
              <a:rPr sz="1300" i="0" b="0">
                <a:solidFill>
                  <a:srgbClr val="D4D4D4"/>
                </a:solidFill>
                <a:latin typeface="Consolas"/>
              </a:rPr>
              <a:t>e</a:t>
            </a:r>
            <a:r>
              <a:rPr sz="1300" i="0" b="0">
                <a:solidFill>
                  <a:srgbClr val="D4D4D4"/>
                </a:solidFill>
                <a:latin typeface="Consolas"/>
              </a:rPr>
              <a:t>) {</a:t>
            </a:r>
          </a:p>
          <a:p>
            <a:pPr>
              <a:spcAft>
                <a:spcPts val="278"/>
              </a:spcAft>
            </a:pPr>
            <a:r>
              <a:rPr sz="1300" i="0" b="0">
                <a:solidFill>
                  <a:srgbClr val="D4D4D4"/>
                </a:solidFill>
                <a:latin typeface="Consolas"/>
              </a:rPr>
              <a:t>        </a:t>
            </a:r>
            <a:r>
              <a:rPr sz="1300" i="1" b="0">
                <a:solidFill>
                  <a:srgbClr val="6A9955"/>
                </a:solidFill>
                <a:latin typeface="Consolas"/>
              </a:rPr>
              <a:t>// En Swing seria: JOptionPane.showMessageDialog(this, e.getMessage(), "Dato invalido", JOptionPane.WARNING_MESSAGE);</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  [AVISO AL USUARIO] "</a:t>
            </a:r>
            <a:r>
              <a:rPr sz="1300" i="0" b="0">
                <a:solidFill>
                  <a:srgbClr val="D4D4D4"/>
                </a:solidFill>
                <a:latin typeface="Consolas"/>
              </a:rPr>
              <a:t> + </a:t>
            </a:r>
            <a:r>
              <a:rPr sz="1300" i="0" b="0">
                <a:solidFill>
                  <a:srgbClr val="DCDCAA"/>
                </a:solidFill>
                <a:latin typeface="Consolas"/>
              </a:rPr>
              <a:t>e.getMessage</a:t>
            </a:r>
            <a:r>
              <a:rPr sz="1300" i="0" b="0">
                <a:solidFill>
                  <a:srgbClr val="D4D4D4"/>
                </a:solidFill>
                <a:latin typeface="Consolas"/>
              </a:rPr>
              <a:t>());</a:t>
            </a:r>
          </a:p>
          <a:p>
            <a:pPr>
              <a:spcAft>
                <a:spcPts val="278"/>
              </a:spcAft>
            </a:pPr>
            <a:r>
              <a:rPr sz="1300" i="0" b="0">
                <a:solidFill>
                  <a:srgbClr val="D4D4D4"/>
                </a:solidFill>
                <a:latin typeface="Consolas"/>
              </a:rPr>
              <a:t>    } </a:t>
            </a:r>
            <a:r>
              <a:rPr sz="1300" i="0" b="0">
                <a:solidFill>
                  <a:srgbClr val="569CD6"/>
                </a:solidFill>
                <a:latin typeface="Consolas"/>
              </a:rPr>
              <a:t>finally</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  (finally) Intento terminado. Mascotas en memoria: "</a:t>
            </a:r>
            <a:r>
              <a:rPr sz="1300" i="0" b="0">
                <a:solidFill>
                  <a:srgbClr val="D4D4D4"/>
                </a:solidFill>
                <a:latin typeface="Consolas"/>
              </a:rPr>
              <a:t> + </a:t>
            </a:r>
            <a:r>
              <a:rPr sz="1300" i="0" b="0">
                <a:solidFill>
                  <a:srgbClr val="DCDCAA"/>
                </a:solidFill>
                <a:latin typeface="Consolas"/>
              </a:rPr>
              <a:t>agenda.size</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a:t>
            </a:r>
          </a:p>
        </p:txBody>
      </p:sp>
      <p:sp>
        <p:nvSpPr>
          <p:cNvPr id="12" name="TextBox 11"/>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DemoExcepcionesClinica.java</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finally corre aunque haya return</a:t>
            </a:r>
          </a:p>
        </p:txBody>
      </p:sp>
      <p:sp>
        <p:nvSpPr>
          <p:cNvPr id="5" name="Rounded Rectangle 4"/>
          <p:cNvSpPr/>
          <p:nvPr/>
        </p:nvSpPr>
        <p:spPr>
          <a:xfrm>
            <a:off x="457200" y="1261872"/>
            <a:ext cx="11277295" cy="44590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864689"/>
          </a:xfrm>
          <a:prstGeom prst="rect">
            <a:avLst/>
          </a:prstGeom>
          <a:noFill/>
        </p:spPr>
        <p:txBody>
          <a:bodyPr wrap="square">
            <a:spAutoFit/>
          </a:bodyPr>
          <a:lstStyle/>
          <a:p>
            <a:pPr algn="r">
              <a:spcAft>
                <a:spcPts val="342"/>
              </a:spcAft>
            </a:pPr>
            <a:r>
              <a:rPr sz="1600" i="0" b="0">
                <a:solidFill>
                  <a:srgbClr val="858585"/>
                </a:solidFill>
                <a:latin typeface="Consolas"/>
              </a:rPr>
              <a:t>1</a:t>
            </a:r>
          </a:p>
          <a:p>
            <a:pPr algn="r">
              <a:spcAft>
                <a:spcPts val="342"/>
              </a:spcAft>
            </a:pPr>
            <a:r>
              <a:rPr sz="1600" i="0" b="0">
                <a:solidFill>
                  <a:srgbClr val="858585"/>
                </a:solidFill>
                <a:latin typeface="Consolas"/>
              </a:rPr>
              <a:t>2</a:t>
            </a:r>
          </a:p>
          <a:p>
            <a:pPr algn="r">
              <a:spcAft>
                <a:spcPts val="342"/>
              </a:spcAft>
            </a:pPr>
            <a:r>
              <a:rPr sz="1600" i="0" b="0">
                <a:solidFill>
                  <a:srgbClr val="858585"/>
                </a:solidFill>
                <a:latin typeface="Consolas"/>
              </a:rPr>
              <a:t>3</a:t>
            </a:r>
          </a:p>
          <a:p>
            <a:pPr algn="r">
              <a:spcAft>
                <a:spcPts val="342"/>
              </a:spcAft>
            </a:pPr>
            <a:r>
              <a:rPr sz="1600" i="0" b="0">
                <a:solidFill>
                  <a:srgbClr val="858585"/>
                </a:solidFill>
                <a:latin typeface="Consolas"/>
              </a:rPr>
              <a:t>4</a:t>
            </a:r>
          </a:p>
          <a:p>
            <a:pPr algn="r">
              <a:spcAft>
                <a:spcPts val="342"/>
              </a:spcAft>
            </a:pPr>
            <a:r>
              <a:rPr sz="1600" i="0" b="0">
                <a:solidFill>
                  <a:srgbClr val="858585"/>
                </a:solidFill>
                <a:latin typeface="Consolas"/>
              </a:rPr>
              <a:t>5</a:t>
            </a:r>
          </a:p>
          <a:p>
            <a:pPr algn="r">
              <a:spcAft>
                <a:spcPts val="342"/>
              </a:spcAft>
            </a:pPr>
            <a:r>
              <a:rPr sz="1600" i="0" b="0">
                <a:solidFill>
                  <a:srgbClr val="858585"/>
                </a:solidFill>
                <a:latin typeface="Consolas"/>
              </a:rPr>
              <a:t>6</a:t>
            </a:r>
          </a:p>
          <a:p>
            <a:pPr algn="r">
              <a:spcAft>
                <a:spcPts val="342"/>
              </a:spcAft>
            </a:pPr>
            <a:r>
              <a:rPr sz="1600" i="0" b="0">
                <a:solidFill>
                  <a:srgbClr val="858585"/>
                </a:solidFill>
                <a:latin typeface="Consolas"/>
              </a:rPr>
              <a:t>7</a:t>
            </a:r>
          </a:p>
          <a:p>
            <a:pPr algn="r">
              <a:spcAft>
                <a:spcPts val="342"/>
              </a:spcAft>
            </a:pPr>
            <a:r>
              <a:rPr sz="1600" i="0" b="0">
                <a:solidFill>
                  <a:srgbClr val="858585"/>
                </a:solidFill>
                <a:latin typeface="Consolas"/>
              </a:rPr>
              <a:t>8</a:t>
            </a:r>
          </a:p>
          <a:p>
            <a:pPr algn="r">
              <a:spcAft>
                <a:spcPts val="342"/>
              </a:spcAft>
            </a:pPr>
            <a:r>
              <a:rPr sz="1600" i="0" b="0">
                <a:solidFill>
                  <a:srgbClr val="858585"/>
                </a:solidFill>
                <a:latin typeface="Consolas"/>
              </a:rPr>
              <a:t>9</a:t>
            </a:r>
          </a:p>
          <a:p>
            <a:pPr algn="r">
              <a:spcAft>
                <a:spcPts val="342"/>
              </a:spcAft>
            </a:pPr>
            <a:r>
              <a:rPr sz="1600" i="0" b="0">
                <a:solidFill>
                  <a:srgbClr val="858585"/>
                </a:solidFill>
                <a:latin typeface="Consolas"/>
              </a:rPr>
              <a:t>10</a:t>
            </a:r>
          </a:p>
          <a:p>
            <a:pPr algn="r">
              <a:spcAft>
                <a:spcPts val="342"/>
              </a:spcAft>
            </a:pPr>
            <a:r>
              <a:rPr sz="1600" i="0" b="0">
                <a:solidFill>
                  <a:srgbClr val="858585"/>
                </a:solidFill>
                <a:latin typeface="Consolas"/>
              </a:rPr>
              <a:t>11</a:t>
            </a:r>
          </a:p>
          <a:p>
            <a:pPr algn="r">
              <a:spcAft>
                <a:spcPts val="342"/>
              </a:spcAft>
            </a:pPr>
            <a:r>
              <a:rPr sz="1600" i="0" b="0">
                <a:solidFill>
                  <a:srgbClr val="858585"/>
                </a:solidFill>
                <a:latin typeface="Consolas"/>
              </a:rPr>
              <a:t>12</a:t>
            </a:r>
          </a:p>
          <a:p>
            <a:pPr algn="r">
              <a:spcAft>
                <a:spcPts val="342"/>
              </a:spcAft>
            </a:pPr>
            <a:r>
              <a:rPr sz="1600" i="0" b="0">
                <a:solidFill>
                  <a:srgbClr val="858585"/>
                </a:solidFill>
                <a:latin typeface="Consolas"/>
              </a:rPr>
              <a:t>13</a:t>
            </a:r>
          </a:p>
        </p:txBody>
      </p:sp>
      <p:sp>
        <p:nvSpPr>
          <p:cNvPr id="12" name="TextBox 11"/>
          <p:cNvSpPr txBox="1"/>
          <p:nvPr/>
        </p:nvSpPr>
        <p:spPr>
          <a:xfrm>
            <a:off x="1188720" y="1719072"/>
            <a:ext cx="10271455" cy="3864689"/>
          </a:xfrm>
          <a:prstGeom prst="rect">
            <a:avLst/>
          </a:prstGeom>
          <a:noFill/>
        </p:spPr>
        <p:txBody>
          <a:bodyPr wrap="square">
            <a:spAutoFit/>
          </a:bodyPr>
          <a:lstStyle/>
          <a:p>
            <a:pPr>
              <a:spcAft>
                <a:spcPts val="342"/>
              </a:spcAft>
            </a:pPr>
            <a:r>
              <a:rPr sz="1600" i="1" b="0">
                <a:solidFill>
                  <a:srgbClr val="6A9955"/>
                </a:solidFill>
                <a:latin typeface="Consolas"/>
              </a:rPr>
              <a:t>/** Prueba de que finally se ejecuta incluso cuando el try ya hizo return. */</a:t>
            </a:r>
          </a:p>
          <a:p>
            <a:pPr>
              <a:spcAft>
                <a:spcPts val="342"/>
              </a:spcAft>
            </a:pPr>
            <a:r>
              <a:rPr sz="1600" i="0" b="0">
                <a:solidFill>
                  <a:srgbClr val="569CD6"/>
                </a:solidFill>
                <a:latin typeface="Consolas"/>
              </a:rPr>
              <a:t>private</a:t>
            </a:r>
            <a:r>
              <a:rPr sz="1600" i="0" b="0">
                <a:solidFill>
                  <a:srgbClr val="D4D4D4"/>
                </a:solidFill>
                <a:latin typeface="Consolas"/>
              </a:rPr>
              <a:t> </a:t>
            </a:r>
            <a:r>
              <a:rPr sz="1600" i="0" b="0">
                <a:solidFill>
                  <a:srgbClr val="569CD6"/>
                </a:solidFill>
                <a:latin typeface="Consolas"/>
              </a:rPr>
              <a:t>static</a:t>
            </a:r>
            <a:r>
              <a:rPr sz="1600" i="0" b="0">
                <a:solidFill>
                  <a:srgbClr val="D4D4D4"/>
                </a:solidFill>
                <a:latin typeface="Consolas"/>
              </a:rPr>
              <a:t> </a:t>
            </a:r>
            <a:r>
              <a:rPr sz="1600" i="0" b="0">
                <a:solidFill>
                  <a:srgbClr val="4EC9B0"/>
                </a:solidFill>
                <a:latin typeface="Consolas"/>
              </a:rPr>
              <a:t>String</a:t>
            </a:r>
            <a:r>
              <a:rPr sz="1600" i="0" b="0">
                <a:solidFill>
                  <a:srgbClr val="D4D4D4"/>
                </a:solidFill>
                <a:latin typeface="Consolas"/>
              </a:rPr>
              <a:t> </a:t>
            </a:r>
            <a:r>
              <a:rPr sz="1600" i="0" b="0">
                <a:solidFill>
                  <a:srgbClr val="DCDCAA"/>
                </a:solidFill>
                <a:latin typeface="Consolas"/>
              </a:rPr>
              <a:t>buscarNombrePorId</a:t>
            </a:r>
            <a:r>
              <a:rPr sz="1600" i="0" b="0">
                <a:solidFill>
                  <a:srgbClr val="D4D4D4"/>
                </a:solidFill>
                <a:latin typeface="Consolas"/>
              </a:rPr>
              <a:t>(</a:t>
            </a:r>
            <a:r>
              <a:rPr sz="1600" i="0" b="0">
                <a:solidFill>
                  <a:srgbClr val="4EC9B0"/>
                </a:solidFill>
                <a:latin typeface="Consolas"/>
              </a:rPr>
              <a:t>List</a:t>
            </a:r>
            <a:r>
              <a:rPr sz="1600" i="0" b="0">
                <a:solidFill>
                  <a:srgbClr val="D4D4D4"/>
                </a:solidFill>
                <a:latin typeface="Consolas"/>
              </a:rPr>
              <a:t>&lt;</a:t>
            </a:r>
            <a:r>
              <a:rPr sz="1600" i="0" b="0">
                <a:solidFill>
                  <a:srgbClr val="D4D4D4"/>
                </a:solidFill>
                <a:latin typeface="Consolas"/>
              </a:rPr>
              <a:t>Mascota</a:t>
            </a:r>
            <a:r>
              <a:rPr sz="1600" i="0" b="0">
                <a:solidFill>
                  <a:srgbClr val="D4D4D4"/>
                </a:solidFill>
                <a:latin typeface="Consolas"/>
              </a:rPr>
              <a:t>&gt; </a:t>
            </a:r>
            <a:r>
              <a:rPr sz="1600" i="0" b="0">
                <a:solidFill>
                  <a:srgbClr val="D4D4D4"/>
                </a:solidFill>
                <a:latin typeface="Consolas"/>
              </a:rPr>
              <a:t>agenda</a:t>
            </a:r>
            <a:r>
              <a:rPr sz="1600" i="0" b="0">
                <a:solidFill>
                  <a:srgbClr val="D4D4D4"/>
                </a:solidFill>
                <a:latin typeface="Consolas"/>
              </a:rPr>
              <a:t>, </a:t>
            </a:r>
            <a:r>
              <a:rPr sz="1600" i="0" b="0">
                <a:solidFill>
                  <a:srgbClr val="4EC9B0"/>
                </a:solidFill>
                <a:latin typeface="Consolas"/>
              </a:rPr>
              <a:t>String</a:t>
            </a:r>
            <a:r>
              <a:rPr sz="1600" i="0" b="0">
                <a:solidFill>
                  <a:srgbClr val="D4D4D4"/>
                </a:solidFill>
                <a:latin typeface="Consolas"/>
              </a:rPr>
              <a:t> </a:t>
            </a:r>
            <a:r>
              <a:rPr sz="1600" i="0" b="0">
                <a:solidFill>
                  <a:srgbClr val="D4D4D4"/>
                </a:solidFill>
                <a:latin typeface="Consolas"/>
              </a:rPr>
              <a:t>id</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try</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for</a:t>
            </a:r>
            <a:r>
              <a:rPr sz="1600" i="0" b="0">
                <a:solidFill>
                  <a:srgbClr val="D4D4D4"/>
                </a:solidFill>
                <a:latin typeface="Consolas"/>
              </a:rPr>
              <a:t> (</a:t>
            </a:r>
            <a:r>
              <a:rPr sz="1600" i="0" b="0">
                <a:solidFill>
                  <a:srgbClr val="D4D4D4"/>
                </a:solidFill>
                <a:latin typeface="Consolas"/>
              </a:rPr>
              <a:t>Mascota</a:t>
            </a:r>
            <a:r>
              <a:rPr sz="1600" i="0" b="0">
                <a:solidFill>
                  <a:srgbClr val="D4D4D4"/>
                </a:solidFill>
                <a:latin typeface="Consolas"/>
              </a:rPr>
              <a:t> </a:t>
            </a:r>
            <a:r>
              <a:rPr sz="1600" i="0" b="0">
                <a:solidFill>
                  <a:srgbClr val="D4D4D4"/>
                </a:solidFill>
                <a:latin typeface="Consolas"/>
              </a:rPr>
              <a:t>m</a:t>
            </a:r>
            <a:r>
              <a:rPr sz="1600" i="0" b="0">
                <a:solidFill>
                  <a:srgbClr val="D4D4D4"/>
                </a:solidFill>
                <a:latin typeface="Consolas"/>
              </a:rPr>
              <a:t> : </a:t>
            </a:r>
            <a:r>
              <a:rPr sz="1600" i="0" b="0">
                <a:solidFill>
                  <a:srgbClr val="D4D4D4"/>
                </a:solidFill>
                <a:latin typeface="Consolas"/>
              </a:rPr>
              <a:t>agenda</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if</a:t>
            </a:r>
            <a:r>
              <a:rPr sz="1600" i="0" b="0">
                <a:solidFill>
                  <a:srgbClr val="D4D4D4"/>
                </a:solidFill>
                <a:latin typeface="Consolas"/>
              </a:rPr>
              <a:t> (</a:t>
            </a:r>
            <a:r>
              <a:rPr sz="1600" i="0" b="0">
                <a:solidFill>
                  <a:srgbClr val="DCDCAA"/>
                </a:solidFill>
                <a:latin typeface="Consolas"/>
              </a:rPr>
              <a:t>m.getId</a:t>
            </a:r>
            <a:r>
              <a:rPr sz="1600" i="0" b="0">
                <a:solidFill>
                  <a:srgbClr val="D4D4D4"/>
                </a:solidFill>
                <a:latin typeface="Consolas"/>
              </a:rPr>
              <a:t>().</a:t>
            </a:r>
            <a:r>
              <a:rPr sz="1600" i="0" b="0">
                <a:solidFill>
                  <a:srgbClr val="DCDCAA"/>
                </a:solidFill>
                <a:latin typeface="Consolas"/>
              </a:rPr>
              <a:t>equalsIgnoreCase</a:t>
            </a:r>
            <a:r>
              <a:rPr sz="1600" i="0" b="0">
                <a:solidFill>
                  <a:srgbClr val="D4D4D4"/>
                </a:solidFill>
                <a:latin typeface="Consolas"/>
              </a:rPr>
              <a:t>(</a:t>
            </a:r>
            <a:r>
              <a:rPr sz="1600" i="0" b="0">
                <a:solidFill>
                  <a:srgbClr val="D4D4D4"/>
                </a:solidFill>
                <a:latin typeface="Consolas"/>
              </a:rPr>
              <a:t>id</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return</a:t>
            </a:r>
            <a:r>
              <a:rPr sz="1600" i="0" b="0">
                <a:solidFill>
                  <a:srgbClr val="D4D4D4"/>
                </a:solidFill>
                <a:latin typeface="Consolas"/>
              </a:rPr>
              <a:t> </a:t>
            </a:r>
            <a:r>
              <a:rPr sz="1600" i="0" b="0">
                <a:solidFill>
                  <a:srgbClr val="DCDCAA"/>
                </a:solidFill>
                <a:latin typeface="Consolas"/>
              </a:rPr>
              <a:t>m.getNombre</a:t>
            </a:r>
            <a:r>
              <a:rPr sz="1600" i="0" b="0">
                <a:solidFill>
                  <a:srgbClr val="D4D4D4"/>
                </a:solidFill>
                <a:latin typeface="Consolas"/>
              </a:rPr>
              <a:t>();   </a:t>
            </a:r>
            <a:r>
              <a:rPr sz="1600" i="1" b="0">
                <a:solidFill>
                  <a:srgbClr val="6A9955"/>
                </a:solidFill>
                <a:latin typeface="Consolas"/>
              </a:rPr>
              <a:t>// el return NO se salta el finally</a:t>
            </a:r>
          </a:p>
          <a:p>
            <a:pPr>
              <a:spcAft>
                <a:spcPts val="342"/>
              </a:spcAft>
            </a:pPr>
            <a:r>
              <a:rPr sz="1600" i="0" b="0">
                <a:solidFill>
                  <a:srgbClr val="D4D4D4"/>
                </a:solidFill>
                <a:latin typeface="Consolas"/>
              </a:rPr>
              <a:t>            }</a:t>
            </a:r>
          </a:p>
          <a:p>
            <a:pPr>
              <a:spcAft>
                <a:spcPts val="342"/>
              </a:spcAft>
            </a:pP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return</a:t>
            </a:r>
            <a:r>
              <a:rPr sz="1600" i="0" b="0">
                <a:solidFill>
                  <a:srgbClr val="D4D4D4"/>
                </a:solidFill>
                <a:latin typeface="Consolas"/>
              </a:rPr>
              <a:t> </a:t>
            </a:r>
            <a:r>
              <a:rPr sz="1600" i="0" b="0">
                <a:solidFill>
                  <a:srgbClr val="CE9178"/>
                </a:solidFill>
                <a:latin typeface="Consolas"/>
              </a:rPr>
              <a:t>"(no esta en la agenda)"</a:t>
            </a:r>
            <a:r>
              <a:rPr sz="1600" i="0" b="0">
                <a:solidFill>
                  <a:srgbClr val="D4D4D4"/>
                </a:solidFill>
                <a:latin typeface="Consolas"/>
              </a:rPr>
              <a:t>;</a:t>
            </a:r>
          </a:p>
          <a:p>
            <a:pPr>
              <a:spcAft>
                <a:spcPts val="342"/>
              </a:spcAft>
            </a:pPr>
            <a:r>
              <a:rPr sz="1600" i="0" b="0">
                <a:solidFill>
                  <a:srgbClr val="D4D4D4"/>
                </a:solidFill>
                <a:latin typeface="Consolas"/>
              </a:rPr>
              <a:t>    } </a:t>
            </a:r>
            <a:r>
              <a:rPr sz="1600" i="0" b="0">
                <a:solidFill>
                  <a:srgbClr val="569CD6"/>
                </a:solidFill>
                <a:latin typeface="Consolas"/>
              </a:rPr>
              <a:t>finally</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DCDCAA"/>
                </a:solidFill>
                <a:latin typeface="Consolas"/>
              </a:rPr>
              <a:t>System.out.println</a:t>
            </a:r>
            <a:r>
              <a:rPr sz="1600" i="0" b="0">
                <a:solidFill>
                  <a:srgbClr val="D4D4D4"/>
                </a:solidFill>
                <a:latin typeface="Consolas"/>
              </a:rPr>
              <a:t>(</a:t>
            </a:r>
            <a:r>
              <a:rPr sz="1600" i="0" b="0">
                <a:solidFill>
                  <a:srgbClr val="CE9178"/>
                </a:solidFill>
                <a:latin typeface="Consolas"/>
              </a:rPr>
              <a:t>"  (finally) Busqueda de "</a:t>
            </a:r>
            <a:r>
              <a:rPr sz="1600" i="0" b="0">
                <a:solidFill>
                  <a:srgbClr val="D4D4D4"/>
                </a:solidFill>
                <a:latin typeface="Consolas"/>
              </a:rPr>
              <a:t> + </a:t>
            </a:r>
            <a:r>
              <a:rPr sz="1600" i="0" b="0">
                <a:solidFill>
                  <a:srgbClr val="D4D4D4"/>
                </a:solidFill>
                <a:latin typeface="Consolas"/>
              </a:rPr>
              <a:t>id</a:t>
            </a:r>
            <a:r>
              <a:rPr sz="1600" i="0" b="0">
                <a:solidFill>
                  <a:srgbClr val="D4D4D4"/>
                </a:solidFill>
                <a:latin typeface="Consolas"/>
              </a:rPr>
              <a:t> + </a:t>
            </a:r>
            <a:r>
              <a:rPr sz="1600" i="0" b="0">
                <a:solidFill>
                  <a:srgbClr val="CE9178"/>
                </a:solidFill>
                <a:latin typeface="Consolas"/>
              </a:rPr>
              <a:t>" terminada, con return y todo."</a:t>
            </a:r>
            <a:r>
              <a:rPr sz="1600" i="0" b="0">
                <a:solidFill>
                  <a:srgbClr val="D4D4D4"/>
                </a:solidFill>
                <a:latin typeface="Consolas"/>
              </a:rPr>
              <a:t>);</a:t>
            </a:r>
          </a:p>
          <a:p>
            <a:pPr>
              <a:spcAft>
                <a:spcPts val="342"/>
              </a:spcAft>
            </a:pPr>
            <a:r>
              <a:rPr sz="1600" i="0" b="0">
                <a:solidFill>
                  <a:srgbClr val="D4D4D4"/>
                </a:solidFill>
                <a:latin typeface="Consolas"/>
              </a:rPr>
              <a:t>    }</a:t>
            </a:r>
          </a:p>
          <a:p>
            <a:pPr>
              <a:spcAft>
                <a:spcPts val="342"/>
              </a:spcAft>
            </a:pPr>
            <a:r>
              <a:rPr sz="16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DemoExcepcionesClinica.java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cargar(): del catch específico al general</a:t>
            </a:r>
          </a:p>
        </p:txBody>
      </p:sp>
      <p:sp>
        <p:nvSpPr>
          <p:cNvPr id="5" name="Rounded Rectangle 4"/>
          <p:cNvSpPr/>
          <p:nvPr/>
        </p:nvSpPr>
        <p:spPr>
          <a:xfrm>
            <a:off x="457200" y="1261872"/>
            <a:ext cx="11277295" cy="4333711"/>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739351"/>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p:txBody>
      </p:sp>
      <p:sp>
        <p:nvSpPr>
          <p:cNvPr id="12" name="TextBox 11"/>
          <p:cNvSpPr txBox="1"/>
          <p:nvPr/>
        </p:nvSpPr>
        <p:spPr>
          <a:xfrm>
            <a:off x="1188720" y="1719072"/>
            <a:ext cx="10271455" cy="3739351"/>
          </a:xfrm>
          <a:prstGeom prst="rect">
            <a:avLst/>
          </a:prstGeom>
          <a:noFill/>
        </p:spPr>
        <p:txBody>
          <a:bodyPr wrap="square">
            <a:spAutoFit/>
          </a:bodyPr>
          <a:lstStyle/>
          <a:p>
            <a:pPr>
              <a:spcAft>
                <a:spcPts val="278"/>
              </a:spcAft>
            </a:pPr>
            <a:r>
              <a:rPr sz="1300" i="1" b="0">
                <a:solidFill>
                  <a:srgbClr val="6A9955"/>
                </a:solidFill>
                <a:latin typeface="Consolas"/>
              </a:rPr>
              <a:t>/** Lectura tolerante: el try externo protege el archivo, el interno protege cada linea. */</a:t>
            </a:r>
          </a:p>
          <a:p>
            <a:pPr>
              <a:spcAft>
                <a:spcPts val="278"/>
              </a:spcAft>
            </a:pPr>
            <a:r>
              <a:rPr sz="1300" i="0" b="0">
                <a:solidFill>
                  <a:srgbClr val="569CD6"/>
                </a:solidFill>
                <a:latin typeface="Consolas"/>
              </a:rPr>
              <a:t>private</a:t>
            </a:r>
            <a:r>
              <a:rPr sz="1300" i="0" b="0">
                <a:solidFill>
                  <a:srgbClr val="D4D4D4"/>
                </a:solidFill>
                <a:latin typeface="Consolas"/>
              </a:rPr>
              <a:t> </a:t>
            </a:r>
            <a:r>
              <a:rPr sz="1300" i="0" b="0">
                <a:solidFill>
                  <a:srgbClr val="569CD6"/>
                </a:solidFill>
                <a:latin typeface="Consolas"/>
              </a:rPr>
              <a:t>static</a:t>
            </a:r>
            <a:r>
              <a:rPr sz="1300" i="0" b="0">
                <a:solidFill>
                  <a:srgbClr val="D4D4D4"/>
                </a:solidFill>
                <a:latin typeface="Consolas"/>
              </a:rPr>
              <a:t> </a:t>
            </a:r>
            <a:r>
              <a:rPr sz="1300" i="0" b="0">
                <a:solidFill>
                  <a:srgbClr val="4EC9B0"/>
                </a:solidFill>
                <a:latin typeface="Consolas"/>
              </a:rPr>
              <a:t>List</a:t>
            </a:r>
            <a:r>
              <a:rPr sz="1300" i="0" b="0">
                <a:solidFill>
                  <a:srgbClr val="D4D4D4"/>
                </a:solidFill>
                <a:latin typeface="Consolas"/>
              </a:rPr>
              <a:t>&lt;</a:t>
            </a:r>
            <a:r>
              <a:rPr sz="1300" i="0" b="0">
                <a:solidFill>
                  <a:srgbClr val="D4D4D4"/>
                </a:solidFill>
                <a:latin typeface="Consolas"/>
              </a:rPr>
              <a:t>Mascota</a:t>
            </a:r>
            <a:r>
              <a:rPr sz="1300" i="0" b="0">
                <a:solidFill>
                  <a:srgbClr val="D4D4D4"/>
                </a:solidFill>
                <a:latin typeface="Consolas"/>
              </a:rPr>
              <a:t>&gt; </a:t>
            </a:r>
            <a:r>
              <a:rPr sz="1300" i="0" b="0">
                <a:solidFill>
                  <a:srgbClr val="DCDCAA"/>
                </a:solidFill>
                <a:latin typeface="Consolas"/>
              </a:rPr>
              <a:t>cargar</a:t>
            </a:r>
            <a:r>
              <a:rPr sz="1300" i="0" b="0">
                <a:solidFill>
                  <a:srgbClr val="D4D4D4"/>
                </a:solidFill>
                <a:latin typeface="Consolas"/>
              </a:rPr>
              <a:t>(</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ruta</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4EC9B0"/>
                </a:solidFill>
                <a:latin typeface="Consolas"/>
              </a:rPr>
              <a:t>List</a:t>
            </a:r>
            <a:r>
              <a:rPr sz="1300" i="0" b="0">
                <a:solidFill>
                  <a:srgbClr val="D4D4D4"/>
                </a:solidFill>
                <a:latin typeface="Consolas"/>
              </a:rPr>
              <a:t>&lt;</a:t>
            </a:r>
            <a:r>
              <a:rPr sz="1300" i="0" b="0">
                <a:solidFill>
                  <a:srgbClr val="D4D4D4"/>
                </a:solidFill>
                <a:latin typeface="Consolas"/>
              </a:rPr>
              <a:t>Mascota</a:t>
            </a:r>
            <a:r>
              <a:rPr sz="1300" i="0" b="0">
                <a:solidFill>
                  <a:srgbClr val="D4D4D4"/>
                </a:solidFill>
                <a:latin typeface="Consolas"/>
              </a:rPr>
              <a:t>&gt; </a:t>
            </a:r>
            <a:r>
              <a:rPr sz="1300" i="0" b="0">
                <a:solidFill>
                  <a:srgbClr val="D4D4D4"/>
                </a:solidFill>
                <a:latin typeface="Consolas"/>
              </a:rPr>
              <a:t>lista</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ArrayList</a:t>
            </a:r>
            <a:r>
              <a:rPr sz="1300" i="0" b="0">
                <a:solidFill>
                  <a:srgbClr val="D4D4D4"/>
                </a:solidFill>
                <a:latin typeface="Consolas"/>
              </a:rPr>
              <a:t>&lt;&gt;();</a:t>
            </a:r>
          </a:p>
          <a:p>
            <a:pPr>
              <a:spcAft>
                <a:spcPts val="278"/>
              </a:spcAft>
            </a:pPr>
            <a:r>
              <a:rPr sz="1300" i="0" b="0">
                <a:solidFill>
                  <a:srgbClr val="D4D4D4"/>
                </a:solidFill>
                <a:latin typeface="Consolas"/>
              </a:rPr>
              <a:t>    </a:t>
            </a:r>
            <a:r>
              <a:rPr sz="1300" i="0" b="0">
                <a:solidFill>
                  <a:srgbClr val="569CD6"/>
                </a:solidFill>
                <a:latin typeface="Consolas"/>
              </a:rPr>
              <a:t>try</a:t>
            </a:r>
            <a:r>
              <a:rPr sz="1300" i="0" b="0">
                <a:solidFill>
                  <a:srgbClr val="D4D4D4"/>
                </a:solidFill>
                <a:latin typeface="Consolas"/>
              </a:rPr>
              <a:t> (</a:t>
            </a:r>
            <a:r>
              <a:rPr sz="1300" i="0" b="0">
                <a:solidFill>
                  <a:srgbClr val="D4D4D4"/>
                </a:solidFill>
                <a:latin typeface="Consolas"/>
              </a:rPr>
              <a:t>BufferedReader</a:t>
            </a:r>
            <a:r>
              <a:rPr sz="1300" i="0" b="0">
                <a:solidFill>
                  <a:srgbClr val="D4D4D4"/>
                </a:solidFill>
                <a:latin typeface="Consolas"/>
              </a:rPr>
              <a:t> </a:t>
            </a:r>
            <a:r>
              <a:rPr sz="1300" i="0" b="0">
                <a:solidFill>
                  <a:srgbClr val="D4D4D4"/>
                </a:solidFill>
                <a:latin typeface="Consolas"/>
              </a:rPr>
              <a:t>lector</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BufferedReader</a:t>
            </a:r>
            <a:r>
              <a:rPr sz="1300" i="0" b="0">
                <a:solidFill>
                  <a:srgbClr val="D4D4D4"/>
                </a:solidFill>
                <a:latin typeface="Consolas"/>
              </a:rPr>
              <a:t>(</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FileReader</a:t>
            </a:r>
            <a:r>
              <a:rPr sz="1300" i="0" b="0">
                <a:solidFill>
                  <a:srgbClr val="D4D4D4"/>
                </a:solidFill>
                <a:latin typeface="Consolas"/>
              </a:rPr>
              <a:t>(</a:t>
            </a:r>
            <a:r>
              <a:rPr sz="1300" i="0" b="0">
                <a:solidFill>
                  <a:srgbClr val="D4D4D4"/>
                </a:solidFill>
                <a:latin typeface="Consolas"/>
              </a:rPr>
              <a:t>ruta</a:t>
            </a:r>
            <a:r>
              <a:rPr sz="1300" i="0" b="0">
                <a:solidFill>
                  <a:srgbClr val="D4D4D4"/>
                </a:solidFill>
                <a:latin typeface="Consolas"/>
              </a:rPr>
              <a:t>))) {   </a:t>
            </a:r>
            <a:r>
              <a:rPr sz="1300" i="1" b="0">
                <a:solidFill>
                  <a:srgbClr val="6A9955"/>
                </a:solidFill>
                <a:latin typeface="Consolas"/>
              </a:rPr>
              <a:t>// BufferedReader es AutoCloseable</a:t>
            </a:r>
          </a:p>
          <a:p>
            <a:pPr>
              <a:spcAft>
                <a:spcPts val="278"/>
              </a:spcAft>
            </a:pP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linea</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569CD6"/>
                </a:solidFill>
                <a:latin typeface="Consolas"/>
              </a:rPr>
              <a:t>while</a:t>
            </a:r>
            <a:r>
              <a:rPr sz="1300" i="0" b="0">
                <a:solidFill>
                  <a:srgbClr val="D4D4D4"/>
                </a:solidFill>
                <a:latin typeface="Consolas"/>
              </a:rPr>
              <a:t> ((</a:t>
            </a:r>
            <a:r>
              <a:rPr sz="1300" i="0" b="0">
                <a:solidFill>
                  <a:srgbClr val="D4D4D4"/>
                </a:solidFill>
                <a:latin typeface="Consolas"/>
              </a:rPr>
              <a:t>linea</a:t>
            </a:r>
            <a:r>
              <a:rPr sz="1300" i="0" b="0">
                <a:solidFill>
                  <a:srgbClr val="D4D4D4"/>
                </a:solidFill>
                <a:latin typeface="Consolas"/>
              </a:rPr>
              <a:t> = </a:t>
            </a:r>
            <a:r>
              <a:rPr sz="1300" i="0" b="0">
                <a:solidFill>
                  <a:srgbClr val="DCDCAA"/>
                </a:solidFill>
                <a:latin typeface="Consolas"/>
              </a:rPr>
              <a:t>lector.readLine</a:t>
            </a:r>
            <a:r>
              <a:rPr sz="1300" i="0" b="0">
                <a:solidFill>
                  <a:srgbClr val="D4D4D4"/>
                </a:solidFill>
                <a:latin typeface="Consolas"/>
              </a:rPr>
              <a:t>()) != </a:t>
            </a:r>
            <a:r>
              <a:rPr sz="1300" i="0" b="0">
                <a:solidFill>
                  <a:srgbClr val="569CD6"/>
                </a:solidFill>
                <a:latin typeface="Consolas"/>
              </a:rPr>
              <a:t>null</a:t>
            </a:r>
            <a:r>
              <a:rPr sz="1300" i="0" b="0">
                <a:solidFill>
                  <a:srgbClr val="D4D4D4"/>
                </a:solidFill>
                <a:latin typeface="Consolas"/>
              </a:rPr>
              <a:t>) {</a:t>
            </a:r>
          </a:p>
          <a:p>
            <a:pPr>
              <a:spcAft>
                <a:spcPts val="278"/>
              </a:spcAft>
            </a:pPr>
            <a:r>
              <a:rPr sz="1300" i="0" b="0">
                <a:solidFill>
                  <a:srgbClr val="D4D4D4"/>
                </a:solidFill>
                <a:latin typeface="Consolas"/>
              </a:rPr>
              <a:t>            </a:t>
            </a:r>
            <a:r>
              <a:rPr sz="1300" i="1" b="0">
                <a:solidFill>
                  <a:srgbClr val="6A9955"/>
                </a:solidFill>
                <a:latin typeface="Consolas"/>
              </a:rPr>
              <a:t>// ...</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 </a:t>
            </a:r>
            <a:r>
              <a:rPr sz="1300" i="0" b="0">
                <a:solidFill>
                  <a:srgbClr val="569CD6"/>
                </a:solidFill>
                <a:latin typeface="Consolas"/>
              </a:rPr>
              <a:t>catch</a:t>
            </a:r>
            <a:r>
              <a:rPr sz="1300" i="0" b="0">
                <a:solidFill>
                  <a:srgbClr val="D4D4D4"/>
                </a:solidFill>
                <a:latin typeface="Consolas"/>
              </a:rPr>
              <a:t> (</a:t>
            </a:r>
            <a:r>
              <a:rPr sz="1300" i="0" b="0">
                <a:solidFill>
                  <a:srgbClr val="D4D4D4"/>
                </a:solidFill>
                <a:latin typeface="Consolas"/>
              </a:rPr>
              <a:t>FileNotFoundException</a:t>
            </a:r>
            <a:r>
              <a:rPr sz="1300" i="0" b="0">
                <a:solidFill>
                  <a:srgbClr val="D4D4D4"/>
                </a:solidFill>
                <a:latin typeface="Consolas"/>
              </a:rPr>
              <a:t> </a:t>
            </a:r>
            <a:r>
              <a:rPr sz="1300" i="0" b="0">
                <a:solidFill>
                  <a:srgbClr val="D4D4D4"/>
                </a:solidFill>
                <a:latin typeface="Consolas"/>
              </a:rPr>
              <a:t>e</a:t>
            </a:r>
            <a:r>
              <a:rPr sz="1300" i="0" b="0">
                <a:solidFill>
                  <a:srgbClr val="D4D4D4"/>
                </a:solidFill>
                <a:latin typeface="Consolas"/>
              </a:rPr>
              <a:t>) {   </a:t>
            </a:r>
            <a:r>
              <a:rPr sz="1300" i="1" b="0">
                <a:solidFill>
                  <a:srgbClr val="6A9955"/>
                </a:solidFill>
                <a:latin typeface="Consolas"/>
              </a:rPr>
              <a:t>// hija de IOException: por eso va primero</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  [INFO] No existe "</a:t>
            </a:r>
            <a:r>
              <a:rPr sz="1300" i="0" b="0">
                <a:solidFill>
                  <a:srgbClr val="D4D4D4"/>
                </a:solidFill>
                <a:latin typeface="Consolas"/>
              </a:rPr>
              <a:t> + </a:t>
            </a:r>
            <a:r>
              <a:rPr sz="1300" i="0" b="0">
                <a:solidFill>
                  <a:srgbClr val="D4D4D4"/>
                </a:solidFill>
                <a:latin typeface="Consolas"/>
              </a:rPr>
              <a:t>ruta</a:t>
            </a:r>
            <a:r>
              <a:rPr sz="1300" i="0" b="0">
                <a:solidFill>
                  <a:srgbClr val="D4D4D4"/>
                </a:solidFill>
                <a:latin typeface="Consolas"/>
              </a:rPr>
              <a:t> + </a:t>
            </a:r>
            <a:r>
              <a:rPr sz="1300" i="0" b="0">
                <a:solidFill>
                  <a:srgbClr val="CE9178"/>
                </a:solidFill>
                <a:latin typeface="Consolas"/>
              </a:rPr>
              <a:t>". El sistema de la clinica arranca con la lista vacia."</a:t>
            </a:r>
            <a:r>
              <a:rPr sz="1300" i="0" b="0">
                <a:solidFill>
                  <a:srgbClr val="D4D4D4"/>
                </a:solidFill>
                <a:latin typeface="Consolas"/>
              </a:rPr>
              <a:t>);</a:t>
            </a:r>
          </a:p>
          <a:p>
            <a:pPr>
              <a:spcAft>
                <a:spcPts val="278"/>
              </a:spcAft>
            </a:pPr>
            <a:r>
              <a:rPr sz="1300" i="0" b="0">
                <a:solidFill>
                  <a:srgbClr val="D4D4D4"/>
                </a:solidFill>
                <a:latin typeface="Consolas"/>
              </a:rPr>
              <a:t>    } </a:t>
            </a:r>
            <a:r>
              <a:rPr sz="1300" i="0" b="0">
                <a:solidFill>
                  <a:srgbClr val="569CD6"/>
                </a:solidFill>
                <a:latin typeface="Consolas"/>
              </a:rPr>
              <a:t>catch</a:t>
            </a:r>
            <a:r>
              <a:rPr sz="1300" i="0" b="0">
                <a:solidFill>
                  <a:srgbClr val="D4D4D4"/>
                </a:solidFill>
                <a:latin typeface="Consolas"/>
              </a:rPr>
              <a:t> (</a:t>
            </a:r>
            <a:r>
              <a:rPr sz="1300" i="0" b="0">
                <a:solidFill>
                  <a:srgbClr val="D4D4D4"/>
                </a:solidFill>
                <a:latin typeface="Consolas"/>
              </a:rPr>
              <a:t>IOException</a:t>
            </a:r>
            <a:r>
              <a:rPr sz="1300" i="0" b="0">
                <a:solidFill>
                  <a:srgbClr val="D4D4D4"/>
                </a:solidFill>
                <a:latin typeface="Consolas"/>
              </a:rPr>
              <a:t> </a:t>
            </a:r>
            <a:r>
              <a:rPr sz="1300" i="0" b="0">
                <a:solidFill>
                  <a:srgbClr val="D4D4D4"/>
                </a:solidFill>
                <a:latin typeface="Consolas"/>
              </a:rPr>
              <a:t>e</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  [ERROR] Fallo leyendo "</a:t>
            </a:r>
            <a:r>
              <a:rPr sz="1300" i="0" b="0">
                <a:solidFill>
                  <a:srgbClr val="D4D4D4"/>
                </a:solidFill>
                <a:latin typeface="Consolas"/>
              </a:rPr>
              <a:t> + </a:t>
            </a:r>
            <a:r>
              <a:rPr sz="1300" i="0" b="0">
                <a:solidFill>
                  <a:srgbClr val="D4D4D4"/>
                </a:solidFill>
                <a:latin typeface="Consolas"/>
              </a:rPr>
              <a:t>ruta</a:t>
            </a:r>
            <a:r>
              <a:rPr sz="1300" i="0" b="0">
                <a:solidFill>
                  <a:srgbClr val="D4D4D4"/>
                </a:solidFill>
                <a:latin typeface="Consolas"/>
              </a:rPr>
              <a:t> + </a:t>
            </a:r>
            <a:r>
              <a:rPr sz="1300" i="0" b="0">
                <a:solidFill>
                  <a:srgbClr val="CE9178"/>
                </a:solidFill>
                <a:latin typeface="Consolas"/>
              </a:rPr>
              <a:t>": "</a:t>
            </a:r>
            <a:r>
              <a:rPr sz="1300" i="0" b="0">
                <a:solidFill>
                  <a:srgbClr val="D4D4D4"/>
                </a:solidFill>
                <a:latin typeface="Consolas"/>
              </a:rPr>
              <a:t> + </a:t>
            </a:r>
            <a:r>
              <a:rPr sz="1300" i="0" b="0">
                <a:solidFill>
                  <a:srgbClr val="DCDCAA"/>
                </a:solidFill>
                <a:latin typeface="Consolas"/>
              </a:rPr>
              <a:t>e.getMessage</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D4D4D4"/>
                </a:solidFill>
                <a:latin typeface="Consolas"/>
              </a:rPr>
              <a:t>lista</a:t>
            </a:r>
            <a:r>
              <a:rPr sz="1300" i="0" b="0">
                <a:solidFill>
                  <a:srgbClr val="D4D4D4"/>
                </a:solidFill>
                <a:latin typeface="Consolas"/>
              </a:rPr>
              <a:t>;</a:t>
            </a:r>
          </a:p>
          <a:p>
            <a:pPr>
              <a:spcAft>
                <a:spcPts val="278"/>
              </a:spcAft>
            </a:pPr>
            <a:r>
              <a:rPr sz="13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DemoExcepcionesClinica.java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throw, throws y la excepción propia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ow-throw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hrow-throw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hrow-throw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throw lanza un objeto en ese instante: throw new DatoInvalidoException("...").</a:t>
            </a:r>
          </a:p>
          <a:p>
            <a:pPr>
              <a:spcAft>
                <a:spcPts val="800"/>
              </a:spcAft>
            </a:pPr>
            <a:r>
              <a:rPr sz="2000" b="0" i="0">
                <a:solidFill>
                  <a:srgbClr val="333333"/>
                </a:solidFill>
                <a:latin typeface="Calibri"/>
              </a:rPr>
              <a:t>–   throws avisa en la firma que quien llame debe hacerse cargo.</a:t>
            </a:r>
          </a:p>
          <a:p>
            <a:pPr>
              <a:spcAft>
                <a:spcPts val="800"/>
              </a:spcAft>
            </a:pPr>
            <a:r>
              <a:rPr sz="2000" b="0" i="0">
                <a:solidFill>
                  <a:srgbClr val="333333"/>
                </a:solidFill>
                <a:latin typeface="Calibri"/>
              </a:rPr>
              <a:t>–   El dominio valida y lanza; la interfaz captura y lo muestra en un JOptionPane.</a:t>
            </a:r>
          </a:p>
          <a:p>
            <a:pPr>
              <a:spcAft>
                <a:spcPts val="800"/>
              </a:spcAft>
            </a:pPr>
            <a:r>
              <a:rPr sz="2000" b="0" i="0">
                <a:solidFill>
                  <a:srgbClr val="333333"/>
                </a:solidFill>
                <a:latin typeface="Calibri"/>
              </a:rPr>
              <a:t>–   Una excepción propia que extiende Exception es checked y habla el idioma del negocio.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setEdad(): validar y lanzar</a:t>
            </a:r>
          </a:p>
        </p:txBody>
      </p:sp>
      <p:sp>
        <p:nvSpPr>
          <p:cNvPr id="5" name="Rounded Rectangle 4"/>
          <p:cNvSpPr/>
          <p:nvPr/>
        </p:nvSpPr>
        <p:spPr>
          <a:xfrm>
            <a:off x="457200" y="1261872"/>
            <a:ext cx="11277295" cy="45733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978989"/>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a:p>
            <a:pPr algn="r">
              <a:spcAft>
                <a:spcPts val="278"/>
              </a:spcAft>
            </a:pPr>
            <a:r>
              <a:rPr sz="1300" i="0" b="0">
                <a:solidFill>
                  <a:srgbClr val="858585"/>
                </a:solidFill>
                <a:latin typeface="Consolas"/>
              </a:rPr>
              <a:t>16</a:t>
            </a:r>
          </a:p>
        </p:txBody>
      </p:sp>
      <p:sp>
        <p:nvSpPr>
          <p:cNvPr id="12" name="TextBox 11"/>
          <p:cNvSpPr txBox="1"/>
          <p:nvPr/>
        </p:nvSpPr>
        <p:spPr>
          <a:xfrm>
            <a:off x="1188720" y="1719072"/>
            <a:ext cx="10271455" cy="3978989"/>
          </a:xfrm>
          <a:prstGeom prst="rect">
            <a:avLst/>
          </a:prstGeom>
          <a:noFill/>
        </p:spPr>
        <p:txBody>
          <a:bodyPr wrap="square">
            <a:spAutoFit/>
          </a:bodyPr>
          <a:lstStyle/>
          <a:p>
            <a:pPr>
              <a:spcAft>
                <a:spcPts val="278"/>
              </a:spcAft>
            </a:pPr>
            <a:r>
              <a:rPr sz="1300" i="0" b="0">
                <a:solidFill>
                  <a:srgbClr val="569CD6"/>
                </a:solidFill>
                <a:latin typeface="Consolas"/>
              </a:rPr>
              <a:t>public</a:t>
            </a:r>
            <a:r>
              <a:rPr sz="1300" i="0" b="0">
                <a:solidFill>
                  <a:srgbClr val="D4D4D4"/>
                </a:solidFill>
                <a:latin typeface="Consolas"/>
              </a:rPr>
              <a:t> </a:t>
            </a:r>
            <a:r>
              <a:rPr sz="1300" i="0" b="0">
                <a:solidFill>
                  <a:srgbClr val="569CD6"/>
                </a:solidFill>
                <a:latin typeface="Consolas"/>
              </a:rPr>
              <a:t>void</a:t>
            </a:r>
            <a:r>
              <a:rPr sz="1300" i="0" b="0">
                <a:solidFill>
                  <a:srgbClr val="D4D4D4"/>
                </a:solidFill>
                <a:latin typeface="Consolas"/>
              </a:rPr>
              <a:t> </a:t>
            </a:r>
            <a:r>
              <a:rPr sz="1300" i="0" b="0">
                <a:solidFill>
                  <a:srgbClr val="DCDCAA"/>
                </a:solidFill>
                <a:latin typeface="Consolas"/>
              </a:rPr>
              <a:t>setEdad</a:t>
            </a:r>
            <a:r>
              <a:rPr sz="1300" i="0" b="0">
                <a:solidFill>
                  <a:srgbClr val="D4D4D4"/>
                </a:solidFill>
                <a:latin typeface="Consolas"/>
              </a:rPr>
              <a:t>(</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texto</a:t>
            </a:r>
            <a:r>
              <a:rPr sz="1300" i="0" b="0">
                <a:solidFill>
                  <a:srgbClr val="D4D4D4"/>
                </a:solidFill>
                <a:latin typeface="Consolas"/>
              </a:rPr>
              <a:t>) </a:t>
            </a:r>
            <a:r>
              <a:rPr sz="1300" i="0" b="0">
                <a:solidFill>
                  <a:srgbClr val="569CD6"/>
                </a:solidFill>
                <a:latin typeface="Consolas"/>
              </a:rPr>
              <a:t>throws</a:t>
            </a:r>
            <a:r>
              <a:rPr sz="1300" i="0" b="0">
                <a:solidFill>
                  <a:srgbClr val="D4D4D4"/>
                </a:solidFill>
                <a:latin typeface="Consolas"/>
              </a:rPr>
              <a:t> </a:t>
            </a:r>
            <a:r>
              <a:rPr sz="1300" i="0" b="0">
                <a:solidFill>
                  <a:srgbClr val="D4D4D4"/>
                </a:solidFill>
                <a:latin typeface="Consolas"/>
              </a:rPr>
              <a:t>DatoInvalidoException</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if</a:t>
            </a:r>
            <a:r>
              <a:rPr sz="1300" i="0" b="0">
                <a:solidFill>
                  <a:srgbClr val="D4D4D4"/>
                </a:solidFill>
                <a:latin typeface="Consolas"/>
              </a:rPr>
              <a:t> (</a:t>
            </a:r>
            <a:r>
              <a:rPr sz="1300" i="0" b="0">
                <a:solidFill>
                  <a:srgbClr val="D4D4D4"/>
                </a:solidFill>
                <a:latin typeface="Consolas"/>
              </a:rPr>
              <a:t>texto</a:t>
            </a:r>
            <a:r>
              <a:rPr sz="1300" i="0" b="0">
                <a:solidFill>
                  <a:srgbClr val="D4D4D4"/>
                </a:solidFill>
                <a:latin typeface="Consolas"/>
              </a:rPr>
              <a:t> == </a:t>
            </a:r>
            <a:r>
              <a:rPr sz="1300" i="0" b="0">
                <a:solidFill>
                  <a:srgbClr val="569CD6"/>
                </a:solidFill>
                <a:latin typeface="Consolas"/>
              </a:rPr>
              <a:t>null</a:t>
            </a:r>
            <a:r>
              <a:rPr sz="1300" i="0" b="0">
                <a:solidFill>
                  <a:srgbClr val="D4D4D4"/>
                </a:solidFill>
                <a:latin typeface="Consolas"/>
              </a:rPr>
              <a:t> || </a:t>
            </a:r>
            <a:r>
              <a:rPr sz="1300" i="0" b="0">
                <a:solidFill>
                  <a:srgbClr val="DCDCAA"/>
                </a:solidFill>
                <a:latin typeface="Consolas"/>
              </a:rPr>
              <a:t>texto.trim</a:t>
            </a:r>
            <a:r>
              <a:rPr sz="1300" i="0" b="0">
                <a:solidFill>
                  <a:srgbClr val="D4D4D4"/>
                </a:solidFill>
                <a:latin typeface="Consolas"/>
              </a:rPr>
              <a:t>().</a:t>
            </a:r>
            <a:r>
              <a:rPr sz="1300" i="0" b="0">
                <a:solidFill>
                  <a:srgbClr val="DCDCAA"/>
                </a:solidFill>
                <a:latin typeface="Consolas"/>
              </a:rPr>
              <a:t>isEmpty</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throw</a:t>
            </a:r>
            <a:r>
              <a:rPr sz="1300" i="0" b="0">
                <a:solidFill>
                  <a:srgbClr val="D4D4D4"/>
                </a:solidFill>
                <a:latin typeface="Consolas"/>
              </a:rPr>
              <a:t>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DatoInvalidoException</a:t>
            </a:r>
            <a:r>
              <a:rPr sz="1300" i="0" b="0">
                <a:solidFill>
                  <a:srgbClr val="D4D4D4"/>
                </a:solidFill>
                <a:latin typeface="Consolas"/>
              </a:rPr>
              <a:t>(</a:t>
            </a:r>
            <a:r>
              <a:rPr sz="1300" i="0" b="0">
                <a:solidFill>
                  <a:srgbClr val="CE9178"/>
                </a:solidFill>
                <a:latin typeface="Consolas"/>
              </a:rPr>
              <a:t>"La edad no puede quedar vacia."</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4EC9B0"/>
                </a:solidFill>
                <a:latin typeface="Consolas"/>
              </a:rPr>
              <a:t>int</a:t>
            </a:r>
            <a:r>
              <a:rPr sz="1300" i="0" b="0">
                <a:solidFill>
                  <a:srgbClr val="D4D4D4"/>
                </a:solidFill>
                <a:latin typeface="Consolas"/>
              </a:rPr>
              <a:t> </a:t>
            </a:r>
            <a:r>
              <a:rPr sz="1300" i="0" b="0">
                <a:solidFill>
                  <a:srgbClr val="D4D4D4"/>
                </a:solidFill>
                <a:latin typeface="Consolas"/>
              </a:rPr>
              <a:t>valor</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569CD6"/>
                </a:solidFill>
                <a:latin typeface="Consolas"/>
              </a:rPr>
              <a:t>try</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4D4D4"/>
                </a:solidFill>
                <a:latin typeface="Consolas"/>
              </a:rPr>
              <a:t>valor</a:t>
            </a:r>
            <a:r>
              <a:rPr sz="1300" i="0" b="0">
                <a:solidFill>
                  <a:srgbClr val="D4D4D4"/>
                </a:solidFill>
                <a:latin typeface="Consolas"/>
              </a:rPr>
              <a:t> = </a:t>
            </a:r>
            <a:r>
              <a:rPr sz="1300" i="0" b="0">
                <a:solidFill>
                  <a:srgbClr val="DCDCAA"/>
                </a:solidFill>
                <a:latin typeface="Consolas"/>
              </a:rPr>
              <a:t>Integer.parseInt</a:t>
            </a:r>
            <a:r>
              <a:rPr sz="1300" i="0" b="0">
                <a:solidFill>
                  <a:srgbClr val="D4D4D4"/>
                </a:solidFill>
                <a:latin typeface="Consolas"/>
              </a:rPr>
              <a:t>(</a:t>
            </a:r>
            <a:r>
              <a:rPr sz="1300" i="0" b="0">
                <a:solidFill>
                  <a:srgbClr val="DCDCAA"/>
                </a:solidFill>
                <a:latin typeface="Consolas"/>
              </a:rPr>
              <a:t>texto.trim</a:t>
            </a:r>
            <a:r>
              <a:rPr sz="1300" i="0" b="0">
                <a:solidFill>
                  <a:srgbClr val="D4D4D4"/>
                </a:solidFill>
                <a:latin typeface="Consolas"/>
              </a:rPr>
              <a:t>());</a:t>
            </a:r>
          </a:p>
          <a:p>
            <a:pPr>
              <a:spcAft>
                <a:spcPts val="278"/>
              </a:spcAft>
            </a:pPr>
            <a:r>
              <a:rPr sz="1300" i="0" b="0">
                <a:solidFill>
                  <a:srgbClr val="D4D4D4"/>
                </a:solidFill>
                <a:latin typeface="Consolas"/>
              </a:rPr>
              <a:t>    } </a:t>
            </a:r>
            <a:r>
              <a:rPr sz="1300" i="0" b="0">
                <a:solidFill>
                  <a:srgbClr val="569CD6"/>
                </a:solidFill>
                <a:latin typeface="Consolas"/>
              </a:rPr>
              <a:t>catch</a:t>
            </a:r>
            <a:r>
              <a:rPr sz="1300" i="0" b="0">
                <a:solidFill>
                  <a:srgbClr val="D4D4D4"/>
                </a:solidFill>
                <a:latin typeface="Consolas"/>
              </a:rPr>
              <a:t> (</a:t>
            </a:r>
            <a:r>
              <a:rPr sz="1300" i="0" b="0">
                <a:solidFill>
                  <a:srgbClr val="D4D4D4"/>
                </a:solidFill>
                <a:latin typeface="Consolas"/>
              </a:rPr>
              <a:t>NumberFormatException</a:t>
            </a:r>
            <a:r>
              <a:rPr sz="1300" i="0" b="0">
                <a:solidFill>
                  <a:srgbClr val="D4D4D4"/>
                </a:solidFill>
                <a:latin typeface="Consolas"/>
              </a:rPr>
              <a:t> </a:t>
            </a:r>
            <a:r>
              <a:rPr sz="1300" i="0" b="0">
                <a:solidFill>
                  <a:srgbClr val="D4D4D4"/>
                </a:solidFill>
                <a:latin typeface="Consolas"/>
              </a:rPr>
              <a:t>e</a:t>
            </a:r>
            <a:r>
              <a:rPr sz="1300" i="0" b="0">
                <a:solidFill>
                  <a:srgbClr val="D4D4D4"/>
                </a:solidFill>
                <a:latin typeface="Consolas"/>
              </a:rPr>
              <a:t>) {</a:t>
            </a:r>
          </a:p>
          <a:p>
            <a:pPr>
              <a:spcAft>
                <a:spcPts val="278"/>
              </a:spcAft>
            </a:pPr>
            <a:r>
              <a:rPr sz="1300" i="0" b="0">
                <a:solidFill>
                  <a:srgbClr val="D4D4D4"/>
                </a:solidFill>
                <a:latin typeface="Consolas"/>
              </a:rPr>
              <a:t>        </a:t>
            </a:r>
            <a:r>
              <a:rPr sz="1300" i="1" b="0">
                <a:solidFill>
                  <a:srgbClr val="6A9955"/>
                </a:solidFill>
                <a:latin typeface="Consolas"/>
              </a:rPr>
              <a:t>// Traducimos una excepcion tecnica (unchecked) a un mensaje del negocio.</a:t>
            </a:r>
          </a:p>
          <a:p>
            <a:pPr>
              <a:spcAft>
                <a:spcPts val="278"/>
              </a:spcAft>
            </a:pPr>
            <a:r>
              <a:rPr sz="1300" i="0" b="0">
                <a:solidFill>
                  <a:srgbClr val="D4D4D4"/>
                </a:solidFill>
                <a:latin typeface="Consolas"/>
              </a:rPr>
              <a:t>        </a:t>
            </a:r>
            <a:r>
              <a:rPr sz="1300" i="0" b="0">
                <a:solidFill>
                  <a:srgbClr val="569CD6"/>
                </a:solidFill>
                <a:latin typeface="Consolas"/>
              </a:rPr>
              <a:t>throw</a:t>
            </a:r>
            <a:r>
              <a:rPr sz="1300" i="0" b="0">
                <a:solidFill>
                  <a:srgbClr val="D4D4D4"/>
                </a:solidFill>
                <a:latin typeface="Consolas"/>
              </a:rPr>
              <a:t>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DatoInvalidoException</a:t>
            </a:r>
            <a:r>
              <a:rPr sz="1300" i="0" b="0">
                <a:solidFill>
                  <a:srgbClr val="D4D4D4"/>
                </a:solidFill>
                <a:latin typeface="Consolas"/>
              </a:rPr>
              <a:t>(</a:t>
            </a:r>
            <a:r>
              <a:rPr sz="1300" i="0" b="0">
                <a:solidFill>
                  <a:srgbClr val="CE9178"/>
                </a:solidFill>
                <a:latin typeface="Consolas"/>
              </a:rPr>
              <a:t>"La edad debe ser un numero entero. Escribieron: "</a:t>
            </a:r>
            <a:r>
              <a:rPr sz="1300" i="0" b="0">
                <a:solidFill>
                  <a:srgbClr val="D4D4D4"/>
                </a:solidFill>
                <a:latin typeface="Consolas"/>
              </a:rPr>
              <a:t> + </a:t>
            </a:r>
            <a:r>
              <a:rPr sz="1300" i="0" b="0">
                <a:solidFill>
                  <a:srgbClr val="D4D4D4"/>
                </a:solidFill>
                <a:latin typeface="Consolas"/>
              </a:rPr>
              <a:t>texto</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if</a:t>
            </a:r>
            <a:r>
              <a:rPr sz="1300" i="0" b="0">
                <a:solidFill>
                  <a:srgbClr val="D4D4D4"/>
                </a:solidFill>
                <a:latin typeface="Consolas"/>
              </a:rPr>
              <a:t> (</a:t>
            </a:r>
            <a:r>
              <a:rPr sz="1300" i="0" b="0">
                <a:solidFill>
                  <a:srgbClr val="D4D4D4"/>
                </a:solidFill>
                <a:latin typeface="Consolas"/>
              </a:rPr>
              <a:t>valor</a:t>
            </a:r>
            <a:r>
              <a:rPr sz="1300" i="0" b="0">
                <a:solidFill>
                  <a:srgbClr val="D4D4D4"/>
                </a:solidFill>
                <a:latin typeface="Consolas"/>
              </a:rPr>
              <a:t> &lt; </a:t>
            </a:r>
            <a:r>
              <a:rPr sz="1300" i="0" b="0">
                <a:solidFill>
                  <a:srgbClr val="B5CEA8"/>
                </a:solidFill>
                <a:latin typeface="Consolas"/>
              </a:rPr>
              <a:t>0</a:t>
            </a:r>
            <a:r>
              <a:rPr sz="1300" i="0" b="0">
                <a:solidFill>
                  <a:srgbClr val="D4D4D4"/>
                </a:solidFill>
                <a:latin typeface="Consolas"/>
              </a:rPr>
              <a:t> || </a:t>
            </a:r>
            <a:r>
              <a:rPr sz="1300" i="0" b="0">
                <a:solidFill>
                  <a:srgbClr val="D4D4D4"/>
                </a:solidFill>
                <a:latin typeface="Consolas"/>
              </a:rPr>
              <a:t>valor</a:t>
            </a:r>
            <a:r>
              <a:rPr sz="1300" i="0" b="0">
                <a:solidFill>
                  <a:srgbClr val="D4D4D4"/>
                </a:solidFill>
                <a:latin typeface="Consolas"/>
              </a:rPr>
              <a:t> &gt; </a:t>
            </a:r>
            <a:r>
              <a:rPr sz="1300" i="0" b="0">
                <a:solidFill>
                  <a:srgbClr val="B5CEA8"/>
                </a:solidFill>
                <a:latin typeface="Consolas"/>
              </a:rPr>
              <a:t>30</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throw</a:t>
            </a:r>
            <a:r>
              <a:rPr sz="1300" i="0" b="0">
                <a:solidFill>
                  <a:srgbClr val="D4D4D4"/>
                </a:solidFill>
                <a:latin typeface="Consolas"/>
              </a:rPr>
              <a:t>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DatoInvalidoException</a:t>
            </a:r>
            <a:r>
              <a:rPr sz="1300" i="0" b="0">
                <a:solidFill>
                  <a:srgbClr val="D4D4D4"/>
                </a:solidFill>
                <a:latin typeface="Consolas"/>
              </a:rPr>
              <a:t>(</a:t>
            </a:r>
            <a:r>
              <a:rPr sz="1300" i="0" b="0">
                <a:solidFill>
                  <a:srgbClr val="CE9178"/>
                </a:solidFill>
                <a:latin typeface="Consolas"/>
              </a:rPr>
              <a:t>"La edad debe estar entre 0 y 30 anios. Recibi: "</a:t>
            </a:r>
            <a:r>
              <a:rPr sz="1300" i="0" b="0">
                <a:solidFill>
                  <a:srgbClr val="D4D4D4"/>
                </a:solidFill>
                <a:latin typeface="Consolas"/>
              </a:rPr>
              <a:t> + </a:t>
            </a:r>
            <a:r>
              <a:rPr sz="1300" i="0" b="0">
                <a:solidFill>
                  <a:srgbClr val="D4D4D4"/>
                </a:solidFill>
                <a:latin typeface="Consolas"/>
              </a:rPr>
              <a:t>valor</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this</a:t>
            </a:r>
            <a:r>
              <a:rPr sz="1300" i="0" b="0">
                <a:solidFill>
                  <a:srgbClr val="D4D4D4"/>
                </a:solidFill>
                <a:latin typeface="Consolas"/>
              </a:rPr>
              <a:t>.</a:t>
            </a:r>
            <a:r>
              <a:rPr sz="1300" i="0" b="0">
                <a:solidFill>
                  <a:srgbClr val="D4D4D4"/>
                </a:solidFill>
                <a:latin typeface="Consolas"/>
              </a:rPr>
              <a:t>edad</a:t>
            </a:r>
            <a:r>
              <a:rPr sz="1300" i="0" b="0">
                <a:solidFill>
                  <a:srgbClr val="D4D4D4"/>
                </a:solidFill>
                <a:latin typeface="Consolas"/>
              </a:rPr>
              <a:t> = </a:t>
            </a:r>
            <a:r>
              <a:rPr sz="1300" i="0" b="0">
                <a:solidFill>
                  <a:srgbClr val="D4D4D4"/>
                </a:solidFill>
                <a:latin typeface="Consolas"/>
              </a:rPr>
              <a:t>valor</a:t>
            </a:r>
            <a:r>
              <a:rPr sz="1300" i="0" b="0">
                <a:solidFill>
                  <a:srgbClr val="D4D4D4"/>
                </a:solidFill>
                <a:latin typeface="Consolas"/>
              </a:rPr>
              <a:t>;</a:t>
            </a:r>
          </a:p>
          <a:p>
            <a:pPr>
              <a:spcAft>
                <a:spcPts val="278"/>
              </a:spcAft>
            </a:pPr>
            <a:r>
              <a:rPr sz="13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DemoExcepcionesClinica.java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catch vacío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tch-vaci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atch-vaci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atch-vaci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catch (Exception e) { } silencia la falla pero no la arregla.</a:t>
            </a:r>
          </a:p>
          <a:p>
            <a:pPr>
              <a:spcAft>
                <a:spcPts val="800"/>
              </a:spcAft>
            </a:pPr>
            <a:r>
              <a:rPr sz="2000" b="0" i="0">
                <a:solidFill>
                  <a:srgbClr val="333333"/>
                </a:solidFill>
                <a:latin typeface="Calibri"/>
              </a:rPr>
              <a:t>–   El error reaparece más adelante como un NullPointerException sin relación aparente.</a:t>
            </a:r>
          </a:p>
          <a:p>
            <a:pPr>
              <a:spcAft>
                <a:spcPts val="800"/>
              </a:spcAft>
            </a:pPr>
            <a:r>
              <a:rPr sz="2000" b="0" i="0">
                <a:solidFill>
                  <a:srgbClr val="333333"/>
                </a:solidFill>
                <a:latin typeface="Calibri"/>
              </a:rPr>
              <a:t>–   Manejar es informar, registrar, usar un valor documentado o relanzar con contexto.</a:t>
            </a:r>
          </a:p>
          <a:p>
            <a:pPr>
              <a:spcAft>
                <a:spcPts val="800"/>
              </a:spcAft>
            </a:pPr>
            <a:r>
              <a:rPr sz="2000" b="0" i="0">
                <a:solidFill>
                  <a:srgbClr val="333333"/>
                </a:solidFill>
                <a:latin typeface="Calibri"/>
              </a:rPr>
              <a:t>–   La mejor excepción es la que no ocurre: validar null, vacío y rango antes de convertir.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malaPractica(): así no</a:t>
            </a:r>
          </a:p>
        </p:txBody>
      </p:sp>
      <p:sp>
        <p:nvSpPr>
          <p:cNvPr id="5" name="Rounded Rectangle 4"/>
          <p:cNvSpPr/>
          <p:nvPr/>
        </p:nvSpPr>
        <p:spPr>
          <a:xfrm>
            <a:off x="457200" y="1261872"/>
            <a:ext cx="11277295" cy="46224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1188720" y="1719072"/>
            <a:ext cx="10271455" cy="4028127"/>
          </a:xfrm>
          <a:prstGeom prst="rect">
            <a:avLst/>
          </a:prstGeom>
          <a:noFill/>
        </p:spPr>
        <p:txBody>
          <a:bodyPr wrap="square">
            <a:spAutoFit/>
          </a:bodyPr>
          <a:lstStyle/>
          <a:p>
            <a:pPr>
              <a:spcAft>
                <a:spcPts val="364"/>
              </a:spcAft>
            </a:pPr>
            <a:r>
              <a:rPr sz="1700" i="1" b="0">
                <a:solidFill>
                  <a:srgbClr val="6A9955"/>
                </a:solidFill>
                <a:latin typeface="Consolas"/>
              </a:rPr>
              <a:t>/** ASI NO: ejemplo intencional de catch vacio, para verlo fallar en clase. */</a:t>
            </a:r>
          </a:p>
          <a:p>
            <a:pPr>
              <a:spcAft>
                <a:spcPts val="364"/>
              </a:spcAft>
            </a:pPr>
            <a:r>
              <a:rPr sz="1700" i="0" b="0">
                <a:solidFill>
                  <a:srgbClr val="569CD6"/>
                </a:solidFill>
                <a:latin typeface="Consolas"/>
              </a:rPr>
              <a:t>private</a:t>
            </a:r>
            <a:r>
              <a:rPr sz="1700" i="0" b="0">
                <a:solidFill>
                  <a:srgbClr val="D4D4D4"/>
                </a:solidFill>
                <a:latin typeface="Consolas"/>
              </a:rPr>
              <a:t> </a:t>
            </a:r>
            <a:r>
              <a:rPr sz="1700" i="0" b="0">
                <a:solidFill>
                  <a:srgbClr val="569CD6"/>
                </a:solidFill>
                <a:latin typeface="Consolas"/>
              </a:rPr>
              <a:t>static</a:t>
            </a:r>
            <a:r>
              <a:rPr sz="1700" i="0" b="0">
                <a:solidFill>
                  <a:srgbClr val="D4D4D4"/>
                </a:solidFill>
                <a:latin typeface="Consolas"/>
              </a:rPr>
              <a:t> </a:t>
            </a:r>
            <a:r>
              <a:rPr sz="1700" i="0" b="0">
                <a:solidFill>
                  <a:srgbClr val="569CD6"/>
                </a:solidFill>
                <a:latin typeface="Consolas"/>
              </a:rPr>
              <a:t>void</a:t>
            </a:r>
            <a:r>
              <a:rPr sz="1700" i="0" b="0">
                <a:solidFill>
                  <a:srgbClr val="D4D4D4"/>
                </a:solidFill>
                <a:latin typeface="Consolas"/>
              </a:rPr>
              <a:t> </a:t>
            </a:r>
            <a:r>
              <a:rPr sz="1700" i="0" b="0">
                <a:solidFill>
                  <a:srgbClr val="DCDCAA"/>
                </a:solidFill>
                <a:latin typeface="Consolas"/>
              </a:rPr>
              <a:t>malaPractica</a:t>
            </a:r>
            <a:r>
              <a:rPr sz="1700" i="0" b="0">
                <a:solidFill>
                  <a:srgbClr val="D4D4D4"/>
                </a:solidFill>
                <a:latin typeface="Consolas"/>
              </a:rPr>
              <a:t>(</a:t>
            </a:r>
            <a:r>
              <a:rPr sz="1700" i="0" b="0">
                <a:solidFill>
                  <a:srgbClr val="4EC9B0"/>
                </a:solidFill>
                <a:latin typeface="Consolas"/>
              </a:rPr>
              <a:t>List</a:t>
            </a:r>
            <a:r>
              <a:rPr sz="1700" i="0" b="0">
                <a:solidFill>
                  <a:srgbClr val="D4D4D4"/>
                </a:solidFill>
                <a:latin typeface="Consolas"/>
              </a:rPr>
              <a:t>&lt;</a:t>
            </a:r>
            <a:r>
              <a:rPr sz="1700" i="0" b="0">
                <a:solidFill>
                  <a:srgbClr val="D4D4D4"/>
                </a:solidFill>
                <a:latin typeface="Consolas"/>
              </a:rPr>
              <a:t>Mascota</a:t>
            </a:r>
            <a:r>
              <a:rPr sz="1700" i="0" b="0">
                <a:solidFill>
                  <a:srgbClr val="D4D4D4"/>
                </a:solidFill>
                <a:latin typeface="Consolas"/>
              </a:rPr>
              <a:t>&gt; </a:t>
            </a:r>
            <a:r>
              <a:rPr sz="1700" i="0" b="0">
                <a:solidFill>
                  <a:srgbClr val="D4D4D4"/>
                </a:solidFill>
                <a:latin typeface="Consolas"/>
              </a:rPr>
              <a:t>agenda</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4EC9B0"/>
                </a:solidFill>
                <a:latin typeface="Consolas"/>
              </a:rPr>
              <a:t>int</a:t>
            </a:r>
            <a:r>
              <a:rPr sz="1700" i="0" b="0">
                <a:solidFill>
                  <a:srgbClr val="D4D4D4"/>
                </a:solidFill>
                <a:latin typeface="Consolas"/>
              </a:rPr>
              <a:t> </a:t>
            </a:r>
            <a:r>
              <a:rPr sz="1700" i="0" b="0">
                <a:solidFill>
                  <a:srgbClr val="D4D4D4"/>
                </a:solidFill>
                <a:latin typeface="Consolas"/>
              </a:rPr>
              <a:t>antes</a:t>
            </a:r>
            <a:r>
              <a:rPr sz="1700" i="0" b="0">
                <a:solidFill>
                  <a:srgbClr val="D4D4D4"/>
                </a:solidFill>
                <a:latin typeface="Consolas"/>
              </a:rPr>
              <a:t> = </a:t>
            </a:r>
            <a:r>
              <a:rPr sz="1700" i="0" b="0">
                <a:solidFill>
                  <a:srgbClr val="DCDCAA"/>
                </a:solidFill>
                <a:latin typeface="Consolas"/>
              </a:rPr>
              <a:t>agenda.size</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569CD6"/>
                </a:solidFill>
                <a:latin typeface="Consolas"/>
              </a:rPr>
              <a:t>try</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4D4D4"/>
                </a:solidFill>
                <a:latin typeface="Consolas"/>
              </a:rPr>
              <a:t>Mascota</a:t>
            </a:r>
            <a:r>
              <a:rPr sz="1700" i="0" b="0">
                <a:solidFill>
                  <a:srgbClr val="D4D4D4"/>
                </a:solidFill>
                <a:latin typeface="Consolas"/>
              </a:rPr>
              <a:t> </a:t>
            </a:r>
            <a:r>
              <a:rPr sz="1700" i="0" b="0">
                <a:solidFill>
                  <a:srgbClr val="D4D4D4"/>
                </a:solidFill>
                <a:latin typeface="Consolas"/>
              </a:rPr>
              <a:t>m</a:t>
            </a:r>
            <a:r>
              <a:rPr sz="1700" i="0" b="0">
                <a:solidFill>
                  <a:srgbClr val="D4D4D4"/>
                </a:solidFill>
                <a:latin typeface="Consolas"/>
              </a:rPr>
              <a:t> = </a:t>
            </a:r>
            <a:r>
              <a:rPr sz="1700" i="0" b="0">
                <a:solidFill>
                  <a:srgbClr val="569CD6"/>
                </a:solidFill>
                <a:latin typeface="Consolas"/>
              </a:rPr>
              <a:t>new</a:t>
            </a:r>
            <a:r>
              <a:rPr sz="1700" i="0" b="0">
                <a:solidFill>
                  <a:srgbClr val="D4D4D4"/>
                </a:solidFill>
                <a:latin typeface="Consolas"/>
              </a:rPr>
              <a:t> </a:t>
            </a:r>
            <a:r>
              <a:rPr sz="1700" i="0" b="0">
                <a:solidFill>
                  <a:srgbClr val="4EC9B0"/>
                </a:solidFill>
                <a:latin typeface="Consolas"/>
              </a:rPr>
              <a:t>Mascota</a:t>
            </a:r>
            <a:r>
              <a:rPr sz="1700" i="0" b="0">
                <a:solidFill>
                  <a:srgbClr val="D4D4D4"/>
                </a:solidFill>
                <a:latin typeface="Consolas"/>
              </a:rPr>
              <a:t>(</a:t>
            </a:r>
            <a:r>
              <a:rPr sz="1700" i="0" b="0">
                <a:solidFill>
                  <a:srgbClr val="CE9178"/>
                </a:solidFill>
                <a:latin typeface="Consolas"/>
              </a:rPr>
              <a:t>"M-999"</a:t>
            </a:r>
            <a:r>
              <a:rPr sz="1700" i="0" b="0">
                <a:solidFill>
                  <a:srgbClr val="D4D4D4"/>
                </a:solidFill>
                <a:latin typeface="Consolas"/>
              </a:rPr>
              <a:t>, </a:t>
            </a:r>
            <a:r>
              <a:rPr sz="1700" i="0" b="0">
                <a:solidFill>
                  <a:srgbClr val="CE9178"/>
                </a:solidFill>
                <a:latin typeface="Consolas"/>
              </a:rPr>
              <a:t>"Fantasma"</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m.setEdad</a:t>
            </a:r>
            <a:r>
              <a:rPr sz="1700" i="0" b="0">
                <a:solidFill>
                  <a:srgbClr val="D4D4D4"/>
                </a:solidFill>
                <a:latin typeface="Consolas"/>
              </a:rPr>
              <a:t>(</a:t>
            </a:r>
            <a:r>
              <a:rPr sz="1700" i="0" b="0">
                <a:solidFill>
                  <a:srgbClr val="CE9178"/>
                </a:solidFill>
                <a:latin typeface="Consolas"/>
              </a:rPr>
              <a:t>"tres"</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agenda.add</a:t>
            </a:r>
            <a:r>
              <a:rPr sz="1700" i="0" b="0">
                <a:solidFill>
                  <a:srgbClr val="D4D4D4"/>
                </a:solidFill>
                <a:latin typeface="Consolas"/>
              </a:rPr>
              <a:t>(</a:t>
            </a:r>
            <a:r>
              <a:rPr sz="1700" i="0" b="0">
                <a:solidFill>
                  <a:srgbClr val="D4D4D4"/>
                </a:solidFill>
                <a:latin typeface="Consolas"/>
              </a:rPr>
              <a:t>m</a:t>
            </a:r>
            <a:r>
              <a:rPr sz="1700" i="0" b="0">
                <a:solidFill>
                  <a:srgbClr val="D4D4D4"/>
                </a:solidFill>
                <a:latin typeface="Consolas"/>
              </a:rPr>
              <a:t>);</a:t>
            </a:r>
          </a:p>
          <a:p>
            <a:pPr>
              <a:spcAft>
                <a:spcPts val="364"/>
              </a:spcAft>
            </a:pPr>
            <a:r>
              <a:rPr sz="1700" i="0" b="0">
                <a:solidFill>
                  <a:srgbClr val="D4D4D4"/>
                </a:solidFill>
                <a:latin typeface="Consolas"/>
              </a:rPr>
              <a:t>    } </a:t>
            </a:r>
            <a:r>
              <a:rPr sz="1700" i="0" b="0">
                <a:solidFill>
                  <a:srgbClr val="569CD6"/>
                </a:solidFill>
                <a:latin typeface="Consolas"/>
              </a:rPr>
              <a:t>catch</a:t>
            </a:r>
            <a:r>
              <a:rPr sz="1700" i="0" b="0">
                <a:solidFill>
                  <a:srgbClr val="D4D4D4"/>
                </a:solidFill>
                <a:latin typeface="Consolas"/>
              </a:rPr>
              <a:t> (</a:t>
            </a:r>
            <a:r>
              <a:rPr sz="1700" i="0" b="0">
                <a:solidFill>
                  <a:srgbClr val="D4D4D4"/>
                </a:solidFill>
                <a:latin typeface="Consolas"/>
              </a:rPr>
              <a:t>DatoInvalidoException</a:t>
            </a:r>
            <a:r>
              <a:rPr sz="1700" i="0" b="0">
                <a:solidFill>
                  <a:srgbClr val="D4D4D4"/>
                </a:solidFill>
                <a:latin typeface="Consolas"/>
              </a:rPr>
              <a:t> </a:t>
            </a:r>
            <a:r>
              <a:rPr sz="1700" i="0" b="0">
                <a:solidFill>
                  <a:srgbClr val="D4D4D4"/>
                </a:solidFill>
                <a:latin typeface="Consolas"/>
              </a:rPr>
              <a:t>e</a:t>
            </a:r>
            <a:r>
              <a:rPr sz="1700" i="0" b="0">
                <a:solidFill>
                  <a:srgbClr val="D4D4D4"/>
                </a:solidFill>
                <a:latin typeface="Consolas"/>
              </a:rPr>
              <a:t>) {</a:t>
            </a:r>
          </a:p>
          <a:p>
            <a:pPr>
              <a:spcAft>
                <a:spcPts val="364"/>
              </a:spcAft>
            </a:pPr>
            <a:r>
              <a:rPr sz="1700" i="0" b="0">
                <a:solidFill>
                  <a:srgbClr val="D4D4D4"/>
                </a:solidFill>
                <a:latin typeface="Consolas"/>
              </a:rPr>
              <a:t>        </a:t>
            </a:r>
            <a:r>
              <a:rPr sz="1700" i="1" b="0">
                <a:solidFill>
                  <a:srgbClr val="6A9955"/>
                </a:solidFill>
                <a:latin typeface="Consolas"/>
              </a:rPr>
              <a:t>// MALA PRACTICA A PROPOSITO: catch vacio, nadie se entera de nada.</a:t>
            </a:r>
          </a:p>
          <a:p>
            <a:pPr>
              <a:spcAft>
                <a:spcPts val="364"/>
              </a:spcAft>
            </a:pP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  Antes: "</a:t>
            </a:r>
            <a:r>
              <a:rPr sz="1700" i="0" b="0">
                <a:solidFill>
                  <a:srgbClr val="D4D4D4"/>
                </a:solidFill>
                <a:latin typeface="Consolas"/>
              </a:rPr>
              <a:t> + </a:t>
            </a:r>
            <a:r>
              <a:rPr sz="1700" i="0" b="0">
                <a:solidFill>
                  <a:srgbClr val="D4D4D4"/>
                </a:solidFill>
                <a:latin typeface="Consolas"/>
              </a:rPr>
              <a:t>antes</a:t>
            </a:r>
            <a:r>
              <a:rPr sz="1700" i="0" b="0">
                <a:solidFill>
                  <a:srgbClr val="D4D4D4"/>
                </a:solidFill>
                <a:latin typeface="Consolas"/>
              </a:rPr>
              <a:t> + </a:t>
            </a:r>
            <a:r>
              <a:rPr sz="1700" i="0" b="0">
                <a:solidFill>
                  <a:srgbClr val="CE9178"/>
                </a:solidFill>
                <a:latin typeface="Consolas"/>
              </a:rPr>
              <a:t>" | Ahora: "</a:t>
            </a:r>
            <a:r>
              <a:rPr sz="1700" i="0" b="0">
                <a:solidFill>
                  <a:srgbClr val="D4D4D4"/>
                </a:solidFill>
                <a:latin typeface="Consolas"/>
              </a:rPr>
              <a:t> + </a:t>
            </a:r>
            <a:r>
              <a:rPr sz="1700" i="0" b="0">
                <a:solidFill>
                  <a:srgbClr val="DCDCAA"/>
                </a:solidFill>
                <a:latin typeface="Consolas"/>
              </a:rPr>
              <a:t>agenda.size</a:t>
            </a:r>
            <a:r>
              <a:rPr sz="1700" i="0" b="0">
                <a:solidFill>
                  <a:srgbClr val="D4D4D4"/>
                </a:solidFill>
                <a:latin typeface="Consolas"/>
              </a:rPr>
              <a:t>() + </a:t>
            </a:r>
            <a:r>
              <a:rPr sz="1700" i="0" b="0">
                <a:solidFill>
                  <a:srgbClr val="CE9178"/>
                </a:solidFill>
                <a:latin typeface="Consolas"/>
              </a:rPr>
              <a:t>" -&gt; la mascota nunca entro y nadie aviso."</a:t>
            </a:r>
            <a:r>
              <a:rPr sz="1700" i="0" b="0">
                <a:solidFill>
                  <a:srgbClr val="D4D4D4"/>
                </a:solidFill>
                <a:latin typeface="Consolas"/>
              </a:rPr>
              <a:t>);</a:t>
            </a:r>
          </a:p>
          <a:p>
            <a:pPr>
              <a:spcAft>
                <a:spcPts val="364"/>
              </a:spcAft>
            </a:pPr>
            <a:r>
              <a:rPr sz="1700" i="0" b="0">
                <a:solidFill>
                  <a:srgbClr val="D4D4D4"/>
                </a:solidFill>
                <a:latin typeface="Consolas"/>
              </a:rPr>
              <a:t>}</a:t>
            </a:r>
          </a:p>
        </p:txBody>
      </p:sp>
      <p:sp>
        <p:nvSpPr>
          <p:cNvPr id="12" name="TextBox 11"/>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DemoExcepcionesClinica.java</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ptop-code-live-demo.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olia danilevich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p>
          <a:p>
            <a:pPr>
              <a:spcAft>
                <a:spcPts val="800"/>
              </a:spcAft>
            </a:pPr>
            <a:r>
              <a:rPr sz="2000" b="0" i="0">
                <a:solidFill>
                  <a:srgbClr val="333333"/>
                </a:solidFill>
                <a:latin typeface="Calibri"/>
              </a:rPr>
              <a:t>–   Mismo dominio de la clinica — no otro ejemplo.</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13 · Control de excepciones · try-catch-finally</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Que el sistema de la clinica no se caiga porque escribieron 'tres' en la edad</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