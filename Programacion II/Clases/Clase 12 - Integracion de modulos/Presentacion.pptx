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Integrar es lograr que piezas que ya funcionan por separado funcionen juntas dentro de un único ejecutable, y esa palabra 'juntas' esconde casi todo el trabajo. El sistema de la clinica tiene cuatro piezas y conviene ponerles nombre de paquete para verlas: clinica.modelo con Mascota (y Dueno, si el equipo lo separó), clinica.datos con RepositorioMascotasCSV, clinica.logica con ServicioClinica que administra el ArrayList y aplica las reglas, y clinica.ui con la ventana Swing. Entre ellas rige una regla de dependencia que hay que respetar como si fuera ley: la interfaz conoce al servicio, el servicio conoce al repositorio, el repositorio conoce al modelo, y nadie mira hacia arriba; en particular el servicio no puede llamar a un JOptionPane. ¿Por qué importa? Porque así se puede probar la lógica sin abrir la ventana, porque el día que se cambie el .csv por una base de datos solo se toca una clase, y porque cuando algo falle se sabe en qué capa buscar. Integrar bien no es que compile: es que exista un único punto de entrada, un único servicio y un único archivo de datos, y que cada capa haga su oficio y nada más.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 abre la ventana; por consola no imprime nada que comparar.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flujo de punta a punta se define antes de integrar, por escrito, y se llama guion de humo porque su único fin es ver si sale humo. Para el sistema de la clinica son cinco pasos: abrir la aplicación y ver la tabla poblada con lo que había en mascotas.csv; registrar una mascota nueva con dueño y ver que aparece de inmediato en la tabla; buscar por ID y ver el expediente; cerrar la ventana y confirmar que avisó cuántos registros guardó; volver a abrir y encontrar la mascota nueva. Eso es lo que tiene que correr sin que nadie toque código en la mitad. El ciclo de vida que lo soporta es igual de explícito y su orden no es negociable: el main construye el repositorio, construye el servicio pasándole el repositorio, pide cargar los datos y solo entonces manda a construir y mostrar la ventana; al cerrar, el manejador de la ventana pide guardar y solo si el guardado salió bien libera la aplicación. Si se invierte el orden y la ventana se construye antes de cargar, la tabla nace vacía aunque el archivo tenga cien mascotas, y el estudiante va a jurar que la persistencia no funciona cuando lo que está mal es la secuencia de arranque.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 abre la ventana; por consola no imprime nada que comparar.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 abre la ventana; por consola no imprime nada que comparar.</a:t>
            </a:r>
          </a:p>
          <a:p/>
          <a:p>
            <a:r>
              <a:t>Aqui el cierre se dispara con un boton Cerrar (en la app lo dispara la X, como en la lamina anterior) y guardarEnArchivo() esta vacio: en la app escribe el CSV por medio del repositorio.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errores de integración tienen firma propia y conviene reconocerlos por el síntoma. Primero, el más costoso: dos instancias del mismo servicio, una creada en el main y otra creada dentro del constructor de la ventana; se registra en la instancia de la ventana y al cerrar se guarda la del main, así que el archivo queda igual y todo el mundo culpa a la persistencia. Segundo, el orden de arranque invertido que ya mencionamos: tabla vacía con la consola diciendo 'Mascotas cargadas: 12'. Tercero, la ruta del archivo: se ejecuta desde VS Code y el .csv queda en la carpeta del proyecto, se ejecuta el JAR desde el escritorio y queda en otra parte, entonces 'se perdieron los datos'. Cuarto, el contrato del CSV roto entre quien escribe y quien lee, con el orden de campos distinto: el archivo se ve bien en el Bloc de notas pero la tabla muestra 'Canino' en la columna de edad. Quinto, la unión del código de tres personas que trajeron cada una su propia clase Mascota con constructores distintos. Y sexto, el clásico NullPointerException porque buscarPorId devuelve null cuando el ID no existe y nadie valida antes de usar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Mascotas cargadas: 2</a:t>
            </a:r>
          </a:p>
          <a:p/>
          <a:p>
            <a:r>
              <a:t>Crea (o sobrescribe) mascotas.csv en la carpeta donde se ejecuta. Para que quepa, la lista es de nombres: en la app son objetos Mascota.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depurador de VS Code es la herramienta de esta clase y hay que perderle el miedo en vivo. Se pone un breakpoint haciendo clic en el margen izquierdo de la línea (o con F9), se inicia la depuración con F5 (Run and Debug) y la aplicación se congela justo ahí. Desde ese punto, F10 avanza a la línea siguiente sin entrar a los métodos, F11 entra al método que se está llamando, Mayús+F11 sale del método actual y F5 continúa hasta el siguiente breakpoint. Mientras está detenido, la ventana Variables muestra el valor real de cada campo y de cada objeto, Watch permite vigilar una expresión concreta como servicio.listar().size(), y Call Stack muestra quién llamó a quién, que es justo lo que uno necesita cuando no entiende por qué se ejecutó algo. Hay además una joya para integración: el breakpoint condicional, al que se le pone una condición como id.equals("M009") para que solo se detenga en el caso problemático y no en las doscientas iteraciones buenas. Todo esto es superior a llenar el código de System.out.println por tres razones: no ensucia el proyecto ni deja basura que después hay que borrar, muestra el estado completo y no solo lo que uno se acordó de imprimir, y permite mirar el orden real de las llamadas.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forma de integrar sin sufrir es por goteo y no de un solo golpe. Integración de un solo golpe es juntar los cuatro módulos la noche anterior a la entrega; el resultado conocido es una aplicación que no arranca y nadie sabe cuál de los cuatro la rompió. Integración por goteo es unir de a un módulo, correr el guion de humo después de cada unión, y no avanzar mientras el ejecutable esté en rojo: primero modelo más servicio con un main de consola, después servicio más repositorio verificando el archivo en disco, después la ventana consumiendo el servicio, y por último el cierre que guarda. Cuando algo se rompe, uno sabe exactamente qué fue lo último que tocó. Tres hábitos más que valen oro: fijar por escrito el contrato entre módulos, es decir la firma de los métodos públicos del servicio y el orden exacto de los campos del CSV, para que quien escribe y quien lee no se contradigan; poner el try-catch en las fronteras, o sea en el manejador del botón y en el acceso al archivo, y no repartido por todo el modelo; y llevar la bitácora de integración con síntoma, causa y corrección de cada defecto, que es lo que se entrega y lo que salva en la sustentación.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OK M001</a:t>
            </a:r>
          </a:p>
          <a:p/>
          <a:p>
            <a:r>
              <a:t>Edad no entera: 'dos'</a:t>
            </a:r>
          </a:p>
          <a:p/>
          <a:p>
            <a:r>
              <a:t>Edad fuera de 0 a 25</a:t>
            </a:r>
          </a:p>
          <a:p/>
          <a:p>
            <a:r>
              <a:t>Para que quepa: se omiten las validaciones de nombre, especie y cedula (como en el recorte), los mensajes van acortados y el id sale de un contador simple en vez de siguienteId().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 abre la ventana; por consola no imprime nada que comparar.</a:t>
            </a:r>
          </a:p>
          <a:p/>
          <a:p>
            <a:r>
              <a:t>Arriba el nombre, abajo la edad: Enter en la edad registra (en la app hay un boton Registrar y cuatro campos).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corre el guion de humo completo (abrir, registrar, buscar, cerrar, reabrir) y luego pone un breakpoint en el botón Registrar para mostrar con el debugger por qué una edad vacía estaba entrando como cero.</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Integración de módulos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De piezas sueltas a una aplicación que corre de punta a punta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Integración de módulos — De piezas sueltas a una aplicación que corre de punta a punta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piezas que funcionan juntas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pas-dependenci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pas-dependenci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pas-dependenci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Cuatro piezas: modelo, datos (repositorio CSV), lógica (servicio) e interfaz (Swing).</a:t>
            </a:r>
          </a:p>
          <a:p>
            <a:pPr>
              <a:spcAft>
                <a:spcPts val="800"/>
              </a:spcAft>
            </a:pPr>
            <a:r>
              <a:rPr sz="2000" b="0" i="0">
                <a:solidFill>
                  <a:srgbClr val="333333"/>
                </a:solidFill>
                <a:latin typeface="Calibri"/>
              </a:rPr>
              <a:t>–   Regla de dependencia: UI → servicio → repositorio → modelo; nadie mira hacia arriba.</a:t>
            </a:r>
          </a:p>
          <a:p>
            <a:pPr>
              <a:spcAft>
                <a:spcPts val="800"/>
              </a:spcAft>
            </a:pPr>
            <a:r>
              <a:rPr sz="2000" b="0" i="0">
                <a:solidFill>
                  <a:srgbClr val="333333"/>
                </a:solidFill>
                <a:latin typeface="Calibri"/>
              </a:rPr>
              <a:t>–   El servicio no llama a JOptionPane: así se prueba sin abrir la ventana.</a:t>
            </a:r>
          </a:p>
          <a:p>
            <a:pPr>
              <a:spcAft>
                <a:spcPts val="800"/>
              </a:spcAft>
            </a:pPr>
            <a:r>
              <a:rPr sz="2000" b="0" i="0">
                <a:solidFill>
                  <a:srgbClr val="333333"/>
                </a:solidFill>
                <a:latin typeface="Calibri"/>
              </a:rPr>
              <a:t>–   Un punto de entrada, un servicio y un archivo de datos.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main(): una sola instancia de cada capa</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JFrame</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SwingUtilities</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RepositorioMascotasCSV</a:t>
            </a:r>
            <a:r>
              <a:rPr sz="1000" i="0" b="0">
                <a:solidFill>
                  <a:srgbClr val="D4D4D4"/>
                </a:solidFill>
                <a:latin typeface="Consolas"/>
              </a:rPr>
              <a:t> </a:t>
            </a:r>
            <a:r>
              <a:rPr sz="1000" i="0" b="0">
                <a:solidFill>
                  <a:srgbClr val="D4D4D4"/>
                </a:solidFill>
                <a:latin typeface="Consolas"/>
              </a:rPr>
              <a:t>repositorio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RepositorioMascotasCSV</a:t>
            </a:r>
            <a:r>
              <a:rPr sz="1000" i="0" b="0">
                <a:solidFill>
                  <a:srgbClr val="D4D4D4"/>
                </a:solidFill>
                <a:latin typeface="Consolas"/>
              </a:rPr>
              <a:t>(</a:t>
            </a:r>
            <a:r>
              <a:rPr sz="1000" i="0" b="0">
                <a:solidFill>
                  <a:srgbClr val="CE9178"/>
                </a:solidFill>
                <a:latin typeface="Consolas"/>
              </a:rPr>
              <a:t>"mascotas.csv"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ServicioClinica</a:t>
            </a:r>
            <a:r>
              <a:rPr sz="1000" i="0" b="0">
                <a:solidFill>
                  <a:srgbClr val="D4D4D4"/>
                </a:solidFill>
                <a:latin typeface="Consolas"/>
              </a:rPr>
              <a:t> </a:t>
            </a:r>
            <a:r>
              <a:rPr sz="1000" i="0" b="0">
                <a:solidFill>
                  <a:srgbClr val="D4D4D4"/>
                </a:solidFill>
                <a:latin typeface="Consolas"/>
              </a:rPr>
              <a:t>servicio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ServicioClinica</a:t>
            </a:r>
            <a:r>
              <a:rPr sz="1000" i="0" b="0">
                <a:solidFill>
                  <a:srgbClr val="D4D4D4"/>
                </a:solidFill>
                <a:latin typeface="Consolas"/>
              </a:rPr>
              <a:t>(</a:t>
            </a:r>
            <a:r>
              <a:rPr sz="1000" i="0" b="0">
                <a:solidFill>
                  <a:srgbClr val="D4D4D4"/>
                </a:solidFill>
                <a:latin typeface="Consolas"/>
              </a:rPr>
              <a:t>repositorio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servicio.cargarDesdeArchivo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SwingUtilities.invokeLater</a:t>
            </a:r>
            <a:r>
              <a:rPr sz="1000" i="0" b="0">
                <a:solidFill>
                  <a:srgbClr val="D4D4D4"/>
                </a:solidFill>
                <a:latin typeface="Consolas"/>
              </a:rPr>
              <a:t>(() -&gt;</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ClinicaApp</a:t>
            </a:r>
            <a:r>
              <a:rPr sz="1000" i="0" b="0">
                <a:solidFill>
                  <a:srgbClr val="D4D4D4"/>
                </a:solidFill>
                <a:latin typeface="Consolas"/>
              </a:rPr>
              <a:t>(</a:t>
            </a:r>
            <a:r>
              <a:rPr sz="1000" i="0" b="0">
                <a:solidFill>
                  <a:srgbClr val="D4D4D4"/>
                </a:solidFill>
                <a:latin typeface="Consolas"/>
              </a:rPr>
              <a:t>servicio</a:t>
            </a:r>
            <a:r>
              <a:rPr sz="1000" i="0" b="0">
                <a:solidFill>
                  <a:srgbClr val="D4D4D4"/>
                </a:solidFill>
                <a:latin typeface="Consolas"/>
              </a:rPr>
              <a:t>).</a:t>
            </a:r>
            <a:r>
              <a:rPr sz="1000" i="0" b="0">
                <a:solidFill>
                  <a:srgbClr val="DCDCAA"/>
                </a:solidFill>
                <a:latin typeface="Consolas"/>
              </a:rPr>
              <a:t>setVisible</a:t>
            </a:r>
            <a:r>
              <a:rPr sz="1000" i="0" b="0">
                <a:solidFill>
                  <a:srgbClr val="D4D4D4"/>
                </a:solidFill>
                <a:latin typeface="Consolas"/>
              </a:rPr>
              <a:t>(</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RepositorioMascotasCSV</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RepositorioMascotasCSV</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archivo</a:t>
            </a:r>
            <a:r>
              <a:rPr sz="1000" i="0" b="0">
                <a:solidFill>
                  <a:srgbClr val="D4D4D4"/>
                </a:solidFill>
                <a:latin typeface="Consolas"/>
              </a:rPr>
              <a:t>) { }</a:t>
            </a:r>
          </a:p>
          <a:p>
            <a:pPr>
              <a:spcAft>
                <a:spcPts val="71"/>
              </a:spcAft>
            </a:pPr>
            <a:r>
              <a:rPr sz="1000" i="0" b="0">
                <a:solidFill>
                  <a:srgbClr val="D4D4D4"/>
                </a:solidFill>
                <a:latin typeface="Consolas"/>
              </a:rPr>
              <a:t>    </a:t>
            </a:r>
            <a:r>
              <a:rPr sz="1000" i="1" b="0">
                <a:solidFill>
                  <a:srgbClr val="6A9955"/>
                </a:solidFill>
                <a:latin typeface="Consolas"/>
              </a:rPr>
              <a:t>// en la app real lee el CSV: aqui arranca vacio</a:t>
            </a:r>
          </a:p>
          <a:p>
            <a:pPr>
              <a:spcAft>
                <a:spcPts val="71"/>
              </a:spcAft>
            </a:pP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&gt; </a:t>
            </a:r>
            <a:r>
              <a:rPr sz="1000" i="0" b="0">
                <a:solidFill>
                  <a:srgbClr val="DCDCAA"/>
                </a:solidFill>
                <a:latin typeface="Consolas"/>
              </a:rPr>
              <a:t>cargar</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ServicioClinica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RepositorioMascotasCSV</a:t>
            </a:r>
            <a:r>
              <a:rPr sz="1000" i="0" b="0">
                <a:solidFill>
                  <a:srgbClr val="D4D4D4"/>
                </a:solidFill>
                <a:latin typeface="Consolas"/>
              </a:rPr>
              <a:t> </a:t>
            </a:r>
            <a:r>
              <a:rPr sz="1000" i="0" b="0">
                <a:solidFill>
                  <a:srgbClr val="D4D4D4"/>
                </a:solidFill>
                <a:latin typeface="Consolas"/>
              </a:rPr>
              <a:t>repositorio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DCDCAA"/>
                </a:solidFill>
                <a:latin typeface="Consolas"/>
              </a:rPr>
              <a:t>ServicioClinica</a:t>
            </a:r>
            <a:r>
              <a:rPr sz="1000" i="0" b="0">
                <a:solidFill>
                  <a:srgbClr val="D4D4D4"/>
                </a:solidFill>
                <a:latin typeface="Consolas"/>
              </a:rPr>
              <a:t>(</a:t>
            </a:r>
            <a:r>
              <a:rPr sz="1000" i="0" b="0">
                <a:solidFill>
                  <a:srgbClr val="D4D4D4"/>
                </a:solidFill>
                <a:latin typeface="Consolas"/>
              </a:rPr>
              <a:t>RepositorioMascotasCSV</a:t>
            </a:r>
            <a:r>
              <a:rPr sz="1000" i="0" b="0">
                <a:solidFill>
                  <a:srgbClr val="D4D4D4"/>
                </a:solidFill>
                <a:latin typeface="Consolas"/>
              </a:rPr>
              <a:t> </a:t>
            </a:r>
            <a:r>
              <a:rPr sz="1000" i="0" b="0">
                <a:solidFill>
                  <a:srgbClr val="D4D4D4"/>
                </a:solidFill>
                <a:latin typeface="Consolas"/>
              </a:rPr>
              <a:t>repositorio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repositorio</a:t>
            </a:r>
            <a:r>
              <a:rPr sz="1000" i="0" b="0">
                <a:solidFill>
                  <a:srgbClr val="D4D4D4"/>
                </a:solidFill>
                <a:latin typeface="Consolas"/>
              </a:rPr>
              <a:t> = </a:t>
            </a:r>
            <a:r>
              <a:rPr sz="1000" i="0" b="0">
                <a:solidFill>
                  <a:srgbClr val="D4D4D4"/>
                </a:solidFill>
                <a:latin typeface="Consolas"/>
              </a:rPr>
              <a:t>repositorio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cargarDesdeArchivo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mascotas.addAll</a:t>
            </a:r>
            <a:r>
              <a:rPr sz="1000" i="0" b="0">
                <a:solidFill>
                  <a:srgbClr val="D4D4D4"/>
                </a:solidFill>
                <a:latin typeface="Consolas"/>
              </a:rPr>
              <a:t>(</a:t>
            </a:r>
            <a:r>
              <a:rPr sz="1000" i="0" b="0">
                <a:solidFill>
                  <a:srgbClr val="DCDCAA"/>
                </a:solidFill>
                <a:latin typeface="Consolas"/>
              </a:rPr>
              <a:t>repositorio.cargar</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ClinicaApp</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JFrame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ClinicaApp</a:t>
            </a:r>
            <a:r>
              <a:rPr sz="1000" i="0" b="0">
                <a:solidFill>
                  <a:srgbClr val="D4D4D4"/>
                </a:solidFill>
                <a:latin typeface="Consolas"/>
              </a:rPr>
              <a:t>(</a:t>
            </a:r>
            <a:r>
              <a:rPr sz="1000" i="0" b="0">
                <a:solidFill>
                  <a:srgbClr val="D4D4D4"/>
                </a:solidFill>
                <a:latin typeface="Consolas"/>
              </a:rPr>
              <a:t>ServicioClinica</a:t>
            </a:r>
            <a:r>
              <a:rPr sz="1000" i="0" b="0">
                <a:solidFill>
                  <a:srgbClr val="D4D4D4"/>
                </a:solidFill>
                <a:latin typeface="Consolas"/>
              </a:rPr>
              <a:t> </a:t>
            </a:r>
            <a:r>
              <a:rPr sz="1000" i="0" b="0">
                <a:solidFill>
                  <a:srgbClr val="D4D4D4"/>
                </a:solidFill>
                <a:latin typeface="Consolas"/>
              </a:rPr>
              <a:t>servicio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super</a:t>
            </a:r>
            <a:r>
              <a:rPr sz="1000" i="0" b="0">
                <a:solidFill>
                  <a:srgbClr val="D4D4D4"/>
                </a:solidFill>
                <a:latin typeface="Consolas"/>
              </a:rPr>
              <a:t>(</a:t>
            </a:r>
            <a:r>
              <a:rPr sz="1000" i="0" b="0">
                <a:solidFill>
                  <a:srgbClr val="CE9178"/>
                </a:solidFill>
                <a:latin typeface="Consolas"/>
              </a:rPr>
              <a:t>"Clinica Veterinaria"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setSize</a:t>
            </a:r>
            <a:r>
              <a:rPr sz="1000" i="0" b="0">
                <a:solidFill>
                  <a:srgbClr val="D4D4D4"/>
                </a:solidFill>
                <a:latin typeface="Consolas"/>
              </a:rPr>
              <a:t>(</a:t>
            </a:r>
            <a:r>
              <a:rPr sz="1000" i="0" b="0">
                <a:solidFill>
                  <a:srgbClr val="B5CEA8"/>
                </a:solidFill>
                <a:latin typeface="Consolas"/>
              </a:rPr>
              <a:t>760</a:t>
            </a:r>
            <a:r>
              <a:rPr sz="1000" i="0" b="0">
                <a:solidFill>
                  <a:srgbClr val="D4D4D4"/>
                </a:solidFill>
                <a:latin typeface="Consolas"/>
              </a:rPr>
              <a:t>, </a:t>
            </a:r>
            <a:r>
              <a:rPr sz="1000" i="0" b="0">
                <a:solidFill>
                  <a:srgbClr val="B5CEA8"/>
                </a:solidFill>
                <a:latin typeface="Consolas"/>
              </a:rPr>
              <a:t>420</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setDefaultCloseOperation</a:t>
            </a:r>
            <a:r>
              <a:rPr sz="1000" i="0" b="0">
                <a:solidFill>
                  <a:srgbClr val="D4D4D4"/>
                </a:solidFill>
                <a:latin typeface="Consolas"/>
              </a:rPr>
              <a:t>(</a:t>
            </a:r>
            <a:r>
              <a:rPr sz="1000" i="0" b="0">
                <a:solidFill>
                  <a:srgbClr val="D4D4D4"/>
                </a:solidFill>
                <a:latin typeface="Consolas"/>
              </a:rPr>
              <a:t>EXIT_ON_CLOSE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guion de humo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uion-hum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uion-hum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uion-hum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Cinco pasos: abrir con datos, registrar, buscar por id, cerrar guardando, reabrir.</a:t>
            </a:r>
          </a:p>
          <a:p>
            <a:pPr>
              <a:spcAft>
                <a:spcPts val="800"/>
              </a:spcAft>
            </a:pPr>
            <a:r>
              <a:rPr sz="2000" b="0" i="0">
                <a:solidFill>
                  <a:srgbClr val="333333"/>
                </a:solidFill>
                <a:latin typeface="Calibri"/>
              </a:rPr>
              <a:t>–   Arranque en orden: repositorio, servicio, cargar datos y solo entonces la ventana.</a:t>
            </a:r>
          </a:p>
          <a:p>
            <a:pPr>
              <a:spcAft>
                <a:spcPts val="800"/>
              </a:spcAft>
            </a:pPr>
            <a:r>
              <a:rPr sz="2000" b="0" i="0">
                <a:solidFill>
                  <a:srgbClr val="333333"/>
                </a:solidFill>
                <a:latin typeface="Calibri"/>
              </a:rPr>
              <a:t>–   Al cerrar se guarda, y solo si salió bien se libera la aplicación.</a:t>
            </a:r>
          </a:p>
          <a:p>
            <a:pPr>
              <a:spcAft>
                <a:spcPts val="800"/>
              </a:spcAft>
            </a:pPr>
            <a:r>
              <a:rPr sz="2000" b="0" i="0">
                <a:solidFill>
                  <a:srgbClr val="333333"/>
                </a:solidFill>
                <a:latin typeface="Calibri"/>
              </a:rPr>
              <a:t>–   Ventana antes de cargar = tabla vacía aunque el archivo tenga cien mascotas.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constructor registra el cierre</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awt</a:t>
            </a:r>
            <a:r>
              <a:rPr sz="1100" i="0" b="0">
                <a:solidFill>
                  <a:srgbClr val="D4D4D4"/>
                </a:solidFill>
                <a:latin typeface="Consolas"/>
              </a:rPr>
              <a:t>.</a:t>
            </a:r>
            <a:r>
              <a:rPr sz="1100" i="0" b="0">
                <a:solidFill>
                  <a:srgbClr val="D4D4D4"/>
                </a:solidFill>
                <a:latin typeface="Consolas"/>
              </a:rPr>
              <a:t>event</a:t>
            </a:r>
            <a:r>
              <a:rPr sz="1100" i="0" b="0">
                <a:solidFill>
                  <a:srgbClr val="D4D4D4"/>
                </a:solidFill>
                <a:latin typeface="Consolas"/>
              </a:rPr>
              <a:t>.</a:t>
            </a:r>
            <a:r>
              <a:rPr sz="1100" i="0" b="0">
                <a:solidFill>
                  <a:srgbClr val="D4D4D4"/>
                </a:solidFill>
                <a:latin typeface="Consolas"/>
              </a:rPr>
              <a:t>WindowAdapter</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awt</a:t>
            </a:r>
            <a:r>
              <a:rPr sz="1100" i="0" b="0">
                <a:solidFill>
                  <a:srgbClr val="D4D4D4"/>
                </a:solidFill>
                <a:latin typeface="Consolas"/>
              </a:rPr>
              <a:t>.</a:t>
            </a:r>
            <a:r>
              <a:rPr sz="1100" i="0" b="0">
                <a:solidFill>
                  <a:srgbClr val="D4D4D4"/>
                </a:solidFill>
                <a:latin typeface="Consolas"/>
              </a:rPr>
              <a:t>event</a:t>
            </a:r>
            <a:r>
              <a:rPr sz="1100" i="0" b="0">
                <a:solidFill>
                  <a:srgbClr val="D4D4D4"/>
                </a:solidFill>
                <a:latin typeface="Consolas"/>
              </a:rPr>
              <a:t>.</a:t>
            </a:r>
            <a:r>
              <a:rPr sz="1100" i="0" b="0">
                <a:solidFill>
                  <a:srgbClr val="D4D4D4"/>
                </a:solidFill>
                <a:latin typeface="Consolas"/>
              </a:rPr>
              <a:t>WindowEvent</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JFrame</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SwingUtilities</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ServicioClinica</a:t>
            </a:r>
            <a:r>
              <a:rPr sz="1100" i="0" b="0">
                <a:solidFill>
                  <a:srgbClr val="D4D4D4"/>
                </a:solidFill>
                <a:latin typeface="Consolas"/>
              </a:rPr>
              <a:t> </a:t>
            </a:r>
            <a:r>
              <a:rPr sz="1100" i="0" b="0">
                <a:solidFill>
                  <a:srgbClr val="D4D4D4"/>
                </a:solidFill>
                <a:latin typeface="Consolas"/>
              </a:rPr>
              <a:t>servicio</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ServicioClinica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SwingUtilities.invokeLater</a:t>
            </a:r>
            <a:r>
              <a:rPr sz="1100" i="0" b="0">
                <a:solidFill>
                  <a:srgbClr val="D4D4D4"/>
                </a:solidFill>
                <a:latin typeface="Consolas"/>
              </a:rPr>
              <a:t>(() -&gt;</a:t>
            </a:r>
          </a:p>
          <a:p>
            <a:pPr>
              <a:spcAft>
                <a:spcPts val="78"/>
              </a:spcAft>
            </a:pP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ClinicaApp</a:t>
            </a:r>
            <a:r>
              <a:rPr sz="1100" i="0" b="0">
                <a:solidFill>
                  <a:srgbClr val="D4D4D4"/>
                </a:solidFill>
                <a:latin typeface="Consolas"/>
              </a:rPr>
              <a:t>(</a:t>
            </a:r>
            <a:r>
              <a:rPr sz="1100" i="0" b="0">
                <a:solidFill>
                  <a:srgbClr val="D4D4D4"/>
                </a:solidFill>
                <a:latin typeface="Consolas"/>
              </a:rPr>
              <a:t>servicio</a:t>
            </a:r>
            <a:r>
              <a:rPr sz="1100" i="0" b="0">
                <a:solidFill>
                  <a:srgbClr val="D4D4D4"/>
                </a:solidFill>
                <a:latin typeface="Consolas"/>
              </a:rPr>
              <a:t>).</a:t>
            </a:r>
            <a:r>
              <a:rPr sz="1100" i="0" b="0">
                <a:solidFill>
                  <a:srgbClr val="DCDCAA"/>
                </a:solidFill>
                <a:latin typeface="Consolas"/>
              </a:rPr>
              <a:t>setVisible</a:t>
            </a:r>
            <a:r>
              <a:rPr sz="1100" i="0" b="0">
                <a:solidFill>
                  <a:srgbClr val="D4D4D4"/>
                </a:solidFill>
                <a:latin typeface="Consolas"/>
              </a:rPr>
              <a:t>(</a:t>
            </a:r>
            <a:r>
              <a:rPr sz="1100" i="0" b="0">
                <a:solidFill>
                  <a:srgbClr val="569CD6"/>
                </a:solidFill>
                <a:latin typeface="Consolas"/>
              </a:rPr>
              <a:t>true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ServicioClinica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guardarEnArchivo</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"Guardado en mascotas.csv"</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a:p>
            <a:pPr algn="r">
              <a:spcAft>
                <a:spcPts val="78"/>
              </a:spcAft>
            </a:pPr>
            <a:r>
              <a:rPr sz="1100" i="0" b="0">
                <a:solidFill>
                  <a:srgbClr val="858585"/>
                </a:solidFill>
                <a:latin typeface="Consolas"/>
              </a:rPr>
              <a:t>37</a:t>
            </a:r>
          </a:p>
          <a:p>
            <a:pPr algn="r">
              <a:spcAft>
                <a:spcPts val="78"/>
              </a:spcAft>
            </a:pPr>
            <a:r>
              <a:rPr sz="1100" i="0" b="0">
                <a:solidFill>
                  <a:srgbClr val="858585"/>
                </a:solidFill>
                <a:latin typeface="Consolas"/>
              </a:rPr>
              <a:t>38</a:t>
            </a:r>
          </a:p>
          <a:p>
            <a:pPr algn="r">
              <a:spcAft>
                <a:spcPts val="78"/>
              </a:spcAft>
            </a:pPr>
            <a:r>
              <a:rPr sz="1100" i="0" b="0">
                <a:solidFill>
                  <a:srgbClr val="858585"/>
                </a:solidFill>
                <a:latin typeface="Consolas"/>
              </a:rPr>
              <a:t>39</a:t>
            </a:r>
          </a:p>
          <a:p>
            <a:pPr algn="r">
              <a:spcAft>
                <a:spcPts val="78"/>
              </a:spcAft>
            </a:pPr>
            <a:r>
              <a:rPr sz="1100" i="0" b="0">
                <a:solidFill>
                  <a:srgbClr val="858585"/>
                </a:solidFill>
                <a:latin typeface="Consolas"/>
              </a:rPr>
              <a:t>40</a:t>
            </a:r>
          </a:p>
          <a:p>
            <a:pPr algn="r">
              <a:spcAft>
                <a:spcPts val="78"/>
              </a:spcAft>
            </a:pPr>
            <a:r>
              <a:rPr sz="1100" i="0" b="0">
                <a:solidFill>
                  <a:srgbClr val="858585"/>
                </a:solidFill>
                <a:latin typeface="Consolas"/>
              </a:rPr>
              <a:t>41</a:t>
            </a:r>
          </a:p>
          <a:p>
            <a:pPr algn="r">
              <a:spcAft>
                <a:spcPts val="78"/>
              </a:spcAft>
            </a:pPr>
            <a:r>
              <a:rPr sz="1100" i="0" b="0">
                <a:solidFill>
                  <a:srgbClr val="858585"/>
                </a:solidFill>
                <a:latin typeface="Consolas"/>
              </a:rPr>
              <a:t>42</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ClinicaApp</a:t>
            </a:r>
            <a:r>
              <a:rPr sz="1100" i="0" b="0">
                <a:solidFill>
                  <a:srgbClr val="D4D4D4"/>
                </a:solidFill>
                <a:latin typeface="Consolas"/>
              </a:rPr>
              <a:t> </a:t>
            </a:r>
            <a:r>
              <a:rPr sz="1100" i="0" b="0">
                <a:solidFill>
                  <a:srgbClr val="569CD6"/>
                </a:solidFill>
                <a:latin typeface="Consolas"/>
              </a:rPr>
              <a:t>extends</a:t>
            </a:r>
            <a:r>
              <a:rPr sz="1100" i="0" b="0">
                <a:solidFill>
                  <a:srgbClr val="D4D4D4"/>
                </a:solidFill>
                <a:latin typeface="Consolas"/>
              </a:rPr>
              <a:t> </a:t>
            </a:r>
            <a:r>
              <a:rPr sz="1100" i="0" b="0">
                <a:solidFill>
                  <a:srgbClr val="4EC9B0"/>
                </a:solidFill>
                <a:latin typeface="Consolas"/>
              </a:rPr>
              <a:t>JFrame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D4D4D4"/>
                </a:solidFill>
                <a:latin typeface="Consolas"/>
              </a:rPr>
              <a:t>ServicioClinica</a:t>
            </a:r>
            <a:r>
              <a:rPr sz="1100" i="0" b="0">
                <a:solidFill>
                  <a:srgbClr val="D4D4D4"/>
                </a:solidFill>
                <a:latin typeface="Consolas"/>
              </a:rPr>
              <a:t> </a:t>
            </a:r>
            <a:r>
              <a:rPr sz="1100" i="0" b="0">
                <a:solidFill>
                  <a:srgbClr val="D4D4D4"/>
                </a:solidFill>
                <a:latin typeface="Consolas"/>
              </a:rPr>
              <a:t>servicio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DCDCAA"/>
                </a:solidFill>
                <a:latin typeface="Consolas"/>
              </a:rPr>
              <a:t>ClinicaApp</a:t>
            </a:r>
            <a:r>
              <a:rPr sz="1100" i="0" b="0">
                <a:solidFill>
                  <a:srgbClr val="D4D4D4"/>
                </a:solidFill>
                <a:latin typeface="Consolas"/>
              </a:rPr>
              <a:t>(</a:t>
            </a:r>
            <a:r>
              <a:rPr sz="1100" i="0" b="0">
                <a:solidFill>
                  <a:srgbClr val="D4D4D4"/>
                </a:solidFill>
                <a:latin typeface="Consolas"/>
              </a:rPr>
              <a:t>ServicioClinica</a:t>
            </a:r>
            <a:r>
              <a:rPr sz="1100" i="0" b="0">
                <a:solidFill>
                  <a:srgbClr val="D4D4D4"/>
                </a:solidFill>
                <a:latin typeface="Consolas"/>
              </a:rPr>
              <a:t> </a:t>
            </a:r>
            <a:r>
              <a:rPr sz="1100" i="0" b="0">
                <a:solidFill>
                  <a:srgbClr val="D4D4D4"/>
                </a:solidFill>
                <a:latin typeface="Consolas"/>
              </a:rPr>
              <a:t>servicio</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super</a:t>
            </a:r>
            <a:r>
              <a:rPr sz="1100" i="0" b="0">
                <a:solidFill>
                  <a:srgbClr val="D4D4D4"/>
                </a:solidFill>
                <a:latin typeface="Consolas"/>
              </a:rPr>
              <a:t>(</a:t>
            </a:r>
            <a:r>
              <a:rPr sz="1100" i="0" b="0">
                <a:solidFill>
                  <a:srgbClr val="CE9178"/>
                </a:solidFill>
                <a:latin typeface="Consolas"/>
              </a:rPr>
              <a:t>"Clinica Veterinaria"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servicio</a:t>
            </a:r>
            <a:r>
              <a:rPr sz="1100" i="0" b="0">
                <a:solidFill>
                  <a:srgbClr val="D4D4D4"/>
                </a:solidFill>
                <a:latin typeface="Consolas"/>
              </a:rPr>
              <a:t> = </a:t>
            </a:r>
            <a:r>
              <a:rPr sz="1100" i="0" b="0">
                <a:solidFill>
                  <a:srgbClr val="D4D4D4"/>
                </a:solidFill>
                <a:latin typeface="Consolas"/>
              </a:rPr>
              <a:t>servicio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construirInterfaz</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refrescarTabla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setSize</a:t>
            </a:r>
            <a:r>
              <a:rPr sz="1100" i="0" b="0">
                <a:solidFill>
                  <a:srgbClr val="D4D4D4"/>
                </a:solidFill>
                <a:latin typeface="Consolas"/>
              </a:rPr>
              <a:t>(</a:t>
            </a:r>
            <a:r>
              <a:rPr sz="1100" i="0" b="0">
                <a:solidFill>
                  <a:srgbClr val="B5CEA8"/>
                </a:solidFill>
                <a:latin typeface="Consolas"/>
              </a:rPr>
              <a:t>760</a:t>
            </a:r>
            <a:r>
              <a:rPr sz="1100" i="0" b="0">
                <a:solidFill>
                  <a:srgbClr val="D4D4D4"/>
                </a:solidFill>
                <a:latin typeface="Consolas"/>
              </a:rPr>
              <a:t>, </a:t>
            </a:r>
            <a:r>
              <a:rPr sz="1100" i="0" b="0">
                <a:solidFill>
                  <a:srgbClr val="B5CEA8"/>
                </a:solidFill>
                <a:latin typeface="Consolas"/>
              </a:rPr>
              <a:t>420</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setLocationRelativeTo</a:t>
            </a:r>
            <a:r>
              <a:rPr sz="1100" i="0" b="0">
                <a:solidFill>
                  <a:srgbClr val="D4D4D4"/>
                </a:solidFill>
                <a:latin typeface="Consolas"/>
              </a:rPr>
              <a:t>(</a:t>
            </a:r>
            <a:r>
              <a:rPr sz="1100" i="0" b="0">
                <a:solidFill>
                  <a:srgbClr val="569CD6"/>
                </a:solidFill>
                <a:latin typeface="Consolas"/>
              </a:rPr>
              <a:t>null</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setDefaultCloseOperation</a:t>
            </a:r>
            <a:r>
              <a:rPr sz="1100" i="0" b="0">
                <a:solidFill>
                  <a:srgbClr val="D4D4D4"/>
                </a:solidFill>
                <a:latin typeface="Consolas"/>
              </a:rPr>
              <a:t>(</a:t>
            </a:r>
            <a:r>
              <a:rPr sz="1100" i="0" b="0">
                <a:solidFill>
                  <a:srgbClr val="D4D4D4"/>
                </a:solidFill>
                <a:latin typeface="Consolas"/>
              </a:rPr>
              <a:t>DO_NOTHING_ON_CLOSE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addWindowListener</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WindowAdapter</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Override</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windowClosing</a:t>
            </a:r>
            <a:r>
              <a:rPr sz="1100" i="0" b="0">
                <a:solidFill>
                  <a:srgbClr val="D4D4D4"/>
                </a:solidFill>
                <a:latin typeface="Consolas"/>
              </a:rPr>
              <a:t>(</a:t>
            </a:r>
            <a:r>
              <a:rPr sz="1100" i="0" b="0">
                <a:solidFill>
                  <a:srgbClr val="D4D4D4"/>
                </a:solidFill>
                <a:latin typeface="Consolas"/>
              </a:rPr>
              <a:t>WindowEvent</a:t>
            </a:r>
            <a:r>
              <a:rPr sz="1100" i="0" b="0">
                <a:solidFill>
                  <a:srgbClr val="D4D4D4"/>
                </a:solidFill>
                <a:latin typeface="Consolas"/>
              </a:rPr>
              <a:t> </a:t>
            </a:r>
            <a:r>
              <a:rPr sz="1100" i="0" b="0">
                <a:solidFill>
                  <a:srgbClr val="D4D4D4"/>
                </a:solidFill>
                <a:latin typeface="Consolas"/>
              </a:rPr>
              <a:t>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cerrarGuardando</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construirInterfaz</a:t>
            </a:r>
            <a:r>
              <a:rPr sz="1100" i="0" b="0">
                <a:solidFill>
                  <a:srgbClr val="D4D4D4"/>
                </a:solidFill>
                <a:latin typeface="Consolas"/>
              </a:rPr>
              <a:t>() {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refrescarTabla</a:t>
            </a:r>
            <a:r>
              <a:rPr sz="1100" i="0" b="0">
                <a:solidFill>
                  <a:srgbClr val="D4D4D4"/>
                </a:solidFill>
                <a:latin typeface="Consolas"/>
              </a:rPr>
              <a:t>() {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cerrarGuardando</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servicio.guardarEnArchivo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dispose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cerrarGuardando(): guardar antes de salir</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io</a:t>
            </a:r>
            <a:r>
              <a:rPr sz="1100" i="0" b="0">
                <a:solidFill>
                  <a:srgbClr val="D4D4D4"/>
                </a:solidFill>
                <a:latin typeface="Consolas"/>
              </a:rPr>
              <a:t>.</a:t>
            </a:r>
            <a:r>
              <a:rPr sz="1100" i="0" b="0">
                <a:solidFill>
                  <a:srgbClr val="D4D4D4"/>
                </a:solidFill>
                <a:latin typeface="Consolas"/>
              </a:rPr>
              <a:t>IOException</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List</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JButton</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JFrame</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JOptionPane</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SwingUtilities</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SwingUtilities.invokeLater</a:t>
            </a:r>
            <a:r>
              <a:rPr sz="1100" i="0" b="0">
                <a:solidFill>
                  <a:srgbClr val="D4D4D4"/>
                </a:solidFill>
                <a:latin typeface="Consolas"/>
              </a:rPr>
              <a:t>(() -&gt;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ClinicaApp</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ServicioClinica</a:t>
            </a:r>
            <a:r>
              <a:rPr sz="1100" i="0" b="0">
                <a:solidFill>
                  <a:srgbClr val="D4D4D4"/>
                </a:solidFill>
                <a:latin typeface="Consolas"/>
              </a:rPr>
              <a:t>()).</a:t>
            </a:r>
            <a:r>
              <a:rPr sz="1100" i="0" b="0">
                <a:solidFill>
                  <a:srgbClr val="DCDCAA"/>
                </a:solidFill>
                <a:latin typeface="Consolas"/>
              </a:rPr>
              <a:t>setVisible</a:t>
            </a:r>
            <a:r>
              <a:rPr sz="1100" i="0" b="0">
                <a:solidFill>
                  <a:srgbClr val="D4D4D4"/>
                </a:solidFill>
                <a:latin typeface="Consolas"/>
              </a:rPr>
              <a:t>(</a:t>
            </a:r>
            <a:r>
              <a:rPr sz="1100" i="0" b="0">
                <a:solidFill>
                  <a:srgbClr val="569CD6"/>
                </a:solidFill>
                <a:latin typeface="Consolas"/>
              </a:rPr>
              <a:t>true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ClinicaApp</a:t>
            </a:r>
            <a:r>
              <a:rPr sz="1100" i="0" b="0">
                <a:solidFill>
                  <a:srgbClr val="D4D4D4"/>
                </a:solidFill>
                <a:latin typeface="Consolas"/>
              </a:rPr>
              <a:t> </a:t>
            </a:r>
            <a:r>
              <a:rPr sz="1100" i="0" b="0">
                <a:solidFill>
                  <a:srgbClr val="569CD6"/>
                </a:solidFill>
                <a:latin typeface="Consolas"/>
              </a:rPr>
              <a:t>extends</a:t>
            </a:r>
            <a:r>
              <a:rPr sz="1100" i="0" b="0">
                <a:solidFill>
                  <a:srgbClr val="D4D4D4"/>
                </a:solidFill>
                <a:latin typeface="Consolas"/>
              </a:rPr>
              <a:t> </a:t>
            </a:r>
            <a:r>
              <a:rPr sz="1100" i="0" b="0">
                <a:solidFill>
                  <a:srgbClr val="4EC9B0"/>
                </a:solidFill>
                <a:latin typeface="Consolas"/>
              </a:rPr>
              <a:t>JFrame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D4D4D4"/>
                </a:solidFill>
                <a:latin typeface="Consolas"/>
              </a:rPr>
              <a:t>ServicioClinica</a:t>
            </a:r>
            <a:r>
              <a:rPr sz="1100" i="0" b="0">
                <a:solidFill>
                  <a:srgbClr val="D4D4D4"/>
                </a:solidFill>
                <a:latin typeface="Consolas"/>
              </a:rPr>
              <a:t> </a:t>
            </a:r>
            <a:r>
              <a:rPr sz="1100" i="0" b="0">
                <a:solidFill>
                  <a:srgbClr val="D4D4D4"/>
                </a:solidFill>
                <a:latin typeface="Consolas"/>
              </a:rPr>
              <a:t>servicio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ClinicaApp</a:t>
            </a:r>
            <a:r>
              <a:rPr sz="1100" i="0" b="0">
                <a:solidFill>
                  <a:srgbClr val="D4D4D4"/>
                </a:solidFill>
                <a:latin typeface="Consolas"/>
              </a:rPr>
              <a:t>(</a:t>
            </a:r>
            <a:r>
              <a:rPr sz="1100" i="0" b="0">
                <a:solidFill>
                  <a:srgbClr val="D4D4D4"/>
                </a:solidFill>
                <a:latin typeface="Consolas"/>
              </a:rPr>
              <a:t>ServicioClinica</a:t>
            </a:r>
            <a:r>
              <a:rPr sz="1100" i="0" b="0">
                <a:solidFill>
                  <a:srgbClr val="D4D4D4"/>
                </a:solidFill>
                <a:latin typeface="Consolas"/>
              </a:rPr>
              <a:t> </a:t>
            </a:r>
            <a:r>
              <a:rPr sz="1100" i="0" b="0">
                <a:solidFill>
                  <a:srgbClr val="D4D4D4"/>
                </a:solidFill>
                <a:latin typeface="Consolas"/>
              </a:rPr>
              <a:t>servicio</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super</a:t>
            </a:r>
            <a:r>
              <a:rPr sz="1100" i="0" b="0">
                <a:solidFill>
                  <a:srgbClr val="D4D4D4"/>
                </a:solidFill>
                <a:latin typeface="Consolas"/>
              </a:rPr>
              <a:t>(</a:t>
            </a:r>
            <a:r>
              <a:rPr sz="1100" i="0" b="0">
                <a:solidFill>
                  <a:srgbClr val="CE9178"/>
                </a:solidFill>
                <a:latin typeface="Consolas"/>
              </a:rPr>
              <a:t>"Clinica Veterinaria"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servicio</a:t>
            </a:r>
            <a:r>
              <a:rPr sz="1100" i="0" b="0">
                <a:solidFill>
                  <a:srgbClr val="D4D4D4"/>
                </a:solidFill>
                <a:latin typeface="Consolas"/>
              </a:rPr>
              <a:t> = </a:t>
            </a:r>
            <a:r>
              <a:rPr sz="1100" i="0" b="0">
                <a:solidFill>
                  <a:srgbClr val="D4D4D4"/>
                </a:solidFill>
                <a:latin typeface="Consolas"/>
              </a:rPr>
              <a:t>servicio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JButton</a:t>
            </a:r>
            <a:r>
              <a:rPr sz="1100" i="0" b="0">
                <a:solidFill>
                  <a:srgbClr val="D4D4D4"/>
                </a:solidFill>
                <a:latin typeface="Consolas"/>
              </a:rPr>
              <a:t> </a:t>
            </a:r>
            <a:r>
              <a:rPr sz="1100" i="0" b="0">
                <a:solidFill>
                  <a:srgbClr val="D4D4D4"/>
                </a:solidFill>
                <a:latin typeface="Consolas"/>
              </a:rPr>
              <a:t>cerrar</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JButton</a:t>
            </a:r>
            <a:r>
              <a:rPr sz="1100" i="0" b="0">
                <a:solidFill>
                  <a:srgbClr val="D4D4D4"/>
                </a:solidFill>
                <a:latin typeface="Consolas"/>
              </a:rPr>
              <a:t>(</a:t>
            </a:r>
            <a:r>
              <a:rPr sz="1100" i="0" b="0">
                <a:solidFill>
                  <a:srgbClr val="CE9178"/>
                </a:solidFill>
                <a:latin typeface="Consolas"/>
              </a:rPr>
              <a:t>"Cerrar"</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cerrar.addActionListener</a:t>
            </a:r>
            <a:r>
              <a:rPr sz="1100" i="0" b="0">
                <a:solidFill>
                  <a:srgbClr val="D4D4D4"/>
                </a:solidFill>
                <a:latin typeface="Consolas"/>
              </a:rPr>
              <a:t>(</a:t>
            </a:r>
            <a:r>
              <a:rPr sz="1100" i="0" b="0">
                <a:solidFill>
                  <a:srgbClr val="D4D4D4"/>
                </a:solidFill>
                <a:latin typeface="Consolas"/>
              </a:rPr>
              <a:t>e</a:t>
            </a:r>
            <a:r>
              <a:rPr sz="1100" i="0" b="0">
                <a:solidFill>
                  <a:srgbClr val="D4D4D4"/>
                </a:solidFill>
                <a:latin typeface="Consolas"/>
              </a:rPr>
              <a:t> -&gt; </a:t>
            </a:r>
            <a:r>
              <a:rPr sz="1100" i="0" b="0">
                <a:solidFill>
                  <a:srgbClr val="DCDCAA"/>
                </a:solidFill>
                <a:latin typeface="Consolas"/>
              </a:rPr>
              <a:t>cerrarGuardando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add</a:t>
            </a:r>
            <a:r>
              <a:rPr sz="1100" i="0" b="0">
                <a:solidFill>
                  <a:srgbClr val="D4D4D4"/>
                </a:solidFill>
                <a:latin typeface="Consolas"/>
              </a:rPr>
              <a:t>(</a:t>
            </a:r>
            <a:r>
              <a:rPr sz="1100" i="0" b="0">
                <a:solidFill>
                  <a:srgbClr val="D4D4D4"/>
                </a:solidFill>
                <a:latin typeface="Consolas"/>
              </a:rPr>
              <a:t>cerrar</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setSize</a:t>
            </a:r>
            <a:r>
              <a:rPr sz="1100" i="0" b="0">
                <a:solidFill>
                  <a:srgbClr val="D4D4D4"/>
                </a:solidFill>
                <a:latin typeface="Consolas"/>
              </a:rPr>
              <a:t>(</a:t>
            </a:r>
            <a:r>
              <a:rPr sz="1100" i="0" b="0">
                <a:solidFill>
                  <a:srgbClr val="B5CEA8"/>
                </a:solidFill>
                <a:latin typeface="Consolas"/>
              </a:rPr>
              <a:t>300</a:t>
            </a:r>
            <a:r>
              <a:rPr sz="1100" i="0" b="0">
                <a:solidFill>
                  <a:srgbClr val="D4D4D4"/>
                </a:solidFill>
                <a:latin typeface="Consolas"/>
              </a:rPr>
              <a:t>, </a:t>
            </a:r>
            <a:r>
              <a:rPr sz="1100" i="0" b="0">
                <a:solidFill>
                  <a:srgbClr val="B5CEA8"/>
                </a:solidFill>
                <a:latin typeface="Consolas"/>
              </a:rPr>
              <a:t>120</a:t>
            </a:r>
            <a:r>
              <a:rPr sz="1100" i="0" b="0">
                <a:solidFill>
                  <a:srgbClr val="D4D4D4"/>
                </a:solidFill>
                <a:latin typeface="Consolas"/>
              </a:rPr>
              <a:t>);</a:t>
            </a:r>
          </a:p>
          <a:p>
            <a:pPr>
              <a:spcAft>
                <a:spcPts val="78"/>
              </a:spcAft>
            </a:pPr>
            <a:r>
              <a:rPr sz="11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a:p>
            <a:pPr algn="r">
              <a:spcAft>
                <a:spcPts val="78"/>
              </a:spcAft>
            </a:pPr>
            <a:r>
              <a:rPr sz="1100" i="0" b="0">
                <a:solidFill>
                  <a:srgbClr val="858585"/>
                </a:solidFill>
                <a:latin typeface="Consolas"/>
              </a:rPr>
              <a:t>37</a:t>
            </a:r>
          </a:p>
          <a:p>
            <a:pPr algn="r">
              <a:spcAft>
                <a:spcPts val="78"/>
              </a:spcAft>
            </a:pPr>
            <a:r>
              <a:rPr sz="1100" i="0" b="0">
                <a:solidFill>
                  <a:srgbClr val="858585"/>
                </a:solidFill>
                <a:latin typeface="Consolas"/>
              </a:rPr>
              <a:t>38</a:t>
            </a:r>
          </a:p>
          <a:p>
            <a:pPr algn="r">
              <a:spcAft>
                <a:spcPts val="78"/>
              </a:spcAft>
            </a:pPr>
            <a:r>
              <a:rPr sz="1100" i="0" b="0">
                <a:solidFill>
                  <a:srgbClr val="858585"/>
                </a:solidFill>
                <a:latin typeface="Consolas"/>
              </a:rPr>
              <a:t>39</a:t>
            </a:r>
          </a:p>
          <a:p>
            <a:pPr algn="r">
              <a:spcAft>
                <a:spcPts val="78"/>
              </a:spcAft>
            </a:pPr>
            <a:r>
              <a:rPr sz="1100" i="0" b="0">
                <a:solidFill>
                  <a:srgbClr val="858585"/>
                </a:solidFill>
                <a:latin typeface="Consolas"/>
              </a:rPr>
              <a:t>40</a:t>
            </a:r>
          </a:p>
          <a:p>
            <a:pPr algn="r">
              <a:spcAft>
                <a:spcPts val="78"/>
              </a:spcAft>
            </a:pPr>
            <a:r>
              <a:rPr sz="1100" i="0" b="0">
                <a:solidFill>
                  <a:srgbClr val="858585"/>
                </a:solidFill>
                <a:latin typeface="Consolas"/>
              </a:rPr>
              <a:t>41</a:t>
            </a:r>
          </a:p>
          <a:p>
            <a:pPr algn="r">
              <a:spcAft>
                <a:spcPts val="78"/>
              </a:spcAft>
            </a:pPr>
            <a:r>
              <a:rPr sz="1100" i="0" b="0">
                <a:solidFill>
                  <a:srgbClr val="858585"/>
                </a:solidFill>
                <a:latin typeface="Consolas"/>
              </a:rPr>
              <a:t>42</a:t>
            </a:r>
          </a:p>
          <a:p>
            <a:pPr algn="r">
              <a:spcAft>
                <a:spcPts val="78"/>
              </a:spcAft>
            </a:pPr>
            <a:r>
              <a:rPr sz="1100" i="0" b="0">
                <a:solidFill>
                  <a:srgbClr val="858585"/>
                </a:solidFill>
                <a:latin typeface="Consolas"/>
              </a:rPr>
              <a:t>43</a:t>
            </a:r>
          </a:p>
          <a:p>
            <a:pPr algn="r">
              <a:spcAft>
                <a:spcPts val="78"/>
              </a:spcAft>
            </a:pPr>
            <a:r>
              <a:rPr sz="1100" i="0" b="0">
                <a:solidFill>
                  <a:srgbClr val="858585"/>
                </a:solidFill>
                <a:latin typeface="Consolas"/>
              </a:rPr>
              <a:t>44</a:t>
            </a:r>
          </a:p>
          <a:p>
            <a:pPr algn="r">
              <a:spcAft>
                <a:spcPts val="78"/>
              </a:spcAft>
            </a:pPr>
            <a:r>
              <a:rPr sz="1100" i="0" b="0">
                <a:solidFill>
                  <a:srgbClr val="858585"/>
                </a:solidFill>
                <a:latin typeface="Consolas"/>
              </a:rPr>
              <a:t>45</a:t>
            </a:r>
          </a:p>
          <a:p>
            <a:pPr algn="r">
              <a:spcAft>
                <a:spcPts val="78"/>
              </a:spcAft>
            </a:pPr>
            <a:r>
              <a:rPr sz="1100" i="0" b="0">
                <a:solidFill>
                  <a:srgbClr val="858585"/>
                </a:solidFill>
                <a:latin typeface="Consolas"/>
              </a:rPr>
              <a:t>46</a:t>
            </a:r>
          </a:p>
          <a:p>
            <a:pPr algn="r">
              <a:spcAft>
                <a:spcPts val="78"/>
              </a:spcAft>
            </a:pPr>
            <a:r>
              <a:rPr sz="1100" i="0" b="0">
                <a:solidFill>
                  <a:srgbClr val="858585"/>
                </a:solidFill>
                <a:latin typeface="Consolas"/>
              </a:rPr>
              <a:t>47</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cerrarGuardando</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try</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servicio.guardarEnArchivo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JOptionPane.showMessageDialog</a:t>
            </a:r>
            <a:r>
              <a:rPr sz="1100" i="0" b="0">
                <a:solidFill>
                  <a:srgbClr val="D4D4D4"/>
                </a:solidFill>
                <a:latin typeface="Consolas"/>
              </a:rPr>
              <a:t>(</a:t>
            </a:r>
            <a:r>
              <a:rPr sz="1100" i="0" b="0">
                <a:solidFill>
                  <a:srgbClr val="569CD6"/>
                </a:solidFill>
                <a:latin typeface="Consolas"/>
              </a:rPr>
              <a:t>this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"Se guardaron "</a:t>
            </a:r>
          </a:p>
          <a:p>
            <a:pPr>
              <a:spcAft>
                <a:spcPts val="78"/>
              </a:spcAft>
            </a:pPr>
            <a:r>
              <a:rPr sz="1100" i="0" b="0">
                <a:solidFill>
                  <a:srgbClr val="D4D4D4"/>
                </a:solidFill>
                <a:latin typeface="Consolas"/>
              </a:rPr>
              <a:t>                    + </a:t>
            </a:r>
            <a:r>
              <a:rPr sz="1100" i="0" b="0">
                <a:solidFill>
                  <a:srgbClr val="DCDCAA"/>
                </a:solidFill>
                <a:latin typeface="Consolas"/>
              </a:rPr>
              <a:t>servicio.listar</a:t>
            </a:r>
            <a:r>
              <a:rPr sz="1100" i="0" b="0">
                <a:solidFill>
                  <a:srgbClr val="D4D4D4"/>
                </a:solidFill>
                <a:latin typeface="Consolas"/>
              </a:rPr>
              <a:t>().</a:t>
            </a:r>
            <a:r>
              <a:rPr sz="1100" i="0" b="0">
                <a:solidFill>
                  <a:srgbClr val="DCDCAA"/>
                </a:solidFill>
                <a:latin typeface="Consolas"/>
              </a:rPr>
              <a:t>size</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CE9178"/>
                </a:solidFill>
                <a:latin typeface="Consolas"/>
              </a:rPr>
              <a:t>" mascotas en el archivo."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dispose</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569CD6"/>
                </a:solidFill>
                <a:latin typeface="Consolas"/>
              </a:rPr>
              <a:t>catch</a:t>
            </a:r>
            <a:r>
              <a:rPr sz="1100" i="0" b="0">
                <a:solidFill>
                  <a:srgbClr val="D4D4D4"/>
                </a:solidFill>
                <a:latin typeface="Consolas"/>
              </a:rPr>
              <a:t> (</a:t>
            </a:r>
            <a:r>
              <a:rPr sz="1100" i="0" b="0">
                <a:solidFill>
                  <a:srgbClr val="D4D4D4"/>
                </a:solidFill>
                <a:latin typeface="Consolas"/>
              </a:rPr>
              <a:t>IOException</a:t>
            </a:r>
            <a:r>
              <a:rPr sz="1100" i="0" b="0">
                <a:solidFill>
                  <a:srgbClr val="D4D4D4"/>
                </a:solidFill>
                <a:latin typeface="Consolas"/>
              </a:rPr>
              <a:t> </a:t>
            </a:r>
            <a:r>
              <a:rPr sz="1100" i="0" b="0">
                <a:solidFill>
                  <a:srgbClr val="D4D4D4"/>
                </a:solidFill>
                <a:latin typeface="Consolas"/>
              </a:rPr>
              <a:t>ex</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opcion</a:t>
            </a:r>
            <a:r>
              <a:rPr sz="1100" i="0" b="0">
                <a:solidFill>
                  <a:srgbClr val="D4D4D4"/>
                </a:solidFill>
                <a:latin typeface="Consolas"/>
              </a:rPr>
              <a:t> = </a:t>
            </a:r>
            <a:r>
              <a:rPr sz="1100" i="0" b="0">
                <a:solidFill>
                  <a:srgbClr val="DCDCAA"/>
                </a:solidFill>
                <a:latin typeface="Consolas"/>
              </a:rPr>
              <a:t>JOptionPane.showConfirmDialog</a:t>
            </a:r>
            <a:r>
              <a:rPr sz="1100" i="0" b="0">
                <a:solidFill>
                  <a:srgbClr val="D4D4D4"/>
                </a:solidFill>
                <a:latin typeface="Consolas"/>
              </a:rPr>
              <a:t>(</a:t>
            </a:r>
            <a:r>
              <a:rPr sz="1100" i="0" b="0">
                <a:solidFill>
                  <a:srgbClr val="569CD6"/>
                </a:solidFill>
                <a:latin typeface="Consolas"/>
              </a:rPr>
              <a:t>this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"No se pudo guardar ("</a:t>
            </a:r>
            <a:r>
              <a:rPr sz="1100" i="0" b="0">
                <a:solidFill>
                  <a:srgbClr val="D4D4D4"/>
                </a:solidFill>
                <a:latin typeface="Consolas"/>
              </a:rPr>
              <a:t> + </a:t>
            </a:r>
            <a:r>
              <a:rPr sz="1100" i="0" b="0">
                <a:solidFill>
                  <a:srgbClr val="DCDCAA"/>
                </a:solidFill>
                <a:latin typeface="Consolas"/>
              </a:rPr>
              <a:t>ex.getMessage</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CE9178"/>
                </a:solidFill>
                <a:latin typeface="Consolas"/>
              </a:rPr>
              <a:t>"). Cerrar de todas formas?"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"Error al guardar"</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JOptionPane</a:t>
            </a:r>
            <a:r>
              <a:rPr sz="1100" i="0" b="0">
                <a:solidFill>
                  <a:srgbClr val="D4D4D4"/>
                </a:solidFill>
                <a:latin typeface="Consolas"/>
              </a:rPr>
              <a:t>.</a:t>
            </a:r>
            <a:r>
              <a:rPr sz="1100" i="0" b="0">
                <a:solidFill>
                  <a:srgbClr val="D4D4D4"/>
                </a:solidFill>
                <a:latin typeface="Consolas"/>
              </a:rPr>
              <a:t>YES_NO_OPTION</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4D4D4"/>
                </a:solidFill>
                <a:latin typeface="Consolas"/>
              </a:rPr>
              <a:t>opcion</a:t>
            </a:r>
            <a:r>
              <a:rPr sz="1100" i="0" b="0">
                <a:solidFill>
                  <a:srgbClr val="D4D4D4"/>
                </a:solidFill>
                <a:latin typeface="Consolas"/>
              </a:rPr>
              <a:t> == </a:t>
            </a:r>
            <a:r>
              <a:rPr sz="1100" i="0" b="0">
                <a:solidFill>
                  <a:srgbClr val="D4D4D4"/>
                </a:solidFill>
                <a:latin typeface="Consolas"/>
              </a:rPr>
              <a:t>JOptionPane</a:t>
            </a:r>
            <a:r>
              <a:rPr sz="1100" i="0" b="0">
                <a:solidFill>
                  <a:srgbClr val="D4D4D4"/>
                </a:solidFill>
                <a:latin typeface="Consolas"/>
              </a:rPr>
              <a:t>.</a:t>
            </a:r>
            <a:r>
              <a:rPr sz="1100" i="0" b="0">
                <a:solidFill>
                  <a:srgbClr val="D4D4D4"/>
                </a:solidFill>
                <a:latin typeface="Consolas"/>
              </a:rPr>
              <a:t>YES_OPTION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dispose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ServicioClinica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List</a:t>
            </a:r>
            <a:r>
              <a:rPr sz="1100" i="0" b="0">
                <a:solidFill>
                  <a:srgbClr val="D4D4D4"/>
                </a:solidFill>
                <a:latin typeface="Consolas"/>
              </a:rPr>
              <a:t>&lt;</a:t>
            </a:r>
            <a:r>
              <a:rPr sz="1100" i="0" b="0">
                <a:solidFill>
                  <a:srgbClr val="4EC9B0"/>
                </a:solidFill>
                <a:latin typeface="Consolas"/>
              </a:rPr>
              <a:t>String</a:t>
            </a:r>
            <a:r>
              <a:rPr sz="1100" i="0" b="0">
                <a:solidFill>
                  <a:srgbClr val="D4D4D4"/>
                </a:solidFill>
                <a:latin typeface="Consolas"/>
              </a:rPr>
              <a:t>&gt; </a:t>
            </a:r>
            <a:r>
              <a:rPr sz="1100" i="0" b="0">
                <a:solidFill>
                  <a:srgbClr val="DCDCAA"/>
                </a:solidFill>
                <a:latin typeface="Consolas"/>
              </a:rPr>
              <a:t>listar</a:t>
            </a:r>
            <a:r>
              <a:rPr sz="1100" i="0" b="0">
                <a:solidFill>
                  <a:srgbClr val="D4D4D4"/>
                </a:solidFill>
                <a:latin typeface="Consolas"/>
              </a:rPr>
              <a:t>() { </a:t>
            </a:r>
            <a:r>
              <a:rPr sz="1100" i="0" b="0">
                <a:solidFill>
                  <a:srgbClr val="569CD6"/>
                </a:solidFill>
                <a:latin typeface="Consolas"/>
              </a:rPr>
              <a:t>return</a:t>
            </a:r>
            <a:r>
              <a:rPr sz="1100" i="0" b="0">
                <a:solidFill>
                  <a:srgbClr val="D4D4D4"/>
                </a:solidFill>
                <a:latin typeface="Consolas"/>
              </a:rPr>
              <a:t> </a:t>
            </a:r>
            <a:r>
              <a:rPr sz="1100" i="0" b="0">
                <a:solidFill>
                  <a:srgbClr val="DCDCAA"/>
                </a:solidFill>
                <a:latin typeface="Consolas"/>
              </a:rPr>
              <a:t>List.of</a:t>
            </a:r>
            <a:r>
              <a:rPr sz="1100" i="0" b="0">
                <a:solidFill>
                  <a:srgbClr val="D4D4D4"/>
                </a:solidFill>
                <a:latin typeface="Consolas"/>
              </a:rPr>
              <a:t>(</a:t>
            </a:r>
            <a:r>
              <a:rPr sz="1100" i="0" b="0">
                <a:solidFill>
                  <a:srgbClr val="CE9178"/>
                </a:solidFill>
                <a:latin typeface="Consolas"/>
              </a:rPr>
              <a:t>"Firulais"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guardarEnArchivo</a:t>
            </a:r>
            <a:r>
              <a:rPr sz="1100" i="0" b="0">
                <a:solidFill>
                  <a:srgbClr val="D4D4D4"/>
                </a:solidFill>
                <a:latin typeface="Consolas"/>
              </a:rPr>
              <a:t>() </a:t>
            </a:r>
            <a:r>
              <a:rPr sz="1100" i="0" b="0">
                <a:solidFill>
                  <a:srgbClr val="569CD6"/>
                </a:solidFill>
                <a:latin typeface="Consolas"/>
              </a:rPr>
              <a:t>throws</a:t>
            </a:r>
            <a:r>
              <a:rPr sz="1100" i="0" b="0">
                <a:solidFill>
                  <a:srgbClr val="D4D4D4"/>
                </a:solidFill>
                <a:latin typeface="Consolas"/>
              </a:rPr>
              <a:t> </a:t>
            </a:r>
            <a:r>
              <a:rPr sz="1100" i="0" b="0">
                <a:solidFill>
                  <a:srgbClr val="D4D4D4"/>
                </a:solidFill>
                <a:latin typeface="Consolas"/>
              </a:rPr>
              <a:t>IOException</a:t>
            </a:r>
            <a:r>
              <a:rPr sz="1100" i="0" b="0">
                <a:solidFill>
                  <a:srgbClr val="D4D4D4"/>
                </a:solidFill>
                <a:latin typeface="Consolas"/>
              </a:rPr>
              <a:t> {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de integración y su síntoma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instanci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instanci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os-instanci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Dos instancias del servicio: se registra en una y se guarda la otra.</a:t>
            </a:r>
          </a:p>
          <a:p>
            <a:pPr>
              <a:spcAft>
                <a:spcPts val="800"/>
              </a:spcAft>
            </a:pPr>
            <a:r>
              <a:rPr sz="2000" b="0" i="0">
                <a:solidFill>
                  <a:srgbClr val="333333"/>
                </a:solidFill>
                <a:latin typeface="Calibri"/>
              </a:rPr>
              <a:t>–   Arranque invertido: tabla vacía y consola diciendo «Mascotas cargadas: 12».</a:t>
            </a:r>
          </a:p>
          <a:p>
            <a:pPr>
              <a:spcAft>
                <a:spcPts val="800"/>
              </a:spcAft>
            </a:pPr>
            <a:r>
              <a:rPr sz="2000" b="0" i="0">
                <a:solidFill>
                  <a:srgbClr val="333333"/>
                </a:solidFill>
                <a:latin typeface="Calibri"/>
              </a:rPr>
              <a:t>–   Ruta del archivo distinta, o un CSV que se escribe y se lee en otro orden.</a:t>
            </a:r>
          </a:p>
          <a:p>
            <a:pPr>
              <a:spcAft>
                <a:spcPts val="800"/>
              </a:spcAft>
            </a:pPr>
            <a:r>
              <a:rPr sz="2000" b="0" i="0">
                <a:solidFill>
                  <a:srgbClr val="333333"/>
                </a:solidFill>
                <a:latin typeface="Calibri"/>
              </a:rPr>
              <a:t>–   NullPointerException porque buscarPorId devolvió null y nadie lo validó.</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ServicioClinica: dueño de la lista</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io</a:t>
            </a:r>
            <a:r>
              <a:rPr sz="1000" i="0" b="0">
                <a:solidFill>
                  <a:srgbClr val="D4D4D4"/>
                </a:solidFill>
                <a:latin typeface="Consolas"/>
              </a:rPr>
              <a:t>.</a:t>
            </a:r>
            <a:r>
              <a:rPr sz="1000" i="0" b="0">
                <a:solidFill>
                  <a:srgbClr val="D4D4D4"/>
                </a:solidFill>
                <a:latin typeface="Consolas"/>
              </a:rPr>
              <a:t>IOException</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nio</a:t>
            </a:r>
            <a:r>
              <a:rPr sz="1000" i="0" b="0">
                <a:solidFill>
                  <a:srgbClr val="D4D4D4"/>
                </a:solidFill>
                <a:latin typeface="Consolas"/>
              </a:rPr>
              <a:t>.</a:t>
            </a:r>
            <a:r>
              <a:rPr sz="1000" i="0" b="0">
                <a:solidFill>
                  <a:srgbClr val="D4D4D4"/>
                </a:solidFill>
                <a:latin typeface="Consolas"/>
              </a:rPr>
              <a:t>file</a:t>
            </a:r>
            <a:r>
              <a:rPr sz="1000" i="0" b="0">
                <a:solidFill>
                  <a:srgbClr val="D4D4D4"/>
                </a:solidFill>
                <a:latin typeface="Consolas"/>
              </a:rPr>
              <a:t>.</a:t>
            </a:r>
            <a:r>
              <a:rPr sz="1000" i="0" b="0">
                <a:solidFill>
                  <a:srgbClr val="D4D4D4"/>
                </a:solidFill>
                <a:latin typeface="Consolas"/>
              </a:rPr>
              <a:t>Files</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nio</a:t>
            </a:r>
            <a:r>
              <a:rPr sz="1000" i="0" b="0">
                <a:solidFill>
                  <a:srgbClr val="D4D4D4"/>
                </a:solidFill>
                <a:latin typeface="Consolas"/>
              </a:rPr>
              <a:t>.</a:t>
            </a:r>
            <a:r>
              <a:rPr sz="1000" i="0" b="0">
                <a:solidFill>
                  <a:srgbClr val="D4D4D4"/>
                </a:solidFill>
                <a:latin typeface="Consolas"/>
              </a:rPr>
              <a:t>file</a:t>
            </a:r>
            <a:r>
              <a:rPr sz="1000" i="0" b="0">
                <a:solidFill>
                  <a:srgbClr val="D4D4D4"/>
                </a:solidFill>
                <a:latin typeface="Consolas"/>
              </a:rPr>
              <a:t>.</a:t>
            </a:r>
            <a:r>
              <a:rPr sz="1000" i="0" b="0">
                <a:solidFill>
                  <a:srgbClr val="D4D4D4"/>
                </a:solidFill>
                <a:latin typeface="Consolas"/>
              </a:rPr>
              <a:t>Path</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IOException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RepositorioMascotasCSV</a:t>
            </a:r>
            <a:r>
              <a:rPr sz="1000" i="0" b="0">
                <a:solidFill>
                  <a:srgbClr val="D4D4D4"/>
                </a:solidFill>
                <a:latin typeface="Consolas"/>
              </a:rPr>
              <a:t> </a:t>
            </a:r>
            <a:r>
              <a:rPr sz="1000" i="0" b="0">
                <a:solidFill>
                  <a:srgbClr val="D4D4D4"/>
                </a:solidFill>
                <a:latin typeface="Consolas"/>
              </a:rPr>
              <a:t>repo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RepositorioMascotasCSV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repo.guardar</a:t>
            </a:r>
            <a:r>
              <a:rPr sz="1000" i="0" b="0">
                <a:solidFill>
                  <a:srgbClr val="D4D4D4"/>
                </a:solidFill>
                <a:latin typeface="Consolas"/>
              </a:rPr>
              <a:t>(</a:t>
            </a:r>
            <a:r>
              <a:rPr sz="1000" i="0" b="0">
                <a:solidFill>
                  <a:srgbClr val="DCDCAA"/>
                </a:solidFill>
                <a:latin typeface="Consolas"/>
              </a:rPr>
              <a:t>List.of</a:t>
            </a:r>
            <a:r>
              <a:rPr sz="1000" i="0" b="0">
                <a:solidFill>
                  <a:srgbClr val="D4D4D4"/>
                </a:solidFill>
                <a:latin typeface="Consolas"/>
              </a:rPr>
              <a:t>(</a:t>
            </a:r>
            <a:r>
              <a:rPr sz="1000" i="0" b="0">
                <a:solidFill>
                  <a:srgbClr val="CE9178"/>
                </a:solidFill>
                <a:latin typeface="Consolas"/>
              </a:rPr>
              <a:t>"Firulais"</a:t>
            </a:r>
            <a:r>
              <a:rPr sz="1000" i="0" b="0">
                <a:solidFill>
                  <a:srgbClr val="D4D4D4"/>
                </a:solidFill>
                <a:latin typeface="Consolas"/>
              </a:rPr>
              <a:t>, </a:t>
            </a:r>
            <a:r>
              <a:rPr sz="1000" i="0" b="0">
                <a:solidFill>
                  <a:srgbClr val="CE9178"/>
                </a:solidFill>
                <a:latin typeface="Consolas"/>
              </a:rPr>
              <a:t>"Michi"</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ServicioClinica</a:t>
            </a:r>
            <a:r>
              <a:rPr sz="1000" i="0" b="0">
                <a:solidFill>
                  <a:srgbClr val="D4D4D4"/>
                </a:solidFill>
                <a:latin typeface="Consolas"/>
              </a:rPr>
              <a:t> </a:t>
            </a:r>
            <a:r>
              <a:rPr sz="1000" i="0" b="0">
                <a:solidFill>
                  <a:srgbClr val="D4D4D4"/>
                </a:solidFill>
                <a:latin typeface="Consolas"/>
              </a:rPr>
              <a:t>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ServicioClinica</a:t>
            </a:r>
            <a:r>
              <a:rPr sz="1000" i="0" b="0">
                <a:solidFill>
                  <a:srgbClr val="D4D4D4"/>
                </a:solidFill>
                <a:latin typeface="Consolas"/>
              </a:rPr>
              <a:t>(</a:t>
            </a:r>
            <a:r>
              <a:rPr sz="1000" i="0" b="0">
                <a:solidFill>
                  <a:srgbClr val="D4D4D4"/>
                </a:solidFill>
                <a:latin typeface="Consolas"/>
              </a:rPr>
              <a:t>repo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s.cargarDesdeArchivo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RepositorioMascotasCSV</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Path</a:t>
            </a:r>
            <a:r>
              <a:rPr sz="1000" i="0" b="0">
                <a:solidFill>
                  <a:srgbClr val="D4D4D4"/>
                </a:solidFill>
                <a:latin typeface="Consolas"/>
              </a:rPr>
              <a:t> </a:t>
            </a:r>
            <a:r>
              <a:rPr sz="1000" i="0" b="0">
                <a:solidFill>
                  <a:srgbClr val="D4D4D4"/>
                </a:solidFill>
                <a:latin typeface="Consolas"/>
              </a:rPr>
              <a:t>ruta</a:t>
            </a:r>
            <a:r>
              <a:rPr sz="1000" i="0" b="0">
                <a:solidFill>
                  <a:srgbClr val="D4D4D4"/>
                </a:solidFill>
                <a:latin typeface="Consolas"/>
              </a:rPr>
              <a:t> = </a:t>
            </a:r>
            <a:r>
              <a:rPr sz="1000" i="0" b="0">
                <a:solidFill>
                  <a:srgbClr val="DCDCAA"/>
                </a:solidFill>
                <a:latin typeface="Consolas"/>
              </a:rPr>
              <a:t>Path.of</a:t>
            </a:r>
            <a:r>
              <a:rPr sz="1000" i="0" b="0">
                <a:solidFill>
                  <a:srgbClr val="D4D4D4"/>
                </a:solidFill>
                <a:latin typeface="Consolas"/>
              </a:rPr>
              <a:t>(</a:t>
            </a:r>
            <a:r>
              <a:rPr sz="1000" i="0" b="0">
                <a:solidFill>
                  <a:srgbClr val="CE9178"/>
                </a:solidFill>
                <a:latin typeface="Consolas"/>
              </a:rPr>
              <a:t>"mascotas.csv"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&gt; </a:t>
            </a:r>
            <a:r>
              <a:rPr sz="1000" i="0" b="0">
                <a:solidFill>
                  <a:srgbClr val="DCDCAA"/>
                </a:solidFill>
                <a:latin typeface="Consolas"/>
              </a:rPr>
              <a:t>cargar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Files.readAllLines</a:t>
            </a:r>
            <a:r>
              <a:rPr sz="1000" i="0" b="0">
                <a:solidFill>
                  <a:srgbClr val="D4D4D4"/>
                </a:solidFill>
                <a:latin typeface="Consolas"/>
              </a:rPr>
              <a:t>(</a:t>
            </a:r>
            <a:r>
              <a:rPr sz="1000" i="0" b="0">
                <a:solidFill>
                  <a:srgbClr val="D4D4D4"/>
                </a:solidFill>
                <a:latin typeface="Consolas"/>
              </a:rPr>
              <a:t>ruta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IOException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guardar</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&gt; </a:t>
            </a:r>
            <a:r>
              <a:rPr sz="1000" i="0" b="0">
                <a:solidFill>
                  <a:srgbClr val="D4D4D4"/>
                </a:solidFill>
                <a:latin typeface="Consolas"/>
              </a:rPr>
              <a:t>f</a:t>
            </a:r>
            <a:r>
              <a:rPr sz="1000" i="0" b="0">
                <a:solidFill>
                  <a:srgbClr val="D4D4D4"/>
                </a:solidFill>
                <a:latin typeface="Consolas"/>
              </a:rPr>
              <a:t>)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IOException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Files.write</a:t>
            </a:r>
            <a:r>
              <a:rPr sz="1000" i="0" b="0">
                <a:solidFill>
                  <a:srgbClr val="D4D4D4"/>
                </a:solidFill>
                <a:latin typeface="Consolas"/>
              </a:rPr>
              <a:t>(</a:t>
            </a:r>
            <a:r>
              <a:rPr sz="1000" i="0" b="0">
                <a:solidFill>
                  <a:srgbClr val="D4D4D4"/>
                </a:solidFill>
                <a:latin typeface="Consolas"/>
              </a:rPr>
              <a:t>ruta</a:t>
            </a:r>
            <a:r>
              <a:rPr sz="1000" i="0" b="0">
                <a:solidFill>
                  <a:srgbClr val="D4D4D4"/>
                </a:solidFill>
                <a:latin typeface="Consolas"/>
              </a:rPr>
              <a:t>, </a:t>
            </a:r>
            <a:r>
              <a:rPr sz="1000" i="0" b="0">
                <a:solidFill>
                  <a:srgbClr val="D4D4D4"/>
                </a:solidFill>
                <a:latin typeface="Consolas"/>
              </a:rPr>
              <a:t>f</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ServicioClinica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RepositorioMascotasCSV</a:t>
            </a:r>
            <a:r>
              <a:rPr sz="1000" i="0" b="0">
                <a:solidFill>
                  <a:srgbClr val="D4D4D4"/>
                </a:solidFill>
                <a:latin typeface="Consolas"/>
              </a:rPr>
              <a:t> </a:t>
            </a:r>
            <a:r>
              <a:rPr sz="1000" i="0" b="0">
                <a:solidFill>
                  <a:srgbClr val="D4D4D4"/>
                </a:solidFill>
                <a:latin typeface="Consolas"/>
              </a:rPr>
              <a:t>repositorio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DCDCAA"/>
                </a:solidFill>
                <a:latin typeface="Consolas"/>
              </a:rPr>
              <a:t>ServicioClinica</a:t>
            </a:r>
            <a:r>
              <a:rPr sz="1000" i="0" b="0">
                <a:solidFill>
                  <a:srgbClr val="D4D4D4"/>
                </a:solidFill>
                <a:latin typeface="Consolas"/>
              </a:rPr>
              <a:t>(</a:t>
            </a:r>
            <a:r>
              <a:rPr sz="1000" i="0" b="0">
                <a:solidFill>
                  <a:srgbClr val="D4D4D4"/>
                </a:solidFill>
                <a:latin typeface="Consolas"/>
              </a:rPr>
              <a:t>RepositorioMascotasCSV</a:t>
            </a:r>
            <a:r>
              <a:rPr sz="1000" i="0" b="0">
                <a:solidFill>
                  <a:srgbClr val="D4D4D4"/>
                </a:solidFill>
                <a:latin typeface="Consolas"/>
              </a:rPr>
              <a:t> </a:t>
            </a:r>
            <a:r>
              <a:rPr sz="1000" i="0" b="0">
                <a:solidFill>
                  <a:srgbClr val="D4D4D4"/>
                </a:solidFill>
                <a:latin typeface="Consolas"/>
              </a:rPr>
              <a:t>repositorio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repositorio</a:t>
            </a:r>
            <a:r>
              <a:rPr sz="1000" i="0" b="0">
                <a:solidFill>
                  <a:srgbClr val="D4D4D4"/>
                </a:solidFill>
                <a:latin typeface="Consolas"/>
              </a:rPr>
              <a:t> = </a:t>
            </a:r>
            <a:r>
              <a:rPr sz="1000" i="0" b="0">
                <a:solidFill>
                  <a:srgbClr val="D4D4D4"/>
                </a:solidFill>
                <a:latin typeface="Consolas"/>
              </a:rPr>
              <a:t>repositorio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cargarDesdeArchivo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mascotas.clear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mascotas.addAll</a:t>
            </a:r>
            <a:r>
              <a:rPr sz="1000" i="0" b="0">
                <a:solidFill>
                  <a:srgbClr val="D4D4D4"/>
                </a:solidFill>
                <a:latin typeface="Consolas"/>
              </a:rPr>
              <a:t>(</a:t>
            </a:r>
            <a:r>
              <a:rPr sz="1000" i="0" b="0">
                <a:solidFill>
                  <a:srgbClr val="DCDCAA"/>
                </a:solidFill>
                <a:latin typeface="Consolas"/>
              </a:rPr>
              <a:t>repositorio.cargar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"Mascotas cargadas: "</a:t>
            </a:r>
          </a:p>
          <a:p>
            <a:pPr>
              <a:spcAft>
                <a:spcPts val="71"/>
              </a:spcAft>
            </a:pPr>
            <a:r>
              <a:rPr sz="1000" i="0" b="0">
                <a:solidFill>
                  <a:srgbClr val="D4D4D4"/>
                </a:solidFill>
                <a:latin typeface="Consolas"/>
              </a:rPr>
              <a:t>                + </a:t>
            </a:r>
            <a:r>
              <a:rPr sz="1000" i="0" b="0">
                <a:solidFill>
                  <a:srgbClr val="DCDCAA"/>
                </a:solidFill>
                <a:latin typeface="Consolas"/>
              </a:rPr>
              <a:t>mascotas.size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guardarEnArchivo</a:t>
            </a:r>
            <a:r>
              <a:rPr sz="1000" i="0" b="0">
                <a:solidFill>
                  <a:srgbClr val="D4D4D4"/>
                </a:solidFill>
                <a:latin typeface="Consolas"/>
              </a:rPr>
              <a:t>()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IOException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repositorio.guardar</a:t>
            </a:r>
            <a:r>
              <a:rPr sz="1000" i="0" b="0">
                <a:solidFill>
                  <a:srgbClr val="D4D4D4"/>
                </a:solidFill>
                <a:latin typeface="Consolas"/>
              </a:rPr>
              <a:t>(</a:t>
            </a:r>
            <a:r>
              <a:rPr sz="1000" i="0" b="0">
                <a:solidFill>
                  <a:srgbClr val="D4D4D4"/>
                </a:solidFill>
                <a:latin typeface="Consolas"/>
              </a:rPr>
              <a:t>mascotas</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depurador de VS Code</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purador-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Breakpoint con clic en el margen o F9; F5 inicia la depuración y se detiene ahí.</a:t>
            </a:r>
          </a:p>
          <a:p>
            <a:pPr>
              <a:spcAft>
                <a:spcPts val="800"/>
              </a:spcAft>
            </a:pPr>
            <a:r>
              <a:rPr sz="2000" b="0" i="0">
                <a:solidFill>
                  <a:srgbClr val="333333"/>
                </a:solidFill>
                <a:latin typeface="Calibri"/>
              </a:rPr>
              <a:t>–   F10 pasa a la línea siguiente, F11 entra al método, Mayús+F11 sale de él.</a:t>
            </a:r>
          </a:p>
          <a:p>
            <a:pPr>
              <a:spcAft>
                <a:spcPts val="800"/>
              </a:spcAft>
            </a:pPr>
            <a:r>
              <a:rPr sz="2000" b="0" i="0">
                <a:solidFill>
                  <a:srgbClr val="333333"/>
                </a:solidFill>
                <a:latin typeface="Calibri"/>
              </a:rPr>
              <a:t>–   Variables, Watch y Call Stack muestran el estado real y quién llamó a quién.</a:t>
            </a:r>
          </a:p>
          <a:p>
            <a:pPr>
              <a:spcAft>
                <a:spcPts val="800"/>
              </a:spcAft>
            </a:pPr>
            <a:r>
              <a:rPr sz="2000" b="0" i="0">
                <a:solidFill>
                  <a:srgbClr val="333333"/>
                </a:solidFill>
                <a:latin typeface="Calibri"/>
              </a:rPr>
              <a:t>–   Un breakpoint condicional (id.equals("M009")) se detiene solo en el caso problemático.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por goteo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teo-vs-golp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oteo-vs-golp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oteo-vs-golp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De un solo golpe: todo junto la víspera y nadie sabe qué módulo lo rompió.</a:t>
            </a:r>
          </a:p>
          <a:p>
            <a:pPr>
              <a:spcAft>
                <a:spcPts val="800"/>
              </a:spcAft>
            </a:pPr>
            <a:r>
              <a:rPr sz="2000" b="0" i="0">
                <a:solidFill>
                  <a:srgbClr val="333333"/>
                </a:solidFill>
                <a:latin typeface="Calibri"/>
              </a:rPr>
              <a:t>–   Por goteo: un módulo a la vez, guion de humo después de cada unión.</a:t>
            </a:r>
          </a:p>
          <a:p>
            <a:pPr>
              <a:spcAft>
                <a:spcPts val="800"/>
              </a:spcAft>
            </a:pPr>
            <a:r>
              <a:rPr sz="2000" b="0" i="0">
                <a:solidFill>
                  <a:srgbClr val="333333"/>
                </a:solidFill>
                <a:latin typeface="Calibri"/>
              </a:rPr>
              <a:t>–   Contrato escrito: firmas públicas del servicio y orden de campos del CSV.</a:t>
            </a:r>
          </a:p>
          <a:p>
            <a:pPr>
              <a:spcAft>
                <a:spcPts val="800"/>
              </a:spcAft>
            </a:pPr>
            <a:r>
              <a:rPr sz="2000" b="0" i="0">
                <a:solidFill>
                  <a:srgbClr val="333333"/>
                </a:solidFill>
                <a:latin typeface="Calibri"/>
              </a:rPr>
              <a:t>–   try-catch en las fronteras y una bitácora con síntoma, causa y corrección.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 la regla vive en el servicio</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ServicioClinica</a:t>
            </a:r>
            <a:r>
              <a:rPr sz="1000" i="0" b="0">
                <a:solidFill>
                  <a:srgbClr val="D4D4D4"/>
                </a:solidFill>
                <a:latin typeface="Consolas"/>
              </a:rPr>
              <a:t> </a:t>
            </a:r>
            <a:r>
              <a:rPr sz="1000" i="0" b="0">
                <a:solidFill>
                  <a:srgbClr val="D4D4D4"/>
                </a:solidFill>
                <a:latin typeface="Consolas"/>
              </a:rPr>
              <a:t>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ServicioClinica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a:t>
            </a:r>
            <a:r>
              <a:rPr sz="1000" i="0" b="0">
                <a:solidFill>
                  <a:srgbClr val="CE9178"/>
                </a:solidFill>
                <a:latin typeface="Consolas"/>
              </a:rPr>
              <a:t>"4"</a:t>
            </a:r>
            <a:r>
              <a:rPr sz="1000" i="0" b="0">
                <a:solidFill>
                  <a:srgbClr val="D4D4D4"/>
                </a:solidFill>
                <a:latin typeface="Consolas"/>
              </a:rPr>
              <a:t>, </a:t>
            </a:r>
            <a:r>
              <a:rPr sz="1000" i="0" b="0">
                <a:solidFill>
                  <a:srgbClr val="CE9178"/>
                </a:solidFill>
                <a:latin typeface="Consolas"/>
              </a:rPr>
              <a:t>"dos"</a:t>
            </a:r>
            <a:r>
              <a:rPr sz="1000" i="0" b="0">
                <a:solidFill>
                  <a:srgbClr val="D4D4D4"/>
                </a:solidFill>
                <a:latin typeface="Consolas"/>
              </a:rPr>
              <a:t>, </a:t>
            </a:r>
            <a:r>
              <a:rPr sz="1000" i="0" b="0">
                <a:solidFill>
                  <a:srgbClr val="CE9178"/>
                </a:solidFill>
                <a:latin typeface="Consolas"/>
              </a:rPr>
              <a:t>"40"</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CDCAA"/>
                </a:solidFill>
                <a:latin typeface="Consolas"/>
              </a:rPr>
              <a:t>s.registrar</a:t>
            </a:r>
            <a:r>
              <a:rPr sz="1000" i="0" b="0">
                <a:solidFill>
                  <a:srgbClr val="D4D4D4"/>
                </a:solidFill>
                <a:latin typeface="Consolas"/>
              </a:rPr>
              <a:t>(</a:t>
            </a:r>
            <a:r>
              <a:rPr sz="1000" i="0" b="0">
                <a:solidFill>
                  <a:srgbClr val="CE9178"/>
                </a:solidFill>
                <a:latin typeface="Consolas"/>
              </a:rPr>
              <a:t>"Firulais"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"Canino"</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r>
              <a:rPr sz="1000" i="0" b="0">
                <a:solidFill>
                  <a:srgbClr val="CE9178"/>
                </a:solidFill>
                <a:latin typeface="Consolas"/>
              </a:rPr>
              <a:t>"1144556677"</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"OK "</a:t>
            </a:r>
            <a:r>
              <a:rPr sz="1000" i="0" b="0">
                <a:solidFill>
                  <a:srgbClr val="D4D4D4"/>
                </a:solidFill>
                <a:latin typeface="Consolas"/>
              </a:rPr>
              <a:t> + </a:t>
            </a:r>
            <a:r>
              <a:rPr sz="1000" i="0" b="0">
                <a:solidFill>
                  <a:srgbClr val="D4D4D4"/>
                </a:solidFill>
                <a:latin typeface="Consolas"/>
              </a:rPr>
              <a:t>m</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DatosInvalidosException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e.getMessage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ServicioClinica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EDAD_MAXIMA</a:t>
            </a:r>
            <a:r>
              <a:rPr sz="1000" i="0" b="0">
                <a:solidFill>
                  <a:srgbClr val="D4D4D4"/>
                </a:solidFill>
                <a:latin typeface="Consolas"/>
              </a:rPr>
              <a:t> = </a:t>
            </a:r>
            <a:r>
              <a:rPr sz="1000" i="0" b="0">
                <a:solidFill>
                  <a:srgbClr val="B5CEA8"/>
                </a:solidFill>
                <a:latin typeface="Consolas"/>
              </a:rPr>
              <a:t>25</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CDCAA"/>
                </a:solidFill>
                <a:latin typeface="Consolas"/>
              </a:rPr>
              <a:t>registrar</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edadTexto</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cedula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DatosInvalidosException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texto</a:t>
            </a:r>
            <a:r>
              <a:rPr sz="1000" i="0" b="0">
                <a:solidFill>
                  <a:srgbClr val="D4D4D4"/>
                </a:solidFill>
                <a:latin typeface="Consolas"/>
              </a:rPr>
              <a:t> = (</a:t>
            </a:r>
            <a:r>
              <a:rPr sz="1000" i="0" b="0">
                <a:solidFill>
                  <a:srgbClr val="D4D4D4"/>
                </a:solidFill>
                <a:latin typeface="Consolas"/>
              </a:rPr>
              <a:t>edadTexto</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CE9178"/>
                </a:solidFill>
                <a:latin typeface="Consolas"/>
              </a:rPr>
              <a:t>""</a:t>
            </a:r>
            <a:r>
              <a:rPr sz="1000" i="0" b="0">
                <a:solidFill>
                  <a:srgbClr val="D4D4D4"/>
                </a:solidFill>
                <a:latin typeface="Consolas"/>
              </a:rPr>
              <a:t> : </a:t>
            </a:r>
            <a:r>
              <a:rPr sz="1000" i="0" b="0">
                <a:solidFill>
                  <a:srgbClr val="DCDCAA"/>
                </a:solidFill>
                <a:latin typeface="Consolas"/>
              </a:rPr>
              <a:t>edadTexto.trim</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a:p>
            <a:pPr algn="r">
              <a:spcAft>
                <a:spcPts val="71"/>
              </a:spcAft>
            </a:pPr>
            <a:r>
              <a:rPr sz="1000" i="0" b="0">
                <a:solidFill>
                  <a:srgbClr val="858585"/>
                </a:solidFill>
                <a:latin typeface="Consolas"/>
              </a:rPr>
              <a:t>48</a:t>
            </a:r>
          </a:p>
          <a:p>
            <a:pPr algn="r">
              <a:spcAft>
                <a:spcPts val="71"/>
              </a:spcAft>
            </a:pPr>
            <a:r>
              <a:rPr sz="1000" i="0" b="0">
                <a:solidFill>
                  <a:srgbClr val="858585"/>
                </a:solidFill>
                <a:latin typeface="Consolas"/>
              </a:rPr>
              <a:t>49</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 </a:t>
            </a:r>
            <a:r>
              <a:rPr sz="1000" i="0" b="0">
                <a:solidFill>
                  <a:srgbClr val="DCDCAA"/>
                </a:solidFill>
                <a:latin typeface="Consolas"/>
              </a:rPr>
              <a:t>Integer.parseInt</a:t>
            </a:r>
            <a:r>
              <a:rPr sz="1000" i="0" b="0">
                <a:solidFill>
                  <a:srgbClr val="D4D4D4"/>
                </a:solidFill>
                <a:latin typeface="Consolas"/>
              </a:rPr>
              <a:t>(</a:t>
            </a:r>
            <a:r>
              <a:rPr sz="1000" i="0" b="0">
                <a:solidFill>
                  <a:srgbClr val="D4D4D4"/>
                </a:solidFill>
                <a:latin typeface="Consolas"/>
              </a:rPr>
              <a:t>texto</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NumberFormatException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DatosInvalidosException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"Edad no entera: '"</a:t>
            </a:r>
            <a:r>
              <a:rPr sz="1000" i="0" b="0">
                <a:solidFill>
                  <a:srgbClr val="D4D4D4"/>
                </a:solidFill>
                <a:latin typeface="Consolas"/>
              </a:rPr>
              <a:t> + </a:t>
            </a:r>
            <a:r>
              <a:rPr sz="1000" i="0" b="0">
                <a:solidFill>
                  <a:srgbClr val="D4D4D4"/>
                </a:solidFill>
                <a:latin typeface="Consolas"/>
              </a:rPr>
              <a:t>texto</a:t>
            </a:r>
            <a:r>
              <a:rPr sz="1000" i="0" b="0">
                <a:solidFill>
                  <a:srgbClr val="D4D4D4"/>
                </a:solidFill>
                <a:latin typeface="Consolas"/>
              </a:rPr>
              <a:t> + </a:t>
            </a:r>
            <a:r>
              <a:rPr sz="1000" i="0" b="0">
                <a:solidFill>
                  <a:srgbClr val="CE9178"/>
                </a:solidFill>
                <a:latin typeface="Consolas"/>
              </a:rPr>
              <a:t>"'"</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&lt; </a:t>
            </a:r>
            <a:r>
              <a:rPr sz="1000" i="0" b="0">
                <a:solidFill>
                  <a:srgbClr val="B5CEA8"/>
                </a:solidFill>
                <a:latin typeface="Consolas"/>
              </a:rPr>
              <a:t>0</a:t>
            </a:r>
            <a:r>
              <a:rPr sz="1000" i="0" b="0">
                <a:solidFill>
                  <a:srgbClr val="D4D4D4"/>
                </a:solidFill>
                <a:latin typeface="Consolas"/>
              </a:rPr>
              <a:t> || </a:t>
            </a:r>
            <a:r>
              <a:rPr sz="1000" i="0" b="0">
                <a:solidFill>
                  <a:srgbClr val="D4D4D4"/>
                </a:solidFill>
                <a:latin typeface="Consolas"/>
              </a:rPr>
              <a:t>edad</a:t>
            </a:r>
            <a:r>
              <a:rPr sz="1000" i="0" b="0">
                <a:solidFill>
                  <a:srgbClr val="D4D4D4"/>
                </a:solidFill>
                <a:latin typeface="Consolas"/>
              </a:rPr>
              <a:t> &gt; </a:t>
            </a:r>
            <a:r>
              <a:rPr sz="1000" i="0" b="0">
                <a:solidFill>
                  <a:srgbClr val="D4D4D4"/>
                </a:solidFill>
                <a:latin typeface="Consolas"/>
              </a:rPr>
              <a:t>EDAD_MAXIMA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DatosInvalidosException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"Edad fuera de 0 a "</a:t>
            </a:r>
            <a:r>
              <a:rPr sz="1000" i="0" b="0">
                <a:solidFill>
                  <a:srgbClr val="D4D4D4"/>
                </a:solidFill>
                <a:latin typeface="Consolas"/>
              </a:rPr>
              <a:t> + </a:t>
            </a:r>
            <a:r>
              <a:rPr sz="1000" i="0" b="0">
                <a:solidFill>
                  <a:srgbClr val="D4D4D4"/>
                </a:solidFill>
                <a:latin typeface="Consolas"/>
              </a:rPr>
              <a:t>EDAD_MAXIMA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nueva</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a:t>
            </a:r>
            <a:r>
              <a:rPr sz="1000" i="0" b="0">
                <a:solidFill>
                  <a:srgbClr val="D4D4D4"/>
                </a:solidFill>
                <a:latin typeface="Consolas"/>
              </a:rPr>
              <a:t> + (</a:t>
            </a:r>
            <a:r>
              <a:rPr sz="1000" i="0" b="0">
                <a:solidFill>
                  <a:srgbClr val="DCDCAA"/>
                </a:solidFill>
                <a:latin typeface="Consolas"/>
              </a:rPr>
              <a:t>mascotas.size</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B5CEA8"/>
                </a:solidFill>
                <a:latin typeface="Consolas"/>
              </a:rPr>
              <a:t>1</a:t>
            </a:r>
            <a:r>
              <a:rPr sz="1000" i="0" b="0">
                <a:solidFill>
                  <a:srgbClr val="D4D4D4"/>
                </a:solidFill>
                <a:latin typeface="Consolas"/>
              </a:rPr>
              <a:t>), </a:t>
            </a:r>
            <a:r>
              <a:rPr sz="1000" i="0" b="0">
                <a:solidFill>
                  <a:srgbClr val="DCDCAA"/>
                </a:solidFill>
                <a:latin typeface="Consolas"/>
              </a:rPr>
              <a:t>nombre.trim</a:t>
            </a:r>
            <a:r>
              <a:rPr sz="1000" i="0" b="0">
                <a:solidFill>
                  <a:srgbClr val="D4D4D4"/>
                </a:solidFill>
                <a:latin typeface="Consolas"/>
              </a:rPr>
              <a:t>(), </a:t>
            </a:r>
            <a:r>
              <a:rPr sz="1000" i="0" b="0">
                <a:solidFill>
                  <a:srgbClr val="DCDCAA"/>
                </a:solidFill>
                <a:latin typeface="Consolas"/>
              </a:rPr>
              <a:t>especie.trim</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cedula.trim</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mascotas.add</a:t>
            </a:r>
            <a:r>
              <a:rPr sz="1000" i="0" b="0">
                <a:solidFill>
                  <a:srgbClr val="D4D4D4"/>
                </a:solidFill>
                <a:latin typeface="Consolas"/>
              </a:rPr>
              <a:t>(</a:t>
            </a:r>
            <a:r>
              <a:rPr sz="1000" i="0" b="0">
                <a:solidFill>
                  <a:srgbClr val="D4D4D4"/>
                </a:solidFill>
                <a:latin typeface="Consolas"/>
              </a:rPr>
              <a:t>nueva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nueva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DatosInvalidosException</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DatosInvalidosException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569CD6"/>
                </a:solidFill>
                <a:latin typeface="Consolas"/>
              </a:rPr>
              <a:t>super</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cedula</a:t>
            </a:r>
            <a:r>
              <a:rPr sz="1000" i="0" b="0">
                <a:solidFill>
                  <a:srgbClr val="D4D4D4"/>
                </a:solidFill>
                <a:latin typeface="Consolas"/>
              </a:rPr>
              <a:t>) {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registrarMascota(): la frontera con la interfaz</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JFrame</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JOptionPane</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JTextField</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SwingUtilities</a:t>
            </a: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SwingUtilities.invokeLater</a:t>
            </a:r>
            <a:r>
              <a:rPr sz="1000" i="0" b="0">
                <a:solidFill>
                  <a:srgbClr val="D4D4D4"/>
                </a:solidFill>
                <a:latin typeface="Consolas"/>
              </a:rPr>
              <a:t>(() -&gt;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ClinicaApp</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ServicioClinica</a:t>
            </a:r>
            <a:r>
              <a:rPr sz="1000" i="0" b="0">
                <a:solidFill>
                  <a:srgbClr val="D4D4D4"/>
                </a:solidFill>
                <a:latin typeface="Consolas"/>
              </a:rPr>
              <a:t>()).</a:t>
            </a:r>
            <a:r>
              <a:rPr sz="1000" i="0" b="0">
                <a:solidFill>
                  <a:srgbClr val="DCDCAA"/>
                </a:solidFill>
                <a:latin typeface="Consolas"/>
              </a:rPr>
              <a:t>setVisible</a:t>
            </a:r>
            <a:r>
              <a:rPr sz="1000" i="0" b="0">
                <a:solidFill>
                  <a:srgbClr val="D4D4D4"/>
                </a:solidFill>
                <a:latin typeface="Consolas"/>
              </a:rPr>
              <a:t>(</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DatosInvalidosException</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DatosInvalidosException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569CD6"/>
                </a:solidFill>
                <a:latin typeface="Consolas"/>
              </a:rPr>
              <a:t>super</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ClinicaApp</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JFrame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ServicioClinica</a:t>
            </a:r>
            <a:r>
              <a:rPr sz="1000" i="0" b="0">
                <a:solidFill>
                  <a:srgbClr val="D4D4D4"/>
                </a:solidFill>
                <a:latin typeface="Consolas"/>
              </a:rPr>
              <a:t> </a:t>
            </a:r>
            <a:r>
              <a:rPr sz="1000" i="0" b="0">
                <a:solidFill>
                  <a:srgbClr val="D4D4D4"/>
                </a:solidFill>
                <a:latin typeface="Consolas"/>
              </a:rPr>
              <a:t>servicio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JTextField</a:t>
            </a:r>
            <a:r>
              <a:rPr sz="1000" i="0" b="0">
                <a:solidFill>
                  <a:srgbClr val="D4D4D4"/>
                </a:solidFill>
                <a:latin typeface="Consolas"/>
              </a:rPr>
              <a:t> </a:t>
            </a:r>
            <a:r>
              <a:rPr sz="1000" i="0" b="0">
                <a:solidFill>
                  <a:srgbClr val="D4D4D4"/>
                </a:solidFill>
                <a:latin typeface="Consolas"/>
              </a:rPr>
              <a:t>txtNombre</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JTextField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JTextField</a:t>
            </a:r>
            <a:r>
              <a:rPr sz="1000" i="0" b="0">
                <a:solidFill>
                  <a:srgbClr val="D4D4D4"/>
                </a:solidFill>
                <a:latin typeface="Consolas"/>
              </a:rPr>
              <a:t> </a:t>
            </a:r>
            <a:r>
              <a:rPr sz="1000" i="0" b="0">
                <a:solidFill>
                  <a:srgbClr val="D4D4D4"/>
                </a:solidFill>
                <a:latin typeface="Consolas"/>
              </a:rPr>
              <a:t>txtEdad</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JTextField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ClinicaApp</a:t>
            </a:r>
            <a:r>
              <a:rPr sz="1000" i="0" b="0">
                <a:solidFill>
                  <a:srgbClr val="D4D4D4"/>
                </a:solidFill>
                <a:latin typeface="Consolas"/>
              </a:rPr>
              <a:t>(</a:t>
            </a:r>
            <a:r>
              <a:rPr sz="1000" i="0" b="0">
                <a:solidFill>
                  <a:srgbClr val="D4D4D4"/>
                </a:solidFill>
                <a:latin typeface="Consolas"/>
              </a:rPr>
              <a:t>ServicioClinica</a:t>
            </a:r>
            <a:r>
              <a:rPr sz="1000" i="0" b="0">
                <a:solidFill>
                  <a:srgbClr val="D4D4D4"/>
                </a:solidFill>
                <a:latin typeface="Consolas"/>
              </a:rPr>
              <a:t> </a:t>
            </a:r>
            <a:r>
              <a:rPr sz="1000" i="0" b="0">
                <a:solidFill>
                  <a:srgbClr val="D4D4D4"/>
                </a:solidFill>
                <a:latin typeface="Consolas"/>
              </a:rPr>
              <a:t>servicio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super</a:t>
            </a:r>
            <a:r>
              <a:rPr sz="1000" i="0" b="0">
                <a:solidFill>
                  <a:srgbClr val="D4D4D4"/>
                </a:solidFill>
                <a:latin typeface="Consolas"/>
              </a:rPr>
              <a:t>(</a:t>
            </a:r>
            <a:r>
              <a:rPr sz="1000" i="0" b="0">
                <a:solidFill>
                  <a:srgbClr val="CE9178"/>
                </a:solidFill>
                <a:latin typeface="Consolas"/>
              </a:rPr>
              <a:t>"Clinica Veterinaria"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servicio</a:t>
            </a:r>
            <a:r>
              <a:rPr sz="1000" i="0" b="0">
                <a:solidFill>
                  <a:srgbClr val="D4D4D4"/>
                </a:solidFill>
                <a:latin typeface="Consolas"/>
              </a:rPr>
              <a:t> = </a:t>
            </a:r>
            <a:r>
              <a:rPr sz="1000" i="0" b="0">
                <a:solidFill>
                  <a:srgbClr val="D4D4D4"/>
                </a:solidFill>
                <a:latin typeface="Consolas"/>
              </a:rPr>
              <a:t>servicio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txtEdad.addActionListener</a:t>
            </a:r>
            <a:r>
              <a:rPr sz="1000" i="0" b="0">
                <a:solidFill>
                  <a:srgbClr val="D4D4D4"/>
                </a:solidFill>
                <a:latin typeface="Consolas"/>
              </a:rPr>
              <a:t>(</a:t>
            </a:r>
            <a:r>
              <a:rPr sz="1000" i="0" b="0">
                <a:solidFill>
                  <a:srgbClr val="D4D4D4"/>
                </a:solidFill>
                <a:latin typeface="Consolas"/>
              </a:rPr>
              <a:t>e</a:t>
            </a:r>
            <a:r>
              <a:rPr sz="1000" i="0" b="0">
                <a:solidFill>
                  <a:srgbClr val="D4D4D4"/>
                </a:solidFill>
                <a:latin typeface="Consolas"/>
              </a:rPr>
              <a:t> -&gt; </a:t>
            </a:r>
            <a:r>
              <a:rPr sz="1000" i="0" b="0">
                <a:solidFill>
                  <a:srgbClr val="DCDCAA"/>
                </a:solidFill>
                <a:latin typeface="Consolas"/>
              </a:rPr>
              <a:t>registrarMascota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add</a:t>
            </a:r>
            <a:r>
              <a:rPr sz="1000" i="0" b="0">
                <a:solidFill>
                  <a:srgbClr val="D4D4D4"/>
                </a:solidFill>
                <a:latin typeface="Consolas"/>
              </a:rPr>
              <a:t>(</a:t>
            </a:r>
            <a:r>
              <a:rPr sz="1000" i="0" b="0">
                <a:solidFill>
                  <a:srgbClr val="D4D4D4"/>
                </a:solidFill>
                <a:latin typeface="Consolas"/>
              </a:rPr>
              <a:t>txtNombre</a:t>
            </a:r>
            <a:r>
              <a:rPr sz="1000" i="0" b="0">
                <a:solidFill>
                  <a:srgbClr val="D4D4D4"/>
                </a:solidFill>
                <a:latin typeface="Consolas"/>
              </a:rPr>
              <a:t>, </a:t>
            </a:r>
            <a:r>
              <a:rPr sz="1000" i="0" b="0">
                <a:solidFill>
                  <a:srgbClr val="CE9178"/>
                </a:solidFill>
                <a:latin typeface="Consolas"/>
              </a:rPr>
              <a:t>"North"</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add</a:t>
            </a:r>
            <a:r>
              <a:rPr sz="1000" i="0" b="0">
                <a:solidFill>
                  <a:srgbClr val="D4D4D4"/>
                </a:solidFill>
                <a:latin typeface="Consolas"/>
              </a:rPr>
              <a:t>(</a:t>
            </a:r>
            <a:r>
              <a:rPr sz="1000" i="0" b="0">
                <a:solidFill>
                  <a:srgbClr val="D4D4D4"/>
                </a:solidFill>
                <a:latin typeface="Consolas"/>
              </a:rPr>
              <a:t>txtEdad</a:t>
            </a:r>
            <a:r>
              <a:rPr sz="1000" i="0" b="0">
                <a:solidFill>
                  <a:srgbClr val="D4D4D4"/>
                </a:solidFill>
                <a:latin typeface="Consolas"/>
              </a:rPr>
              <a:t>, </a:t>
            </a:r>
            <a:r>
              <a:rPr sz="1000" i="0" b="0">
                <a:solidFill>
                  <a:srgbClr val="CE9178"/>
                </a:solidFill>
                <a:latin typeface="Consolas"/>
              </a:rPr>
              <a:t>"South"</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setSize</a:t>
            </a:r>
            <a:r>
              <a:rPr sz="1000" i="0" b="0">
                <a:solidFill>
                  <a:srgbClr val="D4D4D4"/>
                </a:solidFill>
                <a:latin typeface="Consolas"/>
              </a:rPr>
              <a:t>(</a:t>
            </a:r>
            <a:r>
              <a:rPr sz="1000" i="0" b="0">
                <a:solidFill>
                  <a:srgbClr val="B5CEA8"/>
                </a:solidFill>
                <a:latin typeface="Consolas"/>
              </a:rPr>
              <a:t>300</a:t>
            </a:r>
            <a:r>
              <a:rPr sz="1000" i="0" b="0">
                <a:solidFill>
                  <a:srgbClr val="D4D4D4"/>
                </a:solidFill>
                <a:latin typeface="Consolas"/>
              </a:rPr>
              <a:t>, </a:t>
            </a:r>
            <a:r>
              <a:rPr sz="1000" i="0" b="0">
                <a:solidFill>
                  <a:srgbClr val="B5CEA8"/>
                </a:solidFill>
                <a:latin typeface="Consolas"/>
              </a:rPr>
              <a:t>120</a:t>
            </a:r>
            <a:r>
              <a:rPr sz="1000" i="0" b="0">
                <a:solidFill>
                  <a:srgbClr val="D4D4D4"/>
                </a:solidFill>
                <a:latin typeface="Consolas"/>
              </a:rPr>
              <a:t>);</a:t>
            </a:r>
          </a:p>
          <a:p>
            <a:pPr>
              <a:spcAft>
                <a:spcPts val="71"/>
              </a:spcAft>
            </a:pPr>
            <a:r>
              <a:rPr sz="10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a:p>
            <a:pPr algn="r">
              <a:spcAft>
                <a:spcPts val="71"/>
              </a:spcAft>
            </a:pPr>
            <a:r>
              <a:rPr sz="1000" i="0" b="0">
                <a:solidFill>
                  <a:srgbClr val="858585"/>
                </a:solidFill>
                <a:latin typeface="Consolas"/>
              </a:rPr>
              <a:t>48</a:t>
            </a:r>
          </a:p>
          <a:p>
            <a:pPr algn="r">
              <a:spcAft>
                <a:spcPts val="71"/>
              </a:spcAft>
            </a:pPr>
            <a:r>
              <a:rPr sz="1000" i="0" b="0">
                <a:solidFill>
                  <a:srgbClr val="858585"/>
                </a:solidFill>
                <a:latin typeface="Consolas"/>
              </a:rPr>
              <a:t>49</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1" b="0">
                <a:solidFill>
                  <a:srgbClr val="6A9955"/>
                </a:solidFill>
                <a:latin typeface="Consolas"/>
              </a:rPr>
              <a:t>/** Frontera: aqui se capturan los errores de datos.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registrarMascota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DCDCAA"/>
                </a:solidFill>
                <a:latin typeface="Consolas"/>
              </a:rPr>
              <a:t>servicio.registrar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txtNombre.getText</a:t>
            </a:r>
            <a:r>
              <a:rPr sz="1000" i="0" b="0">
                <a:solidFill>
                  <a:srgbClr val="D4D4D4"/>
                </a:solidFill>
                <a:latin typeface="Consolas"/>
              </a:rPr>
              <a:t>(), </a:t>
            </a:r>
            <a:r>
              <a:rPr sz="1000" i="0" b="0">
                <a:solidFill>
                  <a:srgbClr val="DCDCAA"/>
                </a:solidFill>
                <a:latin typeface="Consolas"/>
              </a:rPr>
              <a:t>txtEdad.getText</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JOptionPane.showMessageDialog</a:t>
            </a:r>
            <a:r>
              <a:rPr sz="1000" i="0" b="0">
                <a:solidFill>
                  <a:srgbClr val="D4D4D4"/>
                </a:solidFill>
                <a:latin typeface="Consolas"/>
              </a:rPr>
              <a:t>(</a:t>
            </a:r>
            <a:r>
              <a:rPr sz="1000" i="0" b="0">
                <a:solidFill>
                  <a:srgbClr val="569CD6"/>
                </a:solidFill>
                <a:latin typeface="Consolas"/>
              </a:rPr>
              <a:t>this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"Mascota registrada con ID "</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DatosInvalidosException</a:t>
            </a:r>
            <a:r>
              <a:rPr sz="1000" i="0" b="0">
                <a:solidFill>
                  <a:srgbClr val="D4D4D4"/>
                </a:solidFill>
                <a:latin typeface="Consolas"/>
              </a:rPr>
              <a:t> </a:t>
            </a:r>
            <a:r>
              <a:rPr sz="1000" i="0" b="0">
                <a:solidFill>
                  <a:srgbClr val="D4D4D4"/>
                </a:solidFill>
                <a:latin typeface="Consolas"/>
              </a:rPr>
              <a:t>ex</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JOptionPane.showMessageDialog</a:t>
            </a:r>
            <a:r>
              <a:rPr sz="1000" i="0" b="0">
                <a:solidFill>
                  <a:srgbClr val="D4D4D4"/>
                </a:solidFill>
                <a:latin typeface="Consolas"/>
              </a:rPr>
              <a:t>(</a:t>
            </a:r>
            <a:r>
              <a:rPr sz="1000" i="0" b="0">
                <a:solidFill>
                  <a:srgbClr val="569CD6"/>
                </a:solidFill>
                <a:latin typeface="Consolas"/>
              </a:rPr>
              <a:t>this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ex.getMessage</a:t>
            </a:r>
            <a:r>
              <a:rPr sz="1000" i="0" b="0">
                <a:solidFill>
                  <a:srgbClr val="D4D4D4"/>
                </a:solidFill>
                <a:latin typeface="Consolas"/>
              </a:rPr>
              <a:t>(), </a:t>
            </a:r>
            <a:r>
              <a:rPr sz="1000" i="0" b="0">
                <a:solidFill>
                  <a:srgbClr val="CE9178"/>
                </a:solidFill>
                <a:latin typeface="Consolas"/>
              </a:rPr>
              <a:t>"Datos invalidos"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JOptionPane</a:t>
            </a:r>
            <a:r>
              <a:rPr sz="1000" i="0" b="0">
                <a:solidFill>
                  <a:srgbClr val="D4D4D4"/>
                </a:solidFill>
                <a:latin typeface="Consolas"/>
              </a:rPr>
              <a:t>.</a:t>
            </a:r>
            <a:r>
              <a:rPr sz="1000" i="0" b="0">
                <a:solidFill>
                  <a:srgbClr val="D4D4D4"/>
                </a:solidFill>
                <a:latin typeface="Consolas"/>
              </a:rPr>
              <a:t>WARNING_MESSAGE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ServicioClinica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registrar</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DatosInvalidosException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edad.trim</a:t>
            </a:r>
            <a:r>
              <a:rPr sz="1000" i="0" b="0">
                <a:solidFill>
                  <a:srgbClr val="D4D4D4"/>
                </a:solidFill>
                <a:latin typeface="Consolas"/>
              </a:rPr>
              <a:t>().</a:t>
            </a:r>
            <a:r>
              <a:rPr sz="1000" i="0" b="0">
                <a:solidFill>
                  <a:srgbClr val="DCDCAA"/>
                </a:solidFill>
                <a:latin typeface="Consolas"/>
              </a:rPr>
              <a:t>matches</a:t>
            </a:r>
            <a:r>
              <a:rPr sz="1000" i="0" b="0">
                <a:solidFill>
                  <a:srgbClr val="D4D4D4"/>
                </a:solidFill>
                <a:latin typeface="Consolas"/>
              </a:rPr>
              <a:t>(</a:t>
            </a:r>
            <a:r>
              <a:rPr sz="1000" i="0" b="0">
                <a:solidFill>
                  <a:srgbClr val="CE9178"/>
                </a:solidFill>
                <a:latin typeface="Consolas"/>
              </a:rPr>
              <a:t>"[0-9]+"</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DatosInvalidosException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"La edad debe ser un numero entero."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CE9178"/>
                </a:solidFill>
                <a:latin typeface="Consolas"/>
              </a:rPr>
              <a:t>"M001"</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corre el guion de humo completo (abrir, registrar, buscar, cerrar, reabrir) y luego pone un breakpoint en el botón Registrar para…</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Integración de módulos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piezas sueltas a una aplicación que corre de punta a punta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