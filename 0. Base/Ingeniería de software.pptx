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rlow Bold" charset="1" panose="00000800000000000000"/>
      <p:regular r:id="rId14"/>
    </p:embeddedFont>
    <p:embeddedFont>
      <p:font typeface="Montserrat" charset="1" panose="00000500000000000000"/>
      <p:regular r:id="rId15"/>
    </p:embeddedFont>
    <p:embeddedFont>
      <p:font typeface="Raleway Medium" charset="1" panose="00000000000000000000"/>
      <p:regular r:id="rId16"/>
    </p:embeddedFont>
    <p:embeddedFont>
      <p:font typeface="Raleway Ultra-Bold" charset="1" panose="00000000000000000000"/>
      <p:regular r:id="rId17"/>
    </p:embeddedFont>
    <p:embeddedFont>
      <p:font typeface="Montserrat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jpe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jpe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jpeg" Type="http://schemas.openxmlformats.org/officeDocument/2006/relationships/image"/><Relationship Id="rId5" Target="https://www.youtube.com/watch?v=TLVDBAo1aEY" TargetMode="External" Type="http://schemas.openxmlformats.org/officeDocument/2006/relationships/video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53156" y="2928566"/>
            <a:ext cx="5253409" cy="4549216"/>
            <a:chOff x="0" y="0"/>
            <a:chExt cx="4282440" cy="370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4987" t="0" r="-14987" b="0"/>
              </a:stretch>
            </a:blipFill>
            <a:ln w="1809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04209" y="3533970"/>
            <a:ext cx="9518732" cy="262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0"/>
              </a:lnSpc>
            </a:pPr>
            <a:r>
              <a:rPr lang="en-US" sz="11191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INGENIERÍA DE SOFTWARE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68117" y="1028700"/>
            <a:ext cx="3265883" cy="2828107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-14987" t="0" r="-14987" b="0"/>
              </a:stretch>
            </a:blipFill>
            <a:ln w="857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890000" y="6063728"/>
            <a:ext cx="3265883" cy="2828107"/>
            <a:chOff x="0" y="0"/>
            <a:chExt cx="4282440" cy="370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14987" t="0" r="-14987" b="0"/>
              </a:stretch>
            </a:blipFill>
            <a:ln w="85725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22337" y="2053356"/>
            <a:ext cx="7136963" cy="6180288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556" t="0" r="-10556" b="0"/>
              </a:stretch>
            </a:blipFill>
            <a:ln w="1809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32037" y="8653250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88642" y="390677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4365" y="2253754"/>
            <a:ext cx="8902095" cy="62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0878" indent="-320439" lvl="1">
              <a:lnSpc>
                <a:spcPts val="3829"/>
              </a:lnSpc>
              <a:buFont typeface="Arial"/>
              <a:buChar char="•"/>
            </a:pPr>
            <a:r>
              <a:rPr lang="en-US" sz="2968" spc="-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Ingeniería de Software es una disciplina que combina conocimientos técnicos, buenas prácticas y metodologías para construir software de calidad.</a:t>
            </a:r>
          </a:p>
          <a:p>
            <a:pPr algn="just">
              <a:lnSpc>
                <a:spcPts val="3829"/>
              </a:lnSpc>
            </a:pPr>
          </a:p>
          <a:p>
            <a:pPr algn="just" marL="640878" indent="-320439" lvl="1">
              <a:lnSpc>
                <a:spcPts val="3829"/>
              </a:lnSpc>
              <a:buFont typeface="Arial"/>
              <a:buChar char="•"/>
            </a:pPr>
            <a:r>
              <a:rPr lang="en-US" sz="2968" spc="-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diferencia de solo programar, aquí se busca planificar, analizar, diseñar, probar y mantener el software a lo largo del tiempo.</a:t>
            </a:r>
          </a:p>
          <a:p>
            <a:pPr algn="just">
              <a:lnSpc>
                <a:spcPts val="3829"/>
              </a:lnSpc>
            </a:pPr>
          </a:p>
          <a:p>
            <a:pPr algn="just" marL="640878" indent="-320439" lvl="1">
              <a:lnSpc>
                <a:spcPts val="3829"/>
              </a:lnSpc>
              <a:spcBef>
                <a:spcPct val="0"/>
              </a:spcBef>
              <a:buFont typeface="Arial"/>
              <a:buChar char="•"/>
            </a:pPr>
            <a:r>
              <a:rPr lang="en-US" sz="2968" spc="-1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 aplican principios de ingeniería como documentación, control de calidad, planificación de recursos, etc.</a:t>
            </a:r>
          </a:p>
          <a:p>
            <a:pPr algn="just">
              <a:lnSpc>
                <a:spcPts val="382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50903"/>
            <a:ext cx="6419044" cy="64190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  <a:ln w="1809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238222" y="1450294"/>
            <a:ext cx="3689749" cy="36897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  <a:ln w="1809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088642" y="451672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2037" y="8846147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89912" y="1295308"/>
            <a:ext cx="8986609" cy="278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sz="8000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¿QUÉ PASA SIN INGENIERÍA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89912" y="4691882"/>
            <a:ext cx="8115300" cy="463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❌ Proyectos que se salen de presupuesto</a:t>
            </a:r>
          </a:p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❌ Software difícil de mantener</a:t>
            </a:r>
          </a:p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❌ Requisitos mal entendidos</a:t>
            </a:r>
          </a:p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❌ Retrasos en la entrega</a:t>
            </a:r>
          </a:p>
          <a:p>
            <a:pPr algn="just">
              <a:lnSpc>
                <a:spcPts val="4256"/>
              </a:lnSpc>
            </a:pPr>
          </a:p>
          <a:p>
            <a:pPr algn="just" marL="0" indent="0" lvl="1">
              <a:lnSpc>
                <a:spcPts val="4256"/>
              </a:lnSpc>
              <a:spcBef>
                <a:spcPct val="0"/>
              </a:spcBef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✅ La ingeniería de software ayuda a prevenir estos problemas con planeación, análisis y control de calidad.</a:t>
            </a:r>
          </a:p>
          <a:p>
            <a:pPr algn="just">
              <a:lnSpc>
                <a:spcPts val="296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8065" y="1648226"/>
            <a:ext cx="16644679" cy="188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 CICLO DE VIDA DEL DESARROLLO DE SOFTWARE (SDLC)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32037" y="9280018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4240" y="390677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90795" y="4408444"/>
            <a:ext cx="5790071" cy="902165"/>
            <a:chOff x="0" y="0"/>
            <a:chExt cx="1929913" cy="3007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9913" cy="300704"/>
            </a:xfrm>
            <a:custGeom>
              <a:avLst/>
              <a:gdLst/>
              <a:ahLst/>
              <a:cxnLst/>
              <a:rect r="r" b="b" t="t" l="l"/>
              <a:pathLst>
                <a:path h="300704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300704"/>
                  </a:lnTo>
                  <a:lnTo>
                    <a:pt x="0" y="300704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9913" cy="319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-11115781" y="-3202208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4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178773" y="4383087"/>
            <a:ext cx="1058358" cy="1058358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597" t="0" r="-2459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390795" y="5895427"/>
            <a:ext cx="5790071" cy="904484"/>
            <a:chOff x="0" y="0"/>
            <a:chExt cx="1929913" cy="3014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9913" cy="301477"/>
            </a:xfrm>
            <a:custGeom>
              <a:avLst/>
              <a:gdLst/>
              <a:ahLst/>
              <a:cxnLst/>
              <a:rect r="r" b="b" t="t" l="l"/>
              <a:pathLst>
                <a:path h="301477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301477"/>
                  </a:lnTo>
                  <a:lnTo>
                    <a:pt x="0" y="301477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29913" cy="320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2178773" y="5817752"/>
            <a:ext cx="1058358" cy="1058358"/>
            <a:chOff x="0" y="0"/>
            <a:chExt cx="14840029" cy="148400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24665" t="0" r="-2466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390795" y="7534810"/>
            <a:ext cx="5790071" cy="981421"/>
            <a:chOff x="0" y="0"/>
            <a:chExt cx="1929913" cy="3271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9913" cy="327121"/>
            </a:xfrm>
            <a:custGeom>
              <a:avLst/>
              <a:gdLst/>
              <a:ahLst/>
              <a:cxnLst/>
              <a:rect r="r" b="b" t="t" l="l"/>
              <a:pathLst>
                <a:path h="327121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327121"/>
                  </a:lnTo>
                  <a:lnTo>
                    <a:pt x="0" y="327121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929913" cy="346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2178773" y="7457873"/>
            <a:ext cx="1120669" cy="1120669"/>
            <a:chOff x="0" y="0"/>
            <a:chExt cx="14840029" cy="148400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12190" t="0" r="-1219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316534" y="4406125"/>
            <a:ext cx="5790071" cy="904484"/>
            <a:chOff x="0" y="0"/>
            <a:chExt cx="1929913" cy="30147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29913" cy="301477"/>
            </a:xfrm>
            <a:custGeom>
              <a:avLst/>
              <a:gdLst/>
              <a:ahLst/>
              <a:cxnLst/>
              <a:rect r="r" b="b" t="t" l="l"/>
              <a:pathLst>
                <a:path h="301477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301477"/>
                  </a:lnTo>
                  <a:lnTo>
                    <a:pt x="0" y="301477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929913" cy="320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0107133" y="4383087"/>
            <a:ext cx="1058358" cy="1058358"/>
            <a:chOff x="0" y="0"/>
            <a:chExt cx="14840029" cy="148400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24665" t="0" r="-24665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213145" y="5914671"/>
            <a:ext cx="5790071" cy="885239"/>
            <a:chOff x="0" y="0"/>
            <a:chExt cx="1929913" cy="2950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29913" cy="295063"/>
            </a:xfrm>
            <a:custGeom>
              <a:avLst/>
              <a:gdLst/>
              <a:ahLst/>
              <a:cxnLst/>
              <a:rect r="r" b="b" t="t" l="l"/>
              <a:pathLst>
                <a:path h="295063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295063"/>
                  </a:lnTo>
                  <a:lnTo>
                    <a:pt x="0" y="295063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929913" cy="314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0001122" y="5874902"/>
            <a:ext cx="1058358" cy="1058358"/>
            <a:chOff x="0" y="0"/>
            <a:chExt cx="14840029" cy="148400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-18717" t="0" r="-18717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319156" y="7534810"/>
            <a:ext cx="5790071" cy="904484"/>
            <a:chOff x="0" y="0"/>
            <a:chExt cx="1929913" cy="30147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29913" cy="301477"/>
            </a:xfrm>
            <a:custGeom>
              <a:avLst/>
              <a:gdLst/>
              <a:ahLst/>
              <a:cxnLst/>
              <a:rect r="r" b="b" t="t" l="l"/>
              <a:pathLst>
                <a:path h="301477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301477"/>
                  </a:lnTo>
                  <a:lnTo>
                    <a:pt x="0" y="301477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929913" cy="320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10107133" y="7457873"/>
            <a:ext cx="1058358" cy="1058358"/>
            <a:chOff x="0" y="0"/>
            <a:chExt cx="14840029" cy="148400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0"/>
              <a:stretch>
                <a:fillRect l="-24665" t="0" r="-24665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3808743" y="4905836"/>
            <a:ext cx="3948001" cy="24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b="true" sz="159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¿Qué necesita el cliente?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548169" y="4458741"/>
            <a:ext cx="3470080" cy="32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Recolección de requisitos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681297" y="6394556"/>
            <a:ext cx="3948001" cy="24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b="true" sz="159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¿Es viable?, ¿cómo se comportará?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48169" y="5945724"/>
            <a:ext cx="3470080" cy="32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Análisis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681297" y="7964396"/>
            <a:ext cx="4075447" cy="474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b="true" sz="159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¿Cómo estará estructurado? (Diagramas, arquitectura, mockups)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548169" y="7585107"/>
            <a:ext cx="3470080" cy="32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Diseño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142337" y="4902741"/>
            <a:ext cx="3366691" cy="24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b="true" sz="159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Codificar y construir.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73907" y="4456422"/>
            <a:ext cx="3470080" cy="32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Implementación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851682" y="6394556"/>
            <a:ext cx="3948001" cy="24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b="true" sz="159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Verificar que todo funcione.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370518" y="5964969"/>
            <a:ext cx="3470080" cy="32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Pruebas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574051" y="8033939"/>
            <a:ext cx="4429165" cy="24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b="true" sz="1594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Instalación, mejoras y corrección de errores.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76529" y="7585107"/>
            <a:ext cx="4161169" cy="32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Despligue y mantenimiento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2037" y="9280018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4240" y="390677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 rot="0">
            <a:off x="-79893" y="-40890"/>
            <a:ext cx="18367893" cy="103238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3703" y="4095476"/>
            <a:ext cx="6581018" cy="498943"/>
            <a:chOff x="0" y="0"/>
            <a:chExt cx="1733272" cy="1314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3272" cy="131409"/>
            </a:xfrm>
            <a:custGeom>
              <a:avLst/>
              <a:gdLst/>
              <a:ahLst/>
              <a:cxnLst/>
              <a:rect r="r" b="b" t="t" l="l"/>
              <a:pathLst>
                <a:path h="131409" w="1733272">
                  <a:moveTo>
                    <a:pt x="0" y="0"/>
                  </a:moveTo>
                  <a:lnTo>
                    <a:pt x="1733272" y="0"/>
                  </a:lnTo>
                  <a:lnTo>
                    <a:pt x="1733272" y="131409"/>
                  </a:lnTo>
                  <a:lnTo>
                    <a:pt x="0" y="1314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733272" cy="83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07783"/>
            <a:ext cx="16644679" cy="188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ERRORES COMUNES EN EL CICLO DE VIDA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2045" y="4087821"/>
            <a:ext cx="5604333" cy="4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b="true" sz="2433" spc="87">
                <a:solidFill>
                  <a:srgbClr val="011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Falta de planificación adecuada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03145" y="6733831"/>
            <a:ext cx="3288615" cy="4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b="true" sz="2433" spc="87">
                <a:solidFill>
                  <a:srgbClr val="011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1840" y="4778494"/>
            <a:ext cx="5324744" cy="114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322"/>
              </a:lnSpc>
              <a:spcBef>
                <a:spcPct val="0"/>
              </a:spcBef>
            </a:pPr>
            <a:r>
              <a:rPr lang="en-US" sz="1800" spc="-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Uno de los errores más comunes es no dedicar suficiente tiempo a la planificación, lo que puede llevar a retrasos.</a:t>
            </a:r>
          </a:p>
          <a:p>
            <a:pPr algn="just">
              <a:lnSpc>
                <a:spcPts val="232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707807" y="4778494"/>
            <a:ext cx="5324744" cy="114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2"/>
              </a:lnSpc>
            </a:pPr>
            <a:r>
              <a:rPr lang="en-US" sz="1800" spc="-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falta de documentación clara puede dificultar la comprensión y mantenimiento del software a largo plazo.</a:t>
            </a:r>
          </a:p>
          <a:p>
            <a:pPr algn="just" marL="0" indent="0" lvl="1">
              <a:lnSpc>
                <a:spcPts val="232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07807" y="7608260"/>
            <a:ext cx="5324744" cy="114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322"/>
              </a:lnSpc>
              <a:spcBef>
                <a:spcPct val="0"/>
              </a:spcBef>
            </a:pPr>
            <a:r>
              <a:rPr lang="en-US" sz="1800" spc="-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Una comunicación ineficaz entre los miembros del equipo puede llevar a malentendidos y problemas en el desarrollo.</a:t>
            </a:r>
          </a:p>
          <a:p>
            <a:pPr algn="just">
              <a:lnSpc>
                <a:spcPts val="232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111840" y="7608260"/>
            <a:ext cx="5324744" cy="114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322"/>
              </a:lnSpc>
              <a:spcBef>
                <a:spcPct val="0"/>
              </a:spcBef>
            </a:pPr>
            <a:r>
              <a:rPr lang="en-US" sz="1800" spc="-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realizar pruebas exhaustivas puede resultar en software con errores, afectando la satisfacción del cliente.</a:t>
            </a:r>
          </a:p>
          <a:p>
            <a:pPr algn="just">
              <a:lnSpc>
                <a:spcPts val="2322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432037" y="9280018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65222" y="78608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83703" y="6928342"/>
            <a:ext cx="6581018" cy="498943"/>
            <a:chOff x="0" y="0"/>
            <a:chExt cx="1733272" cy="1314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3272" cy="131409"/>
            </a:xfrm>
            <a:custGeom>
              <a:avLst/>
              <a:gdLst/>
              <a:ahLst/>
              <a:cxnLst/>
              <a:rect r="r" b="b" t="t" l="l"/>
              <a:pathLst>
                <a:path h="131409" w="1733272">
                  <a:moveTo>
                    <a:pt x="0" y="0"/>
                  </a:moveTo>
                  <a:lnTo>
                    <a:pt x="1733272" y="0"/>
                  </a:lnTo>
                  <a:lnTo>
                    <a:pt x="1733272" y="131409"/>
                  </a:lnTo>
                  <a:lnTo>
                    <a:pt x="0" y="1314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1733272" cy="83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83703" y="6917243"/>
            <a:ext cx="6501617" cy="4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b="true" sz="2433" spc="87">
                <a:solidFill>
                  <a:srgbClr val="011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Ignorar pruebas y mantenimiento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46864" y="4095476"/>
            <a:ext cx="6646631" cy="498943"/>
            <a:chOff x="0" y="0"/>
            <a:chExt cx="1750553" cy="1314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0553" cy="131409"/>
            </a:xfrm>
            <a:custGeom>
              <a:avLst/>
              <a:gdLst/>
              <a:ahLst/>
              <a:cxnLst/>
              <a:rect r="r" b="b" t="t" l="l"/>
              <a:pathLst>
                <a:path h="131409" w="1750553">
                  <a:moveTo>
                    <a:pt x="0" y="0"/>
                  </a:moveTo>
                  <a:lnTo>
                    <a:pt x="1750553" y="0"/>
                  </a:lnTo>
                  <a:lnTo>
                    <a:pt x="1750553" y="131409"/>
                  </a:lnTo>
                  <a:lnTo>
                    <a:pt x="0" y="1314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1750553" cy="83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8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568012" y="4113910"/>
            <a:ext cx="5604333" cy="4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b="true" sz="2433" spc="87">
                <a:solidFill>
                  <a:srgbClr val="011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Subestimar la documentación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132645" y="6928342"/>
            <a:ext cx="6671652" cy="498943"/>
            <a:chOff x="0" y="0"/>
            <a:chExt cx="1757143" cy="1314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57143" cy="131409"/>
            </a:xfrm>
            <a:custGeom>
              <a:avLst/>
              <a:gdLst/>
              <a:ahLst/>
              <a:cxnLst/>
              <a:rect r="r" b="b" t="t" l="l"/>
              <a:pathLst>
                <a:path h="131409" w="1757143">
                  <a:moveTo>
                    <a:pt x="0" y="0"/>
                  </a:moveTo>
                  <a:lnTo>
                    <a:pt x="1757143" y="0"/>
                  </a:lnTo>
                  <a:lnTo>
                    <a:pt x="1757143" y="131409"/>
                  </a:lnTo>
                  <a:lnTo>
                    <a:pt x="0" y="1314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1757143" cy="83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08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046864" y="6917243"/>
            <a:ext cx="6646631" cy="41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b="true" sz="2433" spc="87">
                <a:solidFill>
                  <a:srgbClr val="01144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Comunicación deficiente en equipo</a:t>
            </a:r>
          </a:p>
        </p:txBody>
      </p: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21868" y="8653250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71003" y="-181400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556" y="1376351"/>
            <a:ext cx="17608888" cy="836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Una institución educativa desea dejar de usar cuadernos para enviar tareas, comunicados y calificaciones a los padres de familia. La coordinadora académica quiere implementar una agenda digital, donde:</a:t>
            </a:r>
          </a:p>
          <a:p>
            <a:pPr algn="just">
              <a:lnSpc>
                <a:spcPts val="4256"/>
              </a:lnSpc>
            </a:pPr>
          </a:p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docentes puedan publicar tareas y notas.</a:t>
            </a:r>
          </a:p>
          <a:p>
            <a:pPr algn="just">
              <a:lnSpc>
                <a:spcPts val="4256"/>
              </a:lnSpc>
            </a:pPr>
          </a:p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padres reciban notificaciones en sus celulares.</a:t>
            </a:r>
          </a:p>
          <a:p>
            <a:pPr algn="just">
              <a:lnSpc>
                <a:spcPts val="4256"/>
              </a:lnSpc>
            </a:pPr>
          </a:p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Los estudiantes puedan ver sus pendientes por materia.</a:t>
            </a:r>
          </a:p>
          <a:p>
            <a:pPr algn="just">
              <a:lnSpc>
                <a:spcPts val="4256"/>
              </a:lnSpc>
            </a:pPr>
          </a:p>
          <a:p>
            <a:pPr algn="just">
              <a:lnSpc>
                <a:spcPts val="4256"/>
              </a:lnSpc>
            </a:pPr>
          </a:p>
          <a:p>
            <a:pPr algn="just">
              <a:lnSpc>
                <a:spcPts val="4256"/>
              </a:lnSpc>
            </a:pPr>
            <a:r>
              <a:rPr lang="en-US" sz="3299" spc="-1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institución no tiene claro por dónde empezar, cuánto puede costar, ni cuánto tiempo tomará hacerlo. Pero sabe que necesita un sistema que funcione bien, sea fácil de usar y se pueda usar desde celular o computador.</a:t>
            </a:r>
          </a:p>
          <a:p>
            <a:pPr algn="just" marL="0" indent="0" lvl="1">
              <a:lnSpc>
                <a:spcPts val="4256"/>
              </a:lnSpc>
              <a:spcBef>
                <a:spcPct val="0"/>
              </a:spcBef>
            </a:pPr>
          </a:p>
          <a:p>
            <a:pPr algn="just">
              <a:lnSpc>
                <a:spcPts val="296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76233"/>
            <a:ext cx="293554" cy="293554"/>
          </a:xfrm>
          <a:custGeom>
            <a:avLst/>
            <a:gdLst/>
            <a:ahLst/>
            <a:cxnLst/>
            <a:rect r="r" b="b" t="t" l="l"/>
            <a:pathLst>
              <a:path h="293554" w="293554">
                <a:moveTo>
                  <a:pt x="0" y="0"/>
                </a:moveTo>
                <a:lnTo>
                  <a:pt x="293554" y="0"/>
                </a:lnTo>
                <a:lnTo>
                  <a:pt x="293554" y="293554"/>
                </a:lnTo>
                <a:lnTo>
                  <a:pt x="0" y="293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09306" y="4268244"/>
            <a:ext cx="8669388" cy="99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054904" y="-558302"/>
            <a:ext cx="4736144" cy="4101287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/>
              <a:stretch>
                <a:fillRect l="0" t="-36663" r="0" b="-36663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510841" y="-323496"/>
            <a:ext cx="2544063" cy="2203044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14987" t="0" r="-14987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969246" y="6871286"/>
            <a:ext cx="2544063" cy="2203044"/>
            <a:chOff x="0" y="0"/>
            <a:chExt cx="4282440" cy="370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-10662" t="0" r="-10662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912832" y="6528386"/>
            <a:ext cx="5083834" cy="4402371"/>
            <a:chOff x="0" y="0"/>
            <a:chExt cx="4282440" cy="370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7"/>
              <a:stretch>
                <a:fillRect l="-14987" t="0" r="-14987" b="0"/>
              </a:stretch>
            </a:blip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061587" y="8124522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912832" y="1879548"/>
            <a:ext cx="6722778" cy="1210100"/>
          </a:xfrm>
          <a:custGeom>
            <a:avLst/>
            <a:gdLst/>
            <a:ahLst/>
            <a:cxnLst/>
            <a:rect r="r" b="b" t="t" l="l"/>
            <a:pathLst>
              <a:path h="1210100" w="6722778">
                <a:moveTo>
                  <a:pt x="0" y="0"/>
                </a:moveTo>
                <a:lnTo>
                  <a:pt x="6722778" y="0"/>
                </a:lnTo>
                <a:lnTo>
                  <a:pt x="6722778" y="1210100"/>
                </a:lnTo>
                <a:lnTo>
                  <a:pt x="0" y="1210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9852" y="1043352"/>
            <a:ext cx="1549500" cy="40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508"/>
              </a:lnSpc>
            </a:pPr>
            <a:r>
              <a:rPr lang="en-US" b="true" sz="1754" spc="-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THYNK UNLIMITED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DAGvRV7vmj4</dc:identifier>
  <dcterms:modified xsi:type="dcterms:W3CDTF">2011-08-01T06:04:30Z</dcterms:modified>
  <cp:revision>1</cp:revision>
  <dc:title>Ingeniería de software</dc:title>
</cp:coreProperties>
</file>