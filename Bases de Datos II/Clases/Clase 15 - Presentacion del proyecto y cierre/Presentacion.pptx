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notesMaster" Target="notesMasters/notesMaster1.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Eso convierte cada eleccion del ER en algo que se debe poder defender, y es exactamente lo que un evaluador (o un lider tecnico en una entrevista) va a probar con dos o tres preguntas bien elegidas.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Esa segunda mitad es la que distingue al estudiante que entendio, porque normalizar no es un dogma sino un punto de partida del que se sale con razones escritas.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cuarta pregunta merece parrafo propio porque es la que mas se falla: por que esa regla esta en un disparador y no en la aplicacion.</a:t>
            </a:r>
          </a:p>
          <a:p>
            <a:r>
              <a:t>Si vive en la aplicacion, los dos ultimos caminos la evaden sin esfuerzo.</a:t>
            </a:r>
          </a:p>
          <a:p>
            <a:r>
              <a:t>Por eso la convencion sana, que el estudiante puede citar como criterio propio, es reservarlos para invariantes de integridad y auditoria, y dejar el flujo de negocio en procedimientos que se invocan explicitamente.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Esa es la definicion operativa y es la unica prueba que importa; el docente puede aplicarla literalmente abriendo el ZIP en un playground limpio y ejecutando.</a:t>
            </a:r>
          </a:p>
          <a:p>
            <a:r>
              <a:t>Sobre esa base, cuatro detalles rompen la reproducibilidad y son los que el docente debe buscar primero al abrir el paquete.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 que si hay que exigir dentro del turno es la ejecucion real: que el estudiante corra el procedimiento en el playground, con su caso valido y su caso invalido, en vez de proyectar capturas fijas.</a:t>
            </a:r>
          </a:p>
          <a:p>
            <a:r>
              <a:t>El paquete, en cambio.</a:t>
            </a:r>
          </a:p>
          <a:p>
            <a:r>
              <a:t>Fuera de la lamina (habla de la practica): Lo que si hay que exigir dentro del turno es la ejecucion real: que el estudiante corra el procedimiento en el playground, con su caso valido y su caso invalido, en vez de proyectar capturas fijas, porque una consulta ejecutandose delante del evaluador es la evidencia mas dificil de fingir y la mas rapida de calificar.</a:t>
            </a:r>
          </a:p>
          <a:p>
            <a:r>
              <a:t>Fuera de la lamina (habla de la practica): El paquete, en cambio, se sube al modulo de Proyectos de PostgreSQL en el navegador ANTES del turno: quien llega a subir archivos consume su propio tiempo de sustentacion.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Q&amp;A sobre modelado tiene preguntas que se repiten, y conviene que el docente tenga las respuestas listas para poder calificarlas y para poder formularlas.</a:t>
            </a:r>
          </a:p>
          <a:p>
            <a:r>
              <a:t>Aqui vale la regla general del Q&amp;A tecnico, que el docente debe anunciar antes de empezar: decir «no lo medimos» no penaliza si viene acompanado de como se mediria, por ejemplo «no medimos con volumen real porque el playground se reinicia, pero el plan de ejecucion pasa de recorrido completo a busqueda por indice, y la prueba seria cargar cincuenta mil citas y comparar los tiempos».</a:t>
            </a:r>
          </a:p>
          <a:p>
            <a:r>
              <a:t>Inventar un numero, en cambio, se cae con la siguiente pregunta y cuesta mucho mas que admitir el limite.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 que el estudiante produjo (un ER justificado, un DDL con restricciones declarativas, una matriz de privilegios, procedimientos con manejo de errores, disparadores de auditoria, un analisis de plan de ejecucion y un contrato de operaciones) es literalmente el contenido de las tareas de un desarrollador de base de datos o de un administrador junior en su primer ano de trabajo.</a:t>
            </a:r>
          </a:p>
          <a:p>
            <a:r>
              <a:t>Conviene tambien cerrar la duda sobre las herramientas, porque alguien la trae: Oracle Live SQL, DB Fiddle y draw.io se usaron por equidad y porque funcionan en cualquier navegador, no porque sean juguetes.</a:t>
            </a:r>
          </a:p>
          <a:p>
            <a:r>
              <a:t>Esa respuesta es la que mejor predice si aprendieron, y ademas le da al docente material real para ajustar el curso el proximo semestre.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269C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
            <a:ext cx="12191695" cy="50292"/>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logo_uniajc_blanco.png"/>
          <p:cNvPicPr>
            <a:picLocks noChangeAspect="1"/>
          </p:cNvPicPr>
          <p:nvPr/>
        </p:nvPicPr>
        <p:blipFill>
          <a:blip r:embed="rId2"/>
          <a:stretch>
            <a:fillRect/>
          </a:stretch>
        </p:blipFill>
        <p:spPr>
          <a:xfrm>
            <a:off x="502920" y="384048"/>
            <a:ext cx="2011680" cy="876815"/>
          </a:xfrm>
          <a:prstGeom prst="rect">
            <a:avLst/>
          </a:prstGeom>
        </p:spPr>
      </p:pic>
      <p:sp>
        <p:nvSpPr>
          <p:cNvPr id="6" name="Rounded Rectangle 5"/>
          <p:cNvSpPr/>
          <p:nvPr/>
        </p:nvSpPr>
        <p:spPr>
          <a:xfrm>
            <a:off x="10042855" y="384048"/>
            <a:ext cx="1691640" cy="384048"/>
          </a:xfrm>
          <a:prstGeom prst="roundRect">
            <a:avLst>
              <a:gd name="adj" fmla="val 12000"/>
            </a:avLst>
          </a:prstGeom>
          <a:solidFill>
            <a:srgbClr val="269C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42855" y="384048"/>
            <a:ext cx="1691640" cy="384048"/>
          </a:xfrm>
          <a:prstGeom prst="rect">
            <a:avLst/>
          </a:prstGeom>
          <a:noFill/>
        </p:spPr>
        <p:txBody>
          <a:bodyPr wrap="square" anchor="ctr"/>
          <a:lstStyle/>
          <a:p>
            <a:pPr algn="ctr"/>
            <a:r>
              <a:rPr sz="1400" b="1" i="0">
                <a:solidFill>
                  <a:srgbClr val="FFFFFF"/>
                </a:solidFill>
                <a:latin typeface="Calibri"/>
              </a:rPr>
              <a:t>Clase 15</a:t>
            </a:r>
          </a:p>
        </p:txBody>
      </p:sp>
      <p:sp>
        <p:nvSpPr>
          <p:cNvPr id="8" name="TextBox 7"/>
          <p:cNvSpPr txBox="1"/>
          <p:nvPr/>
        </p:nvSpPr>
        <p:spPr>
          <a:xfrm>
            <a:off x="731520" y="2331720"/>
            <a:ext cx="10728655" cy="1828800"/>
          </a:xfrm>
          <a:prstGeom prst="rect">
            <a:avLst/>
          </a:prstGeom>
          <a:noFill/>
        </p:spPr>
        <p:txBody>
          <a:bodyPr wrap="square" anchor="ctr"/>
          <a:lstStyle/>
          <a:p>
            <a:pPr algn="ctr"/>
            <a:r>
              <a:rPr sz="3400" b="1" i="0">
                <a:solidFill>
                  <a:srgbClr val="FFFFFF"/>
                </a:solidFill>
                <a:latin typeface="Calibri"/>
              </a:rPr>
              <a:t>Presentacion proyecto · Cierre la clínica</a:t>
            </a:r>
          </a:p>
        </p:txBody>
      </p:sp>
      <p:sp>
        <p:nvSpPr>
          <p:cNvPr id="9" name="Rectangle 8"/>
          <p:cNvSpPr/>
          <p:nvPr/>
        </p:nvSpPr>
        <p:spPr>
          <a:xfrm>
            <a:off x="4632807" y="4206240"/>
            <a:ext cx="2926080" cy="50292"/>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4361688"/>
            <a:ext cx="10728655" cy="640080"/>
          </a:xfrm>
          <a:prstGeom prst="rect">
            <a:avLst/>
          </a:prstGeom>
          <a:noFill/>
        </p:spPr>
        <p:txBody>
          <a:bodyPr wrap="square">
            <a:spAutoFit/>
          </a:bodyPr>
          <a:lstStyle/>
          <a:p>
            <a:pPr algn="ctr"/>
            <a:r>
              <a:rPr sz="1800" b="0" i="0">
                <a:solidFill>
                  <a:srgbClr val="B8D8EE"/>
                </a:solidFill>
                <a:latin typeface="Calibri"/>
              </a:rPr>
              <a:t>Sustentacion en vivo del proyecto · cierre del curso</a:t>
            </a:r>
          </a:p>
        </p:txBody>
      </p:sp>
      <p:sp>
        <p:nvSpPr>
          <p:cNvPr id="11" name="TextBox 10"/>
          <p:cNvSpPr txBox="1"/>
          <p:nvPr/>
        </p:nvSpPr>
        <p:spPr>
          <a:xfrm>
            <a:off x="11094415" y="6419088"/>
            <a:ext cx="548640" cy="274320"/>
          </a:xfrm>
          <a:prstGeom prst="rect">
            <a:avLst/>
          </a:prstGeom>
          <a:noFill/>
        </p:spPr>
        <p:txBody>
          <a:bodyPr wrap="square">
            <a:spAutoFit/>
          </a:bodyPr>
          <a:lstStyle/>
          <a:p>
            <a:pPr algn="r"/>
            <a:r>
              <a:rPr sz="1100" b="1" i="0">
                <a:solidFill>
                  <a:srgbClr val="7EB8D4"/>
                </a:solidFill>
                <a:latin typeface="Calibri"/>
              </a:rP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Encuadre de hoy · Objetivo proyecto</a:t>
            </a:r>
          </a:p>
        </p:txBody>
      </p:sp>
      <p:sp>
        <p:nvSpPr>
          <p:cNvPr id="5" name="TextBox 4"/>
          <p:cNvSpPr txBox="1"/>
          <p:nvPr/>
        </p:nvSpPr>
        <p:spPr>
          <a:xfrm>
            <a:off x="457200" y="1170432"/>
            <a:ext cx="11277295" cy="5230368"/>
          </a:xfrm>
          <a:prstGeom prst="rect">
            <a:avLst/>
          </a:prstGeom>
          <a:noFill/>
        </p:spPr>
        <p:txBody>
          <a:bodyPr wrap="square">
            <a:spAutoFit/>
          </a:bodyPr>
          <a:lstStyle/>
          <a:p>
            <a:pPr>
              <a:spcAft>
                <a:spcPts val="800"/>
              </a:spcAft>
            </a:pPr>
            <a:r>
              <a:rPr sz="2000" b="0" i="0">
                <a:solidFill>
                  <a:srgbClr val="333333"/>
                </a:solidFill>
                <a:latin typeface="Calibri"/>
              </a:rPr>
              <a:t>–   </a:t>
            </a:r>
            <a:r>
              <a:rPr sz="2000" b="1" i="0">
                <a:solidFill>
                  <a:srgbClr val="333333"/>
                </a:solidFill>
                <a:latin typeface="Calibri"/>
              </a:rPr>
              <a:t>Hoy cerramos el proyecto:</a:t>
            </a:r>
            <a:r>
              <a:rPr sz="2000" b="0" i="0">
                <a:solidFill>
                  <a:srgbClr val="333333"/>
                </a:solidFill>
                <a:latin typeface="Calibri"/>
              </a:rPr>
              <a:t> Sustentacion en vivo y entrega final del proyecto (20% Corte 3)</a:t>
            </a:r>
          </a:p>
          <a:p>
            <a:pPr>
              <a:spcAft>
                <a:spcPts val="800"/>
              </a:spcAft>
            </a:pPr>
            <a:r>
              <a:rPr sz="2000" b="0" i="0">
                <a:solidFill>
                  <a:srgbClr val="333333"/>
                </a:solidFill>
                <a:latin typeface="Calibri"/>
              </a:rPr>
              <a:t>–   Sesión </a:t>
            </a:r>
            <a:r>
              <a:rPr sz="2000" b="1" i="0">
                <a:solidFill>
                  <a:srgbClr val="333333"/>
                </a:solidFill>
                <a:latin typeface="Calibri"/>
              </a:rPr>
              <a:t>síncrona</a:t>
            </a:r>
            <a:r>
              <a:rPr sz="2000" b="0" i="0">
                <a:solidFill>
                  <a:srgbClr val="333333"/>
                </a:solidFill>
                <a:latin typeface="Calibri"/>
              </a:rPr>
              <a:t> de sustentaciones · Bloque </a:t>
            </a:r>
            <a:r>
              <a:rPr sz="2000" b="1" i="0">
                <a:solidFill>
                  <a:srgbClr val="333333"/>
                </a:solidFill>
                <a:latin typeface="Calibri"/>
              </a:rPr>
              <a:t>120 min</a:t>
            </a:r>
            <a:r>
              <a:rPr sz="2000" b="0" i="0">
                <a:solidFill>
                  <a:srgbClr val="333333"/>
                </a:solidFill>
                <a:latin typeface="Calibri"/>
              </a:rPr>
              <a:t> · turnos consecutivos.</a:t>
            </a:r>
          </a:p>
          <a:p>
            <a:pPr>
              <a:spcAft>
                <a:spcPts val="800"/>
              </a:spcAft>
            </a:pPr>
            <a:r>
              <a:rPr sz="2000" b="0" i="0">
                <a:solidFill>
                  <a:srgbClr val="333333"/>
                </a:solidFill>
                <a:latin typeface="Calibri"/>
              </a:rPr>
              <a:t>–   La sustentación es </a:t>
            </a:r>
            <a:r>
              <a:rPr sz="2000" b="1" i="0">
                <a:solidFill>
                  <a:srgbClr val="333333"/>
                </a:solidFill>
                <a:latin typeface="Calibri"/>
              </a:rPr>
              <a:t>en vivo</a:t>
            </a:r>
            <a:r>
              <a:rPr sz="2000" b="0" i="0">
                <a:solidFill>
                  <a:srgbClr val="333333"/>
                </a:solidFill>
                <a:latin typeface="Calibri"/>
              </a:rPr>
              <a:t> y con preguntas: no se reemplaza por video grabado.</a:t>
            </a:r>
          </a:p>
          <a:p>
            <a:pPr>
              <a:spcAft>
                <a:spcPts val="800"/>
              </a:spcAft>
            </a:pPr>
            <a:r>
              <a:rPr sz="2000" b="0" i="0">
                <a:solidFill>
                  <a:srgbClr val="333333"/>
                </a:solidFill>
                <a:latin typeface="Calibri"/>
              </a:rPr>
              <a:t>–   Sustentar es justificar decisiones: por qué esta tabla, esta restricción, este índice.</a:t>
            </a:r>
          </a:p>
          <a:p>
            <a:pPr>
              <a:spcAft>
                <a:spcPts val="800"/>
              </a:spcAft>
            </a:pPr>
            <a:r>
              <a:rPr sz="2000" b="0" i="0">
                <a:solidFill>
                  <a:srgbClr val="333333"/>
                </a:solidFill>
                <a:latin typeface="Calibri"/>
              </a:rPr>
              <a:t>–   </a:t>
            </a:r>
            <a:r>
              <a:rPr sz="2000" b="1" i="0">
                <a:solidFill>
                  <a:srgbClr val="333333"/>
                </a:solidFill>
                <a:latin typeface="Calibri"/>
              </a:rPr>
              <a:t>Ejes de hoy:</a:t>
            </a:r>
            <a:r>
              <a:rPr sz="2000" b="0" i="0">
                <a:solidFill>
                  <a:srgbClr val="333333"/>
                </a:solidFill>
                <a:latin typeface="Calibri"/>
              </a:rPr>
              <a:t> Sustentar no es describir · Las cuatro preguntas de por que que se hacen casi siempre · La cuarta pregunta, la que mas se falla.</a:t>
            </a:r>
          </a:p>
        </p:txBody>
      </p:sp>
      <p:sp>
        <p:nvSpPr>
          <p:cNvPr id="6" name="TextBox 5"/>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Mapa del bloque de hoy (120 min)</a:t>
            </a:r>
          </a:p>
        </p:txBody>
      </p:sp>
      <p:sp>
        <p:nvSpPr>
          <p:cNvPr id="5" name="Rectangle 4"/>
          <p:cNvSpPr/>
          <p:nvPr/>
        </p:nvSpPr>
        <p:spPr>
          <a:xfrm>
            <a:off x="457200" y="2176272"/>
            <a:ext cx="11277295" cy="73152"/>
          </a:xfrm>
          <a:prstGeom prst="rect">
            <a:avLst/>
          </a:prstGeom>
          <a:solidFill>
            <a:srgbClr val="269C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2190445" y="2066543"/>
            <a:ext cx="292608" cy="292608"/>
          </a:xfrm>
          <a:prstGeom prst="roundRect">
            <a:avLst>
              <a:gd name="adj" fmla="val 12000"/>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1353312"/>
            <a:ext cx="3759098" cy="502920"/>
          </a:xfrm>
          <a:prstGeom prst="rect">
            <a:avLst/>
          </a:prstGeom>
          <a:noFill/>
        </p:spPr>
        <p:txBody>
          <a:bodyPr wrap="square">
            <a:spAutoFit/>
          </a:bodyPr>
          <a:lstStyle/>
          <a:p>
            <a:pPr algn="ctr"/>
            <a:r>
              <a:rPr sz="1300" b="1" i="0">
                <a:solidFill>
                  <a:srgbClr val="095292"/>
                </a:solidFill>
                <a:latin typeface="Calibri"/>
              </a:rPr>
              <a:t>0-10</a:t>
            </a:r>
          </a:p>
        </p:txBody>
      </p:sp>
      <p:sp>
        <p:nvSpPr>
          <p:cNvPr id="8" name="TextBox 7"/>
          <p:cNvSpPr txBox="1"/>
          <p:nvPr/>
        </p:nvSpPr>
        <p:spPr>
          <a:xfrm>
            <a:off x="502920" y="2587752"/>
            <a:ext cx="3667658" cy="3310128"/>
          </a:xfrm>
          <a:prstGeom prst="rect">
            <a:avLst/>
          </a:prstGeom>
          <a:noFill/>
        </p:spPr>
        <p:txBody>
          <a:bodyPr wrap="square">
            <a:spAutoFit/>
          </a:bodyPr>
          <a:lstStyle/>
          <a:p>
            <a:pPr algn="ctr"/>
            <a:r>
              <a:rPr sz="1300" b="0" i="0">
                <a:solidFill>
                  <a:srgbClr val="333333"/>
                </a:solidFill>
                <a:latin typeface="Calibri"/>
              </a:rPr>
              <a:t>Encuadre · sorteo del orden de turnos</a:t>
            </a:r>
          </a:p>
        </p:txBody>
      </p:sp>
      <p:sp>
        <p:nvSpPr>
          <p:cNvPr id="9" name="Rounded Rectangle 8"/>
          <p:cNvSpPr/>
          <p:nvPr/>
        </p:nvSpPr>
        <p:spPr>
          <a:xfrm>
            <a:off x="5949543" y="2066543"/>
            <a:ext cx="292608" cy="292608"/>
          </a:xfrm>
          <a:prstGeom prst="roundRect">
            <a:avLst>
              <a:gd name="adj" fmla="val 12000"/>
            </a:avLst>
          </a:prstGeom>
          <a:solidFill>
            <a:srgbClr val="269C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216298" y="1353312"/>
            <a:ext cx="3759098" cy="502920"/>
          </a:xfrm>
          <a:prstGeom prst="rect">
            <a:avLst/>
          </a:prstGeom>
          <a:noFill/>
        </p:spPr>
        <p:txBody>
          <a:bodyPr wrap="square">
            <a:spAutoFit/>
          </a:bodyPr>
          <a:lstStyle/>
          <a:p>
            <a:pPr algn="ctr"/>
            <a:r>
              <a:rPr sz="1300" b="1" i="0">
                <a:solidFill>
                  <a:srgbClr val="095292"/>
                </a:solidFill>
                <a:latin typeface="Calibri"/>
              </a:rPr>
              <a:t>10-110</a:t>
            </a:r>
          </a:p>
        </p:txBody>
      </p:sp>
      <p:sp>
        <p:nvSpPr>
          <p:cNvPr id="11" name="TextBox 10"/>
          <p:cNvSpPr txBox="1"/>
          <p:nvPr/>
        </p:nvSpPr>
        <p:spPr>
          <a:xfrm>
            <a:off x="4262018" y="2587752"/>
            <a:ext cx="3667658" cy="3310128"/>
          </a:xfrm>
          <a:prstGeom prst="rect">
            <a:avLst/>
          </a:prstGeom>
          <a:noFill/>
        </p:spPr>
        <p:txBody>
          <a:bodyPr wrap="square">
            <a:spAutoFit/>
          </a:bodyPr>
          <a:lstStyle/>
          <a:p>
            <a:pPr algn="ctr"/>
            <a:r>
              <a:rPr sz="1300" b="0" i="0">
                <a:solidFill>
                  <a:srgbClr val="333333"/>
                </a:solidFill>
                <a:latin typeface="Calibri"/>
              </a:rPr>
              <a:t>Sustentaciones: 5-8 min de pitch + Q&amp;A por turno</a:t>
            </a:r>
          </a:p>
        </p:txBody>
      </p:sp>
      <p:sp>
        <p:nvSpPr>
          <p:cNvPr id="12" name="Rounded Rectangle 11"/>
          <p:cNvSpPr/>
          <p:nvPr/>
        </p:nvSpPr>
        <p:spPr>
          <a:xfrm>
            <a:off x="9708642" y="2066543"/>
            <a:ext cx="292608" cy="292608"/>
          </a:xfrm>
          <a:prstGeom prst="roundRect">
            <a:avLst>
              <a:gd name="adj" fmla="val 12000"/>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975396" y="1353312"/>
            <a:ext cx="3759098" cy="502920"/>
          </a:xfrm>
          <a:prstGeom prst="rect">
            <a:avLst/>
          </a:prstGeom>
          <a:noFill/>
        </p:spPr>
        <p:txBody>
          <a:bodyPr wrap="square">
            <a:spAutoFit/>
          </a:bodyPr>
          <a:lstStyle/>
          <a:p>
            <a:pPr algn="ctr"/>
            <a:r>
              <a:rPr sz="1300" b="1" i="0">
                <a:solidFill>
                  <a:srgbClr val="095292"/>
                </a:solidFill>
                <a:latin typeface="Calibri"/>
              </a:rPr>
              <a:t>110-120</a:t>
            </a:r>
          </a:p>
        </p:txBody>
      </p:sp>
      <p:sp>
        <p:nvSpPr>
          <p:cNvPr id="14" name="TextBox 13"/>
          <p:cNvSpPr txBox="1"/>
          <p:nvPr/>
        </p:nvSpPr>
        <p:spPr>
          <a:xfrm>
            <a:off x="8021116" y="2587752"/>
            <a:ext cx="3667658" cy="3310128"/>
          </a:xfrm>
          <a:prstGeom prst="rect">
            <a:avLst/>
          </a:prstGeom>
          <a:noFill/>
        </p:spPr>
        <p:txBody>
          <a:bodyPr wrap="square">
            <a:spAutoFit/>
          </a:bodyPr>
          <a:lstStyle/>
          <a:p>
            <a:pPr algn="ctr"/>
            <a:r>
              <a:rPr sz="1300" b="0" i="0">
                <a:solidFill>
                  <a:srgbClr val="333333"/>
                </a:solidFill>
                <a:latin typeface="Calibri"/>
              </a:rPr>
              <a:t>Cierre del curso · autoevaluacion</a:t>
            </a:r>
          </a:p>
        </p:txBody>
      </p:sp>
      <p:sp>
        <p:nvSpPr>
          <p:cNvPr id="15" name="TextBox 14"/>
          <p:cNvSpPr txBox="1"/>
          <p:nvPr/>
        </p:nvSpPr>
        <p:spPr>
          <a:xfrm>
            <a:off x="457200" y="5806440"/>
            <a:ext cx="11277295" cy="640080"/>
          </a:xfrm>
          <a:prstGeom prst="rect">
            <a:avLst/>
          </a:prstGeom>
          <a:noFill/>
        </p:spPr>
        <p:txBody>
          <a:bodyPr wrap="square">
            <a:spAutoFit/>
          </a:bodyPr>
          <a:lstStyle/>
          <a:p>
            <a:pPr algn="ctr"/>
            <a:r>
              <a:rPr sz="1200" b="0" i="1">
                <a:solidFill>
                  <a:srgbClr val="666666"/>
                </a:solidFill>
                <a:latin typeface="Calibri"/>
              </a:rPr>
              <a:t>Solo el bloque de </a:t>
            </a:r>
            <a:r>
              <a:rPr sz="1200" b="1" i="1">
                <a:solidFill>
                  <a:srgbClr val="666666"/>
                </a:solidFill>
                <a:latin typeface="Calibri"/>
              </a:rPr>
              <a:t>esta</a:t>
            </a:r>
            <a:r>
              <a:rPr sz="1200" b="0" i="1">
                <a:solidFill>
                  <a:srgbClr val="666666"/>
                </a:solidFill>
                <a:latin typeface="Calibri"/>
              </a:rPr>
              <a:t> clase · 120 min</a:t>
            </a:r>
          </a:p>
        </p:txBody>
      </p:sp>
      <p:sp>
        <p:nvSpPr>
          <p:cNvPr id="16" name="TextBox 15"/>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Sustentar no es describir: el eje de toda la clase (1/2)</a:t>
            </a:r>
          </a:p>
        </p:txBody>
      </p:sp>
      <p:sp>
        <p:nvSpPr>
          <p:cNvPr id="5" name="TextBox 4"/>
          <p:cNvSpPr txBox="1"/>
          <p:nvPr/>
        </p:nvSpPr>
        <p:spPr>
          <a:xfrm>
            <a:off x="457200" y="1170432"/>
            <a:ext cx="11277295" cy="5230368"/>
          </a:xfrm>
          <a:prstGeom prst="rect">
            <a:avLst/>
          </a:prstGeom>
          <a:noFill/>
        </p:spPr>
        <p:txBody>
          <a:bodyPr wrap="square">
            <a:spAutoFit/>
          </a:bodyPr>
          <a:lstStyle/>
          <a:p>
            <a:pPr>
              <a:spcAft>
                <a:spcPts val="800"/>
              </a:spcAft>
            </a:pPr>
            <a:r>
              <a:rPr sz="2000" b="0" i="0">
                <a:solidFill>
                  <a:srgbClr val="333333"/>
                </a:solidFill>
                <a:latin typeface="Calibri"/>
              </a:rPr>
              <a:t>–   Sustentar una base de datos no es recorrer el diagrama entidad-relacion nombrando tablas.</a:t>
            </a:r>
          </a:p>
          <a:p>
            <a:pPr>
              <a:spcAft>
                <a:spcPts val="800"/>
              </a:spcAft>
            </a:pPr>
            <a:r>
              <a:rPr sz="2000" b="0" i="0">
                <a:solidFill>
                  <a:srgbClr val="333333"/>
                </a:solidFill>
                <a:latin typeface="Calibri"/>
              </a:rPr>
              <a:t>–   Describir es decir que hay: «tenemos Dueno, Mascota, Cita, Veterinario, Insumo y Factura».</a:t>
            </a:r>
          </a:p>
          <a:p>
            <a:pPr>
              <a:spcAft>
                <a:spcPts val="800"/>
              </a:spcAft>
            </a:pPr>
            <a:r>
              <a:rPr sz="2000" b="0" i="0">
                <a:solidFill>
                  <a:srgbClr val="333333"/>
                </a:solidFill>
                <a:latin typeface="Calibri"/>
              </a:rPr>
              <a:t>–   Sustentar es responder por que quedo asi y que alternativa se descarto.</a:t>
            </a:r>
          </a:p>
          <a:p>
            <a:pPr>
              <a:spcAft>
                <a:spcPts val="800"/>
              </a:spcAft>
            </a:pPr>
            <a:r>
              <a:rPr sz="2000" b="0" i="0">
                <a:solidFill>
                  <a:srgbClr val="333333"/>
                </a:solidFill>
                <a:latin typeface="Calibri"/>
              </a:rPr>
              <a:t>–   La razon por la que esto importa mas en bases de datos que en casi cualquier otra parte del software es el costo de revertir: cambiar el texto de un boton cuesta minutos</a:t>
            </a:r>
          </a:p>
          <a:p>
            <a:pPr>
              <a:spcAft>
                <a:spcPts val="800"/>
              </a:spcAft>
            </a:pPr>
            <a:r>
              <a:rPr sz="2000" b="0" i="0">
                <a:solidFill>
                  <a:srgbClr val="333333"/>
                </a:solidFill>
                <a:latin typeface="Calibri"/>
              </a:rPr>
              <a:t>–   Mientras que partir en dos una tabla que ya tiene cien mil filas y seis procedimientos apuntando a ella cuesta una migracion, una ventana de mantenimiento y el riesgo real de perder datos.</a:t>
            </a:r>
          </a:p>
        </p:txBody>
      </p:sp>
      <p:sp>
        <p:nvSpPr>
          <p:cNvPr id="6" name="TextBox 5"/>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Sustentar no es describir: el eje de toda la clase (2/2)</a:t>
            </a:r>
          </a:p>
        </p:txBody>
      </p:sp>
      <p:sp>
        <p:nvSpPr>
          <p:cNvPr id="5" name="TextBox 4"/>
          <p:cNvSpPr txBox="1"/>
          <p:nvPr/>
        </p:nvSpPr>
        <p:spPr>
          <a:xfrm>
            <a:off x="457200" y="1170432"/>
            <a:ext cx="11277295" cy="5230368"/>
          </a:xfrm>
          <a:prstGeom prst="rect">
            <a:avLst/>
          </a:prstGeom>
          <a:noFill/>
        </p:spPr>
        <p:txBody>
          <a:bodyPr wrap="square">
            <a:spAutoFit/>
          </a:bodyPr>
          <a:lstStyle/>
          <a:p>
            <a:pPr>
              <a:spcAft>
                <a:spcPts val="800"/>
              </a:spcAft>
            </a:pPr>
            <a:r>
              <a:rPr sz="2000" b="0" i="0">
                <a:solidFill>
                  <a:srgbClr val="333333"/>
                </a:solidFill>
                <a:latin typeface="Calibri"/>
              </a:rPr>
              <a:t>–   Una decision de modelado es, por definicion, una decision costosa de deshacer.</a:t>
            </a:r>
          </a:p>
          <a:p>
            <a:pPr>
              <a:spcAft>
                <a:spcPts val="800"/>
              </a:spcAft>
            </a:pPr>
            <a:r>
              <a:rPr sz="2000" b="0" i="0">
                <a:solidFill>
                  <a:srgbClr val="333333"/>
                </a:solidFill>
                <a:latin typeface="Calibri"/>
              </a:rPr>
              <a:t>–   La clase de hoy no trae tema nuevo: trae la teoria de como se comunica y se empaqueta un trabajo tecnico para que un tercero pueda evaluarlo, reproducirlo y usarlo sin hablar con quien lo hizo.</a:t>
            </a:r>
          </a:p>
          <a:p>
            <a:pPr>
              <a:spcAft>
                <a:spcPts val="800"/>
              </a:spcAft>
            </a:pPr>
            <a:r>
              <a:rPr sz="2000" b="0" i="0">
                <a:solidFill>
                  <a:srgbClr val="333333"/>
                </a:solidFill>
                <a:latin typeface="Calibri"/>
              </a:rPr>
              <a:t>–   Describir es decir que hay una tabla cita con una FK; sustentar es explicar por que la FK va en cita y no en mascota, y que pasaria si no estuviera.</a:t>
            </a:r>
          </a:p>
        </p:txBody>
      </p:sp>
      <p:sp>
        <p:nvSpPr>
          <p:cNvPr id="6" name="TextBox 5"/>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Las cuatro preguntas de por que que se hacen casi siempre (1/2)</a:t>
            </a:r>
          </a:p>
        </p:txBody>
      </p:sp>
      <p:sp>
        <p:nvSpPr>
          <p:cNvPr id="5" name="TextBox 4"/>
          <p:cNvSpPr txBox="1"/>
          <p:nvPr/>
        </p:nvSpPr>
        <p:spPr>
          <a:xfrm>
            <a:off x="457200" y="1170432"/>
            <a:ext cx="11277295" cy="5230368"/>
          </a:xfrm>
          <a:prstGeom prst="rect">
            <a:avLst/>
          </a:prstGeom>
          <a:noFill/>
        </p:spPr>
        <p:txBody>
          <a:bodyPr wrap="square">
            <a:spAutoFit/>
          </a:bodyPr>
          <a:lstStyle/>
          <a:p>
            <a:pPr>
              <a:spcAft>
                <a:spcPts val="800"/>
              </a:spcAft>
            </a:pPr>
            <a:r>
              <a:rPr sz="2000" b="0" i="0">
                <a:solidFill>
                  <a:srgbClr val="333333"/>
                </a:solidFill>
                <a:latin typeface="Calibri"/>
              </a:rPr>
              <a:t>–   Hay cuatro preguntas de por que que se hacen casi siempre, y el estudiante debe llegar con las cuatro respondidas.</a:t>
            </a:r>
          </a:p>
          <a:p>
            <a:pPr>
              <a:spcAft>
                <a:spcPts val="800"/>
              </a:spcAft>
            </a:pPr>
            <a:r>
              <a:rPr sz="2000" b="0" i="0">
                <a:solidFill>
                  <a:srgbClr val="333333"/>
                </a:solidFill>
                <a:latin typeface="Calibri"/>
              </a:rPr>
              <a:t>–   Por que esa normalizacion: la respuesta esperada es que el modelo esta en tercera forma normal, es decir que cada atributo depende de la clave completa y de nada mas, y por eso el telefono del dueno vive en la tabla Dueno y no repetido en cada fila de Mascota.</a:t>
            </a:r>
          </a:p>
          <a:p>
            <a:pPr>
              <a:spcAft>
                <a:spcPts val="800"/>
              </a:spcAft>
            </a:pPr>
            <a:r>
              <a:rPr sz="2000" b="0" i="0">
                <a:solidFill>
                  <a:srgbClr val="333333"/>
                </a:solidFill>
                <a:latin typeface="Calibri"/>
              </a:rPr>
              <a:t>–   Y a continuacion se declara la desnormalizacion deliberada si existe: «guardamos el total en Factura aunque se pueda calcular sumando el detalle, porque el total es un valor historico que no debe cambiar si manana sube el precio del insumo».</a:t>
            </a:r>
          </a:p>
        </p:txBody>
      </p:sp>
      <p:sp>
        <p:nvSpPr>
          <p:cNvPr id="6" name="TextBox 5"/>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Las cuatro preguntas de por que que se hacen casi siempre (2/2)</a:t>
            </a:r>
          </a:p>
        </p:txBody>
      </p:sp>
      <p:sp>
        <p:nvSpPr>
          <p:cNvPr id="5" name="TextBox 4"/>
          <p:cNvSpPr txBox="1"/>
          <p:nvPr/>
        </p:nvSpPr>
        <p:spPr>
          <a:xfrm>
            <a:off x="457200" y="1170432"/>
            <a:ext cx="11277295" cy="5230368"/>
          </a:xfrm>
          <a:prstGeom prst="rect">
            <a:avLst/>
          </a:prstGeom>
          <a:noFill/>
        </p:spPr>
        <p:txBody>
          <a:bodyPr wrap="square">
            <a:spAutoFit/>
          </a:bodyPr>
          <a:lstStyle/>
          <a:p>
            <a:pPr>
              <a:spcAft>
                <a:spcPts val="800"/>
              </a:spcAft>
            </a:pPr>
            <a:r>
              <a:rPr sz="2000" b="0" i="0">
                <a:solidFill>
                  <a:srgbClr val="333333"/>
                </a:solidFill>
                <a:latin typeface="Calibri"/>
              </a:rPr>
              <a:t>–   Por que ese indice: la respuesta debe nombrar la consulta concreta que lo aprovecha, por ejemplo un indice sobre (id_veterinario</a:t>
            </a:r>
          </a:p>
          <a:p>
            <a:pPr>
              <a:spcAft>
                <a:spcPts val="800"/>
              </a:spcAft>
            </a:pPr>
            <a:r>
              <a:rPr sz="2000" b="0" i="0">
                <a:solidFill>
                  <a:srgbClr val="333333"/>
                </a:solidFill>
                <a:latin typeface="Calibri"/>
              </a:rPr>
              <a:t>–   Fecha_hora) porque la busqueda de agenda filtra por veterinario y ordena por hora, y debe venir con la medicion de antes y despues.</a:t>
            </a:r>
          </a:p>
          <a:p>
            <a:pPr>
              <a:spcAft>
                <a:spcPts val="800"/>
              </a:spcAft>
            </a:pPr>
            <a:r>
              <a:rPr sz="2000" b="0" i="0">
                <a:solidFill>
                  <a:srgbClr val="333333"/>
                </a:solidFill>
                <a:latin typeface="Calibri"/>
              </a:rPr>
              <a:t>–   Por que ese tipo de dato: por que la fecha de la cita es DATE o TIMESTAMP y no VARCHAR, y por que el telefono es VARCHAR y no numerico, porque con telefonos no se hace aritmetica y porque un tipo numerico pierde los ceros iniciales.</a:t>
            </a:r>
          </a:p>
        </p:txBody>
      </p:sp>
      <p:sp>
        <p:nvSpPr>
          <p:cNvPr id="6" name="TextBox 5"/>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La cuarta pregunta, la que mas se falla (1/2)</a:t>
            </a:r>
          </a:p>
        </p:txBody>
      </p:sp>
      <p:sp>
        <p:nvSpPr>
          <p:cNvPr id="5" name="TextBox 4"/>
          <p:cNvSpPr txBox="1"/>
          <p:nvPr/>
        </p:nvSpPr>
        <p:spPr>
          <a:xfrm>
            <a:off x="457200" y="1170432"/>
            <a:ext cx="11277295" cy="5230368"/>
          </a:xfrm>
          <a:prstGeom prst="rect">
            <a:avLst/>
          </a:prstGeom>
          <a:noFill/>
        </p:spPr>
        <p:txBody>
          <a:bodyPr wrap="square">
            <a:spAutoFit/>
          </a:bodyPr>
          <a:lstStyle/>
          <a:p>
            <a:pPr>
              <a:spcAft>
                <a:spcPts val="800"/>
              </a:spcAft>
            </a:pPr>
            <a:r>
              <a:rPr sz="2000" b="0" i="0">
                <a:solidFill>
                  <a:srgbClr val="333333"/>
                </a:solidFill>
                <a:latin typeface="Calibri"/>
              </a:rPr>
              <a:t>–   Un disparador, o trigger, es un bloque de codigo que el motor ejecuta automaticamente cuando ocurre un evento sobre una tabla, sin que nadie lo invoque.</a:t>
            </a:r>
          </a:p>
          <a:p>
            <a:pPr>
              <a:spcAft>
                <a:spcPts val="800"/>
              </a:spcAft>
            </a:pPr>
            <a:r>
              <a:rPr sz="2000" b="0" i="0">
                <a:solidFill>
                  <a:srgbClr val="333333"/>
                </a:solidFill>
                <a:latin typeface="Calibri"/>
              </a:rPr>
              <a:t>–   El argumento a favor, y el unico que vale en una sustentacion, es la cobertura: el disparador se ejecuta no importa quien escriba.</a:t>
            </a:r>
          </a:p>
          <a:p>
            <a:pPr>
              <a:spcAft>
                <a:spcPts val="800"/>
              </a:spcAft>
            </a:pPr>
            <a:r>
              <a:rPr sz="2000" b="0" i="0">
                <a:solidFill>
                  <a:srgbClr val="333333"/>
                </a:solidFill>
                <a:latin typeface="Calibri"/>
              </a:rPr>
              <a:t>–   Si la regla «el stock de un insumo nunca queda negativo» vive en el disparador, se cumple cuando escribe la aplicacion, cuando escribe un script de carga masiva y cuando alguien se conecta con un cliente SQL a corregir un dato a mano.</a:t>
            </a:r>
          </a:p>
        </p:txBody>
      </p:sp>
      <p:sp>
        <p:nvSpPr>
          <p:cNvPr id="6" name="TextBox 5"/>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La cuarta pregunta, la que mas se falla (2/2)</a:t>
            </a:r>
          </a:p>
        </p:txBody>
      </p:sp>
      <p:sp>
        <p:nvSpPr>
          <p:cNvPr id="5" name="TextBox 4"/>
          <p:cNvSpPr txBox="1"/>
          <p:nvPr/>
        </p:nvSpPr>
        <p:spPr>
          <a:xfrm>
            <a:off x="457200" y="1170432"/>
            <a:ext cx="11277295" cy="5230368"/>
          </a:xfrm>
          <a:prstGeom prst="rect">
            <a:avLst/>
          </a:prstGeom>
          <a:noFill/>
        </p:spPr>
        <p:txBody>
          <a:bodyPr wrap="square">
            <a:spAutoFit/>
          </a:bodyPr>
          <a:lstStyle/>
          <a:p>
            <a:pPr>
              <a:spcAft>
                <a:spcPts val="800"/>
              </a:spcAft>
            </a:pPr>
            <a:r>
              <a:rPr sz="2000" b="0" i="0">
                <a:solidFill>
                  <a:srgbClr val="333333"/>
                </a:solidFill>
                <a:latin typeface="Calibri"/>
              </a:rPr>
              <a:t>–   Lo mismo aplica al disparador de auditoria de precios: si se quiere saber quien cambio el precio de una vacuna, ese registro tiene que escribirse dentro de la base, porque quien edita a mano no lo va a escribir por cortesia.</a:t>
            </a:r>
          </a:p>
          <a:p>
            <a:pPr>
              <a:spcAft>
                <a:spcPts val="800"/>
              </a:spcAft>
            </a:pPr>
            <a:r>
              <a:rPr sz="2000" b="0" i="0">
                <a:solidFill>
                  <a:srgbClr val="333333"/>
                </a:solidFill>
                <a:latin typeface="Calibri"/>
              </a:rPr>
              <a:t>–   Y hay que dar tambien el contra-argumento, porque un evaluador atento lo va a pedir: los disparadores son logica invisible, no aparecen en el codigo de la aplicacion, sorprenden a quien depura</a:t>
            </a:r>
          </a:p>
          <a:p>
            <a:pPr>
              <a:spcAft>
                <a:spcPts val="800"/>
              </a:spcAft>
            </a:pPr>
            <a:r>
              <a:rPr sz="2000" b="0" i="0">
                <a:solidFill>
                  <a:srgbClr val="333333"/>
                </a:solidFill>
                <a:latin typeface="Calibri"/>
              </a:rPr>
              <a:t>–   Y se disparan en cascada si uno modifica una tabla que a su vez tiene otro disparador.</a:t>
            </a:r>
          </a:p>
        </p:txBody>
      </p:sp>
      <p:sp>
        <p:nvSpPr>
          <p:cNvPr id="6" name="TextBox 5"/>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Reproducible: un tercero llega a la misma base sin hablar con el autor (1/3)</a:t>
            </a:r>
          </a:p>
        </p:txBody>
      </p:sp>
      <p:sp>
        <p:nvSpPr>
          <p:cNvPr id="5" name="TextBox 4"/>
          <p:cNvSpPr txBox="1"/>
          <p:nvPr/>
        </p:nvSpPr>
        <p:spPr>
          <a:xfrm>
            <a:off x="457200" y="1170432"/>
            <a:ext cx="11277295" cy="5230368"/>
          </a:xfrm>
          <a:prstGeom prst="rect">
            <a:avLst/>
          </a:prstGeom>
          <a:noFill/>
        </p:spPr>
        <p:txBody>
          <a:bodyPr wrap="square">
            <a:spAutoFit/>
          </a:bodyPr>
          <a:lstStyle/>
          <a:p>
            <a:pPr>
              <a:spcAft>
                <a:spcPts val="800"/>
              </a:spcAft>
            </a:pPr>
            <a:r>
              <a:rPr sz="2000" b="0" i="0">
                <a:solidFill>
                  <a:srgbClr val="333333"/>
                </a:solidFill>
                <a:latin typeface="Calibri"/>
              </a:rPr>
              <a:t>–   Un proyecto de base de datos es reproducible si un tercero, con solo el archivo comprimido y sin hablar con el autor, obtiene la misma base funcionando.</a:t>
            </a:r>
          </a:p>
          <a:p>
            <a:pPr>
              <a:spcAft>
                <a:spcPts val="800"/>
              </a:spcAft>
            </a:pPr>
            <a:r>
              <a:rPr sz="2000" b="0" i="0">
                <a:solidFill>
                  <a:srgbClr val="333333"/>
                </a:solidFill>
                <a:latin typeface="Calibri"/>
              </a:rPr>
              <a:t>–   La estructura que la garantiza es una carpeta con archivos numerados en el orden exacto de ejecucion: 00_LEEME.txt, 01_ddl.sql, 02_datos_prueba.sql, 03_roles.sql, 04_procedimientos.sql, 05_funciones.sql, 06_triggers.sql, 07_optimizacion.sql y 08_pruebas.sql.</a:t>
            </a:r>
          </a:p>
          <a:p>
            <a:pPr>
              <a:spcAft>
                <a:spcPts val="800"/>
              </a:spcAft>
            </a:pPr>
            <a:r>
              <a:rPr sz="2000" b="0" i="0">
                <a:solidFill>
                  <a:srgbClr val="333333"/>
                </a:solidFill>
                <a:latin typeface="Calibri"/>
              </a:rPr>
              <a:t>–   El orden no es estetico, es una dependencia real: una tabla con clave foranea no se puede crear antes que la tabla a la que apunta, y un disparador no compila si su tabla todavia no existe.</a:t>
            </a:r>
          </a:p>
          <a:p>
            <a:pPr>
              <a:spcAft>
                <a:spcPts val="800"/>
              </a:spcAft>
            </a:pPr>
            <a:r>
              <a:rPr sz="2000" b="0" i="0">
                <a:solidFill>
                  <a:srgbClr val="333333"/>
                </a:solidFill>
                <a:latin typeface="Calibri"/>
              </a:rPr>
              <a:t>–   Los datos de prueba tampoco son triviales, porque con dos filas por tabla no se demuestra nada: el minimo razonable para la clínica es tres duenos</a:t>
            </a:r>
          </a:p>
          <a:p>
            <a:pPr>
              <a:spcAft>
                <a:spcPts val="800"/>
              </a:spcAft>
            </a:pPr>
            <a:r>
              <a:rPr sz="2000" b="0" i="0">
                <a:solidFill>
                  <a:srgbClr val="333333"/>
                </a:solidFill>
                <a:latin typeface="Calibri"/>
              </a:rPr>
              <a:t>–   Cinco mascotas, dos veterinarios, diez citas repartidas en varios dias, cinco insumos con stock y tres facturas con su detalle</a:t>
            </a:r>
          </a:p>
        </p:txBody>
      </p:sp>
      <p:sp>
        <p:nvSpPr>
          <p:cNvPr id="6" name="TextBox 5"/>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Reproducible: un tercero llega a la misma base sin hablar con el autor (2/3)</a:t>
            </a:r>
          </a:p>
        </p:txBody>
      </p:sp>
      <p:sp>
        <p:nvSpPr>
          <p:cNvPr id="5" name="TextBox 4"/>
          <p:cNvSpPr txBox="1"/>
          <p:nvPr/>
        </p:nvSpPr>
        <p:spPr>
          <a:xfrm>
            <a:off x="457200" y="1170432"/>
            <a:ext cx="11277295" cy="5230368"/>
          </a:xfrm>
          <a:prstGeom prst="rect">
            <a:avLst/>
          </a:prstGeom>
          <a:noFill/>
        </p:spPr>
        <p:txBody>
          <a:bodyPr wrap="square">
            <a:spAutoFit/>
          </a:bodyPr>
          <a:lstStyle/>
          <a:p>
            <a:pPr>
              <a:spcAft>
                <a:spcPts val="800"/>
              </a:spcAft>
            </a:pPr>
            <a:r>
              <a:rPr sz="2000" b="0" i="0">
                <a:solidFill>
                  <a:srgbClr val="333333"/>
                </a:solidFill>
                <a:latin typeface="Calibri"/>
              </a:rPr>
              <a:t>–   Incluyendo deliberadamente los casos borde que los procedimientos deben rechazar, es decir una mascota marcada como inactiva y un insumo con stock en uno, porque sin esas dos filas el estudiante no puede demostrar su manejo de errores.</a:t>
            </a:r>
          </a:p>
          <a:p>
            <a:pPr>
              <a:spcAft>
                <a:spcPts val="800"/>
              </a:spcAft>
            </a:pPr>
            <a:r>
              <a:rPr sz="2000" b="0" i="0">
                <a:solidFill>
                  <a:srgbClr val="333333"/>
                </a:solidFill>
                <a:latin typeface="Calibri"/>
              </a:rPr>
              <a:t>–   Uno, no declarar motor y version: el SQL no es un solo idioma, porque una columna autoincremental se escribe SERIAL en PostgreSQL</a:t>
            </a:r>
          </a:p>
          <a:p>
            <a:pPr>
              <a:spcAft>
                <a:spcPts val="800"/>
              </a:spcAft>
            </a:pPr>
            <a:r>
              <a:rPr sz="2000" b="0" i="0">
                <a:solidFill>
                  <a:srgbClr val="333333"/>
                </a:solidFill>
                <a:latin typeface="Calibri"/>
              </a:rPr>
              <a:t>–   AUTO_INCREMENT en MySQL e IDENTITY o una secuencia en Oracle y SQL Server, el texto variable es VARCHAR en unos y VARCHAR2 en Oracle</a:t>
            </a:r>
          </a:p>
          <a:p>
            <a:pPr>
              <a:spcAft>
                <a:spcPts val="800"/>
              </a:spcAft>
            </a:pPr>
            <a:r>
              <a:rPr sz="2000" b="0" i="0">
                <a:solidFill>
                  <a:srgbClr val="333333"/>
                </a:solidFill>
                <a:latin typeface="Calibri"/>
              </a:rPr>
              <a:t>–   Y la fecha actual es NOW() en unos y SYSDATE en Oracle; un script sin la linea «probado en PostgreSQL 15 en DB Fiddle» o «probado en Oracle 19c en Oracle Live SQL» obliga al evaluador a adivinar, y si adivina mal falla en la primera sentencia.</a:t>
            </a:r>
          </a:p>
          <a:p>
            <a:pPr>
              <a:spcAft>
                <a:spcPts val="800"/>
              </a:spcAft>
            </a:pPr>
            <a:r>
              <a:rPr sz="2000" b="0" i="0">
                <a:solidFill>
                  <a:srgbClr val="333333"/>
                </a:solidFill>
                <a:latin typeface="Calibri"/>
              </a:rPr>
              <a:t>–   Dos, scripts que asumen un estado previo: quien ejecuta debe poder empezar desde una base vacia.</a:t>
            </a:r>
          </a:p>
        </p:txBody>
      </p:sp>
      <p:sp>
        <p:nvSpPr>
          <p:cNvPr id="6" name="TextBox 5"/>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Reproducible: un tercero llega a la misma base sin hablar con el autor (3/3)</a:t>
            </a:r>
          </a:p>
        </p:txBody>
      </p:sp>
      <p:sp>
        <p:nvSpPr>
          <p:cNvPr id="5" name="TextBox 4"/>
          <p:cNvSpPr txBox="1"/>
          <p:nvPr/>
        </p:nvSpPr>
        <p:spPr>
          <a:xfrm>
            <a:off x="457200" y="1170432"/>
            <a:ext cx="11277295" cy="5230368"/>
          </a:xfrm>
          <a:prstGeom prst="rect">
            <a:avLst/>
          </a:prstGeom>
          <a:noFill/>
        </p:spPr>
        <p:txBody>
          <a:bodyPr wrap="square">
            <a:spAutoFit/>
          </a:bodyPr>
          <a:lstStyle/>
          <a:p>
            <a:pPr>
              <a:spcAft>
                <a:spcPts val="800"/>
              </a:spcAft>
            </a:pPr>
            <a:r>
              <a:rPr sz="2000" b="0" i="0">
                <a:solidFill>
                  <a:srgbClr val="333333"/>
                </a:solidFill>
                <a:latin typeface="Calibri"/>
              </a:rPr>
              <a:t>–   Tres, falta de idempotencia: si el script no se puede correr dos veces porque falla al encontrar que la tabla ya existe, se pierde tiempo en cada intento, y anteponer DROP TABLE IF EXISTS en orden inverso al de creacion lo resuelve.</a:t>
            </a:r>
          </a:p>
          <a:p>
            <a:pPr>
              <a:spcAft>
                <a:spcPts val="800"/>
              </a:spcAft>
            </a:pPr>
            <a:r>
              <a:rPr sz="2000" b="0" i="0">
                <a:solidFill>
                  <a:srgbClr val="333333"/>
                </a:solidFill>
                <a:latin typeface="Calibri"/>
              </a:rPr>
              <a:t>–   Cuatro, el LEEME ausente o inutil; uno que sirve tiene cuatro cosas y cabe en media pagina: motor y version exactos, el orden de ejecucion de los archivos</a:t>
            </a:r>
          </a:p>
          <a:p>
            <a:pPr>
              <a:spcAft>
                <a:spcPts val="800"/>
              </a:spcAft>
            </a:pPr>
            <a:r>
              <a:rPr sz="2000" b="0" i="0">
                <a:solidFill>
                  <a:srgbClr val="333333"/>
                </a:solidFill>
                <a:latin typeface="Calibri"/>
              </a:rPr>
              <a:t>–   Como verificar que quedo bien (una consulta cuyo resultado se conoce, por ejemplo SELECT COUNT(*) FROM cita devolviendo 10) y las limitaciones conocidas.</a:t>
            </a:r>
          </a:p>
        </p:txBody>
      </p:sp>
      <p:sp>
        <p:nvSpPr>
          <p:cNvPr id="6" name="TextBox 5"/>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El reparto de los 5 a 8 minutos (1/2)</a:t>
            </a:r>
          </a:p>
        </p:txBody>
      </p:sp>
      <p:sp>
        <p:nvSpPr>
          <p:cNvPr id="5" name="TextBox 4"/>
          <p:cNvSpPr txBox="1"/>
          <p:nvPr/>
        </p:nvSpPr>
        <p:spPr>
          <a:xfrm>
            <a:off x="457200" y="1170432"/>
            <a:ext cx="11277295" cy="5230368"/>
          </a:xfrm>
          <a:prstGeom prst="rect">
            <a:avLst/>
          </a:prstGeom>
          <a:noFill/>
        </p:spPr>
        <p:txBody>
          <a:bodyPr wrap="square">
            <a:spAutoFit/>
          </a:bodyPr>
          <a:lstStyle/>
          <a:p>
            <a:pPr>
              <a:spcAft>
                <a:spcPts val="800"/>
              </a:spcAft>
            </a:pPr>
            <a:r>
              <a:rPr sz="2000" b="0" i="0">
                <a:solidFill>
                  <a:srgbClr val="333333"/>
                </a:solidFill>
                <a:latin typeface="Calibri"/>
              </a:rPr>
              <a:t>–   La sustentacion dura de 5 a 8 minutos y ese limite obliga a decidir que se deja fuera.</a:t>
            </a:r>
          </a:p>
          <a:p>
            <a:pPr>
              <a:spcAft>
                <a:spcPts val="800"/>
              </a:spcAft>
            </a:pPr>
            <a:r>
              <a:rPr sz="2000" b="0" i="0">
                <a:solidFill>
                  <a:srgbClr val="333333"/>
                </a:solidFill>
                <a:latin typeface="Calibri"/>
              </a:rPr>
              <a:t>–   El reparto que funciona, y que es convencion y no regla dura, es: 45 segundos para el problema de la clínica en lenguaje de negocio, sin una sola tabla en pantalla</a:t>
            </a:r>
          </a:p>
          <a:p>
            <a:pPr>
              <a:spcAft>
                <a:spcPts val="800"/>
              </a:spcAft>
            </a:pPr>
            <a:r>
              <a:rPr sz="2000" b="0" i="0">
                <a:solidFill>
                  <a:srgbClr val="333333"/>
                </a:solidFill>
                <a:latin typeface="Calibri"/>
              </a:rPr>
              <a:t>–   90 segundos para el modelo, mostrando el ER y justificando dos decisiones y no las quince; 60 segundos para seguridad, con la matriz de roles y una frase sobre por que recepcion no ve el historial clinico</a:t>
            </a:r>
          </a:p>
          <a:p>
            <a:pPr>
              <a:spcAft>
                <a:spcPts val="800"/>
              </a:spcAft>
            </a:pPr>
            <a:r>
              <a:rPr sz="2000" b="0" i="0">
                <a:solidFill>
                  <a:srgbClr val="333333"/>
                </a:solidFill>
                <a:latin typeface="Calibri"/>
              </a:rPr>
              <a:t>–   90 segundos para la automatizacion, ejecutando un procedimiento con su caso valido y su caso invalido; 60 segundos para la optimizacion, con el plan de ejecucion antes y despues; 45 segundos para la integracion y el punto debil declarado; y 30 de cierre.</a:t>
            </a:r>
          </a:p>
          <a:p>
            <a:pPr>
              <a:spcAft>
                <a:spcPts val="800"/>
              </a:spcAft>
            </a:pPr>
            <a:r>
              <a:rPr sz="2000" b="0" i="0">
                <a:solidFill>
                  <a:srgbClr val="333333"/>
                </a:solidFill>
                <a:latin typeface="Calibri"/>
              </a:rPr>
              <a:t>–   Y conviene ser explicito sobre el formato, porque de eso depende como se prepara el estudiante: la Clase 15 se dicta el 16 de noviembre en la ultima sesion del semestre</a:t>
            </a:r>
          </a:p>
        </p:txBody>
      </p:sp>
      <p:sp>
        <p:nvSpPr>
          <p:cNvPr id="6" name="TextBox 5"/>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El reparto de los 5 a 8 minutos (2/2)</a:t>
            </a:r>
          </a:p>
        </p:txBody>
      </p:sp>
      <p:sp>
        <p:nvSpPr>
          <p:cNvPr id="5" name="TextBox 4"/>
          <p:cNvSpPr txBox="1"/>
          <p:nvPr/>
        </p:nvSpPr>
        <p:spPr>
          <a:xfrm>
            <a:off x="457200" y="1170432"/>
            <a:ext cx="11277295" cy="5230368"/>
          </a:xfrm>
          <a:prstGeom prst="rect">
            <a:avLst/>
          </a:prstGeom>
          <a:noFill/>
        </p:spPr>
        <p:txBody>
          <a:bodyPr wrap="square">
            <a:spAutoFit/>
          </a:bodyPr>
          <a:lstStyle/>
          <a:p>
            <a:pPr>
              <a:spcAft>
                <a:spcPts val="800"/>
              </a:spcAft>
            </a:pPr>
            <a:r>
              <a:rPr sz="2000" b="0" i="0">
                <a:solidFill>
                  <a:srgbClr val="333333"/>
                </a:solidFill>
                <a:latin typeface="Calibri"/>
              </a:rPr>
              <a:t>–   Dedicada por completo a sustentaciones EN VIVO, con turnos consecutivos y preguntas del docente al cierre de cada uno.</a:t>
            </a:r>
          </a:p>
          <a:p>
            <a:pPr>
              <a:spcAft>
                <a:spcPts val="800"/>
              </a:spcAft>
            </a:pPr>
            <a:r>
              <a:rPr sz="2000" b="0" i="0">
                <a:solidFill>
                  <a:srgbClr val="333333"/>
                </a:solidFill>
                <a:latin typeface="Calibri"/>
              </a:rPr>
              <a:t>–   No es clase autonoma y la defensa no se reemplaza por un video grabado, porque el Q&amp;A dirigido al azar es lo unico que permite verificar que el modelo y los procedimientos son de quien los presenta.</a:t>
            </a:r>
          </a:p>
          <a:p>
            <a:pPr>
              <a:spcAft>
                <a:spcPts val="800"/>
              </a:spcAft>
            </a:pPr>
            <a:r>
              <a:rPr sz="2000" b="0" i="0">
                <a:solidFill>
                  <a:srgbClr val="333333"/>
                </a:solidFill>
                <a:latin typeface="Calibri"/>
              </a:rPr>
              <a:t>–   Y el criterio de dominio es el mismo trabajando solo o en equipo autorizado: quien sustenta debe poder explicar cualquier parte en 60 segundos</a:t>
            </a:r>
          </a:p>
          <a:p>
            <a:pPr>
              <a:spcAft>
                <a:spcPts val="800"/>
              </a:spcAft>
            </a:pPr>
            <a:r>
              <a:rPr sz="2000" b="0" i="0">
                <a:solidFill>
                  <a:srgbClr val="333333"/>
                </a:solidFill>
                <a:latin typeface="Calibri"/>
              </a:rPr>
              <a:t>–   Y si hubo equipo, cualquier integrante debe poder hacerlo con cualquier parte, no solo con la suya, porque el Q&amp;A se dirige al azar y porque si solo una persona entiende el modelo el evaluador no tiene forma de atribuir el trabajo a los demas.</a:t>
            </a:r>
          </a:p>
        </p:txBody>
      </p:sp>
      <p:sp>
        <p:nvSpPr>
          <p:cNvPr id="6" name="TextBox 5"/>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El Q&amp;A de modelado, con las respuestas listas (1/2)</a:t>
            </a:r>
          </a:p>
        </p:txBody>
      </p:sp>
      <p:sp>
        <p:nvSpPr>
          <p:cNvPr id="5" name="TextBox 4"/>
          <p:cNvSpPr txBox="1"/>
          <p:nvPr/>
        </p:nvSpPr>
        <p:spPr>
          <a:xfrm>
            <a:off x="457200" y="1170432"/>
            <a:ext cx="11277295" cy="5230368"/>
          </a:xfrm>
          <a:prstGeom prst="rect">
            <a:avLst/>
          </a:prstGeom>
          <a:noFill/>
        </p:spPr>
        <p:txBody>
          <a:bodyPr wrap="square">
            <a:spAutoFit/>
          </a:bodyPr>
          <a:lstStyle/>
          <a:p>
            <a:pPr>
              <a:spcAft>
                <a:spcPts val="800"/>
              </a:spcAft>
            </a:pPr>
            <a:r>
              <a:rPr sz="2000" b="0" i="0">
                <a:solidFill>
                  <a:srgbClr val="333333"/>
                </a:solidFill>
                <a:latin typeface="Calibri"/>
              </a:rPr>
              <a:t>–   «Por que nombre y apellido separados y no un solo campo nombre_completo?»: porque se necesita ordenar y buscar por apellido, y separar despues un campo unido es un trabajo sucio y lleno de errores con nombres compuestos.</a:t>
            </a:r>
          </a:p>
          <a:p>
            <a:pPr>
              <a:spcAft>
                <a:spcPts val="800"/>
              </a:spcAft>
            </a:pPr>
            <a:r>
              <a:rPr sz="2000" b="0" i="0">
                <a:solidFill>
                  <a:srgbClr val="333333"/>
                </a:solidFill>
                <a:latin typeface="Calibri"/>
              </a:rPr>
              <a:t>–   «Que pasa si un dueno tiene dos mascotas llamadas Pelusa?»: nada, porque la identidad la da id_mascota y no el nombre</a:t>
            </a:r>
          </a:p>
          <a:p>
            <a:pPr>
              <a:spcAft>
                <a:spcPts val="800"/>
              </a:spcAft>
            </a:pPr>
            <a:r>
              <a:rPr sz="2000" b="0" i="0">
                <a:solidFill>
                  <a:srgbClr val="333333"/>
                </a:solidFill>
                <a:latin typeface="Calibri"/>
              </a:rPr>
              <a:t>–   Y si se quisiera prohibirlo habria que declarar UNIQUE (id_dueno, nombre), decision que el estudiante debe poder defender en cualquiera de los dos sentidos.</a:t>
            </a:r>
          </a:p>
          <a:p>
            <a:pPr>
              <a:spcAft>
                <a:spcPts val="800"/>
              </a:spcAft>
            </a:pPr>
            <a:r>
              <a:rPr sz="2000" b="0" i="0">
                <a:solidFill>
                  <a:srgbClr val="333333"/>
                </a:solidFill>
                <a:latin typeface="Calibri"/>
              </a:rPr>
              <a:t>–   «Por que no borran las citas canceladas?»: porque el historial de cancelaciones es informacion de negocio, ya que permite ver que dueno cancela siempre</a:t>
            </a:r>
          </a:p>
        </p:txBody>
      </p:sp>
      <p:sp>
        <p:nvSpPr>
          <p:cNvPr id="6" name="TextBox 5"/>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El Q&amp;A de modelado, con las respuestas listas (2/2)</a:t>
            </a:r>
          </a:p>
        </p:txBody>
      </p:sp>
      <p:sp>
        <p:nvSpPr>
          <p:cNvPr id="5" name="TextBox 4"/>
          <p:cNvSpPr txBox="1"/>
          <p:nvPr/>
        </p:nvSpPr>
        <p:spPr>
          <a:xfrm>
            <a:off x="457200" y="1170432"/>
            <a:ext cx="11277295" cy="5230368"/>
          </a:xfrm>
          <a:prstGeom prst="rect">
            <a:avLst/>
          </a:prstGeom>
          <a:noFill/>
        </p:spPr>
        <p:txBody>
          <a:bodyPr wrap="square">
            <a:spAutoFit/>
          </a:bodyPr>
          <a:lstStyle/>
          <a:p>
            <a:pPr>
              <a:spcAft>
                <a:spcPts val="800"/>
              </a:spcAft>
            </a:pPr>
            <a:r>
              <a:rPr sz="2000" b="0" i="0">
                <a:solidFill>
                  <a:srgbClr val="333333"/>
                </a:solidFill>
                <a:latin typeface="Calibri"/>
              </a:rPr>
              <a:t>–   Y porque borrar filas referenciadas por facturas rompe la integridad referencial; se usa borrado logico con un campo de estado.</a:t>
            </a:r>
          </a:p>
          <a:p>
            <a:pPr>
              <a:spcAft>
                <a:spcPts val="800"/>
              </a:spcAft>
            </a:pPr>
            <a:r>
              <a:rPr sz="2000" b="0" i="0">
                <a:solidFill>
                  <a:srgbClr val="333333"/>
                </a:solidFill>
                <a:latin typeface="Calibri"/>
              </a:rPr>
              <a:t>–   Y la pregunta que desarma a quien no midio: «cuanto mejoro esa consulta?».</a:t>
            </a:r>
          </a:p>
          <a:p>
            <a:pPr>
              <a:spcAft>
                <a:spcPts val="800"/>
              </a:spcAft>
            </a:pPr>
            <a:r>
              <a:rPr sz="2000" b="0" i="0">
                <a:solidFill>
                  <a:srgbClr val="333333"/>
                </a:solidFill>
                <a:latin typeface="Calibri"/>
              </a:rPr>
              <a:t>–   Una respuesta solida tiene 3 partes: la decision, la alternativa descartada y la razon concreta en la clínica, por ejemplo el volumen de citas o una regla del negocio.</a:t>
            </a:r>
          </a:p>
          <a:p>
            <a:pPr>
              <a:spcAft>
                <a:spcPts val="800"/>
              </a:spcAft>
            </a:pPr>
            <a:r>
              <a:rPr sz="2000" b="0" i="0">
                <a:solidFill>
                  <a:srgbClr val="333333"/>
                </a:solidFill>
                <a:latin typeface="Calibri"/>
              </a:rPr>
              <a:t>–   Error comun: responder con lo que hace la tabla en vez de por que existe; la pregunta de modelado siempre es un por que, no un que.</a:t>
            </a:r>
          </a:p>
        </p:txBody>
      </p:sp>
      <p:sp>
        <p:nvSpPr>
          <p:cNvPr id="6" name="TextBox 5"/>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El cierre del curso: conectar lo hecho con el trabajo real</a:t>
            </a:r>
          </a:p>
        </p:txBody>
      </p:sp>
      <p:sp>
        <p:nvSpPr>
          <p:cNvPr id="5" name="TextBox 4"/>
          <p:cNvSpPr txBox="1"/>
          <p:nvPr/>
        </p:nvSpPr>
        <p:spPr>
          <a:xfrm>
            <a:off x="457200" y="1170432"/>
            <a:ext cx="11277295" cy="5230368"/>
          </a:xfrm>
          <a:prstGeom prst="rect">
            <a:avLst/>
          </a:prstGeom>
          <a:noFill/>
        </p:spPr>
        <p:txBody>
          <a:bodyPr wrap="square">
            <a:spAutoFit/>
          </a:bodyPr>
          <a:lstStyle/>
          <a:p>
            <a:pPr>
              <a:spcAft>
                <a:spcPts val="800"/>
              </a:spcAft>
            </a:pPr>
            <a:r>
              <a:rPr sz="2000" b="0" i="0">
                <a:solidFill>
                  <a:srgbClr val="333333"/>
                </a:solidFill>
                <a:latin typeface="Calibri"/>
              </a:rPr>
              <a:t>–   El cierre del curso debe conectar lo hecho con el trabajo real, porque de eso depende que el estudiante conserve los scripts en vez de borrarlos al terminar el semestre.</a:t>
            </a:r>
          </a:p>
          <a:p>
            <a:pPr>
              <a:spcAft>
                <a:spcPts val="800"/>
              </a:spcAft>
            </a:pPr>
            <a:r>
              <a:rPr sz="2000" b="0" i="0">
                <a:solidFill>
                  <a:srgbClr val="333333"/>
                </a:solidFill>
                <a:latin typeface="Calibri"/>
              </a:rPr>
              <a:t>–   Leer un plan de ejecucion y decidir si un indice sobra es una habilidad que se paga.</a:t>
            </a:r>
          </a:p>
          <a:p>
            <a:pPr>
              <a:spcAft>
                <a:spcPts val="800"/>
              </a:spcAft>
            </a:pPr>
            <a:r>
              <a:rPr sz="2000" b="0" i="0">
                <a:solidFill>
                  <a:srgbClr val="333333"/>
                </a:solidFill>
                <a:latin typeface="Calibri"/>
              </a:rPr>
              <a:t>–   El SQL que se escribio ahi es el mismo que corre en un servidor de produccion; lo que cambia en un entorno profesional es el volumen de datos y las consecuencias de un error, no la sintaxis.</a:t>
            </a:r>
          </a:p>
          <a:p>
            <a:pPr>
              <a:spcAft>
                <a:spcPts val="800"/>
              </a:spcAft>
            </a:pPr>
            <a:r>
              <a:rPr sz="2000" b="0" i="0">
                <a:solidFill>
                  <a:srgbClr val="333333"/>
                </a:solidFill>
                <a:latin typeface="Calibri"/>
              </a:rPr>
              <a:t>–   Y la autoevaluacion de la clase conviene pedirla con una consigna concreta en vez de una reflexion vaga: nombren la decision de modelado que mas les costo revertir y en que clase se dieron cuenta de que estaba mal.</a:t>
            </a:r>
          </a:p>
        </p:txBody>
      </p:sp>
      <p:sp>
        <p:nvSpPr>
          <p:cNvPr id="6" name="TextBox 5"/>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Como se ordena la sesion de hoy</a:t>
            </a:r>
          </a:p>
        </p:txBody>
      </p:sp>
      <p:sp>
        <p:nvSpPr>
          <p:cNvPr id="5" name="TextBox 4"/>
          <p:cNvSpPr txBox="1"/>
          <p:nvPr/>
        </p:nvSpPr>
        <p:spPr>
          <a:xfrm>
            <a:off x="457200" y="1170432"/>
            <a:ext cx="11277295" cy="5230368"/>
          </a:xfrm>
          <a:prstGeom prst="rect">
            <a:avLst/>
          </a:prstGeom>
          <a:noFill/>
        </p:spPr>
        <p:txBody>
          <a:bodyPr wrap="square">
            <a:spAutoFit/>
          </a:bodyPr>
          <a:lstStyle/>
          <a:p>
            <a:pPr>
              <a:spcAft>
                <a:spcPts val="800"/>
              </a:spcAft>
            </a:pPr>
            <a:r>
              <a:rPr sz="2000" b="0" i="0">
                <a:solidFill>
                  <a:srgbClr val="333333"/>
                </a:solidFill>
                <a:latin typeface="Calibri"/>
              </a:rPr>
              <a:t>–   Sustentación </a:t>
            </a:r>
            <a:r>
              <a:rPr sz="2000" b="1" i="0">
                <a:solidFill>
                  <a:srgbClr val="333333"/>
                </a:solidFill>
                <a:latin typeface="Calibri"/>
              </a:rPr>
              <a:t>en vivo</a:t>
            </a:r>
            <a:r>
              <a:rPr sz="2000" b="0" i="0">
                <a:solidFill>
                  <a:srgbClr val="333333"/>
                </a:solidFill>
                <a:latin typeface="Calibri"/>
              </a:rPr>
              <a:t>, en este bloque: no se reemplaza por video grabado.</a:t>
            </a:r>
          </a:p>
          <a:p>
            <a:pPr>
              <a:spcAft>
                <a:spcPts val="800"/>
              </a:spcAft>
            </a:pPr>
            <a:r>
              <a:rPr sz="2000" b="0" i="0">
                <a:solidFill>
                  <a:srgbClr val="333333"/>
                </a:solidFill>
                <a:latin typeface="Calibri"/>
              </a:rPr>
              <a:t>–   Turnos de </a:t>
            </a:r>
            <a:r>
              <a:rPr sz="2000" b="1" i="0">
                <a:solidFill>
                  <a:srgbClr val="333333"/>
                </a:solidFill>
                <a:latin typeface="Calibri"/>
              </a:rPr>
              <a:t>5–8 min de pitch + Q&amp;A</a:t>
            </a:r>
            <a:r>
              <a:rPr sz="2000" b="0" i="0">
                <a:solidFill>
                  <a:srgbClr val="333333"/>
                </a:solidFill>
                <a:latin typeface="Calibri"/>
              </a:rPr>
              <a:t>; el orden se sortea al empezar.</a:t>
            </a:r>
          </a:p>
          <a:p>
            <a:pPr>
              <a:spcAft>
                <a:spcPts val="800"/>
              </a:spcAft>
            </a:pPr>
            <a:r>
              <a:rPr sz="2000" b="0" i="0">
                <a:solidFill>
                  <a:srgbClr val="333333"/>
                </a:solidFill>
                <a:latin typeface="Calibri"/>
              </a:rPr>
              <a:t>–   En tu turno muestra una </a:t>
            </a:r>
            <a:r>
              <a:rPr sz="2000" b="1" i="0">
                <a:solidFill>
                  <a:srgbClr val="333333"/>
                </a:solidFill>
                <a:latin typeface="Calibri"/>
              </a:rPr>
              <a:t>ejecución real</a:t>
            </a:r>
            <a:r>
              <a:rPr sz="2000" b="0" i="0">
                <a:solidFill>
                  <a:srgbClr val="333333"/>
                </a:solidFill>
                <a:latin typeface="Calibri"/>
              </a:rPr>
              <a:t> (procedimiento OK + caso rechazado), no solo capturas.</a:t>
            </a:r>
          </a:p>
          <a:p>
            <a:pPr>
              <a:spcAft>
                <a:spcPts val="800"/>
              </a:spcAft>
            </a:pPr>
            <a:r>
              <a:rPr sz="2000" b="0" i="0">
                <a:solidFill>
                  <a:srgbClr val="333333"/>
                </a:solidFill>
                <a:latin typeface="Calibri"/>
              </a:rPr>
              <a:t>–   Mientras otros presentan, escuchas: el cierre del curso se hace con todo el grupo.</a:t>
            </a:r>
          </a:p>
          <a:p>
            <a:pPr>
              <a:spcAft>
                <a:spcPts val="800"/>
              </a:spcAft>
            </a:pPr>
            <a:r>
              <a:rPr sz="2000" b="0" i="0">
                <a:solidFill>
                  <a:srgbClr val="333333"/>
                </a:solidFill>
                <a:latin typeface="Calibri"/>
              </a:rPr>
              <a:t>–   Cada decisión se defiende con su porqué: la restricción, el rol, el índice o el procedimiento que la sostiene.</a:t>
            </a:r>
          </a:p>
        </p:txBody>
      </p:sp>
      <p:sp>
        <p:nvSpPr>
          <p:cNvPr id="6" name="TextBox 5"/>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269C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uniajc_color.png"/>
          <p:cNvPicPr>
            <a:picLocks noChangeAspect="1"/>
          </p:cNvPicPr>
          <p:nvPr/>
        </p:nvPicPr>
        <p:blipFill>
          <a:blip r:embed="rId2"/>
          <a:stretch>
            <a:fillRect/>
          </a:stretch>
        </p:blipFill>
        <p:spPr>
          <a:xfrm>
            <a:off x="10271455" y="5998464"/>
            <a:ext cx="1463040" cy="643233"/>
          </a:xfrm>
          <a:prstGeom prst="rect">
            <a:avLst/>
          </a:prstGeom>
        </p:spPr>
      </p:pic>
      <p:sp>
        <p:nvSpPr>
          <p:cNvPr id="4" name="TextBox 3"/>
          <p:cNvSpPr txBox="1"/>
          <p:nvPr/>
        </p:nvSpPr>
        <p:spPr>
          <a:xfrm>
            <a:off x="457200" y="1737360"/>
            <a:ext cx="11277295" cy="1097280"/>
          </a:xfrm>
          <a:prstGeom prst="rect">
            <a:avLst/>
          </a:prstGeom>
          <a:noFill/>
        </p:spPr>
        <p:txBody>
          <a:bodyPr wrap="square" anchor="ctr"/>
          <a:lstStyle/>
          <a:p>
            <a:pPr algn="ctr"/>
            <a:r>
              <a:rPr sz="3400" b="1" i="0">
                <a:solidFill>
                  <a:srgbClr val="095292"/>
                </a:solidFill>
                <a:latin typeface="Calibri"/>
              </a:rPr>
              <a:t>Clase 15 · cierre de la base de la clínica</a:t>
            </a:r>
          </a:p>
        </p:txBody>
      </p:sp>
      <p:sp>
        <p:nvSpPr>
          <p:cNvPr id="5" name="TextBox 4"/>
          <p:cNvSpPr txBox="1"/>
          <p:nvPr/>
        </p:nvSpPr>
        <p:spPr>
          <a:xfrm>
            <a:off x="457200" y="3017520"/>
            <a:ext cx="11277295" cy="1645920"/>
          </a:xfrm>
          <a:prstGeom prst="rect">
            <a:avLst/>
          </a:prstGeom>
          <a:noFill/>
        </p:spPr>
        <p:txBody>
          <a:bodyPr wrap="square">
            <a:spAutoFit/>
          </a:bodyPr>
          <a:lstStyle/>
          <a:p>
            <a:pPr algn="ctr">
              <a:spcAft>
                <a:spcPts val="600"/>
              </a:spcAft>
            </a:pPr>
            <a:r>
              <a:rPr sz="1600" b="0" i="0">
                <a:solidFill>
                  <a:srgbClr val="333333"/>
                </a:solidFill>
                <a:latin typeface="Calibri"/>
              </a:rPr>
              <a:t>Sustentacion en vivo y entrega final del proyecto (20% Corte 3)</a:t>
            </a:r>
          </a:p>
          <a:p>
            <a:pPr algn="ctr">
              <a:spcAft>
                <a:spcPts val="600"/>
              </a:spcAft>
            </a:pPr>
            <a:r>
              <a:rPr sz="1600" b="0" i="0">
                <a:solidFill>
                  <a:srgbClr val="333333"/>
                </a:solidFill>
                <a:latin typeface="Calibri"/>
              </a:rPr>
              <a:t>Conserva el paquete (ER, DDL, roles, procs, triggers, optimizacion) como portafolio</a:t>
            </a:r>
          </a:p>
        </p:txBody>
      </p:sp>
      <p:sp>
        <p:nvSpPr>
          <p:cNvPr id="6" name="TextBox 5"/>
          <p:cNvSpPr txBox="1"/>
          <p:nvPr/>
        </p:nvSpPr>
        <p:spPr>
          <a:xfrm>
            <a:off x="457200" y="4754880"/>
            <a:ext cx="11277295" cy="640080"/>
          </a:xfrm>
          <a:prstGeom prst="rect">
            <a:avLst/>
          </a:prstGeom>
          <a:noFill/>
        </p:spPr>
        <p:txBody>
          <a:bodyPr wrap="square">
            <a:spAutoFit/>
          </a:bodyPr>
          <a:lstStyle/>
          <a:p>
            <a:pPr algn="ctr"/>
            <a:r>
              <a:rPr sz="2000" b="1" i="0">
                <a:solidFill>
                  <a:srgbClr val="269CCB"/>
                </a:solidFill>
                <a:latin typeface="Calibri"/>
              </a:rPr>
              <a:t>Sustentar es justificar decisiones, no describir tablas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