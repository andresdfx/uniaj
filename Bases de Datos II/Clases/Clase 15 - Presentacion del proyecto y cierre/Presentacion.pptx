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sustentación no es una visita guiada por el diagrama. Es explicar por qué cada decisión quedó como quedó y qué se descartó, porque en una base de datos deshacer una decisión cuesta caro.</a:t>
            </a:r>
          </a:p>
          <a:p/>
          <a:p>
            <a:r>
              <a:t>CÓMO DARLA (≈2 min):</a:t>
            </a:r>
          </a:p>
          <a:p>
            <a:r>
              <a:t>  • Al entrar: A la izquierda, describir: una lista de «tenemos…». Pregunta: ¿qué aprende el evaluador de esa lista que no vea ya en el diagrama? Nada.</a:t>
            </a:r>
          </a:p>
          <a:p>
            <a:r>
              <a:t>  • Clic 1: A la derecha, sustentar: por qué quedó así y qué se descartó. Son las dos preguntas que se van a hacer en cada turno.</a:t>
            </a:r>
          </a:p>
          <a:p>
            <a:r>
              <a:t>  • Clic 2: El costo de revertir: cambiar código es la barra corta; cambiar un esquema con datos (partir una tabla con cien mil filas y seis procedimientos apuntándole) es la barra larga: migración, ventana de mantenimiento y riesgo de perder datos.</a:t>
            </a:r>
          </a:p>
          <a:p/>
          <a:p>
            <a:r>
              <a:t>EJEMPLO: Describir: «hay una tabla cita con una FK». Sustentar: «la FK va en cita y no en mascota porque una mascota tiene muchas citas; sin ella podría existir una cita de una mascota que no existe».</a:t>
            </a:r>
          </a:p>
          <a:p/>
          <a:p>
            <a:r>
              <a:t>SI PREGUNTAN:</a:t>
            </a:r>
          </a:p>
          <a:p>
            <a:r>
              <a:t>  • «¿Entonces no muestro el diagrama?» → Sí, pero como apoyo de dos decisiones justificadas, no para nombrar las tablas una por una.</a:t>
            </a:r>
          </a:p>
          <a:p/>
          <a:p>
            <a:r>
              <a:t>CUIDADO: No califiques bien un recorrido de seis minutos por el ER porque «explicaron todo»: si nadie dio un porqué, no hubo sustentación.</a:t>
            </a:r>
          </a:p>
          <a:p/>
          <a:p>
            <a:r>
              <a:t>PASA A LA SIGUIENTE: Las preguntas de porqué que casi siempre llegan son cuatro.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Casi toda sustentación de bases de datos termina en las mismas cuatro preguntas. Quien las trae respondidas sustenta; quien no, improvisa.</a:t>
            </a:r>
          </a:p>
          <a:p/>
          <a:p>
            <a:r>
              <a:t>CÓMO DARLA (≈3 min):</a:t>
            </a:r>
          </a:p>
          <a:p>
            <a:r>
              <a:t>  • Al entrar: Normalización: «está en tercera forma normal», es decir, cada atributo depende de la clave completa y de nada más (el teléfono del dueño vive en dueno, no repetido en cada mascota). Y si existe, la desnormalización deliberada: guardar el total en factura porque es un valor histórico.</a:t>
            </a:r>
          </a:p>
          <a:p>
            <a:r>
              <a:t>  • Clic 1: Índice: nombrar la consulta que lo usa (la agenda filtra por veterinario y ordena por hora, de ahí un índice sobre (id_veterinario, fecha_hora)) y mostrar EXPLAIN ANALYZE antes y después.</a:t>
            </a:r>
          </a:p>
          <a:p>
            <a:r>
              <a:t>  • Clic 2: Tipo de dato: la fecha es TIMESTAMP porque se compara y se ordena; el teléfono es VARCHAR porque no se hace aritmética con él y un tipo numérico pierde el cero inicial.</a:t>
            </a:r>
          </a:p>
          <a:p>
            <a:r>
              <a:t>  • Clic 3: La cuarta, la del disparador, es la que más se falla: tiene lámina propia.</a:t>
            </a:r>
          </a:p>
          <a:p/>
          <a:p>
            <a:r>
              <a:t>EJEMPLO: «Guardamos el total en factura aunque se pueda sumar del detalle, porque es un valor histórico: si mañana sube el precio del insumo, la factura de ayer no debe cambiar.»</a:t>
            </a:r>
          </a:p>
          <a:p/>
          <a:p>
            <a:r>
              <a:t>SI PREGUNTAN:</a:t>
            </a:r>
          </a:p>
          <a:p>
            <a:r>
              <a:t>  • «¿Desnormalizar es un error?» → No, si es deliberado y está escrito con su razón. El error es desnormalizar sin saberlo.</a:t>
            </a:r>
          </a:p>
          <a:p/>
          <a:p>
            <a:r>
              <a:t>CUIDADO: «Está normalizado», sin decir qué forma normal ni dar un ejemplo, no responde la pregunta.</a:t>
            </a:r>
          </a:p>
          <a:p/>
          <a:p>
            <a:r>
              <a:t>PASA A LA SIGUIENTE: La cuarta pregunta, la que más se falla.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pregunta es por qué una regla vive en un disparador y no en la aplicación. La respuesta que vale es una sola, la cobertura, y hay que saber también el contra-argumento.</a:t>
            </a:r>
          </a:p>
          <a:p/>
          <a:p>
            <a:r>
              <a:t>CÓMO DARLA (≈2 min):</a:t>
            </a:r>
          </a:p>
          <a:p>
            <a:r>
              <a:t>  • Al entrar: Regla en la aplicación: escriben en insumo la aplicación, un script de carga y alguien con un cliente SQL. Solo el primero pasa por la regla; los otros dos llegan a la tabla con la X roja.</a:t>
            </a:r>
          </a:p>
          <a:p>
            <a:r>
              <a:t>  • Clic 1: Regla en el disparador: la barra del trigger está pegada a la tabla y los tres caminos pasan por ella.</a:t>
            </a:r>
          </a:p>
          <a:p>
            <a:r>
              <a:t>  • Clic 2: A favor: cobertura. En contra: lógica invisible (no aparece en el código de la aplicación, sorprende al que depura y puede dispararse en cascada). Criterio: disparadores para integridad y auditoría; el flujo de negocio, en procedimientos que se llaman a propósito.</a:t>
            </a:r>
          </a:p>
          <a:p/>
          <a:p>
            <a:r>
              <a:t>EJEMPLO: La auditoría de precios: si alguien cambia a mano el precio de una vacuna desde un cliente SQL, solo un disparador deja constancia de quién y cuándo.</a:t>
            </a:r>
          </a:p>
          <a:p/>
          <a:p>
            <a:r>
              <a:t>SI PREGUNTAN:</a:t>
            </a:r>
          </a:p>
          <a:p>
            <a:r>
              <a:t>  • «¿Un CHECK no hace lo mismo?» → Para una regla que mira una sola fila, sí, y es preferible (Clase 4). El disparador se justifica cuando mira otra fila u otra tabla, o escribe en otra tabla, como la auditoría.</a:t>
            </a:r>
          </a:p>
          <a:p/>
          <a:p>
            <a:r>
              <a:t>CUIDADO: Si el estudiante solo da el argumento a favor, pide el contra-argumento: es la mitad de la respuesta.</a:t>
            </a:r>
          </a:p>
          <a:p/>
          <a:p>
            <a:r>
              <a:t>PASA A LA SIGUIENTE: Además de defenderse, el proyecto tiene que poder correrlo otra persona.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Reproducible quiere decir que otra persona ejecuta tus archivos en una base vacía y obtiene lo mismo que tú, sin preguntarte nada. Es la prueba que el evaluador aplica literalmente.</a:t>
            </a:r>
          </a:p>
          <a:p/>
          <a:p>
            <a:r>
              <a:t>CÓMO DARLA (≈2 min):</a:t>
            </a:r>
          </a:p>
          <a:p>
            <a:r>
              <a:t>  • Al entrar: La carpeta con nueve archivos numerados: 00_LEEME, 01_ddl, 02_datos_prueba, 03_roles, 04_procedimientos, 05_funciones, 06_triggers, 07_optimizacion y 08_pruebas.</a:t>
            </a:r>
          </a:p>
          <a:p>
            <a:r>
              <a:t>  • Clic 1: Por qué el orden importa: una FOREIGN KEY no se crea antes que la tabla a la que apunta, y un trigger no se puede crear si su tabla todavía no existe.</a:t>
            </a:r>
          </a:p>
          <a:p>
            <a:r>
              <a:t>  • Clic 2: La definición, en la caja final. Repasa los cuatro detalles que la rompen: no declarar motor y versión, suponer un estado previo, no ser idempotente (los DROP … IF EXISTS van primero, en orden inverso) y un LEEME que no sirve.</a:t>
            </a:r>
          </a:p>
          <a:p/>
          <a:p>
            <a:r>
              <a:t>EJEMPLO: Un LEEME que sirve: «Motor: PostgreSQL 16.4 (lo dice SELECT version()). Ejecutar 01 a 08 en orden. Verificación: SELECT COUNT(*) FROM cita; devuelve 10. Límite: los datos de prueba no traen facturas anuladas.»</a:t>
            </a:r>
          </a:p>
          <a:p/>
          <a:p>
            <a:r>
              <a:t>SI PREGUNTAN:</a:t>
            </a:r>
          </a:p>
          <a:p>
            <a:r>
              <a:t>  • «¿Cuántos datos de prueba hacen falta?» → Con dos filas por tabla no se demuestra nada. Un mínimo razonable: 3 dueños, 5 mascotas, 2 veterinarios, 10 citas, 5 insumos y 3 facturas, incluidos los casos borde: una mascota inactiva y un insumo con stock 1.</a:t>
            </a:r>
          </a:p>
          <a:p>
            <a:r>
              <a:t>  • «¿Qué es idempotente?» → Que se puede correr dos veces seguidas sin fallar: por eso los DROP TABLE IF EXISTS van primero, en orden inverso al de creación.</a:t>
            </a:r>
          </a:p>
          <a:p/>
          <a:p>
            <a:r>
              <a:t>CUIDADO: Evalúalo ejecutando en una base limpia: un script que se ve bien puede fallar en la tercera sentencia por una FK que apunta a una tabla creada más abajo.</a:t>
            </a:r>
          </a:p>
          <a:p/>
          <a:p>
            <a:r>
              <a:t>PASA A LA SIGUIENTE: Con el paquete listo: ¿cómo caben las decisiones en 5 a 8 minutos?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Siete minutos no alcanzan para todo, así que el reparto es una decisión. Este es el que funciona; es una convención, no una regla dura.</a:t>
            </a:r>
          </a:p>
          <a:p/>
          <a:p>
            <a:r>
              <a:t>CÓMO DARLA (≈1 min):</a:t>
            </a:r>
          </a:p>
          <a:p>
            <a:r>
              <a:t>  • Al entrar: Lo que se cuenta: 45 s para el problema de la clínica en lenguaje de negocio, sin tablas en pantalla, y 90 s para el modelo: el ER y dos decisiones justificadas, no quince.</a:t>
            </a:r>
          </a:p>
          <a:p>
            <a:r>
              <a:t>  • Clic 1: Lo que se demuestra ejecutando: 60 s de seguridad (la matriz de roles y por qué recepción no ve el historial clínico), 90 s de automatización (un procedimiento con su caso válido y su caso inválido, en vivo) y 60 s de optimización (el plan antes y después).</a:t>
            </a:r>
          </a:p>
          <a:p>
            <a:r>
              <a:t>  • Clic 2: El cierre: 45 s de integración con su punto débil declarado y 30 s finales. En total, unos 7 minutos de un máximo de 8.</a:t>
            </a:r>
          </a:p>
          <a:p/>
          <a:p>
            <a:r>
              <a:t>EJEMPLO: Los 45 segundos del problema: «la clínica atiende unas 150 citas al día con agenda de papel; perder una cita o dar dos en la misma franja le cuesta clientes».</a:t>
            </a:r>
          </a:p>
          <a:p/>
          <a:p>
            <a:r>
              <a:t>SI PREGUNTAN:</a:t>
            </a:r>
          </a:p>
          <a:p>
            <a:r>
              <a:t>  • «¿Puedo mostrar capturas en vez de ejecutar?» → No para la automatización: el caso válido y el inválido se ejecutan en vivo. Una consulta corriendo delante del evaluador es la evidencia más difícil de fingir.</a:t>
            </a:r>
          </a:p>
          <a:p>
            <a:r>
              <a:t>  • «Si trabajamos en equipo, ¿cada uno presenta su parte?» → Cada integrante debe poder explicar cualquier parte en 60 segundos, porque el Q&amp;A se dirige al azar.</a:t>
            </a:r>
          </a:p>
          <a:p/>
          <a:p>
            <a:r>
              <a:t>CUIDADO: Cronometra cada turno: el que pasa de 8 minutos le quita tiempo al Q&amp;A, que es donde se verifica la autoría.</a:t>
            </a:r>
          </a:p>
          <a:p/>
          <a:p>
            <a:r>
              <a:t>PASA A LA SIGUIENTE: Después del pitch, las preguntas: las de modelado se repiten.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Q&amp;A de modelado tiene preguntas que se repiten, y todas son de porqué, no de qué. Tener las respuestas listas sirve para formularlas bien y para calificar igual a todos.</a:t>
            </a:r>
          </a:p>
          <a:p/>
          <a:p>
            <a:r>
              <a:t>CÓMO DARLA (≈2 min):</a:t>
            </a:r>
          </a:p>
          <a:p>
            <a:r>
              <a:t>  • Al entrar: Dos mascotas del mismo dueño con el mismo nombre: la tabla las acepta porque cada una tiene su id_mascota. No pasa nada.</a:t>
            </a:r>
          </a:p>
          <a:p>
            <a:r>
              <a:t>  • Clic 1: Si se quisiera prohibirlo: UNIQUE (id_dueno, nombre), y la segunda Pelusa se rechaza.</a:t>
            </a:r>
          </a:p>
          <a:p>
            <a:r>
              <a:t>  • Clic 2: Es una decisión que se defiende en cualquiera de los dos sentidos; lo que no vale es no haberla pensado. Repasa las otras: nombre y apellido separados (para ordenar y buscar por apellido) y citas canceladas (borrado lógico con un campo de estado).</a:t>
            </a:r>
          </a:p>
          <a:p/>
          <a:p>
            <a:r>
              <a:t>EJEMPLO: «¿Cuánto mejoró esa consulta?» Respuesta válida: «No lo medimos con volumen real porque la base de práctica se reinicia, pero el plan pasa de Seq Scan a Index Scan; la prueba sería cargar cincuenta mil citas y comparar los tiempos».</a:t>
            </a:r>
          </a:p>
          <a:p/>
          <a:p>
            <a:r>
              <a:t>SI PREGUNTAN:</a:t>
            </a:r>
          </a:p>
          <a:p>
            <a:r>
              <a:t>  • «¿Por qué nombre y apellido separados?» → Para ordenar y buscar por apellido; separar después un campo unido falla con los nombres compuestos.</a:t>
            </a:r>
          </a:p>
          <a:p>
            <a:r>
              <a:t>  • «¿Por qué no borrar las citas canceladas?» → Son información de negocio (quién cancela siempre) y una cita con consulta y factura no se puede borrar sin dejar filas huérfanas: la FK lo impide.</a:t>
            </a:r>
          </a:p>
          <a:p/>
          <a:p>
            <a:r>
              <a:t>CUIDADO: Anuncia la regla antes del primer turno: «no lo medimos» no penaliza si viene con cómo se mediría. Inventar un número se cae en la siguiente pregunta.</a:t>
            </a:r>
          </a:p>
          <a:p/>
          <a:p>
            <a:r>
              <a:t>PASA A LA SIGUIENTE: Ahora, cómo se ordena la sesión; el cierre del curso viene al final de los turnos.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cierre conecta el semestre con el trabajo: lo que se produjo es lo que hace un desarrollador de bases de datos o un administrador junior en su primer año. Se termina con una autoevaluación concreta, no con una reflexión vaga.</a:t>
            </a:r>
          </a:p>
          <a:p/>
          <a:p>
            <a:r>
              <a:t>CÓMO DARLA (≈5 min):</a:t>
            </a:r>
          </a:p>
          <a:p>
            <a:r>
              <a:t>  • Al entrar: Dala al final, después del último turno (minuto 110). Recorre la columna de la izquierda, los siete productos del semestre, y la flecha a «tareas del primer año». Subraya la caja azul: leer un plan y decidir si un índice sobra.</a:t>
            </a:r>
          </a:p>
          <a:p>
            <a:r>
              <a:t>  • Banda del medio: Las herramientas: PostgreSQL en el navegador, Excalidraw o draw.io y Mermaid se usaron por equidad, porque funcionan en cualquier navegador. El SQL es el mismo de un servidor PostgreSQL de producción.</a:t>
            </a:r>
          </a:p>
          <a:p>
            <a:r>
              <a:t>  • Banda amarilla: Lanza la autoevaluación y pide la respuesta escrita en el chat. Lee dos o tres en voz alta.</a:t>
            </a:r>
          </a:p>
          <a:p/>
          <a:p>
            <a:r>
              <a:t>EJEMPLO: Una respuesta útil: «separar nombre y apellido; lo noté en la Clase 6, cuando la búsqueda por apellido sobre un nombre completo no podía usar un índice».</a:t>
            </a:r>
          </a:p>
          <a:p/>
          <a:p>
            <a:r>
              <a:t>SI PREGUNTAN:</a:t>
            </a:r>
          </a:p>
          <a:p>
            <a:r>
              <a:t>  • «¿Vale la pena guardar los scripts?» → Sí: son portafolio. El paquete (ER, DDL, roles, procedimientos, triggers y optimización) se muestra en una entrevista técnica mejor que un certificado.</a:t>
            </a:r>
          </a:p>
          <a:p/>
          <a:p>
            <a:r>
              <a:t>CUIDADO: No cierres con «¿qué aprendieron?»: da respuestas genéricas. La consigna concreta da material real para ajustar el curso el próximo semestre.</a:t>
            </a:r>
          </a:p>
          <a:p/>
          <a:p>
            <a:r>
              <a:t>PASA A LA SIGUIENTE: La lámina de cierre.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Hoy no hay tema nuevo: es la sustentación en vivo del proyecto y el cierre del curso. Cada estudiante, o equipo, defiende sus decisiones en 5 a 8 minutos y responde preguntas al azar.</a:t>
            </a:r>
          </a:p>
          <a:p/>
          <a:p>
            <a:r>
              <a:t>CÓMO DARLA (≈2 min):</a:t>
            </a:r>
          </a:p>
          <a:p>
            <a:r>
              <a:t>  • Al entrar: Lee la lámina y anuncia lo práctico: el orden de los turnos se sortea en un momento, el paquete tenía que estar subido antes del turno y la sustentación no se reemplaza por un video.</a:t>
            </a:r>
          </a:p>
          <a:p>
            <a:r>
              <a:t>  • Antes del primer turno: Lee en voz alta el reparto de los 100 puntos del proyecto: 20 modelo y DDL, 15 seguridad y respaldo, 25 procedimientos, funciones y disparadores con pruebas, 15 optimización, 10 integración y 15 informe y sustentación. Vale el 20 % del Corte 3; el Parcial 3 vale 15 % y la asistencia 5 %. El proyecto no reemplaza al parcial.</a:t>
            </a:r>
          </a:p>
          <a:p/>
          <a:p>
            <a:r>
              <a:t>CUIDADO: Los 15 puntos de sustentación son la sexta parte, pero la sustentación es como se verifica que los otros 85 son de quien presenta. Dilo para evitar el reclamo de «solo vale 15».</a:t>
            </a:r>
          </a:p>
          <a:p/>
          <a:p>
            <a:r>
              <a:t>PASA A LA SIGUIENTE: Cómo se reparte el bloque de hoy.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bloque es casi todo turnos: encuadre y sorteo, sustentaciones con su Q&amp;A, y el cierre del curso al final.</a:t>
            </a:r>
          </a:p>
          <a:p/>
          <a:p>
            <a:r>
              <a:t>CÓMO DARLA (≈1 min):</a:t>
            </a:r>
          </a:p>
          <a:p>
            <a:r>
              <a:t>  • Al entrar: Señala los tres tramos. Las láminas de concepto que siguen son lo que se va a preguntar: recórrelas en unos 12 minutos, así que los turnos empiezan hacia el minuto 15 y no en el 10.</a:t>
            </a:r>
          </a:p>
          <a:p/>
          <a:p>
            <a:r>
              <a:t>PASA A LA SIGUIENTE: Lo primero que hay que tener claro: sustentar no es describir.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Las reglas de los turnos, dichas una vez para todos. Después de esta lámina empiezan las sustentaciones, que ocupan el resto del bloque hasta el minuto 110.</a:t>
            </a:r>
          </a:p>
          <a:p/>
          <a:p>
            <a:r>
              <a:t>CÓMO DARLA (≈3 min):</a:t>
            </a:r>
          </a:p>
          <a:p>
            <a:r>
              <a:t>  • Al entrar: Lee las cinco reglas y sortea el orden en voz alta; pega la lista en el chat de Meet para que cada quien sepa cuándo le toca.</a:t>
            </a:r>
          </a:p>
          <a:p>
            <a:r>
              <a:t>  • En cada turno: El estudiante comparte su pantalla. Cronometra 5 a 8 minutos de pitch con la ejecución real de un procedimiento (caso válido y caso rechazado) y haz dos o tres preguntas de porqué, al azar, a cualquier integrante.</a:t>
            </a:r>
          </a:p>
          <a:p>
            <a:r>
              <a:t>  • Entre turnos: Anota la calificación en 30 segundos, antes de llamar al siguiente: al final del bloque ya no se recuerda quién dijo qué.</a:t>
            </a:r>
          </a:p>
          <a:p>
            <a:r>
              <a:t>  • Si alguien se desconecta: Pasa al siguiente turno y vuelve a llamarlo al final de la lista. Si no logra reconectarse, deja constancia de la hora y acuerda por correo cómo se completa la sustentación.</a:t>
            </a:r>
          </a:p>
          <a:p/>
          <a:p>
            <a:r>
              <a:t>EJEMPLO: Con turnos de unos 11 minutos (7 de pitch y 3-4 de Q&amp;A) caben unos 8 en el bloque; si el grupo es más grande, reduce el Q&amp;A a dos preguntas y anúncialo al sortear.</a:t>
            </a:r>
          </a:p>
          <a:p/>
          <a:p>
            <a:r>
              <a:t>CUIDADO: Haz las preguntas a quien no está hablando: si siempre responde el mismo integrante, no se verifica que el trabajo sea de todos.</a:t>
            </a:r>
          </a:p>
          <a:p/>
          <a:p>
            <a:r>
              <a:t>PASA A LA SIGUIENTE: Al terminar el último turno, vuelve a «El cierre del curso».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del proyecto y del curso: sustentar es justificar decisiones, y el paquete que cada uno entregó es su portafolio.</a:t>
            </a:r>
          </a:p>
          <a:p/>
          <a:p>
            <a:r>
              <a:t>CÓMO DARLA (≈3 min):</a:t>
            </a:r>
          </a:p>
          <a:p>
            <a:r>
              <a:t>  • Al entrar: Agradece al grupo, explica por qué canal y cuándo se publicarán las notas del proyecto, y pide que conserven el paquete (ER, DDL, roles, procedimientos, triggers y optimización).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Presentacion proyecto · Cierre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proyecto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proyecto:</a:t>
            </a:r>
            <a:r>
              <a:rPr sz="2000" b="0" i="0">
                <a:solidFill>
                  <a:srgbClr val="333333"/>
                </a:solidFill>
                <a:latin typeface="Calibri"/>
              </a:rPr>
              <a:t> Sustentacion en vivo y entrega final del proyecto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a:p>
            <a:pPr>
              <a:spcAft>
                <a:spcPts val="800"/>
              </a:spcAft>
            </a:pPr>
            <a:r>
              <a:rPr sz="2000" b="0" i="0">
                <a:solidFill>
                  <a:srgbClr val="333333"/>
                </a:solidFill>
                <a:latin typeface="Calibri"/>
              </a:rPr>
              <a:t>–   Sustentar es justificar decisiones: por qué esta tabla, esta restricción, este índice.</a:t>
            </a:r>
          </a:p>
          <a:p>
            <a:pPr>
              <a:spcAft>
                <a:spcPts val="800"/>
              </a:spcAft>
            </a:pPr>
            <a:r>
              <a:rPr sz="2000" b="0" i="0">
                <a:solidFill>
                  <a:srgbClr val="333333"/>
                </a:solidFill>
                <a:latin typeface="Calibri"/>
              </a:rPr>
              <a:t>–   </a:t>
            </a:r>
            <a:r>
              <a:rPr sz="2000" b="1" i="0">
                <a:solidFill>
                  <a:srgbClr val="333333"/>
                </a:solidFill>
                <a:latin typeface="Calibri"/>
              </a:rPr>
              <a:t>Ejes de hoy:</a:t>
            </a:r>
            <a:r>
              <a:rPr sz="2000" b="0" i="0">
                <a:solidFill>
                  <a:srgbClr val="333333"/>
                </a:solidFill>
                <a:latin typeface="Calibri"/>
              </a:rPr>
              <a:t> Sustentar no es describir · Las cuatro preguntas de por que que se hacen casi siempre · La cuarta pregunta, la que mas se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cribir-sustent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cribir-sustent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cribir-sustent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Describir es decir </a:t>
            </a:r>
            <a:r>
              <a:rPr sz="2000" b="1" i="0">
                <a:solidFill>
                  <a:srgbClr val="333333"/>
                </a:solidFill>
                <a:latin typeface="Calibri"/>
              </a:rPr>
              <a:t>qué hay</a:t>
            </a:r>
            <a:r>
              <a:rPr sz="2000" b="0" i="0">
                <a:solidFill>
                  <a:srgbClr val="333333"/>
                </a:solidFill>
                <a:latin typeface="Calibri"/>
              </a:rPr>
              <a:t>: «tenemos dueño, mascota, cita, veterinario, insumo y factura».</a:t>
            </a:r>
          </a:p>
          <a:p>
            <a:pPr>
              <a:spcAft>
                <a:spcPts val="800"/>
              </a:spcAft>
            </a:pPr>
            <a:r>
              <a:rPr sz="2000" b="0" i="0">
                <a:solidFill>
                  <a:srgbClr val="333333"/>
                </a:solidFill>
                <a:latin typeface="Calibri"/>
              </a:rPr>
              <a:t>–   Sustentar es responder </a:t>
            </a:r>
            <a:r>
              <a:rPr sz="2000" b="1" i="0">
                <a:solidFill>
                  <a:srgbClr val="333333"/>
                </a:solidFill>
                <a:latin typeface="Calibri"/>
              </a:rPr>
              <a:t>por qué quedó así</a:t>
            </a:r>
            <a:r>
              <a:rPr sz="2000" b="0" i="0">
                <a:solidFill>
                  <a:srgbClr val="333333"/>
                </a:solidFill>
                <a:latin typeface="Calibri"/>
              </a:rPr>
              <a:t> y qué alternativa se descartó.</a:t>
            </a:r>
          </a:p>
          <a:p>
            <a:pPr>
              <a:spcAft>
                <a:spcPts val="800"/>
              </a:spcAft>
            </a:pPr>
            <a:r>
              <a:rPr sz="2000" b="0" i="0">
                <a:solidFill>
                  <a:srgbClr val="333333"/>
                </a:solidFill>
                <a:latin typeface="Calibri"/>
              </a:rPr>
              <a:t>–   En bases de datos importa más por el </a:t>
            </a:r>
            <a:r>
              <a:rPr sz="2000" b="1" i="0">
                <a:solidFill>
                  <a:srgbClr val="333333"/>
                </a:solidFill>
                <a:latin typeface="Calibri"/>
              </a:rPr>
              <a:t>costo de revertir</a:t>
            </a:r>
            <a:r>
              <a:rPr sz="2000" b="0" i="0">
                <a:solidFill>
                  <a:srgbClr val="333333"/>
                </a:solidFill>
                <a:latin typeface="Calibri"/>
              </a:rPr>
              <a:t>: cambiar un esquema con datos exige una migración.</a:t>
            </a:r>
          </a:p>
          <a:p>
            <a:pPr>
              <a:spcAft>
                <a:spcPts val="800"/>
              </a:spcAft>
            </a:pPr>
            <a:r>
              <a:rPr sz="2000" b="0" i="0">
                <a:solidFill>
                  <a:srgbClr val="333333"/>
                </a:solidFill>
                <a:latin typeface="Calibri"/>
              </a:rPr>
              <a:t>–   Por eso cada decisión del modelo tiene que poder </a:t>
            </a:r>
            <a:r>
              <a:rPr sz="2000" b="1" i="0">
                <a:solidFill>
                  <a:srgbClr val="333333"/>
                </a:solidFill>
                <a:latin typeface="Calibri"/>
              </a:rPr>
              <a:t>defenderse</a:t>
            </a:r>
            <a:r>
              <a:rPr sz="2000" b="0" i="0">
                <a:solidFill>
                  <a:srgbClr val="333333"/>
                </a:solidFill>
                <a:latin typeface="Calibri"/>
              </a:rPr>
              <a:t> con dos o tres preguntas.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por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por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porqu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porqu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Normalización:</a:t>
            </a:r>
            <a:r>
              <a:rPr sz="2000" b="0" i="0">
                <a:solidFill>
                  <a:srgbClr val="333333"/>
                </a:solidFill>
                <a:latin typeface="Calibri"/>
              </a:rPr>
              <a:t> tercera forma normal, y la desnormalización deliberada declarada con su razón.</a:t>
            </a:r>
          </a:p>
          <a:p>
            <a:pPr>
              <a:spcAft>
                <a:spcPts val="800"/>
              </a:spcAft>
            </a:pPr>
            <a:r>
              <a:rPr sz="2000" b="0" i="0">
                <a:solidFill>
                  <a:srgbClr val="333333"/>
                </a:solidFill>
                <a:latin typeface="Calibri"/>
              </a:rPr>
              <a:t>–   </a:t>
            </a:r>
            <a:r>
              <a:rPr sz="2000" b="1" i="0">
                <a:solidFill>
                  <a:srgbClr val="333333"/>
                </a:solidFill>
                <a:latin typeface="Calibri"/>
              </a:rPr>
              <a:t>Índice:</a:t>
            </a:r>
            <a:r>
              <a:rPr sz="2000" b="0" i="0">
                <a:solidFill>
                  <a:srgbClr val="333333"/>
                </a:solidFill>
                <a:latin typeface="Calibri"/>
              </a:rPr>
              <a:t> la consulta que lo aprovecha y la medición de antes y después.</a:t>
            </a:r>
          </a:p>
          <a:p>
            <a:pPr>
              <a:spcAft>
                <a:spcPts val="800"/>
              </a:spcAft>
            </a:pPr>
            <a:r>
              <a:rPr sz="2000" b="0" i="0">
                <a:solidFill>
                  <a:srgbClr val="333333"/>
                </a:solidFill>
                <a:latin typeface="Calibri"/>
              </a:rPr>
              <a:t>–   </a:t>
            </a:r>
            <a:r>
              <a:rPr sz="2000" b="1" i="0">
                <a:solidFill>
                  <a:srgbClr val="333333"/>
                </a:solidFill>
                <a:latin typeface="Calibri"/>
              </a:rPr>
              <a:t>Tipo de dato:</a:t>
            </a:r>
            <a:r>
              <a:rPr sz="2000" b="0" i="0">
                <a:solidFill>
                  <a:srgbClr val="333333"/>
                </a:solidFill>
                <a:latin typeface="Calibri"/>
              </a:rPr>
              <a:t> fecha en TIMESTAMP, teléfono en VARCHAR (no se suma y conserva el cero inicial).</a:t>
            </a:r>
          </a:p>
          <a:p>
            <a:pPr>
              <a:spcAft>
                <a:spcPts val="800"/>
              </a:spcAft>
            </a:pPr>
            <a:r>
              <a:rPr sz="2000" b="0" i="0">
                <a:solidFill>
                  <a:srgbClr val="333333"/>
                </a:solidFill>
                <a:latin typeface="Calibri"/>
              </a:rPr>
              <a:t>–   </a:t>
            </a:r>
            <a:r>
              <a:rPr sz="2000" b="1" i="0">
                <a:solidFill>
                  <a:srgbClr val="333333"/>
                </a:solidFill>
                <a:latin typeface="Calibri"/>
              </a:rPr>
              <a:t>Disparador:</a:t>
            </a:r>
            <a:r>
              <a:rPr sz="2000" b="0" i="0">
                <a:solidFill>
                  <a:srgbClr val="333333"/>
                </a:solidFill>
                <a:latin typeface="Calibri"/>
              </a:rPr>
              <a:t> por qué la regla vive ahí y no en la aplicación.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cobertur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cobertur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cobertur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disparador</a:t>
            </a:r>
            <a:r>
              <a:rPr sz="2000" b="0" i="0">
                <a:solidFill>
                  <a:srgbClr val="333333"/>
                </a:solidFill>
                <a:latin typeface="Calibri"/>
              </a:rPr>
              <a:t> (trigger) lo ejecuta el motor solo, cuando ocurre un evento sobre una tabla.</a:t>
            </a:r>
          </a:p>
          <a:p>
            <a:pPr>
              <a:spcAft>
                <a:spcPts val="800"/>
              </a:spcAft>
            </a:pPr>
            <a:r>
              <a:rPr sz="2000" b="0" i="0">
                <a:solidFill>
                  <a:srgbClr val="333333"/>
                </a:solidFill>
                <a:latin typeface="Calibri"/>
              </a:rPr>
              <a:t>–   Su argumento es la </a:t>
            </a:r>
            <a:r>
              <a:rPr sz="2000" b="1" i="0">
                <a:solidFill>
                  <a:srgbClr val="333333"/>
                </a:solidFill>
                <a:latin typeface="Calibri"/>
              </a:rPr>
              <a:t>cobertura</a:t>
            </a:r>
            <a:r>
              <a:rPr sz="2000" b="0" i="0">
                <a:solidFill>
                  <a:srgbClr val="333333"/>
                </a:solidFill>
                <a:latin typeface="Calibri"/>
              </a:rPr>
              <a:t>: se cumple escriba la aplicación, un script de carga o alguien a mano.</a:t>
            </a:r>
          </a:p>
          <a:p>
            <a:pPr>
              <a:spcAft>
                <a:spcPts val="800"/>
              </a:spcAft>
            </a:pPr>
            <a:r>
              <a:rPr sz="2000" b="0" i="0">
                <a:solidFill>
                  <a:srgbClr val="333333"/>
                </a:solidFill>
                <a:latin typeface="Calibri"/>
              </a:rPr>
              <a:t>–   Si la regla vive en la aplicación, el script y el cliente SQL la evaden sin esfuerzo.</a:t>
            </a:r>
          </a:p>
          <a:p>
            <a:pPr>
              <a:spcAft>
                <a:spcPts val="800"/>
              </a:spcAft>
            </a:pPr>
            <a:r>
              <a:rPr sz="2000" b="0" i="0">
                <a:solidFill>
                  <a:srgbClr val="333333"/>
                </a:solidFill>
                <a:latin typeface="Calibri"/>
              </a:rPr>
              <a:t>–   El contra-argumento: es </a:t>
            </a:r>
            <a:r>
              <a:rPr sz="2000" b="1" i="0">
                <a:solidFill>
                  <a:srgbClr val="333333"/>
                </a:solidFill>
                <a:latin typeface="Calibri"/>
              </a:rPr>
              <a:t>lógica invisible</a:t>
            </a:r>
            <a:r>
              <a:rPr sz="2000" b="0" i="0">
                <a:solidFill>
                  <a:srgbClr val="333333"/>
                </a:solidFill>
                <a:latin typeface="Calibri"/>
              </a:rPr>
              <a:t>, así que se reserva para integridad y auditoría.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peta-reproduci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peta-reproduci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peta-reproduci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 </a:t>
            </a:r>
            <a:r>
              <a:rPr sz="2000" b="1" i="0">
                <a:solidFill>
                  <a:srgbClr val="333333"/>
                </a:solidFill>
                <a:latin typeface="Calibri"/>
              </a:rPr>
              <a:t>reproducible</a:t>
            </a:r>
            <a:r>
              <a:rPr sz="2000" b="0" i="0">
                <a:solidFill>
                  <a:srgbClr val="333333"/>
                </a:solidFill>
                <a:latin typeface="Calibri"/>
              </a:rPr>
              <a:t> si un tercero, solo con el archivo y sin hablar con el autor, llega a la misma base.</a:t>
            </a:r>
          </a:p>
          <a:p>
            <a:pPr>
              <a:spcAft>
                <a:spcPts val="800"/>
              </a:spcAft>
            </a:pPr>
            <a:r>
              <a:rPr sz="2000" b="0" i="0">
                <a:solidFill>
                  <a:srgbClr val="333333"/>
                </a:solidFill>
                <a:latin typeface="Calibri"/>
              </a:rPr>
              <a:t>–   Los archivos van </a:t>
            </a:r>
            <a:r>
              <a:rPr sz="2000" b="1" i="0">
                <a:solidFill>
                  <a:srgbClr val="333333"/>
                </a:solidFill>
                <a:latin typeface="Calibri"/>
              </a:rPr>
              <a:t>numerados</a:t>
            </a:r>
            <a:r>
              <a:rPr sz="2000" b="0" i="0">
                <a:solidFill>
                  <a:srgbClr val="333333"/>
                </a:solidFill>
                <a:latin typeface="Calibri"/>
              </a:rPr>
              <a:t> en el orden de ejecución, del 00_LEEME.txt al 08_pruebas.sql.</a:t>
            </a:r>
          </a:p>
          <a:p>
            <a:pPr>
              <a:spcAft>
                <a:spcPts val="800"/>
              </a:spcAft>
            </a:pPr>
            <a:r>
              <a:rPr sz="2000" b="0" i="0">
                <a:solidFill>
                  <a:srgbClr val="333333"/>
                </a:solidFill>
                <a:latin typeface="Calibri"/>
              </a:rPr>
              <a:t>–   El orden es </a:t>
            </a:r>
            <a:r>
              <a:rPr sz="2000" b="1" i="0">
                <a:solidFill>
                  <a:srgbClr val="333333"/>
                </a:solidFill>
                <a:latin typeface="Calibri"/>
              </a:rPr>
              <a:t>dependencia</a:t>
            </a:r>
            <a:r>
              <a:rPr sz="2000" b="0" i="0">
                <a:solidFill>
                  <a:srgbClr val="333333"/>
                </a:solidFill>
                <a:latin typeface="Calibri"/>
              </a:rPr>
              <a:t>: la FK necesita su tabla y el trigger no se crea sin ella.</a:t>
            </a:r>
          </a:p>
          <a:p>
            <a:pPr>
              <a:spcAft>
                <a:spcPts val="800"/>
              </a:spcAft>
            </a:pPr>
            <a:r>
              <a:rPr sz="2000" b="0" i="0">
                <a:solidFill>
                  <a:srgbClr val="333333"/>
                </a:solidFill>
                <a:latin typeface="Calibri"/>
              </a:rPr>
              <a:t>–   El LEEME declara </a:t>
            </a:r>
            <a:r>
              <a:rPr sz="2000" b="1" i="0">
                <a:solidFill>
                  <a:srgbClr val="333333"/>
                </a:solidFill>
                <a:latin typeface="Calibri"/>
              </a:rPr>
              <a:t>motor y versión</a:t>
            </a:r>
            <a:r>
              <a:rPr sz="2000" b="0" i="0">
                <a:solidFill>
                  <a:srgbClr val="333333"/>
                </a:solidFill>
                <a:latin typeface="Calibri"/>
              </a:rPr>
              <a:t>, el orden, una consulta de verificación y los límites.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parto-minu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parto-minu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parto-minu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límite de </a:t>
            </a:r>
            <a:r>
              <a:rPr sz="2000" b="1" i="0">
                <a:solidFill>
                  <a:srgbClr val="333333"/>
                </a:solidFill>
                <a:latin typeface="Calibri"/>
              </a:rPr>
              <a:t>5 a 8 minutos</a:t>
            </a:r>
            <a:r>
              <a:rPr sz="2000" b="0" i="0">
                <a:solidFill>
                  <a:srgbClr val="333333"/>
                </a:solidFill>
                <a:latin typeface="Calibri"/>
              </a:rPr>
              <a:t> obliga a decidir qué se deja fuera.</a:t>
            </a:r>
          </a:p>
          <a:p>
            <a:pPr>
              <a:spcAft>
                <a:spcPts val="800"/>
              </a:spcAft>
            </a:pPr>
            <a:r>
              <a:rPr sz="2000" b="0" i="0">
                <a:solidFill>
                  <a:srgbClr val="333333"/>
                </a:solidFill>
                <a:latin typeface="Calibri"/>
              </a:rPr>
              <a:t>–   Primero se cuenta: el </a:t>
            </a:r>
            <a:r>
              <a:rPr sz="2000" b="1" i="0">
                <a:solidFill>
                  <a:srgbClr val="333333"/>
                </a:solidFill>
                <a:latin typeface="Calibri"/>
              </a:rPr>
              <a:t>problema</a:t>
            </a:r>
            <a:r>
              <a:rPr sz="2000" b="0" i="0">
                <a:solidFill>
                  <a:srgbClr val="333333"/>
                </a:solidFill>
                <a:latin typeface="Calibri"/>
              </a:rPr>
              <a:t> en lenguaje de negocio (45 s) y el </a:t>
            </a:r>
            <a:r>
              <a:rPr sz="2000" b="1" i="0">
                <a:solidFill>
                  <a:srgbClr val="333333"/>
                </a:solidFill>
                <a:latin typeface="Calibri"/>
              </a:rPr>
              <a:t>modelo</a:t>
            </a:r>
            <a:r>
              <a:rPr sz="2000" b="0" i="0">
                <a:solidFill>
                  <a:srgbClr val="333333"/>
                </a:solidFill>
                <a:latin typeface="Calibri"/>
              </a:rPr>
              <a:t> con dos decisiones (90 s).</a:t>
            </a:r>
          </a:p>
          <a:p>
            <a:pPr>
              <a:spcAft>
                <a:spcPts val="800"/>
              </a:spcAft>
            </a:pPr>
            <a:r>
              <a:rPr sz="2000" b="0" i="0">
                <a:solidFill>
                  <a:srgbClr val="333333"/>
                </a:solidFill>
                <a:latin typeface="Calibri"/>
              </a:rPr>
              <a:t>–   Luego se demuestra </a:t>
            </a:r>
            <a:r>
              <a:rPr sz="2000" b="1" i="0">
                <a:solidFill>
                  <a:srgbClr val="333333"/>
                </a:solidFill>
                <a:latin typeface="Calibri"/>
              </a:rPr>
              <a:t>ejecutando</a:t>
            </a:r>
            <a:r>
              <a:rPr sz="2000" b="0" i="0">
                <a:solidFill>
                  <a:srgbClr val="333333"/>
                </a:solidFill>
                <a:latin typeface="Calibri"/>
              </a:rPr>
              <a:t>: seguridad, automatización con caso válido e inválido, y optimización.</a:t>
            </a:r>
          </a:p>
          <a:p>
            <a:pPr>
              <a:spcAft>
                <a:spcPts val="800"/>
              </a:spcAft>
            </a:pPr>
            <a:r>
              <a:rPr sz="2000" b="0" i="0">
                <a:solidFill>
                  <a:srgbClr val="333333"/>
                </a:solidFill>
                <a:latin typeface="Calibri"/>
              </a:rPr>
              <a:t>–   Cierra la integración con su </a:t>
            </a:r>
            <a:r>
              <a:rPr sz="2000" b="1" i="0">
                <a:solidFill>
                  <a:srgbClr val="333333"/>
                </a:solidFill>
                <a:latin typeface="Calibri"/>
              </a:rPr>
              <a:t>punto débil</a:t>
            </a:r>
            <a:r>
              <a:rPr sz="2000" b="0" i="0">
                <a:solidFill>
                  <a:srgbClr val="333333"/>
                </a:solidFill>
                <a:latin typeface="Calibri"/>
              </a:rPr>
              <a:t> declarado y 30 s finales: unos 7 minutos.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elus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elus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pelus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buena respuesta tiene tres partes: la </a:t>
            </a:r>
            <a:r>
              <a:rPr sz="2000" b="1" i="0">
                <a:solidFill>
                  <a:srgbClr val="333333"/>
                </a:solidFill>
                <a:latin typeface="Calibri"/>
              </a:rPr>
              <a:t>decisión</a:t>
            </a:r>
            <a:r>
              <a:rPr sz="2000" b="0" i="0">
                <a:solidFill>
                  <a:srgbClr val="333333"/>
                </a:solidFill>
                <a:latin typeface="Calibri"/>
              </a:rPr>
              <a:t>, la alternativa descartada y la razón.</a:t>
            </a:r>
          </a:p>
          <a:p>
            <a:pPr>
              <a:spcAft>
                <a:spcPts val="800"/>
              </a:spcAft>
            </a:pPr>
            <a:r>
              <a:rPr sz="2000" b="0" i="0">
                <a:solidFill>
                  <a:srgbClr val="333333"/>
                </a:solidFill>
                <a:latin typeface="Calibri"/>
              </a:rPr>
              <a:t>–   ¿Dos mascotas llamadas Pelusa? Nada: la identidad la da </a:t>
            </a:r>
            <a:r>
              <a:rPr sz="2000" b="1" i="0">
                <a:solidFill>
                  <a:srgbClr val="333333"/>
                </a:solidFill>
                <a:latin typeface="Calibri"/>
              </a:rPr>
              <a:t>id_mascota</a:t>
            </a:r>
            <a:r>
              <a:rPr sz="2000" b="0" i="0">
                <a:solidFill>
                  <a:srgbClr val="333333"/>
                </a:solidFill>
                <a:latin typeface="Calibri"/>
              </a:rPr>
              <a:t>, no el nombre.</a:t>
            </a:r>
          </a:p>
          <a:p>
            <a:pPr>
              <a:spcAft>
                <a:spcPts val="800"/>
              </a:spcAft>
            </a:pPr>
            <a:r>
              <a:rPr sz="2000" b="0" i="0">
                <a:solidFill>
                  <a:srgbClr val="333333"/>
                </a:solidFill>
                <a:latin typeface="Calibri"/>
              </a:rPr>
              <a:t>–   ¿Por qué no borrar las citas canceladas? Son historia del negocio: se usa </a:t>
            </a:r>
            <a:r>
              <a:rPr sz="2000" b="1" i="0">
                <a:solidFill>
                  <a:srgbClr val="333333"/>
                </a:solidFill>
                <a:latin typeface="Calibri"/>
              </a:rPr>
              <a:t>borrado lógico</a:t>
            </a:r>
            <a:r>
              <a:rPr sz="2000" b="0" i="0">
                <a:solidFill>
                  <a:srgbClr val="333333"/>
                </a:solidFill>
                <a:latin typeface="Calibri"/>
              </a:rPr>
              <a:t>.</a:t>
            </a:r>
          </a:p>
          <a:p>
            <a:pPr>
              <a:spcAft>
                <a:spcPts val="800"/>
              </a:spcAft>
            </a:pPr>
            <a:r>
              <a:rPr sz="2000" b="0" i="0">
                <a:solidFill>
                  <a:srgbClr val="333333"/>
                </a:solidFill>
                <a:latin typeface="Calibri"/>
              </a:rPr>
              <a:t>–   «No lo medimos» vale si se dice </a:t>
            </a:r>
            <a:r>
              <a:rPr sz="2000" b="1" i="0">
                <a:solidFill>
                  <a:srgbClr val="333333"/>
                </a:solidFill>
                <a:latin typeface="Calibri"/>
              </a:rPr>
              <a:t>cómo se mediría</a:t>
            </a:r>
            <a:r>
              <a:rPr sz="2000" b="0" i="0">
                <a:solidFill>
                  <a:srgbClr val="333333"/>
                </a:solidFill>
                <a:latin typeface="Calibri"/>
              </a:rPr>
              <a:t>; inventar un número, no.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ierre-curs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que hiciste (ER, DDL, roles, procedimientos, triggers, planes) es el </a:t>
            </a:r>
            <a:r>
              <a:rPr sz="2000" b="1" i="0">
                <a:solidFill>
                  <a:srgbClr val="333333"/>
                </a:solidFill>
                <a:latin typeface="Calibri"/>
              </a:rPr>
              <a:t>trabajo de un primer empleo</a:t>
            </a:r>
            <a:r>
              <a:rPr sz="2000" b="0" i="0">
                <a:solidFill>
                  <a:srgbClr val="333333"/>
                </a:solidFill>
                <a:latin typeface="Calibri"/>
              </a:rPr>
              <a:t>.</a:t>
            </a:r>
          </a:p>
          <a:p>
            <a:pPr>
              <a:spcAft>
                <a:spcPts val="800"/>
              </a:spcAft>
            </a:pPr>
            <a:r>
              <a:rPr sz="2000" b="0" i="0">
                <a:solidFill>
                  <a:srgbClr val="333333"/>
                </a:solidFill>
                <a:latin typeface="Calibri"/>
              </a:rPr>
              <a:t>–   Leer un plan de ejecución y decidir si un índice sobra es una </a:t>
            </a:r>
            <a:r>
              <a:rPr sz="2000" b="1" i="0">
                <a:solidFill>
                  <a:srgbClr val="333333"/>
                </a:solidFill>
                <a:latin typeface="Calibri"/>
              </a:rPr>
              <a:t>habilidad que se paga</a:t>
            </a:r>
            <a:r>
              <a:rPr sz="2000" b="0" i="0">
                <a:solidFill>
                  <a:srgbClr val="333333"/>
                </a:solidFill>
                <a:latin typeface="Calibri"/>
              </a:rPr>
              <a:t>.</a:t>
            </a:r>
          </a:p>
          <a:p>
            <a:pPr>
              <a:spcAft>
                <a:spcPts val="800"/>
              </a:spcAft>
            </a:pPr>
            <a:r>
              <a:rPr sz="2000" b="0" i="0">
                <a:solidFill>
                  <a:srgbClr val="333333"/>
                </a:solidFill>
                <a:latin typeface="Calibri"/>
              </a:rPr>
              <a:t>–   En producción cambian el </a:t>
            </a:r>
            <a:r>
              <a:rPr sz="2000" b="1" i="0">
                <a:solidFill>
                  <a:srgbClr val="333333"/>
                </a:solidFill>
                <a:latin typeface="Calibri"/>
              </a:rPr>
              <a:t>volumen</a:t>
            </a:r>
            <a:r>
              <a:rPr sz="2000" b="0" i="0">
                <a:solidFill>
                  <a:srgbClr val="333333"/>
                </a:solidFill>
                <a:latin typeface="Calibri"/>
              </a:rPr>
              <a:t> y el costo de un error; la sintaxis es la misma.</a:t>
            </a:r>
          </a:p>
          <a:p>
            <a:pPr>
              <a:spcAft>
                <a:spcPts val="800"/>
              </a:spcAft>
            </a:pPr>
            <a:r>
              <a:rPr sz="2000" b="0" i="0">
                <a:solidFill>
                  <a:srgbClr val="333333"/>
                </a:solidFill>
                <a:latin typeface="Calibri"/>
              </a:rPr>
              <a:t>–   Autoevaluación: ¿qué decisión de modelado te costó más revertir, y </a:t>
            </a:r>
            <a:r>
              <a:rPr sz="2000" b="1" i="0">
                <a:solidFill>
                  <a:srgbClr val="333333"/>
                </a:solidFill>
                <a:latin typeface="Calibri"/>
              </a:rPr>
              <a:t>en qué clase</a:t>
            </a:r>
            <a:r>
              <a:rPr sz="2000" b="0" i="0">
                <a:solidFill>
                  <a:srgbClr val="333333"/>
                </a:solidFill>
                <a:latin typeface="Calibri"/>
              </a:rPr>
              <a:t> lo notaste?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a:p>
            <a:pPr>
              <a:spcAft>
                <a:spcPts val="800"/>
              </a:spcAft>
            </a:pPr>
            <a:r>
              <a:rPr sz="2000" b="0" i="0">
                <a:solidFill>
                  <a:srgbClr val="333333"/>
                </a:solidFill>
                <a:latin typeface="Calibri"/>
              </a:rPr>
              <a:t>–   Cada decisión se defiende con su porqué: la restricción, el rol, el índice o el procedimiento que la sostiene.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la base de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proyecto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