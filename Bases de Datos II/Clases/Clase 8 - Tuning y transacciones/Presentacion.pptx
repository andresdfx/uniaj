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Una transacción es un grupo de sentencias que el motor trata como una sola: se aplican todas o ninguna. Facturar una consulta son varias sentencias (la cabecera, las líneas y los descuentos de stock), pero es un solo hecho de negocio, y por eso va en una sola transacción.</a:t>
            </a:r>
          </a:p>
          <a:p/>
          <a:p>
            <a:r>
              <a:t>CÓMO DARLA (≈4 min):</a:t>
            </a:r>
          </a:p>
          <a:p>
            <a:r>
              <a:t>  • Al entrar: El bloque: BEGIN, el INSERT de la factura, el de su detalle, el UPDATE del stock y COMMIT o ROLLBACK. Lee la etiqueta: un solo hecho de negocio.</a:t>
            </a:r>
          </a:p>
          <a:p>
            <a:r>
              <a:t>  • Clic 1: Amenaza 1, la falla: si algo se cae a mitad, la transacción no puede quedar aplicada a medias.</a:t>
            </a:r>
          </a:p>
          <a:p>
            <a:r>
              <a:t>  • Clic 2: Amenaza 2, las otras sesiones: mientras la transacción trabaja, nadie más debe ver el estado intermedio, por ejemplo una factura sin líneas.</a:t>
            </a:r>
          </a:p>
          <a:p>
            <a:r>
              <a:t>  • Clic 3: Dónde empieza y termina: en PostgreSQL, sin BEGIN cada sentencia es su propia transacción y se confirma sola; en Oracle la transacción empieza sola con la primera sentencia que modifica datos y dura hasta el COMMIT o el ROLLBACK.</a:t>
            </a:r>
          </a:p>
          <a:p/>
          <a:p>
            <a:r>
              <a:t>EJEMPLO: Facturar la consulta 4 con tres insumos son cinco sentencias: la cabecera, tres líneas con su descuento de stock y la actualización del total. Si una falla, no debe quedar ninguna.</a:t>
            </a:r>
          </a:p>
          <a:p/>
          <a:p>
            <a:r>
              <a:t>SI PREGUNTAN:</a:t>
            </a:r>
          </a:p>
          <a:p>
            <a:r>
              <a:t>  • «Si PostgreSQL confirma solo, ¿para qué sirve COMMIT?» → Para agrupar varias sentencias en un único hecho: con BEGIN … COMMIT, todas se confirman juntas o ninguna.</a:t>
            </a:r>
          </a:p>
          <a:p/>
          <a:p>
            <a:r>
              <a:t>CUIDADO: No enseñes la regla de Oracle («la transacción empieza sola») como si fuera la de PostgreSQL: aquí, sin BEGIN, cada sentencia ya quedó confirmada.</a:t>
            </a:r>
          </a:p>
          <a:p/>
          <a:p>
            <a:r>
              <a:t>PASA A LA SIGUIENTE: Las cuatro propiedades de una transacción, empezando por la atomicidad.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Atómico quiere decir indivisible. Si la facturación tiene cuatro pasos y el tercero falla, la base no debe guardar los dos primeros: o están los cuatro o no está ninguno.</a:t>
            </a:r>
          </a:p>
          <a:p/>
          <a:p>
            <a:r>
              <a:t>CÓMO DARLA (≈3 min):</a:t>
            </a:r>
          </a:p>
          <a:p>
            <a:r>
              <a:t>  • Al entrar: La línea de tiempo: INSERT de la factura, INSERT de la línea 1, UPDATE del stock del insumo 1… y se cae la red antes de la línea 2.</a:t>
            </a:r>
          </a:p>
          <a:p>
            <a:r>
              <a:t>  • Clic 1: Sin atomicidad: la factura queda, la línea 1 queda, el stock quedó descontado y la línea 2 nunca llegó. Nadie recibe un error; el descuadre aparece semanas después en el inventario.</a:t>
            </a:r>
          </a:p>
          <a:p>
            <a:r>
              <a:t>  • Clic 2: Con atomicidad: la sesión murió sin COMMIT, así que el motor deshace todo. Cero facturas, cero líneas, stock intacto. La recepcionista repite la operación. Lee la conclusión.</a:t>
            </a:r>
          </a:p>
          <a:p/>
          <a:p>
            <a:r>
              <a:t>EJEMPLO: Una factura que cobra dos productos con una sola línea registrada y un insumo descontado que nadie entregó: eso es lo que evita la atomicidad.</a:t>
            </a:r>
          </a:p>
          <a:p/>
          <a:p>
            <a:r>
              <a:t>SI PREGUNTAN:</a:t>
            </a:r>
          </a:p>
          <a:p>
            <a:r>
              <a:t>  • «¿Qué pasa si me desconecto sin COMMIT?» → Si la sesión muere de forma anormal, el motor deshace la transacción. Algunos clientes confirman al cerrar de forma ordenada, así que nunca hay que depender de eso.</a:t>
            </a:r>
          </a:p>
          <a:p/>
          <a:p>
            <a:r>
              <a:t>CUIDADO: Atomicidad no garantiza que los datos sean válidos; solo que no queden a medias. Eso es la lámina siguiente.</a:t>
            </a:r>
          </a:p>
          <a:p/>
          <a:p>
            <a:r>
              <a:t>PASA A LA SIGUIENTE: Completa no quiere decir correcta: eso es la consistencia.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Consistencia quiere decir que después de la transacción la base sigue cumpliendo sus reglas. Pero el motor solo conoce las reglas que alguien declaró: si nadie escribió el CHECK, una transacción perfectamente atómica puede guardar un absurdo.</a:t>
            </a:r>
          </a:p>
          <a:p/>
          <a:p>
            <a:r>
              <a:t>CÓMO DARLA (≈3 min):</a:t>
            </a:r>
          </a:p>
          <a:p>
            <a:r>
              <a:t>  • Al entrar: Sin restricción: UPDATE insumo SET stock = stock - 10 WHERE id_insumo = 2 sobre un stock de 3. El contador baja a −7 y el COMMIT pasa sin quejarse: atómico, pero inválido.</a:t>
            </a:r>
          </a:p>
          <a:p>
            <a:r>
              <a:t>  • Clic 1: Con CHECK (stock &gt;= 0) en la tabla: el mismo UPDATE se rechaza y el stock sigue en 3.</a:t>
            </a:r>
          </a:p>
          <a:p>
            <a:r>
              <a:t>  • Clic 2: Lee la idea: la atomicidad NO produce consistencia. La regla se declara una vez y vale para quien escriba SQL después.</a:t>
            </a:r>
          </a:p>
          <a:p/>
          <a:p>
            <a:r>
              <a:t>EJEMPLO: Con el CHECK declarado, el motor responde: «new row for relation "insumo" violates check constraint "insumo_stock_check"» y en el detalle muestra la fila que habría quedado, con stock −7.</a:t>
            </a:r>
          </a:p>
          <a:p/>
          <a:p>
            <a:r>
              <a:t>SI PREGUNTAN:</a:t>
            </a:r>
          </a:p>
          <a:p>
            <a:r>
              <a:t>  • «Si el procedimiento ya revisa el stock, ¿para qué el CHECK?» → Porque el CHECK vale también para el UPDATE manual o para otro programa que no use el procedimiento. El guardia del procedimiento evita llegar al error; el CHECK es la red de seguridad.</a:t>
            </a:r>
          </a:p>
          <a:p>
            <a:r>
              <a:t>  • «¿Y después del error puedo seguir en la misma transacción?» → En PostgreSQL no: toda sentencia siguiente responde «current transaction is aborted, commands ignored until end of transaction block» hasta el ROLLBACK. Oracle, en cambio, solo aborta la sentencia que falló.</a:t>
            </a:r>
          </a:p>
          <a:p/>
          <a:p>
            <a:r>
              <a:t>CUIDADO: El malentendido más caro del tema es creer que la transacción garantiza las reglas de negocio. Solo garantiza las que están declaradas.</a:t>
            </a:r>
          </a:p>
          <a:p/>
          <a:p>
            <a:r>
              <a:t>PASA A LA SIGUIENTE: La tercera letra: qué pasa cuando dos transacciones se cruzan.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Aislamiento quiere decir que, aunque dos transacciones trabajen a la vez, el resultado debe ser el mismo que si hubieran ido una detrás de la otra. El fallo más fácil de contar es la actualización perdida.</a:t>
            </a:r>
          </a:p>
          <a:p/>
          <a:p>
            <a:r>
              <a:t>CÓMO DARLA (≈3 min):</a:t>
            </a:r>
          </a:p>
          <a:p>
            <a:r>
              <a:t>  • Al entrar: Quedan 3 vacunas. Recepción 1 y recepción 2 facturan 3 cada una, al mismo tiempo, y las dos leen stock = 3.</a:t>
            </a:r>
          </a:p>
          <a:p>
            <a:r>
              <a:t>  • Clic 1: Las dos calculan 3 − 3 = 0 y las dos escriben 0. Cada una confirmó una venta válida según lo que leyó.</a:t>
            </a:r>
          </a:p>
          <a:p>
            <a:r>
              <a:t>  • Clic 2: El resultado: stock 0 con seis vacunas vendidas y tres entregadas de aire. Lee la definición de aislamiento.</a:t>
            </a:r>
          </a:p>
          <a:p/>
          <a:p>
            <a:r>
              <a:t>EJEMPLO: La defensa de diseño: UPDATE insumo SET stock = stock - 3 WHERE id_insumo = 2 AND stock &gt;= 3. La resta y la comprobación ocurren en una sola sentencia, que bloquea la fila mientras se ejecuta: la segunda recepción encuentra 0 y no descuenta.</a:t>
            </a:r>
          </a:p>
          <a:p/>
          <a:p>
            <a:r>
              <a:t>SI PREGUNTAN:</a:t>
            </a:r>
          </a:p>
          <a:p>
            <a:r>
              <a:t>  • «¿Cuáles son los niveles de aislamiento?» → El estándar define cuatro: READ UNCOMMITTED, READ COMMITTED, REPEATABLE READ y SERIALIZABLE. PostgreSQL acepta los cuatro nombres, pero READ UNCOMMITTED se comporta como READ COMMITTED, que es el valor por omisión.</a:t>
            </a:r>
          </a:p>
          <a:p>
            <a:r>
              <a:t>  • «¿Lo podemos ver hoy en el navegador?» → No: ahí corre una sola sesión. Se documenta como una línea de tiempo de dos transacciones y se estudia en la Clase 10.</a:t>
            </a:r>
          </a:p>
          <a:p/>
          <a:p>
            <a:r>
              <a:t>CUIDADO: Hoy solo se nombran los niveles; los fenómenos (lectura sucia, no repetible, fantasma, interbloqueo) son la Clase 10.</a:t>
            </a:r>
          </a:p>
          <a:p/>
          <a:p>
            <a:r>
              <a:t>PASA A LA SIGUIENTE: La última letra: qué asegura que lo confirmado no se pierda.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Durable quiere decir que, una vez que el motor dijo «confirmado», el dato no se pierde aunque se caiga el servidor. Lo logra con un registro de transacciones (WAL en PostgreSQL, redo log en Oracle) donde anota cada cambio antes de tocar las páginas de datos.</a:t>
            </a:r>
          </a:p>
          <a:p/>
          <a:p>
            <a:r>
              <a:t>CÓMO DARLA (≈2 min):</a:t>
            </a:r>
          </a:p>
          <a:p>
            <a:r>
              <a:t>  • Al entrar: El cambio va primero al WAL, un archivo que solo se escribe al final, de corrido. El COMMIT termina cuando su registro (el verde) quedó grabado.</a:t>
            </a:r>
          </a:p>
          <a:p>
            <a:r>
              <a:t>  • Clic 1: Las páginas de datos se escriben después, sin prisa: el COMMIT no las esperó.</a:t>
            </a:r>
          </a:p>
          <a:p>
            <a:r>
              <a:t>  • Clic 2: Se cae el servidor. Al volver, el motor relee el WAL: aplica lo confirmado y descarta lo que quedó sin confirmar.</a:t>
            </a:r>
          </a:p>
          <a:p>
            <a:r>
              <a:t>  • Clic 3: La consecuencia práctica: confirmar fila por fila en una carga de 100.000 filas puede ser de 5 a 20 veces más lento que agrupar. Es orden de magnitud: se mide en cada motor.</a:t>
            </a:r>
          </a:p>
          <a:p/>
          <a:p>
            <a:r>
              <a:t>EJEMPLO: El ROLLBACK tampoco es magia: PostgreSQL conserva la versión anterior de cada fila modificada y, al deshacer, se queda con ella.</a:t>
            </a:r>
          </a:p>
          <a:p/>
          <a:p>
            <a:r>
              <a:t>SI PREGUNTAN:</a:t>
            </a:r>
          </a:p>
          <a:p>
            <a:r>
              <a:t>  • «¿Puedo hacer ROLLBACK después de un COMMIT?» → No. Confirmar es definitivo; lo único que queda es restaurar desde un respaldo (Clase 4).</a:t>
            </a:r>
          </a:p>
          <a:p/>
          <a:p>
            <a:r>
              <a:t>CUIDADO: En el navegador no se puede demostrar la durabilidad: nadie puede apagar el servidor. Se explica, no se mide.</a:t>
            </a:r>
          </a:p>
          <a:p/>
          <a:p>
            <a:r>
              <a:t>PASA A LA SIGUIENTE: Con ACID claro, el procedimiento que factura: su firma.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Una factura tiene varias líneas, así que el procedimiento no recibe un insumo suelto: recibe dos arreglos emparejados por posición. El insumo de la posición 1 va con la cantidad de la posición 1, y así sucesivamente.</a:t>
            </a:r>
          </a:p>
          <a:p/>
          <a:p>
            <a:r>
              <a:t>CÓMO DARLA (≈3 min):</a:t>
            </a:r>
          </a:p>
          <a:p>
            <a:r>
              <a:t>  • Al entrar: CALL sp_facturar(4, ARRAY[1, 6, 5], ARRAY[1, 2, 3]): consulta 4, una unidad del insumo 1, dos del 6 y tres del 5. Las líneas punteadas emparejan cada posición.</a:t>
            </a:r>
          </a:p>
          <a:p>
            <a:r>
              <a:t>  • Clic 1: Lo primero del cuerpo: si los arreglos no miden lo mismo, RAISE EXCEPTION antes de tocar la base. Se usa IS DISTINCT FROM porque con un arreglo vacío array_length devuelve NULL, y con NULL el signo de distinto no da ni verdadero ni falso.</a:t>
            </a:r>
          </a:p>
          <a:p>
            <a:r>
              <a:t>  • Clic 2: La cabecera entra con total 0, porque todavía no se sabe, y RETURNING id_factura INTO v_id_factura evita otro SELECT. El total sale del bucle: 27.400.</a:t>
            </a:r>
          </a:p>
          <a:p/>
          <a:p>
            <a:r>
              <a:t>EJEMPLO: CALL sp_facturar(4, ARRAY[1, 2], ARRAY[1]); se rechaza con «ERROR: insumos y cantidades deben tener la misma longitud» y no deja nada escrito.</a:t>
            </a:r>
          </a:p>
          <a:p/>
          <a:p>
            <a:r>
              <a:t>SI PREGUNTAN:</a:t>
            </a:r>
          </a:p>
          <a:p>
            <a:r>
              <a:t>  • «¿Por qué INT y no NUMBER?» → NUMBER es de Oracle y en PostgreSQL no existe: se usa INT para los ids y NUMERIC para el dinero.</a:t>
            </a:r>
          </a:p>
          <a:p>
            <a:r>
              <a:t>  • «¿Por qué $proc$ y no $$?» → Cualquier etiqueta entre signos de dólar sirve; una con nombre evita choques si adentro hay otro bloque entre $$.</a:t>
            </a:r>
          </a:p>
          <a:p/>
          <a:p>
            <a:r>
              <a:t>CUIDADO: Si se proyecta una firma con un solo insumo, la llamada con dos arreglos no compila contra ella.</a:t>
            </a:r>
          </a:p>
          <a:p/>
          <a:p>
            <a:r>
              <a:t>PASA A LA SIGUIENTE: El procedimiento en código.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El descuento de stock no se hace en dos pasos (leer y luego escribir) sino en uno: el UPDATE solo toca la fila si alcanza. Después, ROW_COUNT dice si la tocó. Ese cero no es un error del motor: es la señal de que no había stock, y el procedimiento la convierte en excepción.</a:t>
            </a:r>
          </a:p>
          <a:p/>
          <a:p>
            <a:r>
              <a:t>CÓMO DARLA (≈3 min):</a:t>
            </a:r>
          </a:p>
          <a:p>
            <a:r>
              <a:t>  • Al entrar: Las cuatro sentencias dentro del bucle, numeradas, con la condición del WHERE resaltada: comprobar y escribir en una sola sentencia.</a:t>
            </a:r>
          </a:p>
          <a:p>
            <a:r>
              <a:t>  • Clic 1: Caso que alcanza: insumo 3, hay 40 y se piden 2. ROW_COUNT = 1, el stock pasa a 38 y el bucle sigue.</a:t>
            </a:r>
          </a:p>
          <a:p>
            <a:r>
              <a:t>  • Clic 2: Caso que no alcanza: insumo 2, hay 3 y se piden 10. ROW_COUNT = 0, el stock queda intacto y se lanza la excepción. Lee la nota: el precio se lee de la tabla.</a:t>
            </a:r>
          </a:p>
          <a:p/>
          <a:p>
            <a:r>
              <a:t>EJEMPLO: El mensaje real: «ERROR: stock insuficiente del insumo 2 (se pidieron 10)». Cada % del RAISE se reemplaza por los argumentos, en orden.</a:t>
            </a:r>
          </a:p>
          <a:p/>
          <a:p>
            <a:r>
              <a:t>SI PREGUNTAN:</a:t>
            </a:r>
          </a:p>
          <a:p>
            <a:r>
              <a:t>  • «¿Por qué no SQL%ROWCOUNT?» → Es de Oracle. En PL/pgSQL se pregunta con GET DIAGNOSTICS v_filas = ROW_COUNT, y esa diferencia decide si el código compila.</a:t>
            </a:r>
          </a:p>
          <a:p/>
          <a:p>
            <a:r>
              <a:t>CUIDADO: Si alguien escribe stock &gt; cantidad en vez de &gt;=, pedir exactamente lo que queda falla: el caso límite lo delata.</a:t>
            </a:r>
          </a:p>
          <a:p/>
          <a:p>
            <a:r>
              <a:t>PASA A LA SIGUIENTE: Ese cero filas no es un error para el motor: hay dos clases de error.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Hay dos clases de fallo a mitad de transacción. El motor detecta solo lo que viola sus reglas declaradas y aborta por su cuenta. Lo que solo es una regla de negocio, como «no hay stock suficiente», el motor no lo ve: hay que convertirlo en excepción.</a:t>
            </a:r>
          </a:p>
          <a:p/>
          <a:p>
            <a:r>
              <a:t>CÓMO DARLA (≈3 min):</a:t>
            </a:r>
          </a:p>
          <a:p>
            <a:r>
              <a:t>  • Al entrar: Error del motor: CHECK, clave foránea, tipo incompatible, interbloqueo. El motor lanza y aborta solo.</a:t>
            </a:r>
          </a:p>
          <a:p>
            <a:r>
              <a:t>  • Clic 1: Error de negocio: stock insuficiente, mascota inactiva, un total que no cuadra. Un UPDATE que no toca filas es una sentencia exitosa: el RAISE EXCEPTION lo pones tú.</a:t>
            </a:r>
          </a:p>
          <a:p>
            <a:r>
              <a:t>  • Clic 2: Nada de capturar y silenciar: EXCEPTION WHEN OTHERS THEN NULL convierte el fallo en silencio. Si se captura, se relanza con RAISE a secas.</a:t>
            </a:r>
          </a:p>
          <a:p/>
          <a:p>
            <a:r>
              <a:t>EJEMPLO: Un UPDATE insumo SET stock = stock - 10 WHERE id_insumo = 2 AND stock &gt;= 10 devuelve «0 filas afectadas», sin error. Solo el procedimiento sabe que eso significa «no hay stock».</a:t>
            </a:r>
          </a:p>
          <a:p/>
          <a:p>
            <a:r>
              <a:t>SI PREGUNTAN:</a:t>
            </a:r>
          </a:p>
          <a:p>
            <a:r>
              <a:t>  • «¿Y si quiero cobrar las demás líneas aunque una falle?» → Existe el SAVEPOINT: deshacer solo esa línea y seguir. Hoy la regla es todo o nada, pero conviene saber que la opción existe.</a:t>
            </a:r>
          </a:p>
          <a:p/>
          <a:p>
            <a:r>
              <a:t>CUIDADO: El mensaje debe nombrar el insumo concreto: quien lea el error tiene que poder decir qué línea falló.</a:t>
            </a:r>
          </a:p>
          <a:p/>
          <a:p>
            <a:r>
              <a:t>PASA A LA SIGUIENTE: Cuando la excepción sale del procedimiento, ¿qué se deshace y quién lo hace?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Un CALL escrito por fuera de cualquier BEGIN es una transacción completa. Si dentro del procedimiento salta una excepción y nadie la atrapa, sale del CALL y el motor deshace todo lo que ese CALL había hecho: cabecera, líneas y descuentos.</a:t>
            </a:r>
          </a:p>
          <a:p/>
          <a:p>
            <a:r>
              <a:t>CÓMO DARLA (≈3 min):</a:t>
            </a:r>
          </a:p>
          <a:p>
            <a:r>
              <a:t>  • Al entrar: CALL sp_facturar(4, ARRAY[3, 2], ARRAY[2, 10]) dentro de su recuadro: una sola transacción. Se inserta la cabecera y el insumo 3 baja de 40 a 38: alcanzaba.</a:t>
            </a:r>
          </a:p>
          <a:p>
            <a:r>
              <a:t>  • Clic 1: El insumo 2 tiene 3 y se piden 10: RAISE EXCEPTION, y la excepción sale del CALL.</a:t>
            </a:r>
          </a:p>
          <a:p>
            <a:r>
              <a:t>  • Clic 2: El motor deshace todo: no queda factura y el insumo 3 vuelve a 40 solo. Lee la conclusión: confirma el llamador.</a:t>
            </a:r>
          </a:p>
          <a:p/>
          <a:p>
            <a:r>
              <a:t>EJEMPLO: Fotos reales: antes del CALL, 1 factura, 3 líneas, stock_3 = 40 y stock_2 = 3; después, exactamente lo mismo. La siguiente factura que sí se crea sale con id_factura 3, no 2: el intento fallido consumió el 2 de la secuencia, y las secuencias no se deshacen.</a:t>
            </a:r>
          </a:p>
          <a:p/>
          <a:p>
            <a:r>
              <a:t>SI PREGUNTAN:</a:t>
            </a:r>
          </a:p>
          <a:p>
            <a:r>
              <a:t>  • «¿Por qué el id saltó del 1 al 3?» → Porque nextval de una secuencia no se deshace con el ROLLBACK, para que dos sesiones nunca reciban el mismo número. Los huecos son normales.</a:t>
            </a:r>
          </a:p>
          <a:p/>
          <a:p>
            <a:r>
              <a:t>CUIDADO: No digas que la reversión «no se puede demostrar en el navegador»: se demuestra con una foto antes y una después del CALL que falla.</a:t>
            </a:r>
          </a:p>
          <a:p/>
          <a:p>
            <a:r>
              <a:t>PASA A LA SIGUIENTE: Y cuando sí se quiere agrupar a mano: la transacción explícita.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En PL/pgSQL, un bloque que tiene sección EXCEPTION marca un punto de retorno al entrar. Si algo falla adentro, el motor vuelve a ese punto (deshace lo del bloque) y ejecuta el manejador. Lo que se escribió antes del bloque no se toca.</a:t>
            </a:r>
          </a:p>
          <a:p/>
          <a:p>
            <a:r>
              <a:t>CÓMO DARLA (≈3 min):</a:t>
            </a:r>
          </a:p>
          <a:p>
            <a:r>
              <a:t>  • Al entrar: La transacción: la escritura A, y luego el bloque BEGIN … EXCEPTION con su bandera (el savepoint implícito) y la escritura B adentro.</a:t>
            </a:r>
          </a:p>
          <a:p>
            <a:r>
              <a:t>  • Clic 1: Algo falla dentro del bloque: se vuelve al savepoint, B se deshace y corre el manejador. A se conserva.</a:t>
            </a:r>
          </a:p>
          <a:p>
            <a:r>
              <a:t>  • Clic 2: La lección: capturar no es lo mismo que dejar propagar. Y el costo: dentro de un bucle, un savepoint por vuelta; manejadores solo donde hay una decisión que tomar.</a:t>
            </a:r>
          </a:p>
          <a:p/>
          <a:p>
            <a:r>
              <a:t>EJEMPLO: DO $$ BEGIN CALL sp_facturar(4, ARRAY[3, 2], ARRAY[2, 10]); EXCEPTION WHEN OTHERS THEN RAISE NOTICE 'Fallo esperado: %', SQLERRM; END $$; imprime «Fallo esperado: ERROR: stock insuficiente del insumo 2 (se pidieron 10)» y la base queda igual: el savepoint deshizo lo del CALL.</a:t>
            </a:r>
          </a:p>
          <a:p/>
          <a:p>
            <a:r>
              <a:t>SI PREGUNTAN:</a:t>
            </a:r>
          </a:p>
          <a:p>
            <a:r>
              <a:t>  • «¿Qué es SQLERRM?» → La variable con el texto del error que se atrapó. Sirve para que el aviso diga algo útil en vez de «falló».</a:t>
            </a:r>
          </a:p>
          <a:p/>
          <a:p>
            <a:r>
              <a:t>CUIDADO: Ese DO con manejador es para que un script siga corriendo y se pueda medir, no para arreglar el error.</a:t>
            </a:r>
          </a:p>
          <a:p/>
          <a:p>
            <a:r>
              <a:t>PASA A LA SIGUIENTE: El savepoint también se puede escribir a mano.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Oracle sigue siendo un motor importante y por eso se compara, pero el motor del curso es PostgreSQL. La misma lógica de facturación necesita cuatro cambios de sintaxis para pasar de un motor al otro, y además cambia quién confirma.</a:t>
            </a:r>
          </a:p>
          <a:p/>
          <a:p>
            <a:r>
              <a:t>CÓMO DARLA (≈2 min):</a:t>
            </a:r>
          </a:p>
          <a:p>
            <a:r>
              <a:t>  • Al entrar: Recorre fila por fila: tipos, filas afectadas, cómo se aborta, qué se hace al fallar y quién confirma.</a:t>
            </a:r>
          </a:p>
          <a:p>
            <a:r>
              <a:t>  • Abajo: La respuesta a «¿por qué la base quedó intacta?»: el CALL es su propia transacción y la excepción propagada la deshace entera. Ningún ROLLBACK escrito lo hizo.</a:t>
            </a:r>
          </a:p>
          <a:p/>
          <a:p>
            <a:r>
              <a:t>EJEMPLO: En Oracle: EXCEPTION WHEN OTHERS THEN ROLLBACK; RAISE;. En PostgreSQL ese bloque no hace falta: sin manejador, la excepción sale del CALL y deshace todo.</a:t>
            </a:r>
          </a:p>
          <a:p/>
          <a:p>
            <a:r>
              <a:t>SI PREGUNTAN:</a:t>
            </a:r>
          </a:p>
          <a:p>
            <a:r>
              <a:t>  • «¿PostgreSQL guarda una copia de cada tabla antes del CALL?» → No. Conserva la versión anterior de cada fila que cambia (MVCC) y, al deshacer, se queda con ella.</a:t>
            </a:r>
          </a:p>
          <a:p>
            <a:r>
              <a:t>  • «¿Los UPDATE se acumulan en memoria y se escriben al final?» → No. Cada sentencia se aplica cuando se ejecuta y se ve dentro de la misma transacción; lo que se decide al final es confirmarla o no.</a:t>
            </a:r>
          </a:p>
          <a:p/>
          <a:p>
            <a:r>
              <a:t>CUIDADO: Enseñar la forma de Oracle como si fuera la del curso es el error que más cuesta: no compila en PostgreSQL.</a:t>
            </a:r>
          </a:p>
          <a:p/>
          <a:p>
            <a:r>
              <a:t>PASA A LA SIGUIENTE: La misma regla de stock con otro contrato: informar en vez de abortar.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Hay dos maneras de responder «no hay stock». El procedimiento lo trata como un fallo y aborta todo. La función lo trata como un resultado: devuelve verdadero o falso y deja que quien la llama decida si sigue con las demás líneas.</a:t>
            </a:r>
          </a:p>
          <a:p/>
          <a:p>
            <a:r>
              <a:t>CÓMO DARLA (≈3 min):</a:t>
            </a:r>
          </a:p>
          <a:p>
            <a:r>
              <a:t>  • Al entrar: La misma regla arriba (el UPDATE con el guardia) y el primer contrato: sp_facturar, 0 filas → RAISE EXCEPTION, se deshace toda la factura.</a:t>
            </a:r>
          </a:p>
          <a:p>
            <a:r>
              <a:t>  • Clic 1: El segundo contrato: fn_descontar_stock RETURNS BOOLEAN, RETURN v_filas = 1. Si no alcanza devuelve false, sin excepción.</a:t>
            </a:r>
          </a:p>
          <a:p>
            <a:r>
              <a:t>  • Clic 2: Cuatro llamadas reales: (5, 3) → true, hay 8 y quedan 5; (2, 10) → false, hay 3; (2, 3) → true, pide justo lo que queda; (5, 0) → error, porque una cantidad no positiva es una llamada mal hecha.</a:t>
            </a:r>
          </a:p>
          <a:p/>
          <a:p>
            <a:r>
              <a:t>EJEMPLO: fn_descontar_stock(5, 0) responde «ERROR: la cantidad debe ser positiva (llego 0)». El false se reserva para «no alcanza».</a:t>
            </a:r>
          </a:p>
          <a:p/>
          <a:p>
            <a:r>
              <a:t>SI PREGUNTAN:</a:t>
            </a:r>
          </a:p>
          <a:p>
            <a:r>
              <a:t>  • «¿Por qué devolver false si también es un fallo?» → Porque para quien llama es un resultado: puede decidir seguir con otras líneas o cancelar. Si la función lanzara la excepción, esa decisión ya no se podría tomar.</a:t>
            </a:r>
          </a:p>
          <a:p/>
          <a:p>
            <a:r>
              <a:t>CUIDADO: El caso límite (2, 3) es el que delata un guardia escrito con &gt; en vez de &gt;=: devolvería false.</a:t>
            </a:r>
          </a:p>
          <a:p/>
          <a:p>
            <a:r>
              <a:t>PASA A LA SIGUIENTE: La función completa y su prueba en una sola consulta.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Aquí tuning no es mover parámetros del servidor, que en el navegador no se puede y sin medición es peligroso. Son hábitos de escritura con números: transacciones cortas, lotes razonables y filtros que tocan pocas filas.</a:t>
            </a:r>
          </a:p>
          <a:p/>
          <a:p>
            <a:r>
              <a:t>CÓMO DARLA (≈3 min):</a:t>
            </a:r>
          </a:p>
          <a:p>
            <a:r>
              <a:t>  • Al entrar: Bien: leer y validar primero, sin transacción, y abrir BEGIN … COMMIT solo para escribir. Dura milisegundos.</a:t>
            </a:r>
          </a:p>
          <a:p>
            <a:r>
              <a:t>  • Clic 1: Mal: abrir la transacción, mostrar un «¿confirmar?» y que la recepcionista se vaya a almorzar. Esas filas quedan bloqueadas para el resto de la clínica mientras nadie vuelve.</a:t>
            </a:r>
          </a:p>
          <a:p>
            <a:r>
              <a:t>  • Clic 2: Cargas masivas: COMMIT por lotes, del orden de 1.000 a 5.000 filas como convención de oficio. Ni uno por fila, que es lentísimo, ni uno solo para un millón.</a:t>
            </a:r>
          </a:p>
          <a:p/>
          <a:p>
            <a:r>
              <a:t>EJEMPLO: UPDATE insumo SET stock = stock - 2 WHERE id_insumo = 3 filtra por la clave primaria y bloquea una sola fila; el mismo UPDATE filtrando por una columna sin índice tiene que recorrer la tabla para encontrar las filas.</a:t>
            </a:r>
          </a:p>
          <a:p/>
          <a:p>
            <a:r>
              <a:t>SI PREGUNTAN:</a:t>
            </a:r>
          </a:p>
          <a:p>
            <a:r>
              <a:t>  • «¿Cuánto es «corta»?» → Del orden de milisegundos a unos cientos de milisegundos. Cualquier cosa que sostenga bloqueos durante segundos es sospechosa.</a:t>
            </a:r>
          </a:p>
          <a:p/>
          <a:p>
            <a:r>
              <a:t>CUIDADO: No prometas cifras exactas de mejora: los tamaños de lote y los tiempos se miden en cada motor.</a:t>
            </a:r>
          </a:p>
          <a:p/>
          <a:p>
            <a:r>
              <a:t>PASA A LA SIGUIENTE: Vamos a la demo, en el orden en que se proyecta.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El script tiene cinco bloques y el valor está en el tercero: hay que administrar el tiempo para llegar ahí con calma.</a:t>
            </a:r>
          </a:p>
          <a:p/>
          <a:p>
            <a:r>
              <a:t>CÓMO DARLA (≈1 min):</a:t>
            </a:r>
          </a:p>
          <a:p>
            <a:r>
              <a:t>  • Al entrar: Bloques 0 a 2: el esquema (se puede correr dos veces porque empieza con los DROP), el procedimiento leído en voz alta y el caso feliz, 27.400.</a:t>
            </a:r>
          </a:p>
          <a:p>
            <a:r>
              <a:t>  • Bloque 3: Foto inicial (1 | 3 | 40 | 3), el CALL que falla dentro de un DO con manejador y la foto final idéntica. Pregunta al grupo dónde quedó el descuento del insumo 3. Cierra con la factura viable: 112.000, insumo 3 en 38 e insumo 2 en 0.</a:t>
            </a:r>
          </a:p>
          <a:p/>
          <a:p>
            <a:r>
              <a:t>EJEMPLO: La factura viable sale con id_factura 3: el intento fallido consumió el 2 de la secuencia.</a:t>
            </a:r>
          </a:p>
          <a:p/>
          <a:p>
            <a:r>
              <a:t>CUIDADO: Si el tiempo aprieta se recorta el bloque 4; nunca la pareja de fotos del bloque 3.</a:t>
            </a:r>
          </a:p>
          <a:p/>
          <a:p>
            <a:r>
              <a:t>PASA A LA SIGUIENTE: Qué se puede demostrar en el navegador y qué no.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Todo el código de hoy es PL/pgSQL y corre en PostgreSQL dentro del navegador. Como el CALL ya es su propia transacción, no hace falta dejar una transacción abierta entre dos ejecuciones para demostrar la atomicidad.</a:t>
            </a:r>
          </a:p>
          <a:p/>
          <a:p>
            <a:r>
              <a:t>CÓMO DARLA (≈1 min):</a:t>
            </a:r>
          </a:p>
          <a:p>
            <a:r>
              <a:t>  • Al entrar: Izquierda, lo que corre: CALL, GET DIAGNOSTICS, RAISE, la función BOOLEAN, las fotos y el DDL dentro de una transacción. Derecha, lo que no: dos sesiones a la vez (espera por bloqueo, interbloqueo, actualización perdida) y apagar el servidor. Eso se documenta en papel y es la Clase 10.</a:t>
            </a:r>
          </a:p>
          <a:p/>
          <a:p>
            <a:r>
              <a:t>CUIDADO: En PostgreSQL el DDL es transaccional: la vieja advertencia de que un CREATE TABLE confirma solo (Oracle, MySQL) no aplica aquí; se menciona como diferencia entre motores.</a:t>
            </a:r>
          </a:p>
          <a:p/>
          <a:p>
            <a:r>
              <a:t>PASA A LA SIGUIENTE: Vamos a la demo.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Las dos clases anteriores hicieron que las consultas leyeran menos. Hoy el foco pasa a las escrituras: que una factura con sus líneas y sus descuentos de stock quede completa o no quede, aunque algo falle a mitad.</a:t>
            </a:r>
          </a:p>
          <a:p/>
          <a:p>
            <a:r>
              <a:t>CÓMO DARLA (≈4 min):</a:t>
            </a:r>
          </a:p>
          <a:p>
            <a:r>
              <a:t>  • Al entrar: Pregunta de arranque: «si el sistema registra la factura, descuenta una vacuna y se cae antes de la segunda línea, ¿qué queda en la base?». Deja que respondan; casi siempre dirán «la mitad».</a:t>
            </a:r>
          </a:p>
          <a:p>
            <a:r>
              <a:t>  • Después: Cierra: «hoy vamos a ver por qué no queda nada, y a demostrarlo con una foto antes y una foto después».</a:t>
            </a:r>
          </a:p>
          <a:p/>
          <a:p>
            <a:r>
              <a:t>PASA A LA SIGUIENTE: Primero, qué es exactamente una transacción.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El recorrido de las dos horas: teoría con una lámina por concepto, demo sobre la base de la clínica y práctica opcional.</a:t>
            </a:r>
          </a:p>
          <a:p/>
          <a:p>
            <a:r>
              <a:t>CÓMO DARLA (≈1 min):</a:t>
            </a:r>
          </a:p>
          <a:p>
            <a:r>
              <a:t>  • Al entrar: Señala solo los tramos; no te detengas. La práctica está en la carpeta de la clase y es opcional.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Una versión corta de sp_facturar para ver el esqueleto: cabecera, bucle con el descuento condicional, el total al final y ningún COMMIT ni ROLLBACK adentro. La versión completa está en la lámina siguiente.</a:t>
            </a:r>
          </a:p>
          <a:p/>
          <a:p>
            <a:r>
              <a:t>CÓMO DARLA (≈2 min):</a:t>
            </a:r>
          </a:p>
          <a:p>
            <a:r>
              <a:t>  • Al entrar: Líneas 1-4: la firma con los dos arreglos, LANGUAGE plpgsql y las variables v_id_factura y v_filas.</a:t>
            </a:r>
          </a:p>
          <a:p>
            <a:r>
              <a:t>  • Líneas 5-6: La cabecera con RETURNING id_factura INTO v_id_factura.</a:t>
            </a:r>
          </a:p>
          <a:p>
            <a:r>
              <a:t>  • Líneas 7-11: El bucle: el UPDATE con stock &gt;= p_cantidades[i] en el WHERE, GET DIAGNOSTICS para saber cuántas filas tocó y RAISE EXCEPTION si fueron 0.</a:t>
            </a:r>
          </a:p>
          <a:p>
            <a:r>
              <a:t>  • Líneas 12-15: La línea de detalle con el precio leído de insumo, y el comentario clave de la línea 15: sin COMMIT ni ROLLBACK.</a:t>
            </a:r>
          </a:p>
          <a:p>
            <a:r>
              <a:t>  • Líneas 16-18: Al salir del bucle, el total de la cabecera es la suma de sus líneas: cantidad por precio.</a:t>
            </a:r>
          </a:p>
          <a:p/>
          <a:p>
            <a:r>
              <a:t>EJEMPLO: Con el caso feliz, CALL sp_facturar(4, ARRAY[1, 6, 5], ARRAY[1, 2, 3]) inserta tres líneas a 22.000, 900 y 1.200 y deja la factura con total 27.400,00. Con ARRAY[3, 2] y ARRAY[2, 10] responde «ERROR: stock insuficiente» y no queda nada: ni cabecera ni el descuento del insumo 3.</a:t>
            </a:r>
          </a:p>
          <a:p/>
          <a:p>
            <a:r>
              <a:t>CUIDADO: No la presentes como la versión final: le faltan la validación de los arreglos y el NOT FOUND del insumo, y su mensaje de error no dice qué insumo faltó.</a:t>
            </a:r>
          </a:p>
          <a:p/>
          <a:p>
            <a:r>
              <a:t>PASA A LA SIGUIENTE: La versión completa, parte por parte.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La versión completa del procedimiento, recorrida de arriba abajo. Cada parte tiene una razón: rechazar una llamada mal hecha, registrar la cabecera, cobrar línea por línea con el precio vigente y dejar el total correcto.</a:t>
            </a:r>
          </a:p>
          <a:p/>
          <a:p>
            <a:r>
              <a:t>CÓMO DARLA (≈2 min):</a:t>
            </a:r>
          </a:p>
          <a:p>
            <a:r>
              <a:t>  • Al entrar: La llamada de prueba arriba y la parte 1: validar que los arreglos midan lo mismo.</a:t>
            </a:r>
          </a:p>
          <a:p>
            <a:r>
              <a:t>  • Parte 2 y 3: La cabecera con total 0 y el bucle: SELECT precio_unit INTO v_precio con IF NOT FOUND; el UPDATE con el guardia; GET DIAGNOSTICS; RAISE si fue 0; INSERT de la línea; v_total := v_total + v_precio * cantidad (el := es la asignación de PL/pgSQL).</a:t>
            </a:r>
          </a:p>
          <a:p>
            <a:r>
              <a:t>  • Parte 4 y abajo: UPDATE factura SET total = v_total. Resultado: 27.400, y los stocks de los insumos 1, 6 y 5 pasan de 12, 60 y 8 a 11, 58 y 5.</a:t>
            </a:r>
          </a:p>
          <a:p/>
          <a:p>
            <a:r>
              <a:t>EJEMPLO: CALL sp_facturar(4, ARRAY[99], ARRAY[1]); responde «ERROR: el insumo 99 no existe»: sin el NOT FOUND, v_precio quedaría NULL y la factura terminaría con total NULL.</a:t>
            </a:r>
          </a:p>
          <a:p/>
          <a:p>
            <a:r>
              <a:t>SI PREGUNTAN:</a:t>
            </a:r>
          </a:p>
          <a:p>
            <a:r>
              <a:t>  • «¿Por qué el precio se lee de la tabla y no se recibe como parámetro?» → Porque se cobra el precio vigente, no el que la aplicación crea recordar.</a:t>
            </a:r>
          </a:p>
          <a:p>
            <a:r>
              <a:t>  • «¿Por qué el mensaje sale como «ERROR: ERROR: …»?» → Porque el texto del RAISE ya empieza con «ERROR:» y el motor antepone el suyo. Es solo el texto; no son dos errores.</a:t>
            </a:r>
          </a:p>
          <a:p/>
          <a:p>
            <a:r>
              <a:t>CUIDADO: El error de sintaxis más común es cerrar el cuerpo con una etiqueta distinta de la que lo abrió: $proc$ al principio y $proc$ al final.</a:t>
            </a:r>
          </a:p>
          <a:p/>
          <a:p>
            <a:r>
              <a:t>PASA A LA SIGUIENTE: El corazón del procedimiento: el guardia del stock.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La misma idea sin procedimiento: BEGIN abre la transacción, las sentencias se acumulan y COMMIT las confirma juntas. Hasta el COMMIT, nadie más ve los cambios.</a:t>
            </a:r>
          </a:p>
          <a:p/>
          <a:p>
            <a:r>
              <a:t>CÓMO DARLA (≈2 min):</a:t>
            </a:r>
          </a:p>
          <a:p>
            <a:r>
              <a:t>  • Al entrar: Línea 1: BEGIN. Líneas 3-4: la cabecera con RETURNING, que muestra el id generado.</a:t>
            </a:r>
          </a:p>
          <a:p>
            <a:r>
              <a:t>  • Líneas 6-11: La línea de detalle (2 gasas a 1.200), el descuento de stock y el total de la cabecera, 2.400. currval devuelve el id que esta misma sesión acaba de generar.</a:t>
            </a:r>
          </a:p>
          <a:p>
            <a:r>
              <a:t>  • Línea 13: COMMIT: las cuatro sentencias quedan juntas. Con ROLLBACK, o si cualquiera falla, no queda ninguna.</a:t>
            </a:r>
          </a:p>
          <a:p/>
          <a:p>
            <a:r>
              <a:t>EJEMPLO: Con los datos de la clase, después del COMMIT la factura queda con total 2.400,00 y la gasa estéril baja de 8 a 6.</a:t>
            </a:r>
          </a:p>
          <a:p/>
          <a:p>
            <a:r>
              <a:t>SI PREGUNTAN:</a:t>
            </a:r>
          </a:p>
          <a:p>
            <a:r>
              <a:t>  • «¿currval puede devolver el id de otra persona?» → No: currval es por sesión; devuelve el último valor que generó ESTA sesión.</a:t>
            </a:r>
          </a:p>
          <a:p/>
          <a:p>
            <a:r>
              <a:t>CUIDADO: Entre el BEGIN y el COMMIT no se espera a nadie: una transacción abierta sostiene bloqueos.</a:t>
            </a:r>
          </a:p>
          <a:p/>
          <a:p>
            <a:r>
              <a:t>PASA A LA SIGUIENTE: ¿Y si eso mismo se pone dentro del procedimiento?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El procedimiento no decide cuándo confirmar: lo decide quien lo llama. Llamado con un CALL suelto, el CALL es la transacción y la excepción la deshace. Llamado dentro de una transacción abierta, intentar confirmar desde adentro es un error.</a:t>
            </a:r>
          </a:p>
          <a:p/>
          <a:p>
            <a:r>
              <a:t>CÓMO DARLA (≈2 min):</a:t>
            </a:r>
          </a:p>
          <a:p>
            <a:r>
              <a:t>  • Al entrar: Arriba, el CALL suelto: es su propia transacción; la excepción que sale deshace cabecera, líneas y stock, y nadie escribió ROLLBACK.</a:t>
            </a:r>
          </a:p>
          <a:p>
            <a:r>
              <a:t>  • En el medio: El CALL dentro de BEGIN … COMMIT: el que decide es ese COMMIT de afuera. Si el procedimiento intenta un COMMIT propio, el motor responde «invalid transaction termination»; lo mismo dentro de un bloque con EXCEPTION.</a:t>
            </a:r>
          </a:p>
          <a:p>
            <a:r>
              <a:t>  • Abajo: La regla: confirma uno solo, el llamador. Y si se atrapa el error, se relanza con RAISE; nunca WHEN OTHERS THEN NULL.</a:t>
            </a:r>
          </a:p>
          <a:p/>
          <a:p>
            <a:r>
              <a:t>EJEMPLO: Prueba real con un CALL suelto: un procedimiento que descuenta el insumo 3, hace COMMIT, descuenta el insumo 4 y después falla deja el 3 descontado (40 → 39) y el 4 intacto: justo la factura a medias que se quería evitar. Y con BEGIN; CALL …; el COMMIT de adentro responde «invalid transaction termination».</a:t>
            </a:r>
          </a:p>
          <a:p/>
          <a:p>
            <a:r>
              <a:t>SI PREGUNTAN:</a:t>
            </a:r>
          </a:p>
          <a:p>
            <a:r>
              <a:t>  • «Entonces, ¿nunca se escribe COMMIT en un procedimiento de PostgreSQL?» → Se puede en procesos por lotes y solo si el CALL es de nivel superior. En un procedimiento de negocio como este es un defecto: le quita al llamador la posibilidad de deshacer.</a:t>
            </a:r>
          </a:p>
          <a:p/>
          <a:p>
            <a:r>
              <a:t>CUIDADO: No afirmes que PostgreSQL prohíbe siempre el ROLLBACK dentro de un procedimiento: con un CALL suelto lo permite. Lo que no permite es terminar la transacción desde adentro cuando el CALL está dentro de otra o de un bloque con EXCEPTION.</a:t>
            </a:r>
          </a:p>
          <a:p/>
          <a:p>
            <a:r>
              <a:t>PASA A LA SIGUIENTE: El otro mecanismo que deshace sin que nadie lo escriba: el savepoint implícito.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Un SAVEPOINT es una marca con nombre dentro de la transacción. ROLLBACK TO SAVEPOINT vuelve a esa marca sin deshacer lo anterior, y la transacción sigue viva.</a:t>
            </a:r>
          </a:p>
          <a:p/>
          <a:p>
            <a:r>
              <a:t>CÓMO DARLA (≈2 min):</a:t>
            </a:r>
          </a:p>
          <a:p>
            <a:r>
              <a:t>  • Al entrar: Líneas 1-3: BEGIN, la cabecera y la marca antes_del_detalle.</a:t>
            </a:r>
          </a:p>
          <a:p>
            <a:r>
              <a:t>  • Líneas 4-7: Una línea con el insumo 9999, que no existe: la clave foránea la rechaza con el error de las líneas 6 y 7.</a:t>
            </a:r>
          </a:p>
          <a:p>
            <a:r>
              <a:t>  • Líneas 8-11: ROLLBACK TO SAVEPOINT: la cabecera sigue viva. Se inserta la línea correcta (insumo 5) y COMMIT.</a:t>
            </a:r>
          </a:p>
          <a:p/>
          <a:p>
            <a:r>
              <a:t>EJEMPLO: Resultado: la factura con una línea de 1 gasa. Sin el ROLLBACK TO SAVEPOINT, cualquier sentencia después del error respondería «current transaction is aborted».</a:t>
            </a:r>
          </a:p>
          <a:p/>
          <a:p>
            <a:r>
              <a:t>SI PREGUNTAN:</a:t>
            </a:r>
          </a:p>
          <a:p>
            <a:r>
              <a:t>  • «¿Cuándo usaría esto en la clínica?» → En una factura de varias líneas donde se acepta cobrar las que sí alcanzan y avisar de la que no. Hoy la regla es todo o nada, así que no se usa.</a:t>
            </a:r>
          </a:p>
          <a:p/>
          <a:p>
            <a:r>
              <a:t>CUIDADO: En esta versión la cabecera queda con total 0: el ejemplo muestra el SAVEPOINT, no el cálculo del total.</a:t>
            </a:r>
          </a:p>
          <a:p/>
          <a:p>
            <a:r>
              <a:t>PASA A LA SIGUIENTE: Y la trampa de atrapar el error sin relanzarlo.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Un bloque que atrapa el error y solo avisa deshace su parte, pero deja confirmado lo que estaba antes. El resultado puede ser una factura sin líneas que nadie notó.</a:t>
            </a:r>
          </a:p>
          <a:p/>
          <a:p>
            <a:r>
              <a:t>CÓMO DARLA (≈2 min):</a:t>
            </a:r>
          </a:p>
          <a:p>
            <a:r>
              <a:t>  • Al entrar: Líneas 1-3: el DO y la cabecera, fuera del bloque interno.</a:t>
            </a:r>
          </a:p>
          <a:p>
            <a:r>
              <a:t>  • Líneas 4-10: El bloque con EXCEPTION: descuenta una gasa e inserta una línea con un insumo que no existe. El manejador solo imprime un aviso: es la trampa.</a:t>
            </a:r>
          </a:p>
          <a:p>
            <a:r>
              <a:t>  • Líneas 12-15: El efecto: el bloque se deshizo (el stock quedó igual), pero el DO terminó bien y la cabecera quedó guardada sin líneas. La corrección: EXCEPTION WHEN OTHERS THEN RAISE;</a:t>
            </a:r>
          </a:p>
          <a:p/>
          <a:p>
            <a:r>
              <a:t>EJEMPLO: Prueba real: el aviso dice «algo fallo: insert or update on table "detalle_factura" violates foreign key constraint …», queda una factura con 0 líneas y la gasa conserva su stock. Con RAISE en el manejador, el DO falla y no queda ninguna factura nueva.</a:t>
            </a:r>
          </a:p>
          <a:p/>
          <a:p>
            <a:r>
              <a:t>CUIDADO: El síntoma de esta trampa no es un error: es una factura con total 0 y sin líneas que aparece días después.</a:t>
            </a:r>
          </a:p>
          <a:p/>
          <a:p>
            <a:r>
              <a:t>PASA A LA SIGUIENTE: Por qué todo esto se escribe distinto en Oracle.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La función tiene tres partes cortas y se prueba en una sola consulta con tres casos. Lo que la hace segura es lo mismo que en el procedimiento: la condición viaja dentro del UPDATE.</a:t>
            </a:r>
          </a:p>
          <a:p/>
          <a:p>
            <a:r>
              <a:t>CÓMO DARLA (≈2 min):</a:t>
            </a:r>
          </a:p>
          <a:p>
            <a:r>
              <a:t>  • Al entrar: La firma y las tres partes: p_cantidad &lt;= 0 → RAISE; el UPDATE con el guardia; GET DIAGNOSTICS y RETURN v_filas = 1, que devuelve directamente el resultado de la comparación.</a:t>
            </a:r>
          </a:p>
          <a:p>
            <a:r>
              <a:t>  • En el medio: La prueba con stocks 8 y 3: SELECT fn_descontar_stock(5, 3) AS caso_ok, fn_descontar_stock(2, 10) AS caso_sin_stock, fn_descontar_stock(2, 3) AS caso_limite; → true | false | true. Después: insumo 5 en 5 e insumo 2 en 0.</a:t>
            </a:r>
          </a:p>
          <a:p>
            <a:r>
              <a:t>  • Abajo: La ventana: si se lee el stock y luego se decide, dos recepciones pueden leer 3 a la vez y las dos descontar. Con la condición en el WHERE no hay ventana.</a:t>
            </a:r>
          </a:p>
          <a:p/>
          <a:p>
            <a:r>
              <a:t>EJEMPLO: Antes de la prueba se reinician los stocks (insumo 5 en 8 e insumo 2 en 3); si no, los valores esperados no salen.</a:t>
            </a:r>
          </a:p>
          <a:p/>
          <a:p>
            <a:r>
              <a:t>SI PREGUNTAN:</a:t>
            </a:r>
          </a:p>
          <a:p>
            <a:r>
              <a:t>  • «¿Puedo probar la ventana con dos pestañas del navegador?» → No: cada pestaña levanta su propia base en memoria y no comparten nada. Se documenta en papel y se estudia en la Clase 10.</a:t>
            </a:r>
          </a:p>
          <a:p/>
          <a:p>
            <a:r>
              <a:t>CUIDADO: Distinguir el dato inválido (cantidad cero o negativa, excepción) del resultado negativo (no alcanza, false) es la mitad del tema.</a:t>
            </a:r>
          </a:p>
          <a:p/>
          <a:p>
            <a:r>
              <a:t>PASA A LA SIGUIENTE: Tuning: hábitos de escritura que evitan problemas.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La demo corre el script de la clase y demuestra la atomicidad con dos fotos de la misma consulta, antes y después de un CALL que falla a mitad.</a:t>
            </a:r>
          </a:p>
          <a:p/>
          <a:p>
            <a:r>
              <a:t>CÓMO DARLA (≈15 min):</a:t>
            </a:r>
          </a:p>
          <a:p>
            <a:r>
              <a:t>  • Al entrar: 1) Esquema y seis insumos. 2) El procedimiento, leyendo el guardia y el GET DIAGNOSTICS. 3) CALL sp_facturar(4, ARRAY[1, 6, 5], ARRAY[1, 2, 3]): 27.400 y stocks 11, 58 y 5.</a:t>
            </a:r>
          </a:p>
          <a:p>
            <a:r>
              <a:t>  • Después: 4) Foto inicial: 1 | 3 | 40 | 3. 5) El CALL con ARRAY[3, 2] y ARRAY[2, 10] dentro de un DO con manejador: «Fallo esperado: ERROR: stock insuficiente del insumo 2 (se pidieron 10)». 6) Foto final: 1 | 3 | 40 | 3. 7) Si hay tiempo, la función: true | false | true.</a:t>
            </a:r>
          </a:p>
          <a:p/>
          <a:p>
            <a:r>
              <a:t>EJEMPLO: Después de las fotos, CALL sp_facturar(4, ARRAY[3, 2], ARRAY[2, 3]) crea la factura por 112.000 (9.500×2 + 31.000×3) y deja el insumo 3 en 38 y el 2 en 0.</a:t>
            </a:r>
          </a:p>
          <a:p/>
          <a:p>
            <a:r>
              <a:t>CUIDADO: Sin la foto inicial no hay demostración: hay que tomarla antes del CALL que falla, con exactamente la misma consulta que la final.</a:t>
            </a:r>
          </a:p>
          <a:p/>
          <a:p>
            <a:r>
              <a:t>PASA A LA SIGUIENTE: Cierre de la clase.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(dilo así): Cierre: una transacción es un solo hecho de negocio; en PostgreSQL el CALL ya la delimita, la excepción la deshace y confirma el llamador.</a:t>
            </a:r>
          </a:p>
          <a:p/>
          <a:p>
            <a:r>
              <a:t>CÓMO DARLA (≈3 min):</a:t>
            </a:r>
          </a:p>
          <a:p>
            <a:r>
              <a:t>  • Al entrar: Pregunta de salida: «si el CALL falla en la tercera línea, ¿qué queda en la base y por qué?». Respuesta esperada: nada; el CALL era la transacción y la excepción la deshizo. Anuncia que la Clase 10 estudia qué pasa cuando dos transacciones se cruzan.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notesSlide" Target="../notesSlides/notesSlide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8</a:t>
            </a:r>
          </a:p>
        </p:txBody>
      </p:sp>
      <p:sp>
        <p:nvSpPr>
          <p:cNvPr id="8" name="TextBox 7"/>
          <p:cNvSpPr txBox="1"/>
          <p:nvPr/>
        </p:nvSpPr>
        <p:spPr>
          <a:xfrm>
            <a:off x="731520" y="2331720"/>
            <a:ext cx="10728655" cy="1828800"/>
          </a:xfrm>
          <a:prstGeom prst="rect">
            <a:avLst/>
          </a:prstGeom>
          <a:noFill/>
        </p:spPr>
        <p:txBody>
          <a:bodyPr wrap="square" anchor="ctr"/>
          <a:lstStyle/>
          <a:p>
            <a:pPr algn="ctr"/>
            <a:r>
              <a:rPr sz="4000" b="1" i="0">
                <a:solidFill>
                  <a:srgbClr val="FFFFFF"/>
                </a:solidFill>
                <a:latin typeface="Calibri"/>
              </a:rPr>
              <a:t>Tuning · Transacciones · la clínica</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Atomicidad en facturacion e insumos</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Encuadre de hoy · Tema y objetivo</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Tema de hoy:</a:t>
            </a:r>
            <a:r>
              <a:rPr sz="2000" b="0" i="0">
                <a:solidFill>
                  <a:srgbClr val="333333"/>
                </a:solidFill>
                <a:latin typeface="Calibri"/>
              </a:rPr>
              <a:t> Tuning · Transacciones · la clínica</a:t>
            </a:r>
          </a:p>
          <a:p>
            <a:pPr>
              <a:spcAft>
                <a:spcPts val="800"/>
              </a:spcAft>
            </a:pPr>
            <a:r>
              <a:rPr sz="2000" b="0" i="0">
                <a:solidFill>
                  <a:srgbClr val="333333"/>
                </a:solidFill>
                <a:latin typeface="Calibri"/>
              </a:rPr>
              <a:t>–   Herramienta: </a:t>
            </a:r>
            <a:r>
              <a:rPr sz="2000" b="1" i="0">
                <a:solidFill>
                  <a:srgbClr val="333333"/>
                </a:solidFill>
                <a:latin typeface="Calibri"/>
              </a:rPr>
              <a:t>PostgreSQL/PGlite</a:t>
            </a:r>
            <a:r>
              <a:rPr sz="2000" b="0" i="0">
                <a:solidFill>
                  <a:srgbClr val="333333"/>
                </a:solidFill>
                <a:latin typeface="Calibri"/>
              </a:rPr>
              <a:t> · Bloque </a:t>
            </a:r>
            <a:r>
              <a:rPr sz="2000" b="1" i="0">
                <a:solidFill>
                  <a:srgbClr val="333333"/>
                </a:solidFill>
                <a:latin typeface="Calibri"/>
              </a:rPr>
              <a:t>120 min</a:t>
            </a:r>
          </a:p>
          <a:p>
            <a:pPr>
              <a:spcAft>
                <a:spcPts val="800"/>
              </a:spcAft>
            </a:pPr>
            <a:r>
              <a:rPr sz="2000" b="0" i="0">
                <a:solidFill>
                  <a:srgbClr val="333333"/>
                </a:solidFill>
                <a:latin typeface="Calibri"/>
              </a:rPr>
              <a:t>–   Gratis + navegador · free tier · sin software de pago obligatorio.</a:t>
            </a:r>
          </a:p>
          <a:p>
            <a:pPr>
              <a:spcAft>
                <a:spcPts val="800"/>
              </a:spcAft>
            </a:pPr>
            <a:r>
              <a:rPr sz="2000" b="0" i="0">
                <a:solidFill>
                  <a:srgbClr val="333333"/>
                </a:solidFill>
                <a:latin typeface="Calibri"/>
              </a:rPr>
              <a:t>–   Recorrido: teoría del tema, una lámina por concepto, y demo del docente sobre la base de la clínica.</a:t>
            </a:r>
          </a:p>
          <a:p>
            <a:pPr>
              <a:spcAft>
                <a:spcPts val="800"/>
              </a:spcAft>
            </a:pPr>
            <a:r>
              <a:rPr sz="2000" b="0" i="0">
                <a:solidFill>
                  <a:srgbClr val="333333"/>
                </a:solidFill>
                <a:latin typeface="Calibri"/>
              </a:rPr>
              <a:t>–   Cada lámina se sostiene sola: sirve para repasar aunque hayas faltado.</a:t>
            </a:r>
          </a:p>
          <a:p>
            <a:pPr>
              <a:spcAft>
                <a:spcPts val="800"/>
              </a:spcAft>
            </a:pPr>
            <a:r>
              <a:rPr sz="2000" b="0" i="0">
                <a:solidFill>
                  <a:srgbClr val="333333"/>
                </a:solidFill>
                <a:latin typeface="Calibri"/>
              </a:rPr>
              <a:t>–   </a:t>
            </a:r>
            <a:r>
              <a:rPr sz="2000" b="1" i="0">
                <a:solidFill>
                  <a:srgbClr val="333333"/>
                </a:solidFill>
                <a:latin typeface="Calibri"/>
              </a:rPr>
              <a:t>Conceptos de hoy:</a:t>
            </a:r>
            <a:r>
              <a:rPr sz="2000" b="0" i="0">
                <a:solidFill>
                  <a:srgbClr val="333333"/>
                </a:solidFill>
                <a:latin typeface="Calibri"/>
              </a:rPr>
              <a:t> Que es una transaccion, y las dos amenazas de las que protege · Atomicidad · Consistencia · Aislamiento.</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Mapa del bloque de hoy (120 min)</a:t>
            </a:r>
          </a:p>
        </p:txBody>
      </p:sp>
      <p:sp>
        <p:nvSpPr>
          <p:cNvPr id="5" name="Rectangle 4"/>
          <p:cNvSpPr/>
          <p:nvPr/>
        </p:nvSpPr>
        <p:spPr>
          <a:xfrm>
            <a:off x="457200" y="2176272"/>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38625"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53312"/>
            <a:ext cx="2255459" cy="502920"/>
          </a:xfrm>
          <a:prstGeom prst="rect">
            <a:avLst/>
          </a:prstGeom>
          <a:noFill/>
        </p:spPr>
        <p:txBody>
          <a:bodyPr wrap="square">
            <a:spAutoFit/>
          </a:bodyPr>
          <a:lstStyle/>
          <a:p>
            <a:pPr algn="ctr"/>
            <a:r>
              <a:rPr sz="1300" b="1" i="0">
                <a:solidFill>
                  <a:srgbClr val="095292"/>
                </a:solidFill>
                <a:latin typeface="Calibri"/>
              </a:rPr>
              <a:t>0-10</a:t>
            </a:r>
          </a:p>
        </p:txBody>
      </p:sp>
      <p:sp>
        <p:nvSpPr>
          <p:cNvPr id="8" name="TextBox 7"/>
          <p:cNvSpPr txBox="1"/>
          <p:nvPr/>
        </p:nvSpPr>
        <p:spPr>
          <a:xfrm>
            <a:off x="502920" y="2587752"/>
            <a:ext cx="2164019" cy="3310128"/>
          </a:xfrm>
          <a:prstGeom prst="rect">
            <a:avLst/>
          </a:prstGeom>
          <a:noFill/>
        </p:spPr>
        <p:txBody>
          <a:bodyPr wrap="square">
            <a:spAutoFit/>
          </a:bodyPr>
          <a:lstStyle/>
          <a:p>
            <a:pPr algn="ctr"/>
            <a:r>
              <a:rPr sz="1300" b="0" i="0">
                <a:solidFill>
                  <a:srgbClr val="333333"/>
                </a:solidFill>
                <a:latin typeface="Calibri"/>
              </a:rPr>
              <a:t>Encuadre · clase regular · la clínica</a:t>
            </a:r>
          </a:p>
        </p:txBody>
      </p:sp>
      <p:sp>
        <p:nvSpPr>
          <p:cNvPr id="9" name="Rounded Rectangle 8"/>
          <p:cNvSpPr/>
          <p:nvPr/>
        </p:nvSpPr>
        <p:spPr>
          <a:xfrm>
            <a:off x="3694084"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2659" y="1353312"/>
            <a:ext cx="2255459" cy="502920"/>
          </a:xfrm>
          <a:prstGeom prst="rect">
            <a:avLst/>
          </a:prstGeom>
          <a:noFill/>
        </p:spPr>
        <p:txBody>
          <a:bodyPr wrap="square">
            <a:spAutoFit/>
          </a:bodyPr>
          <a:lstStyle/>
          <a:p>
            <a:pPr algn="ctr"/>
            <a:r>
              <a:rPr sz="1300" b="1" i="0">
                <a:solidFill>
                  <a:srgbClr val="095292"/>
                </a:solidFill>
                <a:latin typeface="Calibri"/>
              </a:rPr>
              <a:t>10-35</a:t>
            </a:r>
          </a:p>
        </p:txBody>
      </p:sp>
      <p:sp>
        <p:nvSpPr>
          <p:cNvPr id="11" name="TextBox 10"/>
          <p:cNvSpPr txBox="1"/>
          <p:nvPr/>
        </p:nvSpPr>
        <p:spPr>
          <a:xfrm>
            <a:off x="2758379" y="2587752"/>
            <a:ext cx="2164019" cy="3310128"/>
          </a:xfrm>
          <a:prstGeom prst="rect">
            <a:avLst/>
          </a:prstGeom>
          <a:noFill/>
        </p:spPr>
        <p:txBody>
          <a:bodyPr wrap="square">
            <a:spAutoFit/>
          </a:bodyPr>
          <a:lstStyle/>
          <a:p>
            <a:pPr algn="ctr"/>
            <a:r>
              <a:rPr sz="1300" b="0" i="0">
                <a:solidFill>
                  <a:srgbClr val="333333"/>
                </a:solidFill>
                <a:latin typeface="Calibri"/>
              </a:rPr>
              <a:t>Teoría Core breve (al servicio del proyecto)</a:t>
            </a:r>
          </a:p>
        </p:txBody>
      </p:sp>
      <p:sp>
        <p:nvSpPr>
          <p:cNvPr id="12" name="Rounded Rectangle 11"/>
          <p:cNvSpPr/>
          <p:nvPr/>
        </p:nvSpPr>
        <p:spPr>
          <a:xfrm>
            <a:off x="5949543"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68118" y="1353312"/>
            <a:ext cx="2255459" cy="502920"/>
          </a:xfrm>
          <a:prstGeom prst="rect">
            <a:avLst/>
          </a:prstGeom>
          <a:noFill/>
        </p:spPr>
        <p:txBody>
          <a:bodyPr wrap="square">
            <a:spAutoFit/>
          </a:bodyPr>
          <a:lstStyle/>
          <a:p>
            <a:pPr algn="ctr"/>
            <a:r>
              <a:rPr sz="1300" b="1" i="0">
                <a:solidFill>
                  <a:srgbClr val="095292"/>
                </a:solidFill>
                <a:latin typeface="Calibri"/>
              </a:rPr>
              <a:t>35-55</a:t>
            </a:r>
          </a:p>
        </p:txBody>
      </p:sp>
      <p:sp>
        <p:nvSpPr>
          <p:cNvPr id="14" name="TextBox 13"/>
          <p:cNvSpPr txBox="1"/>
          <p:nvPr/>
        </p:nvSpPr>
        <p:spPr>
          <a:xfrm>
            <a:off x="5013838" y="2587752"/>
            <a:ext cx="2164019" cy="3310128"/>
          </a:xfrm>
          <a:prstGeom prst="rect">
            <a:avLst/>
          </a:prstGeom>
          <a:noFill/>
        </p:spPr>
        <p:txBody>
          <a:bodyPr wrap="square">
            <a:spAutoFit/>
          </a:bodyPr>
          <a:lstStyle/>
          <a:p>
            <a:pPr algn="ctr"/>
            <a:r>
              <a:rPr sz="1300" b="0" i="0">
                <a:solidFill>
                  <a:srgbClr val="333333"/>
                </a:solidFill>
                <a:latin typeface="Calibri"/>
              </a:rPr>
              <a:t>Demo con la herramienta del día</a:t>
            </a:r>
          </a:p>
        </p:txBody>
      </p:sp>
      <p:sp>
        <p:nvSpPr>
          <p:cNvPr id="15" name="Rounded Rectangle 14"/>
          <p:cNvSpPr/>
          <p:nvPr/>
        </p:nvSpPr>
        <p:spPr>
          <a:xfrm>
            <a:off x="8205002"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577" y="1353312"/>
            <a:ext cx="2255459" cy="502920"/>
          </a:xfrm>
          <a:prstGeom prst="rect">
            <a:avLst/>
          </a:prstGeom>
          <a:noFill/>
        </p:spPr>
        <p:txBody>
          <a:bodyPr wrap="square">
            <a:spAutoFit/>
          </a:bodyPr>
          <a:lstStyle/>
          <a:p>
            <a:pPr algn="ctr"/>
            <a:r>
              <a:rPr sz="1300" b="1" i="0">
                <a:solidFill>
                  <a:srgbClr val="095292"/>
                </a:solidFill>
                <a:latin typeface="Calibri"/>
              </a:rPr>
              <a:t>55-105</a:t>
            </a:r>
          </a:p>
        </p:txBody>
      </p:sp>
      <p:sp>
        <p:nvSpPr>
          <p:cNvPr id="17" name="TextBox 16"/>
          <p:cNvSpPr txBox="1"/>
          <p:nvPr/>
        </p:nvSpPr>
        <p:spPr>
          <a:xfrm>
            <a:off x="7269297" y="2587752"/>
            <a:ext cx="2164019" cy="3310128"/>
          </a:xfrm>
          <a:prstGeom prst="rect">
            <a:avLst/>
          </a:prstGeom>
          <a:noFill/>
        </p:spPr>
        <p:txBody>
          <a:bodyPr wrap="square">
            <a:spAutoFit/>
          </a:bodyPr>
          <a:lstStyle/>
          <a:p>
            <a:pPr algn="ctr"/>
            <a:r>
              <a:rPr sz="1300" b="0" i="0">
                <a:solidFill>
                  <a:srgbClr val="333333"/>
                </a:solidFill>
                <a:latin typeface="Calibri"/>
              </a:rPr>
              <a:t>Práctica (opcional, guía en la carpeta)</a:t>
            </a:r>
          </a:p>
        </p:txBody>
      </p:sp>
      <p:sp>
        <p:nvSpPr>
          <p:cNvPr id="18" name="Rounded Rectangle 17"/>
          <p:cNvSpPr/>
          <p:nvPr/>
        </p:nvSpPr>
        <p:spPr>
          <a:xfrm>
            <a:off x="10460461"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79036" y="1353312"/>
            <a:ext cx="2255459" cy="502920"/>
          </a:xfrm>
          <a:prstGeom prst="rect">
            <a:avLst/>
          </a:prstGeom>
          <a:noFill/>
        </p:spPr>
        <p:txBody>
          <a:bodyPr wrap="square">
            <a:spAutoFit/>
          </a:bodyPr>
          <a:lstStyle/>
          <a:p>
            <a:pPr algn="ctr"/>
            <a:r>
              <a:rPr sz="1300" b="1" i="0">
                <a:solidFill>
                  <a:srgbClr val="095292"/>
                </a:solidFill>
                <a:latin typeface="Calibri"/>
              </a:rPr>
              <a:t>105-120</a:t>
            </a:r>
          </a:p>
        </p:txBody>
      </p:sp>
      <p:sp>
        <p:nvSpPr>
          <p:cNvPr id="20" name="TextBox 19"/>
          <p:cNvSpPr txBox="1"/>
          <p:nvPr/>
        </p:nvSpPr>
        <p:spPr>
          <a:xfrm>
            <a:off x="9524756" y="2587752"/>
            <a:ext cx="2164019" cy="3310128"/>
          </a:xfrm>
          <a:prstGeom prst="rect">
            <a:avLst/>
          </a:prstGeom>
          <a:noFill/>
        </p:spPr>
        <p:txBody>
          <a:bodyPr wrap="square">
            <a:spAutoFit/>
          </a:bodyPr>
          <a:lstStyle/>
          <a:p>
            <a:pPr algn="ctr"/>
            <a:r>
              <a:rPr sz="1300" b="0" i="0">
                <a:solidFill>
                  <a:srgbClr val="333333"/>
                </a:solidFill>
                <a:latin typeface="Calibri"/>
              </a:rPr>
              <a:t>Cierre conceptual · dudas</a:t>
            </a:r>
          </a:p>
        </p:txBody>
      </p:sp>
      <p:sp>
        <p:nvSpPr>
          <p:cNvPr id="21" name="TextBox 20"/>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Que es una transaccion, y las dos amenazas de las que protege</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ansaccion-unidad-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transaccion-unidad-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transaccion-unidad-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transaccion-unidad-paso4.png"/>
          <p:cNvPicPr>
            <a:picLocks noChangeAspect="1"/>
          </p:cNvPicPr>
          <p:nvPr/>
        </p:nvPicPr>
        <p:blipFill>
          <a:blip r:embed="rId5"/>
          <a:stretch>
            <a:fillRect/>
          </a:stretch>
        </p:blipFill>
        <p:spPr>
          <a:xfrm>
            <a:off x="5876318" y="1261872"/>
            <a:ext cx="5852160" cy="4681728"/>
          </a:xfrm>
          <a:prstGeom prst="rect">
            <a:avLst/>
          </a:prstGeom>
        </p:spPr>
      </p:pic>
      <p:sp>
        <p:nvSpPr>
          <p:cNvPr id="18" name="TextBox 1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9" name="TextBox 18"/>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Una </a:t>
            </a:r>
            <a:r>
              <a:rPr sz="2000" b="1" i="0">
                <a:solidFill>
                  <a:srgbClr val="333333"/>
                </a:solidFill>
                <a:latin typeface="Calibri"/>
              </a:rPr>
              <a:t>transacción</a:t>
            </a:r>
            <a:r>
              <a:rPr sz="2000" b="0" i="0">
                <a:solidFill>
                  <a:srgbClr val="333333"/>
                </a:solidFill>
                <a:latin typeface="Calibri"/>
              </a:rPr>
              <a:t> agrupa varias sentencias que describen un solo hecho de negocio.</a:t>
            </a:r>
          </a:p>
          <a:p>
            <a:pPr>
              <a:spcAft>
                <a:spcPts val="800"/>
              </a:spcAft>
            </a:pPr>
            <a:r>
              <a:rPr sz="2000" b="0" i="0">
                <a:solidFill>
                  <a:srgbClr val="333333"/>
                </a:solidFill>
                <a:latin typeface="Calibri"/>
              </a:rPr>
              <a:t>–   Protege de la </a:t>
            </a:r>
            <a:r>
              <a:rPr sz="2000" b="1" i="0">
                <a:solidFill>
                  <a:srgbClr val="333333"/>
                </a:solidFill>
                <a:latin typeface="Calibri"/>
              </a:rPr>
              <a:t>falla</a:t>
            </a:r>
            <a:r>
              <a:rPr sz="2000" b="0" i="0">
                <a:solidFill>
                  <a:srgbClr val="333333"/>
                </a:solidFill>
                <a:latin typeface="Calibri"/>
              </a:rPr>
              <a:t>: no puede quedar aplicada a medias.</a:t>
            </a:r>
          </a:p>
          <a:p>
            <a:pPr>
              <a:spcAft>
                <a:spcPts val="800"/>
              </a:spcAft>
            </a:pPr>
            <a:r>
              <a:rPr sz="2000" b="0" i="0">
                <a:solidFill>
                  <a:srgbClr val="333333"/>
                </a:solidFill>
                <a:latin typeface="Calibri"/>
              </a:rPr>
              <a:t>–   Protege de las </a:t>
            </a:r>
            <a:r>
              <a:rPr sz="2000" b="1" i="0">
                <a:solidFill>
                  <a:srgbClr val="333333"/>
                </a:solidFill>
                <a:latin typeface="Calibri"/>
              </a:rPr>
              <a:t>otras sesiones</a:t>
            </a:r>
            <a:r>
              <a:rPr sz="2000" b="0" i="0">
                <a:solidFill>
                  <a:srgbClr val="333333"/>
                </a:solidFill>
                <a:latin typeface="Calibri"/>
              </a:rPr>
              <a:t>: nadie ve el estado intermedio.</a:t>
            </a:r>
          </a:p>
          <a:p>
            <a:pPr>
              <a:spcAft>
                <a:spcPts val="800"/>
              </a:spcAft>
            </a:pPr>
            <a:r>
              <a:rPr sz="2000" b="0" i="0">
                <a:solidFill>
                  <a:srgbClr val="333333"/>
                </a:solidFill>
                <a:latin typeface="Calibri"/>
              </a:rPr>
              <a:t>–   En PostgreSQL, sin </a:t>
            </a:r>
            <a:r>
              <a:rPr sz="2000" b="1" i="0">
                <a:solidFill>
                  <a:srgbClr val="333333"/>
                </a:solidFill>
                <a:latin typeface="Calibri"/>
              </a:rPr>
              <a:t>BEGIN</a:t>
            </a:r>
            <a:r>
              <a:rPr sz="2000" b="0" i="0">
                <a:solidFill>
                  <a:srgbClr val="333333"/>
                </a:solidFill>
                <a:latin typeface="Calibri"/>
              </a:rPr>
              <a:t>, cada sentencia es su propia transacción y se confirma sola.</a:t>
            </a:r>
          </a:p>
        </p:txBody>
      </p:sp>
      <p:sp>
        <p:nvSpPr>
          <p:cNvPr id="20" name="TextBox 1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Atomicidad: el fallo concreto en la clínica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tomicidad-corte-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atomicidad-corte-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atomicidad-corte-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La </a:t>
            </a:r>
            <a:r>
              <a:rPr sz="2000" b="1" i="0">
                <a:solidFill>
                  <a:srgbClr val="333333"/>
                </a:solidFill>
                <a:latin typeface="Calibri"/>
              </a:rPr>
              <a:t>atomicidad</a:t>
            </a:r>
            <a:r>
              <a:rPr sz="2000" b="0" i="0">
                <a:solidFill>
                  <a:srgbClr val="333333"/>
                </a:solidFill>
                <a:latin typeface="Calibri"/>
              </a:rPr>
              <a:t> asegura que la transacción se aplica completa o no se aplica.</a:t>
            </a:r>
          </a:p>
          <a:p>
            <a:pPr>
              <a:spcAft>
                <a:spcPts val="800"/>
              </a:spcAft>
            </a:pPr>
            <a:r>
              <a:rPr sz="2000" b="0" i="0">
                <a:solidFill>
                  <a:srgbClr val="333333"/>
                </a:solidFill>
                <a:latin typeface="Calibri"/>
              </a:rPr>
              <a:t>–   Sin ella, un corte a mitad deja una </a:t>
            </a:r>
            <a:r>
              <a:rPr sz="2000" b="1" i="0">
                <a:solidFill>
                  <a:srgbClr val="333333"/>
                </a:solidFill>
                <a:latin typeface="Calibri"/>
              </a:rPr>
              <a:t>factura a medias</a:t>
            </a:r>
            <a:r>
              <a:rPr sz="2000" b="0" i="0">
                <a:solidFill>
                  <a:srgbClr val="333333"/>
                </a:solidFill>
                <a:latin typeface="Calibri"/>
              </a:rPr>
              <a:t> y un stock descontado que nadie entregó.</a:t>
            </a:r>
          </a:p>
          <a:p>
            <a:pPr>
              <a:spcAft>
                <a:spcPts val="800"/>
              </a:spcAft>
            </a:pPr>
            <a:r>
              <a:rPr sz="2000" b="0" i="0">
                <a:solidFill>
                  <a:srgbClr val="333333"/>
                </a:solidFill>
                <a:latin typeface="Calibri"/>
              </a:rPr>
              <a:t>–   Con ella, si la sesión muere sin COMMIT el motor </a:t>
            </a:r>
            <a:r>
              <a:rPr sz="2000" b="1" i="0">
                <a:solidFill>
                  <a:srgbClr val="333333"/>
                </a:solidFill>
                <a:latin typeface="Calibri"/>
              </a:rPr>
              <a:t>deshace todo</a:t>
            </a:r>
            <a:r>
              <a:rPr sz="2000" b="0" i="0">
                <a:solidFill>
                  <a:srgbClr val="333333"/>
                </a:solidFill>
                <a:latin typeface="Calibri"/>
              </a:rPr>
              <a:t> por su cuenta.</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Consistencia: valido es lo que las restricciones declaran</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nsistencia-restriccion-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consistencia-restriccion-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consistencia-restriccion-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La </a:t>
            </a:r>
            <a:r>
              <a:rPr sz="2000" b="1" i="0">
                <a:solidFill>
                  <a:srgbClr val="333333"/>
                </a:solidFill>
                <a:latin typeface="Calibri"/>
              </a:rPr>
              <a:t>consistencia</a:t>
            </a:r>
            <a:r>
              <a:rPr sz="2000" b="0" i="0">
                <a:solidFill>
                  <a:srgbClr val="333333"/>
                </a:solidFill>
                <a:latin typeface="Calibri"/>
              </a:rPr>
              <a:t> exige pasar de un estado válido a otro estado válido.</a:t>
            </a:r>
          </a:p>
          <a:p>
            <a:pPr>
              <a:spcAft>
                <a:spcPts val="800"/>
              </a:spcAft>
            </a:pPr>
            <a:r>
              <a:rPr sz="2000" b="0" i="0">
                <a:solidFill>
                  <a:srgbClr val="333333"/>
                </a:solidFill>
                <a:latin typeface="Calibri"/>
              </a:rPr>
              <a:t>–   Válido es lo que cumplen las </a:t>
            </a:r>
            <a:r>
              <a:rPr sz="2000" b="1" i="0">
                <a:solidFill>
                  <a:srgbClr val="333333"/>
                </a:solidFill>
                <a:latin typeface="Calibri"/>
              </a:rPr>
              <a:t>restricciones declaradas</a:t>
            </a:r>
            <a:r>
              <a:rPr sz="2000" b="0" i="0">
                <a:solidFill>
                  <a:srgbClr val="333333"/>
                </a:solidFill>
                <a:latin typeface="Calibri"/>
              </a:rPr>
              <a:t>: PK, FK, UNIQUE, NOT NULL, CHECK.</a:t>
            </a:r>
          </a:p>
          <a:p>
            <a:pPr>
              <a:spcAft>
                <a:spcPts val="800"/>
              </a:spcAft>
            </a:pPr>
            <a:r>
              <a:rPr sz="2000" b="0" i="0">
                <a:solidFill>
                  <a:srgbClr val="333333"/>
                </a:solidFill>
                <a:latin typeface="Calibri"/>
              </a:rPr>
              <a:t>–   La atomicidad </a:t>
            </a:r>
            <a:r>
              <a:rPr sz="2000" b="1" i="0">
                <a:solidFill>
                  <a:srgbClr val="333333"/>
                </a:solidFill>
                <a:latin typeface="Calibri"/>
              </a:rPr>
              <a:t>no</a:t>
            </a:r>
            <a:r>
              <a:rPr sz="2000" b="0" i="0">
                <a:solidFill>
                  <a:srgbClr val="333333"/>
                </a:solidFill>
                <a:latin typeface="Calibri"/>
              </a:rPr>
              <a:t> produce consistencia: sin CHECK, un stock de −7 se confirma sin quejarse.</a:t>
            </a:r>
          </a:p>
          <a:p>
            <a:pPr>
              <a:spcAft>
                <a:spcPts val="800"/>
              </a:spcAft>
            </a:pPr>
            <a:r>
              <a:rPr sz="2000" b="0" i="0">
                <a:solidFill>
                  <a:srgbClr val="333333"/>
                </a:solidFill>
                <a:latin typeface="Calibri"/>
              </a:rPr>
              <a:t>–   Con </a:t>
            </a:r>
            <a:r>
              <a:rPr sz="2000" b="1" i="0">
                <a:solidFill>
                  <a:srgbClr val="333333"/>
                </a:solidFill>
                <a:latin typeface="Calibri"/>
              </a:rPr>
              <a:t>CHECK (stock &gt;= 0)</a:t>
            </a:r>
            <a:r>
              <a:rPr sz="2000" b="0" i="0">
                <a:solidFill>
                  <a:srgbClr val="333333"/>
                </a:solidFill>
                <a:latin typeface="Calibri"/>
              </a:rPr>
              <a:t> el mismo UPDATE se rechaza.</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Aislamiento: el fallo mas facil de reproducir</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ctualizacion-perdida-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actualizacion-perdida-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actualizacion-perdida-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El </a:t>
            </a:r>
            <a:r>
              <a:rPr sz="2000" b="1" i="0">
                <a:solidFill>
                  <a:srgbClr val="333333"/>
                </a:solidFill>
                <a:latin typeface="Calibri"/>
              </a:rPr>
              <a:t>aislamiento</a:t>
            </a:r>
            <a:r>
              <a:rPr sz="2000" b="0" i="0">
                <a:solidFill>
                  <a:srgbClr val="333333"/>
                </a:solidFill>
                <a:latin typeface="Calibri"/>
              </a:rPr>
              <a:t> exige que dos transacciones a la vez den lo mismo que una tras otra.</a:t>
            </a:r>
          </a:p>
          <a:p>
            <a:pPr>
              <a:spcAft>
                <a:spcPts val="800"/>
              </a:spcAft>
            </a:pPr>
            <a:r>
              <a:rPr sz="2000" b="0" i="0">
                <a:solidFill>
                  <a:srgbClr val="333333"/>
                </a:solidFill>
                <a:latin typeface="Calibri"/>
              </a:rPr>
              <a:t>–   El fallo típico es la </a:t>
            </a:r>
            <a:r>
              <a:rPr sz="2000" b="1" i="0">
                <a:solidFill>
                  <a:srgbClr val="333333"/>
                </a:solidFill>
                <a:latin typeface="Calibri"/>
              </a:rPr>
              <a:t>actualización perdida</a:t>
            </a:r>
            <a:r>
              <a:rPr sz="2000" b="0" i="0">
                <a:solidFill>
                  <a:srgbClr val="333333"/>
                </a:solidFill>
                <a:latin typeface="Calibri"/>
              </a:rPr>
              <a:t>: las dos leen 3 y las dos escriben 0.</a:t>
            </a:r>
          </a:p>
          <a:p>
            <a:pPr>
              <a:spcAft>
                <a:spcPts val="800"/>
              </a:spcAft>
            </a:pPr>
            <a:r>
              <a:rPr sz="2000" b="0" i="0">
                <a:solidFill>
                  <a:srgbClr val="333333"/>
                </a:solidFill>
                <a:latin typeface="Calibri"/>
              </a:rPr>
              <a:t>–   Primera defensa: que el motor haga la resta en </a:t>
            </a:r>
            <a:r>
              <a:rPr sz="2000" b="1" i="0">
                <a:solidFill>
                  <a:srgbClr val="333333"/>
                </a:solidFill>
                <a:latin typeface="Calibri"/>
              </a:rPr>
              <a:t>una sola sentencia</a:t>
            </a:r>
            <a:r>
              <a:rPr sz="2000" b="0" i="0">
                <a:solidFill>
                  <a:srgbClr val="333333"/>
                </a:solidFill>
                <a:latin typeface="Calibri"/>
              </a:rPr>
              <a:t> con la condición.</a:t>
            </a:r>
          </a:p>
          <a:p>
            <a:pPr>
              <a:spcAft>
                <a:spcPts val="800"/>
              </a:spcAft>
            </a:pPr>
            <a:r>
              <a:rPr sz="2000" b="0" i="0">
                <a:solidFill>
                  <a:srgbClr val="333333"/>
                </a:solidFill>
                <a:latin typeface="Calibri"/>
              </a:rPr>
              <a:t>–   Segunda defensa: el </a:t>
            </a:r>
            <a:r>
              <a:rPr sz="2000" b="1" i="0">
                <a:solidFill>
                  <a:srgbClr val="333333"/>
                </a:solidFill>
                <a:latin typeface="Calibri"/>
              </a:rPr>
              <a:t>nivel de aislamiento</a:t>
            </a:r>
            <a:r>
              <a:rPr sz="2000" b="0" i="0">
                <a:solidFill>
                  <a:srgbClr val="333333"/>
                </a:solidFill>
                <a:latin typeface="Calibri"/>
              </a:rPr>
              <a:t>; en PostgreSQL, READ COMMITTED por omisión.</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Durabilidad: el registro de transacciones</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al-commit-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wal-commit-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wal-commit-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wal-commit-paso4.png"/>
          <p:cNvPicPr>
            <a:picLocks noChangeAspect="1"/>
          </p:cNvPicPr>
          <p:nvPr/>
        </p:nvPicPr>
        <p:blipFill>
          <a:blip r:embed="rId5"/>
          <a:stretch>
            <a:fillRect/>
          </a:stretch>
        </p:blipFill>
        <p:spPr>
          <a:xfrm>
            <a:off x="5876318" y="1261872"/>
            <a:ext cx="5852160" cy="4681728"/>
          </a:xfrm>
          <a:prstGeom prst="rect">
            <a:avLst/>
          </a:prstGeom>
        </p:spPr>
      </p:pic>
      <p:sp>
        <p:nvSpPr>
          <p:cNvPr id="18" name="TextBox 1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9" name="TextBox 18"/>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La </a:t>
            </a:r>
            <a:r>
              <a:rPr sz="2000" b="1" i="0">
                <a:solidFill>
                  <a:srgbClr val="333333"/>
                </a:solidFill>
                <a:latin typeface="Calibri"/>
              </a:rPr>
              <a:t>durabilidad</a:t>
            </a:r>
            <a:r>
              <a:rPr sz="2000" b="0" i="0">
                <a:solidFill>
                  <a:srgbClr val="333333"/>
                </a:solidFill>
                <a:latin typeface="Calibri"/>
              </a:rPr>
              <a:t> asegura que lo confirmado sobrevive aunque el servidor se apague.</a:t>
            </a:r>
          </a:p>
          <a:p>
            <a:pPr>
              <a:spcAft>
                <a:spcPts val="800"/>
              </a:spcAft>
            </a:pPr>
            <a:r>
              <a:rPr sz="2000" b="0" i="0">
                <a:solidFill>
                  <a:srgbClr val="333333"/>
                </a:solidFill>
                <a:latin typeface="Calibri"/>
              </a:rPr>
              <a:t>–   El motor escribe primero en el </a:t>
            </a:r>
            <a:r>
              <a:rPr sz="2000" b="1" i="0">
                <a:solidFill>
                  <a:srgbClr val="333333"/>
                </a:solidFill>
                <a:latin typeface="Calibri"/>
              </a:rPr>
              <a:t>WAL</a:t>
            </a:r>
            <a:r>
              <a:rPr sz="2000" b="0" i="0">
                <a:solidFill>
                  <a:srgbClr val="333333"/>
                </a:solidFill>
                <a:latin typeface="Calibri"/>
              </a:rPr>
              <a:t>, un registro secuencial, y después en las páginas.</a:t>
            </a:r>
          </a:p>
          <a:p>
            <a:pPr>
              <a:spcAft>
                <a:spcPts val="800"/>
              </a:spcAft>
            </a:pPr>
            <a:r>
              <a:rPr sz="2000" b="0" i="0">
                <a:solidFill>
                  <a:srgbClr val="333333"/>
                </a:solidFill>
                <a:latin typeface="Calibri"/>
              </a:rPr>
              <a:t>–   El </a:t>
            </a:r>
            <a:r>
              <a:rPr sz="2000" b="1" i="0">
                <a:solidFill>
                  <a:srgbClr val="333333"/>
                </a:solidFill>
                <a:latin typeface="Calibri"/>
              </a:rPr>
              <a:t>COMMIT</a:t>
            </a:r>
            <a:r>
              <a:rPr sz="2000" b="0" i="0">
                <a:solidFill>
                  <a:srgbClr val="333333"/>
                </a:solidFill>
                <a:latin typeface="Calibri"/>
              </a:rPr>
              <a:t> solo espera que su registro quede grabado: unos cientos de bytes.</a:t>
            </a:r>
          </a:p>
          <a:p>
            <a:pPr>
              <a:spcAft>
                <a:spcPts val="800"/>
              </a:spcAft>
            </a:pPr>
            <a:r>
              <a:rPr sz="2000" b="0" i="0">
                <a:solidFill>
                  <a:srgbClr val="333333"/>
                </a:solidFill>
                <a:latin typeface="Calibri"/>
              </a:rPr>
              <a:t>–   Tras una caída, el motor </a:t>
            </a:r>
            <a:r>
              <a:rPr sz="2000" b="1" i="0">
                <a:solidFill>
                  <a:srgbClr val="333333"/>
                </a:solidFill>
                <a:latin typeface="Calibri"/>
              </a:rPr>
              <a:t>relee el WAL</a:t>
            </a:r>
            <a:r>
              <a:rPr sz="2000" b="0" i="0">
                <a:solidFill>
                  <a:srgbClr val="333333"/>
                </a:solidFill>
                <a:latin typeface="Calibri"/>
              </a:rPr>
              <a:t>: rehace lo confirmado y descarta lo demás.</a:t>
            </a:r>
          </a:p>
        </p:txBody>
      </p:sp>
      <p:sp>
        <p:nvSpPr>
          <p:cNvPr id="20" name="TextBox 1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firma de sp_facturar, y por que recibe dos arreglos</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p-facturar-arreglo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sp-facturar-arreglo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sp-facturar-arreglos-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sp_facturar recibe </a:t>
            </a:r>
            <a:r>
              <a:rPr sz="2000" b="1" i="0">
                <a:solidFill>
                  <a:srgbClr val="333333"/>
                </a:solidFill>
                <a:latin typeface="Calibri"/>
              </a:rPr>
              <a:t>dos arreglos paralelos</a:t>
            </a:r>
            <a:r>
              <a:rPr sz="2000" b="0" i="0">
                <a:solidFill>
                  <a:srgbClr val="333333"/>
                </a:solidFill>
                <a:latin typeface="Calibri"/>
              </a:rPr>
              <a:t>: los insumos y sus cantidades, por posición.</a:t>
            </a:r>
          </a:p>
          <a:p>
            <a:pPr>
              <a:spcAft>
                <a:spcPts val="800"/>
              </a:spcAft>
            </a:pPr>
            <a:r>
              <a:rPr sz="2000" b="0" i="0">
                <a:solidFill>
                  <a:srgbClr val="333333"/>
                </a:solidFill>
                <a:latin typeface="Calibri"/>
              </a:rPr>
              <a:t>–   Primero valida que los arreglos midan lo mismo, con </a:t>
            </a:r>
            <a:r>
              <a:rPr sz="2000" b="1" i="0">
                <a:solidFill>
                  <a:srgbClr val="333333"/>
                </a:solidFill>
                <a:latin typeface="Calibri"/>
              </a:rPr>
              <a:t>IS DISTINCT FROM</a:t>
            </a:r>
            <a:r>
              <a:rPr sz="2000" b="0" i="0">
                <a:solidFill>
                  <a:srgbClr val="333333"/>
                </a:solidFill>
                <a:latin typeface="Calibri"/>
              </a:rPr>
              <a:t>.</a:t>
            </a:r>
          </a:p>
          <a:p>
            <a:pPr>
              <a:spcAft>
                <a:spcPts val="800"/>
              </a:spcAft>
            </a:pPr>
            <a:r>
              <a:rPr sz="2000" b="0" i="0">
                <a:solidFill>
                  <a:srgbClr val="333333"/>
                </a:solidFill>
                <a:latin typeface="Calibri"/>
              </a:rPr>
              <a:t>–   La </a:t>
            </a:r>
            <a:r>
              <a:rPr sz="2000" b="1" i="0">
                <a:solidFill>
                  <a:srgbClr val="333333"/>
                </a:solidFill>
                <a:latin typeface="Calibri"/>
              </a:rPr>
              <a:t>cabecera</a:t>
            </a:r>
            <a:r>
              <a:rPr sz="2000" b="0" i="0">
                <a:solidFill>
                  <a:srgbClr val="333333"/>
                </a:solidFill>
                <a:latin typeface="Calibri"/>
              </a:rPr>
              <a:t> entra con total 0 y RETURNING … INTO guarda el id generado.</a:t>
            </a:r>
          </a:p>
          <a:p>
            <a:pPr>
              <a:spcAft>
                <a:spcPts val="800"/>
              </a:spcAft>
            </a:pPr>
            <a:r>
              <a:rPr sz="2000" b="0" i="0">
                <a:solidFill>
                  <a:srgbClr val="333333"/>
                </a:solidFill>
                <a:latin typeface="Calibri"/>
              </a:rPr>
              <a:t>–   El </a:t>
            </a:r>
            <a:r>
              <a:rPr sz="2000" b="1" i="0">
                <a:solidFill>
                  <a:srgbClr val="333333"/>
                </a:solidFill>
                <a:latin typeface="Calibri"/>
              </a:rPr>
              <a:t>total</a:t>
            </a:r>
            <a:r>
              <a:rPr sz="2000" b="0" i="0">
                <a:solidFill>
                  <a:srgbClr val="333333"/>
                </a:solidFill>
                <a:latin typeface="Calibri"/>
              </a:rPr>
              <a:t> se calcula en el bucle: 22.000×1 + 900×2 + 1.200×3 = 27.400.</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Todo o nada: la transaccion de facturacion</a:t>
            </a:r>
          </a:p>
        </p:txBody>
      </p:sp>
      <p:sp>
        <p:nvSpPr>
          <p:cNvPr id="5" name="Rounded Rectangle 4"/>
          <p:cNvSpPr/>
          <p:nvPr/>
        </p:nvSpPr>
        <p:spPr>
          <a:xfrm>
            <a:off x="457200" y="1261872"/>
            <a:ext cx="11277295" cy="4773572"/>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SQL · PostgreSQL</a:t>
            </a:r>
          </a:p>
        </p:txBody>
      </p:sp>
      <p:sp>
        <p:nvSpPr>
          <p:cNvPr id="11" name="TextBox 10"/>
          <p:cNvSpPr txBox="1"/>
          <p:nvPr/>
        </p:nvSpPr>
        <p:spPr>
          <a:xfrm>
            <a:off x="685800" y="1719072"/>
            <a:ext cx="502920" cy="4179212"/>
          </a:xfrm>
          <a:prstGeom prst="rect">
            <a:avLst/>
          </a:prstGeom>
          <a:noFill/>
        </p:spPr>
        <p:txBody>
          <a:bodyPr wrap="square">
            <a:spAutoFit/>
          </a:bodyPr>
          <a:lstStyle/>
          <a:p>
            <a:pPr algn="r">
              <a:spcAft>
                <a:spcPts val="257"/>
              </a:spcAft>
            </a:pPr>
            <a:r>
              <a:rPr sz="1200" i="0" b="0">
                <a:solidFill>
                  <a:srgbClr val="858585"/>
                </a:solidFill>
                <a:latin typeface="Consolas"/>
              </a:rPr>
              <a:t>1</a:t>
            </a:r>
          </a:p>
          <a:p>
            <a:pPr algn="r">
              <a:spcAft>
                <a:spcPts val="257"/>
              </a:spcAft>
            </a:pPr>
            <a:r>
              <a:rPr sz="1200" i="0" b="0">
                <a:solidFill>
                  <a:srgbClr val="858585"/>
                </a:solidFill>
                <a:latin typeface="Consolas"/>
              </a:rPr>
              <a:t>2</a:t>
            </a:r>
          </a:p>
          <a:p>
            <a:pPr algn="r">
              <a:spcAft>
                <a:spcPts val="257"/>
              </a:spcAft>
            </a:pPr>
            <a:r>
              <a:rPr sz="1200" i="0" b="0">
                <a:solidFill>
                  <a:srgbClr val="858585"/>
                </a:solidFill>
                <a:latin typeface="Consolas"/>
              </a:rPr>
              <a:t>3</a:t>
            </a:r>
          </a:p>
          <a:p>
            <a:pPr algn="r">
              <a:spcAft>
                <a:spcPts val="257"/>
              </a:spcAft>
            </a:pPr>
            <a:r>
              <a:rPr sz="1200" i="0" b="0">
                <a:solidFill>
                  <a:srgbClr val="858585"/>
                </a:solidFill>
                <a:latin typeface="Consolas"/>
              </a:rPr>
              <a:t>4</a:t>
            </a:r>
          </a:p>
          <a:p>
            <a:pPr algn="r">
              <a:spcAft>
                <a:spcPts val="257"/>
              </a:spcAft>
            </a:pPr>
            <a:r>
              <a:rPr sz="1200" i="0" b="0">
                <a:solidFill>
                  <a:srgbClr val="858585"/>
                </a:solidFill>
                <a:latin typeface="Consolas"/>
              </a:rPr>
              <a:t>5</a:t>
            </a:r>
          </a:p>
          <a:p>
            <a:pPr algn="r">
              <a:spcAft>
                <a:spcPts val="257"/>
              </a:spcAft>
            </a:pPr>
            <a:r>
              <a:rPr sz="1200" i="0" b="0">
                <a:solidFill>
                  <a:srgbClr val="858585"/>
                </a:solidFill>
                <a:latin typeface="Consolas"/>
              </a:rPr>
              <a:t>6</a:t>
            </a:r>
          </a:p>
          <a:p>
            <a:pPr algn="r">
              <a:spcAft>
                <a:spcPts val="257"/>
              </a:spcAft>
            </a:pPr>
            <a:r>
              <a:rPr sz="1200" i="0" b="0">
                <a:solidFill>
                  <a:srgbClr val="858585"/>
                </a:solidFill>
                <a:latin typeface="Consolas"/>
              </a:rPr>
              <a:t>7</a:t>
            </a:r>
          </a:p>
          <a:p>
            <a:pPr algn="r">
              <a:spcAft>
                <a:spcPts val="257"/>
              </a:spcAft>
            </a:pPr>
            <a:r>
              <a:rPr sz="1200" i="0" b="0">
                <a:solidFill>
                  <a:srgbClr val="858585"/>
                </a:solidFill>
                <a:latin typeface="Consolas"/>
              </a:rPr>
              <a:t>8</a:t>
            </a:r>
          </a:p>
          <a:p>
            <a:pPr algn="r">
              <a:spcAft>
                <a:spcPts val="257"/>
              </a:spcAft>
            </a:pPr>
            <a:r>
              <a:rPr sz="1200" i="0" b="0">
                <a:solidFill>
                  <a:srgbClr val="858585"/>
                </a:solidFill>
                <a:latin typeface="Consolas"/>
              </a:rPr>
              <a:t>9</a:t>
            </a:r>
          </a:p>
          <a:p>
            <a:pPr algn="r">
              <a:spcAft>
                <a:spcPts val="257"/>
              </a:spcAft>
            </a:pPr>
            <a:r>
              <a:rPr sz="1200" i="0" b="0">
                <a:solidFill>
                  <a:srgbClr val="858585"/>
                </a:solidFill>
                <a:latin typeface="Consolas"/>
              </a:rPr>
              <a:t>10</a:t>
            </a:r>
          </a:p>
          <a:p>
            <a:pPr algn="r">
              <a:spcAft>
                <a:spcPts val="257"/>
              </a:spcAft>
            </a:pPr>
            <a:r>
              <a:rPr sz="1200" i="0" b="0">
                <a:solidFill>
                  <a:srgbClr val="858585"/>
                </a:solidFill>
                <a:latin typeface="Consolas"/>
              </a:rPr>
              <a:t>11</a:t>
            </a:r>
          </a:p>
          <a:p>
            <a:pPr algn="r">
              <a:spcAft>
                <a:spcPts val="257"/>
              </a:spcAft>
            </a:pPr>
            <a:r>
              <a:rPr sz="1200" i="0" b="0">
                <a:solidFill>
                  <a:srgbClr val="858585"/>
                </a:solidFill>
                <a:latin typeface="Consolas"/>
              </a:rPr>
              <a:t>12</a:t>
            </a:r>
          </a:p>
          <a:p>
            <a:pPr algn="r">
              <a:spcAft>
                <a:spcPts val="257"/>
              </a:spcAft>
            </a:pPr>
            <a:r>
              <a:rPr sz="1200" i="0" b="0">
                <a:solidFill>
                  <a:srgbClr val="858585"/>
                </a:solidFill>
                <a:latin typeface="Consolas"/>
              </a:rPr>
              <a:t>13</a:t>
            </a:r>
          </a:p>
          <a:p>
            <a:pPr algn="r">
              <a:spcAft>
                <a:spcPts val="257"/>
              </a:spcAft>
            </a:pPr>
            <a:r>
              <a:rPr sz="1200" i="0" b="0">
                <a:solidFill>
                  <a:srgbClr val="858585"/>
                </a:solidFill>
                <a:latin typeface="Consolas"/>
              </a:rPr>
              <a:t>14</a:t>
            </a:r>
          </a:p>
          <a:p>
            <a:pPr algn="r">
              <a:spcAft>
                <a:spcPts val="257"/>
              </a:spcAft>
            </a:pPr>
            <a:r>
              <a:rPr sz="1200" i="0" b="0">
                <a:solidFill>
                  <a:srgbClr val="858585"/>
                </a:solidFill>
                <a:latin typeface="Consolas"/>
              </a:rPr>
              <a:t>15</a:t>
            </a:r>
          </a:p>
          <a:p>
            <a:pPr algn="r">
              <a:spcAft>
                <a:spcPts val="257"/>
              </a:spcAft>
            </a:pPr>
            <a:r>
              <a:rPr sz="1200" i="0" b="0">
                <a:solidFill>
                  <a:srgbClr val="858585"/>
                </a:solidFill>
                <a:latin typeface="Consolas"/>
              </a:rPr>
              <a:t>16</a:t>
            </a:r>
          </a:p>
          <a:p>
            <a:pPr algn="r">
              <a:spcAft>
                <a:spcPts val="257"/>
              </a:spcAft>
            </a:pPr>
            <a:r>
              <a:rPr sz="1200" i="0" b="0">
                <a:solidFill>
                  <a:srgbClr val="858585"/>
                </a:solidFill>
                <a:latin typeface="Consolas"/>
              </a:rPr>
              <a:t>17</a:t>
            </a:r>
          </a:p>
          <a:p>
            <a:pPr algn="r">
              <a:spcAft>
                <a:spcPts val="257"/>
              </a:spcAft>
            </a:pPr>
            <a:r>
              <a:rPr sz="1200" i="0" b="0">
                <a:solidFill>
                  <a:srgbClr val="858585"/>
                </a:solidFill>
                <a:latin typeface="Consolas"/>
              </a:rPr>
              <a:t>18</a:t>
            </a:r>
          </a:p>
        </p:txBody>
      </p:sp>
      <p:sp>
        <p:nvSpPr>
          <p:cNvPr id="12" name="TextBox 11"/>
          <p:cNvSpPr txBox="1"/>
          <p:nvPr/>
        </p:nvSpPr>
        <p:spPr>
          <a:xfrm>
            <a:off x="1188720" y="1719072"/>
            <a:ext cx="10271455" cy="4179212"/>
          </a:xfrm>
          <a:prstGeom prst="rect">
            <a:avLst/>
          </a:prstGeom>
          <a:noFill/>
        </p:spPr>
        <p:txBody>
          <a:bodyPr wrap="square">
            <a:spAutoFit/>
          </a:bodyPr>
          <a:lstStyle/>
          <a:p>
            <a:pPr>
              <a:spcAft>
                <a:spcPts val="257"/>
              </a:spcAft>
            </a:pPr>
            <a:r>
              <a:rPr sz="1200" i="0" b="0">
                <a:solidFill>
                  <a:srgbClr val="569CD6"/>
                </a:solidFill>
                <a:latin typeface="Consolas"/>
              </a:rPr>
              <a:t>CREATE</a:t>
            </a:r>
            <a:r>
              <a:rPr sz="1200" i="0" b="0">
                <a:solidFill>
                  <a:srgbClr val="D4D4D4"/>
                </a:solidFill>
                <a:latin typeface="Consolas"/>
              </a:rPr>
              <a:t> </a:t>
            </a:r>
            <a:r>
              <a:rPr sz="1200" i="0" b="0">
                <a:solidFill>
                  <a:srgbClr val="569CD6"/>
                </a:solidFill>
                <a:latin typeface="Consolas"/>
              </a:rPr>
              <a:t>OR</a:t>
            </a:r>
            <a:r>
              <a:rPr sz="1200" i="0" b="0">
                <a:solidFill>
                  <a:srgbClr val="D4D4D4"/>
                </a:solidFill>
                <a:latin typeface="Consolas"/>
              </a:rPr>
              <a:t> </a:t>
            </a:r>
            <a:r>
              <a:rPr sz="1200" i="0" b="0">
                <a:solidFill>
                  <a:srgbClr val="569CD6"/>
                </a:solidFill>
                <a:latin typeface="Consolas"/>
              </a:rPr>
              <a:t>REPLACE</a:t>
            </a:r>
            <a:r>
              <a:rPr sz="1200" i="0" b="0">
                <a:solidFill>
                  <a:srgbClr val="D4D4D4"/>
                </a:solidFill>
                <a:latin typeface="Consolas"/>
              </a:rPr>
              <a:t> </a:t>
            </a:r>
            <a:r>
              <a:rPr sz="1200" i="0" b="0">
                <a:solidFill>
                  <a:srgbClr val="569CD6"/>
                </a:solidFill>
                <a:latin typeface="Consolas"/>
              </a:rPr>
              <a:t>PROCEDURE</a:t>
            </a:r>
            <a:r>
              <a:rPr sz="1200" i="0" b="0">
                <a:solidFill>
                  <a:srgbClr val="D4D4D4"/>
                </a:solidFill>
                <a:latin typeface="Consolas"/>
              </a:rPr>
              <a:t> </a:t>
            </a:r>
            <a:r>
              <a:rPr sz="1200" i="0" b="0">
                <a:solidFill>
                  <a:srgbClr val="DCDCAA"/>
                </a:solidFill>
                <a:latin typeface="Consolas"/>
              </a:rPr>
              <a:t>sp_facturar</a:t>
            </a:r>
            <a:r>
              <a:rPr sz="1200" i="0" b="0">
                <a:solidFill>
                  <a:srgbClr val="D4D4D4"/>
                </a:solidFill>
                <a:latin typeface="Consolas"/>
              </a:rPr>
              <a:t>(</a:t>
            </a:r>
            <a:r>
              <a:rPr sz="1200" i="0" b="0">
                <a:solidFill>
                  <a:srgbClr val="D4D4D4"/>
                </a:solidFill>
                <a:latin typeface="Consolas"/>
              </a:rPr>
              <a:t>p_id_consulta</a:t>
            </a:r>
            <a:r>
              <a:rPr sz="1200" i="0" b="0">
                <a:solidFill>
                  <a:srgbClr val="D4D4D4"/>
                </a:solidFill>
                <a:latin typeface="Consolas"/>
              </a:rPr>
              <a:t> </a:t>
            </a:r>
            <a:r>
              <a:rPr sz="1200" i="0" b="0">
                <a:solidFill>
                  <a:srgbClr val="4EC9B0"/>
                </a:solidFill>
                <a:latin typeface="Consolas"/>
              </a:rPr>
              <a:t>INT</a:t>
            </a:r>
            <a:r>
              <a:rPr sz="1200" i="0" b="0">
                <a:solidFill>
                  <a:srgbClr val="D4D4D4"/>
                </a:solidFill>
                <a:latin typeface="Consolas"/>
              </a:rPr>
              <a:t>, </a:t>
            </a:r>
            <a:r>
              <a:rPr sz="1200" i="0" b="0">
                <a:solidFill>
                  <a:srgbClr val="D4D4D4"/>
                </a:solidFill>
                <a:latin typeface="Consolas"/>
              </a:rPr>
              <a:t>p_insumos</a:t>
            </a:r>
            <a:r>
              <a:rPr sz="1200" i="0" b="0">
                <a:solidFill>
                  <a:srgbClr val="D4D4D4"/>
                </a:solidFill>
                <a:latin typeface="Consolas"/>
              </a:rPr>
              <a:t> </a:t>
            </a:r>
            <a:r>
              <a:rPr sz="1200" i="0" b="0">
                <a:solidFill>
                  <a:srgbClr val="4EC9B0"/>
                </a:solidFill>
                <a:latin typeface="Consolas"/>
              </a:rPr>
              <a:t>INT</a:t>
            </a:r>
            <a:r>
              <a:rPr sz="1200" i="0" b="0">
                <a:solidFill>
                  <a:srgbClr val="D4D4D4"/>
                </a:solidFill>
                <a:latin typeface="Consolas"/>
              </a:rPr>
              <a:t>[], </a:t>
            </a:r>
            <a:r>
              <a:rPr sz="1200" i="0" b="0">
                <a:solidFill>
                  <a:srgbClr val="D4D4D4"/>
                </a:solidFill>
                <a:latin typeface="Consolas"/>
              </a:rPr>
              <a:t>p_cantidades</a:t>
            </a:r>
            <a:r>
              <a:rPr sz="1200" i="0" b="0">
                <a:solidFill>
                  <a:srgbClr val="D4D4D4"/>
                </a:solidFill>
                <a:latin typeface="Consolas"/>
              </a:rPr>
              <a:t> </a:t>
            </a:r>
            <a:r>
              <a:rPr sz="1200" i="0" b="0">
                <a:solidFill>
                  <a:srgbClr val="4EC9B0"/>
                </a:solidFill>
                <a:latin typeface="Consolas"/>
              </a:rPr>
              <a:t>INT</a:t>
            </a:r>
            <a:r>
              <a:rPr sz="1200" i="0" b="0">
                <a:solidFill>
                  <a:srgbClr val="D4D4D4"/>
                </a:solidFill>
                <a:latin typeface="Consolas"/>
              </a:rPr>
              <a:t>[])</a:t>
            </a:r>
          </a:p>
          <a:p>
            <a:pPr>
              <a:spcAft>
                <a:spcPts val="257"/>
              </a:spcAft>
            </a:pPr>
            <a:r>
              <a:rPr sz="1200" i="0" b="0">
                <a:solidFill>
                  <a:srgbClr val="569CD6"/>
                </a:solidFill>
                <a:latin typeface="Consolas"/>
              </a:rPr>
              <a:t>LANGUAGE</a:t>
            </a:r>
            <a:r>
              <a:rPr sz="1200" i="0" b="0">
                <a:solidFill>
                  <a:srgbClr val="D4D4D4"/>
                </a:solidFill>
                <a:latin typeface="Consolas"/>
              </a:rPr>
              <a:t> </a:t>
            </a:r>
            <a:r>
              <a:rPr sz="1200" i="0" b="0">
                <a:solidFill>
                  <a:srgbClr val="569CD6"/>
                </a:solidFill>
                <a:latin typeface="Consolas"/>
              </a:rPr>
              <a:t>plpgsql</a:t>
            </a:r>
            <a:r>
              <a:rPr sz="1200" i="0" b="0">
                <a:solidFill>
                  <a:srgbClr val="D4D4D4"/>
                </a:solidFill>
                <a:latin typeface="Consolas"/>
              </a:rPr>
              <a:t> </a:t>
            </a:r>
            <a:r>
              <a:rPr sz="1200" i="0" b="0">
                <a:solidFill>
                  <a:srgbClr val="569CD6"/>
                </a:solidFill>
                <a:latin typeface="Consolas"/>
              </a:rPr>
              <a:t>AS</a:t>
            </a:r>
            <a:r>
              <a:rPr sz="1200" i="0" b="0">
                <a:solidFill>
                  <a:srgbClr val="D4D4D4"/>
                </a:solidFill>
                <a:latin typeface="Consolas"/>
              </a:rPr>
              <a:t> </a:t>
            </a:r>
            <a:r>
              <a:rPr sz="1200" i="0" b="0">
                <a:solidFill>
                  <a:srgbClr val="569CD6"/>
                </a:solidFill>
                <a:latin typeface="Consolas"/>
              </a:rPr>
              <a:t>$proc$</a:t>
            </a:r>
          </a:p>
          <a:p>
            <a:pPr>
              <a:spcAft>
                <a:spcPts val="257"/>
              </a:spcAft>
            </a:pPr>
            <a:r>
              <a:rPr sz="1200" i="0" b="0">
                <a:solidFill>
                  <a:srgbClr val="569CD6"/>
                </a:solidFill>
                <a:latin typeface="Consolas"/>
              </a:rPr>
              <a:t>DECLARE</a:t>
            </a:r>
            <a:r>
              <a:rPr sz="1200" i="0" b="0">
                <a:solidFill>
                  <a:srgbClr val="D4D4D4"/>
                </a:solidFill>
                <a:latin typeface="Consolas"/>
              </a:rPr>
              <a:t> </a:t>
            </a:r>
            <a:r>
              <a:rPr sz="1200" i="0" b="0">
                <a:solidFill>
                  <a:srgbClr val="D4D4D4"/>
                </a:solidFill>
                <a:latin typeface="Consolas"/>
              </a:rPr>
              <a:t>v_id_factura</a:t>
            </a:r>
            <a:r>
              <a:rPr sz="1200" i="0" b="0">
                <a:solidFill>
                  <a:srgbClr val="D4D4D4"/>
                </a:solidFill>
                <a:latin typeface="Consolas"/>
              </a:rPr>
              <a:t> </a:t>
            </a:r>
            <a:r>
              <a:rPr sz="1200" i="0" b="0">
                <a:solidFill>
                  <a:srgbClr val="4EC9B0"/>
                </a:solidFill>
                <a:latin typeface="Consolas"/>
              </a:rPr>
              <a:t>INT</a:t>
            </a:r>
            <a:r>
              <a:rPr sz="1200" i="0" b="0">
                <a:solidFill>
                  <a:srgbClr val="D4D4D4"/>
                </a:solidFill>
                <a:latin typeface="Consolas"/>
              </a:rPr>
              <a:t>; </a:t>
            </a:r>
            <a:r>
              <a:rPr sz="1200" i="0" b="0">
                <a:solidFill>
                  <a:srgbClr val="D4D4D4"/>
                </a:solidFill>
                <a:latin typeface="Consolas"/>
              </a:rPr>
              <a:t>v_filas</a:t>
            </a:r>
            <a:r>
              <a:rPr sz="1200" i="0" b="0">
                <a:solidFill>
                  <a:srgbClr val="D4D4D4"/>
                </a:solidFill>
                <a:latin typeface="Consolas"/>
              </a:rPr>
              <a:t> </a:t>
            </a:r>
            <a:r>
              <a:rPr sz="1200" i="0" b="0">
                <a:solidFill>
                  <a:srgbClr val="4EC9B0"/>
                </a:solidFill>
                <a:latin typeface="Consolas"/>
              </a:rPr>
              <a:t>INT</a:t>
            </a:r>
            <a:r>
              <a:rPr sz="1200" i="0" b="0">
                <a:solidFill>
                  <a:srgbClr val="D4D4D4"/>
                </a:solidFill>
                <a:latin typeface="Consolas"/>
              </a:rPr>
              <a:t>;</a:t>
            </a:r>
          </a:p>
          <a:p>
            <a:pPr>
              <a:spcAft>
                <a:spcPts val="257"/>
              </a:spcAft>
            </a:pPr>
            <a:r>
              <a:rPr sz="1200" i="0" b="0">
                <a:solidFill>
                  <a:srgbClr val="569CD6"/>
                </a:solidFill>
                <a:latin typeface="Consolas"/>
              </a:rPr>
              <a:t>BEGIN</a:t>
            </a:r>
          </a:p>
          <a:p>
            <a:pPr>
              <a:spcAft>
                <a:spcPts val="257"/>
              </a:spcAft>
            </a:pPr>
            <a:r>
              <a:rPr sz="1200" i="0" b="0">
                <a:solidFill>
                  <a:srgbClr val="D4D4D4"/>
                </a:solidFill>
                <a:latin typeface="Consolas"/>
              </a:rPr>
              <a:t>  </a:t>
            </a:r>
            <a:r>
              <a:rPr sz="1200" i="0" b="0">
                <a:solidFill>
                  <a:srgbClr val="569CD6"/>
                </a:solidFill>
                <a:latin typeface="Consolas"/>
              </a:rPr>
              <a:t>INSERT</a:t>
            </a:r>
            <a:r>
              <a:rPr sz="1200" i="0" b="0">
                <a:solidFill>
                  <a:srgbClr val="D4D4D4"/>
                </a:solidFill>
                <a:latin typeface="Consolas"/>
              </a:rPr>
              <a:t> </a:t>
            </a:r>
            <a:r>
              <a:rPr sz="1200" i="0" b="0">
                <a:solidFill>
                  <a:srgbClr val="569CD6"/>
                </a:solidFill>
                <a:latin typeface="Consolas"/>
              </a:rPr>
              <a:t>INTO</a:t>
            </a:r>
            <a:r>
              <a:rPr sz="1200" i="0" b="0">
                <a:solidFill>
                  <a:srgbClr val="D4D4D4"/>
                </a:solidFill>
                <a:latin typeface="Consolas"/>
              </a:rPr>
              <a:t> </a:t>
            </a:r>
            <a:r>
              <a:rPr sz="1200" i="0" b="0">
                <a:solidFill>
                  <a:srgbClr val="DCDCAA"/>
                </a:solidFill>
                <a:latin typeface="Consolas"/>
              </a:rPr>
              <a:t>factura</a:t>
            </a:r>
            <a:r>
              <a:rPr sz="1200" i="0" b="0">
                <a:solidFill>
                  <a:srgbClr val="D4D4D4"/>
                </a:solidFill>
                <a:latin typeface="Consolas"/>
              </a:rPr>
              <a:t> (</a:t>
            </a:r>
            <a:r>
              <a:rPr sz="1200" i="0" b="0">
                <a:solidFill>
                  <a:srgbClr val="D4D4D4"/>
                </a:solidFill>
                <a:latin typeface="Consolas"/>
              </a:rPr>
              <a:t>id_consulta</a:t>
            </a:r>
            <a:r>
              <a:rPr sz="1200" i="0" b="0">
                <a:solidFill>
                  <a:srgbClr val="D4D4D4"/>
                </a:solidFill>
                <a:latin typeface="Consolas"/>
              </a:rPr>
              <a:t>) </a:t>
            </a:r>
            <a:r>
              <a:rPr sz="1200" i="0" b="0">
                <a:solidFill>
                  <a:srgbClr val="569CD6"/>
                </a:solidFill>
                <a:latin typeface="Consolas"/>
              </a:rPr>
              <a:t>VALUES</a:t>
            </a:r>
            <a:r>
              <a:rPr sz="1200" i="0" b="0">
                <a:solidFill>
                  <a:srgbClr val="D4D4D4"/>
                </a:solidFill>
                <a:latin typeface="Consolas"/>
              </a:rPr>
              <a:t> (</a:t>
            </a:r>
            <a:r>
              <a:rPr sz="1200" i="0" b="0">
                <a:solidFill>
                  <a:srgbClr val="D4D4D4"/>
                </a:solidFill>
                <a:latin typeface="Consolas"/>
              </a:rPr>
              <a:t>p_id_consulta</a:t>
            </a:r>
            <a:r>
              <a:rPr sz="1200" i="0" b="0">
                <a:solidFill>
                  <a:srgbClr val="D4D4D4"/>
                </a:solidFill>
                <a:latin typeface="Consolas"/>
              </a:rPr>
              <a:t>)</a:t>
            </a:r>
          </a:p>
          <a:p>
            <a:pPr>
              <a:spcAft>
                <a:spcPts val="257"/>
              </a:spcAft>
            </a:pPr>
            <a:r>
              <a:rPr sz="1200" i="0" b="0">
                <a:solidFill>
                  <a:srgbClr val="D4D4D4"/>
                </a:solidFill>
                <a:latin typeface="Consolas"/>
              </a:rPr>
              <a:t>  </a:t>
            </a:r>
            <a:r>
              <a:rPr sz="1200" i="0" b="0">
                <a:solidFill>
                  <a:srgbClr val="D4D4D4"/>
                </a:solidFill>
                <a:latin typeface="Consolas"/>
              </a:rPr>
              <a:t>RETURNING</a:t>
            </a:r>
            <a:r>
              <a:rPr sz="1200" i="0" b="0">
                <a:solidFill>
                  <a:srgbClr val="D4D4D4"/>
                </a:solidFill>
                <a:latin typeface="Consolas"/>
              </a:rPr>
              <a:t> </a:t>
            </a:r>
            <a:r>
              <a:rPr sz="1200" i="0" b="0">
                <a:solidFill>
                  <a:srgbClr val="D4D4D4"/>
                </a:solidFill>
                <a:latin typeface="Consolas"/>
              </a:rPr>
              <a:t>id_factura</a:t>
            </a:r>
            <a:r>
              <a:rPr sz="1200" i="0" b="0">
                <a:solidFill>
                  <a:srgbClr val="D4D4D4"/>
                </a:solidFill>
                <a:latin typeface="Consolas"/>
              </a:rPr>
              <a:t> </a:t>
            </a:r>
            <a:r>
              <a:rPr sz="1200" i="0" b="0">
                <a:solidFill>
                  <a:srgbClr val="569CD6"/>
                </a:solidFill>
                <a:latin typeface="Consolas"/>
              </a:rPr>
              <a:t>INTO</a:t>
            </a:r>
            <a:r>
              <a:rPr sz="1200" i="0" b="0">
                <a:solidFill>
                  <a:srgbClr val="D4D4D4"/>
                </a:solidFill>
                <a:latin typeface="Consolas"/>
              </a:rPr>
              <a:t> </a:t>
            </a:r>
            <a:r>
              <a:rPr sz="1200" i="0" b="0">
                <a:solidFill>
                  <a:srgbClr val="D4D4D4"/>
                </a:solidFill>
                <a:latin typeface="Consolas"/>
              </a:rPr>
              <a:t>v_id_factura</a:t>
            </a:r>
            <a:r>
              <a:rPr sz="1200" i="0" b="0">
                <a:solidFill>
                  <a:srgbClr val="D4D4D4"/>
                </a:solidFill>
                <a:latin typeface="Consolas"/>
              </a:rPr>
              <a:t>;</a:t>
            </a:r>
          </a:p>
          <a:p>
            <a:pPr>
              <a:spcAft>
                <a:spcPts val="257"/>
              </a:spcAft>
            </a:pPr>
            <a:r>
              <a:rPr sz="1200" i="0" b="0">
                <a:solidFill>
                  <a:srgbClr val="D4D4D4"/>
                </a:solidFill>
                <a:latin typeface="Consolas"/>
              </a:rPr>
              <a:t>  </a:t>
            </a:r>
            <a:r>
              <a:rPr sz="1200" i="0" b="0">
                <a:solidFill>
                  <a:srgbClr val="569CD6"/>
                </a:solidFill>
                <a:latin typeface="Consolas"/>
              </a:rPr>
              <a:t>FOR</a:t>
            </a:r>
            <a:r>
              <a:rPr sz="1200" i="0" b="0">
                <a:solidFill>
                  <a:srgbClr val="D4D4D4"/>
                </a:solidFill>
                <a:latin typeface="Consolas"/>
              </a:rPr>
              <a:t> </a:t>
            </a:r>
            <a:r>
              <a:rPr sz="1200" i="0" b="0">
                <a:solidFill>
                  <a:srgbClr val="D4D4D4"/>
                </a:solidFill>
                <a:latin typeface="Consolas"/>
              </a:rPr>
              <a:t>i</a:t>
            </a:r>
            <a:r>
              <a:rPr sz="1200" i="0" b="0">
                <a:solidFill>
                  <a:srgbClr val="D4D4D4"/>
                </a:solidFill>
                <a:latin typeface="Consolas"/>
              </a:rPr>
              <a:t> </a:t>
            </a:r>
            <a:r>
              <a:rPr sz="1200" i="0" b="0">
                <a:solidFill>
                  <a:srgbClr val="569CD6"/>
                </a:solidFill>
                <a:latin typeface="Consolas"/>
              </a:rPr>
              <a:t>IN</a:t>
            </a:r>
            <a:r>
              <a:rPr sz="1200" i="0" b="0">
                <a:solidFill>
                  <a:srgbClr val="D4D4D4"/>
                </a:solidFill>
                <a:latin typeface="Consolas"/>
              </a:rPr>
              <a:t> </a:t>
            </a:r>
            <a:r>
              <a:rPr sz="1200" i="0" b="0">
                <a:solidFill>
                  <a:srgbClr val="B5CEA8"/>
                </a:solidFill>
                <a:latin typeface="Consolas"/>
              </a:rPr>
              <a:t>1</a:t>
            </a:r>
            <a:r>
              <a:rPr sz="1200" i="0" b="0">
                <a:solidFill>
                  <a:srgbClr val="D4D4D4"/>
                </a:solidFill>
                <a:latin typeface="Consolas"/>
              </a:rPr>
              <a:t> .. </a:t>
            </a:r>
            <a:r>
              <a:rPr sz="1200" i="0" b="0">
                <a:solidFill>
                  <a:srgbClr val="DCDCAA"/>
                </a:solidFill>
                <a:latin typeface="Consolas"/>
              </a:rPr>
              <a:t>array_length</a:t>
            </a:r>
            <a:r>
              <a:rPr sz="1200" i="0" b="0">
                <a:solidFill>
                  <a:srgbClr val="D4D4D4"/>
                </a:solidFill>
                <a:latin typeface="Consolas"/>
              </a:rPr>
              <a:t>(</a:t>
            </a:r>
            <a:r>
              <a:rPr sz="1200" i="0" b="0">
                <a:solidFill>
                  <a:srgbClr val="D4D4D4"/>
                </a:solidFill>
                <a:latin typeface="Consolas"/>
              </a:rPr>
              <a:t>p_insumos</a:t>
            </a:r>
            <a:r>
              <a:rPr sz="1200" i="0" b="0">
                <a:solidFill>
                  <a:srgbClr val="D4D4D4"/>
                </a:solidFill>
                <a:latin typeface="Consolas"/>
              </a:rPr>
              <a:t>, </a:t>
            </a:r>
            <a:r>
              <a:rPr sz="1200" i="0" b="0">
                <a:solidFill>
                  <a:srgbClr val="B5CEA8"/>
                </a:solidFill>
                <a:latin typeface="Consolas"/>
              </a:rPr>
              <a:t>1</a:t>
            </a:r>
            <a:r>
              <a:rPr sz="1200" i="0" b="0">
                <a:solidFill>
                  <a:srgbClr val="D4D4D4"/>
                </a:solidFill>
                <a:latin typeface="Consolas"/>
              </a:rPr>
              <a:t>) </a:t>
            </a:r>
            <a:r>
              <a:rPr sz="1200" i="0" b="0">
                <a:solidFill>
                  <a:srgbClr val="569CD6"/>
                </a:solidFill>
                <a:latin typeface="Consolas"/>
              </a:rPr>
              <a:t>LOOP</a:t>
            </a:r>
          </a:p>
          <a:p>
            <a:pPr>
              <a:spcAft>
                <a:spcPts val="257"/>
              </a:spcAft>
            </a:pPr>
            <a:r>
              <a:rPr sz="1200" i="0" b="0">
                <a:solidFill>
                  <a:srgbClr val="D4D4D4"/>
                </a:solidFill>
                <a:latin typeface="Consolas"/>
              </a:rPr>
              <a:t>    </a:t>
            </a:r>
            <a:r>
              <a:rPr sz="1200" i="0" b="0">
                <a:solidFill>
                  <a:srgbClr val="569CD6"/>
                </a:solidFill>
                <a:latin typeface="Consolas"/>
              </a:rPr>
              <a:t>UPDATE</a:t>
            </a:r>
            <a:r>
              <a:rPr sz="1200" i="0" b="0">
                <a:solidFill>
                  <a:srgbClr val="D4D4D4"/>
                </a:solidFill>
                <a:latin typeface="Consolas"/>
              </a:rPr>
              <a:t> </a:t>
            </a:r>
            <a:r>
              <a:rPr sz="1200" i="0" b="0">
                <a:solidFill>
                  <a:srgbClr val="D4D4D4"/>
                </a:solidFill>
                <a:latin typeface="Consolas"/>
              </a:rPr>
              <a:t>insumo</a:t>
            </a:r>
            <a:r>
              <a:rPr sz="1200" i="0" b="0">
                <a:solidFill>
                  <a:srgbClr val="D4D4D4"/>
                </a:solidFill>
                <a:latin typeface="Consolas"/>
              </a:rPr>
              <a:t> </a:t>
            </a:r>
            <a:r>
              <a:rPr sz="1200" i="0" b="0">
                <a:solidFill>
                  <a:srgbClr val="569CD6"/>
                </a:solidFill>
                <a:latin typeface="Consolas"/>
              </a:rPr>
              <a:t>SET</a:t>
            </a:r>
            <a:r>
              <a:rPr sz="1200" i="0" b="0">
                <a:solidFill>
                  <a:srgbClr val="D4D4D4"/>
                </a:solidFill>
                <a:latin typeface="Consolas"/>
              </a:rPr>
              <a:t> </a:t>
            </a:r>
            <a:r>
              <a:rPr sz="1200" i="0" b="0">
                <a:solidFill>
                  <a:srgbClr val="D4D4D4"/>
                </a:solidFill>
                <a:latin typeface="Consolas"/>
              </a:rPr>
              <a:t>stock</a:t>
            </a:r>
            <a:r>
              <a:rPr sz="1200" i="0" b="0">
                <a:solidFill>
                  <a:srgbClr val="D4D4D4"/>
                </a:solidFill>
                <a:latin typeface="Consolas"/>
              </a:rPr>
              <a:t> = </a:t>
            </a:r>
            <a:r>
              <a:rPr sz="1200" i="0" b="0">
                <a:solidFill>
                  <a:srgbClr val="D4D4D4"/>
                </a:solidFill>
                <a:latin typeface="Consolas"/>
              </a:rPr>
              <a:t>stock</a:t>
            </a:r>
            <a:r>
              <a:rPr sz="1200" i="0" b="0">
                <a:solidFill>
                  <a:srgbClr val="D4D4D4"/>
                </a:solidFill>
                <a:latin typeface="Consolas"/>
              </a:rPr>
              <a:t> - </a:t>
            </a:r>
            <a:r>
              <a:rPr sz="1200" i="0" b="0">
                <a:solidFill>
                  <a:srgbClr val="D4D4D4"/>
                </a:solidFill>
                <a:latin typeface="Consolas"/>
              </a:rPr>
              <a:t>p_cantidades</a:t>
            </a:r>
            <a:r>
              <a:rPr sz="1200" i="0" b="0">
                <a:solidFill>
                  <a:srgbClr val="D4D4D4"/>
                </a:solidFill>
                <a:latin typeface="Consolas"/>
              </a:rPr>
              <a:t>[</a:t>
            </a:r>
            <a:r>
              <a:rPr sz="1200" i="0" b="0">
                <a:solidFill>
                  <a:srgbClr val="D4D4D4"/>
                </a:solidFill>
                <a:latin typeface="Consolas"/>
              </a:rPr>
              <a:t>i</a:t>
            </a:r>
            <a:r>
              <a:rPr sz="1200" i="0" b="0">
                <a:solidFill>
                  <a:srgbClr val="D4D4D4"/>
                </a:solidFill>
                <a:latin typeface="Consolas"/>
              </a:rPr>
              <a:t>]</a:t>
            </a:r>
          </a:p>
          <a:p>
            <a:pPr>
              <a:spcAft>
                <a:spcPts val="257"/>
              </a:spcAft>
            </a:pPr>
            <a:r>
              <a:rPr sz="1200" i="0" b="0">
                <a:solidFill>
                  <a:srgbClr val="D4D4D4"/>
                </a:solidFill>
                <a:latin typeface="Consolas"/>
              </a:rPr>
              <a:t>     </a:t>
            </a:r>
            <a:r>
              <a:rPr sz="1200" i="0" b="0">
                <a:solidFill>
                  <a:srgbClr val="569CD6"/>
                </a:solidFill>
                <a:latin typeface="Consolas"/>
              </a:rPr>
              <a:t>WHERE</a:t>
            </a:r>
            <a:r>
              <a:rPr sz="1200" i="0" b="0">
                <a:solidFill>
                  <a:srgbClr val="D4D4D4"/>
                </a:solidFill>
                <a:latin typeface="Consolas"/>
              </a:rPr>
              <a:t> </a:t>
            </a:r>
            <a:r>
              <a:rPr sz="1200" i="0" b="0">
                <a:solidFill>
                  <a:srgbClr val="D4D4D4"/>
                </a:solidFill>
                <a:latin typeface="Consolas"/>
              </a:rPr>
              <a:t>id_insumo</a:t>
            </a:r>
            <a:r>
              <a:rPr sz="1200" i="0" b="0">
                <a:solidFill>
                  <a:srgbClr val="D4D4D4"/>
                </a:solidFill>
                <a:latin typeface="Consolas"/>
              </a:rPr>
              <a:t> = </a:t>
            </a:r>
            <a:r>
              <a:rPr sz="1200" i="0" b="0">
                <a:solidFill>
                  <a:srgbClr val="D4D4D4"/>
                </a:solidFill>
                <a:latin typeface="Consolas"/>
              </a:rPr>
              <a:t>p_insumos</a:t>
            </a:r>
            <a:r>
              <a:rPr sz="1200" i="0" b="0">
                <a:solidFill>
                  <a:srgbClr val="D4D4D4"/>
                </a:solidFill>
                <a:latin typeface="Consolas"/>
              </a:rPr>
              <a:t>[</a:t>
            </a:r>
            <a:r>
              <a:rPr sz="1200" i="0" b="0">
                <a:solidFill>
                  <a:srgbClr val="D4D4D4"/>
                </a:solidFill>
                <a:latin typeface="Consolas"/>
              </a:rPr>
              <a:t>i</a:t>
            </a:r>
            <a:r>
              <a:rPr sz="1200" i="0" b="0">
                <a:solidFill>
                  <a:srgbClr val="D4D4D4"/>
                </a:solidFill>
                <a:latin typeface="Consolas"/>
              </a:rPr>
              <a:t>] </a:t>
            </a:r>
            <a:r>
              <a:rPr sz="1200" i="0" b="0">
                <a:solidFill>
                  <a:srgbClr val="569CD6"/>
                </a:solidFill>
                <a:latin typeface="Consolas"/>
              </a:rPr>
              <a:t>AND</a:t>
            </a:r>
            <a:r>
              <a:rPr sz="1200" i="0" b="0">
                <a:solidFill>
                  <a:srgbClr val="D4D4D4"/>
                </a:solidFill>
                <a:latin typeface="Consolas"/>
              </a:rPr>
              <a:t> </a:t>
            </a:r>
            <a:r>
              <a:rPr sz="1200" i="0" b="0">
                <a:solidFill>
                  <a:srgbClr val="D4D4D4"/>
                </a:solidFill>
                <a:latin typeface="Consolas"/>
              </a:rPr>
              <a:t>stock</a:t>
            </a:r>
            <a:r>
              <a:rPr sz="1200" i="0" b="0">
                <a:solidFill>
                  <a:srgbClr val="D4D4D4"/>
                </a:solidFill>
                <a:latin typeface="Consolas"/>
              </a:rPr>
              <a:t> &gt;= </a:t>
            </a:r>
            <a:r>
              <a:rPr sz="1200" i="0" b="0">
                <a:solidFill>
                  <a:srgbClr val="D4D4D4"/>
                </a:solidFill>
                <a:latin typeface="Consolas"/>
              </a:rPr>
              <a:t>p_cantidades</a:t>
            </a:r>
            <a:r>
              <a:rPr sz="1200" i="0" b="0">
                <a:solidFill>
                  <a:srgbClr val="D4D4D4"/>
                </a:solidFill>
                <a:latin typeface="Consolas"/>
              </a:rPr>
              <a:t>[</a:t>
            </a:r>
            <a:r>
              <a:rPr sz="1200" i="0" b="0">
                <a:solidFill>
                  <a:srgbClr val="D4D4D4"/>
                </a:solidFill>
                <a:latin typeface="Consolas"/>
              </a:rPr>
              <a:t>i</a:t>
            </a:r>
            <a:r>
              <a:rPr sz="1200" i="0" b="0">
                <a:solidFill>
                  <a:srgbClr val="D4D4D4"/>
                </a:solidFill>
                <a:latin typeface="Consolas"/>
              </a:rPr>
              <a:t>];</a:t>
            </a:r>
          </a:p>
          <a:p>
            <a:pPr>
              <a:spcAft>
                <a:spcPts val="257"/>
              </a:spcAft>
            </a:pPr>
            <a:r>
              <a:rPr sz="1200" i="0" b="0">
                <a:solidFill>
                  <a:srgbClr val="D4D4D4"/>
                </a:solidFill>
                <a:latin typeface="Consolas"/>
              </a:rPr>
              <a:t>    </a:t>
            </a:r>
            <a:r>
              <a:rPr sz="1200" i="0" b="0">
                <a:solidFill>
                  <a:srgbClr val="D4D4D4"/>
                </a:solidFill>
                <a:latin typeface="Consolas"/>
              </a:rPr>
              <a:t>GET</a:t>
            </a:r>
            <a:r>
              <a:rPr sz="1200" i="0" b="0">
                <a:solidFill>
                  <a:srgbClr val="D4D4D4"/>
                </a:solidFill>
                <a:latin typeface="Consolas"/>
              </a:rPr>
              <a:t> </a:t>
            </a:r>
            <a:r>
              <a:rPr sz="1200" i="0" b="0">
                <a:solidFill>
                  <a:srgbClr val="D4D4D4"/>
                </a:solidFill>
                <a:latin typeface="Consolas"/>
              </a:rPr>
              <a:t>DIAGNOSTICS</a:t>
            </a:r>
            <a:r>
              <a:rPr sz="1200" i="0" b="0">
                <a:solidFill>
                  <a:srgbClr val="D4D4D4"/>
                </a:solidFill>
                <a:latin typeface="Consolas"/>
              </a:rPr>
              <a:t> </a:t>
            </a:r>
            <a:r>
              <a:rPr sz="1200" i="0" b="0">
                <a:solidFill>
                  <a:srgbClr val="D4D4D4"/>
                </a:solidFill>
                <a:latin typeface="Consolas"/>
              </a:rPr>
              <a:t>v_filas</a:t>
            </a:r>
            <a:r>
              <a:rPr sz="1200" i="0" b="0">
                <a:solidFill>
                  <a:srgbClr val="D4D4D4"/>
                </a:solidFill>
                <a:latin typeface="Consolas"/>
              </a:rPr>
              <a:t> = </a:t>
            </a:r>
            <a:r>
              <a:rPr sz="1200" i="0" b="0">
                <a:solidFill>
                  <a:srgbClr val="D4D4D4"/>
                </a:solidFill>
                <a:latin typeface="Consolas"/>
              </a:rPr>
              <a:t>ROW_COUNT</a:t>
            </a:r>
            <a:r>
              <a:rPr sz="1200" i="0" b="0">
                <a:solidFill>
                  <a:srgbClr val="D4D4D4"/>
                </a:solidFill>
                <a:latin typeface="Consolas"/>
              </a:rPr>
              <a:t>;   </a:t>
            </a:r>
            <a:r>
              <a:rPr sz="1200" i="1" b="0">
                <a:solidFill>
                  <a:srgbClr val="6A9955"/>
                </a:solidFill>
                <a:latin typeface="Consolas"/>
              </a:rPr>
              <a:t>-- 0: no alcanzo</a:t>
            </a:r>
          </a:p>
          <a:p>
            <a:pPr>
              <a:spcAft>
                <a:spcPts val="257"/>
              </a:spcAft>
            </a:pPr>
            <a:r>
              <a:rPr sz="1200" i="0" b="0">
                <a:solidFill>
                  <a:srgbClr val="D4D4D4"/>
                </a:solidFill>
                <a:latin typeface="Consolas"/>
              </a:rPr>
              <a:t>    </a:t>
            </a:r>
            <a:r>
              <a:rPr sz="1200" i="0" b="0">
                <a:solidFill>
                  <a:srgbClr val="569CD6"/>
                </a:solidFill>
                <a:latin typeface="Consolas"/>
              </a:rPr>
              <a:t>IF</a:t>
            </a:r>
            <a:r>
              <a:rPr sz="1200" i="0" b="0">
                <a:solidFill>
                  <a:srgbClr val="D4D4D4"/>
                </a:solidFill>
                <a:latin typeface="Consolas"/>
              </a:rPr>
              <a:t> </a:t>
            </a:r>
            <a:r>
              <a:rPr sz="1200" i="0" b="0">
                <a:solidFill>
                  <a:srgbClr val="D4D4D4"/>
                </a:solidFill>
                <a:latin typeface="Consolas"/>
              </a:rPr>
              <a:t>v_filas</a:t>
            </a:r>
            <a:r>
              <a:rPr sz="1200" i="0" b="0">
                <a:solidFill>
                  <a:srgbClr val="D4D4D4"/>
                </a:solidFill>
                <a:latin typeface="Consolas"/>
              </a:rPr>
              <a:t> = </a:t>
            </a:r>
            <a:r>
              <a:rPr sz="1200" i="0" b="0">
                <a:solidFill>
                  <a:srgbClr val="B5CEA8"/>
                </a:solidFill>
                <a:latin typeface="Consolas"/>
              </a:rPr>
              <a:t>0</a:t>
            </a:r>
            <a:r>
              <a:rPr sz="1200" i="0" b="0">
                <a:solidFill>
                  <a:srgbClr val="D4D4D4"/>
                </a:solidFill>
                <a:latin typeface="Consolas"/>
              </a:rPr>
              <a:t> </a:t>
            </a:r>
            <a:r>
              <a:rPr sz="1200" i="0" b="0">
                <a:solidFill>
                  <a:srgbClr val="569CD6"/>
                </a:solidFill>
                <a:latin typeface="Consolas"/>
              </a:rPr>
              <a:t>THEN</a:t>
            </a:r>
            <a:r>
              <a:rPr sz="1200" i="0" b="0">
                <a:solidFill>
                  <a:srgbClr val="D4D4D4"/>
                </a:solidFill>
                <a:latin typeface="Consolas"/>
              </a:rPr>
              <a:t> </a:t>
            </a:r>
            <a:r>
              <a:rPr sz="1200" i="0" b="0">
                <a:solidFill>
                  <a:srgbClr val="569CD6"/>
                </a:solidFill>
                <a:latin typeface="Consolas"/>
              </a:rPr>
              <a:t>RAISE</a:t>
            </a:r>
            <a:r>
              <a:rPr sz="1200" i="0" b="0">
                <a:solidFill>
                  <a:srgbClr val="D4D4D4"/>
                </a:solidFill>
                <a:latin typeface="Consolas"/>
              </a:rPr>
              <a:t> </a:t>
            </a:r>
            <a:r>
              <a:rPr sz="1200" i="0" b="0">
                <a:solidFill>
                  <a:srgbClr val="569CD6"/>
                </a:solidFill>
                <a:latin typeface="Consolas"/>
              </a:rPr>
              <a:t>EXCEPTION</a:t>
            </a:r>
            <a:r>
              <a:rPr sz="1200" i="0" b="0">
                <a:solidFill>
                  <a:srgbClr val="D4D4D4"/>
                </a:solidFill>
                <a:latin typeface="Consolas"/>
              </a:rPr>
              <a:t> </a:t>
            </a:r>
            <a:r>
              <a:rPr sz="1200" i="0" b="0">
                <a:solidFill>
                  <a:srgbClr val="CE9178"/>
                </a:solidFill>
                <a:latin typeface="Consolas"/>
              </a:rPr>
              <a:t>'ERROR: stock insuficiente'</a:t>
            </a:r>
            <a:r>
              <a:rPr sz="1200" i="0" b="0">
                <a:solidFill>
                  <a:srgbClr val="D4D4D4"/>
                </a:solidFill>
                <a:latin typeface="Consolas"/>
              </a:rPr>
              <a:t>; </a:t>
            </a:r>
            <a:r>
              <a:rPr sz="1200" i="0" b="0">
                <a:solidFill>
                  <a:srgbClr val="569CD6"/>
                </a:solidFill>
                <a:latin typeface="Consolas"/>
              </a:rPr>
              <a:t>END</a:t>
            </a:r>
            <a:r>
              <a:rPr sz="1200" i="0" b="0">
                <a:solidFill>
                  <a:srgbClr val="D4D4D4"/>
                </a:solidFill>
                <a:latin typeface="Consolas"/>
              </a:rPr>
              <a:t> </a:t>
            </a:r>
            <a:r>
              <a:rPr sz="1200" i="0" b="0">
                <a:solidFill>
                  <a:srgbClr val="569CD6"/>
                </a:solidFill>
                <a:latin typeface="Consolas"/>
              </a:rPr>
              <a:t>IF</a:t>
            </a:r>
            <a:r>
              <a:rPr sz="1200" i="0" b="0">
                <a:solidFill>
                  <a:srgbClr val="D4D4D4"/>
                </a:solidFill>
                <a:latin typeface="Consolas"/>
              </a:rPr>
              <a:t>;</a:t>
            </a:r>
          </a:p>
          <a:p>
            <a:pPr>
              <a:spcAft>
                <a:spcPts val="257"/>
              </a:spcAft>
            </a:pPr>
            <a:r>
              <a:rPr sz="1200" i="0" b="0">
                <a:solidFill>
                  <a:srgbClr val="D4D4D4"/>
                </a:solidFill>
                <a:latin typeface="Consolas"/>
              </a:rPr>
              <a:t>    </a:t>
            </a:r>
            <a:r>
              <a:rPr sz="1200" i="0" b="0">
                <a:solidFill>
                  <a:srgbClr val="569CD6"/>
                </a:solidFill>
                <a:latin typeface="Consolas"/>
              </a:rPr>
              <a:t>INSERT</a:t>
            </a:r>
            <a:r>
              <a:rPr sz="1200" i="0" b="0">
                <a:solidFill>
                  <a:srgbClr val="D4D4D4"/>
                </a:solidFill>
                <a:latin typeface="Consolas"/>
              </a:rPr>
              <a:t> </a:t>
            </a:r>
            <a:r>
              <a:rPr sz="1200" i="0" b="0">
                <a:solidFill>
                  <a:srgbClr val="569CD6"/>
                </a:solidFill>
                <a:latin typeface="Consolas"/>
              </a:rPr>
              <a:t>INTO</a:t>
            </a:r>
            <a:r>
              <a:rPr sz="1200" i="0" b="0">
                <a:solidFill>
                  <a:srgbClr val="D4D4D4"/>
                </a:solidFill>
                <a:latin typeface="Consolas"/>
              </a:rPr>
              <a:t> </a:t>
            </a:r>
            <a:r>
              <a:rPr sz="1200" i="0" b="0">
                <a:solidFill>
                  <a:srgbClr val="DCDCAA"/>
                </a:solidFill>
                <a:latin typeface="Consolas"/>
              </a:rPr>
              <a:t>detalle_factura</a:t>
            </a:r>
            <a:r>
              <a:rPr sz="1200" i="0" b="0">
                <a:solidFill>
                  <a:srgbClr val="D4D4D4"/>
                </a:solidFill>
                <a:latin typeface="Consolas"/>
              </a:rPr>
              <a:t> (</a:t>
            </a:r>
            <a:r>
              <a:rPr sz="1200" i="0" b="0">
                <a:solidFill>
                  <a:srgbClr val="D4D4D4"/>
                </a:solidFill>
                <a:latin typeface="Consolas"/>
              </a:rPr>
              <a:t>id_factura</a:t>
            </a:r>
            <a:r>
              <a:rPr sz="1200" i="0" b="0">
                <a:solidFill>
                  <a:srgbClr val="D4D4D4"/>
                </a:solidFill>
                <a:latin typeface="Consolas"/>
              </a:rPr>
              <a:t>, </a:t>
            </a:r>
            <a:r>
              <a:rPr sz="1200" i="0" b="0">
                <a:solidFill>
                  <a:srgbClr val="D4D4D4"/>
                </a:solidFill>
                <a:latin typeface="Consolas"/>
              </a:rPr>
              <a:t>id_insumo</a:t>
            </a:r>
            <a:r>
              <a:rPr sz="1200" i="0" b="0">
                <a:solidFill>
                  <a:srgbClr val="D4D4D4"/>
                </a:solidFill>
                <a:latin typeface="Consolas"/>
              </a:rPr>
              <a:t>, </a:t>
            </a:r>
            <a:r>
              <a:rPr sz="1200" i="0" b="0">
                <a:solidFill>
                  <a:srgbClr val="D4D4D4"/>
                </a:solidFill>
                <a:latin typeface="Consolas"/>
              </a:rPr>
              <a:t>cantidad</a:t>
            </a:r>
            <a:r>
              <a:rPr sz="1200" i="0" b="0">
                <a:solidFill>
                  <a:srgbClr val="D4D4D4"/>
                </a:solidFill>
                <a:latin typeface="Consolas"/>
              </a:rPr>
              <a:t>, </a:t>
            </a:r>
            <a:r>
              <a:rPr sz="1200" i="0" b="0">
                <a:solidFill>
                  <a:srgbClr val="D4D4D4"/>
                </a:solidFill>
                <a:latin typeface="Consolas"/>
              </a:rPr>
              <a:t>precio_unit</a:t>
            </a:r>
            <a:r>
              <a:rPr sz="1200" i="0" b="0">
                <a:solidFill>
                  <a:srgbClr val="D4D4D4"/>
                </a:solidFill>
                <a:latin typeface="Consolas"/>
              </a:rPr>
              <a:t>)</a:t>
            </a:r>
          </a:p>
          <a:p>
            <a:pPr>
              <a:spcAft>
                <a:spcPts val="257"/>
              </a:spcAft>
            </a:pPr>
            <a:r>
              <a:rPr sz="1200" i="0" b="0">
                <a:solidFill>
                  <a:srgbClr val="D4D4D4"/>
                </a:solidFill>
                <a:latin typeface="Consolas"/>
              </a:rPr>
              <a:t>    </a:t>
            </a:r>
            <a:r>
              <a:rPr sz="1200" i="0" b="0">
                <a:solidFill>
                  <a:srgbClr val="569CD6"/>
                </a:solidFill>
                <a:latin typeface="Consolas"/>
              </a:rPr>
              <a:t>SELECT</a:t>
            </a:r>
            <a:r>
              <a:rPr sz="1200" i="0" b="0">
                <a:solidFill>
                  <a:srgbClr val="D4D4D4"/>
                </a:solidFill>
                <a:latin typeface="Consolas"/>
              </a:rPr>
              <a:t> </a:t>
            </a:r>
            <a:r>
              <a:rPr sz="1200" i="0" b="0">
                <a:solidFill>
                  <a:srgbClr val="D4D4D4"/>
                </a:solidFill>
                <a:latin typeface="Consolas"/>
              </a:rPr>
              <a:t>v_id_factura</a:t>
            </a:r>
            <a:r>
              <a:rPr sz="1200" i="0" b="0">
                <a:solidFill>
                  <a:srgbClr val="D4D4D4"/>
                </a:solidFill>
                <a:latin typeface="Consolas"/>
              </a:rPr>
              <a:t>, </a:t>
            </a:r>
            <a:r>
              <a:rPr sz="1200" i="0" b="0">
                <a:solidFill>
                  <a:srgbClr val="D4D4D4"/>
                </a:solidFill>
                <a:latin typeface="Consolas"/>
              </a:rPr>
              <a:t>id_insumo</a:t>
            </a:r>
            <a:r>
              <a:rPr sz="1200" i="0" b="0">
                <a:solidFill>
                  <a:srgbClr val="D4D4D4"/>
                </a:solidFill>
                <a:latin typeface="Consolas"/>
              </a:rPr>
              <a:t>, </a:t>
            </a:r>
            <a:r>
              <a:rPr sz="1200" i="0" b="0">
                <a:solidFill>
                  <a:srgbClr val="D4D4D4"/>
                </a:solidFill>
                <a:latin typeface="Consolas"/>
              </a:rPr>
              <a:t>p_cantidades</a:t>
            </a:r>
            <a:r>
              <a:rPr sz="1200" i="0" b="0">
                <a:solidFill>
                  <a:srgbClr val="D4D4D4"/>
                </a:solidFill>
                <a:latin typeface="Consolas"/>
              </a:rPr>
              <a:t>[</a:t>
            </a:r>
            <a:r>
              <a:rPr sz="1200" i="0" b="0">
                <a:solidFill>
                  <a:srgbClr val="D4D4D4"/>
                </a:solidFill>
                <a:latin typeface="Consolas"/>
              </a:rPr>
              <a:t>i</a:t>
            </a:r>
            <a:r>
              <a:rPr sz="1200" i="0" b="0">
                <a:solidFill>
                  <a:srgbClr val="D4D4D4"/>
                </a:solidFill>
                <a:latin typeface="Consolas"/>
              </a:rPr>
              <a:t>], </a:t>
            </a:r>
            <a:r>
              <a:rPr sz="1200" i="0" b="0">
                <a:solidFill>
                  <a:srgbClr val="D4D4D4"/>
                </a:solidFill>
                <a:latin typeface="Consolas"/>
              </a:rPr>
              <a:t>precio_unit</a:t>
            </a:r>
          </a:p>
          <a:p>
            <a:pPr>
              <a:spcAft>
                <a:spcPts val="257"/>
              </a:spcAft>
            </a:pPr>
            <a:r>
              <a:rPr sz="1200" i="0" b="0">
                <a:solidFill>
                  <a:srgbClr val="D4D4D4"/>
                </a:solidFill>
                <a:latin typeface="Consolas"/>
              </a:rPr>
              <a:t>      </a:t>
            </a:r>
            <a:r>
              <a:rPr sz="1200" i="0" b="0">
                <a:solidFill>
                  <a:srgbClr val="569CD6"/>
                </a:solidFill>
                <a:latin typeface="Consolas"/>
              </a:rPr>
              <a:t>FROM</a:t>
            </a:r>
            <a:r>
              <a:rPr sz="1200" i="0" b="0">
                <a:solidFill>
                  <a:srgbClr val="D4D4D4"/>
                </a:solidFill>
                <a:latin typeface="Consolas"/>
              </a:rPr>
              <a:t> </a:t>
            </a:r>
            <a:r>
              <a:rPr sz="1200" i="0" b="0">
                <a:solidFill>
                  <a:srgbClr val="D4D4D4"/>
                </a:solidFill>
                <a:latin typeface="Consolas"/>
              </a:rPr>
              <a:t>insumo</a:t>
            </a:r>
            <a:r>
              <a:rPr sz="1200" i="0" b="0">
                <a:solidFill>
                  <a:srgbClr val="D4D4D4"/>
                </a:solidFill>
                <a:latin typeface="Consolas"/>
              </a:rPr>
              <a:t> </a:t>
            </a:r>
            <a:r>
              <a:rPr sz="1200" i="0" b="0">
                <a:solidFill>
                  <a:srgbClr val="569CD6"/>
                </a:solidFill>
                <a:latin typeface="Consolas"/>
              </a:rPr>
              <a:t>WHERE</a:t>
            </a:r>
            <a:r>
              <a:rPr sz="1200" i="0" b="0">
                <a:solidFill>
                  <a:srgbClr val="D4D4D4"/>
                </a:solidFill>
                <a:latin typeface="Consolas"/>
              </a:rPr>
              <a:t> </a:t>
            </a:r>
            <a:r>
              <a:rPr sz="1200" i="0" b="0">
                <a:solidFill>
                  <a:srgbClr val="D4D4D4"/>
                </a:solidFill>
                <a:latin typeface="Consolas"/>
              </a:rPr>
              <a:t>id_insumo</a:t>
            </a:r>
            <a:r>
              <a:rPr sz="1200" i="0" b="0">
                <a:solidFill>
                  <a:srgbClr val="D4D4D4"/>
                </a:solidFill>
                <a:latin typeface="Consolas"/>
              </a:rPr>
              <a:t> = </a:t>
            </a:r>
            <a:r>
              <a:rPr sz="1200" i="0" b="0">
                <a:solidFill>
                  <a:srgbClr val="D4D4D4"/>
                </a:solidFill>
                <a:latin typeface="Consolas"/>
              </a:rPr>
              <a:t>p_insumos</a:t>
            </a:r>
            <a:r>
              <a:rPr sz="1200" i="0" b="0">
                <a:solidFill>
                  <a:srgbClr val="D4D4D4"/>
                </a:solidFill>
                <a:latin typeface="Consolas"/>
              </a:rPr>
              <a:t>[</a:t>
            </a:r>
            <a:r>
              <a:rPr sz="1200" i="0" b="0">
                <a:solidFill>
                  <a:srgbClr val="D4D4D4"/>
                </a:solidFill>
                <a:latin typeface="Consolas"/>
              </a:rPr>
              <a:t>i</a:t>
            </a:r>
            <a:r>
              <a:rPr sz="1200" i="0" b="0">
                <a:solidFill>
                  <a:srgbClr val="D4D4D4"/>
                </a:solidFill>
                <a:latin typeface="Consolas"/>
              </a:rPr>
              <a:t>];</a:t>
            </a:r>
          </a:p>
          <a:p>
            <a:pPr>
              <a:spcAft>
                <a:spcPts val="257"/>
              </a:spcAft>
            </a:pPr>
            <a:r>
              <a:rPr sz="1200" i="0" b="0">
                <a:solidFill>
                  <a:srgbClr val="D4D4D4"/>
                </a:solidFill>
                <a:latin typeface="Consolas"/>
              </a:rPr>
              <a:t>  </a:t>
            </a:r>
            <a:r>
              <a:rPr sz="1200" i="0" b="0">
                <a:solidFill>
                  <a:srgbClr val="569CD6"/>
                </a:solidFill>
                <a:latin typeface="Consolas"/>
              </a:rPr>
              <a:t>END</a:t>
            </a:r>
            <a:r>
              <a:rPr sz="1200" i="0" b="0">
                <a:solidFill>
                  <a:srgbClr val="D4D4D4"/>
                </a:solidFill>
                <a:latin typeface="Consolas"/>
              </a:rPr>
              <a:t> </a:t>
            </a:r>
            <a:r>
              <a:rPr sz="1200" i="0" b="0">
                <a:solidFill>
                  <a:srgbClr val="569CD6"/>
                </a:solidFill>
                <a:latin typeface="Consolas"/>
              </a:rPr>
              <a:t>LOOP</a:t>
            </a:r>
            <a:r>
              <a:rPr sz="1200" i="0" b="0">
                <a:solidFill>
                  <a:srgbClr val="D4D4D4"/>
                </a:solidFill>
                <a:latin typeface="Consolas"/>
              </a:rPr>
              <a:t>;   </a:t>
            </a:r>
            <a:r>
              <a:rPr sz="1200" i="1" b="0">
                <a:solidFill>
                  <a:srgbClr val="6A9955"/>
                </a:solidFill>
                <a:latin typeface="Consolas"/>
              </a:rPr>
              <a:t>-- sin COMMIT ni ROLLBACK: los pone el CALL</a:t>
            </a:r>
          </a:p>
          <a:p>
            <a:pPr>
              <a:spcAft>
                <a:spcPts val="257"/>
              </a:spcAft>
            </a:pPr>
            <a:r>
              <a:rPr sz="1200" i="0" b="0">
                <a:solidFill>
                  <a:srgbClr val="D4D4D4"/>
                </a:solidFill>
                <a:latin typeface="Consolas"/>
              </a:rPr>
              <a:t>  </a:t>
            </a:r>
            <a:r>
              <a:rPr sz="1200" i="0" b="0">
                <a:solidFill>
                  <a:srgbClr val="569CD6"/>
                </a:solidFill>
                <a:latin typeface="Consolas"/>
              </a:rPr>
              <a:t>UPDATE</a:t>
            </a:r>
            <a:r>
              <a:rPr sz="1200" i="0" b="0">
                <a:solidFill>
                  <a:srgbClr val="D4D4D4"/>
                </a:solidFill>
                <a:latin typeface="Consolas"/>
              </a:rPr>
              <a:t> </a:t>
            </a:r>
            <a:r>
              <a:rPr sz="1200" i="0" b="0">
                <a:solidFill>
                  <a:srgbClr val="D4D4D4"/>
                </a:solidFill>
                <a:latin typeface="Consolas"/>
              </a:rPr>
              <a:t>factura</a:t>
            </a:r>
            <a:r>
              <a:rPr sz="1200" i="0" b="0">
                <a:solidFill>
                  <a:srgbClr val="D4D4D4"/>
                </a:solidFill>
                <a:latin typeface="Consolas"/>
              </a:rPr>
              <a:t> </a:t>
            </a:r>
            <a:r>
              <a:rPr sz="1200" i="0" b="0">
                <a:solidFill>
                  <a:srgbClr val="569CD6"/>
                </a:solidFill>
                <a:latin typeface="Consolas"/>
              </a:rPr>
              <a:t>SET</a:t>
            </a:r>
            <a:r>
              <a:rPr sz="1200" i="0" b="0">
                <a:solidFill>
                  <a:srgbClr val="D4D4D4"/>
                </a:solidFill>
                <a:latin typeface="Consolas"/>
              </a:rPr>
              <a:t> </a:t>
            </a:r>
            <a:r>
              <a:rPr sz="1200" i="0" b="0">
                <a:solidFill>
                  <a:srgbClr val="D4D4D4"/>
                </a:solidFill>
                <a:latin typeface="Consolas"/>
              </a:rPr>
              <a:t>total</a:t>
            </a:r>
            <a:r>
              <a:rPr sz="1200" i="0" b="0">
                <a:solidFill>
                  <a:srgbClr val="D4D4D4"/>
                </a:solidFill>
                <a:latin typeface="Consolas"/>
              </a:rPr>
              <a:t> = (</a:t>
            </a:r>
            <a:r>
              <a:rPr sz="1200" i="0" b="0">
                <a:solidFill>
                  <a:srgbClr val="569CD6"/>
                </a:solidFill>
                <a:latin typeface="Consolas"/>
              </a:rPr>
              <a:t>SELECT</a:t>
            </a:r>
            <a:r>
              <a:rPr sz="1200" i="0" b="0">
                <a:solidFill>
                  <a:srgbClr val="D4D4D4"/>
                </a:solidFill>
                <a:latin typeface="Consolas"/>
              </a:rPr>
              <a:t> </a:t>
            </a:r>
            <a:r>
              <a:rPr sz="1200" i="0" b="0">
                <a:solidFill>
                  <a:srgbClr val="DCDCAA"/>
                </a:solidFill>
                <a:latin typeface="Consolas"/>
              </a:rPr>
              <a:t>SUM</a:t>
            </a:r>
            <a:r>
              <a:rPr sz="1200" i="0" b="0">
                <a:solidFill>
                  <a:srgbClr val="D4D4D4"/>
                </a:solidFill>
                <a:latin typeface="Consolas"/>
              </a:rPr>
              <a:t>(</a:t>
            </a:r>
            <a:r>
              <a:rPr sz="1200" i="0" b="0">
                <a:solidFill>
                  <a:srgbClr val="D4D4D4"/>
                </a:solidFill>
                <a:latin typeface="Consolas"/>
              </a:rPr>
              <a:t>cantidad</a:t>
            </a:r>
            <a:r>
              <a:rPr sz="1200" i="0" b="0">
                <a:solidFill>
                  <a:srgbClr val="D4D4D4"/>
                </a:solidFill>
                <a:latin typeface="Consolas"/>
              </a:rPr>
              <a:t> * </a:t>
            </a:r>
            <a:r>
              <a:rPr sz="1200" i="0" b="0">
                <a:solidFill>
                  <a:srgbClr val="D4D4D4"/>
                </a:solidFill>
                <a:latin typeface="Consolas"/>
              </a:rPr>
              <a:t>precio_unit</a:t>
            </a:r>
            <a:r>
              <a:rPr sz="1200" i="0" b="0">
                <a:solidFill>
                  <a:srgbClr val="D4D4D4"/>
                </a:solidFill>
                <a:latin typeface="Consolas"/>
              </a:rPr>
              <a:t>) </a:t>
            </a:r>
            <a:r>
              <a:rPr sz="1200" i="0" b="0">
                <a:solidFill>
                  <a:srgbClr val="569CD6"/>
                </a:solidFill>
                <a:latin typeface="Consolas"/>
              </a:rPr>
              <a:t>FROM</a:t>
            </a:r>
            <a:r>
              <a:rPr sz="1200" i="0" b="0">
                <a:solidFill>
                  <a:srgbClr val="D4D4D4"/>
                </a:solidFill>
                <a:latin typeface="Consolas"/>
              </a:rPr>
              <a:t> </a:t>
            </a:r>
            <a:r>
              <a:rPr sz="1200" i="0" b="0">
                <a:solidFill>
                  <a:srgbClr val="D4D4D4"/>
                </a:solidFill>
                <a:latin typeface="Consolas"/>
              </a:rPr>
              <a:t>detalle_factura</a:t>
            </a:r>
          </a:p>
          <a:p>
            <a:pPr>
              <a:spcAft>
                <a:spcPts val="257"/>
              </a:spcAft>
            </a:pPr>
            <a:r>
              <a:rPr sz="1200" i="0" b="0">
                <a:solidFill>
                  <a:srgbClr val="D4D4D4"/>
                </a:solidFill>
                <a:latin typeface="Consolas"/>
              </a:rPr>
              <a:t>   </a:t>
            </a:r>
            <a:r>
              <a:rPr sz="1200" i="0" b="0">
                <a:solidFill>
                  <a:srgbClr val="569CD6"/>
                </a:solidFill>
                <a:latin typeface="Consolas"/>
              </a:rPr>
              <a:t>WHERE</a:t>
            </a:r>
            <a:r>
              <a:rPr sz="1200" i="0" b="0">
                <a:solidFill>
                  <a:srgbClr val="D4D4D4"/>
                </a:solidFill>
                <a:latin typeface="Consolas"/>
              </a:rPr>
              <a:t> </a:t>
            </a:r>
            <a:r>
              <a:rPr sz="1200" i="0" b="0">
                <a:solidFill>
                  <a:srgbClr val="D4D4D4"/>
                </a:solidFill>
                <a:latin typeface="Consolas"/>
              </a:rPr>
              <a:t>id_factura</a:t>
            </a:r>
            <a:r>
              <a:rPr sz="1200" i="0" b="0">
                <a:solidFill>
                  <a:srgbClr val="D4D4D4"/>
                </a:solidFill>
                <a:latin typeface="Consolas"/>
              </a:rPr>
              <a:t> = </a:t>
            </a:r>
            <a:r>
              <a:rPr sz="1200" i="0" b="0">
                <a:solidFill>
                  <a:srgbClr val="D4D4D4"/>
                </a:solidFill>
                <a:latin typeface="Consolas"/>
              </a:rPr>
              <a:t>v_id_factura</a:t>
            </a:r>
            <a:r>
              <a:rPr sz="1200" i="0" b="0">
                <a:solidFill>
                  <a:srgbClr val="D4D4D4"/>
                </a:solidFill>
                <a:latin typeface="Consolas"/>
              </a:rPr>
              <a:t>) </a:t>
            </a:r>
            <a:r>
              <a:rPr sz="1200" i="0" b="0">
                <a:solidFill>
                  <a:srgbClr val="569CD6"/>
                </a:solidFill>
                <a:latin typeface="Consolas"/>
              </a:rPr>
              <a:t>WHERE</a:t>
            </a:r>
            <a:r>
              <a:rPr sz="1200" i="0" b="0">
                <a:solidFill>
                  <a:srgbClr val="D4D4D4"/>
                </a:solidFill>
                <a:latin typeface="Consolas"/>
              </a:rPr>
              <a:t> </a:t>
            </a:r>
            <a:r>
              <a:rPr sz="1200" i="0" b="0">
                <a:solidFill>
                  <a:srgbClr val="D4D4D4"/>
                </a:solidFill>
                <a:latin typeface="Consolas"/>
              </a:rPr>
              <a:t>id_factura</a:t>
            </a:r>
            <a:r>
              <a:rPr sz="1200" i="0" b="0">
                <a:solidFill>
                  <a:srgbClr val="D4D4D4"/>
                </a:solidFill>
                <a:latin typeface="Consolas"/>
              </a:rPr>
              <a:t> = </a:t>
            </a:r>
            <a:r>
              <a:rPr sz="1200" i="0" b="0">
                <a:solidFill>
                  <a:srgbClr val="D4D4D4"/>
                </a:solidFill>
                <a:latin typeface="Consolas"/>
              </a:rPr>
              <a:t>v_id_factura</a:t>
            </a:r>
            <a:r>
              <a:rPr sz="1200" i="0" b="0">
                <a:solidFill>
                  <a:srgbClr val="D4D4D4"/>
                </a:solidFill>
                <a:latin typeface="Consolas"/>
              </a:rPr>
              <a:t>;   </a:t>
            </a:r>
            <a:r>
              <a:rPr sz="1200" i="1" b="0">
                <a:solidFill>
                  <a:srgbClr val="6A9955"/>
                </a:solidFill>
                <a:latin typeface="Consolas"/>
              </a:rPr>
              <a:t>-- 27.400</a:t>
            </a:r>
          </a:p>
          <a:p>
            <a:pPr>
              <a:spcAft>
                <a:spcPts val="257"/>
              </a:spcAft>
            </a:pPr>
            <a:r>
              <a:rPr sz="1200" i="0" b="0">
                <a:solidFill>
                  <a:srgbClr val="569CD6"/>
                </a:solidFill>
                <a:latin typeface="Consolas"/>
              </a:rPr>
              <a:t>END</a:t>
            </a:r>
            <a:r>
              <a:rPr sz="1200" i="0" b="0">
                <a:solidFill>
                  <a:srgbClr val="D4D4D4"/>
                </a:solidFill>
                <a:latin typeface="Consolas"/>
              </a:rPr>
              <a:t>; </a:t>
            </a:r>
            <a:r>
              <a:rPr sz="1200" i="0" b="0">
                <a:solidFill>
                  <a:srgbClr val="569CD6"/>
                </a:solidFill>
                <a:latin typeface="Consolas"/>
              </a:rPr>
              <a:t>$proc$</a:t>
            </a:r>
            <a:r>
              <a:rPr sz="1200" i="0" b="0">
                <a:solidFill>
                  <a:srgbClr val="D4D4D4"/>
                </a:solidFill>
                <a:latin typeface="Consolas"/>
              </a:rPr>
              <a:t>;</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La condicion stock &gt;= cantidad evita el stock negativo; la excepcion que sale del CALL deshace todo sola.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sp_facturar en PL/pgSQL</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Cabecera, bucle de lineas y descuento condicional: si una linea falla, no queda nada de la factura</a:t>
            </a:r>
          </a:p>
        </p:txBody>
      </p:sp>
      <p:sp>
        <p:nvSpPr>
          <p:cNvPr id="6" name="Rounded Rectangle 5"/>
          <p:cNvSpPr/>
          <p:nvPr/>
        </p:nvSpPr>
        <p:spPr>
          <a:xfrm>
            <a:off x="5797149" y="1449082"/>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lus-molde-sp-paso1.png"/>
          <p:cNvPicPr>
            <a:picLocks noChangeAspect="1"/>
          </p:cNvPicPr>
          <p:nvPr/>
        </p:nvPicPr>
        <p:blipFill>
          <a:blip r:embed="rId2"/>
          <a:stretch>
            <a:fillRect/>
          </a:stretch>
        </p:blipFill>
        <p:spPr>
          <a:xfrm>
            <a:off x="5870301" y="1522234"/>
            <a:ext cx="5864193" cy="4691354"/>
          </a:xfrm>
          <a:prstGeom prst="rect">
            <a:avLst/>
          </a:prstGeom>
        </p:spPr>
      </p:pic>
      <p:sp>
        <p:nvSpPr>
          <p:cNvPr id="8" name="TextBox 7"/>
          <p:cNvSpPr txBox="1"/>
          <p:nvPr/>
        </p:nvSpPr>
        <p:spPr>
          <a:xfrm>
            <a:off x="457200" y="1563624"/>
            <a:ext cx="5093061" cy="4837176"/>
          </a:xfrm>
          <a:prstGeom prst="rect">
            <a:avLst/>
          </a:prstGeom>
          <a:noFill/>
        </p:spPr>
        <p:txBody>
          <a:bodyPr wrap="square">
            <a:spAutoFit/>
          </a:bodyPr>
          <a:lstStyle/>
          <a:p>
            <a:pPr>
              <a:spcAft>
                <a:spcPts val="800"/>
              </a:spcAft>
            </a:pPr>
            <a:r>
              <a:rPr sz="2000" b="0" i="0">
                <a:solidFill>
                  <a:srgbClr val="333333"/>
                </a:solidFill>
                <a:latin typeface="Calibri"/>
              </a:rPr>
              <a:t>–   El cuerpo tiene cuatro partes: validar arreglos, </a:t>
            </a:r>
            <a:r>
              <a:rPr sz="2000" b="1" i="0">
                <a:solidFill>
                  <a:srgbClr val="333333"/>
                </a:solidFill>
                <a:latin typeface="Calibri"/>
              </a:rPr>
              <a:t>cabecera</a:t>
            </a:r>
            <a:r>
              <a:rPr sz="2000" b="0" i="0">
                <a:solidFill>
                  <a:srgbClr val="333333"/>
                </a:solidFill>
                <a:latin typeface="Calibri"/>
              </a:rPr>
              <a:t>, bucle y total.</a:t>
            </a:r>
          </a:p>
          <a:p>
            <a:pPr>
              <a:spcAft>
                <a:spcPts val="800"/>
              </a:spcAft>
            </a:pPr>
            <a:r>
              <a:rPr sz="2000" b="0" i="0">
                <a:solidFill>
                  <a:srgbClr val="333333"/>
                </a:solidFill>
                <a:latin typeface="Calibri"/>
              </a:rPr>
              <a:t>–   En el bucle se lee el </a:t>
            </a:r>
            <a:r>
              <a:rPr sz="2000" b="1" i="0">
                <a:solidFill>
                  <a:srgbClr val="333333"/>
                </a:solidFill>
                <a:latin typeface="Calibri"/>
              </a:rPr>
              <a:t>precio vigente</a:t>
            </a:r>
            <a:r>
              <a:rPr sz="2000" b="0" i="0">
                <a:solidFill>
                  <a:srgbClr val="333333"/>
                </a:solidFill>
                <a:latin typeface="Calibri"/>
              </a:rPr>
              <a:t> y NOT FOUND detecta el insumo que no existe.</a:t>
            </a:r>
          </a:p>
          <a:p>
            <a:pPr>
              <a:spcAft>
                <a:spcPts val="800"/>
              </a:spcAft>
            </a:pPr>
            <a:r>
              <a:rPr sz="2000" b="0" i="0">
                <a:solidFill>
                  <a:srgbClr val="333333"/>
                </a:solidFill>
                <a:latin typeface="Calibri"/>
              </a:rPr>
              <a:t>–   El </a:t>
            </a:r>
            <a:r>
              <a:rPr sz="2000" b="1" i="0">
                <a:solidFill>
                  <a:srgbClr val="333333"/>
                </a:solidFill>
                <a:latin typeface="Calibri"/>
              </a:rPr>
              <a:t>guardia</a:t>
            </a:r>
            <a:r>
              <a:rPr sz="2000" b="0" i="0">
                <a:solidFill>
                  <a:srgbClr val="333333"/>
                </a:solidFill>
                <a:latin typeface="Calibri"/>
              </a:rPr>
              <a:t> descuenta solo si alcanza; GET DIAGNOSTICS dice si tocó la fila.</a:t>
            </a:r>
          </a:p>
          <a:p>
            <a:pPr>
              <a:spcAft>
                <a:spcPts val="800"/>
              </a:spcAft>
            </a:pPr>
            <a:r>
              <a:rPr sz="2000" b="0" i="0">
                <a:solidFill>
                  <a:srgbClr val="333333"/>
                </a:solidFill>
                <a:latin typeface="Calibri"/>
              </a:rPr>
              <a:t>–   Al salir del bucle se escribe el </a:t>
            </a:r>
            <a:r>
              <a:rPr sz="2000" b="1" i="0">
                <a:solidFill>
                  <a:srgbClr val="333333"/>
                </a:solidFill>
                <a:latin typeface="Calibri"/>
              </a:rPr>
              <a:t>total</a:t>
            </a:r>
            <a:r>
              <a:rPr sz="2000" b="0" i="0">
                <a:solidFill>
                  <a:srgbClr val="333333"/>
                </a:solidFill>
                <a:latin typeface="Calibri"/>
              </a:rPr>
              <a:t>: 27.400 en el caso de prueba.</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guardia del stock, sentencia por sentencia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uardia-stock-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guardia-stock-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guardia-stock-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El </a:t>
            </a:r>
            <a:r>
              <a:rPr sz="2000" b="1" i="0">
                <a:solidFill>
                  <a:srgbClr val="333333"/>
                </a:solidFill>
                <a:latin typeface="Calibri"/>
              </a:rPr>
              <a:t>guardia</a:t>
            </a:r>
            <a:r>
              <a:rPr sz="2000" b="0" i="0">
                <a:solidFill>
                  <a:srgbClr val="333333"/>
                </a:solidFill>
                <a:latin typeface="Calibri"/>
              </a:rPr>
              <a:t> pone la condición dentro del WHERE: AND stock &gt;= cantidad.</a:t>
            </a:r>
          </a:p>
          <a:p>
            <a:pPr>
              <a:spcAft>
                <a:spcPts val="800"/>
              </a:spcAft>
            </a:pPr>
            <a:r>
              <a:rPr sz="2000" b="0" i="0">
                <a:solidFill>
                  <a:srgbClr val="333333"/>
                </a:solidFill>
                <a:latin typeface="Calibri"/>
              </a:rPr>
              <a:t>–   Comprobar y descontar son </a:t>
            </a:r>
            <a:r>
              <a:rPr sz="2000" b="1" i="0">
                <a:solidFill>
                  <a:srgbClr val="333333"/>
                </a:solidFill>
                <a:latin typeface="Calibri"/>
              </a:rPr>
              <a:t>una sola sentencia</a:t>
            </a:r>
            <a:r>
              <a:rPr sz="2000" b="0" i="0">
                <a:solidFill>
                  <a:srgbClr val="333333"/>
                </a:solidFill>
                <a:latin typeface="Calibri"/>
              </a:rPr>
              <a:t>: nadie se cuela entre las dos.</a:t>
            </a:r>
          </a:p>
          <a:p>
            <a:pPr>
              <a:spcAft>
                <a:spcPts val="800"/>
              </a:spcAft>
            </a:pPr>
            <a:r>
              <a:rPr sz="2000" b="0" i="0">
                <a:solidFill>
                  <a:srgbClr val="333333"/>
                </a:solidFill>
                <a:latin typeface="Calibri"/>
              </a:rPr>
              <a:t>–   Luego </a:t>
            </a:r>
            <a:r>
              <a:rPr sz="2000" b="1" i="0">
                <a:solidFill>
                  <a:srgbClr val="333333"/>
                </a:solidFill>
                <a:latin typeface="Calibri"/>
              </a:rPr>
              <a:t>GET DIAGNOSTICS</a:t>
            </a:r>
            <a:r>
              <a:rPr sz="2000" b="0" i="0">
                <a:solidFill>
                  <a:srgbClr val="333333"/>
                </a:solidFill>
                <a:latin typeface="Calibri"/>
              </a:rPr>
              <a:t> guarda cuántas filas tocó: 1 alcanzó, 0 no había stock.</a:t>
            </a:r>
          </a:p>
          <a:p>
            <a:pPr>
              <a:spcAft>
                <a:spcPts val="800"/>
              </a:spcAft>
            </a:pPr>
            <a:r>
              <a:rPr sz="2000" b="0" i="0">
                <a:solidFill>
                  <a:srgbClr val="333333"/>
                </a:solidFill>
                <a:latin typeface="Calibri"/>
              </a:rPr>
              <a:t>–   Si fue 0, </a:t>
            </a:r>
            <a:r>
              <a:rPr sz="2000" b="1" i="0">
                <a:solidFill>
                  <a:srgbClr val="333333"/>
                </a:solidFill>
                <a:latin typeface="Calibri"/>
              </a:rPr>
              <a:t>RAISE EXCEPTION</a:t>
            </a:r>
            <a:r>
              <a:rPr sz="2000" b="0" i="0">
                <a:solidFill>
                  <a:srgbClr val="333333"/>
                </a:solidFill>
                <a:latin typeface="Calibri"/>
              </a:rPr>
              <a:t> con el insumo y la cantidad pedida.</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Error del motor y error de negocio: se atienden distinto</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rror-motor-negocio-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error-motor-negocio-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error-motor-negocio-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 </a:t>
            </a:r>
            <a:r>
              <a:rPr sz="2000" b="1" i="0">
                <a:solidFill>
                  <a:srgbClr val="333333"/>
                </a:solidFill>
                <a:latin typeface="Calibri"/>
              </a:rPr>
              <a:t>error del motor</a:t>
            </a:r>
            <a:r>
              <a:rPr sz="2000" b="0" i="0">
                <a:solidFill>
                  <a:srgbClr val="333333"/>
                </a:solidFill>
                <a:latin typeface="Calibri"/>
              </a:rPr>
              <a:t> viola una regla que la base conoce: CHECK, FK, tipo, interbloqueo.</a:t>
            </a:r>
          </a:p>
          <a:p>
            <a:pPr>
              <a:spcAft>
                <a:spcPts val="800"/>
              </a:spcAft>
            </a:pPr>
            <a:r>
              <a:rPr sz="2000" b="0" i="0">
                <a:solidFill>
                  <a:srgbClr val="333333"/>
                </a:solidFill>
                <a:latin typeface="Calibri"/>
              </a:rPr>
              <a:t>–   Un </a:t>
            </a:r>
            <a:r>
              <a:rPr sz="2000" b="1" i="0">
                <a:solidFill>
                  <a:srgbClr val="333333"/>
                </a:solidFill>
                <a:latin typeface="Calibri"/>
              </a:rPr>
              <a:t>error de negocio</a:t>
            </a:r>
            <a:r>
              <a:rPr sz="2000" b="0" i="0">
                <a:solidFill>
                  <a:srgbClr val="333333"/>
                </a:solidFill>
                <a:latin typeface="Calibri"/>
              </a:rPr>
              <a:t> viola una regla que la base no conoce en esa forma.</a:t>
            </a:r>
          </a:p>
          <a:p>
            <a:pPr>
              <a:spcAft>
                <a:spcPts val="800"/>
              </a:spcAft>
            </a:pPr>
            <a:r>
              <a:rPr sz="2000" b="0" i="0">
                <a:solidFill>
                  <a:srgbClr val="333333"/>
                </a:solidFill>
                <a:latin typeface="Calibri"/>
              </a:rPr>
              <a:t>–   Un UPDATE que toca </a:t>
            </a:r>
            <a:r>
              <a:rPr sz="2000" b="1" i="0">
                <a:solidFill>
                  <a:srgbClr val="333333"/>
                </a:solidFill>
                <a:latin typeface="Calibri"/>
              </a:rPr>
              <a:t>0 filas</a:t>
            </a:r>
            <a:r>
              <a:rPr sz="2000" b="0" i="0">
                <a:solidFill>
                  <a:srgbClr val="333333"/>
                </a:solidFill>
                <a:latin typeface="Calibri"/>
              </a:rPr>
              <a:t> es un éxito para el motor: el RAISE lo pones tú.</a:t>
            </a:r>
          </a:p>
          <a:p>
            <a:pPr>
              <a:spcAft>
                <a:spcPts val="800"/>
              </a:spcAft>
            </a:pPr>
            <a:r>
              <a:rPr sz="2000" b="0" i="0">
                <a:solidFill>
                  <a:srgbClr val="333333"/>
                </a:solidFill>
                <a:latin typeface="Calibri"/>
              </a:rPr>
              <a:t>–   Nada de </a:t>
            </a:r>
            <a:r>
              <a:rPr sz="2000" b="1" i="0">
                <a:solidFill>
                  <a:srgbClr val="333333"/>
                </a:solidFill>
                <a:latin typeface="Calibri"/>
              </a:rPr>
              <a:t>WHEN OTHERS THEN NULL</a:t>
            </a:r>
            <a:r>
              <a:rPr sz="2000" b="0" i="0">
                <a:solidFill>
                  <a:srgbClr val="333333"/>
                </a:solidFill>
                <a:latin typeface="Calibri"/>
              </a:rPr>
              <a:t>: si se captura, se relanza con RAISE.</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Donde empieza y termina la transaccion de un CALL</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ll-transaccion-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call-transaccion-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call-transaccion-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 </a:t>
            </a:r>
            <a:r>
              <a:rPr sz="2000" b="1" i="0">
                <a:solidFill>
                  <a:srgbClr val="333333"/>
                </a:solidFill>
                <a:latin typeface="Calibri"/>
              </a:rPr>
              <a:t>CALL</a:t>
            </a:r>
            <a:r>
              <a:rPr sz="2000" b="0" i="0">
                <a:solidFill>
                  <a:srgbClr val="333333"/>
                </a:solidFill>
                <a:latin typeface="Calibri"/>
              </a:rPr>
              <a:t> escrito sin BEGIN es su propia transacción.</a:t>
            </a:r>
          </a:p>
          <a:p>
            <a:pPr>
              <a:spcAft>
                <a:spcPts val="800"/>
              </a:spcAft>
            </a:pPr>
            <a:r>
              <a:rPr sz="2000" b="0" i="0">
                <a:solidFill>
                  <a:srgbClr val="333333"/>
                </a:solidFill>
                <a:latin typeface="Calibri"/>
              </a:rPr>
              <a:t>–   Si la excepción </a:t>
            </a:r>
            <a:r>
              <a:rPr sz="2000" b="1" i="0">
                <a:solidFill>
                  <a:srgbClr val="333333"/>
                </a:solidFill>
                <a:latin typeface="Calibri"/>
              </a:rPr>
              <a:t>sale del CALL</a:t>
            </a:r>
            <a:r>
              <a:rPr sz="2000" b="0" i="0">
                <a:solidFill>
                  <a:srgbClr val="333333"/>
                </a:solidFill>
                <a:latin typeface="Calibri"/>
              </a:rPr>
              <a:t>, el motor deshace todo lo que ese CALL hizo.</a:t>
            </a:r>
          </a:p>
          <a:p>
            <a:pPr>
              <a:spcAft>
                <a:spcPts val="800"/>
              </a:spcAft>
            </a:pPr>
            <a:r>
              <a:rPr sz="2000" b="0" i="0">
                <a:solidFill>
                  <a:srgbClr val="333333"/>
                </a:solidFill>
                <a:latin typeface="Calibri"/>
              </a:rPr>
              <a:t>–   Nadie escribió </a:t>
            </a:r>
            <a:r>
              <a:rPr sz="2000" b="1" i="0">
                <a:solidFill>
                  <a:srgbClr val="333333"/>
                </a:solidFill>
                <a:latin typeface="Calibri"/>
              </a:rPr>
              <a:t>ROLLBACK</a:t>
            </a:r>
            <a:r>
              <a:rPr sz="2000" b="0" i="0">
                <a:solidFill>
                  <a:srgbClr val="333333"/>
                </a:solidFill>
                <a:latin typeface="Calibri"/>
              </a:rPr>
              <a:t>: el stock del insumo 3 vuelve a 40 solo.</a:t>
            </a:r>
          </a:p>
          <a:p>
            <a:pPr>
              <a:spcAft>
                <a:spcPts val="800"/>
              </a:spcAft>
            </a:pPr>
            <a:r>
              <a:rPr sz="2000" b="0" i="0">
                <a:solidFill>
                  <a:srgbClr val="333333"/>
                </a:solidFill>
                <a:latin typeface="Calibri"/>
              </a:rPr>
              <a:t>–   Quien decide el </a:t>
            </a:r>
            <a:r>
              <a:rPr sz="2000" b="1" i="0">
                <a:solidFill>
                  <a:srgbClr val="333333"/>
                </a:solidFill>
                <a:latin typeface="Calibri"/>
              </a:rPr>
              <a:t>COMMIT</a:t>
            </a:r>
            <a:r>
              <a:rPr sz="2000" b="0" i="0">
                <a:solidFill>
                  <a:srgbClr val="333333"/>
                </a:solidFill>
                <a:latin typeface="Calibri"/>
              </a:rPr>
              <a:t> es uno solo: el llamador.</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Todo o nada: la transaccion explicita</a:t>
            </a:r>
          </a:p>
        </p:txBody>
      </p:sp>
      <p:sp>
        <p:nvSpPr>
          <p:cNvPr id="5" name="Rounded Rectangle 4"/>
          <p:cNvSpPr/>
          <p:nvPr/>
        </p:nvSpPr>
        <p:spPr>
          <a:xfrm>
            <a:off x="457200" y="1261872"/>
            <a:ext cx="11277295" cy="4660587"/>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SQL · PostgreSQL</a:t>
            </a:r>
          </a:p>
        </p:txBody>
      </p:sp>
      <p:sp>
        <p:nvSpPr>
          <p:cNvPr id="11" name="TextBox 10"/>
          <p:cNvSpPr txBox="1"/>
          <p:nvPr/>
        </p:nvSpPr>
        <p:spPr>
          <a:xfrm>
            <a:off x="685800" y="1719072"/>
            <a:ext cx="502920" cy="4066227"/>
          </a:xfrm>
          <a:prstGeom prst="rect">
            <a:avLst/>
          </a:prstGeom>
          <a:noFill/>
        </p:spPr>
        <p:txBody>
          <a:bodyPr wrap="square">
            <a:spAutoFit/>
          </a:bodyPr>
          <a:lstStyle/>
          <a:p>
            <a:pPr algn="r">
              <a:spcAft>
                <a:spcPts val="364"/>
              </a:spcAft>
            </a:pPr>
            <a:r>
              <a:rPr sz="1700" i="0" b="0">
                <a:solidFill>
                  <a:srgbClr val="858585"/>
                </a:solidFill>
                <a:latin typeface="Consolas"/>
              </a:rPr>
              <a:t>1</a:t>
            </a:r>
          </a:p>
          <a:p>
            <a:pPr algn="r">
              <a:spcAft>
                <a:spcPts val="364"/>
              </a:spcAft>
            </a:pPr>
            <a:r>
              <a:rPr sz="1700" i="0" b="0">
                <a:solidFill>
                  <a:srgbClr val="858585"/>
                </a:solidFill>
                <a:latin typeface="Consolas"/>
              </a:rPr>
              <a:t>2</a:t>
            </a:r>
          </a:p>
          <a:p>
            <a:pPr algn="r">
              <a:spcAft>
                <a:spcPts val="364"/>
              </a:spcAft>
            </a:pPr>
            <a:r>
              <a:rPr sz="1700" i="0" b="0">
                <a:solidFill>
                  <a:srgbClr val="858585"/>
                </a:solidFill>
                <a:latin typeface="Consolas"/>
              </a:rPr>
              <a:t>3</a:t>
            </a:r>
          </a:p>
          <a:p>
            <a:pPr algn="r">
              <a:spcAft>
                <a:spcPts val="364"/>
              </a:spcAft>
            </a:pPr>
            <a:r>
              <a:rPr sz="1700" i="0" b="0">
                <a:solidFill>
                  <a:srgbClr val="858585"/>
                </a:solidFill>
                <a:latin typeface="Consolas"/>
              </a:rPr>
              <a:t>4</a:t>
            </a:r>
          </a:p>
          <a:p>
            <a:pPr algn="r">
              <a:spcAft>
                <a:spcPts val="364"/>
              </a:spcAft>
            </a:pPr>
            <a:r>
              <a:rPr sz="1700" i="0" b="0">
                <a:solidFill>
                  <a:srgbClr val="858585"/>
                </a:solidFill>
                <a:latin typeface="Consolas"/>
              </a:rPr>
              <a:t>5</a:t>
            </a:r>
          </a:p>
          <a:p>
            <a:pPr algn="r">
              <a:spcAft>
                <a:spcPts val="364"/>
              </a:spcAft>
            </a:pPr>
            <a:r>
              <a:rPr sz="1700" i="0" b="0">
                <a:solidFill>
                  <a:srgbClr val="858585"/>
                </a:solidFill>
                <a:latin typeface="Consolas"/>
              </a:rPr>
              <a:t>6</a:t>
            </a:r>
          </a:p>
          <a:p>
            <a:pPr algn="r">
              <a:spcAft>
                <a:spcPts val="364"/>
              </a:spcAft>
            </a:pPr>
            <a:r>
              <a:rPr sz="1700" i="0" b="0">
                <a:solidFill>
                  <a:srgbClr val="858585"/>
                </a:solidFill>
                <a:latin typeface="Consolas"/>
              </a:rPr>
              <a:t>7</a:t>
            </a:r>
          </a:p>
          <a:p>
            <a:pPr algn="r">
              <a:spcAft>
                <a:spcPts val="364"/>
              </a:spcAft>
            </a:pPr>
            <a:r>
              <a:rPr sz="1700" i="0" b="0">
                <a:solidFill>
                  <a:srgbClr val="858585"/>
                </a:solidFill>
                <a:latin typeface="Consolas"/>
              </a:rPr>
              <a:t>8</a:t>
            </a:r>
          </a:p>
          <a:p>
            <a:pPr algn="r">
              <a:spcAft>
                <a:spcPts val="364"/>
              </a:spcAft>
            </a:pPr>
            <a:r>
              <a:rPr sz="1700" i="0" b="0">
                <a:solidFill>
                  <a:srgbClr val="858585"/>
                </a:solidFill>
                <a:latin typeface="Consolas"/>
              </a:rPr>
              <a:t>9</a:t>
            </a:r>
          </a:p>
          <a:p>
            <a:pPr algn="r">
              <a:spcAft>
                <a:spcPts val="364"/>
              </a:spcAft>
            </a:pPr>
            <a:r>
              <a:rPr sz="1700" i="0" b="0">
                <a:solidFill>
                  <a:srgbClr val="858585"/>
                </a:solidFill>
                <a:latin typeface="Consolas"/>
              </a:rPr>
              <a:t>10</a:t>
            </a:r>
          </a:p>
          <a:p>
            <a:pPr algn="r">
              <a:spcAft>
                <a:spcPts val="364"/>
              </a:spcAft>
            </a:pPr>
            <a:r>
              <a:rPr sz="1700" i="0" b="0">
                <a:solidFill>
                  <a:srgbClr val="858585"/>
                </a:solidFill>
                <a:latin typeface="Consolas"/>
              </a:rPr>
              <a:t>11</a:t>
            </a:r>
          </a:p>
          <a:p>
            <a:pPr algn="r">
              <a:spcAft>
                <a:spcPts val="364"/>
              </a:spcAft>
            </a:pPr>
            <a:r>
              <a:rPr sz="1700" i="0" b="0">
                <a:solidFill>
                  <a:srgbClr val="858585"/>
                </a:solidFill>
                <a:latin typeface="Consolas"/>
              </a:rPr>
              <a:t>12</a:t>
            </a:r>
          </a:p>
          <a:p>
            <a:pPr algn="r">
              <a:spcAft>
                <a:spcPts val="364"/>
              </a:spcAft>
            </a:pPr>
            <a:r>
              <a:rPr sz="1700" i="0" b="0">
                <a:solidFill>
                  <a:srgbClr val="858585"/>
                </a:solidFill>
                <a:latin typeface="Consolas"/>
              </a:rPr>
              <a:t>13</a:t>
            </a:r>
          </a:p>
        </p:txBody>
      </p:sp>
      <p:sp>
        <p:nvSpPr>
          <p:cNvPr id="12" name="TextBox 11"/>
          <p:cNvSpPr txBox="1"/>
          <p:nvPr/>
        </p:nvSpPr>
        <p:spPr>
          <a:xfrm>
            <a:off x="1188720" y="1719072"/>
            <a:ext cx="10271455" cy="4066227"/>
          </a:xfrm>
          <a:prstGeom prst="rect">
            <a:avLst/>
          </a:prstGeom>
          <a:noFill/>
        </p:spPr>
        <p:txBody>
          <a:bodyPr wrap="square">
            <a:spAutoFit/>
          </a:bodyPr>
          <a:lstStyle/>
          <a:p>
            <a:pPr>
              <a:spcAft>
                <a:spcPts val="364"/>
              </a:spcAft>
            </a:pPr>
            <a:r>
              <a:rPr sz="1700" i="0" b="0">
                <a:solidFill>
                  <a:srgbClr val="569CD6"/>
                </a:solidFill>
                <a:latin typeface="Consolas"/>
              </a:rPr>
              <a:t>BEGIN</a:t>
            </a:r>
            <a:r>
              <a:rPr sz="1700" i="0" b="0">
                <a:solidFill>
                  <a:srgbClr val="D4D4D4"/>
                </a:solidFill>
                <a:latin typeface="Consolas"/>
              </a:rPr>
              <a:t>;</a:t>
            </a:r>
          </a:p>
          <a:p>
            <a:pPr>
              <a:spcAft>
                <a:spcPts val="364"/>
              </a:spcAft>
            </a:pPr>
            <a:r>
              <a:rPr sz="1700" i="0" b="0">
                <a:solidFill>
                  <a:srgbClr val="D4D4D4"/>
                </a:solidFill>
                <a:latin typeface="Consolas"/>
              </a:rPr>
              <a:t/>
            </a:r>
          </a:p>
          <a:p>
            <a:pPr>
              <a:spcAft>
                <a:spcPts val="364"/>
              </a:spcAft>
            </a:pPr>
            <a:r>
              <a:rPr sz="1700" i="0" b="0">
                <a:solidFill>
                  <a:srgbClr val="569CD6"/>
                </a:solidFill>
                <a:latin typeface="Consolas"/>
              </a:rPr>
              <a:t>INSERT</a:t>
            </a:r>
            <a:r>
              <a:rPr sz="1700" i="0" b="0">
                <a:solidFill>
                  <a:srgbClr val="D4D4D4"/>
                </a:solidFill>
                <a:latin typeface="Consolas"/>
              </a:rPr>
              <a:t> </a:t>
            </a:r>
            <a:r>
              <a:rPr sz="1700" i="0" b="0">
                <a:solidFill>
                  <a:srgbClr val="569CD6"/>
                </a:solidFill>
                <a:latin typeface="Consolas"/>
              </a:rPr>
              <a:t>INTO</a:t>
            </a:r>
            <a:r>
              <a:rPr sz="1700" i="0" b="0">
                <a:solidFill>
                  <a:srgbClr val="D4D4D4"/>
                </a:solidFill>
                <a:latin typeface="Consolas"/>
              </a:rPr>
              <a:t> </a:t>
            </a:r>
            <a:r>
              <a:rPr sz="1700" i="0" b="0">
                <a:solidFill>
                  <a:srgbClr val="DCDCAA"/>
                </a:solidFill>
                <a:latin typeface="Consolas"/>
              </a:rPr>
              <a:t>factura</a:t>
            </a:r>
            <a:r>
              <a:rPr sz="1700" i="0" b="0">
                <a:solidFill>
                  <a:srgbClr val="D4D4D4"/>
                </a:solidFill>
                <a:latin typeface="Consolas"/>
              </a:rPr>
              <a:t> (</a:t>
            </a:r>
            <a:r>
              <a:rPr sz="1700" i="0" b="0">
                <a:solidFill>
                  <a:srgbClr val="D4D4D4"/>
                </a:solidFill>
                <a:latin typeface="Consolas"/>
              </a:rPr>
              <a:t>id_consulta</a:t>
            </a:r>
            <a:r>
              <a:rPr sz="1700" i="0" b="0">
                <a:solidFill>
                  <a:srgbClr val="D4D4D4"/>
                </a:solidFill>
                <a:latin typeface="Consolas"/>
              </a:rPr>
              <a:t>, </a:t>
            </a:r>
            <a:r>
              <a:rPr sz="1700" i="0" b="0">
                <a:solidFill>
                  <a:srgbClr val="D4D4D4"/>
                </a:solidFill>
                <a:latin typeface="Consolas"/>
              </a:rPr>
              <a:t>total</a:t>
            </a:r>
            <a:r>
              <a:rPr sz="1700" i="0" b="0">
                <a:solidFill>
                  <a:srgbClr val="D4D4D4"/>
                </a:solidFill>
                <a:latin typeface="Consolas"/>
              </a:rPr>
              <a:t>)</a:t>
            </a:r>
          </a:p>
          <a:p>
            <a:pPr>
              <a:spcAft>
                <a:spcPts val="364"/>
              </a:spcAft>
            </a:pPr>
            <a:r>
              <a:rPr sz="1700" i="0" b="0">
                <a:solidFill>
                  <a:srgbClr val="569CD6"/>
                </a:solidFill>
                <a:latin typeface="Consolas"/>
              </a:rPr>
              <a:t>VALUES</a:t>
            </a:r>
            <a:r>
              <a:rPr sz="1700" i="0" b="0">
                <a:solidFill>
                  <a:srgbClr val="D4D4D4"/>
                </a:solidFill>
                <a:latin typeface="Consolas"/>
              </a:rPr>
              <a:t> (</a:t>
            </a:r>
            <a:r>
              <a:rPr sz="1700" i="0" b="0">
                <a:solidFill>
                  <a:srgbClr val="B5CEA8"/>
                </a:solidFill>
                <a:latin typeface="Consolas"/>
              </a:rPr>
              <a:t>1</a:t>
            </a:r>
            <a:r>
              <a:rPr sz="1700" i="0" b="0">
                <a:solidFill>
                  <a:srgbClr val="D4D4D4"/>
                </a:solidFill>
                <a:latin typeface="Consolas"/>
              </a:rPr>
              <a:t>, </a:t>
            </a:r>
            <a:r>
              <a:rPr sz="1700" i="0" b="0">
                <a:solidFill>
                  <a:srgbClr val="B5CEA8"/>
                </a:solidFill>
                <a:latin typeface="Consolas"/>
              </a:rPr>
              <a:t>0</a:t>
            </a:r>
            <a:r>
              <a:rPr sz="1700" i="0" b="0">
                <a:solidFill>
                  <a:srgbClr val="D4D4D4"/>
                </a:solidFill>
                <a:latin typeface="Consolas"/>
              </a:rPr>
              <a:t>) </a:t>
            </a:r>
            <a:r>
              <a:rPr sz="1700" i="0" b="0">
                <a:solidFill>
                  <a:srgbClr val="D4D4D4"/>
                </a:solidFill>
                <a:latin typeface="Consolas"/>
              </a:rPr>
              <a:t>RETURNING</a:t>
            </a:r>
            <a:r>
              <a:rPr sz="1700" i="0" b="0">
                <a:solidFill>
                  <a:srgbClr val="D4D4D4"/>
                </a:solidFill>
                <a:latin typeface="Consolas"/>
              </a:rPr>
              <a:t> </a:t>
            </a:r>
            <a:r>
              <a:rPr sz="1700" i="0" b="0">
                <a:solidFill>
                  <a:srgbClr val="D4D4D4"/>
                </a:solidFill>
                <a:latin typeface="Consolas"/>
              </a:rPr>
              <a:t>id_factura</a:t>
            </a:r>
            <a:r>
              <a:rPr sz="1700" i="0" b="0">
                <a:solidFill>
                  <a:srgbClr val="D4D4D4"/>
                </a:solidFill>
                <a:latin typeface="Consolas"/>
              </a:rPr>
              <a:t>;          </a:t>
            </a:r>
            <a:r>
              <a:rPr sz="1700" i="1" b="0">
                <a:solidFill>
                  <a:srgbClr val="6A9955"/>
                </a:solidFill>
                <a:latin typeface="Consolas"/>
              </a:rPr>
              <a:t>-- devuelve el id generado</a:t>
            </a:r>
          </a:p>
          <a:p>
            <a:pPr>
              <a:spcAft>
                <a:spcPts val="364"/>
              </a:spcAft>
            </a:pPr>
            <a:r>
              <a:rPr sz="1700" i="0" b="0">
                <a:solidFill>
                  <a:srgbClr val="D4D4D4"/>
                </a:solidFill>
                <a:latin typeface="Consolas"/>
              </a:rPr>
              <a:t/>
            </a:r>
          </a:p>
          <a:p>
            <a:pPr>
              <a:spcAft>
                <a:spcPts val="364"/>
              </a:spcAft>
            </a:pPr>
            <a:r>
              <a:rPr sz="1700" i="0" b="0">
                <a:solidFill>
                  <a:srgbClr val="569CD6"/>
                </a:solidFill>
                <a:latin typeface="Consolas"/>
              </a:rPr>
              <a:t>INSERT</a:t>
            </a:r>
            <a:r>
              <a:rPr sz="1700" i="0" b="0">
                <a:solidFill>
                  <a:srgbClr val="D4D4D4"/>
                </a:solidFill>
                <a:latin typeface="Consolas"/>
              </a:rPr>
              <a:t> </a:t>
            </a:r>
            <a:r>
              <a:rPr sz="1700" i="0" b="0">
                <a:solidFill>
                  <a:srgbClr val="569CD6"/>
                </a:solidFill>
                <a:latin typeface="Consolas"/>
              </a:rPr>
              <a:t>INTO</a:t>
            </a:r>
            <a:r>
              <a:rPr sz="1700" i="0" b="0">
                <a:solidFill>
                  <a:srgbClr val="D4D4D4"/>
                </a:solidFill>
                <a:latin typeface="Consolas"/>
              </a:rPr>
              <a:t> </a:t>
            </a:r>
            <a:r>
              <a:rPr sz="1700" i="0" b="0">
                <a:solidFill>
                  <a:srgbClr val="DCDCAA"/>
                </a:solidFill>
                <a:latin typeface="Consolas"/>
              </a:rPr>
              <a:t>detalle_factura</a:t>
            </a:r>
            <a:r>
              <a:rPr sz="1700" i="0" b="0">
                <a:solidFill>
                  <a:srgbClr val="D4D4D4"/>
                </a:solidFill>
                <a:latin typeface="Consolas"/>
              </a:rPr>
              <a:t> (</a:t>
            </a:r>
            <a:r>
              <a:rPr sz="1700" i="0" b="0">
                <a:solidFill>
                  <a:srgbClr val="D4D4D4"/>
                </a:solidFill>
                <a:latin typeface="Consolas"/>
              </a:rPr>
              <a:t>id_factura</a:t>
            </a:r>
            <a:r>
              <a:rPr sz="1700" i="0" b="0">
                <a:solidFill>
                  <a:srgbClr val="D4D4D4"/>
                </a:solidFill>
                <a:latin typeface="Consolas"/>
              </a:rPr>
              <a:t>, </a:t>
            </a:r>
            <a:r>
              <a:rPr sz="1700" i="0" b="0">
                <a:solidFill>
                  <a:srgbClr val="D4D4D4"/>
                </a:solidFill>
                <a:latin typeface="Consolas"/>
              </a:rPr>
              <a:t>id_insumo</a:t>
            </a:r>
            <a:r>
              <a:rPr sz="1700" i="0" b="0">
                <a:solidFill>
                  <a:srgbClr val="D4D4D4"/>
                </a:solidFill>
                <a:latin typeface="Consolas"/>
              </a:rPr>
              <a:t>, </a:t>
            </a:r>
            <a:r>
              <a:rPr sz="1700" i="0" b="0">
                <a:solidFill>
                  <a:srgbClr val="D4D4D4"/>
                </a:solidFill>
                <a:latin typeface="Consolas"/>
              </a:rPr>
              <a:t>cantidad</a:t>
            </a:r>
            <a:r>
              <a:rPr sz="1700" i="0" b="0">
                <a:solidFill>
                  <a:srgbClr val="D4D4D4"/>
                </a:solidFill>
                <a:latin typeface="Consolas"/>
              </a:rPr>
              <a:t>, </a:t>
            </a:r>
            <a:r>
              <a:rPr sz="1700" i="0" b="0">
                <a:solidFill>
                  <a:srgbClr val="D4D4D4"/>
                </a:solidFill>
                <a:latin typeface="Consolas"/>
              </a:rPr>
              <a:t>precio_unit</a:t>
            </a:r>
            <a:r>
              <a:rPr sz="1700" i="0" b="0">
                <a:solidFill>
                  <a:srgbClr val="D4D4D4"/>
                </a:solidFill>
                <a:latin typeface="Consolas"/>
              </a:rPr>
              <a:t>)</a:t>
            </a:r>
          </a:p>
          <a:p>
            <a:pPr>
              <a:spcAft>
                <a:spcPts val="364"/>
              </a:spcAft>
            </a:pPr>
            <a:r>
              <a:rPr sz="1700" i="0" b="0">
                <a:solidFill>
                  <a:srgbClr val="569CD6"/>
                </a:solidFill>
                <a:latin typeface="Consolas"/>
              </a:rPr>
              <a:t>VALUES</a:t>
            </a:r>
            <a:r>
              <a:rPr sz="1700" i="0" b="0">
                <a:solidFill>
                  <a:srgbClr val="D4D4D4"/>
                </a:solidFill>
                <a:latin typeface="Consolas"/>
              </a:rPr>
              <a:t> (</a:t>
            </a:r>
            <a:r>
              <a:rPr sz="1700" i="0" b="0">
                <a:solidFill>
                  <a:srgbClr val="DCDCAA"/>
                </a:solidFill>
                <a:latin typeface="Consolas"/>
              </a:rPr>
              <a:t>currval</a:t>
            </a:r>
            <a:r>
              <a:rPr sz="1700" i="0" b="0">
                <a:solidFill>
                  <a:srgbClr val="D4D4D4"/>
                </a:solidFill>
                <a:latin typeface="Consolas"/>
              </a:rPr>
              <a:t>(</a:t>
            </a:r>
            <a:r>
              <a:rPr sz="1700" i="0" b="0">
                <a:solidFill>
                  <a:srgbClr val="CE9178"/>
                </a:solidFill>
                <a:latin typeface="Consolas"/>
              </a:rPr>
              <a:t>'factura_id_factura_seq'</a:t>
            </a:r>
            <a:r>
              <a:rPr sz="1700" i="0" b="0">
                <a:solidFill>
                  <a:srgbClr val="D4D4D4"/>
                </a:solidFill>
                <a:latin typeface="Consolas"/>
              </a:rPr>
              <a:t>), </a:t>
            </a:r>
            <a:r>
              <a:rPr sz="1700" i="0" b="0">
                <a:solidFill>
                  <a:srgbClr val="B5CEA8"/>
                </a:solidFill>
                <a:latin typeface="Consolas"/>
              </a:rPr>
              <a:t>5</a:t>
            </a:r>
            <a:r>
              <a:rPr sz="1700" i="0" b="0">
                <a:solidFill>
                  <a:srgbClr val="D4D4D4"/>
                </a:solidFill>
                <a:latin typeface="Consolas"/>
              </a:rPr>
              <a:t>, </a:t>
            </a:r>
            <a:r>
              <a:rPr sz="1700" i="0" b="0">
                <a:solidFill>
                  <a:srgbClr val="B5CEA8"/>
                </a:solidFill>
                <a:latin typeface="Consolas"/>
              </a:rPr>
              <a:t>2</a:t>
            </a:r>
            <a:r>
              <a:rPr sz="1700" i="0" b="0">
                <a:solidFill>
                  <a:srgbClr val="D4D4D4"/>
                </a:solidFill>
                <a:latin typeface="Consolas"/>
              </a:rPr>
              <a:t>, </a:t>
            </a:r>
            <a:r>
              <a:rPr sz="1700" i="0" b="0">
                <a:solidFill>
                  <a:srgbClr val="B5CEA8"/>
                </a:solidFill>
                <a:latin typeface="Consolas"/>
              </a:rPr>
              <a:t>1200.00</a:t>
            </a:r>
            <a:r>
              <a:rPr sz="1700" i="0" b="0">
                <a:solidFill>
                  <a:srgbClr val="D4D4D4"/>
                </a:solidFill>
                <a:latin typeface="Consolas"/>
              </a:rPr>
              <a:t>);</a:t>
            </a:r>
          </a:p>
          <a:p>
            <a:pPr>
              <a:spcAft>
                <a:spcPts val="364"/>
              </a:spcAft>
            </a:pPr>
            <a:r>
              <a:rPr sz="1700" i="0" b="0">
                <a:solidFill>
                  <a:srgbClr val="D4D4D4"/>
                </a:solidFill>
                <a:latin typeface="Consolas"/>
              </a:rPr>
              <a:t/>
            </a:r>
          </a:p>
          <a:p>
            <a:pPr>
              <a:spcAft>
                <a:spcPts val="364"/>
              </a:spcAft>
            </a:pPr>
            <a:r>
              <a:rPr sz="1700" i="0" b="0">
                <a:solidFill>
                  <a:srgbClr val="569CD6"/>
                </a:solidFill>
                <a:latin typeface="Consolas"/>
              </a:rPr>
              <a:t>UPDATE</a:t>
            </a:r>
            <a:r>
              <a:rPr sz="1700" i="0" b="0">
                <a:solidFill>
                  <a:srgbClr val="D4D4D4"/>
                </a:solidFill>
                <a:latin typeface="Consolas"/>
              </a:rPr>
              <a:t> </a:t>
            </a:r>
            <a:r>
              <a:rPr sz="1700" i="0" b="0">
                <a:solidFill>
                  <a:srgbClr val="D4D4D4"/>
                </a:solidFill>
                <a:latin typeface="Consolas"/>
              </a:rPr>
              <a:t>insumo</a:t>
            </a:r>
            <a:r>
              <a:rPr sz="1700" i="0" b="0">
                <a:solidFill>
                  <a:srgbClr val="D4D4D4"/>
                </a:solidFill>
                <a:latin typeface="Consolas"/>
              </a:rPr>
              <a:t> </a:t>
            </a:r>
            <a:r>
              <a:rPr sz="1700" i="0" b="0">
                <a:solidFill>
                  <a:srgbClr val="569CD6"/>
                </a:solidFill>
                <a:latin typeface="Consolas"/>
              </a:rPr>
              <a:t>SET</a:t>
            </a:r>
            <a:r>
              <a:rPr sz="1700" i="0" b="0">
                <a:solidFill>
                  <a:srgbClr val="D4D4D4"/>
                </a:solidFill>
                <a:latin typeface="Consolas"/>
              </a:rPr>
              <a:t> </a:t>
            </a:r>
            <a:r>
              <a:rPr sz="1700" i="0" b="0">
                <a:solidFill>
                  <a:srgbClr val="D4D4D4"/>
                </a:solidFill>
                <a:latin typeface="Consolas"/>
              </a:rPr>
              <a:t>stock</a:t>
            </a:r>
            <a:r>
              <a:rPr sz="1700" i="0" b="0">
                <a:solidFill>
                  <a:srgbClr val="D4D4D4"/>
                </a:solidFill>
                <a:latin typeface="Consolas"/>
              </a:rPr>
              <a:t> = </a:t>
            </a:r>
            <a:r>
              <a:rPr sz="1700" i="0" b="0">
                <a:solidFill>
                  <a:srgbClr val="D4D4D4"/>
                </a:solidFill>
                <a:latin typeface="Consolas"/>
              </a:rPr>
              <a:t>stock</a:t>
            </a:r>
            <a:r>
              <a:rPr sz="1700" i="0" b="0">
                <a:solidFill>
                  <a:srgbClr val="D4D4D4"/>
                </a:solidFill>
                <a:latin typeface="Consolas"/>
              </a:rPr>
              <a:t> - </a:t>
            </a:r>
            <a:r>
              <a:rPr sz="1700" i="0" b="0">
                <a:solidFill>
                  <a:srgbClr val="B5CEA8"/>
                </a:solidFill>
                <a:latin typeface="Consolas"/>
              </a:rPr>
              <a:t>2</a:t>
            </a:r>
            <a:r>
              <a:rPr sz="1700" i="0" b="0">
                <a:solidFill>
                  <a:srgbClr val="D4D4D4"/>
                </a:solidFill>
                <a:latin typeface="Consolas"/>
              </a:rPr>
              <a:t> </a:t>
            </a:r>
            <a:r>
              <a:rPr sz="1700" i="0" b="0">
                <a:solidFill>
                  <a:srgbClr val="569CD6"/>
                </a:solidFill>
                <a:latin typeface="Consolas"/>
              </a:rPr>
              <a:t>WHERE</a:t>
            </a:r>
            <a:r>
              <a:rPr sz="1700" i="0" b="0">
                <a:solidFill>
                  <a:srgbClr val="D4D4D4"/>
                </a:solidFill>
                <a:latin typeface="Consolas"/>
              </a:rPr>
              <a:t> </a:t>
            </a:r>
            <a:r>
              <a:rPr sz="1700" i="0" b="0">
                <a:solidFill>
                  <a:srgbClr val="D4D4D4"/>
                </a:solidFill>
                <a:latin typeface="Consolas"/>
              </a:rPr>
              <a:t>id_insumo</a:t>
            </a:r>
            <a:r>
              <a:rPr sz="1700" i="0" b="0">
                <a:solidFill>
                  <a:srgbClr val="D4D4D4"/>
                </a:solidFill>
                <a:latin typeface="Consolas"/>
              </a:rPr>
              <a:t> = </a:t>
            </a:r>
            <a:r>
              <a:rPr sz="1700" i="0" b="0">
                <a:solidFill>
                  <a:srgbClr val="B5CEA8"/>
                </a:solidFill>
                <a:latin typeface="Consolas"/>
              </a:rPr>
              <a:t>5</a:t>
            </a:r>
            <a:r>
              <a:rPr sz="1700" i="0" b="0">
                <a:solidFill>
                  <a:srgbClr val="D4D4D4"/>
                </a:solidFill>
                <a:latin typeface="Consolas"/>
              </a:rPr>
              <a:t>;</a:t>
            </a:r>
          </a:p>
          <a:p>
            <a:pPr>
              <a:spcAft>
                <a:spcPts val="364"/>
              </a:spcAft>
            </a:pPr>
            <a:r>
              <a:rPr sz="1700" i="0" b="0">
                <a:solidFill>
                  <a:srgbClr val="569CD6"/>
                </a:solidFill>
                <a:latin typeface="Consolas"/>
              </a:rPr>
              <a:t>UPDATE</a:t>
            </a:r>
            <a:r>
              <a:rPr sz="1700" i="0" b="0">
                <a:solidFill>
                  <a:srgbClr val="D4D4D4"/>
                </a:solidFill>
                <a:latin typeface="Consolas"/>
              </a:rPr>
              <a:t> </a:t>
            </a:r>
            <a:r>
              <a:rPr sz="1700" i="0" b="0">
                <a:solidFill>
                  <a:srgbClr val="D4D4D4"/>
                </a:solidFill>
                <a:latin typeface="Consolas"/>
              </a:rPr>
              <a:t>factura</a:t>
            </a:r>
            <a:r>
              <a:rPr sz="1700" i="0" b="0">
                <a:solidFill>
                  <a:srgbClr val="D4D4D4"/>
                </a:solidFill>
                <a:latin typeface="Consolas"/>
              </a:rPr>
              <a:t> </a:t>
            </a:r>
            <a:r>
              <a:rPr sz="1700" i="0" b="0">
                <a:solidFill>
                  <a:srgbClr val="569CD6"/>
                </a:solidFill>
                <a:latin typeface="Consolas"/>
              </a:rPr>
              <a:t>SET</a:t>
            </a:r>
            <a:r>
              <a:rPr sz="1700" i="0" b="0">
                <a:solidFill>
                  <a:srgbClr val="D4D4D4"/>
                </a:solidFill>
                <a:latin typeface="Consolas"/>
              </a:rPr>
              <a:t> </a:t>
            </a:r>
            <a:r>
              <a:rPr sz="1700" i="0" b="0">
                <a:solidFill>
                  <a:srgbClr val="D4D4D4"/>
                </a:solidFill>
                <a:latin typeface="Consolas"/>
              </a:rPr>
              <a:t>total</a:t>
            </a:r>
            <a:r>
              <a:rPr sz="1700" i="0" b="0">
                <a:solidFill>
                  <a:srgbClr val="D4D4D4"/>
                </a:solidFill>
                <a:latin typeface="Consolas"/>
              </a:rPr>
              <a:t> = </a:t>
            </a:r>
            <a:r>
              <a:rPr sz="1700" i="0" b="0">
                <a:solidFill>
                  <a:srgbClr val="B5CEA8"/>
                </a:solidFill>
                <a:latin typeface="Consolas"/>
              </a:rPr>
              <a:t>2</a:t>
            </a:r>
            <a:r>
              <a:rPr sz="1700" i="0" b="0">
                <a:solidFill>
                  <a:srgbClr val="D4D4D4"/>
                </a:solidFill>
                <a:latin typeface="Consolas"/>
              </a:rPr>
              <a:t> * </a:t>
            </a:r>
            <a:r>
              <a:rPr sz="1700" i="0" b="0">
                <a:solidFill>
                  <a:srgbClr val="B5CEA8"/>
                </a:solidFill>
                <a:latin typeface="Consolas"/>
              </a:rPr>
              <a:t>1200.00</a:t>
            </a:r>
          </a:p>
          <a:p>
            <a:pPr>
              <a:spcAft>
                <a:spcPts val="364"/>
              </a:spcAft>
            </a:pPr>
            <a:r>
              <a:rPr sz="1700" i="0" b="0">
                <a:solidFill>
                  <a:srgbClr val="D4D4D4"/>
                </a:solidFill>
                <a:latin typeface="Consolas"/>
              </a:rPr>
              <a:t> </a:t>
            </a:r>
            <a:r>
              <a:rPr sz="1700" i="0" b="0">
                <a:solidFill>
                  <a:srgbClr val="569CD6"/>
                </a:solidFill>
                <a:latin typeface="Consolas"/>
              </a:rPr>
              <a:t>WHERE</a:t>
            </a:r>
            <a:r>
              <a:rPr sz="1700" i="0" b="0">
                <a:solidFill>
                  <a:srgbClr val="D4D4D4"/>
                </a:solidFill>
                <a:latin typeface="Consolas"/>
              </a:rPr>
              <a:t> </a:t>
            </a:r>
            <a:r>
              <a:rPr sz="1700" i="0" b="0">
                <a:solidFill>
                  <a:srgbClr val="D4D4D4"/>
                </a:solidFill>
                <a:latin typeface="Consolas"/>
              </a:rPr>
              <a:t>id_factura</a:t>
            </a:r>
            <a:r>
              <a:rPr sz="1700" i="0" b="0">
                <a:solidFill>
                  <a:srgbClr val="D4D4D4"/>
                </a:solidFill>
                <a:latin typeface="Consolas"/>
              </a:rPr>
              <a:t> = </a:t>
            </a:r>
            <a:r>
              <a:rPr sz="1700" i="0" b="0">
                <a:solidFill>
                  <a:srgbClr val="DCDCAA"/>
                </a:solidFill>
                <a:latin typeface="Consolas"/>
              </a:rPr>
              <a:t>currval</a:t>
            </a:r>
            <a:r>
              <a:rPr sz="1700" i="0" b="0">
                <a:solidFill>
                  <a:srgbClr val="D4D4D4"/>
                </a:solidFill>
                <a:latin typeface="Consolas"/>
              </a:rPr>
              <a:t>(</a:t>
            </a:r>
            <a:r>
              <a:rPr sz="1700" i="0" b="0">
                <a:solidFill>
                  <a:srgbClr val="CE9178"/>
                </a:solidFill>
                <a:latin typeface="Consolas"/>
              </a:rPr>
              <a:t>'factura_id_factura_seq'</a:t>
            </a:r>
            <a:r>
              <a:rPr sz="1700" i="0" b="0">
                <a:solidFill>
                  <a:srgbClr val="D4D4D4"/>
                </a:solidFill>
                <a:latin typeface="Consolas"/>
              </a:rPr>
              <a:t>);</a:t>
            </a:r>
          </a:p>
          <a:p>
            <a:pPr>
              <a:spcAft>
                <a:spcPts val="364"/>
              </a:spcAft>
            </a:pPr>
            <a:r>
              <a:rPr sz="1700" i="0" b="0">
                <a:solidFill>
                  <a:srgbClr val="D4D4D4"/>
                </a:solidFill>
                <a:latin typeface="Consolas"/>
              </a:rPr>
              <a:t/>
            </a:r>
          </a:p>
          <a:p>
            <a:pPr>
              <a:spcAft>
                <a:spcPts val="364"/>
              </a:spcAft>
            </a:pPr>
            <a:r>
              <a:rPr sz="1700" i="0" b="0">
                <a:solidFill>
                  <a:srgbClr val="569CD6"/>
                </a:solidFill>
                <a:latin typeface="Consolas"/>
              </a:rPr>
              <a:t>COMMIT</a:t>
            </a:r>
            <a:r>
              <a:rPr sz="1700" i="0" b="0">
                <a:solidFill>
                  <a:srgbClr val="D4D4D4"/>
                </a:solidFill>
                <a:latin typeface="Consolas"/>
              </a:rPr>
              <a:t>;      </a:t>
            </a:r>
            <a:r>
              <a:rPr sz="1700" i="1" b="0">
                <a:solidFill>
                  <a:srgbClr val="6A9955"/>
                </a:solidFill>
                <a:latin typeface="Consolas"/>
              </a:rPr>
              <a:t>-- o ROLLBACK; y no queda rastro de ninguna de las cuatro</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BEGIN abre la transaccion; hasta el COMMIT nadie mas ve los cambios, y un ROLLBACK o un error los deshace todos. Asi la factura y sus lineas existen juntas o no existen.</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Por que el procedimiento no lleva COMMIT ni ROLLBACK</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El CALL es su propia transaccion: la excepcion que sale de el deshace todo sin escribir ROLLBACK</a:t>
            </a:r>
          </a:p>
        </p:txBody>
      </p:sp>
      <p:sp>
        <p:nvSpPr>
          <p:cNvPr id="6" name="Rounded Rectangle 5"/>
          <p:cNvSpPr/>
          <p:nvPr/>
        </p:nvSpPr>
        <p:spPr>
          <a:xfrm>
            <a:off x="5797149" y="1449082"/>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lus-quien-confirma-paso1.png"/>
          <p:cNvPicPr>
            <a:picLocks noChangeAspect="1"/>
          </p:cNvPicPr>
          <p:nvPr/>
        </p:nvPicPr>
        <p:blipFill>
          <a:blip r:embed="rId2"/>
          <a:stretch>
            <a:fillRect/>
          </a:stretch>
        </p:blipFill>
        <p:spPr>
          <a:xfrm>
            <a:off x="5870301" y="1522234"/>
            <a:ext cx="5864193" cy="4691354"/>
          </a:xfrm>
          <a:prstGeom prst="rect">
            <a:avLst/>
          </a:prstGeom>
        </p:spPr>
      </p:pic>
      <p:sp>
        <p:nvSpPr>
          <p:cNvPr id="8" name="TextBox 7"/>
          <p:cNvSpPr txBox="1"/>
          <p:nvPr/>
        </p:nvSpPr>
        <p:spPr>
          <a:xfrm>
            <a:off x="457200" y="1563624"/>
            <a:ext cx="5093061" cy="4837176"/>
          </a:xfrm>
          <a:prstGeom prst="rect">
            <a:avLst/>
          </a:prstGeom>
          <a:noFill/>
        </p:spPr>
        <p:txBody>
          <a:bodyPr wrap="square">
            <a:spAutoFit/>
          </a:bodyPr>
          <a:lstStyle/>
          <a:p>
            <a:pPr>
              <a:spcAft>
                <a:spcPts val="800"/>
              </a:spcAft>
            </a:pPr>
            <a:r>
              <a:rPr sz="2000" b="0" i="0">
                <a:solidFill>
                  <a:srgbClr val="333333"/>
                </a:solidFill>
                <a:latin typeface="Calibri"/>
              </a:rPr>
              <a:t>–   Llamado con un </a:t>
            </a:r>
            <a:r>
              <a:rPr sz="2000" b="1" i="0">
                <a:solidFill>
                  <a:srgbClr val="333333"/>
                </a:solidFill>
                <a:latin typeface="Calibri"/>
              </a:rPr>
              <a:t>CALL suelto</a:t>
            </a:r>
            <a:r>
              <a:rPr sz="2000" b="0" i="0">
                <a:solidFill>
                  <a:srgbClr val="333333"/>
                </a:solidFill>
                <a:latin typeface="Calibri"/>
              </a:rPr>
              <a:t>, el procedimiento ya es una transacción completa.</a:t>
            </a:r>
          </a:p>
          <a:p>
            <a:pPr>
              <a:spcAft>
                <a:spcPts val="800"/>
              </a:spcAft>
            </a:pPr>
            <a:r>
              <a:rPr sz="2000" b="0" i="0">
                <a:solidFill>
                  <a:srgbClr val="333333"/>
                </a:solidFill>
                <a:latin typeface="Calibri"/>
              </a:rPr>
              <a:t>–   La </a:t>
            </a:r>
            <a:r>
              <a:rPr sz="2000" b="1" i="0">
                <a:solidFill>
                  <a:srgbClr val="333333"/>
                </a:solidFill>
                <a:latin typeface="Calibri"/>
              </a:rPr>
              <a:t>excepción</a:t>
            </a:r>
            <a:r>
              <a:rPr sz="2000" b="0" i="0">
                <a:solidFill>
                  <a:srgbClr val="333333"/>
                </a:solidFill>
                <a:latin typeface="Calibri"/>
              </a:rPr>
              <a:t> que sale del CALL lo deshace todo sin escribir ROLLBACK.</a:t>
            </a:r>
          </a:p>
          <a:p>
            <a:pPr>
              <a:spcAft>
                <a:spcPts val="800"/>
              </a:spcAft>
            </a:pPr>
            <a:r>
              <a:rPr sz="2000" b="0" i="0">
                <a:solidFill>
                  <a:srgbClr val="333333"/>
                </a:solidFill>
                <a:latin typeface="Calibri"/>
              </a:rPr>
              <a:t>–   Dentro de un BEGIN, un COMMIT en el procedimiento da </a:t>
            </a:r>
            <a:r>
              <a:rPr sz="2000" b="1" i="0">
                <a:solidFill>
                  <a:srgbClr val="333333"/>
                </a:solidFill>
                <a:latin typeface="Calibri"/>
              </a:rPr>
              <a:t>invalid transaction termination</a:t>
            </a:r>
            <a:r>
              <a:rPr sz="2000" b="0" i="0">
                <a:solidFill>
                  <a:srgbClr val="333333"/>
                </a:solidFill>
                <a:latin typeface="Calibri"/>
              </a:rPr>
              <a:t>.</a:t>
            </a:r>
          </a:p>
          <a:p>
            <a:pPr>
              <a:spcAft>
                <a:spcPts val="800"/>
              </a:spcAft>
            </a:pPr>
            <a:r>
              <a:rPr sz="2000" b="0" i="0">
                <a:solidFill>
                  <a:srgbClr val="333333"/>
                </a:solidFill>
                <a:latin typeface="Calibri"/>
              </a:rPr>
              <a:t>–   Quien confirma es </a:t>
            </a:r>
            <a:r>
              <a:rPr sz="2000" b="1" i="0">
                <a:solidFill>
                  <a:srgbClr val="333333"/>
                </a:solidFill>
                <a:latin typeface="Calibri"/>
              </a:rPr>
              <a:t>el llamador</a:t>
            </a:r>
            <a:r>
              <a:rPr sz="2000" b="0" i="0">
                <a:solidFill>
                  <a:srgbClr val="333333"/>
                </a:solidFill>
                <a:latin typeface="Calibri"/>
              </a:rPr>
              <a:t>; si se captura el error, se relanza.</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savepoint implicito del bloque EXCEPTION</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avepoint-exception-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savepoint-exception-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savepoint-exception-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 bloque </a:t>
            </a:r>
            <a:r>
              <a:rPr sz="2000" b="1" i="0">
                <a:solidFill>
                  <a:srgbClr val="333333"/>
                </a:solidFill>
                <a:latin typeface="Calibri"/>
              </a:rPr>
              <a:t>BEGIN … EXCEPTION … END</a:t>
            </a:r>
            <a:r>
              <a:rPr sz="2000" b="0" i="0">
                <a:solidFill>
                  <a:srgbClr val="333333"/>
                </a:solidFill>
                <a:latin typeface="Calibri"/>
              </a:rPr>
              <a:t> crea un savepoint al entrar.</a:t>
            </a:r>
          </a:p>
          <a:p>
            <a:pPr>
              <a:spcAft>
                <a:spcPts val="800"/>
              </a:spcAft>
            </a:pPr>
            <a:r>
              <a:rPr sz="2000" b="0" i="0">
                <a:solidFill>
                  <a:srgbClr val="333333"/>
                </a:solidFill>
                <a:latin typeface="Calibri"/>
              </a:rPr>
              <a:t>–   Si algo falla adentro, se deshace </a:t>
            </a:r>
            <a:r>
              <a:rPr sz="2000" b="1" i="0">
                <a:solidFill>
                  <a:srgbClr val="333333"/>
                </a:solidFill>
                <a:latin typeface="Calibri"/>
              </a:rPr>
              <a:t>solo lo del bloque</a:t>
            </a:r>
            <a:r>
              <a:rPr sz="2000" b="0" i="0">
                <a:solidFill>
                  <a:srgbClr val="333333"/>
                </a:solidFill>
                <a:latin typeface="Calibri"/>
              </a:rPr>
              <a:t> y corre el manejador.</a:t>
            </a:r>
          </a:p>
          <a:p>
            <a:pPr>
              <a:spcAft>
                <a:spcPts val="800"/>
              </a:spcAft>
            </a:pPr>
            <a:r>
              <a:rPr sz="2000" b="0" i="0">
                <a:solidFill>
                  <a:srgbClr val="333333"/>
                </a:solidFill>
                <a:latin typeface="Calibri"/>
              </a:rPr>
              <a:t>–   Lo escrito </a:t>
            </a:r>
            <a:r>
              <a:rPr sz="2000" b="1" i="0">
                <a:solidFill>
                  <a:srgbClr val="333333"/>
                </a:solidFill>
                <a:latin typeface="Calibri"/>
              </a:rPr>
              <a:t>antes del bloque</a:t>
            </a:r>
            <a:r>
              <a:rPr sz="2000" b="0" i="0">
                <a:solidFill>
                  <a:srgbClr val="333333"/>
                </a:solidFill>
                <a:latin typeface="Calibri"/>
              </a:rPr>
              <a:t> sigue en pie hasta que termine la transacción.</a:t>
            </a:r>
          </a:p>
          <a:p>
            <a:pPr>
              <a:spcAft>
                <a:spcPts val="800"/>
              </a:spcAft>
            </a:pPr>
            <a:r>
              <a:rPr sz="2000" b="0" i="0">
                <a:solidFill>
                  <a:srgbClr val="333333"/>
                </a:solidFill>
                <a:latin typeface="Calibri"/>
              </a:rPr>
              <a:t>–   Cada vuelta de un bucle con EXCEPTION crea un savepoint: </a:t>
            </a:r>
            <a:r>
              <a:rPr sz="2000" b="1" i="0">
                <a:solidFill>
                  <a:srgbClr val="333333"/>
                </a:solidFill>
                <a:latin typeface="Calibri"/>
              </a:rPr>
              <a:t>se paga</a:t>
            </a:r>
            <a:r>
              <a:rPr sz="2000" b="0" i="0">
                <a:solidFill>
                  <a:srgbClr val="333333"/>
                </a:solidFill>
                <a:latin typeface="Calibri"/>
              </a:rPr>
              <a:t>.</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SAVEPOINT: deshacer una parte sin perder el resto</a:t>
            </a:r>
          </a:p>
        </p:txBody>
      </p:sp>
      <p:sp>
        <p:nvSpPr>
          <p:cNvPr id="5" name="Rounded Rectangle 4"/>
          <p:cNvSpPr/>
          <p:nvPr/>
        </p:nvSpPr>
        <p:spPr>
          <a:xfrm>
            <a:off x="457200" y="1261872"/>
            <a:ext cx="11277295" cy="4398352"/>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SQL · PostgreSQL</a:t>
            </a:r>
          </a:p>
        </p:txBody>
      </p:sp>
      <p:sp>
        <p:nvSpPr>
          <p:cNvPr id="11" name="TextBox 10"/>
          <p:cNvSpPr txBox="1"/>
          <p:nvPr/>
        </p:nvSpPr>
        <p:spPr>
          <a:xfrm>
            <a:off x="685800" y="1719072"/>
            <a:ext cx="502920" cy="3803992"/>
          </a:xfrm>
          <a:prstGeom prst="rect">
            <a:avLst/>
          </a:prstGeom>
          <a:noFill/>
        </p:spPr>
        <p:txBody>
          <a:bodyPr wrap="square">
            <a:spAutoFit/>
          </a:bodyPr>
          <a:lstStyle/>
          <a:p>
            <a:pPr algn="r">
              <a:spcAft>
                <a:spcPts val="407"/>
              </a:spcAft>
            </a:pPr>
            <a:r>
              <a:rPr sz="1900" i="0" b="0">
                <a:solidFill>
                  <a:srgbClr val="858585"/>
                </a:solidFill>
                <a:latin typeface="Consolas"/>
              </a:rPr>
              <a:t>1</a:t>
            </a:r>
          </a:p>
          <a:p>
            <a:pPr algn="r">
              <a:spcAft>
                <a:spcPts val="407"/>
              </a:spcAft>
            </a:pPr>
            <a:r>
              <a:rPr sz="1900" i="0" b="0">
                <a:solidFill>
                  <a:srgbClr val="858585"/>
                </a:solidFill>
                <a:latin typeface="Consolas"/>
              </a:rPr>
              <a:t>2</a:t>
            </a:r>
          </a:p>
          <a:p>
            <a:pPr algn="r">
              <a:spcAft>
                <a:spcPts val="407"/>
              </a:spcAft>
            </a:pPr>
            <a:r>
              <a:rPr sz="1900" i="0" b="0">
                <a:solidFill>
                  <a:srgbClr val="858585"/>
                </a:solidFill>
                <a:latin typeface="Consolas"/>
              </a:rPr>
              <a:t>3</a:t>
            </a:r>
          </a:p>
          <a:p>
            <a:pPr algn="r">
              <a:spcAft>
                <a:spcPts val="407"/>
              </a:spcAft>
            </a:pPr>
            <a:r>
              <a:rPr sz="1900" i="0" b="0">
                <a:solidFill>
                  <a:srgbClr val="858585"/>
                </a:solidFill>
                <a:latin typeface="Consolas"/>
              </a:rPr>
              <a:t>4</a:t>
            </a:r>
          </a:p>
          <a:p>
            <a:pPr algn="r">
              <a:spcAft>
                <a:spcPts val="407"/>
              </a:spcAft>
            </a:pPr>
            <a:r>
              <a:rPr sz="1900" i="0" b="0">
                <a:solidFill>
                  <a:srgbClr val="858585"/>
                </a:solidFill>
                <a:latin typeface="Consolas"/>
              </a:rPr>
              <a:t>5</a:t>
            </a:r>
          </a:p>
          <a:p>
            <a:pPr algn="r">
              <a:spcAft>
                <a:spcPts val="407"/>
              </a:spcAft>
            </a:pPr>
            <a:r>
              <a:rPr sz="1900" i="0" b="0">
                <a:solidFill>
                  <a:srgbClr val="858585"/>
                </a:solidFill>
                <a:latin typeface="Consolas"/>
              </a:rPr>
              <a:t>6</a:t>
            </a:r>
          </a:p>
          <a:p>
            <a:pPr algn="r">
              <a:spcAft>
                <a:spcPts val="407"/>
              </a:spcAft>
            </a:pPr>
            <a:r>
              <a:rPr sz="1900" i="0" b="0">
                <a:solidFill>
                  <a:srgbClr val="858585"/>
                </a:solidFill>
                <a:latin typeface="Consolas"/>
              </a:rPr>
              <a:t>7</a:t>
            </a:r>
          </a:p>
          <a:p>
            <a:pPr algn="r">
              <a:spcAft>
                <a:spcPts val="407"/>
              </a:spcAft>
            </a:pPr>
            <a:r>
              <a:rPr sz="1900" i="0" b="0">
                <a:solidFill>
                  <a:srgbClr val="858585"/>
                </a:solidFill>
                <a:latin typeface="Consolas"/>
              </a:rPr>
              <a:t>8</a:t>
            </a:r>
          </a:p>
          <a:p>
            <a:pPr algn="r">
              <a:spcAft>
                <a:spcPts val="407"/>
              </a:spcAft>
            </a:pPr>
            <a:r>
              <a:rPr sz="1900" i="0" b="0">
                <a:solidFill>
                  <a:srgbClr val="858585"/>
                </a:solidFill>
                <a:latin typeface="Consolas"/>
              </a:rPr>
              <a:t>9</a:t>
            </a:r>
          </a:p>
          <a:p>
            <a:pPr algn="r">
              <a:spcAft>
                <a:spcPts val="407"/>
              </a:spcAft>
            </a:pPr>
            <a:r>
              <a:rPr sz="1900" i="0" b="0">
                <a:solidFill>
                  <a:srgbClr val="858585"/>
                </a:solidFill>
                <a:latin typeface="Consolas"/>
              </a:rPr>
              <a:t>10</a:t>
            </a:r>
          </a:p>
          <a:p>
            <a:pPr algn="r">
              <a:spcAft>
                <a:spcPts val="407"/>
              </a:spcAft>
            </a:pPr>
            <a:r>
              <a:rPr sz="1900" i="0" b="0">
                <a:solidFill>
                  <a:srgbClr val="858585"/>
                </a:solidFill>
                <a:latin typeface="Consolas"/>
              </a:rPr>
              <a:t>11</a:t>
            </a:r>
          </a:p>
        </p:txBody>
      </p:sp>
      <p:sp>
        <p:nvSpPr>
          <p:cNvPr id="12" name="TextBox 11"/>
          <p:cNvSpPr txBox="1"/>
          <p:nvPr/>
        </p:nvSpPr>
        <p:spPr>
          <a:xfrm>
            <a:off x="1188720" y="1719072"/>
            <a:ext cx="10271455" cy="3803992"/>
          </a:xfrm>
          <a:prstGeom prst="rect">
            <a:avLst/>
          </a:prstGeom>
          <a:noFill/>
        </p:spPr>
        <p:txBody>
          <a:bodyPr wrap="square">
            <a:spAutoFit/>
          </a:bodyPr>
          <a:lstStyle/>
          <a:p>
            <a:pPr>
              <a:spcAft>
                <a:spcPts val="407"/>
              </a:spcAft>
            </a:pPr>
            <a:r>
              <a:rPr sz="1900" i="0" b="0">
                <a:solidFill>
                  <a:srgbClr val="569CD6"/>
                </a:solidFill>
                <a:latin typeface="Consolas"/>
              </a:rPr>
              <a:t>BEGIN</a:t>
            </a:r>
            <a:r>
              <a:rPr sz="1900" i="0" b="0">
                <a:solidFill>
                  <a:srgbClr val="D4D4D4"/>
                </a:solidFill>
                <a:latin typeface="Consolas"/>
              </a:rPr>
              <a:t>;</a:t>
            </a:r>
          </a:p>
          <a:p>
            <a:pPr>
              <a:spcAft>
                <a:spcPts val="407"/>
              </a:spcAft>
            </a:pPr>
            <a:r>
              <a:rPr sz="1900" i="0" b="0">
                <a:solidFill>
                  <a:srgbClr val="569CD6"/>
                </a:solidFill>
                <a:latin typeface="Consolas"/>
              </a:rPr>
              <a:t>INSERT</a:t>
            </a:r>
            <a:r>
              <a:rPr sz="1900" i="0" b="0">
                <a:solidFill>
                  <a:srgbClr val="D4D4D4"/>
                </a:solidFill>
                <a:latin typeface="Consolas"/>
              </a:rPr>
              <a:t> </a:t>
            </a:r>
            <a:r>
              <a:rPr sz="1900" i="0" b="0">
                <a:solidFill>
                  <a:srgbClr val="569CD6"/>
                </a:solidFill>
                <a:latin typeface="Consolas"/>
              </a:rPr>
              <a:t>INTO</a:t>
            </a:r>
            <a:r>
              <a:rPr sz="1900" i="0" b="0">
                <a:solidFill>
                  <a:srgbClr val="D4D4D4"/>
                </a:solidFill>
                <a:latin typeface="Consolas"/>
              </a:rPr>
              <a:t> </a:t>
            </a:r>
            <a:r>
              <a:rPr sz="1900" i="0" b="0">
                <a:solidFill>
                  <a:srgbClr val="DCDCAA"/>
                </a:solidFill>
                <a:latin typeface="Consolas"/>
              </a:rPr>
              <a:t>factura</a:t>
            </a:r>
            <a:r>
              <a:rPr sz="1900" i="0" b="0">
                <a:solidFill>
                  <a:srgbClr val="D4D4D4"/>
                </a:solidFill>
                <a:latin typeface="Consolas"/>
              </a:rPr>
              <a:t> (</a:t>
            </a:r>
            <a:r>
              <a:rPr sz="1900" i="0" b="0">
                <a:solidFill>
                  <a:srgbClr val="D4D4D4"/>
                </a:solidFill>
                <a:latin typeface="Consolas"/>
              </a:rPr>
              <a:t>id_consulta</a:t>
            </a:r>
            <a:r>
              <a:rPr sz="1900" i="0" b="0">
                <a:solidFill>
                  <a:srgbClr val="D4D4D4"/>
                </a:solidFill>
                <a:latin typeface="Consolas"/>
              </a:rPr>
              <a:t>, </a:t>
            </a:r>
            <a:r>
              <a:rPr sz="1900" i="0" b="0">
                <a:solidFill>
                  <a:srgbClr val="D4D4D4"/>
                </a:solidFill>
                <a:latin typeface="Consolas"/>
              </a:rPr>
              <a:t>total</a:t>
            </a:r>
            <a:r>
              <a:rPr sz="1900" i="0" b="0">
                <a:solidFill>
                  <a:srgbClr val="D4D4D4"/>
                </a:solidFill>
                <a:latin typeface="Consolas"/>
              </a:rPr>
              <a:t>) </a:t>
            </a:r>
            <a:r>
              <a:rPr sz="1900" i="0" b="0">
                <a:solidFill>
                  <a:srgbClr val="569CD6"/>
                </a:solidFill>
                <a:latin typeface="Consolas"/>
              </a:rPr>
              <a:t>VALUES</a:t>
            </a:r>
            <a:r>
              <a:rPr sz="1900" i="0" b="0">
                <a:solidFill>
                  <a:srgbClr val="D4D4D4"/>
                </a:solidFill>
                <a:latin typeface="Consolas"/>
              </a:rPr>
              <a:t> (</a:t>
            </a:r>
            <a:r>
              <a:rPr sz="1900" i="0" b="0">
                <a:solidFill>
                  <a:srgbClr val="B5CEA8"/>
                </a:solidFill>
                <a:latin typeface="Consolas"/>
              </a:rPr>
              <a:t>1</a:t>
            </a:r>
            <a:r>
              <a:rPr sz="1900" i="0" b="0">
                <a:solidFill>
                  <a:srgbClr val="D4D4D4"/>
                </a:solidFill>
                <a:latin typeface="Consolas"/>
              </a:rPr>
              <a:t>, </a:t>
            </a:r>
            <a:r>
              <a:rPr sz="1900" i="0" b="0">
                <a:solidFill>
                  <a:srgbClr val="B5CEA8"/>
                </a:solidFill>
                <a:latin typeface="Consolas"/>
              </a:rPr>
              <a:t>0</a:t>
            </a:r>
            <a:r>
              <a:rPr sz="1900" i="0" b="0">
                <a:solidFill>
                  <a:srgbClr val="D4D4D4"/>
                </a:solidFill>
                <a:latin typeface="Consolas"/>
              </a:rPr>
              <a:t>);</a:t>
            </a:r>
          </a:p>
          <a:p>
            <a:pPr>
              <a:spcAft>
                <a:spcPts val="407"/>
              </a:spcAft>
            </a:pPr>
            <a:r>
              <a:rPr sz="1900" i="0" b="0">
                <a:solidFill>
                  <a:srgbClr val="569CD6"/>
                </a:solidFill>
                <a:latin typeface="Consolas"/>
              </a:rPr>
              <a:t>SAVEPOINT</a:t>
            </a:r>
            <a:r>
              <a:rPr sz="1900" i="0" b="0">
                <a:solidFill>
                  <a:srgbClr val="D4D4D4"/>
                </a:solidFill>
                <a:latin typeface="Consolas"/>
              </a:rPr>
              <a:t> </a:t>
            </a:r>
            <a:r>
              <a:rPr sz="1900" i="0" b="0">
                <a:solidFill>
                  <a:srgbClr val="D4D4D4"/>
                </a:solidFill>
                <a:latin typeface="Consolas"/>
              </a:rPr>
              <a:t>antes_del_detalle</a:t>
            </a:r>
            <a:r>
              <a:rPr sz="1900" i="0" b="0">
                <a:solidFill>
                  <a:srgbClr val="D4D4D4"/>
                </a:solidFill>
                <a:latin typeface="Consolas"/>
              </a:rPr>
              <a:t>;</a:t>
            </a:r>
          </a:p>
          <a:p>
            <a:pPr>
              <a:spcAft>
                <a:spcPts val="407"/>
              </a:spcAft>
            </a:pPr>
            <a:r>
              <a:rPr sz="1900" i="0" b="0">
                <a:solidFill>
                  <a:srgbClr val="569CD6"/>
                </a:solidFill>
                <a:latin typeface="Consolas"/>
              </a:rPr>
              <a:t>INSERT</a:t>
            </a:r>
            <a:r>
              <a:rPr sz="1900" i="0" b="0">
                <a:solidFill>
                  <a:srgbClr val="D4D4D4"/>
                </a:solidFill>
                <a:latin typeface="Consolas"/>
              </a:rPr>
              <a:t> </a:t>
            </a:r>
            <a:r>
              <a:rPr sz="1900" i="0" b="0">
                <a:solidFill>
                  <a:srgbClr val="569CD6"/>
                </a:solidFill>
                <a:latin typeface="Consolas"/>
              </a:rPr>
              <a:t>INTO</a:t>
            </a:r>
            <a:r>
              <a:rPr sz="1900" i="0" b="0">
                <a:solidFill>
                  <a:srgbClr val="D4D4D4"/>
                </a:solidFill>
                <a:latin typeface="Consolas"/>
              </a:rPr>
              <a:t> </a:t>
            </a:r>
            <a:r>
              <a:rPr sz="1900" i="0" b="0">
                <a:solidFill>
                  <a:srgbClr val="DCDCAA"/>
                </a:solidFill>
                <a:latin typeface="Consolas"/>
              </a:rPr>
              <a:t>detalle_factura</a:t>
            </a:r>
            <a:r>
              <a:rPr sz="1900" i="0" b="0">
                <a:solidFill>
                  <a:srgbClr val="D4D4D4"/>
                </a:solidFill>
                <a:latin typeface="Consolas"/>
              </a:rPr>
              <a:t> (</a:t>
            </a:r>
            <a:r>
              <a:rPr sz="1900" i="0" b="0">
                <a:solidFill>
                  <a:srgbClr val="D4D4D4"/>
                </a:solidFill>
                <a:latin typeface="Consolas"/>
              </a:rPr>
              <a:t>id_factura</a:t>
            </a:r>
            <a:r>
              <a:rPr sz="1900" i="0" b="0">
                <a:solidFill>
                  <a:srgbClr val="D4D4D4"/>
                </a:solidFill>
                <a:latin typeface="Consolas"/>
              </a:rPr>
              <a:t>, </a:t>
            </a:r>
            <a:r>
              <a:rPr sz="1900" i="0" b="0">
                <a:solidFill>
                  <a:srgbClr val="D4D4D4"/>
                </a:solidFill>
                <a:latin typeface="Consolas"/>
              </a:rPr>
              <a:t>id_insumo</a:t>
            </a:r>
            <a:r>
              <a:rPr sz="1900" i="0" b="0">
                <a:solidFill>
                  <a:srgbClr val="D4D4D4"/>
                </a:solidFill>
                <a:latin typeface="Consolas"/>
              </a:rPr>
              <a:t>, </a:t>
            </a:r>
            <a:r>
              <a:rPr sz="1900" i="0" b="0">
                <a:solidFill>
                  <a:srgbClr val="D4D4D4"/>
                </a:solidFill>
                <a:latin typeface="Consolas"/>
              </a:rPr>
              <a:t>cantidad</a:t>
            </a:r>
            <a:r>
              <a:rPr sz="1900" i="0" b="0">
                <a:solidFill>
                  <a:srgbClr val="D4D4D4"/>
                </a:solidFill>
                <a:latin typeface="Consolas"/>
              </a:rPr>
              <a:t>, </a:t>
            </a:r>
            <a:r>
              <a:rPr sz="1900" i="0" b="0">
                <a:solidFill>
                  <a:srgbClr val="D4D4D4"/>
                </a:solidFill>
                <a:latin typeface="Consolas"/>
              </a:rPr>
              <a:t>precio_unit</a:t>
            </a:r>
            <a:r>
              <a:rPr sz="1900" i="0" b="0">
                <a:solidFill>
                  <a:srgbClr val="D4D4D4"/>
                </a:solidFill>
                <a:latin typeface="Consolas"/>
              </a:rPr>
              <a:t>)</a:t>
            </a:r>
          </a:p>
          <a:p>
            <a:pPr>
              <a:spcAft>
                <a:spcPts val="407"/>
              </a:spcAft>
            </a:pPr>
            <a:r>
              <a:rPr sz="1900" i="0" b="0">
                <a:solidFill>
                  <a:srgbClr val="569CD6"/>
                </a:solidFill>
                <a:latin typeface="Consolas"/>
              </a:rPr>
              <a:t>VALUES</a:t>
            </a:r>
            <a:r>
              <a:rPr sz="1900" i="0" b="0">
                <a:solidFill>
                  <a:srgbClr val="D4D4D4"/>
                </a:solidFill>
                <a:latin typeface="Consolas"/>
              </a:rPr>
              <a:t> (</a:t>
            </a:r>
            <a:r>
              <a:rPr sz="1900" i="0" b="0">
                <a:solidFill>
                  <a:srgbClr val="DCDCAA"/>
                </a:solidFill>
                <a:latin typeface="Consolas"/>
              </a:rPr>
              <a:t>currval</a:t>
            </a:r>
            <a:r>
              <a:rPr sz="1900" i="0" b="0">
                <a:solidFill>
                  <a:srgbClr val="D4D4D4"/>
                </a:solidFill>
                <a:latin typeface="Consolas"/>
              </a:rPr>
              <a:t>(</a:t>
            </a:r>
            <a:r>
              <a:rPr sz="1900" i="0" b="0">
                <a:solidFill>
                  <a:srgbClr val="CE9178"/>
                </a:solidFill>
                <a:latin typeface="Consolas"/>
              </a:rPr>
              <a:t>'factura_id_factura_seq'</a:t>
            </a:r>
            <a:r>
              <a:rPr sz="1900" i="0" b="0">
                <a:solidFill>
                  <a:srgbClr val="D4D4D4"/>
                </a:solidFill>
                <a:latin typeface="Consolas"/>
              </a:rPr>
              <a:t>), </a:t>
            </a:r>
            <a:r>
              <a:rPr sz="1900" i="0" b="0">
                <a:solidFill>
                  <a:srgbClr val="B5CEA8"/>
                </a:solidFill>
                <a:latin typeface="Consolas"/>
              </a:rPr>
              <a:t>9999</a:t>
            </a:r>
            <a:r>
              <a:rPr sz="1900" i="0" b="0">
                <a:solidFill>
                  <a:srgbClr val="D4D4D4"/>
                </a:solidFill>
                <a:latin typeface="Consolas"/>
              </a:rPr>
              <a:t>, </a:t>
            </a:r>
            <a:r>
              <a:rPr sz="1900" i="0" b="0">
                <a:solidFill>
                  <a:srgbClr val="B5CEA8"/>
                </a:solidFill>
                <a:latin typeface="Consolas"/>
              </a:rPr>
              <a:t>1</a:t>
            </a:r>
            <a:r>
              <a:rPr sz="1900" i="0" b="0">
                <a:solidFill>
                  <a:srgbClr val="D4D4D4"/>
                </a:solidFill>
                <a:latin typeface="Consolas"/>
              </a:rPr>
              <a:t>, </a:t>
            </a:r>
            <a:r>
              <a:rPr sz="1900" i="0" b="0">
                <a:solidFill>
                  <a:srgbClr val="B5CEA8"/>
                </a:solidFill>
                <a:latin typeface="Consolas"/>
              </a:rPr>
              <a:t>1000.00</a:t>
            </a:r>
            <a:r>
              <a:rPr sz="1900" i="0" b="0">
                <a:solidFill>
                  <a:srgbClr val="D4D4D4"/>
                </a:solidFill>
                <a:latin typeface="Consolas"/>
              </a:rPr>
              <a:t>);</a:t>
            </a:r>
          </a:p>
          <a:p>
            <a:pPr>
              <a:spcAft>
                <a:spcPts val="407"/>
              </a:spcAft>
            </a:pPr>
            <a:r>
              <a:rPr sz="1900" i="1" b="0">
                <a:solidFill>
                  <a:srgbClr val="6A9955"/>
                </a:solidFill>
                <a:latin typeface="Consolas"/>
              </a:rPr>
              <a:t>-- ERROR:  insert or update on table "detalle_factura" violates foreign key</a:t>
            </a:r>
          </a:p>
          <a:p>
            <a:pPr>
              <a:spcAft>
                <a:spcPts val="407"/>
              </a:spcAft>
            </a:pPr>
            <a:r>
              <a:rPr sz="1900" i="1" b="0">
                <a:solidFill>
                  <a:srgbClr val="6A9955"/>
                </a:solidFill>
                <a:latin typeface="Consolas"/>
              </a:rPr>
              <a:t>--         constraint "detalle_factura_id_insumo_fkey"</a:t>
            </a:r>
          </a:p>
          <a:p>
            <a:pPr>
              <a:spcAft>
                <a:spcPts val="407"/>
              </a:spcAft>
            </a:pPr>
            <a:r>
              <a:rPr sz="1900" i="0" b="0">
                <a:solidFill>
                  <a:srgbClr val="569CD6"/>
                </a:solidFill>
                <a:latin typeface="Consolas"/>
              </a:rPr>
              <a:t>ROLLBACK</a:t>
            </a:r>
            <a:r>
              <a:rPr sz="1900" i="0" b="0">
                <a:solidFill>
                  <a:srgbClr val="D4D4D4"/>
                </a:solidFill>
                <a:latin typeface="Consolas"/>
              </a:rPr>
              <a:t> </a:t>
            </a:r>
            <a:r>
              <a:rPr sz="1900" i="0" b="0">
                <a:solidFill>
                  <a:srgbClr val="569CD6"/>
                </a:solidFill>
                <a:latin typeface="Consolas"/>
              </a:rPr>
              <a:t>TO</a:t>
            </a:r>
            <a:r>
              <a:rPr sz="1900" i="0" b="0">
                <a:solidFill>
                  <a:srgbClr val="D4D4D4"/>
                </a:solidFill>
                <a:latin typeface="Consolas"/>
              </a:rPr>
              <a:t> </a:t>
            </a:r>
            <a:r>
              <a:rPr sz="1900" i="0" b="0">
                <a:solidFill>
                  <a:srgbClr val="569CD6"/>
                </a:solidFill>
                <a:latin typeface="Consolas"/>
              </a:rPr>
              <a:t>SAVEPOINT</a:t>
            </a:r>
            <a:r>
              <a:rPr sz="1900" i="0" b="0">
                <a:solidFill>
                  <a:srgbClr val="D4D4D4"/>
                </a:solidFill>
                <a:latin typeface="Consolas"/>
              </a:rPr>
              <a:t> </a:t>
            </a:r>
            <a:r>
              <a:rPr sz="1900" i="0" b="0">
                <a:solidFill>
                  <a:srgbClr val="D4D4D4"/>
                </a:solidFill>
                <a:latin typeface="Consolas"/>
              </a:rPr>
              <a:t>antes_del_detalle</a:t>
            </a:r>
            <a:r>
              <a:rPr sz="1900" i="0" b="0">
                <a:solidFill>
                  <a:srgbClr val="D4D4D4"/>
                </a:solidFill>
                <a:latin typeface="Consolas"/>
              </a:rPr>
              <a:t>;   </a:t>
            </a:r>
            <a:r>
              <a:rPr sz="1900" i="1" b="0">
                <a:solidFill>
                  <a:srgbClr val="6A9955"/>
                </a:solidFill>
                <a:latin typeface="Consolas"/>
              </a:rPr>
              <a:t>-- la factura sigue viva</a:t>
            </a:r>
          </a:p>
          <a:p>
            <a:pPr>
              <a:spcAft>
                <a:spcPts val="407"/>
              </a:spcAft>
            </a:pPr>
            <a:r>
              <a:rPr sz="1900" i="0" b="0">
                <a:solidFill>
                  <a:srgbClr val="569CD6"/>
                </a:solidFill>
                <a:latin typeface="Consolas"/>
              </a:rPr>
              <a:t>INSERT</a:t>
            </a:r>
            <a:r>
              <a:rPr sz="1900" i="0" b="0">
                <a:solidFill>
                  <a:srgbClr val="D4D4D4"/>
                </a:solidFill>
                <a:latin typeface="Consolas"/>
              </a:rPr>
              <a:t> </a:t>
            </a:r>
            <a:r>
              <a:rPr sz="1900" i="0" b="0">
                <a:solidFill>
                  <a:srgbClr val="569CD6"/>
                </a:solidFill>
                <a:latin typeface="Consolas"/>
              </a:rPr>
              <a:t>INTO</a:t>
            </a:r>
            <a:r>
              <a:rPr sz="1900" i="0" b="0">
                <a:solidFill>
                  <a:srgbClr val="D4D4D4"/>
                </a:solidFill>
                <a:latin typeface="Consolas"/>
              </a:rPr>
              <a:t> </a:t>
            </a:r>
            <a:r>
              <a:rPr sz="1900" i="0" b="0">
                <a:solidFill>
                  <a:srgbClr val="DCDCAA"/>
                </a:solidFill>
                <a:latin typeface="Consolas"/>
              </a:rPr>
              <a:t>detalle_factura</a:t>
            </a:r>
            <a:r>
              <a:rPr sz="1900" i="0" b="0">
                <a:solidFill>
                  <a:srgbClr val="D4D4D4"/>
                </a:solidFill>
                <a:latin typeface="Consolas"/>
              </a:rPr>
              <a:t> (</a:t>
            </a:r>
            <a:r>
              <a:rPr sz="1900" i="0" b="0">
                <a:solidFill>
                  <a:srgbClr val="D4D4D4"/>
                </a:solidFill>
                <a:latin typeface="Consolas"/>
              </a:rPr>
              <a:t>id_factura</a:t>
            </a:r>
            <a:r>
              <a:rPr sz="1900" i="0" b="0">
                <a:solidFill>
                  <a:srgbClr val="D4D4D4"/>
                </a:solidFill>
                <a:latin typeface="Consolas"/>
              </a:rPr>
              <a:t>, </a:t>
            </a:r>
            <a:r>
              <a:rPr sz="1900" i="0" b="0">
                <a:solidFill>
                  <a:srgbClr val="D4D4D4"/>
                </a:solidFill>
                <a:latin typeface="Consolas"/>
              </a:rPr>
              <a:t>id_insumo</a:t>
            </a:r>
            <a:r>
              <a:rPr sz="1900" i="0" b="0">
                <a:solidFill>
                  <a:srgbClr val="D4D4D4"/>
                </a:solidFill>
                <a:latin typeface="Consolas"/>
              </a:rPr>
              <a:t>, </a:t>
            </a:r>
            <a:r>
              <a:rPr sz="1900" i="0" b="0">
                <a:solidFill>
                  <a:srgbClr val="D4D4D4"/>
                </a:solidFill>
                <a:latin typeface="Consolas"/>
              </a:rPr>
              <a:t>cantidad</a:t>
            </a:r>
            <a:r>
              <a:rPr sz="1900" i="0" b="0">
                <a:solidFill>
                  <a:srgbClr val="D4D4D4"/>
                </a:solidFill>
                <a:latin typeface="Consolas"/>
              </a:rPr>
              <a:t>, </a:t>
            </a:r>
            <a:r>
              <a:rPr sz="1900" i="0" b="0">
                <a:solidFill>
                  <a:srgbClr val="D4D4D4"/>
                </a:solidFill>
                <a:latin typeface="Consolas"/>
              </a:rPr>
              <a:t>precio_unit</a:t>
            </a:r>
            <a:r>
              <a:rPr sz="1900" i="0" b="0">
                <a:solidFill>
                  <a:srgbClr val="D4D4D4"/>
                </a:solidFill>
                <a:latin typeface="Consolas"/>
              </a:rPr>
              <a:t>)</a:t>
            </a:r>
          </a:p>
          <a:p>
            <a:pPr>
              <a:spcAft>
                <a:spcPts val="407"/>
              </a:spcAft>
            </a:pPr>
            <a:r>
              <a:rPr sz="1900" i="0" b="0">
                <a:solidFill>
                  <a:srgbClr val="569CD6"/>
                </a:solidFill>
                <a:latin typeface="Consolas"/>
              </a:rPr>
              <a:t>VALUES</a:t>
            </a:r>
            <a:r>
              <a:rPr sz="1900" i="0" b="0">
                <a:solidFill>
                  <a:srgbClr val="D4D4D4"/>
                </a:solidFill>
                <a:latin typeface="Consolas"/>
              </a:rPr>
              <a:t> (</a:t>
            </a:r>
            <a:r>
              <a:rPr sz="1900" i="0" b="0">
                <a:solidFill>
                  <a:srgbClr val="DCDCAA"/>
                </a:solidFill>
                <a:latin typeface="Consolas"/>
              </a:rPr>
              <a:t>currval</a:t>
            </a:r>
            <a:r>
              <a:rPr sz="1900" i="0" b="0">
                <a:solidFill>
                  <a:srgbClr val="D4D4D4"/>
                </a:solidFill>
                <a:latin typeface="Consolas"/>
              </a:rPr>
              <a:t>(</a:t>
            </a:r>
            <a:r>
              <a:rPr sz="1900" i="0" b="0">
                <a:solidFill>
                  <a:srgbClr val="CE9178"/>
                </a:solidFill>
                <a:latin typeface="Consolas"/>
              </a:rPr>
              <a:t>'factura_id_factura_seq'</a:t>
            </a:r>
            <a:r>
              <a:rPr sz="1900" i="0" b="0">
                <a:solidFill>
                  <a:srgbClr val="D4D4D4"/>
                </a:solidFill>
                <a:latin typeface="Consolas"/>
              </a:rPr>
              <a:t>), </a:t>
            </a:r>
            <a:r>
              <a:rPr sz="1900" i="0" b="0">
                <a:solidFill>
                  <a:srgbClr val="B5CEA8"/>
                </a:solidFill>
                <a:latin typeface="Consolas"/>
              </a:rPr>
              <a:t>5</a:t>
            </a:r>
            <a:r>
              <a:rPr sz="1900" i="0" b="0">
                <a:solidFill>
                  <a:srgbClr val="D4D4D4"/>
                </a:solidFill>
                <a:latin typeface="Consolas"/>
              </a:rPr>
              <a:t>, </a:t>
            </a:r>
            <a:r>
              <a:rPr sz="1900" i="0" b="0">
                <a:solidFill>
                  <a:srgbClr val="B5CEA8"/>
                </a:solidFill>
                <a:latin typeface="Consolas"/>
              </a:rPr>
              <a:t>1</a:t>
            </a:r>
            <a:r>
              <a:rPr sz="1900" i="0" b="0">
                <a:solidFill>
                  <a:srgbClr val="D4D4D4"/>
                </a:solidFill>
                <a:latin typeface="Consolas"/>
              </a:rPr>
              <a:t>, </a:t>
            </a:r>
            <a:r>
              <a:rPr sz="1900" i="0" b="0">
                <a:solidFill>
                  <a:srgbClr val="B5CEA8"/>
                </a:solidFill>
                <a:latin typeface="Consolas"/>
              </a:rPr>
              <a:t>1200.00</a:t>
            </a:r>
            <a:r>
              <a:rPr sz="1900" i="0" b="0">
                <a:solidFill>
                  <a:srgbClr val="D4D4D4"/>
                </a:solidFill>
                <a:latin typeface="Consolas"/>
              </a:rPr>
              <a:t>);</a:t>
            </a:r>
          </a:p>
          <a:p>
            <a:pPr>
              <a:spcAft>
                <a:spcPts val="407"/>
              </a:spcAft>
            </a:pPr>
            <a:r>
              <a:rPr sz="1900" i="0" b="0">
                <a:solidFill>
                  <a:srgbClr val="569CD6"/>
                </a:solidFill>
                <a:latin typeface="Consolas"/>
              </a:rPr>
              <a:t>COMMIT</a:t>
            </a:r>
            <a:r>
              <a:rPr sz="1900" i="0" b="0">
                <a:solidFill>
                  <a:srgbClr val="D4D4D4"/>
                </a:solidFill>
                <a:latin typeface="Consolas"/>
              </a:rPr>
              <a:t>;</a:t>
            </a:r>
          </a:p>
        </p:txBody>
      </p:sp>
      <p:sp>
        <p:nvSpPr>
          <p:cNvPr id="13" name="TextBox 1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bloque EXCEPTION y la trampa de tragarse el error</a:t>
            </a:r>
          </a:p>
        </p:txBody>
      </p:sp>
      <p:sp>
        <p:nvSpPr>
          <p:cNvPr id="5" name="Rounded Rectangle 4"/>
          <p:cNvSpPr/>
          <p:nvPr/>
        </p:nvSpPr>
        <p:spPr>
          <a:xfrm>
            <a:off x="457200" y="1261872"/>
            <a:ext cx="11277295" cy="5031343"/>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SQL · PostgreSQL</a:t>
            </a:r>
          </a:p>
        </p:txBody>
      </p:sp>
      <p:sp>
        <p:nvSpPr>
          <p:cNvPr id="11" name="TextBox 10"/>
          <p:cNvSpPr txBox="1"/>
          <p:nvPr/>
        </p:nvSpPr>
        <p:spPr>
          <a:xfrm>
            <a:off x="685800" y="1719072"/>
            <a:ext cx="502920" cy="4436983"/>
          </a:xfrm>
          <a:prstGeom prst="rect">
            <a:avLst/>
          </a:prstGeom>
          <a:noFill/>
        </p:spPr>
        <p:txBody>
          <a:bodyPr wrap="square">
            <a:spAutoFit/>
          </a:bodyPr>
          <a:lstStyle/>
          <a:p>
            <a:pPr algn="r">
              <a:spcAft>
                <a:spcPts val="342"/>
              </a:spcAft>
            </a:pPr>
            <a:r>
              <a:rPr sz="1600" i="0" b="0">
                <a:solidFill>
                  <a:srgbClr val="858585"/>
                </a:solidFill>
                <a:latin typeface="Consolas"/>
              </a:rPr>
              <a:t>1</a:t>
            </a:r>
          </a:p>
          <a:p>
            <a:pPr algn="r">
              <a:spcAft>
                <a:spcPts val="342"/>
              </a:spcAft>
            </a:pPr>
            <a:r>
              <a:rPr sz="1600" i="0" b="0">
                <a:solidFill>
                  <a:srgbClr val="858585"/>
                </a:solidFill>
                <a:latin typeface="Consolas"/>
              </a:rPr>
              <a:t>2</a:t>
            </a:r>
          </a:p>
          <a:p>
            <a:pPr algn="r">
              <a:spcAft>
                <a:spcPts val="342"/>
              </a:spcAft>
            </a:pPr>
            <a:r>
              <a:rPr sz="1600" i="0" b="0">
                <a:solidFill>
                  <a:srgbClr val="858585"/>
                </a:solidFill>
                <a:latin typeface="Consolas"/>
              </a:rPr>
              <a:t>3</a:t>
            </a:r>
          </a:p>
          <a:p>
            <a:pPr algn="r">
              <a:spcAft>
                <a:spcPts val="342"/>
              </a:spcAft>
            </a:pPr>
            <a:r>
              <a:rPr sz="1600" i="0" b="0">
                <a:solidFill>
                  <a:srgbClr val="858585"/>
                </a:solidFill>
                <a:latin typeface="Consolas"/>
              </a:rPr>
              <a:t>4</a:t>
            </a:r>
          </a:p>
          <a:p>
            <a:pPr algn="r">
              <a:spcAft>
                <a:spcPts val="342"/>
              </a:spcAft>
            </a:pPr>
            <a:r>
              <a:rPr sz="1600" i="0" b="0">
                <a:solidFill>
                  <a:srgbClr val="858585"/>
                </a:solidFill>
                <a:latin typeface="Consolas"/>
              </a:rPr>
              <a:t>5</a:t>
            </a:r>
          </a:p>
          <a:p>
            <a:pPr algn="r">
              <a:spcAft>
                <a:spcPts val="342"/>
              </a:spcAft>
            </a:pPr>
            <a:r>
              <a:rPr sz="1600" i="0" b="0">
                <a:solidFill>
                  <a:srgbClr val="858585"/>
                </a:solidFill>
                <a:latin typeface="Consolas"/>
              </a:rPr>
              <a:t>6</a:t>
            </a:r>
          </a:p>
          <a:p>
            <a:pPr algn="r">
              <a:spcAft>
                <a:spcPts val="342"/>
              </a:spcAft>
            </a:pPr>
            <a:r>
              <a:rPr sz="1600" i="0" b="0">
                <a:solidFill>
                  <a:srgbClr val="858585"/>
                </a:solidFill>
                <a:latin typeface="Consolas"/>
              </a:rPr>
              <a:t>7</a:t>
            </a:r>
          </a:p>
          <a:p>
            <a:pPr algn="r">
              <a:spcAft>
                <a:spcPts val="342"/>
              </a:spcAft>
            </a:pPr>
            <a:r>
              <a:rPr sz="1600" i="0" b="0">
                <a:solidFill>
                  <a:srgbClr val="858585"/>
                </a:solidFill>
                <a:latin typeface="Consolas"/>
              </a:rPr>
              <a:t>8</a:t>
            </a:r>
          </a:p>
          <a:p>
            <a:pPr algn="r">
              <a:spcAft>
                <a:spcPts val="342"/>
              </a:spcAft>
            </a:pPr>
            <a:r>
              <a:rPr sz="1600" i="0" b="0">
                <a:solidFill>
                  <a:srgbClr val="858585"/>
                </a:solidFill>
                <a:latin typeface="Consolas"/>
              </a:rPr>
              <a:t>9</a:t>
            </a:r>
          </a:p>
          <a:p>
            <a:pPr algn="r">
              <a:spcAft>
                <a:spcPts val="342"/>
              </a:spcAft>
            </a:pPr>
            <a:r>
              <a:rPr sz="1600" i="0" b="0">
                <a:solidFill>
                  <a:srgbClr val="858585"/>
                </a:solidFill>
                <a:latin typeface="Consolas"/>
              </a:rPr>
              <a:t>10</a:t>
            </a:r>
          </a:p>
          <a:p>
            <a:pPr algn="r">
              <a:spcAft>
                <a:spcPts val="342"/>
              </a:spcAft>
            </a:pPr>
            <a:r>
              <a:rPr sz="1600" i="0" b="0">
                <a:solidFill>
                  <a:srgbClr val="858585"/>
                </a:solidFill>
                <a:latin typeface="Consolas"/>
              </a:rPr>
              <a:t>11</a:t>
            </a:r>
          </a:p>
          <a:p>
            <a:pPr algn="r">
              <a:spcAft>
                <a:spcPts val="342"/>
              </a:spcAft>
            </a:pPr>
            <a:r>
              <a:rPr sz="1600" i="0" b="0">
                <a:solidFill>
                  <a:srgbClr val="858585"/>
                </a:solidFill>
                <a:latin typeface="Consolas"/>
              </a:rPr>
              <a:t>12</a:t>
            </a:r>
          </a:p>
          <a:p>
            <a:pPr algn="r">
              <a:spcAft>
                <a:spcPts val="342"/>
              </a:spcAft>
            </a:pPr>
            <a:r>
              <a:rPr sz="1600" i="0" b="0">
                <a:solidFill>
                  <a:srgbClr val="858585"/>
                </a:solidFill>
                <a:latin typeface="Consolas"/>
              </a:rPr>
              <a:t>13</a:t>
            </a:r>
          </a:p>
          <a:p>
            <a:pPr algn="r">
              <a:spcAft>
                <a:spcPts val="342"/>
              </a:spcAft>
            </a:pPr>
            <a:r>
              <a:rPr sz="1600" i="0" b="0">
                <a:solidFill>
                  <a:srgbClr val="858585"/>
                </a:solidFill>
                <a:latin typeface="Consolas"/>
              </a:rPr>
              <a:t>14</a:t>
            </a:r>
          </a:p>
          <a:p>
            <a:pPr algn="r">
              <a:spcAft>
                <a:spcPts val="342"/>
              </a:spcAft>
            </a:pPr>
            <a:r>
              <a:rPr sz="1600" i="0" b="0">
                <a:solidFill>
                  <a:srgbClr val="858585"/>
                </a:solidFill>
                <a:latin typeface="Consolas"/>
              </a:rPr>
              <a:t>15</a:t>
            </a:r>
          </a:p>
        </p:txBody>
      </p:sp>
      <p:sp>
        <p:nvSpPr>
          <p:cNvPr id="12" name="TextBox 11"/>
          <p:cNvSpPr txBox="1"/>
          <p:nvPr/>
        </p:nvSpPr>
        <p:spPr>
          <a:xfrm>
            <a:off x="1188720" y="1719072"/>
            <a:ext cx="10271455" cy="4436983"/>
          </a:xfrm>
          <a:prstGeom prst="rect">
            <a:avLst/>
          </a:prstGeom>
          <a:noFill/>
        </p:spPr>
        <p:txBody>
          <a:bodyPr wrap="square">
            <a:spAutoFit/>
          </a:bodyPr>
          <a:lstStyle/>
          <a:p>
            <a:pPr>
              <a:spcAft>
                <a:spcPts val="342"/>
              </a:spcAft>
            </a:pPr>
            <a:r>
              <a:rPr sz="1600" i="0" b="0">
                <a:solidFill>
                  <a:srgbClr val="569CD6"/>
                </a:solidFill>
                <a:latin typeface="Consolas"/>
              </a:rPr>
              <a:t>DO</a:t>
            </a:r>
            <a:r>
              <a:rPr sz="1600" i="0" b="0">
                <a:solidFill>
                  <a:srgbClr val="D4D4D4"/>
                </a:solidFill>
                <a:latin typeface="Consolas"/>
              </a:rPr>
              <a:t> </a:t>
            </a:r>
            <a:r>
              <a:rPr sz="1600" i="0" b="0">
                <a:solidFill>
                  <a:srgbClr val="569CD6"/>
                </a:solidFill>
                <a:latin typeface="Consolas"/>
              </a:rPr>
              <a:t>$$</a:t>
            </a:r>
          </a:p>
          <a:p>
            <a:pPr>
              <a:spcAft>
                <a:spcPts val="342"/>
              </a:spcAft>
            </a:pPr>
            <a:r>
              <a:rPr sz="1600" i="0" b="0">
                <a:solidFill>
                  <a:srgbClr val="569CD6"/>
                </a:solidFill>
                <a:latin typeface="Consolas"/>
              </a:rPr>
              <a:t>BEGIN</a:t>
            </a:r>
          </a:p>
          <a:p>
            <a:pPr>
              <a:spcAft>
                <a:spcPts val="342"/>
              </a:spcAft>
            </a:pPr>
            <a:r>
              <a:rPr sz="1600" i="0" b="0">
                <a:solidFill>
                  <a:srgbClr val="D4D4D4"/>
                </a:solidFill>
                <a:latin typeface="Consolas"/>
              </a:rPr>
              <a:t>  </a:t>
            </a:r>
            <a:r>
              <a:rPr sz="1600" i="0" b="0">
                <a:solidFill>
                  <a:srgbClr val="569CD6"/>
                </a:solidFill>
                <a:latin typeface="Consolas"/>
              </a:rPr>
              <a:t>INSERT</a:t>
            </a:r>
            <a:r>
              <a:rPr sz="1600" i="0" b="0">
                <a:solidFill>
                  <a:srgbClr val="D4D4D4"/>
                </a:solidFill>
                <a:latin typeface="Consolas"/>
              </a:rPr>
              <a:t> </a:t>
            </a:r>
            <a:r>
              <a:rPr sz="1600" i="0" b="0">
                <a:solidFill>
                  <a:srgbClr val="569CD6"/>
                </a:solidFill>
                <a:latin typeface="Consolas"/>
              </a:rPr>
              <a:t>INTO</a:t>
            </a:r>
            <a:r>
              <a:rPr sz="1600" i="0" b="0">
                <a:solidFill>
                  <a:srgbClr val="D4D4D4"/>
                </a:solidFill>
                <a:latin typeface="Consolas"/>
              </a:rPr>
              <a:t> </a:t>
            </a:r>
            <a:r>
              <a:rPr sz="1600" i="0" b="0">
                <a:solidFill>
                  <a:srgbClr val="DCDCAA"/>
                </a:solidFill>
                <a:latin typeface="Consolas"/>
              </a:rPr>
              <a:t>factura</a:t>
            </a:r>
            <a:r>
              <a:rPr sz="1600" i="0" b="0">
                <a:solidFill>
                  <a:srgbClr val="D4D4D4"/>
                </a:solidFill>
                <a:latin typeface="Consolas"/>
              </a:rPr>
              <a:t> (</a:t>
            </a:r>
            <a:r>
              <a:rPr sz="1600" i="0" b="0">
                <a:solidFill>
                  <a:srgbClr val="D4D4D4"/>
                </a:solidFill>
                <a:latin typeface="Consolas"/>
              </a:rPr>
              <a:t>id_consulta</a:t>
            </a:r>
            <a:r>
              <a:rPr sz="1600" i="0" b="0">
                <a:solidFill>
                  <a:srgbClr val="D4D4D4"/>
                </a:solidFill>
                <a:latin typeface="Consolas"/>
              </a:rPr>
              <a:t>, </a:t>
            </a:r>
            <a:r>
              <a:rPr sz="1600" i="0" b="0">
                <a:solidFill>
                  <a:srgbClr val="D4D4D4"/>
                </a:solidFill>
                <a:latin typeface="Consolas"/>
              </a:rPr>
              <a:t>total</a:t>
            </a:r>
            <a:r>
              <a:rPr sz="1600" i="0" b="0">
                <a:solidFill>
                  <a:srgbClr val="D4D4D4"/>
                </a:solidFill>
                <a:latin typeface="Consolas"/>
              </a:rPr>
              <a:t>) </a:t>
            </a:r>
            <a:r>
              <a:rPr sz="1600" i="0" b="0">
                <a:solidFill>
                  <a:srgbClr val="569CD6"/>
                </a:solidFill>
                <a:latin typeface="Consolas"/>
              </a:rPr>
              <a:t>VALUES</a:t>
            </a:r>
            <a:r>
              <a:rPr sz="1600" i="0" b="0">
                <a:solidFill>
                  <a:srgbClr val="D4D4D4"/>
                </a:solidFill>
                <a:latin typeface="Consolas"/>
              </a:rPr>
              <a:t> (</a:t>
            </a:r>
            <a:r>
              <a:rPr sz="1600" i="0" b="0">
                <a:solidFill>
                  <a:srgbClr val="B5CEA8"/>
                </a:solidFill>
                <a:latin typeface="Consolas"/>
              </a:rPr>
              <a:t>1</a:t>
            </a:r>
            <a:r>
              <a:rPr sz="1600" i="0" b="0">
                <a:solidFill>
                  <a:srgbClr val="D4D4D4"/>
                </a:solidFill>
                <a:latin typeface="Consolas"/>
              </a:rPr>
              <a:t>, </a:t>
            </a:r>
            <a:r>
              <a:rPr sz="1600" i="0" b="0">
                <a:solidFill>
                  <a:srgbClr val="B5CEA8"/>
                </a:solidFill>
                <a:latin typeface="Consolas"/>
              </a:rPr>
              <a:t>0</a:t>
            </a:r>
            <a:r>
              <a:rPr sz="1600" i="0" b="0">
                <a:solidFill>
                  <a:srgbClr val="D4D4D4"/>
                </a:solidFill>
                <a:latin typeface="Consolas"/>
              </a:rPr>
              <a:t>);   </a:t>
            </a:r>
            <a:r>
              <a:rPr sz="1600" i="1" b="0">
                <a:solidFill>
                  <a:srgbClr val="6A9955"/>
                </a:solidFill>
                <a:latin typeface="Consolas"/>
              </a:rPr>
              <a:t>-- cabecera</a:t>
            </a:r>
          </a:p>
          <a:p>
            <a:pPr>
              <a:spcAft>
                <a:spcPts val="342"/>
              </a:spcAft>
            </a:pPr>
            <a:r>
              <a:rPr sz="1600" i="0" b="0">
                <a:solidFill>
                  <a:srgbClr val="D4D4D4"/>
                </a:solidFill>
                <a:latin typeface="Consolas"/>
              </a:rPr>
              <a:t>  </a:t>
            </a:r>
            <a:r>
              <a:rPr sz="1600" i="0" b="0">
                <a:solidFill>
                  <a:srgbClr val="569CD6"/>
                </a:solidFill>
                <a:latin typeface="Consolas"/>
              </a:rPr>
              <a:t>BEGIN</a:t>
            </a:r>
            <a:r>
              <a:rPr sz="1600" i="0" b="0">
                <a:solidFill>
                  <a:srgbClr val="D4D4D4"/>
                </a:solidFill>
                <a:latin typeface="Consolas"/>
              </a:rPr>
              <a:t>                     </a:t>
            </a:r>
            <a:r>
              <a:rPr sz="1600" i="1" b="0">
                <a:solidFill>
                  <a:srgbClr val="6A9955"/>
                </a:solidFill>
                <a:latin typeface="Consolas"/>
              </a:rPr>
              <a:t>-- bloque con EXCEPTION = savepoint implicito</a:t>
            </a:r>
          </a:p>
          <a:p>
            <a:pPr>
              <a:spcAft>
                <a:spcPts val="342"/>
              </a:spcAft>
            </a:pPr>
            <a:r>
              <a:rPr sz="1600" i="0" b="0">
                <a:solidFill>
                  <a:srgbClr val="D4D4D4"/>
                </a:solidFill>
                <a:latin typeface="Consolas"/>
              </a:rPr>
              <a:t>    </a:t>
            </a:r>
            <a:r>
              <a:rPr sz="1600" i="0" b="0">
                <a:solidFill>
                  <a:srgbClr val="569CD6"/>
                </a:solidFill>
                <a:latin typeface="Consolas"/>
              </a:rPr>
              <a:t>UPDATE</a:t>
            </a:r>
            <a:r>
              <a:rPr sz="1600" i="0" b="0">
                <a:solidFill>
                  <a:srgbClr val="D4D4D4"/>
                </a:solidFill>
                <a:latin typeface="Consolas"/>
              </a:rPr>
              <a:t> </a:t>
            </a:r>
            <a:r>
              <a:rPr sz="1600" i="0" b="0">
                <a:solidFill>
                  <a:srgbClr val="D4D4D4"/>
                </a:solidFill>
                <a:latin typeface="Consolas"/>
              </a:rPr>
              <a:t>insumo</a:t>
            </a:r>
            <a:r>
              <a:rPr sz="1600" i="0" b="0">
                <a:solidFill>
                  <a:srgbClr val="D4D4D4"/>
                </a:solidFill>
                <a:latin typeface="Consolas"/>
              </a:rPr>
              <a:t> </a:t>
            </a:r>
            <a:r>
              <a:rPr sz="1600" i="0" b="0">
                <a:solidFill>
                  <a:srgbClr val="569CD6"/>
                </a:solidFill>
                <a:latin typeface="Consolas"/>
              </a:rPr>
              <a:t>SET</a:t>
            </a:r>
            <a:r>
              <a:rPr sz="1600" i="0" b="0">
                <a:solidFill>
                  <a:srgbClr val="D4D4D4"/>
                </a:solidFill>
                <a:latin typeface="Consolas"/>
              </a:rPr>
              <a:t> </a:t>
            </a:r>
            <a:r>
              <a:rPr sz="1600" i="0" b="0">
                <a:solidFill>
                  <a:srgbClr val="D4D4D4"/>
                </a:solidFill>
                <a:latin typeface="Consolas"/>
              </a:rPr>
              <a:t>stock</a:t>
            </a:r>
            <a:r>
              <a:rPr sz="1600" i="0" b="0">
                <a:solidFill>
                  <a:srgbClr val="D4D4D4"/>
                </a:solidFill>
                <a:latin typeface="Consolas"/>
              </a:rPr>
              <a:t> = </a:t>
            </a:r>
            <a:r>
              <a:rPr sz="1600" i="0" b="0">
                <a:solidFill>
                  <a:srgbClr val="D4D4D4"/>
                </a:solidFill>
                <a:latin typeface="Consolas"/>
              </a:rPr>
              <a:t>stock</a:t>
            </a:r>
            <a:r>
              <a:rPr sz="1600" i="0" b="0">
                <a:solidFill>
                  <a:srgbClr val="D4D4D4"/>
                </a:solidFill>
                <a:latin typeface="Consolas"/>
              </a:rPr>
              <a:t> - </a:t>
            </a:r>
            <a:r>
              <a:rPr sz="1600" i="0" b="0">
                <a:solidFill>
                  <a:srgbClr val="B5CEA8"/>
                </a:solidFill>
                <a:latin typeface="Consolas"/>
              </a:rPr>
              <a:t>1</a:t>
            </a:r>
            <a:r>
              <a:rPr sz="1600" i="0" b="0">
                <a:solidFill>
                  <a:srgbClr val="D4D4D4"/>
                </a:solidFill>
                <a:latin typeface="Consolas"/>
              </a:rPr>
              <a:t> </a:t>
            </a:r>
            <a:r>
              <a:rPr sz="1600" i="0" b="0">
                <a:solidFill>
                  <a:srgbClr val="569CD6"/>
                </a:solidFill>
                <a:latin typeface="Consolas"/>
              </a:rPr>
              <a:t>WHERE</a:t>
            </a:r>
            <a:r>
              <a:rPr sz="1600" i="0" b="0">
                <a:solidFill>
                  <a:srgbClr val="D4D4D4"/>
                </a:solidFill>
                <a:latin typeface="Consolas"/>
              </a:rPr>
              <a:t> </a:t>
            </a:r>
            <a:r>
              <a:rPr sz="1600" i="0" b="0">
                <a:solidFill>
                  <a:srgbClr val="D4D4D4"/>
                </a:solidFill>
                <a:latin typeface="Consolas"/>
              </a:rPr>
              <a:t>id_insumo</a:t>
            </a:r>
            <a:r>
              <a:rPr sz="1600" i="0" b="0">
                <a:solidFill>
                  <a:srgbClr val="D4D4D4"/>
                </a:solidFill>
                <a:latin typeface="Consolas"/>
              </a:rPr>
              <a:t> = </a:t>
            </a:r>
            <a:r>
              <a:rPr sz="1600" i="0" b="0">
                <a:solidFill>
                  <a:srgbClr val="B5CEA8"/>
                </a:solidFill>
                <a:latin typeface="Consolas"/>
              </a:rPr>
              <a:t>5</a:t>
            </a:r>
            <a:r>
              <a:rPr sz="1600" i="0" b="0">
                <a:solidFill>
                  <a:srgbClr val="D4D4D4"/>
                </a:solidFill>
                <a:latin typeface="Consolas"/>
              </a:rPr>
              <a:t>;</a:t>
            </a:r>
          </a:p>
          <a:p>
            <a:pPr>
              <a:spcAft>
                <a:spcPts val="342"/>
              </a:spcAft>
            </a:pPr>
            <a:r>
              <a:rPr sz="1600" i="0" b="0">
                <a:solidFill>
                  <a:srgbClr val="D4D4D4"/>
                </a:solidFill>
                <a:latin typeface="Consolas"/>
              </a:rPr>
              <a:t>    </a:t>
            </a:r>
            <a:r>
              <a:rPr sz="1600" i="0" b="0">
                <a:solidFill>
                  <a:srgbClr val="569CD6"/>
                </a:solidFill>
                <a:latin typeface="Consolas"/>
              </a:rPr>
              <a:t>INSERT</a:t>
            </a:r>
            <a:r>
              <a:rPr sz="1600" i="0" b="0">
                <a:solidFill>
                  <a:srgbClr val="D4D4D4"/>
                </a:solidFill>
                <a:latin typeface="Consolas"/>
              </a:rPr>
              <a:t> </a:t>
            </a:r>
            <a:r>
              <a:rPr sz="1600" i="0" b="0">
                <a:solidFill>
                  <a:srgbClr val="569CD6"/>
                </a:solidFill>
                <a:latin typeface="Consolas"/>
              </a:rPr>
              <a:t>INTO</a:t>
            </a:r>
            <a:r>
              <a:rPr sz="1600" i="0" b="0">
                <a:solidFill>
                  <a:srgbClr val="D4D4D4"/>
                </a:solidFill>
                <a:latin typeface="Consolas"/>
              </a:rPr>
              <a:t> </a:t>
            </a:r>
            <a:r>
              <a:rPr sz="1600" i="0" b="0">
                <a:solidFill>
                  <a:srgbClr val="DCDCAA"/>
                </a:solidFill>
                <a:latin typeface="Consolas"/>
              </a:rPr>
              <a:t>detalle_factura</a:t>
            </a:r>
            <a:r>
              <a:rPr sz="1600" i="0" b="0">
                <a:solidFill>
                  <a:srgbClr val="D4D4D4"/>
                </a:solidFill>
                <a:latin typeface="Consolas"/>
              </a:rPr>
              <a:t> (</a:t>
            </a:r>
            <a:r>
              <a:rPr sz="1600" i="0" b="0">
                <a:solidFill>
                  <a:srgbClr val="D4D4D4"/>
                </a:solidFill>
                <a:latin typeface="Consolas"/>
              </a:rPr>
              <a:t>id_factura</a:t>
            </a:r>
            <a:r>
              <a:rPr sz="1600" i="0" b="0">
                <a:solidFill>
                  <a:srgbClr val="D4D4D4"/>
                </a:solidFill>
                <a:latin typeface="Consolas"/>
              </a:rPr>
              <a:t>, </a:t>
            </a:r>
            <a:r>
              <a:rPr sz="1600" i="0" b="0">
                <a:solidFill>
                  <a:srgbClr val="D4D4D4"/>
                </a:solidFill>
                <a:latin typeface="Consolas"/>
              </a:rPr>
              <a:t>id_insumo</a:t>
            </a:r>
            <a:r>
              <a:rPr sz="1600" i="0" b="0">
                <a:solidFill>
                  <a:srgbClr val="D4D4D4"/>
                </a:solidFill>
                <a:latin typeface="Consolas"/>
              </a:rPr>
              <a:t>, </a:t>
            </a:r>
            <a:r>
              <a:rPr sz="1600" i="0" b="0">
                <a:solidFill>
                  <a:srgbClr val="D4D4D4"/>
                </a:solidFill>
                <a:latin typeface="Consolas"/>
              </a:rPr>
              <a:t>cantidad</a:t>
            </a:r>
            <a:r>
              <a:rPr sz="1600" i="0" b="0">
                <a:solidFill>
                  <a:srgbClr val="D4D4D4"/>
                </a:solidFill>
                <a:latin typeface="Consolas"/>
              </a:rPr>
              <a:t>, </a:t>
            </a:r>
            <a:r>
              <a:rPr sz="1600" i="0" b="0">
                <a:solidFill>
                  <a:srgbClr val="D4D4D4"/>
                </a:solidFill>
                <a:latin typeface="Consolas"/>
              </a:rPr>
              <a:t>precio_unit</a:t>
            </a:r>
            <a:r>
              <a:rPr sz="1600" i="0" b="0">
                <a:solidFill>
                  <a:srgbClr val="D4D4D4"/>
                </a:solidFill>
                <a:latin typeface="Consolas"/>
              </a:rPr>
              <a:t>)</a:t>
            </a:r>
          </a:p>
          <a:p>
            <a:pPr>
              <a:spcAft>
                <a:spcPts val="342"/>
              </a:spcAft>
            </a:pPr>
            <a:r>
              <a:rPr sz="1600" i="0" b="0">
                <a:solidFill>
                  <a:srgbClr val="D4D4D4"/>
                </a:solidFill>
                <a:latin typeface="Consolas"/>
              </a:rPr>
              <a:t>    </a:t>
            </a:r>
            <a:r>
              <a:rPr sz="1600" i="0" b="0">
                <a:solidFill>
                  <a:srgbClr val="569CD6"/>
                </a:solidFill>
                <a:latin typeface="Consolas"/>
              </a:rPr>
              <a:t>VALUES</a:t>
            </a:r>
            <a:r>
              <a:rPr sz="1600" i="0" b="0">
                <a:solidFill>
                  <a:srgbClr val="D4D4D4"/>
                </a:solidFill>
                <a:latin typeface="Consolas"/>
              </a:rPr>
              <a:t> (</a:t>
            </a:r>
            <a:r>
              <a:rPr sz="1600" i="0" b="0">
                <a:solidFill>
                  <a:srgbClr val="DCDCAA"/>
                </a:solidFill>
                <a:latin typeface="Consolas"/>
              </a:rPr>
              <a:t>currval</a:t>
            </a:r>
            <a:r>
              <a:rPr sz="1600" i="0" b="0">
                <a:solidFill>
                  <a:srgbClr val="D4D4D4"/>
                </a:solidFill>
                <a:latin typeface="Consolas"/>
              </a:rPr>
              <a:t>(</a:t>
            </a:r>
            <a:r>
              <a:rPr sz="1600" i="0" b="0">
                <a:solidFill>
                  <a:srgbClr val="CE9178"/>
                </a:solidFill>
                <a:latin typeface="Consolas"/>
              </a:rPr>
              <a:t>'factura_id_factura_seq'</a:t>
            </a:r>
            <a:r>
              <a:rPr sz="1600" i="0" b="0">
                <a:solidFill>
                  <a:srgbClr val="D4D4D4"/>
                </a:solidFill>
                <a:latin typeface="Consolas"/>
              </a:rPr>
              <a:t>), </a:t>
            </a:r>
            <a:r>
              <a:rPr sz="1600" i="0" b="0">
                <a:solidFill>
                  <a:srgbClr val="B5CEA8"/>
                </a:solidFill>
                <a:latin typeface="Consolas"/>
              </a:rPr>
              <a:t>9999</a:t>
            </a:r>
            <a:r>
              <a:rPr sz="1600" i="0" b="0">
                <a:solidFill>
                  <a:srgbClr val="D4D4D4"/>
                </a:solidFill>
                <a:latin typeface="Consolas"/>
              </a:rPr>
              <a:t>, </a:t>
            </a:r>
            <a:r>
              <a:rPr sz="1600" i="0" b="0">
                <a:solidFill>
                  <a:srgbClr val="B5CEA8"/>
                </a:solidFill>
                <a:latin typeface="Consolas"/>
              </a:rPr>
              <a:t>1</a:t>
            </a:r>
            <a:r>
              <a:rPr sz="1600" i="0" b="0">
                <a:solidFill>
                  <a:srgbClr val="D4D4D4"/>
                </a:solidFill>
                <a:latin typeface="Consolas"/>
              </a:rPr>
              <a:t>, </a:t>
            </a:r>
            <a:r>
              <a:rPr sz="1600" i="0" b="0">
                <a:solidFill>
                  <a:srgbClr val="B5CEA8"/>
                </a:solidFill>
                <a:latin typeface="Consolas"/>
              </a:rPr>
              <a:t>1000</a:t>
            </a:r>
            <a:r>
              <a:rPr sz="1600" i="0" b="0">
                <a:solidFill>
                  <a:srgbClr val="D4D4D4"/>
                </a:solidFill>
                <a:latin typeface="Consolas"/>
              </a:rPr>
              <a:t>);  </a:t>
            </a:r>
            <a:r>
              <a:rPr sz="1600" i="1" b="0">
                <a:solidFill>
                  <a:srgbClr val="6A9955"/>
                </a:solidFill>
                <a:latin typeface="Consolas"/>
              </a:rPr>
              <a:t>-- no existe</a:t>
            </a:r>
          </a:p>
          <a:p>
            <a:pPr>
              <a:spcAft>
                <a:spcPts val="342"/>
              </a:spcAft>
            </a:pPr>
            <a:r>
              <a:rPr sz="1600" i="0" b="0">
                <a:solidFill>
                  <a:srgbClr val="D4D4D4"/>
                </a:solidFill>
                <a:latin typeface="Consolas"/>
              </a:rPr>
              <a:t>  </a:t>
            </a:r>
            <a:r>
              <a:rPr sz="1600" i="0" b="0">
                <a:solidFill>
                  <a:srgbClr val="569CD6"/>
                </a:solidFill>
                <a:latin typeface="Consolas"/>
              </a:rPr>
              <a:t>EXCEPTION</a:t>
            </a:r>
            <a:r>
              <a:rPr sz="1600" i="0" b="0">
                <a:solidFill>
                  <a:srgbClr val="D4D4D4"/>
                </a:solidFill>
                <a:latin typeface="Consolas"/>
              </a:rPr>
              <a:t> </a:t>
            </a:r>
            <a:r>
              <a:rPr sz="1600" i="0" b="0">
                <a:solidFill>
                  <a:srgbClr val="569CD6"/>
                </a:solidFill>
                <a:latin typeface="Consolas"/>
              </a:rPr>
              <a:t>WHEN</a:t>
            </a:r>
            <a:r>
              <a:rPr sz="1600" i="0" b="0">
                <a:solidFill>
                  <a:srgbClr val="D4D4D4"/>
                </a:solidFill>
                <a:latin typeface="Consolas"/>
              </a:rPr>
              <a:t> </a:t>
            </a:r>
            <a:r>
              <a:rPr sz="1600" i="0" b="0">
                <a:solidFill>
                  <a:srgbClr val="D4D4D4"/>
                </a:solidFill>
                <a:latin typeface="Consolas"/>
              </a:rPr>
              <a:t>OTHERS</a:t>
            </a:r>
            <a:r>
              <a:rPr sz="1600" i="0" b="0">
                <a:solidFill>
                  <a:srgbClr val="D4D4D4"/>
                </a:solidFill>
                <a:latin typeface="Consolas"/>
              </a:rPr>
              <a:t> </a:t>
            </a:r>
            <a:r>
              <a:rPr sz="1600" i="0" b="0">
                <a:solidFill>
                  <a:srgbClr val="569CD6"/>
                </a:solidFill>
                <a:latin typeface="Consolas"/>
              </a:rPr>
              <a:t>THEN</a:t>
            </a:r>
          </a:p>
          <a:p>
            <a:pPr>
              <a:spcAft>
                <a:spcPts val="342"/>
              </a:spcAft>
            </a:pPr>
            <a:r>
              <a:rPr sz="1600" i="0" b="0">
                <a:solidFill>
                  <a:srgbClr val="D4D4D4"/>
                </a:solidFill>
                <a:latin typeface="Consolas"/>
              </a:rPr>
              <a:t>    </a:t>
            </a:r>
            <a:r>
              <a:rPr sz="1600" i="0" b="0">
                <a:solidFill>
                  <a:srgbClr val="569CD6"/>
                </a:solidFill>
                <a:latin typeface="Consolas"/>
              </a:rPr>
              <a:t>RAISE</a:t>
            </a:r>
            <a:r>
              <a:rPr sz="1600" i="0" b="0">
                <a:solidFill>
                  <a:srgbClr val="D4D4D4"/>
                </a:solidFill>
                <a:latin typeface="Consolas"/>
              </a:rPr>
              <a:t> </a:t>
            </a:r>
            <a:r>
              <a:rPr sz="1600" i="0" b="0">
                <a:solidFill>
                  <a:srgbClr val="569CD6"/>
                </a:solidFill>
                <a:latin typeface="Consolas"/>
              </a:rPr>
              <a:t>NOTICE</a:t>
            </a:r>
            <a:r>
              <a:rPr sz="1600" i="0" b="0">
                <a:solidFill>
                  <a:srgbClr val="D4D4D4"/>
                </a:solidFill>
                <a:latin typeface="Consolas"/>
              </a:rPr>
              <a:t> </a:t>
            </a:r>
            <a:r>
              <a:rPr sz="1600" i="0" b="0">
                <a:solidFill>
                  <a:srgbClr val="CE9178"/>
                </a:solidFill>
                <a:latin typeface="Consolas"/>
              </a:rPr>
              <a:t>'algo fallo: %'</a:t>
            </a:r>
            <a:r>
              <a:rPr sz="1600" i="0" b="0">
                <a:solidFill>
                  <a:srgbClr val="D4D4D4"/>
                </a:solidFill>
                <a:latin typeface="Consolas"/>
              </a:rPr>
              <a:t>, </a:t>
            </a:r>
            <a:r>
              <a:rPr sz="1600" i="0" b="0">
                <a:solidFill>
                  <a:srgbClr val="D4D4D4"/>
                </a:solidFill>
                <a:latin typeface="Consolas"/>
              </a:rPr>
              <a:t>SQLERRM</a:t>
            </a:r>
            <a:r>
              <a:rPr sz="1600" i="0" b="0">
                <a:solidFill>
                  <a:srgbClr val="D4D4D4"/>
                </a:solidFill>
                <a:latin typeface="Consolas"/>
              </a:rPr>
              <a:t>;   </a:t>
            </a:r>
            <a:r>
              <a:rPr sz="1600" i="1" b="0">
                <a:solidFill>
                  <a:srgbClr val="6A9955"/>
                </a:solidFill>
                <a:latin typeface="Consolas"/>
              </a:rPr>
              <a:t>-- &lt;-- LA TRAMPA</a:t>
            </a:r>
          </a:p>
          <a:p>
            <a:pPr>
              <a:spcAft>
                <a:spcPts val="342"/>
              </a:spcAft>
            </a:pPr>
            <a:r>
              <a:rPr sz="1600" i="0" b="0">
                <a:solidFill>
                  <a:srgbClr val="D4D4D4"/>
                </a:solidFill>
                <a:latin typeface="Consolas"/>
              </a:rPr>
              <a:t>  </a:t>
            </a:r>
            <a:r>
              <a:rPr sz="1600" i="0" b="0">
                <a:solidFill>
                  <a:srgbClr val="569CD6"/>
                </a:solidFill>
                <a:latin typeface="Consolas"/>
              </a:rPr>
              <a:t>END</a:t>
            </a:r>
            <a:r>
              <a:rPr sz="1600" i="0" b="0">
                <a:solidFill>
                  <a:srgbClr val="D4D4D4"/>
                </a:solidFill>
                <a:latin typeface="Consolas"/>
              </a:rPr>
              <a:t>;</a:t>
            </a:r>
          </a:p>
          <a:p>
            <a:pPr>
              <a:spcAft>
                <a:spcPts val="342"/>
              </a:spcAft>
            </a:pPr>
            <a:r>
              <a:rPr sz="1600" i="0" b="0">
                <a:solidFill>
                  <a:srgbClr val="569CD6"/>
                </a:solidFill>
                <a:latin typeface="Consolas"/>
              </a:rPr>
              <a:t>END</a:t>
            </a:r>
            <a:r>
              <a:rPr sz="1600" i="0" b="0">
                <a:solidFill>
                  <a:srgbClr val="D4D4D4"/>
                </a:solidFill>
                <a:latin typeface="Consolas"/>
              </a:rPr>
              <a:t> </a:t>
            </a:r>
            <a:r>
              <a:rPr sz="1600" i="0" b="0">
                <a:solidFill>
                  <a:srgbClr val="569CD6"/>
                </a:solidFill>
                <a:latin typeface="Consolas"/>
              </a:rPr>
              <a:t>$$</a:t>
            </a:r>
            <a:r>
              <a:rPr sz="1600" i="0" b="0">
                <a:solidFill>
                  <a:srgbClr val="D4D4D4"/>
                </a:solidFill>
                <a:latin typeface="Consolas"/>
              </a:rPr>
              <a:t>;</a:t>
            </a:r>
          </a:p>
          <a:p>
            <a:pPr>
              <a:spcAft>
                <a:spcPts val="342"/>
              </a:spcAft>
            </a:pPr>
            <a:r>
              <a:rPr sz="1600" i="1" b="0">
                <a:solidFill>
                  <a:srgbClr val="6A9955"/>
                </a:solidFill>
                <a:latin typeface="Consolas"/>
              </a:rPr>
              <a:t>-- El bloque interno se deshizo (el stock quedo igual), pero el DO termino</a:t>
            </a:r>
          </a:p>
          <a:p>
            <a:pPr>
              <a:spcAft>
                <a:spcPts val="342"/>
              </a:spcAft>
            </a:pPr>
            <a:r>
              <a:rPr sz="1600" i="1" b="0">
                <a:solidFill>
                  <a:srgbClr val="6A9955"/>
                </a:solidFill>
                <a:latin typeface="Consolas"/>
              </a:rPr>
              <a:t>-- bien: la cabecera quedo guardada SIN lineas. La factura miente.</a:t>
            </a:r>
          </a:p>
          <a:p>
            <a:pPr>
              <a:spcAft>
                <a:spcPts val="342"/>
              </a:spcAft>
            </a:pPr>
            <a:r>
              <a:rPr sz="1600" i="1" b="0">
                <a:solidFill>
                  <a:srgbClr val="6A9955"/>
                </a:solidFill>
                <a:latin typeface="Consolas"/>
              </a:rPr>
              <a:t>-- Si se captura, hay que RE-LANZAR para que se deshaga todo:</a:t>
            </a:r>
          </a:p>
          <a:p>
            <a:pPr>
              <a:spcAft>
                <a:spcPts val="342"/>
              </a:spcAft>
            </a:pPr>
            <a:r>
              <a:rPr sz="1600" i="1" b="0">
                <a:solidFill>
                  <a:srgbClr val="6A9955"/>
                </a:solidFill>
                <a:latin typeface="Consolas"/>
              </a:rPr>
              <a:t>--   EXCEPTION WHEN OTHERS THEN RAISE;</a:t>
            </a:r>
          </a:p>
        </p:txBody>
      </p:sp>
      <p:sp>
        <p:nvSpPr>
          <p:cNvPr id="13" name="TextBox 1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contraste con Oracle</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oracle-pg-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La misma lógica cambia de sintaxis: </a:t>
            </a:r>
            <a:r>
              <a:rPr sz="2000" b="1" i="0">
                <a:solidFill>
                  <a:srgbClr val="333333"/>
                </a:solidFill>
                <a:latin typeface="Calibri"/>
              </a:rPr>
              <a:t>NUMBER</a:t>
            </a:r>
            <a:r>
              <a:rPr sz="2000" b="0" i="0">
                <a:solidFill>
                  <a:srgbClr val="333333"/>
                </a:solidFill>
                <a:latin typeface="Calibri"/>
              </a:rPr>
              <a:t>, SQL%ROWCOUNT y RAISE_APPLICATION_ERROR son de Oracle.</a:t>
            </a:r>
          </a:p>
          <a:p>
            <a:pPr>
              <a:spcAft>
                <a:spcPts val="800"/>
              </a:spcAft>
            </a:pPr>
            <a:r>
              <a:rPr sz="2000" b="0" i="0">
                <a:solidFill>
                  <a:srgbClr val="333333"/>
                </a:solidFill>
                <a:latin typeface="Calibri"/>
              </a:rPr>
              <a:t>–   En PostgreSQL: </a:t>
            </a:r>
            <a:r>
              <a:rPr sz="2000" b="1" i="0">
                <a:solidFill>
                  <a:srgbClr val="333333"/>
                </a:solidFill>
                <a:latin typeface="Calibri"/>
              </a:rPr>
              <a:t>INT y NUMERIC</a:t>
            </a:r>
            <a:r>
              <a:rPr sz="2000" b="0" i="0">
                <a:solidFill>
                  <a:srgbClr val="333333"/>
                </a:solidFill>
                <a:latin typeface="Calibri"/>
              </a:rPr>
              <a:t>, GET DIAGNOSTICS y RAISE EXCEPTION.</a:t>
            </a:r>
          </a:p>
          <a:p>
            <a:pPr>
              <a:spcAft>
                <a:spcPts val="800"/>
              </a:spcAft>
            </a:pPr>
            <a:r>
              <a:rPr sz="2000" b="0" i="0">
                <a:solidFill>
                  <a:srgbClr val="333333"/>
                </a:solidFill>
                <a:latin typeface="Calibri"/>
              </a:rPr>
              <a:t>–   En Oracle suele escribirse </a:t>
            </a:r>
            <a:r>
              <a:rPr sz="2000" b="1" i="0">
                <a:solidFill>
                  <a:srgbClr val="333333"/>
                </a:solidFill>
                <a:latin typeface="Calibri"/>
              </a:rPr>
              <a:t>ROLLBACK</a:t>
            </a:r>
            <a:r>
              <a:rPr sz="2000" b="0" i="0">
                <a:solidFill>
                  <a:srgbClr val="333333"/>
                </a:solidFill>
                <a:latin typeface="Calibri"/>
              </a:rPr>
              <a:t> en el manejador; aquí lo deshace la excepción del CALL.</a:t>
            </a:r>
          </a:p>
          <a:p>
            <a:pPr>
              <a:spcAft>
                <a:spcPts val="800"/>
              </a:spcAft>
            </a:pPr>
            <a:r>
              <a:rPr sz="2000" b="0" i="0">
                <a:solidFill>
                  <a:srgbClr val="333333"/>
                </a:solidFill>
                <a:latin typeface="Calibri"/>
              </a:rPr>
              <a:t>–   La base quedó intacta porque el </a:t>
            </a:r>
            <a:r>
              <a:rPr sz="2000" b="1" i="0">
                <a:solidFill>
                  <a:srgbClr val="333333"/>
                </a:solidFill>
                <a:latin typeface="Calibri"/>
              </a:rPr>
              <a:t>CALL</a:t>
            </a:r>
            <a:r>
              <a:rPr sz="2000" b="0" i="0">
                <a:solidFill>
                  <a:srgbClr val="333333"/>
                </a:solidFill>
                <a:latin typeface="Calibri"/>
              </a:rPr>
              <a:t> es su propia transacción.</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Abortar o informar: fn_descontar_stock</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bortar-o-informar-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abortar-o-informar-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abortar-o-informar-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La misma regla de stock admite </a:t>
            </a:r>
            <a:r>
              <a:rPr sz="2000" b="1" i="0">
                <a:solidFill>
                  <a:srgbClr val="333333"/>
                </a:solidFill>
                <a:latin typeface="Calibri"/>
              </a:rPr>
              <a:t>dos contratos</a:t>
            </a:r>
            <a:r>
              <a:rPr sz="2000" b="0" i="0">
                <a:solidFill>
                  <a:srgbClr val="333333"/>
                </a:solidFill>
                <a:latin typeface="Calibri"/>
              </a:rPr>
              <a:t>: abortar o informar.</a:t>
            </a:r>
          </a:p>
          <a:p>
            <a:pPr>
              <a:spcAft>
                <a:spcPts val="800"/>
              </a:spcAft>
            </a:pPr>
            <a:r>
              <a:rPr sz="2000" b="0" i="0">
                <a:solidFill>
                  <a:srgbClr val="333333"/>
                </a:solidFill>
                <a:latin typeface="Calibri"/>
              </a:rPr>
              <a:t>–   sp_facturar </a:t>
            </a:r>
            <a:r>
              <a:rPr sz="2000" b="1" i="0">
                <a:solidFill>
                  <a:srgbClr val="333333"/>
                </a:solidFill>
                <a:latin typeface="Calibri"/>
              </a:rPr>
              <a:t>aborta</a:t>
            </a:r>
            <a:r>
              <a:rPr sz="2000" b="0" i="0">
                <a:solidFill>
                  <a:srgbClr val="333333"/>
                </a:solidFill>
                <a:latin typeface="Calibri"/>
              </a:rPr>
              <a:t>: si una línea no alcanza, se deshace toda la factura.</a:t>
            </a:r>
          </a:p>
          <a:p>
            <a:pPr>
              <a:spcAft>
                <a:spcPts val="800"/>
              </a:spcAft>
            </a:pPr>
            <a:r>
              <a:rPr sz="2000" b="0" i="0">
                <a:solidFill>
                  <a:srgbClr val="333333"/>
                </a:solidFill>
                <a:latin typeface="Calibri"/>
              </a:rPr>
              <a:t>–   fn_descontar_stock </a:t>
            </a:r>
            <a:r>
              <a:rPr sz="2000" b="1" i="0">
                <a:solidFill>
                  <a:srgbClr val="333333"/>
                </a:solidFill>
                <a:latin typeface="Calibri"/>
              </a:rPr>
              <a:t>informa</a:t>
            </a:r>
            <a:r>
              <a:rPr sz="2000" b="0" i="0">
                <a:solidFill>
                  <a:srgbClr val="333333"/>
                </a:solidFill>
                <a:latin typeface="Calibri"/>
              </a:rPr>
              <a:t>: devuelve false y el llamador decide qué hacer.</a:t>
            </a:r>
          </a:p>
          <a:p>
            <a:pPr>
              <a:spcAft>
                <a:spcPts val="800"/>
              </a:spcAft>
            </a:pPr>
            <a:r>
              <a:rPr sz="2000" b="0" i="0">
                <a:solidFill>
                  <a:srgbClr val="333333"/>
                </a:solidFill>
                <a:latin typeface="Calibri"/>
              </a:rPr>
              <a:t>–   Una cantidad cero o negativa sí es un </a:t>
            </a:r>
            <a:r>
              <a:rPr sz="2000" b="1" i="0">
                <a:solidFill>
                  <a:srgbClr val="333333"/>
                </a:solidFill>
                <a:latin typeface="Calibri"/>
              </a:rPr>
              <a:t>error</a:t>
            </a:r>
            <a:r>
              <a:rPr sz="2000" b="0" i="0">
                <a:solidFill>
                  <a:srgbClr val="333333"/>
                </a:solidFill>
                <a:latin typeface="Calibri"/>
              </a:rPr>
              <a:t>: es una llamada mal hecha.</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fn_descontar_stock: cuando «no hay stock» es una respuesta, no un error</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Mismo descuento condicional, contrato distinto: aqui «no alcanza» se devuelve como FALSE, no se lanza</a:t>
            </a:r>
          </a:p>
        </p:txBody>
      </p:sp>
      <p:sp>
        <p:nvSpPr>
          <p:cNvPr id="6" name="Rounded Rectangle 5"/>
          <p:cNvSpPr/>
          <p:nvPr/>
        </p:nvSpPr>
        <p:spPr>
          <a:xfrm>
            <a:off x="5797149" y="1449082"/>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lus-fn-boolean-paso1.png"/>
          <p:cNvPicPr>
            <a:picLocks noChangeAspect="1"/>
          </p:cNvPicPr>
          <p:nvPr/>
        </p:nvPicPr>
        <p:blipFill>
          <a:blip r:embed="rId2"/>
          <a:stretch>
            <a:fillRect/>
          </a:stretch>
        </p:blipFill>
        <p:spPr>
          <a:xfrm>
            <a:off x="5870301" y="1522234"/>
            <a:ext cx="5864193" cy="4691354"/>
          </a:xfrm>
          <a:prstGeom prst="rect">
            <a:avLst/>
          </a:prstGeom>
        </p:spPr>
      </p:pic>
      <p:sp>
        <p:nvSpPr>
          <p:cNvPr id="8" name="TextBox 7"/>
          <p:cNvSpPr txBox="1"/>
          <p:nvPr/>
        </p:nvSpPr>
        <p:spPr>
          <a:xfrm>
            <a:off x="457200" y="1563624"/>
            <a:ext cx="5093061" cy="4837176"/>
          </a:xfrm>
          <a:prstGeom prst="rect">
            <a:avLst/>
          </a:prstGeom>
          <a:noFill/>
        </p:spPr>
        <p:txBody>
          <a:bodyPr wrap="square">
            <a:spAutoFit/>
          </a:bodyPr>
          <a:lstStyle/>
          <a:p>
            <a:pPr>
              <a:spcAft>
                <a:spcPts val="800"/>
              </a:spcAft>
            </a:pPr>
            <a:r>
              <a:rPr sz="2000" b="0" i="0">
                <a:solidFill>
                  <a:srgbClr val="333333"/>
                </a:solidFill>
                <a:latin typeface="Calibri"/>
              </a:rPr>
              <a:t>–   La firma dice </a:t>
            </a:r>
            <a:r>
              <a:rPr sz="2000" b="1" i="0">
                <a:solidFill>
                  <a:srgbClr val="333333"/>
                </a:solidFill>
                <a:latin typeface="Calibri"/>
              </a:rPr>
              <a:t>RETURNS BOOLEAN</a:t>
            </a:r>
            <a:r>
              <a:rPr sz="2000" b="0" i="0">
                <a:solidFill>
                  <a:srgbClr val="333333"/>
                </a:solidFill>
                <a:latin typeface="Calibri"/>
              </a:rPr>
              <a:t>: true si descontó, false si no alcanzó.</a:t>
            </a:r>
          </a:p>
          <a:p>
            <a:pPr>
              <a:spcAft>
                <a:spcPts val="800"/>
              </a:spcAft>
            </a:pPr>
            <a:r>
              <a:rPr sz="2000" b="0" i="0">
                <a:solidFill>
                  <a:srgbClr val="333333"/>
                </a:solidFill>
                <a:latin typeface="Calibri"/>
              </a:rPr>
              <a:t>–   Tres partes: validar la cantidad, el mismo </a:t>
            </a:r>
            <a:r>
              <a:rPr sz="2000" b="1" i="0">
                <a:solidFill>
                  <a:srgbClr val="333333"/>
                </a:solidFill>
                <a:latin typeface="Calibri"/>
              </a:rPr>
              <a:t>guardia</a:t>
            </a:r>
            <a:r>
              <a:rPr sz="2000" b="0" i="0">
                <a:solidFill>
                  <a:srgbClr val="333333"/>
                </a:solidFill>
                <a:latin typeface="Calibri"/>
              </a:rPr>
              <a:t> y RETURN v_filas = 1.</a:t>
            </a:r>
          </a:p>
          <a:p>
            <a:pPr>
              <a:spcAft>
                <a:spcPts val="800"/>
              </a:spcAft>
            </a:pPr>
            <a:r>
              <a:rPr sz="2000" b="0" i="0">
                <a:solidFill>
                  <a:srgbClr val="333333"/>
                </a:solidFill>
                <a:latin typeface="Calibri"/>
              </a:rPr>
              <a:t>–   Se prueba en </a:t>
            </a:r>
            <a:r>
              <a:rPr sz="2000" b="1" i="0">
                <a:solidFill>
                  <a:srgbClr val="333333"/>
                </a:solidFill>
                <a:latin typeface="Calibri"/>
              </a:rPr>
              <a:t>una consulta</a:t>
            </a:r>
            <a:r>
              <a:rPr sz="2000" b="0" i="0">
                <a:solidFill>
                  <a:srgbClr val="333333"/>
                </a:solidFill>
                <a:latin typeface="Calibri"/>
              </a:rPr>
              <a:t>: true, false, true, y ningún stock negativo.</a:t>
            </a:r>
          </a:p>
          <a:p>
            <a:pPr>
              <a:spcAft>
                <a:spcPts val="800"/>
              </a:spcAft>
            </a:pPr>
            <a:r>
              <a:rPr sz="2000" b="0" i="0">
                <a:solidFill>
                  <a:srgbClr val="333333"/>
                </a:solidFill>
                <a:latin typeface="Calibri"/>
              </a:rPr>
              <a:t>–   Leer primero y decidir después deja una </a:t>
            </a:r>
            <a:r>
              <a:rPr sz="2000" b="1" i="0">
                <a:solidFill>
                  <a:srgbClr val="333333"/>
                </a:solidFill>
                <a:latin typeface="Calibri"/>
              </a:rPr>
              <a:t>ventana</a:t>
            </a:r>
            <a:r>
              <a:rPr sz="2000" b="0" i="0">
                <a:solidFill>
                  <a:srgbClr val="333333"/>
                </a:solidFill>
                <a:latin typeface="Calibri"/>
              </a:rPr>
              <a:t> entre lectura y escritura.</a:t>
            </a:r>
          </a:p>
        </p:txBody>
      </p:sp>
      <p:sp>
        <p:nvSpPr>
          <p:cNvPr id="9" name="TextBox 8"/>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Tuning: habitos de escritura, no parametros del servidor</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ansaccion-corta-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transaccion-corta-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transaccion-corta-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Una transacción de negocio debe ser </a:t>
            </a:r>
            <a:r>
              <a:rPr sz="2000" b="1" i="0">
                <a:solidFill>
                  <a:srgbClr val="333333"/>
                </a:solidFill>
                <a:latin typeface="Calibri"/>
              </a:rPr>
              <a:t>corta</a:t>
            </a:r>
            <a:r>
              <a:rPr sz="2000" b="0" i="0">
                <a:solidFill>
                  <a:srgbClr val="333333"/>
                </a:solidFill>
                <a:latin typeface="Calibri"/>
              </a:rPr>
              <a:t>: milisegundos, no minutos.</a:t>
            </a:r>
          </a:p>
          <a:p>
            <a:pPr>
              <a:spcAft>
                <a:spcPts val="800"/>
              </a:spcAft>
            </a:pPr>
            <a:r>
              <a:rPr sz="2000" b="0" i="0">
                <a:solidFill>
                  <a:srgbClr val="333333"/>
                </a:solidFill>
                <a:latin typeface="Calibri"/>
              </a:rPr>
              <a:t>–   Nunca se espera a una </a:t>
            </a:r>
            <a:r>
              <a:rPr sz="2000" b="1" i="0">
                <a:solidFill>
                  <a:srgbClr val="333333"/>
                </a:solidFill>
                <a:latin typeface="Calibri"/>
              </a:rPr>
              <a:t>persona</a:t>
            </a:r>
            <a:r>
              <a:rPr sz="2000" b="0" i="0">
                <a:solidFill>
                  <a:srgbClr val="333333"/>
                </a:solidFill>
                <a:latin typeface="Calibri"/>
              </a:rPr>
              <a:t> con la transacción abierta.</a:t>
            </a:r>
          </a:p>
          <a:p>
            <a:pPr>
              <a:spcAft>
                <a:spcPts val="800"/>
              </a:spcAft>
            </a:pPr>
            <a:r>
              <a:rPr sz="2000" b="0" i="0">
                <a:solidFill>
                  <a:srgbClr val="333333"/>
                </a:solidFill>
                <a:latin typeface="Calibri"/>
              </a:rPr>
              <a:t>–   En cargas masivas, </a:t>
            </a:r>
            <a:r>
              <a:rPr sz="2000" b="1" i="0">
                <a:solidFill>
                  <a:srgbClr val="333333"/>
                </a:solidFill>
                <a:latin typeface="Calibri"/>
              </a:rPr>
              <a:t>COMMIT por lotes</a:t>
            </a:r>
            <a:r>
              <a:rPr sz="2000" b="0" i="0">
                <a:solidFill>
                  <a:srgbClr val="333333"/>
                </a:solidFill>
                <a:latin typeface="Calibri"/>
              </a:rPr>
              <a:t>: ni uno por fila ni uno gigante.</a:t>
            </a:r>
          </a:p>
          <a:p>
            <a:pPr>
              <a:spcAft>
                <a:spcPts val="800"/>
              </a:spcAft>
            </a:pPr>
            <a:r>
              <a:rPr sz="2000" b="0" i="0">
                <a:solidFill>
                  <a:srgbClr val="333333"/>
                </a:solidFill>
                <a:latin typeface="Calibri"/>
              </a:rPr>
              <a:t>–   Filtrar por la </a:t>
            </a:r>
            <a:r>
              <a:rPr sz="2000" b="1" i="0">
                <a:solidFill>
                  <a:srgbClr val="333333"/>
                </a:solidFill>
                <a:latin typeface="Calibri"/>
              </a:rPr>
              <a:t>clave primaria</a:t>
            </a:r>
            <a:r>
              <a:rPr sz="2000" b="0" i="0">
                <a:solidFill>
                  <a:srgbClr val="333333"/>
                </a:solidFill>
                <a:latin typeface="Calibri"/>
              </a:rPr>
              <a:t> bloquea una sola fila.</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demo, en el orden en que se proyecta</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demo-orden-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Bloques 0 y 1: el esquema con </a:t>
            </a:r>
            <a:r>
              <a:rPr sz="2000" b="1" i="0">
                <a:solidFill>
                  <a:srgbClr val="333333"/>
                </a:solidFill>
                <a:latin typeface="Calibri"/>
              </a:rPr>
              <a:t>seis insumos</a:t>
            </a:r>
            <a:r>
              <a:rPr sz="2000" b="0" i="0">
                <a:solidFill>
                  <a:srgbClr val="333333"/>
                </a:solidFill>
                <a:latin typeface="Calibri"/>
              </a:rPr>
              <a:t> y el procedimiento.</a:t>
            </a:r>
          </a:p>
          <a:p>
            <a:pPr>
              <a:spcAft>
                <a:spcPts val="800"/>
              </a:spcAft>
            </a:pPr>
            <a:r>
              <a:rPr sz="2000" b="0" i="0">
                <a:solidFill>
                  <a:srgbClr val="333333"/>
                </a:solidFill>
                <a:latin typeface="Calibri"/>
              </a:rPr>
              <a:t>–   Bloque 2: el caso que funciona, </a:t>
            </a:r>
            <a:r>
              <a:rPr sz="2000" b="1" i="0">
                <a:solidFill>
                  <a:srgbClr val="333333"/>
                </a:solidFill>
                <a:latin typeface="Calibri"/>
              </a:rPr>
              <a:t>27.400</a:t>
            </a:r>
            <a:r>
              <a:rPr sz="2000" b="0" i="0">
                <a:solidFill>
                  <a:srgbClr val="333333"/>
                </a:solidFill>
                <a:latin typeface="Calibri"/>
              </a:rPr>
              <a:t>.</a:t>
            </a:r>
          </a:p>
          <a:p>
            <a:pPr>
              <a:spcAft>
                <a:spcPts val="800"/>
              </a:spcAft>
            </a:pPr>
            <a:r>
              <a:rPr sz="2000" b="0" i="0">
                <a:solidFill>
                  <a:srgbClr val="333333"/>
                </a:solidFill>
                <a:latin typeface="Calibri"/>
              </a:rPr>
              <a:t>–   Bloque 3: </a:t>
            </a:r>
            <a:r>
              <a:rPr sz="2000" b="1" i="0">
                <a:solidFill>
                  <a:srgbClr val="333333"/>
                </a:solidFill>
                <a:latin typeface="Calibri"/>
              </a:rPr>
              <a:t>foto · CALL que falla · foto</a:t>
            </a:r>
            <a:r>
              <a:rPr sz="2000" b="0" i="0">
                <a:solidFill>
                  <a:srgbClr val="333333"/>
                </a:solidFill>
                <a:latin typeface="Calibri"/>
              </a:rPr>
              <a:t>, con los mismos números.</a:t>
            </a:r>
          </a:p>
          <a:p>
            <a:pPr>
              <a:spcAft>
                <a:spcPts val="800"/>
              </a:spcAft>
            </a:pPr>
            <a:r>
              <a:rPr sz="2000" b="0" i="0">
                <a:solidFill>
                  <a:srgbClr val="333333"/>
                </a:solidFill>
                <a:latin typeface="Calibri"/>
              </a:rPr>
              <a:t>–   Bloque 4: la </a:t>
            </a:r>
            <a:r>
              <a:rPr sz="2000" b="1" i="0">
                <a:solidFill>
                  <a:srgbClr val="333333"/>
                </a:solidFill>
                <a:latin typeface="Calibri"/>
              </a:rPr>
              <a:t>función</a:t>
            </a:r>
            <a:r>
              <a:rPr sz="2000" b="0" i="0">
                <a:solidFill>
                  <a:srgbClr val="333333"/>
                </a:solidFill>
                <a:latin typeface="Calibri"/>
              </a:rPr>
              <a:t>, que devuelve true, false y true.</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Donde corre esto, y por que el autocommit ya no es el enemigo</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donde-corre-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En el navegador corren el </a:t>
            </a:r>
            <a:r>
              <a:rPr sz="2000" b="1" i="0">
                <a:solidFill>
                  <a:srgbClr val="333333"/>
                </a:solidFill>
                <a:latin typeface="Calibri"/>
              </a:rPr>
              <a:t>CALL</a:t>
            </a:r>
            <a:r>
              <a:rPr sz="2000" b="0" i="0">
                <a:solidFill>
                  <a:srgbClr val="333333"/>
                </a:solidFill>
                <a:latin typeface="Calibri"/>
              </a:rPr>
              <a:t>, GET DIAGNOSTICS, RAISE y la función.</a:t>
            </a:r>
          </a:p>
          <a:p>
            <a:pPr>
              <a:spcAft>
                <a:spcPts val="800"/>
              </a:spcAft>
            </a:pPr>
            <a:r>
              <a:rPr sz="2000" b="0" i="0">
                <a:solidFill>
                  <a:srgbClr val="333333"/>
                </a:solidFill>
                <a:latin typeface="Calibri"/>
              </a:rPr>
              <a:t>–   La atomicidad se demuestra con </a:t>
            </a:r>
            <a:r>
              <a:rPr sz="2000" b="1" i="0">
                <a:solidFill>
                  <a:srgbClr val="333333"/>
                </a:solidFill>
                <a:latin typeface="Calibri"/>
              </a:rPr>
              <a:t>foto · CALL · foto</a:t>
            </a:r>
            <a:r>
              <a:rPr sz="2000" b="0" i="0">
                <a:solidFill>
                  <a:srgbClr val="333333"/>
                </a:solidFill>
                <a:latin typeface="Calibri"/>
              </a:rPr>
              <a:t> en el mismo panel.</a:t>
            </a:r>
          </a:p>
          <a:p>
            <a:pPr>
              <a:spcAft>
                <a:spcPts val="800"/>
              </a:spcAft>
            </a:pPr>
            <a:r>
              <a:rPr sz="2000" b="0" i="0">
                <a:solidFill>
                  <a:srgbClr val="333333"/>
                </a:solidFill>
                <a:latin typeface="Calibri"/>
              </a:rPr>
              <a:t>–   </a:t>
            </a:r>
            <a:r>
              <a:rPr sz="2000" b="1" i="0">
                <a:solidFill>
                  <a:srgbClr val="333333"/>
                </a:solidFill>
                <a:latin typeface="Calibri"/>
              </a:rPr>
              <a:t>Dos sesiones</a:t>
            </a:r>
            <a:r>
              <a:rPr sz="2000" b="0" i="0">
                <a:solidFill>
                  <a:srgbClr val="333333"/>
                </a:solidFill>
                <a:latin typeface="Calibri"/>
              </a:rPr>
              <a:t> a la vez y la durabilidad real no se pueden demostrar ahí.</a:t>
            </a:r>
          </a:p>
          <a:p>
            <a:pPr>
              <a:spcAft>
                <a:spcPts val="800"/>
              </a:spcAft>
            </a:pPr>
            <a:r>
              <a:rPr sz="2000" b="0" i="0">
                <a:solidFill>
                  <a:srgbClr val="333333"/>
                </a:solidFill>
                <a:latin typeface="Calibri"/>
              </a:rPr>
              <a:t>–   Lo que no corre se documenta como una </a:t>
            </a:r>
            <a:r>
              <a:rPr sz="2000" b="1" i="0">
                <a:solidFill>
                  <a:srgbClr val="333333"/>
                </a:solidFill>
                <a:latin typeface="Calibri"/>
              </a:rPr>
              <a:t>línea de tiempo</a:t>
            </a:r>
            <a:r>
              <a:rPr sz="2000" b="0" i="0">
                <a:solidFill>
                  <a:srgbClr val="333333"/>
                </a:solidFill>
                <a:latin typeface="Calibri"/>
              </a:rPr>
              <a:t> T1 / T2.</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Demo del dia</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demo-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La foto inicial: 1 factura, 3 líneas, </a:t>
            </a:r>
            <a:r>
              <a:rPr sz="2000" b="1" i="0">
                <a:solidFill>
                  <a:srgbClr val="333333"/>
                </a:solidFill>
                <a:latin typeface="Calibri"/>
              </a:rPr>
              <a:t>stock_3 = 40</a:t>
            </a:r>
            <a:r>
              <a:rPr sz="2000" b="0" i="0">
                <a:solidFill>
                  <a:srgbClr val="333333"/>
                </a:solidFill>
                <a:latin typeface="Calibri"/>
              </a:rPr>
              <a:t> y stock_2 = 3.</a:t>
            </a:r>
          </a:p>
          <a:p>
            <a:pPr>
              <a:spcAft>
                <a:spcPts val="800"/>
              </a:spcAft>
            </a:pPr>
            <a:r>
              <a:rPr sz="2000" b="0" i="0">
                <a:solidFill>
                  <a:srgbClr val="333333"/>
                </a:solidFill>
                <a:latin typeface="Calibri"/>
              </a:rPr>
              <a:t>–   El CALL que falla a mitad: el insumo 3 alcanza, el insumo 2 </a:t>
            </a:r>
            <a:r>
              <a:rPr sz="2000" b="1" i="0">
                <a:solidFill>
                  <a:srgbClr val="333333"/>
                </a:solidFill>
                <a:latin typeface="Calibri"/>
              </a:rPr>
              <a:t>no</a:t>
            </a:r>
            <a:r>
              <a:rPr sz="2000" b="0" i="0">
                <a:solidFill>
                  <a:srgbClr val="333333"/>
                </a:solidFill>
                <a:latin typeface="Calibri"/>
              </a:rPr>
              <a:t>.</a:t>
            </a:r>
          </a:p>
          <a:p>
            <a:pPr>
              <a:spcAft>
                <a:spcPts val="800"/>
              </a:spcAft>
            </a:pPr>
            <a:r>
              <a:rPr sz="2000" b="0" i="0">
                <a:solidFill>
                  <a:srgbClr val="333333"/>
                </a:solidFill>
                <a:latin typeface="Calibri"/>
              </a:rPr>
              <a:t>–   La foto final, idéntica: el descuento se deshizo </a:t>
            </a:r>
            <a:r>
              <a:rPr sz="2000" b="1" i="0">
                <a:solidFill>
                  <a:srgbClr val="333333"/>
                </a:solidFill>
                <a:latin typeface="Calibri"/>
              </a:rPr>
              <a:t>sin ROLLBACK escrito</a:t>
            </a:r>
            <a:r>
              <a:rPr sz="2000" b="0" i="0">
                <a:solidFill>
                  <a:srgbClr val="333333"/>
                </a:solidFill>
                <a:latin typeface="Calibri"/>
              </a:rPr>
              <a:t>.</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8 · Tuning · Transacciones · la clínica</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Que es una transaccion, y las dos amenazas de las que protege</a:t>
            </a:r>
          </a:p>
          <a:p>
            <a:pPr algn="ctr">
              <a:spcAft>
                <a:spcPts val="600"/>
              </a:spcAft>
            </a:pPr>
            <a:r>
              <a:rPr sz="1600" b="0" i="0">
                <a:solidFill>
                  <a:srgbClr val="333333"/>
                </a:solidFill>
                <a:latin typeface="Calibri"/>
              </a:rPr>
              <a:t>Atomicidad</a:t>
            </a:r>
          </a:p>
          <a:p>
            <a:pPr algn="ctr">
              <a:spcAft>
                <a:spcPts val="600"/>
              </a:spcAft>
            </a:pPr>
            <a:r>
              <a:rPr sz="1600" b="0" i="0">
                <a:solidFill>
                  <a:srgbClr val="333333"/>
                </a:solidFill>
                <a:latin typeface="Calibri"/>
              </a:rPr>
              <a:t>Consistencia</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Todo lo visto queda proyectado para repasar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