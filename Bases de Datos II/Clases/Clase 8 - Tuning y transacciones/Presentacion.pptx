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Tuning · Transacciones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Atomicidad en facturacion e insumos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el PI en:</a:t>
            </a:r>
            <a:r>
              <a:rPr sz="2000" b="0" i="0">
                <a:solidFill>
                  <a:srgbClr val="333333"/>
                </a:solidFill>
                <a:latin typeface="Calibri"/>
              </a:rPr>
              <a:t> Transaccion de negocio (factura + stock) + notas de tuning</a:t>
            </a:r>
          </a:p>
          <a:p>
            <a:pPr>
              <a:spcAft>
                <a:spcPts val="800"/>
              </a:spcAft>
            </a:pPr>
            <a:r>
              <a:rPr sz="2000" b="0" i="0">
                <a:solidFill>
                  <a:srgbClr val="333333"/>
                </a:solidFill>
                <a:latin typeface="Calibri"/>
              </a:rPr>
              <a:t>–   Herramienta: </a:t>
            </a:r>
            <a:r>
              <a:rPr sz="2000" b="1" i="0">
                <a:solidFill>
                  <a:srgbClr val="333333"/>
                </a:solidFill>
                <a:latin typeface="Calibri"/>
              </a:rPr>
              <a:t>PostgreSQL en el navegador</a:t>
            </a:r>
            <a:r>
              <a:rPr sz="2000" b="0" i="0">
                <a:solidFill>
                  <a:srgbClr val="333333"/>
                </a:solidFill>
                <a:latin typeface="Calibri"/>
              </a:rPr>
              <a:t> · Bloque </a:t>
            </a:r>
            <a:r>
              <a:rPr sz="2000" b="1" i="0">
                <a:solidFill>
                  <a:srgbClr val="333333"/>
                </a:solidFill>
                <a:latin typeface="Calibri"/>
              </a:rPr>
              <a:t>120 min</a:t>
            </a:r>
            <a:r>
              <a:rPr sz="2000" b="0" i="0">
                <a:solidFill>
                  <a:srgbClr val="333333"/>
                </a:solidFill>
                <a:latin typeface="Calibri"/>
              </a:rPr>
              <a:t> · Teoría breve · Taller PI</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sp_facturar + fn_descontar_stock + seccion Transacciones y tuning del informe (1 pag.)</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La teoría no es un tema aislado: alimenta evidencias de la rúbrica del PI.</a:t>
            </a:r>
          </a:p>
          <a:p>
            <a:pPr>
              <a:spcAft>
                <a:spcPts val="800"/>
              </a:spcAft>
            </a:pPr>
            <a:r>
              <a:rPr sz="2000" b="0" i="0">
                <a:solidFill>
                  <a:srgbClr val="333333"/>
                </a:solidFill>
                <a:latin typeface="Calibri"/>
              </a:rPr>
              <a:t>–   Al salir: avance concreto en su paquete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tarea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 cierre · dudas del PI</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transaccion es una unidad logica de trabajo formada por una o mas sentencias que el motor trata como indivisible frente a dos amenazas distintas: las fallas</a:t>
            </a:r>
          </a:p>
          <a:p>
            <a:pPr>
              <a:spcAft>
                <a:spcPts val="800"/>
              </a:spcAft>
            </a:pPr>
            <a:r>
              <a:rPr sz="2000" b="0" i="0">
                <a:solidFill>
                  <a:srgbClr val="333333"/>
                </a:solidFill>
                <a:latin typeface="Calibri"/>
              </a:rPr>
              <a:t>–   Porque no puede quedar aplicada a medias, y las demas sesiones, porque nadie debe ver el estado intermedio.</a:t>
            </a:r>
          </a:p>
          <a:p>
            <a:pPr>
              <a:spcAft>
                <a:spcPts val="800"/>
              </a:spcAft>
            </a:pPr>
            <a:r>
              <a:rPr sz="2000" b="0" i="0">
                <a:solidFill>
                  <a:srgbClr val="333333"/>
                </a:solidFill>
                <a:latin typeface="Calibri"/>
              </a:rPr>
              <a:t>–   Lo primero que hay que aclarar, porque el estudiante lo asume mal, es donde empieza y donde termina.</a:t>
            </a:r>
          </a:p>
          <a:p>
            <a:pPr>
              <a:spcAft>
                <a:spcPts val="800"/>
              </a:spcAft>
            </a:pPr>
            <a:r>
              <a:rPr sz="2000" b="0" i="0">
                <a:solidFill>
                  <a:srgbClr val="333333"/>
                </a:solidFill>
                <a:latin typeface="Calibri"/>
              </a:rPr>
              <a:t>–   En PostgreSQL, si no se abre explicitamente con BEGIN, cada sentencia de nivel superior es su propia transaccion y se confirma sola; en Oracle empieza sola con la primera sentencia DML, sin que nadie escriba BEGIN, y termina con COMMIT o con ROLLBACK.</a:t>
            </a:r>
          </a:p>
          <a:p>
            <a:pPr>
              <a:spcAft>
                <a:spcPts val="800"/>
              </a:spcAft>
            </a:pPr>
            <a:r>
              <a:rPr sz="2000" b="0" i="0">
                <a:solidFill>
                  <a:srgbClr val="333333"/>
                </a:solidFill>
                <a:latin typeface="Calibri"/>
              </a:rPr>
              <a:t>–   El ejemplo del PI es la facturacion de una consulta: se inserta la cabecera en factura, se insertan las lineas en detalle_factura y se descuenta el stock de cada insumo.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Son varias sentencias que describen UN hecho de negocio, cobrar una consulta con sus insumos, no varios hechos independientes que casualmente ocurren juntos.</a:t>
            </a:r>
          </a:p>
          <a:p>
            <a:pPr>
              <a:spcAft>
                <a:spcPts val="800"/>
              </a:spcAft>
            </a:pPr>
            <a:r>
              <a:rPr sz="2000" b="0" i="0">
                <a:solidFill>
                  <a:srgbClr val="333333"/>
                </a:solidFill>
                <a:latin typeface="Calibri"/>
              </a:rPr>
              <a:t>–   Vale detenerse en la sentencia del descuento, porque es el centro de la clase</a:t>
            </a:r>
          </a:p>
          <a:p>
            <a:pPr>
              <a:spcAft>
                <a:spcPts val="800"/>
              </a:spcAft>
            </a:pPr>
            <a:r>
              <a:rPr sz="2000" b="0" i="0">
                <a:solidFill>
                  <a:srgbClr val="333333"/>
                </a:solidFill>
                <a:latin typeface="Calibri"/>
              </a:rPr>
              <a:t>–   En PL/pgSQL, cuantas filas afecto la sentencia anterior se pregunta con GET DIAGNOSTICS v_filas = ROW_COUNT; no existe SQL%ROWCOUNT, que es de Oracle, y esa sola diferencia decide si el codigo del entregable compila o no.</a:t>
            </a:r>
          </a:p>
          <a:p>
            <a:pPr>
              <a:spcAft>
                <a:spcPts val="800"/>
              </a:spcAft>
            </a:pPr>
            <a:r>
              <a:rPr sz="2000" b="0" i="0">
                <a:solidFill>
                  <a:srgbClr val="333333"/>
                </a:solidFill>
                <a:latin typeface="Calibri"/>
              </a:rPr>
              <a:t>–   Los datos con los que se trabaja hoy son seis insumos: 1 Vacuna antirrabica con stock 12, 2 Vacuna triple felina con stock 3, 3 Antiparasitario oral con stock 40, 4 Suero fisiologico con stock 25, 5 Gasa esteril con stock 8 y 6 Jeringa 5ml con stock 60.</a:t>
            </a:r>
          </a:p>
          <a:p>
            <a:pPr>
              <a:spcAft>
                <a:spcPts val="800"/>
              </a:spcAft>
            </a:pPr>
            <a:r>
              <a:rPr sz="2000" b="0" i="0">
                <a:solidFill>
                  <a:srgbClr val="333333"/>
                </a:solidFill>
                <a:latin typeface="Calibri"/>
              </a:rPr>
              <a:t>–   El insumo 2, con sus 3 unidades, es el que se va a quedar corto en la demo.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UPDATE insumo</a:t>
            </a:r>
          </a:p>
          <a:p>
            <a:pPr>
              <a:spcAft>
                <a:spcPts val="400"/>
              </a:spcAft>
            </a:pPr>
            <a:r>
              <a:rPr sz="1400" b="0" i="0">
                <a:solidFill>
                  <a:srgbClr val="FFFFFF"/>
                </a:solidFill>
                <a:latin typeface="Calibri"/>
              </a:rPr>
              <a:t>SET stock = stock - 2</a:t>
            </a:r>
          </a:p>
          <a:p>
            <a:pPr>
              <a:spcAft>
                <a:spcPts val="400"/>
              </a:spcAft>
            </a:pPr>
            <a:r>
              <a:rPr sz="1400" b="0" i="0">
                <a:solidFill>
                  <a:srgbClr val="FFFFFF"/>
                </a:solidFill>
                <a:latin typeface="Calibri"/>
              </a:rPr>
              <a:t>WHERE id_insumo = 2 AND stock &gt;= 2</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VetCare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Atomicidad significa que la transaccion se aplica completa o no se aplica en absoluto, sin estados intermedios visibles ni persistentes.</a:t>
            </a:r>
          </a:p>
          <a:p>
            <a:pPr>
              <a:spcAft>
                <a:spcPts val="800"/>
              </a:spcAft>
            </a:pPr>
            <a:r>
              <a:rPr sz="2000" b="0" i="0">
                <a:solidFill>
                  <a:srgbClr val="333333"/>
                </a:solidFill>
                <a:latin typeface="Calibri"/>
              </a:rPr>
              <a:t>–   El fallo concreto en VetCare cuando falta: se ejecuta el INSERT en factura, se ejecuta el INSERT de la primera linea en detalle_factura, se descuenta el stock de ese primer insumo y justo antes de la segunda linea se cae la red del consultorio.</a:t>
            </a:r>
          </a:p>
          <a:p>
            <a:pPr>
              <a:spcAft>
                <a:spcPts val="800"/>
              </a:spcAft>
            </a:pPr>
            <a:r>
              <a:rPr sz="2000" b="0" i="0">
                <a:solidFill>
                  <a:srgbClr val="333333"/>
                </a:solidFill>
                <a:latin typeface="Calibri"/>
              </a:rPr>
              <a:t>–   La consulta que detecta el descuadre conviene tenerla escrita porque es tambien buen ejercicio: AS vendido FROM detalle_factura d GROUP BY d.id_insumo, contrastada contra los movimientos registrados en insumo.</a:t>
            </a:r>
          </a:p>
          <a:p>
            <a:pPr>
              <a:spcAft>
                <a:spcPts val="800"/>
              </a:spcAft>
            </a:pPr>
            <a:r>
              <a:rPr sz="2000" b="0" i="0">
                <a:solidFill>
                  <a:srgbClr val="333333"/>
                </a:solidFill>
                <a:latin typeface="Calibri"/>
              </a:rPr>
              <a:t>–   Con atomicidad, el corte de red deja la transaccion sin confirmar y el motor la deshace por su cuenta al detectar que la sesion murio: no queda factura, no queda detalle, no se descuenta nada, y la recepcionista repite la operacion.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VetCare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d.id_insumo, SUM(d.cantidad)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Consistencia significa que la transaccion lleva la base de un estado valido a otro estado valido</a:t>
            </a:r>
          </a:p>
          <a:p>
            <a:pPr>
              <a:spcAft>
                <a:spcPts val="800"/>
              </a:spcAft>
            </a:pPr>
            <a:r>
              <a:rPr sz="2000" b="0" i="0">
                <a:solidFill>
                  <a:srgbClr val="333333"/>
                </a:solidFill>
                <a:latin typeface="Calibri"/>
              </a:rPr>
              <a:t>–   Y valido no es palabra filosofica: valido es lo que cumplen las restricciones declaradas, claves primarias, claves foraneas, UNIQUE, NOT NULL, CHECK y los disparadores de la Clase 4.</a:t>
            </a:r>
          </a:p>
          <a:p>
            <a:pPr>
              <a:spcAft>
                <a:spcPts val="800"/>
              </a:spcAft>
            </a:pPr>
            <a:r>
              <a:rPr sz="2000" b="0" i="0">
                <a:solidFill>
                  <a:srgbClr val="333333"/>
                </a:solidFill>
                <a:latin typeface="Calibri"/>
              </a:rPr>
              <a:t>–   Aqui esta el malentendido mas costoso del tema y hay que enunciarlo de frente: la atomicidad NO produce consistencia.</a:t>
            </a:r>
          </a:p>
          <a:p>
            <a:pPr>
              <a:spcAft>
                <a:spcPts val="800"/>
              </a:spcAft>
            </a:pPr>
            <a:r>
              <a:rPr sz="2000" b="0" i="0">
                <a:solidFill>
                  <a:srgbClr val="333333"/>
                </a:solidFill>
                <a:latin typeface="Calibri"/>
              </a:rPr>
              <a:t>–   El fallo concreto: la regla de VetCare dice que el stock de un insumo nunca queda negativo, pero si la tabla insumo no tiene la restriccion y la aplicacion factura 10 unidades de las 3 disponibles del insumo 2</a:t>
            </a:r>
          </a:p>
          <a:p>
            <a:pPr>
              <a:spcAft>
                <a:spcPts val="800"/>
              </a:spcAft>
            </a:pPr>
            <a:r>
              <a:rPr sz="2000" b="0" i="0">
                <a:solidFill>
                  <a:srgbClr val="333333"/>
                </a:solidFill>
                <a:latin typeface="Calibri"/>
              </a:rPr>
              <a:t>–   El UPDATE insumo SET stock = stock - 10 WHERE id_insumo = 2 deja stock en menos 7, confirma sin quejarse y el sistema queda vendiendo lo que no existe.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regla se declara una vez y vale para siempre, sin importar quien escriba el SQL despues:.</a:t>
            </a:r>
          </a:p>
          <a:p>
            <a:pPr>
              <a:spcAft>
                <a:spcPts val="800"/>
              </a:spcAft>
            </a:pPr>
            <a:r>
              <a:rPr sz="2000" b="0" i="0">
                <a:solidFill>
                  <a:srgbClr val="333333"/>
                </a:solidFill>
                <a:latin typeface="Calibri"/>
              </a:rPr>
              <a:t>–   Y hay una diferencia entre motores que conviene conocer antes de la demo porque desconcierta en vivo: cuando una restriccion falla</a:t>
            </a:r>
          </a:p>
          <a:p>
            <a:pPr>
              <a:spcAft>
                <a:spcPts val="800"/>
              </a:spcAft>
            </a:pPr>
            <a:r>
              <a:rPr sz="2000" b="0" i="0">
                <a:solidFill>
                  <a:srgbClr val="333333"/>
                </a:solidFill>
                <a:latin typeface="Calibri"/>
              </a:rPr>
              <a:t>–   PostgreSQL aborta la transaccion completa y toda sentencia posterior responde que la transaccion actual esta abortada hasta que se deshaga</a:t>
            </a:r>
          </a:p>
          <a:p>
            <a:pPr>
              <a:spcAft>
                <a:spcPts val="800"/>
              </a:spcAft>
            </a:pPr>
            <a:r>
              <a:rPr sz="2000" b="0" i="0">
                <a:solidFill>
                  <a:srgbClr val="333333"/>
                </a:solidFill>
                <a:latin typeface="Calibri"/>
              </a:rPr>
              <a:t>–   Mientras Oracle aborta solo la sentencia que fallo y deja la transaccion abierta, de modo que el programa decide si continua o si deshace.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ALTER TABLE insumo ADD CONSTRAINT ck_insumo_stock_no_negativo CHECK (stock &gt;= 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fallo concreto, el mas facil de contar: quedan 3 vacunas triples y dos recepcionistas facturan cada una 3 al mismo tiempo.</a:t>
            </a:r>
          </a:p>
          <a:p>
            <a:pPr>
              <a:spcAft>
                <a:spcPts val="800"/>
              </a:spcAft>
            </a:pPr>
            <a:r>
              <a:rPr sz="2000" b="0" i="0">
                <a:solidFill>
                  <a:srgbClr val="333333"/>
                </a:solidFill>
                <a:latin typeface="Calibri"/>
              </a:rPr>
              <a:t>–   Ambas leen stock igual a 3, ambas calculan 3 menos 3 y ambas escriben 0; el resultado es stock 0 con seis vacunas vendidas y tres entregadas de aire.</a:t>
            </a:r>
          </a:p>
          <a:p>
            <a:pPr>
              <a:spcAft>
                <a:spcPts val="800"/>
              </a:spcAft>
            </a:pPr>
            <a:r>
              <a:rPr sz="2000" b="0" i="0">
                <a:solidFill>
                  <a:srgbClr val="333333"/>
                </a:solidFill>
                <a:latin typeface="Calibri"/>
              </a:rPr>
              <a:t>–   La segunda defensa es el nivel de aislamiento, la perilla que decide cuanto ve una transaccion de lo que otra hace.</a:t>
            </a:r>
          </a:p>
          <a:p>
            <a:pPr>
              <a:spcAft>
                <a:spcPts val="800"/>
              </a:spcAft>
            </a:pPr>
            <a:r>
              <a:rPr sz="2000" b="0" i="0">
                <a:solidFill>
                  <a:srgbClr val="333333"/>
                </a:solidFill>
                <a:latin typeface="Calibri"/>
              </a:rPr>
              <a:t>–   Numeros para citar: el estandar SQL define cuatro niveles, READ UNCOMMITTED, READ COMMITTED, REPEATABLE READ y SERIALIZABLE</a:t>
            </a:r>
          </a:p>
          <a:p>
            <a:pPr>
              <a:spcAft>
                <a:spcPts val="800"/>
              </a:spcAft>
            </a:pPr>
            <a:r>
              <a:rPr sz="2000" b="0" i="0">
                <a:solidFill>
                  <a:srgbClr val="333333"/>
                </a:solidFill>
                <a:latin typeface="Calibri"/>
              </a:rPr>
              <a:t>–   PostgreSQL acepta los cuatro nombres pero READ UNCOMMITTED se comporta como READ COMMITTED, y su valor por omision es READ COMMITTED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queda el gancho explicito, y hay que decirlo tal cual: hoy se garantiza que UNA transaccion sea correcta consigo misma</a:t>
            </a:r>
          </a:p>
          <a:p>
            <a:pPr>
              <a:spcAft>
                <a:spcPts val="800"/>
              </a:spcAft>
            </a:pPr>
            <a:r>
              <a:rPr sz="2000" b="0" i="0">
                <a:solidFill>
                  <a:srgbClr val="333333"/>
                </a:solidFill>
                <a:latin typeface="Calibri"/>
              </a:rPr>
              <a:t>–   Y la Clase 10 estudia que pasa cuando dos se cruzan, con la lectura sucia, la lectura no repetible, la lectura fantasma, los bloqueos y el interbloqueo o deadlock.</a:t>
            </a:r>
          </a:p>
          <a:p>
            <a:pPr>
              <a:spcAft>
                <a:spcPts val="800"/>
              </a:spcAft>
            </a:pPr>
            <a:r>
              <a:rPr sz="2000" b="0" i="0">
                <a:solidFill>
                  <a:srgbClr val="333333"/>
                </a:solidFill>
                <a:latin typeface="Calibri"/>
              </a:rPr>
              <a:t>–   Tambien hay que decir que hoy no se puede demostrar, porque el motor del taller corre una sola sesion.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hace posible el registro de transacciones, llamado WAL o write-ahead log en PostgreSQL y redo log en Oracle: un archivo secuencial donde el motor escribe lo que va a cambiar ANTES de tocar las paginas de datos.</a:t>
            </a:r>
          </a:p>
          <a:p>
            <a:pPr>
              <a:spcAft>
                <a:spcPts val="800"/>
              </a:spcAft>
            </a:pPr>
            <a:r>
              <a:rPr sz="2000" b="0" i="0">
                <a:solidFill>
                  <a:srgbClr val="333333"/>
                </a:solidFill>
                <a:latin typeface="Calibri"/>
              </a:rPr>
              <a:t>–   La consecuencia practica es contraintuitiva y muy citable: el COMMIT no necesita escribir en disco las paginas de datos modificadas, solo necesita que su registro del log quede fisicamente grabado</a:t>
            </a:r>
          </a:p>
          <a:p>
            <a:pPr>
              <a:spcAft>
                <a:spcPts val="800"/>
              </a:spcAft>
            </a:pPr>
            <a:r>
              <a:rPr sz="2000" b="0" i="0">
                <a:solidFill>
                  <a:srgbClr val="333333"/>
                </a:solidFill>
                <a:latin typeface="Calibri"/>
              </a:rPr>
              <a:t>–   Por eso un COMMIT cuesta una escritura secuencial de unos cientos de bytes en lugar de varias escrituras dispersas</a:t>
            </a:r>
          </a:p>
          <a:p>
            <a:pPr>
              <a:spcAft>
                <a:spcPts val="800"/>
              </a:spcAft>
            </a:pPr>
            <a:r>
              <a:rPr sz="2000" b="0" i="0">
                <a:solidFill>
                  <a:srgbClr val="333333"/>
                </a:solidFill>
                <a:latin typeface="Calibri"/>
              </a:rPr>
              <a:t>–   Y por eso mismo hacer un COMMIT por cada fila en una carga de 100.000 filas puede resultar entre cinco y veinte veces mas lento que agrupar, cifra que es orden de magnitud y hay que medir en cada motor.</a:t>
            </a:r>
          </a:p>
          <a:p>
            <a:pPr>
              <a:spcAft>
                <a:spcPts val="800"/>
              </a:spcAft>
            </a:pPr>
            <a:r>
              <a:rPr sz="2000" b="0" i="0">
                <a:solidFill>
                  <a:srgbClr val="333333"/>
                </a:solidFill>
                <a:latin typeface="Calibri"/>
              </a:rPr>
              <a:t>–   El ROLLBACK tampoco es magia: el motor conserva la version anterior de cada fila modificada, como versiones antiguas de fila bajo MVCC en PostgreSQL o en el area de undo en Oracle, y deshacer consiste en descartar lo nuevo o restaurar lo viejo.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recuperacion tras una caida usa el mismo mecanismo en dos fases: al arrancar, el motor relee el log, vuelve a aplicar todo lo confirmado y deshace todo lo que quedo sin confirmar.</a:t>
            </a:r>
          </a:p>
          <a:p>
            <a:pPr>
              <a:spcAft>
                <a:spcPts val="800"/>
              </a:spcAft>
            </a:pPr>
            <a:r>
              <a:rPr sz="2000" b="0" i="0">
                <a:solidFill>
                  <a:srgbClr val="333333"/>
                </a:solidFill>
                <a:latin typeface="Calibri"/>
              </a:rPr>
              <a:t>–   Vale decirlo el mismo dia que se explica la reversion, porque conecta con el respaldo de la Clase 4: el respaldo restaura el estado hasta un punto y el log es lo que permite avanzar desde ese punto hasta el instante anterior a la falla.</a:t>
            </a:r>
          </a:p>
          <a:p>
            <a:pPr>
              <a:spcAft>
                <a:spcPts val="800"/>
              </a:spcAft>
            </a:pPr>
            <a:r>
              <a:rPr sz="2000" b="0" i="0">
                <a:solidFill>
                  <a:srgbClr val="333333"/>
                </a:solidFill>
                <a:latin typeface="Calibri"/>
              </a:rPr>
              <a:t>–   Es tambien el ultimo item del checklist de la pregunta 5, el del restore probado.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los tipos son INT y NUMERIC, no NUMBER: NUMBER es de Oracle y en PostgreSQL no existe.</a:t>
            </a:r>
          </a:p>
          <a:p>
            <a:pPr>
              <a:spcAft>
                <a:spcPts val="800"/>
              </a:spcAft>
            </a:pPr>
            <a:r>
              <a:rPr sz="2000" b="0" i="0">
                <a:solidFill>
                  <a:srgbClr val="333333"/>
                </a:solidFill>
                <a:latin typeface="Calibri"/>
              </a:rPr>
              <a:t>–   Uno: validar que los dos arreglos midan lo mismo, con IF array_length(p_insumos, 1) IS DISTINCT THEN RAISE EXCEPTION...; dos arreglos de longitud distinta significan que el llamador se equivoco, y eso se rechaza antes de tocar la base.</a:t>
            </a:r>
          </a:p>
          <a:p>
            <a:pPr>
              <a:spcAft>
                <a:spcPts val="800"/>
              </a:spcAft>
            </a:pPr>
            <a:r>
              <a:rPr sz="2000" b="0" i="0">
                <a:solidFill>
                  <a:srgbClr val="333333"/>
                </a:solidFill>
                <a:latin typeface="Calibri"/>
              </a:rPr>
              <a:t>–   Se usa IS DISTINCT FROM y no el signo de distinto porque array_length puede devolver nulo si el arreglo viene vacio, y con nulo una comparacion normal no es verdadera ni falsa.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la cabecera, RETURNING id_factura INTO v_id_factura.</a:t>
            </a:r>
          </a:p>
          <a:p>
            <a:pPr>
              <a:spcAft>
                <a:spcPts val="800"/>
              </a:spcAft>
            </a:pPr>
            <a:r>
              <a:rPr sz="2000" b="0" i="0">
                <a:solidFill>
                  <a:srgbClr val="333333"/>
                </a:solidFill>
                <a:latin typeface="Calibri"/>
              </a:rPr>
              <a:t>–   El total entra en cero porque todavia no se sabe, y RETURNING...</a:t>
            </a:r>
          </a:p>
          <a:p>
            <a:pPr>
              <a:spcAft>
                <a:spcPts val="800"/>
              </a:spcAft>
            </a:pPr>
            <a:r>
              <a:rPr sz="2000" b="0" i="0">
                <a:solidFill>
                  <a:srgbClr val="333333"/>
                </a:solidFill>
                <a:latin typeface="Calibri"/>
              </a:rPr>
              <a:t>–   Tres: el bucle, FOR i IN 1.. array_length(p_insumos, 1) LOOP, que es la seccion siguiente.</a:t>
            </a:r>
          </a:p>
          <a:p>
            <a:pPr>
              <a:spcAft>
                <a:spcPts val="800"/>
              </a:spcAft>
            </a:pPr>
            <a:r>
              <a:rPr sz="2000" b="0" i="0">
                <a:solidFill>
                  <a:srgbClr val="333333"/>
                </a:solidFill>
                <a:latin typeface="Calibri"/>
              </a:rPr>
              <a:t>–   Cuatro: al salir del bucle</a:t>
            </a:r>
          </a:p>
          <a:p>
            <a:pPr>
              <a:spcAft>
                <a:spcPts val="800"/>
              </a:spcAft>
            </a:pPr>
            <a:r>
              <a:rPr sz="2000" b="0" i="0">
                <a:solidFill>
                  <a:srgbClr val="333333"/>
                </a:solidFill>
                <a:latin typeface="Calibri"/>
              </a:rPr>
              <a:t>–   El caso de prueba del enunciado da 22000 por 1 mas 900 por 2 mas 1200 por 3, o sea 27.400, y deja los stocks de los insumos 1, 6 y 5 en 11, 58 y 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PROCEDURE sp_facturar(p_id_consulta INT, p_insumos INT[], p_cantidades INT[])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CALL sp_facturar(4, ARRAY[1, 6, 5], ARRAY[1, 2, 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FROM array_length(p_cantidades,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factura (id_consulta, total)</a:t>
            </a:r>
          </a:p>
          <a:p>
            <a:pPr>
              <a:spcAft>
                <a:spcPts val="400"/>
              </a:spcAft>
            </a:pPr>
            <a:r>
              <a:rPr sz="1400" b="0" i="0">
                <a:solidFill>
                  <a:srgbClr val="FFFFFF"/>
                </a:solidFill>
                <a:latin typeface="Calibri"/>
              </a:rPr>
              <a:t>VALUES (p_id_consulta, 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factura</a:t>
            </a:r>
          </a:p>
          <a:p>
            <a:pPr>
              <a:spcAft>
                <a:spcPts val="400"/>
              </a:spcAft>
            </a:pPr>
            <a:r>
              <a:rPr sz="1400" b="0" i="0">
                <a:solidFill>
                  <a:srgbClr val="FFFFFF"/>
                </a:solidFill>
                <a:latin typeface="Calibri"/>
              </a:rPr>
              <a:t>SET total = v_total</a:t>
            </a:r>
          </a:p>
          <a:p>
            <a:pPr>
              <a:spcAft>
                <a:spcPts val="400"/>
              </a:spcAft>
            </a:pPr>
            <a:r>
              <a:rPr sz="1400" b="0" i="0">
                <a:solidFill>
                  <a:srgbClr val="FFFFFF"/>
                </a:solidFill>
                <a:latin typeface="Calibri"/>
              </a:rPr>
              <a:t>WHERE id_factura = v_id_factura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Dentro del bucle estan las cuatro sentencias que hay que saber defender.</a:t>
            </a:r>
          </a:p>
          <a:p>
            <a:pPr>
              <a:spcAft>
                <a:spcPts val="800"/>
              </a:spcAft>
            </a:pPr>
            <a:r>
              <a:rPr sz="2000" b="0" i="0">
                <a:solidFill>
                  <a:srgbClr val="333333"/>
                </a:solidFill>
                <a:latin typeface="Calibri"/>
              </a:rPr>
              <a:t>–   Primera, el precio vigente: seguida de IF NOT FOUND THEN RAISE EXCEPTION 'ERROR: el insumo % no existe', p_insumos[i]</a:t>
            </a:r>
          </a:p>
          <a:p>
            <a:pPr>
              <a:spcAft>
                <a:spcPts val="800"/>
              </a:spcAft>
            </a:pPr>
            <a:r>
              <a:rPr sz="2000" b="0" i="0">
                <a:solidFill>
                  <a:srgbClr val="333333"/>
                </a:solidFill>
                <a:latin typeface="Calibri"/>
              </a:rPr>
              <a:t>–   NOT FOUND es una variable especial de PL/pgSQL que dice si el SELECT INTO anterior trajo fila; sin esa comprobacion, un insumo inexistente deja v_precio nulo y la factura termina con total nulo, que es peor que un error.</a:t>
            </a:r>
          </a:p>
          <a:p>
            <a:pPr>
              <a:spcAft>
                <a:spcPts val="800"/>
              </a:spcAft>
            </a:pPr>
            <a:r>
              <a:rPr sz="2000" b="0" i="0">
                <a:solidFill>
                  <a:srgbClr val="333333"/>
                </a:solidFill>
                <a:latin typeface="Calibri"/>
              </a:rPr>
              <a:t>–   Se lee el precio de la tabla y no se recibe por parametro a proposito: el precio que se cobra es el vigente, no el que la aplicacion crea recordar.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Segunda, el guardia, que es el corazon del dia</a:t>
            </a:r>
          </a:p>
          <a:p>
            <a:pPr>
              <a:spcAft>
                <a:spcPts val="800"/>
              </a:spcAft>
            </a:pPr>
            <a:r>
              <a:rPr sz="2000" b="0" i="0">
                <a:solidFill>
                  <a:srgbClr val="333333"/>
                </a:solidFill>
                <a:latin typeface="Calibri"/>
              </a:rPr>
              <a:t>–   La comprobacion viaja DENTRO del WHERE, de modo que comprobar y escribir son una sola sentencia y nadie puede colarse entre las dos.</a:t>
            </a:r>
          </a:p>
          <a:p>
            <a:pPr>
              <a:spcAft>
                <a:spcPts val="800"/>
              </a:spcAft>
            </a:pPr>
            <a:r>
              <a:rPr sz="2000" b="0" i="0">
                <a:solidFill>
                  <a:srgbClr val="333333"/>
                </a:solidFill>
                <a:latin typeface="Calibri"/>
              </a:rPr>
              <a:t>–   Tercera, como se sabe si alcanzo: GET DIAGNOSTICS v_filas = ROW_COUNT, que guarda cuantas filas toco el UPDATE anterior.</a:t>
            </a:r>
          </a:p>
          <a:p>
            <a:pPr>
              <a:spcAft>
                <a:spcPts val="800"/>
              </a:spcAft>
            </a:pPr>
            <a:r>
              <a:rPr sz="2000" b="0" i="0">
                <a:solidFill>
                  <a:srgbClr val="333333"/>
                </a:solidFill>
                <a:latin typeface="Calibri"/>
              </a:rPr>
              <a:t>–   Uno significa que alcanzo; cero significa que no habia stock, y ese cero es un dato de negocio, no un error del motor: la sentencia se ejecuto perfectamente, simplemente no encontro ninguna fila que cumpliera la condicion.</a:t>
            </a:r>
          </a:p>
          <a:p>
            <a:pPr>
              <a:spcAft>
                <a:spcPts val="800"/>
              </a:spcAft>
            </a:pPr>
            <a:r>
              <a:rPr sz="2000" b="0" i="0">
                <a:solidFill>
                  <a:srgbClr val="333333"/>
                </a:solidFill>
                <a:latin typeface="Calibri"/>
              </a:rPr>
              <a:t>–   Cuarta, el aborto: IF v_filas = 0 THEN RAISE EXCEPTION 'ERROR: stock insuficiente del insumo % (se pidieron %)', p_insumos[i], p_cantidades[i]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signo de porcentaje es la marca de sustitucion de RAISE, y los argumentos van despues de la cadena en el orden en que aparecen.</a:t>
            </a:r>
          </a:p>
          <a:p>
            <a:pPr>
              <a:spcAft>
                <a:spcPts val="800"/>
              </a:spcAft>
            </a:pPr>
            <a:r>
              <a:rPr sz="2000" b="0" i="0">
                <a:solidFill>
                  <a:srgbClr val="333333"/>
                </a:solidFill>
                <a:latin typeface="Calibri"/>
              </a:rPr>
              <a:t>–   No lleva RAISE_APPLICATION_ERROR ni un numero de error negativo: eso es Oracle.</a:t>
            </a:r>
          </a:p>
          <a:p>
            <a:pPr>
              <a:spcAft>
                <a:spcPts val="800"/>
              </a:spcAft>
            </a:pPr>
            <a:r>
              <a:rPr sz="2000" b="0" i="0">
                <a:solidFill>
                  <a:srgbClr val="333333"/>
                </a:solidFill>
                <a:latin typeface="Calibri"/>
              </a:rPr>
              <a:t>–   Cierran el ciclo el INSERT de la linea en detalle_factura con el precio vigente y la acumulacion v_total:= v_total + (v_precio * p_cantidades[i]); notese el operador de asignacion de PL/pgSQL, dos puntos y un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precio_unit INTO v_precio</a:t>
            </a:r>
          </a:p>
          <a:p>
            <a:pPr>
              <a:spcAft>
                <a:spcPts val="400"/>
              </a:spcAft>
            </a:pPr>
            <a:r>
              <a:rPr sz="1400" b="0" i="0">
                <a:solidFill>
                  <a:srgbClr val="FFFFFF"/>
                </a:solidFill>
                <a:latin typeface="Calibri"/>
              </a:rPr>
              <a:t>FROM insumo</a:t>
            </a:r>
          </a:p>
          <a:p>
            <a:pPr>
              <a:spcAft>
                <a:spcPts val="400"/>
              </a:spcAft>
            </a:pPr>
            <a:r>
              <a:rPr sz="1400" b="0" i="0">
                <a:solidFill>
                  <a:srgbClr val="FFFFFF"/>
                </a:solidFill>
                <a:latin typeface="Calibri"/>
              </a:rPr>
              <a:t>WHERE id_insumo = p_insumos[i]</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insumo</a:t>
            </a:r>
          </a:p>
          <a:p>
            <a:pPr>
              <a:spcAft>
                <a:spcPts val="400"/>
              </a:spcAft>
            </a:pPr>
            <a:r>
              <a:rPr sz="1400" b="0" i="0">
                <a:solidFill>
                  <a:srgbClr val="FFFFFF"/>
                </a:solidFill>
                <a:latin typeface="Calibri"/>
              </a:rPr>
              <a:t>SET stock = stock - p_cantidades[i]</a:t>
            </a:r>
          </a:p>
          <a:p>
            <a:pPr>
              <a:spcAft>
                <a:spcPts val="400"/>
              </a:spcAft>
            </a:pPr>
            <a:r>
              <a:rPr sz="1400" b="0" i="0">
                <a:solidFill>
                  <a:srgbClr val="FFFFFF"/>
                </a:solidFill>
                <a:latin typeface="Calibri"/>
              </a:rPr>
              <a:t>WHERE id_insumo = p_insumos[i] AND stock &gt;= p_cantidades[i]</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error del motor es la violacion de una regla que la base conoce: una restriccion CHECK, una clave foranea, un tipo incompatible, un interbloqueo; el motor lo detecta, lanza la excepcion y aborta.</a:t>
            </a:r>
          </a:p>
          <a:p>
            <a:pPr>
              <a:spcAft>
                <a:spcPts val="800"/>
              </a:spcAft>
            </a:pPr>
            <a:r>
              <a:rPr sz="2000" b="0" i="0">
                <a:solidFill>
                  <a:srgbClr val="333333"/>
                </a:solidFill>
                <a:latin typeface="Calibri"/>
              </a:rPr>
              <a:t>–   Un error de negocio es la violacion de una regla que la base NO conoce en esa forma: que no haya stock suficiente, que la mascota este inactiva, que el total no cuadre con el detalle.</a:t>
            </a:r>
          </a:p>
          <a:p>
            <a:pPr>
              <a:spcAft>
                <a:spcPts val="800"/>
              </a:spcAft>
            </a:pPr>
            <a:r>
              <a:rPr sz="2000" b="0" i="0">
                <a:solidFill>
                  <a:srgbClr val="333333"/>
                </a:solidFill>
                <a:latin typeface="Calibri"/>
              </a:rPr>
              <a:t>–   El motor no va a deshacer nada por su cuenta, porque desde su punto de vista todo salio bien: el UPDATE que no afecta ninguna fila es una sentencia exitosa.</a:t>
            </a:r>
          </a:p>
          <a:p>
            <a:pPr>
              <a:spcAft>
                <a:spcPts val="800"/>
              </a:spcAft>
            </a:pPr>
            <a:r>
              <a:rPr sz="2000" b="0" i="0">
                <a:solidFill>
                  <a:srgbClr val="333333"/>
                </a:solidFill>
                <a:latin typeface="Calibri"/>
              </a:rPr>
              <a:t>–   La primera: nada de capturar y silenciar.</a:t>
            </a:r>
          </a:p>
          <a:p>
            <a:pPr>
              <a:spcAft>
                <a:spcPts val="800"/>
              </a:spcAft>
            </a:pPr>
            <a:r>
              <a:rPr sz="2000" b="0" i="0">
                <a:solidFill>
                  <a:srgbClr val="333333"/>
                </a:solidFill>
                <a:latin typeface="Calibri"/>
              </a:rPr>
              <a:t>–   Un EXCEPTION WHEN OTHERS THEN NULL convierte el fallo en silencio, la factura queda registrada, el stock no se descuenta y nadie se entera hasta el inventario; si se captura, se vuelve a lanzar con RAISE a secas, que relanza la excepcion actual.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quien decide confirmar es uno solo, y en PostgreSQL ese uno solo NO es el procedimiento, que es lo que explica la diapositiva siguiente.</a:t>
            </a:r>
          </a:p>
          <a:p>
            <a:pPr>
              <a:spcAft>
                <a:spcPts val="800"/>
              </a:spcAft>
            </a:pPr>
            <a:r>
              <a:rPr sz="2000" b="0" i="0">
                <a:solidFill>
                  <a:srgbClr val="333333"/>
                </a:solidFill>
                <a:latin typeface="Calibri"/>
              </a:rPr>
              <a:t>–   Existe ademas el SAVEPOINT para el caso en que la transaccion es larga y solo una parte puede fallar: una marca intermedia con nombre a la que se vuelve sin abortar todo, SAVEPOINT sp_linea3 y mas adelante ROLLBACK TO SAVEPOINT sp_linea3.</a:t>
            </a:r>
          </a:p>
          <a:p>
            <a:pPr>
              <a:spcAft>
                <a:spcPts val="800"/>
              </a:spcAft>
            </a:pPr>
            <a:r>
              <a:rPr sz="2000" b="0" i="0">
                <a:solidFill>
                  <a:srgbClr val="333333"/>
                </a:solidFill>
                <a:latin typeface="Calibri"/>
              </a:rPr>
              <a:t>–   En VetCare serviria para una factura de cinco lineas donde el insumo de la tercera esta agotado: se deshace esa linea, se avisa y se cobran las otras cuatro.</a:t>
            </a:r>
          </a:p>
          <a:p>
            <a:pPr>
              <a:spcAft>
                <a:spcPts val="800"/>
              </a:spcAft>
            </a:pPr>
            <a:r>
              <a:rPr sz="2000" b="0" i="0">
                <a:solidFill>
                  <a:srgbClr val="333333"/>
                </a:solidFill>
                <a:latin typeface="Calibri"/>
              </a:rPr>
              <a:t>–   Hoy NO se usa, porque la regla del negocio que la actividad implementa es todo o nada, pero conviene nombrarlo para que nadie crea que la unica opcion es abortar la factura completa.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es la diapositiva de la que depende la pregunta 4, y la afirmacion central es corta: un CALL escrito por fuera de cualquier BEGIN es su propia transaccion.</a:t>
            </a:r>
          </a:p>
          <a:p>
            <a:pPr>
              <a:spcAft>
                <a:spcPts val="800"/>
              </a:spcAft>
            </a:pPr>
            <a:r>
              <a:rPr sz="2000" b="0" i="0">
                <a:solidFill>
                  <a:srgbClr val="333333"/>
                </a:solidFill>
                <a:latin typeface="Calibri"/>
              </a:rPr>
              <a:t>–   Es exactamente lo que la pregunta 2 del taller hace demostrar con datos: el descuenta 2 unidades del insumo 3, que tiene 40 y por lo tanto alcanza</a:t>
            </a:r>
          </a:p>
          <a:p>
            <a:pPr>
              <a:spcAft>
                <a:spcPts val="800"/>
              </a:spcAft>
            </a:pPr>
            <a:r>
              <a:rPr sz="2000" b="0" i="0">
                <a:solidFill>
                  <a:srgbClr val="333333"/>
                </a:solidFill>
                <a:latin typeface="Calibri"/>
              </a:rPr>
              <a:t>–   Y se estrella en el insumo 2, que tiene 3 y no puede dar 10; al final el stock del insumo 3 vuelve a 40 sin intervencion de nadie.</a:t>
            </a:r>
          </a:p>
          <a:p>
            <a:pPr>
              <a:spcAft>
                <a:spcPts val="800"/>
              </a:spcAft>
            </a:pPr>
            <a:r>
              <a:rPr sz="2000" b="0" i="0">
                <a:solidFill>
                  <a:srgbClr val="333333"/>
                </a:solidFill>
                <a:latin typeface="Calibri"/>
              </a:rPr>
              <a:t>–   La consecuencia practica hay que enunciarla como regla de diseno: quien decide el COMMIT es uno solo, el llamador.</a:t>
            </a:r>
          </a:p>
          <a:p>
            <a:pPr>
              <a:spcAft>
                <a:spcPts val="800"/>
              </a:spcAft>
            </a:pPr>
            <a:r>
              <a:rPr sz="2000" b="0" i="0">
                <a:solidFill>
                  <a:srgbClr val="333333"/>
                </a:solidFill>
                <a:latin typeface="Calibri"/>
              </a:rPr>
              <a:t>–   Un procedimiento que confirma por su cuenta le quita al llamador la posibilidad de deshacer, y es la fuente numero uno de facturas a medias cuando la Clase 12 conecte la aplicacion con la base.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un detalle de sintaxis que conviene mencionar antes de que alguien lo intente: en PostgreSQL un procedimiento SI puede contener COMMIT y ROLLBACK</a:t>
            </a:r>
          </a:p>
          <a:p>
            <a:pPr>
              <a:spcAft>
                <a:spcPts val="800"/>
              </a:spcAft>
            </a:pPr>
            <a:r>
              <a:rPr sz="2000" b="0" i="0">
                <a:solidFill>
                  <a:srgbClr val="333333"/>
                </a:solidFill>
                <a:latin typeface="Calibri"/>
              </a:rPr>
              <a:t>–   Pero solo cuando se invoca desde un contexto que lo permita; si el CALL esta dentro de un bloque con manejador de excepciones, el control de transaccion dentro del procedimiento no esta permitido y el motor lo rechaza.</a:t>
            </a:r>
          </a:p>
          <a:p>
            <a:pPr>
              <a:spcAft>
                <a:spcPts val="800"/>
              </a:spcAft>
            </a:pPr>
            <a:r>
              <a:rPr sz="2000" b="0" i="0">
                <a:solidFill>
                  <a:srgbClr val="333333"/>
                </a:solidFill>
                <a:latin typeface="Calibri"/>
              </a:rPr>
              <a:t>–   O sea que la version con ROLLBACK adentro no es solo innecesaria: en el escenario del taller ni siquiera corre.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ARRAY[3, 2], ARRAY[2, 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mecanismo que explica el resultado de la pregunta 2 es menos conocido y vale la mitad de la respuesta: un bloque BEGIN...</a:t>
            </a:r>
          </a:p>
          <a:p>
            <a:pPr>
              <a:spcAft>
                <a:spcPts val="800"/>
              </a:spcAft>
            </a:pPr>
            <a:r>
              <a:rPr sz="2000" b="0" i="0">
                <a:solidFill>
                  <a:srgbClr val="333333"/>
                </a:solidFill>
                <a:latin typeface="Calibri"/>
              </a:rPr>
              <a:t>–   Capturar no es lo mismo que dejar propagar, y la diferencia se ve en el taller: el</a:t>
            </a:r>
          </a:p>
          <a:p>
            <a:pPr>
              <a:spcAft>
                <a:spcPts val="800"/>
              </a:spcAft>
            </a:pPr>
            <a:r>
              <a:rPr sz="2000" b="0" i="0">
                <a:solidFill>
                  <a:srgbClr val="333333"/>
                </a:solidFill>
                <a:latin typeface="Calibri"/>
              </a:rPr>
              <a:t>–   EXCEPTION WHEN OTHERS THEN RAISE NOTICE 'Fallo esperado: %', SQLERRM</a:t>
            </a:r>
          </a:p>
          <a:p>
            <a:pPr>
              <a:spcAft>
                <a:spcPts val="800"/>
              </a:spcAft>
            </a:pPr>
            <a:r>
              <a:rPr sz="2000" b="0" i="0">
                <a:solidFill>
                  <a:srgbClr val="333333"/>
                </a:solidFill>
                <a:latin typeface="Calibri"/>
              </a:rPr>
              <a:t>–   END $$ del enunciado esta ahi para que el script no se detenga y se pueda seguir midiendo, no para arreglar nada.</a:t>
            </a:r>
          </a:p>
          <a:p>
            <a:pPr>
              <a:spcAft>
                <a:spcPts val="800"/>
              </a:spcAft>
            </a:pPr>
            <a:r>
              <a:rPr sz="2000" b="0" i="0">
                <a:solidFill>
                  <a:srgbClr val="333333"/>
                </a:solidFill>
                <a:latin typeface="Calibri"/>
              </a:rPr>
              <a:t>–   SQLERRM es la variable que trae el texto del error, y conviene nombrarla porque el estudiante la va a necesitar para que su NOTICE diga algo util en vez de «fallo».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Ese savepoint implicito tiene un costo que hay que mencionar: envolver cada iteracion de un bucle largo en su propio bloque con EXCEPTION crea un savepoint por vuelta y eso se paga</a:t>
            </a:r>
          </a:p>
          <a:p>
            <a:pPr>
              <a:spcAft>
                <a:spcPts val="800"/>
              </a:spcAft>
            </a:pPr>
            <a:r>
              <a:rPr sz="2000" b="0" i="0">
                <a:solidFill>
                  <a:srgbClr val="333333"/>
                </a:solidFill>
                <a:latin typeface="Calibri"/>
              </a:rPr>
              <a:t>–   Asi que no se pone un manejador de excepciones «por si acaso» dentro de un ciclo de miles de iteraciones.</a:t>
            </a:r>
          </a:p>
          <a:p>
            <a:pPr>
              <a:spcAft>
                <a:spcPts val="800"/>
              </a:spcAft>
            </a:pPr>
            <a:r>
              <a:rPr sz="2000" b="0" i="0">
                <a:solidFill>
                  <a:srgbClr val="333333"/>
                </a:solidFill>
                <a:latin typeface="Calibri"/>
              </a:rPr>
              <a:t>–   La regla practica para el entregable: manejadores donde haya una decision que tomar, y en ningun otro sitio.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DO $$ BEGIN CALL sp_facturar(...)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que es la pregunta 4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4 vale 10 puntos y es de seleccion unica, asi que conviene que el docente sepa exactamente que se pregunta y por que las otras opciones son falsas.</a:t>
            </a:r>
          </a:p>
          <a:p>
            <a:pPr>
              <a:spcAft>
                <a:spcPts val="800"/>
              </a:spcAft>
            </a:pPr>
            <a:r>
              <a:rPr sz="2000" b="0" i="0">
                <a:solidFill>
                  <a:srgbClr val="333333"/>
                </a:solidFill>
                <a:latin typeface="Calibri"/>
              </a:rPr>
              <a:t>–   Se pregunta por que la base quedo intacta en la pregunta 2, y la respuesta correcta reune las dos ideas de las dos secciones anteriores: el CALL de nivel superior es su propia transaccion y al propagarse la excepcion se deshace todo, y ademas un bloque con EXCEPTION crea un savepoint implicito.</a:t>
            </a:r>
          </a:p>
          <a:p>
            <a:pPr>
              <a:spcAft>
                <a:spcPts val="800"/>
              </a:spcAft>
            </a:pPr>
            <a:r>
              <a:rPr sz="2000" b="0" i="0">
                <a:solidFill>
                  <a:srgbClr val="333333"/>
                </a:solidFill>
                <a:latin typeface="Calibri"/>
              </a:rPr>
              <a:t>–   La opcion incorrecta que mas gente marca es «porque el procedimiento incluia un ROLLBACK explicito en su bloque EXCEPTION, igual que en Oracle»</a:t>
            </a:r>
          </a:p>
          <a:p>
            <a:pPr>
              <a:spcAft>
                <a:spcPts val="800"/>
              </a:spcAft>
            </a:pPr>
            <a:r>
              <a:rPr sz="2000" b="0" i="0">
                <a:solidFill>
                  <a:srgbClr val="333333"/>
                </a:solidFill>
                <a:latin typeface="Calibri"/>
              </a:rPr>
              <a:t>–   Y hay que decir de frente por que aparece: es la forma canonica en Oracle, donde el procedimiento es parte de la transaccion del llamador y si se escribe EXCEPTION WHEN OTHERS THEN ROLLBACK</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que es la pregunta 4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una respuesta razonable para quien aprendio PL/SQL, y es falsa aqui por dos motivos: el procedimiento del taller no tiene ese bloque, y ese ROLLBACK no es lo que produjo la reversion.</a:t>
            </a:r>
          </a:p>
          <a:p>
            <a:pPr>
              <a:spcAft>
                <a:spcPts val="800"/>
              </a:spcAft>
            </a:pPr>
            <a:r>
              <a:rPr sz="2000" b="0" i="0">
                <a:solidFill>
                  <a:srgbClr val="333333"/>
                </a:solidFill>
                <a:latin typeface="Calibri"/>
              </a:rPr>
              <a:t>–   Las otras tres opciones son falsas de forma mas simple, y vale enunciarlo para que nadie las considere: PostgreSQL no guarda una copia de seguridad de cada tabla antes de cada CALL, eso seria carisimo y no existe</a:t>
            </a:r>
          </a:p>
          <a:p>
            <a:pPr>
              <a:spcAft>
                <a:spcPts val="800"/>
              </a:spcAft>
            </a:pPr>
            <a:r>
              <a:rPr sz="2000" b="0" i="0">
                <a:solidFill>
                  <a:srgbClr val="333333"/>
                </a:solidFill>
                <a:latin typeface="Calibri"/>
              </a:rPr>
              <a:t>–   PL/pgSQL no acumula los UPDATE en memoria para escribirlos al final, cada sentencia se aplica cuando se ejecuta y es visible dentro de la misma transaccion; y no hay ningun trigger de stock en el esquema del taller, asi que no pudo deshacer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que es la pregunta 4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contraste con Oracle no se borra del curso, se coloca donde corresponde: como contraste.</a:t>
            </a:r>
          </a:p>
          <a:p>
            <a:pPr>
              <a:spcAft>
                <a:spcPts val="800"/>
              </a:spcAft>
            </a:pPr>
            <a:r>
              <a:rPr sz="2000" b="0" i="0">
                <a:solidFill>
                  <a:srgbClr val="333333"/>
                </a:solidFill>
                <a:latin typeface="Calibri"/>
              </a:rPr>
              <a:t>–   Portar este procedimiento a Oracle exige cambiar los tipos, cambiar GET DIAGNOSTICS por SQL%ROWCOUNT, cambiar RAISE EXCEPTION por RAISE_APPLICATION_ERROR y anadir el control de transaccion</a:t>
            </a:r>
          </a:p>
          <a:p>
            <a:pPr>
              <a:spcAft>
                <a:spcPts val="800"/>
              </a:spcAft>
            </a:pPr>
            <a:r>
              <a:rPr sz="2000" b="0" i="0">
                <a:solidFill>
                  <a:srgbClr val="333333"/>
                </a:solidFill>
                <a:latin typeface="Calibri"/>
              </a:rPr>
              <a:t>–   Que la misma logica de negocio necesite cuatro cambios de sintaxis es en si mismo el aprendizaje.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3 vale 15 puntos y pide el mismo patron de descuento con un contrato distinto, que es una de las distinciones mas utiles del curso.</a:t>
            </a:r>
          </a:p>
          <a:p>
            <a:pPr>
              <a:spcAft>
                <a:spcPts val="800"/>
              </a:spcAft>
            </a:pPr>
            <a:r>
              <a:rPr sz="2000" b="0" i="0">
                <a:solidFill>
                  <a:srgbClr val="333333"/>
                </a:solidFill>
                <a:latin typeface="Calibri"/>
              </a:rPr>
              <a:t>–   Misma regla de negocio, dos contratos, y hay que saber cual se esta pidiendo.</a:t>
            </a:r>
          </a:p>
          <a:p>
            <a:pPr>
              <a:spcAft>
                <a:spcPts val="800"/>
              </a:spcAft>
            </a:pPr>
            <a:r>
              <a:rPr sz="2000" b="0" i="0">
                <a:solidFill>
                  <a:srgbClr val="333333"/>
                </a:solidFill>
                <a:latin typeface="Calibri"/>
              </a:rPr>
              <a:t>–   La firma: RETURNS BOOLEAN LANGUAGE plpgsql AS $fn$... $fn$.</a:t>
            </a:r>
          </a:p>
          <a:p>
            <a:pPr>
              <a:spcAft>
                <a:spcPts val="800"/>
              </a:spcAft>
            </a:pPr>
            <a:r>
              <a:rPr sz="2000" b="0" i="0">
                <a:solidFill>
                  <a:srgbClr val="333333"/>
                </a:solidFill>
                <a:latin typeface="Calibri"/>
              </a:rPr>
              <a:t>–   RETURNS BOOLEAN y no PROCEDURE: devuelve verdadero si desconto y falso si no habia suficiente, SIN lanzar excepcion en ese segundo caso.</a:t>
            </a:r>
          </a:p>
          <a:p>
            <a:pPr>
              <a:spcAft>
                <a:spcPts val="800"/>
              </a:spcAft>
            </a:pPr>
            <a:r>
              <a:rPr sz="2000" b="0" i="0">
                <a:solidFill>
                  <a:srgbClr val="333333"/>
                </a:solidFill>
                <a:latin typeface="Calibri"/>
              </a:rPr>
              <a:t>–   Adentro hay tres partes: validar que p_cantidad sea positiva, y si no, RAISE EXCEPTION; el mismo UPDATE con la condicion en el WHERE; y GET DIAGNOSTICS seguido de RETURN v_filas = 1</a:t>
            </a:r>
          </a:p>
          <a:p>
            <a:pPr>
              <a:spcAft>
                <a:spcPts val="800"/>
              </a:spcAft>
            </a:pPr>
            <a:r>
              <a:rPr sz="2000" b="0" i="0">
                <a:solidFill>
                  <a:srgbClr val="333333"/>
                </a:solidFill>
                <a:latin typeface="Calibri"/>
              </a:rPr>
              <a:t>–   Que devuelve directamente el resultado de la comparacion sin necesidad de un IF.</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el dato invalido del resultado negativo es la mitad de la pregunta.</a:t>
            </a:r>
          </a:p>
          <a:p>
            <a:pPr>
              <a:spcAft>
                <a:spcPts val="800"/>
              </a:spcAft>
            </a:pPr>
            <a:r>
              <a:rPr sz="2000" b="0" i="0">
                <a:solidFill>
                  <a:srgbClr val="333333"/>
                </a:solidFill>
                <a:latin typeface="Calibri"/>
              </a:rPr>
              <a:t>–   Se prueba en una sola consulta, AS caso_ok, fn_descontar_stock(2, 10) AS caso_sin_stock, fn_descontar_stock(2, 3) AS caso_limite, que devuelve verdadero, falso y verdadero.</a:t>
            </a:r>
          </a:p>
          <a:p>
            <a:pPr>
              <a:spcAft>
                <a:spcPts val="800"/>
              </a:spcAft>
            </a:pPr>
            <a:r>
              <a:rPr sz="2000" b="0" i="0">
                <a:solidFill>
                  <a:srgbClr val="333333"/>
                </a:solidFill>
                <a:latin typeface="Calibri"/>
              </a:rPr>
              <a:t>–   El tercer caso es el interesante y conviene detenerse: pide EXACTAMENTE el stock que queda, y con el operador mayor o igual en el guardia tiene que pasar; si alguien escribio solo mayor, ese caso devuelve falso y ahi se ve el error.</a:t>
            </a:r>
          </a:p>
          <a:p>
            <a:pPr>
              <a:spcAft>
                <a:spcPts val="800"/>
              </a:spcAft>
            </a:pPr>
            <a:r>
              <a:rPr sz="2000" b="0" i="0">
                <a:solidFill>
                  <a:srgbClr val="333333"/>
                </a:solidFill>
                <a:latin typeface="Calibri"/>
              </a:rPr>
              <a:t>–   El estado final deja el insumo 5 en 5 y el insumo 2 en 0, sin ningun negativo.</a:t>
            </a:r>
          </a:p>
          <a:p>
            <a:pPr>
              <a:spcAft>
                <a:spcPts val="800"/>
              </a:spcAft>
            </a:pPr>
            <a:r>
              <a:rPr sz="2000" b="0" i="0">
                <a:solidFill>
                  <a:srgbClr val="333333"/>
                </a:solidFill>
                <a:latin typeface="Calibri"/>
              </a:rPr>
              <a:t>–   Y el comentario que cierra la pregunta es la decision documentada: leer primero y decidir despues deja una ventana entre la lectura y la escritura</a:t>
            </a:r>
          </a:p>
          <a:p>
            <a:pPr>
              <a:spcAft>
                <a:spcPts val="800"/>
              </a:spcAft>
            </a:pPr>
            <a:r>
              <a:rPr sz="2000" b="0" i="0">
                <a:solidFill>
                  <a:srgbClr val="333333"/>
                </a:solidFill>
                <a:latin typeface="Calibri"/>
              </a:rPr>
              <a:t>–   Con dos recepcionistas las dos leen 3, las dos deciden que alcanza y el stock termina en menos 2 o el CHECK revienta; el UPDATE con la condicion en el WHERE no tiene ventana.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FUNCTION fn_descontar_stock(p_id_insumo INT, p_cantidad INT)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fn_descontar_stock(5, 3)</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ultimo bloque conceptual es el de tuning, que aqui no significa tocar parametros del servidor —imposible en el navegador y peligroso sin medicion— sino habitos con numeros.</a:t>
            </a:r>
          </a:p>
          <a:p>
            <a:pPr>
              <a:spcAft>
                <a:spcPts val="800"/>
              </a:spcAft>
            </a:pPr>
            <a:r>
              <a:rPr sz="2000" b="0" i="0">
                <a:solidFill>
                  <a:srgbClr val="333333"/>
                </a:solidFill>
                <a:latin typeface="Calibri"/>
              </a:rPr>
              <a:t>–   Primero: la transaccion debe ser corta.</a:t>
            </a:r>
          </a:p>
          <a:p>
            <a:pPr>
              <a:spcAft>
                <a:spcPts val="800"/>
              </a:spcAft>
            </a:pPr>
            <a:r>
              <a:rPr sz="2000" b="0" i="0">
                <a:solidFill>
                  <a:srgbClr val="333333"/>
                </a:solidFill>
                <a:latin typeface="Calibri"/>
              </a:rPr>
              <a:t>–   Una transaccion de negocio bien hecha vive en el orden de milisegundos a pocos cientos de milisegundos, y cualquier cosa que sostenga bloqueos durante segundos es sospechosa; la regla absoluta es no esperar nunca una accion humana con la transaccion abierta</a:t>
            </a:r>
          </a:p>
          <a:p>
            <a:pPr>
              <a:spcAft>
                <a:spcPts val="800"/>
              </a:spcAft>
            </a:pPr>
            <a:r>
              <a:rPr sz="2000" b="0" i="0">
                <a:solidFill>
                  <a:srgbClr val="333333"/>
                </a:solidFill>
                <a:latin typeface="Calibri"/>
              </a:rPr>
              <a:t>–   Porque el clasico de abrir, mostrar un cuadro de confirmacion y confirmar convierte una pausa de almuerzo en 45 minutos de filas bloqueadas para el resto de la clinica.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correcto es hacer lecturas y validaciones primero y abrir la transaccion solo cuando ya se tienen todos los datos para escribir.</a:t>
            </a:r>
          </a:p>
          <a:p>
            <a:pPr>
              <a:spcAft>
                <a:spcPts val="800"/>
              </a:spcAft>
            </a:pPr>
            <a:r>
              <a:rPr sz="2000" b="0" i="0">
                <a:solidFill>
                  <a:srgbClr val="333333"/>
                </a:solidFill>
                <a:latin typeface="Calibri"/>
              </a:rPr>
              <a:t>–   Segundo: en cargas masivas, agrupar los COMMIT en lotes del orden de 1.000 a 5.000 filas, convencion de oficio y no regla dura</a:t>
            </a:r>
          </a:p>
          <a:p>
            <a:pPr>
              <a:spcAft>
                <a:spcPts val="800"/>
              </a:spcAft>
            </a:pPr>
            <a:r>
              <a:rPr sz="2000" b="0" i="0">
                <a:solidFill>
                  <a:srgbClr val="333333"/>
                </a:solidFill>
                <a:latin typeface="Calibri"/>
              </a:rPr>
              <a:t>–   En lugar de uno por fila, lentisimo, o uno solo para un millon de filas, que hincha las versiones antiguas y sostiene bloqueos enormes.</a:t>
            </a:r>
          </a:p>
          <a:p>
            <a:pPr>
              <a:spcAft>
                <a:spcPts val="800"/>
              </a:spcAft>
            </a:pPr>
            <a:r>
              <a:rPr sz="2000" b="0" i="0">
                <a:solidFill>
                  <a:srgbClr val="333333"/>
                </a:solidFill>
                <a:latin typeface="Calibri"/>
              </a:rPr>
              <a:t>–   Tercero: apoyarse en los indices de la Clase 7, porque el UPDATE del descuento filtra por id_insumo, que es clave primaria, y por eso bloquea una sola fila; el mismo UPDATE filtrando por una columna sin indice puede recorrer y bloquear muchas 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Cuarto: estadisticas frescas de la Clase 6 y ningun disparador con trabajo pesado dentro de la transaccion, de la Clase 4.</a:t>
            </a:r>
          </a:p>
          <a:p>
            <a:pPr>
              <a:spcAft>
                <a:spcPts val="800"/>
              </a:spcAft>
            </a:pPr>
            <a:r>
              <a:rPr sz="2000" b="0" i="0">
                <a:solidFill>
                  <a:srgbClr val="333333"/>
                </a:solidFill>
                <a:latin typeface="Calibri"/>
              </a:rPr>
              <a:t>–   Esos cuatro habitos, mas el de no usar SELECT asterisco en los reportes, mas los predicados sargables, mas el respaldo con restore probado, son literalmente los siete items del checklist que la pregunta 5 pide llenar</a:t>
            </a:r>
          </a:p>
          <a:p>
            <a:pPr>
              <a:spcAft>
                <a:spcPts val="800"/>
              </a:spcAft>
            </a:pPr>
            <a:r>
              <a:rPr sz="2000" b="0" i="0">
                <a:solidFill>
                  <a:srgbClr val="333333"/>
                </a:solidFill>
                <a:latin typeface="Calibri"/>
              </a:rPr>
              <a:t>–   Y la rubrica exige estado Y evidencia concreta —un nombre de indice, un archivo, una consulta— porque siete casillas marcadas sin evidencia no demuestran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Codigo/08_transacciones_vetcare.sql y se corre en la consola de la plataforma del curso.</a:t>
            </a:r>
          </a:p>
          <a:p>
            <a:pPr>
              <a:spcAft>
                <a:spcPts val="800"/>
              </a:spcAft>
            </a:pPr>
            <a:r>
              <a:rPr sz="2000" b="0" i="0">
                <a:solidFill>
                  <a:srgbClr val="333333"/>
                </a:solidFill>
                <a:latin typeface="Calibri"/>
              </a:rPr>
              <a:t>–   Tiene cinco bloques y el valor esta en el tercero, asi que hay que administrar el tiempo para llegar ahi con calma.</a:t>
            </a:r>
          </a:p>
          <a:p>
            <a:pPr>
              <a:spcAft>
                <a:spcPts val="800"/>
              </a:spcAft>
            </a:pPr>
            <a:r>
              <a:rPr sz="2000" b="0" i="0">
                <a:solidFill>
                  <a:srgbClr val="333333"/>
                </a:solidFill>
                <a:latin typeface="Calibri"/>
              </a:rPr>
              <a:t>–   El bloque 0 crea insumo, factura y detalle_factura y siembra los seis insumos con los stocks del enunciado; empieza con los DROP para que el script se pueda correr dos veces sin limpiar a mano.</a:t>
            </a:r>
          </a:p>
          <a:p>
            <a:pPr>
              <a:spcAft>
                <a:spcPts val="800"/>
              </a:spcAft>
            </a:pPr>
            <a:r>
              <a:rPr sz="2000" b="0" i="0">
                <a:solidFill>
                  <a:srgbClr val="333333"/>
                </a:solidFill>
                <a:latin typeface="Calibri"/>
              </a:rPr>
              <a:t>–   El bloque 1 crea el procedimiento, y conviene proyectarlo leyendo en voz alta el guardia y el GET DIAGNOSTICS, no pasarlo de largo.</a:t>
            </a:r>
          </a:p>
          <a:p>
            <a:pPr>
              <a:spcAft>
                <a:spcPts val="800"/>
              </a:spcAft>
            </a:pPr>
            <a:r>
              <a:rPr sz="2000" b="0" i="0">
                <a:solidFill>
                  <a:srgbClr val="333333"/>
                </a:solidFill>
                <a:latin typeface="Calibri"/>
              </a:rPr>
              <a:t>–   El bloque 2 es el caso feliz:, factura por 27.400 y los stocks 1, 6 y 5 quedan en 11, 58 y 5.</a:t>
            </a:r>
          </a:p>
          <a:p>
            <a:pPr>
              <a:spcAft>
                <a:spcPts val="800"/>
              </a:spcAft>
            </a:pPr>
            <a:r>
              <a:rPr sz="2000" b="0" i="0">
                <a:solidFill>
                  <a:srgbClr val="333333"/>
                </a:solidFill>
                <a:latin typeface="Calibri"/>
              </a:rPr>
              <a:t>–   El bloque 3 es la clase entera y tiene tres pasos que no se pueden desordenar: la foto inicial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debe dar una factura, tres lineas, el insumo 3 en 40 y el insumo 2 en 3; el intento que falla a mitad, envuelto en el DO con su manejador para que el script siga; y la foto final, que debe dar EXACTAMENTE los mismos cuatro numeros.</a:t>
            </a:r>
          </a:p>
          <a:p>
            <a:pPr>
              <a:spcAft>
                <a:spcPts val="800"/>
              </a:spcAft>
            </a:pPr>
            <a:r>
              <a:rPr sz="2000" b="0" i="0">
                <a:solidFill>
                  <a:srgbClr val="333333"/>
                </a:solidFill>
                <a:latin typeface="Calibri"/>
              </a:rPr>
              <a:t>–   Ese es el momento de preguntarle al grupo donde quedo el descuento del insumo 3 y dejar que alguien diga que se deshizo solo.</a:t>
            </a:r>
          </a:p>
          <a:p>
            <a:pPr>
              <a:spcAft>
                <a:spcPts val="800"/>
              </a:spcAft>
            </a:pPr>
            <a:r>
              <a:rPr sz="2000" b="0" i="0">
                <a:solidFill>
                  <a:srgbClr val="333333"/>
                </a:solidFill>
                <a:latin typeface="Calibri"/>
              </a:rPr>
              <a:t>–   El bloque 3 cierra con la version viable,, que crea la segunda factura por 112.000 y deja el insumo 3 en 38 y el 2 en 0.</a:t>
            </a:r>
          </a:p>
          <a:p>
            <a:pPr>
              <a:spcAft>
                <a:spcPts val="800"/>
              </a:spcAft>
            </a:pPr>
            <a:r>
              <a:rPr sz="2000" b="0" i="0">
                <a:solidFill>
                  <a:srgbClr val="333333"/>
                </a:solidFill>
                <a:latin typeface="Calibri"/>
              </a:rPr>
              <a:t>–   El bloque 4 es la funcion, con su prueba de tres columnas que devuelve verdadero, falso, verdadero; ese bloque reinicia los stocks de los insumos 5 y 2 antes de probar, porque si no los numeros esperados no salen.</a:t>
            </a:r>
          </a:p>
          <a:p>
            <a:pPr>
              <a:spcAft>
                <a:spcPts val="800"/>
              </a:spcAft>
            </a:pPr>
            <a:r>
              <a:rPr sz="2000" b="0" i="0">
                <a:solidFill>
                  <a:srgbClr val="333333"/>
                </a:solidFill>
                <a:latin typeface="Calibri"/>
              </a:rPr>
              <a:t>–   Si el tiempo aprieta, lo que se recorta es el bloque 4, que el estudiante rehace en la pregunta 3 del taller; lo que NO se recorta es la pareja de fotos del bloque 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ARRAY[1, 6, 5], ARRAY[1, 2, 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CALL sp_facturar(4, ARRAY[3, 2], ARRAY[2, 3])</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de hoy es la plataforma del curso, que ejecuta PostgreSQL sobre PGlite dentro del navegador, y hay que decirlo sin ambiguedad porque este es el tema donde la herramienta equivocada no da un resultado distinto sino que no compila.</a:t>
            </a:r>
          </a:p>
          <a:p>
            <a:pPr>
              <a:spcAft>
                <a:spcPts val="800"/>
              </a:spcAft>
            </a:pPr>
            <a:r>
              <a:rPr sz="2000" b="0" i="0">
                <a:solidFill>
                  <a:srgbClr val="333333"/>
                </a:solidFill>
                <a:latin typeface="Calibri"/>
              </a:rPr>
              <a:t>–   Las tres preguntas de SQL del dia suman 75 de los 100 puntos y son PL/pgSQL: CALL, GET DIAGNOSTICS...</a:t>
            </a:r>
          </a:p>
          <a:p>
            <a:pPr>
              <a:spcAft>
                <a:spcPts val="800"/>
              </a:spcAft>
            </a:pPr>
            <a:r>
              <a:rPr sz="2000" b="0" i="0">
                <a:solidFill>
                  <a:srgbClr val="333333"/>
                </a:solidFill>
                <a:latin typeface="Calibri"/>
              </a:rPr>
              <a:t>–   ROW_COUNT, RAISE EXCEPTION con porcentaje y una funcion que devuelve BOOLEAN.</a:t>
            </a:r>
          </a:p>
          <a:p>
            <a:pPr>
              <a:spcAft>
                <a:spcPts val="800"/>
              </a:spcAft>
            </a:pPr>
            <a:r>
              <a:rPr sz="2000" b="0" i="0">
                <a:solidFill>
                  <a:srgbClr val="333333"/>
                </a:solidFill>
                <a:latin typeface="Calibri"/>
              </a:rPr>
              <a:t>–   Nada de eso corre en Oracle Live SQL, asi que Live SQL se queda solamente como el contraste de sintaxis de la pregunta 4.</a:t>
            </a:r>
          </a:p>
          <a:p>
            <a:pPr>
              <a:spcAft>
                <a:spcPts val="800"/>
              </a:spcAft>
            </a:pPr>
            <a:r>
              <a:rPr sz="2000" b="0" i="0">
                <a:solidFill>
                  <a:srgbClr val="333333"/>
                </a:solidFill>
                <a:latin typeface="Calibri"/>
              </a:rPr>
              <a:t>–   Sobre el autocommit, que en versiones anteriores de este material era la advertencia central: con la forma del entregable de hoy deja de ser un problema, y conviene explicar por que en lugar de repetir la advertencia.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Nadie escribe BEGIN ni COMMIT: el CALL de nivel superior ya es su propia transaccion, y la excepcion que se propaga la deshace entera.</a:t>
            </a:r>
          </a:p>
          <a:p>
            <a:pPr>
              <a:spcAft>
                <a:spcPts val="800"/>
              </a:spcAft>
            </a:pPr>
            <a:r>
              <a:rPr sz="2000" b="0" i="0">
                <a:solidFill>
                  <a:srgbClr val="333333"/>
                </a:solidFill>
                <a:latin typeface="Calibri"/>
              </a:rPr>
              <a:t>–   La demostracion de atomicidad no depende de dejar una transaccion abierta entre dos ejecuciones, que es justamente lo que un playground no permite; depende de tomar una foto, correr el CALL que falla y volver a tomar la foto, todo en el mismo panel.</a:t>
            </a:r>
          </a:p>
          <a:p>
            <a:pPr>
              <a:spcAft>
                <a:spcPts val="800"/>
              </a:spcAft>
            </a:pPr>
            <a:r>
              <a:rPr sz="2000" b="0" i="0">
                <a:solidFill>
                  <a:srgbClr val="333333"/>
                </a:solidFill>
                <a:latin typeface="Calibri"/>
              </a:rPr>
              <a:t>–   Por lo mismo, la vieja advertencia de que en Oracle y en MySQL cualquier DDL provoca un COMMIT implicito —y que por eso no hay que mezclar CREATE TABLE con la demostracion— no aplica aqui: en PostgreSQL el DDL es transaccional.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bloque de 120 minutos se reparte asi.</a:t>
            </a:r>
          </a:p>
          <a:p>
            <a:pPr>
              <a:spcAft>
                <a:spcPts val="800"/>
              </a:spcAft>
            </a:pPr>
            <a:r>
              <a:rPr sz="2000" b="0" i="0">
                <a:solidFill>
                  <a:srgbClr val="333333"/>
                </a:solidFill>
                <a:latin typeface="Calibri"/>
              </a:rPr>
              <a:t>–   Del minuto 0 al 10, encuadre y el amarre con la Clase 7: ayer se hizo que las consultas leyeran menos, hoy se hace que las escrituras no queden a medias.</a:t>
            </a:r>
          </a:p>
          <a:p>
            <a:pPr>
              <a:spcAft>
                <a:spcPts val="800"/>
              </a:spcAft>
            </a:pPr>
            <a:r>
              <a:rPr sz="2000" b="0" i="0">
                <a:solidFill>
                  <a:srgbClr val="333333"/>
                </a:solidFill>
                <a:latin typeface="Calibri"/>
              </a:rPr>
              <a:t>–   Del 10 al 30, ACID con sus cuatro fallos concretos, uno por letra, cada uno nombrando la tabla de VetCare donde ocurre; conviene no dedicar mas de cinco minutos por letra y no entrar en niveles de aislamiento mas alla de nombrarlos.</a:t>
            </a:r>
          </a:p>
          <a:p>
            <a:pPr>
              <a:spcAft>
                <a:spcPts val="800"/>
              </a:spcAft>
            </a:pPr>
            <a:r>
              <a:rPr sz="2000" b="0" i="0">
                <a:solidFill>
                  <a:srgbClr val="333333"/>
                </a:solidFill>
                <a:latin typeface="Calibri"/>
              </a:rPr>
              <a:t>–   Del 30 al 50, la firma del procedimiento y el guardia, sentencia por sentencia, con el codigo en pantalla.</a:t>
            </a:r>
          </a:p>
          <a:p>
            <a:pPr>
              <a:spcAft>
                <a:spcPts val="800"/>
              </a:spcAft>
            </a:pPr>
            <a:r>
              <a:rPr sz="2000" b="0" i="0">
                <a:solidFill>
                  <a:srgbClr val="333333"/>
                </a:solidFill>
                <a:latin typeface="Calibri"/>
              </a:rPr>
              <a:t>–   Del 50 al 60, por que no lleva COMMIT ni ROLLBACK, con el savepoint implicito y el contraste con Oracle: son los 10 puntos de la pregunta 4 y se resuelven en esta diapositiva.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Del 60 al 70, la funcion y la distincion entre abortar e informar.</a:t>
            </a:r>
          </a:p>
          <a:p>
            <a:pPr>
              <a:spcAft>
                <a:spcPts val="800"/>
              </a:spcAft>
            </a:pPr>
            <a:r>
              <a:rPr sz="2000" b="0" i="0">
                <a:solidFill>
                  <a:srgbClr val="333333"/>
                </a:solidFill>
                <a:latin typeface="Calibri"/>
              </a:rPr>
              <a:t>–   Del 70 al 80, tuning y el checklist.</a:t>
            </a:r>
          </a:p>
          <a:p>
            <a:pPr>
              <a:spcAft>
                <a:spcPts val="800"/>
              </a:spcAft>
            </a:pPr>
            <a:r>
              <a:rPr sz="2000" b="0" i="0">
                <a:solidFill>
                  <a:srgbClr val="333333"/>
                </a:solidFill>
                <a:latin typeface="Calibri"/>
              </a:rPr>
              <a:t>–   Del 80 al 115, el taller.</a:t>
            </a:r>
          </a:p>
          <a:p>
            <a:pPr>
              <a:spcAft>
                <a:spcPts val="800"/>
              </a:spcAft>
            </a:pPr>
            <a:r>
              <a:rPr sz="2000" b="0" i="0">
                <a:solidFill>
                  <a:srgbClr val="333333"/>
                </a:solidFill>
                <a:latin typeface="Calibri"/>
              </a:rPr>
              <a:t>–   Del 115 al 120, cierre y el gancho de la Clase 10.</a:t>
            </a:r>
          </a:p>
          <a:p>
            <a:pPr>
              <a:spcAft>
                <a:spcPts val="800"/>
              </a:spcAft>
            </a:pPr>
            <a:r>
              <a:rPr sz="2000" b="0" i="0">
                <a:solidFill>
                  <a:srgbClr val="333333"/>
                </a:solidFill>
                <a:latin typeface="Calibri"/>
              </a:rPr>
              <a:t>–   Uno, la pregunta 1 es la mas larga del taller y vale 35 puntos: conviene resolver en voz alta con el grupo la validacion de los arreglos y la cabecera con RETURNING, y dejar el bucle para el trabajo individual.</a:t>
            </a:r>
          </a:p>
          <a:p>
            <a:pPr>
              <a:spcAft>
                <a:spcPts val="800"/>
              </a:spcAft>
            </a:pPr>
            <a:r>
              <a:rPr sz="2000" b="0" i="0">
                <a:solidFill>
                  <a:srgbClr val="333333"/>
                </a:solidFill>
                <a:latin typeface="Calibri"/>
              </a:rPr>
              <a:t>–   Dos, el error de sintaxis mas frecuente es el delimitador de dolar mal cerrado; si alguien reporta un error incomprensible, lo primero que se revisa es que el $proc$ del final este igual al del principio.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quien escriba COMMIT dentro del procedimiento tiene que entender por que sobra, no solo borrarlo, porque es la pregunta 4.</a:t>
            </a:r>
          </a:p>
          <a:p>
            <a:pPr>
              <a:spcAft>
                <a:spcPts val="800"/>
              </a:spcAft>
            </a:pPr>
            <a:r>
              <a:rPr sz="2000" b="0" i="0">
                <a:solidFill>
                  <a:srgbClr val="333333"/>
                </a:solidFill>
                <a:latin typeface="Calibri"/>
              </a:rPr>
              <a:t>–   Cuatro, la pregunta 5 son 15 puntos de prosa estructurada y se queda sin tiempo si nadie la anuncia: a los 100 minutos hay que decir en voz alta que faltan 15 y que el checklist necesita evidencias, no casillas.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si el motor confirma solo, para que sirve COMMIT.</a:t>
            </a:r>
          </a:p>
          <a:p>
            <a:pPr>
              <a:spcAft>
                <a:spcPts val="800"/>
              </a:spcAft>
            </a:pPr>
            <a:r>
              <a:rPr sz="2000" b="0" i="0">
                <a:solidFill>
                  <a:srgbClr val="333333"/>
                </a:solidFill>
                <a:latin typeface="Calibri"/>
              </a:rPr>
              <a:t>–   Para agrupar varias sentencias en un unico hecho de negocio, que es justamente lo que el modo de confirmacion automatica impide; y hoy no hace falta escribirlo porque el CALL ya agrupa todo el procedimiento en una transaccion.</a:t>
            </a:r>
          </a:p>
          <a:p>
            <a:pPr>
              <a:spcAft>
                <a:spcPts val="800"/>
              </a:spcAft>
            </a:pPr>
            <a:r>
              <a:rPr sz="2000" b="0" i="0">
                <a:solidFill>
                  <a:srgbClr val="333333"/>
                </a:solidFill>
                <a:latin typeface="Calibri"/>
              </a:rPr>
              <a:t>–   Segunda: que pasa si me desconecto sin confirmar.</a:t>
            </a:r>
          </a:p>
          <a:p>
            <a:pPr>
              <a:spcAft>
                <a:spcPts val="800"/>
              </a:spcAft>
            </a:pPr>
            <a:r>
              <a:rPr sz="2000" b="0" i="0">
                <a:solidFill>
                  <a:srgbClr val="333333"/>
                </a:solidFill>
                <a:latin typeface="Calibri"/>
              </a:rPr>
              <a:t>–   El motor deshace la transaccion cuando la sesion muere de forma anormal, aunque algunos clientes confirman al salir de manera ordenada, asi que jamas se debe depender de eso.</a:t>
            </a:r>
          </a:p>
          <a:p>
            <a:pPr>
              <a:spcAft>
                <a:spcPts val="800"/>
              </a:spcAft>
            </a:pPr>
            <a:r>
              <a:rPr sz="2000" b="0" i="0">
                <a:solidFill>
                  <a:srgbClr val="333333"/>
                </a:solidFill>
                <a:latin typeface="Calibri"/>
              </a:rPr>
              <a:t>–   Tercera: se puede hacer ROLLBACK despues de un COMMIT.</a:t>
            </a:r>
          </a:p>
          <a:p>
            <a:pPr>
              <a:spcAft>
                <a:spcPts val="800"/>
              </a:spcAft>
            </a:pPr>
            <a:r>
              <a:rPr sz="2000" b="0" i="0">
                <a:solidFill>
                  <a:srgbClr val="333333"/>
                </a:solidFill>
                <a:latin typeface="Calibri"/>
              </a:rPr>
              <a:t>–   No, confirmar es definitivo, y lo unico que queda es restaurar desde el respaldo de la Clase 4 con recuperacion a un punto en el tiempo, operacion de administrador y no correccion de rutina.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y la que sale siempre en esta clase: si no escribo ROLLBACK, como se deshizo.</a:t>
            </a:r>
          </a:p>
          <a:p>
            <a:pPr>
              <a:spcAft>
                <a:spcPts val="800"/>
              </a:spcAft>
            </a:pPr>
            <a:r>
              <a:rPr sz="2000" b="0" i="0">
                <a:solidFill>
                  <a:srgbClr val="333333"/>
                </a:solidFill>
                <a:latin typeface="Calibri"/>
              </a:rPr>
              <a:t>–   Porque el CALL de nivel superior es su propia transaccion y la excepcion que sale del procedimiento la aborta completa; el motor conserva las versiones anteriores de las filas y descarta las nuevas.</a:t>
            </a:r>
          </a:p>
          <a:p>
            <a:pPr>
              <a:spcAft>
                <a:spcPts val="800"/>
              </a:spcAft>
            </a:pPr>
            <a:r>
              <a:rPr sz="2000" b="0" i="0">
                <a:solidFill>
                  <a:srgbClr val="333333"/>
                </a:solidFill>
                <a:latin typeface="Calibri"/>
              </a:rPr>
              <a:t>–   Es la pregunta 4 del taller, y la respuesta hay que poder darla sin leer.</a:t>
            </a:r>
          </a:p>
          <a:p>
            <a:pPr>
              <a:spcAft>
                <a:spcPts val="800"/>
              </a:spcAft>
            </a:pPr>
            <a:r>
              <a:rPr sz="2000" b="0" i="0">
                <a:solidFill>
                  <a:srgbClr val="333333"/>
                </a:solidFill>
                <a:latin typeface="Calibri"/>
              </a:rPr>
              <a:t>–   Quinta: entonces nunca se escribe COMMIT en un procedimiento de PostgreSQL.</a:t>
            </a:r>
          </a:p>
          <a:p>
            <a:pPr>
              <a:spcAft>
                <a:spcPts val="800"/>
              </a:spcAft>
            </a:pPr>
            <a:r>
              <a:rPr sz="2000" b="0" i="0">
                <a:solidFill>
                  <a:srgbClr val="333333"/>
                </a:solidFill>
                <a:latin typeface="Calibri"/>
              </a:rPr>
              <a:t>–   Se puede, en procedimientos disenados para ejecutar por lotes y solo si el contexto de la llamada lo permite, pero no en un procedimiento de negocio como este, donde quitarle al llamador la posibilidad de deshacer es un defecto.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Sexta: por que la funcion devuelve falso en vez de lanzar una excepcion, si tambien es un fallo.</a:t>
            </a:r>
          </a:p>
          <a:p>
            <a:pPr>
              <a:spcAft>
                <a:spcPts val="800"/>
              </a:spcAft>
            </a:pPr>
            <a:r>
              <a:rPr sz="2000" b="0" i="0">
                <a:solidFill>
                  <a:srgbClr val="333333"/>
                </a:solidFill>
                <a:latin typeface="Calibri"/>
              </a:rPr>
              <a:t>–   Porque no es un fallo: es un resultado.</a:t>
            </a:r>
          </a:p>
          <a:p>
            <a:pPr>
              <a:spcAft>
                <a:spcPts val="800"/>
              </a:spcAft>
            </a:pPr>
            <a:r>
              <a:rPr sz="2000" b="0" i="0">
                <a:solidFill>
                  <a:srgbClr val="333333"/>
                </a:solidFill>
                <a:latin typeface="Calibri"/>
              </a:rPr>
              <a:t>–   La funcion esta pensada para que el llamador decida si sigue con las demas lineas o cancela, y esa decision no se puede tomar si la excepcion ya aborto todo.</a:t>
            </a:r>
          </a:p>
          <a:p>
            <a:pPr>
              <a:spcAft>
                <a:spcPts val="800"/>
              </a:spcAft>
            </a:pPr>
            <a:r>
              <a:rPr sz="2000" b="0" i="0">
                <a:solidFill>
                  <a:srgbClr val="333333"/>
                </a:solidFill>
                <a:latin typeface="Calibri"/>
              </a:rPr>
              <a:t>–   Septima: puedo probar dos recepcionistas al mismo tiempo abriendo dos pestanas.</a:t>
            </a:r>
          </a:p>
          <a:p>
            <a:pPr>
              <a:spcAft>
                <a:spcPts val="800"/>
              </a:spcAft>
            </a:pPr>
            <a:r>
              <a:rPr sz="2000" b="0" i="0">
                <a:solidFill>
                  <a:srgbClr val="333333"/>
                </a:solidFill>
                <a:latin typeface="Calibri"/>
              </a:rPr>
              <a:t>–   No, cada pestana levanta su propia base en memoria y no comparten nada; ese escenario se documenta en papel y se estudia en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explicita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factura (id_dueno, fecha, total)</a:t>
            </a:r>
          </a:p>
          <a:p>
            <a:pPr>
              <a:spcAft>
                <a:spcPts val="400"/>
              </a:spcAft>
            </a:pPr>
            <a:r>
              <a:rPr sz="1400" b="0" i="0">
                <a:solidFill>
                  <a:srgbClr val="FFFFFF"/>
                </a:solidFill>
                <a:latin typeface="Calibri"/>
              </a:rPr>
              <a:t>VALUES (1, NOW(), 0) RETURNING id_factura;   -- devuelve el id generado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5, 2, 15000.00);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insumo SET stock = stock - 2 WHERE id_insumo = 5;</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COMMIT;      -- o ROLLBACK; y no queda rastro de ninguna de las tres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SAVEPOINT: deshacer una parte sin perder el resto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INSERT INTO factura (id_dueno, fecha, total) VALUES (1, NOW(), 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SAVEPOINT antes_del_detalle;</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9999, 1, 1000.00);      -- insumo inexistente: falla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ROLLBACK TO SAVEPOINT antes_del_detalle;   -- la factura sigue viva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5, 1, 1000.00);</a:t>
            </a:r>
          </a:p>
          <a:p>
            <a:pPr>
              <a:spcAft>
                <a:spcPts val="400"/>
              </a:spcAft>
            </a:pPr>
            <a:r>
              <a:rPr sz="1400" b="0" i="0">
                <a:solidFill>
                  <a:srgbClr val="FFFFFF"/>
                </a:solidFill>
                <a:latin typeface="Calibri"/>
              </a:rPr>
              <a:t>COMMIT;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bloque EXCEPTION y la trampa que cuesta puntos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  UPDATE insumo SET stock = stock - p_cantidad WHERE id_insumo = p_id;</a:t>
            </a:r>
          </a:p>
          <a:p>
            <a:pPr>
              <a:spcAft>
                <a:spcPts val="400"/>
              </a:spcAft>
            </a:pPr>
            <a:r>
              <a:rPr sz="1400" b="0" i="0">
                <a:solidFill>
                  <a:srgbClr val="FFFFFF"/>
                </a:solidFill>
                <a:latin typeface="Calibri"/>
              </a:rPr>
              <a:t>  INSERT INTO detalle_factura (...) VALUES (...);</a:t>
            </a:r>
          </a:p>
          <a:p>
            <a:pPr>
              <a:spcAft>
                <a:spcPts val="400"/>
              </a:spcAft>
            </a:pPr>
            <a:r>
              <a:rPr sz="1400" b="0" i="0">
                <a:solidFill>
                  <a:srgbClr val="FFFFFF"/>
                </a:solidFill>
                <a:latin typeface="Calibri"/>
              </a:rPr>
              <a:t>EXCEPTION WHEN OTHERS THEN</a:t>
            </a:r>
          </a:p>
          <a:p>
            <a:pPr>
              <a:spcAft>
                <a:spcPts val="400"/>
              </a:spcAft>
            </a:pPr>
            <a:r>
              <a:rPr sz="1400" b="0" i="0">
                <a:solidFill>
                  <a:srgbClr val="FFFFFF"/>
                </a:solidFill>
                <a:latin typeface="Calibri"/>
              </a:rPr>
              <a:t>  RAISE NOTICE 'algo fallo: %', SQLERRM;   -- &lt;-- LA TRAMPA</a:t>
            </a:r>
          </a:p>
          <a:p>
            <a:pPr>
              <a:spcAft>
                <a:spcPts val="400"/>
              </a:spcAft>
            </a:pPr>
            <a:r>
              <a:rPr sz="1400" b="0" i="0">
                <a:solidFill>
                  <a:srgbClr val="FFFFFF"/>
                </a:solidFill>
                <a:latin typeface="Calibri"/>
              </a:rPr>
              <a:t>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Capturar la excepcion y solo avisar CONFIRMA lo demas: el UPDATE del stock</a:t>
            </a:r>
          </a:p>
          <a:p>
            <a:pPr>
              <a:spcAft>
                <a:spcPts val="400"/>
              </a:spcAft>
            </a:pPr>
            <a:r>
              <a:rPr sz="1400" b="0" i="0">
                <a:solidFill>
                  <a:srgbClr val="FFFFFF"/>
                </a:solidFill>
                <a:latin typeface="Calibri"/>
              </a:rPr>
              <a:t>-- queda aplicado y el detalle no. La factura miente.</a:t>
            </a:r>
          </a:p>
          <a:p>
            <a:pPr>
              <a:spcAft>
                <a:spcPts val="400"/>
              </a:spcAft>
            </a:pPr>
            <a:r>
              <a:rPr sz="1400" b="0" i="0">
                <a:solidFill>
                  <a:srgbClr val="FFFFFF"/>
                </a:solidFill>
                <a:latin typeface="Calibri"/>
              </a:rPr>
              <a:t>-- Si se captura, hay que RE-LANZAR para que el bloque entero se deshaga:</a:t>
            </a:r>
          </a:p>
          <a:p>
            <a:pPr>
              <a:spcAft>
                <a:spcPts val="400"/>
              </a:spcAft>
            </a:pPr>
            <a:r>
              <a:rPr sz="1400" b="0" i="0">
                <a:solidFill>
                  <a:srgbClr val="FFFFFF"/>
                </a:solidFill>
                <a:latin typeface="Calibri"/>
              </a:rPr>
              <a:t>EXCEPTION WHEN OTHERS THEN</a:t>
            </a:r>
          </a:p>
          <a:p>
            <a:pPr>
              <a:spcAft>
                <a:spcPts val="400"/>
              </a:spcAft>
            </a:pPr>
            <a:r>
              <a:rPr sz="1400" b="0" i="0">
                <a:solidFill>
                  <a:srgbClr val="FFFFFF"/>
                </a:solidFill>
                <a:latin typeface="Calibri"/>
              </a:rPr>
              <a:t>  RAISE;      -- vuelve a lanzar la misma excepcion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de facturacion</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CREATE PROCEDURE sp_facturar(p_id_consulta INT,</a:t>
            </a:r>
          </a:p>
          <a:p>
            <a:pPr>
              <a:spcAft>
                <a:spcPts val="400"/>
              </a:spcAft>
            </a:pPr>
            <a:r>
              <a:rPr sz="1400" b="0" i="0">
                <a:solidFill>
                  <a:srgbClr val="FFFFFF"/>
                </a:solidFill>
                <a:latin typeface="Calibri"/>
              </a:rPr>
              <a:t>        p_insumos INT[], p_cantidades INT[]) ...</a:t>
            </a:r>
          </a:p>
          <a:p>
            <a:pPr>
              <a:spcAft>
                <a:spcPts val="400"/>
              </a:spcAft>
            </a:pPr>
            <a:r>
              <a:rPr sz="1400" b="0" i="0">
                <a:solidFill>
                  <a:srgbClr val="FFFFFF"/>
                </a:solidFill>
                <a:latin typeface="Calibri"/>
              </a:rPr>
              <a:t>  INSERT INTO factura(...) RETURNING id_factura INTO v_id_factura;</a:t>
            </a:r>
          </a:p>
          <a:p>
            <a:pPr>
              <a:spcAft>
                <a:spcPts val="400"/>
              </a:spcAft>
            </a:pPr>
            <a:r>
              <a:rPr sz="1400" b="0" i="0">
                <a:solidFill>
                  <a:srgbClr val="FFFFFF"/>
                </a:solidFill>
                <a:latin typeface="Calibri"/>
              </a:rPr>
              <a:t>  FOR i IN 1 .. array_length(p_insumos, 1) LOOP</a:t>
            </a:r>
          </a:p>
          <a:p>
            <a:pPr>
              <a:spcAft>
                <a:spcPts val="400"/>
              </a:spcAft>
            </a:pPr>
            <a:r>
              <a:rPr sz="1400" b="0" i="0">
                <a:solidFill>
                  <a:srgbClr val="FFFFFF"/>
                </a:solidFill>
                <a:latin typeface="Calibri"/>
              </a:rPr>
              <a:t>    UPDATE insumo SET stock = stock - p_cantidades[i]</a:t>
            </a:r>
          </a:p>
          <a:p>
            <a:pPr>
              <a:spcAft>
                <a:spcPts val="400"/>
              </a:spcAft>
            </a:pPr>
            <a:r>
              <a:rPr sz="1400" b="0" i="0">
                <a:solidFill>
                  <a:srgbClr val="FFFFFF"/>
                </a:solidFill>
                <a:latin typeface="Calibri"/>
              </a:rPr>
              <a:t>     WHERE id_insumo = p_insumos[i]</a:t>
            </a:r>
          </a:p>
          <a:p>
            <a:pPr>
              <a:spcAft>
                <a:spcPts val="400"/>
              </a:spcAft>
            </a:pPr>
            <a:r>
              <a:rPr sz="1400" b="0" i="0">
                <a:solidFill>
                  <a:srgbClr val="FFFFFF"/>
                </a:solidFill>
                <a:latin typeface="Calibri"/>
              </a:rPr>
              <a:t>       AND stock &gt;= p_cantidades[i];   -- 0 filas si no alcanza</a:t>
            </a:r>
          </a:p>
          <a:p>
            <a:pPr>
              <a:spcAft>
                <a:spcPts val="400"/>
              </a:spcAft>
            </a:pPr>
            <a:r>
              <a:rPr sz="1400" b="0" i="0">
                <a:solidFill>
                  <a:srgbClr val="FFFFFF"/>
                </a:solidFill>
                <a:latin typeface="Calibri"/>
              </a:rPr>
              <a:t>    GET DIAGNOSTICS v_filas = ROW_COUNT;</a:t>
            </a:r>
          </a:p>
          <a:p>
            <a:pPr>
              <a:spcAft>
                <a:spcPts val="400"/>
              </a:spcAft>
            </a:pPr>
            <a:r>
              <a:rPr sz="1400" b="0" i="0">
                <a:solidFill>
                  <a:srgbClr val="FFFFFF"/>
                </a:solidFill>
                <a:latin typeface="Calibri"/>
              </a:rPr>
              <a:t>    IF v_filas = 0 THEN RAISE EXCEPTION '...'; END IF;</a:t>
            </a:r>
          </a:p>
          <a:p>
            <a:pPr>
              <a:spcAft>
                <a:spcPts val="400"/>
              </a:spcAft>
            </a:pPr>
            <a:r>
              <a:rPr sz="1400" b="0" i="0">
                <a:solidFill>
                  <a:srgbClr val="FFFFFF"/>
                </a:solidFill>
                <a:latin typeface="Calibri"/>
              </a:rPr>
              <a:t>  END LOOP;   -- sin COMMIT y sin ROLLBACK: los pone el CALL</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condicion stock &gt;= cantidad evita el stock negativo; la excepcion que sale del CALL deshace todo sola.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sp_facturar en PL/pgSQL: el molde que se califica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1 del taller — 35 de los 100 puntos — y el molde que la pregunta 2 hace fallar a proposito</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La firma exacta, que se factura por lineas.</a:t>
            </a:r>
            <a:r>
              <a:rPr sz="1600" b="0" i="0">
                <a:solidFill>
                  <a:srgbClr val="333333"/>
                </a:solidFill>
                <a:latin typeface="Calibri"/>
              </a:rPr>
              <a:t> «CREATE PROCEDURE sp_facturar(p_id_consulta INT, p_insumos INT[], p_cantidades INT[]) LANGUAGE plpgsql AS $proc$ ... $proc$;» — </a:t>
            </a:r>
            <a:r>
              <a:rPr sz="1600" b="1" i="0">
                <a:solidFill>
                  <a:srgbClr val="333333"/>
                </a:solidFill>
                <a:latin typeface="Calibri"/>
              </a:rPr>
              <a:t>dos arreglos paralelos</a:t>
            </a:r>
            <a:r>
              <a:rPr sz="1600" b="0" i="0">
                <a:solidFill>
                  <a:srgbClr val="333333"/>
                </a:solidFill>
                <a:latin typeface="Calibri"/>
              </a:rPr>
              <a:t>, no un insumo suelto: una factura tiene varias lineas. Se llama «CALL sp_facturar(4, ARRAY[1,6,5], ARRAY[1,2,3]);». Los tipos son «INT» y «NUMERIC», no «NUMBER». Primera linea del cuerpo: «IF array_length(p_insumos, 1) IS DISTINCT FROM array_length(p_cantidades, 1) THEN RAISE EXCEPTION ...» — dos arreglos de longitud distinta se rechazan </a:t>
            </a:r>
            <a:r>
              <a:rPr sz="1600" b="1" i="0">
                <a:solidFill>
                  <a:srgbClr val="333333"/>
                </a:solidFill>
                <a:latin typeface="Calibri"/>
              </a:rPr>
              <a:t>antes de tocar la base</a:t>
            </a:r>
            <a:r>
              <a:rPr sz="1600" b="0" i="0">
                <a:solidFill>
                  <a:srgbClr val="333333"/>
                </a:solidFill>
                <a:latin typeface="Calibri"/>
              </a:rPr>
              <a:t>.</a:t>
            </a:r>
          </a:p>
          <a:p>
            <a:pPr>
              <a:spcAft>
                <a:spcPts val="800"/>
              </a:spcAft>
            </a:pPr>
            <a:r>
              <a:rPr sz="1600" b="0" i="0">
                <a:solidFill>
                  <a:srgbClr val="333333"/>
                </a:solidFill>
                <a:latin typeface="Calibri"/>
              </a:rPr>
              <a:t>–   </a:t>
            </a:r>
            <a:r>
              <a:rPr sz="1600" b="1" i="0">
                <a:solidFill>
                  <a:srgbClr val="333333"/>
                </a:solidFill>
                <a:latin typeface="Calibri"/>
              </a:rPr>
              <a:t>La cabecera y el id que se acaba de generar.</a:t>
            </a:r>
            <a:r>
              <a:rPr sz="1600" b="0" i="0">
                <a:solidFill>
                  <a:srgbClr val="333333"/>
                </a:solidFill>
                <a:latin typeface="Calibri"/>
              </a:rPr>
              <a:t> «INSERT INTO factura (id_consulta, total) VALUES (p_id_consulta, 0) RETURNING id_factura INTO v_id_factura;» — el total entra en </a:t>
            </a:r>
            <a:r>
              <a:rPr sz="1600" b="1" i="0">
                <a:solidFill>
                  <a:srgbClr val="333333"/>
                </a:solidFill>
                <a:latin typeface="Calibri"/>
              </a:rPr>
              <a:t>0</a:t>
            </a:r>
            <a:r>
              <a:rPr sz="1600" b="0" i="0">
                <a:solidFill>
                  <a:srgbClr val="333333"/>
                </a:solidFill>
                <a:latin typeface="Calibri"/>
              </a:rPr>
              <a:t> y se corrige al final, porque todavia no se sabe. «RETURNING ... INTO» evita ir a buscarlo con otro «SELECT».</a:t>
            </a:r>
          </a:p>
          <a:p>
            <a:pPr>
              <a:spcAft>
                <a:spcPts val="800"/>
              </a:spcAft>
            </a:pPr>
            <a:r>
              <a:rPr sz="1600" b="0" i="0">
                <a:solidFill>
                  <a:srgbClr val="333333"/>
                </a:solidFill>
                <a:latin typeface="Calibri"/>
              </a:rPr>
              <a:t>–   </a:t>
            </a:r>
            <a:r>
              <a:rPr sz="1600" b="1" i="0">
                <a:solidFill>
                  <a:srgbClr val="333333"/>
                </a:solidFill>
                <a:latin typeface="Calibri"/>
              </a:rPr>
              <a:t>El bucle, y el guardia que es el corazon del dia.</a:t>
            </a:r>
            <a:r>
              <a:rPr sz="1600" b="0" i="0">
                <a:solidFill>
                  <a:srgbClr val="333333"/>
                </a:solidFill>
                <a:latin typeface="Calibri"/>
              </a:rPr>
              <a:t> «FOR i IN 1 .. array_length(p_insumos, 1) LOOP» y dentro: «UPDATE insumo SET stock = stock - p_cantidades[i] WHERE id_insumo = p_insumos[i] AND </a:t>
            </a:r>
            <a:r>
              <a:rPr sz="1600" b="1" i="0">
                <a:solidFill>
                  <a:srgbClr val="333333"/>
                </a:solidFill>
                <a:latin typeface="Calibri"/>
              </a:rPr>
              <a:t>stock &gt;= p_cantidades[i]</a:t>
            </a:r>
            <a:r>
              <a:rPr sz="1600" b="0" i="0">
                <a:solidFill>
                  <a:srgbClr val="333333"/>
                </a:solidFill>
                <a:latin typeface="Calibri"/>
              </a:rPr>
              <a:t>;» — la comprobacion viaja </a:t>
            </a:r>
            <a:r>
              <a:rPr sz="1600" b="1" i="0">
                <a:solidFill>
                  <a:srgbClr val="333333"/>
                </a:solidFill>
                <a:latin typeface="Calibri"/>
              </a:rPr>
              <a:t>dentro del «WHERE»</a:t>
            </a:r>
            <a:r>
              <a:rPr sz="1600" b="0" i="0">
                <a:solidFill>
                  <a:srgbClr val="333333"/>
                </a:solidFill>
                <a:latin typeface="Calibri"/>
              </a:rPr>
              <a:t>: comprobar y escribir son </a:t>
            </a:r>
            <a:r>
              <a:rPr sz="1600" b="1" i="0">
                <a:solidFill>
                  <a:srgbClr val="333333"/>
                </a:solidFill>
                <a:latin typeface="Calibri"/>
              </a:rPr>
              <a:t>una sola sentencia</a:t>
            </a:r>
            <a:r>
              <a:rPr sz="1600" b="0" i="0">
                <a:solidFill>
                  <a:srgbClr val="333333"/>
                </a:solidFill>
                <a:latin typeface="Calibri"/>
              </a:rPr>
              <a:t> y nadie puede colarse entre las dos.</a:t>
            </a:r>
          </a:p>
          <a:p>
            <a:pPr>
              <a:spcAft>
                <a:spcPts val="800"/>
              </a:spcAft>
            </a:pPr>
            <a:r>
              <a:rPr sz="1600" b="0" i="0">
                <a:solidFill>
                  <a:srgbClr val="333333"/>
                </a:solidFill>
                <a:latin typeface="Calibri"/>
              </a:rPr>
              <a:t>–   </a:t>
            </a:r>
            <a:r>
              <a:rPr sz="1600" b="1" i="0">
                <a:solidFill>
                  <a:srgbClr val="333333"/>
                </a:solidFill>
                <a:latin typeface="Calibri"/>
              </a:rPr>
              <a:t>Como se sabe si alcanzo, y como se aborta.</a:t>
            </a:r>
            <a:r>
              <a:rPr sz="1600" b="0" i="0">
                <a:solidFill>
                  <a:srgbClr val="333333"/>
                </a:solidFill>
                <a:latin typeface="Calibri"/>
              </a:rPr>
              <a:t> «GET DIAGNOSTICS v_filas = ROW_COUNT;» guarda cuantas filas toco el «UPDATE»: «1» alcanzo, «0» no habia stock. Entonces «IF v_filas = 0 THEN RAISE EXCEPTION 'ERROR: stock insuficiente del insumo %', p_insumos[i]; END IF;». </a:t>
            </a:r>
            <a:r>
              <a:rPr sz="1600" b="1" i="0">
                <a:solidFill>
                  <a:srgbClr val="333333"/>
                </a:solidFill>
                <a:latin typeface="Calibri"/>
              </a:rPr>
              <a:t>No es «SQL%ROWCOUNT» ni «RAISE_APPLICATION_ERROR»</a:t>
            </a:r>
            <a:r>
              <a:rPr sz="1600" b="0" i="0">
                <a:solidFill>
                  <a:srgbClr val="333333"/>
                </a:solidFill>
                <a:latin typeface="Calibri"/>
              </a:rPr>
              <a:t>: eso es Oracle y aqui no existe.</a:t>
            </a:r>
          </a:p>
          <a:p>
            <a:pPr>
              <a:spcAft>
                <a:spcPts val="800"/>
              </a:spcAft>
            </a:pPr>
            <a:r>
              <a:rPr sz="1600" b="0" i="0">
                <a:solidFill>
                  <a:srgbClr val="333333"/>
                </a:solidFill>
                <a:latin typeface="Calibri"/>
              </a:rPr>
              <a:t>–   </a:t>
            </a:r>
            <a:r>
              <a:rPr sz="1600" b="1" i="0">
                <a:solidFill>
                  <a:srgbClr val="333333"/>
                </a:solidFill>
                <a:latin typeface="Calibri"/>
              </a:rPr>
              <a:t>Y el cierre.</a:t>
            </a:r>
            <a:r>
              <a:rPr sz="1600" b="0" i="0">
                <a:solidFill>
                  <a:srgbClr val="333333"/>
                </a:solidFill>
                <a:latin typeface="Calibri"/>
              </a:rPr>
              <a:t> Cada iteracion inserta su linea en «detalle_factura» con el «precio_unit» </a:t>
            </a:r>
            <a:r>
              <a:rPr sz="1600" b="1" i="0">
                <a:solidFill>
                  <a:srgbClr val="333333"/>
                </a:solidFill>
                <a:latin typeface="Calibri"/>
              </a:rPr>
              <a:t>vigente</a:t>
            </a:r>
            <a:r>
              <a:rPr sz="1600" b="0" i="0">
                <a:solidFill>
                  <a:srgbClr val="333333"/>
                </a:solidFill>
                <a:latin typeface="Calibri"/>
              </a:rPr>
              <a:t> y acumula «v_total := v_total + v_precio * p_cantidades[i];». Al salir del bucle, «UPDATE factura SET total = v_total WHERE id_factura = v_id_factura;». El caso de prueba da </a:t>
            </a:r>
            <a:r>
              <a:rPr sz="1600" b="1" i="0">
                <a:solidFill>
                  <a:srgbClr val="333333"/>
                </a:solidFill>
                <a:latin typeface="Calibri"/>
              </a:rPr>
              <a:t>27.400</a:t>
            </a:r>
            <a:r>
              <a:rPr sz="1600" b="0" i="0">
                <a:solidFill>
                  <a:srgbClr val="333333"/>
                </a:solidFill>
                <a:latin typeface="Calibri"/>
              </a:rPr>
              <a:t> y deja los stocks en 11, 58 y 5.</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Por que el procedimiento no lleva COMMIT ni ROLLBACK</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4 del taller —10 puntos, seleccion unica— y la explicacion de por que la pregunta 2 sale bien sin escribir un ROLLBACK</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La regla de PostgreSQL.</a:t>
            </a:r>
            <a:r>
              <a:rPr sz="1800" b="0" i="0">
                <a:solidFill>
                  <a:srgbClr val="333333"/>
                </a:solidFill>
                <a:latin typeface="Calibri"/>
              </a:rPr>
              <a:t> Un «CALL» escrito por fuera de cualquier «BEGIN» es </a:t>
            </a:r>
            <a:r>
              <a:rPr sz="1800" b="1" i="0">
                <a:solidFill>
                  <a:srgbClr val="333333"/>
                </a:solidFill>
                <a:latin typeface="Calibri"/>
              </a:rPr>
              <a:t>su propia transaccion</a:t>
            </a:r>
            <a:r>
              <a:rPr sz="1800" b="0" i="0">
                <a:solidFill>
                  <a:srgbClr val="333333"/>
                </a:solidFill>
                <a:latin typeface="Calibri"/>
              </a:rPr>
              <a:t>. Si la excepcion se propaga hasta afuera del procedimiento, el motor deshace </a:t>
            </a:r>
            <a:r>
              <a:rPr sz="1800" b="1" i="0">
                <a:solidFill>
                  <a:srgbClr val="333333"/>
                </a:solidFill>
                <a:latin typeface="Calibri"/>
              </a:rPr>
              <a:t>todo</a:t>
            </a:r>
            <a:r>
              <a:rPr sz="1800" b="0" i="0">
                <a:solidFill>
                  <a:srgbClr val="333333"/>
                </a:solidFill>
                <a:latin typeface="Calibri"/>
              </a:rPr>
              <a:t> lo que ese «CALL» habia hecho: la cabecera de la factura, el detalle y el descuento del primer insumo. </a:t>
            </a:r>
            <a:r>
              <a:rPr sz="1800" b="1" i="0">
                <a:solidFill>
                  <a:srgbClr val="333333"/>
                </a:solidFill>
                <a:latin typeface="Calibri"/>
              </a:rPr>
              <a:t>Nadie escribio ROLLBACK</a:t>
            </a:r>
            <a:r>
              <a:rPr sz="1800" b="0" i="0">
                <a:solidFill>
                  <a:srgbClr val="333333"/>
                </a:solidFill>
                <a:latin typeface="Calibri"/>
              </a:rPr>
              <a:t> y la base queda intacta.</a:t>
            </a:r>
          </a:p>
          <a:p>
            <a:pPr>
              <a:spcAft>
                <a:spcPts val="800"/>
              </a:spcAft>
            </a:pPr>
            <a:r>
              <a:rPr sz="1800" b="0" i="0">
                <a:solidFill>
                  <a:srgbClr val="333333"/>
                </a:solidFill>
                <a:latin typeface="Calibri"/>
              </a:rPr>
              <a:t>–   </a:t>
            </a:r>
            <a:r>
              <a:rPr sz="1800" b="1" i="0">
                <a:solidFill>
                  <a:srgbClr val="333333"/>
                </a:solidFill>
                <a:latin typeface="Calibri"/>
              </a:rPr>
              <a:t>Y el savepoint que nadie declara.</a:t>
            </a:r>
            <a:r>
              <a:rPr sz="1800" b="0" i="0">
                <a:solidFill>
                  <a:srgbClr val="333333"/>
                </a:solidFill>
                <a:latin typeface="Calibri"/>
              </a:rPr>
              <a:t> Un bloque «BEGIN ... EXCEPTION WHEN ... END» en PL/pgSQL crea un </a:t>
            </a:r>
            <a:r>
              <a:rPr sz="1800" b="1" i="0">
                <a:solidFill>
                  <a:srgbClr val="333333"/>
                </a:solidFill>
                <a:latin typeface="Calibri"/>
              </a:rPr>
              <a:t>savepoint implicito</a:t>
            </a:r>
            <a:r>
              <a:rPr sz="1800" b="0" i="0">
                <a:solidFill>
                  <a:srgbClr val="333333"/>
                </a:solidFill>
                <a:latin typeface="Calibri"/>
              </a:rPr>
              <a:t> al entrar. Por eso, si tu capturas el error, se revierte solo lo hecho </a:t>
            </a:r>
            <a:r>
              <a:rPr sz="1800" b="1" i="0">
                <a:solidFill>
                  <a:srgbClr val="333333"/>
                </a:solidFill>
                <a:latin typeface="Calibri"/>
              </a:rPr>
              <a:t>dentro de ese bloque</a:t>
            </a:r>
            <a:r>
              <a:rPr sz="1800" b="0" i="0">
                <a:solidFill>
                  <a:srgbClr val="333333"/>
                </a:solidFill>
                <a:latin typeface="Calibri"/>
              </a:rPr>
              <a:t> y el resto sigue vivo. Capturar no es lo mismo que dejar propagar.</a:t>
            </a:r>
          </a:p>
          <a:p>
            <a:pPr>
              <a:spcAft>
                <a:spcPts val="800"/>
              </a:spcAft>
            </a:pPr>
            <a:r>
              <a:rPr sz="1800" b="0" i="0">
                <a:solidFill>
                  <a:srgbClr val="333333"/>
                </a:solidFill>
                <a:latin typeface="Calibri"/>
              </a:rPr>
              <a:t>–   </a:t>
            </a:r>
            <a:r>
              <a:rPr sz="1800" b="1" i="0">
                <a:solidFill>
                  <a:srgbClr val="333333"/>
                </a:solidFill>
                <a:latin typeface="Calibri"/>
              </a:rPr>
              <a:t>El contraste con Oracle, que es lo que se pregunta.</a:t>
            </a:r>
            <a:r>
              <a:rPr sz="1800" b="0" i="0">
                <a:solidFill>
                  <a:srgbClr val="333333"/>
                </a:solidFill>
                <a:latin typeface="Calibri"/>
              </a:rPr>
              <a:t> En Oracle el procedimiento es parte de la transaccion del llamador y ahi si se escribe «EXCEPTION WHEN OTHERS THEN ROLLBACK; RAISE;». En PostgreSQL ese «ROLLBACK» dentro de un procedimiento invocado por un «CALL» de nivel superior </a:t>
            </a:r>
            <a:r>
              <a:rPr sz="1800" b="1" i="0">
                <a:solidFill>
                  <a:srgbClr val="333333"/>
                </a:solidFill>
                <a:latin typeface="Calibri"/>
              </a:rPr>
              <a:t>ni siquiera esta permitido</a:t>
            </a:r>
            <a:r>
              <a:rPr sz="1800" b="0" i="0">
                <a:solidFill>
                  <a:srgbClr val="333333"/>
                </a:solidFill>
                <a:latin typeface="Calibri"/>
              </a:rPr>
              <a:t>.</a:t>
            </a:r>
          </a:p>
          <a:p>
            <a:pPr>
              <a:spcAft>
                <a:spcPts val="800"/>
              </a:spcAft>
            </a:pPr>
            <a:r>
              <a:rPr sz="1800" b="0" i="0">
                <a:solidFill>
                  <a:srgbClr val="333333"/>
                </a:solidFill>
                <a:latin typeface="Calibri"/>
              </a:rPr>
              <a:t>–   </a:t>
            </a:r>
            <a:r>
              <a:rPr sz="1800" b="1" i="0">
                <a:solidFill>
                  <a:srgbClr val="333333"/>
                </a:solidFill>
                <a:latin typeface="Calibri"/>
              </a:rPr>
              <a:t>La consecuencia practica.</a:t>
            </a:r>
            <a:r>
              <a:rPr sz="1800" b="0" i="0">
                <a:solidFill>
                  <a:srgbClr val="333333"/>
                </a:solidFill>
                <a:latin typeface="Calibri"/>
              </a:rPr>
              <a:t> Quien decide el «COMMIT» es </a:t>
            </a:r>
            <a:r>
              <a:rPr sz="1800" b="1" i="0">
                <a:solidFill>
                  <a:srgbClr val="333333"/>
                </a:solidFill>
                <a:latin typeface="Calibri"/>
              </a:rPr>
              <a:t>uno solo</a:t>
            </a:r>
            <a:r>
              <a:rPr sz="1800" b="0" i="0">
                <a:solidFill>
                  <a:srgbClr val="333333"/>
                </a:solidFill>
                <a:latin typeface="Calibri"/>
              </a:rPr>
              <a:t>: el llamador. Un procedimiento que confirma por su cuenta le quita al llamador la posibilidad de deshacer, y es la fuente numero uno de facturas a medias cuando la Clase 12 conecte la aplicacion.</a:t>
            </a:r>
          </a:p>
          <a:p>
            <a:pPr>
              <a:spcAft>
                <a:spcPts val="800"/>
              </a:spcAft>
            </a:pPr>
            <a:r>
              <a:rPr sz="1800" b="0" i="0">
                <a:solidFill>
                  <a:srgbClr val="333333"/>
                </a:solidFill>
                <a:latin typeface="Calibri"/>
              </a:rPr>
              <a:t>–   </a:t>
            </a:r>
            <a:r>
              <a:rPr sz="1800" b="1" i="0">
                <a:solidFill>
                  <a:srgbClr val="333333"/>
                </a:solidFill>
                <a:latin typeface="Calibri"/>
              </a:rPr>
              <a:t>El error que no se perdona.</a:t>
            </a:r>
            <a:r>
              <a:rPr sz="1800" b="0" i="0">
                <a:solidFill>
                  <a:srgbClr val="333333"/>
                </a:solidFill>
                <a:latin typeface="Calibri"/>
              </a:rPr>
              <a:t> Capturar la excepcion y no volver a lanzarla. «EXCEPTION WHEN OTHERS THEN NULL;» </a:t>
            </a:r>
            <a:r>
              <a:rPr sz="1800" b="1" i="0">
                <a:solidFill>
                  <a:srgbClr val="333333"/>
                </a:solidFill>
                <a:latin typeface="Calibri"/>
              </a:rPr>
              <a:t>convierte el fallo en silencio</a:t>
            </a:r>
            <a:r>
              <a:rPr sz="1800" b="0" i="0">
                <a:solidFill>
                  <a:srgbClr val="333333"/>
                </a:solidFill>
                <a:latin typeface="Calibri"/>
              </a:rPr>
              <a:t>: la factura queda registrada, el stock no se descuenta y nadie se entera hasta el inventario.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fn_descontar_stock: cuando «no hay stock» es una respuesta, no un error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3 del taller —15 puntos— y la decision documentada que pide la pregunta 5</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La diferencia.</a:t>
            </a:r>
            <a:r>
              <a:rPr sz="1900" b="0" i="0">
                <a:solidFill>
                  <a:srgbClr val="333333"/>
                </a:solidFill>
                <a:latin typeface="Calibri"/>
              </a:rPr>
              <a:t> El procedimiento </a:t>
            </a:r>
            <a:r>
              <a:rPr sz="1900" b="1" i="0">
                <a:solidFill>
                  <a:srgbClr val="333333"/>
                </a:solidFill>
                <a:latin typeface="Calibri"/>
              </a:rPr>
              <a:t>aborta</a:t>
            </a:r>
            <a:r>
              <a:rPr sz="1900" b="0" i="0">
                <a:solidFill>
                  <a:srgbClr val="333333"/>
                </a:solidFill>
                <a:latin typeface="Calibri"/>
              </a:rPr>
              <a:t> la factura completa; la funcion </a:t>
            </a:r>
            <a:r>
              <a:rPr sz="1900" b="1" i="0">
                <a:solidFill>
                  <a:srgbClr val="333333"/>
                </a:solidFill>
                <a:latin typeface="Calibri"/>
              </a:rPr>
              <a:t>informa</a:t>
            </a:r>
            <a:r>
              <a:rPr sz="1900" b="0" i="0">
                <a:solidFill>
                  <a:srgbClr val="333333"/>
                </a:solidFill>
                <a:latin typeface="Calibri"/>
              </a:rPr>
              <a:t> y deja que el llamador decida. La misma regla de negocio, dos contratos distintos, y hay que saber cual se pide.</a:t>
            </a:r>
          </a:p>
          <a:p>
            <a:pPr>
              <a:spcAft>
                <a:spcPts val="800"/>
              </a:spcAft>
            </a:pPr>
            <a:r>
              <a:rPr sz="1900" b="0" i="0">
                <a:solidFill>
                  <a:srgbClr val="333333"/>
                </a:solidFill>
                <a:latin typeface="Calibri"/>
              </a:rPr>
              <a:t>–   </a:t>
            </a:r>
            <a:r>
              <a:rPr sz="1900" b="1" i="0">
                <a:solidFill>
                  <a:srgbClr val="333333"/>
                </a:solidFill>
                <a:latin typeface="Calibri"/>
              </a:rPr>
              <a:t>La firma, y su palabra clave.</a:t>
            </a:r>
            <a:r>
              <a:rPr sz="1900" b="0" i="0">
                <a:solidFill>
                  <a:srgbClr val="333333"/>
                </a:solidFill>
                <a:latin typeface="Calibri"/>
              </a:rPr>
              <a:t> «CREATE OR REPLACE FUNCTION fn_descontar_stock(p_id_insumo INT, p_cantidad INT) RETURNS BOOLEAN LANGUAGE plpgsql AS $$ ...» — </a:t>
            </a:r>
            <a:r>
              <a:rPr sz="1900" b="1" i="0">
                <a:solidFill>
                  <a:srgbClr val="333333"/>
                </a:solidFill>
                <a:latin typeface="Calibri"/>
              </a:rPr>
              <a:t>«RETURNS BOOLEAN»</a:t>
            </a:r>
            <a:r>
              <a:rPr sz="1900" b="0" i="0">
                <a:solidFill>
                  <a:srgbClr val="333333"/>
                </a:solidFill>
                <a:latin typeface="Calibri"/>
              </a:rPr>
              <a:t>, no «PROCEDURE». Devuelve «TRUE» si desconto y «FALSE» si no habia suficiente, </a:t>
            </a:r>
            <a:r>
              <a:rPr sz="1900" b="1" i="0">
                <a:solidFill>
                  <a:srgbClr val="333333"/>
                </a:solidFill>
                <a:latin typeface="Calibri"/>
              </a:rPr>
              <a:t>sin lanzar excepcion</a:t>
            </a:r>
            <a:r>
              <a:rPr sz="1900" b="0" i="0">
                <a:solidFill>
                  <a:srgbClr val="333333"/>
                </a:solidFill>
                <a:latin typeface="Calibri"/>
              </a:rPr>
              <a:t> en ese segundo caso.</a:t>
            </a:r>
          </a:p>
          <a:p>
            <a:pPr>
              <a:spcAft>
                <a:spcPts val="800"/>
              </a:spcAft>
            </a:pPr>
            <a:r>
              <a:rPr sz="1900" b="0" i="0">
                <a:solidFill>
                  <a:srgbClr val="333333"/>
                </a:solidFill>
                <a:latin typeface="Calibri"/>
              </a:rPr>
              <a:t>–   </a:t>
            </a:r>
            <a:r>
              <a:rPr sz="1900" b="1" i="0">
                <a:solidFill>
                  <a:srgbClr val="333333"/>
                </a:solidFill>
                <a:latin typeface="Calibri"/>
              </a:rPr>
              <a:t>Lo que si es un error.</a:t>
            </a:r>
            <a:r>
              <a:rPr sz="1900" b="0" i="0">
                <a:solidFill>
                  <a:srgbClr val="333333"/>
                </a:solidFill>
                <a:latin typeface="Calibri"/>
              </a:rPr>
              <a:t> Una cantidad negativa o cero no es «no hay stock», es una llamada mal hecha: eso </a:t>
            </a:r>
            <a:r>
              <a:rPr sz="1900" b="1" i="0">
                <a:solidFill>
                  <a:srgbClr val="333333"/>
                </a:solidFill>
                <a:latin typeface="Calibri"/>
              </a:rPr>
              <a:t>si</a:t>
            </a:r>
            <a:r>
              <a:rPr sz="1900" b="0" i="0">
                <a:solidFill>
                  <a:srgbClr val="333333"/>
                </a:solidFill>
                <a:latin typeface="Calibri"/>
              </a:rPr>
              <a:t> va con «RAISE EXCEPTION». Distinguir el dato invalido del resultado negativo es la mitad de la pregunta.</a:t>
            </a:r>
          </a:p>
          <a:p>
            <a:pPr>
              <a:spcAft>
                <a:spcPts val="800"/>
              </a:spcAft>
            </a:pPr>
            <a:r>
              <a:rPr sz="1900" b="0" i="0">
                <a:solidFill>
                  <a:srgbClr val="333333"/>
                </a:solidFill>
                <a:latin typeface="Calibri"/>
              </a:rPr>
              <a:t>–   </a:t>
            </a:r>
            <a:r>
              <a:rPr sz="1900" b="1" i="0">
                <a:solidFill>
                  <a:srgbClr val="333333"/>
                </a:solidFill>
                <a:latin typeface="Calibri"/>
              </a:rPr>
              <a:t>Se prueba en una sola consulta.</a:t>
            </a:r>
            <a:r>
              <a:rPr sz="1900" b="0" i="0">
                <a:solidFill>
                  <a:srgbClr val="333333"/>
                </a:solidFill>
                <a:latin typeface="Calibri"/>
              </a:rPr>
              <a:t> «SELECT fn_descontar_stock(5,3) AS caso_ok, fn_descontar_stock(2,10) AS caso_sin_stock, fn_descontar_stock(2,3) AS caso_limite;» -&gt; </a:t>
            </a:r>
            <a:r>
              <a:rPr sz="1900" b="1" i="0">
                <a:solidFill>
                  <a:srgbClr val="333333"/>
                </a:solidFill>
                <a:latin typeface="Calibri"/>
              </a:rPr>
              <a:t>«true», «false», «true»</a:t>
            </a:r>
            <a:r>
              <a:rPr sz="1900" b="0" i="0">
                <a:solidFill>
                  <a:srgbClr val="333333"/>
                </a:solidFill>
                <a:latin typeface="Calibri"/>
              </a:rPr>
              <a:t>. El tercer caso es el interesante: pide </a:t>
            </a:r>
            <a:r>
              <a:rPr sz="1900" b="1" i="0">
                <a:solidFill>
                  <a:srgbClr val="333333"/>
                </a:solidFill>
                <a:latin typeface="Calibri"/>
              </a:rPr>
              <a:t>exactamente</a:t>
            </a:r>
            <a:r>
              <a:rPr sz="1900" b="0" i="0">
                <a:solidFill>
                  <a:srgbClr val="333333"/>
                </a:solidFill>
                <a:latin typeface="Calibri"/>
              </a:rPr>
              <a:t> el stock que queda, y con «&gt;=» en el guardia tiene que pasar.</a:t>
            </a:r>
          </a:p>
          <a:p>
            <a:pPr>
              <a:spcAft>
                <a:spcPts val="800"/>
              </a:spcAft>
            </a:pPr>
            <a:r>
              <a:rPr sz="1900" b="0" i="0">
                <a:solidFill>
                  <a:srgbClr val="333333"/>
                </a:solidFill>
                <a:latin typeface="Calibri"/>
              </a:rPr>
              <a:t>–   </a:t>
            </a:r>
            <a:r>
              <a:rPr sz="1900" b="1" i="0">
                <a:solidFill>
                  <a:srgbClr val="333333"/>
                </a:solidFill>
                <a:latin typeface="Calibri"/>
              </a:rPr>
              <a:t>Por que no leer primero.</a:t>
            </a:r>
            <a:r>
              <a:rPr sz="1900" b="0" i="0">
                <a:solidFill>
                  <a:srgbClr val="333333"/>
                </a:solidFill>
                <a:latin typeface="Calibri"/>
              </a:rPr>
              <a:t> «SELECT stock ...; IF stock &gt;= cantidad THEN UPDATE ...» deja una </a:t>
            </a:r>
            <a:r>
              <a:rPr sz="1900" b="1" i="0">
                <a:solidFill>
                  <a:srgbClr val="333333"/>
                </a:solidFill>
                <a:latin typeface="Calibri"/>
              </a:rPr>
              <a:t>ventana</a:t>
            </a:r>
            <a:r>
              <a:rPr sz="1900" b="0" i="0">
                <a:solidFill>
                  <a:srgbClr val="333333"/>
                </a:solidFill>
                <a:latin typeface="Calibri"/>
              </a:rPr>
              <a:t> entre la lectura y la escritura, y con dos recepcionistas facturando el mismo insumo las dos leen 3, las dos deciden que alcanza y el stock termina en </a:t>
            </a:r>
            <a:r>
              <a:rPr sz="1900" b="1" i="0">
                <a:solidFill>
                  <a:srgbClr val="333333"/>
                </a:solidFill>
                <a:latin typeface="Calibri"/>
              </a:rPr>
              <a:t>-2</a:t>
            </a:r>
            <a:r>
              <a:rPr sz="1900" b="0" i="0">
                <a:solidFill>
                  <a:srgbClr val="333333"/>
                </a:solidFill>
                <a:latin typeface="Calibri"/>
              </a:rPr>
              <a:t>. El «UPDATE» con la condicion en el «WHERE» no tiene ventana. Aqui no se puede demostrar —PGlite corre </a:t>
            </a:r>
            <a:r>
              <a:rPr sz="1900" b="1" i="0">
                <a:solidFill>
                  <a:srgbClr val="333333"/>
                </a:solidFill>
                <a:latin typeface="Calibri"/>
              </a:rPr>
              <a:t>una sola sesion</a:t>
            </a:r>
            <a:r>
              <a:rPr sz="1900" b="0" i="0">
                <a:solidFill>
                  <a:srgbClr val="333333"/>
                </a:solidFill>
                <a:latin typeface="Calibri"/>
              </a:rPr>
              <a:t>— y ese es el gap que se declara y que abre la Clase 10.</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en el navegador</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CALL sp_facturar(4, ARRAY[1,6,5], ARRAY[1,2,3]) que factura 27.400, y CALL sp_facturar(4, ARRAY[3,2], ARRAY[2,10]) que falla en la segunda linea: el stock del insumo 3 vuelve a 40 sin ROLLBACK escrito.</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amlab.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PL/pgSQL: aqui corre</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Checklist de tuning</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oracle_livesql.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Oracle Live SQL</a:t>
            </a:r>
          </a:p>
          <a:p>
            <a:pPr algn="ctr">
              <a:spcBef>
                <a:spcPts val="200"/>
              </a:spcBef>
            </a:pPr>
            <a:r>
              <a:rPr sz="1000" b="0" i="0">
                <a:solidFill>
                  <a:srgbClr val="666666"/>
                </a:solidFill>
                <a:latin typeface="Calibri"/>
              </a:rPr>
              <a:t>Solo contraste (pregunta 4)</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contexto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qué importa al PI:</a:t>
            </a:r>
            <a:r>
              <a:rPr sz="2000" b="0" i="0">
                <a:solidFill>
                  <a:srgbClr val="333333"/>
                </a:solidFill>
                <a:latin typeface="Calibri"/>
              </a:rPr>
              <a:t> facturar es la operación donde Huellitas </a:t>
            </a:r>
            <a:r>
              <a:rPr sz="2000" b="1" i="0">
                <a:solidFill>
                  <a:srgbClr val="333333"/>
                </a:solidFill>
                <a:latin typeface="Calibri"/>
              </a:rPr>
              <a:t>pierde plata</a:t>
            </a:r>
            <a:r>
              <a:rPr sz="2000" b="0" i="0">
                <a:solidFill>
                  <a:srgbClr val="333333"/>
                </a:solidFill>
                <a:latin typeface="Calibri"/>
              </a:rPr>
              <a:t> si algo queda a medias: una factura sin líneas, o un stock descontado de una factura que nunca existió.</a:t>
            </a:r>
          </a:p>
          <a:p>
            <a:pPr>
              <a:spcAft>
                <a:spcPts val="800"/>
              </a:spcAft>
            </a:pPr>
            <a:r>
              <a:rPr sz="2000" b="0" i="0">
                <a:solidFill>
                  <a:srgbClr val="333333"/>
                </a:solidFill>
                <a:latin typeface="Calibri"/>
              </a:rPr>
              <a:t>–   Hoy no se evalúa que el procedimiento </a:t>
            </a:r>
            <a:r>
              <a:rPr sz="2000" b="1" i="0">
                <a:solidFill>
                  <a:srgbClr val="333333"/>
                </a:solidFill>
                <a:latin typeface="Calibri"/>
              </a:rPr>
              <a:t>funcione</a:t>
            </a:r>
            <a:r>
              <a:rPr sz="2000" b="0" i="0">
                <a:solidFill>
                  <a:srgbClr val="333333"/>
                </a:solidFill>
                <a:latin typeface="Calibri"/>
              </a:rPr>
              <a:t>, sino que </a:t>
            </a:r>
            <a:r>
              <a:rPr sz="2000" b="1" i="0">
                <a:solidFill>
                  <a:srgbClr val="333333"/>
                </a:solidFill>
                <a:latin typeface="Calibri"/>
              </a:rPr>
              <a:t>falle bien</a:t>
            </a:r>
            <a:r>
              <a:rPr sz="2000" b="0" i="0">
                <a:solidFill>
                  <a:srgbClr val="333333"/>
                </a:solidFill>
                <a:latin typeface="Calibri"/>
              </a:rPr>
              <a:t>: la pregunta 2 vale 25 puntos y consiste en romperlo a propósito y demostrar con datos que la base quedó intacta.</a:t>
            </a:r>
          </a:p>
          <a:p>
            <a:pPr>
              <a:spcAft>
                <a:spcPts val="800"/>
              </a:spcAft>
            </a:pPr>
            <a:r>
              <a:rPr sz="2000" b="0" i="0">
                <a:solidFill>
                  <a:srgbClr val="333333"/>
                </a:solidFill>
                <a:latin typeface="Calibri"/>
              </a:rPr>
              <a:t>–   El patrón que aprendes hoy — comprobar y escribir en </a:t>
            </a:r>
            <a:r>
              <a:rPr sz="2000" b="1" i="0">
                <a:solidFill>
                  <a:srgbClr val="333333"/>
                </a:solidFill>
                <a:latin typeface="Calibri"/>
              </a:rPr>
              <a:t>una sola sentencia</a:t>
            </a:r>
            <a:r>
              <a:rPr sz="2000" b="0" i="0">
                <a:solidFill>
                  <a:srgbClr val="333333"/>
                </a:solidFill>
                <a:latin typeface="Calibri"/>
              </a:rPr>
              <a:t> — es el que evita el stock negativo cuando hay dos recepcionistas facturando. Que aquí no puedas montar las dos sesiones es la </a:t>
            </a:r>
            <a:r>
              <a:rPr sz="2000" b="1" i="0">
                <a:solidFill>
                  <a:srgbClr val="333333"/>
                </a:solidFill>
                <a:latin typeface="Calibri"/>
              </a:rPr>
              <a:t>Clase 10</a:t>
            </a:r>
            <a:r>
              <a:rPr sz="2000" b="0" i="0">
                <a:solidFill>
                  <a:srgbClr val="333333"/>
                </a:solidFill>
                <a:latin typeface="Calibri"/>
              </a:rPr>
              <a:t>, y declararlo suma puntos.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objetivo y criterios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Objetivo:</a:t>
            </a:r>
            <a:r>
              <a:rPr sz="2000" b="0" i="0">
                <a:solidFill>
                  <a:srgbClr val="333333"/>
                </a:solidFill>
                <a:latin typeface="Calibri"/>
              </a:rPr>
              <a:t> La transacción de facturación implementada como procedimiento atómico, su atomicidad demostrada con foto antes y después de un fallo a mitad de camino, el patrón de descuento seguro encapsulado en una función, y la sección «Transacciones y tuning» del informe del PI.</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«sp_facturar(p_id_consulta INT, p_insumos INT[], p_cantidades INT[])» con la firma exacta: cabecera en total 0 con «RETURNING … INTO», bucle por línea, «UPDATE» condicional con «GET DIAGNOSTICS … ROW_COUNT» y «RAISE EXCEPTION» si no alcanza.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caso exitoso ejecutado y evidenciado: factura por </a:t>
            </a:r>
            <a:r>
              <a:rPr sz="2000" b="1" i="0">
                <a:solidFill>
                  <a:srgbClr val="333333"/>
                </a:solidFill>
                <a:latin typeface="Calibri"/>
              </a:rPr>
              <a:t>27.400</a:t>
            </a:r>
            <a:r>
              <a:rPr sz="2000" b="0" i="0">
                <a:solidFill>
                  <a:srgbClr val="333333"/>
                </a:solidFill>
                <a:latin typeface="Calibri"/>
              </a:rPr>
              <a:t> y los insumos 1, 6 y 5 en </a:t>
            </a:r>
            <a:r>
              <a:rPr sz="2000" b="1" i="0">
                <a:solidFill>
                  <a:srgbClr val="333333"/>
                </a:solidFill>
                <a:latin typeface="Calibri"/>
              </a:rPr>
              <a:t>11, 58 y 5</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 atomicidad probada con </a:t>
            </a:r>
            <a:r>
              <a:rPr sz="2000" b="1" i="0">
                <a:solidFill>
                  <a:srgbClr val="333333"/>
                </a:solidFill>
                <a:latin typeface="Calibri"/>
              </a:rPr>
              <a:t>la misma consulta</a:t>
            </a:r>
            <a:r>
              <a:rPr sz="2000" b="0" i="0">
                <a:solidFill>
                  <a:srgbClr val="333333"/>
                </a:solidFill>
                <a:latin typeface="Calibri"/>
              </a:rPr>
              <a:t> de foto inicial y final, y dicho con datos que el stock del insumo 3 </a:t>
            </a:r>
            <a:r>
              <a:rPr sz="2000" b="1" i="0">
                <a:solidFill>
                  <a:srgbClr val="333333"/>
                </a:solidFill>
                <a:latin typeface="Calibri"/>
              </a:rPr>
              <a:t>volvió a 40</a:t>
            </a:r>
            <a:r>
              <a:rPr sz="2000" b="0" i="0">
                <a:solidFill>
                  <a:srgbClr val="333333"/>
                </a:solidFill>
                <a:latin typeface="Calibri"/>
              </a:rPr>
              <a:t> y que no quedó factura ni línea huérfana.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«fn_descontar_stock» devolviendo «BOOLEAN» — </a:t>
            </a:r>
            <a:r>
              <a:rPr sz="2000" b="1" i="0">
                <a:solidFill>
                  <a:srgbClr val="333333"/>
                </a:solidFill>
                <a:latin typeface="Calibri"/>
              </a:rPr>
              <a:t>«FALSE», no excepción</a:t>
            </a:r>
            <a:r>
              <a:rPr sz="2000" b="0" i="0">
                <a:solidFill>
                  <a:srgbClr val="333333"/>
                </a:solidFill>
                <a:latin typeface="Calibri"/>
              </a:rPr>
              <a:t>, cuando no hay stock — con la prueba que arroja «true / false / true» y ningún stock negativo.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 sección del informe con sus 4 bloques: </a:t>
            </a:r>
            <a:r>
              <a:rPr sz="2000" b="1" i="0">
                <a:solidFill>
                  <a:srgbClr val="333333"/>
                </a:solidFill>
                <a:latin typeface="Calibri"/>
              </a:rPr>
              <a:t>3 transacciones</a:t>
            </a:r>
            <a:r>
              <a:rPr sz="2000" b="0" i="0">
                <a:solidFill>
                  <a:srgbClr val="333333"/>
                </a:solidFill>
                <a:latin typeface="Calibri"/>
              </a:rPr>
              <a:t> con su punto de fallo, el checklist de </a:t>
            </a:r>
            <a:r>
              <a:rPr sz="2000" b="1" i="0">
                <a:solidFill>
                  <a:srgbClr val="333333"/>
                </a:solidFill>
                <a:latin typeface="Calibri"/>
              </a:rPr>
              <a:t>7 ítems</a:t>
            </a:r>
            <a:r>
              <a:rPr sz="2000" b="0" i="0">
                <a:solidFill>
                  <a:srgbClr val="333333"/>
                </a:solidFill>
                <a:latin typeface="Calibri"/>
              </a:rPr>
              <a:t> con estado y evidencia, la decisión documentada y el gap de concurrencia.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Entrega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escenario / datos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esquema de VetCare ya está creado y poblado: consultas </a:t>
            </a:r>
            <a:r>
              <a:rPr sz="2000" b="1" i="0">
                <a:solidFill>
                  <a:srgbClr val="333333"/>
                </a:solidFill>
                <a:latin typeface="Calibri"/>
              </a:rPr>
              <a:t>1 a 4</a:t>
            </a:r>
            <a:r>
              <a:rPr sz="2000" b="0" i="0">
                <a:solidFill>
                  <a:srgbClr val="333333"/>
                </a:solidFill>
                <a:latin typeface="Calibri"/>
              </a:rPr>
              <a:t>, facturas 1 a 3 con sus 8 líneas de detalle, y </a:t>
            </a:r>
            <a:r>
              <a:rPr sz="2000" b="1" i="0">
                <a:solidFill>
                  <a:srgbClr val="333333"/>
                </a:solidFill>
                <a:latin typeface="Calibri"/>
              </a:rPr>
              <a:t>6 insumos</a:t>
            </a:r>
            <a:r>
              <a:rPr sz="2000" b="0" i="0">
                <a:solidFill>
                  <a:srgbClr val="333333"/>
                </a:solidFill>
                <a:latin typeface="Calibri"/>
              </a:rPr>
              <a:t> con stock 12, </a:t>
            </a:r>
            <a:r>
              <a:rPr sz="2000" b="1" i="0">
                <a:solidFill>
                  <a:srgbClr val="333333"/>
                </a:solidFill>
                <a:latin typeface="Calibri"/>
              </a:rPr>
              <a:t>3</a:t>
            </a:r>
            <a:r>
              <a:rPr sz="2000" b="0" i="0">
                <a:solidFill>
                  <a:srgbClr val="333333"/>
                </a:solidFill>
                <a:latin typeface="Calibri"/>
              </a:rPr>
              <a:t>, 40, 25, </a:t>
            </a:r>
            <a:r>
              <a:rPr sz="2000" b="1" i="0">
                <a:solidFill>
                  <a:srgbClr val="333333"/>
                </a:solidFill>
                <a:latin typeface="Calibri"/>
              </a:rPr>
              <a:t>8</a:t>
            </a:r>
            <a:r>
              <a:rPr sz="2000" b="0" i="0">
                <a:solidFill>
                  <a:srgbClr val="333333"/>
                </a:solidFill>
                <a:latin typeface="Calibri"/>
              </a:rPr>
              <a:t> y 60.</a:t>
            </a:r>
          </a:p>
          <a:p>
            <a:pPr>
              <a:spcAft>
                <a:spcPts val="800"/>
              </a:spcAft>
            </a:pPr>
            <a:r>
              <a:rPr sz="2000" b="0" i="0">
                <a:solidFill>
                  <a:srgbClr val="333333"/>
                </a:solidFill>
                <a:latin typeface="Calibri"/>
              </a:rPr>
              <a:t>–   Los stocks bajos son </a:t>
            </a:r>
            <a:r>
              <a:rPr sz="2000" b="1" i="0">
                <a:solidFill>
                  <a:srgbClr val="333333"/>
                </a:solidFill>
                <a:latin typeface="Calibri"/>
              </a:rPr>
              <a:t>deliberados</a:t>
            </a:r>
            <a:r>
              <a:rPr sz="2000" b="0" i="0">
                <a:solidFill>
                  <a:srgbClr val="333333"/>
                </a:solidFill>
                <a:latin typeface="Calibri"/>
              </a:rPr>
              <a:t>: el insumo 2 con 3 unidades es el que va a hacer fallar la factura de la pregunta 2, y el insumo 3 con 40 es el que tiene que </a:t>
            </a:r>
            <a:r>
              <a:rPr sz="2000" b="1" i="0">
                <a:solidFill>
                  <a:srgbClr val="333333"/>
                </a:solidFill>
                <a:latin typeface="Calibri"/>
              </a:rPr>
              <a:t>volver</a:t>
            </a:r>
            <a:r>
              <a:rPr sz="2000" b="0" i="0">
                <a:solidFill>
                  <a:srgbClr val="333333"/>
                </a:solidFill>
                <a:latin typeface="Calibri"/>
              </a:rPr>
              <a:t> a 40.</a:t>
            </a:r>
          </a:p>
          <a:p>
            <a:pPr>
              <a:spcAft>
                <a:spcPts val="800"/>
              </a:spcAft>
            </a:pPr>
            <a:r>
              <a:rPr sz="2000" b="0" i="0">
                <a:solidFill>
                  <a:srgbClr val="333333"/>
                </a:solidFill>
                <a:latin typeface="Calibri"/>
              </a:rPr>
              <a:t>–   La consulta 4 es la única </a:t>
            </a:r>
            <a:r>
              <a:rPr sz="2000" b="1" i="0">
                <a:solidFill>
                  <a:srgbClr val="333333"/>
                </a:solidFill>
                <a:latin typeface="Calibri"/>
              </a:rPr>
              <a:t>sin facturar</a:t>
            </a:r>
            <a:r>
              <a:rPr sz="2000" b="0" i="0">
                <a:solidFill>
                  <a:srgbClr val="333333"/>
                </a:solidFill>
                <a:latin typeface="Calibri"/>
              </a:rPr>
              <a:t>: es la que vas a facturar tú.</a:t>
            </a:r>
          </a:p>
          <a:p>
            <a:pPr>
              <a:spcAft>
                <a:spcPts val="800"/>
              </a:spcAft>
            </a:pPr>
            <a:r>
              <a:rPr sz="2000" b="0" i="0">
                <a:solidFill>
                  <a:srgbClr val="333333"/>
                </a:solidFill>
                <a:latin typeface="Calibri"/>
              </a:rPr>
              <a:t>–   En la pregunta 2 el «sp_facturar» </a:t>
            </a:r>
            <a:r>
              <a:rPr sz="2000" b="1" i="0">
                <a:solidFill>
                  <a:srgbClr val="333333"/>
                </a:solidFill>
                <a:latin typeface="Calibri"/>
              </a:rPr>
              <a:t>ya viene creado</a:t>
            </a:r>
            <a:r>
              <a:rPr sz="2000" b="0" i="0">
                <a:solidFill>
                  <a:srgbClr val="333333"/>
                </a:solidFill>
                <a:latin typeface="Calibri"/>
              </a:rPr>
              <a:t> (versión de referencia), así que puedes demostrar la atomicidad aunque tu propio procedimiento de la pregunta 1 te haya quedado a medias.</a:t>
            </a:r>
          </a:p>
          <a:p>
            <a:pPr>
              <a:spcAft>
                <a:spcPts val="800"/>
              </a:spcAft>
            </a:pPr>
            <a:r>
              <a:rPr sz="2000" b="0" i="0">
                <a:solidFill>
                  <a:srgbClr val="333333"/>
                </a:solidFill>
                <a:latin typeface="Calibri"/>
              </a:rPr>
              <a:t>–   </a:t>
            </a:r>
            <a:r>
              <a:rPr sz="2000" b="1" i="0">
                <a:solidFill>
                  <a:srgbClr val="333333"/>
                </a:solidFill>
                <a:latin typeface="Calibri"/>
              </a:rPr>
              <a:t>Motor:</a:t>
            </a:r>
            <a:r>
              <a:rPr sz="2000" b="0" i="0">
                <a:solidFill>
                  <a:srgbClr val="333333"/>
                </a:solidFill>
                <a:latin typeface="Calibri"/>
              </a:rPr>
              <a:t> PostgreSQL dentro de la plataforma del curso, en el navegador. PL/pgSQL, «CALL», «GET DIAGNOSTICS» y los bloques «DO $$ … EXCEPTION» corren de verdad. Corre con </a:t>
            </a:r>
            <a:r>
              <a:rPr sz="2000" b="1" i="0">
                <a:solidFill>
                  <a:srgbClr val="333333"/>
                </a:solidFill>
                <a:latin typeface="Calibri"/>
              </a:rPr>
              <a:t>una sola sesión</a:t>
            </a:r>
            <a:r>
              <a:rPr sz="2000" b="0" i="0">
                <a:solidFill>
                  <a:srgbClr val="333333"/>
                </a:solidFill>
                <a:latin typeface="Calibri"/>
              </a:rPr>
              <a:t>: la concurrencia real no se puede montar aquí, y eso es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Escribir sp_facturar(p_id_consulta, p_insumos INT[], p_cantidades INT[]) en PL/pgSQL: cabecera con total 0, bucle por linea con el guardia stock &gt;= cantidad, y UPDATE del total al final.</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Probar el fallo a mitad con ARRAY[3,2] / ARRAY[2,10] y demostrar con foto inicial y final que el stock del insumo 3 volvio a 40.</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Encapsular el descuento en fn_descontar_stock, que devuelve BOOLEAN y no lanza excepcion.</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Llenar la seccion Transacciones y tuning del informe: inventario de 3 transacciones y checklist de 7 items.</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Declarar el gap de concurrencia: PGlite corre una sola sesion, y eso es la Clase 10.</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pistas (checklist vacio)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 ¿Usaste «GET DIAGNOSTICS v_filas = ROW_COUNT;»? En PostgreSQL </a:t>
            </a:r>
            <a:r>
              <a:rPr sz="1500" b="1" i="0">
                <a:solidFill>
                  <a:srgbClr val="333333"/>
                </a:solidFill>
                <a:latin typeface="Calibri"/>
              </a:rPr>
              <a:t>no existe</a:t>
            </a:r>
            <a:r>
              <a:rPr sz="1500" b="0" i="0">
                <a:solidFill>
                  <a:srgbClr val="333333"/>
                </a:solidFill>
                <a:latin typeface="Calibri"/>
              </a:rPr>
              <a:t> «SQL%ROWCOUNT».</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 ¿Dejaste algún «COMMIT» dentro del procedimiento? No va: el «CALL» de nivel superior </a:t>
            </a:r>
            <a:r>
              <a:rPr sz="1500" b="1" i="0">
                <a:solidFill>
                  <a:srgbClr val="333333"/>
                </a:solidFill>
                <a:latin typeface="Calibri"/>
              </a:rPr>
              <a:t>ya es</a:t>
            </a:r>
            <a:r>
              <a:rPr sz="1500" b="0" i="0">
                <a:solidFill>
                  <a:srgbClr val="333333"/>
                </a:solidFill>
                <a:latin typeface="Calibri"/>
              </a:rPr>
              <a:t> su propia transacción.</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 ¿El descuento va con la condición «AND stock &gt;= p_cantidades[i]» </a:t>
            </a:r>
            <a:r>
              <a:rPr sz="1500" b="1" i="0">
                <a:solidFill>
                  <a:srgbClr val="333333"/>
                </a:solidFill>
                <a:latin typeface="Calibri"/>
              </a:rPr>
              <a:t>dentro del</a:t>
            </a:r>
            <a:r>
              <a:rPr sz="1500" b="0" i="0">
                <a:solidFill>
                  <a:srgbClr val="333333"/>
                </a:solidFill>
                <a:latin typeface="Calibri"/>
              </a:rPr>
              <a:t> «WHERE», o leíste el stock primero y decidiste después?</a:t>
            </a:r>
          </a:p>
        </p:txBody>
      </p:sp>
      <p:sp>
        <p:nvSpPr>
          <p:cNvPr id="17" name="Rounded Rectangle 16"/>
          <p:cNvSpPr/>
          <p:nvPr/>
        </p:nvSpPr>
        <p:spPr>
          <a:xfrm>
            <a:off x="457200" y="3291840"/>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438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438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3383280"/>
            <a:ext cx="10362895" cy="402336"/>
          </a:xfrm>
          <a:prstGeom prst="rect">
            <a:avLst/>
          </a:prstGeom>
          <a:noFill/>
        </p:spPr>
        <p:txBody>
          <a:bodyPr wrap="square" anchor="ctr"/>
          <a:lstStyle/>
          <a:p>
            <a:r>
              <a:rPr sz="1500" b="0" i="0">
                <a:solidFill>
                  <a:srgbClr val="333333"/>
                </a:solidFill>
                <a:latin typeface="Calibri"/>
              </a:rPr>
              <a:t>□ ¿La factura del caso exitoso quedó en </a:t>
            </a:r>
            <a:r>
              <a:rPr sz="1500" b="1" i="0">
                <a:solidFill>
                  <a:srgbClr val="333333"/>
                </a:solidFill>
                <a:latin typeface="Calibri"/>
              </a:rPr>
              <a:t>27.400</a:t>
            </a:r>
            <a:r>
              <a:rPr sz="1500" b="0" i="0">
                <a:solidFill>
                  <a:srgbClr val="333333"/>
                </a:solidFill>
                <a:latin typeface="Calibri"/>
              </a:rPr>
              <a:t> y los stocks en 11, 58 y 5? Si no cuadra, revisa que uses el «precio_unit» </a:t>
            </a:r>
            <a:r>
              <a:rPr sz="1500" b="1" i="0">
                <a:solidFill>
                  <a:srgbClr val="333333"/>
                </a:solidFill>
                <a:latin typeface="Calibri"/>
              </a:rPr>
              <a:t>del insumo</a:t>
            </a:r>
            <a:r>
              <a:rPr sz="1500" b="0" i="0">
                <a:solidFill>
                  <a:srgbClr val="333333"/>
                </a:solidFill>
                <a:latin typeface="Calibri"/>
              </a:rPr>
              <a:t> y no el de la consulta.</a:t>
            </a:r>
          </a:p>
        </p:txBody>
      </p:sp>
      <p:sp>
        <p:nvSpPr>
          <p:cNvPr id="21" name="Rounded Rectangle 20"/>
          <p:cNvSpPr/>
          <p:nvPr/>
        </p:nvSpPr>
        <p:spPr>
          <a:xfrm>
            <a:off x="457200" y="3968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114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114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059936"/>
            <a:ext cx="10362895" cy="402336"/>
          </a:xfrm>
          <a:prstGeom prst="rect">
            <a:avLst/>
          </a:prstGeom>
          <a:noFill/>
        </p:spPr>
        <p:txBody>
          <a:bodyPr wrap="square" anchor="ctr"/>
          <a:lstStyle/>
          <a:p>
            <a:r>
              <a:rPr sz="1500" b="0" i="0">
                <a:solidFill>
                  <a:srgbClr val="333333"/>
                </a:solidFill>
                <a:latin typeface="Calibri"/>
              </a:rPr>
              <a:t>□ ¿La foto inicial y la foto final son </a:t>
            </a:r>
            <a:r>
              <a:rPr sz="1500" b="1" i="0">
                <a:solidFill>
                  <a:srgbClr val="333333"/>
                </a:solidFill>
                <a:latin typeface="Calibri"/>
              </a:rPr>
              <a:t>exactamente la misma</a:t>
            </a:r>
            <a:r>
              <a:rPr sz="1500" b="0" i="0">
                <a:solidFill>
                  <a:srgbClr val="333333"/>
                </a:solidFill>
                <a:latin typeface="Calibri"/>
              </a:rPr>
              <a:t> consulta? Si cambias la consulta, la comparación no prueba nada.</a:t>
            </a:r>
          </a:p>
        </p:txBody>
      </p:sp>
      <p:sp>
        <p:nvSpPr>
          <p:cNvPr id="25" name="Rounded Rectangle 24"/>
          <p:cNvSpPr/>
          <p:nvPr/>
        </p:nvSpPr>
        <p:spPr>
          <a:xfrm>
            <a:off x="457200" y="4645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4791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4791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4736592"/>
            <a:ext cx="10362895" cy="402336"/>
          </a:xfrm>
          <a:prstGeom prst="rect">
            <a:avLst/>
          </a:prstGeom>
          <a:noFill/>
        </p:spPr>
        <p:txBody>
          <a:bodyPr wrap="square" anchor="ctr"/>
          <a:lstStyle/>
          <a:p>
            <a:r>
              <a:rPr sz="1500" b="0" i="0">
                <a:solidFill>
                  <a:srgbClr val="333333"/>
                </a:solidFill>
                <a:latin typeface="Calibri"/>
              </a:rPr>
              <a:t>□ ¿Envolviste el intento que debe fallar en «DO $$ … EXCEPTION WHEN OTHERS»? Sin eso el script se detiene y no alcanzas a tomar la foto final.</a:t>
            </a:r>
          </a:p>
        </p:txBody>
      </p:sp>
      <p:sp>
        <p:nvSpPr>
          <p:cNvPr id="29" name="Rounded Rectangle 28"/>
          <p:cNvSpPr/>
          <p:nvPr/>
        </p:nvSpPr>
        <p:spPr>
          <a:xfrm>
            <a:off x="457200" y="5321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0080" y="5468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5468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413248"/>
            <a:ext cx="10362895" cy="402336"/>
          </a:xfrm>
          <a:prstGeom prst="rect">
            <a:avLst/>
          </a:prstGeom>
          <a:noFill/>
        </p:spPr>
        <p:txBody>
          <a:bodyPr wrap="square" anchor="ctr"/>
          <a:lstStyle/>
          <a:p>
            <a:r>
              <a:rPr sz="1500" b="0" i="0">
                <a:solidFill>
                  <a:srgbClr val="333333"/>
                </a:solidFill>
                <a:latin typeface="Calibri"/>
              </a:rPr>
              <a:t>□ ¿Escribiste la comparación en comentarios «--», incluida la línea del </a:t>
            </a:r>
            <a:r>
              <a:rPr sz="1500" b="1" i="0">
                <a:solidFill>
                  <a:srgbClr val="333333"/>
                </a:solidFill>
                <a:latin typeface="Calibri"/>
              </a:rPr>
              <a:t>stock del insumo 3</a:t>
            </a:r>
            <a:r>
              <a:rPr sz="1500" b="0" i="0">
                <a:solidFill>
                  <a:srgbClr val="333333"/>
                </a:solidFill>
                <a:latin typeface="Calibri"/>
              </a:rPr>
              <a:t>? Es la evidencia central de los 25 puntos: sin ella la pregunta queda sin argumento.</a:t>
            </a:r>
          </a:p>
        </p:txBody>
      </p:sp>
      <p:sp>
        <p:nvSpPr>
          <p:cNvPr id="33" name="Rounded Rectangle 32"/>
          <p:cNvSpPr/>
          <p:nvPr/>
        </p:nvSpPr>
        <p:spPr>
          <a:xfrm>
            <a:off x="457200" y="599846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080" y="614476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0080" y="614476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7280" y="6089904"/>
            <a:ext cx="10362895" cy="402336"/>
          </a:xfrm>
          <a:prstGeom prst="rect">
            <a:avLst/>
          </a:prstGeom>
          <a:noFill/>
        </p:spPr>
        <p:txBody>
          <a:bodyPr wrap="square" anchor="ctr"/>
          <a:lstStyle/>
          <a:p>
            <a:r>
              <a:rPr sz="1500" b="0" i="0">
                <a:solidFill>
                  <a:srgbClr val="333333"/>
                </a:solidFill>
                <a:latin typeface="Calibri"/>
              </a:rPr>
              <a:t>□ ¿Corriste también la llamada </a:t>
            </a:r>
            <a:r>
              <a:rPr sz="1500" b="1" i="0">
                <a:solidFill>
                  <a:srgbClr val="333333"/>
                </a:solidFill>
                <a:latin typeface="Calibri"/>
              </a:rPr>
              <a:t>viable</a:t>
            </a:r>
            <a:r>
              <a:rPr sz="1500" b="0" i="0">
                <a:solidFill>
                  <a:srgbClr val="333333"/>
                </a:solidFill>
                <a:latin typeface="Calibri"/>
              </a:rPr>
              <a:t> al final? El contraste entre la abortada y la exitosa es parte de la respuesta.</a:t>
            </a:r>
          </a:p>
        </p:txBody>
      </p:sp>
      <p:sp>
        <p:nvSpPr>
          <p:cNvPr id="37" name="TextBox 3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sp_facturar + fn_descontar_stock + seccion Transacciones y tuning del informe (1 pag.)</a:t>
            </a:r>
          </a:p>
          <a:p>
            <a:pPr>
              <a:spcAft>
                <a:spcPts val="800"/>
              </a:spcAft>
            </a:pPr>
            <a:r>
              <a:rPr sz="2000" b="0" i="0">
                <a:solidFill>
                  <a:srgbClr val="333333"/>
                </a:solidFill>
                <a:latin typeface="Calibri"/>
              </a:rPr>
              <a:t>–   Evidencia: el SQL y su salida quedan guardados en cada pregunta de la plataforma del curso.</a:t>
            </a:r>
          </a:p>
          <a:p>
            <a:pPr>
              <a:spcAft>
                <a:spcPts val="800"/>
              </a:spcAft>
            </a:pPr>
            <a:r>
              <a:rPr sz="2000" b="0" i="0">
                <a:solidFill>
                  <a:srgbClr val="333333"/>
                </a:solidFill>
                <a:latin typeface="Calibri"/>
              </a:rPr>
              <a:t>–   Conserva copia en tu carpeta del PI (los .sql que pide el entregable).</a:t>
            </a:r>
          </a:p>
          <a:p>
            <a:pPr>
              <a:spcAft>
                <a:spcPts val="800"/>
              </a:spcAft>
            </a:pPr>
            <a:r>
              <a:rPr sz="2000" b="0" i="0">
                <a:solidFill>
                  <a:srgbClr val="333333"/>
                </a:solidFill>
                <a:latin typeface="Calibri"/>
              </a:rPr>
              <a:t>–   Actualizar checklist PI (que criterio de rubrica avanzo).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Transaccion de negocio (factura + stock) + notas de tuning</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 DB).</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 el docente asigna taller esta semana, él indica el canal y la fecha.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Transaccion de negocio (factura + stock) + notas de tuning</a:t>
            </a:r>
          </a:p>
          <a:p>
            <a:pPr algn="ctr">
              <a:spcAft>
                <a:spcPts val="600"/>
              </a:spcAft>
            </a:pPr>
            <a:r>
              <a:rPr sz="1600" b="0" i="0">
                <a:solidFill>
                  <a:srgbClr val="333333"/>
                </a:solidFill>
                <a:latin typeface="Calibri"/>
              </a:rPr>
              <a:t>Entregable: sp_facturar + fn_descontar_stock + seccion Transacciones y tuning del informe (1 pag.)</a:t>
            </a:r>
          </a:p>
          <a:p>
            <a:pPr algn="ctr">
              <a:spcAft>
                <a:spcPts val="600"/>
              </a:spcAft>
            </a:pPr>
            <a:r>
              <a:rPr sz="1600" b="0" i="0">
                <a:solidFill>
                  <a:srgbClr val="333333"/>
                </a:solidFill>
                <a:latin typeface="Calibri"/>
              </a:rPr>
              <a:t>Siguiente clase: continuar el hilo del PI segun plan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breve · practica =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