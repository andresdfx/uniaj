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aprovechar precisamente eso, porque los permisos son el tema del curso donde el estudiante mas necesita que alguien le diga en el momento por que su GRANT no surtio efecto.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 por una razon aritmetica que conviene poner en el tablero con los numeros de VetCare.</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los cuatro roles del taller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principio de minimo privilegio dice que cada rol recibe exactamente lo que necesita para cumplir su funcion y ni un privilegio mas.</a:t>
            </a:r>
          </a:p>
          <a:p>
            <a:r>
              <a:t>Aplicado a VetCare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GRANT otorga y REVOKE retira, y ambos operan igual sobre usuarios y sobre roles.</a:t>
            </a:r>
          </a:p>
          <a:p>
            <a:r>
              <a:t>Para retirar un permiso</a:t>
            </a:r>
          </a:p>
          <a:p>
            <a:r>
              <a:t>Hay tres detalles operativos que evitan la mitad de los tropiezos del taller.</a:t>
            </a:r>
          </a:p>
          <a:p>
            <a:r>
              <a:t>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diapositiva trae las cinco secciones en el mismo orden en que el taller las va a pedir, asi que se dicta recorriendola de arriba abajo.</a:t>
            </a:r>
          </a:p>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taller se resuelve y se califica en ExamLab, que ejecuta PostgreSQL dentro del navegador.</a:t>
            </a:r>
          </a:p>
          <a:p>
            <a:r>
              <a:t>Ahi CREATE ROLE, GRANT, REVOKE, CREATE VIEW, los privilegios por columna y las consultas a information_schema funcionan todos: son DDL real y son verificables, asi que la evidencia del taller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el rol no tiene USAGE sobre el esquema.</a:t>
            </a:r>
          </a:p>
          <a:p>
            <a:r>
              <a:t>Lo que no se puede es conectarse como recepcion en una segunda sesion, porque el entorno tiene un solo usuario con login.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Administracion de BD · Roles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VetCare</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 una tabla como cita, una vista, un procedimiento, una secuencia.</a:t>
            </a:r>
          </a:p>
          <a:p>
            <a:pPr>
              <a:spcAft>
                <a:spcPts val="800"/>
              </a:spcAft>
            </a:pPr>
            <a:r>
              <a:rPr sz="2000" b="0" i="0">
                <a:solidFill>
                  <a:srgbClr val="333333"/>
                </a:solidFill>
                <a:latin typeface="Calibri"/>
              </a:rPr>
              <a:t>–   Un esquema es un contenedor con nombre donde viven esos objetos; en PostgreSQL, que es el motor de esta clase, el esquema por omision se llama public y el nombre completo de la tabla es public.cita.</a:t>
            </a:r>
          </a:p>
          <a:p>
            <a:pPr>
              <a:spcAft>
                <a:spcPts val="800"/>
              </a:spcAft>
            </a:pPr>
            <a:r>
              <a:rPr sz="2000" b="0" i="0">
                <a:solidFill>
                  <a:srgbClr val="333333"/>
                </a:solidFill>
                <a:latin typeface="Calibri"/>
              </a:rPr>
              <a:t>–   Aqui hay que desactivar una confusion que traen quienes vieron Oracle: alli esquema y usuario son practicamente lo mismo y se escribe VETCARE.MASCOTA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Mientras que en PostgreSQL son cosas separadas, un mismo usuario puede tener objetos en varios esquemas y un esquema puede contener objetos de varios propietarios.</a:t>
            </a:r>
          </a:p>
          <a:p>
            <a:pPr>
              <a:spcAft>
                <a:spcPts val="800"/>
              </a:spcAft>
            </a:pPr>
            <a:r>
              <a:rPr sz="2000" b="0" i="0">
                <a:solidFill>
                  <a:srgbClr val="333333"/>
                </a:solidFill>
                <a:latin typeface="Calibri"/>
              </a:rPr>
              <a:t>–   Autenticacion es probar quien es usted, con usuario y clave o con un certificado.</a:t>
            </a:r>
          </a:p>
          <a:p>
            <a:pPr>
              <a:spcAft>
                <a:spcPts val="800"/>
              </a:spcAft>
            </a:pPr>
            <a:r>
              <a:rPr sz="2000" b="0" i="0">
                <a:solidFill>
                  <a:srgbClr val="333333"/>
                </a:solidFill>
                <a:latin typeface="Calibri"/>
              </a:rPr>
              <a:t>–   Autorizacion es decidir que puede hacer una vez que ya esta dentro.</a:t>
            </a:r>
          </a:p>
          <a:p>
            <a:pPr>
              <a:spcAft>
                <a:spcPts val="800"/>
              </a:spcAft>
            </a:pPr>
            <a:r>
              <a:rPr sz="2000" b="0" i="0">
                <a:solidFill>
                  <a:srgbClr val="333333"/>
                </a:solidFill>
                <a:latin typeface="Calibri"/>
              </a:rPr>
              <a:t>–   Son etapas distintas, se controlan con mecanismos distintos, y un usuario puede autenticarse perfectamente y no tener permiso para leer ni una sola fila.</a:t>
            </a:r>
          </a:p>
          <a:p>
            <a:pPr>
              <a:spcAft>
                <a:spcPts val="800"/>
              </a:spcAft>
            </a:pPr>
            <a:r>
              <a:rPr sz="2000" b="0" i="0">
                <a:solidFill>
                  <a:srgbClr val="333333"/>
                </a:solidFill>
                <a:latin typeface="Calibri"/>
              </a:rPr>
              <a:t>–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 SELECT, INSERT, UPDATE, DELETE, TRUNCATE, REFERENCES y TRIGGER sobre una tabla o una vista</a:t>
            </a:r>
          </a:p>
          <a:p>
            <a:pPr>
              <a:spcAft>
                <a:spcPts val="800"/>
              </a:spcAft>
            </a:pPr>
            <a:r>
              <a:rPr sz="2000" b="0" i="0">
                <a:solidFill>
                  <a:srgbClr val="333333"/>
                </a:solidFill>
                <a:latin typeface="Calibri"/>
              </a:rPr>
              <a:t>–   Los atributos de rol son otra cosa: LOGIN, CREATEDB, CREATEROLE y SUPERUSER no se otorgan con GRANT sino que se escriben en el CREATE ROLE o se cambian con ALTER ROLE, y son el equivalente de lo que en Oracle se llama privilegio de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DDL, Data Definition Language, son las sentencias que cambian la estructura: CREATE, ALTER, DROP, TRUNCATE.</a:t>
            </a:r>
          </a:p>
          <a:p>
            <a:pPr>
              <a:spcAft>
                <a:spcPts val="800"/>
              </a:spcAft>
            </a:pPr>
            <a:r>
              <a:rPr sz="2000" b="0" i="0">
                <a:solidFill>
                  <a:srgbClr val="333333"/>
                </a:solidFill>
                <a:latin typeface="Calibri"/>
              </a:rPr>
              <a:t>–   DML, Data Manipulation Language, son las que leen o cambian los datos sin tocar la estructura: SELECT, INSERT, UPDATE, DELETE.</a:t>
            </a:r>
          </a:p>
          <a:p>
            <a:pPr>
              <a:spcAft>
                <a:spcPts val="800"/>
              </a:spcAft>
            </a:pPr>
            <a:r>
              <a:rPr sz="2000" b="0" i="0">
                <a:solidFill>
                  <a:srgbClr val="333333"/>
                </a:solidFill>
                <a:latin typeface="Calibri"/>
              </a:rPr>
              <a:t>–   Un recepcionista de la clinica Huellitas necesita DML sobre unas pocas tablas y nunca necesita DDL.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 cita, consulta, insumo, factura y detalle_factura) y, contando los dos procedimientos que llegaran en la Clase 3, diez objetos que hay que decidir.</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 por ejemplo que recepcion ya no pueda anular facturas, tendra que recordar tocar doce cuentas sin olvidar ninguna.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roles se define una sola vez el conjunto de privilegios de recepcion y se ejecutan doce sentencias GRANT recepcion TO usuario.</a:t>
            </a:r>
          </a:p>
          <a:p>
            <a:pPr>
              <a:spcAft>
                <a:spcPts val="800"/>
              </a:spcAft>
            </a:pPr>
            <a:r>
              <a:rPr sz="2000" b="0" i="0">
                <a:solidFill>
                  <a:srgbClr val="333333"/>
                </a:solidFill>
                <a:latin typeface="Calibri"/>
              </a:rPr>
              <a:t>–   Al cambiar la regla se hace un REVOKE sobre el rol y los doce usuarios quedan corregidos en el mismo instante, sin excepciones y sin listas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del motor que hay que decir temprano porque de lo contrario el taller se vuelve incomprensible: en PostgreSQL usuario y rol son la misma entidad.</a:t>
            </a:r>
          </a:p>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 un rol sin LOGIN es un paquete de permisos que nadie usa para conectarse.</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Tecnicamente no hay ninguna obligacion, porque en PostgreSQL los roles son globales al cluster y las tablas viven en un esquema, de modo que un rol llamado veterinario y una tabla llamada veterinario pueden coexistir sin conflicto alguno.</a:t>
            </a:r>
          </a:p>
          <a:p>
            <a:pPr>
              <a:spcAft>
                <a:spcPts val="800"/>
              </a:spcAft>
            </a:pPr>
            <a:r>
              <a:rPr sz="2000" b="0" i="0">
                <a:solidFill>
                  <a:srgbClr val="333333"/>
                </a:solidFill>
                <a:latin typeface="Calibri"/>
              </a:rPr>
              <a:t>–   La razon es de legibilidad para quien audita: en la linea GRANT SELECT ON cita TO veterinario no se puede saber a simple vista si veterinario es un rol o si alguien se equivoco de sintaxis, mientras que veterinario_rol se lee sin ambiguedad.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VetCare: la matriz defendible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a:p>
            <a:pPr>
              <a:spcAft>
                <a:spcPts val="800"/>
              </a:spcAft>
            </a:pPr>
            <a:r>
              <a:rPr sz="2000" b="0" i="0">
                <a:solidFill>
                  <a:srgbClr val="333333"/>
                </a:solidFill>
                <a:latin typeface="Calibri"/>
              </a:rPr>
              <a:t>–   Notese que DELETE no aparece en ninguna fila operativa, y eso no es descuido: en un sistema clinico las cosas no se borran, se marcan.</a:t>
            </a:r>
          </a:p>
          <a:p>
            <a:pPr>
              <a:spcAft>
                <a:spcPts val="800"/>
              </a:spcAft>
            </a:pPr>
            <a:r>
              <a:rPr sz="2000" b="0" i="0">
                <a:solidFill>
                  <a:srgbClr val="333333"/>
                </a:solidFill>
                <a:latin typeface="Calibri"/>
              </a:rPr>
              <a:t>–   Una cita cancelada lleva estado = 'CANCELADA' y una mascota que ya no se atiende lleva activa = 'N', que es exactamente como quedo el DDL de la Clase 1, con CHAR(1) y CHECK (activa IN ('S','N')).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 completarlo sola sin dejar rastro.</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 y que quien audita solo debe leer.</a:t>
            </a:r>
          </a:p>
          <a:p>
            <a:pPr>
              <a:spcAft>
                <a:spcPts val="800"/>
              </a:spcAft>
            </a:pPr>
            <a:r>
              <a:rPr sz="2000" b="0" i="0">
                <a:solidFill>
                  <a:srgbClr val="333333"/>
                </a:solidFill>
                <a:latin typeface="Calibri"/>
              </a:rPr>
              <a:t>–   El ejemplo de VetCare es facil de contar: si la misma cuenta que emite una factura puede tambien borrarla, entonces una persona puede cobrar en efectivo y hacer desaparecer el registro, y no queda evidencia de que la factura existio.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Separando funciones, emitir una factura es un INSERT permitido a un rol, y anular una factura es un UPDATE de estado permitido a un rol distinto, y ese UPDATE deja fecha, usuario y motivo.</a:t>
            </a:r>
          </a:p>
          <a:p>
            <a:pPr>
              <a:spcAft>
                <a:spcPts val="800"/>
              </a:spcAft>
            </a:pPr>
            <a:r>
              <a:rPr sz="2000" b="0" i="0">
                <a:solidFill>
                  <a:srgbClr val="333333"/>
                </a:solidFill>
                <a:latin typeface="Calibri"/>
              </a:rPr>
              <a:t>–   Aqui aparece la primera pregunta previsible del estudiante: «no es mas facil darle todo al jefe y ya?».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 CREATE ROLE recepcion NOLOGIN; luego GRANT SELECT, INSERT, UPDATE ON cita TO recepcion</a:t>
            </a:r>
          </a:p>
          <a:p>
            <a:pPr>
              <a:spcAft>
                <a:spcPts val="800"/>
              </a:spcAft>
            </a:pPr>
            <a:r>
              <a:rPr sz="2000" b="0" i="0">
                <a:solidFill>
                  <a:srgbClr val="333333"/>
                </a:solidFill>
                <a:latin typeface="Calibri"/>
              </a:rPr>
              <a:t>–   Luego GRANT SELECT ON dueno, mascota, veterinario TO recepcion, aprovechando que PostgreSQL acepta varias tablas en un mismo GRANT; y finalmente GRANT recepcion TO ana_gomez.</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 partida ya es cero.</a:t>
            </a:r>
          </a:p>
          <a:p>
            <a:pPr>
              <a:spcAft>
                <a:spcPts val="800"/>
              </a:spcAft>
            </a:pPr>
            <a:r>
              <a:rPr sz="2000" b="0" i="0">
                <a:solidFill>
                  <a:srgbClr val="333333"/>
                </a:solidFill>
                <a:latin typeface="Calibri"/>
              </a:rPr>
              <a:t>–   Segundo, para que un rol pueda usar los objetos del esquema necesita USAGE sobre el esquema; en public eso viene concedido por omision, asi que hoy no estorba, pero en un servidor con esquemas propios es la causa numero uno del GRANT que «no surtio 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Tercero, existe la forma masiva GRANT SELECT ON ALL TABLES IN SCHEMA public TO auditor, comoda y peligrosa a la vez: aplica a las tablas que existen en ese momento y no a las futuras</a:t>
            </a:r>
          </a:p>
          <a:p>
            <a:pPr>
              <a:spcAft>
                <a:spcPts val="800"/>
              </a:spcAft>
            </a:pPr>
            <a:r>
              <a:rPr sz="2000" b="0" i="0">
                <a:solidFill>
                  <a:srgbClr val="333333"/>
                </a:solidFill>
                <a:latin typeface="Calibri"/>
              </a:rPr>
              <a:t>–   De modo que la tabla que se cree la semana entrante quedara fuera y nadie se dara cuenta; para eso existe ALTER DEFAULT PRIVILEGES, que vale nombrar sin desarrollar.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DELETE ON cita</a:t>
            </a:r>
          </a:p>
          <a:p>
            <a:pPr>
              <a:spcAft>
                <a:spcPts val="400"/>
              </a:spcAft>
            </a:pPr>
            <a:r>
              <a:rPr sz="1400" b="0" i="0">
                <a:solidFill>
                  <a:srgbClr val="FFFFFF"/>
                </a:solidFill>
                <a:latin typeface="Calibri"/>
              </a:rPr>
              <a:t>FROM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 previo</a:t>
            </a:r>
          </a:p>
          <a:p>
            <a:pPr>
              <a:spcAft>
                <a:spcPts val="800"/>
              </a:spcAft>
            </a:pPr>
            <a:r>
              <a:rPr sz="2000" b="0" i="0">
                <a:solidFill>
                  <a:srgbClr val="333333"/>
                </a:solidFill>
                <a:latin typeface="Calibri"/>
              </a:rPr>
              <a:t>–   De hecho PostgreSQL rechaza el REVOKE si hay privilegios dependientes y obliga a escribir CASCADE, que es el motor avisando que la operacion va a tocar mas de lo que se le pidio.</a:t>
            </a:r>
          </a:p>
          <a:p>
            <a:pPr>
              <a:spcAft>
                <a:spcPts val="800"/>
              </a:spcAft>
            </a:pPr>
            <a:r>
              <a:rPr sz="2000" b="0" i="0">
                <a:solidFill>
                  <a:srgbClr val="333333"/>
                </a:solidFill>
                <a:latin typeface="Calibri"/>
              </a:rPr>
              <a:t>–   El segundo es el rol especial PUBLIC, al que pertenecen todos los roles existentes y futuros: un GRANT SELECT ON consulta TO PUBLIC entrega el historial clinico a cualquiera que pueda conectarse, incluido el proximo usuario que se cree manana.</a:t>
            </a:r>
          </a:p>
          <a:p>
            <a:pPr>
              <a:spcAft>
                <a:spcPts val="800"/>
              </a:spcAft>
            </a:pPr>
            <a:r>
              <a:rPr sz="2000" b="0" i="0">
                <a:solidFill>
                  <a:srgbClr val="333333"/>
                </a:solidFill>
                <a:latin typeface="Calibri"/>
              </a:rPr>
              <a:t>–   Buscar y quitar privilegios otorgados a PUBLIC, con REVOKE ALL ON &lt;tabla&gt; FROM PUBLIC, es una tarea real de endurecimiento en bases de datos heredadas, y vale la pena nombrarla para que el estudiante entienda que estos conceptos no son escolares.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el concepto que hace la diferencia entre una matriz de aficionado y una defendible, y es la parte que el taller evalua con veinte puntos.</a:t>
            </a:r>
          </a:p>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 se crea con CREATE VIEW v_agenda_recepcion AS SELECT... y se le otorga SELECT al rol.</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es el privilegio por columna: ON dueno TO veterinario_rol otorga lectura de dos columnas y de ninguna otra, sin crear ningun objeto nuevo.</a:t>
            </a:r>
          </a:p>
          <a:p>
            <a:pPr>
              <a:spcAft>
                <a:spcPts val="800"/>
              </a:spcAft>
            </a:pPr>
            <a:r>
              <a:rPr sz="2000" b="0" i="0">
                <a:solidFill>
                  <a:srgbClr val="333333"/>
                </a:solidFill>
                <a:latin typeface="Calibri"/>
              </a:rPr>
              <a:t>–   Tiene una consecuencia que hay que advertir en clase porque genera un error confuso: ese rol ya no puede escribir SELECT * FROM dueno, porque el asterisco pide todas las columnas y dos de ellas le estan negadas; tiene que nombrar las columnas explicitamente.</a:t>
            </a:r>
          </a:p>
          <a:p>
            <a:pPr>
              <a:spcAft>
                <a:spcPts val="800"/>
              </a:spcAft>
            </a:pPr>
            <a:r>
              <a:rPr sz="2000" b="0" i="0">
                <a:solidFill>
                  <a:srgbClr val="333333"/>
                </a:solidFill>
                <a:latin typeface="Calibri"/>
              </a:rPr>
              <a:t>–   El criterio para elegir es simple: si el recorte necesita filtrar filas o cruzar tablas, se hace con vista; si es puramente por columna y no se quiere mantener un objeto mas, con privilegio por columna.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SELECT (id_dueno, nombre)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 devuelve una fila por cada combinacion de rol, tabla y privilegio realmente otorgado.</a:t>
            </a:r>
          </a:p>
          <a:p>
            <a:pPr>
              <a:spcAft>
                <a:spcPts val="800"/>
              </a:spcAft>
            </a:pPr>
            <a:r>
              <a:rPr sz="2000" b="0" i="0">
                <a:solidFill>
                  <a:srgbClr val="333333"/>
                </a:solidFill>
                <a:latin typeface="Calibri"/>
              </a:rPr>
              <a:t>–   La segunda es column_privileges, que agrega la columna column_name y es la unica forma de evidenciar que el privilegio por columna quedo aplicado.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('admin_bd','recepcion','veterinario_rol','auditor')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parte del entregable es la politica de altas y bajas, que documenta el ciclo de vida de una cuenta: quien autoriza que se cree, con que rol nace, que pasa cuando alguien cambia de funcion, y en cuanto tiempo se desactiva cuando se va de la clinica.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 meses; ninguno de esos dos numeros es una regla dura del motor, son practicas de gobierno</a:t>
            </a:r>
          </a:p>
          <a:p>
            <a:pPr>
              <a:spcAft>
                <a:spcPts val="800"/>
              </a:spcAft>
            </a:pPr>
            <a:r>
              <a:rPr sz="2000" b="0" i="0">
                <a:solidFill>
                  <a:srgbClr val="333333"/>
                </a:solidFill>
                <a:latin typeface="Calibri"/>
              </a:rPr>
              <a:t>–   Y la politica vale precisamente porque fija responsables y plazos concretos en lugar de generalidades.</a:t>
            </a:r>
          </a:p>
          <a:p>
            <a:pPr>
              <a:spcAft>
                <a:spcPts val="800"/>
              </a:spcAft>
            </a:pPr>
            <a:r>
              <a:rPr sz="2000" b="0" i="0">
                <a:solidFill>
                  <a:srgbClr val="333333"/>
                </a:solidFill>
                <a:latin typeface="Calibri"/>
              </a:rPr>
              <a:t>–   El problema que resuelve es la cuenta huerfana: la del pasante que se fue hace un ano y cuya clave sigue funcionando.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nunca cuentas compartidas: si tres recepcionistas entran con la cuenta recepcion1, la tabla de auditoria dira que recepcion1 cancelo la cita y no habra forma de saber quien fue</a:t>
            </a:r>
          </a:p>
          <a:p>
            <a:pPr>
              <a:spcAft>
                <a:spcPts val="800"/>
              </a:spcAft>
            </a:pPr>
            <a:r>
              <a:rPr sz="2000" b="0" i="0">
                <a:solidFill>
                  <a:srgbClr val="333333"/>
                </a:solidFill>
                <a:latin typeface="Calibri"/>
              </a:rPr>
              <a:t>–   La trazabilidad se pierde de manera irrecuperable y con ella cualquier investigacion posterior.</a:t>
            </a:r>
          </a:p>
          <a:p>
            <a:pPr>
              <a:spcAft>
                <a:spcPts val="800"/>
              </a:spcAft>
            </a:pPr>
            <a:r>
              <a:rPr sz="2000" b="0" i="0">
                <a:solidFill>
                  <a:srgbClr val="333333"/>
                </a:solidFill>
                <a:latin typeface="Calibri"/>
              </a:rPr>
              <a:t>–   Dos, los permisos no se acumulan: al cambiar de rol se revoca el anterior con REVOKE recepcion FROM ana_gomez, porque quien pasa de recepcion a auditoria y conserva ambos roles termina pudiendo modificar justamente lo que audita.</a:t>
            </a:r>
          </a:p>
          <a:p>
            <a:pPr>
              <a:spcAft>
                <a:spcPts val="800"/>
              </a:spcAft>
            </a:pPr>
            <a:r>
              <a:rPr sz="2000" b="0" i="0">
                <a:solidFill>
                  <a:srgbClr val="333333"/>
                </a:solidFill>
                <a:latin typeface="Calibri"/>
              </a:rPr>
              <a:t>–   La cuarta seccion, la revision periodica, se apoya en la consulta de information_schema que acaba de verse: la evidencia de la auditoria es su salida, y la politica dice cada cuanto se corre y quien la firma.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quinta seccion es el limite de este entorno, y se desarrolla completa en «El motor de hoy es PostgreSQL» un poco mas abajo</a:t>
            </a:r>
          </a:p>
          <a:p>
            <a:pPr>
              <a:spcAft>
                <a:spcPts val="800"/>
              </a:spcAft>
            </a:pPr>
            <a:r>
              <a:rPr sz="2000" b="0" i="0">
                <a:solidFill>
                  <a:srgbClr val="333333"/>
                </a:solidFill>
                <a:latin typeface="Calibri"/>
              </a:rPr>
              <a:t>–   Lo que se califica ahi no es que la prueba negativa exista, sino que el estudiante sepa nombrarla como brecha de verificacion de su propia entrega.</a:t>
            </a:r>
          </a:p>
          <a:p>
            <a:pPr>
              <a:spcAft>
                <a:spcPts val="800"/>
              </a:spcAft>
            </a:pPr>
            <a:r>
              <a:rPr sz="2000" b="0" i="0">
                <a:solidFill>
                  <a:srgbClr val="333333"/>
                </a:solidFill>
                <a:latin typeface="Calibri"/>
              </a:rPr>
              <a:t>–   Al dictar la politica conviene bajarla a nombres propios de Huellitas en lugar de dejarla en abstracto: quien autoriza el alta es la administradora de la clinica</a:t>
            </a:r>
          </a:p>
          <a:p>
            <a:pPr>
              <a:spcAft>
                <a:spcPts val="800"/>
              </a:spcAft>
            </a:pPr>
            <a:r>
              <a:rPr sz="2000" b="0" i="0">
                <a:solidFill>
                  <a:srgbClr val="333333"/>
                </a:solidFill>
                <a:latin typeface="Calibri"/>
              </a:rPr>
              <a:t>–   La recepcionista que entra nace con el rol recepcion y con nada mas, y la baja del pasante se hace el mismo dia.</a:t>
            </a:r>
          </a:p>
          <a:p>
            <a:pPr>
              <a:spcAft>
                <a:spcPts val="800"/>
              </a:spcAft>
            </a:pPr>
            <a:r>
              <a:rPr sz="2000" b="0" i="0">
                <a:solidFill>
                  <a:srgbClr val="333333"/>
                </a:solidFill>
                <a:latin typeface="Calibri"/>
              </a:rPr>
              <a:t>–   Una politica que no dice quien firma ni en cuanto tiempo no es una politica, es una intencion, y asi esta escrita la rubrica.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punto hay que decirlo con precision porque una version anterior de esta guia decia lo contrario y costaria puntos repetirla.</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 y entonces si aparece la brecha de verificacion que la pregunta 5 pide nombrar.</a:t>
            </a:r>
          </a:p>
          <a:p>
            <a:pPr>
              <a:spcAft>
                <a:spcPts val="800"/>
              </a:spcAft>
            </a:pPr>
            <a:r>
              <a:rPr sz="2000" b="0" i="0">
                <a:solidFill>
                  <a:srgbClr val="333333"/>
                </a:solidFill>
                <a:latin typeface="Calibri"/>
              </a:rPr>
              <a:t>–   La diferencia entre las dos cosas es justamente lo que el estudiante tiene que entender: SET ROLE cambia con que permisos se evalua lo que escribo</a:t>
            </a:r>
          </a:p>
          <a:p>
            <a:pPr>
              <a:spcAft>
                <a:spcPts val="800"/>
              </a:spcAft>
            </a:pPr>
            <a:r>
              <a:rPr sz="2000" b="0" i="0">
                <a:solidFill>
                  <a:srgbClr val="333333"/>
                </a:solidFill>
                <a:latin typeface="Calibri"/>
              </a:rPr>
              <a:t>–   Y conectarse como otro usuario cambia quien esta conectado; para probar que un privilegio falta, basta lo primero.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Oracle Live SQL y DB Fiddle siguen en el kit, pero cambian de papel: DB Fiddle sirve para probar SQL suelto y Live SQL solo como contraste de sintaxis, porque alli se escribe CREATE USER...</a:t>
            </a:r>
          </a:p>
          <a:p>
            <a:pPr>
              <a:spcAft>
                <a:spcPts val="800"/>
              </a:spcAft>
            </a:pPr>
            <a:r>
              <a:rPr sz="2000" b="0" i="0">
                <a:solidFill>
                  <a:srgbClr val="333333"/>
                </a:solidFill>
                <a:latin typeface="Calibri"/>
              </a:rPr>
              <a:t>–   IDENTIFIED BY, se otorga GRANT CREATE SESSION y el esquema es el usuario.</a:t>
            </a:r>
          </a:p>
          <a:p>
            <a:pPr>
              <a:spcAft>
                <a:spcPts val="800"/>
              </a:spcAft>
            </a:pPr>
            <a:r>
              <a:rPr sz="2000" b="0" i="0">
                <a:solidFill>
                  <a:srgbClr val="333333"/>
                </a:solidFill>
                <a:latin typeface="Calibri"/>
              </a:rPr>
              <a:t>–   Vale un minuto de clase mencionarlo, porque muchos se van a encontrar Oracle en el trabajo; no vale mas</a:t>
            </a:r>
          </a:p>
          <a:p>
            <a:pPr>
              <a:spcAft>
                <a:spcPts val="800"/>
              </a:spcAft>
            </a:pPr>
            <a:r>
              <a:rPr sz="2000" b="0" i="0">
                <a:solidFill>
                  <a:srgbClr val="333333"/>
                </a:solidFill>
                <a:latin typeface="Calibri"/>
              </a:rPr>
              <a:t>–   Porque la calificacion ocurre en PostgreSQL y todo minuto invertido en sintaxis del otro motor es un minuto que el estudiante no dedica a lo que se le va a evaluar.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DELETE</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WHERE id_cita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nombre, email</a:t>
            </a:r>
          </a:p>
          <a:p>
            <a:pPr>
              <a:spcAft>
                <a:spcPts val="400"/>
              </a:spcAft>
            </a:pPr>
            <a:r>
              <a:rPr sz="1400" b="0" i="0">
                <a:solidFill>
                  <a:srgbClr val="FFFFFF"/>
                </a:solidFill>
                <a:latin typeface="Calibri"/>
              </a:rPr>
              <a:t>FROM dueno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central de hoy no es el script sino la matriz rol por objeto por privilegio, y conviene explicar por que.</a:t>
            </a:r>
          </a:p>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a:t>
            </a:r>
          </a:p>
          <a:p>
            <a:pPr>
              <a:spcAft>
                <a:spcPts val="800"/>
              </a:spcAft>
            </a:pPr>
            <a:r>
              <a:rPr sz="2000" b="0" i="0">
                <a:solidFill>
                  <a:srgbClr val="333333"/>
                </a:solidFill>
                <a:latin typeface="Calibri"/>
              </a:rPr>
              <a:t>–   Y en cada celda las acciones permitidas con la notacion abreviada que pide el taller: S para SELECT, I para INSERT, U para UPDATE, D para DELETE, E para EXECUTE y un guion cuando no hay ninguno.</a:t>
            </a:r>
          </a:p>
          <a:p>
            <a:pPr>
              <a:spcAft>
                <a:spcPts val="800"/>
              </a:spcAft>
            </a:pPr>
            <a:r>
              <a:rPr sz="2000" b="0" i="0">
                <a:solidFill>
                  <a:srgbClr val="333333"/>
                </a:solidFill>
                <a:latin typeface="Calibri"/>
              </a:rPr>
              <a:t>–   Lo exigible para VetCare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 si el script no le dio DELETE a nadie, en la matriz no puede aparecer una 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procedimientos van con E y nunca con S ni con I, y eso no es un detalle de notacion: es el patron que la Clase 3 va a construir y la Clase 12 va a usar, en el que la aplicacion no escribe en las tablas sino que invoca la regla de negocio.</a:t>
            </a:r>
          </a:p>
          <a:p>
            <a:pPr>
              <a:spcAft>
                <a:spcPts val="800"/>
              </a:spcAft>
            </a:pPr>
            <a:r>
              <a:rPr sz="2000" b="0" i="0">
                <a:solidFill>
                  <a:srgbClr val="333333"/>
                </a:solidFill>
                <a:latin typeface="Calibri"/>
              </a:rPr>
              <a:t>–   Debajo de la matriz van cuatro a seis lineas justificando tres decisiones concretas, y ahi la regla es que una X sin texto no es una celda completa: «auditor sobre cita: solo S, porque auditar es verificar, no corregir»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 y con la rubrica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de hoy no es una isla, y decirlo en voz alta le da sentido al entregable.</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 no dar INSERT sobre cita al rol recepcion, sino EXECUTE sobre sp_agendar_cita, de modo que el usuario solo pueda escribir a traves de la regla de negocio.</a:t>
            </a:r>
          </a:p>
          <a:p>
            <a:pPr>
              <a:spcAft>
                <a:spcPts val="800"/>
              </a:spcAft>
            </a:pPr>
            <a:r>
              <a:rPr sz="2000" b="0" i="0">
                <a:solidFill>
                  <a:srgbClr val="333333"/>
                </a:solidFill>
                <a:latin typeface="Calibri"/>
              </a:rPr>
              <a:t>–   La Clase 4 agrega disparadores de auditoria y el plan de respaldo, que son el otro componente de este mismo criterio de rubrica.</a:t>
            </a:r>
          </a:p>
          <a:p>
            <a:pPr>
              <a:spcAft>
                <a:spcPts val="800"/>
              </a:spcAft>
            </a:pPr>
            <a:r>
              <a:rPr sz="2000" b="0" i="0">
                <a:solidFill>
                  <a:srgbClr val="333333"/>
                </a:solidFill>
                <a:latin typeface="Calibri"/>
              </a:rPr>
              <a:t>–   Y la Clase 12 reutiliza estos roles para definir la cuenta de servicio con la que la aplicacion se conecta.</a:t>
            </a:r>
          </a:p>
          <a:p>
            <a:pPr>
              <a:spcAft>
                <a:spcPts val="800"/>
              </a:spcAft>
            </a:pPr>
            <a:r>
              <a:rPr sz="2000" b="0" i="0">
                <a:solidFill>
                  <a:srgbClr val="333333"/>
                </a:solidFill>
                <a:latin typeface="Calibri"/>
              </a:rPr>
              <a:t>–   En la rubrica del PI, seguridad y respaldo valen 15 de los 100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«Ejecute el GRANT y no surtio efecto»: en el noventa por ciento de los casos es una de cuatro cosas.</a:t>
            </a:r>
          </a:p>
          <a:p>
            <a:pPr>
              <a:spcAft>
                <a:spcPts val="800"/>
              </a:spcAft>
            </a:pPr>
            <a:r>
              <a:rPr sz="2000" b="0" i="0">
                <a:solidFill>
                  <a:srgbClr val="333333"/>
                </a:solidFill>
                <a:latin typeface="Calibri"/>
              </a:rPr>
              <a:t>–   Se otorgo al rol pero no se otorgo el rol a la persona, y falta el</a:t>
            </a:r>
          </a:p>
          <a:p>
            <a:pPr>
              <a:spcAft>
                <a:spcPts val="800"/>
              </a:spcAft>
            </a:pPr>
            <a:r>
              <a:rPr sz="2000" b="0" i="0">
                <a:solidFill>
                  <a:srgbClr val="333333"/>
                </a:solidFill>
                <a:latin typeface="Calibri"/>
              </a:rPr>
              <a:t>–   O se esta probando en la misma sesion del propietario, que pasa por encima de todos los permisos y por lo tanto nunca ve un error, lo cual hace imposible «comprobar» nada asi.</a:t>
            </a:r>
          </a:p>
          <a:p>
            <a:pPr>
              <a:spcAft>
                <a:spcPts val="800"/>
              </a:spcAft>
            </a:pPr>
            <a:r>
              <a:rPr sz="2000" b="0" i="0">
                <a:solidFill>
                  <a:srgbClr val="333333"/>
                </a:solidFill>
                <a:latin typeface="Calibri"/>
              </a:rPr>
              <a:t>–   O se escribio el nombre del rol distinto, y conviene recordar que PostgreSQL pasa los identificadores sin comillas a minusculas, de modo que RECEPCION y recepcion son el mismo rol, pero "Recepcion" entre comillas dobles es otro distinto.</a:t>
            </a:r>
          </a:p>
          <a:p>
            <a:pPr>
              <a:spcAft>
                <a:spcPts val="800"/>
              </a:spcAft>
            </a:pPr>
            <a:r>
              <a:rPr sz="2000" b="0" i="0">
                <a:solidFill>
                  <a:srgbClr val="333333"/>
                </a:solidFill>
                <a:latin typeface="Calibri"/>
              </a:rPr>
              <a:t>–   «Si le doy SELECT solo a la vista, no necesita tambien SELECT sobre dueno?»: no, y es lo mas importante de la clase: la vista se ejecuta con los privilegios de su propietario.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comprobar que a recepcion le rebota el DELETE?»: si, y no hace falta otra conexion: SET ROLE recepcion; luego el DELETE, que debe devolver permission denied, y RESET ROLE; para volver.</a:t>
            </a:r>
          </a:p>
          <a:p>
            <a:pPr>
              <a:spcAft>
                <a:spcPts val="800"/>
              </a:spcAft>
            </a:pPr>
            <a:r>
              <a:rPr sz="2000" b="0" i="0">
                <a:solidFill>
                  <a:srgbClr val="333333"/>
                </a:solidFill>
                <a:latin typeface="Calibri"/>
              </a:rPr>
              <a:t>–   Si el navegador no permite el cambio de rol, se documenta el intento: ahi si hay una brecha de verificacion.</a:t>
            </a:r>
          </a:p>
          <a:p>
            <a:pPr>
              <a:spcAft>
                <a:spcPts val="800"/>
              </a:spcAft>
            </a:pPr>
            <a:r>
              <a:rPr sz="2000" b="0" i="0">
                <a:solidFill>
                  <a:srgbClr val="333333"/>
                </a:solidFill>
                <a:latin typeface="Calibri"/>
              </a:rPr>
              <a:t>–   «Rol y usuario son lo mismo?»: en PostgreSQL si, un usuario es un rol con LOGIN.</a:t>
            </a:r>
          </a:p>
          <a:p>
            <a:pPr>
              <a:spcAft>
                <a:spcPts val="800"/>
              </a:spcAft>
            </a:pPr>
            <a:r>
              <a:rPr sz="2000" b="0" i="0">
                <a:solidFill>
                  <a:srgbClr val="333333"/>
                </a:solidFill>
                <a:latin typeface="Calibri"/>
              </a:rPr>
              <a:t>–   «Por que auditor no tiene UPDATE ni sobre la tabla de auditoria?»: porque quien puede corregir el registro de lo que hizo puede borrar la evidencia de lo que hizo</a:t>
            </a:r>
          </a:p>
          <a:p>
            <a:pPr>
              <a:spcAft>
                <a:spcPts val="800"/>
              </a:spcAft>
            </a:pPr>
            <a:r>
              <a:rPr sz="2000" b="0" i="0">
                <a:solidFill>
                  <a:srgbClr val="333333"/>
                </a:solidFill>
                <a:latin typeface="Calibri"/>
              </a:rPr>
              <a:t>–   Y entonces la auditoria no prueba nada; esa tabla llega en la Clase 4 y la respuesta se mantiene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recepcion TO ana_gomez</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En PostgreSQL usuario y rol son lo mismo: LOGIN es lo que los distingue.</a:t>
            </a:r>
          </a:p>
          <a:p>
            <a:pPr>
              <a:spcAft>
                <a:spcPts val="400"/>
              </a:spcAft>
            </a:pPr>
            <a:r>
              <a:rPr sz="1400" b="0" i="0">
                <a:solidFill>
                  <a:srgbClr val="FFFFFF"/>
                </a:solidFill>
                <a:latin typeface="Calibri"/>
              </a:rPr>
              <a:t>CREATE ROLE recepcion LOGIN PASSWORD 'cambiar_en_produccion';</a:t>
            </a:r>
          </a:p>
          <a:p>
            <a:pPr>
              <a:spcAft>
                <a:spcPts val="400"/>
              </a:spcAft>
            </a:pPr>
            <a:r>
              <a:rPr sz="1400" b="0" i="0">
                <a:solidFill>
                  <a:srgbClr val="FFFFFF"/>
                </a:solidFill>
                <a:latin typeface="Calibri"/>
              </a:rPr>
              <a:t>CREATE ROLE veterinario_rol NOLOGIN;   -- rol de permisos, no de acceso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recepcionista agenda: no lee historias clinicas ni toca facturas.</a:t>
            </a:r>
          </a:p>
          <a:p>
            <a:pPr>
              <a:spcAft>
                <a:spcPts val="400"/>
              </a:spcAft>
            </a:pPr>
            <a:r>
              <a:rPr sz="1400" b="0" i="0">
                <a:solidFill>
                  <a:srgbClr val="FFFFFF"/>
                </a:solidFill>
                <a:latin typeface="Calibri"/>
              </a:rPr>
              <a:t>GRANT SELECT, INSERT, UPDATE ON cita    TO recepcion;</a:t>
            </a:r>
          </a:p>
          <a:p>
            <a:pPr>
              <a:spcAft>
                <a:spcPts val="400"/>
              </a:spcAft>
            </a:pPr>
            <a:r>
              <a:rPr sz="1400" b="0" i="0">
                <a:solidFill>
                  <a:srgbClr val="FFFFFF"/>
                </a:solidFill>
                <a:latin typeface="Calibri"/>
              </a:rPr>
              <a:t>GRANT SELECT                 ON mascota TO recepcion;</a:t>
            </a:r>
          </a:p>
          <a:p>
            <a:pPr>
              <a:spcAft>
                <a:spcPts val="400"/>
              </a:spcAft>
            </a:pPr>
            <a:r>
              <a:rPr sz="1400" b="0" i="0">
                <a:solidFill>
                  <a:srgbClr val="FFFFFF"/>
                </a:solidFill>
                <a:latin typeface="Calibri"/>
              </a:rPr>
              <a:t>GRANT SELECT                 ON dueno   TO recepcion;</a:t>
            </a:r>
          </a:p>
          <a:p>
            <a:pPr>
              <a:spcAft>
                <a:spcPts val="400"/>
              </a:spcAft>
            </a:pPr>
            <a:r>
              <a:rPr sz="1400" b="0" i="0">
                <a:solidFill>
                  <a:srgbClr val="FFFFFF"/>
                </a:solidFill>
                <a:latin typeface="Calibri"/>
              </a:rPr>
              <a:t>GRANT USAGE, SELECT ON SEQUENCE cita_id_cita_seq TO recepcion;</a:t>
            </a:r>
          </a:p>
          <a:p>
            <a:pPr>
              <a:spcAft>
                <a:spcPts val="400"/>
              </a:spcAft>
            </a:pPr>
            <a:r>
              <a:rPr sz="1400" b="0" i="0">
                <a:solidFill>
                  <a:srgbClr val="FFFFFF"/>
                </a:solidFill>
                <a:latin typeface="Calibri"/>
              </a:rPr>
              <a:t>-- Sin USAGE en la secuencia, el INSERT falla: el SERIAL la necesita.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UPDATE ON cita FROM recepcion;   -- quitar es tan explicito como dar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es todo el mundo, presente y futuro. Casi nunca es lo que se quiere.</a:t>
            </a:r>
          </a:p>
          <a:p>
            <a:pPr>
              <a:spcAft>
                <a:spcPts val="400"/>
              </a:spcAft>
            </a:pPr>
            <a:r>
              <a:rPr sz="1400" b="0" i="0">
                <a:solidFill>
                  <a:srgbClr val="FFFFFF"/>
                </a:solidFill>
                <a:latin typeface="Calibri"/>
              </a:rPr>
              <a:t>REVOKE ALL ON consulta FROM PUBLIC;</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WITH GRANT OPTION deja que el que recibe vuelva a otorgar.</a:t>
            </a:r>
          </a:p>
          <a:p>
            <a:pPr>
              <a:spcAft>
                <a:spcPts val="400"/>
              </a:spcAft>
            </a:pPr>
            <a:r>
              <a:rPr sz="1400" b="0" i="0">
                <a:solidFill>
                  <a:srgbClr val="FFFFFF"/>
                </a:solidFill>
                <a:latin typeface="Calibri"/>
              </a:rPr>
              <a:t>GRANT SELECT ON cita TO auditor WITH GRANT OPTION;</a:t>
            </a:r>
          </a:p>
          <a:p>
            <a:pPr>
              <a:spcAft>
                <a:spcPts val="400"/>
              </a:spcAft>
            </a:pPr>
            <a:r>
              <a:rPr sz="1400" b="0" i="0">
                <a:solidFill>
                  <a:srgbClr val="FFFFFF"/>
                </a:solidFill>
                <a:latin typeface="Calibri"/>
              </a:rPr>
              <a:t>-- auditor puede ahora hacer: GRANT SELECT ON cita TO cualquiera;</a:t>
            </a:r>
          </a:p>
          <a:p>
            <a:pPr>
              <a:spcAft>
                <a:spcPts val="400"/>
              </a:spcAft>
            </a:pPr>
            <a:r>
              <a:rPr sz="1400" b="0" i="0">
                <a:solidFill>
                  <a:srgbClr val="FFFFFF"/>
                </a:solidFill>
                <a:latin typeface="Calibri"/>
              </a:rPr>
              <a:t>-- Para deshacerlo hay que arrastrar lo que el concedio:</a:t>
            </a:r>
          </a:p>
          <a:p>
            <a:pPr>
              <a:spcAft>
                <a:spcPts val="400"/>
              </a:spcAft>
            </a:pPr>
            <a:r>
              <a:rPr sz="1400" b="0" i="0">
                <a:solidFill>
                  <a:srgbClr val="FFFFFF"/>
                </a:solidFill>
                <a:latin typeface="Calibri"/>
              </a:rPr>
              <a:t>REVOKE SELECT ON cita FROM auditor CASCADE;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recepcion necesita la agenda, no el motivo clinico de la consulta.</a:t>
            </a:r>
          </a:p>
          <a:p>
            <a:pPr>
              <a:spcAft>
                <a:spcPts val="400"/>
              </a:spcAft>
            </a:pPr>
            <a:r>
              <a:rPr sz="1400" b="0" i="0">
                <a:solidFill>
                  <a:srgbClr val="FFFFFF"/>
                </a:solidFill>
                <a:latin typeface="Calibri"/>
              </a:rPr>
              <a:t>CREATE VIEW v_agenda_dia AS</a:t>
            </a:r>
          </a:p>
          <a:p>
            <a:pPr>
              <a:spcAft>
                <a:spcPts val="400"/>
              </a:spcAft>
            </a:pPr>
            <a:r>
              <a:rPr sz="1400" b="0" i="0">
                <a:solidFill>
                  <a:srgbClr val="FFFFFF"/>
                </a:solidFill>
                <a:latin typeface="Calibri"/>
              </a:rPr>
              <a:t>SELECT c.id_cita, c.fecha_hora, c.estado,</a:t>
            </a:r>
          </a:p>
          <a:p>
            <a:pPr>
              <a:spcAft>
                <a:spcPts val="400"/>
              </a:spcAft>
            </a:pPr>
            <a:r>
              <a:rPr sz="1400" b="0" i="0">
                <a:solidFill>
                  <a:srgbClr val="FFFFFF"/>
                </a:solidFill>
                <a:latin typeface="Calibri"/>
              </a:rPr>
              <a:t>       m.nombre AS mascota, d.telefono</a:t>
            </a:r>
          </a:p>
          <a:p>
            <a:pPr>
              <a:spcAft>
                <a:spcPts val="400"/>
              </a:spcAft>
            </a:pPr>
            <a:r>
              <a:rPr sz="1400" b="0" i="0">
                <a:solidFill>
                  <a:srgbClr val="FFFFFF"/>
                </a:solidFill>
                <a:latin typeface="Calibri"/>
              </a:rPr>
              <a:t>FROM cita c</a:t>
            </a:r>
          </a:p>
          <a:p>
            <a:pPr>
              <a:spcAft>
                <a:spcPts val="400"/>
              </a:spcAft>
            </a:pPr>
            <a:r>
              <a:rPr sz="1400" b="0" i="0">
                <a:solidFill>
                  <a:srgbClr val="FFFFFF"/>
                </a:solidFill>
                <a:latin typeface="Calibri"/>
              </a:rPr>
              <a:t>JOIN mascota m ON m.id_mascota = c.id_mascota</a:t>
            </a:r>
          </a:p>
          <a:p>
            <a:pPr>
              <a:spcAft>
                <a:spcPts val="400"/>
              </a:spcAft>
            </a:pPr>
            <a:r>
              <a:rPr sz="1400" b="0" i="0">
                <a:solidFill>
                  <a:srgbClr val="FFFFFF"/>
                </a:solidFill>
                <a:latin typeface="Calibri"/>
              </a:rPr>
              <a:t>JOIN dueno   d ON d.id_dueno   = m.id_dueno;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GRANT SELECT ON v_agenda_dia TO recepcion;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 el privilegio acotado a columnas, sin crear objeto nuevo:</a:t>
            </a:r>
          </a:p>
          <a:p>
            <a:pPr>
              <a:spcAft>
                <a:spcPts val="400"/>
              </a:spcAft>
            </a:pPr>
            <a:r>
              <a:rPr sz="1400" b="0" i="0">
                <a:solidFill>
                  <a:srgbClr val="FFFFFF"/>
                </a:solidFill>
                <a:latin typeface="Calibri"/>
              </a:rPr>
              <a:t>GRANT SELECT (id_mascota, nombre, especie) ON mascota TO recepcion;</a:t>
            </a:r>
          </a:p>
          <a:p>
            <a:pPr>
              <a:spcAft>
                <a:spcPts val="400"/>
              </a:spcAft>
            </a:pPr>
            <a:r>
              <a:rPr sz="1400" b="0" i="0">
                <a:solidFill>
                  <a:srgbClr val="FFFFFF"/>
                </a:solidFill>
                <a:latin typeface="Calibri"/>
              </a:rPr>
              <a:t>GRANT UPDATE (telefono, email)             ON dueno   TO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el motor dice que concedio, que no siempre es lo que se creia.</a:t>
            </a:r>
          </a:p>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('recepcion','veterinario_rol','auditor')</a:t>
            </a:r>
          </a:p>
          <a:p>
            <a:pPr>
              <a:spcAft>
                <a:spcPts val="400"/>
              </a:spcAft>
            </a:pPr>
            <a:r>
              <a:rPr sz="1400" b="0" i="0">
                <a:solidFill>
                  <a:srgbClr val="FFFFFF"/>
                </a:solidFill>
                <a:latin typeface="Calibri"/>
              </a:rPr>
              <a:t>ORDER BY grantee, table_name, privilege_type;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los privilegios por columna, que la consulta anterior no muestra:</a:t>
            </a:r>
          </a:p>
          <a:p>
            <a:pPr>
              <a:spcAft>
                <a:spcPts val="400"/>
              </a:spcAft>
            </a:pPr>
            <a:r>
              <a:rPr sz="1400" b="0" i="0">
                <a:solidFill>
                  <a:srgbClr val="FFFFFF"/>
                </a:solidFill>
                <a:latin typeface="Calibri"/>
              </a:rPr>
              <a:t>SELECT grantee, table_name, column_name, privilege_type</a:t>
            </a:r>
          </a:p>
          <a:p>
            <a:pPr>
              <a:spcAft>
                <a:spcPts val="400"/>
              </a:spcAft>
            </a:pPr>
            <a:r>
              <a:rPr sz="1400" b="0" i="0">
                <a:solidFill>
                  <a:srgbClr val="FFFFFF"/>
                </a:solidFill>
                <a:latin typeface="Calibri"/>
              </a:rPr>
              <a:t>FROM information_schema.column_privileges</a:t>
            </a:r>
          </a:p>
          <a:p>
            <a:pPr>
              <a:spcAft>
                <a:spcPts val="400"/>
              </a:spcAft>
            </a:pPr>
            <a:r>
              <a:rPr sz="1400" b="0" i="0">
                <a:solidFill>
                  <a:srgbClr val="FFFFFF"/>
                </a:solidFill>
                <a:latin typeface="Calibri"/>
              </a:rPr>
              <a:t>WHERE grantee = 'recepcion'</a:t>
            </a:r>
          </a:p>
          <a:p>
            <a:pPr>
              <a:spcAft>
                <a:spcPts val="400"/>
              </a:spcAft>
            </a:pPr>
            <a:r>
              <a:rPr sz="1400" b="0" i="0">
                <a:solidFill>
                  <a:srgbClr val="FFFFFF"/>
                </a:solidFill>
                <a:latin typeface="Calibri"/>
              </a:rPr>
              <a:t>ORDER BY table_name, column_name;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pide el taller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-- 1) La vista deja fuera el email y las citas canceladas</a:t>
            </a:r>
          </a:p>
          <a:p>
            <a:pPr>
              <a:spcAft>
                <a:spcPts val="400"/>
              </a:spcAft>
            </a:pPr>
            <a:r>
              <a:rPr sz="1400" b="0" i="0">
                <a:solidFill>
                  <a:srgbClr val="FFFFFF"/>
                </a:solidFill>
                <a:latin typeface="Calibri"/>
              </a:rPr>
              <a:t>CREATE VIEW v_agenda_recepcion AS</a:t>
            </a:r>
          </a:p>
          <a:p>
            <a:pPr>
              <a:spcAft>
                <a:spcPts val="400"/>
              </a:spcAft>
            </a:pPr>
            <a:r>
              <a:rPr sz="1400" b="0" i="0">
                <a:solidFill>
                  <a:srgbClr val="FFFFFF"/>
                </a:solidFill>
                <a:latin typeface="Calibri"/>
              </a:rPr>
              <a:t>SELECT c.id_cita, c.fecha_hora, d.nombre AS dueno, d.telefono</a:t>
            </a:r>
          </a:p>
          <a:p>
            <a:pPr>
              <a:spcAft>
                <a:spcPts val="400"/>
              </a:spcAft>
            </a:pPr>
            <a:r>
              <a:rPr sz="1400" b="0" i="0">
                <a:solidFill>
                  <a:srgbClr val="FFFFFF"/>
                </a:solidFill>
                <a:latin typeface="Calibri"/>
              </a:rPr>
              <a:t>  FROM cita c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c.estado &lt;&gt; 'CANCELADA';</a:t>
            </a:r>
          </a:p>
          <a:p>
            <a:pPr>
              <a:spcAft>
                <a:spcPts val="400"/>
              </a:spcAft>
            </a:pPr>
            <a:r>
              <a:rPr sz="1400" b="0" i="0">
                <a:solidFill>
                  <a:srgbClr val="FFFFFF"/>
                </a:solidFill>
                <a:latin typeface="Calibri"/>
              </a:rPr>
              <a:t>GRANT SELECT ON v_agenda_recepcion TO recepcion;</a:t>
            </a:r>
          </a:p>
          <a:p>
            <a:pPr>
              <a:spcAft>
                <a:spcPts val="400"/>
              </a:spcAft>
            </a:pPr>
            <a:r>
              <a:rPr sz="1400" b="0" i="0">
                <a:solidFill>
                  <a:srgbClr val="FFFFFF"/>
                </a:solidFill>
                <a:latin typeface="Calibri"/>
              </a:rPr>
              <a:t>REVOKE SELECT ON dueno FROM recepcion;   -- solo llega por la vista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O se recorta la tabla columna por columna</a:t>
            </a:r>
          </a:p>
          <a:p>
            <a:pPr>
              <a:spcAft>
                <a:spcPts val="400"/>
              </a:spcAft>
            </a:pPr>
            <a:r>
              <a:rPr sz="1400" b="0" i="0">
                <a:solidFill>
                  <a:srgbClr val="FFFFFF"/>
                </a:solidFill>
                <a:latin typeface="Calibri"/>
              </a:rPr>
              <a:t>GRANT SELECT (id_dueno, nombre) ON dueno TO veterinario_rol;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GRANT no es todo-o-nada: la vista recorta filas y columnas, y el privilegio por columna recorta columnas sin crear objeto nuevo.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 son las 5 secciones del entregable</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 la cuenta nace con </a:t>
            </a:r>
            <a:r>
              <a:rPr sz="2000" b="1" i="0">
                <a:solidFill>
                  <a:srgbClr val="333333"/>
                </a:solidFill>
                <a:latin typeface="Calibri"/>
              </a:rPr>
              <a:t>un solo rol</a:t>
            </a:r>
            <a:r>
              <a:rPr sz="2000" b="0" i="0">
                <a:solidFill>
                  <a:srgbClr val="333333"/>
                </a:solidFill>
                <a:latin typeface="Calibri"/>
              </a:rPr>
              <a:t> y con credencial temporal que caduca en el primer ingreso.</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 los permisos </a:t>
            </a:r>
            <a:r>
              <a:rPr sz="2000" b="1" i="0">
                <a:solidFill>
                  <a:srgbClr val="333333"/>
                </a:solidFill>
                <a:latin typeface="Calibri"/>
              </a:rPr>
              <a:t>no se acumulan</a:t>
            </a:r>
            <a:r>
              <a:rPr sz="2000" b="0" i="0">
                <a:solidFill>
                  <a:srgbClr val="333333"/>
                </a:solidFill>
                <a:latin typeface="Calibri"/>
              </a:rPr>
              <a:t>. Quien pasa de recepcion a auditoria y conserva los dos termina auditando lo que el mismo modifica.</a:t>
            </a:r>
          </a:p>
          <a:p>
            <a:pPr>
              <a:spcAft>
                <a:spcPts val="800"/>
              </a:spcAft>
            </a:pPr>
            <a:r>
              <a:rPr sz="2000" b="0" i="0">
                <a:solidFill>
                  <a:srgbClr val="333333"/>
                </a:solidFill>
                <a:latin typeface="Calibri"/>
              </a:rPr>
              <a:t>–   </a:t>
            </a:r>
            <a:r>
              <a:rPr sz="2000" b="1" i="0">
                <a:solidFill>
                  <a:srgbClr val="333333"/>
                </a:solidFill>
                <a:latin typeface="Calibri"/>
              </a:rPr>
              <a:t>3. Baja: el mismo dia.</a:t>
            </a:r>
            <a:r>
              <a:rPr sz="2000" b="0" i="0">
                <a:solidFill>
                  <a:srgbClr val="333333"/>
                </a:solidFill>
                <a:latin typeface="Calibri"/>
              </a:rPr>
              <a:t> Revocar los roles, dejar la cuenta sin login y </a:t>
            </a:r>
            <a:r>
              <a:rPr sz="2000" b="1" i="0">
                <a:solidFill>
                  <a:srgbClr val="333333"/>
                </a:solidFill>
                <a:latin typeface="Calibri"/>
              </a:rPr>
              <a:t>reasignar los objetos antes de borrar el rol</a:t>
            </a:r>
            <a:r>
              <a:rPr sz="2000" b="0" i="0">
                <a:solidFill>
                  <a:srgbClr val="333333"/>
                </a:solidFill>
                <a:latin typeface="Calibri"/>
              </a:rPr>
              <a:t> («REASSIGN OWNED BY ... TO admin_bd»): PostgreSQL no deja hacer «DROP ROLE» de un rol que todavia posee objetos. Lo que esto evita es la </a:t>
            </a:r>
            <a:r>
              <a:rPr sz="2000" b="1" i="0">
                <a:solidFill>
                  <a:srgbClr val="333333"/>
                </a:solidFill>
                <a:latin typeface="Calibri"/>
              </a:rPr>
              <a:t>cuenta huerfana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 Sin cuentas compartidas: si tres personas entran como «recepcion1», la auditoria no puede decir quien cancelo la cita.</a:t>
            </a:r>
          </a:p>
          <a:p>
            <a:pPr>
              <a:spcAft>
                <a:spcPts val="800"/>
              </a:spcAft>
            </a:pPr>
            <a:r>
              <a:rPr sz="2000" b="0" i="0">
                <a:solidFill>
                  <a:srgbClr val="333333"/>
                </a:solidFill>
                <a:latin typeface="Calibri"/>
              </a:rPr>
              <a:t>–   </a:t>
            </a:r>
            <a:r>
              <a:rPr sz="2000" b="1" i="0">
                <a:solidFill>
                  <a:srgbClr val="333333"/>
                </a:solidFill>
                <a:latin typeface="Calibri"/>
              </a:rPr>
              <a:t>5. Probar que el permiso NO esta.</a:t>
            </a:r>
            <a:r>
              <a:rPr sz="2000" b="0" i="0">
                <a:solidFill>
                  <a:srgbClr val="333333"/>
                </a:solidFill>
                <a:latin typeface="Calibri"/>
              </a:rPr>
              <a:t> No hace falta otra conexion (aqui hay un solo usuario con login): «SET ROLE recepcion;» cambia el rol efectivo, y ahi «DELETE FROM cita ...» debe responder </a:t>
            </a:r>
            <a:r>
              <a:rPr sz="2000" b="1" i="0">
                <a:solidFill>
                  <a:srgbClr val="333333"/>
                </a:solidFill>
                <a:latin typeface="Calibri"/>
              </a:rPr>
              <a:t>permission denied</a:t>
            </a:r>
            <a:r>
              <a:rPr sz="2000" b="0" i="0">
                <a:solidFill>
                  <a:srgbClr val="333333"/>
                </a:solidFill>
                <a:latin typeface="Calibri"/>
              </a:rPr>
              <a:t>. Se cierra con «RESET ROLE;». Si el entorno no deja cambiar de rol, se documenta el intento: eso es una </a:t>
            </a:r>
            <a:r>
              <a:rPr sz="2000" b="1" i="0">
                <a:solidFill>
                  <a:srgbClr val="333333"/>
                </a:solidFill>
                <a:latin typeface="Calibri"/>
              </a:rPr>
              <a:t>brecha de verificacion</a:t>
            </a:r>
            <a:r>
              <a:rPr sz="2000" b="0" i="0">
                <a:solidFill>
                  <a:srgbClr val="333333"/>
                </a:solidFill>
                <a:latin typeface="Calibri"/>
              </a:rPr>
              <a:t> del entregable.</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VetCare con CREATE ROLE/GRANT/REVOKE en la plataforma del curso, verificados con information_schema.role_table_grants.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