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Conviene aprovechar precisamente eso, porque los permisos son el tema del curso donde el estudiante mas necesita que alguien le diga en el momento por que su GRANT no surtio efecto.</a:t>
            </a:r>
          </a:p>
          <a:p>
            <a:r>
              <a:t>Fuera de la lamina (habla de la practica): Esta clase se dicta en sesion virtual sincrona, en el bloque normal de 120 minutos: hay explicacion en vivo, taller acompanado y espacio para preguntar, asi que este texto es el material con el que el docente dicta y no una lectura que sustituya la clase.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EXECUTE sobre una funcion o un procedimiento</a:t>
            </a:r>
          </a:p>
          <a:p>
            <a:r>
              <a:t>USAGE sobre un esquema o una secuencia</a:t>
            </a:r>
          </a:p>
          <a:p>
            <a:r>
              <a:t>CONNECT y TEMPORARY sobre la base de datos.</a:t>
            </a:r>
          </a:p>
          <a:p>
            <a:r>
              <a:t>Vale la pena decirlo porque el estudiante que busque en internet va a encontrar GRANT CREATE SESSION, que es sintaxis de Oracle y en PostgreSQL no existe.</a:t>
            </a:r>
          </a:p>
          <a:p>
            <a:r>
              <a:t>La distincion practica que hay que dejar clara es la que separa DDL de DML.</a:t>
            </a:r>
          </a:p>
          <a:p>
            <a:r>
              <a:t>Si su cuenta puede ejecutar DROP TABLE cita, un error de copiar y pegar borra la agenda completa, y ningun respaldo de la noche anterior devuelve las citas que se agendaron hoy.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Existe por una razon aritmetica que conviene poner en el tablero con los numeros de la clínica.</a:t>
            </a:r>
          </a:p>
          <a:p>
            <a:r>
              <a:t>Sobre cada uno hay hasta cinco acciones posibles, asi que la matriz completa tiene cincuenta celdas.</a:t>
            </a:r>
          </a:p>
          <a:p>
            <a:r>
              <a:t>Ese es el argumento real que el docente debe transmitir: el rol no ahorra tipeo, ahorra olvidos, y los olvidos en materia de permisos son precisamente los que producen incidentes de seguridad.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 eso los cuatro roles de la clase se crean con CREATE ROLE recepcion NOLOGIN: son bolsas de privilegios, no identidades.</a:t>
            </a:r>
          </a:p>
          <a:p>
            <a:r>
              <a:t>La persona viene despues, como CREATE ROLE ana_gomez LOGIN PASSWORD '...', y recibe la bolsa con GRANT recepcion TO ana_gomez.</a:t>
            </a:r>
          </a:p>
          <a:p>
            <a:r>
              <a:t>Esa herencia es la que hace que al modificar el rol se corrijan todas las personas a la vez.</a:t>
            </a:r>
          </a:p>
          <a:p>
            <a:r>
              <a:t>Conviene decir esto tal cual, porque un estudiante despierto va a preguntar por que el sufijo y merece la respuesta correcta y no una inventada.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principio de minimo privilegio dice que cada rol recibe exactamente lo que necesita para cumplir su funcion y ni un privilegio mas.</a:t>
            </a:r>
          </a:p>
          <a:p>
            <a:r>
              <a:t>Aplicado a la clínica deja una matriz muy concreta y defendible.</a:t>
            </a:r>
          </a:p>
          <a:p>
            <a:r>
              <a:t>El rol recepcion necesita SELECT sobre mascota, dueno y veterinario para poder buscar y agendar, y SELECT, INSERT y UPDATE sobre cita para agendar y reprogramar; nada mas.</a:t>
            </a:r>
          </a:p>
          <a:p>
            <a:r>
              <a:t>El rol auditor recibe unicamente SELECT, y jamas una escritura.</a:t>
            </a:r>
          </a:p>
          <a:p>
            <a:r>
              <a:t>Eso se llama borrado logico, y hace que el privilegio DELETE sea innecesario para casi todos los usuarios, lo que a su vez elimina de raiz la posibilidad de una perdida accidental de informacion.</a:t>
            </a:r>
          </a:p>
          <a:p>
            <a:r>
              <a:t>Conviene escribir esos dos valores en el tablero, porque el estudiante que suponga activa = 0 escribira un UPDATE que el CHECK va a rechazar y perdera diez minutos buscando el error en otra parte.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respuesta que el docente debe dar es que el problema no es la confianza en la persona sino el dano posible por un error o por una sesion robada.</a:t>
            </a:r>
          </a:p>
          <a:p>
            <a:r>
              <a:t>Si alguien roba la sesion del recepcionista, con minimo privilegio el atacante ve agendas y datos de contacto; con privilegios de administrador, borra la base completa.</a:t>
            </a:r>
          </a:p>
          <a:p>
            <a:r>
              <a:t>El permiso no mide cuanto se quiere a un empleado, mide cuanto se puede perder.</a:t>
            </a:r>
          </a:p>
          <a:p>
            <a:r>
              <a:t>Ningun rol puede a la vez crear, modificar y aprobar el mismo registro.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GRANT otorga y REVOKE retira, y ambos operan igual sobre usuarios y sobre roles.</a:t>
            </a:r>
          </a:p>
          <a:p>
            <a:r>
              <a:t>Para retirar un permiso</a:t>
            </a:r>
          </a:p>
          <a:p>
            <a:r>
              <a:t>Hay tres detalles operativos que evitan la mitad de los tropiezos de la clase.</a:t>
            </a:r>
          </a:p>
          <a:p>
            <a:r>
              <a:t>Fuera de la lamina (habla de la practica): Eso explica por que el REVOKE de DELETE que pide el taller es, tecnicamente, redundante; se escribe de todos modos porque es la evidencia documental de una decision de diseno, y quien revise el script tiene que poder ver que la ausencia de DELETE fue deliberada y no un olvido.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Hay dos mecanismos que conviene conocer porque hacen dano en silencio.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Aqui esta el concepto que hace la diferencia entre una matriz de aficionado y una defendible.</a:t>
            </a:r>
          </a:p>
          <a:p>
            <a:r>
              <a:t>Pero la recepcionista solo necesita el nombre y el telefono para identificar a quien llama, y no tiene por que ver el correo electronico de los clientes.</a:t>
            </a:r>
          </a:p>
          <a:p>
            <a:r>
              <a:t>El primero es la vista.</a:t>
            </a:r>
          </a:p>
          <a:p>
            <a:r>
              <a:t>Lo que hace que funcione, y es el punto que el estudiante no cree hasta que lo ve, es que la consulta de la vista se ejecuta con los privilegios de su PROPIETARIO y no con los de quien la consulta: por eso se puede dar SELECT sobre la vista a recepcion y al mismo tiempo hacer REVOKE SELECT ON dueno FROM recepcion, y el rol sigue viendo el telefono del dueno a traves de la vista pero no puede consultar la tabla directamente.</a:t>
            </a:r>
          </a:p>
          <a:p>
            <a:r>
              <a:t>Fuera de la lamina (habla de la practica): Aqui esta el concepto que hace la diferencia entre una matriz de aficionado y una defendible, y es la parte que el taller evalua con veinte puntos.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Vale explicar por que se usa role_table_grants y no table_privileges, que es la que aparece primero al buscar: table_privileges solo muestra los privilegios en los que el usuario actual es quien otorga o quien recibe, mientras que role_table_grants incluye los de cualquier rol que este habilitado en la sesion, que es justamente lo que necesita el propietario para auditar lo que reparti.</a:t>
            </a:r>
          </a:p>
          <a:p>
            <a:r>
              <a:t>Fuera de la lamina (habla de la practica): Estas dos consultas son la evidencia que la rubrica exige tres veces, y el docente deberia proyectar su salida en la demo: ver la matriz salir del motor, y no de un documento, es lo que convence al grupo de que los permisos son verificables.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Dos reglas la cierran.</a:t>
            </a:r>
          </a:p>
          <a:p>
            <a:r>
              <a:t>Vale la pena senalar el detalle tecnico de la baja: en PostgreSQL no se puede hacer DROP ROLE de un rol que todavia posee objetos, hay que reasignarlos primero con REASSIGN OWNED BY ana_gomez TO admin_bd, y por eso la politica tiene que decir que pasa con lo que la persona era dueno.</a:t>
            </a:r>
          </a:p>
          <a:p>
            <a:r>
              <a:t>Fuera de la lamina (habla de la practica): La diapositiva trae las cinco secciones en el mismo orden en que el taller las va a pedir, asi que se dicta recorriendola de arriba abajo.</a:t>
            </a:r>
          </a:p>
          <a:p>
            <a:r>
              <a:t>Fuera de la lamina (habla de la practica): La quinta seccion es el limite de este entorno, y se desarrolla completa en «El motor de hoy es PostgreSQL» un poco mas abajo; lo que se califica ahi no es que la prueba negativa exista, sino que el estudiante sepa nombrarla como brecha de verificacion de su propia entrega.</a:t>
            </a:r>
          </a:p>
          <a:p>
            <a:r>
              <a:t>Fuera de la lamina (habla de la practica): Una politica que no dice quien firma ni en cuanto tiempo no es una politica, es una intencion, y asi esta escrita la rubrica.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Ahi CREATE ROLE, GRANT, REVOKE, CREATE VIEW, los privilegios por columna y las consultas a information_schema funcionan todos: son DDL real y son verificables, asi que la evidencia de la clase es la salida del motor y no una promesa.</a:t>
            </a:r>
          </a:p>
          <a:p>
            <a:r>
              <a:t>Lo que NO se puede hacer es abrir una segunda conexion: el entorno tiene un solo usuario con login y una sola sesion, asi que nadie va a conectarse como recepcion en otra pestana mientras el docente mira desde la suya.</a:t>
            </a:r>
          </a:p>
          <a:p>
            <a:r>
              <a:t>Esa es la limitacion real, y hay que nombrarla con esa precision, porque la version anterior de esta guia decia algo mas fuerte y falso: que por eso la prueba negativa era imposible.</a:t>
            </a:r>
          </a:p>
          <a:p>
            <a:r>
              <a:t>Para ver el permiso negado no hace falta otra conexion, hace falta cambiar el rol EFECTIVO dentro de la misma sesion, y eso es lo que hace SET ROLE recepcion; a partir de esa linea los privilegios que el motor revisa son los del rol y no los del propietario, de modo que devuelve permission denied for table cita y tambien, si ya se revoco el SELECT de la tabla.</a:t>
            </a:r>
          </a:p>
          <a:p>
            <a:r>
              <a:t>Se cierra con RESET ROLE; y conviene no olvidarlo, porque todo lo que venga despues se seguiria ejecutando con los permisos recortados.</a:t>
            </a:r>
          </a:p>
          <a:p>
            <a:r>
              <a:t>Dos advertencias para la demo.</a:t>
            </a:r>
          </a:p>
          <a:p>
            <a:r>
              <a:t>Fuera de la lamina (habla de la practica): Este punto hay que decirlo con precision porque una version anterior de esta guia decia lo contrario y costaria puntos repetirla.</a:t>
            </a:r>
          </a:p>
          <a:p>
            <a:r>
              <a:t>Fuera de la lamina (habla de la practica): Dos, si el entorno del dia no permite cambiar de rol, no hay que esconderlo — se muestra el mensaje, y entonces si aparece la brecha de verificacion que la pregunta 5 pide nombrar.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Lo de hoy no es una isla, y decirlo en voz alta le da sentido al entregable.</a:t>
            </a:r>
          </a:p>
          <a:p>
            <a:r>
              <a:t>Fuera de la lamina (habla de la practica): La Clase 4 agrega disparadores de auditoria y el plan de respaldo, que son el otro componente de este mismo criterio de rubrica.</a:t>
            </a:r>
          </a:p>
          <a:p>
            <a:r>
              <a:t>Fuera de la lamina (habla de la practica): En la rubrica del proyecto, seguridad y respaldo valen 15 de los 100 puntos.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el rol no tiene USAGE sobre el esquema.</a:t>
            </a:r>
          </a:p>
          <a:p>
            <a:r>
              <a:t>Lo que no se puede es conectarse como recepcion en una segunda sesion, porque el entorno tiene un solo usuario con login.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2</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Administracion de BD · Roles la clínica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Privilegios y usuarios del proyecto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Administracion de BD · Roles la clínica</a:t>
            </a:r>
          </a:p>
          <a:p>
            <a:pPr>
              <a:spcAft>
                <a:spcPts val="800"/>
              </a:spcAft>
            </a:pPr>
            <a:r>
              <a:rPr sz="2000" b="0" i="0">
                <a:solidFill>
                  <a:srgbClr val="333333"/>
                </a:solidFill>
                <a:latin typeface="Calibri"/>
              </a:rPr>
              <a:t>–   Herramienta: </a:t>
            </a:r>
            <a:r>
              <a:rPr sz="2000" b="1" i="0">
                <a:solidFill>
                  <a:srgbClr val="333333"/>
                </a:solidFill>
                <a:latin typeface="Calibri"/>
              </a:rPr>
              <a:t>PostgreSQL + Google Docs</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Recorrido: teoría del tema, una lámina por concepto, y demo del docente sobre la base de la clínica.</a:t>
            </a:r>
          </a:p>
          <a:p>
            <a:pPr>
              <a:spcAft>
                <a:spcPts val="800"/>
              </a:spcAft>
            </a:pPr>
            <a:r>
              <a:rPr sz="2000" b="0" i="0">
                <a:solidFill>
                  <a:srgbClr val="333333"/>
                </a:solidFill>
                <a:latin typeface="Calibri"/>
              </a:rPr>
              <a:t>–   Cada lámina se sostiene sola: sirve para repasar aunque hayas faltado.</a:t>
            </a:r>
          </a:p>
          <a:p>
            <a:pPr>
              <a:spcAft>
                <a:spcPts val="800"/>
              </a:spcAft>
            </a:pPr>
            <a:r>
              <a:rPr sz="2000" b="0" i="0">
                <a:solidFill>
                  <a:srgbClr val="333333"/>
                </a:solidFill>
                <a:latin typeface="Calibri"/>
              </a:rPr>
              <a:t>–   </a:t>
            </a:r>
            <a:r>
              <a:rPr sz="2000" b="1" i="0">
                <a:solidFill>
                  <a:srgbClr val="333333"/>
                </a:solidFill>
                <a:latin typeface="Calibri"/>
              </a:rPr>
              <a:t>Conceptos de hoy:</a:t>
            </a:r>
            <a:r>
              <a:rPr sz="2000" b="0" i="0">
                <a:solidFill>
                  <a:srgbClr val="333333"/>
                </a:solidFill>
                <a:latin typeface="Calibri"/>
              </a:rPr>
              <a:t> Los cuatro terminos que se confunden todo el tiempo · Privilegio · Rol · En PostgreSQL usuario y rol son lo mismo, y por eso hoy se escribe NOLOGIN.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la clínica</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proyecto)</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cuatro terminos que se confunden todo el tiempo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Administrar una base de datos es decidir y hacer cumplir quien puede hacer que sobre cada objeto, y dejar rastro de quien lo hizo.</a:t>
            </a:r>
          </a:p>
          <a:p>
            <a:pPr>
              <a:spcAft>
                <a:spcPts val="800"/>
              </a:spcAft>
            </a:pPr>
            <a:r>
              <a:rPr sz="2000" b="0" i="0">
                <a:solidFill>
                  <a:srgbClr val="333333"/>
                </a:solidFill>
                <a:latin typeface="Calibri"/>
              </a:rPr>
              <a:t>–   Antes de llegar a la sintaxis conviene fijar cuatro terminos que se usan sueltos y se confunden todo el tiempo.</a:t>
            </a:r>
          </a:p>
          <a:p>
            <a:pPr>
              <a:spcAft>
                <a:spcPts val="800"/>
              </a:spcAft>
            </a:pPr>
            <a:r>
              <a:rPr sz="2000" b="0" i="0">
                <a:solidFill>
                  <a:srgbClr val="333333"/>
                </a:solidFill>
                <a:latin typeface="Calibri"/>
              </a:rPr>
              <a:t>–   Un objeto de base de datos es cualquier cosa que el motor guarda y a la que se le puede poner nombre: una tabla como cita, una vista, un procedimiento, una secuencia.</a:t>
            </a:r>
          </a:p>
          <a:p>
            <a:pPr>
              <a:spcAft>
                <a:spcPts val="800"/>
              </a:spcAft>
            </a:pPr>
            <a:r>
              <a:rPr sz="2000" b="0" i="0">
                <a:solidFill>
                  <a:srgbClr val="333333"/>
                </a:solidFill>
                <a:latin typeface="Calibri"/>
              </a:rPr>
              <a:t>–   Un esquema es un contenedor con nombre donde viven esos objetos; en PostgreSQL, que es el motor de esta clase, el esquema por omision se llama public y el nombre completo de la tabla es public.cita.</a:t>
            </a:r>
          </a:p>
          <a:p>
            <a:pPr>
              <a:spcAft>
                <a:spcPts val="800"/>
              </a:spcAft>
            </a:pPr>
            <a:r>
              <a:rPr sz="2000" b="0" i="0">
                <a:solidFill>
                  <a:srgbClr val="333333"/>
                </a:solidFill>
                <a:latin typeface="Calibri"/>
              </a:rPr>
              <a:t>–   Aqui hay que desactivar una confusion que traen quienes vieron Oracle: alli esquema y usuario son practicamente lo mismo y se escribe la clínica.MASCOTA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cuatro terminos que se confunden todo el tiempo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Mientras que en PostgreSQL son cosas separadas, un mismo usuario puede tener objetos en varios esquemas y un esquema puede contener objetos de varios propietarios.</a:t>
            </a:r>
          </a:p>
          <a:p>
            <a:pPr>
              <a:spcAft>
                <a:spcPts val="800"/>
              </a:spcAft>
            </a:pPr>
            <a:r>
              <a:rPr sz="2000" b="0" i="0">
                <a:solidFill>
                  <a:srgbClr val="333333"/>
                </a:solidFill>
                <a:latin typeface="Calibri"/>
              </a:rPr>
              <a:t>–   Autenticacion es probar quien es usted, con usuario y clave o con un certificado.</a:t>
            </a:r>
          </a:p>
          <a:p>
            <a:pPr>
              <a:spcAft>
                <a:spcPts val="800"/>
              </a:spcAft>
            </a:pPr>
            <a:r>
              <a:rPr sz="2000" b="0" i="0">
                <a:solidFill>
                  <a:srgbClr val="333333"/>
                </a:solidFill>
                <a:latin typeface="Calibri"/>
              </a:rPr>
              <a:t>–   Autorizacion es decidir que puede hacer una vez que ya esta dentro.</a:t>
            </a:r>
          </a:p>
          <a:p>
            <a:pPr>
              <a:spcAft>
                <a:spcPts val="800"/>
              </a:spcAft>
            </a:pPr>
            <a:r>
              <a:rPr sz="2000" b="0" i="0">
                <a:solidFill>
                  <a:srgbClr val="333333"/>
                </a:solidFill>
                <a:latin typeface="Calibri"/>
              </a:rPr>
              <a:t>–   Son etapas distintas, se controlan con mecanismos distintos, y un usuario puede autenticarse perfectamente y no tener permiso para leer ni una sola fila.</a:t>
            </a:r>
          </a:p>
          <a:p>
            <a:pPr>
              <a:spcAft>
                <a:spcPts val="800"/>
              </a:spcAft>
            </a:pPr>
            <a:r>
              <a:rPr sz="2000" b="0" i="0">
                <a:solidFill>
                  <a:srgbClr val="333333"/>
                </a:solidFill>
                <a:latin typeface="Calibri"/>
              </a:rPr>
              <a:t>–   Esta clase se dicta en sesion virtual sincrona, en el bloque normal de 120 minutos: hay explicacion en vivo.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Privilegio: la unidad atomica, y la frontera DDL/DML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privilegio es un permiso atomico: la unidad mas pequena de autorizacion que el motor sabe otorgar o quitar.</a:t>
            </a:r>
          </a:p>
          <a:p>
            <a:pPr>
              <a:spcAft>
                <a:spcPts val="800"/>
              </a:spcAft>
            </a:pPr>
            <a:r>
              <a:rPr sz="2000" b="0" i="0">
                <a:solidFill>
                  <a:srgbClr val="333333"/>
                </a:solidFill>
                <a:latin typeface="Calibri"/>
              </a:rPr>
              <a:t>–   En PostgreSQL hay que distinguir dos cosas que los estudiantes mezclan.</a:t>
            </a:r>
          </a:p>
          <a:p>
            <a:pPr>
              <a:spcAft>
                <a:spcPts val="800"/>
              </a:spcAft>
            </a:pPr>
            <a:r>
              <a:rPr sz="2000" b="0" i="0">
                <a:solidFill>
                  <a:srgbClr val="333333"/>
                </a:solidFill>
                <a:latin typeface="Calibri"/>
              </a:rPr>
              <a:t>–   Los privilegios de objeto habilitan acciones sobre un objeto concreto y son los que se escriben con GRANT: SELECT, INSERT, UPDATE, DELETE, TRUNCATE, REFERENCES y TRIGGER sobre una tabla o una vista</a:t>
            </a:r>
          </a:p>
          <a:p>
            <a:pPr>
              <a:spcAft>
                <a:spcPts val="800"/>
              </a:spcAft>
            </a:pPr>
            <a:r>
              <a:rPr sz="2000" b="0" i="0">
                <a:solidFill>
                  <a:srgbClr val="333333"/>
                </a:solidFill>
                <a:latin typeface="Calibri"/>
              </a:rPr>
              <a:t>–   Los atributos de rol son otra cosa: LOGIN, CREATEDB, CREATEROLE y SUPERUSER no se otorgan con GRANT sino que se escriben en el CREATE ROLE o se cambian con ALTER ROLE, y son el equivalente de lo que en Oracle se llama privilegio de sistema.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Privilegio: la unidad atomica, y la frontera DDL/DML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DDL, Data Definition Language, son las sentencias que cambian la estructura: CREATE, ALTER, DROP, TRUNCATE.</a:t>
            </a:r>
          </a:p>
          <a:p>
            <a:pPr>
              <a:spcAft>
                <a:spcPts val="800"/>
              </a:spcAft>
            </a:pPr>
            <a:r>
              <a:rPr sz="2000" b="0" i="0">
                <a:solidFill>
                  <a:srgbClr val="333333"/>
                </a:solidFill>
                <a:latin typeface="Calibri"/>
              </a:rPr>
              <a:t>–   DML, Data Manipulation Language, son las que leen o cambian los datos sin tocar la estructura: SELECT, INSERT, UPDATE, DELETE.</a:t>
            </a:r>
          </a:p>
          <a:p>
            <a:pPr>
              <a:spcAft>
                <a:spcPts val="800"/>
              </a:spcAft>
            </a:pPr>
            <a:r>
              <a:rPr sz="2000" b="0" i="0">
                <a:solidFill>
                  <a:srgbClr val="333333"/>
                </a:solidFill>
                <a:latin typeface="Calibri"/>
              </a:rPr>
              <a:t>–   Un recepcionista de la clínica necesita DML sobre unas pocas tablas y nunca necesita DDL.</a:t>
            </a:r>
          </a:p>
          <a:p>
            <a:pPr>
              <a:spcAft>
                <a:spcPts val="800"/>
              </a:spcAft>
            </a:pPr>
            <a:r>
              <a:rPr sz="2000" b="0" i="0">
                <a:solidFill>
                  <a:srgbClr val="333333"/>
                </a:solidFill>
                <a:latin typeface="Calibri"/>
              </a:rPr>
              <a:t>–   Ejemplo en la clínica: GRANT SELECT, INSERT ON cita TO recepcion permite leer y agendar, pero no UPDATE ni DELETE, y tampoco ALTER TABLE, porque modificar la estructura de un objeto no es un privilegio que se conceda con GRANT: lo puede hacer su dueno.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Rol: por que existe, con la aritmetica en el tablero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rol es un paquete de privilegios con nombre propio, que se otorga a un usuario en un solo paso.</a:t>
            </a:r>
          </a:p>
          <a:p>
            <a:pPr>
              <a:spcAft>
                <a:spcPts val="800"/>
              </a:spcAft>
            </a:pPr>
            <a:r>
              <a:rPr sz="2000" b="0" i="0">
                <a:solidFill>
                  <a:srgbClr val="333333"/>
                </a:solidFill>
                <a:latin typeface="Calibri"/>
              </a:rPr>
              <a:t>–   El modelo tiene ocho tablas (dueno, mascota, veterinario, cita, consulta, insumo, factura y detalle_factura) y, contando los dos procedimientos que llegaran en la Clase 3, diez objetos que hay que decidir.</a:t>
            </a:r>
          </a:p>
          <a:p>
            <a:pPr>
              <a:spcAft>
                <a:spcPts val="800"/>
              </a:spcAft>
            </a:pPr>
            <a:r>
              <a:rPr sz="2000" b="0" i="0">
                <a:solidFill>
                  <a:srgbClr val="333333"/>
                </a:solidFill>
                <a:latin typeface="Calibri"/>
              </a:rPr>
              <a:t>–   Si la clinica tiene doce empleados y los permisos se otorgan cuenta por cuenta, el administrador escribe del orden de cientos de sentencias GRANT</a:t>
            </a:r>
          </a:p>
          <a:p>
            <a:pPr>
              <a:spcAft>
                <a:spcPts val="800"/>
              </a:spcAft>
            </a:pPr>
            <a:r>
              <a:rPr sz="2000" b="0" i="0">
                <a:solidFill>
                  <a:srgbClr val="333333"/>
                </a:solidFill>
                <a:latin typeface="Calibri"/>
              </a:rPr>
              <a:t>–   Pero el problema grave no es el volumen: es que cuando cambie una regla, por ejemplo que recepcion ya no pueda anular facturas, tendra que recordar tocar doce cuentas sin olvidar ninguna.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Rol: por que existe, con la aritmetica en el tablero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 roles se define una sola vez el conjunto de privilegios de recepcion y se ejecutan doce sentencias GRANT recepcion TO usuario.</a:t>
            </a:r>
          </a:p>
          <a:p>
            <a:pPr>
              <a:spcAft>
                <a:spcPts val="800"/>
              </a:spcAft>
            </a:pPr>
            <a:r>
              <a:rPr sz="2000" b="0" i="0">
                <a:solidFill>
                  <a:srgbClr val="333333"/>
                </a:solidFill>
                <a:latin typeface="Calibri"/>
              </a:rPr>
              <a:t>–   Al cambiar la regla se hace un REVOKE sobre el rol y los doce usuarios quedan corregidos en el mismo instante, sin excepciones y sin listas de verificacion.</a:t>
            </a:r>
          </a:p>
          <a:p>
            <a:pPr>
              <a:spcAft>
                <a:spcPts val="800"/>
              </a:spcAft>
            </a:pPr>
            <a:r>
              <a:rPr sz="2000" b="0" i="0">
                <a:solidFill>
                  <a:srgbClr val="333333"/>
                </a:solidFill>
                <a:latin typeface="Calibri"/>
              </a:rPr>
              <a:t>–   Ejemplo la clínica: cuando entra una recepcionista nueva, el alta es una sola sentencia que le otorga el rol recepcion; cuando se va, la baja es una sola sentencia que se lo revoca.</a:t>
            </a:r>
          </a:p>
          <a:p>
            <a:pPr>
              <a:spcAft>
                <a:spcPts val="800"/>
              </a:spcAft>
            </a:pPr>
            <a:r>
              <a:rPr sz="2000" b="0" i="0">
                <a:solidFill>
                  <a:srgbClr val="333333"/>
                </a:solidFill>
                <a:latin typeface="Calibri"/>
              </a:rPr>
              <a:t>–   Ningun permiso se toca objeto por objeto: la matriz del rol sigue siendo la misma para las 12 cuentas.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 PostgreSQL usuario y rol son lo mismo, y por eso hoy se escribe NOLOGIN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Hay un detalle del motor que hay que decir temprano porque de lo contrario el tema se vuelve incomprensible: en PostgreSQL usuario y rol son la misma entidad.</a:t>
            </a:r>
          </a:p>
          <a:p>
            <a:pPr>
              <a:spcAft>
                <a:spcPts val="800"/>
              </a:spcAft>
            </a:pPr>
            <a:r>
              <a:rPr sz="2000" b="0" i="0">
                <a:solidFill>
                  <a:srgbClr val="333333"/>
                </a:solidFill>
                <a:latin typeface="Calibri"/>
              </a:rPr>
              <a:t>–   CREATE USER no es un comando distinto, es un alias de CREATE ROLE...</a:t>
            </a:r>
          </a:p>
          <a:p>
            <a:pPr>
              <a:spcAft>
                <a:spcPts val="800"/>
              </a:spcAft>
            </a:pPr>
            <a:r>
              <a:rPr sz="2000" b="0" i="0">
                <a:solidFill>
                  <a:srgbClr val="333333"/>
                </a:solidFill>
                <a:latin typeface="Calibri"/>
              </a:rPr>
              <a:t>–   Un rol con el atributo LOGIN es lo que llamamos usuario, porque puede iniciar sesion; un rol sin LOGIN es un paquete de permisos que nadie usa para conectarse.</a:t>
            </a:r>
          </a:p>
          <a:p>
            <a:pPr>
              <a:spcAft>
                <a:spcPts val="800"/>
              </a:spcAft>
            </a:pPr>
            <a:r>
              <a:rPr sz="2000" b="0" i="0">
                <a:solidFill>
                  <a:srgbClr val="333333"/>
                </a:solidFill>
                <a:latin typeface="Calibri"/>
              </a:rPr>
              <a:t>–   Un segundo detalle, este de convencion y no de motor: el rol del veterinario se llama veterinario_rol y no veterinario.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 PostgreSQL usuario y rol son lo mismo, y por eso hoy se escribe NOLOGIN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Tecnicamente no hay ninguna obligacion, porque en PostgreSQL los roles son globales al cluster y las tablas viven en un esquema, de modo que un rol llamado veterinario y una tabla llamada veterinario pueden coexistir sin conflicto alguno.</a:t>
            </a:r>
          </a:p>
          <a:p>
            <a:pPr>
              <a:spcAft>
                <a:spcPts val="800"/>
              </a:spcAft>
            </a:pPr>
            <a:r>
              <a:rPr sz="2000" b="0" i="0">
                <a:solidFill>
                  <a:srgbClr val="333333"/>
                </a:solidFill>
                <a:latin typeface="Calibri"/>
              </a:rPr>
              <a:t>–   La razon es de legibilidad para quien audita: en la linea GRANT SELECT ON cita TO veterinario no se puede saber a simple vista si veterinario es un rol o si alguien se equivoco de sintaxis, mientras que veterinario_rol se lee sin ambiguedad.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Minimo privilegio aplicado a la clínica: la matriz defendible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No necesita leer consulta, porque el historial clinico es informacion sensible del paciente que la recepcion no requiere para hacer su trabajo.</a:t>
            </a:r>
          </a:p>
          <a:p>
            <a:pPr>
              <a:spcAft>
                <a:spcPts val="800"/>
              </a:spcAft>
            </a:pPr>
            <a:r>
              <a:rPr sz="2000" b="0" i="0">
                <a:solidFill>
                  <a:srgbClr val="333333"/>
                </a:solidFill>
                <a:latin typeface="Calibri"/>
              </a:rPr>
              <a:t>–   El rol veterinario_rol necesita SELECT sobre cita y mascota, y SELECT, INSERT y UPDATE sobre consulta, porque es quien documenta la atencion.</a:t>
            </a:r>
          </a:p>
          <a:p>
            <a:pPr>
              <a:spcAft>
                <a:spcPts val="800"/>
              </a:spcAft>
            </a:pPr>
            <a:r>
              <a:rPr sz="2000" b="0" i="0">
                <a:solidFill>
                  <a:srgbClr val="333333"/>
                </a:solidFill>
                <a:latin typeface="Calibri"/>
              </a:rPr>
              <a:t>–   El rol admin_bd es el unico con privilegios amplios, y es el que sostiene el DDL.</a:t>
            </a:r>
          </a:p>
          <a:p>
            <a:pPr>
              <a:spcAft>
                <a:spcPts val="800"/>
              </a:spcAft>
            </a:pPr>
            <a:r>
              <a:rPr sz="2000" b="0" i="0">
                <a:solidFill>
                  <a:srgbClr val="333333"/>
                </a:solidFill>
                <a:latin typeface="Calibri"/>
              </a:rPr>
              <a:t>–   Notese que DELETE no aparece en ninguna fila operativa, y eso no es descuido: en un sistema clinico las cosas no se borran, se marcan.</a:t>
            </a:r>
          </a:p>
          <a:p>
            <a:pPr>
              <a:spcAft>
                <a:spcPts val="800"/>
              </a:spcAft>
            </a:pPr>
            <a:r>
              <a:rPr sz="2000" b="0" i="0">
                <a:solidFill>
                  <a:srgbClr val="333333"/>
                </a:solidFill>
                <a:latin typeface="Calibri"/>
              </a:rPr>
              <a:t>–   Una cita cancelada lleva estado = 'CANCELADA' y una mascota que ya no se atiende lleva activa = 'N', que es exactamente como quedo el DDL de la Clase 1, con CHAR(1) y CHECK (activa IN ('S','N')).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Separacion de funciones: el ejemplo de la factura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Separacion de funciones, o segregation of duties, es la practica de repartir un proceso sensible entre dos o mas personas para que ninguna pueda completarlo sola sin dejar rastro.</a:t>
            </a:r>
          </a:p>
          <a:p>
            <a:pPr>
              <a:spcAft>
                <a:spcPts val="800"/>
              </a:spcAft>
            </a:pPr>
            <a:r>
              <a:rPr sz="2000" b="0" i="0">
                <a:solidFill>
                  <a:srgbClr val="333333"/>
                </a:solidFill>
                <a:latin typeface="Calibri"/>
              </a:rPr>
              <a:t>–   En terminos de base de datos significa que quien disena y modifica el esquema no debe ser la misma cuenta que opera los datos del dia a dia, y que quien audita solo debe leer.</a:t>
            </a:r>
          </a:p>
          <a:p>
            <a:pPr>
              <a:spcAft>
                <a:spcPts val="800"/>
              </a:spcAft>
            </a:pPr>
            <a:r>
              <a:rPr sz="2000" b="0" i="0">
                <a:solidFill>
                  <a:srgbClr val="333333"/>
                </a:solidFill>
                <a:latin typeface="Calibri"/>
              </a:rPr>
              <a:t>–   El ejemplo de la clínica es facil de contar: si la misma cuenta que emite una factura puede tambien borrarla, entonces una persona puede cobrar en efectivo y hacer desaparecer el registro, y no queda evidencia de que la factura existio.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Separacion de funciones: el ejemplo de la factura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Separando funciones, emitir una factura es un INSERT permitido a un rol, y anular una factura es un UPDATE de estado permitido a un rol distinto, y ese UPDATE deja fecha, usuario y motivo.</a:t>
            </a:r>
          </a:p>
          <a:p>
            <a:pPr>
              <a:spcAft>
                <a:spcPts val="800"/>
              </a:spcAft>
            </a:pPr>
            <a:r>
              <a:rPr sz="2000" b="0" i="0">
                <a:solidFill>
                  <a:srgbClr val="333333"/>
                </a:solidFill>
                <a:latin typeface="Calibri"/>
              </a:rPr>
              <a:t>–   Aqui aparece la primera pregunta previsible del estudiante: «no es mas facil darle todo al jefe y ya?».</a:t>
            </a:r>
          </a:p>
          <a:p>
            <a:pPr>
              <a:spcAft>
                <a:spcPts val="800"/>
              </a:spcAft>
            </a:pPr>
            <a:r>
              <a:rPr sz="2000" b="0" i="0">
                <a:solidFill>
                  <a:srgbClr val="333333"/>
                </a:solidFill>
                <a:latin typeface="Calibri"/>
              </a:rPr>
              <a:t>–   En terminos de privilegios: recepcion puede INSERT en factura pero no UPDATE sobre un total ya emitido, y auditor solo tiene SELECT.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GRANT y REVOKE: la sintaxis exacta que se va a escribir hoy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forma de las sentencias reales, que el estudiante debe poder escribir de memoria al terminar la lectura, es esta: CREATE ROLE recepcion NOLOGIN; luego GRANT SELECT, INSERT, UPDATE ON cita TO recepcion</a:t>
            </a:r>
          </a:p>
          <a:p>
            <a:pPr>
              <a:spcAft>
                <a:spcPts val="800"/>
              </a:spcAft>
            </a:pPr>
            <a:r>
              <a:rPr sz="2000" b="0" i="0">
                <a:solidFill>
                  <a:srgbClr val="333333"/>
                </a:solidFill>
                <a:latin typeface="Calibri"/>
              </a:rPr>
              <a:t>–   Luego GRANT SELECT ON dueno, mascota, veterinario TO recepcion, aprovechando que PostgreSQL acepta varias tablas en un mismo GRANT; y finalmente GRANT recepcion TO ana_gomez.</a:t>
            </a:r>
          </a:p>
          <a:p>
            <a:pPr>
              <a:spcAft>
                <a:spcPts val="800"/>
              </a:spcAft>
            </a:pPr>
            <a:r>
              <a:rPr sz="2000" b="0" i="0">
                <a:solidFill>
                  <a:srgbClr val="333333"/>
                </a:solidFill>
                <a:latin typeface="Calibri"/>
              </a:rPr>
              <a:t>–   Primero, un rol recien creado no tiene ningun privilegio sobre las tablas ajenas: no hace falta revocar nada para «empezar limpio», el punto de partida ya es cero.</a:t>
            </a:r>
          </a:p>
          <a:p>
            <a:pPr>
              <a:spcAft>
                <a:spcPts val="800"/>
              </a:spcAft>
            </a:pPr>
            <a:r>
              <a:rPr sz="2000" b="0" i="0">
                <a:solidFill>
                  <a:srgbClr val="333333"/>
                </a:solidFill>
                <a:latin typeface="Calibri"/>
              </a:rPr>
              <a:t>–   Segundo, para que un rol pueda usar los objetos del esquema necesita USAGE sobre el esquema; en public eso viene concedido por omision, asi que hoy no estorba, pero en un servidor con esquemas propios es la causa numero uno del GRANT que «no surtio efecto».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GRANT y REVOKE: la sintaxis exacta que se va a escribir hoy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Tercero, existe la forma masiva GRANT SELECT ON ALL TABLES IN SCHEMA public TO auditor, comoda y peligrosa a la vez: aplica a las tablas que existen en ese momento y no a las futuras</a:t>
            </a:r>
          </a:p>
          <a:p>
            <a:pPr>
              <a:spcAft>
                <a:spcPts val="800"/>
              </a:spcAft>
            </a:pPr>
            <a:r>
              <a:rPr sz="2000" b="0" i="0">
                <a:solidFill>
                  <a:srgbClr val="333333"/>
                </a:solidFill>
                <a:latin typeface="Calibri"/>
              </a:rPr>
              <a:t>–   De modo que la tabla que se cree la semana entrante quedara fuera y nadie se dara cuenta; para eso existe ALTER DEFAULT PRIVILEGES, que vale nombrar sin desarrollar.</a:t>
            </a:r>
          </a:p>
          <a:p>
            <a:pPr>
              <a:spcAft>
                <a:spcPts val="800"/>
              </a:spcAft>
            </a:pPr>
            <a:r>
              <a:rPr sz="2000" b="0" i="0">
                <a:solidFill>
                  <a:srgbClr val="333333"/>
                </a:solidFill>
                <a:latin typeface="Calibri"/>
              </a:rPr>
              <a:t>–   Error comun: creer que REVOKE de un privilegio que nunca se otorgo es un error: PostgreSQL lo ejecuta sin error y no cambia nada.</a:t>
            </a:r>
          </a:p>
          <a:p>
            <a:pPr>
              <a:spcAft>
                <a:spcPts val="800"/>
              </a:spcAft>
            </a:pPr>
            <a:r>
              <a:rPr sz="2000" b="0" i="0">
                <a:solidFill>
                  <a:srgbClr val="333333"/>
                </a:solidFill>
                <a:latin typeface="Calibri"/>
              </a:rPr>
              <a:t>–   Tambien es comun olvidar que los privilegios concedidos a PUBLIC los recibe todo rol, incluido el que se acaba de restringir.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GRANT y REVOKE: la sintaxis exacta que se va...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REVOKE DELETE ON cita</a:t>
            </a:r>
          </a:p>
          <a:p>
            <a:pPr>
              <a:spcAft>
                <a:spcPts val="400"/>
              </a:spcAft>
            </a:pPr>
            <a:r>
              <a:rPr sz="1400" b="0" i="0">
                <a:solidFill>
                  <a:srgbClr val="FFFFFF"/>
                </a:solidFill>
                <a:latin typeface="Calibri"/>
              </a:rPr>
              <a:t>FROM recepcion</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WITH GRANT OPTION y PUBLIC: los dos que hacen dano sin avisar</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clausula WITH GRANT OPTION permite que quien recibio el privilegio lo vuelva a otorgar a otros; suena comodo y es una mala idea</a:t>
            </a:r>
          </a:p>
          <a:p>
            <a:pPr>
              <a:spcAft>
                <a:spcPts val="800"/>
              </a:spcAft>
            </a:pPr>
            <a:r>
              <a:rPr sz="2000" b="0" i="0">
                <a:solidFill>
                  <a:srgbClr val="333333"/>
                </a:solidFill>
                <a:latin typeface="Calibri"/>
              </a:rPr>
              <a:t>–   Porque el administrador pierde el control de la cadena de permisos y, al hacer REVOKE, se produce una revocacion en cascada con efectos que nadie previo</a:t>
            </a:r>
          </a:p>
          <a:p>
            <a:pPr>
              <a:spcAft>
                <a:spcPts val="800"/>
              </a:spcAft>
            </a:pPr>
            <a:r>
              <a:rPr sz="2000" b="0" i="0">
                <a:solidFill>
                  <a:srgbClr val="333333"/>
                </a:solidFill>
                <a:latin typeface="Calibri"/>
              </a:rPr>
              <a:t>–   De hecho PostgreSQL rechaza el REVOKE si hay privilegios dependientes y obliga a escribir CASCADE, que es el motor avisando que la operacion va a tocar mas de lo que se le pidio.</a:t>
            </a:r>
          </a:p>
          <a:p>
            <a:pPr>
              <a:spcAft>
                <a:spcPts val="800"/>
              </a:spcAft>
            </a:pPr>
            <a:r>
              <a:rPr sz="2000" b="0" i="0">
                <a:solidFill>
                  <a:srgbClr val="333333"/>
                </a:solidFill>
                <a:latin typeface="Calibri"/>
              </a:rPr>
              <a:t>–   El segundo es el rol especial PUBLIC, al que pertenecen todos los roles existentes y futuros: un GRANT SELECT ON consulta TO PUBLIC entrega el historial clinico a cualquiera que pueda conectarse, incluido el proximo usuario que se cree manana.</a:t>
            </a:r>
          </a:p>
          <a:p>
            <a:pPr>
              <a:spcAft>
                <a:spcPts val="800"/>
              </a:spcAft>
            </a:pPr>
            <a:r>
              <a:rPr sz="2000" b="0" i="0">
                <a:solidFill>
                  <a:srgbClr val="333333"/>
                </a:solidFill>
                <a:latin typeface="Calibri"/>
              </a:rPr>
              <a:t>–   Buscar y quitar privilegios otorgados a PUBLIC, con REVOKE ALL ON &lt;tabla&gt; FROM PUBLIC, es una tarea real de endurecimiento en bases de datos heredadas, y vale la pena nombrarla para que el estudiante entienda que estos conceptos no son escolares.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GRANT es demasiado: vista y privilegio por columna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GRANT sobre una tabla es todo o nada en filas y columnas: quien tiene SELECT sobre dueno ve las seis columnas y las seis filas.</a:t>
            </a:r>
          </a:p>
          <a:p>
            <a:pPr>
              <a:spcAft>
                <a:spcPts val="800"/>
              </a:spcAft>
            </a:pPr>
            <a:r>
              <a:rPr sz="2000" b="0" i="0">
                <a:solidFill>
                  <a:srgbClr val="333333"/>
                </a:solidFill>
                <a:latin typeface="Calibri"/>
              </a:rPr>
              <a:t>–   Hay dos mecanismos para recortar esa superficie y hay que saber cuando usar cada uno.</a:t>
            </a:r>
          </a:p>
          <a:p>
            <a:pPr>
              <a:spcAft>
                <a:spcPts val="800"/>
              </a:spcAft>
            </a:pPr>
            <a:r>
              <a:rPr sz="2000" b="0" i="0">
                <a:solidFill>
                  <a:srgbClr val="333333"/>
                </a:solidFill>
                <a:latin typeface="Calibri"/>
              </a:rPr>
              <a:t>–   Una vista es una consulta guardada con nombre, que se usa como si fuera una tabla; se crea con CREATE VIEW v_agenda_recepcion AS SELECT... y se le otorga SELECT al rol.</a:t>
            </a:r>
          </a:p>
          <a:p>
            <a:pPr>
              <a:spcAft>
                <a:spcPts val="800"/>
              </a:spcAft>
            </a:pPr>
            <a:r>
              <a:rPr sz="2000" b="0" i="0">
                <a:solidFill>
                  <a:srgbClr val="333333"/>
                </a:solidFill>
                <a:latin typeface="Calibri"/>
              </a:rPr>
              <a:t>–   La vista recorta las dos dimensiones a la vez: filas, con un WHERE estado &lt;&gt; 'CANCELADA', y columnas, con solo dejar el email fuera del SELECT.</a:t>
            </a:r>
          </a:p>
          <a:p>
            <a:pPr>
              <a:spcAft>
                <a:spcPts val="800"/>
              </a:spcAft>
            </a:pPr>
            <a:r>
              <a:rPr sz="2000" b="0" i="0">
                <a:solidFill>
                  <a:srgbClr val="333333"/>
                </a:solidFill>
                <a:latin typeface="Calibri"/>
              </a:rPr>
              <a:t>–   El segundo mecanismo es el privilegio por columna: ON dueno TO veterinario_rol otorga lectura de dos columnas y de ninguna otra, sin crear ningun objeto nuevo.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GRANT es demasiado: vista y privilegio por columna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Tiene una consecuencia que hay que advertir en clase porque genera un error confuso: ese rol ya no puede escribir SELECT * FROM dueno, porque el asterisco pide todas las columnas y dos de ellas le estan negadas; tiene que nombrar las columnas explicitamente.</a:t>
            </a:r>
          </a:p>
          <a:p>
            <a:pPr>
              <a:spcAft>
                <a:spcPts val="800"/>
              </a:spcAft>
            </a:pPr>
            <a:r>
              <a:rPr sz="2000" b="0" i="0">
                <a:solidFill>
                  <a:srgbClr val="333333"/>
                </a:solidFill>
                <a:latin typeface="Calibri"/>
              </a:rPr>
              <a:t>–   El criterio para elegir es simple: si el recorte necesita filtrar filas o cruzar tablas, se hace con vista; si es puramente por columna y no se quiere mantener un objeto mas, con privilegio por columna.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GRANT es demasiado: vista y...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GRANT SELECT (id_dueno, nombre)</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matriz como hecho verificable: information_schema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matriz de permisos que solo existe en un documento es una intencion; la matriz se vuelve un hecho cuando se puede consultar en el motor.</a:t>
            </a:r>
          </a:p>
          <a:p>
            <a:pPr>
              <a:spcAft>
                <a:spcPts val="800"/>
              </a:spcAft>
            </a:pPr>
            <a:r>
              <a:rPr sz="2000" b="0" i="0">
                <a:solidFill>
                  <a:srgbClr val="333333"/>
                </a:solidFill>
                <a:latin typeface="Calibri"/>
              </a:rPr>
              <a:t>–   PostgreSQL expone esa informacion en el esquema estandar information_schema y hay dos vistas que hay que saber usar.</a:t>
            </a:r>
          </a:p>
          <a:p>
            <a:pPr>
              <a:spcAft>
                <a:spcPts val="800"/>
              </a:spcAft>
            </a:pPr>
            <a:r>
              <a:rPr sz="2000" b="0" i="0">
                <a:solidFill>
                  <a:srgbClr val="333333"/>
                </a:solidFill>
                <a:latin typeface="Calibri"/>
              </a:rPr>
              <a:t>–   La primera es role_table_grants, con ORDER BY grantee, table_name, privilege_type: devuelve una fila por cada combinacion de rol, tabla y privilegio realmente otorgado.</a:t>
            </a:r>
          </a:p>
          <a:p>
            <a:pPr>
              <a:spcAft>
                <a:spcPts val="800"/>
              </a:spcAft>
            </a:pPr>
            <a:r>
              <a:rPr sz="2000" b="0" i="0">
                <a:solidFill>
                  <a:srgbClr val="333333"/>
                </a:solidFill>
                <a:latin typeface="Calibri"/>
              </a:rPr>
              <a:t>–   La segunda es column_privileges, que agrega la columna column_name y es la unica forma de evidenciar que el privilegio por columna quedo aplicado.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matriz como hecho verificable:...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SELECT grantee, table_name, privilege_type</a:t>
            </a:r>
          </a:p>
          <a:p>
            <a:pPr>
              <a:spcAft>
                <a:spcPts val="400"/>
              </a:spcAft>
            </a:pPr>
            <a:r>
              <a:rPr sz="1400" b="0" i="0">
                <a:solidFill>
                  <a:srgbClr val="FFFFFF"/>
                </a:solidFill>
                <a:latin typeface="Calibri"/>
              </a:rPr>
              <a:t>FROM information_schema.role_table_grants</a:t>
            </a:r>
          </a:p>
          <a:p>
            <a:pPr>
              <a:spcAft>
                <a:spcPts val="400"/>
              </a:spcAft>
            </a:pPr>
            <a:r>
              <a:rPr sz="1400" b="0" i="0">
                <a:solidFill>
                  <a:srgbClr val="FFFFFF"/>
                </a:solidFill>
                <a:latin typeface="Calibri"/>
              </a:rPr>
              <a:t>WHERE grantee IN ('admin_bd','recepcion','veterinario_rol','auditor')</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politica de altas y bajas: el ciclo de vida de una cuenta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politica de altas y bajas documenta el ciclo de vida de una cuenta: quien autoriza que se cree, con que rol nace, que pasa cuando alguien cambia de funcion, y en cuanto tiempo se desactiva cuando se va de la clinica.</a:t>
            </a:r>
          </a:p>
          <a:p>
            <a:pPr>
              <a:spcAft>
                <a:spcPts val="800"/>
              </a:spcAft>
            </a:pPr>
            <a:r>
              <a:rPr sz="2000" b="0" i="0">
                <a:solidFill>
                  <a:srgbClr val="333333"/>
                </a:solidFill>
                <a:latin typeface="Calibri"/>
              </a:rPr>
              <a:t>–   El plazo que se compromete habitualmente en la industria es el mismo dia del retiro, y por convencion se revisan las cuentas activas cada tres o seis meses; ninguno de esos dos numeros es una regla dura del motor, son practicas de gobierno</a:t>
            </a:r>
          </a:p>
          <a:p>
            <a:pPr>
              <a:spcAft>
                <a:spcPts val="800"/>
              </a:spcAft>
            </a:pPr>
            <a:r>
              <a:rPr sz="2000" b="0" i="0">
                <a:solidFill>
                  <a:srgbClr val="333333"/>
                </a:solidFill>
                <a:latin typeface="Calibri"/>
              </a:rPr>
              <a:t>–   Y la politica vale precisamente porque fija responsables y plazos concretos en lugar de generalidades.</a:t>
            </a:r>
          </a:p>
          <a:p>
            <a:pPr>
              <a:spcAft>
                <a:spcPts val="800"/>
              </a:spcAft>
            </a:pPr>
            <a:r>
              <a:rPr sz="2000" b="0" i="0">
                <a:solidFill>
                  <a:srgbClr val="333333"/>
                </a:solidFill>
                <a:latin typeface="Calibri"/>
              </a:rPr>
              <a:t>–   El problema que resuelve es la cuenta huerfana: la del pasante que se fue hace un ano y cuya clave sigue funcionando.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politica de altas y bajas: el ciclo de vida de una cuenta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nunca cuentas compartidas: si tres recepcionistas entran con la cuenta recepcion1, la tabla de auditoria dira que recepcion1 cancelo la cita y no habra forma de saber quien fue</a:t>
            </a:r>
          </a:p>
          <a:p>
            <a:pPr>
              <a:spcAft>
                <a:spcPts val="800"/>
              </a:spcAft>
            </a:pPr>
            <a:r>
              <a:rPr sz="2000" b="0" i="0">
                <a:solidFill>
                  <a:srgbClr val="333333"/>
                </a:solidFill>
                <a:latin typeface="Calibri"/>
              </a:rPr>
              <a:t>–   La trazabilidad se pierde de manera irrecuperable y con ella cualquier investigacion posterior.</a:t>
            </a:r>
          </a:p>
          <a:p>
            <a:pPr>
              <a:spcAft>
                <a:spcPts val="800"/>
              </a:spcAft>
            </a:pPr>
            <a:r>
              <a:rPr sz="2000" b="0" i="0">
                <a:solidFill>
                  <a:srgbClr val="333333"/>
                </a:solidFill>
                <a:latin typeface="Calibri"/>
              </a:rPr>
              <a:t>–   Dos, los permisos no se acumulan: al cambiar de rol se revoca el anterior con REVOKE recepcion FROM ana_gomez, porque quien pasa de recepcion a auditoria y conserva ambos roles termina pudiendo modificar justamente lo que audita.</a:t>
            </a:r>
          </a:p>
          <a:p>
            <a:pPr>
              <a:spcAft>
                <a:spcPts val="800"/>
              </a:spcAft>
            </a:pPr>
            <a:r>
              <a:rPr sz="2000" b="0" i="0">
                <a:solidFill>
                  <a:srgbClr val="333333"/>
                </a:solidFill>
                <a:latin typeface="Calibri"/>
              </a:rPr>
              <a:t>–   La cuarta seccion, la revision periodica, se apoya en la consulta de information_schema que acaba de verse: la evidencia de la auditoria es su salida, y la politica dice cada cuanto se corre y quien la firma.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politica de altas y bajas: el ciclo de vida de una cuenta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quinta seccion es el limite de este entorno, y se desarrolla completa en «El motor de hoy es PostgreSQL» un poco mas abajo.</a:t>
            </a:r>
          </a:p>
          <a:p>
            <a:pPr>
              <a:spcAft>
                <a:spcPts val="800"/>
              </a:spcAft>
            </a:pPr>
            <a:r>
              <a:rPr sz="2000" b="0" i="0">
                <a:solidFill>
                  <a:srgbClr val="333333"/>
                </a:solidFill>
                <a:latin typeface="Calibri"/>
              </a:rPr>
              <a:t>–   Al dictar la politica conviene bajarla a nombres propios de la clínica en lugar de dejarla en abstracto: quien autoriza el alta es la administradora de la clinica</a:t>
            </a:r>
          </a:p>
          <a:p>
            <a:pPr>
              <a:spcAft>
                <a:spcPts val="800"/>
              </a:spcAft>
            </a:pPr>
            <a:r>
              <a:rPr sz="2000" b="0" i="0">
                <a:solidFill>
                  <a:srgbClr val="333333"/>
                </a:solidFill>
                <a:latin typeface="Calibri"/>
              </a:rPr>
              <a:t>–   La recepcionista que entra nace con el rol recepcion y con nada mas, y la baja del pasante se hace el mismo dia.</a:t>
            </a:r>
          </a:p>
          <a:p>
            <a:pPr>
              <a:spcAft>
                <a:spcPts val="800"/>
              </a:spcAft>
            </a:pPr>
            <a:r>
              <a:rPr sz="2000" b="0" i="0">
                <a:solidFill>
                  <a:srgbClr val="333333"/>
                </a:solidFill>
                <a:latin typeface="Calibri"/>
              </a:rPr>
              <a:t>–   Una politica que no dice quien firma ni en cuanto tiempo no es una politica, es una intencion.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motor de hoy es PostgreSQL, y eso decide que se puede demostrar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motor de la clase es PostgreSQL, que corre dentro del navegador.</a:t>
            </a:r>
          </a:p>
          <a:p>
            <a:pPr>
              <a:spcAft>
                <a:spcPts val="800"/>
              </a:spcAft>
            </a:pPr>
            <a:r>
              <a:rPr sz="2000" b="0" i="0">
                <a:solidFill>
                  <a:srgbClr val="333333"/>
                </a:solidFill>
                <a:latin typeface="Calibri"/>
              </a:rPr>
              <a:t>–   Una, esas dos lineas TIENEN que fallar, asi que se ejecutan una por una: un runner que aborta al primer error se llevaria las siguientes.</a:t>
            </a:r>
          </a:p>
          <a:p>
            <a:pPr>
              <a:spcAft>
                <a:spcPts val="800"/>
              </a:spcAft>
            </a:pPr>
            <a:r>
              <a:rPr sz="2000" b="0" i="0">
                <a:solidFill>
                  <a:srgbClr val="333333"/>
                </a:solidFill>
                <a:latin typeface="Calibri"/>
              </a:rPr>
              <a:t>–   Dos, si el entorno del dia no permite cambiar de rol, no hay que esconderlo — se muestra el mensaje.</a:t>
            </a:r>
          </a:p>
          <a:p>
            <a:pPr>
              <a:spcAft>
                <a:spcPts val="800"/>
              </a:spcAft>
            </a:pPr>
            <a:r>
              <a:rPr sz="2000" b="0" i="0">
                <a:solidFill>
                  <a:srgbClr val="333333"/>
                </a:solidFill>
                <a:latin typeface="Calibri"/>
              </a:rPr>
              <a:t>–   La diferencia entre las dos cosas es justamente lo que el estudiante tiene que entender: SET ROLE cambia con que permisos se evalua lo que escribo</a:t>
            </a:r>
          </a:p>
          <a:p>
            <a:pPr>
              <a:spcAft>
                <a:spcPts val="800"/>
              </a:spcAft>
            </a:pPr>
            <a:r>
              <a:rPr sz="2000" b="0" i="0">
                <a:solidFill>
                  <a:srgbClr val="333333"/>
                </a:solidFill>
                <a:latin typeface="Calibri"/>
              </a:rPr>
              <a:t>–   Y conectarse como otro usuario cambia quien esta conectado; para probar que un privilegio falta, basta lo primero.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motor de hoy es PostgreSQL, y eso decide que se puede demostrar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Oracle Live SQL y DB Fiddle siguen en el kit, pero cambian de papel: DB Fiddle sirve para probar SQL suelto y Live SQL solo como contraste de sintaxis, porque alli se escribe CREATE USER...</a:t>
            </a:r>
          </a:p>
          <a:p>
            <a:pPr>
              <a:spcAft>
                <a:spcPts val="800"/>
              </a:spcAft>
            </a:pPr>
            <a:r>
              <a:rPr sz="2000" b="0" i="0">
                <a:solidFill>
                  <a:srgbClr val="333333"/>
                </a:solidFill>
                <a:latin typeface="Calibri"/>
              </a:rPr>
              <a:t>–   IDENTIFIED BY, se otorga GRANT CREATE SESSION y el esquema es el usuario.</a:t>
            </a:r>
          </a:p>
          <a:p>
            <a:pPr>
              <a:spcAft>
                <a:spcPts val="800"/>
              </a:spcAft>
            </a:pPr>
            <a:r>
              <a:rPr sz="2000" b="0" i="0">
                <a:solidFill>
                  <a:srgbClr val="333333"/>
                </a:solidFill>
                <a:latin typeface="Calibri"/>
              </a:rPr>
              <a:t>–   Vale un minuto de clase mencionarlo, porque muchos se van a encontrar Oracle en el trabajo; no vale mas, porque el motor de la clase es PostgreSQL y todo minuto invertido en sintaxis del otro motor es un minuto que no se dedica al tema.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motor de hoy es PostgreSQL, y eso decide...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DELETE</a:t>
            </a:r>
          </a:p>
          <a:p>
            <a:pPr>
              <a:spcAft>
                <a:spcPts val="400"/>
              </a:spcAft>
            </a:pPr>
            <a:r>
              <a:rPr sz="1400" b="0" i="0">
                <a:solidFill>
                  <a:srgbClr val="FFFFFF"/>
                </a:solidFill>
                <a:latin typeface="Calibri"/>
              </a:rPr>
              <a:t>FROM cita</a:t>
            </a:r>
          </a:p>
          <a:p>
            <a:pPr>
              <a:spcAft>
                <a:spcPts val="400"/>
              </a:spcAft>
            </a:pPr>
            <a:r>
              <a:rPr sz="1400" b="0" i="0">
                <a:solidFill>
                  <a:srgbClr val="FFFFFF"/>
                </a:solidFill>
                <a:latin typeface="Calibri"/>
              </a:rPr>
              <a:t>WHERE id_cita = 1</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SELECT nombre, email</a:t>
            </a:r>
          </a:p>
          <a:p>
            <a:pPr>
              <a:spcAft>
                <a:spcPts val="400"/>
              </a:spcAft>
            </a:pPr>
            <a:r>
              <a:rPr sz="1400" b="0" i="0">
                <a:solidFill>
                  <a:srgbClr val="FFFFFF"/>
                </a:solidFill>
                <a:latin typeface="Calibri"/>
              </a:rPr>
              <a:t>FROM dueno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matriz es la decision, no el script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central no es el script sino la matriz rol por objeto por privilegio, y conviene explicar por que.</a:t>
            </a:r>
          </a:p>
          <a:p>
            <a:pPr>
              <a:spcAft>
                <a:spcPts val="800"/>
              </a:spcAft>
            </a:pPr>
            <a:r>
              <a:rPr sz="2000" b="0" i="0">
                <a:solidFill>
                  <a:srgbClr val="333333"/>
                </a:solidFill>
                <a:latin typeface="Calibri"/>
              </a:rPr>
              <a:t>–   El script es la traduccion mecanica de una decision; la matriz es la decision.</a:t>
            </a:r>
          </a:p>
          <a:p>
            <a:pPr>
              <a:spcAft>
                <a:spcPts val="800"/>
              </a:spcAft>
            </a:pPr>
            <a:r>
              <a:rPr sz="2000" b="0" i="0">
                <a:solidFill>
                  <a:srgbClr val="333333"/>
                </a:solidFill>
                <a:latin typeface="Calibri"/>
              </a:rPr>
              <a:t>–   Se construye con los objetos en las filas, los roles en las columnas, y en cada celda las acciones permitidas con la notacion abreviada: S para SELECT, I para INSERT, U para UPDATE, D para DELETE, E para EXECUTE y un guion cuando no hay ninguno.</a:t>
            </a:r>
          </a:p>
          <a:p>
            <a:pPr>
              <a:spcAft>
                <a:spcPts val="800"/>
              </a:spcAft>
            </a:pPr>
            <a:r>
              <a:rPr sz="2000" b="0" i="0">
                <a:solidFill>
                  <a:srgbClr val="333333"/>
                </a:solidFill>
                <a:latin typeface="Calibri"/>
              </a:rPr>
              <a:t>–   Lo exigible para la clínica son los diez objetos por los cuatro roles, sin celdas vacias</a:t>
            </a:r>
          </a:p>
          <a:p>
            <a:pPr>
              <a:spcAft>
                <a:spcPts val="800"/>
              </a:spcAft>
            </a:pPr>
            <a:r>
              <a:rPr sz="2000" b="0" i="0">
                <a:solidFill>
                  <a:srgbClr val="333333"/>
                </a:solidFill>
                <a:latin typeface="Calibri"/>
              </a:rPr>
              <a:t>–   Y la regla de calidad es que la matriz sea consistente con los GRANT que se ejecutaron en la primera pregunta: si el script no le dio DELETE a nadie, en la matriz no puede aparecer una 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matriz es la decision, no el script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dos procedimientos van con E y nunca con S ni con I, y eso no es un detalle de notacion: es el patron que la Clase 3 va a construir y la Clase 12 va a usar, en el que la aplicacion no escribe en las tablas sino que invoca la regla de negocio.</a:t>
            </a:r>
          </a:p>
          <a:p>
            <a:pPr>
              <a:spcAft>
                <a:spcPts val="800"/>
              </a:spcAft>
            </a:pPr>
            <a:r>
              <a:rPr sz="2000" b="0" i="0">
                <a:solidFill>
                  <a:srgbClr val="333333"/>
                </a:solidFill>
                <a:latin typeface="Calibri"/>
              </a:rPr>
              <a:t>–   Debajo de la matriz van cuatro a seis lineas justificando tres decisiones concretas, y ahi la regla es que una X sin texto no es una celda completa: «auditor sobre cita: solo S, porque auditar es verificar, no corregir» si lo 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Como amarra con las clases vecinas</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de hoy no es una isla.</a:t>
            </a:r>
          </a:p>
          <a:p>
            <a:pPr>
              <a:spcAft>
                <a:spcPts val="800"/>
              </a:spcAft>
            </a:pPr>
            <a:r>
              <a:rPr sz="2000" b="0" i="0">
                <a:solidFill>
                  <a:srgbClr val="333333"/>
                </a:solidFill>
                <a:latin typeface="Calibri"/>
              </a:rPr>
              <a:t>–   La Clase 1 dejo el modelo y las claves primarias que hoy se protegen.</a:t>
            </a:r>
          </a:p>
          <a:p>
            <a:pPr>
              <a:spcAft>
                <a:spcPts val="800"/>
              </a:spcAft>
            </a:pPr>
            <a:r>
              <a:rPr sz="2000" b="0" i="0">
                <a:solidFill>
                  <a:srgbClr val="333333"/>
                </a:solidFill>
                <a:latin typeface="Calibri"/>
              </a:rPr>
              <a:t>–   La Clase 3 introduce procedimientos almacenados y con ellos el patron mas fino de todos: no dar INSERT sobre cita al rol recepcion, sino EXECUTE sobre sp_agendar_cita, de modo que el usuario solo pueda escribir a traves de la regla de negocio.</a:t>
            </a:r>
          </a:p>
          <a:p>
            <a:pPr>
              <a:spcAft>
                <a:spcPts val="800"/>
              </a:spcAft>
            </a:pPr>
            <a:r>
              <a:rPr sz="2000" b="0" i="0">
                <a:solidFill>
                  <a:srgbClr val="333333"/>
                </a:solidFill>
                <a:latin typeface="Calibri"/>
              </a:rPr>
              <a:t>–   La Clase 4 agrega disparadores de auditoria y el plan de respaldo.</a:t>
            </a:r>
          </a:p>
          <a:p>
            <a:pPr>
              <a:spcAft>
                <a:spcPts val="800"/>
              </a:spcAft>
            </a:pPr>
            <a:r>
              <a:rPr sz="2000" b="0" i="0">
                <a:solidFill>
                  <a:srgbClr val="333333"/>
                </a:solidFill>
                <a:latin typeface="Calibri"/>
              </a:rPr>
              <a:t>–   Y la Clase 12 reutiliza estos roles para definir la cuenta de servicio con la que la aplicacion se conecta.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«Ejecute el GRANT y no surtio efecto»: en el noventa por ciento de los casos es una de cuatro cosas.</a:t>
            </a:r>
          </a:p>
          <a:p>
            <a:pPr>
              <a:spcAft>
                <a:spcPts val="800"/>
              </a:spcAft>
            </a:pPr>
            <a:r>
              <a:rPr sz="2000" b="0" i="0">
                <a:solidFill>
                  <a:srgbClr val="333333"/>
                </a:solidFill>
                <a:latin typeface="Calibri"/>
              </a:rPr>
              <a:t>–   Se otorgo al rol pero no se otorgo el rol a la persona, y falta el</a:t>
            </a:r>
          </a:p>
          <a:p>
            <a:pPr>
              <a:spcAft>
                <a:spcPts val="800"/>
              </a:spcAft>
            </a:pPr>
            <a:r>
              <a:rPr sz="2000" b="0" i="0">
                <a:solidFill>
                  <a:srgbClr val="333333"/>
                </a:solidFill>
                <a:latin typeface="Calibri"/>
              </a:rPr>
              <a:t>–   O se esta probando en la misma sesion del propietario, que pasa por encima de todos los permisos y por lo tanto nunca ve un error, lo cual hace imposible «comprobar» nada asi.</a:t>
            </a:r>
          </a:p>
          <a:p>
            <a:pPr>
              <a:spcAft>
                <a:spcPts val="800"/>
              </a:spcAft>
            </a:pPr>
            <a:r>
              <a:rPr sz="2000" b="0" i="0">
                <a:solidFill>
                  <a:srgbClr val="333333"/>
                </a:solidFill>
                <a:latin typeface="Calibri"/>
              </a:rPr>
              <a:t>–   O se escribio el nombre del rol distinto, y conviene recordar que PostgreSQL pasa los identificadores sin comillas a minusculas, de modo que RECEPCION y recepcion son el mismo rol, pero "Recepcion" entre comillas dobles es otro distinto.</a:t>
            </a:r>
          </a:p>
          <a:p>
            <a:pPr>
              <a:spcAft>
                <a:spcPts val="800"/>
              </a:spcAft>
            </a:pPr>
            <a:r>
              <a:rPr sz="2000" b="0" i="0">
                <a:solidFill>
                  <a:srgbClr val="333333"/>
                </a:solidFill>
                <a:latin typeface="Calibri"/>
              </a:rPr>
              <a:t>–   «Si le doy SELECT solo a la vista, no necesita tambien SELECT sobre dueno?»: no, y es lo mas importante de la clase: la vista se ejecuta con los privilegios de su propietario.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«Puedo comprobar que a recepcion le rebota el DELETE?»: si, y no hace falta otra conexion: SET ROLE recepcion; luego el DELETE, que debe devolver permission denied, y RESET ROLE; para volver.</a:t>
            </a:r>
          </a:p>
          <a:p>
            <a:pPr>
              <a:spcAft>
                <a:spcPts val="800"/>
              </a:spcAft>
            </a:pPr>
            <a:r>
              <a:rPr sz="2000" b="0" i="0">
                <a:solidFill>
                  <a:srgbClr val="333333"/>
                </a:solidFill>
                <a:latin typeface="Calibri"/>
              </a:rPr>
              <a:t>–   Si el navegador no permite el cambio de rol, se documenta el intento: ahi si hay una brecha de verificacion.</a:t>
            </a:r>
          </a:p>
          <a:p>
            <a:pPr>
              <a:spcAft>
                <a:spcPts val="800"/>
              </a:spcAft>
            </a:pPr>
            <a:r>
              <a:rPr sz="2000" b="0" i="0">
                <a:solidFill>
                  <a:srgbClr val="333333"/>
                </a:solidFill>
                <a:latin typeface="Calibri"/>
              </a:rPr>
              <a:t>–   «Rol y usuario son lo mismo?»: en PostgreSQL si, un usuario es un rol con LOGIN.</a:t>
            </a:r>
          </a:p>
          <a:p>
            <a:pPr>
              <a:spcAft>
                <a:spcPts val="800"/>
              </a:spcAft>
            </a:pPr>
            <a:r>
              <a:rPr sz="2000" b="0" i="0">
                <a:solidFill>
                  <a:srgbClr val="333333"/>
                </a:solidFill>
                <a:latin typeface="Calibri"/>
              </a:rPr>
              <a:t>–   «Por que auditor no tiene UPDATE ni sobre la tabla de auditoria?»: porque quien puede corregir el registro de lo que hizo puede borrar la evidencia de lo que hizo</a:t>
            </a:r>
          </a:p>
          <a:p>
            <a:pPr>
              <a:spcAft>
                <a:spcPts val="800"/>
              </a:spcAft>
            </a:pPr>
            <a:r>
              <a:rPr sz="2000" b="0" i="0">
                <a:solidFill>
                  <a:srgbClr val="333333"/>
                </a:solidFill>
                <a:latin typeface="Calibri"/>
              </a:rPr>
              <a:t>–   Y entonces la auditoria no prueba nada; esa tabla llega en la Clase 4 y la respuesta se mantiene igual.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GRANT recepcion TO ana_gomez</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Crear el rol y otorgar solo lo que el cargo usa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En PostgreSQL usuario y rol son lo mismo: LOGIN es lo que los distingue.</a:t>
            </a:r>
          </a:p>
          <a:p>
            <a:pPr>
              <a:spcAft>
                <a:spcPts val="400"/>
              </a:spcAft>
            </a:pPr>
            <a:r>
              <a:rPr sz="1400" b="0" i="0">
                <a:solidFill>
                  <a:srgbClr val="FFFFFF"/>
                </a:solidFill>
                <a:latin typeface="Calibri"/>
              </a:rPr>
              <a:t>CREATE ROLE recepcion LOGIN PASSWORD 'cambiar_en_produccion';</a:t>
            </a:r>
          </a:p>
          <a:p>
            <a:pPr>
              <a:spcAft>
                <a:spcPts val="400"/>
              </a:spcAft>
            </a:pPr>
            <a:r>
              <a:rPr sz="1400" b="0" i="0">
                <a:solidFill>
                  <a:srgbClr val="FFFFFF"/>
                </a:solidFill>
                <a:latin typeface="Calibri"/>
              </a:rPr>
              <a:t>CREATE ROLE veterinario_rol NOLOGIN;   -- rol de permisos, no de acceso</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La recepcionista agenda: no lee historias clinicas ni toca facturas.</a:t>
            </a:r>
          </a:p>
          <a:p>
            <a:pPr>
              <a:spcAft>
                <a:spcPts val="400"/>
              </a:spcAft>
            </a:pPr>
            <a:r>
              <a:rPr sz="1400" b="0" i="0">
                <a:solidFill>
                  <a:srgbClr val="FFFFFF"/>
                </a:solidFill>
                <a:latin typeface="Calibri"/>
              </a:rPr>
              <a:t>GRANT SELECT, INSERT, UPDATE ON cita    TO recepcion;</a:t>
            </a:r>
          </a:p>
          <a:p>
            <a:pPr>
              <a:spcAft>
                <a:spcPts val="400"/>
              </a:spcAft>
            </a:pPr>
            <a:r>
              <a:rPr sz="1400" b="0" i="0">
                <a:solidFill>
                  <a:srgbClr val="FFFFFF"/>
                </a:solidFill>
                <a:latin typeface="Calibri"/>
              </a:rPr>
              <a:t>GRANT SELECT                 ON mascota TO recepcion;</a:t>
            </a:r>
          </a:p>
          <a:p>
            <a:pPr>
              <a:spcAft>
                <a:spcPts val="400"/>
              </a:spcAft>
            </a:pPr>
            <a:r>
              <a:rPr sz="1400" b="0" i="0">
                <a:solidFill>
                  <a:srgbClr val="FFFFFF"/>
                </a:solidFill>
                <a:latin typeface="Calibri"/>
              </a:rPr>
              <a:t>GRANT SELECT                 ON dueno   TO recepcion;</a:t>
            </a:r>
          </a:p>
          <a:p>
            <a:pPr>
              <a:spcAft>
                <a:spcPts val="400"/>
              </a:spcAft>
            </a:pPr>
            <a:r>
              <a:rPr sz="1400" b="0" i="0">
                <a:solidFill>
                  <a:srgbClr val="FFFFFF"/>
                </a:solidFill>
                <a:latin typeface="Calibri"/>
              </a:rPr>
              <a:t>GRANT USAGE, SELECT ON SEQUENCE cita_id_cita_seq TO recepcion;</a:t>
            </a:r>
          </a:p>
          <a:p>
            <a:pPr>
              <a:spcAft>
                <a:spcPts val="400"/>
              </a:spcAft>
            </a:pPr>
            <a:r>
              <a:rPr sz="1400" b="0" i="0">
                <a:solidFill>
                  <a:srgbClr val="FFFFFF"/>
                </a:solidFill>
                <a:latin typeface="Calibri"/>
              </a:rPr>
              <a:t>-- Sin USAGE en la secuencia, el INSERT falla: el SERIAL la necesita.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REVOKE, y los dos que hacen dano en silencio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REVOKE UPDATE ON cita FROM recepcion;   -- quitar es tan explicito como dar</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PUBLIC es todo el mundo, presente y futuro. Casi nunca es lo que se quiere.</a:t>
            </a:r>
          </a:p>
          <a:p>
            <a:pPr>
              <a:spcAft>
                <a:spcPts val="400"/>
              </a:spcAft>
            </a:pPr>
            <a:r>
              <a:rPr sz="1400" b="0" i="0">
                <a:solidFill>
                  <a:srgbClr val="FFFFFF"/>
                </a:solidFill>
                <a:latin typeface="Calibri"/>
              </a:rPr>
              <a:t>REVOKE ALL ON consulta FROM PUBLIC;</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WITH GRANT OPTION deja que el que recibe vuelva a otorgar.</a:t>
            </a:r>
          </a:p>
          <a:p>
            <a:pPr>
              <a:spcAft>
                <a:spcPts val="400"/>
              </a:spcAft>
            </a:pPr>
            <a:r>
              <a:rPr sz="1400" b="0" i="0">
                <a:solidFill>
                  <a:srgbClr val="FFFFFF"/>
                </a:solidFill>
                <a:latin typeface="Calibri"/>
              </a:rPr>
              <a:t>GRANT SELECT ON cita TO auditor WITH GRANT OPTION;</a:t>
            </a:r>
          </a:p>
          <a:p>
            <a:pPr>
              <a:spcAft>
                <a:spcPts val="400"/>
              </a:spcAft>
            </a:pPr>
            <a:r>
              <a:rPr sz="1400" b="0" i="0">
                <a:solidFill>
                  <a:srgbClr val="FFFFFF"/>
                </a:solidFill>
                <a:latin typeface="Calibri"/>
              </a:rPr>
              <a:t>-- auditor puede ahora hacer: GRANT SELECT ON cita TO cualquiera;</a:t>
            </a:r>
          </a:p>
          <a:p>
            <a:pPr>
              <a:spcAft>
                <a:spcPts val="400"/>
              </a:spcAft>
            </a:pPr>
            <a:r>
              <a:rPr sz="1400" b="0" i="0">
                <a:solidFill>
                  <a:srgbClr val="FFFFFF"/>
                </a:solidFill>
                <a:latin typeface="Calibri"/>
              </a:rPr>
              <a:t>-- Para deshacerlo hay que arrastrar lo que el concedio:</a:t>
            </a:r>
          </a:p>
          <a:p>
            <a:pPr>
              <a:spcAft>
                <a:spcPts val="400"/>
              </a:spcAft>
            </a:pPr>
            <a:r>
              <a:rPr sz="1400" b="0" i="0">
                <a:solidFill>
                  <a:srgbClr val="FFFFFF"/>
                </a:solidFill>
                <a:latin typeface="Calibri"/>
              </a:rPr>
              <a:t>REVOKE SELECT ON cita FROM auditor CASCADE;</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GRANT sobra: vista y privilegio por columna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La recepcion necesita la agenda, no el motivo clinico de la consulta.</a:t>
            </a:r>
          </a:p>
          <a:p>
            <a:pPr>
              <a:spcAft>
                <a:spcPts val="400"/>
              </a:spcAft>
            </a:pPr>
            <a:r>
              <a:rPr sz="1400" b="0" i="0">
                <a:solidFill>
                  <a:srgbClr val="FFFFFF"/>
                </a:solidFill>
                <a:latin typeface="Calibri"/>
              </a:rPr>
              <a:t>CREATE VIEW v_agenda_dia AS</a:t>
            </a:r>
          </a:p>
          <a:p>
            <a:pPr>
              <a:spcAft>
                <a:spcPts val="400"/>
              </a:spcAft>
            </a:pPr>
            <a:r>
              <a:rPr sz="1400" b="0" i="0">
                <a:solidFill>
                  <a:srgbClr val="FFFFFF"/>
                </a:solidFill>
                <a:latin typeface="Calibri"/>
              </a:rPr>
              <a:t>SELECT c.id_cita, c.fecha_hora, c.estado,</a:t>
            </a:r>
          </a:p>
          <a:p>
            <a:pPr>
              <a:spcAft>
                <a:spcPts val="400"/>
              </a:spcAft>
            </a:pPr>
            <a:r>
              <a:rPr sz="1400" b="0" i="0">
                <a:solidFill>
                  <a:srgbClr val="FFFFFF"/>
                </a:solidFill>
                <a:latin typeface="Calibri"/>
              </a:rPr>
              <a:t>       m.nombre AS mascota, d.telefono</a:t>
            </a:r>
          </a:p>
          <a:p>
            <a:pPr>
              <a:spcAft>
                <a:spcPts val="400"/>
              </a:spcAft>
            </a:pPr>
            <a:r>
              <a:rPr sz="1400" b="0" i="0">
                <a:solidFill>
                  <a:srgbClr val="FFFFFF"/>
                </a:solidFill>
                <a:latin typeface="Calibri"/>
              </a:rPr>
              <a:t>FROM cita c</a:t>
            </a:r>
          </a:p>
          <a:p>
            <a:pPr>
              <a:spcAft>
                <a:spcPts val="400"/>
              </a:spcAft>
            </a:pPr>
            <a:r>
              <a:rPr sz="1400" b="0" i="0">
                <a:solidFill>
                  <a:srgbClr val="FFFFFF"/>
                </a:solidFill>
                <a:latin typeface="Calibri"/>
              </a:rPr>
              <a:t>JOIN mascota m ON m.id_mascota = c.id_mascota</a:t>
            </a:r>
          </a:p>
          <a:p>
            <a:pPr>
              <a:spcAft>
                <a:spcPts val="400"/>
              </a:spcAft>
            </a:pPr>
            <a:r>
              <a:rPr sz="1400" b="0" i="0">
                <a:solidFill>
                  <a:srgbClr val="FFFFFF"/>
                </a:solidFill>
                <a:latin typeface="Calibri"/>
              </a:rPr>
              <a:t>JOIN dueno   d ON d.id_dueno   = m.id_dueno;</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GRANT SELECT ON v_agenda_dia TO recepcion;</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O el privilegio acotado a columnas, sin crear objeto nuevo:</a:t>
            </a:r>
          </a:p>
          <a:p>
            <a:pPr>
              <a:spcAft>
                <a:spcPts val="400"/>
              </a:spcAft>
            </a:pPr>
            <a:r>
              <a:rPr sz="1400" b="0" i="0">
                <a:solidFill>
                  <a:srgbClr val="FFFFFF"/>
                </a:solidFill>
                <a:latin typeface="Calibri"/>
              </a:rPr>
              <a:t>GRANT SELECT (id_mascota, nombre, especie) ON mascota TO recepcion;</a:t>
            </a:r>
          </a:p>
          <a:p>
            <a:pPr>
              <a:spcAft>
                <a:spcPts val="400"/>
              </a:spcAft>
            </a:pPr>
            <a:r>
              <a:rPr sz="1400" b="0" i="0">
                <a:solidFill>
                  <a:srgbClr val="FFFFFF"/>
                </a:solidFill>
                <a:latin typeface="Calibri"/>
              </a:rPr>
              <a:t>GRANT UPDATE (telefono, email)             ON dueno   TO recepcion;</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matriz como hecho verificable, no como documento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Lo que el motor dice que concedio, que no siempre es lo que se creia.</a:t>
            </a:r>
          </a:p>
          <a:p>
            <a:pPr>
              <a:spcAft>
                <a:spcPts val="400"/>
              </a:spcAft>
            </a:pPr>
            <a:r>
              <a:rPr sz="1400" b="0" i="0">
                <a:solidFill>
                  <a:srgbClr val="FFFFFF"/>
                </a:solidFill>
                <a:latin typeface="Calibri"/>
              </a:rPr>
              <a:t>SELECT grantee, table_name, privilege_type</a:t>
            </a:r>
          </a:p>
          <a:p>
            <a:pPr>
              <a:spcAft>
                <a:spcPts val="400"/>
              </a:spcAft>
            </a:pPr>
            <a:r>
              <a:rPr sz="1400" b="0" i="0">
                <a:solidFill>
                  <a:srgbClr val="FFFFFF"/>
                </a:solidFill>
                <a:latin typeface="Calibri"/>
              </a:rPr>
              <a:t>FROM information_schema.role_table_grants</a:t>
            </a:r>
          </a:p>
          <a:p>
            <a:pPr>
              <a:spcAft>
                <a:spcPts val="400"/>
              </a:spcAft>
            </a:pPr>
            <a:r>
              <a:rPr sz="1400" b="0" i="0">
                <a:solidFill>
                  <a:srgbClr val="FFFFFF"/>
                </a:solidFill>
                <a:latin typeface="Calibri"/>
              </a:rPr>
              <a:t>WHERE grantee IN ('recepcion','veterinario_rol','auditor')</a:t>
            </a:r>
          </a:p>
          <a:p>
            <a:pPr>
              <a:spcAft>
                <a:spcPts val="400"/>
              </a:spcAft>
            </a:pPr>
            <a:r>
              <a:rPr sz="1400" b="0" i="0">
                <a:solidFill>
                  <a:srgbClr val="FFFFFF"/>
                </a:solidFill>
                <a:latin typeface="Calibri"/>
              </a:rPr>
              <a:t>ORDER BY grantee, table_name, privilege_type;</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Y los privilegios por columna, que la consulta anterior no muestra:</a:t>
            </a:r>
          </a:p>
          <a:p>
            <a:pPr>
              <a:spcAft>
                <a:spcPts val="400"/>
              </a:spcAft>
            </a:pPr>
            <a:r>
              <a:rPr sz="1400" b="0" i="0">
                <a:solidFill>
                  <a:srgbClr val="FFFFFF"/>
                </a:solidFill>
                <a:latin typeface="Calibri"/>
              </a:rPr>
              <a:t>SELECT grantee, table_name, column_name, privilege_type</a:t>
            </a:r>
          </a:p>
          <a:p>
            <a:pPr>
              <a:spcAft>
                <a:spcPts val="400"/>
              </a:spcAft>
            </a:pPr>
            <a:r>
              <a:rPr sz="1400" b="0" i="0">
                <a:solidFill>
                  <a:srgbClr val="FFFFFF"/>
                </a:solidFill>
                <a:latin typeface="Calibri"/>
              </a:rPr>
              <a:t>FROM information_schema.column_privileges</a:t>
            </a:r>
          </a:p>
          <a:p>
            <a:pPr>
              <a:spcAft>
                <a:spcPts val="400"/>
              </a:spcAft>
            </a:pPr>
            <a:r>
              <a:rPr sz="1400" b="0" i="0">
                <a:solidFill>
                  <a:srgbClr val="FFFFFF"/>
                </a:solidFill>
                <a:latin typeface="Calibri"/>
              </a:rPr>
              <a:t>WHERE grantee = 'recepcion'</a:t>
            </a:r>
          </a:p>
          <a:p>
            <a:pPr>
              <a:spcAft>
                <a:spcPts val="400"/>
              </a:spcAft>
            </a:pPr>
            <a:r>
              <a:rPr sz="1400" b="0" i="0">
                <a:solidFill>
                  <a:srgbClr val="FFFFFF"/>
                </a:solidFill>
                <a:latin typeface="Calibri"/>
              </a:rPr>
              <a:t>ORDER BY table_name, column_name;</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Minimo privilegio, en concreto</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Lo que suele pasar</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Un solo usuario «admin» que todos comparten</a:t>
            </a:r>
          </a:p>
          <a:p>
            <a:pPr>
              <a:spcAft>
                <a:spcPts val="800"/>
              </a:spcAft>
            </a:pPr>
            <a:r>
              <a:rPr sz="1500" b="0" i="0">
                <a:solidFill>
                  <a:srgbClr val="333333"/>
                </a:solidFill>
                <a:latin typeface="Calibri"/>
              </a:rPr>
              <a:t>–   GRANT ALL 'para que no falle nada'</a:t>
            </a:r>
          </a:p>
          <a:p>
            <a:pPr>
              <a:spcAft>
                <a:spcPts val="800"/>
              </a:spcAft>
            </a:pPr>
            <a:r>
              <a:rPr sz="1500" b="0" i="0">
                <a:solidFill>
                  <a:srgbClr val="333333"/>
                </a:solidFill>
                <a:latin typeface="Calibri"/>
              </a:rPr>
              <a:t>–   Nadie sabe quien borro que (sin trazabilidad)</a:t>
            </a:r>
          </a:p>
          <a:p>
            <a:pPr>
              <a:spcAft>
                <a:spcPts val="800"/>
              </a:spcAft>
            </a:pPr>
            <a:r>
              <a:rPr sz="1500" b="0" i="0">
                <a:solidFill>
                  <a:srgbClr val="333333"/>
                </a:solidFill>
                <a:latin typeface="Calibri"/>
              </a:rPr>
              <a:t>–   Se van del cargo y la cuenta sigue viva</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Lo que pide el minimo privilegio</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4 roles: admin_bd · recepcion · veterinario_rol · auditor</a:t>
            </a:r>
          </a:p>
          <a:p>
            <a:pPr>
              <a:spcAft>
                <a:spcPts val="800"/>
              </a:spcAft>
            </a:pPr>
            <a:r>
              <a:rPr sz="1500" b="0" i="0">
                <a:solidFill>
                  <a:srgbClr val="333333"/>
                </a:solidFill>
                <a:latin typeface="Calibri"/>
              </a:rPr>
              <a:t>–   Privilegio por objeto y operacion (matriz)</a:t>
            </a:r>
          </a:p>
          <a:p>
            <a:pPr>
              <a:spcAft>
                <a:spcPts val="800"/>
              </a:spcAft>
            </a:pPr>
            <a:r>
              <a:rPr sz="1500" b="0" i="0">
                <a:solidFill>
                  <a:srgbClr val="333333"/>
                </a:solidFill>
                <a:latin typeface="Calibri"/>
              </a:rPr>
              <a:t>–   recepcion nunca hace DELETE: cancelar es UPDATE</a:t>
            </a:r>
          </a:p>
          <a:p>
            <a:pPr>
              <a:spcAft>
                <a:spcPts val="800"/>
              </a:spcAft>
            </a:pPr>
            <a:r>
              <a:rPr sz="1500" b="0" i="0">
                <a:solidFill>
                  <a:srgbClr val="333333"/>
                </a:solidFill>
                <a:latin typeface="Calibri"/>
              </a:rPr>
              <a:t>–   Politica de baja: revocacion el mismo dia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Reducir la superficie: vista y privilegio por columna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-- 1) La vista deja fuera el email y las citas canceladas</a:t>
            </a:r>
          </a:p>
          <a:p>
            <a:pPr>
              <a:spcAft>
                <a:spcPts val="400"/>
              </a:spcAft>
            </a:pPr>
            <a:r>
              <a:rPr sz="1400" b="0" i="0">
                <a:solidFill>
                  <a:srgbClr val="FFFFFF"/>
                </a:solidFill>
                <a:latin typeface="Calibri"/>
              </a:rPr>
              <a:t>CREATE VIEW v_agenda_recepcion AS</a:t>
            </a:r>
          </a:p>
          <a:p>
            <a:pPr>
              <a:spcAft>
                <a:spcPts val="400"/>
              </a:spcAft>
            </a:pPr>
            <a:r>
              <a:rPr sz="1400" b="0" i="0">
                <a:solidFill>
                  <a:srgbClr val="FFFFFF"/>
                </a:solidFill>
                <a:latin typeface="Calibri"/>
              </a:rPr>
              <a:t>SELECT c.id_cita, c.fecha_hora, d.nombre AS dueno, d.telefono</a:t>
            </a:r>
          </a:p>
          <a:p>
            <a:pPr>
              <a:spcAft>
                <a:spcPts val="400"/>
              </a:spcAft>
            </a:pPr>
            <a:r>
              <a:rPr sz="1400" b="0" i="0">
                <a:solidFill>
                  <a:srgbClr val="FFFFFF"/>
                </a:solidFill>
                <a:latin typeface="Calibri"/>
              </a:rPr>
              <a:t>  FROM cita c JOIN mascota m ON m.id_mascota = c.id_mascota</a:t>
            </a:r>
          </a:p>
          <a:p>
            <a:pPr>
              <a:spcAft>
                <a:spcPts val="400"/>
              </a:spcAft>
            </a:pPr>
            <a:r>
              <a:rPr sz="1400" b="0" i="0">
                <a:solidFill>
                  <a:srgbClr val="FFFFFF"/>
                </a:solidFill>
                <a:latin typeface="Calibri"/>
              </a:rPr>
              <a:t>  JOIN dueno d ON d.id_dueno = m.id_dueno</a:t>
            </a:r>
          </a:p>
          <a:p>
            <a:pPr>
              <a:spcAft>
                <a:spcPts val="400"/>
              </a:spcAft>
            </a:pPr>
            <a:r>
              <a:rPr sz="1400" b="0" i="0">
                <a:solidFill>
                  <a:srgbClr val="FFFFFF"/>
                </a:solidFill>
                <a:latin typeface="Calibri"/>
              </a:rPr>
              <a:t> WHERE c.estado &lt;&gt; 'CANCELADA';</a:t>
            </a:r>
          </a:p>
          <a:p>
            <a:pPr>
              <a:spcAft>
                <a:spcPts val="400"/>
              </a:spcAft>
            </a:pPr>
            <a:r>
              <a:rPr sz="1400" b="0" i="0">
                <a:solidFill>
                  <a:srgbClr val="FFFFFF"/>
                </a:solidFill>
                <a:latin typeface="Calibri"/>
              </a:rPr>
              <a:t>GRANT SELECT ON v_agenda_recepcion TO recepcion;</a:t>
            </a:r>
          </a:p>
          <a:p>
            <a:pPr>
              <a:spcAft>
                <a:spcPts val="400"/>
              </a:spcAft>
            </a:pPr>
            <a:r>
              <a:rPr sz="1400" b="0" i="0">
                <a:solidFill>
                  <a:srgbClr val="FFFFFF"/>
                </a:solidFill>
                <a:latin typeface="Calibri"/>
              </a:rPr>
              <a:t>REVOKE SELECT ON dueno FROM recepcion;   -- solo llega por la vista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-- 2) O se recorta la tabla columna por columna</a:t>
            </a:r>
          </a:p>
          <a:p>
            <a:pPr>
              <a:spcAft>
                <a:spcPts val="400"/>
              </a:spcAft>
            </a:pPr>
            <a:r>
              <a:rPr sz="1400" b="0" i="0">
                <a:solidFill>
                  <a:srgbClr val="FFFFFF"/>
                </a:solidFill>
                <a:latin typeface="Calibri"/>
              </a:rPr>
              <a:t>GRANT SELECT (id_dueno, nombre) ON dueno TO veterinario_rol;</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Un GRANT no es todo-o-nada: la vista recorta filas y columnas, y el privilegio por columna recorta columnas sin crear objeto nuevo.</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Ciclo de vida de una cuenta: alta, cambio, baja, revision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Cada flecha del ciclo es un GRANT o un REVOKE. La politica es lo que le pone responsable y plazo a cada uno</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1. Alta.</a:t>
            </a:r>
            <a:r>
              <a:rPr sz="2000" b="0" i="0">
                <a:solidFill>
                  <a:srgbClr val="333333"/>
                </a:solidFill>
                <a:latin typeface="Calibri"/>
              </a:rPr>
              <a:t> Quien solicita y quien aprueba; la cuenta nace con </a:t>
            </a:r>
            <a:r>
              <a:rPr sz="2000" b="1" i="0">
                <a:solidFill>
                  <a:srgbClr val="333333"/>
                </a:solidFill>
                <a:latin typeface="Calibri"/>
              </a:rPr>
              <a:t>un solo rol</a:t>
            </a:r>
            <a:r>
              <a:rPr sz="2000" b="0" i="0">
                <a:solidFill>
                  <a:srgbClr val="333333"/>
                </a:solidFill>
                <a:latin typeface="Calibri"/>
              </a:rPr>
              <a:t> y con credencial temporal que caduca en el primer ingreso.</a:t>
            </a:r>
          </a:p>
          <a:p>
            <a:pPr>
              <a:spcAft>
                <a:spcPts val="800"/>
              </a:spcAft>
            </a:pPr>
            <a:r>
              <a:rPr sz="2000" b="0" i="0">
                <a:solidFill>
                  <a:srgbClr val="333333"/>
                </a:solidFill>
                <a:latin typeface="Calibri"/>
              </a:rPr>
              <a:t>–   </a:t>
            </a:r>
            <a:r>
              <a:rPr sz="2000" b="1" i="0">
                <a:solidFill>
                  <a:srgbClr val="333333"/>
                </a:solidFill>
                <a:latin typeface="Calibri"/>
              </a:rPr>
              <a:t>2. Cambio de rol.</a:t>
            </a:r>
            <a:r>
              <a:rPr sz="2000" b="0" i="0">
                <a:solidFill>
                  <a:srgbClr val="333333"/>
                </a:solidFill>
                <a:latin typeface="Calibri"/>
              </a:rPr>
              <a:t> «GRANT» del nuevo y </a:t>
            </a:r>
            <a:r>
              <a:rPr sz="2000" b="1" i="0">
                <a:solidFill>
                  <a:srgbClr val="333333"/>
                </a:solidFill>
                <a:latin typeface="Calibri"/>
              </a:rPr>
              <a:t>«REVOKE» del anterior</a:t>
            </a:r>
            <a:r>
              <a:rPr sz="2000" b="0" i="0">
                <a:solidFill>
                  <a:srgbClr val="333333"/>
                </a:solidFill>
                <a:latin typeface="Calibri"/>
              </a:rPr>
              <a:t>: los permisos </a:t>
            </a:r>
            <a:r>
              <a:rPr sz="2000" b="1" i="0">
                <a:solidFill>
                  <a:srgbClr val="333333"/>
                </a:solidFill>
                <a:latin typeface="Calibri"/>
              </a:rPr>
              <a:t>no se acumulan</a:t>
            </a:r>
            <a:r>
              <a:rPr sz="2000" b="0" i="0">
                <a:solidFill>
                  <a:srgbClr val="333333"/>
                </a:solidFill>
                <a:latin typeface="Calibri"/>
              </a:rPr>
              <a:t>. Quien pasa de recepcion a auditoria y conserva los dos termina auditando lo que el mismo modifica.</a:t>
            </a:r>
          </a:p>
          <a:p>
            <a:pPr>
              <a:spcAft>
                <a:spcPts val="800"/>
              </a:spcAft>
            </a:pPr>
            <a:r>
              <a:rPr sz="2000" b="0" i="0">
                <a:solidFill>
                  <a:srgbClr val="333333"/>
                </a:solidFill>
                <a:latin typeface="Calibri"/>
              </a:rPr>
              <a:t>–   </a:t>
            </a:r>
            <a:r>
              <a:rPr sz="2000" b="1" i="0">
                <a:solidFill>
                  <a:srgbClr val="333333"/>
                </a:solidFill>
                <a:latin typeface="Calibri"/>
              </a:rPr>
              <a:t>3. Baja: el mismo dia.</a:t>
            </a:r>
            <a:r>
              <a:rPr sz="2000" b="0" i="0">
                <a:solidFill>
                  <a:srgbClr val="333333"/>
                </a:solidFill>
                <a:latin typeface="Calibri"/>
              </a:rPr>
              <a:t> Revocar los roles, dejar la cuenta sin login y </a:t>
            </a:r>
            <a:r>
              <a:rPr sz="2000" b="1" i="0">
                <a:solidFill>
                  <a:srgbClr val="333333"/>
                </a:solidFill>
                <a:latin typeface="Calibri"/>
              </a:rPr>
              <a:t>reasignar los objetos antes de borrar el rol</a:t>
            </a:r>
            <a:r>
              <a:rPr sz="2000" b="0" i="0">
                <a:solidFill>
                  <a:srgbClr val="333333"/>
                </a:solidFill>
                <a:latin typeface="Calibri"/>
              </a:rPr>
              <a:t> («REASSIGN OWNED BY ... TO admin_bd»): PostgreSQL no deja hacer «DROP ROLE» de un rol que todavia posee objetos. Lo que esto evita es la </a:t>
            </a:r>
            <a:r>
              <a:rPr sz="2000" b="1" i="0">
                <a:solidFill>
                  <a:srgbClr val="333333"/>
                </a:solidFill>
                <a:latin typeface="Calibri"/>
              </a:rPr>
              <a:t>cuenta huerfana</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4. Revision periodica.</a:t>
            </a:r>
            <a:r>
              <a:rPr sz="2000" b="0" i="0">
                <a:solidFill>
                  <a:srgbClr val="333333"/>
                </a:solidFill>
                <a:latin typeface="Calibri"/>
              </a:rPr>
              <a:t> Cada 3 a 6 meses se audita la matriz con «information_schema.role_table_grants», y </a:t>
            </a:r>
            <a:r>
              <a:rPr sz="2000" b="1" i="0">
                <a:solidFill>
                  <a:srgbClr val="333333"/>
                </a:solidFill>
                <a:latin typeface="Calibri"/>
              </a:rPr>
              <a:t>alguien firma</a:t>
            </a:r>
            <a:r>
              <a:rPr sz="2000" b="0" i="0">
                <a:solidFill>
                  <a:srgbClr val="333333"/>
                </a:solidFill>
                <a:latin typeface="Calibri"/>
              </a:rPr>
              <a:t> la evidencia. Sin cuentas compartidas: si tres personas entran como «recepcion1», la auditoria no puede decir quien cancelo la cita.</a:t>
            </a:r>
          </a:p>
          <a:p>
            <a:pPr>
              <a:spcAft>
                <a:spcPts val="800"/>
              </a:spcAft>
            </a:pPr>
            <a:r>
              <a:rPr sz="2000" b="0" i="0">
                <a:solidFill>
                  <a:srgbClr val="333333"/>
                </a:solidFill>
                <a:latin typeface="Calibri"/>
              </a:rPr>
              <a:t>–   </a:t>
            </a:r>
            <a:r>
              <a:rPr sz="2000" b="1" i="0">
                <a:solidFill>
                  <a:srgbClr val="333333"/>
                </a:solidFill>
                <a:latin typeface="Calibri"/>
              </a:rPr>
              <a:t>5. Probar que el permiso NO esta.</a:t>
            </a:r>
            <a:r>
              <a:rPr sz="2000" b="0" i="0">
                <a:solidFill>
                  <a:srgbClr val="333333"/>
                </a:solidFill>
                <a:latin typeface="Calibri"/>
              </a:rPr>
              <a:t> No hace falta otra conexion (aqui hay un solo usuario con login): «SET ROLE recepcion;» cambia el rol efectivo, y ahi «DELETE FROM cita ...» debe responder </a:t>
            </a:r>
            <a:r>
              <a:rPr sz="2000" b="1" i="0">
                <a:solidFill>
                  <a:srgbClr val="333333"/>
                </a:solidFill>
                <a:latin typeface="Calibri"/>
              </a:rPr>
              <a:t>permission denied</a:t>
            </a:r>
            <a:r>
              <a:rPr sz="2000" b="0" i="0">
                <a:solidFill>
                  <a:srgbClr val="333333"/>
                </a:solidFill>
                <a:latin typeface="Calibri"/>
              </a:rPr>
              <a:t>. Se cierra con «RESET ROLE;». Si el entorno no deja cambiar de rol, se documenta el intento: eso es una </a:t>
            </a:r>
            <a:r>
              <a:rPr sz="2000" b="1" i="0">
                <a:solidFill>
                  <a:srgbClr val="333333"/>
                </a:solidFill>
                <a:latin typeface="Calibri"/>
              </a:rPr>
              <a:t>brecha de verificacion</a:t>
            </a:r>
            <a:r>
              <a:rPr sz="2000" b="0" i="0">
                <a:solidFill>
                  <a:srgbClr val="333333"/>
                </a:solidFill>
                <a:latin typeface="Calibri"/>
              </a:rPr>
              <a:t>.</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PostgreSQL + Google Docs</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Los 4 roles de la clínica con CREATE ROLE/GRANT/REVOKE, verificados con information_schema.role_table_grants.</a:t>
            </a:r>
          </a:p>
          <a:p>
            <a:pPr>
              <a:spcAft>
                <a:spcPts val="800"/>
              </a:spcAft>
            </a:pPr>
            <a:r>
              <a:rPr sz="2000" b="0" i="0">
                <a:solidFill>
                  <a:srgbClr val="333333"/>
                </a:solidFill>
                <a:latin typeface="Calibri"/>
              </a:rPr>
              <a:t>–   Sigan el mismo dominio de la clínica (no inventen otro caso).</a:t>
            </a:r>
          </a:p>
          <a:p>
            <a:pPr>
              <a:spcAft>
                <a:spcPts val="800"/>
              </a:spcAft>
            </a:pPr>
            <a:r>
              <a:rPr sz="2000" b="0" i="0">
                <a:solidFill>
                  <a:srgbClr val="333333"/>
                </a:solidFill>
                <a:latin typeface="Calibri"/>
              </a:rPr>
              <a:t>–   </a:t>
            </a:r>
            <a:r>
              <a:rPr sz="2000" b="1" i="0">
                <a:solidFill>
                  <a:srgbClr val="333333"/>
                </a:solidFill>
                <a:latin typeface="Calibri"/>
              </a:rPr>
              <a:t>Qué observar:</a:t>
            </a:r>
            <a:r>
              <a:rPr sz="2000" b="0" i="0">
                <a:solidFill>
                  <a:srgbClr val="333333"/>
                </a:solidFill>
                <a:latin typeface="Calibri"/>
              </a:rPr>
              <a:t> con «SET ROLE recepcion» el «DELETE» responde permission denied, y «information_schema.role_table_grants» muestra la matriz real que dejo cada GRANT.</a:t>
            </a:r>
          </a:p>
          <a:p>
            <a:pPr>
              <a:spcAft>
                <a:spcPts val="800"/>
              </a:spcAft>
            </a:pPr>
            <a:r>
              <a:rPr sz="2000" b="0" i="0">
                <a:solidFill>
                  <a:srgbClr val="333333"/>
                </a:solidFill>
                <a:latin typeface="Calibri"/>
              </a:rPr>
              <a:t>–   </a:t>
            </a:r>
            <a:r>
              <a:rPr sz="2000" b="1" i="0">
                <a:solidFill>
                  <a:srgbClr val="333333"/>
                </a:solidFill>
                <a:latin typeface="Calibri"/>
              </a:rPr>
              <a:t>Qué observar:</a:t>
            </a:r>
            <a:r>
              <a:rPr sz="2000" b="0" i="0">
                <a:solidFill>
                  <a:srgbClr val="333333"/>
                </a:solidFill>
                <a:latin typeface="Calibri"/>
              </a:rPr>
              <a:t> la vista entrega a recepcion la agenda sin el email del dueno: el privilegio por columna recorta lo que se ve.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2 · Administracion de BD · Roles la clínica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Los cuatro terminos que se confunden todo el tiempo</a:t>
            </a:r>
          </a:p>
          <a:p>
            <a:pPr algn="ctr">
              <a:spcAft>
                <a:spcPts val="600"/>
              </a:spcAft>
            </a:pPr>
            <a:r>
              <a:rPr sz="1600" b="0" i="0">
                <a:solidFill>
                  <a:srgbClr val="333333"/>
                </a:solidFill>
                <a:latin typeface="Calibri"/>
              </a:rPr>
              <a:t>Privilegio</a:t>
            </a:r>
          </a:p>
          <a:p>
            <a:pPr algn="ctr">
              <a:spcAft>
                <a:spcPts val="600"/>
              </a:spcAft>
            </a:pPr>
            <a:r>
              <a:rPr sz="1600" b="0" i="0">
                <a:solidFill>
                  <a:srgbClr val="333333"/>
                </a:solidFill>
                <a:latin typeface="Calibri"/>
              </a:rPr>
              <a:t>Rol</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