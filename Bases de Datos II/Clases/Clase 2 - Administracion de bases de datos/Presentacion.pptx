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Administrar una base de datos es decidir y hacer cumplir quien puede hacer que sobre cada objeto, y dejar rastro de quien lo hizo.</a:t>
            </a:r>
          </a:p>
          <a:p>
            <a:r>
              <a:t>Antes de llegar a la sintaxis conviene fijar cuatro terminos que se usan sueltos y se confunden todo el tiempo.</a:t>
            </a:r>
          </a:p>
          <a:p>
            <a:r>
              <a:t>Un objeto de base de datos es cualquier cosa que el motor guarda y a la que se le puede poner nombre: una tabla como cita, una vista, un procedimiento, una secuencia.</a:t>
            </a:r>
          </a:p>
          <a:p>
            <a:r>
              <a:t>Un esquema es un contenedor con nombre donde viven esos objetos; en PostgreSQL, que es el motor de esta clase, el esquema por omision se llama public y el nombre completo de la tabla es public.cita.</a:t>
            </a:r>
          </a:p>
          <a:p>
            <a:r>
              <a:t>Aqui hay que desactivar una confusion que traen quienes vieron Oracle: alli esquema y usuario son practicamente lo mismo y se escribe la clínica.MASCOTA</a:t>
            </a:r>
          </a:p>
          <a:p>
            <a:r>
              <a:t>Mientras que en PostgreSQL son cosas separadas, un mismo usuario puede tener objetos en varios esquemas y un esquema puede contener objetos de varios propietarios.</a:t>
            </a:r>
          </a:p>
          <a:p>
            <a:r>
              <a:t>Autenticacion es probar quien es usted, con usuario y clave o con un certificado.</a:t>
            </a:r>
          </a:p>
          <a:p>
            <a:r>
              <a:t>Autorizacion es decidir que puede hacer una vez que ya esta dentro.</a:t>
            </a:r>
          </a:p>
          <a:p>
            <a:r>
              <a:t>Son etapas distintas, se controlan con mecanismos distintos, y un usuario puede autenticarse perfectamente y no tener permiso para leer ni una sola fila.</a:t>
            </a:r>
          </a:p>
          <a:p>
            <a:r>
              <a:t>Esta clase se dicta en sesion virtual sincrona, en el bloque normal de 120 minutos: hay explicacion en vivo.</a:t>
            </a:r>
          </a:p>
          <a:p>
            <a:r>
              <a:t>NOTAS:</a:t>
            </a:r>
          </a:p>
          <a:p>
            <a:r>
              <a:t>Conviene aprovechar precisamente eso, porque los permisos son el tema del curso donde el estudiante mas necesita que alguien le diga en el momento por que su GRANT no surtio efecto.</a:t>
            </a:r>
          </a:p>
          <a:p>
            <a:r>
              <a:t>Fuera de la lamina (habla de la practica):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privilegio es un permiso atomico: la unidad mas pequena de autorizacion que el motor sabe otorgar o quitar.</a:t>
            </a:r>
          </a:p>
          <a:p>
            <a:r>
              <a:t>En PostgreSQL hay que distinguir dos cosas que los estudiantes mezclan.</a:t>
            </a:r>
          </a:p>
          <a:p>
            <a:r>
              <a:t>Los privilegios de objeto habilitan acciones sobre un objeto concreto y son los que se escriben con GRANT: SELECT, INSERT, UPDATE, DELETE, TRUNCATE, REFERENCES y TRIGGER sobre una tabla o una vista</a:t>
            </a:r>
          </a:p>
          <a:p>
            <a:r>
              <a:t>Los atributos de rol son otra cosa: LOGIN, CREATEDB, CREATEROLE y SUPERUSER no se otorgan con GRANT sino que se escriben en el CREATE ROLE o se cambian con ALTER ROLE, y son el equivalente de lo que en Oracle se llama privilegio de sistema.</a:t>
            </a:r>
          </a:p>
          <a:p>
            <a:r>
              <a:t>DDL, Data Definition Language, son las sentencias que cambian la estructura: CREATE, ALTER, DROP, TRUNCATE.</a:t>
            </a:r>
          </a:p>
          <a:p>
            <a:r>
              <a:t>DML, Data Manipulation Language, son las que leen o cambian los datos sin tocar la estructura: SELECT, INSERT, UPDATE, DELETE.</a:t>
            </a:r>
          </a:p>
          <a:p>
            <a:r>
              <a:t>Un recepcionista de la clínica necesita DML sobre unas pocas tablas y nunca necesita DDL.</a:t>
            </a:r>
          </a:p>
          <a:p>
            <a:r>
              <a:t>Ejemplo en la clínica: GRANT SELECT, INSERT ON cita TO recepcion permite leer y agendar, pero no UPDATE ni DELETE, y tampoco ALTER TABLE, porque modificar la estructura de un objeto no es un privilegio que se conceda con GRANT: lo puede hacer su dueno.</a:t>
            </a:r>
          </a:p>
          <a:p>
            <a:r>
              <a:t>NOTAS:</a:t>
            </a:r>
          </a:p>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rol es un paquete de privilegios con nombre propio, que se otorga a un usuario en un solo paso.</a:t>
            </a:r>
          </a:p>
          <a:p>
            <a:r>
              <a:t>El modelo tiene ocho tablas (dueno, mascota, veterinario, cita, consulta, insumo, factura y detalle_factura) y, contando los dos procedimientos que llegaran en la Clase 3, diez objetos que hay que decidir.</a:t>
            </a:r>
          </a:p>
          <a:p>
            <a:r>
              <a:t>Si la clinica tiene doce empleados y los permisos se otorgan cuenta por cuenta, el administrador escribe del orden de cientos de sentencias GRANT</a:t>
            </a:r>
          </a:p>
          <a:p>
            <a:r>
              <a:t>Pero el problema grave no es el volumen: es que cuando cambie una regla, por ejemplo que recepcion ya no pueda anular facturas, tendra que recordar tocar doce cuentas sin olvidar ninguna.</a:t>
            </a:r>
          </a:p>
          <a:p>
            <a:r>
              <a:t>Con roles se define una sola vez el conjunto de privilegios de recepcion y se ejecutan doce sentencias GRANT recepcion TO usuario.</a:t>
            </a:r>
          </a:p>
          <a:p>
            <a:r>
              <a:t>Al cambiar la regla se hace un REVOKE sobre el rol y los doce usuarios quedan corregidos en el mismo instante, sin excepciones y sin listas de verificacion.</a:t>
            </a:r>
          </a:p>
          <a:p>
            <a:r>
              <a:t>Ejemplo la clínica: cuando entra una recepcionista nueva, el alta es una sola sentencia que le otorga el rol recepcion; cuando se va, la baja es una sola sentencia que se lo revoca.</a:t>
            </a:r>
          </a:p>
          <a:p>
            <a:r>
              <a:t>Ningun permiso se toca objeto por objeto: la matriz del rol sigue siendo la misma para las 12 cuentas.</a:t>
            </a:r>
          </a:p>
          <a:p>
            <a:r>
              <a:t>NOTAS:</a:t>
            </a:r>
          </a:p>
          <a:p>
            <a:r>
              <a:t>Existe por una razon aritmetica que conviene poner en el tablero con los numeros de la clínica.</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CREATE USER no es un comando distinto, es un alias de CREATE ROLE...</a:t>
            </a:r>
          </a:p>
          <a:p>
            <a:r>
              <a:t>Un rol con el atributo LOGIN es lo que llamamos usuario, porque puede iniciar sesion; un rol sin LOGIN es un paquete de permisos que nadie usa para conectarse.</a:t>
            </a:r>
          </a:p>
          <a:p>
            <a:r>
              <a:t>Un segundo detalle, este de convencion y no de motor: el rol del veterinario se llama veterinario_rol y no veterinario.</a:t>
            </a:r>
          </a:p>
          <a:p>
            <a:r>
              <a:t>Tecnicamente no hay ninguna obligacion, porque en PostgreSQL los roles son globales al cluster y las tablas viven en un esquema, de modo que un rol llamado veterinario y una tabla llamada veterinario pueden coexistir sin conflicto alguno.</a:t>
            </a:r>
          </a:p>
          <a:p>
            <a:r>
              <a:t>La razon es de legibilidad para quien audita: en la linea GRANT SELECT ON cita TO veterinario no se puede saber a simple vista si veterinario es un rol o si alguien se equivoco de sintaxis, mientras que veterinario_rol se lee sin ambiguedad.</a:t>
            </a:r>
          </a:p>
          <a:p>
            <a:r>
              <a:t>NOTAS:</a:t>
            </a:r>
          </a:p>
          <a:p>
            <a:r>
              <a:t>Hay un detalle del motor que hay que decir temprano porque de lo contrario el tema se vuelve incomprensible: en PostgreSQL usuario y rol son la misma entidad.</a:t>
            </a:r>
          </a:p>
          <a:p>
            <a:r>
              <a:t>Por eso los cuatro roles de la clase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No necesita leer consulta, porque el historial clinico es informacion sensible del paciente que la recepcion no requiere para hacer su trabajo.</a:t>
            </a:r>
          </a:p>
          <a:p>
            <a:r>
              <a:t>El rol veterinario_rol necesita SELECT sobre cita y mascota, y SELECT, INSERT y UPDATE sobre consulta, porque es quien documenta la atencion.</a:t>
            </a:r>
          </a:p>
          <a:p>
            <a:r>
              <a:t>El rol admin_bd es el unico con privilegios amplios, y es el que sostiene el DDL.</a:t>
            </a:r>
          </a:p>
          <a:p>
            <a:r>
              <a:t>Notese que DELETE no aparece en ninguna fila operativa, y eso no es descuido: en un sistema clinico las cosas no se borran, se marcan.</a:t>
            </a:r>
          </a:p>
          <a:p>
            <a:r>
              <a:t>Una cita cancelada lleva estado = 'CANCELADA' y una mascota que ya no se atiende lleva activa = 'N', que es exactamente como quedo el DDL de la Clase 1, con CHAR(1) y CHECK (activa IN ('S','N')).</a:t>
            </a:r>
          </a:p>
          <a:p>
            <a:r>
              <a:t>NOTAS:</a:t>
            </a:r>
          </a:p>
          <a:p>
            <a:r>
              <a:t>El principio de minimo privilegio dice que cada rol recibe exactamente lo que necesita para cumplir su funcion y ni un privilegio mas.</a:t>
            </a:r>
          </a:p>
          <a:p>
            <a:r>
              <a:t>Aplicado a la clínica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Separacion de funciones, o segregation of duties, es la practica de repartir un proceso sensible entre dos o mas personas para que ninguna pueda completarlo sola sin dejar rastro.</a:t>
            </a:r>
          </a:p>
          <a:p>
            <a:r>
              <a:t>En terminos de base de datos significa que quien disena y modifica el esquema no debe ser la misma cuenta que opera los datos del dia a dia, y que quien audita solo debe leer.</a:t>
            </a:r>
          </a:p>
          <a:p>
            <a:r>
              <a:t>El ejemplo de la clínica es facil de contar: si la misma cuenta que emite una factura puede tambien borrarla, entonces una persona puede cobrar en efectivo y hacer desaparecer el registro, y no queda evidencia de que la factura existio.</a:t>
            </a:r>
          </a:p>
          <a:p>
            <a:r>
              <a:t>Separando funciones, emitir una factura es un INSERT permitido a un rol, y anular una factura es un UPDATE de estado permitido a un rol distinto, y ese UPDATE deja fecha, usuario y motivo.</a:t>
            </a:r>
          </a:p>
          <a:p>
            <a:r>
              <a:t>Aqui aparece la primera pregunta previsible del estudiante: «no es mas facil darle todo al jefe y ya?».</a:t>
            </a:r>
          </a:p>
          <a:p>
            <a:r>
              <a:t>En terminos de privilegios: recepcion puede INSERT en factura pero no UPDATE sobre un total ya emitido, y auditor solo tiene SELECT.</a:t>
            </a:r>
          </a:p>
          <a:p>
            <a:r>
              <a:t>NOTAS:</a:t>
            </a:r>
          </a:p>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a:p>
            <a:r>
              <a:t>Ningun rol puede a la vez crear, modificar y aprobar el mismo registro.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forma de las sentencias reales, que el estudiante debe poder escribir de memoria al terminar la lectura, es esta: CREATE ROLE recepcion NOLOGIN; luego GRANT SELECT, INSERT, UPDATE ON cita TO recepcion</a:t>
            </a:r>
          </a:p>
          <a:p>
            <a:r>
              <a:t>Luego GRANT SELECT ON dueno, mascota, veterinario TO recepcion, aprovechando que PostgreSQL acepta varias tablas en un mismo GRANT; y finalmente GRANT recepcion TO ana_gomez.</a:t>
            </a:r>
          </a:p>
          <a:p>
            <a:r>
              <a:t>Primero, un rol recien creado no tiene ningun privilegio sobre las tablas ajenas: no hace falta revocar nada para «empezar limpio», el punto de partida ya es cero.</a:t>
            </a:r>
          </a:p>
          <a:p>
            <a:r>
              <a:t>Segundo, para que un rol pueda usar los objetos del esquema necesita USAGE sobre el esquema; en public eso viene concedido por omision, asi que hoy no estorba, pero en un servidor con esquemas propios es la causa numero uno del GRANT que «no surtio efecto».</a:t>
            </a:r>
          </a:p>
          <a:p>
            <a:r>
              <a:t>Tercero, existe la forma masiva GRANT SELECT ON ALL TABLES IN SCHEMA public TO auditor, comoda y peligrosa a la vez: aplica a las tablas que existen en ese momento y no a las futuras</a:t>
            </a:r>
          </a:p>
          <a:p>
            <a:r>
              <a:t>De modo que la tabla que se cree la semana entrante quedara fuera y nadie se dara cuenta; para eso existe ALTER DEFAULT PRIVILEGES, que vale nombrar sin desarrollar.</a:t>
            </a:r>
          </a:p>
          <a:p>
            <a:r>
              <a:t>Error comun: creer que REVOKE de un privilegio que nunca se otorgo es un error: PostgreSQL lo ejecuta sin error y no cambia nada.</a:t>
            </a:r>
          </a:p>
          <a:p>
            <a:r>
              <a:t>Tambien es comun olvidar que los privilegios concedidos a PUBLIC los recibe todo rol, incluido el que se acaba de restringir.</a:t>
            </a:r>
          </a:p>
          <a:p>
            <a:r>
              <a:t>NOTAS:</a:t>
            </a:r>
          </a:p>
          <a:p>
            <a:r>
              <a:t>GRANT otorga y REVOKE retira, y ambos operan igual sobre usuarios y sobre roles.</a:t>
            </a:r>
          </a:p>
          <a:p>
            <a:r>
              <a:t>Para retirar un permiso</a:t>
            </a:r>
          </a:p>
          <a:p>
            <a:r>
              <a:t>Hay tres detalles operativos que evitan la mitad de los tropiezos de la clase.</a:t>
            </a:r>
          </a:p>
          <a:p>
            <a:r>
              <a:t>CÓDIGO CITADO (referencia):</a:t>
            </a:r>
          </a:p>
          <a:p>
            <a:r>
              <a:t>REVOKE DELETE ON cita FROM recepcion</a:t>
            </a:r>
          </a:p>
          <a:p>
            <a:r>
              <a:t>Fuera de la lamina (habla de la practica): 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clausula WITH GRANT OPTION permite que quien recibio el privilegio lo vuelva a otorgar a otros; suena comodo y es una mala idea</a:t>
            </a:r>
          </a:p>
          <a:p>
            <a:r>
              <a:t>Porque el administrador pierde el control de la cadena de permisos y, al hacer REVOKE, se produce una revocacion en cascada con efectos que nadie previo</a:t>
            </a:r>
          </a:p>
          <a:p>
            <a:r>
              <a:t>De hecho PostgreSQL rechaza el REVOKE si hay privilegios dependientes y obliga a escribir CASCADE, que es el motor avisando que la operacion va a tocar mas de lo que se le pidio.</a:t>
            </a:r>
          </a:p>
          <a:p>
            <a:r>
              <a:t>El segundo es el rol especial PUBLIC, al que pertenecen todos los roles existentes y futuros: un GRANT SELECT ON consulta TO PUBLIC entrega el historial clinico a cualquiera que pueda conectarse, incluido el proximo usuario que se cree manana.</a:t>
            </a:r>
          </a:p>
          <a:p>
            <a:r>
              <a:t>Buscar y quitar privilegios otorgados a PUBLIC, con REVOKE ALL ON &lt;tabla&gt; FROM PUBLIC, es una tarea real de endurecimiento en bases de datos heredadas, y vale la pena nombrarla para que el estudiante entienda que estos conceptos no son escolares.</a:t>
            </a:r>
          </a:p>
          <a:p>
            <a:r>
              <a:t>NOTAS:</a:t>
            </a:r>
          </a:p>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GRANT sobre una tabla es todo o nada en filas y columnas: quien tiene SELECT sobre dueno ve las seis columnas y las seis filas.</a:t>
            </a:r>
          </a:p>
          <a:p>
            <a:r>
              <a:t>Hay dos mecanismos para recortar esa superficie y hay que saber cuando usar cada uno.</a:t>
            </a:r>
          </a:p>
          <a:p>
            <a:r>
              <a:t>Una vista es una consulta guardada con nombre, que se usa como si fuera una tabla; se crea con CREATE VIEW v_agenda_recepcion AS SELECT... y se le otorga SELECT al rol.</a:t>
            </a:r>
          </a:p>
          <a:p>
            <a:r>
              <a:t>La vista recorta las dos dimensiones a la vez: filas, con un WHERE estado &lt;&gt; 'CANCELADA', y columnas, con solo dejar el email fuera del SELECT.</a:t>
            </a:r>
          </a:p>
          <a:p>
            <a:r>
              <a:t>El segundo mecanismo es el privilegio por columna: ON dueno TO veterinario_rol otorga lectura de dos columnas y de ninguna otra, sin crear ningun objeto nuevo.</a:t>
            </a:r>
          </a:p>
          <a:p>
            <a:r>
              <a:t>El criterio para elegir es simple: si el recorte necesita filtrar filas o cruzar tablas, se hace con vista; si es puramente por columna y no se quiere mantener un objeto mas, con privilegio por columna.</a:t>
            </a:r>
          </a:p>
          <a:p>
            <a:r>
              <a:t>NOTAS:</a:t>
            </a:r>
          </a:p>
          <a:p>
            <a:r>
              <a:t>Aqui esta el concepto que hace la diferencia entre una matriz de aficionado y una defendible.</a:t>
            </a:r>
          </a:p>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a:p>
            <a:r>
              <a:t>Tiene una consecuencia que hay que advertir en clase porque genera un error confuso: ese rol ya no puede escribir SELECT * FROM dueno, porque el asterisco pide todas las columnas y dos de ellas le estan negadas; tiene que nombrar las columnas explicitamente.</a:t>
            </a:r>
          </a:p>
          <a:p>
            <a:r>
              <a:t>CÓDIGO CITADO (referencia):</a:t>
            </a:r>
          </a:p>
          <a:p>
            <a:r>
              <a:t>GRANT SELECT (id_dueno, nombre)</a:t>
            </a:r>
          </a:p>
          <a:p>
            <a:r>
              <a:t>Fuera de la lamina (habla de la practica): Aqui esta el concepto que hace la diferencia entre una matriz de aficionado y una defendible, y es la parte que el taller evalua con veinte puntos.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matriz de permisos que solo existe en un documento es una intencion; la matriz se vuelve un hecho cuando se puede consultar en el motor.</a:t>
            </a:r>
          </a:p>
          <a:p>
            <a:r>
              <a:t>PostgreSQL expone esa informacion en el esquema estandar information_schema y hay dos vistas que hay que saber usar.</a:t>
            </a:r>
          </a:p>
          <a:p>
            <a:r>
              <a:t>La primera es role_table_grants, con ORDER BY grantee, table_name, privilege_type: devuelve una fila por cada combinacion de rol, tabla y privilegio realmente otorgado.</a:t>
            </a:r>
          </a:p>
          <a:p>
            <a:r>
              <a:t>La segunda es column_privileges, que agrega la columna column_name y es la unica forma de evidenciar que el privilegio por columna quedo aplicado.</a:t>
            </a:r>
          </a:p>
          <a:p>
            <a:r>
              <a:t>NOTAS:</a:t>
            </a:r>
          </a:p>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CÓDIGO CITADO (referencia):</a:t>
            </a:r>
          </a:p>
          <a:p>
            <a:r>
              <a:t>SELECT grantee, table_name, privilege_type FROM information_schema.role_table_grants WHERE grantee IN ('admin_bd','recepcion','veterinario_rol','auditor')</a:t>
            </a:r>
          </a:p>
          <a:p>
            <a:r>
              <a:t>Fuera de la lamina (habla de la practica): 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politica de altas y bajas documenta el ciclo de vida de una cuenta: quien autoriza que se cree, con que rol nace, que pasa cuando alguien cambia de funcion, y en cuanto tiempo se desactiva cuando se va de la clinica.</a:t>
            </a:r>
          </a:p>
          <a:p>
            <a:r>
              <a:t>El plazo que se compromete habitualmente en la industria es el mismo dia del retiro, y por convencion se revisan las cuentas activas cada tres o seis meses; ninguno de esos dos numeros es una regla dura del motor, son practicas de gobierno</a:t>
            </a:r>
          </a:p>
          <a:p>
            <a:r>
              <a:t>Y la politica vale precisamente porque fija responsables y plazos concretos en lugar de generalidades.</a:t>
            </a:r>
          </a:p>
          <a:p>
            <a:r>
              <a:t>El problema que resuelve es la cuenta huerfana: la del pasante que se fue hace un ano y cuya clave sigue funcionando.</a:t>
            </a:r>
          </a:p>
          <a:p>
            <a:r>
              <a:t>Una, nunca cuentas compartidas: si tres recepcionistas entran con la cuenta recepcion1, la tabla de auditoria dira que recepcion1 cancelo la cita y no habra forma de saber quien fue</a:t>
            </a:r>
          </a:p>
          <a:p>
            <a:r>
              <a:t>La trazabilidad se pierde de manera irrecuperable y con ella cualquier investigacion posterior.</a:t>
            </a:r>
          </a:p>
          <a:p>
            <a:r>
              <a:t>Dos, los permisos no se acumulan: al cambiar de rol se revoca el anterior con REVOKE recepcion FROM ana_gomez, porque quien pasa de recepcion a auditoria y conserva ambos roles termina pudiendo modificar justamente lo que audita.</a:t>
            </a:r>
          </a:p>
          <a:p>
            <a:r>
              <a:t>La cuarta seccion, la revision periodica, se apoya en la consulta de information_schema que acaba de verse: la evidencia de la auditoria es su salida, y la politica dice cada cuanto se corre y quien la firma.</a:t>
            </a:r>
          </a:p>
          <a:p>
            <a:r>
              <a:t>La quinta seccion es el limite de este entorno, y se desarrolla completa en «El motor de hoy es PostgreSQL» un poco mas abajo.</a:t>
            </a:r>
          </a:p>
          <a:p>
            <a:r>
              <a:t>Al dictar la politica conviene bajarla a nombres propios de la clínica en lugar de dejarla en abstracto: quien autoriza el alta es la administradora de la clinica</a:t>
            </a:r>
          </a:p>
          <a:p>
            <a:r>
              <a:t>La recepcionista que entra nace con el rol recepcion y con nada mas, y la baja del pasante se hace el mismo dia.</a:t>
            </a:r>
          </a:p>
          <a:p>
            <a:r>
              <a:t>Una politica que no dice quien firma ni en cuanto tiempo no es una politica, es una intencion.</a:t>
            </a:r>
          </a:p>
          <a:p>
            <a:r>
              <a:t>NOTAS:</a:t>
            </a:r>
          </a:p>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a:p>
            <a:r>
              <a:t>Fuera de la lamina (habla de la practica): La diapositiva trae las cinco secciones en el mismo orden en que el taller las va a pedir, asi que se dicta recorriendola de arriba abajo.</a:t>
            </a:r>
          </a:p>
          <a:p>
            <a:r>
              <a:t>Fuera de la lamina (habla de la practica): La quinta seccion es el limite de este entorno, y se desarrolla completa en «El motor de hoy es PostgreSQL» un poco mas abajo; lo que se califica ahi no es que la prueba negativa exista, sino que el estudiante sepa nombrarla como brecha de verificacion de su propia entrega.</a:t>
            </a:r>
          </a:p>
          <a:p>
            <a:r>
              <a:t>Fuera de la lamina (habla de la practica): Una politica que no dice quien firma ni en cuanto tiempo no es una politica, es una intencion, y asi esta escrita la rubrica.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motor de la clase es PostgreSQL, que corre dentro del navegador.</a:t>
            </a:r>
          </a:p>
          <a:p>
            <a:r>
              <a:t>Una, esas dos lineas TIENEN que fallar, asi que se ejecutan una por una: un runner que aborta al primer error se llevaria las siguientes.</a:t>
            </a:r>
          </a:p>
          <a:p>
            <a:r>
              <a:t>Dos, si el entorno del dia no permite cambiar de rol, no hay que esconderlo — se muestra el mensaje.</a:t>
            </a:r>
          </a:p>
          <a:p>
            <a:r>
              <a:t>La diferencia entre las dos cosas es justamente lo que el estudiante tiene que entender: SET ROLE cambia con que permisos se evalua lo que escribo</a:t>
            </a:r>
          </a:p>
          <a:p>
            <a:r>
              <a:t>Y conectarse como otro usuario cambia quien esta conectado; para probar que un privilegio falta, basta lo primero.</a:t>
            </a:r>
          </a:p>
          <a:p>
            <a:r>
              <a:t>Oracle Live SQL y DB Fiddle siguen en el kit, pero cambian de papel: DB Fiddle sirve para probar SQL suelto y Live SQL solo como contraste de sintaxis, porque alli se escribe CREATE USER...</a:t>
            </a:r>
          </a:p>
          <a:p>
            <a:r>
              <a:t>IDENTIFIED BY, se otorga GRANT CREATE SESSION y el esquema es el usuario.</a:t>
            </a:r>
          </a:p>
          <a:p>
            <a:r>
              <a:t>Vale un minuto de clase mencionarlo, porque muchos se van a encontrar Oracle en el trabajo; no vale mas, porque el motor de la clase es PostgreSQL y todo minuto invertido en sintaxis del otro motor es un minuto que no se dedica al tema.</a:t>
            </a:r>
          </a:p>
          <a:p>
            <a:r>
              <a:t>NOTAS:</a:t>
            </a:r>
          </a:p>
          <a:p>
            <a:r>
              <a:t>Ahi CREATE ROLE, GRANT, REVOKE, CREATE VIEW, los privilegios por columna y las consultas a information_schema funcionan todos: son DDL real y son verificables, asi que la evidencia de la clase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a:p>
            <a:r>
              <a:t>CÓDIGO CITADO (referencia):</a:t>
            </a:r>
          </a:p>
          <a:p>
            <a:r>
              <a:t>DELETE FROM cita WHERE id_cita = 1</a:t>
            </a:r>
          </a:p>
          <a:p>
            <a:r>
              <a:t>SELECT nombre, email FROM dueno</a:t>
            </a:r>
          </a:p>
          <a:p>
            <a:r>
              <a:t>Fuera de la lamina (habla de la practica): Este punto hay que decirlo con precision porque una version anterior de esta guia decia lo contrario y costaria puntos repetirla.</a:t>
            </a:r>
          </a:p>
          <a:p>
            <a:r>
              <a:t>Fuera de la lamina (habla de la practica): Dos, si el entorno del dia no permite cambiar de rol, no hay que esconderlo — se muestra el mensaje, y entonces si aparece la brecha de verificacion que la pregunta 5 pide nombrar.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script es la traduccion mecanica de una decision; la matriz es la decision.</a:t>
            </a:r>
          </a:p>
          <a:p>
            <a:r>
              <a:t>Se construye con los objetos en las filas, los roles en las columnas, y en cada celda las acciones permitidas con la notacion abreviada: S para SELECT, I para INSERT, U para UPDATE, D para DELETE, E para EXECUTE y un guion cuando no hay ninguno.</a:t>
            </a:r>
          </a:p>
          <a:p>
            <a:r>
              <a:t>Lo exigible para la clínica son los diez objetos por los cuatro roles, sin celdas vacias</a:t>
            </a:r>
          </a:p>
          <a:p>
            <a:r>
              <a:t>Y la regla de calidad es que la matriz sea consistente con los GRANT que se ejecutaron en la primera pregunta: si el script no le dio DELETE a nadie, en la matriz no puede aparecer una D.</a:t>
            </a:r>
          </a:p>
          <a:p>
            <a:r>
              <a:t>Los dos procedimientos van con E y nunca con S ni con I, y eso no es un detalle de notacion: es el patron que la Clase 3 va a construir y la Clase 12 va a usar, en el que la aplicacion no escribe en las tablas sino que invoca la regla de negocio.</a:t>
            </a:r>
          </a:p>
          <a:p>
            <a:r>
              <a:t>Debajo de la matriz van cuatro a seis lineas justificando tres decisiones concretas, y ahi la regla es que una X sin texto no es una celda completa: «auditor sobre cita: solo S, porque auditar es verificar, no corregir» si lo es.</a:t>
            </a:r>
          </a:p>
          <a:p>
            <a:r>
              <a:t>NOTAS:</a:t>
            </a:r>
          </a:p>
          <a:p>
            <a:r>
              <a:t>Lo central no es el script sino la matriz rol por objeto por privilegio, y conviene explicar por que.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 de hoy no es una isla.</a:t>
            </a:r>
          </a:p>
          <a:p>
            <a:r>
              <a:t>La Clase 1 dejo el modelo y las claves primarias que hoy se protegen.</a:t>
            </a:r>
          </a:p>
          <a:p>
            <a:r>
              <a:t>La Clase 3 introduce procedimientos almacenados y con ellos el patron mas fino de todos: no dar INSERT sobre cita al rol recepcion, sino EXECUTE sobre sp_agendar_cita, de modo que el usuario solo pueda escribir a traves de la regla de negocio.</a:t>
            </a:r>
          </a:p>
          <a:p>
            <a:r>
              <a:t>La Clase 4 agrega disparadores de auditoria y el plan de respaldo.</a:t>
            </a:r>
          </a:p>
          <a:p>
            <a:r>
              <a:t>Y la Clase 12 reutiliza estos roles para definir la cuenta de servicio con la que la aplicacion se conecta.</a:t>
            </a:r>
          </a:p>
          <a:p>
            <a:r>
              <a:t>PREGUNTAS FRECUENTES DEL GRUPO</a:t>
            </a:r>
          </a:p>
          <a:p>
            <a:r>
              <a:t>«Ejecute el GRANT y no surtio efecto»: en el noventa por ciento de los casos es una de cuatro cosas.</a:t>
            </a:r>
          </a:p>
          <a:p>
            <a:r>
              <a:t>Se otorgo al rol pero no se otorgo el rol a la persona, y falta el</a:t>
            </a:r>
          </a:p>
          <a:p>
            <a:r>
              <a:t>O se esta probando en la misma sesion del propietario, que pasa por encima de todos los permisos y por lo tanto nunca ve un error, lo cual hace imposible «comprobar» nada asi.</a:t>
            </a:r>
          </a:p>
          <a:p>
            <a:r>
              <a:t>O se escribio el nombre del rol distinto, y conviene recordar que PostgreSQL pasa los identificadores sin comillas a minusculas, de modo que RECEPCION y recepcion son el mismo rol, pero "Recepcion" entre comillas dobles es otro distinto.</a:t>
            </a:r>
          </a:p>
          <a:p>
            <a:r>
              <a:t>«Si le doy SELECT solo a la vista, no necesita tambien SELECT sobre dueno?»: no, y es lo mas importante de la clase: la vista se ejecuta con los privilegios de su propietario.</a:t>
            </a:r>
          </a:p>
          <a:p>
            <a:r>
              <a:t>«Puedo comprobar que a recepcion le rebota el DELETE?»: si, y no hace falta otra conexion: SET ROLE recepcion; luego el DELETE, que debe devolver permission denied, y RESET ROLE; para volver.</a:t>
            </a:r>
          </a:p>
          <a:p>
            <a:r>
              <a:t>Si el navegador no permite el cambio de rol, se documenta el intento: ahi si hay una brecha de verificacion.</a:t>
            </a:r>
          </a:p>
          <a:p>
            <a:r>
              <a:t>«Rol y usuario son lo mismo?»: en PostgreSQL si, un usuario es un rol con LOGIN.</a:t>
            </a:r>
          </a:p>
          <a:p>
            <a:r>
              <a:t>«Por que auditor no tiene UPDATE ni sobre la tabla de auditoria?»: porque quien puede corregir el registro de lo que hizo puede borrar la evidencia de lo que hizo</a:t>
            </a:r>
          </a:p>
          <a:p>
            <a:r>
              <a:t>Y entonces la auditoria no prueba nada; esa tabla llega en la Clase 4 y la respuesta se mantiene igual.</a:t>
            </a:r>
          </a:p>
          <a:p>
            <a:r>
              <a:t>O el rol no tiene USAGE sobre el esquema.</a:t>
            </a:r>
          </a:p>
          <a:p>
            <a:r>
              <a:t>Lo que no se puede es conectarse como recepcion en una segunda sesion, porque el entorno tiene un solo usuario con login.</a:t>
            </a:r>
          </a:p>
          <a:p>
            <a:r>
              <a:t>Fuera de la lamina (habla de la practica): Lo de hoy no es una isla, y decirlo en voz alta le da sentido al entregable.</a:t>
            </a:r>
          </a:p>
          <a:p>
            <a:r>
              <a:t>Fuera de la lamina (habla de la practica): La Clase 4 agrega disparadores de auditoria y el plan de respaldo, que son el otro componente de este mismo criterio de rubrica.</a:t>
            </a:r>
          </a:p>
          <a:p>
            <a:r>
              <a:t>Fuera de la lamina (habla de la practica): En la rubrica del proyecto, seguridad y respaldo valen 15 de los 100 puntos.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Administracion de BD · Roles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la clínica</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Los cuatro terminos que se confunden todo el tiempo · Privilegio · Rol · En PostgreSQL usuario y rol son lo mismo, y por eso hoy se escribe NOLOGIN.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termi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termi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termin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termin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a:t>
            </a:r>
          </a:p>
          <a:p>
            <a:pPr>
              <a:spcAft>
                <a:spcPts val="800"/>
              </a:spcAft>
            </a:pPr>
            <a:r>
              <a:rPr sz="2000" b="0" i="0">
                <a:solidFill>
                  <a:srgbClr val="333333"/>
                </a:solidFill>
                <a:latin typeface="Calibri"/>
              </a:rPr>
              <a:t>–   Un esquema es un contenedor con nombre donde viven esos objetos.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vilegio-ddl-dm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ivilegio-ddl-dml-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a:t>
            </a:r>
          </a:p>
          <a:p>
            <a:pPr>
              <a:spcAft>
                <a:spcPts val="800"/>
              </a:spcAft>
            </a:pPr>
            <a:r>
              <a:rPr sz="2000" b="0" i="0">
                <a:solidFill>
                  <a:srgbClr val="333333"/>
                </a:solidFill>
                <a:latin typeface="Calibri"/>
              </a:rPr>
              <a:t>–   Los atributos de rol son otra cosa: LOGIN, CREATEDB.</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l-aritmet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ol-aritmet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ol-aritmet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n-nologi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n-nologi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n-nologi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1" b="0">
                <a:solidFill>
                  <a:srgbClr val="6A9955"/>
                </a:solidFill>
                <a:latin typeface="Consolas"/>
              </a:rPr>
              <a:t>-- En PostgreSQL usuario y rol son lo mismo: LOGIN es lo que los distingue.</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0" b="0">
                <a:solidFill>
                  <a:srgbClr val="D4D4D4"/>
                </a:solidFill>
                <a:latin typeface="Consolas"/>
              </a:rPr>
              <a:t>LOGIN</a:t>
            </a:r>
            <a:r>
              <a:rPr sz="2000" i="0" b="0">
                <a:solidFill>
                  <a:srgbClr val="D4D4D4"/>
                </a:solidFill>
                <a:latin typeface="Consolas"/>
              </a:rPr>
              <a:t> </a:t>
            </a:r>
            <a:r>
              <a:rPr sz="2000" i="0" b="0">
                <a:solidFill>
                  <a:srgbClr val="D4D4D4"/>
                </a:solidFill>
                <a:latin typeface="Consolas"/>
              </a:rPr>
              <a:t>PASSWORD</a:t>
            </a:r>
            <a:r>
              <a:rPr sz="2000" i="0" b="0">
                <a:solidFill>
                  <a:srgbClr val="D4D4D4"/>
                </a:solidFill>
                <a:latin typeface="Consolas"/>
              </a:rPr>
              <a:t> </a:t>
            </a:r>
            <a:r>
              <a:rPr sz="2000" i="0" b="0">
                <a:solidFill>
                  <a:srgbClr val="CE9178"/>
                </a:solidFill>
                <a:latin typeface="Consolas"/>
              </a:rPr>
              <a:t>'cambiar_en_produccion'</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veterinario_rol</a:t>
            </a:r>
            <a:r>
              <a:rPr sz="2000" i="0" b="0">
                <a:solidFill>
                  <a:srgbClr val="D4D4D4"/>
                </a:solidFill>
                <a:latin typeface="Consolas"/>
              </a:rPr>
              <a:t> </a:t>
            </a:r>
            <a:r>
              <a:rPr sz="2000" i="0" b="0">
                <a:solidFill>
                  <a:srgbClr val="D4D4D4"/>
                </a:solidFill>
                <a:latin typeface="Consolas"/>
              </a:rPr>
              <a:t>NOLOGIN</a:t>
            </a:r>
            <a:r>
              <a:rPr sz="2000" i="0" b="0">
                <a:solidFill>
                  <a:srgbClr val="D4D4D4"/>
                </a:solidFill>
                <a:latin typeface="Consolas"/>
              </a:rPr>
              <a:t>;   </a:t>
            </a:r>
            <a:r>
              <a:rPr sz="2000" i="1" b="0">
                <a:solidFill>
                  <a:srgbClr val="6A9955"/>
                </a:solidFill>
                <a:latin typeface="Consolas"/>
              </a:rPr>
              <a:t>-- rol de permisos, no de acceso</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ROLE</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D4D4D4"/>
                </a:solidFill>
                <a:latin typeface="Consolas"/>
              </a:rPr>
              <a:t>NOLOGIN</a:t>
            </a:r>
            <a:r>
              <a:rPr sz="2000" i="0" b="0">
                <a:solidFill>
                  <a:srgbClr val="D4D4D4"/>
                </a:solidFill>
                <a:latin typeface="Consolas"/>
              </a:rPr>
              <a:t>;           </a:t>
            </a:r>
            <a:r>
              <a:rPr sz="2000" i="1" b="0">
                <a:solidFill>
                  <a:srgbClr val="6A9955"/>
                </a:solidFill>
                <a:latin typeface="Consolas"/>
              </a:rPr>
              <a:t>-- solo leera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La recepcionista agenda: no lee historias clinicas ni toca facturas.</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UPDATE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USAGE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569CD6"/>
                </a:solidFill>
                <a:latin typeface="Consolas"/>
              </a:rPr>
              <a:t>SEQUENCE</a:t>
            </a:r>
            <a:r>
              <a:rPr sz="2000" i="0" b="0">
                <a:solidFill>
                  <a:srgbClr val="D4D4D4"/>
                </a:solidFill>
                <a:latin typeface="Consolas"/>
              </a:rPr>
              <a:t> </a:t>
            </a:r>
            <a:r>
              <a:rPr sz="2000" i="0" b="0">
                <a:solidFill>
                  <a:srgbClr val="D4D4D4"/>
                </a:solidFill>
                <a:latin typeface="Consolas"/>
              </a:rPr>
              <a:t>cita_id_cita_seq</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1" b="0">
                <a:solidFill>
                  <a:srgbClr val="6A9955"/>
                </a:solidFill>
                <a:latin typeface="Consolas"/>
              </a:rPr>
              <a:t>-- Sin USAGE en la secuencia, el INSERT falla: el SERIAL la necesita.</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la clínica: la matriz defendible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inimo-privileg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inimo-privileg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inimo-privilegi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inimo-privilegi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pide el minimo privilegio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paracion-func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paracion-func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paracion-func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a:t>
            </a:r>
          </a:p>
          <a:p>
            <a:pPr>
              <a:spcAft>
                <a:spcPts val="800"/>
              </a:spcAft>
            </a:pPr>
            <a:r>
              <a:rPr sz="2000" b="0" i="0">
                <a:solidFill>
                  <a:srgbClr val="333333"/>
                </a:solidFill>
                <a:latin typeface="Calibri"/>
              </a:rPr>
              <a:t>–   El ejemplo de la clínica es facil de contar: si la misma cuenta que emite una factura puede tambien borrarla.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ant-revok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rant-revok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rant-revok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grant-revok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a:t>
            </a:r>
          </a:p>
          <a:p>
            <a:pPr>
              <a:spcAft>
                <a:spcPts val="800"/>
              </a:spcAft>
            </a:pPr>
            <a:r>
              <a:rPr sz="2000" b="0" i="0">
                <a:solidFill>
                  <a:srgbClr val="333333"/>
                </a:solidFill>
                <a:latin typeface="Calibri"/>
              </a:rPr>
              <a:t>–   Luego GRANT SELECT ON dueno, mascota, veterinario TO recepcion, aprovechando que PostgreSQL acepta varias tablas en un mismo GRANT.</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ant-option-publi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rant-option-publi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rant-option-publi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a:t>
            </a:r>
          </a:p>
          <a:p>
            <a:pPr>
              <a:spcAft>
                <a:spcPts val="800"/>
              </a:spcAft>
            </a:pPr>
            <a:r>
              <a:rPr sz="2000" b="0" i="0">
                <a:solidFill>
                  <a:srgbClr val="333333"/>
                </a:solidFill>
                <a:latin typeface="Calibri"/>
              </a:rPr>
              <a:t>–   De hecho PostgreSQL rechaza el REVOKE si hay privilegios dependientes y obliga a escribir CASCADE.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48408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46483"/>
          </a:xfrm>
          <a:prstGeom prst="rect">
            <a:avLst/>
          </a:prstGeom>
          <a:noFill/>
        </p:spPr>
        <p:txBody>
          <a:bodyPr wrap="square">
            <a:spAutoFit/>
          </a:bodyPr>
          <a:lstStyle/>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UPDATE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1" b="0">
                <a:solidFill>
                  <a:srgbClr val="6A9955"/>
                </a:solidFill>
                <a:latin typeface="Consolas"/>
              </a:rPr>
              <a:t>-- quitar es tan explicito como dar</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PUBLIC es todo el mundo, presente y futuro. Casi nunca es lo que se quiere.</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ALL</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consulta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PUBLIC</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WITH GRANT OPTION deja que el que recibe vuelva a otorgar.</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569CD6"/>
                </a:solidFill>
                <a:latin typeface="Consolas"/>
              </a:rPr>
              <a:t>WITH</a:t>
            </a:r>
            <a:r>
              <a:rPr sz="2000" i="0" b="0">
                <a:solidFill>
                  <a:srgbClr val="D4D4D4"/>
                </a:solidFill>
                <a:latin typeface="Consolas"/>
              </a:rPr>
              <a:t> </a:t>
            </a:r>
            <a:r>
              <a:rPr sz="2000" i="0" b="0">
                <a:solidFill>
                  <a:srgbClr val="569CD6"/>
                </a:solidFill>
                <a:latin typeface="Consolas"/>
              </a:rPr>
              <a:t>GRANT</a:t>
            </a:r>
            <a:r>
              <a:rPr sz="2000" i="0" b="0">
                <a:solidFill>
                  <a:srgbClr val="D4D4D4"/>
                </a:solidFill>
                <a:latin typeface="Consolas"/>
              </a:rPr>
              <a:t> </a:t>
            </a:r>
            <a:r>
              <a:rPr sz="2000" i="0" b="0">
                <a:solidFill>
                  <a:srgbClr val="D4D4D4"/>
                </a:solidFill>
                <a:latin typeface="Consolas"/>
              </a:rPr>
              <a:t>OPTION</a:t>
            </a:r>
            <a:r>
              <a:rPr sz="2000" i="0" b="0">
                <a:solidFill>
                  <a:srgbClr val="D4D4D4"/>
                </a:solidFill>
                <a:latin typeface="Consolas"/>
              </a:rPr>
              <a:t>;</a:t>
            </a:r>
          </a:p>
          <a:p>
            <a:pPr>
              <a:spcAft>
                <a:spcPts val="428"/>
              </a:spcAft>
            </a:pPr>
            <a:r>
              <a:rPr sz="2000" i="1" b="0">
                <a:solidFill>
                  <a:srgbClr val="6A9955"/>
                </a:solidFill>
                <a:latin typeface="Consolas"/>
              </a:rPr>
              <a:t>-- auditor puede ahora hacer: GRANT SELECT ON cita TO cualquiera;</a:t>
            </a:r>
          </a:p>
          <a:p>
            <a:pPr>
              <a:spcAft>
                <a:spcPts val="428"/>
              </a:spcAft>
            </a:pPr>
            <a:r>
              <a:rPr sz="2000" i="1" b="0">
                <a:solidFill>
                  <a:srgbClr val="6A9955"/>
                </a:solidFill>
                <a:latin typeface="Consolas"/>
              </a:rPr>
              <a:t>-- Para deshacerlo hay que arrastrar lo que el concedio:</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auditor</a:t>
            </a:r>
            <a:r>
              <a:rPr sz="2000" i="0" b="0">
                <a:solidFill>
                  <a:srgbClr val="D4D4D4"/>
                </a:solidFill>
                <a:latin typeface="Consolas"/>
              </a:rPr>
              <a:t> </a:t>
            </a:r>
            <a:r>
              <a:rPr sz="2000" i="0" b="0">
                <a:solidFill>
                  <a:srgbClr val="569CD6"/>
                </a:solidFill>
                <a:latin typeface="Consolas"/>
              </a:rPr>
              <a:t>CASCADE</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ista-column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vista-column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vista-column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1" b="0">
                <a:solidFill>
                  <a:srgbClr val="6A9955"/>
                </a:solidFill>
                <a:latin typeface="Consolas"/>
              </a:rPr>
              <a:t>-- La recepcion necesita la agenda, no el motivo clinico de la consulta.</a:t>
            </a:r>
          </a:p>
          <a:p>
            <a:pPr>
              <a:spcAft>
                <a:spcPts val="407"/>
              </a:spcAft>
            </a:pPr>
            <a:r>
              <a:rPr sz="1900" i="0" b="0">
                <a:solidFill>
                  <a:srgbClr val="569CD6"/>
                </a:solidFill>
                <a:latin typeface="Consolas"/>
              </a:rPr>
              <a:t>CREATE</a:t>
            </a:r>
            <a:r>
              <a:rPr sz="1900" i="0" b="0">
                <a:solidFill>
                  <a:srgbClr val="D4D4D4"/>
                </a:solidFill>
                <a:latin typeface="Consolas"/>
              </a:rPr>
              <a:t> </a:t>
            </a:r>
            <a:r>
              <a:rPr sz="1900" i="0" b="0">
                <a:solidFill>
                  <a:srgbClr val="569CD6"/>
                </a:solidFill>
                <a:latin typeface="Consolas"/>
              </a:rPr>
              <a:t>VIEW</a:t>
            </a:r>
            <a:r>
              <a:rPr sz="1900" i="0" b="0">
                <a:solidFill>
                  <a:srgbClr val="D4D4D4"/>
                </a:solidFill>
                <a:latin typeface="Consolas"/>
              </a:rPr>
              <a:t> </a:t>
            </a:r>
            <a:r>
              <a:rPr sz="1900" i="0" b="0">
                <a:solidFill>
                  <a:srgbClr val="D4D4D4"/>
                </a:solidFill>
                <a:latin typeface="Consolas"/>
              </a:rPr>
              <a:t>v_agenda_dia</a:t>
            </a:r>
            <a:r>
              <a:rPr sz="1900" i="0" b="0">
                <a:solidFill>
                  <a:srgbClr val="D4D4D4"/>
                </a:solidFill>
                <a:latin typeface="Consolas"/>
              </a:rPr>
              <a:t> </a:t>
            </a:r>
            <a:r>
              <a:rPr sz="1900" i="0" b="0">
                <a:solidFill>
                  <a:srgbClr val="569CD6"/>
                </a:solidFill>
                <a:latin typeface="Consolas"/>
              </a:rPr>
              <a:t>AS</a:t>
            </a:r>
          </a:p>
          <a:p>
            <a:pPr>
              <a:spcAft>
                <a:spcPts val="407"/>
              </a:spcAft>
            </a:pP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id_cita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fecha_hora</a:t>
            </a:r>
            <a:r>
              <a:rPr sz="1900" i="0" b="0">
                <a:solidFill>
                  <a:srgbClr val="D4D4D4"/>
                </a:solidFill>
                <a:latin typeface="Consolas"/>
              </a:rPr>
              <a:t>,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estado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a:t>
            </a:r>
            <a:r>
              <a:rPr sz="1900" i="0" b="0">
                <a:solidFill>
                  <a:srgbClr val="569CD6"/>
                </a:solidFill>
                <a:latin typeface="Consolas"/>
              </a:rPr>
              <a:t>AS</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telefono</a:t>
            </a:r>
          </a:p>
          <a:p>
            <a:pPr>
              <a:spcAft>
                <a:spcPts val="407"/>
              </a:spcAft>
            </a:pPr>
            <a:r>
              <a:rPr sz="1900" i="0" b="0">
                <a:solidFill>
                  <a:srgbClr val="569CD6"/>
                </a:solidFill>
                <a:latin typeface="Consolas"/>
              </a:rPr>
              <a:t>FROM</a:t>
            </a:r>
            <a:r>
              <a:rPr sz="1900" i="0" b="0">
                <a:solidFill>
                  <a:srgbClr val="D4D4D4"/>
                </a:solidFill>
                <a:latin typeface="Consolas"/>
              </a:rPr>
              <a:t> </a:t>
            </a:r>
            <a:r>
              <a:rPr sz="1900" i="0" b="0">
                <a:solidFill>
                  <a:srgbClr val="D4D4D4"/>
                </a:solidFill>
                <a:latin typeface="Consolas"/>
              </a:rPr>
              <a:t>cita</a:t>
            </a:r>
            <a:r>
              <a:rPr sz="1900" i="0" b="0">
                <a:solidFill>
                  <a:srgbClr val="D4D4D4"/>
                </a:solidFill>
                <a:latin typeface="Consolas"/>
              </a:rPr>
              <a:t> </a:t>
            </a:r>
            <a:r>
              <a:rPr sz="1900" i="0" b="0">
                <a:solidFill>
                  <a:srgbClr val="D4D4D4"/>
                </a:solidFill>
                <a:latin typeface="Consolas"/>
              </a:rPr>
              <a:t>c</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id_mascota</a:t>
            </a:r>
            <a:r>
              <a:rPr sz="1900" i="0" b="0">
                <a:solidFill>
                  <a:srgbClr val="D4D4D4"/>
                </a:solidFill>
                <a:latin typeface="Consolas"/>
              </a:rPr>
              <a:t> = </a:t>
            </a:r>
            <a:r>
              <a:rPr sz="1900" i="0" b="0">
                <a:solidFill>
                  <a:srgbClr val="D4D4D4"/>
                </a:solidFill>
                <a:latin typeface="Consolas"/>
              </a:rPr>
              <a:t>c</a:t>
            </a:r>
            <a:r>
              <a:rPr sz="1900" i="0" b="0">
                <a:solidFill>
                  <a:srgbClr val="D4D4D4"/>
                </a:solidFill>
                <a:latin typeface="Consolas"/>
              </a:rPr>
              <a:t>.</a:t>
            </a:r>
            <a:r>
              <a:rPr sz="1900" i="0" b="0">
                <a:solidFill>
                  <a:srgbClr val="D4D4D4"/>
                </a:solidFill>
                <a:latin typeface="Consolas"/>
              </a:rPr>
              <a:t>id_mascota</a:t>
            </a:r>
          </a:p>
          <a:p>
            <a:pPr>
              <a:spcAft>
                <a:spcPts val="407"/>
              </a:spcAft>
            </a:pPr>
            <a:r>
              <a:rPr sz="1900" i="0" b="0">
                <a:solidFill>
                  <a:srgbClr val="569CD6"/>
                </a:solidFill>
                <a:latin typeface="Consolas"/>
              </a:rPr>
              <a:t>JOIN</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d</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   = </a:t>
            </a:r>
            <a:r>
              <a:rPr sz="1900" i="0" b="0">
                <a:solidFill>
                  <a:srgbClr val="D4D4D4"/>
                </a:solidFill>
                <a:latin typeface="Consolas"/>
              </a:rPr>
              <a:t>m</a:t>
            </a:r>
            <a:r>
              <a:rPr sz="1900" i="0" b="0">
                <a:solidFill>
                  <a:srgbClr val="D4D4D4"/>
                </a:solidFill>
                <a:latin typeface="Consolas"/>
              </a:rPr>
              <a:t>.</a:t>
            </a:r>
            <a:r>
              <a:rPr sz="1900" i="0" b="0">
                <a:solidFill>
                  <a:srgbClr val="D4D4D4"/>
                </a:solidFill>
                <a:latin typeface="Consolas"/>
              </a:rPr>
              <a:t>id_dueno</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SELECT</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v_agenda_dia</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O el privilegio acotado a columnas, sin crear objeto nuevo:</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SELECT</a:t>
            </a:r>
            <a:r>
              <a:rPr sz="1900" i="0" b="0">
                <a:solidFill>
                  <a:srgbClr val="D4D4D4"/>
                </a:solidFill>
                <a:latin typeface="Consolas"/>
              </a:rPr>
              <a:t> (</a:t>
            </a:r>
            <a:r>
              <a:rPr sz="1900" i="0" b="0">
                <a:solidFill>
                  <a:srgbClr val="D4D4D4"/>
                </a:solidFill>
                <a:latin typeface="Consolas"/>
              </a:rPr>
              <a:t>id_mascota</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a:p>
            <a:pPr>
              <a:spcAft>
                <a:spcPts val="407"/>
              </a:spcAft>
            </a:pPr>
            <a:r>
              <a:rPr sz="1900" i="0" b="0">
                <a:solidFill>
                  <a:srgbClr val="569CD6"/>
                </a:solidFill>
                <a:latin typeface="Consolas"/>
              </a:rPr>
              <a:t>GRANT</a:t>
            </a:r>
            <a:r>
              <a:rPr sz="1900" i="0" b="0">
                <a:solidFill>
                  <a:srgbClr val="D4D4D4"/>
                </a:solidFill>
                <a:latin typeface="Consolas"/>
              </a:rPr>
              <a:t> </a:t>
            </a:r>
            <a:r>
              <a:rPr sz="1900" i="0" b="0">
                <a:solidFill>
                  <a:srgbClr val="569CD6"/>
                </a:solidFill>
                <a:latin typeface="Consolas"/>
              </a:rPr>
              <a:t>UPDATE</a:t>
            </a:r>
            <a:r>
              <a:rPr sz="1900" i="0" b="0">
                <a:solidFill>
                  <a:srgbClr val="D4D4D4"/>
                </a:solidFill>
                <a:latin typeface="Consolas"/>
              </a:rPr>
              <a:t> (</a:t>
            </a:r>
            <a:r>
              <a:rPr sz="1900" i="0" b="0">
                <a:solidFill>
                  <a:srgbClr val="D4D4D4"/>
                </a:solidFill>
                <a:latin typeface="Consolas"/>
              </a:rPr>
              <a:t>telefono</a:t>
            </a:r>
            <a:r>
              <a:rPr sz="1900" i="0" b="0">
                <a:solidFill>
                  <a:srgbClr val="D4D4D4"/>
                </a:solidFill>
                <a:latin typeface="Consolas"/>
              </a:rPr>
              <a:t>, </a:t>
            </a:r>
            <a:r>
              <a:rPr sz="1900" i="0" b="0">
                <a:solidFill>
                  <a:srgbClr val="D4D4D4"/>
                </a:solidFill>
                <a:latin typeface="Consolas"/>
              </a:rPr>
              <a:t>email</a:t>
            </a: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569CD6"/>
                </a:solidFill>
                <a:latin typeface="Consolas"/>
              </a:rPr>
              <a:t>TO</a:t>
            </a:r>
            <a:r>
              <a:rPr sz="1900" i="0" b="0">
                <a:solidFill>
                  <a:srgbClr val="D4D4D4"/>
                </a:solidFill>
                <a:latin typeface="Consolas"/>
              </a:rPr>
              <a:t> </a:t>
            </a:r>
            <a:r>
              <a:rPr sz="1900" i="0" b="0">
                <a:solidFill>
                  <a:srgbClr val="D4D4D4"/>
                </a:solidFill>
                <a:latin typeface="Consolas"/>
              </a:rPr>
              <a:t>recepcion</a:t>
            </a:r>
            <a:r>
              <a:rPr sz="19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-- 1) La vista deja fuera el email y las citas canceladas</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VIEW</a:t>
            </a:r>
            <a:r>
              <a:rPr sz="2000" i="0" b="0">
                <a:solidFill>
                  <a:srgbClr val="D4D4D4"/>
                </a:solidFill>
                <a:latin typeface="Consolas"/>
              </a:rPr>
              <a:t> </a:t>
            </a:r>
            <a:r>
              <a:rPr sz="2000" i="0" b="0">
                <a:solidFill>
                  <a:srgbClr val="D4D4D4"/>
                </a:solidFill>
                <a:latin typeface="Consolas"/>
              </a:rPr>
              <a:t>v_agenda_recepcion</a:t>
            </a:r>
            <a:r>
              <a:rPr sz="2000" i="0" b="0">
                <a:solidFill>
                  <a:srgbClr val="D4D4D4"/>
                </a:solidFill>
                <a:latin typeface="Consolas"/>
              </a:rPr>
              <a:t> </a:t>
            </a:r>
            <a:r>
              <a:rPr sz="2000" i="0" b="0">
                <a:solidFill>
                  <a:srgbClr val="569CD6"/>
                </a:solidFill>
                <a:latin typeface="Consolas"/>
              </a:rPr>
              <a:t>AS</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telefono</a:t>
            </a:r>
          </a:p>
          <a:p>
            <a:pPr>
              <a:spcAft>
                <a:spcPts val="428"/>
              </a:spcAft>
            </a:pP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 </a:t>
            </a: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id_mascota</a:t>
            </a:r>
            <a:r>
              <a:rPr sz="2000" i="0" b="0">
                <a:solidFill>
                  <a:srgbClr val="D4D4D4"/>
                </a:solidFill>
                <a:latin typeface="Consolas"/>
              </a:rPr>
              <a:t> =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id_mascota</a:t>
            </a:r>
          </a:p>
          <a:p>
            <a:pPr>
              <a:spcAft>
                <a:spcPts val="428"/>
              </a:spcAft>
            </a:pPr>
            <a:r>
              <a:rPr sz="2000" i="0" b="0">
                <a:solidFill>
                  <a:srgbClr val="D4D4D4"/>
                </a:solidFill>
                <a:latin typeface="Consolas"/>
              </a:rPr>
              <a:t>  </a:t>
            </a: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id_dueno</a:t>
            </a:r>
            <a:r>
              <a:rPr sz="2000" i="0" b="0">
                <a:solidFill>
                  <a:srgbClr val="D4D4D4"/>
                </a:solidFill>
                <a:latin typeface="Consolas"/>
              </a:rPr>
              <a:t> =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id_dueno</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estado</a:t>
            </a:r>
            <a:r>
              <a:rPr sz="2000" i="0" b="0">
                <a:solidFill>
                  <a:srgbClr val="D4D4D4"/>
                </a:solidFill>
                <a:latin typeface="Consolas"/>
              </a:rPr>
              <a:t> &lt;&gt; </a:t>
            </a:r>
            <a:r>
              <a:rPr sz="2000" i="0" b="0">
                <a:solidFill>
                  <a:srgbClr val="CE9178"/>
                </a:solidFill>
                <a:latin typeface="Consolas"/>
              </a:rPr>
              <a:t>'CANCELADA'</a:t>
            </a:r>
            <a:r>
              <a:rPr sz="2000" i="0" b="0">
                <a:solidFill>
                  <a:srgbClr val="D4D4D4"/>
                </a:solidFill>
                <a:latin typeface="Consolas"/>
              </a:rPr>
              <a:t>;</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v_agenda_recepcion</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a:t>
            </a:r>
          </a:p>
          <a:p>
            <a:pPr>
              <a:spcAft>
                <a:spcPts val="428"/>
              </a:spcAft>
            </a:pPr>
            <a:r>
              <a:rPr sz="2000" i="0" b="0">
                <a:solidFill>
                  <a:srgbClr val="569CD6"/>
                </a:solidFill>
                <a:latin typeface="Consolas"/>
              </a:rPr>
              <a:t>REVOKE</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recepcion</a:t>
            </a:r>
            <a:r>
              <a:rPr sz="2000" i="0" b="0">
                <a:solidFill>
                  <a:srgbClr val="D4D4D4"/>
                </a:solidFill>
                <a:latin typeface="Consolas"/>
              </a:rPr>
              <a:t>;   </a:t>
            </a:r>
            <a:r>
              <a:rPr sz="2000" i="1" b="0">
                <a:solidFill>
                  <a:srgbClr val="6A9955"/>
                </a:solidFill>
                <a:latin typeface="Consolas"/>
              </a:rPr>
              <a:t>-- solo llega por la vista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-- 2) O se recorta la tabla columna por columna</a:t>
            </a:r>
          </a:p>
          <a:p>
            <a:pPr>
              <a:spcAft>
                <a:spcPts val="428"/>
              </a:spcAft>
            </a:pPr>
            <a:r>
              <a:rPr sz="2000" i="0" b="0">
                <a:solidFill>
                  <a:srgbClr val="569CD6"/>
                </a:solidFill>
                <a:latin typeface="Consolas"/>
              </a:rPr>
              <a:t>GRANT</a:t>
            </a: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D4D4D4"/>
                </a:solidFill>
                <a:latin typeface="Consolas"/>
              </a:rPr>
              <a:t>veterinario_rol</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 GRANT no es todo-o-nada: la vista recorta filas y columnas, y el privilegio por columna recorta columnas sin crear objeto nuevo.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formation-schem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formation-schem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formation-schem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Lo que el motor dice que concedio, que no siempre es lo que se creia.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privilege_type</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information_schema</a:t>
            </a:r>
            <a:r>
              <a:rPr sz="2000" i="0" b="0">
                <a:solidFill>
                  <a:srgbClr val="D4D4D4"/>
                </a:solidFill>
                <a:latin typeface="Consolas"/>
              </a:rPr>
              <a:t>.</a:t>
            </a:r>
            <a:r>
              <a:rPr sz="2000" i="0" b="0">
                <a:solidFill>
                  <a:srgbClr val="D4D4D4"/>
                </a:solidFill>
                <a:latin typeface="Consolas"/>
              </a:rPr>
              <a:t>role_table_grants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569CD6"/>
                </a:solidFill>
                <a:latin typeface="Consolas"/>
              </a:rPr>
              <a:t>IN</a:t>
            </a:r>
            <a:r>
              <a:rPr sz="2000" i="0" b="0">
                <a:solidFill>
                  <a:srgbClr val="D4D4D4"/>
                </a:solidFill>
                <a:latin typeface="Consolas"/>
              </a:rPr>
              <a:t> (</a:t>
            </a:r>
            <a:r>
              <a:rPr sz="2000" i="0" b="0">
                <a:solidFill>
                  <a:srgbClr val="CE9178"/>
                </a:solidFill>
                <a:latin typeface="Consolas"/>
              </a:rPr>
              <a:t>'recepcion'</a:t>
            </a:r>
            <a:r>
              <a:rPr sz="2000" i="0" b="0">
                <a:solidFill>
                  <a:srgbClr val="D4D4D4"/>
                </a:solidFill>
                <a:latin typeface="Consolas"/>
              </a:rPr>
              <a:t>,</a:t>
            </a:r>
            <a:r>
              <a:rPr sz="2000" i="0" b="0">
                <a:solidFill>
                  <a:srgbClr val="CE9178"/>
                </a:solidFill>
                <a:latin typeface="Consolas"/>
              </a:rPr>
              <a:t>'veterinario_rol'</a:t>
            </a:r>
            <a:r>
              <a:rPr sz="2000" i="0" b="0">
                <a:solidFill>
                  <a:srgbClr val="D4D4D4"/>
                </a:solidFill>
                <a:latin typeface="Consolas"/>
              </a:rPr>
              <a:t>,</a:t>
            </a:r>
            <a:r>
              <a:rPr sz="2000" i="0" b="0">
                <a:solidFill>
                  <a:srgbClr val="CE9178"/>
                </a:solidFill>
                <a:latin typeface="Consolas"/>
              </a:rPr>
              <a:t>'auditor'</a:t>
            </a:r>
            <a:r>
              <a:rPr sz="2000" i="0" b="0">
                <a:solidFill>
                  <a:srgbClr val="D4D4D4"/>
                </a:solidFill>
                <a:latin typeface="Consolas"/>
              </a:rPr>
              <a:t>)</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privilege_type</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Y los privilegios por columna, que la consulta anterior no muestra: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column_name</a:t>
            </a:r>
            <a:r>
              <a:rPr sz="2000" i="0" b="0">
                <a:solidFill>
                  <a:srgbClr val="D4D4D4"/>
                </a:solidFill>
                <a:latin typeface="Consolas"/>
              </a:rPr>
              <a:t>, </a:t>
            </a:r>
            <a:r>
              <a:rPr sz="2000" i="0" b="0">
                <a:solidFill>
                  <a:srgbClr val="D4D4D4"/>
                </a:solidFill>
                <a:latin typeface="Consolas"/>
              </a:rPr>
              <a:t>privilege_type</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information_schema</a:t>
            </a:r>
            <a:r>
              <a:rPr sz="2000" i="0" b="0">
                <a:solidFill>
                  <a:srgbClr val="D4D4D4"/>
                </a:solidFill>
                <a:latin typeface="Consolas"/>
              </a:rPr>
              <a:t>.</a:t>
            </a:r>
            <a:r>
              <a:rPr sz="2000" i="0" b="0">
                <a:solidFill>
                  <a:srgbClr val="D4D4D4"/>
                </a:solidFill>
                <a:latin typeface="Consolas"/>
              </a:rPr>
              <a:t>column_privileges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grantee</a:t>
            </a:r>
            <a:r>
              <a:rPr sz="2000" i="0" b="0">
                <a:solidFill>
                  <a:srgbClr val="D4D4D4"/>
                </a:solidFill>
                <a:latin typeface="Consolas"/>
              </a:rPr>
              <a:t> = </a:t>
            </a:r>
            <a:r>
              <a:rPr sz="2000" i="0" b="0">
                <a:solidFill>
                  <a:srgbClr val="CE9178"/>
                </a:solidFill>
                <a:latin typeface="Consolas"/>
              </a:rPr>
              <a:t>'recepcion'</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table_name</a:t>
            </a:r>
            <a:r>
              <a:rPr sz="2000" i="0" b="0">
                <a:solidFill>
                  <a:srgbClr val="D4D4D4"/>
                </a:solidFill>
                <a:latin typeface="Consolas"/>
              </a:rPr>
              <a:t>, </a:t>
            </a:r>
            <a:r>
              <a:rPr sz="2000" i="0" b="0">
                <a:solidFill>
                  <a:srgbClr val="D4D4D4"/>
                </a:solidFill>
                <a:latin typeface="Consolas"/>
              </a:rPr>
              <a:t>column_name</a:t>
            </a:r>
            <a:r>
              <a:rPr sz="2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tas-baj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ltas-baj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ltas-baj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politica de altas y bajas documenta el ciclo de vida de una cuenta.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a:t>
            </a:r>
          </a:p>
          <a:p>
            <a:pPr>
              <a:spcAft>
                <a:spcPts val="800"/>
              </a:spcAft>
            </a:pPr>
            <a:r>
              <a:rPr sz="2000" b="0" i="0">
                <a:solidFill>
                  <a:srgbClr val="333333"/>
                </a:solidFill>
                <a:latin typeface="Calibri"/>
              </a:rPr>
              <a:t>–   Y la politica vale precisamente porque fija responsables y plazos concretos en lugar de generalidades.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 la cuenta nace con </a:t>
            </a:r>
            <a:r>
              <a:rPr sz="2000" b="1" i="0">
                <a:solidFill>
                  <a:srgbClr val="333333"/>
                </a:solidFill>
                <a:latin typeface="Calibri"/>
              </a:rPr>
              <a:t>un solo rol</a:t>
            </a:r>
            <a:r>
              <a:rPr sz="2000" b="0" i="0">
                <a:solidFill>
                  <a:srgbClr val="333333"/>
                </a:solidFill>
                <a:latin typeface="Calibri"/>
              </a:rPr>
              <a:t> y con credencial temporal que caduca en el primer ingreso.</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 los permisos </a:t>
            </a:r>
            <a:r>
              <a:rPr sz="2000" b="1" i="0">
                <a:solidFill>
                  <a:srgbClr val="333333"/>
                </a:solidFill>
                <a:latin typeface="Calibri"/>
              </a:rPr>
              <a:t>no se acumulan</a:t>
            </a:r>
            <a:r>
              <a:rPr sz="2000" b="0" i="0">
                <a:solidFill>
                  <a:srgbClr val="333333"/>
                </a:solidFill>
                <a:latin typeface="Calibri"/>
              </a:rPr>
              <a:t>. Quien pasa de recepcion a auditoria y conserva los dos termina auditando lo que el mismo modifica.</a:t>
            </a:r>
          </a:p>
          <a:p>
            <a:pPr>
              <a:spcAft>
                <a:spcPts val="800"/>
              </a:spcAft>
            </a:pPr>
            <a:r>
              <a:rPr sz="2000" b="0" i="0">
                <a:solidFill>
                  <a:srgbClr val="333333"/>
                </a:solidFill>
                <a:latin typeface="Calibri"/>
              </a:rPr>
              <a:t>–   </a:t>
            </a:r>
            <a:r>
              <a:rPr sz="2000" b="1" i="0">
                <a:solidFill>
                  <a:srgbClr val="333333"/>
                </a:solidFill>
                <a:latin typeface="Calibri"/>
              </a:rPr>
              <a:t>3. Baja: el mismo dia.</a:t>
            </a:r>
            <a:r>
              <a:rPr sz="2000" b="0" i="0">
                <a:solidFill>
                  <a:srgbClr val="333333"/>
                </a:solidFill>
                <a:latin typeface="Calibri"/>
              </a:rPr>
              <a:t> Revocar los roles, dejar la cuenta sin login y </a:t>
            </a:r>
            <a:r>
              <a:rPr sz="2000" b="1" i="0">
                <a:solidFill>
                  <a:srgbClr val="333333"/>
                </a:solidFill>
                <a:latin typeface="Calibri"/>
              </a:rPr>
              <a:t>reasignar los objetos antes de borrar el rol</a:t>
            </a:r>
            <a:r>
              <a:rPr sz="2000" b="0" i="0">
                <a:solidFill>
                  <a:srgbClr val="333333"/>
                </a:solidFill>
                <a:latin typeface="Calibri"/>
              </a:rPr>
              <a:t> («REASSIGN OWNED BY ... TO admin_bd»): PostgreSQL no deja hacer «DROP ROLE» de un rol que todavia posee objetos. Lo que esto evita es la </a:t>
            </a:r>
            <a:r>
              <a:rPr sz="2000" b="1" i="0">
                <a:solidFill>
                  <a:srgbClr val="333333"/>
                </a:solidFill>
                <a:latin typeface="Calibri"/>
              </a:rPr>
              <a:t>cuenta huerfana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 Sin cuentas compartidas: si tres personas entran como «recepcion1», la auditoria no puede decir quien cancelo la cita.</a:t>
            </a:r>
          </a:p>
          <a:p>
            <a:pPr>
              <a:spcAft>
                <a:spcPts val="800"/>
              </a:spcAft>
            </a:pPr>
            <a:r>
              <a:rPr sz="2000" b="0" i="0">
                <a:solidFill>
                  <a:srgbClr val="333333"/>
                </a:solidFill>
                <a:latin typeface="Calibri"/>
              </a:rPr>
              <a:t>–   </a:t>
            </a:r>
            <a:r>
              <a:rPr sz="2000" b="1" i="0">
                <a:solidFill>
                  <a:srgbClr val="333333"/>
                </a:solidFill>
                <a:latin typeface="Calibri"/>
              </a:rPr>
              <a:t>5. Probar que el permiso NO esta.</a:t>
            </a:r>
            <a:r>
              <a:rPr sz="2000" b="0" i="0">
                <a:solidFill>
                  <a:srgbClr val="333333"/>
                </a:solidFill>
                <a:latin typeface="Calibri"/>
              </a:rPr>
              <a:t> No hace falta otra conexion (aqui hay un solo usuario con login): «SET ROLE recepcion;» cambia el rol efectivo, y ahi «DELETE FROM cita ...» debe responder </a:t>
            </a:r>
            <a:r>
              <a:rPr sz="2000" b="1" i="0">
                <a:solidFill>
                  <a:srgbClr val="333333"/>
                </a:solidFill>
                <a:latin typeface="Calibri"/>
              </a:rPr>
              <a:t>permission denied</a:t>
            </a:r>
            <a:r>
              <a:rPr sz="2000" b="0" i="0">
                <a:solidFill>
                  <a:srgbClr val="333333"/>
                </a:solidFill>
                <a:latin typeface="Calibri"/>
              </a:rPr>
              <a:t>. Se cierra con «RESET ROLE;». Si el entorno no deja cambiar de rol, se documenta el intento: eso es una </a:t>
            </a:r>
            <a:r>
              <a:rPr sz="2000" b="1" i="0">
                <a:solidFill>
                  <a:srgbClr val="333333"/>
                </a:solidFill>
                <a:latin typeface="Calibri"/>
              </a:rPr>
              <a:t>brecha de verificacion</a:t>
            </a:r>
            <a:r>
              <a:rPr sz="2000" b="0" i="0">
                <a:solidFill>
                  <a:srgbClr val="333333"/>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t-role-prueb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t-role-prueb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t-role-prueb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triz-dec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triz-dec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triz-dec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 y en cada celda las acciones permitidas con la notacion abreviada.</a:t>
            </a:r>
          </a:p>
          <a:p>
            <a:pPr>
              <a:spcAft>
                <a:spcPts val="800"/>
              </a:spcAft>
            </a:pPr>
            <a:r>
              <a:rPr sz="2000" b="0" i="0">
                <a:solidFill>
                  <a:srgbClr val="333333"/>
                </a:solidFill>
                <a:latin typeface="Calibri"/>
              </a:rPr>
              <a:t>–   Lo exigible para la clínica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de hoy no es una isla.</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a:t>
            </a:r>
          </a:p>
          <a:p>
            <a:pPr>
              <a:spcAft>
                <a:spcPts val="800"/>
              </a:spcAft>
            </a:pPr>
            <a:r>
              <a:rPr sz="2000" b="0" i="0">
                <a:solidFill>
                  <a:srgbClr val="333333"/>
                </a:solidFill>
                <a:latin typeface="Calibri"/>
              </a:rPr>
              <a:t>–   La Clase 4 agrega disparadores de auditoria y el plan de respaldo.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la clínica con CREATE ROLE/GRANT/REVOKE, verificados con information_schema.role_table_grants.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con «SET ROLE recepcion» el «DELETE» responde permission denied, y «information_schema.role_table_grants» muestra la matriz real que dejo cada GRANT.</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vista entrega a recepcion la agenda sin el email del dueno: el privilegio por columna recorta lo que se 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