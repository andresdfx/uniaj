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Administrar una base de datos es decidir quién puede hacer qué sobre cada objeto, y dejar rastro de quién lo hizo. Para hablar de eso sin enredarse hacen falta cuatro palabras: objeto, esquema, privilegio y rol.</a:t>
            </a:r>
          </a:p>
          <a:p/>
          <a:p>
            <a:r>
              <a:t>CÓMO DARLA (≈4 min):</a:t>
            </a:r>
          </a:p>
          <a:p>
            <a:r>
              <a:t>  • Al entrar: Los objetos: cita (tabla), v_agenda (vista), sp_agendar (procedimiento), seq_cita (secuencia). «Objeto es todo lo que el motor guarda con nombre».</a:t>
            </a:r>
          </a:p>
          <a:p>
            <a:r>
              <a:t>  • Clic 1: Aparece el esquema public que los contiene: el nombre completo de la tabla es public.cita.</a:t>
            </a:r>
          </a:p>
          <a:p>
            <a:r>
              <a:t>  • Clic 2: El privilegio: SELECT sobre cita. «Es la unidad más pequeña de permiso, siempre sobre un objeto concreto».</a:t>
            </a:r>
          </a:p>
          <a:p>
            <a:r>
              <a:t>  • Clic 3: El rol recepcion, que agrupa privilegios. Lee la frase final: quién puede hacer qué sobre cada objeto, y dejar rastro.</a:t>
            </a:r>
          </a:p>
          <a:p/>
          <a:p>
            <a:r>
              <a:t>EJEMPLO: SELECT * FROM public.cita y SELECT * FROM cita son la misma consulta: el motor busca primero en public.</a:t>
            </a:r>
          </a:p>
          <a:p/>
          <a:p>
            <a:r>
              <a:t>SI PREGUNTAN:</a:t>
            </a:r>
          </a:p>
          <a:p>
            <a:r>
              <a:t>  • «¿Autenticación y autorización no son lo mismo?» → No. Autenticación es probar quién eres (usuario y clave). Autorización es decidir qué puedes hacer ya dentro. Alguien puede entrar perfectamente y no tener permiso para leer una sola fila.</a:t>
            </a:r>
          </a:p>
          <a:p>
            <a:r>
              <a:t>  • «En Oracle el esquema era el usuario, ¿aquí también?» → No. En PostgreSQL esquema y usuario son cosas separadas: un esquema puede tener objetos de varios dueños.</a:t>
            </a:r>
          </a:p>
          <a:p/>
          <a:p>
            <a:r>
              <a:t>CUIDADO: No digas «creo un privilegio» ni «le doy el rol a la tabla»: los privilegios ya vienen definidos por el motor; lo único que se crea son roles, y los privilegios se otorgan o se retiran.</a:t>
            </a:r>
          </a:p>
          <a:p/>
          <a:p>
            <a:r>
              <a:t>PASA A LA SIGUIENTE: Miremos de cerca el privilegio y la frontera que más importa: DDL contra DML.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privilegio es el permiso más pequeño que el motor otorga o quita. En PostgreSQL hay que separar dos cosas: los privilegios sobre objetos, que se dan con GRANT, y los atributos del rol, como LOGIN, que se escriben al crearlo. Y una frontera práctica: DDL cambia la estructura, DML lee o cambia datos.</a:t>
            </a:r>
          </a:p>
          <a:p/>
          <a:p>
            <a:r>
              <a:t>CÓMO DARLA (≈3 min):</a:t>
            </a:r>
          </a:p>
          <a:p>
            <a:r>
              <a:t>  • Al entrar: Dos columnas. Izquierda, privilegios de objeto: SELECT, INSERT, UPDATE, DELETE, TRUNCATE, REFERENCES, TRIGGER, que se otorgan con GRANT. Derecha, atributos de rol: LOGIN, CREATEDB, CREATEROLE, SUPERUSER, que van en CREATE ROLE o ALTER ROLE.</a:t>
            </a:r>
          </a:p>
          <a:p>
            <a:r>
              <a:t>  • Clic 1: La frontera: DDL (CREATE, ALTER, DROP, TRUNCATE) cambia la estructura; DML (SELECT, INSERT, UPDATE, DELETE) toca los datos. «Quien opera datos no necesita DDL».</a:t>
            </a:r>
          </a:p>
          <a:p/>
          <a:p>
            <a:r>
              <a:t>EJEMPLO: Si la cuenta de recepción pudiera ejecutar DROP TABLE cita, un error de copiar y pegar borra la agenda completa, y ningún respaldo de anoche devuelve las citas agendadas hoy.</a:t>
            </a:r>
          </a:p>
          <a:p/>
          <a:p>
            <a:r>
              <a:t>SI PREGUNTAN:</a:t>
            </a:r>
          </a:p>
          <a:p>
            <a:r>
              <a:t>  • «¿Cómo le doy permiso de ALTER TABLE a alguien?» → No existe como privilegio de GRANT: cambiar la estructura de una tabla lo puede hacer su dueño. Por eso el DDL queda en admin_bd.</a:t>
            </a:r>
          </a:p>
          <a:p>
            <a:r>
              <a:t>  • «Encontré GRANT CREATE SESSION en internet.» → Es de Oracle. En PostgreSQL poder conectarse es el atributo LOGIN del rol.</a:t>
            </a:r>
          </a:p>
          <a:p/>
          <a:p>
            <a:r>
              <a:t>CUIDADO: TRUNCATE aparece en las dos listas: es un privilegio de tabla que se da con GRANT, y a la vez vacía la tabla entera; no se le da a ningún rol operativo.</a:t>
            </a:r>
          </a:p>
          <a:p/>
          <a:p>
            <a:r>
              <a:t>PASA A LA SIGUIENTE: Dar privilegios uno por uno a cada persona no escala. Para eso existe el 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rol existe por una razón aritmética. La clínica tiene diez objetos que proteger y doce empleados; dar permisos cuenta por cuenta son cientos de sentencias, y cuando cambia una regla hay que acordarse de tocar las doce. Con un rol se define el paquete una vez y se corrige en un solo lugar: el rol no ahorra tipeo, ahorra olvidos.</a:t>
            </a:r>
          </a:p>
          <a:p/>
          <a:p>
            <a:r>
              <a:t>CÓMO DARLA (≈2 min):</a:t>
            </a:r>
          </a:p>
          <a:p>
            <a:r>
              <a:t>  • Al entrar: Cuenta por cuenta: doce personas, cada una con líneas hacia los diez objetos. «Un cambio de regla obliga a tocar doce cuentas sin olvidar ninguna».</a:t>
            </a:r>
          </a:p>
          <a:p>
            <a:r>
              <a:t>  • Clic 1: Con un rol: los mismos diez objetos, un solo rol recepcion, y doce GRANT recepcion TO usuario.</a:t>
            </a:r>
          </a:p>
          <a:p>
            <a:r>
              <a:t>  • Clic 2: El REVOKE sobre el rol corrige a los doce en el mismo instante.</a:t>
            </a:r>
          </a:p>
          <a:p/>
          <a:p>
            <a:r>
              <a:t>EJEMPLO: Ocho tablas más dos procedimientos son diez objetos; con hasta cinco acciones por objeto, la matriz tiene 50 celdas por decidir. Cuando entra una recepcionista nueva, su alta es GRANT recepcion TO nueva_persona; cuando se va, REVOKE recepcion FROM nueva_persona.</a:t>
            </a:r>
          </a:p>
          <a:p/>
          <a:p>
            <a:r>
              <a:t>SI PREGUNTAN:</a:t>
            </a:r>
          </a:p>
          <a:p>
            <a:r>
              <a:t>  • «¿Un usuario puede tener dos roles?» → Sí, y hereda la suma de los dos. Por eso al cambiar de función hay que revocar el rol anterior.</a:t>
            </a:r>
          </a:p>
          <a:p/>
          <a:p>
            <a:r>
              <a:t>CUIDADO: Los olvidos en permisos son los que producen incidentes: ese es el argumento, no la comodidad.</a:t>
            </a:r>
          </a:p>
          <a:p/>
          <a:p>
            <a:r>
              <a:t>PASA A LA SIGUIENTE: En PostgreSQL hay un detalle que lo cambia todo: usuario y rol son lo mismo.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En PostgreSQL no hay usuarios por un lado y roles por otro: todo es un rol. Un rol con LOGIN puede conectarse y lo llamamos usuario; un rol sin LOGIN es una bolsa de permisos. Por eso los roles de cargo se crean NOLOGIN y la persona, con LOGIN, recibe la bolsa.</a:t>
            </a:r>
          </a:p>
          <a:p/>
          <a:p>
            <a:r>
              <a:t>CÓMO DARLA (≈3 min):</a:t>
            </a:r>
          </a:p>
          <a:p>
            <a:r>
              <a:t>  • Al entrar: CREATE USER ana_gomez es lo mismo que CREATE ROLE ana_gomez LOGIN: un alias, el mismo objeto.</a:t>
            </a:r>
          </a:p>
          <a:p>
            <a:r>
              <a:t>  • Clic 1: Dos roles: recepcion NOLOGIN (nadie se conecta con él) y ana_gomez LOGIN (la persona). La flecha es GRANT recepcion TO ana_gomez: ella hereda todo lo del rol.</a:t>
            </a:r>
          </a:p>
          <a:p>
            <a:r>
              <a:t>  • Clic 2: La convención: veterinario_rol y no veterinario, porque en GRANT SELECT ON cita TO veterinario no se sabe a simple vista si es un rol o un error.</a:t>
            </a:r>
          </a:p>
          <a:p/>
          <a:p>
            <a:r>
              <a:t>EJEMPLO: Si mañana recepción pierde un permiso, se hace un REVOKE sobre recepcion y ana_gomez, junto con las demás recepcionistas, lo pierde en el mismo instante.</a:t>
            </a:r>
          </a:p>
          <a:p/>
          <a:p>
            <a:r>
              <a:t>SI PREGUNTAN:</a:t>
            </a:r>
          </a:p>
          <a:p>
            <a:r>
              <a:t>  • «¿Puede haber un rol y una tabla con el mismo nombre?» → Sí: los roles son globales al servidor y las tablas viven en un esquema, así que no chocan. El sufijo _rol es solo para leer mejor.</a:t>
            </a:r>
          </a:p>
          <a:p/>
          <a:p>
            <a:r>
              <a:t>CUIDADO: Si el GRANT «no surte efecto», la causa más común es haberlo dado al rol y no haber dado el rol a la persona (falta GRANT recepcion TO ana_gomez).</a:t>
            </a:r>
          </a:p>
          <a:p/>
          <a:p>
            <a:r>
              <a:t>PASA A LA SIGUIENTE: Así queda escrito, completo, para la recepción.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principio de mínimo privilegio dice que cada rol recibe exactamente lo que necesita para su función y ni un privilegio más. Aplicado a la clínica deja una matriz concreta y defendible, y una consecuencia llamativa: nadie que opere datos tiene DELETE.</a:t>
            </a:r>
          </a:p>
          <a:p/>
          <a:p>
            <a:r>
              <a:t>CÓMO DARLA (≈4 min):</a:t>
            </a:r>
          </a:p>
          <a:p>
            <a:r>
              <a:t>  • Al entrar: Fila de recepcion: S I U sobre cita, S sobre mascota y nada sobre consulta. «No lee el historial clínico porque su trabajo no lo requiere».</a:t>
            </a:r>
          </a:p>
          <a:p>
            <a:r>
              <a:t>  • Clic 1: Fila de veterinario_rol: S sobre cita y mascota, S I U sobre consulta, porque es quien documenta la atención.</a:t>
            </a:r>
          </a:p>
          <a:p>
            <a:r>
              <a:t>  • Clic 2: Fila de admin_bd: todo y además el DDL. Es el único con privilegios amplios.</a:t>
            </a:r>
          </a:p>
          <a:p>
            <a:r>
              <a:t>  • Clic 3: La conclusión: ningún rol operativo tiene DELETE. En la clínica las cosas se marcan: estado = 'CANCELADA', activa = 'N'.</a:t>
            </a:r>
          </a:p>
          <a:p/>
          <a:p>
            <a:r>
              <a:t>EJEMPLO: El cuarto rol, auditor, recibe solo SELECT (sobre dueño, mascota, cita, consulta y factura) y jamás una escritura.</a:t>
            </a:r>
          </a:p>
          <a:p/>
          <a:p>
            <a:r>
              <a:t>SI PREGUNTAN:</a:t>
            </a:r>
          </a:p>
          <a:p>
            <a:r>
              <a:t>  • «¿No es más fácil darle todo al jefe?» → El permiso no mide la confianza en la persona: mide cuánto se pierde si su sesión es robada o comete un error. Con mínimo privilegio, un atacante con la sesión de recepción ve agendas; con todo, borra la base.</a:t>
            </a:r>
          </a:p>
          <a:p/>
          <a:p>
            <a:r>
              <a:t>CUIDADO: Escribe 'S' y 'N' en el tablero: quien asume activa = 0 escribe un UPDATE que el CHECK rechaza.</a:t>
            </a:r>
          </a:p>
          <a:p/>
          <a:p>
            <a:r>
              <a:t>PASA A LA SIGUIENTE: El contraste en una sola lámina: lo que suele pasar y lo que pide el principio.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Separación de funciones es repartir un proceso sensible entre dos o más personas para que ninguna lo complete sola sin dejar rastro. En la base significa que quien diseña el esquema no es quien opera los datos, y que quien audita solo lee.</a:t>
            </a:r>
          </a:p>
          <a:p/>
          <a:p>
            <a:r>
              <a:t>CÓMO DARLA (≈3 min):</a:t>
            </a:r>
          </a:p>
          <a:p>
            <a:r>
              <a:t>  • Al entrar: Una sola cuenta: INSERT de la factura (cobra) y DELETE de la factura (la borra). Queda sin evidencia de que existió.</a:t>
            </a:r>
          </a:p>
          <a:p>
            <a:r>
              <a:t>  • Clic 1: Funciones separadas: un rol emite con INSERT y otro anula con UPDATE del estado a 'ANULADA'. La factura sigue ahí, con fecha, usuario y motivo.</a:t>
            </a:r>
          </a:p>
          <a:p>
            <a:r>
              <a:t>  • Clic 2: La regla: nadie completa solo un proceso sensible.</a:t>
            </a:r>
          </a:p>
          <a:p/>
          <a:p>
            <a:r>
              <a:t>EJEMPLO: Si alguien roba la sesión de recepción, con funciones separadas puede emitir una factura, pero no borrarla ni corregir su total.</a:t>
            </a:r>
          </a:p>
          <a:p/>
          <a:p>
            <a:r>
              <a:t>SI PREGUNTAN:</a:t>
            </a:r>
          </a:p>
          <a:p>
            <a:r>
              <a:t>  • «¿Por qué el auditor no tiene UPDATE ni sobre la tabla de auditoría?» → Porque quien puede corregir el registro de lo que hizo puede borrar la evidencia, y entonces la auditoría no prueba nada.</a:t>
            </a:r>
          </a:p>
          <a:p/>
          <a:p>
            <a:r>
              <a:t>CUIDADO: La tabla factura de los datos de práctica no tiene columna estado: la animación muestra el patrón. Si se quiere aplicar, primero se agrega la columna.</a:t>
            </a:r>
          </a:p>
          <a:p/>
          <a:p>
            <a:r>
              <a:t>PASA A LA SIGUIENTE: Ya sabemos qué dar a quién. Ahora la sintaxis exacta.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GRANT otorga y REVOKE retira, igual sobre roles que sobre personas. Son cuatro sentencias que hay que poder escribir de memoria: crear el rol, darle privilegios, dárselo a la persona y, si hace falta, retirar.</a:t>
            </a:r>
          </a:p>
          <a:p/>
          <a:p>
            <a:r>
              <a:t>CÓMO DARLA (≈2 min):</a:t>
            </a:r>
          </a:p>
          <a:p>
            <a:r>
              <a:t>  • Al entrar: CREATE ROLE recepcion NOLOGIN: nace con cero privilegios.</a:t>
            </a:r>
          </a:p>
          <a:p>
            <a:r>
              <a:t>  • Clic 1: Dos GRANT: SELECT, INSERT, UPDATE sobre cita (varios privilegios en uno) y SELECT sobre dueno, mascota, veterinario (varias tablas en uno).</a:t>
            </a:r>
          </a:p>
          <a:p>
            <a:r>
              <a:t>  • Clic 2: GRANT recepcion TO ana_gomez: la persona recibe el paquete.</a:t>
            </a:r>
          </a:p>
          <a:p>
            <a:r>
              <a:t>  • Clic 3: REVOKE DELETE ON cita FROM recepcion: nunca se otorgó, así que no cambia nada ni falla; se escribe porque deja constancia de que la ausencia de DELETE fue una decisión y no un olvido.</a:t>
            </a:r>
          </a:p>
          <a:p/>
          <a:p>
            <a:r>
              <a:t>EJEMPLO: GRANT SELECT ON ALL TABLES IN SCHEMA public TO auditor da SELECT sobre las tablas que existen hoy, no sobre las que se creen mañana; para esas existe ALTER DEFAULT PRIVILEGES.</a:t>
            </a:r>
          </a:p>
          <a:p/>
          <a:p>
            <a:r>
              <a:t>SI PREGUNTAN:</a:t>
            </a:r>
          </a:p>
          <a:p>
            <a:r>
              <a:t>  • «¿Hace falta USAGE sobre el esquema?» → Sí, para usar sus objetos; en public viene concedido por omisión, por eso hoy no estorba. En un esquema propio es la causa número uno del GRANT que «no funciona».</a:t>
            </a:r>
          </a:p>
          <a:p/>
          <a:p>
            <a:r>
              <a:t>CUIDADO: Probar los permisos con la cuenta dueña de las tablas no demuestra nada: el dueño pasa por encima de todo y nunca ve un error.</a:t>
            </a:r>
          </a:p>
          <a:p/>
          <a:p>
            <a:r>
              <a:t>PASA A LA SIGUIENTE: Hay dos formas de dar permisos que hacen daño sin avisar.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Dos mecanismos que hacen daño en silencio. WITH GRANT OPTION permite que quien recibió un privilegio lo vuelva a dar, y el administrador pierde el control de quién tiene qué. PUBLIC es un rol especial al que pertenecen todos, incluso los que se creen mañana.</a:t>
            </a:r>
          </a:p>
          <a:p/>
          <a:p>
            <a:r>
              <a:t>CÓMO DARLA (≈3 min):</a:t>
            </a:r>
          </a:p>
          <a:p>
            <a:r>
              <a:t>  • Al entrar: La cadena: admin da con GRANT OPTION a rol_a, rol_a se lo da a rol_b, rol_b a rol_c. «El admin ya no sabe quién tiene el privilegio».</a:t>
            </a:r>
          </a:p>
          <a:p>
            <a:r>
              <a:t>  • Clic 1: REVOKE ... FROM rol_a CASCADE: sin CASCADE el motor lo rechaza porque hay privilegios que dependen de ese; con CASCADE se van todos los de la cadena.</a:t>
            </a:r>
          </a:p>
          <a:p>
            <a:r>
              <a:t>  • Clic 2: PUBLIC: GRANT SELECT ON consulta TO PUBLIC le entrega el historial clínico a cualquiera que se conecte, incluido el usuario que se cree mañana.</a:t>
            </a:r>
          </a:p>
          <a:p>
            <a:r>
              <a:t>  • Clic 3: La limpieza: REVOKE ALL ON consulta FROM PUBLIC. Es una tarea real de endurecimiento en bases heredadas.</a:t>
            </a:r>
          </a:p>
          <a:p/>
          <a:p>
            <a:r>
              <a:t>EJEMPLO: El mensaje real al revocar sin CASCADE es «dependent privileges exist», con la pista «Use CASCADE to revoke them too».</a:t>
            </a:r>
          </a:p>
          <a:p/>
          <a:p>
            <a:r>
              <a:t>SI PREGUNTAN:</a:t>
            </a:r>
          </a:p>
          <a:p>
            <a:r>
              <a:t>  • «Si revoco un permiso a recepcion, ¿por qué ese rol todavía puede leer?» → Revisa si el privilegio está concedido a PUBLIC: lo que recibe PUBLIC lo recibe todo rol, también el que se acaba de restringir.</a:t>
            </a:r>
          </a:p>
          <a:p/>
          <a:p>
            <a:r>
              <a:t>PASA A LA SIGUIENTE: Las dos cosas en código, con la REVOKE de la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GRANT sobre una tabla entrega todas sus filas y columnas. La recepcionista solo necesita el nombre y el teléfono de quien llama, no su correo. Hay dos formas de recortar: una vista, que recorta filas y columnas, y el privilegio por columna, que recorta solo columnas.</a:t>
            </a:r>
          </a:p>
          <a:p/>
          <a:p>
            <a:r>
              <a:t>CÓMO DARLA (≈4 min):</a:t>
            </a:r>
          </a:p>
          <a:p>
            <a:r>
              <a:t>  • Al entrar: La tabla entera: todas las filas, incluida la CANCELADA, y todas las columnas, incluido el email.</a:t>
            </a:r>
          </a:p>
          <a:p>
            <a:r>
              <a:t>  • Clic 1: La vista: deja fuera las filas canceladas (WHERE estado &lt;&gt; 'CANCELADA') y la columna email (no está en su SELECT).</a:t>
            </a:r>
          </a:p>
          <a:p>
            <a:r>
              <a:t>  • Clic 2: El privilegio por columna: GRANT SELECT (id_dueno, nombre) da solo esas dos columnas. La regla de abajo: ¿filtra filas o cruza tablas? vista; ¿solo columnas? privilegio por columna.</a:t>
            </a:r>
          </a:p>
          <a:p/>
          <a:p>
            <a:r>
              <a:t>EJEMPLO: La tabla dueno tiene cinco columnas (id_dueno, nombre, telefono, email, ciudad) y seis filas: con SELECT sobre la tabla se ven las 30 celdas.</a:t>
            </a:r>
          </a:p>
          <a:p/>
          <a:p>
            <a:r>
              <a:t>SI PREGUNTAN:</a:t>
            </a:r>
          </a:p>
          <a:p>
            <a:r>
              <a:t>  • «Si le doy SELECT solo a la vista, ¿no necesita también SELECT sobre dueno?» → No, y es lo más importante de la clase: la vista se ejecuta con los privilegios de su propietario. Por eso se puede revocar la tabla y dejar la vista.</a:t>
            </a:r>
          </a:p>
          <a:p/>
          <a:p>
            <a:r>
              <a:t>CUIDADO: Con privilegio por columna, SELECT * falla: el asterisco pide también las columnas negadas. Hay que nombrar las columnas.</a:t>
            </a:r>
          </a:p>
          <a:p/>
          <a:p>
            <a:r>
              <a:t>PASA A LA SIGUIENTE: Las dos formas, escritas.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Lo que dice un documento es lo que creemos haber dado; lo que dice el motor es lo que de verdad quedó. PostgreSQL lo expone en information_schema con dos vistas: role_table_grants y column_privileges.</a:t>
            </a:r>
          </a:p>
          <a:p/>
          <a:p>
            <a:r>
              <a:t>CÓMO DARLA (≈2 min):</a:t>
            </a:r>
          </a:p>
          <a:p>
            <a:r>
              <a:t>  • Al entrar: Documento contra motor: «una matriz escrita es una intención; consultada, es un hecho».</a:t>
            </a:r>
          </a:p>
          <a:p>
            <a:r>
              <a:t>  • Clic 1: La consulta a role_table_grants y su salida: una fila por rol, tabla y privilegio (recepcion · cita · INSERT, SELECT, UPDATE…).</a:t>
            </a:r>
          </a:p>
          <a:p>
            <a:r>
              <a:t>  • Clic 2: column_privileges agrega la columna: es la única que muestra el privilegio por columna.</a:t>
            </a:r>
          </a:p>
          <a:p/>
          <a:p>
            <a:r>
              <a:t>EJEMPLO: Si la matriz dice que nadie tiene DELETE, en role_table_grants no debe aparecer ninguna fila con privilege_type = 'DELETE' para los roles operativos.</a:t>
            </a:r>
          </a:p>
          <a:p/>
          <a:p>
            <a:r>
              <a:t>SI PREGUNTAN:</a:t>
            </a:r>
          </a:p>
          <a:p>
            <a:r>
              <a:t>  • «¿Por qué role_table_grants y no table_privileges?» → Para el propietario que audita devuelven lo mismo; la única diferencia es que role_table_grants omite lo que se ve solo por un GRANT a PUBLIC. Se usa por convención del curso.</a:t>
            </a:r>
          </a:p>
          <a:p/>
          <a:p>
            <a:r>
              <a:t>PASA A LA SIGUIENTE: Las dos consultas completas.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política de altas y bajas documenta el ciclo de vida de una cuenta: quién autoriza que se cree, con qué rol nace, qué pasa cuando alguien cambia de función y en cuánto tiempo se desactiva cuando se va. Vale porque fija responsables y plazos, no generalidades.</a:t>
            </a:r>
          </a:p>
          <a:p/>
          <a:p>
            <a:r>
              <a:t>CÓMO DARLA (≈2 min):</a:t>
            </a:r>
          </a:p>
          <a:p>
            <a:r>
              <a:t>  • Al entrar: La línea de tiempo: alta (quién autoriza y con qué rol), cambio de función (se revoca un rol y se otorga otro), baja (el mismo día), y debajo la revisión de cuentas activas cada 3 a 6 meses.</a:t>
            </a:r>
          </a:p>
          <a:p>
            <a:r>
              <a:t>  • Clic 1: Los dos riesgos que cierra: la cuenta huérfana del pasante que se fue hace un año, y la cuenta compartida que deja a la auditoría sin saber quién fue.</a:t>
            </a:r>
          </a:p>
          <a:p>
            <a:r>
              <a:t>  • Clic 2: La frase final: una política sin responsables ni plazos es solo una intención.</a:t>
            </a:r>
          </a:p>
          <a:p/>
          <a:p>
            <a:r>
              <a:t>EJEMPLO: En la clínica: el alta la autoriza la administradora; la recepcionista nueva nace con el rol recepcion y nada más; la baja del pasante se hace el día de su salida.</a:t>
            </a:r>
          </a:p>
          <a:p/>
          <a:p>
            <a:r>
              <a:t>CUIDADO: El mismo día y cada 3 a 6 meses son prácticas de gobierno, no reglas del motor: dilo así.</a:t>
            </a:r>
          </a:p>
          <a:p/>
          <a:p>
            <a:r>
              <a:t>PASA A LA SIGUIENTE: Cada fase del ciclo es una sentencia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motor de la clase es PostgreSQL corriendo en el navegador. Ahí funciona todo lo de hoy, con una sola limitación real: hay una sesión y un usuario con login, así que no se puede abrir otra conexión como recepcion. Para probar un permiso no hace falta: SET ROLE cambia el rol con el que el motor evalúa lo que escribimos.</a:t>
            </a:r>
          </a:p>
          <a:p/>
          <a:p>
            <a:r>
              <a:t>CÓMO DARLA (≈3 min):</a:t>
            </a:r>
          </a:p>
          <a:p>
            <a:r>
              <a:t>  • Al entrar: SET ROLE recepcion: desde esa línea los permisos son los de recepcion. SELECT * FROM cita funciona, porque tiene SELECT.</a:t>
            </a:r>
          </a:p>
          <a:p>
            <a:r>
              <a:t>  • Clic 1: SELECT * FROM consulta falla con permission denied, y el DELETE sobre cita también: lo que el rol no tiene, el motor lo niega.</a:t>
            </a:r>
          </a:p>
          <a:p>
            <a:r>
              <a:t>  • Clic 2: RESET ROLE devuelve al rol propio. La regla del recuadro: cada línea que debe fallar se ejecuta sola, porque un ejecutor que aborta al primer error se lleva las siguientes.</a:t>
            </a:r>
          </a:p>
          <a:p/>
          <a:p>
            <a:r>
              <a:t>EJEMPLO: SET ROLE recepcion; DELETE FROM cita WHERE id_cita = 1; responde «permission denied for table cita».</a:t>
            </a:r>
          </a:p>
          <a:p/>
          <a:p>
            <a:r>
              <a:t>SI PREGUNTAN:</a:t>
            </a:r>
          </a:p>
          <a:p>
            <a:r>
              <a:t>  • «¿SET ROLE es lo mismo que conectarse como recepcion?» → No. SET ROLE cambia con qué permisos se evalúa lo que escribo; conectarse cambia quién está conectado. Para probar que un privilegio falta, basta lo primero; lo que no se prueba aquí es el login ni dos personas a la vez.</a:t>
            </a:r>
          </a:p>
          <a:p/>
          <a:p>
            <a:r>
              <a:t>CUIDADO: Si olvidas RESET ROLE, todo lo que sigue corre con los permisos recortados y parece que «se dañó la base».</a:t>
            </a:r>
          </a:p>
          <a:p/>
          <a:p>
            <a:r>
              <a:t>PASA A LA SIGUIENTE: La prueba completa, sobre la vista y el privilegio por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Lo central no es el script sino la matriz rol por objeto. El script es la traducción mecánica de una decisión; la matriz es la decisión, y debajo de ella van las razones.</a:t>
            </a:r>
          </a:p>
          <a:p/>
          <a:p>
            <a:r>
              <a:t>CÓMO DARLA (≈2 min):</a:t>
            </a:r>
          </a:p>
          <a:p>
            <a:r>
              <a:t>  • Al entrar: La matriz: objetos en filas, roles en columnas y en cada celda las letras. Lee la leyenda: S SELECT, I INSERT, U UPDATE, D DELETE, E EXECUTE, guion ninguno.</a:t>
            </a:r>
          </a:p>
          <a:p>
            <a:r>
              <a:t>  • Clic 1: Se resalta la fila del procedimiento: va con E, nunca con S ni con I. «La aplicación invoca la regla de negocio; no escribe en la tabla».</a:t>
            </a:r>
          </a:p>
          <a:p>
            <a:r>
              <a:t>  • Clic 2: Las dos reglas de calidad: sin celdas vacías, y coherente con los GRANT ejecutados.</a:t>
            </a:r>
          </a:p>
          <a:p/>
          <a:p>
            <a:r>
              <a:t>EJEMPLO: Una celda bien justificada: «auditor sobre cita: solo S, porque auditar es verificar, no corregir». Una X sin texto no es una decisión.</a:t>
            </a:r>
          </a:p>
          <a:p/>
          <a:p>
            <a:r>
              <a:t>SI PREGUNTAN:</a:t>
            </a:r>
          </a:p>
          <a:p>
            <a:r>
              <a:t>  • «¿Por qué E para un procedimiento que todavía no existe?» → Porque la matriz decide el diseño: en la Clase 3 recepción agendará a través de sp_agendar_cita en lugar de insertar en cita.</a:t>
            </a:r>
          </a:p>
          <a:p/>
          <a:p>
            <a:r>
              <a:t>PASA A LA SIGUIENTE: Cómo se conecta lo de hoy con las clases vecinas.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Lo de hoy no es una isla: protege lo que dejó la Clase 1 y es la base de tres clases que vienen.</a:t>
            </a:r>
          </a:p>
          <a:p/>
          <a:p>
            <a:r>
              <a:t>CÓMO DARLA (≈1 min):</a:t>
            </a:r>
          </a:p>
          <a:p>
            <a:r>
              <a:t>  • Al entrar: Recorre la imagen: la Clase 1 llega con tablas y claves; hoy se les ponen roles; la 3 cambia el INSERT de recepción por EXECUTE sobre un procedimiento; la 4 usa current_user en la auditoría y respalda los roles; la 12 crea la cuenta con la que se conecta la aplicación.</a:t>
            </a:r>
          </a:p>
          <a:p/>
          <a:p>
            <a:r>
              <a:t>CUIDADO: Si todos comparten una cuenta, la auditoría de la Clase 4 registrará siempre el mismo nombre y no servirá para nada.</a:t>
            </a:r>
          </a:p>
          <a:p/>
          <a:p>
            <a:r>
              <a:t>PASA A LA SIGUIENTE: Vamos 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Ayer la base guardaba datos; hoy decidimos quién puede hacer qué con ellos. Vamos a crear roles, darles solo los privilegios que su trabajo necesita, recortar lo que ven con vistas y privilegios por columna, y comprobar en el propio motor que un permiso que quitamos de verdad no está.</a:t>
            </a:r>
          </a:p>
          <a:p/>
          <a:p>
            <a:r>
              <a:t>CÓMO DARLA (≈4 min):</a:t>
            </a:r>
          </a:p>
          <a:p>
            <a:r>
              <a:t>  • Al entrar: Pregunta de arranque: «si la recepcionista y el veterinario entran con la misma cuenta, ¿quién canceló la cita de ayer?». Deja que respondan 1-2 personas: nadie lo puede saber.</a:t>
            </a:r>
          </a:p>
          <a:p>
            <a:r>
              <a:t>  • Cierre del encuadre: «Hoy vamos a diseñar las cuentas de la clínica para que esa pregunta siempre tenga respuesta».</a:t>
            </a:r>
          </a:p>
          <a:p/>
          <a:p>
            <a:r>
              <a:t>CUIDADO: Todo se hace en PostgreSQL. Si alguien trae sintaxis de Oracle (CREATE USER ... IDENTIFIED BY, GRANT CREATE SESSION), avisa desde ya que aquí no existe.</a:t>
            </a:r>
          </a:p>
          <a:p/>
          <a:p>
            <a:r>
              <a:t>PASA A LA SIGUIENTE: El recorrido de las dos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Las dos horas en cinco tramos: encuadre, teoría con una lámina por concepto, demo en vivo, práctica opcional y cierre.</a:t>
            </a:r>
          </a:p>
          <a:p/>
          <a:p>
            <a:r>
              <a:t>CÓMO DARLA (≈1 min):</a:t>
            </a:r>
          </a:p>
          <a:p>
            <a:r>
              <a:t>  • Al entrar: Señala los tramos sin detenerte. La práctica tiene su guía en la carpeta de la clase y es opcional.</a:t>
            </a:r>
          </a:p>
          <a:p/>
          <a:p>
            <a:r>
              <a:t>PASA A LA SIGUIENTE: Antes de la sintaxis, cuatro palabras que se confunden todo el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código de hoy en su forma más corta: el rol de cargo sin login, la persona con login que lo recibe, y los privilegios exactos que necesita la recepción para agendar.</a:t>
            </a:r>
          </a:p>
          <a:p/>
          <a:p>
            <a:r>
              <a:t>CÓMO DARLA (≈3 min):</a:t>
            </a:r>
          </a:p>
          <a:p>
            <a:r>
              <a:t>  • Líneas 1-2: CREATE ROLE recepcion NOLOGIN: el paquete. Nace con cero privilegios.</a:t>
            </a:r>
          </a:p>
          <a:p>
            <a:r>
              <a:t>  • Líneas 3-5: La persona: CREATE ROLE ana_gomez LOGIN PASSWORD y GRANT recepcion TO ana_gomez. La clave del ejemplo se cambia en producción.</a:t>
            </a:r>
          </a:p>
          <a:p>
            <a:r>
              <a:t>  • Líneas 7-9: SELECT, INSERT y UPDATE sobre cita para agendar, reprogramar y cancelar; solo SELECT sobre dueño, mascota y veterinario, en un único GRANT con tres tablas.</a:t>
            </a:r>
          </a:p>
          <a:p>
            <a:r>
              <a:t>  • Líneas 10-11: USAGE sobre la secuencia cita_id_cita_seq: el SERIAL de id_cita la usa en cada INSERT.</a:t>
            </a:r>
          </a:p>
          <a:p/>
          <a:p>
            <a:r>
              <a:t>EJEMPLO: Sin la línea 10, el INSERT de una cita hecho como recepcion falla con «permission denied for sequence cita_id_cita_seq», aunque tenga INSERT sobre la tabla.</a:t>
            </a:r>
          </a:p>
          <a:p/>
          <a:p>
            <a:r>
              <a:t>SI PREGUNTAN:</a:t>
            </a:r>
          </a:p>
          <a:p>
            <a:r>
              <a:t>  • «¿Por qué recepción no tiene DELETE?» → Porque cancelar no es borrar: es un UPDATE del estado a 'CANCELADA', y así la historia se conserva.</a:t>
            </a:r>
          </a:p>
          <a:p>
            <a:r>
              <a:t>  • «¿Y consulta?» → Nada: es el historial clínico, información sensible que la recepción no necesita para agendar.</a:t>
            </a:r>
          </a:p>
          <a:p/>
          <a:p>
            <a:r>
              <a:t>CUIDADO: El error de la secuencia confunde porque el mensaje no menciona la tabla cita: léelo en voz alta si aparece.</a:t>
            </a:r>
          </a:p>
          <a:p/>
          <a:p>
            <a:r>
              <a:t>PASA A LA SIGUIENTE: Ese «lo que el cargo usa» tiene nombre: mínimo privilegio.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Antes y después: la forma habitual de dar permisos en una empresa pequeña, y la que pide el mínimo privilegio.</a:t>
            </a:r>
          </a:p>
          <a:p/>
          <a:p>
            <a:r>
              <a:t>CÓMO DARLA (≈1 min):</a:t>
            </a:r>
          </a:p>
          <a:p>
            <a:r>
              <a:t>  • Al entrar: Lee la columna izquierda como un diagnóstico: un admin compartido, GRANT ALL «para que no falle», nadie sabe quién borró qué, cuentas vivas de gente que ya se fue. Luego la derecha, punto por punto, como su remedio: cuatro roles, matriz por objeto, cancelar con UPDATE, baja el mismo día.</a:t>
            </a:r>
          </a:p>
          <a:p/>
          <a:p>
            <a:r>
              <a:t>CUIDADO: GRANT ALL a todos «para que la práctica no se trabe» deja una matriz sin ninguna decisión que defender.</a:t>
            </a:r>
          </a:p>
          <a:p/>
          <a:p>
            <a:r>
              <a:t>PASA A LA SIGUIENTE: Un paso más allá del mínimo privilegio: que nadie complete solo un proceso sensible.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Tres REVOKE con propósitos distintos: dejar escrita una decisión, limpiar PUBLIC y deshacer una cadena de privilegios otorgados a otros.</a:t>
            </a:r>
          </a:p>
          <a:p/>
          <a:p>
            <a:r>
              <a:t>CÓMO DARLA (≈2 min):</a:t>
            </a:r>
          </a:p>
          <a:p>
            <a:r>
              <a:t>  • Línea 1: REVOKE DELETE ON cita FROM recepcion: redundante a propósito; es la evidencia de que recepción no borra.</a:t>
            </a:r>
          </a:p>
          <a:p>
            <a:r>
              <a:t>  • Líneas 3-4: REVOKE ALL ON consulta FROM PUBLIC: nadie lee el historial por ser «todo el mundo».</a:t>
            </a:r>
          </a:p>
          <a:p>
            <a:r>
              <a:t>  • Líneas 6-10: GRANT ... WITH GRANT OPTION al auditor, y cómo se le quita solo la opción de otorgarlo a otros: REVOKE GRANT OPTION FOR SELECT ... CASCADE. El auditor conserva su SELECT; lo que él concedió desaparece.</a:t>
            </a:r>
          </a:p>
          <a:p/>
          <a:p>
            <a:r>
              <a:t>EJEMPLO: Si el auditor alcanzó a dar SELECT sobre cita a veterinario_rol, el REVOKE sin CASCADE responde «dependent privileges exist»; con CASCADE, veterinario_rol pierde ese SELECT y el auditor queda con el suyo, sin opción de otorgarlo a otros.</a:t>
            </a:r>
          </a:p>
          <a:p/>
          <a:p>
            <a:r>
              <a:t>SI PREGUNTAN:</a:t>
            </a:r>
          </a:p>
          <a:p>
            <a:r>
              <a:t>  • «¿Qué diferencia hay entre REVOKE SELECT y REVOKE GRANT OPTION FOR SELECT?» → El primero le quita el privilegio; el segundo solo le quita la capacidad de darlo a otros.</a:t>
            </a:r>
          </a:p>
          <a:p/>
          <a:p>
            <a:r>
              <a:t>CUIDADO: REVOKE SELECT ON cita FROM auditor CASCADE también le quita su propio SELECT, y el auditor necesita leer citas.</a:t>
            </a:r>
          </a:p>
          <a:p/>
          <a:p>
            <a:r>
              <a:t>PASA A LA SIGUIENTE: A veces el GRANT sobre la tabla entera es demasiado.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Los dos mecanismos en código: la vista de agenda para recepción, con la tabla revocada, y el privilegio por columna para el veterinario.</a:t>
            </a:r>
          </a:p>
          <a:p/>
          <a:p>
            <a:r>
              <a:t>CÓMO DARLA (≈3 min):</a:t>
            </a:r>
          </a:p>
          <a:p>
            <a:r>
              <a:t>  • Líneas 1-6: CREATE VIEW v_agenda_recepcion: id_cita, fecha_hora, el nombre del dueño y su teléfono, uniendo cita, mascota y dueño, sin las canceladas. El email no está.</a:t>
            </a:r>
          </a:p>
          <a:p>
            <a:r>
              <a:t>  • Líneas 7-8: GRANT SELECT sobre la vista y REVOKE SELECT ON dueno: recepción llega al dueño solo a través de la vista.</a:t>
            </a:r>
          </a:p>
          <a:p>
            <a:r>
              <a:t>  • Línea 11: GRANT SELECT (id_dueno, nombre) ON dueno TO veterinario_rol: dos columnas de la tabla y ninguna otra.</a:t>
            </a:r>
          </a:p>
          <a:p/>
          <a:p>
            <a:r>
              <a:t>EJEMPLO: Con los datos de práctica la vista devuelve 9 filas: las 10 citas menos la que está CANCELADA.</a:t>
            </a:r>
          </a:p>
          <a:p/>
          <a:p>
            <a:r>
              <a:t>SI PREGUNTAN:</a:t>
            </a:r>
          </a:p>
          <a:p>
            <a:r>
              <a:t>  • «¿Por qué no hacer otra vista también para el veterinario?» → Se podría. Si el recorte es solo de columnas y no se quiere mantener un objeto más, el privilegio por columna es más simple.</a:t>
            </a:r>
          </a:p>
          <a:p/>
          <a:p>
            <a:r>
              <a:t>CUIDADO: Si la vista se crea con una cuenta que no puede leer dueno, falla al consultarla: corre con los privilegios de quien la creó.</a:t>
            </a:r>
          </a:p>
          <a:p/>
          <a:p>
            <a:r>
              <a:t>PASA A LA SIGUIENTE: ¿Cómo sabemos que todo esto quedó así? Se le pregunta al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Las dos consultas de auditoría: la matriz de privilegios por tabla para los cuatro roles y, aparte, los privilegios por columna.</a:t>
            </a:r>
          </a:p>
          <a:p/>
          <a:p>
            <a:r>
              <a:t>CÓMO DARLA (≈2 min):</a:t>
            </a:r>
          </a:p>
          <a:p>
            <a:r>
              <a:t>  • Líneas 2-5: role_table_grants filtrada por los cuatro roles y ordenada por rol, tabla y privilegio: así se lee como la matriz.</a:t>
            </a:r>
          </a:p>
          <a:p>
            <a:r>
              <a:t>  • Líneas 7-11: column_privileges para veterinario_rol sobre dueno: debe devolver exactamente dos filas, id_dueno y nombre.</a:t>
            </a:r>
          </a:p>
          <a:p/>
          <a:p>
            <a:r>
              <a:t>EJEMPLO: Después de la lámina anterior, recepcion aparece con INSERT, SELECT y UPDATE sobre cita, SELECT sobre mascota y veterinario, y SELECT sobre v_agenda_recepcion; ya no aparece SELECT sobre dueno.</a:t>
            </a:r>
          </a:p>
          <a:p/>
          <a:p>
            <a:r>
              <a:t>SI PREGUNTAN:</a:t>
            </a:r>
          </a:p>
          <a:p>
            <a:r>
              <a:t>  • «Me salieron cinco filas en column_privileges, con email y teléfono.» → Entonces se otorgó la tabla completa: column_privileges muestra también los privilegios de tabla repartidos por columna.</a:t>
            </a:r>
          </a:p>
          <a:p/>
          <a:p>
            <a:r>
              <a:t>CUIDADO: role_table_grants no muestra los privilegios por columna: si solo se corre la primera consulta, el recorte del veterinario parece no existir.</a:t>
            </a:r>
          </a:p>
          <a:p/>
          <a:p>
            <a:r>
              <a:t>PASA A LA SIGUIENTE: La matriz cambia cuando cambian las personas: la política de altas y bajas.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Cada fase del ciclo de vida se ejecuta con una sentencia: un GRANT o un REVOKE. La política le pone responsable y plazo a cada una, y termina con una prueba: comprobar en el motor que el permiso retirado de verdad no está.</a:t>
            </a:r>
          </a:p>
          <a:p/>
          <a:p>
            <a:r>
              <a:t>CÓMO DARLA (≈3 min):</a:t>
            </a:r>
          </a:p>
          <a:p>
            <a:r>
              <a:t>  • Al entrar: Recorre las cinco tarjetas con su código. Alta: CREATE ROLE ... LOGIN y GRANT recepcion. Cambio: GRANT del rol nuevo y REVOKE del anterior. Baja: REVOKE y ALTER ROLE ... NOLOGIN. Revisión: la consulta a role_table_grants, cada 3 a 6 meses, firmada por alguien. Prueba: SET ROLE recepcion y un DELETE que debe fallar. Cierra con el recuadro: antes de DROP ROLE, REASSIGN OWNED.</a:t>
            </a:r>
          </a:p>
          <a:p/>
          <a:p>
            <a:r>
              <a:t>EJEMPLO: Si ana_gomez creó una tabla, DROP ROLE ana_gomez falla con «role "ana_gomez" cannot be dropped because some objects depend on it»; primero REASSIGN OWNED BY ana_gomez TO admin_bd.</a:t>
            </a:r>
          </a:p>
          <a:p/>
          <a:p>
            <a:r>
              <a:t>SI PREGUNTAN:</a:t>
            </a:r>
          </a:p>
          <a:p>
            <a:r>
              <a:t>  • «¿Por qué no basta con borrar la cuenta?» → Porque PostgreSQL no deja borrar un rol que todavía es dueño de objetos, y porque la traza de auditoría debe seguir diciendo quién hizo qué.</a:t>
            </a:r>
          </a:p>
          <a:p/>
          <a:p>
            <a:r>
              <a:t>CUIDADO: Quien pasa de recepción a auditoría y conserva los dos roles termina auditando lo que él mismo modifica: el REVOKE del rol anterior es la mitad importante del cambio.</a:t>
            </a:r>
          </a:p>
          <a:p/>
          <a:p>
            <a:r>
              <a:t>PASA A LA SIGUIENTE: Esa prueba final depende de lo que este motor permite hacer.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prueba de que el recorte funciona: como recepcion se ve la agenda por la vista y se niegan el DELETE y la tabla dueño; como veterinario_rol se leen solo las dos columnas concedidas.</a:t>
            </a:r>
          </a:p>
          <a:p/>
          <a:p>
            <a:r>
              <a:t>CÓMO DARLA (≈2 min):</a:t>
            </a:r>
          </a:p>
          <a:p>
            <a:r>
              <a:t>  • Líneas 1-3: SET ROLE recepcion y la vista: 9 filas, sin la cita cancelada.</a:t>
            </a:r>
          </a:p>
          <a:p>
            <a:r>
              <a:t>  • Líneas 4-7: DELETE sobre cita y SELECT sobre dueño: las dos responden permission denied, con el nombre de la tabla.</a:t>
            </a:r>
          </a:p>
          <a:p>
            <a:r>
              <a:t>  • Línea 8: RESET ROLE: de vuelta al rol propio.</a:t>
            </a:r>
          </a:p>
          <a:p>
            <a:r>
              <a:t>  • Líneas 10-14: Como veterinario_rol: SELECT id_dueno, nombre devuelve las 6 filas; SELECT * falla porque el asterisco pide columnas que no tiene.</a:t>
            </a:r>
          </a:p>
          <a:p/>
          <a:p>
            <a:r>
              <a:t>EJEMPLO: Recepción ve el teléfono del dueño en la vista aunque no pueda leer la tabla dueno: la vista corre con los privilegios de su propietario.</a:t>
            </a:r>
          </a:p>
          <a:p/>
          <a:p>
            <a:r>
              <a:t>SI PREGUNTAN:</a:t>
            </a:r>
          </a:p>
          <a:p>
            <a:r>
              <a:t>  • «¿Por qué ejecutar las líneas una por una?» → Porque las que fallan a propósito abortan un script de una sola corrida, y las siguientes no se ejecutarían.</a:t>
            </a:r>
          </a:p>
          <a:p/>
          <a:p>
            <a:r>
              <a:t>CUIDADO: Este bloque supone que ya se corrió el de «Reducir la superficie»: sin la vista, la línea 3 falla por otra razón (la vista no existe).</a:t>
            </a:r>
          </a:p>
          <a:p/>
          <a:p>
            <a:r>
              <a:t>PASA A LA SIGUIENTE: Con todo verificado, la decisión se escribe en una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demo junta lo de hoy: los cuatro roles con su matriz, la vista y el privilegio por columna, la prueba negativa con SET ROLE y la verificación en information_schema.</a:t>
            </a:r>
          </a:p>
          <a:p/>
          <a:p>
            <a:r>
              <a:t>CÓMO DARLA (≈15 min):</a:t>
            </a:r>
          </a:p>
          <a:p>
            <a:r>
              <a:t>  • Al entrar: 1) CREATE ROLE de admin_bd, recepcion, veterinario_rol y auditor, todos NOLOGIN, y los GRANT de la matriz con el REVOKE de DELETE (5 min). 2) La vista v_agenda_recepcion, el REVOKE de dueño y el GRANT por columna al veterinario (4 min). 3) SET ROLE recepcion; el DELETE, una línea sola, y lee el mensaje; RESET ROLE (3 min). 4) Las dos consultas de information_schema y compáralas con la matriz en voz alta (3 min).</a:t>
            </a:r>
          </a:p>
          <a:p/>
          <a:p>
            <a:r>
              <a:t>CUIDADO: Ejecuta las líneas que deben fallar una por una, y no olvides RESET ROLE antes de las consultas de verificación.</a:t>
            </a:r>
          </a:p>
          <a:p/>
          <a:p>
            <a:r>
              <a:t>PASA A LA SIGUIENTE: Cierre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Cierre: hoy cada persona de la clínica quedó con un rol que le da exactamente lo que su trabajo necesita, y lo comprobamos en el motor, no en un documento.</a:t>
            </a:r>
          </a:p>
          <a:p/>
          <a:p>
            <a:r>
              <a:t>CÓMO DARLA (≈3 min):</a:t>
            </a:r>
          </a:p>
          <a:p>
            <a:r>
              <a:t>  • Al entrar: Pregunta de salida: «¿cómo demuestran que recepción no puede borrar una cita?». Respuesta esperada: SET ROLE recepcion, el DELETE responde permission denied, y role_table_grants no muestra DELETE para ese rol.</a:t>
            </a:r>
          </a:p>
          <a:p/>
          <a:p>
            <a:r>
              <a:t>PASA A LA SIGUIENTE: La próxima clase: la regla de negocio dentro de la base, con procedimientos almacenados.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Administracion de BD · Roles y privilegios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Privilegios y usuarios de la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Administracion de BD · Roles y privilegios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PostgreSQL + Google Docs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Gratis + navegador · free tier · sin software de pago obligatorio.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teoría del tema, una lámina por concepto, y demo del docente sobre la base de la clínica.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lámina se sostiene sola: sirve para repasar aunque hayas faltado.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Conceptos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Los cuatro terminos que se confunden todo el tiempo · Privilegio · Rol · En PostgreSQL usuario y rol son lo mismo, y por eso hoy se escribe NOLOGIN.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regular ·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proyecto)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cuatro terminos que se confunden todo el tiempo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atro-termin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uatro-termino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uatro-termino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cuatro-termino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todo lo que el motor guarda con nombre: una tabla, una vista, un procedimiento, una secuencia.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esquema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el contenedor de los objetos; en PostgreSQL el de omisión es public, como en public.cita.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privilegio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un permiso atómico sobre un objeto, como SELECT sobre cita.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rol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un paquete de privilegios con nombre, como recepcion.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Privilegio: la unidad atomica, y la frontera DDL/DML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ivilegio-ddl-dm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rivilegio-ddl-dml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privilegio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la unidad más pequeña de permiso que el motor sabe dar o quitar.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privilegios de objeto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(SELECT, INSERT, UPDATE, DELETE…) se dan con GRANT sobre una tabla.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LOGIN o CREATEDB son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atributos de rol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van en CREATE ROLE o ALTER ROLE, no en un GRANT.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Quien opera datos usa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DML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(SELECT, INSERT, UPDATE, DELETE) y nunca necesita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DDL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Rol: por que existe, con la aritmetica en el tablero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l-aritmetic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ol-aritmetic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ol-aritmetic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rol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un paquete de privilegios con nombre que se le da a una persona en un paso.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roles, 12 empleados y 10 objetos son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cientos de GRANT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escritos uno por uno.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un rol, el paquete se define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una vez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se otorga con 12 GRANT recepcion TO persona.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cambio de regla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 REVOKE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sobre el rol, y las 12 cuentas quedan corregidas a la vez.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 PostgreSQL usuario y rol son lo mismo, y por eso hoy se escribe NOLOGIN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in-nologi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login-nologi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login-nologi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PostgreSQL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usuario y rol son lo mismo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CREATE USER es CREATE ROLE con LOGIN.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rol de un cargo se crea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NOLOGIN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es un paquete de permisos con el que nadie se conecta.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persona es un rol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LOGIN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recibe el paquete: GRANT recepcion TO ana_gomez.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escribe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veterinario_rol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para leer sin dudas que es un rol; el motor no lo exige.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Crear el rol y otorgar solo lo que el cargo usa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380083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20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20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i="1" b="0">
                <a:solidFill>
                  <a:srgbClr val="6A9955"/>
                </a:solidFill>
                <a:latin typeface="Consolas"/>
              </a:rPr>
              <a:t>-- Los cuatro roles del caso son paquetes de permisos: NOLOGIN, nadie se conecta con ellos.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admin_bd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NOLOGIN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 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NOLOGIN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veterinario_rol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NOLOGIN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 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auditor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NOLOGIN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00"/>
              </a:spcAft>
            </a:pPr>
            <a:r>
              <a:rPr sz="1400" i="1" b="0">
                <a:solidFill>
                  <a:srgbClr val="6A9955"/>
                </a:solidFill>
                <a:latin typeface="Consolas"/>
              </a:rPr>
              <a:t>-- La persona es un rol con LOGIN, y recibe el paquete.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ana_gomez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LOGIN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PASSWORD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CE9178"/>
                </a:solidFill>
                <a:latin typeface="Consolas"/>
              </a:rPr>
              <a:t>'cambiar_en_produccion'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ana_gomez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400" i="1" b="0">
                <a:solidFill>
                  <a:srgbClr val="6A9955"/>
                </a:solidFill>
                <a:latin typeface="Consolas"/>
              </a:rPr>
              <a:t>-- La recepcionista agenda: no lee historias clinicas ni toca facturas.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UPDATE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USAGE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SEQUENCE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cita_id_cita_seq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00"/>
              </a:spcAft>
            </a:pPr>
            <a:r>
              <a:rPr sz="1400" i="1" b="0">
                <a:solidFill>
                  <a:srgbClr val="6A9955"/>
                </a:solidFill>
                <a:latin typeface="Consolas"/>
              </a:rPr>
              <a:t>-- Sin USAGE en la secuencia, el INSERT falla: el SERIAL la necesita.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Minimo privilegio aplicado a la clínica: la matriz defendible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nimo-privilegi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inimo-privilegi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inimo-privilegi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minimo-privilegio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mínimo privilegio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cada rol recibe exactamente lo que su trabajo necesita, y nada más.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recepción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agenda (S, I, U sobre cita) y no lee consulta, que es historial clínico.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veterinario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lee citas y mascotas y documenta la consulta;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admin_bd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sostiene el DDL.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Ningún rol operativo tiene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DELETE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cancelar es un UPDATE de estado y la baja es activa = 'N'.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Minimo privilegio, en concreto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5478627" cy="5093208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5478627" cy="50292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 que suele pasar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15858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Un solo usuario «admin» que todos comparten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GRANT ALL 'para que no falle nada'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Nadie sabe quien borro que (sin trazabilidad)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Se van del cargo y la cuenta sigue viva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61872"/>
            <a:ext cx="5478627" cy="5093208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5867" y="1261872"/>
            <a:ext cx="5478627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3027" y="1353312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 que pide el minimo privilegio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459" y="1901952"/>
            <a:ext cx="5158587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4 roles: admin_bd · recepcion · veterinario_rol · auditor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Privilegio por objeto y operacion (matriz)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recepcion nunca hace DELETE: cancelar es UPDATE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Politica de baja: revocacion el mismo dia</a:t>
            </a:r>
          </a:p>
        </p:txBody>
      </p:sp>
      <p:pic>
        <p:nvPicPr>
          <p:cNvPr id="13" name="Picture 12" descr="sello_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16736"/>
            <a:ext cx="393192" cy="393192"/>
          </a:xfrm>
          <a:prstGeom prst="rect">
            <a:avLst/>
          </a:prstGeom>
        </p:spPr>
      </p:pic>
      <p:pic>
        <p:nvPicPr>
          <p:cNvPr id="14" name="Picture 13" descr="sello_bi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316736"/>
            <a:ext cx="393192" cy="3931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Separacion de funciones: el ejemplo de la factura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paracion-funcion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paracion-funcion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paracion-funcion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separación de funciones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reparte un proceso sensible para que nadie lo complete solo y sin rastro.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misma cuenta emite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borra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facturas, puede cobrar y hacer desaparecer el registro.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Separando, un rol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emite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(INSERT) y otro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anula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 un UPDATE que deja fecha, usuario y motivo.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Quien diseña el esquema no opera datos, y quien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audita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solo lee.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GRANT y REVOKE: la sintaxis exacta que se va a escribir hoy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nt-revok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grant-revok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grant-revok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grant-revoke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rol recién creado nace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cero privilegios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hace falta revocar nada para empezar.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solo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GRANT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puede dar varios privilegios sobre varias tablas a la vez.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GRANT recepcion TO ana_gomez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persona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recibe el paquete completo.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REVOKE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algo nunca otorgado no da error, y se escribe para documentar la decisión.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WITH GRANT OPTION y PUBLIC: los dos que hacen dano sin avisar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nt-option-public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grant-option-public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grant-option-public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grant-option-public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WITH GRANT OPTION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deja que quien recibe un privilegio lo otorgue a otros, y el control se pierde en cadena.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revocar esa cadena el motor exige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CASCADE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avisa que tocará más de lo pedido.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PUBLIC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son todos los roles, los de hoy y los que se creen mañana.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GRANT a PUBLIC entrega el dato a cualquiera; se limpia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REVOKE ALL ... FROM PUBLIC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REVOKE, y los dos que hacen dano en silencio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360060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00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00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REVOKE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DELETE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;   </a:t>
            </a:r>
            <a:r>
              <a:rPr sz="1600" i="1" b="0">
                <a:solidFill>
                  <a:srgbClr val="6A9955"/>
                </a:solidFill>
                <a:latin typeface="Consolas"/>
              </a:rPr>
              <a:t>-- nunca se otorgo: deja escrita la decision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-- PUBLIC es todo el mundo, presente y futuro. Casi nunca es lo que se quiere.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REVOKE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ALL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PUBLIC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-- WITH GRANT OPTION deja que el que recibe vuelva a otorgar.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auditor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WITH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OPTION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-- auditor puede ahora hacer: GRANT SELECT ON cita TO cualquiera;</a:t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-- Para quitarle esa opcion hay que arrastrar lo que el concedio: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REVOKE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OPTION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FOR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auditor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CASCADE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Cuando el GRANT es demasiado: vista y privilegio por columna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sta-column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vista-column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vista-column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GRANT sobre una tabla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todo o nada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se ven todas sus filas y todas sus columnas.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vista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una consulta guardada con nombre: recorta filas con WHERE y columnas con SELECT.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vista corre con los permisos de su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dueño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recepción la lee sin tener SELECT sobre dueno.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privilegio por columna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recorta solo columnas, sin crear un objeto nuevo.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Reducir la superficie: vista y privilegio por columna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5688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9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9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-- 1) La vista deja fuera el email y las citas canceladas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VIEW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v_agenda_recepcion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AS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telefono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id_mascota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id_dueno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&lt;&gt;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'CANCELADA'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v_agenda_recepcion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REVOKE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   </a:t>
            </a:r>
            <a:r>
              <a:rPr sz="2000" i="1" b="0">
                <a:solidFill>
                  <a:srgbClr val="6A9955"/>
                </a:solidFill>
                <a:latin typeface="Consolas"/>
              </a:rPr>
              <a:t>-- solo llega por la vista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-- 2) O se recorta la tabla columna por columna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GRANT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TO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veterinario_rol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Un GRANT no es todo-o-nada: la vista recorta filas y columnas, y el privilegio por columna recorta columnas sin crear objeto nuevo.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matriz como hecho verificable: information_schema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formation-schem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information-schem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information-schem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matriz que solo vive en un documento es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intención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consultada en el motor es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hecho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role_table_grants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devuelve una fila por rol, tabla y privilegio realmente otorgado.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column_privileges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agrega column_name y es la que prueba el privilegio por columna.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matriz como hecho verificable, no como documento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2278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63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63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Lo que el motor dice que concedio, que no siempre es lo que se creia.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grantee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privilege_type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role_table_grants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grantee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IN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'admin_bd'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'recepcion'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'veterinario_rol'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'auditor'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grantee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privilege_type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Y los privilegios por columna, que la consulta anterior no muestra: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grantee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column_name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privilege_type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column_privileges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grantee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'veterinario_rol'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'dueno'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column_name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politica de altas y bajas: el ciclo de vida de una cuenta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ltas-baj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ltas-baj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altas-baj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política de altas y bajas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dice quién autoriza cada cuenta, con qué rol nace y cuándo se apaga.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baja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hace el mismo día del retiro, y las cuentas se revisan cada 3 a 6 meses.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Evita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cuenta huérfana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la del que se fue y cuya clave sigue funcionando.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Prohíbe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cuenta compartida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si tres personas usan una, la auditoría no sabe quién fue.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Ciclo de vida de una cuenta: alta, cambio, baja,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Cada flecha del ciclo es un GRANT o un REVOKE. La politica es lo que le pone responsable y plazo a cada uno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449082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us-ciclo-cuen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522234"/>
            <a:ext cx="5864193" cy="46913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alta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cuenta nace con un solo rol y una clave temporal que caduca al primer ingreso.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cambio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función se otorga el rol nuevo y se revoca el anterior: los permisos no se suman.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baja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REVOKE, ALTER ROLE ... NOLOGIN y REASSIGN OWNED antes de DROP ROLE.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prueba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con SET ROLE recepcion, el DELETE debe responder permission denied.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motor de hoy es PostgreSQL, y eso decide que se puede demostrar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t-role-prueb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t-role-prueb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t-role-prueb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navegador corre todo lo de hoy: CREATE ROLE, GRANT, REVOKE, vistas e information_schema.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una sola sesión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un solo usuario con login: no se entra como recepcion en otra pestaña.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SET ROLE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cambia con qué permisos se evalúa lo que escribes, sin abrir otra conexión.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que debe fallar se ejecuta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una línea a la vez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y se cierra con RESET ROLE.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SET ROLE: demostrar en el motor que el permiso falta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96223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36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36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-- Cambiar el rol EFECTIVO en la misma sesion: el motor evalua como recepcion.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SET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recepcion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(*)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v_agenda_recepcion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   </a:t>
            </a:r>
            <a:r>
              <a:rPr sz="1700" i="1" b="0">
                <a:solidFill>
                  <a:srgbClr val="6A9955"/>
                </a:solidFill>
                <a:latin typeface="Consolas"/>
              </a:rPr>
              <a:t>-- 9: la cita CANCELADA no sale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DELETE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7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-- ERROR:  permission denied for table cita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email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-- ERROR:  permission denied for table dueno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RESET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                                </a:t>
            </a:r>
            <a:r>
              <a:rPr sz="1700" i="1" b="0">
                <a:solidFill>
                  <a:srgbClr val="6A9955"/>
                </a:solidFill>
                <a:latin typeface="Consolas"/>
              </a:rPr>
              <a:t>-- de vuelta al rol propio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SET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veterinario_rol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        </a:t>
            </a:r>
            <a:r>
              <a:rPr sz="1700" i="1" b="0">
                <a:solidFill>
                  <a:srgbClr val="6A9955"/>
                </a:solidFill>
                <a:latin typeface="Consolas"/>
              </a:rPr>
              <a:t>-- 6 filas: sus dos columnas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*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                       </a:t>
            </a:r>
            <a:r>
              <a:rPr sz="1700" i="1" b="0">
                <a:solidFill>
                  <a:srgbClr val="6A9955"/>
                </a:solidFill>
                <a:latin typeface="Consolas"/>
              </a:rPr>
              <a:t>-- el * pide columnas negadas</a:t>
            </a:r>
          </a:p>
          <a:p>
            <a:pPr>
              <a:spcAft>
                <a:spcPts val="364"/>
              </a:spcAft>
            </a:pPr>
            <a:r>
              <a:rPr sz="1700" i="1" b="0">
                <a:solidFill>
                  <a:srgbClr val="6A9955"/>
                </a:solidFill>
                <a:latin typeface="Consolas"/>
              </a:rPr>
              <a:t>-- ERROR:  permission denied for table dueno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RESET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569CD6"/>
                </a:solidFill>
                <a:latin typeface="Consolas"/>
              </a:rPr>
              <a:t>ROLE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matriz es la decision, no el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riz-decis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atriz-decisio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atriz-decisio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script es la traducción mecánica;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matriz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la decisión: objetos en filas, roles en columnas.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celda lleva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 I U D 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o un guion, y ninguna queda vacía.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procedimiento va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(EXECUTE): se invoca, no se escribe en su tabla.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matriz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coherente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 los GRANT: si nadie recibió DELETE, no aparece una 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Como amarra con las clases vecinas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amarr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1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dejó las tablas y las claves que hoy se protegen con roles.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3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recepción agendará a través de un procedimiento (EXECUTE), sin INSERT directo.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4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auditoría guarda current_user y pg_dumpall respalda los roles.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12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aplicación se conecta con una cuenta de servicio y su 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Crear los cuatro roles NOLOGIN, otorgar la matriz con GRANT y escribir el REVOKE de DELETE.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SET ROLE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recepcion, el DELETE sobre cita debe responder permission denied.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Consultar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information_schema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para ver la matriz real y la vista sin el email.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2 · Administracion de BD · Roles y privilegios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Los cuatro terminos que se confunden todo el tiempo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Privilegio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