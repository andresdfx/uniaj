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Función y procedimiento se parecen mucho al escribirlos, así que no se distinguen por la sintaxis sino por para qué se usan. La función devuelve un valor y vive dentro de una consulta; el procedimiento ejecuta acciones (insertar, validar, actualizar) y se invoca con CALL.</a:t>
            </a:r>
          </a:p>
          <a:p/>
          <a:p>
            <a:r>
              <a:t>CÓMO DARLA (≈4 min):</a:t>
            </a:r>
          </a:p>
          <a:p>
            <a:r>
              <a:t>  • Al entrar: Columna izquierda completa: «el SELECT llama a fn_precio_consulta, la función calcula 40000 y ese valor vuelve a la consulta como una columna más del resultado». Subraya que la función no cambió ningún dato.</a:t>
            </a:r>
          </a:p>
          <a:p>
            <a:r>
              <a:t>  • Clic 1: Columna derecha: «el CALL ejecuta sp_agendar_cita, que valida y escribe: aparece una fila nueva en cita». Aquí el resultado no es un valor, es un cambio en la tabla.</a:t>
            </a:r>
          </a:p>
          <a:p>
            <a:r>
              <a:t>  • Clic 2: Lee la conclusión y pregunta: «¿calcular el precio de una consulta es función o procedimiento? ¿Y registrar una cita?».</a:t>
            </a:r>
          </a:p>
          <a:p/>
          <a:p>
            <a:r>
              <a:t>EJEMPLO: SELECT nombre, fn_precio_consulta(especie, FALSE) AS tarifa FROM mascota; devuelve una tarifa por cada mascota, como si fuera una columna calculada.</a:t>
            </a:r>
          </a:p>
          <a:p/>
          <a:p>
            <a:r>
              <a:t>SI PREGUNTAN:</a:t>
            </a:r>
          </a:p>
          <a:p>
            <a:r>
              <a:t>  • «¿Una función puede hacer INSERT?» → En PostgreSQL técnicamente sí, pero no conviene: dentro de un SELECT el motor decide cuántas veces la ejecuta. Si hay que modificar datos, es un procedimiento.</a:t>
            </a:r>
          </a:p>
          <a:p>
            <a:r>
              <a:t>  • «¿Puedo hacer SELECT de un procedimiento?» → No: el motor responde que es un procedimiento y que se llama con CALL.</a:t>
            </a:r>
          </a:p>
          <a:p/>
          <a:p>
            <a:r>
              <a:t>CUIDADO: No digas «la función es la que devuelve algo y el procedimiento no devuelve nada» como regla absoluta: el criterio es el uso (valor dentro de una consulta vs. acción).</a:t>
            </a:r>
          </a:p>
          <a:p/>
          <a:p>
            <a:r>
              <a:t>PASA A LA SIGUIENTE: Veamos una función real de la clínica y la palabra que más se olvida: IMMUTABLE.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función de tarifas tiene tres decisiones pequeñas que evitan errores reales: comparar el texto sin importar mayúsculas, no dejar ninguna especie sin precio y no dejar que un NULL contamine la cuenta.</a:t>
            </a:r>
          </a:p>
          <a:p/>
          <a:p>
            <a:r>
              <a:t>CÓMO DARLA (≈4 min):</a:t>
            </a:r>
          </a:p>
          <a:p>
            <a:r>
              <a:t>  • Al entrar: UPPER: tres formas de escribir la especie llegan a UPPER() y salen iguales. Pregunta: «sin UPPER, ¿cuánto cobraría 'canino' en minúscula?» (respuesta: 35000, porque caería en el ELSE).</a:t>
            </a:r>
          </a:p>
          <a:p>
            <a:r>
              <a:t>  • Clic 1: CASE: la especie normalizada elige su fila: CANINO 45000, FELINO 40000, cualquier otra 35000. Subraya que el ELSE es una decisión de negocio.</a:t>
            </a:r>
          </a:p>
          <a:p>
            <a:r>
              <a:t>  • Clic 2: COALESCE: si la casilla de urgencia llega vacía (NULL), COALESCE la vuelve FALSE y no hay recargo. Sin él, base * NULL da NULL y la factura sale vacía.</a:t>
            </a:r>
          </a:p>
          <a:p>
            <a:r>
              <a:t>  • Clic 3: Conclusión: la función nunca devuelve NULL; toda entrada tiene tarifa.</a:t>
            </a:r>
          </a:p>
          <a:p/>
          <a:p>
            <a:r>
              <a:t>EJEMPLO: fn_precio_consulta('canino', NULL) → 45000. fn_precio_consulta('FELINO', TRUE) → 54000 (40000 × 1,35).</a:t>
            </a:r>
          </a:p>
          <a:p/>
          <a:p>
            <a:r>
              <a:t>SI PREGUNTAN:</a:t>
            </a:r>
          </a:p>
          <a:p>
            <a:r>
              <a:t>  • «¿Un IF con NULL no se trata ya como falso?» → Sí, el IF no entra; el problema aparece cuando el NULL entra en una cuenta: ahí todo el resultado se vuelve NULL.</a:t>
            </a:r>
          </a:p>
          <a:p/>
          <a:p>
            <a:r>
              <a:t>CUIDADO: El recargo de urgencia es 1,35 (35 %); revisa que el número que digas coincida con el de la lámina siguiente.</a:t>
            </a:r>
          </a:p>
          <a:p/>
          <a:p>
            <a:r>
              <a:t>PASA A LA SIGUIENTE: Juntemos todo en la firma completa de la función.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Todo lo anterior se ejecuta porque alguien lo llama. El trigger no: se declara una vez y el motor lo ejecuta cada vez que ocurre el evento. En PostgreSQL se escribe en dos piezas separadas.</a:t>
            </a:r>
          </a:p>
          <a:p/>
          <a:p>
            <a:r>
              <a:t>CÓMO DARLA (≈4 min):</a:t>
            </a:r>
          </a:p>
          <a:p>
            <a:r>
              <a:t>  • Al entrar: Las dos piezas: arriba la función fn_trg_audit_cita() RETURNS TRIGGER y la asociación CREATE TRIGGER … AFTER UPDATE OF estado ON cita, que apunta a la función. Abajo, la tabla cita y la tabla audit_cita, todavía vacía.</a:t>
            </a:r>
          </a:p>
          <a:p>
            <a:r>
              <a:t>  • Clic 1: Llega un UPDATE que cambia el estado de la cita 7 de 'confirmada' a 'atendida'. Nadie ha llamado al trigger.</a:t>
            </a:r>
          </a:p>
          <a:p>
            <a:r>
              <a:t>  • Clic 2: El cambio es el evento: el motor dispara la asociación, que ejecuta la función, y aparece la fila en audit_cita con el antes y el después.</a:t>
            </a:r>
          </a:p>
          <a:p>
            <a:r>
              <a:t>  • Clic 3: Lee la frase: «nadie lo llama: lo dispara el evento». Ese es todo el concepto.</a:t>
            </a:r>
          </a:p>
          <a:p/>
          <a:p>
            <a:r>
              <a:t>EJEMPLO: Cada vez que recepción cambia el estado de una cita, queda registrado quién y cuándo, sin que la aplicación tenga que acordarse.</a:t>
            </a:r>
          </a:p>
          <a:p/>
          <a:p>
            <a:r>
              <a:t>SI PREGUNTAN:</a:t>
            </a:r>
          </a:p>
          <a:p>
            <a:r>
              <a:t>  • «Creé la función y no pasa nada.» → Falta la segunda pieza, el CREATE TRIGGER. Sin asociación la función nunca se ejecuta.</a:t>
            </a:r>
          </a:p>
          <a:p/>
          <a:p>
            <a:r>
              <a:t>CUIDADO: No dictes la forma de Oracle (cuerpo dentro del CREATE TRIGGER y :NEW con dos puntos): en PostgreSQL no compila.</a:t>
            </a:r>
          </a:p>
          <a:p/>
          <a:p>
            <a:r>
              <a:t>PASA A LA SIGUIENTE: ¿En qué momento corre el trigger, antes o después de escribir la fila? Eso cambia lo que puede hacer.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diferencia entre BEFORE y AFTER es el momento, y el momento decide qué se puede hacer. En BEFORE lo que la función retorna es lo que se guarda; en AFTER la fila ya está guardada.</a:t>
            </a:r>
          </a:p>
          <a:p/>
          <a:p>
            <a:r>
              <a:t>CÓMO DARLA (≈4 min):</a:t>
            </a:r>
          </a:p>
          <a:p>
            <a:r>
              <a:t>  • Al entrar: La fila NEW viaja por la vía y llega a BEFORE, todavía sin escribir.</a:t>
            </a:r>
          </a:p>
          <a:p>
            <a:r>
              <a:t>  • Clic 1: Lo que BEFORE puede retornar: NEW (se guarda tal cual), NEW cambiado (se guarda la versión cambiada) o NULL (la operación se cancela sin aviso).</a:t>
            </a:r>
          </a:p>
          <a:p>
            <a:r>
              <a:t>  • Clic 2: La fila se escribe y llega a AFTER: ya está en la tabla, así que el retorno se ignora (se escribe RETURN NEW por convención).</a:t>
            </a:r>
          </a:p>
          <a:p>
            <a:r>
              <a:t>  • Clic 3: La regla práctica: para rechazar, RAISE EXCEPTION, nunca RETURN NULL.</a:t>
            </a:r>
          </a:p>
          <a:p/>
          <a:p>
            <a:r>
              <a:t>EJEMPLO: BEFORE: poner el estado en mayúsculas o rechazar un stock negativo. AFTER: escribir la fila de auditoría.</a:t>
            </a:r>
          </a:p>
          <a:p/>
          <a:p>
            <a:r>
              <a:t>SI PREGUNTAN:</a:t>
            </a:r>
          </a:p>
          <a:p>
            <a:r>
              <a:t>  • «¿Por qué no usar RETURN NULL para rechazar?» → Porque no da error: la aplicación cree que guardó y el dato nunca llegó. RAISE EXCEPTION aborta y avisa con un mensaje.</a:t>
            </a:r>
          </a:p>
          <a:p/>
          <a:p>
            <a:r>
              <a:t>CUIDADO: Poner AFTER en el trigger que debe impedir algo es el error más común: cuando corre, el dato ya está escrito.</a:t>
            </a:r>
          </a:p>
          <a:p/>
          <a:p>
            <a:r>
              <a:t>PASA A LA SIGUIENTE: Veamos el trigger BEFORE que impide un stock negativo, en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 trigger de auditoría guarda el antes y el después de cada cambio. Es el mejor uso de un trigger porque nadie puede saltárselo. La cláusula WHEN decide qué cambios valen la pena registrar.</a:t>
            </a:r>
          </a:p>
          <a:p/>
          <a:p>
            <a:r>
              <a:t>CÓMO DARLA (≈4 min):</a:t>
            </a:r>
          </a:p>
          <a:p>
            <a:r>
              <a:t>  • Al entrar: UPDATE 1: pendiente → confirmada. Cambió el estado, el WHEN lo deja pasar y aparece la primera fila en audit_cita.</a:t>
            </a:r>
          </a:p>
          <a:p>
            <a:r>
              <a:t>  • Clic 1: UPDATE 2: confirmada → atendida. Otra vez cambió: segunda fila.</a:t>
            </a:r>
          </a:p>
          <a:p>
            <a:r>
              <a:t>  • Clic 2: UPDATE 3: atendida → atendida. No cambió nada: el WHEN lo detiene y no se escribe nada.</a:t>
            </a:r>
          </a:p>
          <a:p>
            <a:r>
              <a:t>  • Clic 3: Resultado: tres UPDATE, dos filas. Sin el WHEN serían tres, y la auditoría se llenaría de ruido.</a:t>
            </a:r>
          </a:p>
          <a:p/>
          <a:p>
            <a:r>
              <a:t>SI PREGUNTAN:</a:t>
            </a:r>
          </a:p>
          <a:p>
            <a:r>
              <a:t>  • «¿Por qué IS DISTINCT FROM y no &lt;&gt;?» → Porque si uno de los dos es NULL, &lt;&gt; devuelve NULL y el cambio no se registra. IS DISTINCT FROM trata NULL como un valor comparable.</a:t>
            </a:r>
          </a:p>
          <a:p/>
          <a:p>
            <a:r>
              <a:t>CUIDADO: En la demo ejecuta los tres UPDATE y muestra la tabla audit_cita; si no se ve el resultado, el grupo concluye que el trigger no hizo nada.</a:t>
            </a:r>
          </a:p>
          <a:p/>
          <a:p>
            <a:r>
              <a:t>PASA A LA SIGUIENTE: El código completo de este trigger.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demo retira a propósito el CHECK (stock &gt;= 0) para mostrar qué pasa sin defensa, y luego la defensa con un trigger. La lección no es «trigger mejor que CHECK»: es saber cuándo cada uno.</a:t>
            </a:r>
          </a:p>
          <a:p/>
          <a:p>
            <a:r>
              <a:t>CÓMO DARLA (≈4 min):</a:t>
            </a:r>
          </a:p>
          <a:p>
            <a:r>
              <a:t>  • Al entrar: Sin defensa: el UPDATE resta 10 a un insumo con 3 unidades y la base guarda −7. Pregunta: «¿qué significa tener −7 vacunas?».</a:t>
            </a:r>
          </a:p>
          <a:p>
            <a:r>
              <a:t>  • Clic 1: Con el trigger BEFORE: el mismo UPDATE choca con RAISE EXCEPTION, se rechaza y el stock sigue en 3.</a:t>
            </a:r>
          </a:p>
          <a:p>
            <a:r>
              <a:t>  • Clic 2: La regla: si cabe en un CHECK, va en un CHECK; el trigger es para lo que necesita mirar otra fila u otra tabla.</a:t>
            </a:r>
          </a:p>
          <a:p/>
          <a:p>
            <a:r>
              <a:t>SI PREGUNTAN:</a:t>
            </a:r>
          </a:p>
          <a:p>
            <a:r>
              <a:t>  • «Entonces, ¿para qué el trigger si el CHECK ya lo hacía?» → Para esta regla, no hace falta. El trigger se justifica cuando la regla consulta otra tabla, por ejemplo que la mascota esté activa al agendar.</a:t>
            </a:r>
          </a:p>
          <a:p/>
          <a:p>
            <a:r>
              <a:t>CUIDADO: Si no retiras el CHECK antes de la demo, el UPDATE falla por la restricción y nadie ve el trigger actuar.</a:t>
            </a:r>
          </a:p>
          <a:p/>
          <a:p>
            <a:r>
              <a:t>PASA A LA SIGUIENTE: Ordenemos dónde va cada regla: las cuatro capas.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Cada regla tiene una capa natural, y el orden de las capas es el orden de preferencia: lo más simple y difícil de saltarse primero.</a:t>
            </a:r>
          </a:p>
          <a:p/>
          <a:p>
            <a:r>
              <a:t>CÓMO DARLA (≈4 min):</a:t>
            </a:r>
          </a:p>
          <a:p>
            <a:r>
              <a:t>  • Al entrar: Las cuatro capas, de la más preferida a la menos. Léelas en orden.</a:t>
            </a:r>
          </a:p>
          <a:p>
            <a:r>
              <a:t>  • Clic 1: Dos reglas caen en su capa: «stock &gt;= 0» en CHECK; «un veterinario, una franja» en UNIQUE (id_veterinario, fecha_hora).</a:t>
            </a:r>
          </a:p>
          <a:p>
            <a:r>
              <a:t>  • Clic 2: Otras dos: «auditar el cambio de estado» en trigger; «el formato del correo» en la aplicación.</a:t>
            </a:r>
          </a:p>
          <a:p>
            <a:r>
              <a:t>  • Clic 3: Cierre: lo que solo vive en la aplicación se salta conectándose por otra vía (como hicimos con SET ROLE en la Clase 2).</a:t>
            </a:r>
          </a:p>
          <a:p/>
          <a:p>
            <a:r>
              <a:t>SI PREGUNTAN:</a:t>
            </a:r>
          </a:p>
          <a:p>
            <a:r>
              <a:t>  • «¿La doble reserva no es para un trigger que cuente citas?» → No: un UNIQUE la impide siempre, incluso con dos usuarios a la vez. El trigger que cuenta puede fallar con concurrencia (se ve en la Clase 10).</a:t>
            </a:r>
          </a:p>
          <a:p/>
          <a:p>
            <a:r>
              <a:t>PASA A LA SIGUIENTE: Una guía rápida para decidirlo con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Los triggers son poderosos pero invisibles. Estos cuatro casos son señales de que la regla debe vivir en otro lado.</a:t>
            </a:r>
          </a:p>
          <a:p/>
          <a:p>
            <a:r>
              <a:t>CÓMO DARLA (≈3 min):</a:t>
            </a:r>
          </a:p>
          <a:p>
            <a:r>
              <a:t>  • Al entrar: Caso 1: si una restricción declarativa lo resuelve, no se escribe trigger.</a:t>
            </a:r>
          </a:p>
          <a:p>
            <a:r>
              <a:t>  • Clic 1: Caso 2: un descuento que el administrador puede autorizar: el trigger no distingue el caso autorizado.</a:t>
            </a:r>
          </a:p>
          <a:p>
            <a:r>
              <a:t>  • Clic 2: Caso 3: enviar un correo dentro del trigger alarga la transacción y la deja esperando a un servicio externo.</a:t>
            </a:r>
          </a:p>
          <a:p>
            <a:r>
              <a:t>  • Clic 3: Caso 4: lógica con varios pasos va en un procedimiento, que se llama a propósito y se prueba solo.</a:t>
            </a:r>
          </a:p>
          <a:p/>
          <a:p>
            <a:r>
              <a:t>CUIDADO: Un trigger también se ejecuta en cargas masivas: un UPDATE de 10.000 filas dispara 10.000 veces un trigger FOR EACH ROW.</a:t>
            </a:r>
          </a:p>
          <a:p/>
          <a:p>
            <a:r>
              <a:t>PASA A LA SIGUIENTE: Cambiamos de tema: proteger y recuperar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Seguridad y respaldo responden preguntas distintas. La seguridad reduce la probabilidad de daño; el respaldo reduce cuánto duele cuando el daño ocurre.</a:t>
            </a:r>
          </a:p>
          <a:p/>
          <a:p>
            <a:r>
              <a:t>CÓMO DARLA (≈3 min):</a:t>
            </a:r>
          </a:p>
          <a:p>
            <a:r>
              <a:t>  • Al entrar: Los dos lados: el escudo (roles y permisos de la Clase 2) y la base que se copia.</a:t>
            </a:r>
          </a:p>
          <a:p>
            <a:r>
              <a:t>  • Clic 1: pg_dump -Fc -d clinica -f clinica_AAAAMMDD.dump: copia una base, tablas y datos, en formato que permite restaurar selectivamente.</a:t>
            </a:r>
          </a:p>
          <a:p>
            <a:r>
              <a:t>  • Clic 2: pg_dumpall --globals-only: copia los roles, que pg_dump no incluye porque son del servidor, no de la base.</a:t>
            </a:r>
          </a:p>
          <a:p/>
          <a:p>
            <a:r>
              <a:t>SI PREGUNTAN:</a:t>
            </a:r>
          </a:p>
          <a:p>
            <a:r>
              <a:t>  • «Si restauro el dump, ¿vuelven los permisos?» → Los GRANT sobre las tablas sí, pero si los roles no existen en el servidor nuevo, nadie puede entrar. Por eso se respaldan aparte.</a:t>
            </a:r>
          </a:p>
          <a:p/>
          <a:p>
            <a:r>
              <a:t>PASA A LA SIGUIENTE: Un plan de respaldo de verdad tiene seis partes.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RPO mira hacia atrás (cuánto de lo último se pierde); RTO mira hacia adelante (cuánto tarda en volver). Los dos se fijan con el negocio, no con el administrador de la base.</a:t>
            </a:r>
          </a:p>
          <a:p/>
          <a:p>
            <a:r>
              <a:t>CÓMO DARLA (≈4 min):</a:t>
            </a:r>
          </a:p>
          <a:p>
            <a:r>
              <a:t>  • Al entrar: La línea de tiempo: el último respaldo y el momento en que la base se cae.</a:t>
            </a:r>
          </a:p>
          <a:p>
            <a:r>
              <a:t>  • Clic 1: Lo que hay entre el respaldo y la caída se pierde: eso es el RPO. Lo que tarda en volver: el RTO.</a:t>
            </a:r>
          </a:p>
          <a:p>
            <a:r>
              <a:t>  • Clic 2: Con números de la clínica: 4 horas de RPO son 15 a 20 citas sin registro; 8 horas de RTO un sábado es cerrar el día.</a:t>
            </a:r>
          </a:p>
          <a:p>
            <a:r>
              <a:t>  • Clic 3: Quién decide: el dueño del negocio, porque es quien paga la pérdida.</a:t>
            </a:r>
          </a:p>
          <a:p/>
          <a:p>
            <a:r>
              <a:t>SI PREGUNTAN:</a:t>
            </a:r>
          </a:p>
          <a:p>
            <a:r>
              <a:t>  • «¿Con un dump diario cuál es el RPO?» → Hasta 24 horas. Si es demasiado, hace falta archivado continuo del WAL.</a:t>
            </a:r>
          </a:p>
          <a:p/>
          <a:p>
            <a:r>
              <a:t>PASA A LA SIGUIENTE: ¿Qué de todo esto podemos ejecutar en el navegador?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herramienta del curso es PostgreSQL ejecutándose dentro del navegador. Todo el código SQL de hoy funciona ahí; las herramientas de respaldo no, porque necesitan archivos y un servidor.</a:t>
            </a:r>
          </a:p>
          <a:p/>
          <a:p>
            <a:r>
              <a:t>CÓMO DARLA (≈2 min):</a:t>
            </a:r>
          </a:p>
          <a:p>
            <a:r>
              <a:t>  • Al entrar: Columna izquierda: lo que se ejecuta y se ve. Columna derecha: lo que se escribe en el plan con su comando exacto.</a:t>
            </a:r>
          </a:p>
          <a:p/>
          <a:p>
            <a:r>
              <a:t>CUIDADO: No digas «la herramienta no sirve para respaldos»: la razón precisa es que esos programas leen y escriben archivos del servidor.</a:t>
            </a:r>
          </a:p>
          <a:p/>
          <a:p>
            <a:r>
              <a:t>PASA A LA SIGUIENTE: Cómo se conecta lo de hoy con lo que ya vimos.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Nada de hoy es nuevo del todo: cada pieza se apoya en una clase anterior, y lo de hoy se usa en las siguientes.</a:t>
            </a:r>
          </a:p>
          <a:p/>
          <a:p>
            <a:r>
              <a:t>CÓMO DARLA (≈2 min):</a:t>
            </a:r>
          </a:p>
          <a:p>
            <a:r>
              <a:t>  • Al entrar: Recorre la cadena de izquierda a derecha y cierra con lo que viene: la Clase 8 retoma la transacción dentro de la que corre todo trigger, y la Clase 10 explica por qué un trigger que cuenta no evita la doble reserva.</a:t>
            </a:r>
          </a:p>
          <a:p/>
          <a:p>
            <a:r>
              <a:t>PASA A LA SIGUIENTE: Vamos 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Hoy la base deja de ser solo un lugar donde se guardan datos y empieza a defenderse sola: funciones que calculan, triggers que reaccionan sin que nadie los llame, y un plan para el día en que algo salga mal.</a:t>
            </a:r>
          </a:p>
          <a:p/>
          <a:p>
            <a:r>
              <a:t>CÓMO DARLA (≈4 min):</a:t>
            </a:r>
          </a:p>
          <a:p>
            <a:r>
              <a:t>  • Al entrar: Lee el tema en voz alta y haz la pregunta de arranque: «si mañana alguien conecta un programa nuevo a la base y se salta la aplicación, ¿qué reglas siguen protegiendo los datos?». Deja que respondan 1-2 personas.</a:t>
            </a:r>
          </a:p>
          <a:p>
            <a:r>
              <a:t>  • Clic 1: Cierra: «al final de hoy van a poder responder eso con nombres concretos: CHECK, trigger, función, y qué hacer si de todos modos se pierde algo».</a:t>
            </a:r>
          </a:p>
          <a:p/>
          <a:p>
            <a:r>
              <a:t>PASA A LA SIGUIENTE: Empezamos por la diferencia que más confunde: función y procedimiento.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recorrido de las dos horas: teoría con una lámina por concepto, demo sobre la base de la clínica y práctica opcional.</a:t>
            </a:r>
          </a:p>
          <a:p/>
          <a:p>
            <a:r>
              <a:t>CÓMO DARLA (≈1 min):</a:t>
            </a:r>
          </a:p>
          <a:p>
            <a:r>
              <a:t>  • Al entrar: Señala solo los tramos; no te detengas. La práctica está en la carpeta de la clase y es opcional.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Una función completa que calcula un recargo de fin de semana. Sirve para ver el molde entero y entender IMMUTABLE.</a:t>
            </a:r>
          </a:p>
          <a:p/>
          <a:p>
            <a:r>
              <a:t>CÓMO DARLA (≈3 min):</a:t>
            </a:r>
          </a:p>
          <a:p>
            <a:r>
              <a:t>  • Al entrar: Recorre de arriba abajo: nombre y parámetros (línea 1), RETURNS DECIMAL (qué tipo devuelve), LANGUAGE plpgsql, IMMUTABLE, y el cuerpo entre $$.</a:t>
            </a:r>
          </a:p>
          <a:p>
            <a:r>
              <a:t>  • Clic 1: En el cuerpo: si el día es sábado o domingo (DOW 6 o 0) devuelve la base por 1,25; si no, la base. Cada camino termina en un RETURN.</a:t>
            </a:r>
          </a:p>
          <a:p>
            <a:r>
              <a:t>  • Clic 2: Lee el comentario final: IMMUTABLE significa «mismos argumentos, mismo resultado, siempre», y por eso el motor puede guardar el resultado o usar la función en un índice.</a:t>
            </a:r>
          </a:p>
          <a:p/>
          <a:p>
            <a:r>
              <a:t>EJEMPLO: fn_recargo_festivo(100000, DATE '2026-10-04') — 4 de octubre de 2026 es domingo — devuelve 125000.00.</a:t>
            </a:r>
          </a:p>
          <a:p/>
          <a:p>
            <a:r>
              <a:t>SI PREGUNTAN:</a:t>
            </a:r>
          </a:p>
          <a:p>
            <a:r>
              <a:t>  • «¿Por qué no puede ser IMMUTABLE si usa NOW()?» → Porque con los mismos argumentos el resultado cambia según el momento. Una función que lee la hora o una tabla es STABLE o VOLATILE.</a:t>
            </a:r>
          </a:p>
          <a:p>
            <a:r>
              <a:t>  • «¿Qué pasa si declaro IMMUTABLE algo que no lo es?» → El motor confía en la promesa y puede devolver resultados viejos o incorrectos, sobre todo si la función se usa en un índice.</a:t>
            </a:r>
          </a:p>
          <a:p/>
          <a:p>
            <a:r>
              <a:t>CUIDADO: No confundir con Oracle: aquí es RETURNS (no RETURN ... IS) y el cuerpo va entre $$.</a:t>
            </a:r>
          </a:p>
          <a:p/>
          <a:p>
            <a:r>
              <a:t>PASA A LA SIGUIENTE: Ahora la función de tarifas de la clínica y sus tres detalles finos.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Esta lámina reúne la función completa y los tres errores que más aparecen al escribirla: copiar RETURNS TRIGGER del trigger, olvidar UPPER() y declarar IMMUTABLE una función que consulta tablas.</a:t>
            </a:r>
          </a:p>
          <a:p/>
          <a:p>
            <a:r>
              <a:t>CÓMO DARLA (≈3 min):</a:t>
            </a:r>
          </a:p>
          <a:p>
            <a:r>
              <a:t>  • Al entrar: Recorre la ilustración de arriba abajo: CREATE FUNCTION + nombre, parámetros con su tipo, RETURNS NUMERIC y la volatilidad IMMUTABLE. Abajo, por qué RETURNS TRIGGER está tachado y qué promete IMMUTABLE.</a:t>
            </a:r>
          </a:p>
          <a:p/>
          <a:p>
            <a:r>
              <a:t>EJEMPLO: SELECT nombre, especie, fn_precio_consulta(especie, FALSE) AS normal, fn_precio_consulta(especie, TRUE) AS urgencia FROM mascota;</a:t>
            </a:r>
          </a:p>
          <a:p/>
          <a:p>
            <a:r>
              <a:t>SI PREGUNTAN:</a:t>
            </a:r>
          </a:p>
          <a:p>
            <a:r>
              <a:t>  • «¿Dónde filtro las mascotas inactivas?» → En el WHERE de la consulta que llama a la función. Si la función leyera la tabla mascota dejaría de ser IMMUTABLE (sería STABLE).</a:t>
            </a:r>
          </a:p>
          <a:p/>
          <a:p>
            <a:r>
              <a:t>CUIDADO: RETURNS TRIGGER solo existe para la función que ejecuta un trigger; si aparece aquí, la función no se puede usar en un SELECT.</a:t>
            </a:r>
          </a:p>
          <a:p/>
          <a:p>
            <a:r>
              <a:t>PASA A LA SIGUIENTE: Pasamos al objeto que nadie invoca: el trigger.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 trigger BEFORE completo que impide que el stock de un insumo quede negativo. Son las dos piezas: la función y la asociación.</a:t>
            </a:r>
          </a:p>
          <a:p/>
          <a:p>
            <a:r>
              <a:t>CÓMO DARLA (≈3 min):</a:t>
            </a:r>
          </a:p>
          <a:p>
            <a:r>
              <a:t>  • Al entrar: La función: si NEW.stock &lt; 0, RAISE EXCEPTION con el id y el valor; si no, RETURN NEW para que la fila se guarde.</a:t>
            </a:r>
          </a:p>
          <a:p>
            <a:r>
              <a:t>  • Clic 1: La asociación: BEFORE UPDATE OF stock ON insumo, FOR EACH ROW, EXECUTE FUNCTION. Solo se dispara cuando cambia la columna stock.</a:t>
            </a:r>
          </a:p>
          <a:p>
            <a:r>
              <a:t>  • Clic 2: Lee el comentario: en BEFORE, devolver NULL cancelaría sin aviso; por eso se usa RAISE EXCEPTION.</a:t>
            </a:r>
          </a:p>
          <a:p/>
          <a:p>
            <a:r>
              <a:t>EJEMPLO: Con 3 unidades, UPDATE insumo SET stock = stock - 10 WHERE id_insumo = 2 → ERROR: Stock negativo en el insumo 2 (-7). El stock sigue en 3.</a:t>
            </a:r>
          </a:p>
          <a:p/>
          <a:p>
            <a:r>
              <a:t>SI PREGUNTAN:</a:t>
            </a:r>
          </a:p>
          <a:p>
            <a:r>
              <a:t>  • «¿El error deshace solo esa fila?» → Deshace toda la sentencia (y la transacción en curso, si no se maneja): nada del UPDATE queda escrito.</a:t>
            </a:r>
          </a:p>
          <a:p/>
          <a:p>
            <a:r>
              <a:t>PASA A LA SIGUIENTE: El uso donde los triggers brillan de verdad: la auditoría.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trigger de auditoría completo, con sus dos piezas rotuladas.</a:t>
            </a:r>
          </a:p>
          <a:p/>
          <a:p>
            <a:r>
              <a:t>CÓMO DARLA (≈3 min):</a:t>
            </a:r>
          </a:p>
          <a:p>
            <a:r>
              <a:t>  • Al entrar: Pieza 1, la función: inserta en audit_cita el id, la acción y el estado anterior y nuevo. Usuario y fecha los pone la tabla por DEFAULT. Termina en RETURN NEW.</a:t>
            </a:r>
          </a:p>
          <a:p>
            <a:r>
              <a:t>  • Clic 1: Pieza 2, la asociación: AFTER UPDATE OF estado ON cita, FOR EACH ROW, con el WHEN que descarta los no-cambios, y EXECUTE FUNCTION.</a:t>
            </a:r>
          </a:p>
          <a:p>
            <a:r>
              <a:t>  • Clic 2: Señala que NEW y OLD van sin dos puntos (en Oracle llevan dos puntos).</a:t>
            </a:r>
          </a:p>
          <a:p/>
          <a:p>
            <a:r>
              <a:t>EJEMPLO: Después de los tres UPDATE: SELECT accion, valor_anterior, valor_nuevo FROM audit_cita; → 2 filas.</a:t>
            </a:r>
          </a:p>
          <a:p/>
          <a:p>
            <a:r>
              <a:t>CUIDADO: El trigger es invisible para quien solo lee el código de la aplicación: documéntalo junto al esquema.</a:t>
            </a:r>
          </a:p>
          <a:p/>
          <a:p>
            <a:r>
              <a:t>PASA A LA SIGUIENTE: Ahora el trigger que no registra sino que impide.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Las mismas cuatro capas convertidas en preguntas: la primera respuesta «sí» decide dónde va la regla.</a:t>
            </a:r>
          </a:p>
          <a:p/>
          <a:p>
            <a:r>
              <a:t>CÓMO DARLA (≈2 min):</a:t>
            </a:r>
          </a:p>
          <a:p>
            <a:r>
              <a:t>  • Al entrar: Recorre el árbol con dos reglas del grupo: pide una regla de la clínica y bájenla pregunta por pregunta hasta su capa.</a:t>
            </a:r>
          </a:p>
          <a:p/>
          <a:p>
            <a:r>
              <a:t>EJEMPLO: «Una cita no puede ser en domingo» → mira solo su fila → CHECK. «No agendar a una mascota inactiva» → mira otra tabla → trigger o procedimiento.</a:t>
            </a:r>
          </a:p>
          <a:p/>
          <a:p>
            <a:r>
              <a:t>PASA A LA SIGUIENTE: ¿Y cuándo un trigger es mala idea?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 plan de respaldo no es una lista de comandos: dice cuánto se puede perder, en cuánto se vuelve y cómo se comprueba que la vuelta funciona.</a:t>
            </a:r>
          </a:p>
          <a:p/>
          <a:p>
            <a:r>
              <a:t>CÓMO DARLA (≈3 min):</a:t>
            </a:r>
          </a:p>
          <a:p>
            <a:r>
              <a:t>  • Al entrar: Recorre las seis tarjetas en orden. Detente en la 2 (la hora se justifica con el negocio: dump a las 20:30 porque la facturación cierra a las 20:00) y en la 5: un respaldo que nunca se restauró es solo un archivo.</a:t>
            </a:r>
          </a:p>
          <a:p/>
          <a:p>
            <a:r>
              <a:t>EJEMPLO: Retención 7 diarias, 4 semanales y 12 mensuales, con una copia fuera del servidor.</a:t>
            </a:r>
          </a:p>
          <a:p/>
          <a:p>
            <a:r>
              <a:t>PASA A LA SIGUIENTE: Las dos siglas del plan que más se confunden: RPO y 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demo muestra en vivo lo que se explicó: una función que se usa en una consulta, un trigger que audita y un trigger que impide.</a:t>
            </a:r>
          </a:p>
          <a:p/>
          <a:p>
            <a:r>
              <a:t>CÓMO DARLA (≈15 min):</a:t>
            </a:r>
          </a:p>
          <a:p>
            <a:r>
              <a:t>  • Al entrar: 1) CREATE de fn_precio_consulta y SELECT con la tarifa por mascota. 2) Las dos piezas del trigger de auditoría; tres UPDATE de estado (el tercero sin cambio) y SELECT de audit_cita: 2 filas. 3) Quitar el CHECK, UPDATE a −7, crear el trigger BEFORE, repetir: error y stock en 3.</a:t>
            </a:r>
          </a:p>
          <a:p/>
          <a:p>
            <a:r>
              <a:t>CUIDADO: Muestra siempre el SELECT del resultado: el trigger es invisible si no se mira la tabla.</a:t>
            </a:r>
          </a:p>
          <a:p/>
          <a:p>
            <a:r>
              <a:t>PASA A LA SIGUIENTE: Cierre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Cierre: la base ya no solo guarda; calcula con funciones, reacciona con triggers y tiene un plan para volver si algo se pierde.</a:t>
            </a:r>
          </a:p>
          <a:p/>
          <a:p>
            <a:r>
              <a:t>CÓMO DARLA (≈3 min):</a:t>
            </a:r>
          </a:p>
          <a:p>
            <a:r>
              <a:t>  • Al entrar: Pregunta de salida: «nombren una regla de la clínica y digan en qué capa va». Toma dos o tres respuestas y corrige la capa si hace falta.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1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notesSlide" Target="../notesSlides/notesSlide1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Funciones · Triggers · Seguridad y respaldo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La base que calcula, reacciona y se recupera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 · Tema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Funciones · Triggers · Seguridad y respaldo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PostgreSQL + Google Docs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Gratis + navegador · free tier · sin software de pago obligatorio.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Recorrido: teoría del tema, una lámina por concepto, y demo del docente sobre la base de la clínica.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lámina se sostiene sola: sirve para repasar aunque hayas faltado.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Conceptos de hoy: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Funcion y procedimiento · La funcion de tarifas, y por que IMMUTABLE importa · Los tres detalles de fn_precio_consulta · El trigger.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· clase regular · la clínica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Teoría Core breve (al servicio del proyecto)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35-55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con la herramienta del día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55-105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Práctica (opcional, guía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Cierre conceptual · dudas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Funcion y procedimiento: se distinguen por su papel, no por su sintaxis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uncion-o-procedimient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funcion-o-procedimient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funcion-o-procedimient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función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usa para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obtener un valor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va dentro de un SELECT, como cualquier columna.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procedimiento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usa para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hacer algo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se llama con CALL y cambia los datos.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escriben casi igual; la función añade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RETURNS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al menos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RETURN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pregunta para elegir: ¿necesito un valor o necesito un cambio?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funcion de tarifas, y por que IMMUTABLE importa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3134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36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342"/>
              </a:spcAft>
            </a:pPr>
            <a:r>
              <a:rPr sz="1600" i="0" b="0">
                <a:solidFill>
                  <a:srgbClr val="858585"/>
                </a:solidFill>
                <a:latin typeface="Consolas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436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OR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REPLACE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FUNCTION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CDCAA"/>
                </a:solidFill>
                <a:latin typeface="Consolas"/>
              </a:rPr>
              <a:t>fn_recargo_festivo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p_base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4EC9B0"/>
                </a:solidFill>
                <a:latin typeface="Consolas"/>
              </a:rPr>
              <a:t>DECIMAL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p_dia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4EC9B0"/>
                </a:solidFill>
                <a:latin typeface="Consolas"/>
              </a:rPr>
              <a:t>DATE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RETURNS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4EC9B0"/>
                </a:solidFill>
                <a:latin typeface="Consolas"/>
              </a:rPr>
              <a:t>DECIMAL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LANGUAGE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plpgsql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IMMUTABLE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              </a:t>
            </a:r>
            <a:r>
              <a:rPr sz="1600" i="1" b="0">
                <a:solidFill>
                  <a:srgbClr val="6A9955"/>
                </a:solidFill>
                <a:latin typeface="Consolas"/>
              </a:rPr>
              <a:t>-- mismo resultado para los mismos argumentos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$$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BEGIN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IF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CDCAA"/>
                </a:solidFill>
                <a:latin typeface="Consolas"/>
              </a:rPr>
              <a:t>EXTRACT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DOW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p_dia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IN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600" i="0" b="0">
                <a:solidFill>
                  <a:srgbClr val="B5CEA8"/>
                </a:solidFill>
                <a:latin typeface="Consolas"/>
              </a:rPr>
              <a:t>0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B5CEA8"/>
                </a:solidFill>
                <a:latin typeface="Consolas"/>
              </a:rPr>
              <a:t>6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THEN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  </a:t>
            </a:r>
            <a:r>
              <a:rPr sz="1600" i="1" b="0">
                <a:solidFill>
                  <a:srgbClr val="6A9955"/>
                </a:solidFill>
                <a:latin typeface="Consolas"/>
              </a:rPr>
              <a:t>-- 0 domingo, 6 sabado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RETURN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CDCAA"/>
                </a:solidFill>
                <a:latin typeface="Consolas"/>
              </a:rPr>
              <a:t>ROUND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p_base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* </a:t>
            </a:r>
            <a:r>
              <a:rPr sz="1600" i="0" b="0">
                <a:solidFill>
                  <a:srgbClr val="B5CEA8"/>
                </a:solidFill>
                <a:latin typeface="Consolas"/>
              </a:rPr>
              <a:t>1.25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B5CEA8"/>
                </a:solidFill>
                <a:latin typeface="Consolas"/>
              </a:rPr>
              <a:t>2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IF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600" i="0" b="0">
                <a:solidFill>
                  <a:srgbClr val="569CD6"/>
                </a:solidFill>
                <a:latin typeface="Consolas"/>
              </a:rPr>
              <a:t>RETURN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600" i="0" b="0">
                <a:solidFill>
                  <a:srgbClr val="DCDCAA"/>
                </a:solidFill>
                <a:latin typeface="Consolas"/>
              </a:rPr>
              <a:t>ROUND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p_base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600" i="0" b="0">
                <a:solidFill>
                  <a:srgbClr val="B5CEA8"/>
                </a:solidFill>
                <a:latin typeface="Consolas"/>
              </a:rPr>
              <a:t>2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569CD6"/>
                </a:solidFill>
                <a:latin typeface="Consolas"/>
              </a:rPr>
              <a:t>$$</a:t>
            </a:r>
            <a:r>
              <a:rPr sz="16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42"/>
              </a:spcAft>
            </a:pPr>
            <a:r>
              <a:rPr sz="16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-- IMMUTABLE permite indexar la expresion y cachear el resultado. Una funcion</a:t>
            </a:r>
          </a:p>
          <a:p>
            <a:pPr>
              <a:spcAft>
                <a:spcPts val="342"/>
              </a:spcAft>
            </a:pPr>
            <a:r>
              <a:rPr sz="1600" i="1" b="0">
                <a:solidFill>
                  <a:srgbClr val="6A9955"/>
                </a:solidFill>
                <a:latin typeface="Consolas"/>
              </a:rPr>
              <a:t>-- que lee NOW() o una tabla NO es inmutable: seria STABLE o VOLATILE.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tres detalles de fn_precio_consulta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n-precio-consult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fn-precio-consult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fn-precio-consult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fn-precio-consulta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UPPER()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iguala cómo llega escrita la especie: «Canino», «canino» y «CANINO» cobran lo mismo.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CASE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la tabla de tarifas; su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ELSE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da precio a cualquier especie no prevista.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COALESCE(urgencia, FALSE)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convierte un NULL en un «no»: el recargo nunca deja la factura vacía.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funcion de tarifas: RETURNS NUMERIC, CASE, COALESCE e IMMUTABLE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Los tres errores mas comunes: un RETURNS TRIGGER copiado del trigger, el UPPER() olvidado y un IMMUTABLE que lee tablas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7149" y="1449082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lus-firma-funcio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522234"/>
            <a:ext cx="5864193" cy="46913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63624"/>
            <a:ext cx="5093061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La firma decide todo: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nombre, parámetros, RETURNS NUMERIC e IMMUTABLE.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RETURNS NUMERIC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no RETURNS TRIGGER: no se asocia a una tabla, se llama desde una consulta.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IMMUTABLE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solo si no lee tablas: el filtro «mascota activa» va en la consulta, no en la función.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trigger: el unico que nadie invoca, y en PostgreSQL son DOS objetos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igger-dos-objeto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trigger-dos-objeto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trigger-dos-objeto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trigger-dos-objetos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trigger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ejecuta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solo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cuando ocurre un INSERT, UPDATE o DELETE sobre una tabla.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PostgreSQL son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dos objetos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función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(RETURNS TRIGGER) y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asociación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(CREATE TRIGGER).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asociación dice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cuándo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dispara y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qué función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llama.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BEFORE o AFTER, y que significa el valor que se retorna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fore-after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before-after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before-after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before-after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BEFORE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corre antes de escribir la fila: puede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cambiarla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impedirla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AFTER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corre con la fila ya escrita: solo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registra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; su valor de retorno se ignora.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Para rechazar se usa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RAISE EXCEPTION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un RETURN NULL cancela en silencio.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BEFORE o AFTER: uno puede impedir, el otro solo registrar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6944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75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15</a:t>
            </a:r>
          </a:p>
          <a:p>
            <a:pPr algn="r">
              <a:spcAft>
                <a:spcPts val="321"/>
              </a:spcAft>
            </a:pPr>
            <a:r>
              <a:rPr sz="1500" i="0" b="0">
                <a:solidFill>
                  <a:srgbClr val="858585"/>
                </a:solidFill>
                <a:latin typeface="Consolas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4750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21"/>
              </a:spcAft>
            </a:pPr>
            <a:r>
              <a:rPr sz="1500" i="1" b="0">
                <a:solidFill>
                  <a:srgbClr val="6A9955"/>
                </a:solidFill>
                <a:latin typeface="Consolas"/>
              </a:rPr>
              <a:t>-- BEFORE puede cambiar NEW o abortar. Es el que IMPIDE.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OR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REPLACE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FUNCTION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CDCAA"/>
                </a:solidFill>
                <a:latin typeface="Consolas"/>
              </a:rPr>
              <a:t>fn_trg_stock_no_negativo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569CD6"/>
                </a:solidFill>
                <a:latin typeface="Consolas"/>
              </a:rPr>
              <a:t>RETURNS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trigger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569CD6"/>
                </a:solidFill>
                <a:latin typeface="Consolas"/>
              </a:rPr>
              <a:t>LANGUAGE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plpgsql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$$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569CD6"/>
                </a:solidFill>
                <a:latin typeface="Consolas"/>
              </a:rPr>
              <a:t>BEGIN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IF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NEW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stock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&lt; </a:t>
            </a:r>
            <a:r>
              <a:rPr sz="1500" i="0" b="0">
                <a:solidFill>
                  <a:srgbClr val="B5CEA8"/>
                </a:solidFill>
                <a:latin typeface="Consolas"/>
              </a:rPr>
              <a:t>0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THEN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RAISE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EXCEPTION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CE9178"/>
                </a:solidFill>
                <a:latin typeface="Consolas"/>
              </a:rPr>
              <a:t>'Stock negativo en el insumo % (%)'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NEW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id_insumo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NEW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stock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IF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RETURN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NEW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;          </a:t>
            </a:r>
            <a:r>
              <a:rPr sz="1500" i="1" b="0">
                <a:solidFill>
                  <a:srgbClr val="6A9955"/>
                </a:solidFill>
                <a:latin typeface="Consolas"/>
              </a:rPr>
              <a:t>-- en BEFORE, devolver NULL cancela la operacion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569CD6"/>
                </a:solidFill>
                <a:latin typeface="Consolas"/>
              </a:rPr>
              <a:t>$$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TRIGGER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trg_stock_no_negativo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569CD6"/>
                </a:solidFill>
                <a:latin typeface="Consolas"/>
              </a:rPr>
              <a:t>BEFORE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UPDATE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OF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stock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insumo</a:t>
            </a:r>
          </a:p>
          <a:p>
            <a:pPr>
              <a:spcAft>
                <a:spcPts val="321"/>
              </a:spcAft>
            </a:pPr>
            <a:r>
              <a:rPr sz="1500" i="0" b="0">
                <a:solidFill>
                  <a:srgbClr val="569CD6"/>
                </a:solidFill>
                <a:latin typeface="Consolas"/>
              </a:rPr>
              <a:t>FOR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EACH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ROW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EXECUTE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569CD6"/>
                </a:solidFill>
                <a:latin typeface="Consolas"/>
              </a:rPr>
              <a:t>FUNCTION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500" i="0" b="0">
                <a:solidFill>
                  <a:srgbClr val="DCDCAA"/>
                </a:solidFill>
                <a:latin typeface="Consolas"/>
              </a:rPr>
              <a:t>fn_trg_stock_no_negativo</a:t>
            </a:r>
            <a:r>
              <a:rPr sz="1500" i="0" b="0">
                <a:solidFill>
                  <a:srgbClr val="D4D4D4"/>
                </a:solidFill>
                <a:latin typeface="Consolas"/>
              </a:rPr>
              <a:t>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auditoria: donde el trigger brilla, y el WHEN que cambia el resultado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uditoria-whe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auditoria-when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auditoria-when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auditoria-when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auditoría es ideal para un trigger: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 se puede olvidar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llamarla.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AFTER UPDATE OF estado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solo audita cambios de esa columna.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WHEN (OLD.estado IS DISTINCT FROM NEW.estado)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descarta los UPDATE que no cambian nada.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Por eso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3 UPDATE dejan 2 filas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 auditoría.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auditoria de cita: funcion, trigger y WHEN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573349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978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15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3978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8"/>
              </a:spcAft>
            </a:pPr>
            <a:r>
              <a:rPr sz="1300" i="1" b="0">
                <a:solidFill>
                  <a:srgbClr val="6A9955"/>
                </a:solidFill>
                <a:latin typeface="Consolas"/>
              </a:rPr>
              <a:t>-- 1) La funcion: NEW y OLD SIN dos puntos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OR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REPLACE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FUNCTION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fn_trg_audit_cita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RETURNS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TRIGGER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LANGUAGE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plpgsql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$fn$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BEGIN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INSERT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INTO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audit_cita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id_cita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accion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                     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valor_anterior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valor_nuevo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VALUES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NEW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id_cita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'CAMBIO_ESTADO'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       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OLD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estado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NEW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estado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);   </a:t>
            </a:r>
            <a:r>
              <a:rPr sz="1300" i="1" b="0">
                <a:solidFill>
                  <a:srgbClr val="6A9955"/>
                </a:solidFill>
                <a:latin typeface="Consolas"/>
              </a:rPr>
              <a:t>-- usuario y fecha: DEFAULT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RETURN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NEW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                        </a:t>
            </a:r>
            <a:r>
              <a:rPr sz="1300" i="1" b="0">
                <a:solidFill>
                  <a:srgbClr val="6A9955"/>
                </a:solidFill>
                <a:latin typeface="Consolas"/>
              </a:rPr>
              <a:t>-- obligatorio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$fn$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78"/>
              </a:spcAft>
            </a:pPr>
            <a:r>
              <a:rPr sz="1300" i="1" b="0">
                <a:solidFill>
                  <a:srgbClr val="6A9955"/>
                </a:solidFill>
                <a:latin typeface="Consolas"/>
              </a:rPr>
              <a:t>-- 2) La asociacion: cuando se dispara y a quien llama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TRIGGER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trg_audit_cita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AFTER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UPDATE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OF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estado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FOR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EACH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ROW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WHEN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OLD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estado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IS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DISTINCT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NEW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estado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EXECUTE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FUNCTION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fn_trg_audit_cita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El «WHEN» es lo que hace que 3 UPDATE dejen 2 filas de auditoria. Se dispara solo: el riesgo es que sea invisible para quien solo lee el codigo de la app.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trigger que impide: el hueco que el CHECK no tapa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igger-que-impid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trigger-que-impid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trigger-que-impid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Sin defensa, la base acepta un imposible: stock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−7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trigger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BEFORE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RAISE EXCEPTION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rechaza el cambio y el stock sigue en 3.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la regla mira solo la propia fila, basta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CHECK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es más barato.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trigger es para lo que mira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otra fila u otra tabla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Las cuatro capas, y en cual vive cada regla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uatro-capa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uatro-capa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uatro-capa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cuatro-capas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333333"/>
                </a:solidFill>
                <a:latin typeface="Calibri"/>
              </a:rPr>
              <a:t>1. CHECK, NOT NULL, DEFAULT: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lo que se decide mirando una sola fila.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2. UNIQUE y FK: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relaciones entre filas y entre tablas.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3. Trigger: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OLD contra NEW, otra tabla, o escribir en otra tabla.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4. Aplicación: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solo lo que la base no puede saber.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Donde vive cada validacion: CHECK, trigger o aplicacion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Cada regla tiene una capa natural: la que la garantiza aunque el SQL no venga de la aplicacion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7149" y="1449082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lus-donde-validar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522234"/>
            <a:ext cx="5864193" cy="46913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63624"/>
            <a:ext cx="5093061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¿Se decide mirando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una fila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? →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CHECK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¿Relaciona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filas o tablas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? →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UNIQUE / FK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¿Necesita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otra fila, OLD/NEW u otra tabla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? →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trigger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¿La base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 puede saberlo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? →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aplicación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Cuando NO se usa un trigger, y lo que un trigger no 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uando-no-trigger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uando-no-trigger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uando-no-trigger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cuando-no-trigger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lo resuelve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CHECK o un UNIQUE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la restricción gana.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la regla admite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excepciones autorizadas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va en la aplicación.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envía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correo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o llama un servicio: fuera de la transacción.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tiene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varios pasos y decisiones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es un procedimiento.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Seguridad y respaldo: dos preguntas complementarias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guridad-respald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seguridad-respald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seguridad-respald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seguridad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intenta que nada malo pase: roles y GRANT.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respaldo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asume que igual va a pasar y prepara la vuelta.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pg_dump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respalda UNA base; los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roles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salen con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pg_dumpall --globals-only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70432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Plan de respaldo: 6 secciones y herramientas reales de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B8D8EE"/>
                </a:solidFill>
                <a:latin typeface="Calibri"/>
              </a:rPr>
              <a:t>Un plan de respaldo dice cuanto se pierde, en cuanto se vuelve y como se comprueba que el restore sirvio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7149" y="1449082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lus-plan-respald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522234"/>
            <a:ext cx="5864193" cy="46913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563624"/>
            <a:ext cx="5093061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Qué y con qué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y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con qué frecuencia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(con su razón de negocio).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Cuántas copias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dónde: al menos una fuera del servidor.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RPO y RTO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 números, y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restore de prueba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medido.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Qué NO cubre: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el riesgo que se acepta.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RPO y RTO: dos siglas que solo sirven con un numero acordado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po-rt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rpo-rt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rpo-rt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rpo-rto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RPO: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cuántos datos se acepta perder, medido en tiempo.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RTO: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cuánto tiempo puede estar caída la base.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Solo sirven con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número acordado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con el dueño del negocio.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PostgreSQL en el navegador si puede demostrar, y lo que se documenta en papel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navegador-papel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el navegador corre todo el SQL de hoy: funciones, triggers, RAISE y bloques 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pg_dump, pg_dumpall y pg_restore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 corren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ahí: son programas de línea de comandos.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 que corre se demuestra con su salida; el plan de respaldo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se documenta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Como amarra con las clases vecinas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amarr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Clase 1: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el esquema y el CHECK de stock.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Clase 2: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los roles: current_user en la auditoría, pg_dumpall para respaldarlos.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Clase 3: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procedimientos y bloques DO, con los que se prueban los triggers.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dem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Crear fn_precio_consulta y usarla dentro de un SELECT.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Crear el trigger de auditoría y ejecutar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tres UPDATE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Probar el trigger de stock con un UPDATE que lo dejaría negativo.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4 · Funciones · Triggers · Seguridad y respaldo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Funcion y procedimiento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Los tres detalles de fn_precio_consulta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trigger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Todo lo visto queda proyectado para repasar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