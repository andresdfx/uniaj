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32"/>
    <p:sldId id="281" r:id="rId33"/>
    <p:sldId id="282" r:id="rId34"/>
    <p:sldId id="283" r:id="rId35"/>
    <p:sldId id="284" r:id="rId36"/>
    <p:sldId id="285" r:id="rId37"/>
    <p:sldId id="286" r:id="rId38"/>
    <p:sldId id="287" r:id="rId39"/>
    <p:sldId id="288" r:id="rId40"/>
    <p:sldId id="289" r:id="rId41"/>
    <p:sldId id="290" r:id="rId42"/>
    <p:sldId id="291" r:id="rId43"/>
    <p:sldId id="292" r:id="rId44"/>
    <p:sldId id="293" r:id="rId45"/>
    <p:sldId id="294" r:id="rId46"/>
    <p:sldId id="295" r:id="rId47"/>
    <p:sldId id="296" r:id="rId48"/>
    <p:sldId id="297" r:id="rId49"/>
    <p:sldId id="298" r:id="rId50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notesMaster" Target="notesMasters/notesMaster1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Relationship Id="rId31" Type="http://schemas.openxmlformats.org/officeDocument/2006/relationships/slide" Target="slides/slide24.xml"/><Relationship Id="rId32" Type="http://schemas.openxmlformats.org/officeDocument/2006/relationships/slide" Target="slides/slide25.xml"/><Relationship Id="rId33" Type="http://schemas.openxmlformats.org/officeDocument/2006/relationships/slide" Target="slides/slide26.xml"/><Relationship Id="rId34" Type="http://schemas.openxmlformats.org/officeDocument/2006/relationships/slide" Target="slides/slide27.xml"/><Relationship Id="rId35" Type="http://schemas.openxmlformats.org/officeDocument/2006/relationships/slide" Target="slides/slide28.xml"/><Relationship Id="rId36" Type="http://schemas.openxmlformats.org/officeDocument/2006/relationships/slide" Target="slides/slide29.xml"/><Relationship Id="rId37" Type="http://schemas.openxmlformats.org/officeDocument/2006/relationships/slide" Target="slides/slide30.xml"/><Relationship Id="rId38" Type="http://schemas.openxmlformats.org/officeDocument/2006/relationships/slide" Target="slides/slide31.xml"/><Relationship Id="rId39" Type="http://schemas.openxmlformats.org/officeDocument/2006/relationships/slide" Target="slides/slide32.xml"/><Relationship Id="rId40" Type="http://schemas.openxmlformats.org/officeDocument/2006/relationships/slide" Target="slides/slide33.xml"/><Relationship Id="rId41" Type="http://schemas.openxmlformats.org/officeDocument/2006/relationships/slide" Target="slides/slide34.xml"/><Relationship Id="rId42" Type="http://schemas.openxmlformats.org/officeDocument/2006/relationships/slide" Target="slides/slide35.xml"/><Relationship Id="rId43" Type="http://schemas.openxmlformats.org/officeDocument/2006/relationships/slide" Target="slides/slide36.xml"/><Relationship Id="rId44" Type="http://schemas.openxmlformats.org/officeDocument/2006/relationships/slide" Target="slides/slide37.xml"/><Relationship Id="rId45" Type="http://schemas.openxmlformats.org/officeDocument/2006/relationships/slide" Target="slides/slide38.xml"/><Relationship Id="rId46" Type="http://schemas.openxmlformats.org/officeDocument/2006/relationships/slide" Target="slides/slide39.xml"/><Relationship Id="rId47" Type="http://schemas.openxmlformats.org/officeDocument/2006/relationships/slide" Target="slides/slide40.xml"/><Relationship Id="rId48" Type="http://schemas.openxmlformats.org/officeDocument/2006/relationships/slide" Target="slides/slide41.xml"/><Relationship Id="rId49" Type="http://schemas.openxmlformats.org/officeDocument/2006/relationships/slide" Target="slides/slide42.xml"/><Relationship Id="rId50" Type="http://schemas.openxmlformats.org/officeDocument/2006/relationships/slide" Target="slides/slide43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0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2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Y hay dos trampas al senalar el nodo mas costoso, que el docente tiene que conocer antes de calificar: el tiempo que muestra un nodo INCLUYE el de sus hijos, de modo que la primera linea siempre parece la mas cara sin serlo, y actual time es POR VUELTA, asi que el costo real de un nodo es su tiempo multiplicado por loops.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De ahi que se comparen rows estimadas contra actual rows, que es literalmente una de las tres columnas que pide la pregunta 2: una divergencia de 2 veces es normal, una de 10 veces o mas es la senal clasica de estadisticas viejas o de predicados correlacionados, y esa es tambien la sexta afirmacion de la pregunta 4, que es correcta.</a:t>
            </a:r>
          </a:p>
          <a:p>
            <a:r>
              <a:t>Conviene marcar la diferencia de palabras en voz alta, porque van a aparecer las dos hoy: predicados correlacionados es esto, un asunto de estimacion; subconsulta correlacionada, la de la pregunta 3, es otra cosa completamente distinta y es un asunto de numero de ejecuciones.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Dos terminos explican por que el motor decide lo que decide.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Con eso se explica full table scan contra index scan sin caricaturas.</a:t>
            </a:r>
          </a:p>
          <a:p>
            <a:r>
              <a:t>Por eso la Clase 7 tiene que MEDIRLO y no suponerlo.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Dos detalles que valen puntos y que el docente tiene que poder justificar en el momento.</a:t>
            </a:r>
          </a:p>
          <a:p>
            <a:r>
              <a:t>No esta colgada.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Y se rompe sin avisar, porque ningun motor va a lanzar un error por eso.</a:t>
            </a:r>
          </a:p>
          <a:p>
            <a:r>
              <a:t>Por eso el taller cobra la prueba dos veces, unos 6 de los 100 puntos, y hay dos formas segun lo que se compare.</a:t>
            </a:r>
          </a:p>
          <a:p>
            <a:r>
              <a:t>Para conjuntos completos, donde el conteo puede coincidir con filas distintas, se usa EXCEPT en los DOS sentidos, y el docente tiene que saber por que son dos: A EXCEPT B devuelve lo que esta en A y no esta en B, asi que si sale vacio todavia puede haber filas de mas en B; se corren las dos direcciones unidas con UNION ALL y se exige cero filas en total.</a:t>
            </a:r>
          </a:p>
          <a:p>
            <a:r>
              <a:t>Tres advertencias al calificar.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La version ANTES es SELECT * FROM cita c, mascota m, dueno d, veterinario v con las cuatro condiciones de union en el WHERE, to_char sobre la fecha y UPPER sobre el estado, y el docente debe saber que esta mal en cada linea.</a:t>
            </a:r>
          </a:p>
          <a:p>
            <a:r>
              <a:t>SELECT * arrastra todas las columnas de las cuatro tablas cuando la pantalla de agenda necesita seis, lo cual multiplica el ancho de la fila y con el la memoria de trabajo del ordenamiento.</a:t>
            </a:r>
          </a:p>
          <a:p>
            <a:r>
              <a:t>Las dos funciones sobre columnas se explicaron en el parrafo del predicado sargable.</a:t>
            </a:r>
          </a:p>
          <a:p>
            <a:r>
              <a:t>Hay que decir aqui, y no despues, lo que la quinta afirmacion de la pregunta 4 castiga: cambiar la coma por JOIN...</a:t>
            </a:r>
          </a:p>
          <a:p>
            <a:r>
              <a:t>ON no acelera nada, porque PostgreSQL normaliza las dos formas al mismo plan interno; se gana legibilidad y se gana que un ON faltante salte a la vista, o sea seguridad, no milisegundos.</a:t>
            </a:r>
          </a:p>
          <a:p>
            <a:r>
              <a:t>Si el docente lo presenta como una mejora de rendimiento, esta ensenando justo la opcion por la que va a descontar.</a:t>
            </a:r>
          </a:p>
          <a:p>
            <a:r>
              <a:t>La version DESPUES proyecta las seis columnas, escribe los tres JOIN...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Lo que hay que documentar en papel, porque el entorno no lo permite y es literalmente la seccion 5 de la pregunta 5: los tiempos con la memoria intermedia vacia, ya que vaciarla exige privilegios de administrador; el comportamiento con varias sesiones compitiendo, que es la Clase 10; y cualquier comparacion por encima de unos cientos de miles de filas.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Cuatro preguntas aparecen siempre.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91440"/>
            <a:ext cx="12191695" cy="50292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logo_uniajc_blanc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384048"/>
            <a:ext cx="2011680" cy="876815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10042855" y="384048"/>
            <a:ext cx="1691640" cy="384048"/>
          </a:xfrm>
          <a:prstGeom prst="roundRect">
            <a:avLst>
              <a:gd name="adj" fmla="val 12000"/>
            </a:avLst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42855" y="384048"/>
            <a:ext cx="1691640" cy="38404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Clase 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2331720"/>
            <a:ext cx="10728655" cy="18288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4000" b="1" i="0">
                <a:solidFill>
                  <a:srgbClr val="FFFFFF"/>
                </a:solidFill>
                <a:latin typeface="Calibri"/>
              </a:rPr>
              <a:t>Optimizacion de consultas · VetCare</a:t>
            </a:r>
          </a:p>
        </p:txBody>
      </p:sp>
      <p:sp>
        <p:nvSpPr>
          <p:cNvPr id="9" name="Rectangle 8"/>
          <p:cNvSpPr/>
          <p:nvPr/>
        </p:nvSpPr>
        <p:spPr>
          <a:xfrm>
            <a:off x="4632807" y="4206240"/>
            <a:ext cx="2926080" cy="50292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31520" y="4361688"/>
            <a:ext cx="1072865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0" i="0">
                <a:solidFill>
                  <a:srgbClr val="B8D8EE"/>
                </a:solidFill>
                <a:latin typeface="Calibri"/>
              </a:rPr>
              <a:t>Antes/despues sobre el DDL del PI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094415" y="6419088"/>
            <a:ext cx="548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1" i="0">
                <a:solidFill>
                  <a:srgbClr val="7EB8D4"/>
                </a:solidFill>
                <a:latin typeface="Calibri"/>
              </a:rPr>
              <a:t>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Encuadre de hoy · Tema y objetivo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Tema de hoy: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Optimizacion de consultas · VetCare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Herramienta: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PostgreSQL en el navegador + Google Docs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· Bloque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120 min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Gratis + navegador · free tier · sin software de pago obligatorio.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Recorrido: teoría del tema, una lámina por concepto, y demo del docente sobre VetCare DB.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Cada lámina se sostiene sola: sirve para repasar aunque hayas faltado.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Mapa del bloque de hoy (120 min)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2176272"/>
            <a:ext cx="11277295" cy="73152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1438625" y="2066543"/>
            <a:ext cx="292608" cy="292608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57200" y="1353312"/>
            <a:ext cx="2255459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0-10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2587752"/>
            <a:ext cx="2164019" cy="33101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333333"/>
                </a:solidFill>
                <a:latin typeface="Calibri"/>
              </a:rPr>
              <a:t>Encuadre · clase regular · VetCare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694084" y="2066543"/>
            <a:ext cx="292608" cy="292608"/>
          </a:xfrm>
          <a:prstGeom prst="roundRect">
            <a:avLst>
              <a:gd name="adj" fmla="val 12000"/>
            </a:avLst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712659" y="1353312"/>
            <a:ext cx="2255459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10-35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758379" y="2587752"/>
            <a:ext cx="2164019" cy="33101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333333"/>
                </a:solidFill>
                <a:latin typeface="Calibri"/>
              </a:rPr>
              <a:t>Teoría Core breve (al servicio del PI)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949543" y="2066543"/>
            <a:ext cx="292608" cy="292608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968118" y="1353312"/>
            <a:ext cx="2255459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35-55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013838" y="2587752"/>
            <a:ext cx="2164019" cy="33101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333333"/>
                </a:solidFill>
                <a:latin typeface="Calibri"/>
              </a:rPr>
              <a:t>Demo con la herramienta del día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205002" y="2066543"/>
            <a:ext cx="292608" cy="292608"/>
          </a:xfrm>
          <a:prstGeom prst="roundRect">
            <a:avLst>
              <a:gd name="adj" fmla="val 12000"/>
            </a:avLst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223577" y="1353312"/>
            <a:ext cx="2255459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55-105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269297" y="2587752"/>
            <a:ext cx="2164019" cy="33101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333333"/>
                </a:solidFill>
                <a:latin typeface="Calibri"/>
              </a:rPr>
              <a:t>Práctica (opcional, guía en la carpeta)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10460461" y="2066543"/>
            <a:ext cx="292608" cy="292608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479036" y="1353312"/>
            <a:ext cx="2255459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105-120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524756" y="2587752"/>
            <a:ext cx="2164019" cy="33101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333333"/>
                </a:solidFill>
                <a:latin typeface="Calibri"/>
              </a:rPr>
              <a:t>Cierre conceptual · dudas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57200" y="5806440"/>
            <a:ext cx="1127729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1">
                <a:solidFill>
                  <a:srgbClr val="666666"/>
                </a:solidFill>
                <a:latin typeface="Calibri"/>
              </a:rPr>
              <a:t>Solo el bloque de </a:t>
            </a:r>
            <a:r>
              <a:rPr sz="1200" b="1" i="1">
                <a:solidFill>
                  <a:srgbClr val="666666"/>
                </a:solidFill>
                <a:latin typeface="Calibri"/>
              </a:rPr>
              <a:t>esta</a:t>
            </a:r>
            <a:r>
              <a:rPr sz="1200" b="0" i="1">
                <a:solidFill>
                  <a:srgbClr val="666666"/>
                </a:solidFill>
                <a:latin typeface="Calibri"/>
              </a:rPr>
              <a:t> clase · 120 min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SQL es declarativo: quien decide el como es el optimizador (1/2)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SQL es un lenguaje declarativo: la consulta describe QUE datos se quieren y nunca COMO obtenerlos.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Quien decide el como es el optimizador, un componente del motor que convierte la sentencia en un plan de ejecucion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Es decir el arbol de operaciones fisicas que se ejecutara de verdad: que tabla se lee primero, si completa o por indice, con que algoritmo se cruzan dos tablas y donde se ordena.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Son tres etapas: el analizador verifica sintaxis y existencia de tablas y columnas; el optimizador genera planes candidatos, estima el costo de cada uno y elige el mas barato; el ejecutor corre el elegido.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El numero que hace visible el problema, y conviene decirlo con la consulta del taller en pantalla, que cruza cuatro tablas: con tres tablas hay 6 ordenes de cruce posibles (3 factorial), con las cuatro de la agenda hay 24, con cinco 120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SQL es declarativo: quien decide el como es el optimizador (2/2)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Y al multiplicar metodos de acceso y algoritmos de cruce el espacio pasa del millar de planes; el optimizador no los prueba todos, poda con heuristicas y decide en milisegundos.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Lo decisivo es que todos devuelven EXACTAMENTE el mismo resultado y pueden diferir en tiempo por factores de cien o de mil.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Optimizar es ayudar al optimizador a encontrar el plan bueno, no reescribir SQL por gusto estetico.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Leer un plan: es un arbol y se lee de adentro hacia afuera (1/3)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Esta es la diapositiva que sostiene la pregunta 2 del taller, que vale 20 de los 100 puntos y pide tres cosas concretas de cada plan: el nodo mas costoso, las filas estimadas frente a las reales y el tiempo total.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Leer un plan tiene una regla de orden que casi nadie explica: es un arbol y se lee de adentro hacia afuera, empezando por los nodos mas indentados, que son las hojas; cada nodo consume las filas de sus hijos, y la primera linea impresa es la ULTIMA operacion.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En PostgreSQL se escribe EXPLAIN antes de la consulta, y para la agenda del taller aparece algo de esta forma: un Hash Join en la primera linea con su cost=... rows=... width=...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Y debajo, mas indentado, un Seq Scan on cita c con el filtro del dia y un Hash construido sobre un Seq Scan on mascota m.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Los cuatro campos hay que saber nombrarlos y hay que exigir que el estudiante los nombre, porque la rubrica los pide por su nombre: cost trae el costo de arranque y el costo total separados por dos puntos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Leer un plan: es un arbol y se lee de adentro hacia afuera (2/3)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Rows son las filas que el motor ESTIMA; width es el ancho promedio de la fila en bytes; y loops, que solo aparece con ANALYZE, dice cuantas veces se ejecuto ese nodo.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El costo NO esta en milisegundos, es una unidad relativa donde 1.0 equivale por convencion a leer secuencialmente una pagina de 8 KB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Y solo sirve para comparar planes del mismo motor; confundir cost con tiempo es el error mas frecuente al calificar esta pregunta.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Los tiempos reales los da EXPLAIN ANALYZE, que agrega actual time, actual rows, loops y el Execution Time del final; con la opcion BUFFERS agrega ademas cuantos bloques de 8 KB se leyeron y cuantos se acertaron en memoria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Que es de donde sale el numero exacto de paginas de cada tabla sin tener que estimarlo.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Advertencia que evita un accidente en clase: ANALYZE EJECUTA la sentencia, asi que sobre un UPDATE o un DELETE hay que envolverlo en BEGIN y ROLLBACK, lo cual ya anticipa la Clase 8; con SELECT no hay riesgo y el taller es solo de SELECT.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Leer un plan: es un arbol y se lee de adentro hacia afuera (3/3)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Un nodo de 0,5 ms con loops=2006 cuesta un segundo entero y aparece impreso como el mas barato de la pantalla; es exactamente lo que va a pasar en la pregunta 3.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En Oracle la misma lectura son dos pasos, EXPLAIN PLAN FOR y luego SELECT * FROM TABLE(DBMS_XPLAN.DISPLAY), que imprime Id, Operation, Name, Rows, Bytes, Cost y Time con la indentacion como jerarquia; se menciona como contraste, no como herramienta del dia.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Las estadisticas: metadatos que describen los datos sin leerlos (1/2)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Las estadisticas del optimizador son los metadatos que describen los datos sin leerlos: filas de la tabla, bloques que ocupa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Valores distintos por columna, fraccion de nulos y un histograma que reparte los valores en cubos para saber si estan parejos o concentrados.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PostgreSQL las recolecta con ANALYZE cita, con 100 cubos por columna por omision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Oracle usa DBMS_STATS.GATHER_TABLE_STATS(USER, 'CITA') y las expone en USER_TABLES.NUM_ROWS.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En la base del taller el ANALYZE ya esta corrido, y eso es deliberado: si faltara, el estimado contra real de la pregunta 2 saldria disparatado por una razon que no es el tema de la clase y el estudiante concluiria lo contrario de lo que hay que aprender.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Las estadisticas: metadatos que describen los datos sin leerlos (2/2)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De aqui sale la explicacion de un fenomeno que desconcierta: la misma consulta, sin cambiar una letra, puede tener hoy un plan distinto al de ayer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Porque la tabla crecio, porque se recolectaron estadisticas nuevas, porque alguien creo un indice o porque el valor comparado cambio la selectividad estimada.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El plan no es propiedad del texto SQL, es una decision tomada con la informacion disponible en ese instante.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Correlacionados quiere decir que el motor multiplica las selectividades de dos filtros como si fueran independientes y no lo son: en VetCare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Fecha_hora del 2026-03-10 y estado = 'PROGRAMADA' no lo son, porque el reparto de estados no es igual en todos los dias.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Cardinalidad y selectividad: por que el motor decide lo que decide (1/3)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La cardinalidad de una columna es la cantidad de valores distintos que contiene, y conviene advertir que la palabra se usa tambien para las filas que entrega un nodo del plan.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La selectividad de un predicado es la fraccion de filas que sobreviven al filtro, entre 0 y 1, y es lo que el optimizador calcula con las estadisticas.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Las cifras que hay que usar son las de la base del taller, no unas inventadas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Porque el estudiante las va a ver en su pantalla: 2.006 duenos, 5.008 mascotas, 16 veterinarios y 30.010 citas repartidas entre el 2026-01-05 y el 2026-07-23, o sea 200 dias distintos con exactamente 150 citas cada uno.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Cardinalidad y selectividad: por que el motor decide lo que decide (2/3)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Con eso, WHERE c.fecha_hora &gt;= TIMESTAMP '2026-03-10 00:00:00' AND c.fecha_hora &lt; TIMESTAMP '2026-03-11 00:00:00' tiene selectividad 150 sobre 30.010, o sea 0,5 %: filtro excelente.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WHERE c.estado = 'PROGRAMADA', sobre tres valores distintos (PROGRAMADA, ATENDIDA, CANCELADA), no filtra casi nada: son 18.187 filas, el 60,6 %, porque la siembra hace CANCELADA una de cada once citas y ATENDIDA una de cada tres de las que quedan.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Y WHERE m.activa = 'S', con 4.712 de las 5.008 mascotas activas, tiene selectividad 0,94: no filtra nada.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Los dos filtros juntos dejan 91 filas de 30.010, el 0,3 %, y ese 91 es el numero que el estudiante tiene que ver dos veces en la pregunta 1.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Cardinalidad y selectividad: por que el motor decide lo que decide (3/3)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La regla practica, convencion de oficio y no regla dura, dice que por debajo del 5 % de las filas conviene el indice, entre 5 % y 20 % depende del motor, y por encima del 20 % o 25 % gana leer la tabla completa.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Su origen es medible: PostgreSQL valora una lectura aleatoria de pagina en 4,0 y una secuencial en 1,0 (parametros random_page_cost y seq_page_cost), y por eso la regla se enuncia en filas pero el motor decide en costos, que no es lo mismo.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Full table scan contra index scan, sin caricaturas (1/3)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Un full table scan, que en PostgreSQL se imprime Seq Scan y en Oracle TABLE ACCESS FULL, lee todos los bloques de principio a fin y descarta en memoria lo que no cumple el filtro; su ventaja es que la lectura es secuencial.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Un index scan desciende por el indice y, por cada coincidencia, va a buscar la fila a la tabla, lo cual son lecturas dispersas.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Las cuentas de la base del taller: cita con 30.010 filas de unos 60 bytes ocupa del orden de 2 MB, unas 230 a 250 paginas de 8 KB —el numero exacto lo dice el Buffers del EXPLAIN, no hace falta estimarlo—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Y el Seq Scan cuesta esas paginas; buscar el 2026-03-10 por un indice sobre fecha_hora costaria 2 o 3 lecturas para bajar el arbol mas una por cada una de las 150 filas del dia, unas 153 en total.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14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Full table scan contra index scan, sin caricaturas (2/3)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Aqui hay que ser honesto y es mas interesante que la caricatura: a este volumen el indice no es veinte veces mejor, es del mismo orden de magnitud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Y medido en la unidad del planeador —donde una pagina dispersa vale cuatro secuenciales— puede incluso salir perdiendo.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La ventaja del indice crece con el tamano, no con el porcentaje: si Huellitas acumulara 300.000 citas, el Seq Scan pasaria a 2.400 paginas y el indice seguiria costando unas 153, y ahi si son dieciseis veces menos.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Y aqui esta el punto pedagogico central, que cambio de sitio y hay que decirlo bien: el problema de las 20 filas es el de la base propia del estudiante, la que cargo en la Clase 1, no el del taller.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Sobre 20 filas todo es instantaneo y todo se resuelve con Seq Scan, porque una tabla de 20 filas ocupa una sola pagina y no hay plan mas barato que leer una pagina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15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Full table scan contra index scan, sin caricaturas (3/3)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En ese tamano la consulta pesima y la optima miden lo mismo, entre 0,02 y 0,3 milisegundos, y la diferencia se esconde en el ruido de medicion.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Optimizar sobre 20 filas no es optimizar: es adivinar.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Justamente por eso el taller de hoy NO se hace sobre la base propia sino en la plataforma del curso, cuyo setup siembra las 30.010 citas, y por eso el script de la demo tambien las siembra: para que el docente y el estudiante midan sobre lo mismo.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Si alguien pide medir en su propia base, la respuesta es que primero tiene que fabricar volumen con generate_series, y que sin eso los numeros que reporte no significan nada.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16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Predicado sargable: el antipatron que conecta con la Clase 7 (1/3)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El antipatron de la funcion sobre la columna merece parrafo propio porque conecta con la Clase 7 y porque es el que la pregunta 4 pone de primero.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Un predicado es sargable, de Search ARGument ABLE, cuando el motor puede resolverlo navegando un indice, y para eso la columna indexada debe aparecer sola a un lado de la comparacion.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Las dos formas no sargables estan las dos en la consulta ANTES del taller: to_char(c.fecha_hora, 'YYYY-MM-DD') = '2026-03-10' y UPPER(c.estado) = 'PROGRAMADA'.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Ninguna de las dos puede usar un indice sobre esa columna, porque el indice guarda el valor tal como se escribio y el motor no puede saber, sin evaluar la funcion, cuales entradas darian ese resultado; asi que la evalua 30.010 veces, una por fila.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WHERE UPPER(m.nombre) = 'LUNA' es el mismo caso frente a un indice sobre mascota(nombre) y obliga a aplicar la funcion a las 5.008 filas.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17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Predicado sargable: el antipatron que conecta con la Clase 7 (2/3)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Igual ocurre con WHERE EXTRACT(YEAR FROM c.fecha_hora) = 2026, con WHERE SUBSTR(d.telefono, 1, 3) = '300' y con la conversion implicita: si id_mascota es numerico y se escribe WHERE c.id_mascota = '10', algunos motores convierten la columna y no el literal.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La reescritura correcta casi siempre es un rango, que es lo que pide el taller: WHERE c.fecha_hora &gt;= TIMESTAMP '2026-03-10 00:00:00' AND c.fecha_hora &lt; TIMESTAMP '2026-03-11 00:00:00'.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El caso de UPPER(c.estado) tiene una reescritura mas simple todavia y hay que decirla porque el estudiante duda: se elimina la funcion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Porque el dominio ya esta normalizado por el CHECK (estado IN ('PROGRAMADA','ATENDIDA','CANCELADA')), de modo que no existe ninguna fila en minusculas que UPPER pudiera rescatar.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Un caso mas: LIKE 'Lu%' si usa indice porque el comodin va al final, y LIKE '%una%' no, porque no hay prefijo por donde bajar el arbol.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18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Predicado sargable: el antipatron que conecta con la Clase 7 (3/3)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Cuando la funcion es necesaria para el negocio existe la salida de la clase siguiente, el indice funcional,, que existe en PostgreSQL y en Oracle; hoy se menciona solo como adelanto, para que nadie crea que las funciones estan prohibidas en el WHERE.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Y hay que cerrar con la verdad incomoda, que es el mejor bono conceptual de la clase: hoy el rango tampoco evita el Seq Scan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Porque en esta base no hay ningun indice sobre fecha_hora; lo que gana el rango hoy es dejar de calcular la funcion 30.010 veces y darle al planeador una estimacion correcta de cuantas filas van a pasar.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19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Predicado sargable: el antipatron que conecta... — sintaxis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261872"/>
            <a:ext cx="11277295" cy="5093208"/>
          </a:xfrm>
          <a:prstGeom prst="roundRect">
            <a:avLst>
              <a:gd name="adj" fmla="val 12000"/>
            </a:avLst>
          </a:prstGeom>
          <a:solidFill>
            <a:srgbClr val="1E2A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261872"/>
            <a:ext cx="11277295" cy="32004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1307592"/>
            <a:ext cx="10820095" cy="256032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000" b="1" i="0">
                <a:solidFill>
                  <a:srgbClr val="269CCB"/>
                </a:solidFill>
                <a:latin typeface="Calibri"/>
              </a:rPr>
              <a:t>● ● ●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719072"/>
            <a:ext cx="10637215" cy="44531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CREATE INDEX idx_mascota_nombre_upper ON mascota (UPPER(nombre))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20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La subconsulta correlacionada: 2.006 pasadas o una sola (1/4)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Es la pregunta 3, otros 20 puntos, y la cuarta afirmacion de la pregunta 4 dice lo mismo.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Una subconsulta es correlacionada cuando menciona una columna de la consulta exterior; si ademas esta en la lista de columnas, el motor no puede calcularla una vez y reusarla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Porque depende de la fila que se este mirando, asi que la ejecuta una vez por cada fila del exterior.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El reporte de ranking de duenos del taller la tiene: (SELECT COUNT(*) FROM cita c JOIN mascota m ON m.id_mascota = c.id_mascota WHERE m.id_dueno = d.id_dueno) AS total_citas, con FROM dueno d.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Como hay 2.006 duenos, se ejecuta 2.006 veces, y cada ejecucion recorre mascota y cita completas: del orden de 70 millones de filas procesadas para producir 2.006.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21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La subconsulta correlacionada: 2.006 pasadas o una sola (2/4)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El plan lo dice con un nodo SubPlan y con loops=2006, y loops es el unico lugar del plan donde se lee «esto se repitio»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Si el docente no ensena a buscar ese campo, el estudiante va a senalar como nodo mas costoso el Seq Scan de arriba, que aparece con un tiempo mayor solo porque incluye a sus hijos.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La reescritura es dueno LEFT JOIN mascota LEFT JOIN cita, con GROUP BY d.id_dueno, d.nombre y COUNT(c.id_cita): el SubPlan desaparece y en su lugar queda un HashAggregate sobre una sola pasada.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Es la unica mejora del dia que es de ordenes de magnitud, y no necesita ningun indice, porque lo que se elimino no fue un escaneo sino 2.005 escaneos.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Primero, COUNT(c.id_cita) y nunca COUNT(*): el LEFT JOIN fabrica una fila llena de NULL por cada dueno que no tiene citas, COUNT(*) cuenta filas y reportaria 1, y COUNT de una columna ignora los NULL y reporta 0.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22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La subconsulta correlacionada: 2.006 pasadas o una sola (3/4)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El sintoma es exacto y se puede proyectar en treinta segundos: los duenos 2001 a 2006 de la base del taller no tienen mascotas, asi que su respuesta correcta es 0 y con COUNT(*) dicen 1.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Segundo, LEFT y no INNER: el INNER JOIN es mas rapido y esta mal, porque borra del ranking a esos seis duenos y el reporte deja de cuadrar con el total de clientes de la clinica.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Mas rapido devolviendo otra cosa no es optimizar, y esa frase es la bisagra con la seccion siguiente.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Aviso operativo que hay que dar antes de que el grupo empiece, porque si no media clase recarga la pagina y pierde sus respuestas: la version ANTES de esta pregunta ejecuta 2.006 veces una consulta que recorre 30.010 filas, y en el navegador puede tardar de varios segundos a mas de un minuto.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23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La subconsulta correlacionada: 2.006 pasadas o una sola (4/4)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En la demo en vivo, si el docente no quiere esperar, la variante honesta es correr la version ANTES con WHERE d.id_dueno &lt;= 200 en el exterior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Mostrar que el plan dice loops=200 y decir en voz alta que la version completa es diez veces esa; lo que no se puede hacer es saltarse la medicion y afirmar el resultado.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24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Optimizar no cambia el resultado, y eso se demuestra (1/2)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Correccion y tiempo son ejes independientes, y la consecuencia practica es que una version «optimizada» que devuelve algo distinto no es una optimizacion peor: no es una optimizacion.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Para una consulta con filtro sirve el conteo: se envuelve cada version en un SELECT COUNT(*) y se comparan los dos numeros en la misma corrida, y en la agenda del 2026-03-10 las dos tienen que decir 91.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Un conteo distinto no es una version mas rapida, es la respuesta equivocada.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La prueba va sin LIMIT, porque comparar solo las primeras 20 filas deja fuera justamente las que fallan, que son las de los duenos con cero citas.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25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Optimizar no cambia el resultado, y eso se demuestra (2/2)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EXCEPT elimina duplicados, de modo que si el conjunto puede traer filas repetidas hay que usar EXCEPT ALL o incluir la llave; en el ranking del taller no ocurre, porque hay una fila por dueno.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Y no cuentan como prueba «se ve igual», «trae mas o menos lo mismo» ni mirar la primera pantalla de resultados: la equivalencia se afirma con una consulta cuyo resultado se conoce de antemano, un numero que coincide o un conjunto vacio.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26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El antes y el despues del script de la clase (1/3)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El script Codigo/06_opt_consultas.sql es autocontenido y siembra el mismo volumen que la plataforma del curso, de modo que los numeros de la demo son los que el estudiante va a ver en su pantalla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Empieza con dos conteos de control que conviene proyectar antes de tocar nada: 30.010 citas en total y, para el 2026-03-10, 91 PROGRAMADA, 45 ATENDIDA y 14 CANCELADA.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Y el cruce implicito con comas es peligroso por aritmetica, no por estilo: si alguien olvida una de las tres condiciones de union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El resultado no es un error sino un producto cartesiano —30.010 por 5.008 filas son mas de 150 millones— que en el navegador acaba en una pestana bloqueada.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27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El antes y el despues del script de la clase (2/3)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ON, filtra con el rango de fecha y con la comparacion directa del estado, y ordena por c.fecha_hora.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Filtrar temprano se llama empuje de predicados o predicate pushdown, y hay que decir con honestidad que el optimizador moderno lo hace solo casi siempre; lo que si cambia el plan es dejar de esconder el filtro donde no puede moverlo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Y los dos casos clasicos son escribirlo en HAVING cuando cabia en WHERE, y ponerlo en el WHERE de un LEFT JOIN cuando corresponde al ON, lo que ademas cambia el significado de la consulta.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La tercera sentencia de la demo agrega LIMIT 50, que es lo que la pantalla de agenda realmente necesita: el motor deja de producir filas en cuanto tiene 50, y por eso el tiempo baja aunque el plan sea el mismo.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28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El antes y el despues del script de la clase (3/3)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El script cierra con los bloques de la subconsulta correlacionada y con las dos pruebas de equivalencia, incluido el contraejemplo de COUNT(*) contra COUNT(c.id_cita) sobre los duenos 2001 a 2006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Que es medio minuto de demo y ahorra la mitad de los reclamos de la pregunta 3.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29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Donde se corre todo esto, y que no se puede medir aqui (1/2)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La herramienta del dia es la plataforma del curso, que corre PostgreSQL compilado para el navegador, y ahi mismo se califica el taller: es el unico entorno de la clase que trae las 30.010 citas ya sembradas y las estadisticas ya recolectadas.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Soporta EXPLAIN, EXPLAIN ANALYZE y la opcion BUFFERS; si en alguna maquina BUFFERS no responde, el enunciado ya autoriza usar EXPLAIN ANALYZE a secas y declararlo en la seccion 5 de la pregunta 5, asi que eso no cuesta puntos.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La justificacion de media pagina y la matriz de cambios se escriben en Google Docs.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Hoy no se ofrece ningun playground externo como alterno, y conviene que lo digas asi de claro: en DB Fiddle o en cualquier otro no existe la base sembrada, de modo que quien mida ahi obtiene otros numeros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30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Donde se corre todo esto, y que no se puede medir aqui (2/2)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Y la rubrica pide los del plan real -- el «Rows Removed by Filter: 29919» y las 91 filas son justo las dos anclas con las que se verifica.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Un alterno que cuesta puntos no es un alterno.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Tampoco tiene sentido hoy un comparador de motores, porque el motor de hoy es uno solo.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Los milisegundos, ademas, cambian entre dos corridas seguidas en la misma maquina: lo que no cambia son los conteos de filas, y por eso los conteos son lo que se califica y los milisegundos solo tienen que ser coherentes entre si.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31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Preguntas frecuentes del grupo (1/3)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Si la consulta ya devuelve el resultado correcto, para que reescribirla: correccion y costo son ejes independientes, el motor garantiza el resultado pero no el tiempo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Y una consulta correcta que tarda 40 segundos congela la pantalla de recepcion igual que si estuviera mal.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Cuanto debe bajar el tiempo para que cuente como optimizada: la evidencia que pide el entregable no es un porcentaje sino un cambio verificable y leido del plan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Y hoy ese cambio es de dos clases, menos filas procesadas y menos pasadas sobre la tabla —el SubPlan con loops=2006 que se convierte en un HashAggregate—; lo que hoy NO va a pasar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32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Preguntas frecuentes del grupo (2/3)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Y hay que anticiparlo porque es la confusion mas frecuente de la clase, es que un Seq Scan se convierta en Index Scan, porque en esta base no hay ningun indice y no puede aparecer uno de la nada: eso es la Clase 7.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Por que la misma consulta tarda mas la primera vez: la primera ejecucion trae las paginas de disco y la segunda las encuentra en memoria, asi que se mide tres veces y se reporta la segunda o la tercera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Y EXPLAIN (ANALYZE, BUFFERS) muestra cuantas paginas se leyeron y cuantas se acertaron en cache.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Y por que el estimado no coincide con el real: siempre que la diferencia sea de dos o tres veces esta bien y no hay nada que corregir, la senal de alarma es un orden de magnitud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33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Preguntas frecuentes del grupo (3/3)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Y en esta base, con ANALYZE recien corrido, las divergencias grandes vienen de que dos filtros no son independientes y no de estadisticas viejas.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La clase se apoya en la Clase 4, donde se vio que un disparador corre fila por fila y encarece una carga masiva —es la misma aritmetica del loops=2006 de hoy—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Y entrega el testigo a la Clase 7, que crea los indices que hoy se echaron de menos, y a la Clase 8, que suma transacciones y bloqueos al mismo analisis.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34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El antipatron y su reescritura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261872"/>
            <a:ext cx="11277295" cy="5093208"/>
          </a:xfrm>
          <a:prstGeom prst="roundRect">
            <a:avLst>
              <a:gd name="adj" fmla="val 12000"/>
            </a:avLst>
          </a:prstGeom>
          <a:solidFill>
            <a:srgbClr val="1E2A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261872"/>
            <a:ext cx="11277295" cy="32004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1307592"/>
            <a:ext cx="10820095" cy="256032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000" b="1" i="0">
                <a:solidFill>
                  <a:srgbClr val="269CCB"/>
                </a:solidFill>
                <a:latin typeface="Calibri"/>
              </a:rPr>
              <a:t>● ● ●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719072"/>
            <a:ext cx="10637215" cy="44531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-- ANTES: funcion sobre la columna -&gt; el indice de fecha_hora no se usa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SELECT * FROM cita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WHERE TO_CHAR(fecha_hora, 'YYYY-MM-DD') = '2026-09-01';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/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-- DESPUES: rango sobre la columna desnuda -&gt; el indice si se usa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SELECT c.id_cita, c.fecha_hora, m.nombre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FROM cita c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JOIN mascota m ON m.id_mascota = c.id_mascota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WHERE c.fecha_hora &gt;= TIMESTAMP '2026-09-01 00:00:00'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AND c.fecha_hora &lt;  TIMESTAMP '2026-09-02 00:00:00';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/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-- La regla: nunca envolver en una funcion la columna por la que se filtra.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35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EXPLAIN ANALYZE: la evidencia, no la opinion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261872"/>
            <a:ext cx="11277295" cy="5093208"/>
          </a:xfrm>
          <a:prstGeom prst="roundRect">
            <a:avLst>
              <a:gd name="adj" fmla="val 12000"/>
            </a:avLst>
          </a:prstGeom>
          <a:solidFill>
            <a:srgbClr val="1E2A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261872"/>
            <a:ext cx="11277295" cy="32004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1307592"/>
            <a:ext cx="10820095" cy="256032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000" b="1" i="0">
                <a:solidFill>
                  <a:srgbClr val="269CCB"/>
                </a:solidFill>
                <a:latin typeface="Calibri"/>
              </a:rPr>
              <a:t>● ● ●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719072"/>
            <a:ext cx="10637215" cy="44531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EXPLAIN (ANALYZE, BUFFERS)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SELECT c.id_cita, c.fecha_hora, m.nombre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FROM cita c JOIN mascota m ON m.id_mascota = c.id_mascota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WHERE c.fecha_hora &gt;= TIMESTAMP '2026-09-01 00:00:00'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AND c.fecha_hora &lt;  TIMESTAMP '2026-09-02 00:00:00';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/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-- Lo que se lee, en este orden: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--   Seq Scan  -&gt; recorre la tabla entera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--   Index Scan / Bitmap Heap Scan -&gt; usa el indice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--   actual time=...  el tiempo REAL (EXPLAIN solo estima; ANALYZE ejecuta)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--   rows=...  comparar con las filas estimadas: si difieren mucho, ANALYZE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36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Matar la subconsulta correlacionada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261872"/>
            <a:ext cx="11277295" cy="5093208"/>
          </a:xfrm>
          <a:prstGeom prst="roundRect">
            <a:avLst>
              <a:gd name="adj" fmla="val 12000"/>
            </a:avLst>
          </a:prstGeom>
          <a:solidFill>
            <a:srgbClr val="1E2A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261872"/>
            <a:ext cx="11277295" cy="32004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1307592"/>
            <a:ext cx="10820095" cy="256032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000" b="1" i="0">
                <a:solidFill>
                  <a:srgbClr val="269CCB"/>
                </a:solidFill>
                <a:latin typeface="Calibri"/>
              </a:rPr>
              <a:t>● ● ●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719072"/>
            <a:ext cx="10637215" cy="44531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-- ANTES: la subconsulta se ejecuta UNA VEZ POR DUENO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SELECT d.nombre,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   (SELECT COUNT(*) FROM mascota m WHERE m.id_dueno = d.id_dueno) AS n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FROM dueno d;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/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-- DESPUES: una sola pasada, agrupando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SELECT d.nombre, COUNT(m.id_mascota) AS n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FROM dueno d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LEFT JOIN mascota m ON m.id_dueno = d.id_dueno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GROUP BY d.id_dueno, d.nombre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ORDER BY n DESC;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/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-- LEFT JOIN, no JOIN: con JOIN desaparecen los duenos sin mascota.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37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70432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70432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Optimizar es un ANTES medible, no una opinion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66928"/>
            <a:ext cx="11277295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0" i="0">
                <a:solidFill>
                  <a:srgbClr val="B8D8EE"/>
                </a:solidFill>
                <a:latin typeface="Calibri"/>
              </a:rPr>
              <a:t>Mismas </a:t>
            </a:r>
            <a:r>
              <a:rPr sz="1400" b="1" i="0">
                <a:solidFill>
                  <a:srgbClr val="B8D8EE"/>
                </a:solidFill>
                <a:latin typeface="Calibri"/>
              </a:rPr>
              <a:t>91 filas</a:t>
            </a:r>
            <a:r>
              <a:rPr sz="1400" b="0" i="0">
                <a:solidFill>
                  <a:srgbClr val="B8D8EE"/>
                </a:solidFill>
                <a:latin typeface="Calibri"/>
              </a:rPr>
              <a:t> en las dos versiones. Y sin indices no hay Index Scan —eso es la Clase 7—: hoy se miden filas procesadas y pasadas sobre la tabla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472184"/>
            <a:ext cx="5478627" cy="4882896"/>
          </a:xfrm>
          <a:prstGeom prst="roundRect">
            <a:avLst>
              <a:gd name="adj" fmla="val 12000"/>
            </a:avLst>
          </a:prstGeom>
          <a:solidFill>
            <a:srgbClr val="FBE4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457200" y="1472184"/>
            <a:ext cx="5478627" cy="502920"/>
          </a:xfrm>
          <a:prstGeom prst="rect">
            <a:avLst/>
          </a:prstGeom>
          <a:solidFill>
            <a:srgbClr val="A020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94360" y="1563624"/>
            <a:ext cx="5204307" cy="36576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Antes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21792" y="2112263"/>
            <a:ext cx="5158587" cy="42885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«SELECT *» arrastra las columnas de 4 tablas por el join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«to_char(fecha_hora,…)» y «UPPER(estado)»: </a:t>
            </a:r>
            <a:r>
              <a:rPr sz="1500" b="1" i="0">
                <a:solidFill>
                  <a:srgbClr val="333333"/>
                </a:solidFill>
                <a:latin typeface="Calibri"/>
              </a:rPr>
              <a:t>funcion sobre la columna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Joins con coma: si falta una condicion, </a:t>
            </a:r>
            <a:r>
              <a:rPr sz="1500" b="1" i="0">
                <a:solidFill>
                  <a:srgbClr val="333333"/>
                </a:solidFill>
                <a:latin typeface="Calibri"/>
              </a:rPr>
              <a:t>producto cartesiano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Subconsulta por fila: el plan dice </a:t>
            </a:r>
            <a:r>
              <a:rPr sz="1500" b="1" i="0">
                <a:solidFill>
                  <a:srgbClr val="333333"/>
                </a:solidFill>
                <a:latin typeface="Calibri"/>
              </a:rPr>
              <a:t>loops=2006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55867" y="1472184"/>
            <a:ext cx="5478627" cy="4882896"/>
          </a:xfrm>
          <a:prstGeom prst="roundRect">
            <a:avLst>
              <a:gd name="adj" fmla="val 12000"/>
            </a:avLst>
          </a:prstGeom>
          <a:solidFill>
            <a:srgbClr val="E8F4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255867" y="1472184"/>
            <a:ext cx="5478627" cy="5029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393027" y="1563624"/>
            <a:ext cx="5204307" cy="36576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Despues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20459" y="2112263"/>
            <a:ext cx="5158587" cy="42885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Las 6 columnas que la pantalla de agenda usa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«&gt;= TIMESTAMP '2026-03-10' … &lt;» y «estado = '…'»: </a:t>
            </a:r>
            <a:r>
              <a:rPr sz="1500" b="1" i="0">
                <a:solidFill>
                  <a:srgbClr val="333333"/>
                </a:solidFill>
                <a:latin typeface="Calibri"/>
              </a:rPr>
              <a:t>sargable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«JOIN … ON»: </a:t>
            </a:r>
            <a:r>
              <a:rPr sz="1500" b="1" i="0">
                <a:solidFill>
                  <a:srgbClr val="333333"/>
                </a:solidFill>
                <a:latin typeface="Calibri"/>
              </a:rPr>
              <a:t>no acelera</a:t>
            </a:r>
            <a:r>
              <a:rPr sz="1500" b="0" i="0">
                <a:solidFill>
                  <a:srgbClr val="333333"/>
                </a:solidFill>
                <a:latin typeface="Calibri"/>
              </a:rPr>
              <a:t>, impide el cartesiano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«LEFT JOIN» + «GROUP BY»: de 2.006 pasadas a </a:t>
            </a:r>
            <a:r>
              <a:rPr sz="1500" b="1" i="0">
                <a:solidFill>
                  <a:srgbClr val="333333"/>
                </a:solidFill>
                <a:latin typeface="Calibri"/>
              </a:rPr>
              <a:t>una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38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70432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70432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Leer un plan: es un arbol y se lee de adentro hacia afuera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66928"/>
            <a:ext cx="11277295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0" i="0">
                <a:solidFill>
                  <a:srgbClr val="B8D8EE"/>
                </a:solidFill>
                <a:latin typeface="Calibri"/>
              </a:rPr>
              <a:t>Es la pregunta 2 completa — 20 de los 100 puntos — y se responde leyendo estos campos, no pegando el plano tal cual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380744"/>
            <a:ext cx="11277295" cy="50200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9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900" b="1" i="0">
                <a:solidFill>
                  <a:srgbClr val="333333"/>
                </a:solidFill>
                <a:latin typeface="Calibri"/>
              </a:rPr>
              <a:t>El orden de lectura.</a:t>
            </a:r>
            <a:r>
              <a:rPr sz="1900" b="0" i="0">
                <a:solidFill>
                  <a:srgbClr val="333333"/>
                </a:solidFill>
                <a:latin typeface="Calibri"/>
              </a:rPr>
              <a:t> El plan </a:t>
            </a:r>
            <a:r>
              <a:rPr sz="1900" b="1" i="0">
                <a:solidFill>
                  <a:srgbClr val="333333"/>
                </a:solidFill>
                <a:latin typeface="Calibri"/>
              </a:rPr>
              <a:t>no</a:t>
            </a:r>
            <a:r>
              <a:rPr sz="1900" b="0" i="0">
                <a:solidFill>
                  <a:srgbClr val="333333"/>
                </a:solidFill>
                <a:latin typeface="Calibri"/>
              </a:rPr>
              <a:t> es una lista de pasos de arriba hacia abajo: es un arbol. Los nodos </a:t>
            </a:r>
            <a:r>
              <a:rPr sz="1900" b="1" i="0">
                <a:solidFill>
                  <a:srgbClr val="333333"/>
                </a:solidFill>
                <a:latin typeface="Calibri"/>
              </a:rPr>
              <a:t>mas indentados son las hojas</a:t>
            </a:r>
            <a:r>
              <a:rPr sz="1900" b="0" i="0">
                <a:solidFill>
                  <a:srgbClr val="333333"/>
                </a:solidFill>
                <a:latin typeface="Calibri"/>
              </a:rPr>
              <a:t> y se ejecutan primero; cada nodo consume las filas de sus hijos. La </a:t>
            </a:r>
            <a:r>
              <a:rPr sz="1900" b="1" i="0">
                <a:solidFill>
                  <a:srgbClr val="333333"/>
                </a:solidFill>
                <a:latin typeface="Calibri"/>
              </a:rPr>
              <a:t>primera linea impresa es la ULTIMA operacion</a:t>
            </a:r>
            <a:r>
              <a:rPr sz="1900" b="0" i="0">
                <a:solidFill>
                  <a:srgbClr val="333333"/>
                </a:solidFill>
                <a:latin typeface="Calibri"/>
              </a:rPr>
              <a:t>.</a:t>
            </a:r>
          </a:p>
          <a:p>
            <a:pPr>
              <a:spcAft>
                <a:spcPts val="800"/>
              </a:spcAft>
            </a:pPr>
            <a:r>
              <a:rPr sz="19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900" b="1" i="0">
                <a:solidFill>
                  <a:srgbClr val="333333"/>
                </a:solidFill>
                <a:latin typeface="Calibri"/>
              </a:rPr>
              <a:t>Los cuatro campos.</a:t>
            </a:r>
            <a:r>
              <a:rPr sz="1900" b="0" i="0">
                <a:solidFill>
                  <a:srgbClr val="333333"/>
                </a:solidFill>
                <a:latin typeface="Calibri"/>
              </a:rPr>
              <a:t> «cost=270.00..4821.50» son arranque y total en una unidad </a:t>
            </a:r>
            <a:r>
              <a:rPr sz="1900" b="1" i="0">
                <a:solidFill>
                  <a:srgbClr val="333333"/>
                </a:solidFill>
                <a:latin typeface="Calibri"/>
              </a:rPr>
              <a:t>relativa</a:t>
            </a:r>
            <a:r>
              <a:rPr sz="1900" b="0" i="0">
                <a:solidFill>
                  <a:srgbClr val="333333"/>
                </a:solidFill>
                <a:latin typeface="Calibri"/>
              </a:rPr>
              <a:t> (1.0 = leer una pagina de 8 KB), </a:t>
            </a:r>
            <a:r>
              <a:rPr sz="1900" b="1" i="0">
                <a:solidFill>
                  <a:srgbClr val="333333"/>
                </a:solidFill>
                <a:latin typeface="Calibri"/>
              </a:rPr>
              <a:t>no</a:t>
            </a:r>
            <a:r>
              <a:rPr sz="1900" b="0" i="0">
                <a:solidFill>
                  <a:srgbClr val="333333"/>
                </a:solidFill>
                <a:latin typeface="Calibri"/>
              </a:rPr>
              <a:t> milisegundos; «rows=» son las filas que el motor </a:t>
            </a:r>
            <a:r>
              <a:rPr sz="1900" b="1" i="0">
                <a:solidFill>
                  <a:srgbClr val="333333"/>
                </a:solidFill>
                <a:latin typeface="Calibri"/>
              </a:rPr>
              <a:t>estima</a:t>
            </a:r>
            <a:r>
              <a:rPr sz="1900" b="0" i="0">
                <a:solidFill>
                  <a:srgbClr val="333333"/>
                </a:solidFill>
                <a:latin typeface="Calibri"/>
              </a:rPr>
              <a:t>; «width=» el ancho de la fila en bytes; «loops=» cuantas </a:t>
            </a:r>
            <a:r>
              <a:rPr sz="1900" b="1" i="0">
                <a:solidFill>
                  <a:srgbClr val="333333"/>
                </a:solidFill>
                <a:latin typeface="Calibri"/>
              </a:rPr>
              <a:t>veces se repitio</a:t>
            </a:r>
            <a:r>
              <a:rPr sz="1900" b="0" i="0">
                <a:solidFill>
                  <a:srgbClr val="333333"/>
                </a:solidFill>
                <a:latin typeface="Calibri"/>
              </a:rPr>
              <a:t> ese nodo.</a:t>
            </a:r>
          </a:p>
          <a:p>
            <a:pPr>
              <a:spcAft>
                <a:spcPts val="800"/>
              </a:spcAft>
            </a:pPr>
            <a:r>
              <a:rPr sz="19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900" b="1" i="0">
                <a:solidFill>
                  <a:srgbClr val="333333"/>
                </a:solidFill>
                <a:latin typeface="Calibri"/>
              </a:rPr>
              <a:t>«EXPLAIN» estima, «EXPLAIN ANALYZE» ejecuta.</a:t>
            </a:r>
            <a:r>
              <a:rPr sz="1900" b="0" i="0">
                <a:solidFill>
                  <a:srgbClr val="333333"/>
                </a:solidFill>
                <a:latin typeface="Calibri"/>
              </a:rPr>
              <a:t> El segundo agrega «actual time=», «actual rows=» y el «Execution Time» final. Y ejecuta </a:t>
            </a:r>
            <a:r>
              <a:rPr sz="1900" b="1" i="0">
                <a:solidFill>
                  <a:srgbClr val="333333"/>
                </a:solidFill>
                <a:latin typeface="Calibri"/>
              </a:rPr>
              <a:t>de verdad</a:t>
            </a:r>
            <a:r>
              <a:rPr sz="1900" b="0" i="0">
                <a:solidFill>
                  <a:srgbClr val="333333"/>
                </a:solidFill>
                <a:latin typeface="Calibri"/>
              </a:rPr>
              <a:t>: sobre un «UPDATE» o «DELETE» hay que envolverlo en «BEGIN» … «ROLLBACK» (eso es la Clase 8). Con «SELECT» no hay riesgo.</a:t>
            </a:r>
          </a:p>
          <a:p>
            <a:pPr>
              <a:spcAft>
                <a:spcPts val="800"/>
              </a:spcAft>
            </a:pPr>
            <a:r>
              <a:rPr sz="19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900" b="1" i="0">
                <a:solidFill>
                  <a:srgbClr val="333333"/>
                </a:solidFill>
                <a:latin typeface="Calibri"/>
              </a:rPr>
              <a:t>Estimado contra real: la senal.</a:t>
            </a:r>
            <a:r>
              <a:rPr sz="1900" b="0" i="0">
                <a:solidFill>
                  <a:srgbClr val="333333"/>
                </a:solidFill>
                <a:latin typeface="Calibri"/>
              </a:rPr>
              <a:t> Una divergencia de 2 veces es normal; de </a:t>
            </a:r>
            <a:r>
              <a:rPr sz="1900" b="1" i="0">
                <a:solidFill>
                  <a:srgbClr val="333333"/>
                </a:solidFill>
                <a:latin typeface="Calibri"/>
              </a:rPr>
              <a:t>10 veces o mas</a:t>
            </a:r>
            <a:r>
              <a:rPr sz="1900" b="0" i="0">
                <a:solidFill>
                  <a:srgbClr val="333333"/>
                </a:solidFill>
                <a:latin typeface="Calibri"/>
              </a:rPr>
              <a:t> delata estadisticas viejas o predicados que el motor cree independientes y no lo son. Es lo que se anota en la tabla de la pregunta 2.</a:t>
            </a:r>
          </a:p>
          <a:p>
            <a:pPr>
              <a:spcAft>
                <a:spcPts val="800"/>
              </a:spcAft>
            </a:pPr>
            <a:r>
              <a:rPr sz="19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900" b="1" i="0">
                <a:solidFill>
                  <a:srgbClr val="333333"/>
                </a:solidFill>
                <a:latin typeface="Calibri"/>
              </a:rPr>
              <a:t>El nodo mas costoso, sin trampa.</a:t>
            </a:r>
            <a:r>
              <a:rPr sz="1900" b="0" i="0">
                <a:solidFill>
                  <a:srgbClr val="333333"/>
                </a:solidFill>
                <a:latin typeface="Calibri"/>
              </a:rPr>
              <a:t> El tiempo de un nodo </a:t>
            </a:r>
            <a:r>
              <a:rPr sz="1900" b="1" i="0">
                <a:solidFill>
                  <a:srgbClr val="333333"/>
                </a:solidFill>
                <a:latin typeface="Calibri"/>
              </a:rPr>
              <a:t>incluye el de sus hijos</a:t>
            </a:r>
            <a:r>
              <a:rPr sz="1900" b="0" i="0">
                <a:solidFill>
                  <a:srgbClr val="333333"/>
                </a:solidFill>
                <a:latin typeface="Calibri"/>
              </a:rPr>
              <a:t>, y «actual time» es </a:t>
            </a:r>
            <a:r>
              <a:rPr sz="1900" b="1" i="0">
                <a:solidFill>
                  <a:srgbClr val="333333"/>
                </a:solidFill>
                <a:latin typeface="Calibri"/>
              </a:rPr>
              <a:t>por vuelta</a:t>
            </a:r>
            <a:r>
              <a:rPr sz="1900" b="0" i="0">
                <a:solidFill>
                  <a:srgbClr val="333333"/>
                </a:solidFill>
                <a:latin typeface="Calibri"/>
              </a:rPr>
              <a:t>: hay que multiplicarlo por «loops». Un nodo de 0,5 ms con «loops=2006» cuesta un segundo — mas que el «Seq Scan» de arriba que parece el culpable.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39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70432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70432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La subconsulta correlacionada: 2.006 pasadas o una sola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66928"/>
            <a:ext cx="11277295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0" i="0">
                <a:solidFill>
                  <a:srgbClr val="B8D8EE"/>
                </a:solidFill>
                <a:latin typeface="Calibri"/>
              </a:rPr>
              <a:t>Es la pregunta 3 del taller — 20 de los 100 puntos — y la afirmacion de la pregunta 4 que mas se falla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380744"/>
            <a:ext cx="11277295" cy="50200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800" b="1" i="0">
                <a:solidFill>
                  <a:srgbClr val="333333"/>
                </a:solidFill>
                <a:latin typeface="Calibri"/>
              </a:rPr>
              <a:t>Que la hace correlacionada.</a:t>
            </a:r>
            <a:r>
              <a:rPr sz="1800" b="0" i="0">
                <a:solidFill>
                  <a:srgbClr val="333333"/>
                </a:solidFill>
                <a:latin typeface="Calibri"/>
              </a:rPr>
              <a:t> La subconsulta esta en la </a:t>
            </a:r>
            <a:r>
              <a:rPr sz="1800" b="1" i="0">
                <a:solidFill>
                  <a:srgbClr val="333333"/>
                </a:solidFill>
                <a:latin typeface="Calibri"/>
              </a:rPr>
              <a:t>lista de columnas</a:t>
            </a:r>
            <a:r>
              <a:rPr sz="1800" b="0" i="0">
                <a:solidFill>
                  <a:srgbClr val="333333"/>
                </a:solidFill>
                <a:latin typeface="Calibri"/>
              </a:rPr>
              <a:t> y menciona una columna del exterior («WHERE m.id_dueno = d.id_dueno»). No se puede calcular una vez y reusar: depende de la fila que se este mirando, asi que el motor </a:t>
            </a:r>
            <a:r>
              <a:rPr sz="1800" b="1" i="0">
                <a:solidFill>
                  <a:srgbClr val="333333"/>
                </a:solidFill>
                <a:latin typeface="Calibri"/>
              </a:rPr>
              <a:t>la ejecuta una vez por fila</a:t>
            </a:r>
            <a:r>
              <a:rPr sz="1800" b="0" i="0">
                <a:solidFill>
                  <a:srgbClr val="333333"/>
                </a:solidFill>
                <a:latin typeface="Calibri"/>
              </a:rPr>
              <a:t> del exterior.</a:t>
            </a:r>
          </a:p>
          <a:p>
            <a:pPr>
              <a:spcAft>
                <a:spcPts val="800"/>
              </a:spcAft>
            </a:pPr>
            <a:r>
              <a:rPr sz="18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800" b="1" i="0">
                <a:solidFill>
                  <a:srgbClr val="333333"/>
                </a:solidFill>
                <a:latin typeface="Calibri"/>
              </a:rPr>
              <a:t>El numero que lo delata en el plan.</a:t>
            </a:r>
            <a:r>
              <a:rPr sz="1800" b="0" i="0">
                <a:solidFill>
                  <a:srgbClr val="333333"/>
                </a:solidFill>
                <a:latin typeface="Calibri"/>
              </a:rPr>
              <a:t> «EXPLAIN ANALYZE» muestra un nodo «SubPlan» con </a:t>
            </a:r>
            <a:r>
              <a:rPr sz="1800" b="1" i="0">
                <a:solidFill>
                  <a:srgbClr val="333333"/>
                </a:solidFill>
                <a:latin typeface="Calibri"/>
              </a:rPr>
              <a:t>«loops=2006»</a:t>
            </a:r>
            <a:r>
              <a:rPr sz="1800" b="0" i="0">
                <a:solidFill>
                  <a:srgbClr val="333333"/>
                </a:solidFill>
                <a:latin typeface="Calibri"/>
              </a:rPr>
              <a:t> — un dueno, una ejecucion. Y cada ejecucion recorre las 30.010 citas. «loops» es el campo que hay que buscar: es el unico lugar donde el plan dice «esto se repitio».</a:t>
            </a:r>
          </a:p>
          <a:p>
            <a:pPr>
              <a:spcAft>
                <a:spcPts val="800"/>
              </a:spcAft>
            </a:pPr>
            <a:r>
              <a:rPr sz="18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800" b="1" i="0">
                <a:solidFill>
                  <a:srgbClr val="333333"/>
                </a:solidFill>
                <a:latin typeface="Calibri"/>
              </a:rPr>
              <a:t>La reescritura.</a:t>
            </a:r>
            <a:r>
              <a:rPr sz="1800" b="0" i="0">
                <a:solidFill>
                  <a:srgbClr val="333333"/>
                </a:solidFill>
                <a:latin typeface="Calibri"/>
              </a:rPr>
              <a:t> «dueno LEFT JOIN mascota LEFT JOIN cita» + «GROUP BY d.id_dueno, d.nombre» + «COUNT(...)». El «SubPlan» desaparece y en su lugar queda un solo «HashAggregate»: </a:t>
            </a:r>
            <a:r>
              <a:rPr sz="1800" b="1" i="0">
                <a:solidFill>
                  <a:srgbClr val="333333"/>
                </a:solidFill>
                <a:latin typeface="Calibri"/>
              </a:rPr>
              <a:t>una pasada</a:t>
            </a:r>
            <a:r>
              <a:rPr sz="1800" b="0" i="0">
                <a:solidFill>
                  <a:srgbClr val="333333"/>
                </a:solidFill>
                <a:latin typeface="Calibri"/>
              </a:rPr>
              <a:t>. Es la unica mejora del dia que es de ordenes de magnitud, y no necesita ningun indice — lo que se elimino no fue un escaneo, fueron 2.005 escaneos.</a:t>
            </a:r>
          </a:p>
          <a:p>
            <a:pPr>
              <a:spcAft>
                <a:spcPts val="800"/>
              </a:spcAft>
            </a:pPr>
            <a:r>
              <a:rPr sz="18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800" b="1" i="0">
                <a:solidFill>
                  <a:srgbClr val="333333"/>
                </a:solidFill>
                <a:latin typeface="Calibri"/>
              </a:rPr>
              <a:t>«COUNT(c.id_cita)», nunca «COUNT(*)».</a:t>
            </a:r>
            <a:r>
              <a:rPr sz="1800" b="0" i="0">
                <a:solidFill>
                  <a:srgbClr val="333333"/>
                </a:solidFill>
                <a:latin typeface="Calibri"/>
              </a:rPr>
              <a:t> El «LEFT JOIN» fabrica </a:t>
            </a:r>
            <a:r>
              <a:rPr sz="1800" b="1" i="0">
                <a:solidFill>
                  <a:srgbClr val="333333"/>
                </a:solidFill>
                <a:latin typeface="Calibri"/>
              </a:rPr>
              <a:t>una fila llena de «NULL»</a:t>
            </a:r>
            <a:r>
              <a:rPr sz="1800" b="0" i="0">
                <a:solidFill>
                  <a:srgbClr val="333333"/>
                </a:solidFill>
                <a:latin typeface="Calibri"/>
              </a:rPr>
              <a:t> por cada dueno sin citas. «COUNT(*)» cuenta filas y reporta </a:t>
            </a:r>
            <a:r>
              <a:rPr sz="1800" b="1" i="0">
                <a:solidFill>
                  <a:srgbClr val="333333"/>
                </a:solidFill>
                <a:latin typeface="Calibri"/>
              </a:rPr>
              <a:t>1</a:t>
            </a:r>
            <a:r>
              <a:rPr sz="1800" b="0" i="0">
                <a:solidFill>
                  <a:srgbClr val="333333"/>
                </a:solidFill>
                <a:latin typeface="Calibri"/>
              </a:rPr>
              <a:t>; «COUNT» de una columna ignora los «NULL» y reporta </a:t>
            </a:r>
            <a:r>
              <a:rPr sz="1800" b="1" i="0">
                <a:solidFill>
                  <a:srgbClr val="333333"/>
                </a:solidFill>
                <a:latin typeface="Calibri"/>
              </a:rPr>
              <a:t>0</a:t>
            </a:r>
            <a:r>
              <a:rPr sz="1800" b="0" i="0">
                <a:solidFill>
                  <a:srgbClr val="333333"/>
                </a:solidFill>
                <a:latin typeface="Calibri"/>
              </a:rPr>
              <a:t>. El sintoma es exacto: los duenos sin citas dicen 1 en vez de 0.</a:t>
            </a:r>
          </a:p>
          <a:p>
            <a:pPr>
              <a:spcAft>
                <a:spcPts val="800"/>
              </a:spcAft>
            </a:pPr>
            <a:r>
              <a:rPr sz="18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800" b="1" i="0">
                <a:solidFill>
                  <a:srgbClr val="333333"/>
                </a:solidFill>
                <a:latin typeface="Calibri"/>
              </a:rPr>
              <a:t>Y «LEFT», no «INNER».</a:t>
            </a:r>
            <a:r>
              <a:rPr sz="1800" b="0" i="0">
                <a:solidFill>
                  <a:srgbClr val="333333"/>
                </a:solidFill>
                <a:latin typeface="Calibri"/>
              </a:rPr>
              <a:t> Un «INNER JOIN» es mas rapido y esta </a:t>
            </a:r>
            <a:r>
              <a:rPr sz="1800" b="1" i="0">
                <a:solidFill>
                  <a:srgbClr val="333333"/>
                </a:solidFill>
                <a:latin typeface="Calibri"/>
              </a:rPr>
              <a:t>mal</a:t>
            </a:r>
            <a:r>
              <a:rPr sz="1800" b="0" i="0">
                <a:solidFill>
                  <a:srgbClr val="333333"/>
                </a:solidFill>
                <a:latin typeface="Calibri"/>
              </a:rPr>
              <a:t>: borra del reporte a los duenos sin mascotas, y el ranking deja de cuadrar con el total de clientes de la clinica. Mas rapido devolviendo otra cosa no es optimizar.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40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70432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70432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Optimizar no cambia el resultado: como se prueba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66928"/>
            <a:ext cx="11277295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0" i="0">
                <a:solidFill>
                  <a:srgbClr val="B8D8EE"/>
                </a:solidFill>
                <a:latin typeface="Calibri"/>
              </a:rPr>
              <a:t>Vale puntos dos veces: los dos «COUNT(*)» de la pregunta 1 y el «EXCEPT» de la pregunta 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380744"/>
            <a:ext cx="11277295" cy="50200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9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900" b="1" i="0">
                <a:solidFill>
                  <a:srgbClr val="333333"/>
                </a:solidFill>
                <a:latin typeface="Calibri"/>
              </a:rPr>
              <a:t>La regla.</a:t>
            </a:r>
            <a:r>
              <a:rPr sz="1900" b="0" i="0">
                <a:solidFill>
                  <a:srgbClr val="333333"/>
                </a:solidFill>
                <a:latin typeface="Calibri"/>
              </a:rPr>
              <a:t> Correccion y tiempo son ejes </a:t>
            </a:r>
            <a:r>
              <a:rPr sz="1900" b="1" i="0">
                <a:solidFill>
                  <a:srgbClr val="333333"/>
                </a:solidFill>
                <a:latin typeface="Calibri"/>
              </a:rPr>
              <a:t>independientes</a:t>
            </a:r>
            <a:r>
              <a:rPr sz="1900" b="0" i="0">
                <a:solidFill>
                  <a:srgbClr val="333333"/>
                </a:solidFill>
                <a:latin typeface="Calibri"/>
              </a:rPr>
              <a:t>. Si la version DESPUES devuelve algo distinto, no se optimizo nada: se rompio la consulta, y se rompio </a:t>
            </a:r>
            <a:r>
              <a:rPr sz="1900" b="1" i="0">
                <a:solidFill>
                  <a:srgbClr val="333333"/>
                </a:solidFill>
                <a:latin typeface="Calibri"/>
              </a:rPr>
              <a:t>sin avisar</a:t>
            </a:r>
            <a:r>
              <a:rPr sz="1900" b="0" i="0">
                <a:solidFill>
                  <a:srgbClr val="333333"/>
                </a:solidFill>
                <a:latin typeface="Calibri"/>
              </a:rPr>
              <a:t>, porque ningun motor va a lanzar un error por eso.</a:t>
            </a:r>
          </a:p>
          <a:p>
            <a:pPr>
              <a:spcAft>
                <a:spcPts val="800"/>
              </a:spcAft>
            </a:pPr>
            <a:r>
              <a:rPr sz="19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900" b="1" i="0">
                <a:solidFill>
                  <a:srgbClr val="333333"/>
                </a:solidFill>
                <a:latin typeface="Calibri"/>
              </a:rPr>
              <a:t>Prueba 1, para una consulta con filtro: los dos «COUNT(*)».</a:t>
            </a:r>
            <a:r>
              <a:rPr sz="1900" b="0" i="0">
                <a:solidFill>
                  <a:srgbClr val="333333"/>
                </a:solidFill>
                <a:latin typeface="Calibri"/>
              </a:rPr>
              <a:t> Se envuelve cada version y se comparan los conteos en la </a:t>
            </a:r>
            <a:r>
              <a:rPr sz="1900" b="1" i="0">
                <a:solidFill>
                  <a:srgbClr val="333333"/>
                </a:solidFill>
                <a:latin typeface="Calibri"/>
              </a:rPr>
              <a:t>misma corrida</a:t>
            </a:r>
            <a:r>
              <a:rPr sz="1900" b="0" i="0">
                <a:solidFill>
                  <a:srgbClr val="333333"/>
                </a:solidFill>
                <a:latin typeface="Calibri"/>
              </a:rPr>
              <a:t>. En la agenda del 2026-03-10 las dos tienen que decir </a:t>
            </a:r>
            <a:r>
              <a:rPr sz="1900" b="1" i="0">
                <a:solidFill>
                  <a:srgbClr val="333333"/>
                </a:solidFill>
                <a:latin typeface="Calibri"/>
              </a:rPr>
              <a:t>91</a:t>
            </a:r>
            <a:r>
              <a:rPr sz="1900" b="0" i="0">
                <a:solidFill>
                  <a:srgbClr val="333333"/>
                </a:solidFill>
                <a:latin typeface="Calibri"/>
              </a:rPr>
              <a:t>. Un conteo distinto es la respuesta equivocada, no una version mas rapida.</a:t>
            </a:r>
          </a:p>
          <a:p>
            <a:pPr>
              <a:spcAft>
                <a:spcPts val="800"/>
              </a:spcAft>
            </a:pPr>
            <a:r>
              <a:rPr sz="19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900" b="1" i="0">
                <a:solidFill>
                  <a:srgbClr val="333333"/>
                </a:solidFill>
                <a:latin typeface="Calibri"/>
              </a:rPr>
              <a:t>Prueba 2, para conjuntos completos: «EXCEPT» en los DOS sentidos.</a:t>
            </a:r>
            <a:r>
              <a:rPr sz="1900" b="0" i="0">
                <a:solidFill>
                  <a:srgbClr val="333333"/>
                </a:solidFill>
                <a:latin typeface="Calibri"/>
              </a:rPr>
              <a:t> «A EXCEPT B» devuelve lo que esta en A y no en B. Que salga vacio </a:t>
            </a:r>
            <a:r>
              <a:rPr sz="1900" b="1" i="0">
                <a:solidFill>
                  <a:srgbClr val="333333"/>
                </a:solidFill>
                <a:latin typeface="Calibri"/>
              </a:rPr>
              <a:t>no</a:t>
            </a:r>
            <a:r>
              <a:rPr sz="1900" b="0" i="0">
                <a:solidFill>
                  <a:srgbClr val="333333"/>
                </a:solidFill>
                <a:latin typeface="Calibri"/>
              </a:rPr>
              <a:t> prueba la igualdad: B puede tener filas de mas. Se corren las dos direcciones unidas con «UNION ALL» y se exige </a:t>
            </a:r>
            <a:r>
              <a:rPr sz="1900" b="1" i="0">
                <a:solidFill>
                  <a:srgbClr val="333333"/>
                </a:solidFill>
                <a:latin typeface="Calibri"/>
              </a:rPr>
              <a:t>cero filas</a:t>
            </a:r>
            <a:r>
              <a:rPr sz="1900" b="0" i="0">
                <a:solidFill>
                  <a:srgbClr val="333333"/>
                </a:solidFill>
                <a:latin typeface="Calibri"/>
              </a:rPr>
              <a:t>.</a:t>
            </a:r>
          </a:p>
          <a:p>
            <a:pPr>
              <a:spcAft>
                <a:spcPts val="800"/>
              </a:spcAft>
            </a:pPr>
            <a:r>
              <a:rPr sz="19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900" b="1" i="0">
                <a:solidFill>
                  <a:srgbClr val="333333"/>
                </a:solidFill>
                <a:latin typeface="Calibri"/>
              </a:rPr>
              <a:t>Sin «LIMIT» en la prueba.</a:t>
            </a:r>
            <a:r>
              <a:rPr sz="1900" b="0" i="0">
                <a:solidFill>
                  <a:srgbClr val="333333"/>
                </a:solidFill>
                <a:latin typeface="Calibri"/>
              </a:rPr>
              <a:t> Comparar solo las primeras 20 filas deja fuera justamente las que fallan — las de los duenos con cero citas, que es donde «COUNT(*)» miente. El «LIMIT» va en la consulta que se entrega, no en la que verifica.</a:t>
            </a:r>
          </a:p>
          <a:p>
            <a:pPr>
              <a:spcAft>
                <a:spcPts val="800"/>
              </a:spcAft>
            </a:pPr>
            <a:r>
              <a:rPr sz="19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900" b="1" i="0">
                <a:solidFill>
                  <a:srgbClr val="333333"/>
                </a:solidFill>
                <a:latin typeface="Calibri"/>
              </a:rPr>
              <a:t>Que NO sirve como prueba.</a:t>
            </a:r>
            <a:r>
              <a:rPr sz="1900" b="0" i="0">
                <a:solidFill>
                  <a:srgbClr val="333333"/>
                </a:solidFill>
                <a:latin typeface="Calibri"/>
              </a:rPr>
              <a:t> «Se ve igual», «trae mas o menos lo mismo» o mirar la primera pantalla de resultados. La equivalencia se afirma con una consulta cuyo resultado </a:t>
            </a:r>
            <a:r>
              <a:rPr sz="1900" b="1" i="0">
                <a:solidFill>
                  <a:srgbClr val="333333"/>
                </a:solidFill>
                <a:latin typeface="Calibri"/>
              </a:rPr>
              <a:t>se conoce de antemano</a:t>
            </a:r>
            <a:r>
              <a:rPr sz="1900" b="0" i="0">
                <a:solidFill>
                  <a:srgbClr val="333333"/>
                </a:solidFill>
                <a:latin typeface="Calibri"/>
              </a:rPr>
              <a:t>: un numero que coincide o un conjunto vacio.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41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Demo del dia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Herramienta: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PostgreSQL en el navegador + Google Docs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Demo: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Consulta pesada citas+mascotas+duenos -&gt; version filtrada y proyectada, con EXPLAIN ANALYZE antes y despues, en la plataforma del curso.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Sigan el mismo dominio VetCare (no inventen otro caso).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Al final de la demo: dejar enlace/script compartible al grupo.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42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_uniajc_colo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271455" y="5998464"/>
            <a:ext cx="1463040" cy="643233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1737360"/>
            <a:ext cx="11277295" cy="109728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3400" b="1" i="0">
                <a:solidFill>
                  <a:srgbClr val="095292"/>
                </a:solidFill>
                <a:latin typeface="Calibri"/>
              </a:rPr>
              <a:t>Clase 6 · Optimizacion de consultas · VetCare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017520"/>
            <a:ext cx="11277295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6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SQL es declarativo</a:t>
            </a:r>
          </a:p>
          <a:p>
            <a:pPr algn="ctr">
              <a:spcAft>
                <a:spcPts val="6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Leer un plan</a:t>
            </a:r>
          </a:p>
          <a:p>
            <a:pPr algn="ctr">
              <a:spcAft>
                <a:spcPts val="6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Las estadisticas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4754880"/>
            <a:ext cx="1127729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 i="0">
                <a:solidFill>
                  <a:srgbClr val="269CCB"/>
                </a:solidFill>
                <a:latin typeface="Calibri"/>
              </a:rPr>
              <a:t>Todo lo visto queda proyectado para repasar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