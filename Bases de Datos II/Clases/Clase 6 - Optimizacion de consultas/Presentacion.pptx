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Tema de hoy: Optimizacion de consultas · la clínica</a:t>
            </a:r>
          </a:p>
          <a:p/>
          <a:p>
            <a:r>
              <a:t>Herramienta: PostgreSQL + Google Docs · Bloque 120 min</a:t>
            </a:r>
          </a:p>
          <a:p/>
          <a:p>
            <a:r>
              <a:t>Gratis + navegador · free tier · sin software de pago obligatorio.</a:t>
            </a:r>
          </a:p>
          <a:p/>
          <a:p>
            <a:r>
              <a:t>Recorrido: teoría del tema, una lámina por concepto, y demo del docente sobre la base de la clínica.</a:t>
            </a:r>
          </a:p>
          <a:p/>
          <a:p>
            <a:r>
              <a:t>Cada lámina se sostiene sola: sirve para repasar aunque hayas faltado.</a:t>
            </a:r>
          </a:p>
          <a:p/>
          <a:p>
            <a:r>
              <a:t>Conceptos de hoy: SQL es declarativo · Leer un plan · EXPLAIN ANALYZE · Las estadisticas.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SQL es un lenguaje declarativo: la consulta describe QUE datos se quieren y nunca COMO obtenerlos.</a:t>
            </a:r>
          </a:p>
          <a:p>
            <a:r>
              <a:t>Quien decide el como es el optimizador, un componente del motor que convierte la sentencia en un plan de ejecucion</a:t>
            </a:r>
          </a:p>
          <a:p>
            <a:r>
              <a:t>Es decir el arbol de operaciones fisicas que se ejecutara de verdad: que tabla se lee primero, si completa o por indice, con que algoritmo se cruzan dos tablas y donde se ordena.</a:t>
            </a:r>
          </a:p>
          <a:p>
            <a:r>
              <a:t>Son tres etapas: el analizador verifica sintaxis y existencia de tablas y columnas; el optimizador genera planes candidatos, estima el costo de cada uno y elige el mas barato; el ejecutor corre el elegido.</a:t>
            </a:r>
          </a:p>
          <a:p>
            <a:r>
              <a:t>Lo decisivo es que todos devuelven EXACTAMENTE el mismo resultado y pueden diferir en tiempo por factores de cien o de mil.</a:t>
            </a:r>
          </a:p>
          <a:p>
            <a:r>
              <a:t>Optimizar es ayudar al optimizador a encontrar el plan bueno, no reescribir SQL por gusto estetico.</a:t>
            </a:r>
          </a:p>
          <a:p>
            <a:r>
              <a:t>NOTAS:</a:t>
            </a:r>
          </a:p>
          <a:p>
            <a:r>
              <a:t>El numero que hace visible el problema, y conviene decirlo con la consulta de la clase en pantalla, que cruza cuatro tablas: con tres tablas hay 6 ordenes de cruce posibles (3 factorial), con las cuatro de la agenda hay 24, con cinco 120, y al multiplicar metodos de acceso y algoritmos de cruce el espacio pasa del millar de planes; el optimizador no los prueba todos, poda con heuristicas y decide en milisegundos.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De cada plan se leen tres cosas concretas: el nodo mas costoso, las filas estimadas frente a las reales y el tiempo total.</a:t>
            </a:r>
          </a:p>
          <a:p>
            <a:r>
              <a:t>Leer un plan tiene una regla de orden que casi nadie explica: es un arbol y se lee de adentro hacia afuera, empezando por los nodos mas indentados, que son las hojas; cada nodo consume las filas de sus hijos, y la primera linea impresa es la ULTIMA operacion.</a:t>
            </a:r>
          </a:p>
          <a:p>
            <a:r>
              <a:t>En PostgreSQL se escribe EXPLAIN antes de la consulta, y para la agenda de la clase aparece algo de esta forma: un Hash Join en la primera linea con su cost=... rows=... width=...</a:t>
            </a:r>
          </a:p>
          <a:p>
            <a:r>
              <a:t>Y debajo, mas indentado, un Seq Scan on cita c con el filtro del dia y un Hash construido sobre un Seq Scan on mascota m.</a:t>
            </a:r>
          </a:p>
          <a:p>
            <a:r>
              <a:t>Los cuatro campos hay que saber nombrarlos: cost trae el costo de arranque y el costo total separados por dos puntos; rows son las filas que el motor ESTIMA</a:t>
            </a:r>
          </a:p>
          <a:p>
            <a:r>
              <a:t>Width es el ancho promedio de la fila en bytes; y loops, que solo aparece con ANALYZE, dice cuantas veces se ejecuto ese nodo.</a:t>
            </a:r>
          </a:p>
          <a:p>
            <a:r>
              <a:t>El costo NO esta en milisegundos, es una unidad relativa donde 1.0 equivale por convencion a leer secuencialmente una pagina de 8 KB, y solo sirve para comparar planes del mismo motor.</a:t>
            </a:r>
          </a:p>
          <a:p>
            <a:r>
              <a:t>Los tiempos reales los da EXPLAIN ANALYZE, que agrega actual time, actual rows, loops y el Execution Time del final; con la opcion BUFFERS agrega ademas cuantos bloques de 8 KB se leyeron y cuantos se acertaron en memoria</a:t>
            </a:r>
          </a:p>
          <a:p>
            <a:r>
              <a:t>Que es de donde sale el numero exacto de paginas de cada tabla sin tener que estimarlo.</a:t>
            </a:r>
          </a:p>
          <a:p>
            <a:r>
              <a:t>Advertencia que evita un accidente en clase: ANALYZE EJECUTA la sentencia, asi que sobre un UPDATE o un DELETE hay que envolverlo en BEGIN y ROLLBACK, lo cual ya anticipa la Clase 8.</a:t>
            </a:r>
          </a:p>
          <a:p>
            <a:r>
              <a:t>Un nodo de 0,5 ms con loops=2006 cuesta un segundo entero y aparece impreso como el mas barato de la pantalla.</a:t>
            </a:r>
          </a:p>
          <a:p>
            <a:r>
              <a:t>En Oracle la misma lectura son dos pasos, EXPLAIN PLAN FOR y luego SELECT * FROM TABLE(DBMS_XPLAN.DISPLAY), que imprime Id, Operation, Name, Rows, Bytes, Cost y Time con la indentacion como jerarquia; se menciona como contraste, no como herramienta del dia.</a:t>
            </a:r>
          </a:p>
          <a:p>
            <a:r>
              <a:t>NOTAS:</a:t>
            </a:r>
          </a:p>
          <a:p>
            <a:r>
              <a:t>Y hay dos trampas al senalar el nodo mas costoso.</a:t>
            </a:r>
          </a:p>
          <a:p>
            <a:r>
              <a:t>Fuera de la lamina (habla de la practica): El costo NO esta en milisegundos, es una unidad relativa donde 1.0 equivale por convencion a leer secuencialmente una pagina de 8 KB, y solo sirve para comparar planes del mismo motor; confundir cost con tiempo es el error mas frecuente al calificar esta pregunta.</a:t>
            </a:r>
          </a:p>
          <a:p>
            <a:r>
              <a:t>Fuera de la lamina (habla de la practica): Advertencia que evita un accidente en clase: ANALYZE EJECUTA la sentencia, asi que sobre un UPDATE o un DELETE hay que envolverlo en BEGIN y ROLLBACK, lo cual ya anticipa la Clase 8; con SELECT no hay riesgo y el taller es solo de SELECT.</a:t>
            </a:r>
          </a:p>
          <a:p>
            <a:r>
              <a:t>Fuera de la lamina (habla de la practica): Y hay dos trampas al senalar el nodo mas costoso, que el docente tiene que conocer antes de calificar: el tiempo que muestra un nodo INCLUYE el de sus hijos, de modo que la primera linea siempre parece la mas cara sin serlo, y actual time es POR VUELTA, asi que el costo real de un nodo es su tiempo multiplicado por loops.</a:t>
            </a:r>
          </a:p>
          <a:p>
            <a:r>
              <a:t>Fuera de la lamina (habla de la practica): Un nodo de 0,5 ms con loops=2006 cuesta un segundo entero y aparece impreso como el mas barato de la pantalla; es exactamente lo que va a pasar en la pregunta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El orden de lectura. El plan no es una lista de pasos de arriba hacia abajo: es un arbol. Los nodos mas indentados son las hojas y se ejecutan primero; cada nodo consume las filas de sus hijos. La primera linea impresa es la ULTIMA operacion.</a:t>
            </a:r>
          </a:p>
          <a:p/>
          <a:p>
            <a:r>
              <a:t>Los cuatro campos. `cost=270.00..4821.50` son arranque y total en una unidad relativa (1.0 = leer una pagina de 8 KB), no milisegundos; `rows=` son las filas que el motor estima; `width=` el ancho de la fila en bytes; `loops=` cuantas veces se repitio ese nodo.</a:t>
            </a:r>
          </a:p>
          <a:p/>
          <a:p>
            <a:r>
              <a:t>`EXPLAIN` estima, `EXPLAIN ANALYZE` ejecuta. El segundo agrega `actual time=`, `actual rows=` y el `Execution Time` final. Y ejecuta de verdad: sobre un `UPDATE` o `DELETE` hay que envolverlo en `BEGIN` … `ROLLBACK` (eso es la Clase 8). Con `SELECT` no hay riesgo.</a:t>
            </a:r>
          </a:p>
          <a:p/>
          <a:p>
            <a:r>
              <a:t>Estimado contra real: la senal. Una divergencia de 2 veces es normal; de 10 veces o mas delata estadisticas viejas o predicados que el motor cree independientes y no lo son.</a:t>
            </a:r>
          </a:p>
          <a:p/>
          <a:p>
            <a:r>
              <a:t>El nodo mas costoso, sin trampa. El tiempo de un nodo incluye el de sus hijos, y `actual time` es por vuelta: hay que multiplicarlo por `loops`. Un nodo de 0,5 ms con `loops=2006` cuesta un segundo — mas que el `Seq Scan` de arriba que parece el culpable.</a:t>
            </a:r>
          </a:p>
          <a:p/>
          <a:p>
            <a:r>
              <a:t>Fuera de la lamina (habla de la practica, no del tema):</a:t>
            </a:r>
          </a:p>
          <a:p>
            <a:r>
              <a:t>- Es lo que se anota en la tabla de la pregunta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Las estadisticas del optimizador son los metadatos que describen los datos sin leerlos: filas de la tabla, bloques que ocupa</a:t>
            </a:r>
          </a:p>
          <a:p>
            <a:r>
              <a:t>Valores distintos por columna, fraccion de nulos y un histograma que reparte los valores en cubos para saber si estan parejos o concentrados.</a:t>
            </a:r>
          </a:p>
          <a:p>
            <a:r>
              <a:t>PostgreSQL las recolecta con ANALYZE cita, con 100 cubos por columna por omision</a:t>
            </a:r>
          </a:p>
          <a:p>
            <a:r>
              <a:t>Oracle usa DBMS_STATS.GATHER_TABLE_STATS(USER, 'CITA') y las expone en USER_TABLES.NUM_ROWS.</a:t>
            </a:r>
          </a:p>
          <a:p>
            <a:r>
              <a:t>En la base de la clase el ANALYZE ya esta corrido, y eso es deliberado: si faltara.</a:t>
            </a:r>
          </a:p>
          <a:p>
            <a:r>
              <a:t>De aqui sale la explicacion de un fenomeno que desconcierta: la misma consulta, sin cambiar una letra, puede tener hoy un plan distinto al de ayer</a:t>
            </a:r>
          </a:p>
          <a:p>
            <a:r>
              <a:t>Porque la tabla crecio, porque se recolectaron estadisticas nuevas, porque alguien creo un indice o porque el valor comparado cambio la selectividad estimada.</a:t>
            </a:r>
          </a:p>
          <a:p>
            <a:r>
              <a:t>El plan no es propiedad del texto SQL, es una decision tomada con la informacion disponible en ese instante.</a:t>
            </a:r>
          </a:p>
          <a:p>
            <a:r>
              <a:t>Correlacionados quiere decir que el motor multiplica las selectividades de dos filtros como si fueran independientes y no lo son: en la clínica</a:t>
            </a:r>
          </a:p>
          <a:p>
            <a:r>
              <a:t>Fecha_hora del 2026-03-10 y estado = 'PROGRAMADA' no lo son, porque el reparto de estados no es igual en todos los dias.</a:t>
            </a:r>
          </a:p>
          <a:p>
            <a:r>
              <a:t>NOTAS:</a:t>
            </a:r>
          </a:p>
          <a:p>
            <a:r>
              <a:t>De ahi que se comparen rows estimadas contra actual rows.</a:t>
            </a:r>
          </a:p>
          <a:p>
            <a:r>
              <a:t>Conviene marcar la diferencia de palabras en voz alta, porque van a aparecer las dos hoy: predicados correlacionados es esto, un asunto de estimacion; subconsulta correlacionada.</a:t>
            </a:r>
          </a:p>
          <a:p>
            <a:r>
              <a:t>Fuera de la lamina (habla de la practica): En la base de la clase el ANALYZE ya esta corrido, y eso es deliberado: si faltara, el estimado contra real de la pregunta 2 saldria disparatado por una razon que no es el tema de la clase y el estudiante concluiria lo contrario de lo que hay que aprender.</a:t>
            </a:r>
          </a:p>
          <a:p>
            <a:r>
              <a:t>Fuera de la lamina (habla de la practica): De ahi que se comparen rows estimadas contra actual rows, que es literalmente una de las tres columnas que pide la pregunta 2: una divergencia de 2 veces es normal, una de 10 veces o mas es la senal clasica de estadisticas viejas o de predicados correlacionados, y esa es tambien la sexta afirmacion de la pregunta 4, que es correcta.</a:t>
            </a:r>
          </a:p>
          <a:p>
            <a:r>
              <a:t>Fuera de la lamina (habla de la practica): Conviene marcar la diferencia de palabras en voz alta, porque van a aparecer las dos hoy: predicados correlacionados es esto, un asunto de estimacion; subconsulta correlacionada, la de la pregunta 3, es otra cosa completamente distinta y es un asunto de numero de ejecuciones.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La cardinalidad de una columna es la cantidad de valores distintos que contiene, y conviene advertir que la palabra se usa tambien para las filas que entrega un nodo del plan.</a:t>
            </a:r>
          </a:p>
          <a:p>
            <a:r>
              <a:t>La selectividad de un predicado es la fraccion de filas que sobreviven al filtro, entre 0 y 1, y es lo que el optimizador calcula con las estadisticas.</a:t>
            </a:r>
          </a:p>
          <a:p>
            <a:r>
              <a:t>Las cifras que hay que usar son las de la base de la clase, no unas inventadas</a:t>
            </a:r>
          </a:p>
          <a:p>
            <a:r>
              <a:t>Porque el estudiante las va a ver en su pantalla: 2.006 duenos, 5.008 mascotas, 16 veterinarios y 30.010 citas repartidas entre el 2026-01-05 y el 2026-07-23, o sea 200 dias distintos con exactamente 150 citas cada uno.</a:t>
            </a:r>
          </a:p>
          <a:p>
            <a:r>
              <a:t>Con eso, WHERE c.fecha_hora &gt;= TIMESTAMP '2026-03-10 00:00:00' AND c.fecha_hora &lt; TIMESTAMP '2026-03-11 00:00:00' tiene selectividad 150 sobre 30.010, o sea 0,5 %: filtro excelente.</a:t>
            </a:r>
          </a:p>
          <a:p>
            <a:r>
              <a:t>WHERE c.estado = 'PROGRAMADA', sobre tres valores distintos (PROGRAMADA, ATENDIDA, CANCELADA), no filtra casi nada: son 18.187 filas, el 60,6 %, porque la siembra hace CANCELADA una de cada once citas y ATENDIDA una de cada tres de las que quedan.</a:t>
            </a:r>
          </a:p>
          <a:p>
            <a:r>
              <a:t>Y WHERE m.activa = 'S', con 4.712 de las 5.008 mascotas activas, tiene selectividad 0,94: no filtra nada.</a:t>
            </a:r>
          </a:p>
          <a:p>
            <a:r>
              <a:t>Los dos filtros juntos dejan 91 filas de 30.010, el 0,3 %.</a:t>
            </a:r>
          </a:p>
          <a:p>
            <a:r>
              <a:t>La regla practica, convencion de oficio y no regla dura, dice que por debajo del 5 % de las filas conviene el indice, entre 5 % y 20 % depende del motor, y por encima del 20 % o 25 % gana leer la tabla completa.</a:t>
            </a:r>
          </a:p>
          <a:p>
            <a:r>
              <a:t>Su origen es medible: PostgreSQL valora una lectura aleatoria de pagina en 4,0 y una secuencial en 1,0 (parametros random_page_cost y seq_page_cost), y por eso la regla se enuncia en filas pero el motor decide en costos, que no es lo mismo.</a:t>
            </a:r>
          </a:p>
          <a:p>
            <a:r>
              <a:t>NOTAS:</a:t>
            </a:r>
          </a:p>
          <a:p>
            <a:r>
              <a:t>Dos terminos explican por que el motor decide lo que decide.</a:t>
            </a:r>
          </a:p>
          <a:p>
            <a:r>
              <a:t>Fuera de la lamina (habla de la practica): Los dos filtros juntos dejan 91 filas de 30.010, el 0,3 %, y ese 91 es el numero que el estudiante tiene que ver dos veces en la pregunta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Un full table scan, que en PostgreSQL se imprime Seq Scan y en Oracle TABLE ACCESS FULL, lee todos los bloques de principio a fin y descarta en memoria lo que no cumple el filtro; su ventaja es que la lectura es secuencial.</a:t>
            </a:r>
          </a:p>
          <a:p>
            <a:r>
              <a:t>Un index scan desciende por el indice y, por cada coincidencia, va a buscar la fila a la tabla, lo cual son lecturas dispersas.</a:t>
            </a:r>
          </a:p>
          <a:p>
            <a:r>
              <a:t>Las cuentas de la base de la clase: cita con 30.010 filas de unos 60 bytes ocupa del orden de 2 MB, unas 230 a 250 paginas de 8 KB —el numero exacto lo dice el Buffers del EXPLAIN, no hace falta estimarlo—</a:t>
            </a:r>
          </a:p>
          <a:p>
            <a:r>
              <a:t>Y el Seq Scan cuesta esas paginas; buscar el 2026-03-10 por un indice sobre fecha_hora costaria 2 o 3 lecturas para bajar el arbol mas una por cada una de las 150 filas del dia, unas 153 en total.</a:t>
            </a:r>
          </a:p>
          <a:p>
            <a:r>
              <a:t>Aqui hay que ser honesto y es mas interesante que la caricatura: a este volumen el indice no es veinte veces mejor, es del mismo orden de magnitud</a:t>
            </a:r>
          </a:p>
          <a:p>
            <a:r>
              <a:t>Y medido en la unidad del planeador —donde una pagina dispersa vale cuatro secuenciales— puede incluso salir perdiendo.</a:t>
            </a:r>
          </a:p>
          <a:p>
            <a:r>
              <a:t>La ventaja del indice crece con el tamano, no con el porcentaje: si la clínica acumulara 300.000 citas, el Seq Scan pasaria a 2.400 paginas y el indice seguiria costando unas 153, y ahi si son dieciseis veces menos.</a:t>
            </a:r>
          </a:p>
          <a:p>
            <a:r>
              <a:t>Sobre 20 filas todo es instantaneo y todo se resuelve con Seq Scan, porque una tabla de 20 filas ocupa una sola pagina y no hay plan mas barato que leer una pagina</a:t>
            </a:r>
          </a:p>
          <a:p>
            <a:r>
              <a:t>En ese tamano la consulta pesima y la optima miden lo mismo, entre 0,02 y 0,3 milisegundos, y la diferencia se esconde en el ruido de medicion.</a:t>
            </a:r>
          </a:p>
          <a:p>
            <a:r>
              <a:t>Optimizar sobre 20 filas no es optimizar: es adivinar.</a:t>
            </a:r>
          </a:p>
          <a:p>
            <a:r>
              <a:t>Justamente por eso hoy no se mide sobre la base propia sino sobre una base sembrada con 30.010 citas, y por eso el script de la demo tambien las siembra: para que el docente y el estudiante midan sobre lo mismo.</a:t>
            </a:r>
          </a:p>
          <a:p>
            <a:r>
              <a:t>Si alguien pide medir en su propia base, la respuesta es que primero tiene que fabricar volumen con generate_series, y que sin eso los numeros que reporte no significan nada.</a:t>
            </a:r>
          </a:p>
          <a:p>
            <a:r>
              <a:t>NOTAS:</a:t>
            </a:r>
          </a:p>
          <a:p>
            <a:r>
              <a:t>Con eso se explica full table scan contra index scan sin caricaturas.</a:t>
            </a:r>
          </a:p>
          <a:p>
            <a:r>
              <a:t>Por eso la Clase 7 tiene que MEDIRLO y no suponerlo.</a:t>
            </a:r>
          </a:p>
          <a:p>
            <a:r>
              <a:t>Y aqui esta el punto pedagogico central, que cambio de sitio y hay que decirlo bien: el problema de las 20 filas es el de la base propia del estudiante, la que cargo en la Clase 1, no el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Un predicado es sargable, de Search ARGument ABLE, cuando el motor puede resolverlo navegando un indice, y para eso la columna indexada debe aparecer sola a un lado de la comparacion.</a:t>
            </a:r>
          </a:p>
          <a:p>
            <a:r>
              <a:t>Las dos formas no sargables estan las dos en la consulta ANTES de la clase: to_char(c.fecha_hora, 'YYYY-MM-DD') = '2026-03-10' y UPPER(c.estado) = 'PROGRAMADA'.</a:t>
            </a:r>
          </a:p>
          <a:p>
            <a:r>
              <a:t>Ninguna de las dos puede usar un indice sobre esa columna, porque el indice guarda el valor tal como se escribio y el motor no puede saber, sin evaluar la funcion, cuales entradas darian ese resultado; asi que la evalua 30.010 veces, una por fila.</a:t>
            </a:r>
          </a:p>
          <a:p>
            <a:r>
              <a:t>WHERE UPPER(m.nombre) = 'LUNA' es el mismo caso frente a un indice sobre mascota(nombre) y obliga a aplicar la funcion a las 5.008 filas.</a:t>
            </a:r>
          </a:p>
          <a:p>
            <a:r>
              <a:t>Igual ocurre con WHERE EXTRACT(YEAR FROM c.fecha_hora) = 2026, con WHERE SUBSTR(d.telefono, 1, 3) = '300' y con la conversion implicita: si id_mascota es numerico y se escribe WHERE c.id_mascota = '10', algunos motores convierten la columna y no el literal.</a:t>
            </a:r>
          </a:p>
          <a:p>
            <a:r>
              <a:t>La reescritura correcta casi siempre es un rango: WHERE c.fecha_hora &gt;= TIMESTAMP '2026-03-10 00:00:00' AND c.fecha_hora &lt; TIMESTAMP '2026-03-11 00:00:00'.</a:t>
            </a:r>
          </a:p>
          <a:p>
            <a:r>
              <a:t>Un caso mas: LIKE 'Lu%' si usa indice porque el comodin va al final, y LIKE '%una%' no, porque no hay prefijo por donde bajar el arbol.</a:t>
            </a:r>
          </a:p>
          <a:p>
            <a:r>
              <a:t>Cuando la funcion es necesaria para el negocio existe la salida de la clase siguiente, el indice funcional,, que existe en PostgreSQL y en Oracle; hoy se menciona solo como adelanto, para que nadie crea que las funciones estan prohibidas en el WHERE.</a:t>
            </a:r>
          </a:p>
          <a:p>
            <a:r>
              <a:t>Y hay que cerrar con la verdad incomoda, que es el mejor bono conceptual de la clase: hoy el rango tampoco evita el Seq Scan</a:t>
            </a:r>
          </a:p>
          <a:p>
            <a:r>
              <a:t>Porque en esta base no hay ningun indice sobre fecha_hora; lo que gana el rango hoy es dejar de calcular la funcion 30.010 veces y darle al planeador una estimacion correcta de cuantas filas van a pasar.</a:t>
            </a:r>
          </a:p>
          <a:p>
            <a:r>
              <a:t>NOTAS:</a:t>
            </a:r>
          </a:p>
          <a:p>
            <a:r>
              <a:t>El caso de UPPER(c.estado) tiene una reescritura mas simple todavia y hay que decirla porque el estudiante duda: se elimina la funcion, porque el dominio ya esta normalizado por el CHECK (estado IN ('PROGRAMADA','ATENDIDA','CANCELADA')), de modo que no existe ninguna fila en minusculas que UPPER pudiera rescatar.</a:t>
            </a:r>
          </a:p>
          <a:p>
            <a:r>
              <a:t>CÓDIGO CITADO (referencia):</a:t>
            </a:r>
          </a:p>
          <a:p>
            <a:r>
              <a:t>CREATE INDEX idx_mascota_nombre_upper ON mascota (UPPER(nombre))</a:t>
            </a:r>
          </a:p>
          <a:p>
            <a:r>
              <a:t>Fuera de la lamina (habla de la practica): El antipatron de la funcion sobre la columna merece parrafo propio porque conecta con la Clase 7 y porque es el que la pregunta 4 pone de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Una subconsulta es correlacionada cuando menciona una columna de la consulta exterior; si ademas esta en la lista de columnas, el motor no puede calcularla una vez y reusarla</a:t>
            </a:r>
          </a:p>
          <a:p>
            <a:r>
              <a:t>Porque depende de la fila que se este mirando, asi que la ejecuta una vez por cada fila del exterior.</a:t>
            </a:r>
          </a:p>
          <a:p>
            <a:r>
              <a:t>El reporte de ranking de duenos de la clase la tiene: (SELECT COUNT(*) FROM cita c JOIN mascota m ON m.id_mascota = c.id_mascota WHERE m.id_dueno = d.id_dueno) AS total_citas, con FROM dueno d.</a:t>
            </a:r>
          </a:p>
          <a:p>
            <a:r>
              <a:t>Como hay 2.006 duenos, se ejecuta 2.006 veces, y cada ejecucion recorre mascota y cita completas: del orden de 70 millones de filas procesadas para producir 2.006.</a:t>
            </a:r>
          </a:p>
          <a:p>
            <a:r>
              <a:t>El plan lo dice con un nodo SubPlan y con loops=2006, y loops es el unico lugar del plan donde se lee «esto se repitio»</a:t>
            </a:r>
          </a:p>
          <a:p>
            <a:r>
              <a:t>Si el docente no ensena a buscar ese campo, el estudiante va a senalar como nodo mas costoso el Seq Scan de arriba, que aparece con un tiempo mayor solo porque incluye a sus hijos.</a:t>
            </a:r>
          </a:p>
          <a:p>
            <a:r>
              <a:t>La reescritura es dueno LEFT JOIN mascota LEFT JOIN cita, con GROUP BY d.id_dueno, d.nombre y COUNT(c.id_cita): el SubPlan desaparece y en su lugar queda un HashAggregate sobre una sola pasada.</a:t>
            </a:r>
          </a:p>
          <a:p>
            <a:r>
              <a:t>Es la unica mejora del dia que es de ordenes de magnitud, y no necesita ningun indice, porque lo que se elimino no fue un escaneo sino 2.005 escaneos.</a:t>
            </a:r>
          </a:p>
          <a:p>
            <a:r>
              <a:t>Primero, COUNT(c.id_cita) y nunca COUNT(*): el LEFT JOIN fabrica una fila llena de NULL por cada dueno que no tiene citas, COUNT(*) cuenta filas y reportaria 1, y COUNT de una columna ignora los NULL y reporta 0.</a:t>
            </a:r>
          </a:p>
          <a:p>
            <a:r>
              <a:t>El sintoma es exacto y se puede proyectar en treinta segundos: los duenos 2001 a 2006 de la base de la clase no tienen mascotas, asi que su respuesta correcta es 0 y con COUNT(*) dicen 1.</a:t>
            </a:r>
          </a:p>
          <a:p>
            <a:r>
              <a:t>Segundo, LEFT y no INNER: el INNER JOIN es mas rapido y esta mal, porque borra del ranking a esos seis duenos y el reporte deja de cuadrar con el total de clientes de la clinica.</a:t>
            </a:r>
          </a:p>
          <a:p>
            <a:r>
              <a:t>Mas rapido devolviendo otra cosa no es optimizar, y esa frase es la bisagra con la seccion siguiente.</a:t>
            </a:r>
          </a:p>
          <a:p>
            <a:r>
              <a:t>Salida esperada: los dos rankings devuelven las mismas filas, los duenos sin citas aparecen con 0 en los dos, y el plan de la reescritura ya no muestra un nodo repetido 2.006 veces.</a:t>
            </a:r>
          </a:p>
          <a:p>
            <a:r>
              <a:t>NOTAS:</a:t>
            </a:r>
          </a:p>
          <a:p>
            <a:r>
              <a:t>Aviso operativo que hay que dar antes de que el grupo empiece, porque si no media clase recarga la pagina y pierde sus respuestas: la version ANTES de esta pregunta ejecuta 2.006 veces una consulta que recorre 30.010 filas, y en el navegador puede tardar de varios segundos a mas de un minuto.</a:t>
            </a:r>
          </a:p>
          <a:p>
            <a:r>
              <a:t>No esta colgada.</a:t>
            </a:r>
          </a:p>
          <a:p>
            <a:r>
              <a:t>En la demo en vivo, si el docente no quiere esperar, la variante honesta es correr la version ANTES con WHERE d.id_dueno &lt;= 200 en el exterior, mostrar que el plan dice loops=200 y decir en voz alta que la version completa es diez veces esa; lo que no se puede hacer es saltarse la medicion y afirmar el resultado.</a:t>
            </a:r>
          </a:p>
          <a:p>
            <a:r>
              <a:t>Fuera de la lamina (habla de la practica): Es la pregunta 3, otros 20 puntos, y la cuarta afirmacion de la pregunta 4 dice lo mismo.</a:t>
            </a:r>
          </a:p>
          <a:p>
            <a:r>
              <a:t>Fuera de la lamina (habla de la practica): Dos detalles que valen puntos y que el docente tiene que poder justificar en el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Que la hace correlacionada. La subconsulta esta en la lista de columnas y menciona una columna del exterior (`WHERE m.id_dueno = d.id_dueno`). No se puede calcular una vez y reusar: depende de la fila que se este mirando, asi que el motor la ejecuta una vez por fila del exterior.</a:t>
            </a:r>
          </a:p>
          <a:p/>
          <a:p>
            <a:r>
              <a:t>El numero que lo delata en el plan. `EXPLAIN ANALYZE` muestra un nodo `SubPlan` con `loops=2006` — un dueno, una ejecucion. Y cada ejecucion recorre las 30.010 citas. `loops` es el campo que hay que buscar: es el unico lugar donde el plan dice «esto se repitio».</a:t>
            </a:r>
          </a:p>
          <a:p/>
          <a:p>
            <a:r>
              <a:t>La reescritura. `dueno LEFT JOIN mascota LEFT JOIN cita` + `GROUP BY d.id_dueno, d.nombre` + `COUNT(...)`. El `SubPlan` desaparece y en su lugar queda un solo `HashAggregate`: una pasada. Es la unica mejora del dia que es de ordenes de magnitud, y no necesita ningun indice — lo que se elimino no fue un escaneo, fueron 2.005 escaneos.</a:t>
            </a:r>
          </a:p>
          <a:p/>
          <a:p>
            <a:r>
              <a:t>`COUNT(c.id_cita)`, nunca `COUNT(*)`. El `LEFT JOIN` fabrica una fila llena de `NULL` por cada dueno sin citas. `COUNT(*)` cuenta filas y reporta 1; `COUNT` de una columna ignora los `NULL` y reporta 0. El sintoma es exacto: los duenos sin citas dicen 1 en vez de 0.</a:t>
            </a:r>
          </a:p>
          <a:p/>
          <a:p>
            <a:r>
              <a:t>Y `LEFT`, no `INNER`. Un `INNER JOIN` es mas rapido y esta mal: borra del reporte a los duenos sin mascotas, y el ranking deja de cuadrar con el total de clientes de la clinica. Mas rapido devolviendo otra cosa no es optimizar.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Correccion y tiempo son ejes independientes, y la consecuencia practica es que una version «optimizada» que devuelve algo distinto no es una optimizacion peor: no es una optimizacion.</a:t>
            </a:r>
          </a:p>
          <a:p>
            <a:r>
              <a:t>Para una consulta con filtro sirve el conteo: se envuelve cada version en un SELECT COUNT(*) y se comparan los dos numeros en la misma corrida, y en la agenda del 2026-03-10 las dos tienen que decir 91.</a:t>
            </a:r>
          </a:p>
          <a:p>
            <a:r>
              <a:t>Un conteo distinto no es una version mas rapida, es la respuesta equivocada.</a:t>
            </a:r>
          </a:p>
          <a:p>
            <a:r>
              <a:t>La prueba va sin LIMIT, porque comparar solo las primeras 20 filas deja fuera justamente las que fallan, que son las de los duenos con cero citas.</a:t>
            </a:r>
          </a:p>
          <a:p>
            <a:r>
              <a:t>EXCEPT elimina duplicados, de modo que si el conjunto puede traer filas repetidas hay que usar EXCEPT ALL o incluir la llave; en el ranking de la clase no ocurre, porque hay una fila por dueno.</a:t>
            </a:r>
          </a:p>
          <a:p>
            <a:r>
              <a:t>Y no cuentan como prueba «se ve igual», «trae mas o menos lo mismo» ni mirar la primera pantalla de resultados: la equivalencia se afirma con una consulta cuyo resultado se conoce de antemano, un numero que coincide o un conjunto vacio.</a:t>
            </a:r>
          </a:p>
          <a:p>
            <a:r>
              <a:t>NOTAS:</a:t>
            </a:r>
          </a:p>
          <a:p>
            <a:r>
              <a:t>Y se rompe sin avisar, porque ningun motor va a lanzar un error por eso.</a:t>
            </a:r>
          </a:p>
          <a:p>
            <a:r>
              <a:t>Para conjuntos completos, donde el conteo puede coincidir con filas distintas, se usa EXCEPT en los DOS sentidos, y el docente tiene que saber por que son dos: A EXCEPT B devuelve lo que esta en A y no esta en B, asi que si sale vacio todavia puede haber filas de mas en B; se corren las dos direcciones unidas con UNION ALL y se exige cero filas en total.</a:t>
            </a:r>
          </a:p>
          <a:p>
            <a:r>
              <a:t>Fuera de la lamina (habla de la practica): Por eso el taller cobra la prueba dos veces, unos 6 de los 100 puntos, y hay dos formas segun lo que se compare.</a:t>
            </a:r>
          </a:p>
          <a:p>
            <a:r>
              <a:t>Fuera de la lamina (habla de la practica): Tres advertencias al calificar.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La regla. Correccion y tiempo son ejes independientes. Si la version DESPUES devuelve algo distinto, no se optimizo nada: se rompio la consulta, y se rompio sin avisar, porque ningun motor va a lanzar un error por eso.</a:t>
            </a:r>
          </a:p>
          <a:p/>
          <a:p>
            <a:r>
              <a:t>Prueba 1, para una consulta con filtro: los dos `COUNT(*)`. Se envuelve cada version y se comparan los conteos en la misma corrida. En la agenda del 2026-03-10 las dos tienen que decir 91. Un conteo distinto es la respuesta equivocada, no una version mas rapida.</a:t>
            </a:r>
          </a:p>
          <a:p/>
          <a:p>
            <a:r>
              <a:t>Prueba 2, para conjuntos completos: `EXCEPT` en los DOS sentidos. `A EXCEPT B` devuelve lo que esta en A y no en B. Que salga vacio no prueba la igualdad: B puede tener filas de mas. Se corren las dos direcciones unidas con `UNION ALL` y se exige cero filas.</a:t>
            </a:r>
          </a:p>
          <a:p/>
          <a:p>
            <a:r>
              <a:t>Sin `LIMIT` en la prueba. Comparar solo las primeras 20 filas deja fuera justamente las que fallan — las de los duenos con cero citas, que es donde `COUNT(*)` miente.</a:t>
            </a:r>
          </a:p>
          <a:p/>
          <a:p>
            <a:r>
              <a:t>Que NO sirve como prueba. «Se ve igual», «trae mas o menos lo mismo» o mirar la primera pantalla de resultados. La equivalencia se afirma con una consulta cuyo resultado se conoce de antemano: un numero que coincide o un conjunto vacio.</a:t>
            </a:r>
          </a:p>
          <a:p/>
          <a:p>
            <a:r>
              <a:t>Fuera de la lamina (habla de la practica, no del tema):</a:t>
            </a:r>
          </a:p>
          <a:p>
            <a:r>
              <a:t>- El `LIMIT` va en la consulta que se entrega, no en la que verifica.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El script Codigo/06_opt_consultas.sql es autocontenido y siembra el mismo volumen que PostgreSQL en el navegador, de modo que los numeros de la demo son los que el estudiante va a ver en su pantalla</a:t>
            </a:r>
          </a:p>
          <a:p>
            <a:r>
              <a:t>Empieza con dos conteos de control que conviene proyectar antes de tocar nada: 30.010 citas en total y, para el 2026-03-10, 91 PROGRAMADA, 45 ATENDIDA y 14 CANCELADA.</a:t>
            </a:r>
          </a:p>
          <a:p>
            <a:r>
              <a:t>Y el cruce implicito con comas es peligroso por aritmetica, no por estilo: si alguien olvida una de las tres condiciones de union</a:t>
            </a:r>
          </a:p>
          <a:p>
            <a:r>
              <a:t>El resultado no es un error sino un producto cartesiano —30.010 por 5.008 filas son mas de 150 millones— que en el navegador acaba en una pestana bloqueada.</a:t>
            </a:r>
          </a:p>
          <a:p>
            <a:r>
              <a:t>ON, filtra con el rango de fecha y con la comparacion directa del estado, y ordena por c.fecha_hora.</a:t>
            </a:r>
          </a:p>
          <a:p>
            <a:r>
              <a:t>La tercera sentencia de la demo agrega LIMIT 50, que es lo que la pantalla de agenda realmente necesita: el motor deja de producir filas en cuanto tiene 50, y por eso el tiempo baja aunque el plan sea el mismo.</a:t>
            </a:r>
          </a:p>
          <a:p>
            <a:r>
              <a:t>El script cierra con los bloques de la subconsulta correlacionada y con las dos pruebas de equivalencia, incluido el contraejemplo de COUNT(*) contra COUNT(c.id_cita) sobre los duenos 2001 a 2006.</a:t>
            </a:r>
          </a:p>
          <a:p>
            <a:r>
              <a:t>NOTAS:</a:t>
            </a:r>
          </a:p>
          <a:p>
            <a:r>
              <a:t>La version ANTES es SELECT * FROM cita c, mascota m, dueno d, veterinario v con las cuatro condiciones de union en el WHERE, to_char sobre la fecha y UPPER sobre el estado, y el docente debe saber que esta mal en cada linea.</a:t>
            </a:r>
          </a:p>
          <a:p>
            <a:r>
              <a:t>SELECT * arrastra todas las columnas de las cuatro tablas cuando la pantalla de agenda necesita seis, lo cual multiplica el ancho de la fila y con el la memoria de trabajo del ordenamiento.</a:t>
            </a:r>
          </a:p>
          <a:p>
            <a:r>
              <a:t>Las dos funciones sobre columnas se explicaron en el parrafo del predicado sargable.</a:t>
            </a:r>
          </a:p>
          <a:p>
            <a:r>
              <a:t>Hay que decir aqui, y no despues.</a:t>
            </a:r>
          </a:p>
          <a:p>
            <a:r>
              <a:t>ON no acelera nada, porque PostgreSQL normaliza las dos formas al mismo plan interno; se gana legibilidad y se gana que un ON faltante salte a la vista, o sea seguridad, no milisegundos.</a:t>
            </a:r>
          </a:p>
          <a:p>
            <a:r>
              <a:t>Si el docente lo presenta como una mejora de rendimiento, esta ensenando justo la opcion por la que va a descontar.</a:t>
            </a:r>
          </a:p>
          <a:p>
            <a:r>
              <a:t>La version DESPUES proyecta las seis columnas, escribe los tres JOIN...</a:t>
            </a:r>
          </a:p>
          <a:p>
            <a:r>
              <a:t>Filtrar temprano se llama empuje de predicados o predicate pushdown, y hay que decir con honestidad que el optimizador moderno lo hace solo casi siempre; lo que si cambia el plan es dejar de esconder el filtro donde no puede moverlo, y los dos casos clasicos son escribirlo en HAVING cuando cabia en WHERE, y ponerlo en el WHERE de un LEFT JOIN cuando corresponde al ON, lo que ademas cambia el significado de la consulta.</a:t>
            </a:r>
          </a:p>
          <a:p>
            <a:r>
              <a:t>Fuera de la lamina (habla de la practica): Hay que decir aqui, y no despues, lo que la quinta afirmacion de la pregunta 4 castiga: cambiar la coma por JOIN ...</a:t>
            </a:r>
          </a:p>
          <a:p>
            <a:r>
              <a:t>Fuera de la lamina (habla de la practica): El script cierra con los bloques de la subconsulta correlacionada y con las dos pruebas de equivalencia, incluido el contraejemplo de COUNT(*) contra COUNT(c.id_cita) sobre los duenos 2001 a 2006, que es medio minuto de demo y ahorra la mitad de los reclamos de la pregunta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>
            <a:r>
              <a:t>La herramienta del dia es PostgreSQL compilado para el navegador: es el unico entorno de la clase que trae las 30.010 citas ya sembradas y las estadisticas ya recolectadas.</a:t>
            </a:r>
          </a:p>
          <a:p>
            <a:r>
              <a:t>La justificacion de media pagina y la matriz de cambios se escriben en Google Docs.</a:t>
            </a:r>
          </a:p>
          <a:p>
            <a:r>
              <a:t>Hoy no se ofrece ningun playground externo como alterno, y conviene que lo digas asi de claro: en DB Fiddle o en cualquier otro no existe la base sembrada, de modo que quien mida ahi obtiene otros numeros.</a:t>
            </a:r>
          </a:p>
          <a:p>
            <a:r>
              <a:t>Tampoco tiene sentido hoy un comparador de motores, porque el motor de hoy es uno solo.</a:t>
            </a:r>
          </a:p>
          <a:p>
            <a:r>
              <a:t>Los milisegundos, ademas, cambian entre dos corridas seguidas en la misma maquina: lo que no cambia son los conteos de filas.</a:t>
            </a:r>
          </a:p>
          <a:p>
            <a:r>
              <a:t>NOTAS:</a:t>
            </a:r>
          </a:p>
          <a:p>
            <a:r>
              <a:t>Soporta EXPLAIN, EXPLAIN ANALYZE y la opcion BUFFERS; si en alguna maquina BUFFERS no responde.</a:t>
            </a:r>
          </a:p>
          <a:p>
            <a:r>
              <a:t>Lo que hay que documentar en papel.</a:t>
            </a:r>
          </a:p>
          <a:p>
            <a:r>
              <a:t>PREGUNTAS FRECUENTES DEL GRUPO</a:t>
            </a:r>
          </a:p>
          <a:p>
            <a:r>
              <a:t>Si la consulta ya devuelve el resultado correcto, para que reescribirla: correccion y costo son ejes independientes, el motor garantiza el resultado pero no el tiempo</a:t>
            </a:r>
          </a:p>
          <a:p>
            <a:r>
              <a:t>Y una consulta correcta que tarda 40 segundos congela la pantalla de recepcion igual que si estuviera mal.</a:t>
            </a:r>
          </a:p>
          <a:p>
            <a:r>
              <a:t>Cuanto debe bajar el tiempo para que cuente como optimizada: la evidencia no es un porcentaje sino un cambio verificable y leido del plan</a:t>
            </a:r>
          </a:p>
          <a:p>
            <a:r>
              <a:t>Y hoy ese cambio es de dos clases, menos filas procesadas y menos pasadas sobre la tabla —el SubPlan con loops=2006 que se convierte en un HashAggregate—; lo que hoy NO va a pasar</a:t>
            </a:r>
          </a:p>
          <a:p>
            <a:r>
              <a:t>Y hay que anticiparlo porque es la confusion mas frecuente de la clase, es que un Seq Scan se convierta en Index Scan, porque en esta base no hay ningun indice y no puede aparecer uno de la nada: eso es la Clase 7.</a:t>
            </a:r>
          </a:p>
          <a:p>
            <a:r>
              <a:t>Por que la misma consulta tarda mas la primera vez: la primera ejecucion trae las paginas de disco y la segunda las encuentra en memoria, asi que se mide tres veces y se reporta la segunda o la tercera</a:t>
            </a:r>
          </a:p>
          <a:p>
            <a:r>
              <a:t>Y EXPLAIN (ANALYZE, BUFFERS) muestra cuantas paginas se leyeron y cuantas se acertaron en cache.</a:t>
            </a:r>
          </a:p>
          <a:p>
            <a:r>
              <a:t>Y por que el estimado no coincide con el real: siempre que la diferencia sea de dos o tres veces esta bien y no hay nada que corregir, la senal de alarma es un orden de magnitud</a:t>
            </a:r>
          </a:p>
          <a:p>
            <a:r>
              <a:t>Y en esta base, con ANALYZE recien corrido, las divergencias grandes vienen de que dos filtros no son independientes y no de estadisticas viejas.</a:t>
            </a:r>
          </a:p>
          <a:p>
            <a:r>
              <a:t>La clase se apoya en la Clase 4, donde se vio que un disparador corre fila por fila y encarece una carga masiva —es la misma aritmetica del loops=2006 de hoy—</a:t>
            </a:r>
          </a:p>
          <a:p>
            <a:r>
              <a:t>Y entrega el testigo a la Clase 7, que crea los indices que hoy se echaron de menos, y a la Clase 8, que suma transacciones y bloqueos al mismo analisis.</a:t>
            </a:r>
          </a:p>
          <a:p>
            <a:r>
              <a:t>Cuatro preguntas aparecen siempre.</a:t>
            </a:r>
          </a:p>
          <a:p>
            <a:r>
              <a:t>Fuera de la lamina (habla de la practica): Soporta EXPLAIN, EXPLAIN ANALYZE y la opcion BUFFERS; si en alguna maquina BUFFERS no responde, el enunciado ya autoriza usar EXPLAIN ANALYZE a secas y declararlo en la seccion 5 de la pregunta 5, asi que eso no cuesta puntos.</a:t>
            </a:r>
          </a:p>
          <a:p>
            <a:r>
              <a:t>Fuera de la lamina (habla de la practica): Hoy no se ofrece ningun playground externo como alterno, y conviene que lo digas asi de claro: en DB Fiddle o en cualquier otro no existe la base sembrada, de modo que quien mida ahi obtiene otros numeros, y la rubrica pide los del plan real -- el «Rows Removed by Filter: 29919» y las 91 filas son justo las dos anclas con las que se verifica.</a:t>
            </a:r>
          </a:p>
          <a:p>
            <a:r>
              <a:t>Fuera de la lamina (habla de la practica): Un alterno que cuesta puntos no es un alterno.</a:t>
            </a:r>
          </a:p>
          <a:p>
            <a:r>
              <a:t>Fuera de la lamina (habla de la practica): Lo que hay que documentar en papel, porque el entorno no lo permite y es literalmente la seccion 5 de la pregunta 5: los tiempos con la memoria intermedia vacia, ya que vaciarla exige privilegios de administrador; el comportamiento con varias sesiones compitiendo, que es la Clase 10; y cualquier comparacion por encima de unos cientos de miles de filas.</a:t>
            </a:r>
          </a:p>
          <a:p>
            <a:r>
              <a:t>Fuera de la lamina (habla de la practica): Los milisegundos, ademas, cambian entre dos corridas seguidas en la misma maquina: lo que no cambia son los conteos de filas, y por eso los conteos son lo que se califica y los milisegundos solo tienen que ser coherentes entre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Herramienta: PostgreSQL + Google Docs</a:t>
            </a:r>
          </a:p>
          <a:p/>
          <a:p>
            <a:r>
              <a:t>Demo: Consulta pesada citas+mascotas+duenos -&gt; version filtrada y proyectada, con EXPLAIN ANALYZE antes y despues.</a:t>
            </a:r>
          </a:p>
          <a:p/>
          <a:p>
            <a:r>
              <a:t>Sigan el mismo dominio de la clínica (no inventen otro caso).</a:t>
            </a:r>
          </a:p>
          <a:p/>
          <a:p>
            <a:r>
              <a:t>Qué observar: las dos versiones devuelven las mismas 91 filas, pero el plan de la primera muestra loops=2006 y el de la segunda una sola pasada.</a:t>
            </a:r>
          </a:p>
          <a:p/>
          <a:p>
            <a:r>
              <a:t>Qué observar: el nodo mas costoso, las filas estimadas contra las reales y el tiempo total, leidos en ese orden en cada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Optimizacion de consultas · la clínica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Antes/despues sobre el DDL del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573813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otebook-planning-desk-coff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646965"/>
            <a:ext cx="5864193" cy="3911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Cup of  Couple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Optimizacion de consultas · la clínica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PostgreSQL + Google Docs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Gratis + navegador · free tier · sin software de pago obligatorio.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teoría del tema, una lámina por concepto, y demo del docente sobre la base de la clínica.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regular ·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proyecto)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SQL es declarativo: quien decide el como es el optimizador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ql-declarativ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ql-declarativ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ql-declarativ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SQL es un lenguaje declarativo: la consulta describe QUE datos se quieren y nunca COMO obtenerlos.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Quien decide el como es el optimizador, un componente del motor que convierte la sentencia en un plan de ejecucion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decir el arbol de operaciones fisicas que se ejecutara de verdad.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Son tres etapas: el analizador verifica sintaxis y existencia de tablas y columnas.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Leer un plan: es un arbol y se lee de adentro hacia afuera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er-pla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leer-pla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leer-pla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cada plan se leen tres cosas concretas: el nodo mas costoso, las filas estimadas frente a las reales y el tiempo total.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Leer un plan tiene una regla de orden que casi nadie explica.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PostgreSQL se escribe EXPLAIN antes de la consulta, y para la agenda de la clase aparece algo de esta forma.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debajo, mas indentado, un Seq Scan on cita c con el filtro del dia y un Hash construido sobre un Seq Scan on mascota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EXPLAIN ANALYZE: la evidencia, no la opinion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5688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9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9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EXPLAIN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ANALYZE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BUFFERS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nombre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id_mascota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20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'2026-09-01 00:00:00'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&lt;  </a:t>
            </a:r>
            <a:r>
              <a:rPr sz="20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CE9178"/>
                </a:solidFill>
                <a:latin typeface="Consolas"/>
              </a:rPr>
              <a:t>'2026-09-02 00:00:00'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Lo que se lee, en este orden: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-- 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Seq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Scan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 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recorre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tabla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entera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--   </a:t>
            </a:r>
            <a:r>
              <a:rPr sz="2000" i="0" b="0">
                <a:solidFill>
                  <a:srgbClr val="569CD6"/>
                </a:solidFill>
                <a:latin typeface="Consolas"/>
              </a:rPr>
              <a:t>Index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Scan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/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Bitmap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Heap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Scan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usa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indice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  actual time=...  el tiempo REAL (EXPLAIN solo estima; ANALYZE ejecuta)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--   rows=...  comparar con las filas estimadas: si difieren mucho, 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Un plan, campo por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Un plan se lee campo por campo: nodo mas costoso, filas estimadas contra reales y tiempo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678969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ueprint-plan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752121"/>
            <a:ext cx="5864193" cy="39115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Tima Miroshnichenko · Pexels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El orden de lectura.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plan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una lista de pasos de arriba hacia abajo: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Los cuatro campos.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«cost=270.00..4821.50» son arranque y total en una unidad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relativa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(1.0 = leer una pagina de 8 KB),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milisegundos;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«EXPLAIN» estima, «EXPLAIN ANALYZE» ejecuta.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segundo agrega «actual time=», «actual rows=» y el «Execution Time» final.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estadisticas: metadatos que describen los datos sin leerlos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stadistic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estadistic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estadistic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estadisticas del optimizador son los metadatos que describen los datos sin leerlos: filas de la tabla, bloques que ocupa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Valores distintos por columna, fraccion de nulos y un histograma que reparte los valores en cubos para saber si estan parejos o concentrados.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PostgreSQL las recolecta con ANALYZE cita, con 100 cubos por columna por omision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Oracle usa DBMS_STATS.GATHER_TABLE_STATS(USER, 'CITA') y las expone en USER_TABLES.NUM_ROWS.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Cardinalidad y selectividad: por que el motor decide lo que decide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lectivida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lectividad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lectividad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cardinalidad de una columna es la cantidad de valores distintos que contiene.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selectividad de un predicado es la fraccion de filas que sobreviven al filtro, entre 0 y 1, y es lo que el optimizador calcula con las…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cifras que hay que usar son las de la base de la clase, no unas inventadas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el estudiante las va a ver en su pantalla: 2.006 duenos.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Full table scan contra index scan, sin caricaturas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-vs-index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q-vs-index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q-vs-index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full table scan, que en PostgreSQL se imprime Seq Scan y en Oracle TABLE ACCESS FULL.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index scan desciende por el indice y, por cada coincidencia, va a buscar la fila a la tabla, lo cual son lecturas dispersas.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cuentas de la base de la clase: cita con 30.010 filas de unos 60 bytes ocupa del orden de 2 MB.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Predicado sargable: el antipatron que conecta con la Clase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argabl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argabl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argabl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predicado es sargable, de Search ARGument ABLE, cuando el motor puede resolverlo navegando un indice.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dos formas no sargables estan las dos en la consulta ANTES de la clase: to_char(c.fecha_hora, 'YYYY-MM-DD') = '2026-03-10' y UPPER(c.estado) =…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Ninguna de las dos puede usar un indice sobre esa columna.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antipatron y su reescritura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3100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1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1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ANTES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funcion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sobre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columna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indice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usa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*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cita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TO_CHAR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'YYYY-MM-DD'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 =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'2026-09-01'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DESPUES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rango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sobre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columna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desnuda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indice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si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usa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nombre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id_mascota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'2026-09-01 00:00:00'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AND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&lt;  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'2026-09-02 00:00:00'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La regla: nunca envolver en una funcion la columna por la que se filtra.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Optimizar es un ANTES medible, no una opinion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Mismas </a:t>
            </a:r>
            <a:r>
              <a:rPr sz="1400" b="1" i="0">
                <a:solidFill>
                  <a:srgbClr val="B8D8EE"/>
                </a:solidFill>
                <a:latin typeface="Calibri"/>
              </a:rPr>
              <a:t>91 filas</a:t>
            </a:r>
            <a:r>
              <a:rPr sz="1400" b="0" i="0">
                <a:solidFill>
                  <a:srgbClr val="B8D8EE"/>
                </a:solidFill>
                <a:latin typeface="Calibri"/>
              </a:rPr>
              <a:t> en las dos versiones. Y sin indices no hay Index Scan —eso es la Clase 7—: hoy se miden filas procesadas y pasadas sobre la tabla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72184"/>
            <a:ext cx="5478627" cy="4882896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72184"/>
            <a:ext cx="5478627" cy="50292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63624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12263"/>
            <a:ext cx="5158587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«SELECT *» arrastra las columnas de 4 tablas por el join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«to_char(fecha_hora,…)» y «UPPER(estado)»: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funcion sobre la columna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Joins con coma: si falta una condicion,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producto cartesiano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Subconsulta por fila: el plan dice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loops=2006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472184"/>
            <a:ext cx="5478627" cy="4882896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472184"/>
            <a:ext cx="5478627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1563624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Despues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0459" y="2112263"/>
            <a:ext cx="5158587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Las 6 columnas que la pantalla de agenda usa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«&gt;= TIMESTAMP '2026-03-10' … &lt;» y «estado = '…'»: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sargable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«JOIN … ON»: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no acelera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, impide el cartesiano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«LEFT JOIN» + «GROUP BY»: de 2.006 pasadas a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una</a:t>
            </a:r>
          </a:p>
        </p:txBody>
      </p:sp>
      <p:pic>
        <p:nvPicPr>
          <p:cNvPr id="14" name="Picture 13" descr="sello_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27048"/>
            <a:ext cx="393192" cy="393192"/>
          </a:xfrm>
          <a:prstGeom prst="rect">
            <a:avLst/>
          </a:prstGeom>
        </p:spPr>
      </p:pic>
      <p:pic>
        <p:nvPicPr>
          <p:cNvPr id="15" name="Picture 14" descr="sello_bi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527048"/>
            <a:ext cx="393192" cy="3931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subconsulta correlacionada: 2.006 pasadas o una sola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bconsulta-correlacionad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ubconsulta-correlacionad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ubconsulta-correlacionad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subconsulta es correlacionada cuando menciona una columna de la consulta exterior.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depende de la fila que se este mirando, asi que la ejecuta una vez por cada fila del exterior.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reporte de ranking de duenos de la clase la tiene.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Como hay 2.006 duenos, se ejecuta 2.006 veces, y cada ejecucion recorre mascota y cita completas: del orden de 70 millones de filas procesadas para…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Matar la subconsulta correlacionada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6366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ANTES: la subconsulta se ejecuta UNA VEZ POR DUENO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     (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(*)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DESPUES: una sola pasada, agrupando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LEFT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GROUP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nombre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DESC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LEFT JOIN, no JOIN: con JOIN desaparecen los duenos sin mascota.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subconsulta correlacionada en el plan: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Una subconsulta que menciona la fila de afuera se repite por cada fila: el plan lo delata con loops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436512"/>
            <a:ext cx="6010497" cy="45427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op-roller-co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509664"/>
            <a:ext cx="5864193" cy="43964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Dam Design Lab · Pexels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Que la hace correlacionada.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subconsulta esta en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lista de columnas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menciona una columna del exterior («WHERE m.id_dueno = d.id_dueno»).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El numero que lo delata en el plan.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«EXPLAIN ANALYZE» muestra un nodo «SubPlan»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«loops=2006»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— un dueno, una ejecucion.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 reescritura.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«dueno LEFT JOIN mascota LEFT JOIN cita» + «GROUP BY d.id_dueno, d.nombre» + «COUNT(...)».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Optimizar no cambia el resultado, y eso se demuestra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smo-resulta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ismo-resulta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ismo-resulta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Correccion y tiempo son ejes independientes, y la consecuencia practica es que una version «optimizada» que devuelve algo distinto no es una…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una consulta con filtro sirve el conteo: se envuelve cada version en un SELECT COUNT(*) y se comparan los dos numeros en la misma corrida.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conteo distinto no es una version mas rapida, es la respuesta equivocada.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Optimizar no cambia el resultado: como se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Optimizar sin probar la equivalencia es apostar: «COUNT(*)» de cada version y «EXCEPT» en los dos sentidos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678969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ale-balance-eq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752121"/>
            <a:ext cx="5864193" cy="39115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KATRIN  BOLOVTSOVA · Pexels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 regla.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Correccion y tiempo son ejes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independientes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Prueba 1, para una consulta con filtro: los dos «COUNT(*)».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envuelve cada version y se comparan los conteos en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misma corrida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Prueba 2, para conjuntos completos: «EXCEPT» en los DOS sentidos.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«A EXCEPT B» devuelve lo que esta en A y no en B.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Sin «LIMIT» en la prueba.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antes y el despues del script de la clase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573813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fore-after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646965"/>
            <a:ext cx="5864193" cy="3911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Neriman Özaydın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script Codigo/06_opt_consultas.sql es autocontenido y siembra el mismo volumen que PostgreSQL en el navegador.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Empieza con dos conteos de control que conviene proyectar antes de tocar nada.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el cruce implicito con comas es peligroso por aritmetica, no por estilo: si alguien olvida una de las tres condiciones de 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Donde se corre todo esto, y que no se puede medir aqui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573813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ent-laptop-browser-c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646965"/>
            <a:ext cx="5864193" cy="3911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Anna Shvets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herramienta del dia es PostgreSQL compilado para el navegador.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justificacion de media pagina y la matriz de cambios se escriben en Google Docs.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no se ofrece ningun playground externo como alterno, y conviene que lo digas asi de claro.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Tampoco tiene sentido hoy un comparador de motores, porque el motor de hoy es uno solo.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573813"/>
            <a:ext cx="6010497" cy="4057845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ptop-code-live-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646965"/>
            <a:ext cx="5864193" cy="39115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Foto: olia danilevich · Pexels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PostgreSQL + Google Docs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Consulta pesada citas+mascotas+duenos -&gt; version filtrada y proyectada, con EXPLAIN ANALYZE antes y despues.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Sigan el mismo dominio de la clínica (no inventen otro caso).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Qué observar: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las dos versiones devuelven las mismas 91 filas, pero el plan de la primera muestra loops=2006 y el de la segunda una sola pasada.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6 · Optimizacion de consultas · la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SQL es declarativo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Leer un plan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Las estadisticas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