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Una revisión técnica es una reunión con un solo propósito: encontrar defectos en un producto de trabajo mientras todavía es barato corregirlos, y salir con una lista escrita. No es una reunión de avance, ni una calificación, ni una demostración para lucirse.</a:t>
            </a:r>
          </a:p>
          <a:p/>
          <a:p>
            <a:r>
              <a:t>CÓMO DARLA (≈5 min):</a:t>
            </a:r>
          </a:p>
          <a:p>
            <a:r>
              <a:t>  • Al entrar: El objetivo arriba y el artefacto al centro: puede ser el ER, el script DDL, la matriz de roles o un procedimiento. Todo gira alrededor del producto, no de quien lo hizo.</a:t>
            </a:r>
          </a:p>
          <a:p>
            <a:r>
              <a:t>  • Clic 1: Los cuatro roles: el autor presenta y responde, los revisores buscan defectos, el moderador cuida tiempo y tono, el escriba anota cada hallazgo. Entre dos personas, una hace de autor y la otra de revisor y escriba.</a:t>
            </a:r>
          </a:p>
          <a:p>
            <a:r>
              <a:t>  • Clic 2: El producto es el acta de hallazgos. Si de la reunión no sale nada escrito, no hubo revisión: hubo conversación.</a:t>
            </a:r>
          </a:p>
          <a:p>
            <a:r>
              <a:t>  • Clic 3: Las dos reglas, dichas antes de empezar: se revisa el artefacto y no la persona, y el problema no se arregla dentro de la revisión. Quien se pone a corregir el DDL en vivo consume el tiempo de todos.</a:t>
            </a:r>
          </a:p>
          <a:p/>
          <a:p>
            <a:r>
              <a:t>EJEMPLO: El estándar IEEE 1028 distingue la inspección (formal, con lista de verificación y métricas), el walkthrough (el autor guía) y la revisión técnica (los pares evalúan si el artefacto sirve). Hoy se hace una revisión técnica con lista de verificación, de unos diez minutos por persona.</a:t>
            </a:r>
          </a:p>
          <a:p/>
          <a:p>
            <a:r>
              <a:t>SI PREGUNTAN:</a:t>
            </a:r>
          </a:p>
          <a:p>
            <a:r>
              <a:t>  • «¿Esto tiene nota?» → La revisión no califica el producto: es la última oportunidad de mover puntos antes de la entrega. Conviene llegar con lo más flojo, no con lo mejor.</a:t>
            </a:r>
          </a:p>
          <a:p>
            <a:r>
              <a:t>  • «¿Si el revisor encuentra fallas me bajan la nota?» → No: el revisor par no califica. Encontrar fallas es el objetivo de la sesión.</a:t>
            </a:r>
          </a:p>
          <a:p/>
          <a:p>
            <a:r>
              <a:t>CUIDADO: El error típico del docente es convertir la revisión en «va bien, faltan detalles»: amable, global y sin nada escrito. Sin acta, los defectos llegan intactos a la entrega final.</a:t>
            </a:r>
          </a:p>
          <a:p/>
          <a:p>
            <a:r>
              <a:t>PASA A LA SIGUIENTE: ¿Qué se revisa en una base de datos? No cada pieza: la coherencia entre ellas.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En una base de datos no se audita cada pieza por separado sino la coherencia entre piezas: que todas describan el mismo sistema. Un ER bien dibujado y un DDL que ejecuta sin errores pueden describir dos bases distintas, y ninguna de las dos piezas «falla» por sí sola.</a:t>
            </a:r>
          </a:p>
          <a:p/>
          <a:p>
            <a:r>
              <a:t>CÓMO DARLA (≈5 min):</a:t>
            </a:r>
          </a:p>
          <a:p>
            <a:r>
              <a:t>  • Al entrar: Las cinco piezas del proyecto, cada una con su visto: el ER, el DDL, la matriz de roles, los procedimientos y el informe de optimización. Revisadas solas, todas pasan.</a:t>
            </a:r>
          </a:p>
          <a:p>
            <a:r>
              <a:t>  • Clic 1: El enlace entre el ER y el DDL se rompe: el diagrama se dibujó en la Clase 1 y el DDL se parchó en las Clases 3 a 8 (una tabla de auditoría, una columna nueva) sin volver al diagrama. Es el hallazgo más común y el más fácil de encontrar si se sabe dónde mirar.</a:t>
            </a:r>
          </a:p>
          <a:p>
            <a:r>
              <a:t>  • Clic 2: Las cuatro verificaciones cruzadas, cada una entre dos piezas: el ER contra el DDL, la matriz de roles contra los GRANT, los procedimientos contra una llamada real y el informe contra el EXPLAIN de antes y después. Cada una toma dos o tres minutos.</a:t>
            </a:r>
          </a:p>
          <a:p>
            <a:r>
              <a:t>  • Clic 3: La frase de la lámina: se audita la coherencia entre piezas, no cada pieza.</a:t>
            </a:r>
          </a:p>
          <a:p/>
          <a:p>
            <a:r>
              <a:t>EJEMPLO: La tabla audit_cita apareció en la Clase 4 con su trigger. Si el ER no la tiene, el DDL describe una base con una tabla más que el diagrama: hallazgo de coherencia, aunque las dos piezas estén bien hechas.</a:t>
            </a:r>
          </a:p>
          <a:p/>
          <a:p>
            <a:r>
              <a:t>SI PREGUNTAN:</a:t>
            </a:r>
          </a:p>
          <a:p>
            <a:r>
              <a:t>  • «¿Y si el DDL es el correcto y el ER el viejo?» → Entonces se actualiza el ER: la fuente de verdad es lo que corre. El hallazgo es que no coinciden, no cuál de los dos tiene la culpa.</a:t>
            </a:r>
          </a:p>
          <a:p/>
          <a:p>
            <a:r>
              <a:t>CUIDADO: No aceptes como evidencia lo que el autor dice («sí, está actualizado»): pide abrir las dos piezas lado a lado.</a:t>
            </a:r>
          </a:p>
          <a:p/>
          <a:p>
            <a:r>
              <a:t>PASA A LA SIGUIENTE: Las dos primeras verificaciones, en detalle.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verificación uno compara el diagrama con el script en los dos sentidos y después mira las relaciones. La verificación dos compara la matriz de roles de la Clase 2 con los GRANT que de verdad se ejecutaron.</a:t>
            </a:r>
          </a:p>
          <a:p/>
          <a:p>
            <a:r>
              <a:t>CÓMO DARLA (≈6 min):</a:t>
            </a:r>
          </a:p>
          <a:p>
            <a:r>
              <a:t>  • Al entrar: De ida: se recorre el ER entidad por entidad buscando su CREATE TABLE. Dueño, mascota y cita lo tienen; insumo no: entidad sin tabla.</a:t>
            </a:r>
          </a:p>
          <a:p>
            <a:r>
              <a:t>  • Clic 1: De vuelta: el script tiene CREATE TABLE proveedor y el ER no tiene esa entidad. El modelo creció sin registrarse, y es el sentido que nadie revisa.</a:t>
            </a:r>
          </a:p>
          <a:p>
            <a:r>
              <a:t>  • Clic 2: Las relaciones: si el ER dice que una cita pertenece a exactamente una mascota, el DDL debe tener id_mascota INT NOT NULL y REFERENCES mascota(id_mascota). Si dice que un dueño tiene varias mascotas, la clave foránea vive en mascota, no en dueño. Una cardinalidad sin restricción es decoración.</a:t>
            </a:r>
          </a:p>
          <a:p>
            <a:r>
              <a:t>  • Clic 3: Verificación dos: la matriz dice que el auditor solo lee cita, pero el script le dio GRANT SELECT, INSERT, UPDATE ON cita TO auditor. Pasa cuando se copia el bloque de recepción y solo se cambia el nombre del rol.</a:t>
            </a:r>
          </a:p>
          <a:p/>
          <a:p>
            <a:r>
              <a:t>EJEMPLO: La consulta del catálogo que lista las claves foráneas devuelve 7 filas en la base completa del curso: una por cada relación del ER (cita con mascota y con veterinario, mascota con dueño, consulta con cita, factura con consulta y detalle_factura con factura y con insumo).</a:t>
            </a:r>
          </a:p>
          <a:p/>
          <a:p>
            <a:r>
              <a:t>SI PREGUNTAN:</a:t>
            </a:r>
          </a:p>
          <a:p>
            <a:r>
              <a:t>  • «¿Cómo veo los privilegios reales de un rol?» → Con el catálogo: SELECT grantee, table_name, privilege_type FROM information_schema.role_table_grants WHERE grantee = 'auditor'; con el GRANT del ejemplo devuelve tres filas: INSERT, SELECT y UPDATE sobre cita.</a:t>
            </a:r>
          </a:p>
          <a:p>
            <a:r>
              <a:t>  • «¿Una FK sin NOT NULL está mal?» → Depende de la cardinalidad: sin NOT NULL la relación es opcional. Si el ER dice «exactamente una», falta el NOT NULL.</a:t>
            </a:r>
          </a:p>
          <a:p/>
          <a:p>
            <a:r>
              <a:t>CUIDADO: Revisar solo de ida deja pasar las tablas que crecieron sin diagrama, que son justo las que la sustentación pregunta.</a:t>
            </a:r>
          </a:p>
          <a:p/>
          <a:p>
            <a:r>
              <a:t>PASA A LA SIGUIENTE: La verificación tres separa a quien va bien de quien no: que compile no es que sirva.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Las verificaciones tres y cuatro piden ejecuciones, no afirmaciones. Un procedimiento se prueba con dos llamadas: una que debe pasar y una que debe ser rechazada. Una optimización se prueba con el plan de ejecución de antes y de después.</a:t>
            </a:r>
          </a:p>
          <a:p/>
          <a:p>
            <a:r>
              <a:t>CÓMO DARLA (≈5 min):</a:t>
            </a:r>
          </a:p>
          <a:p>
            <a:r>
              <a:t>  • Al entrar: CREATE PROCEDURE sp_agendar_cita(…) compiló. Eso solo dice que la sintaxis es correcta; todavía no se sabe si la regla funciona.</a:t>
            </a:r>
          </a:p>
          <a:p>
            <a:r>
              <a:t>  • Clic 1: Caso válido: CALL sp_agendar_cita(1, 2, …) con una mascota activa (Firulais) y una franja libre: inserta la cita.</a:t>
            </a:r>
          </a:p>
          <a:p>
            <a:r>
              <a:t>  • Clic 2: Caso inválido declarado: CALL sp_agendar_cita(3, 2, …) con Rocky, que está inactiva: el procedimiento aborta con «ERROR: la mascota 3 esta inactiva; no se agenda cita» y no inserta nada. Si el autor no puede mostrar esta segunda ejecución, el procedimiento no tiene manejo de errores.</a:t>
            </a:r>
          </a:p>
          <a:p>
            <a:r>
              <a:t>  • Clic 3: Verificación cuatro: se pide la consulta, el plan de antes (Seq Scan on cita), el cambio aplicado y el plan de después (Index Scan using idx_cita_fecha_hora on cita). Sin medición, el informe es una opinión; y un índice que ninguna consulta aprovecha se anota como hallazgo.</a:t>
            </a:r>
          </a:p>
          <a:p/>
          <a:p>
            <a:r>
              <a:t>EJEMPLO: Un sp_agendar_cita que compila pero no valida la mascota inactiva pasa la primera llamada y también la segunda: inserta la cita de Rocky, que debía rechazarse. Solo la segunda ejecución lo delata.</a:t>
            </a:r>
          </a:p>
          <a:p/>
          <a:p>
            <a:r>
              <a:t>SI PREGUNTAN:</a:t>
            </a:r>
          </a:p>
          <a:p>
            <a:r>
              <a:t>  • «¿Cómo confirmo que el caso inválido no dejó nada?» → Con SELECT COUNT(*) FROM cita; antes y después: el número no cambia.</a:t>
            </a:r>
          </a:p>
          <a:p>
            <a:r>
              <a:t>  • «¿El plan de después siempre muestra Index Scan?» → No necesariamente: con pocas filas el planificador puede preferir Seq Scan aunque el índice exista. Lo que se exige es la medición y que el informe explique lo que muestra.</a:t>
            </a:r>
          </a:p>
          <a:p/>
          <a:p>
            <a:r>
              <a:t>CUIDADO: No marques en verde un procedimiento porque el autor dice que funciona: pide la ejecución del caso inválido en pantalla.</a:t>
            </a:r>
          </a:p>
          <a:p/>
          <a:p>
            <a:r>
              <a:t>PASA A LA SIGUIENTE: Las verificaciones en SQL: el catálogo responde qué existe de verdad.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Scope creep es el crecimiento no controlado del alcance: se agregan cosas sin decidirlo y sin quitar nada. En un proyecto de base de datos tiene un síntoma que se cuenta: el número de entidades.</a:t>
            </a:r>
          </a:p>
          <a:p/>
          <a:p>
            <a:r>
              <a:t>CÓMO DARLA (≈4 min):</a:t>
            </a:r>
          </a:p>
          <a:p>
            <a:r>
              <a:t>  • Al entrar: El mínimo son seis entidades (dueño, mascota, veterinario, cita, insumo y factura con su detalle) y el rango sano llega a nueve con una o dos ampliaciones justificadas, como consulta o un historial clínico. El modelo del curso tiene 8 tablas: dentro del rango.</a:t>
            </a:r>
          </a:p>
          <a:p>
            <a:r>
              <a:t>  • Clic 1: Se agregan proveedores, inventario multialmacén, portal de dueños, notificaciones… y se llega a 15. Nadie decidió agregarlas y nada se quitó a cambio.</a:t>
            </a:r>
          </a:p>
          <a:p>
            <a:r>
              <a:t>  • Clic 2: Mismo esfuerzo, el doble de superficie: se termina con quince tablas vacías en vez de ocho con procedimientos probados. La acción va al acta: las sobrantes pasan a una sección de alcance futuro, con su porqué.</a:t>
            </a:r>
          </a:p>
          <a:p/>
          <a:p>
            <a:r>
              <a:t>EJEMPLO: Un hallazgo bien escrito: «Artefacto: ER. Observación: 15 entidades, 7 sin procedimientos ni datos. Acción: mover proveedor, almacén, portal y notificación a alcance futuro.»</a:t>
            </a:r>
          </a:p>
          <a:p/>
          <a:p>
            <a:r>
              <a:t>SI PREGUNTAN:</a:t>
            </a:r>
          </a:p>
          <a:p>
            <a:r>
              <a:t>  • «¿Mover entidades a alcance futuro no se ve mal?» → Al contrario: declarar el límite con su razón es señal de madurez y se valora al sustentar.</a:t>
            </a:r>
          </a:p>
          <a:p/>
          <a:p>
            <a:r>
              <a:t>CUIDADO: Existe el problema inverso: quien recortó tanto que ya no tiene material para procedimientos, funciones y triggers. También se escribe como hallazgo.</a:t>
            </a:r>
          </a:p>
          <a:p/>
          <a:p>
            <a:r>
              <a:t>PASA A LA SIGUIENTE: ¿Cómo se escribe un hallazgo para que sirva? Tiene una anatomía fija.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retroalimentación útil se escribe siempre con la misma forma, para que el acta sea una lista de tareas y no un desahogo. Cada hallazgo dice qué pieza, qué se observó, por qué importa, qué hacer y quién lo hace para cuándo.</a:t>
            </a:r>
          </a:p>
          <a:p/>
          <a:p>
            <a:r>
              <a:t>CÓMO DARLA (≈5 min):</a:t>
            </a:r>
          </a:p>
          <a:p>
            <a:r>
              <a:t>  • Al entrar: La versión inútil: «el modelo está flojo, mejórenlo». No dice qué mirar ni cómo saber cuándo está resuelto.</a:t>
            </a:r>
          </a:p>
          <a:p>
            <a:r>
              <a:t>  • Clic 1: La versión concreta, parte por parte: artefacto, el script DDL; observación, detalle_factura no tiene FOREIGN KEY hacia insumo aunque el ER dibuja la relación; impacto, se pueden insertar detalles con insumos que no existen; acción, agregar la restricción y re-ejecutar el script completo desde cero; responsable y fecha, el autor, antes de la próxima sesión.</a:t>
            </a:r>
          </a:p>
          <a:p>
            <a:r>
              <a:t>  • Clic 2: La diferencia no es cortesía, es verificabilidad. Y la dosis: de tres a cinco hallazgos por persona; más de cinco desmoraliza y nadie los cierra, menos de tres suele ser una revisión superficial.</a:t>
            </a:r>
          </a:p>
          <a:p/>
          <a:p>
            <a:r>
              <a:t>EJEMPLO: La observación se prueba con SQL: INSERT INTO detalle_factura (id_factura, id_insumo, cantidad, precio_unit) VALUES (1, 999, 1, 1000); si entra, falta la FK; si responde «violates foreign key constraint», el hallazgo está cerrado.</a:t>
            </a:r>
          </a:p>
          <a:p/>
          <a:p>
            <a:r>
              <a:t>SI PREGUNTAN:</a:t>
            </a:r>
          </a:p>
          <a:p>
            <a:r>
              <a:t>  • «¿Por qué re-ejecutar todo el script desde cero?» → Porque un ALTER aplicado a mano en la base de uno no queda en el script: la prueba de que quedó es que el script completo corra limpio en una base vacía.</a:t>
            </a:r>
          </a:p>
          <a:p/>
          <a:p>
            <a:r>
              <a:t>CUIDADO: La observación tiene que ser verificable: «la FK no existe» se comprueba; «el modelo está raro», no.</a:t>
            </a:r>
          </a:p>
          <a:p/>
          <a:p>
            <a:r>
              <a:t>PASA A LA SIGUIENTE: ¿Y si la revisión no encuentra nada? Entonces se desperdició.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punto de control intermedio solo vale si de él sale una lista de cosas por corregir mientras aún hay clases para hacerlo. Un «todo bien» no ahorra trabajo: lo aplaza al momento en que ya no se puede arreglar.</a:t>
            </a:r>
          </a:p>
          <a:p/>
          <a:p>
            <a:r>
              <a:t>CÓMO DARLA (≈4 min):</a:t>
            </a:r>
          </a:p>
          <a:p>
            <a:r>
              <a:t>  • Al entrar: La línea del tiempo: checkpoint y entrega. Entre los dos, la franja verde es el tiempo que queda para corregir.</a:t>
            </a:r>
          </a:p>
          <a:p>
            <a:r>
              <a:t>  • Clic 1: Con hallazgos concretos: el defecto aparece en el checkpoint, se anota y se corrige dentro de esa franja.</a:t>
            </a:r>
          </a:p>
          <a:p>
            <a:r>
              <a:t>  • Clic 2: Con «todo bien, sigan así»: el estudiante entiende, con razón, que su trabajo está aprobado; deja de revisarlo y el defecto llega intacto a la entrega, cuando ya no hay tiempo. Es un costo diferido, no un ahorro.</a:t>
            </a:r>
          </a:p>
          <a:p/>
          <a:p>
            <a:r>
              <a:t>EJEMPLO: La revisión entre pares tiene un beneficio propio: quien revisa casi siempre vuelve a su carpeta y arregla en silencio el mismo problema que acaba de señalar.</a:t>
            </a:r>
          </a:p>
          <a:p/>
          <a:p>
            <a:r>
              <a:t>SI PREGUNTAN:</a:t>
            </a:r>
          </a:p>
          <a:p>
            <a:r>
              <a:t>  • «¿Llego con lo mejor o con lo peor?» → Con lo peor: es lo que la revisión puede arreglar. Esconder la parte floja es perder justo la ayuda que se vino a buscar.</a:t>
            </a:r>
          </a:p>
          <a:p/>
          <a:p>
            <a:r>
              <a:t>CUIDADO: Convertir el checkpoint en una clase de repaso porque incomoda no tener tema nuevo: el tiempo se va explicando y nadie sale con su acta, que era el producto del día.</a:t>
            </a:r>
          </a:p>
          <a:p/>
          <a:p>
            <a:r>
              <a:t>PASA A LA SIGUIENTE: Para que los hallazgos salgan de datos y no de opiniones: más consultas al catálogo.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Hoy no hay SQL nuevo: hoy se revisa lo construido. Una revisión técnica bien hecha encuentra los defectos mientras todavía hay tiempo de corregirlos, y deja una lista escrita de qué arreglar.</a:t>
            </a:r>
          </a:p>
          <a:p/>
          <a:p>
            <a:r>
              <a:t>CÓMO DARLA (≈4 min):</a:t>
            </a:r>
          </a:p>
          <a:p>
            <a:r>
              <a:t>  • Al entrar: Lee el tema y pregunta: «si hoy alguien abriera su base sin conocerlos, ¿qué sería lo primero que no coincide con lo que dice su diagrama?». Toma dos respuestas.</a:t>
            </a:r>
          </a:p>
          <a:p>
            <a:r>
              <a:t>  • Después: Cierra: «al final cada uno sale con su acta de hallazgos; cada hallazgo, demostrado con una ejecución».</a:t>
            </a:r>
          </a:p>
          <a:p/>
          <a:p>
            <a:r>
              <a:t>CUIDADO: Esta sesión es doble: la Clase 11 y la 12 van el mismo día. Cuida el tiempo de la revisión para que la integración no quede comprimida.</a:t>
            </a:r>
          </a:p>
          <a:p/>
          <a:p>
            <a:r>
              <a:t>PASA A LA SIGUIENTE: Primero, qué es una revisión técnica y con qué producto se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recorrido del bloque: teoría con una lámina por concepto, demo de una revisión real y práctica opcional.</a:t>
            </a:r>
          </a:p>
          <a:p/>
          <a:p>
            <a:r>
              <a:t>CÓMO DARLA (≈1 min):</a:t>
            </a:r>
          </a:p>
          <a:p>
            <a:r>
              <a:t>  • Al entrar: Señala solo los tramos; no te detengas. La práctica está en la carpeta de la clase y es opcional.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catálogo de la base, information_schema, responde con datos qué tablas existen y cuáles tienen clave primaria. Así se verifica el DDL sin leerlo línea por línea.</a:t>
            </a:r>
          </a:p>
          <a:p/>
          <a:p>
            <a:r>
              <a:t>CÓMO DARLA (≈4 min):</a:t>
            </a:r>
          </a:p>
          <a:p>
            <a:r>
              <a:t>  • Líneas 1-3: Lista las tablas del esquema public en orden alfabético. En una base con el modelo completo y la auditoría aparecen 9: audit_cita, cita, consulta, detalle_factura, dueno, factura, insumo, mascota y veterinario. Cualquier otra es una tabla sin entidad que revisar.</a:t>
            </a:r>
          </a:p>
          <a:p>
            <a:r>
              <a:t>  • Líneas 5-10: Une cada tabla con sus restricciones PRIMARY KEY mediante LEFT JOIN y se queda con las que no encontraron ninguna (c.constraint_name IS NULL).</a:t>
            </a:r>
          </a:p>
          <a:p>
            <a:r>
              <a:t>  • Línea 11: Cero filas significa que todas las tablas tienen clave primaria. Cada fila que aparezca es un hallazgo.</a:t>
            </a:r>
          </a:p>
          <a:p/>
          <a:p>
            <a:r>
              <a:t>EJEMPLO: En la base completa del curso la segunda consulta devuelve 0 filas: todas las tablas, incluida audit_cita, tienen su clave primaria.</a:t>
            </a:r>
          </a:p>
          <a:p/>
          <a:p>
            <a:r>
              <a:t>SI PREGUNTAN:</a:t>
            </a:r>
          </a:p>
          <a:p>
            <a:r>
              <a:t>  • «¿Por qué LEFT JOIN y no JOIN?» → Porque se buscan las tablas que NO tienen PK: un JOIN las descartaría; el LEFT JOIN las conserva con NULL en las columnas de la restricción, y el WHERE … IS NULL las deja solas.</a:t>
            </a:r>
          </a:p>
          <a:p>
            <a:r>
              <a:t>  • «¿information_schema es de PostgreSQL?» → Es del estándar SQL: también existe en MySQL y SQL Server. PostgreSQL tiene además su catálogo propio, pg_catalog.</a:t>
            </a:r>
          </a:p>
          <a:p/>
          <a:p>
            <a:r>
              <a:t>CUIDADO: Corre las consultas sobre la base que el autor va a entregar, no sobre una copia de prueba: el catálogo describe la base en la que se ejecuta.</a:t>
            </a:r>
          </a:p>
          <a:p/>
          <a:p>
            <a:r>
              <a:t>PASA A LA SIGUIENTE: Una revisión también encuentra lo contrario de lo que falta: lo que sobra.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Dos verificaciones más con el catálogo: qué claves foráneas existen y qué procedimientos, funciones y triggers hay de verdad en la base, no en el informe.</a:t>
            </a:r>
          </a:p>
          <a:p/>
          <a:p>
            <a:r>
              <a:t>CÓMO DARLA (≈4 min):</a:t>
            </a:r>
          </a:p>
          <a:p>
            <a:r>
              <a:t>  • Líneas 1-9: Une las restricciones FOREIGN KEY con la columna que las lleva (key_column_usage) y con la tabla a la que apuntan (constraint_column_usage). En la base completa devuelve 7 filas: cita→veterinario, cita→mascota, consulta→cita, detalle_factura→factura, detalle_factura→insumo, factura→consulta y mascota→dueno.</a:t>
            </a:r>
          </a:p>
          <a:p>
            <a:r>
              <a:t>  • Líneas 11-13: information_schema.routines lista lo que existe con su tipo: con el avance completo aparecen fn_trg_audit_cita (FUNCTION), sp_agendar_cita y sp_facturar (PROCEDURE).</a:t>
            </a:r>
          </a:p>
          <a:p>
            <a:r>
              <a:t>  • Línea 14: information_schema.triggers devuelve trg_audit_cita sobre cita. Un trigger aparece una vez por cada evento que lo dispara; este solo escucha UPDATE.</a:t>
            </a:r>
          </a:p>
          <a:p/>
          <a:p>
            <a:r>
              <a:t>EJEMPLO: Si el informe dice «tres procedimientos» y routines devuelve dos, el tercero está en un archivo y no en la base: hallazgo.</a:t>
            </a:r>
          </a:p>
          <a:p/>
          <a:p>
            <a:r>
              <a:t>SI PREGUNTAN:</a:t>
            </a:r>
          </a:p>
          <a:p>
            <a:r>
              <a:t>  • «¿Por qué la función del trigger aparece como FUNCTION?» → Porque en PostgreSQL el trigger son dos objetos: la función RETURNS TRIGGER, que es una rutina más, y la asociación CREATE TRIGGER, que está en information_schema.triggers.</a:t>
            </a:r>
          </a:p>
          <a:p/>
          <a:p>
            <a:r>
              <a:t>CUIDADO: La consulta de claves foráneas une solo por nombre de restricción: una FK de dos columnas aparecería repetida. En el modelo del curso todas son de una columna.</a:t>
            </a:r>
          </a:p>
          <a:p/>
          <a:p>
            <a:r>
              <a:t>PASA A LA SIGUIENTE: Ahora todo esto en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demo es una revisión real de diez minutos sobre una base completa: el docente hace de revisor, ejecuta las verificaciones y escribe los hallazgos en vivo con sus cinco partes.</a:t>
            </a:r>
          </a:p>
          <a:p/>
          <a:p>
            <a:r>
              <a:t>CÓMO DARLA (≈15 min):</a:t>
            </a:r>
          </a:p>
          <a:p>
            <a:r>
              <a:t>  • 1 · Catálogo: Ejecuta las consultas de las dos láminas de código: tablas, tablas sin PK (0 filas), claves foráneas (7) y rutinas y triggers. Compara cada resultado con el ER.</a:t>
            </a:r>
          </a:p>
          <a:p>
            <a:r>
              <a:t>  • 2 · Procedimiento: CALL sp_agendar_cita(1, 2, TIMESTAMP '2026-11-05 10:00:00') inserta; CALL sp_agendar_cita(3, 2, TIMESTAMP '2026-11-05 09:00:00') responde «ERROR: la mascota 3 esta inactiva; no se agenda cita». Muestra SELECT COUNT(*) FROM cita antes y después de la segunda.</a:t>
            </a:r>
          </a:p>
          <a:p>
            <a:r>
              <a:t>  • 3 · Hallazgo: Escribe un hallazgo completo en el acta, en voz alta, parte por parte. Si la base no tiene ninguno real, usa el de detalle_factura sin FK y pruébalo con el INSERT del insumo 999.</a:t>
            </a:r>
          </a:p>
          <a:p>
            <a:r>
              <a:t>  • 4 · Cierre: Muestra el acta terminada: de 3 a 5 hallazgos, cada uno con responsable y fecha.</a:t>
            </a:r>
          </a:p>
          <a:p/>
          <a:p>
            <a:r>
              <a:t>EJEMPLO: Tiempos sugeridos: catálogo 5 min, procedimiento 4 min, hallazgo 4 min, cierre 2 min.</a:t>
            </a:r>
          </a:p>
          <a:p/>
          <a:p>
            <a:r>
              <a:t>SI PREGUNTAN:</a:t>
            </a:r>
          </a:p>
          <a:p>
            <a:r>
              <a:t>  • «¿Y si la base del estudiante no corre?» → Ese es el primer hallazgo, y el más grave: sin un script que corra de principio a fin en una base vacía no hay sobre qué montar lo demás.</a:t>
            </a:r>
          </a:p>
          <a:p/>
          <a:p>
            <a:r>
              <a:t>CUIDADO: No corrijas en vivo lo que encuentres: anótalo. Corregir dentro de la revisión es la regla que más se rompe.</a:t>
            </a:r>
          </a:p>
          <a:p/>
          <a:p>
            <a:r>
              <a:t>PASA A LA SIGUIENTE: Para el ER del avance: del boceto al código Mermaid.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diagrama se entrega como texto Mermaid, no como imagen: la imagen sale del código. Se piensa dibujando, se traduce a texto, se comprueba que dibuje y se guardan las dos cosas.</a:t>
            </a:r>
          </a:p>
          <a:p/>
          <a:p>
            <a:r>
              <a:t>CÓMO DARLA (≈3 min):</a:t>
            </a:r>
          </a:p>
          <a:p>
            <a:r>
              <a:t>  • Paso 1: Diseña visual: en Excalidraw o draw.io arrastrar cajas es más rápido, y ahí se piensa el modelo.</a:t>
            </a:r>
          </a:p>
          <a:p>
            <a:r>
              <a:t>  • Paso 2: Traduce con IA: pide el código erDiagram a partir del boceto. Revisa el resultado: la IA acierta la sintaxis, no el modelo; los nombres tienen que ser los del DDL.</a:t>
            </a:r>
          </a:p>
          <a:p>
            <a:r>
              <a:t>  • Paso 3: Renderiza y corrige en un visor Mermaid (mermaid.live): si no dibuja, no comunica.</a:t>
            </a:r>
          </a:p>
          <a:p>
            <a:r>
              <a:t>  • Paso 4: Guarda el texto Mermaid, que es la fuente, y exporta el PNG.</a:t>
            </a:r>
          </a:p>
          <a:p/>
          <a:p>
            <a:r>
              <a:t>EJEMPLO: Una relación en erDiagram: dueno ||--o{ mascota : tiene (un dueño, cero o muchas mascotas). Cada entidad lleva sus atributos con tipo y PK o FK: int id_mascota PK.</a:t>
            </a:r>
          </a:p>
          <a:p/>
          <a:p>
            <a:r>
              <a:t>SI PREGUNTAN:</a:t>
            </a:r>
          </a:p>
          <a:p>
            <a:r>
              <a:t>  • «¿Por qué no basta una imagen del diagrama?» → Porque el texto se puede revisar, comparar con el DDL y versionar; una imagen no se corrige sin volver a dibujarla.</a:t>
            </a:r>
          </a:p>
          <a:p/>
          <a:p>
            <a:r>
              <a:t>CUIDADO: Revisa que los nombres del erDiagram sean exactamente los del DDL (dueno, no Dueño): un diagrama que no coincide con el script es justo el hallazgo de coherencia de hoy.</a:t>
            </a:r>
          </a:p>
          <a:p/>
          <a:p>
            <a:r>
              <a:t>PASA A LA SIGUIENTE: Cierre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Cierre: una revisión sirve si sale un acta con hallazgos verificables. Lo que se audita es la coherencia entre piezas, y cada hallazgo se demuestra con una ejecución.</a:t>
            </a:r>
          </a:p>
          <a:p/>
          <a:p>
            <a:r>
              <a:t>CÓMO DARLA (≈3 min):</a:t>
            </a:r>
          </a:p>
          <a:p>
            <a:r>
              <a:t>  • Al entrar: Pregunta de salida: «nombra un hallazgo de tu propia base con sus cinco partes». Toma dos respuestas y corrige la que no sea verificable.</a:t>
            </a:r>
          </a:p>
          <a:p>
            <a:r>
              <a:t>  • Después: Amarre: la Clase 12, en esta misma sesión, escribe el contrato de operaciones, que solo puede apoyarse en procedimientos que existen y funcionan.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Avance proyecto · la base de la clínica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Checklist viva + demo parcial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 · Tema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la revisión técnica del avance de la base de la clínica.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PostgreSQL en el navegador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un editor de diagramas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Gratis + navegador · sin software de pago obligatorio.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Recorrido: teoría del tema, una lámina por concepto, y demo del docente sobre la base de la clínica.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lámina se sostiene sola: sirve para repasar aunque hayas faltado.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Conceptos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revisión técnica · coherencia entre piezas · verificaciones cruzadas · control del alcance · el hallazgo útil.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· clase regular · la clínica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Teoría Core breve (al servicio del proyecto)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35-55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con la herramienta del día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55-105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Práctica (opcional, guía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Cierre conceptual · dudas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Que es una revision tecnica, y con que producto se sale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vision-rol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revision-role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revision-role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revision-role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revisión técnica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busca defectos en un artefacto antes de que cuesten caro.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Tiene cuatro roles: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autor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presenta,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revisores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buscan,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moderador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cuida el tiempo y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escriba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registra.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sale con un producto escrito,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acta de hallazgos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no con una nota ni con un aplauso.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revisa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artefacto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no la persona, y el problema se registra, no se arregla en la reunión.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se audita es la coherencia entre piezas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herencia-piez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oherencia-pieza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oherencia-pieza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coherencia-pieza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artefacto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cualquier producto de trabajo: el ER, el DDL, la matriz de roles, los procedimientos, el informe.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pieza puede estar bien sola y aun así describir, junto a otra,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bases distintas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caso más común: el ER se dibujó al inicio y el DDL se fue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parchando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sin actualizarlo.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 eso se corren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cuatro verificaciones cruzadas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cada una entre dos piezas.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Verificaciones uno y dos: el ER contra el DDL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-contra-ddl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er-contra-ddl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er-contra-ddl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er-contra-ddl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ida, cada entidad del ER debe tener su CREATE TABLE: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entidad sin tabla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un hallazgo.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vuelta,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tabla sin entidad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también lo es, y es la revisión que casi nadie hace.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cardinalidad dibujada debe existir como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NOT NULL y REFERENCES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 el DDL.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Verificación dos: cada celda de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matriz de roles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debe verse en un GRANT, y nada más.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Verificacion tres: que compile no es que sirva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ila-funcion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ompila-funcion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ompila-funcion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compila-funciona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procedimiento 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compila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no es un procedimiento 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funciona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se piden dos ejecuciones.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caso válido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inserta la cita, y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caso inválido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declarado responde con su mensaje de negocio.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Verificación cuatro: una optimización se demuestra con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plan antes y después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índice que ninguna consulta usa es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hallazgo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no un avance.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bateria de verificacion del avance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39835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80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80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-- 1. estan las 8 tablas del modelo?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table_name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information_schema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tables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table_schema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'public'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ORDER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table_name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-- 2. tienen todas clave primaria?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table_name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information_schema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tables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LEFT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JOIN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information_schema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table_constraints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    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table_name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table_name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constraint_type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'PRIMARY KEY'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table_schema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'public'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constraint_name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IS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NULL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cero filas = todas tienen 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Scope creep: el crecimiento no controlado del alcance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ope-creep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cope-creep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cope-creep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Scope creep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agregar funcionalidad sin que nadie lo decida y sin quitar nada a cambio.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una base de datos se mide en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entidades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y el rango sano a esta altura es de 6 a 9.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Quince entidades no es ir adelantado: es el mismo esfuerzo en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doble de superficie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que sobran pasan 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alcance futuro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del informe, con la razón por la que quedaron fuera.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anatomia fija de la retroalimentacion 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tomia-hallazg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anatomia-hallazg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anatomia-hallazg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«El modelo está flojo, mejórenlo» no sirve, porque no dice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qué mirar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ni cuándo queda resuelto.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hallazgo útil tiene cinco partes: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artefacto, observación, impacto, acción y responsable con fecha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diferencia es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verificabilidad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cualquiera puede comprobar que el hallazgo se cerró.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escriben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3 a 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hallazgos por persona, los de más peso primero.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Un checkpoint sin hallazgos concretos es un checkpoint desperdiciado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eckpoint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heckpoint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heckpoint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único valor de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checkpoint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que todavía hay tiempo para corregir.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hallazgos escritos, el defecto se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corrige a tiempo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antes de la entrega.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«Todo bien, sigan así» hace que se deje de revisar y el defecto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llega a la entrega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Revisar el trabajo de otro ayuda: los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defectos ajenos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ven más rápido que los propios.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Integridad y objetos de negocio, contados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17927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584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584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</a:pPr>
            <a:r>
              <a:rPr sz="1800" i="1" b="0">
                <a:solidFill>
                  <a:srgbClr val="6A9955"/>
                </a:solidFill>
                <a:latin typeface="Consolas"/>
              </a:rPr>
              <a:t>-- 3. las claves foraneas declaradas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tc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table_name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kcu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column_name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ccu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table_name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referencia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information_schema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table_constraints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tc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JOIN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information_schema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key_column_usage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kcu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    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kcu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constraint_name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tc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constraint_name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JOIN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information_schema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constraint_column_usage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ccu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    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ccu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constraint_name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tc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constraint_name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tc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constraint_type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800" i="0" b="0">
                <a:solidFill>
                  <a:srgbClr val="CE9178"/>
                </a:solidFill>
                <a:latin typeface="Consolas"/>
              </a:rPr>
              <a:t>'FOREIGN KEY'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ORDER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tc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table_name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85"/>
              </a:spcAft>
            </a:pPr>
            <a:r>
              <a:rPr sz="1800" i="1" b="0">
                <a:solidFill>
                  <a:srgbClr val="6A9955"/>
                </a:solidFill>
                <a:latin typeface="Consolas"/>
              </a:rPr>
              <a:t>-- 4. procedimientos, funciones y triggers que existen de verdad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routine_name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routine_type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information_schema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routines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routine_schema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800" i="0" b="0">
                <a:solidFill>
                  <a:srgbClr val="CE9178"/>
                </a:solidFill>
                <a:latin typeface="Consolas"/>
              </a:rPr>
              <a:t>'public'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ORDER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routine_name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trigger_name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event_object_table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information_schema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triggers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m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hallazgo sale de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ejecución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el catálogo, el CALL válido y el CALL inválido.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ER se compara con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DDL real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en los dos sentidos.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hallazgo se escribe con sus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cinco partes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artefacto, observación, impacto, acción y responsable.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Del boceto al código Mermaid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El diagrama es texto Mermaid: la imagen sale del codigo, no al reves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9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51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Disena visual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Dibuja el diagrama como quieras en Excalidraw o draw.io: es mas rapido arrastrar cajas que escribir codigo, y ahi es donde piensas el modelo.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02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94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Traduce con IA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Copia o describe tu boceto a una IA y pidele el codigo Mermaid usando erDiagram. Revisa el resultado: la IA acierta la sintaxis, no tu modelo.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45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4251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7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Renderiza y corrige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Pega el codigo en un visor Mermaid (por ejemplo mermaid.live) y mira como lo dibuja. Si no renderiza, corrige ahi mismo: un diagrama que no renderiza no comunica nada.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8863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5394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949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80076"/>
            <a:ext cx="10271455" cy="88696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Guarda codigo e imagen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Conserva el texto Mermaid, que es la fuente, y exporta el PNG para tu informe.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11 · Avance proyecto · la base de la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Que es una revision tecnica, y con que producto se sale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Lo que se audita es la coherencia entre piezas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Verificaciones uno y 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Todo lo visto queda proyectado para repasar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