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Un procedimiento almacenado es un bloque de codigo con nombre propio que vive dentro de la base de datos, y las dos palabras que hay que desempacar son guardado e invocado, porque son las que lo separan de un archivo sql en el computador de alguien.</a:t>
            </a:r>
          </a:p>
          <a:p>
            <a:r>
              <a:t>Guardado significa que el fuente queda en el catalogo del motor y se puede recuperar sin depender de que su autor siga en el proyecto: en PostgreSQL, SELECT prosrc FROM pg_proc WHERE proname = 'sp_agendar_cita' devuelve el cuerpo</a:t>
            </a:r>
          </a:p>
          <a:p>
            <a:r>
              <a:t>Y SELECT pg_get_functiondef('sp_agendar_cita'::regproc) devuelve la definicion completa lista para volver a ejecutar.</a:t>
            </a:r>
          </a:p>
          <a:p>
            <a:r>
              <a:t>Consecuencia practica: si el estudiante cierra la pestana, el procedimiento no se perdio, esta en el motor.</a:t>
            </a:r>
          </a:p>
          <a:p>
            <a:r>
              <a:t>Invocado significa que hay una sola linea que dispara varias sentencias:.</a:t>
            </a:r>
          </a:p>
          <a:p>
            <a:r>
              <a:t>Y hay algo mas importante que el ahorro: la regla queda escrita UNA vez y ninguna pantalla puede saltarsela.</a:t>
            </a:r>
          </a:p>
          <a:p>
            <a:r>
              <a:t>La Clase 1 dejo el esquema y la Clase 2 la matriz de roles; esta clase es donde la base de datos deja de ser un almacen pasivo y empieza a contener comportamiento.</a:t>
            </a:r>
          </a:p>
          <a:p>
            <a:r>
              <a:t>En PostgreSQL no existe ese estado intermedio: el CREATE PROCEDURE valida la SINTAXIS del cuerpo y, si esta bien escrito, el objeto queda creado y valido, pero las tablas y columnas que el cuerpo menciona NO se verifican hasta la primera ejecucion.</a:t>
            </a:r>
          </a:p>
          <a:p>
            <a:r>
              <a:t>La consecuencia practica es concreta y hay que anticiparla: un procedimiento que escribe INSERT INTO citas en lugar de cita se crea sin una sola queja y falla la primera vez que se lo llama.</a:t>
            </a:r>
          </a:p>
          <a:p>
            <a:r>
              <a:t>NOTAS:</a:t>
            </a:r>
          </a:p>
          <a:p>
            <a:r>
              <a:t>En lugar de enviar cuatro sentencias y esperar cuatro respuestas por la red, la aplicacion envia una y recibe un resultado.</a:t>
            </a:r>
          </a:p>
          <a:p>
            <a:r>
              <a:t>Conviene senalar de entrada una diferencia con Oracle que importa hoy, porque cambia como se depura.</a:t>
            </a:r>
          </a:p>
          <a:p>
            <a:r>
              <a:t>En Oracle el procedimiento se compila al crearlo y, si algo esta mal, el objeto queda creado pero invalido.</a:t>
            </a:r>
          </a:p>
          <a:p>
            <a:r>
              <a:t>Por eso la regla del dia es que crear el procedimiento no es evidencia de nada; la evidencia es el CALL corriendo.</a:t>
            </a:r>
          </a:p>
          <a:p>
            <a:r>
              <a:t>CÓDIGO CITADO (referencia):</a:t>
            </a:r>
          </a:p>
          <a:p>
            <a:r>
              <a:t>CALL sp_agendar_cita(1, 2, TIMESTAMP '2026-09-15 10:00:00')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Se escribe LANGUAGE plpgsql AS $proc$ DECLARE...</a:t>
            </a:r>
          </a:p>
          <a:p>
            <a:r>
              <a:t>AS introduce el cuerpo, y aqui esta la trampa de sintaxis mas comun para quien viene de Oracle: alla se escribe IS, aqui IS no existe en este lugar.</a:t>
            </a:r>
          </a:p>
          <a:p>
            <a:r>
              <a:t>Los delimitadores $proc$ son lo que se llama dollar-quoting y existen por una razon mecanica: el cuerpo es, para el motor, una cadena de texto</a:t>
            </a:r>
          </a:p>
          <a:p>
            <a:r>
              <a:t>Y esa cadena contiene punto y coma y comillas simples; si se delimitara con comillas habria que duplicar cada comilla interna.</a:t>
            </a:r>
          </a:p>
          <a:p>
            <a:r>
              <a:t>Con $proc$ el motor sabe que todo lo que hay hasta el siguiente $proc$ es el cuerpo.</a:t>
            </a:r>
          </a:p>
          <a:p>
            <a:r>
              <a:t>La etiqueta entre los dolares es arbitraria: $$ funciona igual, y se usa una etiqueta con nombre cuando hay bloques anidados.</a:t>
            </a:r>
          </a:p>
          <a:p>
            <a:r>
              <a:t>El punto y coma final despues del ultimo $proc$ si es obligatorio, y en cambio la barra sola en una linea, que en Oracle cierra el bloque, aqui es un error de sintaxis.</a:t>
            </a:r>
          </a:p>
          <a:p>
            <a:r>
              <a:t>Los nombres de los tipos son la otra mitad de la lista: INT, NUMERIC, TEXT, VARCHAR(n), TIMESTAMP, BOOLEAN, DATE.</a:t>
            </a:r>
          </a:p>
          <a:p>
            <a:r>
              <a:t>VARCHAR2 y NUMBER no existen en PostgreSQL.</a:t>
            </a:r>
          </a:p>
          <a:p>
            <a:r>
              <a:t>Y hay un detalle del proyecto que vale mas que la sintaxis: el procedimiento recibe TRES parametros y no cuatro, porque id_cita es SERIAL, es decir el motor genera el valor.</a:t>
            </a:r>
          </a:p>
          <a:p>
            <a:r>
              <a:t>Pasarle el identificador desde afuera obliga a la aplicacion a saber cual sigue, que es exactamente el problema que la columna SERIAL resuelve.</a:t>
            </a:r>
          </a:p>
          <a:p>
            <a:r>
              <a:t>NOTAS:</a:t>
            </a:r>
          </a:p>
          <a:p>
            <a:r>
              <a:t>El molde es fijo y conviene dictarlo entero antes de escribir una sola validacion.</a:t>
            </a:r>
          </a:p>
          <a:p>
            <a:r>
              <a:t>END; $proc$; y cada pieza tiene su razon.</a:t>
            </a:r>
          </a:p>
          <a:p>
            <a:r>
              <a:t>LANGUAGE plpgsql hace falta porque PostgreSQL admite varios lenguajes procedimentales y no adivina cual se esta usando.</a:t>
            </a:r>
          </a:p>
          <a:p>
            <a:r>
              <a:t>Un estudiante que agregue p_id_cita no comete un error de sintaxis, comete un error de diseno.</a:t>
            </a:r>
          </a:p>
          <a:p>
            <a:r>
              <a:t>CÓDIGO CITADO (referencia):</a:t>
            </a:r>
          </a:p>
          <a:p>
            <a:r>
              <a:t>CREATE OR REPLACE PROCEDURE sp_agendar_cita(p_id_mascota INT, p_id_veterinario INT, p_fecha_hora TIMESTAMP)</a:t>
            </a:r>
          </a:p>
          <a:p>
            <a:r>
              <a:t>Fuera de la lamina (habla de la practica): El molde es fijo y conviene dictarlo entero antes de escribir una sola validacion, porque es donde se pierden los puntos sin haber entendido nada mal.</a:t>
            </a:r>
          </a:p>
          <a:p>
            <a:r>
              <a:t>Fuera de la lamina (habla de la practica): Un estudiante que agregue p_id_cita no comete un error de sintaxis, comete un error de diseno, y la rubrica lo mira.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Los parametros tienen modo, y el modo es la direccion en la que viaja el dato.</a:t>
            </a:r>
          </a:p>
          <a:p>
            <a:r>
              <a:t>IN es el modo por omision y no se escribe: p_id_mascota INT ya es IN.</a:t>
            </a:r>
          </a:p>
          <a:p>
            <a:r>
              <a:t>Si no la mira —y nadie mira lo que no falla— la regla de negocio no se cumplio.</a:t>
            </a:r>
          </a:p>
          <a:p>
            <a:r>
              <a:t>Abortar con RAISE EXCEPTION invierte la carga: la aplicacion no puede ignorar el error porque el motor le devolvio un fallo, y ademas nada quedo escrito.</a:t>
            </a:r>
          </a:p>
          <a:p>
            <a:r>
              <a:t>El encabezado, en todo caso, es un contrato: nombre, orden y tipos.</a:t>
            </a:r>
          </a:p>
          <a:p>
            <a:r>
              <a:t>Vale decirlo con crudeza porque impacta la Clase 12, cuando la aplicacion consuma estos procedimientos: si alguien intercambia el orden de dos parametros del mismo tipo</a:t>
            </a:r>
          </a:p>
          <a:p>
            <a:r>
              <a:t>El procedimiento se crea igual, la aplicacion sigue llamandolo sin error y agenda la cita para la mascota equivocada.</a:t>
            </a:r>
          </a:p>
          <a:p>
            <a:r>
              <a:t>La proteccion practica, convencion recomendada y no regla dura, es llamar con notacion nombrada,, porque asi el orden deja de importar y la llamada se lee sola seis meses despues.</a:t>
            </a:r>
          </a:p>
          <a:p>
            <a:r>
              <a:t>NOTAS:</a:t>
            </a:r>
          </a:p>
          <a:p>
            <a:r>
              <a:t>Dentro del cuerpo un parametro IN se comporta como una variable local, asi que se le puede asignar, aunque hacerlo confunde a quien lee y no cambia nada afuera.</a:t>
            </a:r>
          </a:p>
          <a:p>
            <a:r>
              <a:t>OUT devuelve un valor a quien llama, e INOUT entra con valor y sale modificado.</a:t>
            </a:r>
          </a:p>
          <a:p>
            <a:r>
              <a:t>Hay una particularidad de PostgreSQL que conviene decir porque el estudiante que busque en internet va a tropezar con ella: en un procedimiento, un parametro OUT tambien hay que pasarlo en la llamada, de modo que la sintaxis termina siendo CALL sp_x(1, 2, NULL) con un NULL de relleno; es incomodo, y es una de las razones por las que hoy no se usan.</a:t>
            </a:r>
          </a:p>
          <a:p>
            <a:r>
              <a:t>La otra razon es de diseno y es la que hay que defender en clase.</a:t>
            </a:r>
          </a:p>
          <a:p>
            <a:r>
              <a:t>Devolver el error en un parametro OUT significa que el procedimiento hizo su trabajo, dejo la fila insertada y ademas puso un texto en una variable que la aplicacion PUEDE mirar.</a:t>
            </a:r>
          </a:p>
          <a:p>
            <a:r>
              <a:t>CÓDIGO CITADO (referencia):</a:t>
            </a:r>
          </a:p>
          <a:p>
            <a:r>
              <a:t>CALL sp_agendar_cita(p_id_mascota =&gt; 1, p_id_veterinario =&gt; 2, p_fecha_hora =&gt; TIMESTAMP '2026-09-15 10:00:00')</a:t>
            </a:r>
          </a:p>
          <a:p>
            <a:r>
              <a:t>Fuera de la lamina (habla de la practica): La otra razon es de diseno y es la que hay que defender en clase, porque es la decision que la solucion docente califica.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Esta es la parte que convierte una consulta con nombre en logica de negocio.</a:t>
            </a:r>
          </a:p>
          <a:p>
            <a:r>
              <a:t>La forma es RAISE EXCEPTION 'ERROR: la mascota % no existe', p_id_mascota; y hay cuatro cosas que decir sobre esa linea.</a:t>
            </a:r>
          </a:p>
          <a:p>
            <a:r>
              <a:t>Primera, el signo de porcentaje es el marcador de sustitucion de PL/pgSQL: se reemplaza, en orden, por las expresiones que siguen a la coma, y si hay mas marcadores que expresiones el motor lanza un error de formato.</a:t>
            </a:r>
          </a:p>
          <a:p>
            <a:r>
              <a:t>Para imprimir un porcentaje literal se escribe dos veces.</a:t>
            </a:r>
          </a:p>
          <a:p>
            <a:r>
              <a:t>Segunda, el mensaje es parte de la interfaz publica del procedimiento: es lo que la aplicacion va a mostrar y lo que la bateria de pruebas va a verificar, asi que se escribe pensando en la recepcionista de la clínica y no en el programador.</a:t>
            </a:r>
          </a:p>
          <a:p>
            <a:r>
              <a:t>Tercera, y es lo decisivo: RAISE EXCEPTION aborta.</a:t>
            </a:r>
          </a:p>
          <a:p>
            <a:r>
              <a:t>Es imposible que quede una cita a medias, y no porque el codigo lo cuide, sino porque el motor lo garantiza.</a:t>
            </a:r>
          </a:p>
          <a:p>
            <a:r>
              <a:t>Cuarta, cada excepcion lleva un codigo SQLSTATE; el de un RAISE EXCEPTION sin mas indicaciones es P0001</a:t>
            </a:r>
          </a:p>
          <a:p>
            <a:r>
              <a:t>Y se puede fijar uno propio con USING ERRCODE, lo cual permite que la aplicacion distinga un error de negocio de un fallo de la base sin leer el texto del mensaje.</a:t>
            </a:r>
          </a:p>
          <a:p>
            <a:r>
              <a:t>Falta la mecanica de la primera validacion, que es donde el grupo se atora.</a:t>
            </a:r>
          </a:p>
          <a:p>
            <a:r>
              <a:t>Se escribe y despues IF NOT FOUND THEN.</a:t>
            </a:r>
          </a:p>
          <a:p>
            <a:r>
              <a:t>Ese es el error silencioso mas caro del dia y la razon por la que IF NOT FOUND va primero.</a:t>
            </a:r>
          </a:p>
          <a:p>
            <a:r>
              <a:t>Con clave primaria en el WHERE eso no puede ocurrir, y por eso hoy no se usa STRICT.</a:t>
            </a:r>
          </a:p>
          <a:p>
            <a:r>
              <a:t>NOTAS:</a:t>
            </a:r>
          </a:p>
          <a:p>
            <a:r>
              <a:t>No sale del procedimiento con un aviso, lanza un error que propaga hasta quien llamo, y todo lo que el procedimiento hubiera escrito antes se deshace.</a:t>
            </a:r>
          </a:p>
          <a:p>
            <a:r>
              <a:t>Eso ultimo se menciona y no se desarrolla: hoy basta con el texto.</a:t>
            </a:r>
          </a:p>
          <a:p>
            <a:r>
              <a:t>Hay que explicar por que funciona, porque no es evidente: en PL/pgSQL, un SELECT INTO deja una variable especial llamada FOUND en verdadero si devolvio al menos una fila y en falso si no devolvio ninguna, y NOT FOUND es simplemente su negacion.</a:t>
            </a:r>
          </a:p>
          <a:p>
            <a:r>
              <a:t>Y hay que decir tambien lo que NO pasa, porque es lo contrario de Oracle: si el SELECT INTO no encuentra nada, PL/pgSQL no lanza NO_DATA_FOUND, deja la variable en nulo y sigue adelante.</a:t>
            </a:r>
          </a:p>
          <a:p>
            <a:r>
              <a:t>Quien espere la excepcion de Oracle escribe un procedimiento que, ante una mascota inexistente, compara nulo contra 'S', obtiene nulo, entra por el ELSE y termina insertando la cita.</a:t>
            </a:r>
          </a:p>
          <a:p>
            <a:r>
              <a:t>Si el SELECT devuelve varias filas, en cambio, PL/pgSQL se queda con la primera sin avisar, salvo que se escriba STRICT, que entonces si lanza excepcion en los dos casos.</a:t>
            </a:r>
          </a:p>
          <a:p>
            <a:r>
              <a:t>CÓDIGO CITADO (referencia):</a:t>
            </a:r>
          </a:p>
          <a:p>
            <a:r>
              <a:t>SELECT activa INTO v_activa FROM mascota WHERE id_mascota = p_id_mascota</a:t>
            </a:r>
          </a:p>
          <a:p>
            <a:r>
              <a:t>Fuera de la lamina (habla de la practica): Esta es la parte que convierte una consulta con nombre en logica de negocio, y es el mecanismo que la pregunta 1 de la clase califica con treinta y cinco puntos.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pregunta de fondo es donde debe vivir la logica de negocio, y merece respuesta honesta y no dogmatica, porque hay equipos serios en las dos orillas.</a:t>
            </a:r>
          </a:p>
          <a:p>
            <a:r>
              <a:t>Primero, la regla se cumple aunque alguien entre por fuera de la aplicacion: un guion de migracion, una herramienta de administracion, una segunda aplicacion escrita el proximo semestre.</a:t>
            </a:r>
          </a:p>
          <a:p>
            <a:r>
              <a:t>Tercero, y aqui se amarra con la Clase 2, permite un modelo de permisos mas fino: se puede hacer GRANT EXECUTE ON PROCEDURE sp_agendar_cita TO recepcion y a la vez no otorgar INSERT sobre cita</a:t>
            </a:r>
          </a:p>
          <a:p>
            <a:r>
              <a:t>Con lo cual la recepcionista agenda citas pero no inserta filas arbitrarias ni corrige estados a mano.</a:t>
            </a:r>
          </a:p>
          <a:p>
            <a:r>
              <a:t>Se nombra hoy y se usa en la Clase 12.</a:t>
            </a:r>
          </a:p>
          <a:p>
            <a:r>
              <a:t>En contra hay argumentos igual de legitimos: el codigo del procedimiento no se versiona con la naturalidad del codigo de aplicacion</a:t>
            </a:r>
          </a:p>
          <a:p>
            <a:r>
              <a:t>Porque si nadie guarda el archivo sql en un repositorio la unica copia esta dentro del motor; probarlo automaticamente es mas incomodo</a:t>
            </a:r>
          </a:p>
          <a:p>
            <a:r>
              <a:t>Y por eso la bateria de hoy se escribe a mano; y ata el sistema al motor, ya que llevar estos procedimientos a Oracle o a MySQL implica reescribirlos, no traducirlos.</a:t>
            </a:r>
          </a:p>
          <a:p>
            <a:r>
              <a:t>El criterio de oficio, no ley, es este: en la base van los invariantes que no pueden violarse nunca, como que el stock no quede negativo o que una mascota inactiva no agende</a:t>
            </a:r>
          </a:p>
          <a:p>
            <a:r>
              <a:t>Y las operaciones de varias sentencias que deben ocurrir juntas; en la aplicacion van la orquestacion, la interfaz y las reglas volatiles.</a:t>
            </a:r>
          </a:p>
          <a:p>
            <a:r>
              <a:t>Senal de alerta util: si una regla cambio mas de una vez en el semestre, probablemente no debia estar fija dentro de un procedimiento.</a:t>
            </a:r>
          </a:p>
          <a:p>
            <a:r>
              <a:t>NOTAS:</a:t>
            </a:r>
          </a:p>
          <a:p>
            <a:r>
              <a:t>A favor de la base de datos hay tres argumentos duros.</a:t>
            </a:r>
          </a:p>
          <a:p>
            <a:r>
              <a:t>Segundo, se ahorran viajes de red cuando la operacion implica varias sentencias encadenadas.</a:t>
            </a:r>
          </a:p>
          <a:p>
            <a:r>
              <a:t>Eso es minimo privilegio hecho codigo, y conviene senalar el matiz: en PostgreSQL el cuerpo se ejecuta con los privilegios de quien llama, salvo que el procedimiento se declare SECURITY DEFINER, que es lo que lo hace ejecutarse con los del propietario.</a:t>
            </a:r>
          </a:p>
          <a:p>
            <a:r>
              <a:t>Sin esa clausula, dar EXECUTE no alcanza.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inyeccion de SQL merece parrafo propio porque es el argumento de seguridad mas concreto de la clase y casi siempre se menciona sin explicarlo.</a:t>
            </a:r>
          </a:p>
          <a:p>
            <a:r>
              <a:t>Si escribe Luna todo va bien; si escribe Luna' OR '1'='1 la condicion se vuelve siempre verdadera y la pantalla devuelve el listado completo de mascotas de la clinica; si escribe '</a:t>
            </a:r>
          </a:p>
          <a:p>
            <a:r>
              <a:t>Un procedimiento con parametros cierra ese agujero por un motivo tecnico preciso: el valor viaja como parametro</a:t>
            </a:r>
          </a:p>
          <a:p>
            <a:r>
              <a:t>Es decir el motor ya analizo y planifico la sentencia antes de conocer el contenido, asi que ese contenido no vuelve a pasar por el analizador sintactico y no puede convertirse en instrucciones.</a:t>
            </a:r>
          </a:p>
          <a:p>
            <a:r>
              <a:t>Aqui hace falta el matiz que distingue una clase buena de una recitada: el procedimiento no es inmune por ser procedimiento.</a:t>
            </a:r>
          </a:p>
          <a:p>
            <a:r>
              <a:t>En PL/pgSQL la forma correcta de armar una sentencia dinamica es EXECUTE 'SELECT...</a:t>
            </a:r>
          </a:p>
          <a:p>
            <a:r>
              <a:t>WHERE nombre = $1' USING p_nombre, o construir el texto con format y los marcadores %L para valores y %I para identificadores, que escapan lo que reciben.</a:t>
            </a:r>
          </a:p>
          <a:p>
            <a:r>
              <a:t>Regla dura para el proyecto: ningun dato de usuario se concatena dentro de una sentencia, ni en la aplicacion ni dentro del procedimiento.</a:t>
            </a:r>
          </a:p>
          <a:p>
            <a:r>
              <a:t>Ese principio se retoma en la Clase 12.</a:t>
            </a:r>
          </a:p>
          <a:p>
            <a:r>
              <a:t>NOTAS:</a:t>
            </a:r>
          </a:p>
          <a:p>
            <a:r>
              <a:t>Ocurre cuando la aplicacion arma la consulta pegando texto que escribio el usuario, y ese texto termina interpretado por el motor como codigo y no como dato.</a:t>
            </a:r>
          </a:p>
          <a:p>
            <a:r>
              <a:t>En la clínica seria una pantalla de busqueda que construye SELECT * FROM mascota WHERE nombre = seguido de lo que el usuario digito entre comillas.</a:t>
            </a:r>
          </a:p>
          <a:p>
            <a:r>
              <a:t>DELETE FROM cita; -- el motor recibe dos sentencias y la segunda borra la agenda.</a:t>
            </a:r>
          </a:p>
          <a:p>
            <a:r>
              <a:t>Si dentro del cuerpo alguien escribe EXECUTE 'SELECT...</a:t>
            </a:r>
          </a:p>
          <a:p>
            <a:r>
              <a:t>WHERE nombre = ' || p_nombre, el agujero se reabre igual, ahora escondido un nivel mas abajo y por lo tanto mas dificil de auditar.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El punto de partida es un problema practico: si el estudiante escribe los cuatro CALL uno tras otro y ejecuta todo de un tiro, el primero que falla aborta la ejecucion y los siguientes no corren.</a:t>
            </a:r>
          </a:p>
          <a:p>
            <a:r>
              <a:t>La solucion es el bloque anonimo: DO $$ BEGIN...</a:t>
            </a:r>
          </a:p>
          <a:p>
            <a:r>
              <a:t>END $$; es un bloque de PL/pgSQL que se ejecuta una vez y no se guarda en ningun catalogo.</a:t>
            </a:r>
          </a:p>
          <a:p>
            <a:r>
              <a:t>Los resultados van a una tabla, no a la pantalla, y eso tambien tiene razon: una captura de cuatro mensajes sueltos no se puede comparar contra nada</a:t>
            </a:r>
          </a:p>
          <a:p>
            <a:r>
              <a:t>Mientras que un SELECT sobre resultado_prueba(id_prueba, caso, esperado, obtenido, paso) es una sola imagen que muestra los cuatro casos con su veredicto.</a:t>
            </a:r>
          </a:p>
          <a:p>
            <a:r>
              <a:t>Los cuatro casos del proyecto son el positivo, con una mascota activa y una franja libre, y los tres negativos: mascota inactiva —Rocky, identificador 3</a:t>
            </a:r>
          </a:p>
          <a:p>
            <a:r>
              <a:t>Y Kiara, identificador 8, estan inactivas en los datos sembrados—, mascota inexistente con el identificador 99, y franja ocupada, para la que sirve la cita que el veterinario 1 ya tiene el 2026-09-01 a las 08:00.</a:t>
            </a:r>
          </a:p>
          <a:p>
            <a:r>
              <a:t>Y hay que cerrar con la prueba que nadie piensa: un SELECT COUNT(*) FROM cita que demuestre que la tabla paso de diez filas a once y no a catorce.</a:t>
            </a:r>
          </a:p>
          <a:p>
            <a:r>
              <a:t>Ese conteo es lo que evidencia que los tres errores no dejaron basura, es decir que RAISE EXCEPTION hizo lo que se dijo que hacia.</a:t>
            </a:r>
          </a:p>
          <a:p>
            <a:r>
              <a:t>Hay un detalle de mecanica que conviene conocer porque explica por que esto funciona: un bloque de PL/pgSQL con clausula EXCEPTION abre internamente un punto de retorno, un savepoint, de modo que al capturar el error se deshace solo lo que ese bloque hizo.</a:t>
            </a:r>
          </a:p>
          <a:p>
            <a:r>
              <a:t>Una, que la captura tiene un costo y por eso no se envuelve todo el codigo en manejadores por si acaso.</a:t>
            </a:r>
          </a:p>
          <a:p>
            <a:r>
              <a:t>Es un buen momento para sembrar la Clase 8: quien confirma la transaccion es quien orquesta la operacion completa, no cada pieza por su cuenta.</a:t>
            </a:r>
          </a:p>
          <a:p>
            <a:r>
              <a:t>NOTAS:</a:t>
            </a:r>
          </a:p>
          <a:p>
            <a:r>
              <a:t>Un procedimiento sin prueba no esta terminado.</a:t>
            </a:r>
          </a:p>
          <a:p>
            <a:r>
              <a:t>Aparecen tres casos sin probar y una captura que no demuestra nada.</a:t>
            </a:r>
          </a:p>
          <a:p>
            <a:r>
              <a:t>EXCEPTION WHEN OTHERS THEN...</a:t>
            </a:r>
          </a:p>
          <a:p>
            <a:r>
              <a:t>Su clausula EXCEPTION atrapa el error, lo convierte en una fila de resultado y deja que el siguiente bloque corra.</a:t>
            </a:r>
          </a:p>
          <a:p>
            <a:r>
              <a:t>Un bloque por caso, cuatro bloques, cuatro filas.</a:t>
            </a:r>
          </a:p>
          <a:p>
            <a:r>
              <a:t>Una bateria sin ese conteo prueba que el procedimiento se queja, no que no escribe.</a:t>
            </a:r>
          </a:p>
          <a:p>
            <a:r>
              <a:t>Tiene dos consecuencias.</a:t>
            </a:r>
          </a:p>
          <a:p>
            <a:r>
              <a:t>Dos, y es la que importa hoy, que el procedimiento de la clase NO lleva COMMIT: si lo llevara, llamarlo desde dentro de un bloque con EXCEPTION fallaria, porque PostgreSQL no permite confirmar la transaccion mientras hay un savepoint activo.</a:t>
            </a:r>
          </a:p>
          <a:p>
            <a:r>
              <a:t>Fuera de la lamina (habla de la practica): Un procedimiento sin prueba no esta terminado, y esta parte vale veinticinco de los cien puntos de la clase, asi que hay que dictarla como tema y no como recomendacion.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Capturar WHEN OTHERS y escribir paso = TRUE porque hubo excepcion es insuficiente: una excepcion tambien la lanza un nombre de columna mal escrito, un tipo que no convierte o una tabla que no existe.</a:t>
            </a:r>
          </a:p>
          <a:p>
            <a:r>
              <a:t>Con ese criterio, un procedimiento roto pasaria las tres pruebas negativas.</a:t>
            </a:r>
          </a:p>
          <a:p>
            <a:r>
              <a:t>La forma es paso = SQLERRM ILIKE '%inactiva%', que es una comparacion insensible a mayusculas: se afirma que fallo Y que fallo por lo que se esperaba.</a:t>
            </a:r>
          </a:p>
          <a:p>
            <a:r>
              <a:t>La segunda mitad es que la columna paso admite dos lecturas legitimas y hay que elegir una.</a:t>
            </a:r>
          </a:p>
          <a:p>
            <a:r>
              <a:t>Si paso significa el resultado coincidio con lo esperado, las cuatro filas quedan en verdadero cuando todo esta bien, porque en un caso negativo lo esperado es la excepcion.</a:t>
            </a:r>
          </a:p>
          <a:p>
            <a:r>
              <a:t>Las dos son defendibles; lo que no es defendible es no decir cual.</a:t>
            </a:r>
          </a:p>
          <a:p>
            <a:r>
              <a:t>La regla del curso es explicita: se usa la misma lectura para las cuatro filas y se declara en una linea junto a la tabla.</a:t>
            </a:r>
          </a:p>
          <a:p>
            <a:r>
              <a:t>Salida esperada de una bateria sana: 4 filas, el caso valido con paso TRUE y los 3 invalidos con paso TRUE y el SQLERRM literal del procedimiento.</a:t>
            </a:r>
          </a:p>
          <a:p>
            <a:r>
              <a:t>Un caso invalido con paso FALSE es un hallazgo: el procedimiento dejo pasar algo que debia rechazar.</a:t>
            </a:r>
          </a:p>
          <a:p>
            <a:r>
              <a:t>NOTAS:</a:t>
            </a:r>
          </a:p>
          <a:p>
            <a:r>
              <a:t>Aqui esta el matiz que separa una bateria que prueba algo de una que se prueba a si misma.</a:t>
            </a:r>
          </a:p>
          <a:p>
            <a:r>
              <a:t>Lo que hay que verificar es el TEXTO de la excepcion, y para eso PL/pgSQL expone la variable SQLERRM con el mensaje y SQLSTATE con el codigo.</a:t>
            </a:r>
          </a:p>
          <a:p>
            <a:r>
              <a:t>Si paso significa la operacion se completo, los tres casos negativos quedan en falso incluso con el procedimiento perfecto.</a:t>
            </a:r>
          </a:p>
          <a:p>
            <a:r>
              <a:t>Conviene decir en voz alta la consecuencia, porque es la que evita reclamos: no se descuenta por elegir una u otra, se descuenta por las cuatro filas en verdadero sin haber verificado el texto.</a:t>
            </a:r>
          </a:p>
          <a:p>
            <a:r>
              <a:t>Fuera de la lamina (habla de la practica): Aqui esta el matiz que separa una bateria que prueba algo de una que se prueba a si misma, y conviene dictarlo despacio porque la solucion docente lo califica.</a:t>
            </a:r>
          </a:p>
          <a:p>
            <a:r>
              <a:t>Fuera de la lamina (habla de la practica): Las dos son defendibles; lo que no es defendible es no decir cual, porque entonces la columna no significa nada y el docente no puede calificar la captura.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Los 25 puntos se califican por esta tabla, no por el CALL suelto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Se escribe para quien va a LLAMAR al procedimiento sin abrirlo, y en este curso esa persona existe con nombre: es el mismo estudiante en la Clase 12, o su companero de Programacion II, construyendo la aplicacion de la clínica.</a:t>
            </a:r>
          </a:p>
          <a:p>
            <a:r>
              <a:t>Son seis bloques y cada uno responde una pregunta.</a:t>
            </a:r>
          </a:p>
          <a:p>
            <a:r>
              <a:t>La firma exacta, con los tipos y en el orden real, responde como se declara.</a:t>
            </a:r>
          </a:p>
          <a:p>
            <a:r>
              <a:t>El ejemplo de llamada, con valores concretos que funcionan, responde como se invoca; y conviene exigirlo porque es lo que convierte el contrato en algo copiable.</a:t>
            </a:r>
          </a:p>
          <a:p>
            <a:r>
              <a:t>Las precondiciones responden que tiene que ser verdad antes: la mascota existe y esta activa, la franja del veterinario esta libre.</a:t>
            </a:r>
          </a:p>
          <a:p>
            <a:r>
              <a:t>Las postcondiciones responden que queda despues, y aqui la frase importante es la del caso malo: si falla, no queda NADA.</a:t>
            </a:r>
          </a:p>
          <a:p>
            <a:r>
              <a:t>La tabla de errores lleva el mensaje LITERAL, no una parafrasis, porque quien llama va a comparar contra ese texto —y porque es el mismo texto que la bateria de pruebas verifica.</a:t>
            </a:r>
          </a:p>
          <a:p>
            <a:r>
              <a:t>Y el sexto bloque es la decision de diseno: por que se aborta en vez de devolver un codigo.</a:t>
            </a:r>
          </a:p>
          <a:p>
            <a:r>
              <a:t>Ese bloque es el que distingue documentar de pensar, y es el que la solucion docente lee primero.</a:t>
            </a:r>
          </a:p>
          <a:p>
            <a:r>
              <a:t>NOTAS:</a:t>
            </a:r>
          </a:p>
          <a:p>
            <a:r>
              <a:t>El contrato no es codigo, y hay que explicar para quien se escribe, porque si no el estudiante lo redacta como un resumen del codigo.</a:t>
            </a:r>
          </a:p>
          <a:p>
            <a:r>
              <a:t>Un contrato sirve si permite escribir la llamada y manejar los errores sin leer el cuerpo.</a:t>
            </a:r>
          </a:p>
          <a:p>
            <a:r>
              <a:t>Sin ella, quien llama no sabe si tiene que limpiar algo.</a:t>
            </a:r>
          </a:p>
          <a:p>
            <a:r>
              <a:t>Fuera de la lamina (habla de la practica): La tabla de errores lleva el mensaje LITERAL, no una parafrasis, porque quien llama va a comparar contra ese texto —y porque es el mismo texto que la bateria de pruebas verifica, de modo que los dos entregables tienen que coincidir palabra por palabra.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Un procedimiento se invoca para que HAGA algo y se llama con CALL sp_x(...); una funcion se invoca para que DEVUELVA un valor y se llama dentro de una expresion, SELECT fn_x(...).</a:t>
            </a:r>
          </a:p>
          <a:p>
            <a:r>
              <a:t>No son dos sabores del mismo objeto: en PostgreSQL una funcion no puede hacer COMMIT ni ROLLBACK y un procedimiento si, y esa es la razon tecnica por la que el objeto de hoy es un procedimiento.</a:t>
            </a:r>
          </a:p>
          <a:p>
            <a:r>
              <a:t>Otra diferencia que se nota en la practica: llamar a un procedimiento con SELECT sp_agendar_cita(...) devuelve un error explicito de PostgreSQL, que dice que sp_agendar_cita es un procedimiento y sugiere usar CALL.</a:t>
            </a:r>
          </a:p>
          <a:p>
            <a:r>
              <a:t>Vale mostrarlo a proposito, porque es un mensaje que el estudiante va a encontrar y conviene que lo reconozca en vez de asustarse.</a:t>
            </a:r>
          </a:p>
          <a:p>
            <a:r>
              <a:t>La funcion llega en la Clase 4 con fn_precio_consulta, y ahi la comparacion ya estara hecha.</a:t>
            </a:r>
          </a:p>
          <a:p>
            <a:r>
              <a:t>Una FUNCTION devuelve un valor y se usa dentro de una consulta: FROM....</a:t>
            </a:r>
          </a:p>
          <a:p>
            <a:r>
              <a:t>Un PROCEDURE no devuelve valor y se invoca como sentencia suelta:.</a:t>
            </a:r>
          </a:p>
          <a:p>
            <a:r>
              <a:t>Llamar un procedimiento con SELECT es un error de PostgreSQL, no una variante.</a:t>
            </a:r>
          </a:p>
          <a:p>
            <a:r>
              <a:t>NOTAS:</a:t>
            </a:r>
          </a:p>
          <a:p>
            <a:r>
              <a:t>Conviene cerrar la teoria con esta distincion, y decirla HOY.</a:t>
            </a:r>
          </a:p>
          <a:p>
            <a:r>
              <a:t>CÓDIGO CITADO (referencia):</a:t>
            </a:r>
          </a:p>
          <a:p>
            <a:r>
              <a:t>SELECT nombre, fn_precio_consulta(...)</a:t>
            </a:r>
          </a:p>
          <a:p>
            <a:r>
              <a:t>CALL sp_agendar_cita(3, 1, TIMESTAMP '2026-09-01 09:00')</a:t>
            </a:r>
          </a:p>
          <a:p>
            <a:r>
              <a:t>Fuera de la lamina (habla de la practica): Conviene cerrar la teoria con esta distincion, y decirla HOY, porque el estudiante la va a necesitar en el taller de hoy y no la semana entrante.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Depurar sin depurador es una habilidad concreta y se ensena en cuatro movimientos.</a:t>
            </a:r>
          </a:p>
          <a:p>
            <a:r>
              <a:t>Primero, entender que error se esta leyendo, porque hay dos momentos distintos: el error de creacion, que es de sintaxis y lo devuelve el CREATE PROCEDURE senalando linea y posicion</a:t>
            </a:r>
          </a:p>
          <a:p>
            <a:r>
              <a:t>Y el error de ejecucion, que es el que aparece con el CALL y es donde salen los nombres de tabla o columna equivocados.</a:t>
            </a:r>
          </a:p>
          <a:p>
            <a:r>
              <a:t>A diferencia de Oracle no hay que consultar ninguna vista de errores ni verificar si el objeto quedo invalido: si el CREATE no protesto, el objeto esta creado; lo que no significa que funcione.</a:t>
            </a:r>
          </a:p>
          <a:p>
            <a:r>
              <a:t>Segundo, dejar trazas con RAISE NOTICE 'llegue al paso 2, v_activa = %', v_activa; que imprime en la salida de mensajes sin abortar nada, y es el equivalente directo de lo que en Oracle se hace con la salida de servidor.</a:t>
            </a:r>
          </a:p>
          <a:p>
            <a:r>
              <a:t>Tercero, aislar: tomar el SELECT activa INTO v_activa FROM mascota WHERE id_mascota = 3 y ejecutarlo suelto con el valor que fallo, para saber si el problema esta en la consulta o en la logica que la rodea.</a:t>
            </a:r>
          </a:p>
          <a:p>
            <a:r>
              <a:t>Cuarto, probar con casos deliberados: un caso correcto y tres de error, cada uno en su bloque, escritos en resultado_prueba.</a:t>
            </a:r>
          </a:p>
          <a:p>
            <a:r>
              <a:t>Un procedimiento con solo la captura del caso feliz no demuestra manejo de errores, y el Parcial 1 lo pregunta de frente.</a:t>
            </a:r>
          </a:p>
          <a:p>
            <a:r>
              <a:t>NOTAS:</a:t>
            </a:r>
          </a:p>
          <a:p>
            <a:r>
              <a:t>Conviene mencionar que RAISE tiene niveles —NOTICE, WARNING, EXCEPTION— y que solo el ultimo aborta.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El motor de la clase es PostgreSQL, que corre dentro del navegador, y por lo tanto todo el codigo de hoy es PL/pgSQL.</a:t>
            </a:r>
          </a:p>
          <a:p>
            <a:r>
              <a:t>Vale un minuto de clase senalar las cuatro diferencias que mas cuestan —IS en lugar de AS, VARCHAR2 y NUMBER en lugar de TEXT e INT, RAISE_APPLICATION_ERROR en lugar de RAISE EXCEPTION</a:t>
            </a:r>
          </a:p>
          <a:p>
            <a:r>
              <a:t>Y la barra final que aqui es un error— y no vale mas, porque cada minuto invertido en sintaxis del otro motor es un minuto que el estudiante no dedica a lo que se le va a evaluar.</a:t>
            </a:r>
          </a:p>
          <a:p>
            <a:r>
              <a:t>La regla operativa del curso se mantiene: la fuente de verdad es el archivo sql en la carpeta del proyecto, nunca la pestana del navegador, y el estudiante va bien si reconstruye procedimiento, pruebas y datos pegando su propio guion.</a:t>
            </a:r>
          </a:p>
          <a:p>
            <a:r>
              <a:t>NOTAS:</a:t>
            </a:r>
          </a:p>
          <a:p>
            <a:r>
              <a:t>Ahi funcionan CREATE PROCEDURE, el dollar-quoting, RAISE EXCEPTION, los bloques DO, SQLERRM y SQLSTATE, y la tabla resultado_prueba: la evidencia de la clase es la salida del motor y no una promesa.</a:t>
            </a:r>
          </a:p>
          <a:p>
            <a:r>
              <a:t>Oracle Live SQL sigue en el kit, pero cambia de papel y hay que decirlo sin ambiguedad: sirve como CONTRASTE de sintaxis para quien se vaya a encontrar Oracle en el trabajo.</a:t>
            </a:r>
          </a:p>
          <a:p>
            <a:r>
              <a:t>Fuera de la lamina (habla de la practica): Este punto hay que decirlo con precision porque una version anterior de esta guia decia lo contrario y costaria puntos repetirla.</a:t>
            </a:r>
          </a:p>
          <a:p>
            <a:r>
              <a:t>Fuera de la lamina (habla de la practica): Oracle Live SQL sigue en el kit, pero cambia de papel y hay que decirlo sin ambiguedad: sirve como CONTRASTE de sintaxis para quien se vaya a encontrar Oracle en el trabajo, no como sitio donde se hace el 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Un segundo procedimiento no es relleno: es donde se practica una decision distinta. sp_registrar_consulta escribe en consulta</a:t>
            </a:r>
          </a:p>
          <a:p>
            <a:r>
              <a:t>Y la Clase 1 dejo esa tabla con id_cita NOT NULL UNIQUE, porque una consulta pertenece a una cita y una cita tiene a lo sumo una consulta.</a:t>
            </a:r>
          </a:p>
          <a:p>
            <a:r>
              <a:t>La pregunta interesante es entonces para que escribir la validacion, si el motor ya defiende el dato.</a:t>
            </a:r>
          </a:p>
          <a:p>
            <a:r>
              <a:t>La primera es el mensaje: la restriccion produce un error tecnico que menciona el nombre del indice, y un IF EXISTS () THEN RAISE EXCEPTION 'ERROR: la cita % ya tiene consulta registrada', p_id_cita; produce el mensaje que la recepcionista puede entender.</a:t>
            </a:r>
          </a:p>
          <a:p>
            <a:r>
              <a:t>La segunda es que el procedimiento puede validar lo que la restriccion no ve: que la cita exista, y que su estado no sea 'CANCELADA', porque no se documenta la atencion de una cita que se cancelo.</a:t>
            </a:r>
          </a:p>
          <a:p>
            <a:r>
              <a:t>La restriccion es la ultima linea de defensa y sigue actuando cuando alguien entra por fuera; el procedimiento mejora el mensaje, no reemplaza la garantia.</a:t>
            </a:r>
          </a:p>
          <a:p>
            <a:r>
              <a:t>El orden importa: comprobar con IF EXISTS () antes de insertar permite responder con un mensaje de negocio claro; dejar que choque contra el UNIQUE produce un error del motor que la aplicacion no sabe traducir.</a:t>
            </a:r>
          </a:p>
          <a:p>
            <a:r>
              <a:t>NOTAS:</a:t>
            </a:r>
          </a:p>
          <a:p>
            <a:r>
              <a:t>Eso significa que registrar dos veces la consulta de la misma cita ya esta impedido por el motor: el segundo INSERT choca contra la restriccion de unicidad y falla.</a:t>
            </a:r>
          </a:p>
          <a:p>
            <a:r>
              <a:t>La respuesta tiene dos partes y las dos valen.</a:t>
            </a:r>
          </a:p>
          <a:p>
            <a:r>
              <a:t>Conviene decir tambien lo que NO hay que hacer: quitar la restriccion porque ya esta el procedimiento.</a:t>
            </a:r>
          </a:p>
          <a:p>
            <a:r>
              <a:t>Esa jerarquia —declarativo primero, procedimiento encima— es exactamente lo que la Clase 4 va a formalizar.</a:t>
            </a:r>
          </a:p>
          <a:p>
            <a:r>
              <a:t>CÓDIGO CITADO (referencia):</a:t>
            </a:r>
          </a:p>
          <a:p>
            <a:r>
              <a:t>SELECT 1 FROM consulta WHERE id_cita = p_id_cita</a:t>
            </a:r>
          </a:p>
          <a:p>
            <a:r>
              <a:t>SELECT 1 FROM consulta WHERE id_cita = p_id_cita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Lo de hoy no es una isla.</a:t>
            </a:r>
          </a:p>
          <a:p>
            <a:r>
              <a:t>La Clase 1 dejo el esquema, la baja logica con activa igual a 'S' o 'N' y la restriccion de unicidad sobre la franja del veterinario, que son justamente las tres cosas que las validaciones de hoy usan.</a:t>
            </a:r>
          </a:p>
          <a:p>
            <a:r>
              <a:t>La Clase 2 dejo los cuatro roles y hoy aparece el patron mas fino de todos: no dar INSERT sobre cita al rol recepcion, sino EXECUTE sobre sp_agendar_cita, de modo que el usuario solo pueda escribir a traves de la regla de negocio.</a:t>
            </a:r>
          </a:p>
          <a:p>
            <a:r>
              <a:t>La Clase 4 cuelga de este procedimiento la funcion y los dos triggers, y ahi se decide, para cada regla, si vive en un CHECK, en un trigger o en la aplicacion.</a:t>
            </a:r>
          </a:p>
          <a:p>
            <a:r>
              <a:t>La Clase 8 retoma el punto que hoy se siembra: quien confirma la transaccion.</a:t>
            </a:r>
          </a:p>
          <a:p>
            <a:r>
              <a:t>Y la Clase 12 consume estos procedimientos desde la aplicacion.</a:t>
            </a:r>
          </a:p>
          <a:p>
            <a:r>
              <a:t>PREGUNTAS FRECUENTES DEL GRUPO</a:t>
            </a:r>
          </a:p>
          <a:p>
            <a:r>
              <a:t>«Ejecute el CREATE y no dio error, entonces esta bien»: no necesariamente, y es la pregunta mas importante del dia.</a:t>
            </a:r>
          </a:p>
          <a:p>
            <a:r>
              <a:t>PostgreSQL valida la sintaxis del cuerpo pero no resuelve los nombres de tabla y columna hasta la primera ejecucion, asi que el CALL es la unica evidencia.</a:t>
            </a:r>
          </a:p>
          <a:p>
            <a:r>
              <a:t>«Por que no resolver la regla con un CHECK y ahorrarse el procedimiento»: porque un CHECK solo puede mirar columnas de la misma fila que se esta insertando</a:t>
            </a:r>
          </a:p>
          <a:p>
            <a:r>
              <a:t>Y la regla del proyecto necesita consultar otra tabla, ya que activa vive en mascota y la fila que se inserta esta en cita.</a:t>
            </a:r>
          </a:p>
          <a:p>
            <a:r>
              <a:t>«Por que mi procedimiento inserta la cita de una mascota que no existe»: porque en PL/pgSQL un SELECT INTO sin resultado no lanza excepcion, deja la variable en nulo</a:t>
            </a:r>
          </a:p>
          <a:p>
            <a:r>
              <a:t>Y comparar nulo con 'S' da nulo, que no es verdadero pero tampoco entra por el IF; falta el IF NOT FOUND.</a:t>
            </a:r>
          </a:p>
          <a:p>
            <a:r>
              <a:t>«Un procedimiento es mas rapido»: ahorra viajes de red y analisis repetido, y cada viaje cuesta del orden de uno a cincuenta milisegundos segun la latencia, pero no arregla una consulta mal escrita; eso se ataca en las Clases 6 y 7</a:t>
            </a:r>
          </a:p>
          <a:p>
            <a:r>
              <a:t>Y en un motor que corre dentro del navegador la mejora de red no se puede medir, asi que se documenta como argumento y no como cronometraje.</a:t>
            </a:r>
          </a:p>
          <a:p>
            <a:r>
              <a:t>«Puedo devolver el mensaje en lugar de abortar»: se puede, y es exactamente lo que el sexto bloque del contrato tiene que justificar; la respuesta corta es que un mensaje que nadie revisa deja la cita creada igual.</a:t>
            </a:r>
          </a:p>
          <a:p>
            <a:r>
              <a:t>«Y si el procedimiento queda mal y la aplicacion ya lo llama»: CREATE OR REPLACE reemplaza el cuerpo conservando los privilegios otorgados, asi que no hay que repetir el GRANT EXECUTE mientras la firma no cambie; si cambia la firma hay que ajustar tambien a quien llama, y ahi conviene advertir algo de PostgreSQL: como admite sobrecarga, cambiar los tipos de los parametros no reemplaza el procedimiento anterior, crea uno nuevo al lado, y quedan dos.</a:t>
            </a:r>
          </a:p>
          <a:p>
            <a:r>
              <a:t>Se limpia con DROP PROCEDURE nombrando los tipos.</a:t>
            </a:r>
          </a:p>
          <a:p>
            <a:r>
              <a:t>Fuera de la lamina (habla de la practica): Lo de hoy no es una isla, y decirlo en voz alta le da sentido al entregable.</a:t>
            </a:r>
          </a:p>
          <a:p>
            <a:r>
              <a:t>Fuera de la lamina (habla de la practica): Y la Clase 12 consume estos procedimientos desde la aplicacion, que es cuando el contrato de la pregunta 5 deja de ser un documento y se vuelve la especificacion que alguien lee.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Procedimientos almacenados · la clínica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proyecto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Procedimientos almacenados · la clínica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es un procedimiento almacenado, y las dos palabras que importan · El molde de PL/pgSQL, y por que el cuerpo va entre signos de dolar · El molde de un procedimiento en PL/pgSQL · Los modos de parametro, y por que hoy no se usa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 palabras que importan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que-es-procedimien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que-es-procedimien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que-es-procedimient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almacenado es un bloque de codigo con nombre propio que vive dentro de la base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Guardado significa que el fuente queda en el catalogo del motor y se puede recuperar sin depender de que su autor siga en 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SELECT pg_get_functiondef('sp_agendar_cita'::regproc) devuelve la definicion completa lista para volver a ejecutar.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regla de negocio vive en la base: vale igual para la app, un script de carga o soporte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pic>
        <p:nvPicPr>
          <p:cNvPr id="14" name="Picture 13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27048"/>
            <a:ext cx="393192" cy="393192"/>
          </a:xfrm>
          <a:prstGeom prst="rect">
            <a:avLst/>
          </a:prstGeom>
        </p:spPr>
      </p:pic>
      <p:pic>
        <p:nvPicPr>
          <p:cNvPr id="15" name="Picture 14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527048"/>
            <a:ext cx="393192" cy="3931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 entre signos de dolar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lde-plpgsq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olde-plpgsq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olde-plpgsql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LANGUAGE plpgsql AS $proc$ DECLARE...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 introduce el cuerpo, y aqui esta la trampa de sintaxis mas comun para quien viene de Oracle: alla se escribe IS, aqui IS no existe en este lugar.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delimitadores $proc$ son lo que se llama dollar-quoting y existen por una razon mecanica: el cuerpo es, para el motor, una cadena de texto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un procedimiento en PL/pgSQL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57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7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7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7"/>
              </a:spcAft>
            </a:pPr>
            <a:r>
              <a:rPr sz="12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OR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REPLACE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PROCEDURE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CDCAA"/>
                </a:solidFill>
                <a:latin typeface="Consolas"/>
              </a:rPr>
              <a:t>sp_dar_de_baja_insumo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(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p_id_insumo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4EC9B0"/>
                </a:solidFill>
                <a:latin typeface="Consolas"/>
              </a:rPr>
              <a:t>INT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p_motivo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i="0" b="0">
                <a:solidFill>
                  <a:srgbClr val="4EC9B0"/>
                </a:solidFill>
                <a:latin typeface="Consolas"/>
              </a:rPr>
              <a:t>VARCHAR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569CD6"/>
                </a:solidFill>
                <a:latin typeface="Consolas"/>
              </a:rPr>
              <a:t>LANGUAGE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plpgsql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$$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569CD6"/>
                </a:solidFill>
                <a:latin typeface="Consolas"/>
              </a:rPr>
              <a:t>DECLARE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v_stock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4EC9B0"/>
                </a:solidFill>
                <a:latin typeface="Consolas"/>
              </a:rPr>
              <a:t>INT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569CD6"/>
                </a:solidFill>
                <a:latin typeface="Consolas"/>
              </a:rPr>
              <a:t>BEGIN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stock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INTO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v_stock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insumo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id_insumo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p_id_insumo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IF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v_stock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IS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THEN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RAISE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EXCEPTION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CE9178"/>
                </a:solidFill>
                <a:latin typeface="Consolas"/>
              </a:rPr>
              <a:t>'El insumo % no existe'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p_id_insumo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END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IF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UPDATE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insumo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SET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stock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2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id_insumo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p_id_insumo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569CD6"/>
                </a:solidFill>
                <a:latin typeface="Consolas"/>
              </a:rPr>
              <a:t>END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569CD6"/>
                </a:solidFill>
                <a:latin typeface="Consolas"/>
              </a:rPr>
              <a:t>$$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LANGUAGE plpgsql y el cuerpo entre $proc$: el motor guarda el procedimiento y cualquier cliente lo invoca con CALL. Un RAISE EXCEPTION aborta la llamada y deshace lo que alcanzo a escribir.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 usa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dos-parametr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odos-parametr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odos-parametr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parametros tienen modo, y el modo es la direccion en la que viaja el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 es el modo por omision y no se escribe: p_id_mascota INT ya es 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la mira —y nadie mira lo que no falla— la regla de negocio no se cumplio.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Abortar con RAISE EXCEPTION invierte la carga: la aplicacion no puede ignorar el error porque el motor le devolvio un fallo, y ademas nada quedo…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aise-abor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aise-abor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aise-abor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parte que convierte una consulta con nombre en logica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RAISE EXCEPTION 'ERROR: la mascota % no existe', p_id_mascota; y hay cuatro cosas que decir sobre esa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Primera, el signo de porcentaje es el marcador de sustitucion de PL/pgSQL.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imprimir un porcentaje literal se escribe dos veces.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 en accion: la mascota inactiva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17927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La regla que la FK no puede defender: validar contra OTRA tabla.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DO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$$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DECLARE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p_id_mascota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4EC9B0"/>
                </a:solidFill>
                <a:latin typeface="Consolas"/>
              </a:rPr>
              <a:t>INT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:= </a:t>
            </a:r>
            <a:r>
              <a:rPr sz="18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   </a:t>
            </a:r>
            <a:r>
              <a:rPr sz="1800" i="1" b="0">
                <a:solidFill>
                  <a:srgbClr val="6A9955"/>
                </a:solidFill>
                <a:latin typeface="Consolas"/>
              </a:rPr>
              <a:t>-- existe, pero esta inactiva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BEGIN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IF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EXISTS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mascota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              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p_id_mascota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activa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CE9178"/>
                </a:solidFill>
                <a:latin typeface="Consolas"/>
              </a:rPr>
              <a:t>'S'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THEN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RAISE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EXCEPTION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CE9178"/>
                </a:solidFill>
                <a:latin typeface="Consolas"/>
              </a:rPr>
              <a:t>'La mascota % no existe o esta inactiva'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p_id_mascota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END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IF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END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$$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ERROR:  La mascota 3 no existe o esta inactiva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Lo que hay que subrayar: RAISE EXCEPTION no solo avisa, DESHACE.</a:t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Todo lo que el procedimiento haya escrito antes se revierte.</a:t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Por eso el orden natural es: validar primero, escribir despues.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 y la validacion que aborta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81298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218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218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OR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REPLACE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PROCEDURE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sp_agendar_cita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p_id_mascota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INT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p_id_veterinario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INT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p_fecha_hora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TIMESTAMP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          </a:t>
            </a:r>
            <a:r>
              <a:rPr sz="1300" i="1" b="0">
                <a:solidFill>
                  <a:srgbClr val="6A9955"/>
                </a:solidFill>
                <a:latin typeface="Consolas"/>
              </a:rPr>
              <a:t>-- id_cita es SERIAL: no se pasa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569CD6"/>
                </a:solidFill>
                <a:latin typeface="Consolas"/>
              </a:rPr>
              <a:t>LANGUAGE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plpgsql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$proc$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     </a:t>
            </a:r>
            <a:r>
              <a:rPr sz="1300" i="1" b="0">
                <a:solidFill>
                  <a:srgbClr val="6A9955"/>
                </a:solidFill>
                <a:latin typeface="Consolas"/>
              </a:rPr>
              <a:t>-- ni IS, ni VARCHAR2, ni / final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569CD6"/>
                </a:solidFill>
                <a:latin typeface="Consolas"/>
              </a:rPr>
              <a:t>DECLARE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v_activa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CHAR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569CD6"/>
                </a:solidFill>
                <a:latin typeface="Consolas"/>
              </a:rPr>
              <a:t>BEGIN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activa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INTO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v_activa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p_id_mascota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IF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FOUND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THEN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RAISE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EXCEPTION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'ERROR: la mascota % no existe'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p_id_mascota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END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IF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IF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v_activa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&lt;&gt;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'S'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THEN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RAISE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EXCEPTION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'ERROR: la mascota % esta inactiva'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p_id_mascota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END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IF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;                          </a:t>
            </a:r>
            <a:r>
              <a:rPr sz="1300" i="1" b="0">
                <a:solidFill>
                  <a:srgbClr val="6A9955"/>
                </a:solidFill>
                <a:latin typeface="Consolas"/>
              </a:rPr>
              <a:t>-- aborta: no inserta NADA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INTO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id_veterinario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VALUES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p_id_mascota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p_id_veterinario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p_fecha_hora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'PROGRAMADA'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569CD6"/>
                </a:solidFill>
                <a:latin typeface="Consolas"/>
              </a:rPr>
              <a:t>END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$proc$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«RAISE EXCEPTION» aborta el CALL completo y deshace lo hecho. Con el mensaje en un parametro OUT, el INSERT seguiria corriendo.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debe vivir la logica de negocio: la respuesta honesta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onde-logic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onde-logic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onde-logic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fondo es donde debe vivir la logica de negocio, y merece respuesta honesta y no dogmatica, porque hay equipos serios en las dos…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la regla se cumple aunque alguien entre por fuera de la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y aqui se amarra con la Clase 2, permite un modelo de permisos mas fino.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la recepcionista agenda citas pero no inserta filas arbitrarias ni corrige estados a mano.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inyeccion de SQL, explicada y no solo mencionada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yeccion-sq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inyeccion-sq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inyeccion-sql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inyeccion de SQL merece parrafo propio porque es el argumento de seguridad mas concreto de la clase y casi siempre se menciona sin explicarlo.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escribe Luna todo va bien;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con parametros cierra ese agujero por un motivo tecnico preciso: el valor viaja como parametro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teria-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bateria-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bateria-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un problema practico: si el estudiante escribe los cuatro CALL uno tras otro y ejecuta todo de un tiro.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es el bloque anonimo: DO $$ BEGIN...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END $$; es un bloque de PL/pgSQL que se ejecuta una vez y no se guarda en ningun catalogo.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resultados van a una tabla, no a la pantalla, y eso tambien tiene razon: una captura de cuatro mensajes sueltos no se puede comparar contra nada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3100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36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36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Caso OK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CALL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sp_dar_de_baja_insumo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CE9178"/>
                </a:solidFill>
                <a:latin typeface="Consolas"/>
              </a:rPr>
              <a:t>'vencido'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Caso de error, capturado para que el guion no se detenga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DO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$$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BEGIN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CALL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sp_dar_de_baja_insumo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9999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CE9178"/>
                </a:solidFill>
                <a:latin typeface="Consolas"/>
              </a:rPr>
              <a:t>'inexistente'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RAISE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NOTICE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CE9178"/>
                </a:solidFill>
                <a:latin typeface="Consolas"/>
              </a:rPr>
              <a:t>'FALLO LA PRUEBA: debio rechazar el insumo 9999'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EXCEPTION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WHEN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OTHERS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THEN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RAISE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NOTICE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CE9178"/>
                </a:solidFill>
                <a:latin typeface="Consolas"/>
              </a:rPr>
              <a:t>'OK - rechazado como se esperaba: %'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SQLERRM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END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$$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Cada caso va en su propio DO con EXCEPTION: el error se captura, se registra con SQLERRM en resultado_prueba y el script sigue al caso siguiente en vez de abortar.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un caso de error y la prueba del conteo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procedimiento sin bateria no esta terminado: cada caso de error se prueba en su propio bloque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un bloque por caso.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los cuatro «CALL» van seguidos, el primero que falla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aborta el resto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evidencia queda a medias. «DO $$ ... $$;» es un bloque anonimo —se ejecuta una vez y no se guarda— y su «EXCEPTION» atrapa el error y deja seguir al siguiente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molde de un caso error.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 $$ BEGIN CALL sp_agendar_cita(...); INSERT INTO resultado_prueba VALUES (..., 'FALLO: no lanzo error', FALSE); EXCEPTION WHEN OTHERS THEN INSERT INTO resultado_prueba VALUES (..., SQLERRM, TRUE); END $$;» — «SQLERRM» es el texto del error que se acaba de capturar.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4 casos, y la prueba de que si inserto.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1 caso OK + mascota inexistente + mascota inactiva + franja ocupada. Y un «COUNT(*)» sobre «cita»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despues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tiene que pasar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filas. Sin ese conteo nada demuestra que el caso OK hizo algo.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significa la columna paso, y la trampa del WHEN OTHERS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ampa-when-other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ampa-when-other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ampa-when-other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trampa-when-other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Capturar WHEN OTHERS y escribir paso = TRUE porque hubo excepcion es insuficiente.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ese criterio, un procedimiento roto pasaria las tres pruebas negativas.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paso = SQLERRM ILIKE '%inactiva%', que es una comparacion insensible a mayusculas: se afirma que fallo Y que fallo por lo que se esperaba.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es que la columna paso admite dos lecturas legitimas y hay que elegir una.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columna paso y la trampa de WHEN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Ojo con la logica invertida, y con «WHEN OTHERS» a secas.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 caso error,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llegar al final sin excepcion es el fallo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Y no basta con que falle: hay que verificar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falle por lo esperado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(«SQLERRM ILIKE '%inactiva%'»), porque un typo en un nombre de columna tambien lanza excepcion y se reportaria como prueba superada.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tabla de resultados.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«resultado_prueba(id_prueba SERIAL, caso TEXT, esperado TEXT, obtenido TEXT, paso BOOLEAN)», y un «SELECT * ... ORDER BY id_prueba;» con las 4 filas. «paso» admite dos lecturas —«coincidio con lo esperado» o «la operacion se completo»— y las dos valen; lo que se exige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usar la misma para las 4 y decir cual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rato-seis-bloqu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ntrato-seis-bloqu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ntrato-seis-bloqu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para quien va a LLAMAR al procedimiento sin abrirlo, y en este curso esa persona existe con nombre.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seis bloques y cada uno responde una pregunta.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firma exacta, con los tipos y en el orden real, responde como se declara.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de llamada, con valores concretos que funcionan, responde como se invoca;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6 bloques del contrato, uno por uno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contrato es lo que lee quien llama: firma, ejemplo, pre y postcondiciones, errores y la decision de diseno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Firma exacta.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«sp_agendar_cita(p_id_mascota INT, p_id_veterinario INT, p_fecha_hora TIMESTAMP)»: nombre, orden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cada parametro. Sin los tipos no es un contrato, es una descripcion.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Como se llama: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«CALL» de ejemplo con valores reales, copiable tal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Precondiciones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garantiza quien llama: la mascota existe y esta activa, la franja del veterinario esta libre.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Postcondiciones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queda cierto si termina bien: una fila nueva en «cita» con estado «PROGRAMADA»,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ninguna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termina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Tabla de errores.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fila por cada «RAISE EXCEPTION»,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mensaje literal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que debe hacer la app al recibirlo. Es lo que vuelve programable el contrato: sin el texto exacto, la app no puede distinguir un error de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6. Decision de diseno.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que se aborta en vez de devolver un codigo en un «OUT»: porque abortar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deshace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hecho, y un codigo que nadie revise deja la cita creada igual.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 dice hoy, no en la Clase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cedimiento-fun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rocedimiento-func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rocedimiento-func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 sp_x(...).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son dos sabores del mismo objeto: en PostgreSQL una funcion no puede hacer COMMIT ni ROLLBACK y un procedimiento 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Otra diferencia que se nota en la practica: llamar a un procedimiento con SELECT sp_agendar_cita(...) devuelve un error explicito de PostgreSQL.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la diferencia es donde se puede usar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6366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69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69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FUNCTION devuelve un valor y se puede usar DENTRO de un SELECT.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OR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REPLACE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FUNCTION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fn_citas_del_dia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p_dia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4EC9B0"/>
                </a:solidFill>
                <a:latin typeface="Consolas"/>
              </a:rPr>
              <a:t>DATE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RETURNS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4EC9B0"/>
                </a:solidFill>
                <a:latin typeface="Consolas"/>
              </a:rPr>
              <a:t>INT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LANGUAGE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sql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$$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COUNT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(*)::</a:t>
            </a:r>
            <a:r>
              <a:rPr sz="1900" i="0" b="0">
                <a:solidFill>
                  <a:srgbClr val="4EC9B0"/>
                </a:solidFill>
                <a:latin typeface="Consolas"/>
              </a:rPr>
              <a:t>INT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cita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p_dia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&lt;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p_dia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+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$$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fn_citas_del_dia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i="0" b="0">
                <a:solidFill>
                  <a:srgbClr val="4EC9B0"/>
                </a:solidFill>
                <a:latin typeface="Consolas"/>
              </a:rPr>
              <a:t>DATE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CE9178"/>
                </a:solidFill>
                <a:latin typeface="Consolas"/>
              </a:rPr>
              <a:t>'2026-09-01'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);   </a:t>
            </a:r>
            <a:r>
              <a:rPr sz="1900" i="1" b="0">
                <a:solidFill>
                  <a:srgbClr val="6A9955"/>
                </a:solidFill>
                <a:latin typeface="Consolas"/>
              </a:rPr>
              <a:t>-- se puede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PROCEDURE no: se invoca con CALL y puede manejar transacciones.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SELECT sp_dar_de_baja_insumo(1,'x');  -- ERROR: no es una funcion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cual se puede usar dentro de un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PROCEDURE y FUNCTION no son sinonimos: si el resultado tiene que entrar en un SELECT, es FUNCTION. Es la bisagra con la 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«FUNCTION»: devuelve un valor y se invoca DENTRO de una consulta.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fn_precio(p_especie TEXT) RETURNS NUMERIC LANGUAGE plpgsql AS $fn$ ... RETURN v_precio; ... $fn$;» y se usa «SELECT nombre, fn_precio(especie) FROM mascota;». Es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unica de las 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que cabe en la lista de columnas de un «SELECT», en un «WHERE» o en un «ORDER BY».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«PROCEDURE»: ejecuta pasos y se invoca como sentencia suelta.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«CALL sp_agendar_cita(3, 7, '2026-09-01 10:00');».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puede poner en un «SELECT». Si lo intentas, el motor responde «sp_agendar_cita(...) is not a function».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Las dos pueden ser «LANGUAGE plpgsql».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lenguaje no decide nada: es falso que una funcion necesite «LANGUAGE sql» para poder retornar un valor. «sp_agendar_cita» y «fn_precio» son las dos «plpgsql».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«PROCEDURE» si admite parametros «OUT»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—y aun asi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sigue sin poder usarse dentro de un «SELECT»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Devolver por «OUT» no es lo mismo que ser invocable en una consulta, y no es «la unica forma de retornar un valor».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 que solo puede el procedimiento: manejar la transaccion.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 «PROCEDURE» puede hacer «COMMIT» o «ROLLBACK» adentro; una «FUNCTION» corre dentro de la transaccion de quien la llamo. Por eso agendar es procedimiento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tarifa de la Clase 4 sera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Depurar sin depurador: los cuatro movimientos, en PostgreSQL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purar-cuatr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epurar-cuatr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epurar-cuatr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depurar-cuatro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Depurar sin depurador es una habilidad concreta y se ensena en cuatro movimientos.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entender que error se esta leyendo, porque hay dos momentos distintos.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error de ejecucion, que es el que aparece con el CALL y es donde salen los nombres de tabla o columna equivocados.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diferencia de Oracle no hay que consultar ninguna vista de errores ni verificar si el objeto quedo invalido.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racle-postgr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oracle-postgr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motor de la clase es PostgreSQL, que corre dentro del navegador, y por lo tanto todo el codigo de hoy es PL/pgSQL.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un minuto de clase senalar las cuatro diferencias que mas cuestan —IS en lugar de 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barra final que aqui es un error— y no vale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curso se mantiene: la fuente de verdad es el archivo sql en la carpeta del proyecto, nunca la pestana del navegador.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 sp_registrar_consulta y el EXISTS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ists-consul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xists-consul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xists-consul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segundo procedimiento no es relleno: es donde se practica una decision distinta. sp_registrar_consulta escribe en consulta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 dejo esa tabla con id_cita NOT NULL UNIQUE, porque una consulta pertenece a una cita y una cita tiene a lo sumo una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interesante es entonces para que escribir la validacion, si el motor ya defiende el dato.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marre-clas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marre-clas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no es una isla.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esquema, la baja logica con activa igual a 'S' o 'N' y la restriccion de unicidad sobre la franja del veterinario.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2 dejo los cuatro roles y hoy aparece el patron mas fino de 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cuelga de este procedimiento la funcion y los dos triggers, y ahi se decide, para cada regla, si vive en un CHECK, en un trigger o en la…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sp_agendar_cita en PL/pgSQL: las 3 validaciones con RAISE EXCEPTION y la bateria de bloques DO que las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de la clínica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CALL valido inserta una cita y los invalidos abortan con su mensaje literal; el «COUNT(*)» de cita confirma que los fallidos no dejaron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procedimiento queda guardado en el motor: cerrar la sesion no lo borra, y cualquier cliente lo invoca con 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Procedimientos almacenados ·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 procedimiento almacenado, y las dos palabras que importan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molde de PL/pgSQL, y por que el cuerpo va entre signos de dolar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Los modos de parametro, y por que hoy no se usa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