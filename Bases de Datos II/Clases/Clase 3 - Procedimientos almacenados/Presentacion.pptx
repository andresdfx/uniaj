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procedimiento almacenado es un bloque de código con nombre que vive en la base. Dos palabras lo explican: guardado, porque su fuente queda en el motor aunque su autor se vaya, e invocado, porque una sola línea dispara varias sentencias. Lo importante no es el ahorro: es que la regla queda escrita una vez y ninguna pantalla se la puede saltar.</a:t>
            </a:r>
          </a:p>
          <a:p/>
          <a:p>
            <a:r>
              <a:t>CÓMO DARLA (≈3 min):</a:t>
            </a:r>
          </a:p>
          <a:p>
            <a:r>
              <a:t>  • Al entrar: GUARDADO: el motor tiene un catálogo (pg_proc) con sp_agendar_cita y sp_registrar_consulta. «Si cierran la pestaña, el procedimiento sigue ahí».</a:t>
            </a:r>
          </a:p>
          <a:p>
            <a:r>
              <a:t>  • Clic 1: INVOCADO: CALL sp_agendar_cita(…) dispara adentro un SELECT (¿mascota activa?), un IF con RAISE EXCEPTION y el INSERT. Una línea, varias sentencias, una sola respuesta.</a:t>
            </a:r>
          </a:p>
          <a:p>
            <a:r>
              <a:t>  • Clic 2: La frase de abajo: la regla queda escrita una vez y todos pasan por ella.</a:t>
            </a:r>
          </a:p>
          <a:p/>
          <a:p>
            <a:r>
              <a:t>EJEMPLO: SELECT pg_get_functiondef('sp_agendar_cita'::regproc); devuelve la definición completa, empezando por «CREATE OR REPLACE PROCEDURE public.sp_agendar_cita(IN p_id_mascota integer, …», lista para volver a ejecutar.</a:t>
            </a:r>
          </a:p>
          <a:p/>
          <a:p>
            <a:r>
              <a:t>SI PREGUNTAN:</a:t>
            </a:r>
          </a:p>
          <a:p>
            <a:r>
              <a:t>  • «Ejecuté el CREATE y no dio error: ¿ya funciona?» → No necesariamente. PostgreSQL revisa la sintaxis al crearlo, pero los nombres de tablas y columnas solo al ejecutarlo: un INSERT INTO citas (con s) se crea sin queja y falla en el CALL con relation "citas" does not exist. La evidencia es el CALL corriendo.</a:t>
            </a:r>
          </a:p>
          <a:p/>
          <a:p>
            <a:r>
              <a:t>CUIDADO: Si vienes de Oracle: aquí no existe el objeto «creado pero inválido». Si el CREATE no protestó, el objeto existe; eso no quiere decir que funcione.</a:t>
            </a:r>
          </a:p>
          <a:p/>
          <a:p>
            <a:r>
              <a:t>PASA A LA SIGUIENTE: ¿Por qué ponerlo en la base y no repetir el SQL en cada pantalla?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molde de un procedimiento es siempre el mismo, y se dicta entero antes de escribir una sola validación, porque es donde más se pierde tiempo sin haber entendido nada mal. Lo raro es el cuerpo entre signos de dólar: para el motor el cuerpo es un texto, y así no hay que duplicar comillas.</a:t>
            </a:r>
          </a:p>
          <a:p/>
          <a:p>
            <a:r>
              <a:t>CÓMO DARLA (≈3 min):</a:t>
            </a:r>
          </a:p>
          <a:p>
            <a:r>
              <a:t>  • Al entrar: El molde completo y la primera trampa: después de LANGUAGE plpgsql va AS. En Oracle es IS; aquí IS da error de sintaxis.</a:t>
            </a:r>
          </a:p>
          <a:p>
            <a:r>
              <a:t>  • Clic 1: Se resalta el cuerpo, de DECLARE a END;: es una cadena. Entre $proc$ caben punto y coma y comillas sin duplicarlas. $$ funciona igual; la etiqueta con nombre sirve para bloques anidados.</a:t>
            </a:r>
          </a:p>
          <a:p>
            <a:r>
              <a:t>  • Clic 2: El cierre: $proc$; con punto y coma obligatorio. La barra sola en una línea, que en Oracle cierra el bloque, aquí es error.</a:t>
            </a:r>
          </a:p>
          <a:p/>
          <a:p>
            <a:r>
              <a:t>EJEMPLO: CREATE PROCEDURE sp_y(p INT) LANGUAGE plpgsql IS $proc$ ... responde «syntax error at or near "IS"».</a:t>
            </a:r>
          </a:p>
          <a:p/>
          <a:p>
            <a:r>
              <a:t>SI PREGUNTAN:</a:t>
            </a:r>
          </a:p>
          <a:p>
            <a:r>
              <a:t>  • «¿Por qué LANGUAGE plpgsql si es obvio?» → Porque PostgreSQL admite varios lenguajes (sql, plpgsql y otros) y no adivina cuál se usa.</a:t>
            </a:r>
          </a:p>
          <a:p>
            <a:r>
              <a:t>  • «¿Qué tipos uso?» → INT, NUMERIC, TEXT, VARCHAR(n), TIMESTAMP, BOOLEAN, DATE. VARCHAR2 y NUMBER son de Oracle y aquí no existen.</a:t>
            </a:r>
          </a:p>
          <a:p/>
          <a:p>
            <a:r>
              <a:t>CUIDADO: sp_agendar_cita recibe tres parámetros, no cuatro: id_cita es SERIAL y lo genera el motor. Pasarlo desde afuera no es error de sintaxis: es error de diseño.</a:t>
            </a:r>
          </a:p>
          <a:p/>
          <a:p>
            <a:r>
              <a:t>PASA A LA SIGUIENTE: El molde completo, en un procedimiento que corre.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Cada parámetro tiene un modo, que es la dirección en que viaja el dato. IN entra y es el de omisión; OUT sale; INOUT entra y sale. Hoy no se usa OUT para devolver errores, y la razón es de diseño: un código que nadie revisa deja la cita creada.</a:t>
            </a:r>
          </a:p>
          <a:p/>
          <a:p>
            <a:r>
              <a:t>CÓMO DARLA (≈2 min):</a:t>
            </a:r>
          </a:p>
          <a:p>
            <a:r>
              <a:t>  • Al entrar: p_id_mascota INT entra al procedimiento: es IN, y no hace falta escribirlo.</a:t>
            </a:r>
          </a:p>
          <a:p>
            <a:r>
              <a:t>  • Clic 1: La alternativa mala: el procedimiento inserta y además pone p_resultado := -1 en un OUT. La aplicación no lo mira, nada falla, y la regla no se cumplió.</a:t>
            </a:r>
          </a:p>
          <a:p>
            <a:r>
              <a:t>  • Clic 2: La buena: RAISE EXCEPTION. El motor devuelve un fallo que la aplicación no puede ignorar, y nada quedó escrito. Lee la frase final: el encabezado es un contrato de nombre, orden y tipos.</a:t>
            </a:r>
          </a:p>
          <a:p/>
          <a:p>
            <a:r>
              <a:t>EJEMPLO: En PostgreSQL el OUT de un procedimiento también se pasa al llamarlo: con sp_out(p_id INT, OUT p_res INT), CALL sp_out(4) falla (no existe ese procedimiento con un argumento) y CALL sp_out(4, NULL) devuelve p_res = 8.</a:t>
            </a:r>
          </a:p>
          <a:p/>
          <a:p>
            <a:r>
              <a:t>SI PREGUNTAN:</a:t>
            </a:r>
          </a:p>
          <a:p>
            <a:r>
              <a:t>  • «¿Cómo evito confundir el orden de dos parámetros del mismo tipo?» → Con notación nombrada: CALL sp_agendar_cita(p_id_mascota =&gt; 1, p_id_veterinario =&gt; 2, p_fecha_hora =&gt; TIMESTAMP '2026-09-15 10:00:00').</a:t>
            </a:r>
          </a:p>
          <a:p/>
          <a:p>
            <a:r>
              <a:t>CUIDADO: Si alguien intercambia dos parámetros INT en la firma, el procedimiento se crea igual y agenda la cita para la mascota equivocada sin ningún error.</a:t>
            </a:r>
          </a:p>
          <a:p/>
          <a:p>
            <a:r>
              <a:t>PASA A LA SIGUIENTE: Ese RAISE EXCEPTION es la pieza que convierte el código en regla.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RAISE EXCEPTION lanza un error con un mensaje y aborta. No sale del procedimiento con un aviso: el error llega hasta quien llamó y todo lo que el procedimiento había escrito se deshace. Por eso es imposible que quede una cita a medias, y no porque el código lo cuide: lo garantiza el motor.</a:t>
            </a:r>
          </a:p>
          <a:p/>
          <a:p>
            <a:r>
              <a:t>CÓMO DARLA (≈3 min):</a:t>
            </a:r>
          </a:p>
          <a:p>
            <a:r>
              <a:t>  • Al entrar: La línea RAISE EXCEPTION 'ERROR: la mascota % no existe', p_id: el % se reemplaza por p_id (99) y el mensaje queda «ERROR: la mascota 99 no existe». Para un porcentaje literal se escribe %%.</a:t>
            </a:r>
          </a:p>
          <a:p>
            <a:r>
              <a:t>  • Clic 1: Dentro del CALL: se hizo un INSERT, luego una validación falla y se lanza la excepción. La fila 3 que se había insertado desaparece: se deshizo.</a:t>
            </a:r>
          </a:p>
          <a:p>
            <a:r>
              <a:t>  • Clic 2: La conclusión y la segunda idea: el mensaje es parte de la interfaz; se escribe para la recepcionista, no para el programador.</a:t>
            </a:r>
          </a:p>
          <a:p/>
          <a:p>
            <a:r>
              <a:t>EJEMPLO: Si hay más % que valores, el motor responde «too few parameters specified for RAISE». Y todo RAISE EXCEPTION sin más lleva el código SQLSTATE P0001.</a:t>
            </a:r>
          </a:p>
          <a:p/>
          <a:p>
            <a:r>
              <a:t>SI PREGUNTAN:</a:t>
            </a:r>
          </a:p>
          <a:p>
            <a:r>
              <a:t>  • «¿Para qué sirve el SQLSTATE?» → Para que la aplicación distinga un error de negocio de un fallo de la base sin leer el texto. Se puede fijar uno propio con USING ERRCODE; hoy basta el mensaje.</a:t>
            </a:r>
          </a:p>
          <a:p/>
          <a:p>
            <a:r>
              <a:t>CUIDADO: El orden natural es validar primero y escribir después; aun así, si algo falla tarde, el motor deshace lo escrito.</a:t>
            </a:r>
          </a:p>
          <a:p/>
          <a:p>
            <a:r>
              <a:t>PASA A LA SIGUIENTE: Veámoslo con la regla que la FK no podía defender.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pregunta de fondo no tiene respuesta dogmática. A favor de la base: la regla se cumple aunque alguien entre por fuera de la aplicación, se ahorran viajes de red y se pueden dar permisos más finos. En contra: se versiona peor, se prueba con más esfuerzo y ata el sistema al motor. El criterio: en la base van las reglas que nunca pueden violarse.</a:t>
            </a:r>
          </a:p>
          <a:p/>
          <a:p>
            <a:r>
              <a:t>CÓMO DARLA (≈3 min):</a:t>
            </a:r>
          </a:p>
          <a:p>
            <a:r>
              <a:t>  • Al entrar: Tres entradas, aplicación, migración y consola, pasan por sp_agendar_cita antes de llegar a cita. «La regla se cumple entre por donde se entre».</a:t>
            </a:r>
          </a:p>
          <a:p>
            <a:r>
              <a:t>  • Clic 1: Los permisos: GRANT EXECUTE sobre el procedimiento sí, GRANT INSERT sobre cita no. Lee el aviso: eso solo funciona si el procedimiento es SECURITY DEFINER (corre con los permisos de su dueño); sin esa cláusula corre con los de quien llama y el INSERT se niega.</a:t>
            </a:r>
          </a:p>
          <a:p>
            <a:r>
              <a:t>  • Clic 2: A favor y en contra. Cierra con el criterio de oficio: invariantes en la base; orquestación, interfaz y reglas que cambian seguido, en la aplicación.</a:t>
            </a:r>
          </a:p>
          <a:p/>
          <a:p>
            <a:r>
              <a:t>EJEMPLO: Invariantes de la clínica: el stock nunca negativo y la mascota inactiva que no agenda. Regla volátil: el descuento de temporada, que cambia cada mes.</a:t>
            </a:r>
          </a:p>
          <a:p/>
          <a:p>
            <a:r>
              <a:t>SI PREGUNTAN:</a:t>
            </a:r>
          </a:p>
          <a:p>
            <a:r>
              <a:t>  • «¿Un procedimiento es más rápido?» → Ahorra viajes de red y análisis repetido, pero no arregla una consulta mal escrita; eso se ve en las Clases 6 y 7. En el navegador la mejora de red no se puede medir.</a:t>
            </a:r>
          </a:p>
          <a:p/>
          <a:p>
            <a:r>
              <a:t>CUIDADO: SECURITY DEFINER se nombra hoy y se usa en la Clase 12; no prometas que dar EXECUTE basta.</a:t>
            </a:r>
          </a:p>
          <a:p/>
          <a:p>
            <a:r>
              <a:t>PASA A LA SIGUIENTE: Uno de los argumentos a favor merece su lámina: la inyección de SQL.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inyección ocurre cuando la aplicación arma la consulta pegando texto que escribió el usuario, y ese texto termina interpretado como código. Un parámetro lo evita por un motivo preciso: el motor analiza la sentencia antes de conocer el valor, así que el valor nunca vuelve a pasar por el analizador.</a:t>
            </a:r>
          </a:p>
          <a:p/>
          <a:p>
            <a:r>
              <a:t>CÓMO DARLA (≈3 min):</a:t>
            </a:r>
          </a:p>
          <a:p>
            <a:r>
              <a:t>  • Al entrar: El usuario escribe Luna, la aplicación arma … WHERE nombre = 'Luna' y devuelve a Luna. Todo bien.</a:t>
            </a:r>
          </a:p>
          <a:p>
            <a:r>
              <a:t>  • Clic 1: Escribe Luna' OR '1'='1: la sentencia queda WHERE nombre = 'Luna' OR '1'='1', que es siempre verdadera, y la pantalla lista todas las mascotas.</a:t>
            </a:r>
          </a:p>
          <a:p>
            <a:r>
              <a:t>  • Clic 2: Con parámetro: 1) el motor analiza la sentencia, 2) después llega el valor, 3) se compara como dato. Ninguna mascota se llama Luna' OR '1'='1. Lee el aviso final sobre EXECUTE.</a:t>
            </a:r>
          </a:p>
          <a:p/>
          <a:p>
            <a:r>
              <a:t>EJEMPLO: Si escribe '; DELETE FROM cita; -- el motor recibe dos sentencias y la segunda borra la agenda.</a:t>
            </a:r>
          </a:p>
          <a:p/>
          <a:p>
            <a:r>
              <a:t>SI PREGUNTAN:</a:t>
            </a:r>
          </a:p>
          <a:p>
            <a:r>
              <a:t>  • «¿Entonces un procedimiento es inmune?» → No. Si dentro alguien escribe EXECUTE 'SELECT ... WHERE nombre = ' || p_nombre, el agujero se reabre. Lo correcto es EXECUTE '... WHERE nombre = $1' USING p_nombre, o format con %L para valores y %I para nombres.</a:t>
            </a:r>
          </a:p>
          <a:p/>
          <a:p>
            <a:r>
              <a:t>CUIDADO: Regla dura del curso: ningún dato del usuario se concatena dentro de una sentencia, ni en la aplicación ni en el procedimiento.</a:t>
            </a:r>
          </a:p>
          <a:p/>
          <a:p>
            <a:r>
              <a:t>PASA A LA SIGUIENTE: Ya sabemos escribir el procedimiento. ¿Cómo demostramos que funciona?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procedimiento sin pruebas no está terminado. El problema práctico: si se escriben los cuatro CALL seguidos y se ejecutan de un tiro, el primero que falla aborta el resto. La solución es un bloque DO por caso, cuya cláusula EXCEPTION atrapa el error y deja correr el siguiente.</a:t>
            </a:r>
          </a:p>
          <a:p/>
          <a:p>
            <a:r>
              <a:t>CÓMO DARLA (≈2 min):</a:t>
            </a:r>
          </a:p>
          <a:p>
            <a:r>
              <a:t>  • Al entrar: Cuatro CALL de un tiro: el positivo pasa, el de la mascota inactiva falla y los otros dos quedan en gris: nunca corrieron.</a:t>
            </a:r>
          </a:p>
          <a:p>
            <a:r>
              <a:t>  • Clic 1: Un bloque DO por caso: DO $$ BEGIN CALL … EXCEPTION … END $$;. «Se ejecuta una vez y no se guarda en ningún catálogo».</a:t>
            </a:r>
          </a:p>
          <a:p>
            <a:r>
              <a:t>  • Clic 2: La tabla resultado_prueba con una fila por caso: caso, esperado, obtenido y paso.</a:t>
            </a:r>
          </a:p>
          <a:p/>
          <a:p>
            <a:r>
              <a:t>EJEMPLO: Los cuatro casos con los datos de práctica: mascota 1 (activa, debe agendar), mascota 3 (Rocky, inactiva), mascota 99 (no existe) y la franja del veterinario 1 el 2026-09-01 a las 08:00 (ocupada).</a:t>
            </a:r>
          </a:p>
          <a:p/>
          <a:p>
            <a:r>
              <a:t>SI PREGUNTAN:</a:t>
            </a:r>
          </a:p>
          <a:p>
            <a:r>
              <a:t>  • «¿Y si el procedimiento hace COMMIT?» → Llamado desde un bloque con EXCEPTION falla con «invalid transaction termination»: ese bloque abre un punto de retorno interno y no se puede confirmar con él activo. Por eso el procedimiento de hoy no lleva COMMIT.</a:t>
            </a:r>
          </a:p>
          <a:p/>
          <a:p>
            <a:r>
              <a:t>CUIDADO: La captura tiene costo: no se envuelve todo en EXCEPTION «por si acaso». Es para las pruebas y para los casos que se quieren manejar.</a:t>
            </a:r>
          </a:p>
          <a:p/>
          <a:p>
            <a:r>
              <a:t>PASA A LA SIGUIENTE: Así se escribe un caso de error completo.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Capturar WHEN OTHERS y marcar la prueba como superada porque hubo excepción no prueba nada: un procedimiento roto también lanza excepciones. Lo que se verifica es el texto del error, con SQLERRM. Así se afirma que falló y que falló por lo esperado.</a:t>
            </a:r>
          </a:p>
          <a:p/>
          <a:p>
            <a:r>
              <a:t>CÓMO DARLA (≈3 min):</a:t>
            </a:r>
          </a:p>
          <a:p>
            <a:r>
              <a:t>  • Al entrar: Caso negativo, mascota inactiva, contra un procedimiento roto: una columna mal escrita da «column "activ" does not exist». También es una excepción.</a:t>
            </a:r>
          </a:p>
          <a:p>
            <a:r>
              <a:t>  • Clic 1: WHEN OTHERS THEN paso := TRUE: la prueba sale aprobada. Falso positivo.</a:t>
            </a:r>
          </a:p>
          <a:p>
            <a:r>
              <a:t>  • Clic 2: paso := SQLERRM ILIKE '%inactiva%': el texto no dice «inactiva», paso queda en f y el error queda a la vista.</a:t>
            </a:r>
          </a:p>
          <a:p>
            <a:r>
              <a:t>  • Clic 3: Las dos frases finales: se afirma que falló Y por qué; y una sola lectura de paso para las cuatro filas, declarada.</a:t>
            </a:r>
          </a:p>
          <a:p/>
          <a:p>
            <a:r>
              <a:t>EJEMPLO: ILIKE compara sin importar mayúsculas: 'ERROR: la mascota 3 esta inactiva' ILIKE '%inactiva%' es verdadero.</a:t>
            </a:r>
          </a:p>
          <a:p/>
          <a:p>
            <a:r>
              <a:t>SI PREGUNTAN:</a:t>
            </a:r>
          </a:p>
          <a:p>
            <a:r>
              <a:t>  • «¿Puedo usar SQLSTATE en vez del texto?» → Sí, si el procedimiento fija un código propio con USING ERRCODE. Con RAISE EXCEPTION simple todos los errores de negocio son P0001, así que hoy se compara el texto.</a:t>
            </a:r>
          </a:p>
          <a:p/>
          <a:p>
            <a:r>
              <a:t>CUIDADO: Al revisar una batería, no te quedes con las cuatro filas en t: mira cómo se calculó paso.</a:t>
            </a:r>
          </a:p>
          <a:p/>
          <a:p>
            <a:r>
              <a:t>PASA A LA SIGUIENTE: Las dos lecturas posibles de paso, lado a lado.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columna paso admite dos lecturas legítimas. Si significa «coincidió con lo esperado», con el procedimiento correcto las cuatro filas quedan en t. Si significa «la operación se completó», los tres casos de error quedan en f aunque el procedimiento esté perfecto. Las dos valen; lo que no vale es no decir cuál.</a:t>
            </a:r>
          </a:p>
          <a:p/>
          <a:p>
            <a:r>
              <a:t>CÓMO DARLA (≈2 min):</a:t>
            </a:r>
          </a:p>
          <a:p>
            <a:r>
              <a:t>  • Al entrar: Recorre la imagen: arriba, paso := TRUE (mal) contra SQLERRM ILIKE (bien); en el medio, la misma tabla con la lectura A (t, t, t, t) y la B (t, f, f, f); abajo, la regla: una lectura para las cuatro filas, declarada.</a:t>
            </a:r>
          </a:p>
          <a:p/>
          <a:p>
            <a:r>
              <a:t>EJEMPLO: Salida de una batería sana con la lectura A: 4 filas, el caso válido con paso t y los tres inválidos con paso t y su SQLERRM literal.</a:t>
            </a:r>
          </a:p>
          <a:p/>
          <a:p>
            <a:r>
              <a:t>SI PREGUNTAN:</a:t>
            </a:r>
          </a:p>
          <a:p>
            <a:r>
              <a:t>  • «¿Qué hago si un caso de error sale con paso f en la lectura A?» → Es un hallazgo: el procedimiento dejó pasar algo que debía rechazar. Se corrige el procedimiento, no la prueba.</a:t>
            </a:r>
          </a:p>
          <a:p/>
          <a:p>
            <a:r>
              <a:t>PASA A LA SIGUIENTE: Probado el procedimiento, falta documentarlo para quien lo va a llamar.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contrato no es código: es lo que necesita quien va a llamar al procedimiento sin abrirlo, por ejemplo quien construya la aplicación. Sirve si permite escribir la llamada y manejar los errores sin leer el cuerpo. Son seis bloques y cada uno responde una pregunta.</a:t>
            </a:r>
          </a:p>
          <a:p/>
          <a:p>
            <a:r>
              <a:t>CÓMO DARLA (≈2 min):</a:t>
            </a:r>
          </a:p>
          <a:p>
            <a:r>
              <a:t>  • Al entrar: Bloques 1 y 2: firma exacta (¿cómo se declara?) y ejemplo de llamada (¿cómo se invoca?).</a:t>
            </a:r>
          </a:p>
          <a:p>
            <a:r>
              <a:t>  • Clic 1: Bloques 3 y 4: precondiciones (¿qué debe ser verdad antes?) y postcondiciones (¿qué queda?, y si falla, nada).</a:t>
            </a:r>
          </a:p>
          <a:p>
            <a:r>
              <a:t>  • Clic 2: Bloques 5 y 6: tabla de errores con el mensaje literal, y la decisión de diseño (¿por qué aborta?). La frase final: errores del contrato y de la batería, palabra por palabra.</a:t>
            </a:r>
          </a:p>
          <a:p/>
          <a:p>
            <a:r>
              <a:t>EJEMPLO: Sin la postcondición del caso malo («si falla, no queda nada»), quien llama no sabe si tiene que limpiar algo después de un error.</a:t>
            </a:r>
          </a:p>
          <a:p/>
          <a:p>
            <a:r>
              <a:t>CUIDADO: El contrato no es un resumen del código: si para escribir la llamada hay que leer el cuerpo, el contrato no sirve.</a:t>
            </a:r>
          </a:p>
          <a:p/>
          <a:p>
            <a:r>
              <a:t>PASA A LA SIGUIENTE: Los seis bloques, llenos para sp_agendar_cita.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procedimiento se invoca para que haga algo, con CALL; una función se invoca para que devuelva un valor, dentro de una expresión. No son dos sabores del mismo objeto: solo el procedimiento puede confirmar o deshacer la transacción, y el motor no deja usar uno donde va el otro.</a:t>
            </a:r>
          </a:p>
          <a:p/>
          <a:p>
            <a:r>
              <a:t>CÓMO DARLA (≈2 min):</a:t>
            </a:r>
          </a:p>
          <a:p>
            <a:r>
              <a:t>  • Al entrar: PROCEDIMIENTO · hace: CALL sp_agendar_cita(…) cambia los datos y puede hacer COMMIT o ROLLBACK.</a:t>
            </a:r>
          </a:p>
          <a:p>
            <a:r>
              <a:t>  • Clic 1: FUNCIÓN · devuelve: SELECT fn_x(…) entrega un valor a la consulta y no puede hacer COMMIT ni ROLLBACK. «No son dos sabores del mismo objeto».</a:t>
            </a:r>
          </a:p>
          <a:p>
            <a:r>
              <a:t>  • Clic 2: La prueba: SELECT sp_agendar_cita(…) responde «is a procedure» con la pista «To call a procedure, use CALL». El motor no deja confundirlos.</a:t>
            </a:r>
          </a:p>
          <a:p/>
          <a:p>
            <a:r>
              <a:t>EJEMPLO: Al revés también falla: CALL de una función responde «is not a procedure» y sugiere usar SELECT.</a:t>
            </a:r>
          </a:p>
          <a:p/>
          <a:p>
            <a:r>
              <a:t>SI PREGUNTAN:</a:t>
            </a:r>
          </a:p>
          <a:p>
            <a:r>
              <a:t>  • «¿Por qué el objeto de hoy es procedimiento?» → Porque agendar es una acción que cambia datos. La tarifa de una consulta, que es un valor, será una función en la Clase 4.</a:t>
            </a:r>
          </a:p>
          <a:p/>
          <a:p>
            <a:r>
              <a:t>PASA A LA SIGUIENTE: Una función real, y el error al revés, en código.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Sin depurador también se depura, con cuatro movimientos: saber qué error se está leyendo, dejar trazas, aislar la consulta sospechosa y probar con casos hechos a propósito.</a:t>
            </a:r>
          </a:p>
          <a:p/>
          <a:p>
            <a:r>
              <a:t>CÓMO DARLA (≈2 min):</a:t>
            </a:r>
          </a:p>
          <a:p>
            <a:r>
              <a:t>  • Al entrar: ¿Qué error leo? El del CREATE PROCEDURE es de sintaxis y señala línea y posición. El del CALL es de ejecución: ahí salen las tablas y columnas mal escritas.</a:t>
            </a:r>
          </a:p>
          <a:p>
            <a:r>
              <a:t>  • Clic 1: Trazas: RAISE NOTICE 'paso 2, v_activa = %', v_activa; imprime sin abortar. RAISE tiene niveles (NOTICE, WARNING, EXCEPTION) y solo el último aborta.</a:t>
            </a:r>
          </a:p>
          <a:p>
            <a:r>
              <a:t>  • Clic 2: Aislar: SELECT activa FROM mascota WHERE id_mascota = 3, suelto, con el valor que falló. Así se sabe si falla la consulta o la lógica que la rodea.</a:t>
            </a:r>
          </a:p>
          <a:p>
            <a:r>
              <a:t>  • Clic 3: Casos deliberados: uno correcto y tres de error, cada uno en su bloque DO.</a:t>
            </a:r>
          </a:p>
          <a:p/>
          <a:p>
            <a:r>
              <a:t>EJEMPLO: Un procedimiento con INSERT INTO citas (con s) se crea sin error; el CALL responde «relation "citas" does not exist». Es un error de ejecución, no de creación.</a:t>
            </a:r>
          </a:p>
          <a:p/>
          <a:p>
            <a:r>
              <a:t>CUIDADO: A diferencia de Oracle, no hay vista de errores que consultar ni objetos inválidos: si el CREATE no protestó, el objeto existe.</a:t>
            </a:r>
          </a:p>
          <a:p/>
          <a:p>
            <a:r>
              <a:t>PASA A LA SIGUIENTE: El motor de hoy y lo que no hay que copiar de Oracle.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Todo lo de hoy corre en PostgreSQL dentro del navegador: CREATE PROCEDURE, el dólar, RAISE EXCEPTION, los bloques DO y SQLERRM. Oracle queda como contraste para quien lo encuentre en el trabajo, con cuatro diferencias que vale la pena nombrar y no más.</a:t>
            </a:r>
          </a:p>
          <a:p/>
          <a:p>
            <a:r>
              <a:t>CÓMO DARLA (≈1 min):</a:t>
            </a:r>
          </a:p>
          <a:p>
            <a:r>
              <a:t>  • Al entrar: Las cuatro parejas: IS → AS; VARCHAR2 y NUMBER → TEXT e INT; RAISE_APPLICATION_ERROR → RAISE EXCEPTION; la barra final → error de sintaxis.</a:t>
            </a:r>
          </a:p>
          <a:p>
            <a:r>
              <a:t>  • Clic 1: La regla operativa: la fuente de verdad es el archivo .sql de la carpeta. Quien reconstruye procedimiento, pruebas y datos pegando su archivo, va bien.</a:t>
            </a:r>
          </a:p>
          <a:p/>
          <a:p>
            <a:r>
              <a:t>CUIDADO: No dediques más de un minuto a Oracle: cada minuto en la sintaxis del otro motor es un minuto que no se dedica al tema.</a:t>
            </a:r>
          </a:p>
          <a:p/>
          <a:p>
            <a:r>
              <a:t>PASA A LA SIGUIENTE: Un segundo procedimiento, donde se practica otra decisión.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segundo procedimiento registra la consulta de una cita. La tabla ya tiene UNIQUE en id_cita, así que el motor impide dos consultas para la misma cita. Entonces, ¿para qué validar? Por el mensaje, y porque hay reglas que la restricción no ve.</a:t>
            </a:r>
          </a:p>
          <a:p/>
          <a:p>
            <a:r>
              <a:t>CÓMO DARLA (≈3 min):</a:t>
            </a:r>
          </a:p>
          <a:p>
            <a:r>
              <a:t>  • Al entrar: Solo con UNIQUE, la segunda consulta para la cita 7 falla con «duplicate key value violates unique constraint "consulta_id_cita_key"»: técnico, nombra el índice.</a:t>
            </a:r>
          </a:p>
          <a:p>
            <a:r>
              <a:t>  • Clic 1: Con IF EXISTS (SELECT 1 FROM consulta WHERE id_cita = p_id_cita) THEN RAISE: «ERROR: la cita 7 ya tiene consulta registrada». Lo entiende la recepcionista.</a:t>
            </a:r>
          </a:p>
          <a:p>
            <a:r>
              <a:t>  • Clic 2: Lo que el UNIQUE no ve: si la cita existe y si no está CANCELADA. La frase: la restricción es la última línea de defensa; el procedimiento, la primera.</a:t>
            </a:r>
          </a:p>
          <a:p/>
          <a:p>
            <a:r>
              <a:t>EJEMPLO: Con los datos de práctica: la cita 1 está PROGRAMADA y no tiene consulta (debe funcionar), la cita 4 está CANCELADA (debe fallar) y la cita 2 ya tiene consulta (debe fallar).</a:t>
            </a:r>
          </a:p>
          <a:p/>
          <a:p>
            <a:r>
              <a:t>SI PREGUNTAN:</a:t>
            </a:r>
          </a:p>
          <a:p>
            <a:r>
              <a:t>  • «Si ya está el procedimiento, ¿quito el UNIQUE?» → No. El procedimiento mejora el mensaje; la restricción sigue protegiendo cuando alguien entra por fuera. Primero lo declarativo, encima el procedimiento.</a:t>
            </a:r>
          </a:p>
          <a:p/>
          <a:p>
            <a:r>
              <a:t>CUIDADO: El orden importa: el IF EXISTS va antes del INSERT; si se deja chocar contra el UNIQUE, la aplicación recibe un error que no sabe traducir.</a:t>
            </a:r>
          </a:p>
          <a:p/>
          <a:p>
            <a:r>
              <a:t>PASA A LA SIGUIENTE: Cómo se conecta todo esto con las clases vecinas.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 de hoy usa lo que dejaron las clases anteriores y lo retoman las siguientes.</a:t>
            </a:r>
          </a:p>
          <a:p/>
          <a:p>
            <a:r>
              <a:t>CÓMO DARLA (≈1 min):</a:t>
            </a:r>
          </a:p>
          <a:p>
            <a:r>
              <a:t>  • Al entrar: Antes: la Clase 1 dejó el esquema y la baja lógica; la Clase 2, los roles y la idea de EXECUTE en vez de INSERT; hoy, los procedimientos.</a:t>
            </a:r>
          </a:p>
          <a:p>
            <a:r>
              <a:t>  • Clic 1: Después: la Clase 4 decide para cada regla si va en CHECK, trigger o aplicación; la 8 retoma quién confirma la transacción; la 12 consume estos procedimientos desde la aplicación.</a:t>
            </a:r>
          </a:p>
          <a:p/>
          <a:p>
            <a:r>
              <a:t>PASA A LA SIGUIENTE: Vamos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Hasta hoy la base guardaba datos y decidía quién los toca. Hoy empieza a contener comportamiento: un procedimiento almacenado que agenda una cita solo si la regla de negocio se cumple, y una forma ordenada de probar que la regla de verdad se cumple.</a:t>
            </a:r>
          </a:p>
          <a:p/>
          <a:p>
            <a:r>
              <a:t>CÓMO DARLA (≈4 min):</a:t>
            </a:r>
          </a:p>
          <a:p>
            <a:r>
              <a:t>  • Al entrar: Recuerda el cierre de la Clase 1: la FK acepta una cita para una mascota inactiva. Pregunta: «¿dónde ponemos esa regla para que ninguna pantalla se la salte?».</a:t>
            </a:r>
          </a:p>
          <a:p>
            <a:r>
              <a:t>  • Cierre del encuadre: «Hoy la escribimos dentro de la base, la hacemos abortar cuando no se cumple y demostramos con pruebas que funciona».</a:t>
            </a:r>
          </a:p>
          <a:p/>
          <a:p>
            <a:r>
              <a:t>CUIDADO: Todo el código de hoy es PL/pgSQL de PostgreSQL. Si alguien escribe IS, VARCHAR2 o la barra final de Oracle, el error es de sintaxis, no de lógica.</a:t>
            </a:r>
          </a:p>
          <a:p/>
          <a:p>
            <a:r>
              <a:t>PASA A LA SIGUIENTE: El recorrido de las dos horas.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Las dos horas en cinco tramos: encuadre, teoría con una lámina por concepto, demo en vivo, práctica opcional y cierre.</a:t>
            </a:r>
          </a:p>
          <a:p/>
          <a:p>
            <a:r>
              <a:t>CÓMO DARLA (≈1 min):</a:t>
            </a:r>
          </a:p>
          <a:p>
            <a:r>
              <a:t>  • Al entrar: Señala los tramos sin detenerte. La práctica tiene su guía en la carpeta de la clase y es opcional.</a:t>
            </a:r>
          </a:p>
          <a:p/>
          <a:p>
            <a:r>
              <a:t>PASA A LA SIGUIENTE: Qué es un procedimiento almacenado, en dos palabras.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Antes y después de poner la regla en un procedimiento: sin él, cada pantalla la reescribe a su manera; con él, vive una vez en la base y vale igual para la aplicación, un script de carga o soporte.</a:t>
            </a:r>
          </a:p>
          <a:p/>
          <a:p>
            <a:r>
              <a:t>CÓMO DARLA (≈2 min):</a:t>
            </a:r>
          </a:p>
          <a:p>
            <a:r>
              <a:t>  • Al entrar: Lee las dos columnas emparejadas, fila por fila: reescribir la regla en cada pantalla contra escribirla una vez; alguien la olvida contra todos la respetan; SQL armado con texto (inyección) contra parámetros tipados; cambiarla en N lugares contra cambiarla en uno.</a:t>
            </a:r>
          </a:p>
          <a:p/>
          <a:p>
            <a:r>
              <a:t>EJEMPLO: La regla «una mascota inactiva no agenda» escrita en la pantalla de agenda no protege una carga masiva desde un archivo; escrita en sp_agendar_cita, sí, si la carga usa el procedimiento.</a:t>
            </a:r>
          </a:p>
          <a:p/>
          <a:p>
            <a:r>
              <a:t>CUIDADO: La tercera fila (inyección) se explica completa dentro de unas láminas; aquí solo nómbrala.</a:t>
            </a:r>
          </a:p>
          <a:p/>
          <a:p>
            <a:r>
              <a:t>PASA A LA SIGUIENTE: Veamos cómo se escribe uno: el molde de PL/pgSQL.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procedimiento completo y pequeño: da de baja un insumo poniendo su stock en cero, después de comprobar que existe. Tiene todas las piezas del molde.</a:t>
            </a:r>
          </a:p>
          <a:p/>
          <a:p>
            <a:r>
              <a:t>CÓMO DARLA (≈2 min):</a:t>
            </a:r>
          </a:p>
          <a:p>
            <a:r>
              <a:t>  • Líneas 1-4: La firma: nombre y dos parámetros con su tipo (INT y VARCHAR). Los dos son IN, el modo por omisión.</a:t>
            </a:r>
          </a:p>
          <a:p>
            <a:r>
              <a:t>  • Líneas 5-6: LANGUAGE plpgsql y AS $proc$: aquí empieza el cuerpo.</a:t>
            </a:r>
          </a:p>
          <a:p>
            <a:r>
              <a:t>  • Líneas 7-8: DECLARE: la variable local v_stock.</a:t>
            </a:r>
          </a:p>
          <a:p>
            <a:r>
              <a:t>  • Líneas 10-13: SELECT ... INTO v_stock y, si no encontró fila, RAISE EXCEPTION con el id. Primero se valida.</a:t>
            </a:r>
          </a:p>
          <a:p>
            <a:r>
              <a:t>  • Líneas 14-16: Después se escribe: UPDATE del stock a cero y un RAISE NOTICE que informa sin abortar.</a:t>
            </a:r>
          </a:p>
          <a:p>
            <a:r>
              <a:t>  • Líneas 17-18: END; y $proc$; con su punto y coma.</a:t>
            </a:r>
          </a:p>
          <a:p/>
          <a:p>
            <a:r>
              <a:t>EJEMPLO: CALL sp_dar_de_baja_insumo(1, 'vencido'); imprime «Insumo 1 dado de baja (12 unidades): vencido». CALL sp_dar_de_baja_insumo(9999, 'inexistente'); responde «El insumo 9999 no existe».</a:t>
            </a:r>
          </a:p>
          <a:p/>
          <a:p>
            <a:r>
              <a:t>SI PREGUNTAN:</a:t>
            </a:r>
          </a:p>
          <a:p>
            <a:r>
              <a:t>  • «¿Qué diferencia hay entre RAISE NOTICE y RAISE EXCEPTION?» → NOTICE solo imprime un mensaje y el procedimiento sigue; EXCEPTION aborta y deshace lo que se había escrito.</a:t>
            </a:r>
          </a:p>
          <a:p/>
          <a:p>
            <a:r>
              <a:t>CUIDADO: La leyenda menciona $proc$: el código usa la misma etiqueta para que no parezcan dos sintaxis distintas.</a:t>
            </a:r>
          </a:p>
          <a:p/>
          <a:p>
            <a:r>
              <a:t>PASA A LA SIGUIENTE: Los parámetros tienen dirección, y eso decide cómo se devuelve un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regla que quedó pendiente en la Clase 1: una mascota inactiva no agenda. Un bloque DO la prueba con la mascota 3, Rocky, que existe pero está inactiva.</a:t>
            </a:r>
          </a:p>
          <a:p/>
          <a:p>
            <a:r>
              <a:t>CÓMO DARLA (≈2 min):</a:t>
            </a:r>
          </a:p>
          <a:p>
            <a:r>
              <a:t>  • Líneas 2-4: Un bloque DO, que se ejecuta una vez y no se guarda, con p_id_mascota = 3.</a:t>
            </a:r>
          </a:p>
          <a:p>
            <a:r>
              <a:t>  • Líneas 5-8: IF NOT EXISTS (mascota con ese id Y activa = 'S'): consulta OTRA tabla, que es justo lo que un CHECK no puede hacer. Si no existe tal fila, RAISE EXCEPTION.</a:t>
            </a:r>
          </a:p>
          <a:p>
            <a:r>
              <a:t>  • Línea 10: La salida real: ERROR: La mascota 3 no existe o esta inactiva.</a:t>
            </a:r>
          </a:p>
          <a:p>
            <a:r>
              <a:t>  • Líneas 12-14: Los comentarios: RAISE EXCEPTION no solo avisa, deshace; por eso se valida primero y se escribe después.</a:t>
            </a:r>
          </a:p>
          <a:p/>
          <a:p>
            <a:r>
              <a:t>EJEMPLO: Con p_id_mascota = 1 (Firulais, activa) el bloque termina sin mensaje: la condición del IF es falsa.</a:t>
            </a:r>
          </a:p>
          <a:p/>
          <a:p>
            <a:r>
              <a:t>SI PREGUNTAN:</a:t>
            </a:r>
          </a:p>
          <a:p>
            <a:r>
              <a:t>  • «¿Por qué un solo mensaje para «no existe» y «está inactiva»?» → Aquí se juntan para mostrar el mecanismo. En el procedimiento de la siguiente lámina se separan, porque la aplicación necesita distinguirlos.</a:t>
            </a:r>
          </a:p>
          <a:p/>
          <a:p>
            <a:r>
              <a:t>PASA A LA SIGUIENTE: El mismo mecanismo dentro del procedimiento real de la clínica.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procedimiento central de la clase, con su molde completo y sus tres validaciones: la mascota debe existir, debe estar activa y la franja del veterinario debe estar libre. Si alguna falla, el CALL aborta y no inserta nada.</a:t>
            </a:r>
          </a:p>
          <a:p/>
          <a:p>
            <a:r>
              <a:t>CÓMO DARLA (≈3 min):</a:t>
            </a:r>
          </a:p>
          <a:p>
            <a:r>
              <a:t>  • Líneas 1-2: Tres parámetros: mascota, veterinario y fecha_hora. id_cita no se pasa porque es SERIAL.</a:t>
            </a:r>
          </a:p>
          <a:p>
            <a:r>
              <a:t>  • Línea 3: LANGUAGE plpgsql AS $proc$: ni IS, ni VARCHAR2, ni barra final.</a:t>
            </a:r>
          </a:p>
          <a:p>
            <a:r>
              <a:t>  • Líneas 6-9: SELECT activa INTO v_activa y, enseguida, IF NOT FOUND: la mascota no existe.</a:t>
            </a:r>
          </a:p>
          <a:p>
            <a:r>
              <a:t>  • Líneas 10-12: IF v_activa &lt;&gt; 'S': la mascota está inactiva.</a:t>
            </a:r>
          </a:p>
          <a:p>
            <a:r>
              <a:t>  • Líneas 13-16: IF EXISTS una cita no cancelada del mismo veterinario a esa hora: la franja está ocupada. Una cita CANCELADA no cuenta, porque libera la franja.</a:t>
            </a:r>
          </a:p>
          <a:p>
            <a:r>
              <a:t>  • Líneas 17-19: Solo si las tres pasan, el INSERT con estado 'PROGRAMADA'.</a:t>
            </a:r>
          </a:p>
          <a:p/>
          <a:p>
            <a:r>
              <a:t>EJEMPLO: CALL sp_agendar_cita(1, 2, TIMESTAMP '2026-09-15 10:00:00') inserta; con la mascota 3 responde «ERROR: la mascota 3 esta inactiva», con la 99 «ERROR: la mascota 99 no existe», y CALL sp_agendar_cita(2, 1, TIMESTAMP '2026-09-01 08:00:00') «ERROR: el veterinario 1 ya tiene cita en 2026-09-01 08:00:00». Ninguno de los tres deja filas nuevas. El cliente muestra «ERROR:  ERROR: …» porque el mensaje ya trae la palabra ERROR.</a:t>
            </a:r>
          </a:p>
          <a:p/>
          <a:p>
            <a:r>
              <a:t>SI PREGUNTAN:</a:t>
            </a:r>
          </a:p>
          <a:p>
            <a:r>
              <a:t>  • «¿Por qué IF NOT FOUND va antes que el IF de activa?» → Porque un SELECT INTO sin filas no lanza error en PL/pgSQL: deja v_activa en NULL, y NULL &lt;&gt; 'S' no entra al IF. Sin NOT FOUND, el INSERT llega a la FK y sale un error técnico de clave foránea en vez del mensaje del contrato.</a:t>
            </a:r>
          </a:p>
          <a:p>
            <a:r>
              <a:t>  • «Si ya está el IF EXISTS, ¿para qué la restricción de unicidad?» → Porque el IF EXISTS es código: dos sesiones a la vez pueden pasar las dos la comprobación. La restricción la garantiza el motor; el IF EXISTS da el mensaje claro. El porqué completo es de la Clase 10.</a:t>
            </a:r>
          </a:p>
          <a:p/>
          <a:p>
            <a:r>
              <a:t>CUIDADO: La leyenda lo dice: con el mensaje en un parámetro OUT, el INSERT seguiría corriendo. El error se lanza, no se devuelve.</a:t>
            </a:r>
          </a:p>
          <a:p/>
          <a:p>
            <a:r>
              <a:t>PASA A LA SIGUIENTE: ¿Toda la lógica debe ir en la base? La respuesta honesta.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caso de error completo sobre el procedimiento del insumo: debe fallar, y debe fallar por la razón esperada. El resultado queda en la tabla, no en la pantalla.</a:t>
            </a:r>
          </a:p>
          <a:p/>
          <a:p>
            <a:r>
              <a:t>CÓMO DARLA (≈2 min):</a:t>
            </a:r>
          </a:p>
          <a:p>
            <a:r>
              <a:t>  • Líneas 2-4: El bloque DO llama con el insumo 9999, que no existe.</a:t>
            </a:r>
          </a:p>
          <a:p>
            <a:r>
              <a:t>  • Líneas 5-6: Si el CALL termina sin error, la prueba falló: se registra «no lanzo error» con paso FALSE.</a:t>
            </a:r>
          </a:p>
          <a:p>
            <a:r>
              <a:t>  • Líneas 7-11: Si cae en EXCEPTION, se registra SQLERRM (el texto del error) y paso es la comparación SQLERRM ILIKE '%no existe%': falló Y por lo esperado.</a:t>
            </a:r>
          </a:p>
          <a:p>
            <a:r>
              <a:t>  • Líneas 13-14: El SELECT final y su salida real: insumo 9999 | El insumo 9999 no existe | t.</a:t>
            </a:r>
          </a:p>
          <a:p/>
          <a:p>
            <a:r>
              <a:t>EJEMPLO: El caso OK se escribe al revés: si el CALL termina, se registra OK con paso TRUE; si cae en EXCEPTION, se registra SQLERRM con paso FALSE.</a:t>
            </a:r>
          </a:p>
          <a:p/>
          <a:p>
            <a:r>
              <a:t>SI PREGUNTAN:</a:t>
            </a:r>
          </a:p>
          <a:p>
            <a:r>
              <a:t>  • «¿Dónde está la tabla resultado_prueba?» → Se crea antes: resultado_prueba(id_prueba SERIAL, caso TEXT, esperado TEXT, obtenido TEXT, paso BOOLEAN).</a:t>
            </a:r>
          </a:p>
          <a:p/>
          <a:p>
            <a:r>
              <a:t>CUIDADO: Sin el ILIKE, un procedimiento roto (una columna mal escrita) también caería en EXCEPTION y la prueba saldría aprobada.</a:t>
            </a:r>
          </a:p>
          <a:p/>
          <a:p>
            <a:r>
              <a:t>PASA A LA SIGUIENTE: El molde general de un caso de error, y la prueba que nadie piensa.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molde de un caso de error invierte la lógica habitual: llegar al final sin excepción es el fallo. Y la batería se cierra con una prueba que nadie piensa: contar las citas antes y después.</a:t>
            </a:r>
          </a:p>
          <a:p/>
          <a:p>
            <a:r>
              <a:t>CÓMO DARLA (≈2 min):</a:t>
            </a:r>
          </a:p>
          <a:p>
            <a:r>
              <a:t>  • Al entrar: Recorre la imagen: el bloque DO con sus dos salidas (sin error, se registra «FALLO: no lanzó error»; con error, se registra SQLERRM), los cuatro casos y, abajo, el conteo de cita: 10 antes, 11 después.</a:t>
            </a:r>
          </a:p>
          <a:p/>
          <a:p>
            <a:r>
              <a:t>EJEMPLO: Si el conteo diera 14, los tres casos de error habrían dejado filas: el procedimiento se queja pero escribe igual.</a:t>
            </a:r>
          </a:p>
          <a:p/>
          <a:p>
            <a:r>
              <a:t>SI PREGUNTAN:</a:t>
            </a:r>
          </a:p>
          <a:p>
            <a:r>
              <a:t>  • «¿Por qué el conteo si ya tengo resultado_prueba?» → Porque la tabla prueba que el procedimiento se queja; el conteo prueba que el caso válido escribió y que los tres errores no dejaron basura.</a:t>
            </a:r>
          </a:p>
          <a:p/>
          <a:p>
            <a:r>
              <a:t>CUIDADO: El conteo depende de los datos: con los de práctica son 10 citas al empezar. Si la base ya tenía pruebas anteriores, se recrea antes de medir.</a:t>
            </a:r>
          </a:p>
          <a:p/>
          <a:p>
            <a:r>
              <a:t>PASA A LA SIGUIENTE: Falta la trampa más cara: qué significa la columna paso.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contrato de sp_agendar_cita, lleno. Lo que lo vuelve útil es que se puede copiar la llamada y programar la respuesta a cada error sin abrir el procedimiento.</a:t>
            </a:r>
          </a:p>
          <a:p/>
          <a:p>
            <a:r>
              <a:t>CÓMO DARLA (≈2 min):</a:t>
            </a:r>
          </a:p>
          <a:p>
            <a:r>
              <a:t>  • Al entrar: Recorre la tarjeta de arriba abajo: la firma con tipos; el CALL de ejemplo con la mascota 1, el veterinario 2 y el 15 de septiembre a las 10:00; las precondiciones; la postcondición con su «NADA cambia»; la tabla de errores (mensaje literal y qué hace la aplicación); y la decisión de diseño.</a:t>
            </a:r>
          </a:p>
          <a:p/>
          <a:p>
            <a:r>
              <a:t>EJEMPLO: Fila de la tabla de errores: «ERROR: la mascota 3 esta inactiva» → la aplicación avisa que hay que reactivar la mascota antes de agendar.</a:t>
            </a:r>
          </a:p>
          <a:p/>
          <a:p>
            <a:r>
              <a:t>SI PREGUNTAN:</a:t>
            </a:r>
          </a:p>
          <a:p>
            <a:r>
              <a:t>  • «¿El mensaje del tercer error tiene que ser ese?» → No: es el que cada uno escriba en su RAISE EXCEPTION. Lo que se exige es que el contrato y la batería usen exactamente el mismo texto.</a:t>
            </a:r>
          </a:p>
          <a:p/>
          <a:p>
            <a:r>
              <a:t>CUIDADO: Una paráfrasis en la tabla de errores rompe el contrato: la aplicación compara contra el texto exacto.</a:t>
            </a:r>
          </a:p>
          <a:p/>
          <a:p>
            <a:r>
              <a:t>PASA A LA SIGUIENTE: Una distinción que se dice hoy y no en la Clase 4: procedimiento y función.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función de una línea que cuenta las citas de un día y se usa dentro de un SELECT, y el error que da intentar lo mismo con un procedimiento.</a:t>
            </a:r>
          </a:p>
          <a:p/>
          <a:p>
            <a:r>
              <a:t>CÓMO DARLA (≈2 min):</a:t>
            </a:r>
          </a:p>
          <a:p>
            <a:r>
              <a:t>  • Líneas 2-8: CREATE FUNCTION con RETURNS INT y LANGUAGE sql: el cuerpo es una sola consulta. p_dia + 1 es el día siguiente, así que el rango es medio abierto: desde las 00:00 hasta antes de la medianoche.</a:t>
            </a:r>
          </a:p>
          <a:p>
            <a:r>
              <a:t>  • Línea 10: SELECT fn_citas_del_dia(DATE '2026-09-01'): con los datos de práctica devuelve 3.</a:t>
            </a:r>
          </a:p>
          <a:p>
            <a:r>
              <a:t>  • Líneas 12-14: SELECT de un procedimiento: «sp_dar_de_baja_insumo(integer, unknown) is a procedure».</a:t>
            </a:r>
          </a:p>
          <a:p/>
          <a:p>
            <a:r>
              <a:t>EJEMPLO: La función se puede usar en una lista de columnas: SELECT d::date, fn_citas_del_dia(d::date) FROM generate_series(DATE '2026-09-01', DATE '2026-09-03', INTERVAL '1 day') d;</a:t>
            </a:r>
          </a:p>
          <a:p/>
          <a:p>
            <a:r>
              <a:t>SI PREGUNTAN:</a:t>
            </a:r>
          </a:p>
          <a:p>
            <a:r>
              <a:t>  • «¿Una función tiene que ser LANGUAGE sql?» → No: puede ser plpgsql igual que un procedimiento. Esta es sql porque su cuerpo es una sola consulta.</a:t>
            </a:r>
          </a:p>
          <a:p/>
          <a:p>
            <a:r>
              <a:t>CUIDADO: «unknown» en el mensaje es el tipo del literal 'x' sin conversión: no es un error aparte.</a:t>
            </a:r>
          </a:p>
          <a:p/>
          <a:p>
            <a:r>
              <a:t>PASA A LA SIGUIENTE: La regla para decidir, en una sola pregunta.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decisión se toma con una sola pregunta: ¿el resultado tiene que entrar en una consulta? Si sí, es función. Si lo que se necesita es ejecutar pasos o manejar la transacción, es procedimiento.</a:t>
            </a:r>
          </a:p>
          <a:p/>
          <a:p>
            <a:r>
              <a:t>CÓMO DARLA (≈1 min):</a:t>
            </a:r>
          </a:p>
          <a:p>
            <a:r>
              <a:t>  • Al entrar: Recorre el árbol: la pregunta arriba, FUNCTION a la izquierda (RETURNS, SELECT nombre, fn_precio(especie) FROM mascota) y PROCEDURE a la derecha (CALL; el SELECT se rechaza). Abajo, los tres mitos tachados.</a:t>
            </a:r>
          </a:p>
          <a:p/>
          <a:p>
            <a:r>
              <a:t>EJEMPLO: Calcular el precio sugerido de una consulta según la especie, para mostrarlo en un listado: función que devuelve NUMERIC.</a:t>
            </a:r>
          </a:p>
          <a:p/>
          <a:p>
            <a:r>
              <a:t>SI PREGUNTAN:</a:t>
            </a:r>
          </a:p>
          <a:p>
            <a:r>
              <a:t>  • «¿Un OUT no hace que el procedimiento «devuelva» un valor?» → Devuelve valores a quien hace el CALL, pero sigue sin poder ir dentro de un SELECT. Devolver por OUT no es lo mismo que ser invocable en una consulta.</a:t>
            </a:r>
          </a:p>
          <a:p/>
          <a:p>
            <a:r>
              <a:t>PASA A LA SIGUIENTE: Cuando algo no funciona: depurar sin depurador.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junta lo de hoy: el procedimiento con sus validaciones, los CALL que abortan con su mensaje literal, la batería de pruebas en resultado_prueba y el conteo que demuestra que los errores no dejaron nada.</a:t>
            </a:r>
          </a:p>
          <a:p/>
          <a:p>
            <a:r>
              <a:t>CÓMO DARLA (≈15 min):</a:t>
            </a:r>
          </a:p>
          <a:p>
            <a:r>
              <a:t>  • Al entrar: 1) CREATE de sp_agendar_cita con las tres validaciones (4 min). 2) CALL con la mascota 1: cita creada; con la 3 y con la 99: lee cada mensaje en voz alta (3 min). 3) La batería: cuatro bloques DO y SELECT * FROM resultado_prueba ORDER BY id_prueba (5 min). 4) SELECT COUNT(*) FROM cita: de 10 a 11; y pg_get_functiondef para mostrar que quedó guardado (3 min).</a:t>
            </a:r>
          </a:p>
          <a:p/>
          <a:p>
            <a:r>
              <a:t>CUIDADO: Recrea los datos antes de la demo si ya hiciste pruebas: el conteo de 10 a 11 solo vale sobre la base recién sembrada.</a:t>
            </a:r>
          </a:p>
          <a:p/>
          <a:p>
            <a:r>
              <a:t>PASA A LA SIGUIENTE: Cierre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la regla «una mascota inactiva no agenda» ya no depende de que cada pantalla se acuerde. Vive en la base, aborta cuando no se cumple, está probada y tiene un contrato que cualquiera puede leer.</a:t>
            </a:r>
          </a:p>
          <a:p/>
          <a:p>
            <a:r>
              <a:t>CÓMO DARLA (≈3 min):</a:t>
            </a:r>
          </a:p>
          <a:p>
            <a:r>
              <a:t>  • Al entrar: Pregunta de salida: «¿por qué no basta con que el CREATE PROCEDURE no dé error?». Respuesta esperada: porque los nombres se revisan al ejecutar; la evidencia es el CALL y la batería.</a:t>
            </a:r>
          </a:p>
          <a:p/>
          <a:p>
            <a:r>
              <a:t>PASA A LA SIGUIENTE: La próxima clase: funciones, triggers y el plan para cuando algo salga mal.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Procedimientos almacenados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Logica de negocio dentro de la base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Procedimientos almacenados · la clínica</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Que es un procedimiento almacenado, y las dos palabras que importan · El molde de PL/pgSQL, y por que el cuerpo va entre signos de dolar · El molde de un procedimiento en PL/pgSQL · Los modos de parametro, y por que hoy no se usa OUT.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 procedimiento almacenado, y las dos palabras que importan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ue-es-procedi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que-es-procedi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que-es-procedimien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procedimiento almacenado</a:t>
            </a:r>
            <a:r>
              <a:rPr sz="2000" b="0" i="0">
                <a:solidFill>
                  <a:srgbClr val="333333"/>
                </a:solidFill>
                <a:latin typeface="Calibri"/>
              </a:rPr>
              <a:t> es un bloque de código con nombre que vive dentro de la base de datos.</a:t>
            </a:r>
          </a:p>
          <a:p>
            <a:pPr>
              <a:spcAft>
                <a:spcPts val="800"/>
              </a:spcAft>
            </a:pPr>
            <a:r>
              <a:rPr sz="2000" b="0" i="0">
                <a:solidFill>
                  <a:srgbClr val="333333"/>
                </a:solidFill>
                <a:latin typeface="Calibri"/>
              </a:rPr>
              <a:t>–   Está </a:t>
            </a:r>
            <a:r>
              <a:rPr sz="2000" b="1" i="0">
                <a:solidFill>
                  <a:srgbClr val="333333"/>
                </a:solidFill>
                <a:latin typeface="Calibri"/>
              </a:rPr>
              <a:t>guardado</a:t>
            </a:r>
            <a:r>
              <a:rPr sz="2000" b="0" i="0">
                <a:solidFill>
                  <a:srgbClr val="333333"/>
                </a:solidFill>
                <a:latin typeface="Calibri"/>
              </a:rPr>
              <a:t> en el catálogo del motor, no en el equipo de quien lo escribió.</a:t>
            </a:r>
          </a:p>
          <a:p>
            <a:pPr>
              <a:spcAft>
                <a:spcPts val="800"/>
              </a:spcAft>
            </a:pPr>
            <a:r>
              <a:rPr sz="2000" b="0" i="0">
                <a:solidFill>
                  <a:srgbClr val="333333"/>
                </a:solidFill>
                <a:latin typeface="Calibri"/>
              </a:rPr>
              <a:t>–   Se </a:t>
            </a:r>
            <a:r>
              <a:rPr sz="2000" b="1" i="0">
                <a:solidFill>
                  <a:srgbClr val="333333"/>
                </a:solidFill>
                <a:latin typeface="Calibri"/>
              </a:rPr>
              <a:t>invoca</a:t>
            </a:r>
            <a:r>
              <a:rPr sz="2000" b="0" i="0">
                <a:solidFill>
                  <a:srgbClr val="333333"/>
                </a:solidFill>
                <a:latin typeface="Calibri"/>
              </a:rPr>
              <a:t> con una línea, CALL, que dispara varias sentencias dentro del motor.</a:t>
            </a:r>
          </a:p>
          <a:p>
            <a:pPr>
              <a:spcAft>
                <a:spcPts val="800"/>
              </a:spcAft>
            </a:pPr>
            <a:r>
              <a:rPr sz="2000" b="0" i="0">
                <a:solidFill>
                  <a:srgbClr val="333333"/>
                </a:solidFill>
                <a:latin typeface="Calibri"/>
              </a:rPr>
              <a:t>–   La regla de negocio queda escrita </a:t>
            </a:r>
            <a:r>
              <a:rPr sz="2000" b="1" i="0">
                <a:solidFill>
                  <a:srgbClr val="333333"/>
                </a:solidFill>
                <a:latin typeface="Calibri"/>
              </a:rPr>
              <a:t>una vez</a:t>
            </a:r>
            <a:r>
              <a:rPr sz="2000" b="0" i="0">
                <a:solidFill>
                  <a:srgbClr val="333333"/>
                </a:solidFill>
                <a:latin typeface="Calibri"/>
              </a:rPr>
              <a:t> y todos los que llaman pasan por ella.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un procedimiento y no SQL en cada pantalla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regla de negocio vive en la base: vale igual para la app, un script de carga o soporte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Sin procedimiento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pantalla reescribe la regla a su manera</a:t>
            </a:r>
          </a:p>
          <a:p>
            <a:pPr>
              <a:spcAft>
                <a:spcPts val="800"/>
              </a:spcAft>
            </a:pPr>
            <a:r>
              <a:rPr sz="1500" b="0" i="0">
                <a:solidFill>
                  <a:srgbClr val="333333"/>
                </a:solidFill>
                <a:latin typeface="Calibri"/>
              </a:rPr>
              <a:t>–   Alguien la escribe distinta... o la olvida</a:t>
            </a:r>
          </a:p>
          <a:p>
            <a:pPr>
              <a:spcAft>
                <a:spcPts val="800"/>
              </a:spcAft>
            </a:pPr>
            <a:r>
              <a:rPr sz="1500" b="0" i="0">
                <a:solidFill>
                  <a:srgbClr val="333333"/>
                </a:solidFill>
                <a:latin typeface="Calibri"/>
              </a:rPr>
              <a:t>–   La app arma SQL con texto -&gt; inyeccion SQL</a:t>
            </a:r>
          </a:p>
          <a:p>
            <a:pPr>
              <a:spcAft>
                <a:spcPts val="800"/>
              </a:spcAft>
            </a:pPr>
            <a:r>
              <a:rPr sz="1500" b="0" i="0">
                <a:solidFill>
                  <a:srgbClr val="333333"/>
                </a:solidFill>
                <a:latin typeface="Calibri"/>
              </a:rPr>
              <a:t>–   Cambiar la regla = buscarla en N lugares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Con procedimiento</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regla vive UNA vez, dentro de la BD</a:t>
            </a:r>
          </a:p>
          <a:p>
            <a:pPr>
              <a:spcAft>
                <a:spcPts val="800"/>
              </a:spcAft>
            </a:pPr>
            <a:r>
              <a:rPr sz="1500" b="0" i="0">
                <a:solidFill>
                  <a:srgbClr val="333333"/>
                </a:solidFill>
                <a:latin typeface="Calibri"/>
              </a:rPr>
              <a:t>–   Toda la app la respeta sin excepcion</a:t>
            </a:r>
          </a:p>
          <a:p>
            <a:pPr>
              <a:spcAft>
                <a:spcPts val="800"/>
              </a:spcAft>
            </a:pPr>
            <a:r>
              <a:rPr sz="1500" b="0" i="0">
                <a:solidFill>
                  <a:srgbClr val="333333"/>
                </a:solidFill>
                <a:latin typeface="Calibri"/>
              </a:rPr>
              <a:t>–   Parametros tipados: sin concatenar texto</a:t>
            </a:r>
          </a:p>
          <a:p>
            <a:pPr>
              <a:spcAft>
                <a:spcPts val="800"/>
              </a:spcAft>
            </a:pPr>
            <a:r>
              <a:rPr sz="1500" b="0" i="0">
                <a:solidFill>
                  <a:srgbClr val="333333"/>
                </a:solidFill>
                <a:latin typeface="Calibri"/>
              </a:rPr>
              <a:t>–   Cambiar la regla = un solo lugar</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PL/pgSQL, y por que el cuerpo va entre signos de dolar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lde-plpgsq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lde-plpgsq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lde-plpgsq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molde es fijo: CREATE PROCEDURE, parámetros, </a:t>
            </a:r>
            <a:r>
              <a:rPr sz="2000" b="1" i="0">
                <a:solidFill>
                  <a:srgbClr val="333333"/>
                </a:solidFill>
                <a:latin typeface="Calibri"/>
              </a:rPr>
              <a:t>LANGUAGE plpgsql</a:t>
            </a:r>
            <a:r>
              <a:rPr sz="2000" b="0" i="0">
                <a:solidFill>
                  <a:srgbClr val="333333"/>
                </a:solidFill>
                <a:latin typeface="Calibri"/>
              </a:rPr>
              <a:t> y </a:t>
            </a:r>
            <a:r>
              <a:rPr sz="2000" b="1" i="0">
                <a:solidFill>
                  <a:srgbClr val="333333"/>
                </a:solidFill>
                <a:latin typeface="Calibri"/>
              </a:rPr>
              <a:t>AS</a:t>
            </a:r>
            <a:r>
              <a:rPr sz="2000" b="0" i="0">
                <a:solidFill>
                  <a:srgbClr val="333333"/>
                </a:solidFill>
                <a:latin typeface="Calibri"/>
              </a:rPr>
              <a:t> (en Oracle era IS).</a:t>
            </a:r>
          </a:p>
          <a:p>
            <a:pPr>
              <a:spcAft>
                <a:spcPts val="800"/>
              </a:spcAft>
            </a:pPr>
            <a:r>
              <a:rPr sz="2000" b="0" i="0">
                <a:solidFill>
                  <a:srgbClr val="333333"/>
                </a:solidFill>
                <a:latin typeface="Calibri"/>
              </a:rPr>
              <a:t>–   Para el motor el cuerpo es </a:t>
            </a:r>
            <a:r>
              <a:rPr sz="2000" b="1" i="0">
                <a:solidFill>
                  <a:srgbClr val="333333"/>
                </a:solidFill>
                <a:latin typeface="Calibri"/>
              </a:rPr>
              <a:t>una cadena</a:t>
            </a:r>
            <a:r>
              <a:rPr sz="2000" b="0" i="0">
                <a:solidFill>
                  <a:srgbClr val="333333"/>
                </a:solidFill>
                <a:latin typeface="Calibri"/>
              </a:rPr>
              <a:t>: va entre $proc$ para no duplicar comillas ni punto y coma.</a:t>
            </a:r>
          </a:p>
          <a:p>
            <a:pPr>
              <a:spcAft>
                <a:spcPts val="800"/>
              </a:spcAft>
            </a:pPr>
            <a:r>
              <a:rPr sz="2000" b="0" i="0">
                <a:solidFill>
                  <a:srgbClr val="333333"/>
                </a:solidFill>
                <a:latin typeface="Calibri"/>
              </a:rPr>
              <a:t>–   La etiqueta es libre: </a:t>
            </a:r>
            <a:r>
              <a:rPr sz="2000" b="1" i="0">
                <a:solidFill>
                  <a:srgbClr val="333333"/>
                </a:solidFill>
                <a:latin typeface="Calibri"/>
              </a:rPr>
              <a:t>$$</a:t>
            </a:r>
            <a:r>
              <a:rPr sz="2000" b="0" i="0">
                <a:solidFill>
                  <a:srgbClr val="333333"/>
                </a:solidFill>
                <a:latin typeface="Calibri"/>
              </a:rPr>
              <a:t> funciona igual, y con nombre se distinguen bloques anidados.</a:t>
            </a:r>
          </a:p>
          <a:p>
            <a:pPr>
              <a:spcAft>
                <a:spcPts val="800"/>
              </a:spcAft>
            </a:pPr>
            <a:r>
              <a:rPr sz="2000" b="0" i="0">
                <a:solidFill>
                  <a:srgbClr val="333333"/>
                </a:solidFill>
                <a:latin typeface="Calibri"/>
              </a:rPr>
              <a:t>–   Se cierra con </a:t>
            </a:r>
            <a:r>
              <a:rPr sz="2000" b="1" i="0">
                <a:solidFill>
                  <a:srgbClr val="333333"/>
                </a:solidFill>
                <a:latin typeface="Calibri"/>
              </a:rPr>
              <a:t>$proc$;</a:t>
            </a:r>
            <a:r>
              <a:rPr sz="2000" b="0" i="0">
                <a:solidFill>
                  <a:srgbClr val="333333"/>
                </a:solidFill>
                <a:latin typeface="Calibri"/>
              </a:rPr>
              <a:t>: el punto y coma es obligatorio y la barra de Oracle es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un procedimiento en PL/pgSQL</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569CD6"/>
                </a:solidFill>
                <a:latin typeface="Consolas"/>
              </a:rPr>
              <a:t>CREATE</a:t>
            </a:r>
            <a:r>
              <a:rPr sz="1200" i="0" b="0">
                <a:solidFill>
                  <a:srgbClr val="D4D4D4"/>
                </a:solidFill>
                <a:latin typeface="Consolas"/>
              </a:rPr>
              <a:t> </a:t>
            </a:r>
            <a:r>
              <a:rPr sz="1200" i="0" b="0">
                <a:solidFill>
                  <a:srgbClr val="569CD6"/>
                </a:solidFill>
                <a:latin typeface="Consolas"/>
              </a:rPr>
              <a:t>OR</a:t>
            </a:r>
            <a:r>
              <a:rPr sz="1200" i="0" b="0">
                <a:solidFill>
                  <a:srgbClr val="D4D4D4"/>
                </a:solidFill>
                <a:latin typeface="Consolas"/>
              </a:rPr>
              <a:t> </a:t>
            </a:r>
            <a:r>
              <a:rPr sz="1200" i="0" b="0">
                <a:solidFill>
                  <a:srgbClr val="569CD6"/>
                </a:solidFill>
                <a:latin typeface="Consolas"/>
              </a:rPr>
              <a:t>REPLACE</a:t>
            </a:r>
            <a:r>
              <a:rPr sz="1200" i="0" b="0">
                <a:solidFill>
                  <a:srgbClr val="D4D4D4"/>
                </a:solidFill>
                <a:latin typeface="Consolas"/>
              </a:rPr>
              <a:t> </a:t>
            </a:r>
            <a:r>
              <a:rPr sz="1200" i="0" b="0">
                <a:solidFill>
                  <a:srgbClr val="569CD6"/>
                </a:solidFill>
                <a:latin typeface="Consolas"/>
              </a:rPr>
              <a:t>PROCEDURE</a:t>
            </a:r>
            <a:r>
              <a:rPr sz="1200" i="0" b="0">
                <a:solidFill>
                  <a:srgbClr val="D4D4D4"/>
                </a:solidFill>
                <a:latin typeface="Consolas"/>
              </a:rPr>
              <a:t> </a:t>
            </a:r>
            <a:r>
              <a:rPr sz="1200" i="0" b="0">
                <a:solidFill>
                  <a:srgbClr val="DCDCAA"/>
                </a:solidFill>
                <a:latin typeface="Consolas"/>
              </a:rPr>
              <a:t>sp_dar_de_baja_insumo</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p_id_insumo</a:t>
            </a: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p_motivo</a:t>
            </a:r>
            <a:r>
              <a:rPr sz="1200" i="0" b="0">
                <a:solidFill>
                  <a:srgbClr val="D4D4D4"/>
                </a:solidFill>
                <a:latin typeface="Consolas"/>
              </a:rPr>
              <a:t>    </a:t>
            </a:r>
            <a:r>
              <a:rPr sz="1200" i="0" b="0">
                <a:solidFill>
                  <a:srgbClr val="4EC9B0"/>
                </a:solidFill>
                <a:latin typeface="Consolas"/>
              </a:rPr>
              <a:t>VARCHAR</a:t>
            </a:r>
          </a:p>
          <a:p>
            <a:pPr>
              <a:spcAft>
                <a:spcPts val="257"/>
              </a:spcAft>
            </a:pPr>
            <a:r>
              <a:rPr sz="1200" i="0" b="0">
                <a:solidFill>
                  <a:srgbClr val="D4D4D4"/>
                </a:solidFill>
                <a:latin typeface="Consolas"/>
              </a:rPr>
              <a:t>)</a:t>
            </a:r>
          </a:p>
          <a:p>
            <a:pPr>
              <a:spcAft>
                <a:spcPts val="257"/>
              </a:spcAft>
            </a:pPr>
            <a:r>
              <a:rPr sz="1200" i="0" b="0">
                <a:solidFill>
                  <a:srgbClr val="569CD6"/>
                </a:solidFill>
                <a:latin typeface="Consolas"/>
              </a:rPr>
              <a:t>LANGUAGE</a:t>
            </a:r>
            <a:r>
              <a:rPr sz="1200" i="0" b="0">
                <a:solidFill>
                  <a:srgbClr val="D4D4D4"/>
                </a:solidFill>
                <a:latin typeface="Consolas"/>
              </a:rPr>
              <a:t> </a:t>
            </a:r>
            <a:r>
              <a:rPr sz="1200" i="0" b="0">
                <a:solidFill>
                  <a:srgbClr val="569CD6"/>
                </a:solidFill>
                <a:latin typeface="Consolas"/>
              </a:rPr>
              <a:t>plpgsql</a:t>
            </a:r>
          </a:p>
          <a:p>
            <a:pPr>
              <a:spcAft>
                <a:spcPts val="257"/>
              </a:spcAft>
            </a:pPr>
            <a:r>
              <a:rPr sz="1200" i="0" b="0">
                <a:solidFill>
                  <a:srgbClr val="569CD6"/>
                </a:solidFill>
                <a:latin typeface="Consolas"/>
              </a:rPr>
              <a:t>AS</a:t>
            </a:r>
            <a:r>
              <a:rPr sz="1200" i="0" b="0">
                <a:solidFill>
                  <a:srgbClr val="D4D4D4"/>
                </a:solidFill>
                <a:latin typeface="Consolas"/>
              </a:rPr>
              <a:t> </a:t>
            </a:r>
            <a:r>
              <a:rPr sz="1200" i="0" b="0">
                <a:solidFill>
                  <a:srgbClr val="569CD6"/>
                </a:solidFill>
                <a:latin typeface="Consolas"/>
              </a:rPr>
              <a:t>$proc$</a:t>
            </a:r>
          </a:p>
          <a:p>
            <a:pPr>
              <a:spcAft>
                <a:spcPts val="257"/>
              </a:spcAft>
            </a:pPr>
            <a:r>
              <a:rPr sz="1200" i="0" b="0">
                <a:solidFill>
                  <a:srgbClr val="569CD6"/>
                </a:solidFill>
                <a:latin typeface="Consolas"/>
              </a:rPr>
              <a:t>DECLARE</a:t>
            </a:r>
          </a:p>
          <a:p>
            <a:pPr>
              <a:spcAft>
                <a:spcPts val="257"/>
              </a:spcAft>
            </a:pPr>
            <a:r>
              <a:rPr sz="1200" i="0" b="0">
                <a:solidFill>
                  <a:srgbClr val="D4D4D4"/>
                </a:solidFill>
                <a:latin typeface="Consolas"/>
              </a:rPr>
              <a:t>  </a:t>
            </a:r>
            <a:r>
              <a:rPr sz="1200" i="0" b="0">
                <a:solidFill>
                  <a:srgbClr val="D4D4D4"/>
                </a:solidFill>
                <a:latin typeface="Consolas"/>
              </a:rPr>
              <a:t>v_stock</a:t>
            </a: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a:t>
            </a:r>
          </a:p>
          <a:p>
            <a:pPr>
              <a:spcAft>
                <a:spcPts val="257"/>
              </a:spcAft>
            </a:pPr>
            <a:r>
              <a:rPr sz="1200" i="0" b="0">
                <a:solidFill>
                  <a:srgbClr val="569CD6"/>
                </a:solidFill>
                <a:latin typeface="Consolas"/>
              </a:rPr>
              <a:t>BEGIN</a:t>
            </a:r>
          </a:p>
          <a:p>
            <a:pPr>
              <a:spcAft>
                <a:spcPts val="257"/>
              </a:spcAft>
            </a:pPr>
            <a:r>
              <a:rPr sz="1200" i="0" b="0">
                <a:solidFill>
                  <a:srgbClr val="D4D4D4"/>
                </a:solidFill>
                <a:latin typeface="Consolas"/>
              </a:rPr>
              <a:t>  </a:t>
            </a:r>
            <a:r>
              <a:rPr sz="1200" i="0" b="0">
                <a:solidFill>
                  <a:srgbClr val="569CD6"/>
                </a:solidFill>
                <a:latin typeface="Consolas"/>
              </a:rPr>
              <a:t>SELECT</a:t>
            </a:r>
            <a:r>
              <a:rPr sz="1200" i="0" b="0">
                <a:solidFill>
                  <a:srgbClr val="D4D4D4"/>
                </a:solidFill>
                <a:latin typeface="Consolas"/>
              </a:rPr>
              <a:t> </a:t>
            </a:r>
            <a:r>
              <a:rPr sz="1200" i="0" b="0">
                <a:solidFill>
                  <a:srgbClr val="D4D4D4"/>
                </a:solidFill>
                <a:latin typeface="Consolas"/>
              </a:rPr>
              <a:t>stock</a:t>
            </a:r>
            <a:r>
              <a:rPr sz="1200" i="0" b="0">
                <a:solidFill>
                  <a:srgbClr val="D4D4D4"/>
                </a:solidFill>
                <a:latin typeface="Consolas"/>
              </a:rPr>
              <a:t> </a:t>
            </a:r>
            <a:r>
              <a:rPr sz="1200" i="0" b="0">
                <a:solidFill>
                  <a:srgbClr val="569CD6"/>
                </a:solidFill>
                <a:latin typeface="Consolas"/>
              </a:rPr>
              <a:t>INTO</a:t>
            </a:r>
            <a:r>
              <a:rPr sz="1200" i="0" b="0">
                <a:solidFill>
                  <a:srgbClr val="D4D4D4"/>
                </a:solidFill>
                <a:latin typeface="Consolas"/>
              </a:rPr>
              <a:t> </a:t>
            </a:r>
            <a:r>
              <a:rPr sz="1200" i="0" b="0">
                <a:solidFill>
                  <a:srgbClr val="D4D4D4"/>
                </a:solidFill>
                <a:latin typeface="Consolas"/>
              </a:rPr>
              <a:t>v_stock</a:t>
            </a:r>
            <a:r>
              <a:rPr sz="1200" i="0" b="0">
                <a:solidFill>
                  <a:srgbClr val="D4D4D4"/>
                </a:solidFill>
                <a:latin typeface="Consolas"/>
              </a:rPr>
              <a:t> </a:t>
            </a:r>
            <a:r>
              <a:rPr sz="1200" i="0" b="0">
                <a:solidFill>
                  <a:srgbClr val="569CD6"/>
                </a:solidFill>
                <a:latin typeface="Consolas"/>
              </a:rPr>
              <a:t>FROM</a:t>
            </a:r>
            <a:r>
              <a:rPr sz="1200" i="0" b="0">
                <a:solidFill>
                  <a:srgbClr val="D4D4D4"/>
                </a:solidFill>
                <a:latin typeface="Consolas"/>
              </a:rPr>
              <a:t> </a:t>
            </a:r>
            <a:r>
              <a:rPr sz="1200" i="0" b="0">
                <a:solidFill>
                  <a:srgbClr val="D4D4D4"/>
                </a:solidFill>
                <a:latin typeface="Consolas"/>
              </a:rPr>
              <a:t>insumo</a:t>
            </a:r>
            <a:r>
              <a:rPr sz="1200" i="0" b="0">
                <a:solidFill>
                  <a:srgbClr val="D4D4D4"/>
                </a:solidFill>
                <a:latin typeface="Consolas"/>
              </a:rPr>
              <a:t> </a:t>
            </a:r>
            <a:r>
              <a:rPr sz="1200" i="0" b="0">
                <a:solidFill>
                  <a:srgbClr val="569CD6"/>
                </a:solidFill>
                <a:latin typeface="Consolas"/>
              </a:rPr>
              <a:t>WHERE</a:t>
            </a:r>
            <a:r>
              <a:rPr sz="1200" i="0" b="0">
                <a:solidFill>
                  <a:srgbClr val="D4D4D4"/>
                </a:solidFill>
                <a:latin typeface="Consolas"/>
              </a:rPr>
              <a:t> </a:t>
            </a:r>
            <a:r>
              <a:rPr sz="1200" i="0" b="0">
                <a:solidFill>
                  <a:srgbClr val="D4D4D4"/>
                </a:solidFill>
                <a:latin typeface="Consolas"/>
              </a:rPr>
              <a:t>id_insumo</a:t>
            </a:r>
            <a:r>
              <a:rPr sz="1200" i="0" b="0">
                <a:solidFill>
                  <a:srgbClr val="D4D4D4"/>
                </a:solidFill>
                <a:latin typeface="Consolas"/>
              </a:rPr>
              <a:t> = </a:t>
            </a:r>
            <a:r>
              <a:rPr sz="1200" i="0" b="0">
                <a:solidFill>
                  <a:srgbClr val="D4D4D4"/>
                </a:solidFill>
                <a:latin typeface="Consolas"/>
              </a:rPr>
              <a:t>p_id_insumo</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569CD6"/>
                </a:solidFill>
                <a:latin typeface="Consolas"/>
              </a:rPr>
              <a:t>NOT</a:t>
            </a:r>
            <a:r>
              <a:rPr sz="1200" i="0" b="0">
                <a:solidFill>
                  <a:srgbClr val="D4D4D4"/>
                </a:solidFill>
                <a:latin typeface="Consolas"/>
              </a:rPr>
              <a:t> </a:t>
            </a:r>
            <a:r>
              <a:rPr sz="1200" i="0" b="0">
                <a:solidFill>
                  <a:srgbClr val="569CD6"/>
                </a:solidFill>
                <a:latin typeface="Consolas"/>
              </a:rPr>
              <a:t>FOUND</a:t>
            </a:r>
            <a:r>
              <a:rPr sz="1200" i="0" b="0">
                <a:solidFill>
                  <a:srgbClr val="D4D4D4"/>
                </a:solidFill>
                <a:latin typeface="Consolas"/>
              </a:rPr>
              <a:t> </a:t>
            </a:r>
            <a:r>
              <a:rPr sz="1200" i="0" b="0">
                <a:solidFill>
                  <a:srgbClr val="569CD6"/>
                </a:solidFill>
                <a:latin typeface="Consolas"/>
              </a:rPr>
              <a:t>THEN</a:t>
            </a:r>
          </a:p>
          <a:p>
            <a:pPr>
              <a:spcAft>
                <a:spcPts val="257"/>
              </a:spcAft>
            </a:pPr>
            <a:r>
              <a:rPr sz="1200" i="0" b="0">
                <a:solidFill>
                  <a:srgbClr val="D4D4D4"/>
                </a:solidFill>
                <a:latin typeface="Consolas"/>
              </a:rPr>
              <a:t>    </a:t>
            </a:r>
            <a:r>
              <a:rPr sz="1200" i="0" b="0">
                <a:solidFill>
                  <a:srgbClr val="569CD6"/>
                </a:solidFill>
                <a:latin typeface="Consolas"/>
              </a:rPr>
              <a:t>RAISE</a:t>
            </a:r>
            <a:r>
              <a:rPr sz="1200" i="0" b="0">
                <a:solidFill>
                  <a:srgbClr val="D4D4D4"/>
                </a:solidFill>
                <a:latin typeface="Consolas"/>
              </a:rPr>
              <a:t> </a:t>
            </a:r>
            <a:r>
              <a:rPr sz="1200" i="0" b="0">
                <a:solidFill>
                  <a:srgbClr val="569CD6"/>
                </a:solidFill>
                <a:latin typeface="Consolas"/>
              </a:rPr>
              <a:t>EXCEPTION</a:t>
            </a:r>
            <a:r>
              <a:rPr sz="1200" i="0" b="0">
                <a:solidFill>
                  <a:srgbClr val="D4D4D4"/>
                </a:solidFill>
                <a:latin typeface="Consolas"/>
              </a:rPr>
              <a:t> </a:t>
            </a:r>
            <a:r>
              <a:rPr sz="1200" i="0" b="0">
                <a:solidFill>
                  <a:srgbClr val="CE9178"/>
                </a:solidFill>
                <a:latin typeface="Consolas"/>
              </a:rPr>
              <a:t>'El insumo % no existe'</a:t>
            </a:r>
            <a:r>
              <a:rPr sz="1200" i="0" b="0">
                <a:solidFill>
                  <a:srgbClr val="D4D4D4"/>
                </a:solidFill>
                <a:latin typeface="Consolas"/>
              </a:rPr>
              <a:t>, </a:t>
            </a:r>
            <a:r>
              <a:rPr sz="1200" i="0" b="0">
                <a:solidFill>
                  <a:srgbClr val="D4D4D4"/>
                </a:solidFill>
                <a:latin typeface="Consolas"/>
              </a:rPr>
              <a:t>p_id_insumo</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END</a:t>
            </a: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UPDATE</a:t>
            </a:r>
            <a:r>
              <a:rPr sz="1200" i="0" b="0">
                <a:solidFill>
                  <a:srgbClr val="D4D4D4"/>
                </a:solidFill>
                <a:latin typeface="Consolas"/>
              </a:rPr>
              <a:t> </a:t>
            </a:r>
            <a:r>
              <a:rPr sz="1200" i="0" b="0">
                <a:solidFill>
                  <a:srgbClr val="D4D4D4"/>
                </a:solidFill>
                <a:latin typeface="Consolas"/>
              </a:rPr>
              <a:t>insumo</a:t>
            </a:r>
            <a:r>
              <a:rPr sz="1200" i="0" b="0">
                <a:solidFill>
                  <a:srgbClr val="D4D4D4"/>
                </a:solidFill>
                <a:latin typeface="Consolas"/>
              </a:rPr>
              <a:t> </a:t>
            </a:r>
            <a:r>
              <a:rPr sz="1200" i="0" b="0">
                <a:solidFill>
                  <a:srgbClr val="569CD6"/>
                </a:solidFill>
                <a:latin typeface="Consolas"/>
              </a:rPr>
              <a:t>SET</a:t>
            </a:r>
            <a:r>
              <a:rPr sz="1200" i="0" b="0">
                <a:solidFill>
                  <a:srgbClr val="D4D4D4"/>
                </a:solidFill>
                <a:latin typeface="Consolas"/>
              </a:rPr>
              <a:t> </a:t>
            </a:r>
            <a:r>
              <a:rPr sz="1200" i="0" b="0">
                <a:solidFill>
                  <a:srgbClr val="D4D4D4"/>
                </a:solidFill>
                <a:latin typeface="Consolas"/>
              </a:rPr>
              <a:t>stock</a:t>
            </a:r>
            <a:r>
              <a:rPr sz="1200" i="0" b="0">
                <a:solidFill>
                  <a:srgbClr val="D4D4D4"/>
                </a:solidFill>
                <a:latin typeface="Consolas"/>
              </a:rPr>
              <a:t> = </a:t>
            </a:r>
            <a:r>
              <a:rPr sz="1200" i="0" b="0">
                <a:solidFill>
                  <a:srgbClr val="B5CEA8"/>
                </a:solidFill>
                <a:latin typeface="Consolas"/>
              </a:rPr>
              <a:t>0</a:t>
            </a:r>
            <a:r>
              <a:rPr sz="1200" i="0" b="0">
                <a:solidFill>
                  <a:srgbClr val="D4D4D4"/>
                </a:solidFill>
                <a:latin typeface="Consolas"/>
              </a:rPr>
              <a:t> </a:t>
            </a:r>
            <a:r>
              <a:rPr sz="1200" i="0" b="0">
                <a:solidFill>
                  <a:srgbClr val="569CD6"/>
                </a:solidFill>
                <a:latin typeface="Consolas"/>
              </a:rPr>
              <a:t>WHERE</a:t>
            </a:r>
            <a:r>
              <a:rPr sz="1200" i="0" b="0">
                <a:solidFill>
                  <a:srgbClr val="D4D4D4"/>
                </a:solidFill>
                <a:latin typeface="Consolas"/>
              </a:rPr>
              <a:t> </a:t>
            </a:r>
            <a:r>
              <a:rPr sz="1200" i="0" b="0">
                <a:solidFill>
                  <a:srgbClr val="D4D4D4"/>
                </a:solidFill>
                <a:latin typeface="Consolas"/>
              </a:rPr>
              <a:t>id_insumo</a:t>
            </a:r>
            <a:r>
              <a:rPr sz="1200" i="0" b="0">
                <a:solidFill>
                  <a:srgbClr val="D4D4D4"/>
                </a:solidFill>
                <a:latin typeface="Consolas"/>
              </a:rPr>
              <a:t> = </a:t>
            </a:r>
            <a:r>
              <a:rPr sz="1200" i="0" b="0">
                <a:solidFill>
                  <a:srgbClr val="D4D4D4"/>
                </a:solidFill>
                <a:latin typeface="Consolas"/>
              </a:rPr>
              <a:t>p_id_insumo</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RAISE</a:t>
            </a:r>
            <a:r>
              <a:rPr sz="1200" i="0" b="0">
                <a:solidFill>
                  <a:srgbClr val="D4D4D4"/>
                </a:solidFill>
                <a:latin typeface="Consolas"/>
              </a:rPr>
              <a:t> </a:t>
            </a:r>
            <a:r>
              <a:rPr sz="1200" i="0" b="0">
                <a:solidFill>
                  <a:srgbClr val="569CD6"/>
                </a:solidFill>
                <a:latin typeface="Consolas"/>
              </a:rPr>
              <a:t>NOTICE</a:t>
            </a:r>
            <a:r>
              <a:rPr sz="1200" i="0" b="0">
                <a:solidFill>
                  <a:srgbClr val="D4D4D4"/>
                </a:solidFill>
                <a:latin typeface="Consolas"/>
              </a:rPr>
              <a:t> </a:t>
            </a:r>
            <a:r>
              <a:rPr sz="1200" i="0" b="0">
                <a:solidFill>
                  <a:srgbClr val="CE9178"/>
                </a:solidFill>
                <a:latin typeface="Consolas"/>
              </a:rPr>
              <a:t>'Insumo % dado de baja (% unidades): %'</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p_id_insumo</a:t>
            </a:r>
            <a:r>
              <a:rPr sz="1200" i="0" b="0">
                <a:solidFill>
                  <a:srgbClr val="D4D4D4"/>
                </a:solidFill>
                <a:latin typeface="Consolas"/>
              </a:rPr>
              <a:t>, </a:t>
            </a:r>
            <a:r>
              <a:rPr sz="1200" i="0" b="0">
                <a:solidFill>
                  <a:srgbClr val="D4D4D4"/>
                </a:solidFill>
                <a:latin typeface="Consolas"/>
              </a:rPr>
              <a:t>v_stock</a:t>
            </a:r>
            <a:r>
              <a:rPr sz="1200" i="0" b="0">
                <a:solidFill>
                  <a:srgbClr val="D4D4D4"/>
                </a:solidFill>
                <a:latin typeface="Consolas"/>
              </a:rPr>
              <a:t>, </a:t>
            </a:r>
            <a:r>
              <a:rPr sz="1200" i="0" b="0">
                <a:solidFill>
                  <a:srgbClr val="D4D4D4"/>
                </a:solidFill>
                <a:latin typeface="Consolas"/>
              </a:rPr>
              <a:t>p_motivo</a:t>
            </a:r>
            <a:r>
              <a:rPr sz="1200" i="0" b="0">
                <a:solidFill>
                  <a:srgbClr val="D4D4D4"/>
                </a:solidFill>
                <a:latin typeface="Consolas"/>
              </a:rPr>
              <a:t>;</a:t>
            </a:r>
          </a:p>
          <a:p>
            <a:pPr>
              <a:spcAft>
                <a:spcPts val="257"/>
              </a:spcAft>
            </a:pPr>
            <a:r>
              <a:rPr sz="1200" i="0" b="0">
                <a:solidFill>
                  <a:srgbClr val="569CD6"/>
                </a:solidFill>
                <a:latin typeface="Consolas"/>
              </a:rPr>
              <a:t>END</a:t>
            </a:r>
            <a:r>
              <a:rPr sz="1200" i="0" b="0">
                <a:solidFill>
                  <a:srgbClr val="D4D4D4"/>
                </a:solidFill>
                <a:latin typeface="Consolas"/>
              </a:rPr>
              <a:t>;</a:t>
            </a:r>
          </a:p>
          <a:p>
            <a:pPr>
              <a:spcAft>
                <a:spcPts val="257"/>
              </a:spcAft>
            </a:pPr>
            <a:r>
              <a:rPr sz="1200" i="0" b="0">
                <a:solidFill>
                  <a:srgbClr val="569CD6"/>
                </a:solidFill>
                <a:latin typeface="Consolas"/>
              </a:rPr>
              <a:t>$proc$</a:t>
            </a: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LANGUAGE plpgsql y el cuerpo entre $proc$: el motor guarda el procedimiento y cualquier cliente lo invoca con CALL. Un RAISE EXCEPTION aborta la llamada y deshace lo que alcanzo a escribir.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modos de parametro, y por que hoy no se usa OUT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os-para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os-para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os-para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a:t>
            </a:r>
            <a:r>
              <a:rPr sz="2000" b="1" i="0">
                <a:solidFill>
                  <a:srgbClr val="333333"/>
                </a:solidFill>
                <a:latin typeface="Calibri"/>
              </a:rPr>
              <a:t>modo</a:t>
            </a:r>
            <a:r>
              <a:rPr sz="2000" b="0" i="0">
                <a:solidFill>
                  <a:srgbClr val="333333"/>
                </a:solidFill>
                <a:latin typeface="Calibri"/>
              </a:rPr>
              <a:t> de un parámetro es la dirección del dato: IN entra, OUT sale, INOUT entra y sale.</a:t>
            </a:r>
          </a:p>
          <a:p>
            <a:pPr>
              <a:spcAft>
                <a:spcPts val="800"/>
              </a:spcAft>
            </a:pPr>
            <a:r>
              <a:rPr sz="2000" b="0" i="0">
                <a:solidFill>
                  <a:srgbClr val="333333"/>
                </a:solidFill>
                <a:latin typeface="Calibri"/>
              </a:rPr>
              <a:t>–   El modo </a:t>
            </a:r>
            <a:r>
              <a:rPr sz="2000" b="1" i="0">
                <a:solidFill>
                  <a:srgbClr val="333333"/>
                </a:solidFill>
                <a:latin typeface="Calibri"/>
              </a:rPr>
              <a:t>IN</a:t>
            </a:r>
            <a:r>
              <a:rPr sz="2000" b="0" i="0">
                <a:solidFill>
                  <a:srgbClr val="333333"/>
                </a:solidFill>
                <a:latin typeface="Calibri"/>
              </a:rPr>
              <a:t> es el de omisión y no se escribe: p_id_mascota INT ya es IN.</a:t>
            </a:r>
          </a:p>
          <a:p>
            <a:pPr>
              <a:spcAft>
                <a:spcPts val="800"/>
              </a:spcAft>
            </a:pPr>
            <a:r>
              <a:rPr sz="2000" b="0" i="0">
                <a:solidFill>
                  <a:srgbClr val="333333"/>
                </a:solidFill>
                <a:latin typeface="Calibri"/>
              </a:rPr>
              <a:t>–   Un error devuelto en un </a:t>
            </a:r>
            <a:r>
              <a:rPr sz="2000" b="1" i="0">
                <a:solidFill>
                  <a:srgbClr val="333333"/>
                </a:solidFill>
                <a:latin typeface="Calibri"/>
              </a:rPr>
              <a:t>OUT</a:t>
            </a:r>
            <a:r>
              <a:rPr sz="2000" b="0" i="0">
                <a:solidFill>
                  <a:srgbClr val="333333"/>
                </a:solidFill>
                <a:latin typeface="Calibri"/>
              </a:rPr>
              <a:t> se puede ignorar, y la fila ya quedó escrita.</a:t>
            </a:r>
          </a:p>
          <a:p>
            <a:pPr>
              <a:spcAft>
                <a:spcPts val="800"/>
              </a:spcAft>
            </a:pPr>
            <a:r>
              <a:rPr sz="2000" b="0" i="0">
                <a:solidFill>
                  <a:srgbClr val="333333"/>
                </a:solidFill>
                <a:latin typeface="Calibri"/>
              </a:rPr>
              <a:t>–   Con </a:t>
            </a:r>
            <a:r>
              <a:rPr sz="2000" b="1" i="0">
                <a:solidFill>
                  <a:srgbClr val="333333"/>
                </a:solidFill>
                <a:latin typeface="Calibri"/>
              </a:rPr>
              <a:t>RAISE EXCEPTION</a:t>
            </a:r>
            <a:r>
              <a:rPr sz="2000" b="0" i="0">
                <a:solidFill>
                  <a:srgbClr val="333333"/>
                </a:solidFill>
                <a:latin typeface="Calibri"/>
              </a:rPr>
              <a:t> el motor devuelve un fallo que no se ignora, y nada queda escrito.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RAISE EXCEPTION: la validacion que aborta y deshace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aise-abor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aise-abor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aise-abor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RAISE EXCEPTION</a:t>
            </a:r>
            <a:r>
              <a:rPr sz="2000" b="0" i="0">
                <a:solidFill>
                  <a:srgbClr val="333333"/>
                </a:solidFill>
                <a:latin typeface="Calibri"/>
              </a:rPr>
              <a:t> convierte una consulta con nombre en una regla que el motor hace cumplir.</a:t>
            </a:r>
          </a:p>
          <a:p>
            <a:pPr>
              <a:spcAft>
                <a:spcPts val="800"/>
              </a:spcAft>
            </a:pPr>
            <a:r>
              <a:rPr sz="2000" b="0" i="0">
                <a:solidFill>
                  <a:srgbClr val="333333"/>
                </a:solidFill>
                <a:latin typeface="Calibri"/>
              </a:rPr>
              <a:t>–   Cada </a:t>
            </a:r>
            <a:r>
              <a:rPr sz="2000" b="1" i="0">
                <a:solidFill>
                  <a:srgbClr val="333333"/>
                </a:solidFill>
                <a:latin typeface="Calibri"/>
              </a:rPr>
              <a:t>%</a:t>
            </a:r>
            <a:r>
              <a:rPr sz="2000" b="0" i="0">
                <a:solidFill>
                  <a:srgbClr val="333333"/>
                </a:solidFill>
                <a:latin typeface="Calibri"/>
              </a:rPr>
              <a:t> del mensaje se reemplaza, en orden, por lo que sigue a la coma; %% imprime un porcentaje.</a:t>
            </a:r>
          </a:p>
          <a:p>
            <a:pPr>
              <a:spcAft>
                <a:spcPts val="800"/>
              </a:spcAft>
            </a:pPr>
            <a:r>
              <a:rPr sz="2000" b="0" i="0">
                <a:solidFill>
                  <a:srgbClr val="333333"/>
                </a:solidFill>
                <a:latin typeface="Calibri"/>
              </a:rPr>
              <a:t>–   La excepción </a:t>
            </a:r>
            <a:r>
              <a:rPr sz="2000" b="1" i="0">
                <a:solidFill>
                  <a:srgbClr val="333333"/>
                </a:solidFill>
                <a:latin typeface="Calibri"/>
              </a:rPr>
              <a:t>aborta</a:t>
            </a:r>
            <a:r>
              <a:rPr sz="2000" b="0" i="0">
                <a:solidFill>
                  <a:srgbClr val="333333"/>
                </a:solidFill>
                <a:latin typeface="Calibri"/>
              </a:rPr>
              <a:t> la llamada y deshace todo lo que ya se había escrito.</a:t>
            </a:r>
          </a:p>
          <a:p>
            <a:pPr>
              <a:spcAft>
                <a:spcPts val="800"/>
              </a:spcAft>
            </a:pPr>
            <a:r>
              <a:rPr sz="2000" b="0" i="0">
                <a:solidFill>
                  <a:srgbClr val="333333"/>
                </a:solidFill>
                <a:latin typeface="Calibri"/>
              </a:rPr>
              <a:t>–   El mensaje es </a:t>
            </a:r>
            <a:r>
              <a:rPr sz="2000" b="1" i="0">
                <a:solidFill>
                  <a:srgbClr val="333333"/>
                </a:solidFill>
                <a:latin typeface="Calibri"/>
              </a:rPr>
              <a:t>interfaz</a:t>
            </a:r>
            <a:r>
              <a:rPr sz="2000" b="0" i="0">
                <a:solidFill>
                  <a:srgbClr val="333333"/>
                </a:solidFill>
                <a:latin typeface="Calibri"/>
              </a:rPr>
              <a:t>: lo lee quien usa la aplicación y lo verifican las pruebas.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RAISE EXCEPTION en accion: la mascota inactiva</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1" b="0">
                <a:solidFill>
                  <a:srgbClr val="6A9955"/>
                </a:solidFill>
                <a:latin typeface="Consolas"/>
              </a:rPr>
              <a:t>-- La regla que la FK no puede defender: validar contra OTRA tabla.</a:t>
            </a:r>
          </a:p>
          <a:p>
            <a:pPr>
              <a:spcAft>
                <a:spcPts val="385"/>
              </a:spcAft>
            </a:pPr>
            <a:r>
              <a:rPr sz="1800" i="0" b="0">
                <a:solidFill>
                  <a:srgbClr val="569CD6"/>
                </a:solidFill>
                <a:latin typeface="Consolas"/>
              </a:rPr>
              <a:t>DO</a:t>
            </a:r>
            <a:r>
              <a:rPr sz="1800" i="0" b="0">
                <a:solidFill>
                  <a:srgbClr val="D4D4D4"/>
                </a:solidFill>
                <a:latin typeface="Consolas"/>
              </a:rPr>
              <a:t> </a:t>
            </a:r>
            <a:r>
              <a:rPr sz="1800" i="0" b="0">
                <a:solidFill>
                  <a:srgbClr val="569CD6"/>
                </a:solidFill>
                <a:latin typeface="Consolas"/>
              </a:rPr>
              <a:t>$$</a:t>
            </a:r>
          </a:p>
          <a:p>
            <a:pPr>
              <a:spcAft>
                <a:spcPts val="385"/>
              </a:spcAft>
            </a:pPr>
            <a:r>
              <a:rPr sz="1800" i="0" b="0">
                <a:solidFill>
                  <a:srgbClr val="569CD6"/>
                </a:solidFill>
                <a:latin typeface="Consolas"/>
              </a:rPr>
              <a:t>DECLARE</a:t>
            </a:r>
            <a:r>
              <a:rPr sz="1800" i="0" b="0">
                <a:solidFill>
                  <a:srgbClr val="D4D4D4"/>
                </a:solidFill>
                <a:latin typeface="Consolas"/>
              </a:rPr>
              <a:t> </a:t>
            </a:r>
            <a:r>
              <a:rPr sz="1800" i="0" b="0">
                <a:solidFill>
                  <a:srgbClr val="D4D4D4"/>
                </a:solidFill>
                <a:latin typeface="Consolas"/>
              </a:rPr>
              <a:t>p_id_mascota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 </a:t>
            </a:r>
            <a:r>
              <a:rPr sz="1800" i="0" b="0">
                <a:solidFill>
                  <a:srgbClr val="B5CEA8"/>
                </a:solidFill>
                <a:latin typeface="Consolas"/>
              </a:rPr>
              <a:t>3</a:t>
            </a:r>
            <a:r>
              <a:rPr sz="1800" i="0" b="0">
                <a:solidFill>
                  <a:srgbClr val="D4D4D4"/>
                </a:solidFill>
                <a:latin typeface="Consolas"/>
              </a:rPr>
              <a:t>;   </a:t>
            </a:r>
            <a:r>
              <a:rPr sz="1800" i="1" b="0">
                <a:solidFill>
                  <a:srgbClr val="6A9955"/>
                </a:solidFill>
                <a:latin typeface="Consolas"/>
              </a:rPr>
              <a:t>-- existe, pero esta inactiva</a:t>
            </a:r>
          </a:p>
          <a:p>
            <a:pPr>
              <a:spcAft>
                <a:spcPts val="385"/>
              </a:spcAft>
            </a:pPr>
            <a:r>
              <a:rPr sz="1800" i="0" b="0">
                <a:solidFill>
                  <a:srgbClr val="569CD6"/>
                </a:solidFill>
                <a:latin typeface="Consolas"/>
              </a:rPr>
              <a:t>BEGIN</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EXISTS</a:t>
            </a:r>
            <a:r>
              <a:rPr sz="1800" i="0" b="0">
                <a:solidFill>
                  <a:srgbClr val="D4D4D4"/>
                </a:solidFill>
                <a:latin typeface="Consolas"/>
              </a:rPr>
              <a:t> (</a:t>
            </a:r>
            <a:r>
              <a:rPr sz="1800" i="0" b="0">
                <a:solidFill>
                  <a:srgbClr val="569CD6"/>
                </a:solidFill>
                <a:latin typeface="Consolas"/>
              </a:rPr>
              <a:t>SELECT</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mascota</a:t>
            </a:r>
          </a:p>
          <a:p>
            <a:pPr>
              <a:spcAft>
                <a:spcPts val="385"/>
              </a:spcAft>
            </a:pP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id_mascota</a:t>
            </a:r>
            <a:r>
              <a:rPr sz="1800" i="0" b="0">
                <a:solidFill>
                  <a:srgbClr val="D4D4D4"/>
                </a:solidFill>
                <a:latin typeface="Consolas"/>
              </a:rPr>
              <a:t> = </a:t>
            </a:r>
            <a:r>
              <a:rPr sz="1800" i="0" b="0">
                <a:solidFill>
                  <a:srgbClr val="D4D4D4"/>
                </a:solidFill>
                <a:latin typeface="Consolas"/>
              </a:rPr>
              <a:t>p_id_mascota</a:t>
            </a:r>
            <a:r>
              <a:rPr sz="1800" i="0" b="0">
                <a:solidFill>
                  <a:srgbClr val="D4D4D4"/>
                </a:solidFill>
                <a:latin typeface="Consolas"/>
              </a:rPr>
              <a:t> </a:t>
            </a:r>
            <a:r>
              <a:rPr sz="1800" i="0" b="0">
                <a:solidFill>
                  <a:srgbClr val="569CD6"/>
                </a:solidFill>
                <a:latin typeface="Consolas"/>
              </a:rPr>
              <a:t>AND</a:t>
            </a:r>
            <a:r>
              <a:rPr sz="1800" i="0" b="0">
                <a:solidFill>
                  <a:srgbClr val="D4D4D4"/>
                </a:solidFill>
                <a:latin typeface="Consolas"/>
              </a:rPr>
              <a:t> </a:t>
            </a:r>
            <a:r>
              <a:rPr sz="1800" i="0" b="0">
                <a:solidFill>
                  <a:srgbClr val="D4D4D4"/>
                </a:solidFill>
                <a:latin typeface="Consolas"/>
              </a:rPr>
              <a:t>activa</a:t>
            </a:r>
            <a:r>
              <a:rPr sz="1800" i="0" b="0">
                <a:solidFill>
                  <a:srgbClr val="D4D4D4"/>
                </a:solidFill>
                <a:latin typeface="Consolas"/>
              </a:rPr>
              <a:t> = </a:t>
            </a:r>
            <a:r>
              <a:rPr sz="1800" i="0" b="0">
                <a:solidFill>
                  <a:srgbClr val="CE9178"/>
                </a:solidFill>
                <a:latin typeface="Consolas"/>
              </a:rPr>
              <a:t>'S'</a:t>
            </a:r>
            <a:r>
              <a:rPr sz="1800" i="0" b="0">
                <a:solidFill>
                  <a:srgbClr val="D4D4D4"/>
                </a:solidFill>
                <a:latin typeface="Consolas"/>
              </a:rPr>
              <a:t>) </a:t>
            </a:r>
            <a:r>
              <a:rPr sz="1800" i="0" b="0">
                <a:solidFill>
                  <a:srgbClr val="569CD6"/>
                </a:solidFill>
                <a:latin typeface="Consolas"/>
              </a:rPr>
              <a:t>THEN</a:t>
            </a:r>
          </a:p>
          <a:p>
            <a:pPr>
              <a:spcAft>
                <a:spcPts val="385"/>
              </a:spcAft>
            </a:pPr>
            <a:r>
              <a:rPr sz="1800" i="0" b="0">
                <a:solidFill>
                  <a:srgbClr val="D4D4D4"/>
                </a:solidFill>
                <a:latin typeface="Consolas"/>
              </a:rPr>
              <a:t>    </a:t>
            </a:r>
            <a:r>
              <a:rPr sz="1800" i="0" b="0">
                <a:solidFill>
                  <a:srgbClr val="569CD6"/>
                </a:solidFill>
                <a:latin typeface="Consolas"/>
              </a:rPr>
              <a:t>RAISE</a:t>
            </a:r>
            <a:r>
              <a:rPr sz="1800" i="0" b="0">
                <a:solidFill>
                  <a:srgbClr val="D4D4D4"/>
                </a:solidFill>
                <a:latin typeface="Consolas"/>
              </a:rPr>
              <a:t> </a:t>
            </a:r>
            <a:r>
              <a:rPr sz="1800" i="0" b="0">
                <a:solidFill>
                  <a:srgbClr val="569CD6"/>
                </a:solidFill>
                <a:latin typeface="Consolas"/>
              </a:rPr>
              <a:t>EXCEPTION</a:t>
            </a:r>
            <a:r>
              <a:rPr sz="1800" i="0" b="0">
                <a:solidFill>
                  <a:srgbClr val="D4D4D4"/>
                </a:solidFill>
                <a:latin typeface="Consolas"/>
              </a:rPr>
              <a:t> </a:t>
            </a:r>
            <a:r>
              <a:rPr sz="1800" i="0" b="0">
                <a:solidFill>
                  <a:srgbClr val="CE9178"/>
                </a:solidFill>
                <a:latin typeface="Consolas"/>
              </a:rPr>
              <a:t>'La mascota % no existe o esta inactiva'</a:t>
            </a:r>
            <a:r>
              <a:rPr sz="1800" i="0" b="0">
                <a:solidFill>
                  <a:srgbClr val="D4D4D4"/>
                </a:solidFill>
                <a:latin typeface="Consolas"/>
              </a:rPr>
              <a:t>, </a:t>
            </a:r>
            <a:r>
              <a:rPr sz="1800" i="0" b="0">
                <a:solidFill>
                  <a:srgbClr val="D4D4D4"/>
                </a:solidFill>
                <a:latin typeface="Consolas"/>
              </a:rPr>
              <a:t>p_id_mascota</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END</a:t>
            </a: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a:t>
            </a:r>
          </a:p>
          <a:p>
            <a:pPr>
              <a:spcAft>
                <a:spcPts val="385"/>
              </a:spcAft>
            </a:pPr>
            <a:r>
              <a:rPr sz="1800" i="0" b="0">
                <a:solidFill>
                  <a:srgbClr val="569CD6"/>
                </a:solidFill>
                <a:latin typeface="Consolas"/>
              </a:rPr>
              <a:t>END</a:t>
            </a:r>
            <a:r>
              <a:rPr sz="1800" i="0" b="0">
                <a:solidFill>
                  <a:srgbClr val="D4D4D4"/>
                </a:solidFill>
                <a:latin typeface="Consolas"/>
              </a:rPr>
              <a:t> </a:t>
            </a:r>
            <a:r>
              <a:rPr sz="1800" i="0" b="0">
                <a:solidFill>
                  <a:srgbClr val="569CD6"/>
                </a:solidFill>
                <a:latin typeface="Consolas"/>
              </a:rPr>
              <a:t>$$</a:t>
            </a:r>
            <a:r>
              <a:rPr sz="1800" i="0" b="0">
                <a:solidFill>
                  <a:srgbClr val="D4D4D4"/>
                </a:solidFill>
                <a:latin typeface="Consolas"/>
              </a:rPr>
              <a:t>;</a:t>
            </a:r>
          </a:p>
          <a:p>
            <a:pPr>
              <a:spcAft>
                <a:spcPts val="385"/>
              </a:spcAft>
            </a:pPr>
            <a:r>
              <a:rPr sz="1800" i="1" b="0">
                <a:solidFill>
                  <a:srgbClr val="6A9955"/>
                </a:solidFill>
                <a:latin typeface="Consolas"/>
              </a:rPr>
              <a:t>-- ERROR:  La mascota 3 no existe o esta inactiva</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Lo que hay que subrayar: RAISE EXCEPTION no solo avisa, DESHACE.</a:t>
            </a:r>
          </a:p>
          <a:p>
            <a:pPr>
              <a:spcAft>
                <a:spcPts val="385"/>
              </a:spcAft>
            </a:pPr>
            <a:r>
              <a:rPr sz="1800" i="1" b="0">
                <a:solidFill>
                  <a:srgbClr val="6A9955"/>
                </a:solidFill>
                <a:latin typeface="Consolas"/>
              </a:rPr>
              <a:t>-- Todo lo que el procedimiento haya escrito antes se revierte.</a:t>
            </a:r>
          </a:p>
          <a:p>
            <a:pPr>
              <a:spcAft>
                <a:spcPts val="385"/>
              </a:spcAft>
            </a:pPr>
            <a:r>
              <a:rPr sz="1800" i="1" b="0">
                <a:solidFill>
                  <a:srgbClr val="6A9955"/>
                </a:solidFill>
                <a:latin typeface="Consolas"/>
              </a:rPr>
              <a:t>-- Por eso el orden natural es: validar primero, escribir despues.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PL/pgSQL y la validacion que aborta</a:t>
            </a:r>
          </a:p>
        </p:txBody>
      </p:sp>
      <p:sp>
        <p:nvSpPr>
          <p:cNvPr id="5" name="Rounded Rectangle 4"/>
          <p:cNvSpPr/>
          <p:nvPr/>
        </p:nvSpPr>
        <p:spPr>
          <a:xfrm>
            <a:off x="457200" y="1261872"/>
            <a:ext cx="11277295" cy="47031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108792"/>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p:txBody>
      </p:sp>
      <p:sp>
        <p:nvSpPr>
          <p:cNvPr id="12" name="TextBox 11"/>
          <p:cNvSpPr txBox="1"/>
          <p:nvPr/>
        </p:nvSpPr>
        <p:spPr>
          <a:xfrm>
            <a:off x="1188720" y="1719072"/>
            <a:ext cx="10271455" cy="4108792"/>
          </a:xfrm>
          <a:prstGeom prst="rect">
            <a:avLst/>
          </a:prstGeom>
          <a:noFill/>
        </p:spPr>
        <p:txBody>
          <a:bodyPr wrap="square">
            <a:spAutoFit/>
          </a:bodyPr>
          <a:lstStyle/>
          <a:p>
            <a:pPr>
              <a:spcAft>
                <a:spcPts val="235"/>
              </a:spcAft>
            </a:pPr>
            <a:r>
              <a:rPr sz="1100" i="0" b="0">
                <a:solidFill>
                  <a:srgbClr val="569CD6"/>
                </a:solidFill>
                <a:latin typeface="Consolas"/>
              </a:rPr>
              <a:t>CREATE</a:t>
            </a:r>
            <a:r>
              <a:rPr sz="1100" i="0" b="0">
                <a:solidFill>
                  <a:srgbClr val="D4D4D4"/>
                </a:solidFill>
                <a:latin typeface="Consolas"/>
              </a:rPr>
              <a:t> </a:t>
            </a:r>
            <a:r>
              <a:rPr sz="1100" i="0" b="0">
                <a:solidFill>
                  <a:srgbClr val="569CD6"/>
                </a:solidFill>
                <a:latin typeface="Consolas"/>
              </a:rPr>
              <a:t>OR</a:t>
            </a:r>
            <a:r>
              <a:rPr sz="1100" i="0" b="0">
                <a:solidFill>
                  <a:srgbClr val="D4D4D4"/>
                </a:solidFill>
                <a:latin typeface="Consolas"/>
              </a:rPr>
              <a:t> </a:t>
            </a:r>
            <a:r>
              <a:rPr sz="1100" i="0" b="0">
                <a:solidFill>
                  <a:srgbClr val="569CD6"/>
                </a:solidFill>
                <a:latin typeface="Consolas"/>
              </a:rPr>
              <a:t>REPLACE</a:t>
            </a:r>
            <a:r>
              <a:rPr sz="1100" i="0" b="0">
                <a:solidFill>
                  <a:srgbClr val="D4D4D4"/>
                </a:solidFill>
                <a:latin typeface="Consolas"/>
              </a:rPr>
              <a:t> </a:t>
            </a:r>
            <a:r>
              <a:rPr sz="1100" i="0" b="0">
                <a:solidFill>
                  <a:srgbClr val="569CD6"/>
                </a:solidFill>
                <a:latin typeface="Consolas"/>
              </a:rPr>
              <a:t>PROCEDURE</a:t>
            </a:r>
            <a:r>
              <a:rPr sz="1100" i="0" b="0">
                <a:solidFill>
                  <a:srgbClr val="D4D4D4"/>
                </a:solidFill>
                <a:latin typeface="Consolas"/>
              </a:rPr>
              <a:t> </a:t>
            </a:r>
            <a:r>
              <a:rPr sz="1100" i="0" b="0">
                <a:solidFill>
                  <a:srgbClr val="DCDCAA"/>
                </a:solidFill>
                <a:latin typeface="Consolas"/>
              </a:rPr>
              <a:t>sp_agendar_cita</a:t>
            </a:r>
            <a:r>
              <a:rPr sz="1100" i="0" b="0">
                <a:solidFill>
                  <a:srgbClr val="D4D4D4"/>
                </a:solidFill>
                <a:latin typeface="Consolas"/>
              </a:rPr>
              <a:t>(</a:t>
            </a:r>
            <a:r>
              <a:rPr sz="1100" i="0" b="0">
                <a:solidFill>
                  <a:srgbClr val="D4D4D4"/>
                </a:solidFill>
                <a:latin typeface="Consolas"/>
              </a:rPr>
              <a:t>p_id_mascota</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p_id_veterinario</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p_fecha_hora</a:t>
            </a:r>
            <a:r>
              <a:rPr sz="1100" i="0" b="0">
                <a:solidFill>
                  <a:srgbClr val="D4D4D4"/>
                </a:solidFill>
                <a:latin typeface="Consolas"/>
              </a:rPr>
              <a:t> </a:t>
            </a:r>
            <a:r>
              <a:rPr sz="1100" i="0" b="0">
                <a:solidFill>
                  <a:srgbClr val="4EC9B0"/>
                </a:solidFill>
                <a:latin typeface="Consolas"/>
              </a:rPr>
              <a:t>TIMESTAMP</a:t>
            </a:r>
            <a:r>
              <a:rPr sz="1100" i="0" b="0">
                <a:solidFill>
                  <a:srgbClr val="D4D4D4"/>
                </a:solidFill>
                <a:latin typeface="Consolas"/>
              </a:rPr>
              <a:t>)  </a:t>
            </a:r>
            <a:r>
              <a:rPr sz="1100" i="1" b="0">
                <a:solidFill>
                  <a:srgbClr val="6A9955"/>
                </a:solidFill>
                <a:latin typeface="Consolas"/>
              </a:rPr>
              <a:t>-- id_cita es SERIAL: no se pasa</a:t>
            </a:r>
          </a:p>
          <a:p>
            <a:pPr>
              <a:spcAft>
                <a:spcPts val="235"/>
              </a:spcAft>
            </a:pPr>
            <a:r>
              <a:rPr sz="1100" i="0" b="0">
                <a:solidFill>
                  <a:srgbClr val="569CD6"/>
                </a:solidFill>
                <a:latin typeface="Consolas"/>
              </a:rPr>
              <a:t>LANGUAGE</a:t>
            </a:r>
            <a:r>
              <a:rPr sz="1100" i="0" b="0">
                <a:solidFill>
                  <a:srgbClr val="D4D4D4"/>
                </a:solidFill>
                <a:latin typeface="Consolas"/>
              </a:rPr>
              <a:t> </a:t>
            </a:r>
            <a:r>
              <a:rPr sz="1100" i="0" b="0">
                <a:solidFill>
                  <a:srgbClr val="569CD6"/>
                </a:solidFill>
                <a:latin typeface="Consolas"/>
              </a:rPr>
              <a:t>plpgsql</a:t>
            </a:r>
            <a:r>
              <a:rPr sz="1100" i="0" b="0">
                <a:solidFill>
                  <a:srgbClr val="D4D4D4"/>
                </a:solidFill>
                <a:latin typeface="Consolas"/>
              </a:rPr>
              <a:t> </a:t>
            </a:r>
            <a:r>
              <a:rPr sz="1100" i="0" b="0">
                <a:solidFill>
                  <a:srgbClr val="569CD6"/>
                </a:solidFill>
                <a:latin typeface="Consolas"/>
              </a:rPr>
              <a:t>AS</a:t>
            </a:r>
            <a:r>
              <a:rPr sz="1100" i="0" b="0">
                <a:solidFill>
                  <a:srgbClr val="D4D4D4"/>
                </a:solidFill>
                <a:latin typeface="Consolas"/>
              </a:rPr>
              <a:t> </a:t>
            </a:r>
            <a:r>
              <a:rPr sz="1100" i="0" b="0">
                <a:solidFill>
                  <a:srgbClr val="569CD6"/>
                </a:solidFill>
                <a:latin typeface="Consolas"/>
              </a:rPr>
              <a:t>$proc$</a:t>
            </a:r>
            <a:r>
              <a:rPr sz="1100" i="0" b="0">
                <a:solidFill>
                  <a:srgbClr val="D4D4D4"/>
                </a:solidFill>
                <a:latin typeface="Consolas"/>
              </a:rPr>
              <a:t>         </a:t>
            </a:r>
            <a:r>
              <a:rPr sz="1100" i="1" b="0">
                <a:solidFill>
                  <a:srgbClr val="6A9955"/>
                </a:solidFill>
                <a:latin typeface="Consolas"/>
              </a:rPr>
              <a:t>-- ni IS, ni VARCHAR2, ni / final</a:t>
            </a:r>
          </a:p>
          <a:p>
            <a:pPr>
              <a:spcAft>
                <a:spcPts val="235"/>
              </a:spcAft>
            </a:pPr>
            <a:r>
              <a:rPr sz="1100" i="0" b="0">
                <a:solidFill>
                  <a:srgbClr val="569CD6"/>
                </a:solidFill>
                <a:latin typeface="Consolas"/>
              </a:rPr>
              <a:t>DECLARE</a:t>
            </a:r>
            <a:r>
              <a:rPr sz="1100" i="0" b="0">
                <a:solidFill>
                  <a:srgbClr val="D4D4D4"/>
                </a:solidFill>
                <a:latin typeface="Consolas"/>
              </a:rPr>
              <a:t> </a:t>
            </a:r>
            <a:r>
              <a:rPr sz="1100" i="0" b="0">
                <a:solidFill>
                  <a:srgbClr val="D4D4D4"/>
                </a:solidFill>
                <a:latin typeface="Consolas"/>
              </a:rPr>
              <a:t>v_activa</a:t>
            </a:r>
            <a:r>
              <a:rPr sz="1100" i="0" b="0">
                <a:solidFill>
                  <a:srgbClr val="D4D4D4"/>
                </a:solidFill>
                <a:latin typeface="Consolas"/>
              </a:rPr>
              <a:t> </a:t>
            </a:r>
            <a:r>
              <a:rPr sz="1100" i="0" b="0">
                <a:solidFill>
                  <a:srgbClr val="4EC9B0"/>
                </a:solidFill>
                <a:latin typeface="Consolas"/>
              </a:rPr>
              <a:t>CHAR</a:t>
            </a:r>
            <a:r>
              <a:rPr sz="1100" i="0" b="0">
                <a:solidFill>
                  <a:srgbClr val="D4D4D4"/>
                </a:solidFill>
                <a:latin typeface="Consolas"/>
              </a:rPr>
              <a:t>(</a:t>
            </a:r>
            <a:r>
              <a:rPr sz="1100" i="0" b="0">
                <a:solidFill>
                  <a:srgbClr val="B5CEA8"/>
                </a:solidFill>
                <a:latin typeface="Consolas"/>
              </a:rPr>
              <a:t>1</a:t>
            </a:r>
            <a:r>
              <a:rPr sz="1100" i="0" b="0">
                <a:solidFill>
                  <a:srgbClr val="D4D4D4"/>
                </a:solidFill>
                <a:latin typeface="Consolas"/>
              </a:rPr>
              <a:t>);</a:t>
            </a:r>
          </a:p>
          <a:p>
            <a:pPr>
              <a:spcAft>
                <a:spcPts val="235"/>
              </a:spcAft>
            </a:pPr>
            <a:r>
              <a:rPr sz="1100" i="0" b="0">
                <a:solidFill>
                  <a:srgbClr val="569CD6"/>
                </a:solidFill>
                <a:latin typeface="Consolas"/>
              </a:rPr>
              <a:t>BEGIN</a:t>
            </a:r>
          </a:p>
          <a:p>
            <a:pPr>
              <a:spcAft>
                <a:spcPts val="235"/>
              </a:spcAft>
            </a:pPr>
            <a:r>
              <a:rPr sz="1100" i="0" b="0">
                <a:solidFill>
                  <a:srgbClr val="D4D4D4"/>
                </a:solidFill>
                <a:latin typeface="Consolas"/>
              </a:rPr>
              <a:t>  </a:t>
            </a:r>
            <a:r>
              <a:rPr sz="1100" i="0" b="0">
                <a:solidFill>
                  <a:srgbClr val="569CD6"/>
                </a:solidFill>
                <a:latin typeface="Consolas"/>
              </a:rPr>
              <a:t>SELECT</a:t>
            </a:r>
            <a:r>
              <a:rPr sz="1100" i="0" b="0">
                <a:solidFill>
                  <a:srgbClr val="D4D4D4"/>
                </a:solidFill>
                <a:latin typeface="Consolas"/>
              </a:rPr>
              <a:t> </a:t>
            </a:r>
            <a:r>
              <a:rPr sz="1100" i="0" b="0">
                <a:solidFill>
                  <a:srgbClr val="D4D4D4"/>
                </a:solidFill>
                <a:latin typeface="Consolas"/>
              </a:rPr>
              <a:t>activa</a:t>
            </a:r>
            <a:r>
              <a:rPr sz="1100" i="0" b="0">
                <a:solidFill>
                  <a:srgbClr val="D4D4D4"/>
                </a:solidFill>
                <a:latin typeface="Consolas"/>
              </a:rPr>
              <a:t> </a:t>
            </a:r>
            <a:r>
              <a:rPr sz="1100" i="0" b="0">
                <a:solidFill>
                  <a:srgbClr val="569CD6"/>
                </a:solidFill>
                <a:latin typeface="Consolas"/>
              </a:rPr>
              <a:t>INTO</a:t>
            </a:r>
            <a:r>
              <a:rPr sz="1100" i="0" b="0">
                <a:solidFill>
                  <a:srgbClr val="D4D4D4"/>
                </a:solidFill>
                <a:latin typeface="Consolas"/>
              </a:rPr>
              <a:t> </a:t>
            </a:r>
            <a:r>
              <a:rPr sz="1100" i="0" b="0">
                <a:solidFill>
                  <a:srgbClr val="D4D4D4"/>
                </a:solidFill>
                <a:latin typeface="Consolas"/>
              </a:rPr>
              <a:t>v_activa</a:t>
            </a:r>
            <a:r>
              <a:rPr sz="1100" i="0" b="0">
                <a:solidFill>
                  <a:srgbClr val="D4D4D4"/>
                </a:solidFill>
                <a:latin typeface="Consolas"/>
              </a:rPr>
              <a:t> </a:t>
            </a:r>
            <a:r>
              <a:rPr sz="1100" i="0" b="0">
                <a:solidFill>
                  <a:srgbClr val="569CD6"/>
                </a:solidFill>
                <a:latin typeface="Consolas"/>
              </a:rPr>
              <a:t>FROM</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569CD6"/>
                </a:solidFill>
                <a:latin typeface="Consolas"/>
              </a:rPr>
              <a:t>WHERE</a:t>
            </a:r>
            <a:r>
              <a:rPr sz="1100" i="0" b="0">
                <a:solidFill>
                  <a:srgbClr val="D4D4D4"/>
                </a:solidFill>
                <a:latin typeface="Consolas"/>
              </a:rPr>
              <a:t> </a:t>
            </a:r>
            <a:r>
              <a:rPr sz="1100" i="0" b="0">
                <a:solidFill>
                  <a:srgbClr val="D4D4D4"/>
                </a:solidFill>
                <a:latin typeface="Consolas"/>
              </a:rPr>
              <a:t>id_mascota</a:t>
            </a:r>
            <a:r>
              <a:rPr sz="1100" i="0" b="0">
                <a:solidFill>
                  <a:srgbClr val="D4D4D4"/>
                </a:solidFill>
                <a:latin typeface="Consolas"/>
              </a:rPr>
              <a:t> = </a:t>
            </a:r>
            <a:r>
              <a:rPr sz="1100" i="0" b="0">
                <a:solidFill>
                  <a:srgbClr val="D4D4D4"/>
                </a:solidFill>
                <a:latin typeface="Consolas"/>
              </a:rPr>
              <a:t>p_id_mascota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569CD6"/>
                </a:solidFill>
                <a:latin typeface="Consolas"/>
              </a:rPr>
              <a:t>NOT</a:t>
            </a:r>
            <a:r>
              <a:rPr sz="1100" i="0" b="0">
                <a:solidFill>
                  <a:srgbClr val="D4D4D4"/>
                </a:solidFill>
                <a:latin typeface="Consolas"/>
              </a:rPr>
              <a:t> </a:t>
            </a:r>
            <a:r>
              <a:rPr sz="1100" i="0" b="0">
                <a:solidFill>
                  <a:srgbClr val="569CD6"/>
                </a:solidFill>
                <a:latin typeface="Consolas"/>
              </a:rPr>
              <a:t>FOUND</a:t>
            </a:r>
            <a:r>
              <a:rPr sz="1100" i="0" b="0">
                <a:solidFill>
                  <a:srgbClr val="D4D4D4"/>
                </a:solidFill>
                <a:latin typeface="Consolas"/>
              </a:rPr>
              <a:t> </a:t>
            </a:r>
            <a:r>
              <a:rPr sz="1100" i="0" b="0">
                <a:solidFill>
                  <a:srgbClr val="569CD6"/>
                </a:solidFill>
                <a:latin typeface="Consolas"/>
              </a:rPr>
              <a:t>THEN</a:t>
            </a:r>
          </a:p>
          <a:p>
            <a:pPr>
              <a:spcAft>
                <a:spcPts val="235"/>
              </a:spcAft>
            </a:pPr>
            <a:r>
              <a:rPr sz="1100" i="0" b="0">
                <a:solidFill>
                  <a:srgbClr val="D4D4D4"/>
                </a:solidFill>
                <a:latin typeface="Consolas"/>
              </a:rPr>
              <a:t>    </a:t>
            </a:r>
            <a:r>
              <a:rPr sz="1100" i="0" b="0">
                <a:solidFill>
                  <a:srgbClr val="569CD6"/>
                </a:solidFill>
                <a:latin typeface="Consolas"/>
              </a:rPr>
              <a:t>RAISE</a:t>
            </a:r>
            <a:r>
              <a:rPr sz="1100" i="0" b="0">
                <a:solidFill>
                  <a:srgbClr val="D4D4D4"/>
                </a:solidFill>
                <a:latin typeface="Consolas"/>
              </a:rPr>
              <a:t> </a:t>
            </a:r>
            <a:r>
              <a:rPr sz="1100" i="0" b="0">
                <a:solidFill>
                  <a:srgbClr val="569CD6"/>
                </a:solidFill>
                <a:latin typeface="Consolas"/>
              </a:rPr>
              <a:t>EXCEPTION</a:t>
            </a:r>
            <a:r>
              <a:rPr sz="1100" i="0" b="0">
                <a:solidFill>
                  <a:srgbClr val="D4D4D4"/>
                </a:solidFill>
                <a:latin typeface="Consolas"/>
              </a:rPr>
              <a:t> </a:t>
            </a:r>
            <a:r>
              <a:rPr sz="1100" i="0" b="0">
                <a:solidFill>
                  <a:srgbClr val="CE9178"/>
                </a:solidFill>
                <a:latin typeface="Consolas"/>
              </a:rPr>
              <a:t>'ERROR: la mascota % no existe'</a:t>
            </a:r>
            <a:r>
              <a:rPr sz="1100" i="0" b="0">
                <a:solidFill>
                  <a:srgbClr val="D4D4D4"/>
                </a:solidFill>
                <a:latin typeface="Consolas"/>
              </a:rPr>
              <a:t>, </a:t>
            </a:r>
            <a:r>
              <a:rPr sz="1100" i="0" b="0">
                <a:solidFill>
                  <a:srgbClr val="D4D4D4"/>
                </a:solidFill>
                <a:latin typeface="Consolas"/>
              </a:rPr>
              <a:t>p_id_mascota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END</a:t>
            </a: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v_activa</a:t>
            </a:r>
            <a:r>
              <a:rPr sz="1100" i="0" b="0">
                <a:solidFill>
                  <a:srgbClr val="D4D4D4"/>
                </a:solidFill>
                <a:latin typeface="Consolas"/>
              </a:rPr>
              <a:t> &lt;&gt; </a:t>
            </a:r>
            <a:r>
              <a:rPr sz="1100" i="0" b="0">
                <a:solidFill>
                  <a:srgbClr val="CE9178"/>
                </a:solidFill>
                <a:latin typeface="Consolas"/>
              </a:rPr>
              <a:t>'S'</a:t>
            </a:r>
            <a:r>
              <a:rPr sz="1100" i="0" b="0">
                <a:solidFill>
                  <a:srgbClr val="D4D4D4"/>
                </a:solidFill>
                <a:latin typeface="Consolas"/>
              </a:rPr>
              <a:t> </a:t>
            </a:r>
            <a:r>
              <a:rPr sz="1100" i="0" b="0">
                <a:solidFill>
                  <a:srgbClr val="569CD6"/>
                </a:solidFill>
                <a:latin typeface="Consolas"/>
              </a:rPr>
              <a:t>THEN</a:t>
            </a:r>
          </a:p>
          <a:p>
            <a:pPr>
              <a:spcAft>
                <a:spcPts val="235"/>
              </a:spcAft>
            </a:pPr>
            <a:r>
              <a:rPr sz="1100" i="0" b="0">
                <a:solidFill>
                  <a:srgbClr val="D4D4D4"/>
                </a:solidFill>
                <a:latin typeface="Consolas"/>
              </a:rPr>
              <a:t>    </a:t>
            </a:r>
            <a:r>
              <a:rPr sz="1100" i="0" b="0">
                <a:solidFill>
                  <a:srgbClr val="569CD6"/>
                </a:solidFill>
                <a:latin typeface="Consolas"/>
              </a:rPr>
              <a:t>RAISE</a:t>
            </a:r>
            <a:r>
              <a:rPr sz="1100" i="0" b="0">
                <a:solidFill>
                  <a:srgbClr val="D4D4D4"/>
                </a:solidFill>
                <a:latin typeface="Consolas"/>
              </a:rPr>
              <a:t> </a:t>
            </a:r>
            <a:r>
              <a:rPr sz="1100" i="0" b="0">
                <a:solidFill>
                  <a:srgbClr val="569CD6"/>
                </a:solidFill>
                <a:latin typeface="Consolas"/>
              </a:rPr>
              <a:t>EXCEPTION</a:t>
            </a:r>
            <a:r>
              <a:rPr sz="1100" i="0" b="0">
                <a:solidFill>
                  <a:srgbClr val="D4D4D4"/>
                </a:solidFill>
                <a:latin typeface="Consolas"/>
              </a:rPr>
              <a:t> </a:t>
            </a:r>
            <a:r>
              <a:rPr sz="1100" i="0" b="0">
                <a:solidFill>
                  <a:srgbClr val="CE9178"/>
                </a:solidFill>
                <a:latin typeface="Consolas"/>
              </a:rPr>
              <a:t>'ERROR: la mascota % esta inactiva'</a:t>
            </a:r>
            <a:r>
              <a:rPr sz="1100" i="0" b="0">
                <a:solidFill>
                  <a:srgbClr val="D4D4D4"/>
                </a:solidFill>
                <a:latin typeface="Consolas"/>
              </a:rPr>
              <a:t>, </a:t>
            </a:r>
            <a:r>
              <a:rPr sz="1100" i="0" b="0">
                <a:solidFill>
                  <a:srgbClr val="D4D4D4"/>
                </a:solidFill>
                <a:latin typeface="Consolas"/>
              </a:rPr>
              <a:t>p_id_mascota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END</a:t>
            </a: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569CD6"/>
                </a:solidFill>
                <a:latin typeface="Consolas"/>
              </a:rPr>
              <a:t>EXISTS</a:t>
            </a:r>
            <a:r>
              <a:rPr sz="1100" i="0" b="0">
                <a:solidFill>
                  <a:srgbClr val="D4D4D4"/>
                </a:solidFill>
                <a:latin typeface="Consolas"/>
              </a:rPr>
              <a:t> (</a:t>
            </a:r>
            <a:r>
              <a:rPr sz="1100" i="0" b="0">
                <a:solidFill>
                  <a:srgbClr val="569CD6"/>
                </a:solidFill>
                <a:latin typeface="Consolas"/>
              </a:rPr>
              <a:t>SELECT</a:t>
            </a:r>
            <a:r>
              <a:rPr sz="1100" i="0" b="0">
                <a:solidFill>
                  <a:srgbClr val="D4D4D4"/>
                </a:solidFill>
                <a:latin typeface="Consolas"/>
              </a:rPr>
              <a:t> </a:t>
            </a:r>
            <a:r>
              <a:rPr sz="1100" i="0" b="0">
                <a:solidFill>
                  <a:srgbClr val="B5CEA8"/>
                </a:solidFill>
                <a:latin typeface="Consolas"/>
              </a:rPr>
              <a:t>1</a:t>
            </a:r>
            <a:r>
              <a:rPr sz="1100" i="0" b="0">
                <a:solidFill>
                  <a:srgbClr val="D4D4D4"/>
                </a:solidFill>
                <a:latin typeface="Consolas"/>
              </a:rPr>
              <a:t> </a:t>
            </a:r>
            <a:r>
              <a:rPr sz="1100" i="0" b="0">
                <a:solidFill>
                  <a:srgbClr val="569CD6"/>
                </a:solidFill>
                <a:latin typeface="Consolas"/>
              </a:rPr>
              <a:t>FROM</a:t>
            </a:r>
            <a:r>
              <a:rPr sz="1100" i="0" b="0">
                <a:solidFill>
                  <a:srgbClr val="D4D4D4"/>
                </a:solidFill>
                <a:latin typeface="Consolas"/>
              </a:rPr>
              <a:t> </a:t>
            </a:r>
            <a:r>
              <a:rPr sz="1100" i="0" b="0">
                <a:solidFill>
                  <a:srgbClr val="D4D4D4"/>
                </a:solidFill>
                <a:latin typeface="Consolas"/>
              </a:rPr>
              <a:t>cita</a:t>
            </a:r>
            <a:r>
              <a:rPr sz="1100" i="0" b="0">
                <a:solidFill>
                  <a:srgbClr val="D4D4D4"/>
                </a:solidFill>
                <a:latin typeface="Consolas"/>
              </a:rPr>
              <a:t> </a:t>
            </a:r>
            <a:r>
              <a:rPr sz="1100" i="0" b="0">
                <a:solidFill>
                  <a:srgbClr val="569CD6"/>
                </a:solidFill>
                <a:latin typeface="Consolas"/>
              </a:rPr>
              <a:t>WHERE</a:t>
            </a:r>
            <a:r>
              <a:rPr sz="1100" i="0" b="0">
                <a:solidFill>
                  <a:srgbClr val="D4D4D4"/>
                </a:solidFill>
                <a:latin typeface="Consolas"/>
              </a:rPr>
              <a:t> </a:t>
            </a:r>
            <a:r>
              <a:rPr sz="1100" i="0" b="0">
                <a:solidFill>
                  <a:srgbClr val="D4D4D4"/>
                </a:solidFill>
                <a:latin typeface="Consolas"/>
              </a:rPr>
              <a:t>id_veterinario</a:t>
            </a:r>
            <a:r>
              <a:rPr sz="1100" i="0" b="0">
                <a:solidFill>
                  <a:srgbClr val="D4D4D4"/>
                </a:solidFill>
                <a:latin typeface="Consolas"/>
              </a:rPr>
              <a:t> = </a:t>
            </a:r>
            <a:r>
              <a:rPr sz="1100" i="0" b="0">
                <a:solidFill>
                  <a:srgbClr val="D4D4D4"/>
                </a:solidFill>
                <a:latin typeface="Consolas"/>
              </a:rPr>
              <a:t>p_id_veterinario</a:t>
            </a:r>
          </a:p>
          <a:p>
            <a:pPr>
              <a:spcAft>
                <a:spcPts val="235"/>
              </a:spcAft>
            </a:pPr>
            <a:r>
              <a:rPr sz="1100" i="0" b="0">
                <a:solidFill>
                  <a:srgbClr val="D4D4D4"/>
                </a:solidFill>
                <a:latin typeface="Consolas"/>
              </a:rPr>
              <a:t>     </a:t>
            </a:r>
            <a:r>
              <a:rPr sz="1100" i="0" b="0">
                <a:solidFill>
                  <a:srgbClr val="569CD6"/>
                </a:solidFill>
                <a:latin typeface="Consolas"/>
              </a:rPr>
              <a:t>AND</a:t>
            </a:r>
            <a:r>
              <a:rPr sz="1100" i="0" b="0">
                <a:solidFill>
                  <a:srgbClr val="D4D4D4"/>
                </a:solidFill>
                <a:latin typeface="Consolas"/>
              </a:rPr>
              <a:t> </a:t>
            </a:r>
            <a:r>
              <a:rPr sz="1100" i="0" b="0">
                <a:solidFill>
                  <a:srgbClr val="D4D4D4"/>
                </a:solidFill>
                <a:latin typeface="Consolas"/>
              </a:rPr>
              <a:t>fecha_hora</a:t>
            </a:r>
            <a:r>
              <a:rPr sz="1100" i="0" b="0">
                <a:solidFill>
                  <a:srgbClr val="D4D4D4"/>
                </a:solidFill>
                <a:latin typeface="Consolas"/>
              </a:rPr>
              <a:t> = </a:t>
            </a:r>
            <a:r>
              <a:rPr sz="1100" i="0" b="0">
                <a:solidFill>
                  <a:srgbClr val="D4D4D4"/>
                </a:solidFill>
                <a:latin typeface="Consolas"/>
              </a:rPr>
              <a:t>p_fecha_hora</a:t>
            </a:r>
            <a:r>
              <a:rPr sz="1100" i="0" b="0">
                <a:solidFill>
                  <a:srgbClr val="D4D4D4"/>
                </a:solidFill>
                <a:latin typeface="Consolas"/>
              </a:rPr>
              <a:t> </a:t>
            </a:r>
            <a:r>
              <a:rPr sz="1100" i="0" b="0">
                <a:solidFill>
                  <a:srgbClr val="569CD6"/>
                </a:solidFill>
                <a:latin typeface="Consolas"/>
              </a:rPr>
              <a:t>AND</a:t>
            </a:r>
            <a:r>
              <a:rPr sz="1100" i="0" b="0">
                <a:solidFill>
                  <a:srgbClr val="D4D4D4"/>
                </a:solidFill>
                <a:latin typeface="Consolas"/>
              </a:rPr>
              <a:t> </a:t>
            </a:r>
            <a:r>
              <a:rPr sz="1100" i="0" b="0">
                <a:solidFill>
                  <a:srgbClr val="D4D4D4"/>
                </a:solidFill>
                <a:latin typeface="Consolas"/>
              </a:rPr>
              <a:t>estado</a:t>
            </a:r>
            <a:r>
              <a:rPr sz="1100" i="0" b="0">
                <a:solidFill>
                  <a:srgbClr val="D4D4D4"/>
                </a:solidFill>
                <a:latin typeface="Consolas"/>
              </a:rPr>
              <a:t> &lt;&gt; </a:t>
            </a:r>
            <a:r>
              <a:rPr sz="1100" i="0" b="0">
                <a:solidFill>
                  <a:srgbClr val="CE9178"/>
                </a:solidFill>
                <a:latin typeface="Consolas"/>
              </a:rPr>
              <a:t>'CANCELADA'</a:t>
            </a:r>
            <a:r>
              <a:rPr sz="1100" i="0" b="0">
                <a:solidFill>
                  <a:srgbClr val="D4D4D4"/>
                </a:solidFill>
                <a:latin typeface="Consolas"/>
              </a:rPr>
              <a:t>) </a:t>
            </a:r>
            <a:r>
              <a:rPr sz="1100" i="0" b="0">
                <a:solidFill>
                  <a:srgbClr val="569CD6"/>
                </a:solidFill>
                <a:latin typeface="Consolas"/>
              </a:rPr>
              <a:t>THEN</a:t>
            </a:r>
          </a:p>
          <a:p>
            <a:pPr>
              <a:spcAft>
                <a:spcPts val="235"/>
              </a:spcAft>
            </a:pPr>
            <a:r>
              <a:rPr sz="1100" i="0" b="0">
                <a:solidFill>
                  <a:srgbClr val="D4D4D4"/>
                </a:solidFill>
                <a:latin typeface="Consolas"/>
              </a:rPr>
              <a:t>    </a:t>
            </a:r>
            <a:r>
              <a:rPr sz="1100" i="0" b="0">
                <a:solidFill>
                  <a:srgbClr val="569CD6"/>
                </a:solidFill>
                <a:latin typeface="Consolas"/>
              </a:rPr>
              <a:t>RAISE</a:t>
            </a:r>
            <a:r>
              <a:rPr sz="1100" i="0" b="0">
                <a:solidFill>
                  <a:srgbClr val="D4D4D4"/>
                </a:solidFill>
                <a:latin typeface="Consolas"/>
              </a:rPr>
              <a:t> </a:t>
            </a:r>
            <a:r>
              <a:rPr sz="1100" i="0" b="0">
                <a:solidFill>
                  <a:srgbClr val="569CD6"/>
                </a:solidFill>
                <a:latin typeface="Consolas"/>
              </a:rPr>
              <a:t>EXCEPTION</a:t>
            </a:r>
            <a:r>
              <a:rPr sz="1100" i="0" b="0">
                <a:solidFill>
                  <a:srgbClr val="D4D4D4"/>
                </a:solidFill>
                <a:latin typeface="Consolas"/>
              </a:rPr>
              <a:t> </a:t>
            </a:r>
            <a:r>
              <a:rPr sz="1100" i="0" b="0">
                <a:solidFill>
                  <a:srgbClr val="CE9178"/>
                </a:solidFill>
                <a:latin typeface="Consolas"/>
              </a:rPr>
              <a:t>'ERROR: el veterinario % ya tiene cita en %'</a:t>
            </a:r>
            <a:r>
              <a:rPr sz="1100" i="0" b="0">
                <a:solidFill>
                  <a:srgbClr val="D4D4D4"/>
                </a:solidFill>
                <a:latin typeface="Consolas"/>
              </a:rPr>
              <a:t>, </a:t>
            </a:r>
            <a:r>
              <a:rPr sz="1100" i="0" b="0">
                <a:solidFill>
                  <a:srgbClr val="D4D4D4"/>
                </a:solidFill>
                <a:latin typeface="Consolas"/>
              </a:rPr>
              <a:t>p_id_veterinario</a:t>
            </a:r>
            <a:r>
              <a:rPr sz="1100" i="0" b="0">
                <a:solidFill>
                  <a:srgbClr val="D4D4D4"/>
                </a:solidFill>
                <a:latin typeface="Consolas"/>
              </a:rPr>
              <a:t>, </a:t>
            </a:r>
            <a:r>
              <a:rPr sz="1100" i="0" b="0">
                <a:solidFill>
                  <a:srgbClr val="D4D4D4"/>
                </a:solidFill>
                <a:latin typeface="Consolas"/>
              </a:rPr>
              <a:t>p_fecha_hora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END</a:t>
            </a: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1" b="0">
                <a:solidFill>
                  <a:srgbClr val="6A9955"/>
                </a:solidFill>
                <a:latin typeface="Consolas"/>
              </a:rPr>
              <a:t>-- cualquiera de los tres aborta: no inserta NADA</a:t>
            </a:r>
          </a:p>
          <a:p>
            <a:pPr>
              <a:spcAft>
                <a:spcPts val="235"/>
              </a:spcAft>
            </a:pPr>
            <a:r>
              <a:rPr sz="1100" i="0" b="0">
                <a:solidFill>
                  <a:srgbClr val="D4D4D4"/>
                </a:solidFill>
                <a:latin typeface="Consolas"/>
              </a:rPr>
              <a:t>  </a:t>
            </a:r>
            <a:r>
              <a:rPr sz="1100" i="0" b="0">
                <a:solidFill>
                  <a:srgbClr val="569CD6"/>
                </a:solidFill>
                <a:latin typeface="Consolas"/>
              </a:rPr>
              <a:t>INSERT</a:t>
            </a:r>
            <a:r>
              <a:rPr sz="1100" i="0" b="0">
                <a:solidFill>
                  <a:srgbClr val="D4D4D4"/>
                </a:solidFill>
                <a:latin typeface="Consolas"/>
              </a:rPr>
              <a:t> </a:t>
            </a:r>
            <a:r>
              <a:rPr sz="1100" i="0" b="0">
                <a:solidFill>
                  <a:srgbClr val="569CD6"/>
                </a:solidFill>
                <a:latin typeface="Consolas"/>
              </a:rPr>
              <a:t>INTO</a:t>
            </a:r>
            <a:r>
              <a:rPr sz="1100" i="0" b="0">
                <a:solidFill>
                  <a:srgbClr val="D4D4D4"/>
                </a:solidFill>
                <a:latin typeface="Consolas"/>
              </a:rPr>
              <a:t> </a:t>
            </a:r>
            <a:r>
              <a:rPr sz="1100" i="0" b="0">
                <a:solidFill>
                  <a:srgbClr val="DCDCAA"/>
                </a:solidFill>
                <a:latin typeface="Consolas"/>
              </a:rPr>
              <a:t>cita</a:t>
            </a:r>
            <a:r>
              <a:rPr sz="1100" i="0" b="0">
                <a:solidFill>
                  <a:srgbClr val="D4D4D4"/>
                </a:solidFill>
                <a:latin typeface="Consolas"/>
              </a:rPr>
              <a:t>(</a:t>
            </a:r>
            <a:r>
              <a:rPr sz="1100" i="0" b="0">
                <a:solidFill>
                  <a:srgbClr val="D4D4D4"/>
                </a:solidFill>
                <a:latin typeface="Consolas"/>
              </a:rPr>
              <a:t>id_mascota</a:t>
            </a:r>
            <a:r>
              <a:rPr sz="1100" i="0" b="0">
                <a:solidFill>
                  <a:srgbClr val="D4D4D4"/>
                </a:solidFill>
                <a:latin typeface="Consolas"/>
              </a:rPr>
              <a:t>, </a:t>
            </a:r>
            <a:r>
              <a:rPr sz="1100" i="0" b="0">
                <a:solidFill>
                  <a:srgbClr val="D4D4D4"/>
                </a:solidFill>
                <a:latin typeface="Consolas"/>
              </a:rPr>
              <a:t>id_veterinario</a:t>
            </a:r>
            <a:r>
              <a:rPr sz="1100" i="0" b="0">
                <a:solidFill>
                  <a:srgbClr val="D4D4D4"/>
                </a:solidFill>
                <a:latin typeface="Consolas"/>
              </a:rPr>
              <a:t>, </a:t>
            </a:r>
            <a:r>
              <a:rPr sz="1100" i="0" b="0">
                <a:solidFill>
                  <a:srgbClr val="D4D4D4"/>
                </a:solidFill>
                <a:latin typeface="Consolas"/>
              </a:rPr>
              <a:t>fecha_hora</a:t>
            </a:r>
            <a:r>
              <a:rPr sz="1100" i="0" b="0">
                <a:solidFill>
                  <a:srgbClr val="D4D4D4"/>
                </a:solidFill>
                <a:latin typeface="Consolas"/>
              </a:rPr>
              <a:t>, </a:t>
            </a:r>
            <a:r>
              <a:rPr sz="1100" i="0" b="0">
                <a:solidFill>
                  <a:srgbClr val="D4D4D4"/>
                </a:solidFill>
                <a:latin typeface="Consolas"/>
              </a:rPr>
              <a:t>estado</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VALUES</a:t>
            </a:r>
            <a:r>
              <a:rPr sz="1100" i="0" b="0">
                <a:solidFill>
                  <a:srgbClr val="D4D4D4"/>
                </a:solidFill>
                <a:latin typeface="Consolas"/>
              </a:rPr>
              <a:t> (</a:t>
            </a:r>
            <a:r>
              <a:rPr sz="1100" i="0" b="0">
                <a:solidFill>
                  <a:srgbClr val="D4D4D4"/>
                </a:solidFill>
                <a:latin typeface="Consolas"/>
              </a:rPr>
              <a:t>p_id_mascota</a:t>
            </a:r>
            <a:r>
              <a:rPr sz="1100" i="0" b="0">
                <a:solidFill>
                  <a:srgbClr val="D4D4D4"/>
                </a:solidFill>
                <a:latin typeface="Consolas"/>
              </a:rPr>
              <a:t>, </a:t>
            </a:r>
            <a:r>
              <a:rPr sz="1100" i="0" b="0">
                <a:solidFill>
                  <a:srgbClr val="D4D4D4"/>
                </a:solidFill>
                <a:latin typeface="Consolas"/>
              </a:rPr>
              <a:t>p_id_veterinario</a:t>
            </a:r>
            <a:r>
              <a:rPr sz="1100" i="0" b="0">
                <a:solidFill>
                  <a:srgbClr val="D4D4D4"/>
                </a:solidFill>
                <a:latin typeface="Consolas"/>
              </a:rPr>
              <a:t>, </a:t>
            </a:r>
            <a:r>
              <a:rPr sz="1100" i="0" b="0">
                <a:solidFill>
                  <a:srgbClr val="D4D4D4"/>
                </a:solidFill>
                <a:latin typeface="Consolas"/>
              </a:rPr>
              <a:t>p_fecha_hora</a:t>
            </a:r>
            <a:r>
              <a:rPr sz="1100" i="0" b="0">
                <a:solidFill>
                  <a:srgbClr val="D4D4D4"/>
                </a:solidFill>
                <a:latin typeface="Consolas"/>
              </a:rPr>
              <a:t>, </a:t>
            </a:r>
            <a:r>
              <a:rPr sz="1100" i="0" b="0">
                <a:solidFill>
                  <a:srgbClr val="CE9178"/>
                </a:solidFill>
                <a:latin typeface="Consolas"/>
              </a:rPr>
              <a:t>'PROGRAMADA'</a:t>
            </a:r>
            <a:r>
              <a:rPr sz="1100" i="0" b="0">
                <a:solidFill>
                  <a:srgbClr val="D4D4D4"/>
                </a:solidFill>
                <a:latin typeface="Consolas"/>
              </a:rPr>
              <a:t>);</a:t>
            </a:r>
          </a:p>
          <a:p>
            <a:pPr>
              <a:spcAft>
                <a:spcPts val="235"/>
              </a:spcAft>
            </a:pPr>
            <a:r>
              <a:rPr sz="1100" i="0" b="0">
                <a:solidFill>
                  <a:srgbClr val="569CD6"/>
                </a:solidFill>
                <a:latin typeface="Consolas"/>
              </a:rPr>
              <a:t>END</a:t>
            </a:r>
            <a:r>
              <a:rPr sz="1100" i="0" b="0">
                <a:solidFill>
                  <a:srgbClr val="D4D4D4"/>
                </a:solidFill>
                <a:latin typeface="Consolas"/>
              </a:rPr>
              <a:t>; </a:t>
            </a:r>
            <a:r>
              <a:rPr sz="1100" i="0" b="0">
                <a:solidFill>
                  <a:srgbClr val="569CD6"/>
                </a:solidFill>
                <a:latin typeface="Consolas"/>
              </a:rPr>
              <a:t>$proc$</a:t>
            </a:r>
            <a:r>
              <a:rPr sz="11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«RAISE EXCEPTION» aborta el CALL completo y deshace lo hecho. Con el mensaje en un parametro OUT, el INSERT seguiria corriendo.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debe vivir la logica de negocio: la respuesta honesta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nde-log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nde-log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nde-log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la base, la regla se cumple </a:t>
            </a:r>
            <a:r>
              <a:rPr sz="2000" b="1" i="0">
                <a:solidFill>
                  <a:srgbClr val="333333"/>
                </a:solidFill>
                <a:latin typeface="Calibri"/>
              </a:rPr>
              <a:t>entre por donde se entre</a:t>
            </a:r>
            <a:r>
              <a:rPr sz="2000" b="0" i="0">
                <a:solidFill>
                  <a:srgbClr val="333333"/>
                </a:solidFill>
                <a:latin typeface="Calibri"/>
              </a:rPr>
              <a:t>: la aplicación, una carga o la consola.</a:t>
            </a:r>
          </a:p>
          <a:p>
            <a:pPr>
              <a:spcAft>
                <a:spcPts val="800"/>
              </a:spcAft>
            </a:pPr>
            <a:r>
              <a:rPr sz="2000" b="0" i="0">
                <a:solidFill>
                  <a:srgbClr val="333333"/>
                </a:solidFill>
                <a:latin typeface="Calibri"/>
              </a:rPr>
              <a:t>–   Permite permisos más finos: </a:t>
            </a:r>
            <a:r>
              <a:rPr sz="2000" b="1" i="0">
                <a:solidFill>
                  <a:srgbClr val="333333"/>
                </a:solidFill>
                <a:latin typeface="Calibri"/>
              </a:rPr>
              <a:t>EXECUTE</a:t>
            </a:r>
            <a:r>
              <a:rPr sz="2000" b="0" i="0">
                <a:solidFill>
                  <a:srgbClr val="333333"/>
                </a:solidFill>
                <a:latin typeface="Calibri"/>
              </a:rPr>
              <a:t> sobre el procedimiento sin INSERT sobre la tabla.</a:t>
            </a:r>
          </a:p>
          <a:p>
            <a:pPr>
              <a:spcAft>
                <a:spcPts val="800"/>
              </a:spcAft>
            </a:pPr>
            <a:r>
              <a:rPr sz="2000" b="0" i="0">
                <a:solidFill>
                  <a:srgbClr val="333333"/>
                </a:solidFill>
                <a:latin typeface="Calibri"/>
              </a:rPr>
              <a:t>–   Eso exige </a:t>
            </a:r>
            <a:r>
              <a:rPr sz="2000" b="1" i="0">
                <a:solidFill>
                  <a:srgbClr val="333333"/>
                </a:solidFill>
                <a:latin typeface="Calibri"/>
              </a:rPr>
              <a:t>SECURITY DEFINER</a:t>
            </a:r>
            <a:r>
              <a:rPr sz="2000" b="0" i="0">
                <a:solidFill>
                  <a:srgbClr val="333333"/>
                </a:solidFill>
                <a:latin typeface="Calibri"/>
              </a:rPr>
              <a:t>; si no, el cuerpo corre con los permisos de quien llama.</a:t>
            </a:r>
          </a:p>
          <a:p>
            <a:pPr>
              <a:spcAft>
                <a:spcPts val="800"/>
              </a:spcAft>
            </a:pPr>
            <a:r>
              <a:rPr sz="2000" b="0" i="0">
                <a:solidFill>
                  <a:srgbClr val="333333"/>
                </a:solidFill>
                <a:latin typeface="Calibri"/>
              </a:rPr>
              <a:t>–   En contra, se versiona peor y ata al motor; en la base van los </a:t>
            </a:r>
            <a:r>
              <a:rPr sz="2000" b="1" i="0">
                <a:solidFill>
                  <a:srgbClr val="333333"/>
                </a:solidFill>
                <a:latin typeface="Calibri"/>
              </a:rPr>
              <a:t>invariantes</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y no solo mencionada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yeccion-sq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yeccion-sq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yeccion-sq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Hay </a:t>
            </a:r>
            <a:r>
              <a:rPr sz="2000" b="1" i="0">
                <a:solidFill>
                  <a:srgbClr val="333333"/>
                </a:solidFill>
                <a:latin typeface="Calibri"/>
              </a:rPr>
              <a:t>inyección de SQL</a:t>
            </a:r>
            <a:r>
              <a:rPr sz="2000" b="0" i="0">
                <a:solidFill>
                  <a:srgbClr val="333333"/>
                </a:solidFill>
                <a:latin typeface="Calibri"/>
              </a:rPr>
              <a:t> cuando la aplicación pega texto del usuario dentro de la sentencia.</a:t>
            </a:r>
          </a:p>
          <a:p>
            <a:pPr>
              <a:spcAft>
                <a:spcPts val="800"/>
              </a:spcAft>
            </a:pPr>
            <a:r>
              <a:rPr sz="2000" b="0" i="0">
                <a:solidFill>
                  <a:srgbClr val="333333"/>
                </a:solidFill>
                <a:latin typeface="Calibri"/>
              </a:rPr>
              <a:t>–   Con Luna' OR '1'='1 la condición queda </a:t>
            </a:r>
            <a:r>
              <a:rPr sz="2000" b="1" i="0">
                <a:solidFill>
                  <a:srgbClr val="333333"/>
                </a:solidFill>
                <a:latin typeface="Calibri"/>
              </a:rPr>
              <a:t>siempre verdadera</a:t>
            </a:r>
            <a:r>
              <a:rPr sz="2000" b="0" i="0">
                <a:solidFill>
                  <a:srgbClr val="333333"/>
                </a:solidFill>
                <a:latin typeface="Calibri"/>
              </a:rPr>
              <a:t> y salen todas las mascotas.</a:t>
            </a:r>
          </a:p>
          <a:p>
            <a:pPr>
              <a:spcAft>
                <a:spcPts val="800"/>
              </a:spcAft>
            </a:pPr>
            <a:r>
              <a:rPr sz="2000" b="0" i="0">
                <a:solidFill>
                  <a:srgbClr val="333333"/>
                </a:solidFill>
                <a:latin typeface="Calibri"/>
              </a:rPr>
              <a:t>–   Un </a:t>
            </a:r>
            <a:r>
              <a:rPr sz="2000" b="1" i="0">
                <a:solidFill>
                  <a:srgbClr val="333333"/>
                </a:solidFill>
                <a:latin typeface="Calibri"/>
              </a:rPr>
              <a:t>parámetro</a:t>
            </a:r>
            <a:r>
              <a:rPr sz="2000" b="0" i="0">
                <a:solidFill>
                  <a:srgbClr val="333333"/>
                </a:solidFill>
                <a:latin typeface="Calibri"/>
              </a:rPr>
              <a:t> llega después de analizar la sentencia: se compara como dato y nunca se ejecuta.</a:t>
            </a:r>
          </a:p>
          <a:p>
            <a:pPr>
              <a:spcAft>
                <a:spcPts val="800"/>
              </a:spcAft>
            </a:pPr>
            <a:r>
              <a:rPr sz="2000" b="0" i="0">
                <a:solidFill>
                  <a:srgbClr val="333333"/>
                </a:solidFill>
                <a:latin typeface="Calibri"/>
              </a:rPr>
              <a:t>–   Un EXECUTE que </a:t>
            </a:r>
            <a:r>
              <a:rPr sz="2000" b="1" i="0">
                <a:solidFill>
                  <a:srgbClr val="333333"/>
                </a:solidFill>
                <a:latin typeface="Calibri"/>
              </a:rPr>
              <a:t>concatena</a:t>
            </a:r>
            <a:r>
              <a:rPr sz="2000" b="0" i="0">
                <a:solidFill>
                  <a:srgbClr val="333333"/>
                </a:solidFill>
                <a:latin typeface="Calibri"/>
              </a:rPr>
              <a:t> dentro del procedimiento reabre el agujero.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bateria de pruebas: por que un bloque DO por caso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teria-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ateria-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ateria-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CALL seguidos se cortan en el </a:t>
            </a:r>
            <a:r>
              <a:rPr sz="2000" b="1" i="0">
                <a:solidFill>
                  <a:srgbClr val="333333"/>
                </a:solidFill>
                <a:latin typeface="Calibri"/>
              </a:rPr>
              <a:t>primer error</a:t>
            </a:r>
            <a:r>
              <a:rPr sz="2000" b="0" i="0">
                <a:solidFill>
                  <a:srgbClr val="333333"/>
                </a:solidFill>
                <a:latin typeface="Calibri"/>
              </a:rPr>
              <a:t>: los casos siguientes nunca corren.</a:t>
            </a:r>
          </a:p>
          <a:p>
            <a:pPr>
              <a:spcAft>
                <a:spcPts val="800"/>
              </a:spcAft>
            </a:pPr>
            <a:r>
              <a:rPr sz="2000" b="0" i="0">
                <a:solidFill>
                  <a:srgbClr val="333333"/>
                </a:solidFill>
                <a:latin typeface="Calibri"/>
              </a:rPr>
              <a:t>–   Un bloque </a:t>
            </a:r>
            <a:r>
              <a:rPr sz="2000" b="1" i="0">
                <a:solidFill>
                  <a:srgbClr val="333333"/>
                </a:solidFill>
                <a:latin typeface="Calibri"/>
              </a:rPr>
              <a:t>DO</a:t>
            </a:r>
            <a:r>
              <a:rPr sz="2000" b="0" i="0">
                <a:solidFill>
                  <a:srgbClr val="333333"/>
                </a:solidFill>
                <a:latin typeface="Calibri"/>
              </a:rPr>
              <a:t> es código anónimo que se ejecuta una vez y no se guarda en el motor.</a:t>
            </a:r>
          </a:p>
          <a:p>
            <a:pPr>
              <a:spcAft>
                <a:spcPts val="800"/>
              </a:spcAft>
            </a:pPr>
            <a:r>
              <a:rPr sz="2000" b="0" i="0">
                <a:solidFill>
                  <a:srgbClr val="333333"/>
                </a:solidFill>
                <a:latin typeface="Calibri"/>
              </a:rPr>
              <a:t>–   Con su </a:t>
            </a:r>
            <a:r>
              <a:rPr sz="2000" b="1" i="0">
                <a:solidFill>
                  <a:srgbClr val="333333"/>
                </a:solidFill>
                <a:latin typeface="Calibri"/>
              </a:rPr>
              <a:t>EXCEPTION</a:t>
            </a:r>
            <a:r>
              <a:rPr sz="2000" b="0" i="0">
                <a:solidFill>
                  <a:srgbClr val="333333"/>
                </a:solidFill>
                <a:latin typeface="Calibri"/>
              </a:rPr>
              <a:t>, cada bloque atrapa el error de su caso y deja seguir al siguiente.</a:t>
            </a:r>
          </a:p>
          <a:p>
            <a:pPr>
              <a:spcAft>
                <a:spcPts val="800"/>
              </a:spcAft>
            </a:pPr>
            <a:r>
              <a:rPr sz="2000" b="0" i="0">
                <a:solidFill>
                  <a:srgbClr val="333333"/>
                </a:solidFill>
                <a:latin typeface="Calibri"/>
              </a:rPr>
              <a:t>–   Cada caso deja una fila en </a:t>
            </a:r>
            <a:r>
              <a:rPr sz="2000" b="1" i="0">
                <a:solidFill>
                  <a:srgbClr val="333333"/>
                </a:solidFill>
                <a:latin typeface="Calibri"/>
              </a:rPr>
              <a:t>resultado_prueba</a:t>
            </a:r>
            <a:r>
              <a:rPr sz="2000" b="0" i="0">
                <a:solidFill>
                  <a:srgbClr val="333333"/>
                </a:solidFill>
                <a:latin typeface="Calibri"/>
              </a:rPr>
              <a:t>: una consulta muestra los cuatro veredictos.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bateria de pruebas: un bloque DO por caso</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1" b="0">
                <a:solidFill>
                  <a:srgbClr val="6A9955"/>
                </a:solidFill>
                <a:latin typeface="Consolas"/>
              </a:rPr>
              <a:t>-- Cada caso deja su resultado en una tabla, no en un mensaje que se pierde.</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TABLE</a:t>
            </a:r>
            <a:r>
              <a:rPr sz="1300" i="0" b="0">
                <a:solidFill>
                  <a:srgbClr val="D4D4D4"/>
                </a:solidFill>
                <a:latin typeface="Consolas"/>
              </a:rPr>
              <a:t> </a:t>
            </a:r>
            <a:r>
              <a:rPr sz="1300" i="0" b="0">
                <a:solidFill>
                  <a:srgbClr val="DCDCAA"/>
                </a:solidFill>
                <a:latin typeface="Consolas"/>
              </a:rPr>
              <a:t>resultado_prueba</a:t>
            </a:r>
            <a:r>
              <a:rPr sz="1300" i="0" b="0">
                <a:solidFill>
                  <a:srgbClr val="D4D4D4"/>
                </a:solidFill>
                <a:latin typeface="Consolas"/>
              </a:rPr>
              <a:t> (</a:t>
            </a:r>
            <a:r>
              <a:rPr sz="1300" i="0" b="0">
                <a:solidFill>
                  <a:srgbClr val="D4D4D4"/>
                </a:solidFill>
                <a:latin typeface="Consolas"/>
              </a:rPr>
              <a:t>caso</a:t>
            </a:r>
            <a:r>
              <a:rPr sz="1300" i="0" b="0">
                <a:solidFill>
                  <a:srgbClr val="D4D4D4"/>
                </a:solidFill>
                <a:latin typeface="Consolas"/>
              </a:rPr>
              <a:t> </a:t>
            </a:r>
            <a:r>
              <a:rPr sz="1300" i="0" b="0">
                <a:solidFill>
                  <a:srgbClr val="4EC9B0"/>
                </a:solidFill>
                <a:latin typeface="Consolas"/>
              </a:rPr>
              <a:t>TEXT</a:t>
            </a:r>
            <a:r>
              <a:rPr sz="1300" i="0" b="0">
                <a:solidFill>
                  <a:srgbClr val="D4D4D4"/>
                </a:solidFill>
                <a:latin typeface="Consolas"/>
              </a:rPr>
              <a:t>, </a:t>
            </a:r>
            <a:r>
              <a:rPr sz="1300" i="0" b="0">
                <a:solidFill>
                  <a:srgbClr val="D4D4D4"/>
                </a:solidFill>
                <a:latin typeface="Consolas"/>
              </a:rPr>
              <a:t>esperado</a:t>
            </a:r>
            <a:r>
              <a:rPr sz="1300" i="0" b="0">
                <a:solidFill>
                  <a:srgbClr val="D4D4D4"/>
                </a:solidFill>
                <a:latin typeface="Consolas"/>
              </a:rPr>
              <a:t> </a:t>
            </a:r>
            <a:r>
              <a:rPr sz="1300" i="0" b="0">
                <a:solidFill>
                  <a:srgbClr val="4EC9B0"/>
                </a:solidFill>
                <a:latin typeface="Consolas"/>
              </a:rPr>
              <a:t>TEXT</a:t>
            </a:r>
            <a:r>
              <a:rPr sz="1300" i="0" b="0">
                <a:solidFill>
                  <a:srgbClr val="D4D4D4"/>
                </a:solidFill>
                <a:latin typeface="Consolas"/>
              </a:rPr>
              <a:t>, </a:t>
            </a:r>
            <a:r>
              <a:rPr sz="1300" i="0" b="0">
                <a:solidFill>
                  <a:srgbClr val="D4D4D4"/>
                </a:solidFill>
                <a:latin typeface="Consolas"/>
              </a:rPr>
              <a:t>obtenido</a:t>
            </a:r>
            <a:r>
              <a:rPr sz="1300" i="0" b="0">
                <a:solidFill>
                  <a:srgbClr val="D4D4D4"/>
                </a:solidFill>
                <a:latin typeface="Consolas"/>
              </a:rPr>
              <a:t> </a:t>
            </a:r>
            <a:r>
              <a:rPr sz="1300" i="0" b="0">
                <a:solidFill>
                  <a:srgbClr val="4EC9B0"/>
                </a:solidFill>
                <a:latin typeface="Consolas"/>
              </a:rPr>
              <a:t>TEXT</a:t>
            </a:r>
            <a:r>
              <a:rPr sz="1300" i="0" b="0">
                <a:solidFill>
                  <a:srgbClr val="D4D4D4"/>
                </a:solidFill>
                <a:latin typeface="Consolas"/>
              </a:rPr>
              <a:t>, </a:t>
            </a:r>
            <a:r>
              <a:rPr sz="1300" i="0" b="0">
                <a:solidFill>
                  <a:srgbClr val="D4D4D4"/>
                </a:solidFill>
                <a:latin typeface="Consolas"/>
              </a:rPr>
              <a:t>paso</a:t>
            </a:r>
            <a:r>
              <a:rPr sz="1300" i="0" b="0">
                <a:solidFill>
                  <a:srgbClr val="D4D4D4"/>
                </a:solidFill>
                <a:latin typeface="Consolas"/>
              </a:rPr>
              <a:t> </a:t>
            </a:r>
            <a:r>
              <a:rPr sz="1300" i="0" b="0">
                <a:solidFill>
                  <a:srgbClr val="4EC9B0"/>
                </a:solidFill>
                <a:latin typeface="Consolas"/>
              </a:rPr>
              <a:t>BOOLEAN</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Caso de error: debe fallar, y por la razon esperada.</a:t>
            </a:r>
          </a:p>
          <a:p>
            <a:pPr>
              <a:spcAft>
                <a:spcPts val="278"/>
              </a:spcAft>
            </a:pPr>
            <a:r>
              <a:rPr sz="1300" i="0" b="0">
                <a:solidFill>
                  <a:srgbClr val="569CD6"/>
                </a:solidFill>
                <a:latin typeface="Consolas"/>
              </a:rPr>
              <a:t>DO</a:t>
            </a:r>
            <a:r>
              <a:rPr sz="1300" i="0" b="0">
                <a:solidFill>
                  <a:srgbClr val="D4D4D4"/>
                </a:solidFill>
                <a:latin typeface="Consolas"/>
              </a:rPr>
              <a:t> </a:t>
            </a:r>
            <a:r>
              <a:rPr sz="1300" i="0" b="0">
                <a:solidFill>
                  <a:srgbClr val="569CD6"/>
                </a:solidFill>
                <a:latin typeface="Consolas"/>
              </a:rPr>
              <a:t>$$</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CALL</a:t>
            </a:r>
            <a:r>
              <a:rPr sz="1300" i="0" b="0">
                <a:solidFill>
                  <a:srgbClr val="D4D4D4"/>
                </a:solidFill>
                <a:latin typeface="Consolas"/>
              </a:rPr>
              <a:t> </a:t>
            </a:r>
            <a:r>
              <a:rPr sz="1300" i="0" b="0">
                <a:solidFill>
                  <a:srgbClr val="DCDCAA"/>
                </a:solidFill>
                <a:latin typeface="Consolas"/>
              </a:rPr>
              <a:t>sp_dar_de_baja_insumo</a:t>
            </a:r>
            <a:r>
              <a:rPr sz="1300" i="0" b="0">
                <a:solidFill>
                  <a:srgbClr val="D4D4D4"/>
                </a:solidFill>
                <a:latin typeface="Consolas"/>
              </a:rPr>
              <a:t>(</a:t>
            </a:r>
            <a:r>
              <a:rPr sz="1300" i="0" b="0">
                <a:solidFill>
                  <a:srgbClr val="B5CEA8"/>
                </a:solidFill>
                <a:latin typeface="Consolas"/>
              </a:rPr>
              <a:t>9999</a:t>
            </a:r>
            <a:r>
              <a:rPr sz="1300" i="0" b="0">
                <a:solidFill>
                  <a:srgbClr val="D4D4D4"/>
                </a:solidFill>
                <a:latin typeface="Consolas"/>
              </a:rPr>
              <a:t>, </a:t>
            </a:r>
            <a:r>
              <a:rPr sz="1300" i="0" b="0">
                <a:solidFill>
                  <a:srgbClr val="CE9178"/>
                </a:solidFill>
                <a:latin typeface="Consolas"/>
              </a:rPr>
              <a:t>'inexistente'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resultado_prueba</a:t>
            </a:r>
            <a:r>
              <a:rPr sz="1300" i="0" b="0">
                <a:solidFill>
                  <a:srgbClr val="D4D4D4"/>
                </a:solidFill>
                <a:latin typeface="Consolas"/>
              </a:rPr>
              <a:t> (</a:t>
            </a:r>
            <a:r>
              <a:rPr sz="1300" i="0" b="0">
                <a:solidFill>
                  <a:srgbClr val="D4D4D4"/>
                </a:solidFill>
                <a:latin typeface="Consolas"/>
              </a:rPr>
              <a:t>caso</a:t>
            </a:r>
            <a:r>
              <a:rPr sz="1300" i="0" b="0">
                <a:solidFill>
                  <a:srgbClr val="D4D4D4"/>
                </a:solidFill>
                <a:latin typeface="Consolas"/>
              </a:rPr>
              <a:t>, </a:t>
            </a:r>
            <a:r>
              <a:rPr sz="1300" i="0" b="0">
                <a:solidFill>
                  <a:srgbClr val="D4D4D4"/>
                </a:solidFill>
                <a:latin typeface="Consolas"/>
              </a:rPr>
              <a:t>esperado</a:t>
            </a:r>
            <a:r>
              <a:rPr sz="1300" i="0" b="0">
                <a:solidFill>
                  <a:srgbClr val="D4D4D4"/>
                </a:solidFill>
                <a:latin typeface="Consolas"/>
              </a:rPr>
              <a:t>, </a:t>
            </a:r>
            <a:r>
              <a:rPr sz="1300" i="0" b="0">
                <a:solidFill>
                  <a:srgbClr val="D4D4D4"/>
                </a:solidFill>
                <a:latin typeface="Consolas"/>
              </a:rPr>
              <a:t>obtenido</a:t>
            </a:r>
            <a:r>
              <a:rPr sz="1300" i="0" b="0">
                <a:solidFill>
                  <a:srgbClr val="D4D4D4"/>
                </a:solidFill>
                <a:latin typeface="Consolas"/>
              </a:rPr>
              <a:t>, </a:t>
            </a:r>
            <a:r>
              <a:rPr sz="1300" i="0" b="0">
                <a:solidFill>
                  <a:srgbClr val="D4D4D4"/>
                </a:solidFill>
                <a:latin typeface="Consolas"/>
              </a:rPr>
              <a:t>paso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CE9178"/>
                </a:solidFill>
                <a:latin typeface="Consolas"/>
              </a:rPr>
              <a:t>'insumo 9999'</a:t>
            </a:r>
            <a:r>
              <a:rPr sz="1300" i="0" b="0">
                <a:solidFill>
                  <a:srgbClr val="D4D4D4"/>
                </a:solidFill>
                <a:latin typeface="Consolas"/>
              </a:rPr>
              <a:t>, </a:t>
            </a:r>
            <a:r>
              <a:rPr sz="1300" i="0" b="0">
                <a:solidFill>
                  <a:srgbClr val="CE9178"/>
                </a:solidFill>
                <a:latin typeface="Consolas"/>
              </a:rPr>
              <a:t>'no existe'</a:t>
            </a:r>
            <a:r>
              <a:rPr sz="1300" i="0" b="0">
                <a:solidFill>
                  <a:srgbClr val="D4D4D4"/>
                </a:solidFill>
                <a:latin typeface="Consolas"/>
              </a:rPr>
              <a:t>, </a:t>
            </a:r>
            <a:r>
              <a:rPr sz="1300" i="0" b="0">
                <a:solidFill>
                  <a:srgbClr val="CE9178"/>
                </a:solidFill>
                <a:latin typeface="Consolas"/>
              </a:rPr>
              <a:t>'no lanzo error'</a:t>
            </a:r>
            <a:r>
              <a:rPr sz="1300" i="0" b="0">
                <a:solidFill>
                  <a:srgbClr val="D4D4D4"/>
                </a:solidFill>
                <a:latin typeface="Consolas"/>
              </a:rPr>
              <a:t>, </a:t>
            </a:r>
            <a:r>
              <a:rPr sz="1300" i="0" b="0">
                <a:solidFill>
                  <a:srgbClr val="569CD6"/>
                </a:solidFill>
                <a:latin typeface="Consolas"/>
              </a:rPr>
              <a:t>FALSE</a:t>
            </a:r>
            <a:r>
              <a:rPr sz="1300" i="0" b="0">
                <a:solidFill>
                  <a:srgbClr val="D4D4D4"/>
                </a:solidFill>
                <a:latin typeface="Consolas"/>
              </a:rPr>
              <a:t>);</a:t>
            </a:r>
          </a:p>
          <a:p>
            <a:pPr>
              <a:spcAft>
                <a:spcPts val="278"/>
              </a:spcAft>
            </a:pPr>
            <a:r>
              <a:rPr sz="1300" i="0" b="0">
                <a:solidFill>
                  <a:srgbClr val="569CD6"/>
                </a:solidFill>
                <a:latin typeface="Consolas"/>
              </a:rPr>
              <a:t>EXCEPTION</a:t>
            </a:r>
            <a:r>
              <a:rPr sz="1300" i="0" b="0">
                <a:solidFill>
                  <a:srgbClr val="D4D4D4"/>
                </a:solidFill>
                <a:latin typeface="Consolas"/>
              </a:rPr>
              <a:t> </a:t>
            </a: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OTHERS</a:t>
            </a:r>
            <a:r>
              <a:rPr sz="1300" i="0" b="0">
                <a:solidFill>
                  <a:srgbClr val="D4D4D4"/>
                </a:solidFill>
                <a:latin typeface="Consolas"/>
              </a:rPr>
              <a:t> </a:t>
            </a:r>
            <a:r>
              <a:rPr sz="1300" i="0" b="0">
                <a:solidFill>
                  <a:srgbClr val="569CD6"/>
                </a:solidFill>
                <a:latin typeface="Consolas"/>
              </a:rPr>
              <a:t>THEN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resultado_prueba</a:t>
            </a:r>
            <a:r>
              <a:rPr sz="1300" i="0" b="0">
                <a:solidFill>
                  <a:srgbClr val="D4D4D4"/>
                </a:solidFill>
                <a:latin typeface="Consolas"/>
              </a:rPr>
              <a:t> (</a:t>
            </a:r>
            <a:r>
              <a:rPr sz="1300" i="0" b="0">
                <a:solidFill>
                  <a:srgbClr val="D4D4D4"/>
                </a:solidFill>
                <a:latin typeface="Consolas"/>
              </a:rPr>
              <a:t>caso</a:t>
            </a:r>
            <a:r>
              <a:rPr sz="1300" i="0" b="0">
                <a:solidFill>
                  <a:srgbClr val="D4D4D4"/>
                </a:solidFill>
                <a:latin typeface="Consolas"/>
              </a:rPr>
              <a:t>, </a:t>
            </a:r>
            <a:r>
              <a:rPr sz="1300" i="0" b="0">
                <a:solidFill>
                  <a:srgbClr val="D4D4D4"/>
                </a:solidFill>
                <a:latin typeface="Consolas"/>
              </a:rPr>
              <a:t>esperado</a:t>
            </a:r>
            <a:r>
              <a:rPr sz="1300" i="0" b="0">
                <a:solidFill>
                  <a:srgbClr val="D4D4D4"/>
                </a:solidFill>
                <a:latin typeface="Consolas"/>
              </a:rPr>
              <a:t>, </a:t>
            </a:r>
            <a:r>
              <a:rPr sz="1300" i="0" b="0">
                <a:solidFill>
                  <a:srgbClr val="D4D4D4"/>
                </a:solidFill>
                <a:latin typeface="Consolas"/>
              </a:rPr>
              <a:t>obtenido</a:t>
            </a:r>
            <a:r>
              <a:rPr sz="1300" i="0" b="0">
                <a:solidFill>
                  <a:srgbClr val="D4D4D4"/>
                </a:solidFill>
                <a:latin typeface="Consolas"/>
              </a:rPr>
              <a:t>, </a:t>
            </a:r>
            <a:r>
              <a:rPr sz="1300" i="0" b="0">
                <a:solidFill>
                  <a:srgbClr val="D4D4D4"/>
                </a:solidFill>
                <a:latin typeface="Consolas"/>
              </a:rPr>
              <a:t>paso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CE9178"/>
                </a:solidFill>
                <a:latin typeface="Consolas"/>
              </a:rPr>
              <a:t>'insumo 9999'</a:t>
            </a:r>
            <a:r>
              <a:rPr sz="1300" i="0" b="0">
                <a:solidFill>
                  <a:srgbClr val="D4D4D4"/>
                </a:solidFill>
                <a:latin typeface="Consolas"/>
              </a:rPr>
              <a:t>, </a:t>
            </a:r>
            <a:r>
              <a:rPr sz="1300" i="0" b="0">
                <a:solidFill>
                  <a:srgbClr val="CE9178"/>
                </a:solidFill>
                <a:latin typeface="Consolas"/>
              </a:rPr>
              <a:t>'no existe'</a:t>
            </a:r>
            <a:r>
              <a:rPr sz="1300" i="0" b="0">
                <a:solidFill>
                  <a:srgbClr val="D4D4D4"/>
                </a:solidFill>
                <a:latin typeface="Consolas"/>
              </a:rPr>
              <a:t>, </a:t>
            </a:r>
            <a:r>
              <a:rPr sz="1300" i="0" b="0">
                <a:solidFill>
                  <a:srgbClr val="D4D4D4"/>
                </a:solidFill>
                <a:latin typeface="Consolas"/>
              </a:rPr>
              <a:t>SQLERRM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SQLERRM</a:t>
            </a:r>
            <a:r>
              <a:rPr sz="1300" i="0" b="0">
                <a:solidFill>
                  <a:srgbClr val="D4D4D4"/>
                </a:solidFill>
                <a:latin typeface="Consolas"/>
              </a:rPr>
              <a:t> </a:t>
            </a:r>
            <a:r>
              <a:rPr sz="1300" i="0" b="0">
                <a:solidFill>
                  <a:srgbClr val="569CD6"/>
                </a:solidFill>
                <a:latin typeface="Consolas"/>
              </a:rPr>
              <a:t>ILIKE</a:t>
            </a:r>
            <a:r>
              <a:rPr sz="1300" i="0" b="0">
                <a:solidFill>
                  <a:srgbClr val="D4D4D4"/>
                </a:solidFill>
                <a:latin typeface="Consolas"/>
              </a:rPr>
              <a:t> </a:t>
            </a:r>
            <a:r>
              <a:rPr sz="1300" i="0" b="0">
                <a:solidFill>
                  <a:srgbClr val="CE9178"/>
                </a:solidFill>
                <a:latin typeface="Consolas"/>
              </a:rPr>
              <a:t>'%no existe%'</a:t>
            </a:r>
            <a:r>
              <a:rPr sz="1300" i="0" b="0">
                <a:solidFill>
                  <a:srgbClr val="D4D4D4"/>
                </a:solidFill>
                <a:latin typeface="Consolas"/>
              </a:rPr>
              <a:t>);</a:t>
            </a:r>
          </a:p>
          <a:p>
            <a:pPr>
              <a:spcAft>
                <a:spcPts val="278"/>
              </a:spcAft>
            </a:pP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SELECT</a:t>
            </a:r>
            <a:r>
              <a:rPr sz="1300" i="0" b="0">
                <a:solidFill>
                  <a:srgbClr val="D4D4D4"/>
                </a:solidFill>
                <a:latin typeface="Consolas"/>
              </a:rPr>
              <a:t> </a:t>
            </a:r>
            <a:r>
              <a:rPr sz="1300" i="0" b="0">
                <a:solidFill>
                  <a:srgbClr val="D4D4D4"/>
                </a:solidFill>
                <a:latin typeface="Consolas"/>
              </a:rPr>
              <a:t>caso</a:t>
            </a:r>
            <a:r>
              <a:rPr sz="1300" i="0" b="0">
                <a:solidFill>
                  <a:srgbClr val="D4D4D4"/>
                </a:solidFill>
                <a:latin typeface="Consolas"/>
              </a:rPr>
              <a:t>, </a:t>
            </a:r>
            <a:r>
              <a:rPr sz="1300" i="0" b="0">
                <a:solidFill>
                  <a:srgbClr val="D4D4D4"/>
                </a:solidFill>
                <a:latin typeface="Consolas"/>
              </a:rPr>
              <a:t>obtenido</a:t>
            </a:r>
            <a:r>
              <a:rPr sz="1300" i="0" b="0">
                <a:solidFill>
                  <a:srgbClr val="D4D4D4"/>
                </a:solidFill>
                <a:latin typeface="Consolas"/>
              </a:rPr>
              <a:t>, </a:t>
            </a:r>
            <a:r>
              <a:rPr sz="1300" i="0" b="0">
                <a:solidFill>
                  <a:srgbClr val="D4D4D4"/>
                </a:solidFill>
                <a:latin typeface="Consolas"/>
              </a:rPr>
              <a:t>paso</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resultado_prueba</a:t>
            </a:r>
            <a:r>
              <a:rPr sz="1300" i="0" b="0">
                <a:solidFill>
                  <a:srgbClr val="D4D4D4"/>
                </a:solidFill>
                <a:latin typeface="Consolas"/>
              </a:rPr>
              <a:t>;</a:t>
            </a:r>
          </a:p>
          <a:p>
            <a:pPr>
              <a:spcAft>
                <a:spcPts val="278"/>
              </a:spcAft>
            </a:pPr>
            <a:r>
              <a:rPr sz="1300" i="1" b="0">
                <a:solidFill>
                  <a:srgbClr val="6A9955"/>
                </a:solidFill>
                <a:latin typeface="Consolas"/>
              </a:rPr>
              <a:t>-- insumo 9999 | El insumo 9999 no existe | 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Cada caso va en su propio DO con EXCEPTION: el error se captura, se registra con SQLERRM en resultado_prueba y el script sigue al caso siguiente en vez de abortar.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molde de un caso de error y la prueba del conteo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procedimiento sin bateria no esta terminado: cada caso de error se prueba en su propio bloque</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caso-error-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En un caso de error, si el CALL termina </a:t>
            </a:r>
            <a:r>
              <a:rPr sz="2000" b="1" i="0">
                <a:solidFill>
                  <a:srgbClr val="333333"/>
                </a:solidFill>
                <a:latin typeface="Calibri"/>
              </a:rPr>
              <a:t>sin excepción</a:t>
            </a:r>
            <a:r>
              <a:rPr sz="2000" b="0" i="0">
                <a:solidFill>
                  <a:srgbClr val="333333"/>
                </a:solidFill>
                <a:latin typeface="Calibri"/>
              </a:rPr>
              <a:t> la prueba falló y se registra así.</a:t>
            </a:r>
          </a:p>
          <a:p>
            <a:pPr>
              <a:spcAft>
                <a:spcPts val="800"/>
              </a:spcAft>
            </a:pPr>
            <a:r>
              <a:rPr sz="2000" b="0" i="0">
                <a:solidFill>
                  <a:srgbClr val="333333"/>
                </a:solidFill>
                <a:latin typeface="Calibri"/>
              </a:rPr>
              <a:t>–   Si cae en </a:t>
            </a:r>
            <a:r>
              <a:rPr sz="2000" b="1" i="0">
                <a:solidFill>
                  <a:srgbClr val="333333"/>
                </a:solidFill>
                <a:latin typeface="Calibri"/>
              </a:rPr>
              <a:t>EXCEPTION</a:t>
            </a:r>
            <a:r>
              <a:rPr sz="2000" b="0" i="0">
                <a:solidFill>
                  <a:srgbClr val="333333"/>
                </a:solidFill>
                <a:latin typeface="Calibri"/>
              </a:rPr>
              <a:t>, se guarda SQLERRM, el texto del error recién capturado.</a:t>
            </a:r>
          </a:p>
          <a:p>
            <a:pPr>
              <a:spcAft>
                <a:spcPts val="800"/>
              </a:spcAft>
            </a:pPr>
            <a:r>
              <a:rPr sz="2000" b="0" i="0">
                <a:solidFill>
                  <a:srgbClr val="333333"/>
                </a:solidFill>
                <a:latin typeface="Calibri"/>
              </a:rPr>
              <a:t>–   Son </a:t>
            </a:r>
            <a:r>
              <a:rPr sz="2000" b="1" i="0">
                <a:solidFill>
                  <a:srgbClr val="333333"/>
                </a:solidFill>
                <a:latin typeface="Calibri"/>
              </a:rPr>
              <a:t>cuatro casos</a:t>
            </a:r>
            <a:r>
              <a:rPr sz="2000" b="0" i="0">
                <a:solidFill>
                  <a:srgbClr val="333333"/>
                </a:solidFill>
                <a:latin typeface="Calibri"/>
              </a:rPr>
              <a:t>: mascota activa, inactiva, inexistente y franja ocupada, cada uno en su bloque.</a:t>
            </a:r>
          </a:p>
          <a:p>
            <a:pPr>
              <a:spcAft>
                <a:spcPts val="800"/>
              </a:spcAft>
            </a:pPr>
            <a:r>
              <a:rPr sz="2000" b="0" i="0">
                <a:solidFill>
                  <a:srgbClr val="333333"/>
                </a:solidFill>
                <a:latin typeface="Calibri"/>
              </a:rPr>
              <a:t>–   Un conteo de cita antes y después debe pasar de </a:t>
            </a:r>
            <a:r>
              <a:rPr sz="2000" b="1" i="0">
                <a:solidFill>
                  <a:srgbClr val="333333"/>
                </a:solidFill>
                <a:latin typeface="Calibri"/>
              </a:rPr>
              <a:t>10 a 11</a:t>
            </a:r>
            <a:r>
              <a:rPr sz="2000" b="0" i="0">
                <a:solidFill>
                  <a:srgbClr val="333333"/>
                </a:solidFill>
                <a:latin typeface="Calibri"/>
              </a:rPr>
              <a:t>: el válido escribió y los errores 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significa la columna paso, y la trampa del WHEN OTHERS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mpa-when-other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mpa-when-other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mpa-when-other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trampa-when-other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procedimiento </a:t>
            </a:r>
            <a:r>
              <a:rPr sz="2000" b="1" i="0">
                <a:solidFill>
                  <a:srgbClr val="333333"/>
                </a:solidFill>
                <a:latin typeface="Calibri"/>
              </a:rPr>
              <a:t>roto</a:t>
            </a:r>
            <a:r>
              <a:rPr sz="2000" b="0" i="0">
                <a:solidFill>
                  <a:srgbClr val="333333"/>
                </a:solidFill>
                <a:latin typeface="Calibri"/>
              </a:rPr>
              <a:t> también lanza excepción: una columna mal escrita, un tipo o una tabla.</a:t>
            </a:r>
          </a:p>
          <a:p>
            <a:pPr>
              <a:spcAft>
                <a:spcPts val="800"/>
              </a:spcAft>
            </a:pPr>
            <a:r>
              <a:rPr sz="2000" b="0" i="0">
                <a:solidFill>
                  <a:srgbClr val="333333"/>
                </a:solidFill>
                <a:latin typeface="Calibri"/>
              </a:rPr>
              <a:t>–   Por eso paso = TRUE «porque hubo error» da un </a:t>
            </a:r>
            <a:r>
              <a:rPr sz="2000" b="1" i="0">
                <a:solidFill>
                  <a:srgbClr val="333333"/>
                </a:solidFill>
                <a:latin typeface="Calibri"/>
              </a:rPr>
              <a:t>falso positivo</a:t>
            </a:r>
            <a:r>
              <a:rPr sz="2000" b="0" i="0">
                <a:solidFill>
                  <a:srgbClr val="333333"/>
                </a:solidFill>
                <a:latin typeface="Calibri"/>
              </a:rPr>
              <a:t>.</a:t>
            </a:r>
          </a:p>
          <a:p>
            <a:pPr>
              <a:spcAft>
                <a:spcPts val="800"/>
              </a:spcAft>
            </a:pPr>
            <a:r>
              <a:rPr sz="2000" b="0" i="0">
                <a:solidFill>
                  <a:srgbClr val="333333"/>
                </a:solidFill>
                <a:latin typeface="Calibri"/>
              </a:rPr>
              <a:t>–   Se verifica el </a:t>
            </a:r>
            <a:r>
              <a:rPr sz="2000" b="1" i="0">
                <a:solidFill>
                  <a:srgbClr val="333333"/>
                </a:solidFill>
                <a:latin typeface="Calibri"/>
              </a:rPr>
              <a:t>texto</a:t>
            </a:r>
            <a:r>
              <a:rPr sz="2000" b="0" i="0">
                <a:solidFill>
                  <a:srgbClr val="333333"/>
                </a:solidFill>
                <a:latin typeface="Calibri"/>
              </a:rPr>
              <a:t>: paso := SQLERRM ILIKE '%inactiva%' afirma que falló y por qué.</a:t>
            </a:r>
          </a:p>
          <a:p>
            <a:pPr>
              <a:spcAft>
                <a:spcPts val="800"/>
              </a:spcAft>
            </a:pPr>
            <a:r>
              <a:rPr sz="2000" b="0" i="0">
                <a:solidFill>
                  <a:srgbClr val="333333"/>
                </a:solidFill>
                <a:latin typeface="Calibri"/>
              </a:rPr>
              <a:t>–   La columna paso tiene </a:t>
            </a:r>
            <a:r>
              <a:rPr sz="2000" b="1" i="0">
                <a:solidFill>
                  <a:srgbClr val="333333"/>
                </a:solidFill>
                <a:latin typeface="Calibri"/>
              </a:rPr>
              <a:t>una sola lectura</a:t>
            </a:r>
            <a:r>
              <a:rPr sz="2000" b="0" i="0">
                <a:solidFill>
                  <a:srgbClr val="333333"/>
                </a:solidFill>
                <a:latin typeface="Calibri"/>
              </a:rPr>
              <a:t> para las cuatro filas, y se declara.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columna paso y la trampa de WHEN OTHERS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olumna-pas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caso de error, llegar al final </a:t>
            </a:r>
            <a:r>
              <a:rPr sz="2000" b="1" i="0">
                <a:solidFill>
                  <a:srgbClr val="333333"/>
                </a:solidFill>
                <a:latin typeface="Calibri"/>
              </a:rPr>
              <a:t>sin excepción</a:t>
            </a:r>
            <a:r>
              <a:rPr sz="2000" b="0" i="0">
                <a:solidFill>
                  <a:srgbClr val="333333"/>
                </a:solidFill>
                <a:latin typeface="Calibri"/>
              </a:rPr>
              <a:t> es el fallo de la prueba.</a:t>
            </a:r>
          </a:p>
          <a:p>
            <a:pPr>
              <a:spcAft>
                <a:spcPts val="800"/>
              </a:spcAft>
            </a:pPr>
            <a:r>
              <a:rPr sz="2000" b="0" i="0">
                <a:solidFill>
                  <a:srgbClr val="333333"/>
                </a:solidFill>
                <a:latin typeface="Calibri"/>
              </a:rPr>
              <a:t>–   No basta con que falle: </a:t>
            </a:r>
            <a:r>
              <a:rPr sz="2000" b="1" i="0">
                <a:solidFill>
                  <a:srgbClr val="333333"/>
                </a:solidFill>
                <a:latin typeface="Calibri"/>
              </a:rPr>
              <a:t>SQLERRM ILIKE</a:t>
            </a:r>
            <a:r>
              <a:rPr sz="2000" b="0" i="0">
                <a:solidFill>
                  <a:srgbClr val="333333"/>
                </a:solidFill>
                <a:latin typeface="Calibri"/>
              </a:rPr>
              <a:t> comprueba que falló por la razón esperada.</a:t>
            </a:r>
          </a:p>
          <a:p>
            <a:pPr>
              <a:spcAft>
                <a:spcPts val="800"/>
              </a:spcAft>
            </a:pPr>
            <a:r>
              <a:rPr sz="2000" b="0" i="0">
                <a:solidFill>
                  <a:srgbClr val="333333"/>
                </a:solidFill>
                <a:latin typeface="Calibri"/>
              </a:rPr>
              <a:t>–   paso admite dos lecturas, </a:t>
            </a:r>
            <a:r>
              <a:rPr sz="2000" b="1" i="0">
                <a:solidFill>
                  <a:srgbClr val="333333"/>
                </a:solidFill>
                <a:latin typeface="Calibri"/>
              </a:rPr>
              <a:t>coincidió con lo esperado</a:t>
            </a:r>
            <a:r>
              <a:rPr sz="2000" b="0" i="0">
                <a:solidFill>
                  <a:srgbClr val="333333"/>
                </a:solidFill>
                <a:latin typeface="Calibri"/>
              </a:rPr>
              <a:t> o </a:t>
            </a:r>
            <a:r>
              <a:rPr sz="2000" b="1" i="0">
                <a:solidFill>
                  <a:srgbClr val="333333"/>
                </a:solidFill>
                <a:latin typeface="Calibri"/>
              </a:rPr>
              <a:t>se completó</a:t>
            </a:r>
            <a:r>
              <a:rPr sz="2000" b="0" i="0">
                <a:solidFill>
                  <a:srgbClr val="333333"/>
                </a:solidFill>
                <a:latin typeface="Calibri"/>
              </a:rPr>
              <a:t>, y las dos valen.</a:t>
            </a:r>
          </a:p>
          <a:p>
            <a:pPr>
              <a:spcAft>
                <a:spcPts val="800"/>
              </a:spcAft>
            </a:pPr>
            <a:r>
              <a:rPr sz="2000" b="0" i="0">
                <a:solidFill>
                  <a:srgbClr val="333333"/>
                </a:solidFill>
                <a:latin typeface="Calibri"/>
              </a:rPr>
              <a:t>–   Se usa </a:t>
            </a:r>
            <a:r>
              <a:rPr sz="2000" b="1" i="0">
                <a:solidFill>
                  <a:srgbClr val="333333"/>
                </a:solidFill>
                <a:latin typeface="Calibri"/>
              </a:rPr>
              <a:t>la misma</a:t>
            </a:r>
            <a:r>
              <a:rPr sz="2000" b="0" i="0">
                <a:solidFill>
                  <a:srgbClr val="333333"/>
                </a:solidFill>
                <a:latin typeface="Calibri"/>
              </a:rPr>
              <a:t> lectura en las cuatro filas y se dice cuál en una línea.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del procedimiento: los 6 bloques que consume la app</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trato-seis-blo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trato-seis-blo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trato-seis-bloqu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a:t>
            </a:r>
            <a:r>
              <a:rPr sz="2000" b="1" i="0">
                <a:solidFill>
                  <a:srgbClr val="333333"/>
                </a:solidFill>
                <a:latin typeface="Calibri"/>
              </a:rPr>
              <a:t>contrato</a:t>
            </a:r>
            <a:r>
              <a:rPr sz="2000" b="0" i="0">
                <a:solidFill>
                  <a:srgbClr val="333333"/>
                </a:solidFill>
                <a:latin typeface="Calibri"/>
              </a:rPr>
              <a:t> se escribe para quien llama al procedimiento sin abrir su código.</a:t>
            </a:r>
          </a:p>
          <a:p>
            <a:pPr>
              <a:spcAft>
                <a:spcPts val="800"/>
              </a:spcAft>
            </a:pPr>
            <a:r>
              <a:rPr sz="2000" b="0" i="0">
                <a:solidFill>
                  <a:srgbClr val="333333"/>
                </a:solidFill>
                <a:latin typeface="Calibri"/>
              </a:rPr>
              <a:t>–   Firma y </a:t>
            </a:r>
            <a:r>
              <a:rPr sz="2000" b="1" i="0">
                <a:solidFill>
                  <a:srgbClr val="333333"/>
                </a:solidFill>
                <a:latin typeface="Calibri"/>
              </a:rPr>
              <a:t>ejemplo de llamada</a:t>
            </a:r>
            <a:r>
              <a:rPr sz="2000" b="0" i="0">
                <a:solidFill>
                  <a:srgbClr val="333333"/>
                </a:solidFill>
                <a:latin typeface="Calibri"/>
              </a:rPr>
              <a:t> dicen cómo se declara y cómo se invoca, con valores reales.</a:t>
            </a:r>
          </a:p>
          <a:p>
            <a:pPr>
              <a:spcAft>
                <a:spcPts val="800"/>
              </a:spcAft>
            </a:pPr>
            <a:r>
              <a:rPr sz="2000" b="0" i="0">
                <a:solidFill>
                  <a:srgbClr val="333333"/>
                </a:solidFill>
                <a:latin typeface="Calibri"/>
              </a:rPr>
              <a:t>–   Las </a:t>
            </a:r>
            <a:r>
              <a:rPr sz="2000" b="1" i="0">
                <a:solidFill>
                  <a:srgbClr val="333333"/>
                </a:solidFill>
                <a:latin typeface="Calibri"/>
              </a:rPr>
              <a:t>pre y postcondiciones</a:t>
            </a:r>
            <a:r>
              <a:rPr sz="2000" b="0" i="0">
                <a:solidFill>
                  <a:srgbClr val="333333"/>
                </a:solidFill>
                <a:latin typeface="Calibri"/>
              </a:rPr>
              <a:t> dicen qué debe ser cierto antes y qué queda después.</a:t>
            </a:r>
          </a:p>
          <a:p>
            <a:pPr>
              <a:spcAft>
                <a:spcPts val="800"/>
              </a:spcAft>
            </a:pPr>
            <a:r>
              <a:rPr sz="2000" b="0" i="0">
                <a:solidFill>
                  <a:srgbClr val="333333"/>
                </a:solidFill>
                <a:latin typeface="Calibri"/>
              </a:rPr>
              <a:t>–   La </a:t>
            </a:r>
            <a:r>
              <a:rPr sz="2000" b="1" i="0">
                <a:solidFill>
                  <a:srgbClr val="333333"/>
                </a:solidFill>
                <a:latin typeface="Calibri"/>
              </a:rPr>
              <a:t>tabla de errores</a:t>
            </a:r>
            <a:r>
              <a:rPr sz="2000" b="0" i="0">
                <a:solidFill>
                  <a:srgbClr val="333333"/>
                </a:solidFill>
                <a:latin typeface="Calibri"/>
              </a:rPr>
              <a:t> lleva el mensaje literal, y la decisión de diseño explica por qué aborta.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6 bloques del contrato, uno por uno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contrato es lo que lee quien llama: firma, ejemplo, pre y postcondiciones, errores y la decision de diseno</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contrato-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firma</a:t>
            </a:r>
            <a:r>
              <a:rPr sz="2000" b="0" i="0">
                <a:solidFill>
                  <a:srgbClr val="333333"/>
                </a:solidFill>
                <a:latin typeface="Calibri"/>
              </a:rPr>
              <a:t> lleva nombre, orden y tipo de cada parámetro; sin tipos es una descripción.</a:t>
            </a:r>
          </a:p>
          <a:p>
            <a:pPr>
              <a:spcAft>
                <a:spcPts val="800"/>
              </a:spcAft>
            </a:pPr>
            <a:r>
              <a:rPr sz="2000" b="0" i="0">
                <a:solidFill>
                  <a:srgbClr val="333333"/>
                </a:solidFill>
                <a:latin typeface="Calibri"/>
              </a:rPr>
              <a:t>–   El </a:t>
            </a:r>
            <a:r>
              <a:rPr sz="2000" b="1" i="0">
                <a:solidFill>
                  <a:srgbClr val="333333"/>
                </a:solidFill>
                <a:latin typeface="Calibri"/>
              </a:rPr>
              <a:t>ejemplo</a:t>
            </a:r>
            <a:r>
              <a:rPr sz="2000" b="0" i="0">
                <a:solidFill>
                  <a:srgbClr val="333333"/>
                </a:solidFill>
                <a:latin typeface="Calibri"/>
              </a:rPr>
              <a:t> es un CALL con valores reales que se puede copiar y correr tal cual.</a:t>
            </a:r>
          </a:p>
          <a:p>
            <a:pPr>
              <a:spcAft>
                <a:spcPts val="800"/>
              </a:spcAft>
            </a:pPr>
            <a:r>
              <a:rPr sz="2000" b="0" i="0">
                <a:solidFill>
                  <a:srgbClr val="333333"/>
                </a:solidFill>
                <a:latin typeface="Calibri"/>
              </a:rPr>
              <a:t>–   La </a:t>
            </a:r>
            <a:r>
              <a:rPr sz="2000" b="1" i="0">
                <a:solidFill>
                  <a:srgbClr val="333333"/>
                </a:solidFill>
                <a:latin typeface="Calibri"/>
              </a:rPr>
              <a:t>postcondición</a:t>
            </a:r>
            <a:r>
              <a:rPr sz="2000" b="0" i="0">
                <a:solidFill>
                  <a:srgbClr val="333333"/>
                </a:solidFill>
                <a:latin typeface="Calibri"/>
              </a:rPr>
              <a:t> del caso malo es explícita: si la llamada falla, no queda nada en cita.</a:t>
            </a:r>
          </a:p>
          <a:p>
            <a:pPr>
              <a:spcAft>
                <a:spcPts val="800"/>
              </a:spcAft>
            </a:pPr>
            <a:r>
              <a:rPr sz="2000" b="0" i="0">
                <a:solidFill>
                  <a:srgbClr val="333333"/>
                </a:solidFill>
                <a:latin typeface="Calibri"/>
              </a:rPr>
              <a:t>–   Cada RAISE EXCEPTION es una fila de la </a:t>
            </a:r>
            <a:r>
              <a:rPr sz="2000" b="1" i="0">
                <a:solidFill>
                  <a:srgbClr val="333333"/>
                </a:solidFill>
                <a:latin typeface="Calibri"/>
              </a:rPr>
              <a:t>tabla de errores</a:t>
            </a:r>
            <a:r>
              <a:rPr sz="2000" b="0" i="0">
                <a:solidFill>
                  <a:srgbClr val="333333"/>
                </a:solidFill>
                <a:latin typeface="Calibri"/>
              </a:rPr>
              <a:t>, con su texto exacto.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Procedimiento y funcion: la diferencia se dice hoy, no en la Clase 4</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cedimiento-fun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ocedimiento-fun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ocedimiento-fun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procedimiento</a:t>
            </a:r>
            <a:r>
              <a:rPr sz="2000" b="0" i="0">
                <a:solidFill>
                  <a:srgbClr val="333333"/>
                </a:solidFill>
                <a:latin typeface="Calibri"/>
              </a:rPr>
              <a:t> se llama con CALL para que </a:t>
            </a:r>
            <a:r>
              <a:rPr sz="2000" b="1" i="0">
                <a:solidFill>
                  <a:srgbClr val="333333"/>
                </a:solidFill>
                <a:latin typeface="Calibri"/>
              </a:rPr>
              <a:t>haga</a:t>
            </a:r>
            <a:r>
              <a:rPr sz="2000" b="0" i="0">
                <a:solidFill>
                  <a:srgbClr val="333333"/>
                </a:solidFill>
                <a:latin typeface="Calibri"/>
              </a:rPr>
              <a:t> algo: cambia datos y puede hacer COMMIT.</a:t>
            </a:r>
          </a:p>
          <a:p>
            <a:pPr>
              <a:spcAft>
                <a:spcPts val="800"/>
              </a:spcAft>
            </a:pPr>
            <a:r>
              <a:rPr sz="2000" b="0" i="0">
                <a:solidFill>
                  <a:srgbClr val="333333"/>
                </a:solidFill>
                <a:latin typeface="Calibri"/>
              </a:rPr>
              <a:t>–   Una </a:t>
            </a:r>
            <a:r>
              <a:rPr sz="2000" b="1" i="0">
                <a:solidFill>
                  <a:srgbClr val="333333"/>
                </a:solidFill>
                <a:latin typeface="Calibri"/>
              </a:rPr>
              <a:t>función</a:t>
            </a:r>
            <a:r>
              <a:rPr sz="2000" b="0" i="0">
                <a:solidFill>
                  <a:srgbClr val="333333"/>
                </a:solidFill>
                <a:latin typeface="Calibri"/>
              </a:rPr>
              <a:t> se usa dentro de una consulta para que </a:t>
            </a:r>
            <a:r>
              <a:rPr sz="2000" b="1" i="0">
                <a:solidFill>
                  <a:srgbClr val="333333"/>
                </a:solidFill>
                <a:latin typeface="Calibri"/>
              </a:rPr>
              <a:t>devuelva</a:t>
            </a:r>
            <a:r>
              <a:rPr sz="2000" b="0" i="0">
                <a:solidFill>
                  <a:srgbClr val="333333"/>
                </a:solidFill>
                <a:latin typeface="Calibri"/>
              </a:rPr>
              <a:t> un valor.</a:t>
            </a:r>
          </a:p>
          <a:p>
            <a:pPr>
              <a:spcAft>
                <a:spcPts val="800"/>
              </a:spcAft>
            </a:pPr>
            <a:r>
              <a:rPr sz="2000" b="0" i="0">
                <a:solidFill>
                  <a:srgbClr val="333333"/>
                </a:solidFill>
                <a:latin typeface="Calibri"/>
              </a:rPr>
              <a:t>–   Una función corre en la transacción de quien la llama: </a:t>
            </a:r>
            <a:r>
              <a:rPr sz="2000" b="1" i="0">
                <a:solidFill>
                  <a:srgbClr val="333333"/>
                </a:solidFill>
                <a:latin typeface="Calibri"/>
              </a:rPr>
              <a:t>no</a:t>
            </a:r>
            <a:r>
              <a:rPr sz="2000" b="0" i="0">
                <a:solidFill>
                  <a:srgbClr val="333333"/>
                </a:solidFill>
                <a:latin typeface="Calibri"/>
              </a:rPr>
              <a:t> puede hacer COMMIT ni ROLLBACK.</a:t>
            </a:r>
          </a:p>
          <a:p>
            <a:pPr>
              <a:spcAft>
                <a:spcPts val="800"/>
              </a:spcAft>
            </a:pPr>
            <a:r>
              <a:rPr sz="2000" b="0" i="0">
                <a:solidFill>
                  <a:srgbClr val="333333"/>
                </a:solidFill>
                <a:latin typeface="Calibri"/>
              </a:rPr>
              <a:t>–   SELECT de un procedimiento es un error: el motor responde «</a:t>
            </a:r>
            <a:r>
              <a:rPr sz="2000" b="1" i="0">
                <a:solidFill>
                  <a:srgbClr val="333333"/>
                </a:solidFill>
                <a:latin typeface="Calibri"/>
              </a:rPr>
              <a:t>is a procedure</a:t>
            </a:r>
            <a:r>
              <a:rPr sz="2000" b="0" i="0">
                <a:solidFill>
                  <a:srgbClr val="333333"/>
                </a:solidFill>
                <a:latin typeface="Calibri"/>
              </a:rPr>
              <a:t>» y sugiere CALL.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PROCEDURE o FUNCTION: la diferencia es donde se puede usar</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1" b="0">
                <a:solidFill>
                  <a:srgbClr val="6A9955"/>
                </a:solidFill>
                <a:latin typeface="Consolas"/>
              </a:rPr>
              <a:t>-- FUNCTION devuelve un valor y se puede usar DENTRO de un SELECT.</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OR</a:t>
            </a:r>
            <a:r>
              <a:rPr sz="1800" i="0" b="0">
                <a:solidFill>
                  <a:srgbClr val="D4D4D4"/>
                </a:solidFill>
                <a:latin typeface="Consolas"/>
              </a:rPr>
              <a:t> </a:t>
            </a:r>
            <a:r>
              <a:rPr sz="1800" i="0" b="0">
                <a:solidFill>
                  <a:srgbClr val="569CD6"/>
                </a:solidFill>
                <a:latin typeface="Consolas"/>
              </a:rPr>
              <a:t>REPLACE</a:t>
            </a:r>
            <a:r>
              <a:rPr sz="1800" i="0" b="0">
                <a:solidFill>
                  <a:srgbClr val="D4D4D4"/>
                </a:solidFill>
                <a:latin typeface="Consolas"/>
              </a:rPr>
              <a:t> </a:t>
            </a:r>
            <a:r>
              <a:rPr sz="1800" i="0" b="0">
                <a:solidFill>
                  <a:srgbClr val="569CD6"/>
                </a:solidFill>
                <a:latin typeface="Consolas"/>
              </a:rPr>
              <a:t>FUNCTION</a:t>
            </a:r>
            <a:r>
              <a:rPr sz="1800" i="0" b="0">
                <a:solidFill>
                  <a:srgbClr val="D4D4D4"/>
                </a:solidFill>
                <a:latin typeface="Consolas"/>
              </a:rPr>
              <a:t> </a:t>
            </a:r>
            <a:r>
              <a:rPr sz="1800" i="0" b="0">
                <a:solidFill>
                  <a:srgbClr val="DCDCAA"/>
                </a:solidFill>
                <a:latin typeface="Consolas"/>
              </a:rPr>
              <a:t>fn_citas_del_dia</a:t>
            </a:r>
            <a:r>
              <a:rPr sz="1800" i="0" b="0">
                <a:solidFill>
                  <a:srgbClr val="D4D4D4"/>
                </a:solidFill>
                <a:latin typeface="Consolas"/>
              </a:rPr>
              <a:t>(</a:t>
            </a:r>
            <a:r>
              <a:rPr sz="1800" i="0" b="0">
                <a:solidFill>
                  <a:srgbClr val="D4D4D4"/>
                </a:solidFill>
                <a:latin typeface="Consolas"/>
              </a:rPr>
              <a:t>p_dia</a:t>
            </a:r>
            <a:r>
              <a:rPr sz="1800" i="0" b="0">
                <a:solidFill>
                  <a:srgbClr val="D4D4D4"/>
                </a:solidFill>
                <a:latin typeface="Consolas"/>
              </a:rPr>
              <a:t> </a:t>
            </a:r>
            <a:r>
              <a:rPr sz="1800" i="0" b="0">
                <a:solidFill>
                  <a:srgbClr val="4EC9B0"/>
                </a:solidFill>
                <a:latin typeface="Consolas"/>
              </a:rPr>
              <a:t>DATE</a:t>
            </a:r>
            <a:r>
              <a:rPr sz="1800" i="0" b="0">
                <a:solidFill>
                  <a:srgbClr val="D4D4D4"/>
                </a:solidFill>
                <a:latin typeface="Consolas"/>
              </a:rPr>
              <a:t>)</a:t>
            </a:r>
          </a:p>
          <a:p>
            <a:pPr>
              <a:spcAft>
                <a:spcPts val="385"/>
              </a:spcAft>
            </a:pPr>
            <a:r>
              <a:rPr sz="1800" i="0" b="0">
                <a:solidFill>
                  <a:srgbClr val="569CD6"/>
                </a:solidFill>
                <a:latin typeface="Consolas"/>
              </a:rPr>
              <a:t>RETURNS</a:t>
            </a:r>
            <a:r>
              <a:rPr sz="1800" i="0" b="0">
                <a:solidFill>
                  <a:srgbClr val="D4D4D4"/>
                </a:solidFill>
                <a:latin typeface="Consolas"/>
              </a:rPr>
              <a:t> </a:t>
            </a:r>
            <a:r>
              <a:rPr sz="1800" i="0" b="0">
                <a:solidFill>
                  <a:srgbClr val="4EC9B0"/>
                </a:solidFill>
                <a:latin typeface="Consolas"/>
              </a:rPr>
              <a:t>INT</a:t>
            </a:r>
          </a:p>
          <a:p>
            <a:pPr>
              <a:spcAft>
                <a:spcPts val="385"/>
              </a:spcAft>
            </a:pPr>
            <a:r>
              <a:rPr sz="1800" i="0" b="0">
                <a:solidFill>
                  <a:srgbClr val="569CD6"/>
                </a:solidFill>
                <a:latin typeface="Consolas"/>
              </a:rPr>
              <a:t>LANGUAGE</a:t>
            </a:r>
            <a:r>
              <a:rPr sz="1800" i="0" b="0">
                <a:solidFill>
                  <a:srgbClr val="D4D4D4"/>
                </a:solidFill>
                <a:latin typeface="Consolas"/>
              </a:rPr>
              <a:t> </a:t>
            </a:r>
            <a:r>
              <a:rPr sz="1800" i="0" b="0">
                <a:solidFill>
                  <a:srgbClr val="D4D4D4"/>
                </a:solidFill>
                <a:latin typeface="Consolas"/>
              </a:rPr>
              <a:t>sql</a:t>
            </a:r>
          </a:p>
          <a:p>
            <a:pPr>
              <a:spcAft>
                <a:spcPts val="385"/>
              </a:spcAft>
            </a:pPr>
            <a:r>
              <a:rPr sz="1800" i="0" b="0">
                <a:solidFill>
                  <a:srgbClr val="569CD6"/>
                </a:solidFill>
                <a:latin typeface="Consolas"/>
              </a:rPr>
              <a:t>AS</a:t>
            </a:r>
            <a:r>
              <a:rPr sz="1800" i="0" b="0">
                <a:solidFill>
                  <a:srgbClr val="D4D4D4"/>
                </a:solidFill>
                <a:latin typeface="Consolas"/>
              </a:rPr>
              <a:t> </a:t>
            </a:r>
            <a:r>
              <a:rPr sz="1800" i="0" b="0">
                <a:solidFill>
                  <a:srgbClr val="569CD6"/>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SELECT</a:t>
            </a:r>
            <a:r>
              <a:rPr sz="1800" i="0" b="0">
                <a:solidFill>
                  <a:srgbClr val="D4D4D4"/>
                </a:solidFill>
                <a:latin typeface="Consolas"/>
              </a:rPr>
              <a:t> </a:t>
            </a:r>
            <a:r>
              <a:rPr sz="1800" i="0" b="0">
                <a:solidFill>
                  <a:srgbClr val="DCDCAA"/>
                </a:solidFill>
                <a:latin typeface="Consolas"/>
              </a:rPr>
              <a:t>COUNT</a:t>
            </a:r>
            <a:r>
              <a:rPr sz="1800" i="0" b="0">
                <a:solidFill>
                  <a:srgbClr val="D4D4D4"/>
                </a:solidFill>
                <a:latin typeface="Consolas"/>
              </a:rPr>
              <a:t>(*)::</a:t>
            </a:r>
            <a:r>
              <a:rPr sz="1800" i="0" b="0">
                <a:solidFill>
                  <a:srgbClr val="4EC9B0"/>
                </a:solidFill>
                <a:latin typeface="Consolas"/>
              </a:rPr>
              <a:t>INT</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p>
          <a:p>
            <a:pPr>
              <a:spcAft>
                <a:spcPts val="385"/>
              </a:spcAft>
            </a:pP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 &gt;= </a:t>
            </a:r>
            <a:r>
              <a:rPr sz="1800" i="0" b="0">
                <a:solidFill>
                  <a:srgbClr val="D4D4D4"/>
                </a:solidFill>
                <a:latin typeface="Consolas"/>
              </a:rPr>
              <a:t>p_dia</a:t>
            </a:r>
            <a:r>
              <a:rPr sz="1800" i="0" b="0">
                <a:solidFill>
                  <a:srgbClr val="D4D4D4"/>
                </a:solidFill>
                <a:latin typeface="Consolas"/>
              </a:rPr>
              <a:t> </a:t>
            </a:r>
            <a:r>
              <a:rPr sz="1800" i="0" b="0">
                <a:solidFill>
                  <a:srgbClr val="569CD6"/>
                </a:solidFill>
                <a:latin typeface="Consolas"/>
              </a:rPr>
              <a:t>AND</a:t>
            </a: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 &lt; </a:t>
            </a:r>
            <a:r>
              <a:rPr sz="1800" i="0" b="0">
                <a:solidFill>
                  <a:srgbClr val="D4D4D4"/>
                </a:solidFill>
                <a:latin typeface="Consolas"/>
              </a:rPr>
              <a:t>p_dia</a:t>
            </a:r>
            <a:r>
              <a:rPr sz="1800" i="0" b="0">
                <a:solidFill>
                  <a:srgbClr val="D4D4D4"/>
                </a:solidFill>
                <a:latin typeface="Consolas"/>
              </a:rPr>
              <a:t> + </a:t>
            </a:r>
            <a:r>
              <a:rPr sz="1800" i="0" b="0">
                <a:solidFill>
                  <a:srgbClr val="B5CEA8"/>
                </a:solidFill>
                <a:latin typeface="Consolas"/>
              </a:rPr>
              <a:t>1</a:t>
            </a:r>
            <a:r>
              <a:rPr sz="1800" i="0" b="0">
                <a:solidFill>
                  <a:srgbClr val="D4D4D4"/>
                </a:solidFill>
                <a:latin typeface="Consolas"/>
              </a:rPr>
              <a:t>;</a:t>
            </a:r>
          </a:p>
          <a:p>
            <a:pPr>
              <a:spcAft>
                <a:spcPts val="385"/>
              </a:spcAft>
            </a:pPr>
            <a:r>
              <a:rPr sz="1800" i="0" b="0">
                <a:solidFill>
                  <a:srgbClr val="569CD6"/>
                </a:solidFill>
                <a:latin typeface="Consolas"/>
              </a:rPr>
              <a:t>$$</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SELECT</a:t>
            </a:r>
            <a:r>
              <a:rPr sz="1800" i="0" b="0">
                <a:solidFill>
                  <a:srgbClr val="D4D4D4"/>
                </a:solidFill>
                <a:latin typeface="Consolas"/>
              </a:rPr>
              <a:t> </a:t>
            </a:r>
            <a:r>
              <a:rPr sz="1800" i="0" b="0">
                <a:solidFill>
                  <a:srgbClr val="DCDCAA"/>
                </a:solidFill>
                <a:latin typeface="Consolas"/>
              </a:rPr>
              <a:t>fn_citas_del_dia</a:t>
            </a:r>
            <a:r>
              <a:rPr sz="1800" i="0" b="0">
                <a:solidFill>
                  <a:srgbClr val="D4D4D4"/>
                </a:solidFill>
                <a:latin typeface="Consolas"/>
              </a:rPr>
              <a:t>(</a:t>
            </a:r>
            <a:r>
              <a:rPr sz="1800" i="0" b="0">
                <a:solidFill>
                  <a:srgbClr val="4EC9B0"/>
                </a:solidFill>
                <a:latin typeface="Consolas"/>
              </a:rPr>
              <a:t>DATE</a:t>
            </a:r>
            <a:r>
              <a:rPr sz="1800" i="0" b="0">
                <a:solidFill>
                  <a:srgbClr val="D4D4D4"/>
                </a:solidFill>
                <a:latin typeface="Consolas"/>
              </a:rPr>
              <a:t> </a:t>
            </a:r>
            <a:r>
              <a:rPr sz="1800" i="0" b="0">
                <a:solidFill>
                  <a:srgbClr val="CE9178"/>
                </a:solidFill>
                <a:latin typeface="Consolas"/>
              </a:rPr>
              <a:t>'2026-09-01'</a:t>
            </a:r>
            <a:r>
              <a:rPr sz="1800" i="0" b="0">
                <a:solidFill>
                  <a:srgbClr val="D4D4D4"/>
                </a:solidFill>
                <a:latin typeface="Consolas"/>
              </a:rPr>
              <a:t>);   </a:t>
            </a:r>
            <a:r>
              <a:rPr sz="1800" i="1" b="0">
                <a:solidFill>
                  <a:srgbClr val="6A9955"/>
                </a:solidFill>
                <a:latin typeface="Consolas"/>
              </a:rPr>
              <a:t>-- se puede: devuelve 3</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PROCEDURE no: se invoca con CALL y puede manejar transacciones.</a:t>
            </a:r>
          </a:p>
          <a:p>
            <a:pPr>
              <a:spcAft>
                <a:spcPts val="385"/>
              </a:spcAft>
            </a:pPr>
            <a:r>
              <a:rPr sz="1800" i="0" b="0">
                <a:solidFill>
                  <a:srgbClr val="569CD6"/>
                </a:solidFill>
                <a:latin typeface="Consolas"/>
              </a:rPr>
              <a:t>SELECT</a:t>
            </a:r>
            <a:r>
              <a:rPr sz="1800" i="0" b="0">
                <a:solidFill>
                  <a:srgbClr val="D4D4D4"/>
                </a:solidFill>
                <a:latin typeface="Consolas"/>
              </a:rPr>
              <a:t> </a:t>
            </a:r>
            <a:r>
              <a:rPr sz="1800" i="0" b="0">
                <a:solidFill>
                  <a:srgbClr val="DCDCAA"/>
                </a:solidFill>
                <a:latin typeface="Consolas"/>
              </a:rPr>
              <a:t>sp_dar_de_baja_insumo</a:t>
            </a:r>
            <a:r>
              <a:rPr sz="1800" i="0" b="0">
                <a:solidFill>
                  <a:srgbClr val="D4D4D4"/>
                </a:solidFill>
                <a:latin typeface="Consolas"/>
              </a:rPr>
              <a:t>(</a:t>
            </a:r>
            <a:r>
              <a:rPr sz="1800" i="0" b="0">
                <a:solidFill>
                  <a:srgbClr val="B5CEA8"/>
                </a:solidFill>
                <a:latin typeface="Consolas"/>
              </a:rPr>
              <a:t>1</a:t>
            </a:r>
            <a:r>
              <a:rPr sz="1800" i="0" b="0">
                <a:solidFill>
                  <a:srgbClr val="D4D4D4"/>
                </a:solidFill>
                <a:latin typeface="Consolas"/>
              </a:rPr>
              <a:t>, </a:t>
            </a:r>
            <a:r>
              <a:rPr sz="1800" i="0" b="0">
                <a:solidFill>
                  <a:srgbClr val="CE9178"/>
                </a:solidFill>
                <a:latin typeface="Consolas"/>
              </a:rPr>
              <a:t>'x'</a:t>
            </a:r>
            <a:r>
              <a:rPr sz="1800" i="0" b="0">
                <a:solidFill>
                  <a:srgbClr val="D4D4D4"/>
                </a:solidFill>
                <a:latin typeface="Consolas"/>
              </a:rPr>
              <a:t>);</a:t>
            </a:r>
          </a:p>
          <a:p>
            <a:pPr>
              <a:spcAft>
                <a:spcPts val="385"/>
              </a:spcAft>
            </a:pPr>
            <a:r>
              <a:rPr sz="1800" i="1" b="0">
                <a:solidFill>
                  <a:srgbClr val="6A9955"/>
                </a:solidFill>
                <a:latin typeface="Consolas"/>
              </a:rPr>
              <a:t>-- ERROR:  sp_dar_de_baja_insumo(integer, unknown) is a procedure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PROCEDURE o FUNCTION: cual se puede usar dentro de un SELECT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PROCEDURE y FUNCTION no son sinonimos: si el resultado tiene que entrar en un SELECT, es FUNCTION. Es la bisagra con la Clase 4</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proc-o-func-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Si el resultado tiene que entrar en un </a:t>
            </a:r>
            <a:r>
              <a:rPr sz="2000" b="1" i="0">
                <a:solidFill>
                  <a:srgbClr val="333333"/>
                </a:solidFill>
                <a:latin typeface="Calibri"/>
              </a:rPr>
              <a:t>SELECT</a:t>
            </a:r>
            <a:r>
              <a:rPr sz="2000" b="0" i="0">
                <a:solidFill>
                  <a:srgbClr val="333333"/>
                </a:solidFill>
                <a:latin typeface="Calibri"/>
              </a:rPr>
              <a:t>, un WHERE o un ORDER BY, es una FUNCTION.</a:t>
            </a:r>
          </a:p>
          <a:p>
            <a:pPr>
              <a:spcAft>
                <a:spcPts val="800"/>
              </a:spcAft>
            </a:pPr>
            <a:r>
              <a:rPr sz="2000" b="0" i="0">
                <a:solidFill>
                  <a:srgbClr val="333333"/>
                </a:solidFill>
                <a:latin typeface="Calibri"/>
              </a:rPr>
              <a:t>–   Un </a:t>
            </a:r>
            <a:r>
              <a:rPr sz="2000" b="1" i="0">
                <a:solidFill>
                  <a:srgbClr val="333333"/>
                </a:solidFill>
                <a:latin typeface="Calibri"/>
              </a:rPr>
              <a:t>PROCEDURE</a:t>
            </a:r>
            <a:r>
              <a:rPr sz="2000" b="0" i="0">
                <a:solidFill>
                  <a:srgbClr val="333333"/>
                </a:solidFill>
                <a:latin typeface="Calibri"/>
              </a:rPr>
              <a:t> se invoca solo, con CALL; dentro de un SELECT el motor lo rechaza.</a:t>
            </a:r>
          </a:p>
          <a:p>
            <a:pPr>
              <a:spcAft>
                <a:spcPts val="800"/>
              </a:spcAft>
            </a:pPr>
            <a:r>
              <a:rPr sz="2000" b="0" i="0">
                <a:solidFill>
                  <a:srgbClr val="333333"/>
                </a:solidFill>
                <a:latin typeface="Calibri"/>
              </a:rPr>
              <a:t>–   Las dos pueden ser </a:t>
            </a:r>
            <a:r>
              <a:rPr sz="2000" b="1" i="0">
                <a:solidFill>
                  <a:srgbClr val="333333"/>
                </a:solidFill>
                <a:latin typeface="Calibri"/>
              </a:rPr>
              <a:t>LANGUAGE plpgsql</a:t>
            </a:r>
            <a:r>
              <a:rPr sz="2000" b="0" i="0">
                <a:solidFill>
                  <a:srgbClr val="333333"/>
                </a:solidFill>
                <a:latin typeface="Calibri"/>
              </a:rPr>
              <a:t>: el lenguaje no decide si devuelve un valor.</a:t>
            </a:r>
          </a:p>
          <a:p>
            <a:pPr>
              <a:spcAft>
                <a:spcPts val="800"/>
              </a:spcAft>
            </a:pPr>
            <a:r>
              <a:rPr sz="2000" b="0" i="0">
                <a:solidFill>
                  <a:srgbClr val="333333"/>
                </a:solidFill>
                <a:latin typeface="Calibri"/>
              </a:rPr>
              <a:t>–   Un procedimiento admite parámetros </a:t>
            </a:r>
            <a:r>
              <a:rPr sz="2000" b="1" i="0">
                <a:solidFill>
                  <a:srgbClr val="333333"/>
                </a:solidFill>
                <a:latin typeface="Calibri"/>
              </a:rPr>
              <a:t>OUT</a:t>
            </a:r>
            <a:r>
              <a:rPr sz="2000" b="0" i="0">
                <a:solidFill>
                  <a:srgbClr val="333333"/>
                </a:solidFill>
                <a:latin typeface="Calibri"/>
              </a:rPr>
              <a:t> y aun así no puede usarse dentro de un SELECT.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Depurar sin depurador: los cuatro movimientos, en PostgreSQL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purar-cua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purar-cua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purar-cuatr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depurar-cuatr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qué error se lee: el del </a:t>
            </a:r>
            <a:r>
              <a:rPr sz="2000" b="1" i="0">
                <a:solidFill>
                  <a:srgbClr val="333333"/>
                </a:solidFill>
                <a:latin typeface="Calibri"/>
              </a:rPr>
              <a:t>CREATE</a:t>
            </a:r>
            <a:r>
              <a:rPr sz="2000" b="0" i="0">
                <a:solidFill>
                  <a:srgbClr val="333333"/>
                </a:solidFill>
                <a:latin typeface="Calibri"/>
              </a:rPr>
              <a:t> es de sintaxis; el del </a:t>
            </a:r>
            <a:r>
              <a:rPr sz="2000" b="1" i="0">
                <a:solidFill>
                  <a:srgbClr val="333333"/>
                </a:solidFill>
                <a:latin typeface="Calibri"/>
              </a:rPr>
              <a:t>CALL</a:t>
            </a:r>
            <a:r>
              <a:rPr sz="2000" b="0" i="0">
                <a:solidFill>
                  <a:srgbClr val="333333"/>
                </a:solidFill>
                <a:latin typeface="Calibri"/>
              </a:rPr>
              <a:t>, de ejecución.</a:t>
            </a:r>
          </a:p>
          <a:p>
            <a:pPr>
              <a:spcAft>
                <a:spcPts val="800"/>
              </a:spcAft>
            </a:pPr>
            <a:r>
              <a:rPr sz="2000" b="0" i="0">
                <a:solidFill>
                  <a:srgbClr val="333333"/>
                </a:solidFill>
                <a:latin typeface="Calibri"/>
              </a:rPr>
              <a:t>–   Con </a:t>
            </a:r>
            <a:r>
              <a:rPr sz="2000" b="1" i="0">
                <a:solidFill>
                  <a:srgbClr val="333333"/>
                </a:solidFill>
                <a:latin typeface="Calibri"/>
              </a:rPr>
              <a:t>RAISE NOTICE</a:t>
            </a:r>
            <a:r>
              <a:rPr sz="2000" b="0" i="0">
                <a:solidFill>
                  <a:srgbClr val="333333"/>
                </a:solidFill>
                <a:latin typeface="Calibri"/>
              </a:rPr>
              <a:t> se dejan trazas sin abortar; solo EXCEPTION detiene la llamada.</a:t>
            </a:r>
          </a:p>
          <a:p>
            <a:pPr>
              <a:spcAft>
                <a:spcPts val="800"/>
              </a:spcAft>
            </a:pPr>
            <a:r>
              <a:rPr sz="2000" b="0" i="0">
                <a:solidFill>
                  <a:srgbClr val="333333"/>
                </a:solidFill>
                <a:latin typeface="Calibri"/>
              </a:rPr>
              <a:t>–   Se </a:t>
            </a:r>
            <a:r>
              <a:rPr sz="2000" b="1" i="0">
                <a:solidFill>
                  <a:srgbClr val="333333"/>
                </a:solidFill>
                <a:latin typeface="Calibri"/>
              </a:rPr>
              <a:t>aísla</a:t>
            </a:r>
            <a:r>
              <a:rPr sz="2000" b="0" i="0">
                <a:solidFill>
                  <a:srgbClr val="333333"/>
                </a:solidFill>
                <a:latin typeface="Calibri"/>
              </a:rPr>
              <a:t> la consulta que falla y se corre suelta con el valor del caso.</a:t>
            </a:r>
          </a:p>
          <a:p>
            <a:pPr>
              <a:spcAft>
                <a:spcPts val="800"/>
              </a:spcAft>
            </a:pPr>
            <a:r>
              <a:rPr sz="2000" b="0" i="0">
                <a:solidFill>
                  <a:srgbClr val="333333"/>
                </a:solidFill>
                <a:latin typeface="Calibri"/>
              </a:rPr>
              <a:t>–   Se prueba con </a:t>
            </a:r>
            <a:r>
              <a:rPr sz="2000" b="1" i="0">
                <a:solidFill>
                  <a:srgbClr val="333333"/>
                </a:solidFill>
                <a:latin typeface="Calibri"/>
              </a:rPr>
              <a:t>casos deliberados</a:t>
            </a:r>
            <a:r>
              <a:rPr sz="2000" b="0" i="0">
                <a:solidFill>
                  <a:srgbClr val="333333"/>
                </a:solidFill>
                <a:latin typeface="Calibri"/>
              </a:rPr>
              <a:t>: uno correcto y tres de error, cada uno en su bloque.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racle-postgr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oracle-postgre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motor de la clase es </a:t>
            </a:r>
            <a:r>
              <a:rPr sz="2000" b="1" i="0">
                <a:solidFill>
                  <a:srgbClr val="333333"/>
                </a:solidFill>
                <a:latin typeface="Calibri"/>
              </a:rPr>
              <a:t>PostgreSQL</a:t>
            </a:r>
            <a:r>
              <a:rPr sz="2000" b="0" i="0">
                <a:solidFill>
                  <a:srgbClr val="333333"/>
                </a:solidFill>
                <a:latin typeface="Calibri"/>
              </a:rPr>
              <a:t>: todo el código de hoy es PL/pgSQL.</a:t>
            </a:r>
          </a:p>
          <a:p>
            <a:pPr>
              <a:spcAft>
                <a:spcPts val="800"/>
              </a:spcAft>
            </a:pPr>
            <a:r>
              <a:rPr sz="2000" b="0" i="0">
                <a:solidFill>
                  <a:srgbClr val="333333"/>
                </a:solidFill>
                <a:latin typeface="Calibri"/>
              </a:rPr>
              <a:t>–   Vienen de Oracle cuatro trampas: IS por </a:t>
            </a:r>
            <a:r>
              <a:rPr sz="2000" b="1" i="0">
                <a:solidFill>
                  <a:srgbClr val="333333"/>
                </a:solidFill>
                <a:latin typeface="Calibri"/>
              </a:rPr>
              <a:t>AS</a:t>
            </a:r>
            <a:r>
              <a:rPr sz="2000" b="0" i="0">
                <a:solidFill>
                  <a:srgbClr val="333333"/>
                </a:solidFill>
                <a:latin typeface="Calibri"/>
              </a:rPr>
              <a:t>, VARCHAR2 por TEXT, RAISE_APPLICATION_ERROR y la barra.</a:t>
            </a:r>
          </a:p>
          <a:p>
            <a:pPr>
              <a:spcAft>
                <a:spcPts val="800"/>
              </a:spcAft>
            </a:pPr>
            <a:r>
              <a:rPr sz="2000" b="0" i="0">
                <a:solidFill>
                  <a:srgbClr val="333333"/>
                </a:solidFill>
                <a:latin typeface="Calibri"/>
              </a:rPr>
              <a:t>–   Oracle sirve como </a:t>
            </a:r>
            <a:r>
              <a:rPr sz="2000" b="1" i="0">
                <a:solidFill>
                  <a:srgbClr val="333333"/>
                </a:solidFill>
                <a:latin typeface="Calibri"/>
              </a:rPr>
              <a:t>contraste</a:t>
            </a:r>
            <a:r>
              <a:rPr sz="2000" b="0" i="0">
                <a:solidFill>
                  <a:srgbClr val="333333"/>
                </a:solidFill>
                <a:latin typeface="Calibri"/>
              </a:rPr>
              <a:t> de sintaxis, no como lugar donde se trabaja.</a:t>
            </a:r>
          </a:p>
          <a:p>
            <a:pPr>
              <a:spcAft>
                <a:spcPts val="800"/>
              </a:spcAft>
            </a:pPr>
            <a:r>
              <a:rPr sz="2000" b="0" i="0">
                <a:solidFill>
                  <a:srgbClr val="333333"/>
                </a:solidFill>
                <a:latin typeface="Calibri"/>
              </a:rPr>
              <a:t>–   La </a:t>
            </a:r>
            <a:r>
              <a:rPr sz="2000" b="1" i="0">
                <a:solidFill>
                  <a:srgbClr val="333333"/>
                </a:solidFill>
                <a:latin typeface="Calibri"/>
              </a:rPr>
              <a:t>fuente de verdad</a:t>
            </a:r>
            <a:r>
              <a:rPr sz="2000" b="0" i="0">
                <a:solidFill>
                  <a:srgbClr val="333333"/>
                </a:solidFill>
                <a:latin typeface="Calibri"/>
              </a:rPr>
              <a:t> es el archivo .sql de la carpeta, nunca la pestaña del navegador.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segundo procedimiento: sp_registrar_consulta y el EXISTS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ists-consul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ists-consul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ists-consul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sp_registrar_consulta escribe en consulta, donde </a:t>
            </a:r>
            <a:r>
              <a:rPr sz="2000" b="1" i="0">
                <a:solidFill>
                  <a:srgbClr val="333333"/>
                </a:solidFill>
                <a:latin typeface="Calibri"/>
              </a:rPr>
              <a:t>UNIQUE (id_cita)</a:t>
            </a:r>
            <a:r>
              <a:rPr sz="2000" b="0" i="0">
                <a:solidFill>
                  <a:srgbClr val="333333"/>
                </a:solidFill>
                <a:latin typeface="Calibri"/>
              </a:rPr>
              <a:t> ya impide dos por cita.</a:t>
            </a:r>
          </a:p>
          <a:p>
            <a:pPr>
              <a:spcAft>
                <a:spcPts val="800"/>
              </a:spcAft>
            </a:pPr>
            <a:r>
              <a:rPr sz="2000" b="0" i="0">
                <a:solidFill>
                  <a:srgbClr val="333333"/>
                </a:solidFill>
                <a:latin typeface="Calibri"/>
              </a:rPr>
              <a:t>–   El </a:t>
            </a:r>
            <a:r>
              <a:rPr sz="2000" b="1" i="0">
                <a:solidFill>
                  <a:srgbClr val="333333"/>
                </a:solidFill>
                <a:latin typeface="Calibri"/>
              </a:rPr>
              <a:t>IF EXISTS</a:t>
            </a:r>
            <a:r>
              <a:rPr sz="2000" b="0" i="0">
                <a:solidFill>
                  <a:srgbClr val="333333"/>
                </a:solidFill>
                <a:latin typeface="Calibri"/>
              </a:rPr>
              <a:t> previo cambia el error técnico por un mensaje que la recepción entiende.</a:t>
            </a:r>
          </a:p>
          <a:p>
            <a:pPr>
              <a:spcAft>
                <a:spcPts val="800"/>
              </a:spcAft>
            </a:pPr>
            <a:r>
              <a:rPr sz="2000" b="0" i="0">
                <a:solidFill>
                  <a:srgbClr val="333333"/>
                </a:solidFill>
                <a:latin typeface="Calibri"/>
              </a:rPr>
              <a:t>–   También valida lo que el UNIQUE no ve: que la cita </a:t>
            </a:r>
            <a:r>
              <a:rPr sz="2000" b="1" i="0">
                <a:solidFill>
                  <a:srgbClr val="333333"/>
                </a:solidFill>
                <a:latin typeface="Calibri"/>
              </a:rPr>
              <a:t>exista</a:t>
            </a:r>
            <a:r>
              <a:rPr sz="2000" b="0" i="0">
                <a:solidFill>
                  <a:srgbClr val="333333"/>
                </a:solidFill>
                <a:latin typeface="Calibri"/>
              </a:rPr>
              <a:t> y que no esté </a:t>
            </a:r>
            <a:r>
              <a:rPr sz="2000" b="1" i="0">
                <a:solidFill>
                  <a:srgbClr val="333333"/>
                </a:solidFill>
                <a:latin typeface="Calibri"/>
              </a:rPr>
              <a:t>CANCELADA</a:t>
            </a:r>
            <a:r>
              <a:rPr sz="2000" b="0" i="0">
                <a:solidFill>
                  <a:srgbClr val="333333"/>
                </a:solidFill>
                <a:latin typeface="Calibri"/>
              </a:rPr>
              <a:t>.</a:t>
            </a:r>
          </a:p>
          <a:p>
            <a:pPr>
              <a:spcAft>
                <a:spcPts val="800"/>
              </a:spcAft>
            </a:pPr>
            <a:r>
              <a:rPr sz="2000" b="0" i="0">
                <a:solidFill>
                  <a:srgbClr val="333333"/>
                </a:solidFill>
                <a:latin typeface="Calibri"/>
              </a:rPr>
              <a:t>–   La restricción </a:t>
            </a:r>
            <a:r>
              <a:rPr sz="2000" b="1" i="0">
                <a:solidFill>
                  <a:srgbClr val="333333"/>
                </a:solidFill>
                <a:latin typeface="Calibri"/>
              </a:rPr>
              <a:t>se queda</a:t>
            </a:r>
            <a:r>
              <a:rPr sz="2000" b="0" i="0">
                <a:solidFill>
                  <a:srgbClr val="333333"/>
                </a:solidFill>
                <a:latin typeface="Calibri"/>
              </a:rPr>
              <a:t>: es la última línea de defensa si alguien entra por fuera.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marre-clas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marre-clase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Clase 1</a:t>
            </a:r>
            <a:r>
              <a:rPr sz="2000" b="0" i="0">
                <a:solidFill>
                  <a:srgbClr val="333333"/>
                </a:solidFill>
                <a:latin typeface="Calibri"/>
              </a:rPr>
              <a:t> dejó el esquema y la baja lógica con activa = 'S' o 'N', que hoy se valida.</a:t>
            </a:r>
          </a:p>
          <a:p>
            <a:pPr>
              <a:spcAft>
                <a:spcPts val="800"/>
              </a:spcAft>
            </a:pPr>
            <a:r>
              <a:rPr sz="2000" b="0" i="0">
                <a:solidFill>
                  <a:srgbClr val="333333"/>
                </a:solidFill>
                <a:latin typeface="Calibri"/>
              </a:rPr>
              <a:t>–   La </a:t>
            </a:r>
            <a:r>
              <a:rPr sz="2000" b="1" i="0">
                <a:solidFill>
                  <a:srgbClr val="333333"/>
                </a:solidFill>
                <a:latin typeface="Calibri"/>
              </a:rPr>
              <a:t>Clase 2</a:t>
            </a:r>
            <a:r>
              <a:rPr sz="2000" b="0" i="0">
                <a:solidFill>
                  <a:srgbClr val="333333"/>
                </a:solidFill>
                <a:latin typeface="Calibri"/>
              </a:rPr>
              <a:t> dejó los roles: recepción agendará con EXECUTE y no con INSERT.</a:t>
            </a:r>
          </a:p>
          <a:p>
            <a:pPr>
              <a:spcAft>
                <a:spcPts val="800"/>
              </a:spcAft>
            </a:pPr>
            <a:r>
              <a:rPr sz="2000" b="0" i="0">
                <a:solidFill>
                  <a:srgbClr val="333333"/>
                </a:solidFill>
                <a:latin typeface="Calibri"/>
              </a:rPr>
              <a:t>–   La </a:t>
            </a:r>
            <a:r>
              <a:rPr sz="2000" b="1" i="0">
                <a:solidFill>
                  <a:srgbClr val="333333"/>
                </a:solidFill>
                <a:latin typeface="Calibri"/>
              </a:rPr>
              <a:t>Clase 4</a:t>
            </a:r>
            <a:r>
              <a:rPr sz="2000" b="0" i="0">
                <a:solidFill>
                  <a:srgbClr val="333333"/>
                </a:solidFill>
                <a:latin typeface="Calibri"/>
              </a:rPr>
              <a:t> cuelga de este procedimiento una función y dos triggers.</a:t>
            </a:r>
          </a:p>
          <a:p>
            <a:pPr>
              <a:spcAft>
                <a:spcPts val="800"/>
              </a:spcAft>
            </a:pPr>
            <a:r>
              <a:rPr sz="2000" b="0" i="0">
                <a:solidFill>
                  <a:srgbClr val="333333"/>
                </a:solidFill>
                <a:latin typeface="Calibri"/>
              </a:rPr>
              <a:t>–   La </a:t>
            </a:r>
            <a:r>
              <a:rPr sz="2000" b="1" i="0">
                <a:solidFill>
                  <a:srgbClr val="333333"/>
                </a:solidFill>
                <a:latin typeface="Calibri"/>
              </a:rPr>
              <a:t>Clase 8</a:t>
            </a:r>
            <a:r>
              <a:rPr sz="2000" b="0" i="0">
                <a:solidFill>
                  <a:srgbClr val="333333"/>
                </a:solidFill>
                <a:latin typeface="Calibri"/>
              </a:rPr>
              <a:t> decide quién confirma la transacción, y la </a:t>
            </a:r>
            <a:r>
              <a:rPr sz="2000" b="1" i="0">
                <a:solidFill>
                  <a:srgbClr val="333333"/>
                </a:solidFill>
                <a:latin typeface="Calibri"/>
              </a:rPr>
              <a:t>12</a:t>
            </a:r>
            <a:r>
              <a:rPr sz="2000" b="0" i="0">
                <a:solidFill>
                  <a:srgbClr val="333333"/>
                </a:solidFill>
                <a:latin typeface="Calibri"/>
              </a:rPr>
              <a:t> consume estos procedimientos.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Crear sp_agendar_cita con sus validaciones y llamarlo con un caso válido.</a:t>
            </a:r>
          </a:p>
          <a:p>
            <a:pPr>
              <a:spcAft>
                <a:spcPts val="800"/>
              </a:spcAft>
            </a:pPr>
            <a:r>
              <a:rPr sz="2000" b="0" i="0">
                <a:solidFill>
                  <a:srgbClr val="333333"/>
                </a:solidFill>
                <a:latin typeface="Calibri"/>
              </a:rPr>
              <a:t>–   Llamarlo con una mascota </a:t>
            </a:r>
            <a:r>
              <a:rPr sz="2000" b="1" i="0">
                <a:solidFill>
                  <a:srgbClr val="333333"/>
                </a:solidFill>
                <a:latin typeface="Calibri"/>
              </a:rPr>
              <a:t>inactiva</a:t>
            </a:r>
            <a:r>
              <a:rPr sz="2000" b="0" i="0">
                <a:solidFill>
                  <a:srgbClr val="333333"/>
                </a:solidFill>
                <a:latin typeface="Calibri"/>
              </a:rPr>
              <a:t> y una </a:t>
            </a:r>
            <a:r>
              <a:rPr sz="2000" b="1" i="0">
                <a:solidFill>
                  <a:srgbClr val="333333"/>
                </a:solidFill>
                <a:latin typeface="Calibri"/>
              </a:rPr>
              <a:t>inexistente</a:t>
            </a:r>
            <a:r>
              <a:rPr sz="2000" b="0" i="0">
                <a:solidFill>
                  <a:srgbClr val="333333"/>
                </a:solidFill>
                <a:latin typeface="Calibri"/>
              </a:rPr>
              <a:t>: cada una aborta con su mensaje.</a:t>
            </a:r>
          </a:p>
          <a:p>
            <a:pPr>
              <a:spcAft>
                <a:spcPts val="800"/>
              </a:spcAft>
            </a:pPr>
            <a:r>
              <a:rPr sz="2000" b="0" i="0">
                <a:solidFill>
                  <a:srgbClr val="333333"/>
                </a:solidFill>
                <a:latin typeface="Calibri"/>
              </a:rPr>
              <a:t>–   Correr la batería de bloques DO y comprobar con un conteo que cita pasó de </a:t>
            </a:r>
            <a:r>
              <a:rPr sz="2000" b="1" i="0">
                <a:solidFill>
                  <a:srgbClr val="333333"/>
                </a:solidFill>
                <a:latin typeface="Calibri"/>
              </a:rPr>
              <a:t>10 a 11</a:t>
            </a:r>
            <a:r>
              <a:rPr sz="2000" b="0" i="0">
                <a:solidFill>
                  <a:srgbClr val="333333"/>
                </a:solidFill>
                <a:latin typeface="Calibri"/>
              </a:rPr>
              <a:t>.</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Procedimientos almacenados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 procedimiento almacenado, y las dos palabras que importan</a:t>
            </a:r>
          </a:p>
          <a:p>
            <a:pPr algn="ctr">
              <a:spcAft>
                <a:spcPts val="600"/>
              </a:spcAft>
            </a:pPr>
            <a:r>
              <a:rPr sz="1600" b="0" i="0">
                <a:solidFill>
                  <a:srgbClr val="333333"/>
                </a:solidFill>
                <a:latin typeface="Calibri"/>
              </a:rPr>
              <a:t>El molde de PL/pgSQL, y por que el cuerpo va entre signos de dolar</a:t>
            </a:r>
          </a:p>
          <a:p>
            <a:pPr algn="ctr">
              <a:spcAft>
                <a:spcPts val="600"/>
              </a:spcAft>
            </a:pPr>
            <a:r>
              <a:rPr sz="1600" b="0" i="0">
                <a:solidFill>
                  <a:srgbClr val="333333"/>
                </a:solidFill>
                <a:latin typeface="Calibri"/>
              </a:rPr>
              <a:t>Los modos de parametro, y por que hoy no se usa OUT</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