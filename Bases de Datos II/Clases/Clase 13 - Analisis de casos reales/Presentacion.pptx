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Informe de caso -&gt; mejoras concretas al PI</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a:p>
            <a:pPr>
              <a:spcAft>
                <a:spcPts val="800"/>
              </a:spcAft>
            </a:pPr>
            <a:r>
              <a:rPr sz="2000" b="0" i="0">
                <a:solidFill>
                  <a:srgbClr val="333333"/>
                </a:solidFill>
                <a:latin typeface="Calibri"/>
              </a:rPr>
              <a:t>–   La palabra clave del oficio es blameless, sin culpables: la regla es que se analiza el sistema y no la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a:p>
            <a:pPr>
              <a:spcAft>
                <a:spcPts val="800"/>
              </a:spcAft>
            </a:pPr>
            <a:r>
              <a:rPr sz="2000" b="0" i="0">
                <a:solidFill>
                  <a:srgbClr val="333333"/>
                </a:solidFill>
                <a:latin typeface="Calibri"/>
              </a:rPr>
              <a:t>–   El entregable de hoy es una tabla de cuatro columnas, Contexto, Fallo, Leccion y Cambio en VetCare, con tres casos, y se sube a la plataforma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a:p>
            <a:pPr>
              <a:spcAft>
                <a:spcPts val="800"/>
              </a:spcAft>
            </a:pPr>
            <a:r>
              <a:rPr sz="2000" b="0" i="0">
                <a:solidFill>
                  <a:srgbClr val="333333"/>
                </a:solidFill>
                <a:latin typeface="Calibri"/>
              </a:rPr>
              <a:t>–   Y se registra fecha y resultado en la bitacora del proyecto; si no hay registro del mes, se declara que no hay respaldo.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a:p>
            <a:pPr>
              <a:spcAft>
                <a:spcPts val="800"/>
              </a:spcAft>
            </a:pPr>
            <a:r>
              <a:rPr sz="2000" b="0" i="0">
                <a:solidFill>
                  <a:srgbClr val="333333"/>
                </a:solidFill>
                <a:latin typeface="Calibri"/>
              </a:rPr>
              <a:t>–   Del caso de migracion sale que todo cambio de esquema tenga script de ida, script de retorno y conteo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a:t>
            </a:r>
          </a:p>
          <a:p>
            <a:pPr>
              <a:spcAft>
                <a:spcPts val="800"/>
              </a:spcAft>
            </a:pPr>
            <a:r>
              <a:rPr sz="2000" b="0" i="0">
                <a:solidFill>
                  <a:srgbClr val="333333"/>
                </a:solidFill>
                <a:latin typeface="Calibri"/>
              </a:rPr>
              <a:t>–   Porque separar hecho de suposicion es parte de la nota; y si preguntan cuanto debe medir cada celda, la convencion de este entregable es de tres a cinco lineas.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EXPLAIN (ANALYZE, BUFFERS)</a:t>
            </a:r>
          </a:p>
          <a:p>
            <a:pPr>
              <a:spcAft>
                <a:spcPts val="400"/>
              </a:spcAft>
            </a:pPr>
            <a:r>
              <a:rPr sz="1400" b="0" i="0">
                <a:solidFill>
                  <a:srgbClr val="FFFFFF"/>
                </a:solidFill>
                <a:latin typeface="Calibri"/>
              </a:rPr>
              <a:t>SELECT d.nombre, COUNT(c.id_cita) AS citas</a:t>
            </a:r>
          </a:p>
          <a:p>
            <a:pPr>
              <a:spcAft>
                <a:spcPts val="400"/>
              </a:spcAft>
            </a:pPr>
            <a:r>
              <a:rPr sz="1400" b="0" i="0">
                <a:solidFill>
                  <a:srgbClr val="FFFFFF"/>
                </a:solidFill>
                <a:latin typeface="Calibri"/>
              </a:rPr>
              <a:t>FROM dueno d</a:t>
            </a:r>
          </a:p>
          <a:p>
            <a:pPr>
              <a:spcAft>
                <a:spcPts val="400"/>
              </a:spcAft>
            </a:pPr>
            <a:r>
              <a:rPr sz="1400" b="0" i="0">
                <a:solidFill>
                  <a:srgbClr val="FFFFFF"/>
                </a:solidFill>
                <a:latin typeface="Calibri"/>
              </a:rPr>
              <a:t>JOIN mascota m ON m.id_dueno   = d.id_dueno</a:t>
            </a:r>
          </a:p>
          <a:p>
            <a:pPr>
              <a:spcAft>
                <a:spcPts val="400"/>
              </a:spcAft>
            </a:pPr>
            <a:r>
              <a:rPr sz="1400" b="0" i="0">
                <a:solidFill>
                  <a:srgbClr val="FFFFFF"/>
                </a:solidFill>
                <a:latin typeface="Calibri"/>
              </a:rPr>
              <a:t>JOIN cita    c ON c.id_mascota = m.id_mascota</a:t>
            </a:r>
          </a:p>
          <a:p>
            <a:pPr>
              <a:spcAft>
                <a:spcPts val="400"/>
              </a:spcAft>
            </a:pPr>
            <a:r>
              <a:rPr sz="1400" b="0" i="0">
                <a:solidFill>
                  <a:srgbClr val="FFFFFF"/>
                </a:solidFill>
                <a:latin typeface="Calibri"/>
              </a:rPr>
              <a:t>WHERE c.fecha_hora &gt;= DATE '2026-01-01'</a:t>
            </a:r>
          </a:p>
          <a:p>
            <a:pPr>
              <a:spcAft>
                <a:spcPts val="400"/>
              </a:spcAft>
            </a:pPr>
            <a:r>
              <a:rPr sz="1400" b="0" i="0">
                <a:solidFill>
                  <a:srgbClr val="FFFFFF"/>
                </a:solidFill>
                <a:latin typeface="Calibri"/>
              </a:rPr>
              <a:t>GROUP BY d.id_dueno, d.nombre</a:t>
            </a:r>
          </a:p>
          <a:p>
            <a:pPr>
              <a:spcAft>
                <a:spcPts val="400"/>
              </a:spcAft>
            </a:pPr>
            <a:r>
              <a:rPr sz="1400" b="0" i="0">
                <a:solidFill>
                  <a:srgbClr val="FFFFFF"/>
                </a:solidFill>
                <a:latin typeface="Calibri"/>
              </a:rPr>
              <a:t>HAVING COUNT(c.id_cita) &gt;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nodo mas costoso (cost mas alto), no el primero</a:t>
            </a:r>
          </a:p>
          <a:p>
            <a:pPr>
              <a:spcAft>
                <a:spcPts val="400"/>
              </a:spcAft>
            </a:pPr>
            <a:r>
              <a:rPr sz="1400" b="0" i="0">
                <a:solidFill>
                  <a:srgbClr val="FFFFFF"/>
                </a:solidFill>
                <a:latin typeface="Calibri"/>
              </a:rPr>
              <a:t>-- 2. Seq Scan sobre tabla grande con filtro selectivo -&gt; falta indice</a:t>
            </a:r>
          </a:p>
          <a:p>
            <a:pPr>
              <a:spcAft>
                <a:spcPts val="400"/>
              </a:spcAft>
            </a:pPr>
            <a:r>
              <a:rPr sz="1400" b="0" i="0">
                <a:solidFill>
                  <a:srgbClr val="FFFFFF"/>
                </a:solidFill>
                <a:latin typeface="Calibri"/>
              </a:rPr>
              <a:t>-- 3. rows estimadas vs actual: si difieren 10x, ANALYZE la tabla</a:t>
            </a:r>
          </a:p>
          <a:p>
            <a:pPr>
              <a:spcAft>
                <a:spcPts val="400"/>
              </a:spcAft>
            </a:pPr>
            <a:r>
              <a:rPr sz="1400" b="0" i="0">
                <a:solidFill>
                  <a:srgbClr val="FFFFFF"/>
                </a:solidFill>
                <a:latin typeface="Calibri"/>
              </a:rPr>
              <a:t>-- 4. Nested Loop con muchas filas -&gt; suele querer Hash Join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Caso real</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Leccion</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bfiddle.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DB Fiddle</a:t>
            </a:r>
          </a:p>
          <a:p>
            <a:pPr algn="ctr">
              <a:spcBef>
                <a:spcPts val="200"/>
              </a:spcBef>
            </a:pPr>
            <a:r>
              <a:rPr sz="1000" b="0" i="0">
                <a:solidFill>
                  <a:srgbClr val="666666"/>
                </a:solidFill>
                <a:latin typeface="Calibri"/>
              </a:rPr>
              <a:t>Opcional SQL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lecciónes accionables.</a:t>
            </a:r>
          </a:p>
          <a:p>
            <a:pPr>
              <a:spcAft>
                <a:spcPts val="800"/>
              </a:spcAft>
            </a:pPr>
            <a:r>
              <a:rPr sz="2000" b="0" i="0">
                <a:solidFill>
                  <a:srgbClr val="333333"/>
                </a:solidFill>
                <a:latin typeface="Calibri"/>
              </a:rPr>
              <a:t>–   Autónoma: 1 caso -&gt; 3 mejoras.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Caso real -&gt; 3 mejoras VetCare.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Caso elegido.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Resumen.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3 mejoras.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Informe.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contexto-&gt;fallo-&gt;lección-&gt;cambio.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Elegir 1 caso (backup, rendimiento o seguridad).</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Resumir en media pagina que paso.</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Proponer 3 mejoras concretas a su VetCare.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Actualizar informe PI con lecciones de casos.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Mejoras accionables?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Conectan al PI?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Evidencia de lectura?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Informe de caso -&gt; mejoras concretas al PI</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Informe de caso -&gt; mejoras concretas al PI</a:t>
            </a:r>
          </a:p>
          <a:p>
            <a:pPr algn="ctr">
              <a:spcAft>
                <a:spcPts val="600"/>
              </a:spcAft>
            </a:pPr>
            <a:r>
              <a:rPr sz="1600" b="0" i="0">
                <a:solidFill>
                  <a:srgbClr val="333333"/>
                </a:solidFill>
                <a:latin typeface="Calibri"/>
              </a:rPr>
              <a:t>Entregable: Informe 1-2 pag.: caso + 3 mejoras aplicables a VetCare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