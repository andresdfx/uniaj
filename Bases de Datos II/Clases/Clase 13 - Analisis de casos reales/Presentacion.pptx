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Cuando un sistema falla en producción, los equipos serios no se quedan en «se cayó»: escriben un post-mortem, un documento corto que reconstruye el fallo y decide qué cambiar. La regla del oficio es que no se buscan culpables: se busca la condición del sistema que dejó que un error común se volviera un problema grande.</a:t>
            </a:r>
          </a:p>
          <a:p/>
          <a:p>
            <a:r>
              <a:t>CÓMO DARLA (≈4 min):</a:t>
            </a:r>
          </a:p>
          <a:p>
            <a:r>
              <a:t>  • Al entrar: La falla en producción y, a la derecha, el documento que se escribe después. «Post-mortem» es literalmente «después de la muerte» del servicio; es breve, no un libro.</a:t>
            </a:r>
          </a:p>
          <a:p>
            <a:r>
              <a:t>  • Clic 1: Las cuatro preguntas, en orden. Subraya la 3, en otro color: «por qué fue posible» es la causa raíz, el tema de la lámina siguiente. El impacto se mide: datos, horas, dinero o personas afectadas.</a:t>
            </a:r>
          </a:p>
          <a:p>
            <a:r>
              <a:t>  • Clic 2: La banda verde: sin culpables. Explica el porqué práctico: si el documento sirve para castigar, la gente esconde los errores pequeños y la organización se queda sin aviso de los grandes.</a:t>
            </a:r>
          </a:p>
          <a:p/>
          <a:p>
            <a:r>
              <a:t>EJEMPLO: Un post-mortem de cuatro líneas en la clínica: «A las 9:10 se borraron las citas del día; a las 9:40 se restauraron desde el respaldo de la noche y se perdieron las creadas en esa media hora; fue posible porque el usuario de la aplicación podía hacer DELETE sin WHERE; se cambia: la aplicación pierde el permiso DELETE sobre cita».</a:t>
            </a:r>
          </a:p>
          <a:p/>
          <a:p>
            <a:r>
              <a:t>SI PREGUNTAN:</a:t>
            </a:r>
          </a:p>
          <a:p>
            <a:r>
              <a:t>  • «¿Y si alguien lo hizo mal a propósito?» → Eso ya no es un incidente sino un asunto de seguridad o disciplinario, y va por otro camino. El post-mortem trata los errores honestos, que son casi todos.</a:t>
            </a:r>
          </a:p>
          <a:p>
            <a:r>
              <a:t>  • «¿Hace falta post-mortem si el fallo no llegó al usuario?» → Sí: el que se detuvo a tiempo es el más barato de estudiar. Incidente es todo evento que degrada el servicio o pone en riesgo los datos.</a:t>
            </a:r>
          </a:p>
          <a:p/>
          <a:p>
            <a:r>
              <a:t>CUIDADO: «Sin culpables» no es «sin responsables»: cada acción de mejora tiene un responsable y una fecha. Lo que no hay es castigo por el error honesto.</a:t>
            </a:r>
          </a:p>
          <a:p/>
          <a:p>
            <a:r>
              <a:t>PASA A LA SIGUIENTE: Para responder la tercera pregunta hay que separar dos causas: la próxima y la raíz.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Todo fallo tiene una causa que se ve y otra que lo permitió. La que se ve, la próxima, casi nunca se puede eliminar: los discos fallan y la gente se equivoca. La raíz sí se cambia, y se encuentra preguntando por qué hasta llegar a un procedimiento, un permiso, una restricción o una alarma.</a:t>
            </a:r>
          </a:p>
          <a:p/>
          <a:p>
            <a:r>
              <a:t>CÓMO DARLA (≈4 min):</a:t>
            </a:r>
          </a:p>
          <a:p>
            <a:r>
              <a:t>  • Al entrar: Arriba, lo que se ve: el disco falla un viernes y se pierden tres semanas de historias clínicas. La etiqueta roja dice «causa próxima». Pregunta: «¿la solución es comprar discos que no fallen?».</a:t>
            </a:r>
          </a:p>
          <a:p>
            <a:r>
              <a:t>  • Clic 1: Tres «¿por qué?» bajan a la caja azul: había un respaldo que nadie había restaurado nunca, y nadie vigilaba si el del día se ejecutaba. Esa es la causa raíz, y esa sí se puede cambiar.</a:t>
            </a:r>
          </a:p>
          <a:p>
            <a:r>
              <a:t>  • Clic 2: La regla para saber cuándo parar: si la respuesta nombra a una persona («Pedro borró»), sigue preguntando; si nombra algo que se cambia (un permiso, una restricción, una alarma), llegaste.</a:t>
            </a:r>
          </a:p>
          <a:p/>
          <a:p>
            <a:r>
              <a:t>EJEMPLO: «Se borró la agenda» → ¿por qué? «Alguien corrió DELETE sin WHERE» (nombra una persona: seguir) → ¿por qué pudo? «El usuario de la aplicación tiene DELETE sobre cita» (un permiso: raíz). La mejora es quitar ese permiso.</a:t>
            </a:r>
          </a:p>
          <a:p/>
          <a:p>
            <a:r>
              <a:t>SI PREGUNTAN:</a:t>
            </a:r>
          </a:p>
          <a:p>
            <a:r>
              <a:t>  • «¿Siempre son cinco «por qué»?» → No: cinco es una guía. Se para cuando la respuesta es algo que se puede cambiar; a veces son tres y a veces seis.</a:t>
            </a:r>
          </a:p>
          <a:p>
            <a:r>
              <a:t>  • «¿Y que fuera de noche o que quien sabía restaurar estuviera de vacaciones?» → Son factores contribuyentes: empeoraron el resultado sin causarlo. Se anotan aparte; no son la raíz.</a:t>
            </a:r>
          </a:p>
          <a:p/>
          <a:p>
            <a:r>
              <a:t>CUIDADO: No aceptes «error humano» como causa raíz: es la causa próxima de casi todo. La pregunta correcta es por qué el sistema dejó que ese error tuviera consecuencias.</a:t>
            </a:r>
          </a:p>
          <a:p/>
          <a:p>
            <a:r>
              <a:t>PASA A LA SIGUIENTE: Con esta herramienta vamos al primer caso real, el mejor documentado.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GitLab, un servicio en la nube para guardar código, perdió datos en 2017. El error humano fue corriente; lo que lo volvió histórico fue descubrir, en plena emergencia, que ninguno de sus respaldos servía como se creía.</a:t>
            </a:r>
          </a:p>
          <a:p/>
          <a:p>
            <a:r>
              <a:t>CÓMO DARLA (≈4 min):</a:t>
            </a:r>
          </a:p>
          <a:p>
            <a:r>
              <a:t>  • Al entrar: La causa próxima: atendiendo un problema de replicación, un ingeniero ejecutó un borrado recursivo del directorio de datos en el servidor equivocado. Unos 300 GB.</a:t>
            </a:r>
          </a:p>
          <a:p>
            <a:r>
              <a:t>  • Clic 1: La causa raíz: al intentar recuperar, los cinco mecanismos de respaldo y replicación fallaban. Dos ejemplos: el volcado lógico fallaba en silencio por una diferencia de versión entre cliente y servidor, y las copias remotas estaban vacías.</a:t>
            </a:r>
          </a:p>
          <a:p>
            <a:r>
              <a:t>  • Clic 2: El desenlace: se restauró una copia de unas seis horas antes; lo creado en esa ventana se perdió para siempre (miles de proyectos y comentarios).</a:t>
            </a:r>
          </a:p>
          <a:p>
            <a:r>
              <a:t>  • Clic 3: Las dos lecciones: un respaldo nunca restaurado no es un respaldo, y el RPO (Clase 4: cuántos datos se acepta perder, medido en tiempo) no se declara: se demuestra restaurando.</a:t>
            </a:r>
          </a:p>
          <a:p/>
          <a:p>
            <a:r>
              <a:t>EJEMPLO: En la clínica: si el respaldo de la noche nunca se ha restaurado en una base de prueba, nadie sabe si el RPO real es de 24 horas o de tres semanas.</a:t>
            </a:r>
          </a:p>
          <a:p/>
          <a:p>
            <a:r>
              <a:t>SI PREGUNTAN:</a:t>
            </a:r>
          </a:p>
          <a:p>
            <a:r>
              <a:t>  • «¿Por qué el volcado fallaba en silencio?» → Por una diferencia de versión entre el programa que hacía la copia y el servidor: daba error y nadie revisaba ese error. Un proceso que puede fallar sin avisar da una confianza que no existe.</a:t>
            </a:r>
          </a:p>
          <a:p>
            <a:r>
              <a:t>  • «¿Qué es el RPO?» → Recovery Point Objective: cuántos datos acepta perder la organización, medido en tiempo. Si el último respaldo bueno era de seis horas antes, el RPO real fue de seis horas.</a:t>
            </a:r>
          </a:p>
          <a:p/>
          <a:p>
            <a:r>
              <a:t>CUIDADO: No lo cuentes como «un ingeniero borró la base»: esa es la causa próxima, justo el error de análisis de la lámina anterior. El caso enseña que cinco respaldos sin probar equivalen a ninguno.</a:t>
            </a:r>
          </a:p>
          <a:p/>
          <a:p>
            <a:r>
              <a:t>PASA A LA SIGUIENTE: Segundo caso: no se perdió nada; se leyó lo que no se debía, por un permiso de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Capital One, un banco de Estados Unidos, tuvo en 2019 una fuga de datos sin ninguna hazaña técnica: una configuración incorrecta abrió la puerta, y un permiso de más hizo que detrás de esa puerta estuviera todo.</a:t>
            </a:r>
          </a:p>
          <a:p/>
          <a:p>
            <a:r>
              <a:t>CÓMO DARLA (≈3 min):</a:t>
            </a:r>
          </a:p>
          <a:p>
            <a:r>
              <a:t>  • Al entrar: La cadena, de arriba abajo: cortafuegos mal configurado (causa próxima) → el servidor hace peticiones internas a pedido del atacante → entrega credenciales temporales de un rol de servicio.</a:t>
            </a:r>
          </a:p>
          <a:p>
            <a:r>
              <a:t>  • Clic 1: Lo que ese rol podía leer. Los 12 recuadros son un esquema, no a escala: verde, lo que su función necesitaba; rojo, todo lo demás que también podía listar y leer.</a:t>
            </a:r>
          </a:p>
          <a:p>
            <a:r>
              <a:t>  • Clic 2: La causa raíz: un privilegio mucho mayor que su función. La lección, con el vocabulario de la Clase 2: privilegio mínimo.</a:t>
            </a:r>
          </a:p>
          <a:p/>
          <a:p>
            <a:r>
              <a:t>EJEMPLO: En la clínica, una aplicación que entra con el usuario dueño de todas las tablas repite el error: si alguien abusa de ella, tiene todo. Con un rol que solo puede ejecutar los procedimientos, el daño queda acotado.</a:t>
            </a:r>
          </a:p>
          <a:p/>
          <a:p>
            <a:r>
              <a:t>SI PREGUNTAN:</a:t>
            </a:r>
          </a:p>
          <a:p>
            <a:r>
              <a:t>  • «¿El problema no fue el cortafuegos?» → Esa es la causa próxima. Con un rol de privilegio mínimo, la misma falla habría expuesto una fracción de los datos.</a:t>
            </a:r>
          </a:p>
          <a:p>
            <a:r>
              <a:t>  • «¿Por qué los proyectos de curso repiten este error?» → Porque conectarse con un usuario que tiene todo hace que nunca aparezca un error de permisos: es más rápido hoy y es la puerta abierta mañana.</a:t>
            </a:r>
          </a:p>
          <a:p/>
          <a:p>
            <a:r>
              <a:t>CUIDADO: Usa las cifras publicadas: unos 100 millones de personas en EE. UU. y varios millones en Canadá, y una multa de 80 millones de dólares en 2020. No las redondees hacia arriba para dramatizar.</a:t>
            </a:r>
          </a:p>
          <a:p/>
          <a:p>
            <a:r>
              <a:t>PASA A LA SIGUIENTE: Tercer caso: ni ataque ni comando equivocado; una migración sin camino de vuelta.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Migrar es mover datos de un sistema a otro. MySpace lo hizo sin una copia verificada y sin poder volver atrás, y perdió doce años de música de sus usuarios. El mismo patrón aparece en la banca.</a:t>
            </a:r>
          </a:p>
          <a:p/>
          <a:p>
            <a:r>
              <a:t>CÓMO DARLA (≈3 min):</a:t>
            </a:r>
          </a:p>
          <a:p>
            <a:r>
              <a:t>  • Al entrar: Los archivos viajan de los servidores viejos a los nuevos; los rojos se pierden en el camino. No había copia verificada: la franja roja son doce años de música, del orden de 50 millones de archivos.</a:t>
            </a:r>
          </a:p>
          <a:p>
            <a:r>
              <a:t>  • Clic 1: Lo que faltaba, en tres cajas: expandir, migrar y contraer (las dos versiones conviven mientras se migra), conteos que coincidan entre origen y destino antes de borrar nada, y un plan de retorno probado antes del día del cambio.</a:t>
            </a:r>
          </a:p>
          <a:p>
            <a:r>
              <a:t>  • Clic 2: La lección y el caso paralelo: TSB, un banco del Reino Unido, dejó en 2018 a millones de clientes sin acceso confiable durante semanas por una migración probada de forma insuficiente.</a:t>
            </a:r>
          </a:p>
          <a:p/>
          <a:p>
            <a:r>
              <a:t>EJEMPLO: En la clínica, al mover las citas antiguas a una tabla histórica: se crea la tabla nueva, se copian las filas, se compara SELECT COUNT(*) en las dos y solo entonces se borran del origen.</a:t>
            </a:r>
          </a:p>
          <a:p/>
          <a:p>
            <a:r>
              <a:t>SI PREGUNTAN:</a:t>
            </a:r>
          </a:p>
          <a:p>
            <a:r>
              <a:t>  • «¿Qué es expandir, migrar y contraer?» → Primero se agrega lo nuevo sin quitar lo viejo (expandir), luego se mueven los datos y la aplicación (migrar) y solo al final se retira lo viejo (contraer). Mientras tanto siempre hay a dónde volver.</a:t>
            </a:r>
          </a:p>
          <a:p/>
          <a:p>
            <a:r>
              <a:t>CUIDADO: La causa raíz no es «el servidor nuevo falló»: es que se dio por terminada la migración sin haber comprobado el destino.</a:t>
            </a:r>
          </a:p>
          <a:p/>
          <a:p>
            <a:r>
              <a:t>PASA A LA SIGUIENTE: Cuarto caso: el fallo que no da ningún mensaje de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concurrencia es lo que pasa cuando dos usuarios trabajan sobre el mismo dato al mismo tiempo. Sus fallos no producen errores: el sistema queda mal en silencio y se descubre semanas después, cuando el inventario físico no cuadra o dos personas reclaman el mismo cupo.</a:t>
            </a:r>
          </a:p>
          <a:p/>
          <a:p>
            <a:r>
              <a:t>CÓMO DARLA (≈4 min):</a:t>
            </a:r>
          </a:p>
          <a:p>
            <a:r>
              <a:t>  • Al entrar: El stock del insumo vale 5. Los dos procesos lo leen y los dos ven 5.</a:t>
            </a:r>
          </a:p>
          <a:p>
            <a:r>
              <a:t>  • Clic 1: Cada uno resta 3 y escribe 2. El número del centro pasa a 2 en rojo: la segunda escritura pisó a la primera.</a:t>
            </a:r>
          </a:p>
          <a:p>
            <a:r>
              <a:t>  • Clic 2: El resultado: salieron 6 unidades y el sistema dice 2, sin mensaje de error. Nombra los otros dos patrones de la Clase 10: la doble reserva de la misma franja y el bloqueo mutuo, en el que el motor aborta una de las dos transacciones.</a:t>
            </a:r>
          </a:p>
          <a:p>
            <a:r>
              <a:t>  • Clic 3: La defensa vive en la base: UPDATE condicional (stock = stock - 3 WHERE stock &gt;= 3) o SELECT … FOR UPDATE al leer, y UNIQUE para la doble reserva. Validar antes en la aplicación no basta: entre leer y escribir hay una ventana.</a:t>
            </a:r>
          </a:p>
          <a:p/>
          <a:p>
            <a:r>
              <a:t>EJEMPLO: UPDATE insumo SET stock = stock - 3 WHERE id_insumo = 2 AND stock &gt;= 3; — si otro proceso ya descontó, esta sentencia actualiza 0 filas en vez de dejar un dato falso.</a:t>
            </a:r>
          </a:p>
          <a:p/>
          <a:p>
            <a:r>
              <a:t>SI PREGUNTAN:</a:t>
            </a:r>
          </a:p>
          <a:p>
            <a:r>
              <a:t>  • «¿Por qué no lo vi al probar?» → Porque estos defectos solo aparecen con dos sesiones a la vez. Si se probó desde una sola máquina, no se probó.</a:t>
            </a:r>
          </a:p>
          <a:p>
            <a:r>
              <a:t>  • «¿Qué hace exactamente FOR UPDATE?» → Bloquea la fila leída hasta el COMMIT: la segunda sesión espera en vez de decidir con un dato que ya cambió.</a:t>
            </a:r>
          </a:p>
          <a:p/>
          <a:p>
            <a:r>
              <a:t>CUIDADO: El título dice que este caso no llega a los titulares: no le inventes un nombre propio. Es un patrón, no una noticia.</a:t>
            </a:r>
          </a:p>
          <a:p/>
          <a:p>
            <a:r>
              <a:t>PASA A LA SIGUIENTE: Quinto caso: el fallo de seguridad más documentado de la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Inyectar SQL es colar código dentro de un dato. Pasa cuando la aplicación arma la consulta pegando lo que el usuario escribió: el texto deja de ser un dato y pasa a ser parte de la sentencia. La defensa es que el dato viaje aparte, como parámetro.</a:t>
            </a:r>
          </a:p>
          <a:p/>
          <a:p>
            <a:r>
              <a:t>CÓMO DARLA (≈4 min):</a:t>
            </a:r>
          </a:p>
          <a:p>
            <a:r>
              <a:t>  • Al entrar: Recorre la ilustración de arriba abajo. Primero, lo que escribe el usuario: x' OR '1'='1.</a:t>
            </a:r>
          </a:p>
          <a:p>
            <a:r>
              <a:t>  • Camino 1: Pegado dentro de la sentencia: la comilla del texto cierra la cadena y el OR queda como código. La condición es siempre verdadera y salen todos los dueños.</a:t>
            </a:r>
          </a:p>
          <a:p>
            <a:r>
              <a:t>  • Camino 2: Ligado como parámetro: la sentencia lleva $1 y USING entrega el valor aparte. El texto completo se compara como un nombre y salen 0 filas: nadie se llama así.</a:t>
            </a:r>
          </a:p>
          <a:p>
            <a:r>
              <a:t>  • Banda final: Escapar comillas a mano no equivale: basta olvidarlo en un sitio. La regla: el dato nunca viaja como código.</a:t>
            </a:r>
          </a:p>
          <a:p/>
          <a:p>
            <a:r>
              <a:t>EJEMPLO: TalkTalk, Reino Unido, octubre de 2015: una inyección de SQL en páginas web heredadas que nadie había actualizado expuso datos personales de unos 157.000 clientes; el regulador de protección de datos la multó con 400.000 libras en 2016.</a:t>
            </a:r>
          </a:p>
          <a:p/>
          <a:p>
            <a:r>
              <a:t>SI PREGUNTAN:</a:t>
            </a:r>
          </a:p>
          <a:p>
            <a:r>
              <a:t>  • «¿Y si le quito las comillas a lo que escribe el usuario?» → Rompe nombres legítimos como O'Brien y basta olvidarlo en un solo sitio. El parámetro ligado lo resuelve siempre, porque el dato nunca se interpreta.</a:t>
            </a:r>
          </a:p>
          <a:p>
            <a:r>
              <a:t>  • «¿El PREPARE de la Clase 12 es lo mismo?» → Es el mismo principio: la sentencia con huecos y los valores aparte. EXECUTE … USING es su forma dentro de PL/pgSQL.</a:t>
            </a:r>
          </a:p>
          <a:p/>
          <a:p>
            <a:r>
              <a:t>CUIDADO: No digas que la inyección «borra la base» siempre: el ataque típico lee datos, como aquí. Lo que puede hacer depende del rol con que entra la aplicación: otra vez, privilegio mínimo.</a:t>
            </a:r>
          </a:p>
          <a:p/>
          <a:p>
            <a:r>
              <a:t>PASA A LA SIGUIENTE: Veámoslo en código: la misma búsqueda, insegura y segura.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No todos los incidentes son pérdidas o ataques: muchos son una consulta lenta que se ejecuta demasiado seguido. Ninguna ejecución falla; el servicio cae porque se queda sin recursos. Es el caso que más se repite y menos se cuenta.</a:t>
            </a:r>
          </a:p>
          <a:p/>
          <a:p>
            <a:r>
              <a:t>CÓMO DARLA (≈4 min):</a:t>
            </a:r>
          </a:p>
          <a:p>
            <a:r>
              <a:t>  • Al entrar: Recorre la ilustración en tres franjas, de arriba abajo.</a:t>
            </a:r>
          </a:p>
          <a:p>
            <a:r>
              <a:t>  • Arriba: Un reporte programado cada minuto (min 0 a 5) en el que cada ejecución tarda más que un minuto y más que la anterior, porque compiten entre sí: la siguiente empieza antes de que termine la anterior y se apilan.</a:t>
            </a:r>
          </a:p>
          <a:p>
            <a:r>
              <a:t>  • Centro: En el minuto 5 hay tres reportes a la vez y, en hora pico, la aplicación usa el resto: las 10 conexiones del esquema quedan ocupadas y la siguiente petición de recepción no consigue ninguna.</a:t>
            </a:r>
          </a:p>
          <a:p>
            <a:r>
              <a:t>  • Abajo: Lo que dice el plan: Seq Scan sobre la tabla grande, que recorre todo para quedarse con pocas filas, es la firma de un índice que falta. La lección concreta: solo las columnas que se muestran e índice en el filtro, medido con EXPLAIN ANALYZE antes y después.</a:t>
            </a:r>
          </a:p>
          <a:p/>
          <a:p>
            <a:r>
              <a:t>EJEMPLO: En la clínica: un tablero que cada minuto cuenta las citas del día leyendo toda la tabla de citas, con años de historia, en lugar de usar un índice por fecha.</a:t>
            </a:r>
          </a:p>
          <a:p/>
          <a:p>
            <a:r>
              <a:t>SI PREGUNTAN:</a:t>
            </a:r>
          </a:p>
          <a:p>
            <a:r>
              <a:t>  • «¿Por qué el SELECT * es parte del problema?» → Trae columnas que nadie mira: más datos leídos, más memoria y más red por ejecución. El reporte pide solo lo que muestra.</a:t>
            </a:r>
          </a:p>
          <a:p>
            <a:r>
              <a:t>  • «¿Cómo sé que el índice sirvió?» → Con EXPLAIN ANALYZE antes y después: el Seq Scan cambia por un Index Scan y el tiempo real baja. Si no se midió, no se sabe.</a:t>
            </a:r>
          </a:p>
          <a:p/>
          <a:p>
            <a:r>
              <a:t>CUIDADO: No afirmes que un índice lo arregla siempre: si el filtro devuelve casi toda la tabla, el planeador hace bien en recorrerla. El índice ayuda cuando el filtro deja pocas filas.</a:t>
            </a:r>
          </a:p>
          <a:p/>
          <a:p>
            <a:r>
              <a:t>PASA A LA SIGUIENTE: Cómo se lee el plan de una consulta que no escribiste tú.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La parte difícil del análisis no es contar el caso sino sacar una lección que alguien pueda cumplir y otro pueda verificar. La prueba es simple: si la lección se pudo escribir antes de conocer el caso, es un lugar común.</a:t>
            </a:r>
          </a:p>
          <a:p/>
          <a:p>
            <a:r>
              <a:t>CÓMO DARLA (≈4 min):</a:t>
            </a:r>
          </a:p>
          <a:p>
            <a:r>
              <a:t>  • Al entrar: La versión inútil, tachada: «hay que probar los respaldos». Pregunta: ¿quién la cumple, cuándo, y cómo sabemos que la cumplió? Nadie puede responder.</a:t>
            </a:r>
          </a:p>
          <a:p>
            <a:r>
              <a:t>  • Clic 1: La misma lección con sus cuatro partes: verbo (se restaura), artefacto (el respaldo más reciente, en una base de prueba), frecuencia (el primer lunes de cada mes) y comprobación (conteos de filas contra producción y bitácora con fecha y resultado).</a:t>
            </a:r>
          </a:p>
          <a:p>
            <a:r>
              <a:t>  • Clic 2: Por qué vale: se puede auditar. Si no hay registro del mes, se declara que no hay respaldo.</a:t>
            </a:r>
          </a:p>
          <a:p/>
          <a:p>
            <a:r>
              <a:t>EJEMPLO: Del caso de permisos: crear rol_clinica_app con GRANT EXECUTE sobre los procedimientos y sin SELECT, INSERT, UPDATE ni DELETE directos, verificado consultando las vistas de privilegios. Del de concurrencia: ALTER TABLE cita ADD CONSTRAINT uq_cita_vet_franja UNIQUE (id_veterinario, fecha_hora).</a:t>
            </a:r>
          </a:p>
          <a:p/>
          <a:p>
            <a:r>
              <a:t>SI PREGUNTAN:</a:t>
            </a:r>
          </a:p>
          <a:p>
            <a:r>
              <a:t>  • «¿Puedo inventar un caso?» → No. Cada caso tiene que poder verificarse con una fuente pública o declararse expresamente como hipotético.</a:t>
            </a:r>
          </a:p>
          <a:p>
            <a:r>
              <a:t>  • «¿Y si el caso no tiene detalle técnico publicado?» → Se escribe solo lo documentado y se marca aparte lo que es inferencia propia: separar hecho de suposición es parte del análisis.</a:t>
            </a:r>
          </a:p>
          <a:p/>
          <a:p>
            <a:r>
              <a:t>CUIDADO: No aceptes lecciones en infinitivo vago («mejorar la seguridad», «optimizar»): sin artefacto y sin comprobación no son lecciones.</a:t>
            </a:r>
          </a:p>
          <a:p/>
          <a:p>
            <a:r>
              <a:t>PASA A LA SIGUIENTE: Ahora, la lección del caso del respaldo convertida en dos objetos de la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Del caso GitLab salen dos mejoras que se confunden pero hacen cosas distintas. El archivo de borrados permite recuperar lo que se borró por error; la verificación demuestra que lo recuperado está completo. Sin la segunda, nadie sabe si la primera funcionó.</a:t>
            </a:r>
          </a:p>
          <a:p/>
          <a:p>
            <a:r>
              <a:t>CÓMO DARLA (≈3 min):</a:t>
            </a:r>
          </a:p>
          <a:p>
            <a:r>
              <a:t>  • Al entrar: Presenta las dos columnas como dos controles distintos.</a:t>
            </a:r>
          </a:p>
          <a:p>
            <a:r>
              <a:t>  • Columna izquierda: El DELETE sigue siendo posible (el error humano no desaparece); el trigger BEFORE DELETE copia OLD a tarifa_borrada y devuelve OLD para que el borrado siga. Resultado: se puede volver.</a:t>
            </a:r>
          </a:p>
          <a:p>
            <a:r>
              <a:t>  • Columna derecha: El registro del respaldo guarda cuántas filas había (3); después de restaurar se cuenta otra vez y el CASE compara: 3 = 3, RESTAURACION OK. Resultado: se demuestra que se volvió completo.</a:t>
            </a:r>
          </a:p>
          <a:p>
            <a:r>
              <a:t>  • Abajo: Lo que le faltó a GitLab: tenía respaldos, pero ninguno se había comprobado restaurando.</a:t>
            </a:r>
          </a:p>
          <a:p/>
          <a:p>
            <a:r>
              <a:t>EJEMPLO: Con la tabla tarifa de tres especies (CANINO 45000, FELINO 40000, OTRA 35000), un DELETE FROM tarifa sin WHERE deja 3 filas en tarifa_borrada; tras restaurar, registro 3, conteo 3, RESTAURACION OK. Si solo volvieran 2, el veredicto sería REVISAR.</a:t>
            </a:r>
          </a:p>
          <a:p/>
          <a:p>
            <a:r>
              <a:t>SI PREGUNTAN:</a:t>
            </a:r>
          </a:p>
          <a:p>
            <a:r>
              <a:t>  • «¿El trigger no impide el borrado?» → No: devuelve OLD y el borrado sigue. Impedirlo sería otra decisión (quitar el permiso o un BEFORE con RAISE EXCEPTION). Este control acepta el error y prepara la vuelta.</a:t>
            </a:r>
          </a:p>
          <a:p>
            <a:r>
              <a:t>  • «¿Por qué no basta con el respaldo de la noche?» → Porque no tiene lo creado durante el día; el archivo guarda la fila exacta en el momento en que se borró.</a:t>
            </a:r>
          </a:p>
          <a:p/>
          <a:p>
            <a:r>
              <a:t>CUIDADO: El conteo esperado se calcula con COUNT(*) al respaldar, no se escribe a mano: un número escrito a mano verifica contra lo que alguien creyó, no contra lo que había.</a:t>
            </a:r>
          </a:p>
          <a:p/>
          <a:p>
            <a:r>
              <a:t>PASA A LA SIGUIENTE: Primero, el trigger en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Hoy no hay técnica nueva: se usa lo del semestre para entender fallos reales. La pregunta de la clase es una sola: cuando una base falla en producción, ¿qué falló de verdad y qué se cambia para que no vuelva a pasar?</a:t>
            </a:r>
          </a:p>
          <a:p/>
          <a:p>
            <a:r>
              <a:t>CÓMO DARLA (≈3 min):</a:t>
            </a:r>
          </a:p>
          <a:p>
            <a:r>
              <a:t>  • Al entrar: La clase cae en festivo (2 de noviembre) y no hay encuentro en vivo. Si grabas una explicación corta, abre con la pregunta de la clase y avisa que las láminas se leen en orden y que cada una se entiende sola.</a:t>
            </a:r>
          </a:p>
          <a:p>
            <a:r>
              <a:t>  • Antes de empezar: Recuerda al grupo que el Parcial 3 (Clase 14, 9 de noviembre) incluye esta clase autónoma: es la que más se olvida al estudiar.</a:t>
            </a:r>
          </a:p>
          <a:p/>
          <a:p>
            <a:r>
              <a:t>CUIDADO: No la presentes como «clase de relleno»: el análisis de incidentes es una práctica profesional con nombre propio, el post-mortem.</a:t>
            </a:r>
          </a:p>
          <a:p/>
          <a:p>
            <a:r>
              <a:t>PASA A LA SIGUIENTE: Empezamos por ese documento: el post-mortem.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reparto sugerido de las dos horas de trabajo autónomo: teoría con una lámina por concepto, un análisis guiado completo y la práctica opcional de la carpeta.</a:t>
            </a:r>
          </a:p>
          <a:p/>
          <a:p>
            <a:r>
              <a:t>CÓMO DARLA (≈1 min):</a:t>
            </a:r>
          </a:p>
          <a:p>
            <a:r>
              <a:t>  • Al entrar: Señala los tramos sin detenerte. La teoría, leída con calma, toma unos 50 minutos (más que el tramo 10-35); el «demo» de hoy es el análisis guiado de la lámina «Demo del día», y la práctica empieza hacia el minuto 65.</a:t>
            </a:r>
          </a:p>
          <a:p/>
          <a:p>
            <a:r>
              <a:t>PASA A LA SIGUIENTE: Primer concepto: qué es un post-mortem.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Dos funciones que buscan un dueño por nombre con SQL dinámico: la sentencia se arma como texto y se ejecuta con EXECUTE. La única diferencia es cómo entra el nombre: pegado al texto o ligado como parámetro.</a:t>
            </a:r>
          </a:p>
          <a:p/>
          <a:p>
            <a:r>
              <a:t>CÓMO DARLA (≈4 min):</a:t>
            </a:r>
          </a:p>
          <a:p>
            <a:r>
              <a:t>  • Al entrar: Presenta la lámina como «la misma función dos veces»; señala las dos cabeceras, MAL y BIEN.</a:t>
            </a:r>
          </a:p>
          <a:p>
            <a:r>
              <a:t>  • Líneas 1-7: La versión insegura: RETURN QUERY EXECUTE ejecuta un texto armado con || (concatenar). Cada '' dentro de la cadena es UNA comilla escrita: el nombre queda entre comillas dentro de la sentencia.</a:t>
            </a:r>
          </a:p>
          <a:p>
            <a:r>
              <a:t>  • Líneas 9-15: La versión segura: el texto lleva $1 donde va el dato y USING p_nombre entrega el valor por separado. El motor nunca lo lee como SQL.</a:t>
            </a:r>
          </a:p>
          <a:p>
            <a:r>
              <a:t>  • Líneas 17-18: La prueba: el mismo texto de ataque contra las dos. La insegura devuelve todos los dueños; la segura, 0.</a:t>
            </a:r>
          </a:p>
          <a:p/>
          <a:p>
            <a:r>
              <a:t>EJEMPLO: Con los 6 dueños de ejemplo: el COUNT(*) del ataque contra buscar_dueno_inseguro da 6 y contra buscar_dueno_seguro da 0; buscar_dueno_inseguro('Ana Gomez') devuelve una fila (id 1), así que el uso normal funciona igual en las dos.</a:t>
            </a:r>
          </a:p>
          <a:p/>
          <a:p>
            <a:r>
              <a:t>SI PREGUNTAN:</a:t>
            </a:r>
          </a:p>
          <a:p>
            <a:r>
              <a:t>  • «¿Por qué no WHERE nombre = p_nombre, sin EXECUTE?» → Es todavía mejor cuando la consulta es fija: una consulta estática usa el parámetro siempre como valor. EXECUTE solo hace falta si la sentencia cambia, por ejemplo la tabla o la columna.</a:t>
            </a:r>
          </a:p>
          <a:p>
            <a:r>
              <a:t>  • «¿Qué pasa si alguien busca O'Brien en la insegura?» → Falla con «syntax error at or near "Brien"»: la comilla del nombre cierra la cadena. Es la misma grieta por la que entra el ataque.</a:t>
            </a:r>
          </a:p>
          <a:p/>
          <a:p>
            <a:r>
              <a:t>CUIDADO: Las dos comillas seguidas ('') dentro de una cadena SQL son una sola comilla escrita, no una cadena vacía; si las confundes al dictar, nadie entiende por qué funciona el ataque.</a:t>
            </a:r>
          </a:p>
          <a:p/>
          <a:p>
            <a:r>
              <a:t>PASA A LA SIGUIENTE: Sexto caso: no es de seguridad ni de pérdida, sino de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EXPLAIN (ANALYZE, BUFFERS) ejecuta la consulta y muestra el plan que eligió el motor, con filas y tiempos reales. Los cuatro comentarios son el orden en que se lee un plan ajeno, el de un sistema que falla.</a:t>
            </a:r>
          </a:p>
          <a:p/>
          <a:p>
            <a:r>
              <a:t>CÓMO DARLA (≈3 min):</a:t>
            </a:r>
          </a:p>
          <a:p>
            <a:r>
              <a:t>  • Al entrar: Primero la consulta y después los comentarios: son una lista de revisión.</a:t>
            </a:r>
          </a:p>
          <a:p>
            <a:r>
              <a:t>  • Líneas 1-8: La consulta: dueños con más de 5 citas desde el 1 de enero de 2026. EXPLAIN (ANALYZE, BUFFERS) delante la ejecuta de verdad y añade tiempos y páginas leídas.</a:t>
            </a:r>
          </a:p>
          <a:p>
            <a:r>
              <a:t>  • Comentario 1: Se busca el nodo con el costo más alto, no el primero de arriba: el plan es un árbol y se lee de adentro hacia afuera.</a:t>
            </a:r>
          </a:p>
          <a:p>
            <a:r>
              <a:t>  • Comentarios 2 y 3: Seq Scan sobre tabla grande con un filtro que deja pocas filas: falta un índice. Filas estimadas contra reales diez veces distintas: estadísticas viejas, ANALYZE.</a:t>
            </a:r>
          </a:p>
          <a:p>
            <a:r>
              <a:t>  • Comentario 4: Un Nested Loop con muchas filas suele indicar estimaciones malas; con estadísticas al día el planeador tiende a elegir Hash Join.</a:t>
            </a:r>
          </a:p>
          <a:p/>
          <a:p>
            <a:r>
              <a:t>EJEMPLO: Con los datos de ejemplo (10 citas) el plan muestra Seq Scan on cita c con Filter: (fecha_hora &gt;= '2026-01-01'::date), dos Hash Join y un HashAggregate que descarta a los 4 dueños con citas porque ninguno pasa de 5: devuelve 0 filas.</a:t>
            </a:r>
          </a:p>
          <a:p/>
          <a:p>
            <a:r>
              <a:t>SI PREGUNTAN:</a:t>
            </a:r>
          </a:p>
          <a:p>
            <a:r>
              <a:t>  • «¿EXPLAIN ANALYZE es seguro en producción?» → Ejecuta la sentencia de verdad: con un SELECT solo cuesta su tiempo, pero con un UPDATE o un DELETE los cambios se aplican. A esos se les envuelve en BEGIN … ROLLBACK.</a:t>
            </a:r>
          </a:p>
          <a:p>
            <a:r>
              <a:t>  • «¿Qué agrega BUFFERS?» → Cuántas páginas se leyeron de memoria (shared hit) y cuántas de disco (read). Muchas lecturas de disco son la señal de una consulta cara.</a:t>
            </a:r>
          </a:p>
          <a:p/>
          <a:p>
            <a:r>
              <a:t>CUIDADO: Con tablas pequeñas el Seq Scan es la decisión correcta: no lo presentes como error en la base de ejemplo de 10 citas. La alarma es con millones de filas.</a:t>
            </a:r>
          </a:p>
          <a:p/>
          <a:p>
            <a:r>
              <a:t>PASA A LA SIGUIENTE: Ya hay seis casos. ¿Cómo se convierte un caso en una lección que sirva?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Un trigger de archivo completo sobre una tabla pequeña y sin dependencias, la de tarifas por especie: la tabla donde se guarda lo borrado, la función que copia la fila y la asociación que la dispara antes de cada DELETE.</a:t>
            </a:r>
          </a:p>
          <a:p/>
          <a:p>
            <a:r>
              <a:t>CÓMO DARLA (≈3 min):</a:t>
            </a:r>
          </a:p>
          <a:p>
            <a:r>
              <a:t>  • Al entrar: Recorre las piezas de arriba abajo.</a:t>
            </a:r>
          </a:p>
          <a:p>
            <a:r>
              <a:t>  • Líneas 1-2: La tabla de ejemplo, tarifa, con tres especies. Nadie apunta a ella con una clave foránea, así que se puede borrar sin tropezar con otras tablas.</a:t>
            </a:r>
          </a:p>
          <a:p>
            <a:r>
              <a:t>  • Líneas 4-9: La tabla tarifa_borrada: las columnas de tarifa más dos que se llenan solas, borrado_en (DEFAULT now()) y usuario_bd (DEFAULT current_user).</a:t>
            </a:r>
          </a:p>
          <a:p>
            <a:r>
              <a:t>  • Líneas 11-17: La función RETURNS TRIGGER: inserta los valores de OLD, que en un DELETE es la fila que se va, y termina en RETURN OLD.</a:t>
            </a:r>
          </a:p>
          <a:p>
            <a:r>
              <a:t>  • Líneas 19-21: La asociación: BEFORE DELETE ON tarifa, FOR EACH ROW. Corre una vez por cada fila borrada.</a:t>
            </a:r>
          </a:p>
          <a:p/>
          <a:p>
            <a:r>
              <a:t>EJEMPLO: DELETE FROM tarifa WHERE especie = 'OTRA'; deja en tarifa_borrada la fila OTRA · 35000.00, con la fecha y el usuario de la base.</a:t>
            </a:r>
          </a:p>
          <a:p/>
          <a:p>
            <a:r>
              <a:t>SI PREGUNTAN:</a:t>
            </a:r>
          </a:p>
          <a:p>
            <a:r>
              <a:t>  • «¿Por qué RETURN OLD y no RETURN NEW?» → En un DELETE no hay fila nueva: NEW es NULL. En un BEFORE, devolver NULL cancela la operación en silencio; devolver OLD la deja seguir.</a:t>
            </a:r>
          </a:p>
          <a:p>
            <a:r>
              <a:t>  • «¿Y si el borrado falla por una clave foránea?» → Se deshace toda la sentencia, incluida la copia que hizo el trigger: el archivo no queda con filas que en realidad no se borraron.</a:t>
            </a:r>
          </a:p>
          <a:p/>
          <a:p>
            <a:r>
              <a:t>CUIDADO: Haz el ejemplo sobre tarifa y no sobre una tabla con dependencias: borrar un veterinario que tiene citas falla por la clave foránea («update or delete on table "veterinario" violates foreign key constraint»), y la tabla cita es la de la práctica.</a:t>
            </a:r>
          </a:p>
          <a:p/>
          <a:p>
            <a:r>
              <a:t>PASA A LA SIGUIENTE: La segunda mejora: comprobar que la restauración quedó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El ciclo completo en tres bloques: respaldar y anotar cuántas filas había, sufrir el accidente y volver desde el archivo, y una consulta que compara y dicta un veredicto.</a:t>
            </a:r>
          </a:p>
          <a:p/>
          <a:p>
            <a:r>
              <a:t>CÓMO DARLA (≈3 min):</a:t>
            </a:r>
          </a:p>
          <a:p>
            <a:r>
              <a:t>  • Al entrar: Señala los tres comentarios numerados: son los tres momentos.</a:t>
            </a:r>
          </a:p>
          <a:p>
            <a:r>
              <a:t>  • Líneas 1-6: CREATE TABLE … AS SELECT copia la tabla tarifa; registro_respaldo guarda el conteo calculado con COUNT(*), no escrito a mano.</a:t>
            </a:r>
          </a:p>
          <a:p>
            <a:r>
              <a:t>  • Líneas 8-11: El accidente: DELETE sin WHERE. El trigger de la lámina anterior ya archivó cada fila; el INSERT … SELECT con columnas explícitas las devuelve.</a:t>
            </a:r>
          </a:p>
          <a:p>
            <a:r>
              <a:t>  • Líneas 13-20: La comprobación: una fila con las filas esperadas, las actuales y el veredicto del CASE. ORDER BY hecho_en DESC LIMIT 1 toma el respaldo más reciente si hubo varios.</a:t>
            </a:r>
          </a:p>
          <a:p/>
          <a:p>
            <a:r>
              <a:t>EJEMPLO: Ejecutada después de la lámina anterior, la consulta final devuelve esperadas 3 · actuales 3 · RESTAURACION OK, y la tabla cita de la base sigue intacta. Si faltara una fila, devolvería 3 · 2 · REVISAR.</a:t>
            </a:r>
          </a:p>
          <a:p/>
          <a:p>
            <a:r>
              <a:t>SI PREGUNTAN:</a:t>
            </a:r>
          </a:p>
          <a:p>
            <a:r>
              <a:t>  • «¿Por qué columnas explícitas en el INSERT?» → Porque tarifa_borrada tiene dos columnas más (borrado_en y usuario_bd): con SELECT * no coincidirían. Nombrarlas además protege si cambia el orden de las columnas.</a:t>
            </a:r>
          </a:p>
          <a:p>
            <a:r>
              <a:t>  • «¿Basta con comparar el conteo?» → Es el mínimo. Una verificación más fuerte compara también rangos o sumas, por ejemplo el MIN y el MAX de una fecha o la suma de los valores.</a:t>
            </a:r>
          </a:p>
          <a:p/>
          <a:p>
            <a:r>
              <a:t>CUIDADO: Si una tabla con SERIAL se restaura con su id explícito en una tabla recién creada, la secuencia no avanza y el siguiente INSERT sin id choca con la llave primaria; se ajusta con setval. Aquí no pasa: la llave de tarifa es la especie.</a:t>
            </a:r>
          </a:p>
          <a:p/>
          <a:p>
            <a:r>
              <a:t>PASA A LA SIGUIENTE: Con todo esto, el análisis guiado de un caso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Como hoy no hay encuentro en vivo, la «demo» es un análisis completo hecho sobre un caso que no es el de la práctica: Capital One. Muestra la forma que debe tener cualquier análisis, de punta a punta.</a:t>
            </a:r>
          </a:p>
          <a:p/>
          <a:p>
            <a:r>
              <a:t>CÓMO DARLA (≈15 min):</a:t>
            </a:r>
          </a:p>
          <a:p>
            <a:r>
              <a:t>  • Al entrar: Recorre las seis filas de la ilustración de arriba abajo, leyendo cada una en voz alta como una frase del informe.</a:t>
            </a:r>
          </a:p>
          <a:p>
            <a:r>
              <a:t>  • Filas 2 y 3: Qué falló y causa raíz por separado: el cortafuegos es la causa próxima; la raíz es el rol que podía leerlo todo.</a:t>
            </a:r>
          </a:p>
          <a:p>
            <a:r>
              <a:t>  • Filas 5 y 6: La lección tiene comprobación (revisión mensual contra la matriz) y el cambio nombra un objeto de la base: la aplicación entra con su propio rol, con GRANT EXECUTE y sin SELECT directo.</a:t>
            </a:r>
          </a:p>
          <a:p>
            <a:r>
              <a:t>  • Si tienes una base a mano: Ejecuta en orden las tres láminas de código (SQL dinámico, trigger de archivo y restauración comprobada) y muestra cada salida: 6 contra 0, las 3 filas en tarifa_borrada y el RESTAURACION OK.</a:t>
            </a:r>
          </a:p>
          <a:p/>
          <a:p>
            <a:r>
              <a:t>EJEMPLO: Cambio en la base, escrito para la clínica: «la aplicación se conecta como rol_clinica_app, que tiene GRANT EXECUTE sobre los procedimientos y ningún privilegio directo sobre las tablas; se verifica en las vistas de privilegios».</a:t>
            </a:r>
          </a:p>
          <a:p/>
          <a:p>
            <a:r>
              <a:t>SI PREGUNTAN:</a:t>
            </a:r>
          </a:p>
          <a:p>
            <a:r>
              <a:t>  • «¿Cuánto debe medir el análisis?» → Media página: lo que cabe en seis secciones breves.</a:t>
            </a:r>
          </a:p>
          <a:p>
            <a:r>
              <a:t>  • «¿Puedo usar uno de los casos de las láminas?» → Sí, o uno propio documentado con su fuente. Lo que no vale es inventarlo.</a:t>
            </a:r>
          </a:p>
          <a:p/>
          <a:p>
            <a:r>
              <a:t>CUIDADO: Que el análisis no se quede en la noticia: la fila 6, el cambio en la base propia, es la que conecta el caso con el proyecto y la que más se olvida.</a:t>
            </a:r>
          </a:p>
          <a:p/>
          <a:p>
            <a:r>
              <a:t>PASA A LA SIGUIENTE: Cierre de la clase.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QUÉ ES (dilo así): Cierre: un fallo real casi nunca es mala suerte. Es una causa raíz que se puede nombrar y una lección que se convierte en un objeto de la base.</a:t>
            </a:r>
          </a:p>
          <a:p/>
          <a:p>
            <a:r>
              <a:t>CÓMO DARLA (≈3 min):</a:t>
            </a:r>
          </a:p>
          <a:p>
            <a:r>
              <a:t>  • Al entrar: Pregunta de salida, por el canal del curso: «elige un caso de hoy y escribe su causa raíz en una frase que no nombre a una persona». Responde dos o tres corrigiendo las que se quedan en la causa próxima.</a:t>
            </a:r>
          </a:p>
          <a:p>
            <a:r>
              <a:t>  • Antes de despedir: Recuerda que la próxima sesión es el Parcial 3 (9 de noviembre) y que esta clase entra.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Analisis de casos reales · la clínica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Clase autonoma · lecciones de fallos reales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 · Tema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la clase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autónoma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no hay encuentro en vivo y estas láminas son la guía completa.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tema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análisis de casos reales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cómo falla una base en producción y qué se cambia para que no se repita.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Seis casos públicos, una forma de analizarlos (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causa raíz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lección concreta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) y dos mejoras en SQL.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Cada lámina se sostiene sola: sirve para repasar aunque no hayas visto las anteriores.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· clase autonoma (festivo) · la clínica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Teoría Core breve (al servicio del proyecto)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35-55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con la herramienta del día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55-105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Práctica (opcional, guía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Cierre conceptual · dudas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post-mortem analiza el fallo, no a la persona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ost-mortem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post-mortem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post-mortem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post-mortem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el documento breve que se escribe después de un fallo en producción.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Responde cuatro preguntas: qué pasó, con qué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impacto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por qué fue posible y qué se cambia.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sin culpables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(blameless): se analiza el sistema, no a la persona que se equivocó.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el informe castiga, nadie vuelve a reportar los errores pequeños que avisan de los grandes.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Causa proxima y causa raiz: la distincion que separa el analisis de la anecdota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usa-raiz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ausa-raiz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ausa-raiz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causa próxima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el último evento de la cadena, el que se ve: el disco que falla.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causa raíz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es la condición que le dio consecuencias: un respaldo que nadie había probado.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llega preguntando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¿por qué?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varias veces, hasta nombrar algo que se pueda cambiar.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la respuesta nombra a una persona, todavía no es la raíz.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Caso uno: el respaldo que nunca se restauro (GitLab, 2017)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itlab-2017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gitlab-2017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gitlab-2017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gitlab-2017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enero de 2017,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borrado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en el servidor equivocado eliminó unos 300 GB de datos.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Al recuperar, ninguno de sus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cinco mecanismos de respaldo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funcionó como se esperaba.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restauró una copia de unas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seis horas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antes: lo creado en esa ventana se perdió.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respaldo que nunca se restauró de prueba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no es un respaldo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Caso dos: permisos excesivos (Capital One, 2019)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apital-on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capital-on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capital-on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2019,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cortafuegos mal configurado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dejó obtener las credenciales de un rol de servicio.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Ese rol podía leer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los buckets de almacenamiento, muchos más de los que necesitaba.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 expusieron datos de unos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100 millones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personas; la multa fue de 80 millones de dólares.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lección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privilegio mínimo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cada rol, solo lo que su tarea necesita.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Caso tres: perdida de datos en una migracion (MySpace, 2019)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igracion-sin-retorn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migracion-sin-retorno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migracion-sin-retorno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2019, MySpace reconoció haber perdido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música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subida entre 2003 y 2015 en una migración de servidores.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hubo ataque: la migración no tenía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copia verificada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ni camino de vuelta.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Faltaban tres prácticas: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expandir, migrar y contraer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comparar conteos y probar el retorno antes.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migración sin retorno probado es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apuesta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Caso cuatro: concurrencia, el que no llega a los titulares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tualizacion-perdida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actualizacion-perdida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actualizacion-perdida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9" name="Picture 8" descr="actualizacion-perdida-pas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Dos procesos leen el mismo stock (5), cada uno resta 3 y los dos escriben 2: es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actualización perdida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Salieron 6 unidades y el sistema dice que quedan 2,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sin ningún mensaje de error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Siguen el mismo patrón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doble reserva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una franja y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bloqueo mutuo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(deadlock).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defensa vive en la base: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UPDATE condicional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FOR UPDATE o UNIQUE.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Caso cinco: inyeccion de SQL, cuando el dato se vuelve codigo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inyeccion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inyección de SQL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ocurre cuando la aplicación pega en la sentencia el texto que escribió el usuario.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x' OR '1'='1 el WHERE se vuelve siempre verdadero y la consulta devuelve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toda la tabla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Escapar comillas a mano no basta: la defensa es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parámetro ligado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(EXECUTE … USING).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Con el parámetro, el mismo texto se compara como un valor y devuelve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0 filas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SQL dinamico: concatenar el texto o ligar el parametro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5262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5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78"/>
              </a:spcAft>
            </a:pPr>
            <a:r>
              <a:rPr sz="1300" i="0" b="0">
                <a:solidFill>
                  <a:srgbClr val="858585"/>
                </a:solidFill>
                <a:latin typeface="Consolas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582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8"/>
              </a:spcAft>
            </a:pPr>
            <a:r>
              <a:rPr sz="1300" i="1" b="0">
                <a:solidFill>
                  <a:srgbClr val="6A9955"/>
                </a:solidFill>
                <a:latin typeface="Consolas"/>
              </a:rPr>
              <a:t>-- MAL: el texto del usuario queda DENTRO de la sentencia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buscar_dueno_inseguro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p_nombre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plpgsql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$fn$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QUERY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EXECUTE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'SELECT id_dueno, nombre FROM dueno WHERE nombre = '''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||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p_nombre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||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''''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$fn$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78"/>
              </a:spcAft>
            </a:pPr>
            <a:r>
              <a:rPr sz="1300" i="1" b="0">
                <a:solidFill>
                  <a:srgbClr val="6A9955"/>
                </a:solidFill>
                <a:latin typeface="Consolas"/>
              </a:rPr>
              <a:t>-- BIEN: la sentencia lleva un hueco ($1) y el valor viaja aparte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buscar_dueno_seguro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p_nombre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plpgsql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$fn$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QUERY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EXECUTE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'SELECT id_dueno, nombre FROM dueno WHERE nombre = $1'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USING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p_nombre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$fn$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buscar_dueno_inseguro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'x'' OR ''1''=''1'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);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todos</a:t>
            </a:r>
          </a:p>
          <a:p>
            <a:pPr>
              <a:spcAft>
                <a:spcPts val="278"/>
              </a:spcAft>
            </a:pPr>
            <a:r>
              <a:rPr sz="13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3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300" i="0" b="0">
                <a:solidFill>
                  <a:srgbClr val="DCDCAA"/>
                </a:solidFill>
                <a:latin typeface="Consolas"/>
              </a:rPr>
              <a:t>buscar_dueno_seguro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300" i="0" b="0">
                <a:solidFill>
                  <a:srgbClr val="CE9178"/>
                </a:solidFill>
                <a:latin typeface="Consolas"/>
              </a:rPr>
              <a:t>'x'' OR ''1''=''1'</a:t>
            </a:r>
            <a:r>
              <a:rPr sz="1300" i="0" b="0">
                <a:solidFill>
                  <a:srgbClr val="D4D4D4"/>
                </a:solidFill>
                <a:latin typeface="Consolas"/>
              </a:rPr>
              <a:t>);    </a:t>
            </a:r>
            <a:r>
              <a:rPr sz="1300" i="1" b="0">
                <a:solidFill>
                  <a:srgbClr val="6A9955"/>
                </a:solidFill>
                <a:latin typeface="Consolas"/>
              </a:rPr>
              <a:t>-- 0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Caso seis: el reporte que tumba el servicio (rendimiento)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reporte-lent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panel refresca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cada minuto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un reporte con SELECT * sobre una tabla enorme, sin índice para su filtro.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Si cada ejecución tarda más de un minuto,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se apilan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ocupan las conexiones del servidor.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hora pico la aplicación se queda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sin conexiones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y deja de responder.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plan de ejecución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lo delata: un Seq Scan que lee toda la tabla para quedarse con pocas filas.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Leer un plan de ejecucion ajeno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63663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407"/>
              </a:spcAft>
            </a:pPr>
            <a:r>
              <a:rPr sz="1900" i="0" b="0">
                <a:solidFill>
                  <a:srgbClr val="858585"/>
                </a:solidFill>
                <a:latin typeface="Consolas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469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EXPLAIN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ANALYZE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BUFFERS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nombre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citas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 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JOIN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id_mascota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id_mascota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fecha_hora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&gt;= </a:t>
            </a:r>
            <a:r>
              <a:rPr sz="1900" i="0" b="0">
                <a:solidFill>
                  <a:srgbClr val="4EC9B0"/>
                </a:solidFill>
                <a:latin typeface="Consolas"/>
              </a:rPr>
              <a:t>DATE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CE9178"/>
                </a:solidFill>
                <a:latin typeface="Consolas"/>
              </a:rPr>
              <a:t>'2026-01-01'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GROUP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id_dueno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nombre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569CD6"/>
                </a:solidFill>
                <a:latin typeface="Consolas"/>
              </a:rPr>
              <a:t>HAVING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id_cita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) &gt;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5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-- 1. el nodo mas costoso (cost mas alto), no el primero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Seq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Scan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sobre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tabla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grande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filtro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selectivo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falta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indice</a:t>
            </a:r>
          </a:p>
          <a:p>
            <a:pPr>
              <a:spcAft>
                <a:spcPts val="407"/>
              </a:spcAft>
            </a:pPr>
            <a:r>
              <a:rPr sz="1900" i="1" b="0">
                <a:solidFill>
                  <a:srgbClr val="6A9955"/>
                </a:solidFill>
                <a:latin typeface="Consolas"/>
              </a:rPr>
              <a:t>-- 3. rows estimadas vs actual: si difieren 10x, ANALYZE la tabla</a:t>
            </a:r>
          </a:p>
          <a:p>
            <a:pPr>
              <a:spcAft>
                <a:spcPts val="407"/>
              </a:spcAft>
            </a:pPr>
            <a:r>
              <a:rPr sz="1900" i="0" b="0">
                <a:solidFill>
                  <a:srgbClr val="D4D4D4"/>
                </a:solidFill>
                <a:latin typeface="Consolas"/>
              </a:rPr>
              <a:t>-- </a:t>
            </a:r>
            <a:r>
              <a:rPr sz="1900" i="0" b="0">
                <a:solidFill>
                  <a:srgbClr val="B5CEA8"/>
                </a:solidFill>
                <a:latin typeface="Consolas"/>
              </a:rPr>
              <a:t>4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.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Nested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Loop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con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muchas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filas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-&gt;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suele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querer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Hash</a:t>
            </a:r>
            <a:r>
              <a:rPr sz="19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900" i="0" b="0">
                <a:solidFill>
                  <a:srgbClr val="569CD6"/>
                </a:solidFill>
                <a:latin typeface="Consolas"/>
              </a:rPr>
              <a:t>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Lecciones concretas: los cuatro elementos verificables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03166" y="1188719"/>
            <a:ext cx="5998464" cy="4828032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ccion-accionable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7" name="Picture 6" descr="leccion-accionable-pas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pic>
        <p:nvPicPr>
          <p:cNvPr id="8" name="Picture 7" descr="leccion-accionable-pas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318" y="1261872"/>
            <a:ext cx="5852160" cy="46817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70301" y="5961888"/>
            <a:ext cx="586419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Clic para avanzar la animación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lección es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lugar común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si se pudo escribir antes del caso: «hay que probar los respaldos».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concreta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si tiene verbo de acción, artefacto, frecuencia o umbral, y forma de comprobarla.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Ejemplo: el primer lunes de cada mes se restaura el respaldo en una base de prueba y se comparan conteos.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segunda se puede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auditar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sin registro del mes, no hay respaldo.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Del caso a la mejora: el borrado con rastro y la restauracion comprobada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mejora-borrad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trigger BEFORE DELETE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copia cada fila (OLD) a una tabla de archivo antes de que se borre.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No evita el error humano, pero lo vuelve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recuperable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desde el archivo se puede volver.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consulta de verificación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compara las filas esperadas con las restauradas y da un veredicto.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Son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controles distintos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: uno permite volver y el otro demuestra que se volvió completo.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borrado con rastro: BEFORE DELETE y RETURN 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120416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526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20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526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PRIMARY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KEY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NUMERIC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NOT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NULL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'CANINO'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45000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), (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'FELINO'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40000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), (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'OTRA'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35000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tarifa_borrada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 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   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NUMERIC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12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2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),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borrado_en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DEFAULT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now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(),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usuario_bd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   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DEFAULT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current_user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fn_trg_archivar_tarifa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RETURNS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TRIGGER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LANGUAGE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plpgsql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$fn$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BEGIN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tarifa_borrada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VALUES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OLD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OLD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RETURN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OLD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      </a:t>
            </a:r>
            <a:r>
              <a:rPr sz="1100" i="1" b="0">
                <a:solidFill>
                  <a:srgbClr val="6A9955"/>
                </a:solidFill>
                <a:latin typeface="Consolas"/>
              </a:rPr>
              <a:t>-- deja seguir el borrado; NULL lo cancelaria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$fn$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TRIGGER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trg_archivar_tarifa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BEFORE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DELETE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FOR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EACH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ROW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EXECUTE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FUNCTION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fn_trg_archivar_tarifa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 restauracion comprobada: una consulta, un veredicto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9117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65760"/>
          </a:xfrm>
          <a:prstGeom prst="rect">
            <a:avLst/>
          </a:prstGeom>
          <a:solidFill>
            <a:srgbClr val="2D2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58368" y="1380743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1380743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" y="1380743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98448"/>
            <a:ext cx="1018001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1" i="0">
                <a:solidFill>
                  <a:srgbClr val="BBBBBB"/>
                </a:solidFill>
                <a:latin typeface="Calibri"/>
              </a:rPr>
              <a:t>SQL · PostgreSQL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719072"/>
            <a:ext cx="502920" cy="431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10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11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12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13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14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15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16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17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18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19</a:t>
            </a:r>
          </a:p>
          <a:p>
            <a:pPr algn="r">
              <a:spcAft>
                <a:spcPts val="235"/>
              </a:spcAft>
            </a:pPr>
            <a:r>
              <a:rPr sz="1100" i="0" b="0">
                <a:solidFill>
                  <a:srgbClr val="858585"/>
                </a:solidFill>
                <a:latin typeface="Consola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719072"/>
            <a:ext cx="10271455" cy="431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35"/>
              </a:spcAft>
            </a:pPr>
            <a:r>
              <a:rPr sz="1100" i="1" b="0">
                <a:solidFill>
                  <a:srgbClr val="6A9955"/>
                </a:solidFill>
                <a:latin typeface="Consolas"/>
              </a:rPr>
              <a:t>-- 1. al respaldar: la copia y su conteo, calculado y no escrito a mano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respaldo_tarifa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*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CREATE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TABLE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registro_respaldo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tabla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TEXT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filas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INT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hecho_en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4EC9B0"/>
                </a:solidFill>
                <a:latin typeface="Consolas"/>
              </a:rPr>
              <a:t>TIMESTAMP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DEFAULT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now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());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registro_respaldo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tabla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filas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'tarifa'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respaldo_tarifa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1" b="0">
                <a:solidFill>
                  <a:srgbClr val="6A9955"/>
                </a:solidFill>
                <a:latin typeface="Consolas"/>
              </a:rPr>
              <a:t>-- 2. el accidente y la vuelta: el trigger ya archivo cada fila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DELETE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                        </a:t>
            </a:r>
            <a:r>
              <a:rPr sz="1100" i="1" b="0">
                <a:solidFill>
                  <a:srgbClr val="6A9955"/>
                </a:solidFill>
                <a:latin typeface="Consolas"/>
              </a:rPr>
              <a:t>-- sin WHERE: borra todo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INSERT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INTO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especie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valor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tarifa_borrada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/>
            </a:r>
          </a:p>
          <a:p>
            <a:pPr>
              <a:spcAft>
                <a:spcPts val="235"/>
              </a:spcAft>
            </a:pPr>
            <a:r>
              <a:rPr sz="1100" i="1" b="0">
                <a:solidFill>
                  <a:srgbClr val="6A9955"/>
                </a:solidFill>
                <a:latin typeface="Consolas"/>
              </a:rPr>
              <a:t>-- 3. la comprobacion: una fila, un veredicto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filas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                     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esperadas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(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actuales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CASE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WHEN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(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SELECT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CDCAA"/>
                </a:solidFill>
                <a:latin typeface="Consolas"/>
              </a:rPr>
              <a:t>COUNT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(*)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tarifa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) =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filas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THEN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'RESTAURACION OK'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ELSE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'REVISAR'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END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AS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veredicto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FROM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registro_respaldo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WHERE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tabla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= </a:t>
            </a:r>
            <a:r>
              <a:rPr sz="1100" i="0" b="0">
                <a:solidFill>
                  <a:srgbClr val="CE9178"/>
                </a:solidFill>
                <a:latin typeface="Consolas"/>
              </a:rPr>
              <a:t>'tarifa'</a:t>
            </a:r>
          </a:p>
          <a:p>
            <a:pPr>
              <a:spcAft>
                <a:spcPts val="235"/>
              </a:spcAft>
            </a:pPr>
            <a:r>
              <a:rPr sz="1100" i="0" b="0">
                <a:solidFill>
                  <a:srgbClr val="569CD6"/>
                </a:solidFill>
                <a:latin typeface="Consolas"/>
              </a:rPr>
              <a:t>ORDER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BY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r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.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hecho_en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DESC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569CD6"/>
                </a:solidFill>
                <a:latin typeface="Consolas"/>
              </a:rPr>
              <a:t>LIMIT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 </a:t>
            </a:r>
            <a:r>
              <a:rPr sz="1100" i="0" b="0">
                <a:solidFill>
                  <a:srgbClr val="B5CEA8"/>
                </a:solidFill>
                <a:latin typeface="Consolas"/>
              </a:rPr>
              <a:t>1</a:t>
            </a:r>
            <a:r>
              <a:rPr sz="1100" i="0" b="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97149" y="1343926"/>
            <a:ext cx="6010497" cy="4837658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lus-demo-pas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301" y="1417078"/>
            <a:ext cx="5864193" cy="46913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353312"/>
            <a:ext cx="5093061" cy="5047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caso se recorre en seis pasos: contexto, qué falló,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causa raíz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impacto, lección y cambio.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causa raíz es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control ausente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, no una persona.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lección lleva verbo, artefacto, frecuencia y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comprobación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cambio nombra un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objeto real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de la base: una tabla, un trigger, un rol o un índice.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13 · Analisis de casos reales · la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post-mortem analiza el fallo, no a la persona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Causa proxima y causa raiz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Caso 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Todo lo visto queda proyectado para repasar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