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Tema de hoy: Analisis de casos reales · la clínica</a:t>
            </a:r>
          </a:p>
          <a:p/>
          <a:p>
            <a:r>
              <a:t>Herramienta: Google Docs · Bloque 120 min</a:t>
            </a:r>
          </a:p>
          <a:p/>
          <a:p>
            <a:r>
              <a:t>Gratis + navegador · free tier · sin software de pago obligatorio.</a:t>
            </a:r>
          </a:p>
          <a:p/>
          <a:p>
            <a:r>
              <a:t>Recorrido: teoría del tema, una lámina por concepto, y demo del docente sobre la base de la clínica.</a:t>
            </a:r>
          </a:p>
          <a:p/>
          <a:p>
            <a:r>
              <a:t>Cada lámina se sostiene sola: sirve para repasar aunque hayas faltado.</a:t>
            </a:r>
          </a:p>
          <a:p/>
          <a:p>
            <a:r>
              <a:t>Conceptos de hoy: Clase autonoma · Causa proxima y causa raiz · Caso uno · Caso dos.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Esta clase es autonoma y cae en festivo, asi que no hay encuentro sincronico: este texto es a la vez el fundamento del docente y la lectura que el estudiante recibe, y por eso debe alcanzar para trabajar solo.</a:t>
            </a:r>
          </a:p>
          <a:p>
            <a:r>
              <a:t>El tema es el analisis de casos reales, y el primer punto es que esto no es relleno de fin de semestre sino una practica profesional con nombre propio.</a:t>
            </a:r>
          </a:p>
          <a:p>
            <a:r>
              <a:t>Cuando un sistema falla en produccion, los equipos serios escriben un post-mortem</a:t>
            </a:r>
          </a:p>
          <a:p>
            <a:r>
              <a:t>Que es un documento breve producido despues del incidente y que responde cuatro preguntas: que paso, cuando y con que impacto medible, por que fue posible, y que se va a cambiar para que no vuelva a ocurrir de la misma manera.</a:t>
            </a:r>
          </a:p>
          <a:p>
            <a:r>
              <a:t>La palabra clave del oficio es blameless, sin culpables: la regla es que se analiza el sistema y no la persona.</a:t>
            </a:r>
          </a:p>
          <a:p>
            <a:r>
              <a:t>No es cortesia ni buena onda corporativa, es un calculo practico, porque en cuanto el documento sirve para castigar a alguien la gente deja de reportar los errores pequenos y la organizacion pierde la unica fuente de informacion que tiene para evitar los grandes.</a:t>
            </a:r>
          </a:p>
          <a:p>
            <a:r>
              <a:t>Un incidente, para nuestros fines, es cualquier evento que degrada el servicio o pone en riesgo los datos, y merece post-mortem tanto el que llego al usuario como el que se detuvo a tiempo.</a:t>
            </a:r>
          </a:p>
          <a:p>
            <a:r>
              <a:t>Fuera de la lamina (habla de la practica): El entregable de hoy es una tabla de cuatro columnas, Contexto, Fallo, Leccion y Cambio en la clínica, con tres casos, y se sube a PostgreSQL en el navegador.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Antes de mirar los casos hay que instalar la distincion que separa un buen analisis de una anecdota: causa proxima y causa raiz.</a:t>
            </a:r>
          </a:p>
          <a:p>
            <a:r>
              <a:t>La causa proxima es el ultimo evento de la cadena, el que se ve.</a:t>
            </a:r>
          </a:p>
          <a:p>
            <a:r>
              <a:t>La causa raiz es la condicion que permitio que ese evento tuviera consecuencias.</a:t>
            </a:r>
          </a:p>
          <a:p>
            <a:r>
              <a:t>Un ejemplo con la clínica: el disco del servidor falla un viernes y se pierden tres semanas de historias clinicas.</a:t>
            </a:r>
          </a:p>
          <a:p>
            <a:r>
              <a:t>La causa proxima es el disco.</a:t>
            </a:r>
          </a:p>
          <a:p>
            <a:r>
              <a:t>La causa raiz es que existia un archivo de respaldo que nadie habia restaurado nunca para comprobar que sirviera, y que nadie vigilaba si el respaldo del dia se habia ejecutado.</a:t>
            </a:r>
          </a:p>
          <a:p>
            <a:r>
              <a:t>Los discos fallan siempre, eso no es noticia; lo que se puede cambiar es lo segundo.</a:t>
            </a:r>
          </a:p>
          <a:p>
            <a:r>
              <a:t>La tecnica mas simple para llegar ahi es preguntar por que cinco veces seguidas, y hay dos criterios de parada utiles: si la respuesta nombra una persona, todavia no llego a la causa raiz</a:t>
            </a:r>
          </a:p>
          <a:p>
            <a:r>
              <a:t>Porque senalar a quien ejecuto el comando equivocado no explica por que el sistema permitia ejecutarlo sin confirmacion ni por que no habia como volver atras</a:t>
            </a:r>
          </a:p>
          <a:p>
            <a:r>
              <a:t>Y si la respuesta describe algo que se puede cambiar en un procedimiento, un permiso, una restriccion o una alarma, entonces si llego.</a:t>
            </a:r>
          </a:p>
          <a:p>
            <a:r>
              <a:t>NOTAS:</a:t>
            </a:r>
          </a:p>
          <a:p>
            <a:r>
              <a:t>Conviene ademas admitir la existencia de factores contribuyentes, que son condiciones que empeoraron el resultado sin haberlo causado, como que el incidente ocurriera de noche, que la documentacion estuviera desactualizada o que el unico que sabia restaurar estuviera de vacaciones.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Caso uno, el respaldo que nunca se restauro, con el ejemplo publico mejor documentado que existe.</a:t>
            </a:r>
          </a:p>
          <a:p>
            <a:r>
              <a:t>El 31 de enero de 2017 GitLab sufrio la perdida de datos de su servicio en la nube: durante la atencion de un problema de replicacion</a:t>
            </a:r>
          </a:p>
          <a:p>
            <a:r>
              <a:t>Un ingeniero ejecuto un borrado recursivo sobre el directorio de datos del servidor equivocado y elimino cerca de trescientos gigabytes.</a:t>
            </a:r>
          </a:p>
          <a:p>
            <a:r>
              <a:t>La leccion tecnica es exacta: un respaldo que nunca se restauro de prueba no es un respaldo, es una carpeta con un nombre tranquilizador.</a:t>
            </a:r>
          </a:p>
          <a:p>
            <a:r>
              <a:t>Y hay una segunda leccion igual de importante: un proceso de respaldo que puede fallar sin avisar es peor que no tenerlo, porque produce confianza injustificada.</a:t>
            </a:r>
          </a:p>
          <a:p>
            <a:r>
              <a:t>Esto conecta con la Clase 4, donde se definieron RPO, la cantidad maxima de datos que la organizacion acepta perder medida en tiempo, y RTO, el tiempo maximo que acepta estar caida.</a:t>
            </a:r>
          </a:p>
          <a:p>
            <a:r>
              <a:t>GitLab descubrio su RPO real el dia del incidente, y ese es justo el error que no se debe repetir: el RPO no se declara, se demuestra restaurando.</a:t>
            </a:r>
          </a:p>
          <a:p>
            <a:r>
              <a:t>NOTAS:</a:t>
            </a:r>
          </a:p>
          <a:p>
            <a:r>
              <a:t>Eso es la causa proxima.</a:t>
            </a:r>
          </a:p>
          <a:p>
            <a:r>
              <a:t>Lo que convirtio un error humano corriente en un incidente historico fue que, al intentar recuperar, la compania descubrio que sus cinco mecanismos de respaldo y replicacion fallaban de una u otra forma: entre otras cosas, la herramienta de volcado logico fallaba en silencio por una diferencia de version entre cliente y servidor, y las copias que debian estar en almacenamiento remoto estaban vacias.</a:t>
            </a:r>
          </a:p>
          <a:p>
            <a:r>
              <a:t>Terminaron restaurando desde una copia de trabajo de unas seis horas antes y perdieron de forma definitiva la informacion creada en esa ventana, del orden de miles de proyectos y comentarios.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julio de 2019 Capital One informo un acceso no autorizado que afecto informacion de aproximadamente cien millones de personas en Estados Unidos y varios millones en Canada, incluyendo solicitudes de credito.</a:t>
            </a:r>
          </a:p>
          <a:p>
            <a:r>
              <a:t>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r>
              <a:t>Y ese rol tenia permiso para listar y leer todos los buckets de almacenamiento, muchos mas de los que necesitaba para su trabajo.</a:t>
            </a:r>
          </a:p>
          <a:p>
            <a:r>
              <a:t>El regulador bancario estadounidense impuso una multa de ochenta millones de dolares en 2020.</a:t>
            </a:r>
          </a:p>
          <a:p>
            <a:r>
              <a:t>La causa proxima es la mala configuracion del cortafuegos; la causa raiz es que un componente tenia privilegios mucho mayores que su funcion.</a:t>
            </a:r>
          </a:p>
          <a:p>
            <a:r>
              <a:t>La leccion, en el vocabulario de la Clase 2, es el principio de privilegio minimo: cada actor recibe exactamente los permisos que necesita para su tarea y nada mas.</a:t>
            </a:r>
          </a:p>
          <a:p>
            <a:r>
              <a:t>Ese atajo es exactamente el que convierte una vulnerabilidad menor en una fuga total.</a:t>
            </a:r>
          </a:p>
          <a:p>
            <a:r>
              <a:t>NOTAS:</a:t>
            </a:r>
          </a:p>
          <a:p>
            <a:r>
              <a:t>Caso dos, permisos excesivos.</a:t>
            </a:r>
          </a:p>
          <a:p>
            <a:r>
              <a:t>Y hay que decir la parte incomoda, porque es la que se repite en los proyectos de curso: casi todos los estudiantes hacen que la aplicacion se conecte con un usuario que tiene todo, porque asi nunca aparece un error de permisos y se avanza mas rapido.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marzo de 2019 MySpace reconocio que habia perdido la musica subida a la plataforma entre 2003 y 2015, del orden de cincuenta millones de archivos de unos catorce millones de artistas, durante una migracion de servidores</a:t>
            </a:r>
          </a:p>
          <a:p>
            <a:r>
              <a:t>No hubo ataque ni desastre natural, solo una migracion sin copia verificada de la que ya no se podia volver atras.</a:t>
            </a:r>
          </a:p>
          <a:p>
            <a:r>
              <a:t>En la banca hay un caso paralelo y bien documentado con el sistema de TSB en Reino Unido en 2018, donde el paso a una plataforma nueva dejo a millones de clientes sin acceso confiable durante semanas</a:t>
            </a:r>
          </a:p>
          <a:p>
            <a:r>
              <a:t>Con costos reportados del orden de cientos de millones de libras y sanciones posteriores del regulador</a:t>
            </a:r>
          </a:p>
          <a:p>
            <a:r>
              <a:t>La causa raiz senalada en los informes no fue un error puntual de programacion sino una migracion probada de forma insuficiente y sin un camino de retorno real.</a:t>
            </a:r>
          </a:p>
          <a:p>
            <a:r>
              <a:t>La leccion tecnica es la misma en los dos casos y conecta con la Clase 12: una migracion sin plan de retorno probado es una apuesta, y el plan de retorno se prueba antes, no el dia del cambio.</a:t>
            </a:r>
          </a:p>
          <a:p>
            <a:r>
              <a:t>La forma disciplinada de hacerlo es la secuencia de expandir, migrar y contraer, con las dos versiones conviviendo, mas una verificacion de conteos entre origen y destino antes de eliminar nada.</a:t>
            </a:r>
          </a:p>
          <a:p>
            <a:r>
              <a:t>NOTAS:</a:t>
            </a:r>
          </a:p>
          <a:p>
            <a:r>
              <a:t>Caso tres, perdida de datos durante una migracion.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Este merece un tratamiento distinto porque su rasgo caracteristico es que no llega a los titulares con nombre propio tan facilmente: son fallos que no producen mensajes de error y por eso se descubren semanas despues</a:t>
            </a:r>
          </a:p>
          <a:p>
            <a:r>
              <a:t>Cuando el inventario fisico no coincide con el del sistema o cuando dos clientes reclaman el mismo cupo.</a:t>
            </a:r>
          </a:p>
          <a:p>
            <a:r>
              <a:t>El patron es siempre uno de los tres que se estudiaron en la Clase 10.</a:t>
            </a:r>
          </a:p>
          <a:p>
            <a:r>
              <a:t>Actualizacion perdida: dos procesos leen el mismo stock de Insumo, digamos cinco unidades, ambos restan tres y ambos escriben dos, con lo cual se despacharon seis unidades y el sistema declara dos existencias que no estan.</a:t>
            </a:r>
          </a:p>
          <a:p>
            <a:r>
              <a:t>Doble reserva: dos recepcionistas consultan la franja del martes a las diez del veterinario Ruiz, ambas reciben cero filas, ambas insertan.</a:t>
            </a:r>
          </a:p>
          <a:p>
            <a:r>
              <a:t>Bloqueo mutuo o deadlock: dos transacciones se esperan en orden cruzado y el motor mata una.</a:t>
            </a:r>
          </a:p>
          <a:p>
            <a:r>
              <a:t>La leccion es que ninguna cantidad de validacion previa en la aplicacion resuelve esto</a:t>
            </a:r>
          </a:p>
          <a:p>
            <a:r>
              <a:t>Porque entre la consulta y la escritura hay una ventana de tiempo en la que el mundo cambio; se resuelve en la base con restricciones, con bloqueo explicito al leer lo que se va a modificar o con el nivel de aislamiento adecuado.</a:t>
            </a:r>
          </a:p>
          <a:p>
            <a:r>
              <a:t>Y hay una leccion organizacional gratis: estos defectos jamas aparecen probando con un usuario, asi que si el estudiante solo probo la clínica desde una sola maquina, no lo probo.</a:t>
            </a:r>
          </a:p>
          <a:p>
            <a:r>
              <a:t>NOTAS:</a:t>
            </a:r>
          </a:p>
          <a:p>
            <a:r>
              <a:t>Caso cuatro, concurrencia.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Una leccion es un lugar comun cuando podria haberse escrito antes de conocer el caso: hay que hacer respaldos, hay que cuidar los permisos, hay que probar bien.</a:t>
            </a:r>
          </a:p>
          <a:p>
            <a:r>
              <a:t>Una leccion es accionable cuando tiene cuatro elementos verificables: un verbo concreto, el artefacto sobre el cual se actua, una frecuencia o un umbral, y la manera de comprobar que se hizo.</a:t>
            </a:r>
          </a:p>
          <a:p>
            <a:r>
              <a:t>Version inutil: hay que probar los respaldos.</a:t>
            </a:r>
          </a:p>
          <a:p>
            <a:r>
              <a:t>Version accionable: el primer lunes de cada mes se restaura el respaldo mas reciente en un esquema temporal de Oracle Live SQL o del entorno de pruebas, se comparan los conteos de filas de Dueno, Mascota, Cita y Factura contra produccion</a:t>
            </a:r>
          </a:p>
          <a:p>
            <a:r>
              <a:t>Y se registra fecha y resultado en la bitacora del proyecto; si no hay registro del mes, se declara que no hay respaldo.</a:t>
            </a:r>
          </a:p>
          <a:p>
            <a:r>
              <a:t>La segunda se puede auditar, la primera es una intencion.</a:t>
            </a:r>
          </a:p>
          <a:p>
            <a:r>
              <a:t>Aplique el mismo molde a los otros casos y ya tiene la cuarta columna de la tabla: del caso de permisos sale crear el rol rol_clinica_app con GRANT EXECUTE sobre los procedimientos y revocar todo SELECT</a:t>
            </a:r>
          </a:p>
          <a:p>
            <a:r>
              <a:t>INSERT, UPDATE y DELETE directo sobre las tablas, verificado consultando las vistas de privilegios</a:t>
            </a:r>
          </a:p>
          <a:p>
            <a:r>
              <a:t>Del caso de concurrencia sale ALTER TABLE Cita ADD CONSTRAINT uq_cita_vet_franja UNIQUE (id_veterinario, fecha_hora) mas SELECT FOR UPDATE al descontar stock, verificado con dos sesiones simultaneas</a:t>
            </a:r>
          </a:p>
          <a:p>
            <a:r>
              <a:t>Del caso de migracion sale que todo cambio de esquema tenga script de ida, script de retorno y conteo de verificacion.</a:t>
            </a:r>
          </a:p>
          <a:p>
            <a:r>
              <a:t>Sobre las preguntas que llegaran por el canal del curso: si piden inventar un caso, la respuesta es no, cada caso debe ser verificable con una fuente publica o declararse explicitamente como hipotetico</a:t>
            </a:r>
          </a:p>
          <a:p>
            <a:r>
              <a:t>Si el caso no tiene detalle tecnico publicado, se escribe solo lo documentado y se marca aparte lo que es inferencia propia, porque separar hecho de suposicion es parte de la nota; y si preguntan cuanto debe medir cada celda.</a:t>
            </a:r>
          </a:p>
          <a:p>
            <a:r>
              <a:t>NOTAS:</a:t>
            </a:r>
          </a:p>
          <a:p>
            <a:r>
              <a:t>Lo que decide la calificacion de hoy no es reunir casos sino escribir lecciones accionables, y esa es la habilidad que el estudiante debe practicar sin ayuda.</a:t>
            </a:r>
          </a:p>
          <a:p>
            <a:r>
              <a:t>Compare las dos versiones.</a:t>
            </a:r>
          </a:p>
          <a:p>
            <a:r>
              <a:t>Fuera de la lamina (habla de la practica): Sobre las preguntas que llegaran por el canal del curso: si piden inventar un caso, la respuesta es no, cada caso debe ser verificable con una fuente publica o declararse explicitamente como hipotetico; si el caso no tiene detalle tecnico publicado, se escribe solo lo documentado y se marca aparte lo que es inferencia propia, porque separar hecho de suposicion es parte de la nota; y si preguntan cuanto debe medir cada celda, la convencion de este entregable es de tres a cinco lineas.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a:t>
            </a:r>
          </a:p>
          <a:p/>
          <a:p>
            <a:r>
              <a:t>Demo: Plantilla: contexto -&gt; fallo -&gt; leccion -&gt; cambio en la clínica.</a:t>
            </a:r>
          </a:p>
          <a:p/>
          <a:p>
            <a:r>
              <a:t>Sigan el mismo dominio de la clínica (no inventen otro caso).</a:t>
            </a:r>
          </a:p>
          <a:p/>
          <a:p>
            <a:r>
              <a:t>Qué observar: cada caso se separa en contexto, fallo, causa raiz y la leccion convertida en una accion verificable sobre la base de la clínica.</a:t>
            </a:r>
          </a:p>
          <a:p/>
          <a:p>
            <a:r>
              <a:t>Qué observar: una leccion accionable tiene verbo, artefacto, frecuencia o umbral, y una forma de comprobar que se hizo.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Analisis de casos reales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Analisis de casos reales · la clínica</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st-mortem-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ost-mortem-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ost-mortem-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usa-raiz-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usa-raiz-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usa-raiz-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la clínica: el disco del servidor falla un viernes y se pierden tres semanas de historias clinicas.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lab-2017-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itlab-2017-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itlab-2017-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ital-on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ital-on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ital-on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a:t>
            </a:r>
          </a:p>
          <a:p>
            <a:pPr>
              <a:spcAft>
                <a:spcPts val="800"/>
              </a:spcAft>
            </a:pPr>
            <a:r>
              <a:rPr sz="2000" b="0" i="0">
                <a:solidFill>
                  <a:srgbClr val="333333"/>
                </a:solidFill>
                <a:latin typeface="Calibri"/>
              </a:rPr>
              <a:t>–   La cadena tecnica publicada es instructiva porque no hubo ninguna hazana.</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igracion-sin-retorn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igracion-sin-retorno-paso1.png"/>
          <p:cNvPicPr>
            <a:picLocks noChangeAspect="1"/>
          </p:cNvPicPr>
          <p:nvPr/>
        </p:nvPicPr>
        <p:blipFill>
          <a:blip r:embed="rId2"/>
          <a:stretch>
            <a:fillRect/>
          </a:stretch>
        </p:blipFill>
        <p:spPr>
          <a:xfrm>
            <a:off x="5876318" y="1261872"/>
            <a:ext cx="5852160" cy="4681728"/>
          </a:xfrm>
          <a:prstGeom prst="rect">
            <a:avLst/>
          </a:prstGeom>
        </p:spPr>
      </p:pic>
      <p:pic>
        <p:nvPicPr>
          <p:cNvPr id="8" name="Picture 7" descr="migracion-sin-retorno-paso3.png"/>
          <p:cNvPicPr>
            <a:picLocks noChangeAspect="1"/>
          </p:cNvPicPr>
          <p:nvPr/>
        </p:nvPicPr>
        <p:blipFill>
          <a:blip r:embed="rId3"/>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ctualizacion-perd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ctualizacion-perd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ctualizacion-perd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eccion-accionabl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eccion-accionabl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eccion-accionabl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a:t>
            </a:r>
          </a:p>
          <a:p>
            <a:pPr>
              <a:spcAft>
                <a:spcPts val="800"/>
              </a:spcAft>
            </a:pPr>
            <a:r>
              <a:rPr sz="2000" b="0" i="0">
                <a:solidFill>
                  <a:srgbClr val="333333"/>
                </a:solidFill>
                <a:latin typeface="Calibri"/>
              </a:rPr>
              <a:t>–   Una leccion es accionable cuando tiene cuatro elementos verificables.</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de ejecucion ajeno</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0" b="0">
                <a:solidFill>
                  <a:srgbClr val="569CD6"/>
                </a:solidFill>
                <a:latin typeface="Consolas"/>
              </a:rPr>
              <a:t>EXPLAIN</a:t>
            </a:r>
            <a:r>
              <a:rPr sz="1900" i="0" b="0">
                <a:solidFill>
                  <a:srgbClr val="D4D4D4"/>
                </a:solidFill>
                <a:latin typeface="Consolas"/>
              </a:rPr>
              <a:t> (</a:t>
            </a:r>
            <a:r>
              <a:rPr sz="1900" i="0" b="0">
                <a:solidFill>
                  <a:srgbClr val="569CD6"/>
                </a:solidFill>
                <a:latin typeface="Consolas"/>
              </a:rPr>
              <a:t>ANALYZE</a:t>
            </a:r>
            <a:r>
              <a:rPr sz="1900" i="0" b="0">
                <a:solidFill>
                  <a:srgbClr val="D4D4D4"/>
                </a:solidFill>
                <a:latin typeface="Consolas"/>
              </a:rPr>
              <a:t>, </a:t>
            </a:r>
            <a:r>
              <a:rPr sz="1900" i="0" b="0">
                <a:solidFill>
                  <a:srgbClr val="D4D4D4"/>
                </a:solidFill>
                <a:latin typeface="Consolas"/>
              </a:rPr>
              <a:t>BUFFERS</a:t>
            </a:r>
            <a:r>
              <a:rPr sz="1900" i="0" b="0">
                <a:solidFill>
                  <a:srgbClr val="D4D4D4"/>
                </a:solidFill>
                <a:latin typeface="Consolas"/>
              </a:rPr>
              <a:t>)</a:t>
            </a:r>
          </a:p>
          <a:p>
            <a:pPr>
              <a:spcAft>
                <a:spcPts val="407"/>
              </a:spcAft>
            </a:pPr>
            <a:r>
              <a:rPr sz="1900" i="0" b="0">
                <a:solidFill>
                  <a:srgbClr val="569CD6"/>
                </a:solidFill>
                <a:latin typeface="Consolas"/>
              </a:rPr>
              <a:t>SELECT</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a:t>
            </a:r>
            <a:r>
              <a:rPr sz="1900" i="0" b="0">
                <a:solidFill>
                  <a:srgbClr val="DCDCAA"/>
                </a:solidFill>
                <a:latin typeface="Consolas"/>
              </a:rPr>
              <a:t>COUNT</a:t>
            </a:r>
            <a:r>
              <a:rPr sz="1900" i="0" b="0">
                <a:solidFill>
                  <a:srgbClr val="D4D4D4"/>
                </a:solidFill>
                <a:latin typeface="Consolas"/>
              </a:rPr>
              <a:t>(</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id_cita</a:t>
            </a:r>
            <a:r>
              <a:rPr sz="1900" i="0" b="0">
                <a:solidFill>
                  <a:srgbClr val="D4D4D4"/>
                </a:solidFill>
                <a:latin typeface="Consolas"/>
              </a:rPr>
              <a:t>) </a:t>
            </a:r>
            <a:r>
              <a:rPr sz="1900" i="0" b="0">
                <a:solidFill>
                  <a:srgbClr val="569CD6"/>
                </a:solidFill>
                <a:latin typeface="Consolas"/>
              </a:rPr>
              <a:t>AS</a:t>
            </a:r>
            <a:r>
              <a:rPr sz="1900" i="0" b="0">
                <a:solidFill>
                  <a:srgbClr val="D4D4D4"/>
                </a:solidFill>
                <a:latin typeface="Consolas"/>
              </a:rPr>
              <a:t> </a:t>
            </a:r>
            <a:r>
              <a:rPr sz="1900" i="0" b="0">
                <a:solidFill>
                  <a:srgbClr val="D4D4D4"/>
                </a:solidFill>
                <a:latin typeface="Consolas"/>
              </a:rPr>
              <a:t>citas</a:t>
            </a:r>
          </a:p>
          <a:p>
            <a:pPr>
              <a:spcAft>
                <a:spcPts val="407"/>
              </a:spcAft>
            </a:pPr>
            <a:r>
              <a:rPr sz="1900" i="0" b="0">
                <a:solidFill>
                  <a:srgbClr val="569CD6"/>
                </a:solidFill>
                <a:latin typeface="Consolas"/>
              </a:rPr>
              <a:t>FROM</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d</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   =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id_dueno</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cita</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id_mascota</a:t>
            </a:r>
            <a:r>
              <a:rPr sz="1900" i="0" b="0">
                <a:solidFill>
                  <a:srgbClr val="D4D4D4"/>
                </a:solidFill>
                <a:latin typeface="Consolas"/>
              </a:rPr>
              <a:t> =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id_mascota</a:t>
            </a:r>
          </a:p>
          <a:p>
            <a:pPr>
              <a:spcAft>
                <a:spcPts val="407"/>
              </a:spcAft>
            </a:pPr>
            <a:r>
              <a:rPr sz="1900" i="0" b="0">
                <a:solidFill>
                  <a:srgbClr val="569CD6"/>
                </a:solidFill>
                <a:latin typeface="Consolas"/>
              </a:rPr>
              <a:t>WHERE</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fecha_hora</a:t>
            </a:r>
            <a:r>
              <a:rPr sz="1900" i="0" b="0">
                <a:solidFill>
                  <a:srgbClr val="D4D4D4"/>
                </a:solidFill>
                <a:latin typeface="Consolas"/>
              </a:rPr>
              <a:t> &gt;= </a:t>
            </a:r>
            <a:r>
              <a:rPr sz="1900" i="0" b="0">
                <a:solidFill>
                  <a:srgbClr val="4EC9B0"/>
                </a:solidFill>
                <a:latin typeface="Consolas"/>
              </a:rPr>
              <a:t>DATE</a:t>
            </a:r>
            <a:r>
              <a:rPr sz="1900" i="0" b="0">
                <a:solidFill>
                  <a:srgbClr val="D4D4D4"/>
                </a:solidFill>
                <a:latin typeface="Consolas"/>
              </a:rPr>
              <a:t> </a:t>
            </a:r>
            <a:r>
              <a:rPr sz="1900" i="0" b="0">
                <a:solidFill>
                  <a:srgbClr val="CE9178"/>
                </a:solidFill>
                <a:latin typeface="Consolas"/>
              </a:rPr>
              <a:t>'2026-01-01'</a:t>
            </a:r>
          </a:p>
          <a:p>
            <a:pPr>
              <a:spcAft>
                <a:spcPts val="407"/>
              </a:spcAft>
            </a:pPr>
            <a:r>
              <a:rPr sz="1900" i="0" b="0">
                <a:solidFill>
                  <a:srgbClr val="569CD6"/>
                </a:solidFill>
                <a:latin typeface="Consolas"/>
              </a:rPr>
              <a:t>GROUP</a:t>
            </a:r>
            <a:r>
              <a:rPr sz="1900" i="0" b="0">
                <a:solidFill>
                  <a:srgbClr val="D4D4D4"/>
                </a:solidFill>
                <a:latin typeface="Consolas"/>
              </a:rPr>
              <a:t> </a:t>
            </a:r>
            <a:r>
              <a:rPr sz="1900" i="0" b="0">
                <a:solidFill>
                  <a:srgbClr val="569CD6"/>
                </a:solidFill>
                <a:latin typeface="Consolas"/>
              </a:rPr>
              <a:t>BY</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nombre</a:t>
            </a:r>
          </a:p>
          <a:p>
            <a:pPr>
              <a:spcAft>
                <a:spcPts val="407"/>
              </a:spcAft>
            </a:pPr>
            <a:r>
              <a:rPr sz="1900" i="0" b="0">
                <a:solidFill>
                  <a:srgbClr val="569CD6"/>
                </a:solidFill>
                <a:latin typeface="Consolas"/>
              </a:rPr>
              <a:t>HAVING</a:t>
            </a:r>
            <a:r>
              <a:rPr sz="1900" i="0" b="0">
                <a:solidFill>
                  <a:srgbClr val="D4D4D4"/>
                </a:solidFill>
                <a:latin typeface="Consolas"/>
              </a:rPr>
              <a:t> </a:t>
            </a:r>
            <a:r>
              <a:rPr sz="1900" i="0" b="0">
                <a:solidFill>
                  <a:srgbClr val="DCDCAA"/>
                </a:solidFill>
                <a:latin typeface="Consolas"/>
              </a:rPr>
              <a:t>COUNT</a:t>
            </a:r>
            <a:r>
              <a:rPr sz="1900" i="0" b="0">
                <a:solidFill>
                  <a:srgbClr val="D4D4D4"/>
                </a:solidFill>
                <a:latin typeface="Consolas"/>
              </a:rPr>
              <a:t>(</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id_cita</a:t>
            </a:r>
            <a:r>
              <a:rPr sz="1900" i="0" b="0">
                <a:solidFill>
                  <a:srgbClr val="D4D4D4"/>
                </a:solidFill>
                <a:latin typeface="Consolas"/>
              </a:rPr>
              <a:t>) &gt; </a:t>
            </a:r>
            <a:r>
              <a:rPr sz="1900" i="0" b="0">
                <a:solidFill>
                  <a:srgbClr val="B5CEA8"/>
                </a:solidFill>
                <a:latin typeface="Consolas"/>
              </a:rPr>
              <a:t>5</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-- 1. el nodo mas costoso (cost mas alto), no el primero</a:t>
            </a:r>
          </a:p>
          <a:p>
            <a:pPr>
              <a:spcAft>
                <a:spcPts val="407"/>
              </a:spcAft>
            </a:pP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D4D4D4"/>
                </a:solidFill>
                <a:latin typeface="Consolas"/>
              </a:rPr>
              <a:t>Seq</a:t>
            </a:r>
            <a:r>
              <a:rPr sz="1900" i="0" b="0">
                <a:solidFill>
                  <a:srgbClr val="D4D4D4"/>
                </a:solidFill>
                <a:latin typeface="Consolas"/>
              </a:rPr>
              <a:t> </a:t>
            </a:r>
            <a:r>
              <a:rPr sz="1900" i="0" b="0">
                <a:solidFill>
                  <a:srgbClr val="D4D4D4"/>
                </a:solidFill>
                <a:latin typeface="Consolas"/>
              </a:rPr>
              <a:t>Scan</a:t>
            </a:r>
            <a:r>
              <a:rPr sz="1900" i="0" b="0">
                <a:solidFill>
                  <a:srgbClr val="D4D4D4"/>
                </a:solidFill>
                <a:latin typeface="Consolas"/>
              </a:rPr>
              <a:t> </a:t>
            </a:r>
            <a:r>
              <a:rPr sz="1900" i="0" b="0">
                <a:solidFill>
                  <a:srgbClr val="D4D4D4"/>
                </a:solidFill>
                <a:latin typeface="Consolas"/>
              </a:rPr>
              <a:t>sobre</a:t>
            </a:r>
            <a:r>
              <a:rPr sz="1900" i="0" b="0">
                <a:solidFill>
                  <a:srgbClr val="D4D4D4"/>
                </a:solidFill>
                <a:latin typeface="Consolas"/>
              </a:rPr>
              <a:t> </a:t>
            </a:r>
            <a:r>
              <a:rPr sz="1900" i="0" b="0">
                <a:solidFill>
                  <a:srgbClr val="D4D4D4"/>
                </a:solidFill>
                <a:latin typeface="Consolas"/>
              </a:rPr>
              <a:t>tabla</a:t>
            </a:r>
            <a:r>
              <a:rPr sz="1900" i="0" b="0">
                <a:solidFill>
                  <a:srgbClr val="D4D4D4"/>
                </a:solidFill>
                <a:latin typeface="Consolas"/>
              </a:rPr>
              <a:t> </a:t>
            </a:r>
            <a:r>
              <a:rPr sz="1900" i="0" b="0">
                <a:solidFill>
                  <a:srgbClr val="D4D4D4"/>
                </a:solidFill>
                <a:latin typeface="Consolas"/>
              </a:rPr>
              <a:t>grande</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filtro</a:t>
            </a:r>
            <a:r>
              <a:rPr sz="1900" i="0" b="0">
                <a:solidFill>
                  <a:srgbClr val="D4D4D4"/>
                </a:solidFill>
                <a:latin typeface="Consolas"/>
              </a:rPr>
              <a:t> </a:t>
            </a:r>
            <a:r>
              <a:rPr sz="1900" i="0" b="0">
                <a:solidFill>
                  <a:srgbClr val="D4D4D4"/>
                </a:solidFill>
                <a:latin typeface="Consolas"/>
              </a:rPr>
              <a:t>selectivo</a:t>
            </a:r>
            <a:r>
              <a:rPr sz="1900" i="0" b="0">
                <a:solidFill>
                  <a:srgbClr val="D4D4D4"/>
                </a:solidFill>
                <a:latin typeface="Consolas"/>
              </a:rPr>
              <a:t> -&gt; </a:t>
            </a:r>
            <a:r>
              <a:rPr sz="1900" i="0" b="0">
                <a:solidFill>
                  <a:srgbClr val="D4D4D4"/>
                </a:solidFill>
                <a:latin typeface="Consolas"/>
              </a:rPr>
              <a:t>falta</a:t>
            </a:r>
            <a:r>
              <a:rPr sz="1900" i="0" b="0">
                <a:solidFill>
                  <a:srgbClr val="D4D4D4"/>
                </a:solidFill>
                <a:latin typeface="Consolas"/>
              </a:rPr>
              <a:t> </a:t>
            </a:r>
            <a:r>
              <a:rPr sz="1900" i="0" b="0">
                <a:solidFill>
                  <a:srgbClr val="D4D4D4"/>
                </a:solidFill>
                <a:latin typeface="Consolas"/>
              </a:rPr>
              <a:t>indice</a:t>
            </a:r>
          </a:p>
          <a:p>
            <a:pPr>
              <a:spcAft>
                <a:spcPts val="407"/>
              </a:spcAft>
            </a:pPr>
            <a:r>
              <a:rPr sz="1900" i="1" b="0">
                <a:solidFill>
                  <a:srgbClr val="6A9955"/>
                </a:solidFill>
                <a:latin typeface="Consolas"/>
              </a:rPr>
              <a:t>-- 3. rows estimadas vs actual: si difieren 10x, ANALYZE la tabla</a:t>
            </a:r>
          </a:p>
          <a:p>
            <a:pPr>
              <a:spcAft>
                <a:spcPts val="407"/>
              </a:spcAft>
            </a:pPr>
            <a:r>
              <a:rPr sz="1900" i="0" b="0">
                <a:solidFill>
                  <a:srgbClr val="D4D4D4"/>
                </a:solidFill>
                <a:latin typeface="Consolas"/>
              </a:rPr>
              <a:t>-- </a:t>
            </a:r>
            <a:r>
              <a:rPr sz="1900" i="0" b="0">
                <a:solidFill>
                  <a:srgbClr val="B5CEA8"/>
                </a:solidFill>
                <a:latin typeface="Consolas"/>
              </a:rPr>
              <a:t>4</a:t>
            </a:r>
            <a:r>
              <a:rPr sz="1900" i="0" b="0">
                <a:solidFill>
                  <a:srgbClr val="D4D4D4"/>
                </a:solidFill>
                <a:latin typeface="Consolas"/>
              </a:rPr>
              <a:t>. </a:t>
            </a:r>
            <a:r>
              <a:rPr sz="1900" i="0" b="0">
                <a:solidFill>
                  <a:srgbClr val="D4D4D4"/>
                </a:solidFill>
                <a:latin typeface="Consolas"/>
              </a:rPr>
              <a:t>Nested</a:t>
            </a:r>
            <a:r>
              <a:rPr sz="1900" i="0" b="0">
                <a:solidFill>
                  <a:srgbClr val="D4D4D4"/>
                </a:solidFill>
                <a:latin typeface="Consolas"/>
              </a:rPr>
              <a:t> </a:t>
            </a:r>
            <a:r>
              <a:rPr sz="1900" i="0" b="0">
                <a:solidFill>
                  <a:srgbClr val="569CD6"/>
                </a:solidFill>
                <a:latin typeface="Consolas"/>
              </a:rPr>
              <a:t>Loop</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muchas</a:t>
            </a:r>
            <a:r>
              <a:rPr sz="1900" i="0" b="0">
                <a:solidFill>
                  <a:srgbClr val="D4D4D4"/>
                </a:solidFill>
                <a:latin typeface="Consolas"/>
              </a:rPr>
              <a:t> </a:t>
            </a:r>
            <a:r>
              <a:rPr sz="1900" i="0" b="0">
                <a:solidFill>
                  <a:srgbClr val="D4D4D4"/>
                </a:solidFill>
                <a:latin typeface="Consolas"/>
              </a:rPr>
              <a:t>filas</a:t>
            </a:r>
            <a:r>
              <a:rPr sz="1900" i="0" b="0">
                <a:solidFill>
                  <a:srgbClr val="D4D4D4"/>
                </a:solidFill>
                <a:latin typeface="Consolas"/>
              </a:rPr>
              <a:t> -&gt; </a:t>
            </a:r>
            <a:r>
              <a:rPr sz="1900" i="0" b="0">
                <a:solidFill>
                  <a:srgbClr val="D4D4D4"/>
                </a:solidFill>
                <a:latin typeface="Consolas"/>
              </a:rPr>
              <a:t>suele</a:t>
            </a:r>
            <a:r>
              <a:rPr sz="1900" i="0" b="0">
                <a:solidFill>
                  <a:srgbClr val="D4D4D4"/>
                </a:solidFill>
                <a:latin typeface="Consolas"/>
              </a:rPr>
              <a:t> </a:t>
            </a:r>
            <a:r>
              <a:rPr sz="1900" i="0" b="0">
                <a:solidFill>
                  <a:srgbClr val="D4D4D4"/>
                </a:solidFill>
                <a:latin typeface="Consolas"/>
              </a:rPr>
              <a:t>querer</a:t>
            </a:r>
            <a:r>
              <a:rPr sz="1900" i="0" b="0">
                <a:solidFill>
                  <a:srgbClr val="D4D4D4"/>
                </a:solidFill>
                <a:latin typeface="Consolas"/>
              </a:rPr>
              <a:t> </a:t>
            </a:r>
            <a:r>
              <a:rPr sz="1900" i="0" b="0">
                <a:solidFill>
                  <a:srgbClr val="569CD6"/>
                </a:solidFill>
                <a:latin typeface="Consolas"/>
              </a:rPr>
              <a:t>Hash</a:t>
            </a:r>
            <a:r>
              <a:rPr sz="1900" i="0" b="0">
                <a:solidFill>
                  <a:srgbClr val="D4D4D4"/>
                </a:solidFill>
                <a:latin typeface="Consolas"/>
              </a:rPr>
              <a:t> </a:t>
            </a:r>
            <a:r>
              <a:rPr sz="1900" i="0" b="0">
                <a:solidFill>
                  <a:srgbClr val="569CD6"/>
                </a:solidFill>
                <a:latin typeface="Consolas"/>
              </a:rPr>
              <a:t>Join</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cada caso se separa en contexto, fallo, causa raiz y la leccion convertida en una accion verificable sobre la base de la clínica.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Analisis de casos reales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autonoma</a:t>
            </a:r>
          </a:p>
          <a:p>
            <a:pPr algn="ctr">
              <a:spcAft>
                <a:spcPts val="600"/>
              </a:spcAft>
            </a:pPr>
            <a:r>
              <a:rPr sz="1600" b="0" i="0">
                <a:solidFill>
                  <a:srgbClr val="333333"/>
                </a:solidFill>
                <a:latin typeface="Calibri"/>
              </a:rPr>
              <a:t>Causa proxima y causa raiz</a:t>
            </a:r>
          </a:p>
          <a:p>
            <a:pPr algn="ctr">
              <a:spcAft>
                <a:spcPts val="600"/>
              </a:spcAft>
            </a:pPr>
            <a:r>
              <a:rPr sz="1600" b="0" i="0">
                <a:solidFill>
                  <a:srgbClr val="333333"/>
                </a:solidFill>
                <a:latin typeface="Calibri"/>
              </a:rPr>
              <a:t>Caso uno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