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El entregable de hoy es una tabla de cuatro columnas, Contexto, Fallo, Leccion y Cambio en VetCare, con tres casos, y se sube a PostgreSQL en el navegador.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ademas admitir la existencia de factores contribuyentes, que son condiciones que empeoraron el resultado sin haberlo causado, como que el incidente ocurriera de noche, que la documentacion estuviera desactualizada o que el unico que sabia restaurar estuviera de vacaciones.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es la causa proxima.</a:t>
            </a:r>
          </a:p>
          <a:p>
            <a:r>
              <a:t>Lo que convirtio un error humano corriente en un incidente historico fue que, al intentar recuperar, la compania descubrio que sus cinco mecanismos de respaldo y replicacion fallaban de una u otra forma: entre otras cosas, la herramienta de volcado logico fallaba en silencio por una diferencia de version entre cliente y servidor, y las copias que debian estar en almacenamiento remoto estaban vacias.</a:t>
            </a:r>
          </a:p>
          <a:p>
            <a:r>
              <a:t>Terminaron restaurando desde una copia de trabajo de unas seis horas antes y perdieron de forma definitiva la informacion creada en esa ventana, del orden de miles de proyectos y comentarios.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dos, permisos excesivos.</a:t>
            </a:r>
          </a:p>
          <a:p>
            <a:r>
              <a:t>Y hay que decir la parte incomoda, porque es la que se repite en los proyectos de curso: casi todos los estudiantes hacen que la aplicacion se conecte con un usuario que tiene todo, porque asi nunca aparece un error de permisos y se avanza mas rapido.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tres, perdida de datos durante una migracion.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cuatro, concurrencia.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decide la calificacion de hoy no es reunir casos sino escribir lecciones accionables, y esa es la habilidad que el estudiante debe practicar sin ayuda.</a:t>
            </a:r>
          </a:p>
          <a:p>
            <a:r>
              <a:t>Compare las dos versiones.</a:t>
            </a:r>
          </a:p>
          <a:p>
            <a:r>
              <a:t>Fuera de la lamina (habla de la practica): Sobre las preguntas que llegaran por el canal del curso: si piden inventar un caso, la respuesta es no, cada caso debe ser verificable con una fuente publica o declararse explicitamente como hipotetico; si el caso no tiene detalle tecnico publicado, se escribe solo lo documentado y se marca aparte lo que es inferencia propia, porque separar hecho de suposicion es parte de la nota; y si preguntan cuanto debe medir cada celda, la convencion de este entregable es de tres a cinco lineas.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Analisis de casos reales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Analisis de casos reales · VetCare</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Clase autonoma · Causa proxima y causa raiz · Caso uno · Caso 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 este texto es a la vez el fundamento del docente y la lectura que el estudiante recibe, y por eso debe alcanzar para trabajar solo.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 propio.</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 que paso, cuando y con que impacto medible, por que fue posible, y que se va a cambiar para que no vuelva a ocurrir de la misma manera.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palabra clave del oficio es blameless, sin culpables: la regla es que se analiza el sistema y no la persona.</a:t>
            </a:r>
          </a:p>
          <a:p>
            <a:pPr>
              <a:spcAft>
                <a:spcPts val="800"/>
              </a:spcAft>
            </a:pPr>
            <a:r>
              <a:rPr sz="2000" b="0" i="0">
                <a:solidFill>
                  <a:srgbClr val="333333"/>
                </a:solidFill>
                <a:latin typeface="Calibri"/>
              </a:rPr>
              <a:t>–   No es cortesia ni buena onda corporativa, es un calculo practico, porque en cuanto el documento sirve para castigar a alguien la gente deja de reportar los errores pequenos y la organizacion pierde la unica fuente de informacion que tiene para evitar los grandes.</a:t>
            </a:r>
          </a:p>
          <a:p>
            <a:pPr>
              <a:spcAft>
                <a:spcPts val="800"/>
              </a:spcAft>
            </a:pPr>
            <a:r>
              <a:rPr sz="2000" b="0" i="0">
                <a:solidFill>
                  <a:srgbClr val="333333"/>
                </a:solidFill>
                <a:latin typeface="Calibri"/>
              </a:rPr>
              <a:t>–   Un incidente, para nuestros fines, es cualquier evento que degrada el servicio o pone en riesgo los datos, y merece post-mortem tanto el que llego al usuario como el que se detuvo a tiempo.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VetCare: el disco del servidor falla un viernes y se pierden tres semanas de historias clinicas.</a:t>
            </a:r>
          </a:p>
          <a:p>
            <a:pPr>
              <a:spcAft>
                <a:spcPts val="800"/>
              </a:spcAft>
            </a:pPr>
            <a:r>
              <a:rPr sz="2000" b="0" i="0">
                <a:solidFill>
                  <a:srgbClr val="333333"/>
                </a:solidFill>
                <a:latin typeface="Calibri"/>
              </a:rPr>
              <a:t>–   La causa proxima es el disco.</a:t>
            </a:r>
          </a:p>
          <a:p>
            <a:pPr>
              <a:spcAft>
                <a:spcPts val="800"/>
              </a:spcAft>
            </a:pPr>
            <a:r>
              <a:rPr sz="2000" b="0" i="0">
                <a:solidFill>
                  <a:srgbClr val="333333"/>
                </a:solidFill>
                <a:latin typeface="Calibri"/>
              </a:rPr>
              <a:t>–   La causa raiz es que existia un archivo de respaldo que nadie habia restaurado nunca para comprobar que sirviera, y que nadie vigilaba si el respaldo del dia se habia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discos fallan siempre, eso no es noticia; lo que se puede cambiar es lo segundo.</a:t>
            </a:r>
          </a:p>
          <a:p>
            <a:pPr>
              <a:spcAft>
                <a:spcPts val="800"/>
              </a:spcAft>
            </a:pPr>
            <a:r>
              <a:rPr sz="2000" b="0" i="0">
                <a:solidFill>
                  <a:srgbClr val="333333"/>
                </a:solidFill>
                <a:latin typeface="Calibri"/>
              </a:rPr>
              <a:t>–   La tecnica mas simple para llegar ahi es preguntar por que cinco veces seguidas, y hay dos criterios de parada utiles: si la respuesta nombra una persona, todavia no llego a la causa raiz</a:t>
            </a:r>
          </a:p>
          <a:p>
            <a:pPr>
              <a:spcAft>
                <a:spcPts val="800"/>
              </a:spcAft>
            </a:pPr>
            <a:r>
              <a:rPr sz="2000" b="0" i="0">
                <a:solidFill>
                  <a:srgbClr val="333333"/>
                </a:solidFill>
                <a:latin typeface="Calibri"/>
              </a:rPr>
              <a:t>–   Porque senalar a quien ejecuto el comando equivocado no explica por que el sistema permitia ejecutarlo sin confirmacion ni por que no habia como volver atras</a:t>
            </a:r>
          </a:p>
          <a:p>
            <a:pPr>
              <a:spcAft>
                <a:spcPts val="800"/>
              </a:spcAft>
            </a:pPr>
            <a:r>
              <a:rPr sz="2000" b="0" i="0">
                <a:solidFill>
                  <a:srgbClr val="333333"/>
                </a:solidFill>
                <a:latin typeface="Calibri"/>
              </a:rPr>
              <a:t>–   Y si la respuesta describe algo que se puede cambiar en un procedimiento, un permiso, una restriccion o una alarma, entonces si llego.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a:p>
            <a:pPr>
              <a:spcAft>
                <a:spcPts val="800"/>
              </a:spcAft>
            </a:pPr>
            <a:r>
              <a:rPr sz="2000" b="0" i="0">
                <a:solidFill>
                  <a:srgbClr val="333333"/>
                </a:solidFill>
                <a:latin typeface="Calibri"/>
              </a:rPr>
              <a:t>–   La leccion tecnica es exacta: un respaldo que nunca se restauro de prueba no es un respaldo, es una carpeta con un nombre tranquilizador.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una segunda leccion igual de importante: un proceso de respaldo que puede fallar sin avisar es peor que no tenerlo, porque produce confianza injustificada.</a:t>
            </a:r>
          </a:p>
          <a:p>
            <a:pPr>
              <a:spcAft>
                <a:spcPts val="800"/>
              </a:spcAft>
            </a:pPr>
            <a:r>
              <a:rPr sz="2000" b="0" i="0">
                <a:solidFill>
                  <a:srgbClr val="333333"/>
                </a:solidFill>
                <a:latin typeface="Calibri"/>
              </a:rPr>
              <a:t>–   Esto conecta con la Clase 4, donde se definieron RPO, la cantidad maxima de datos que la organizacion acepta perder medida en tiempo, y RTO, el tiempo maximo que acepta estar caida.</a:t>
            </a:r>
          </a:p>
          <a:p>
            <a:pPr>
              <a:spcAft>
                <a:spcPts val="800"/>
              </a:spcAft>
            </a:pPr>
            <a:r>
              <a:rPr sz="2000" b="0" i="0">
                <a:solidFill>
                  <a:srgbClr val="333333"/>
                </a:solidFill>
                <a:latin typeface="Calibri"/>
              </a:rPr>
              <a:t>–   GitLab descubrio su RPO real el dia del incidente, y ese es justo el error que no se debe repetir: el RPO no se declara, se demuestra restaurando.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 varios millones en Canada, incluyendo solicitudes de credito.</a:t>
            </a:r>
          </a:p>
          <a:p>
            <a:pPr>
              <a:spcAft>
                <a:spcPts val="800"/>
              </a:spcAft>
            </a:pPr>
            <a:r>
              <a:rPr sz="2000" b="0" i="0">
                <a:solidFill>
                  <a:srgbClr val="333333"/>
                </a:solidFill>
                <a:latin typeface="Calibri"/>
              </a:rPr>
              <a:t>–   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regulador bancario estadounidense impuso una multa de ochenta millones de dolares en 2020.</a:t>
            </a:r>
          </a:p>
          <a:p>
            <a:pPr>
              <a:spcAft>
                <a:spcPts val="800"/>
              </a:spcAft>
            </a:pPr>
            <a:r>
              <a:rPr sz="2000" b="0" i="0">
                <a:solidFill>
                  <a:srgbClr val="333333"/>
                </a:solidFill>
                <a:latin typeface="Calibri"/>
              </a:rPr>
              <a:t>–   La causa proxima es la mala configuracion del cortafuegos; la causa raiz es que un componente tenia privilegios mucho mayores que su funcion.</a:t>
            </a:r>
          </a:p>
          <a:p>
            <a:pPr>
              <a:spcAft>
                <a:spcPts val="800"/>
              </a:spcAft>
            </a:pPr>
            <a:r>
              <a:rPr sz="2000" b="0" i="0">
                <a:solidFill>
                  <a:srgbClr val="333333"/>
                </a:solidFill>
                <a:latin typeface="Calibri"/>
              </a:rPr>
              <a:t>–   La leccion, en el vocabulario de la Clase 2, es el principio de privilegio minimo: cada actor recibe exactamente los permisos que necesita para su tarea y nada mas.</a:t>
            </a:r>
          </a:p>
          <a:p>
            <a:pPr>
              <a:spcAft>
                <a:spcPts val="800"/>
              </a:spcAft>
            </a:pPr>
            <a:r>
              <a:rPr sz="2000" b="0" i="0">
                <a:solidFill>
                  <a:srgbClr val="333333"/>
                </a:solidFill>
                <a:latin typeface="Calibri"/>
              </a:rPr>
              <a:t>–   Ese atajo es exactamente el que convierte una vulnerabilidad menor en una fuga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marzo de 2019 MySpace reconocio que habia perdido la musica subida a la plataforma entre 2003 y 2015, del orden de cincuenta millones de archivos de unos catorce millones de artistas, durante una migracion de servidores</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 donde el paso a una plataforma nueva dejo a millones de clientes sin acceso confiable durante semanas</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causa raiz senalada en los informes no fue un error puntual de programacion sino una migracion probada de forma insuficiente y sin un camino de retorno real.</a:t>
            </a:r>
          </a:p>
          <a:p>
            <a:pPr>
              <a:spcAft>
                <a:spcPts val="800"/>
              </a:spcAft>
            </a:pPr>
            <a:r>
              <a:rPr sz="2000" b="0" i="0">
                <a:solidFill>
                  <a:srgbClr val="333333"/>
                </a:solidFill>
                <a:latin typeface="Calibri"/>
              </a:rPr>
              <a:t>–   La leccion tecnica es la misma en los dos casos y conecta con la Clase 12: una migracion sin plan de retorno probado es una apuesta, y el plan de retorno se prueba antes, no el dia del cambio.</a:t>
            </a:r>
          </a:p>
          <a:p>
            <a:pPr>
              <a:spcAft>
                <a:spcPts val="800"/>
              </a:spcAft>
            </a:pPr>
            <a:r>
              <a:rPr sz="2000" b="0" i="0">
                <a:solidFill>
                  <a:srgbClr val="333333"/>
                </a:solidFill>
                <a:latin typeface="Calibri"/>
              </a:rPr>
              <a:t>–   La forma disciplinada de hacerlo es la secuencia de expandir, migrar y contraer, con las dos versiones conviviendo, mas una verificacion de conteos entre origen y destino antes de eliminar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Este merece un tratamiento distinto porque su rasgo caracteristico es que no llega a los titulares con nombre propio tan facilmente: son fallos que no producen mensajes de error y por eso se descubren semanas despues</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 digamos cinco unidades, ambos restan tres y ambos escriben dos, con lo cual se despacharon seis unidades y el sistema declara dos existencias que no estan.</a:t>
            </a:r>
          </a:p>
          <a:p>
            <a:pPr>
              <a:spcAft>
                <a:spcPts val="800"/>
              </a:spcAft>
            </a:pPr>
            <a:r>
              <a:rPr sz="2000" b="0" i="0">
                <a:solidFill>
                  <a:srgbClr val="333333"/>
                </a:solidFill>
                <a:latin typeface="Calibri"/>
              </a:rPr>
              <a:t>–   Doble reserva: dos recepcionistas consultan la franja del martes a las diez del veterinario Ruiz, ambas reciben cero filas, ambas insertan.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Bloqueo mutuo o deadlock: dos transacciones se esperan en orden cruzado y el motor mata una.</a:t>
            </a:r>
          </a:p>
          <a:p>
            <a:pPr>
              <a:spcAft>
                <a:spcPts val="800"/>
              </a:spcAft>
            </a:pPr>
            <a:r>
              <a:rPr sz="2000" b="0" i="0">
                <a:solidFill>
                  <a:srgbClr val="333333"/>
                </a:solidFill>
                <a:latin typeface="Calibri"/>
              </a:rPr>
              <a:t>–   La leccion es que ninguna cantidad de validacion previa en la aplicacion resuelve esto</a:t>
            </a:r>
          </a:p>
          <a:p>
            <a:pPr>
              <a:spcAft>
                <a:spcPts val="800"/>
              </a:spcAft>
            </a:pPr>
            <a:r>
              <a:rPr sz="2000" b="0" i="0">
                <a:solidFill>
                  <a:srgbClr val="333333"/>
                </a:solidFill>
                <a:latin typeface="Calibri"/>
              </a:rPr>
              <a:t>–   Porque entre la consulta y la escritura hay una ventana de tiempo en la que el mundo cambio; se resuelve en la base con restricciones, con bloqueo explicito al leer lo que se va a modificar o con el nivel de aislamiento adecuado.</a:t>
            </a:r>
          </a:p>
          <a:p>
            <a:pPr>
              <a:spcAft>
                <a:spcPts val="800"/>
              </a:spcAft>
            </a:pPr>
            <a:r>
              <a:rPr sz="2000" b="0" i="0">
                <a:solidFill>
                  <a:srgbClr val="333333"/>
                </a:solidFill>
                <a:latin typeface="Calibri"/>
              </a:rPr>
              <a:t>–   Y hay una leccion organizacional gratis: estos defectos jamas aparecen probando con un usuario, asi que si el estudiante solo probo VetCare desde una sola maquina, no lo probo.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 probar bien.</a:t>
            </a:r>
          </a:p>
          <a:p>
            <a:pPr>
              <a:spcAft>
                <a:spcPts val="800"/>
              </a:spcAft>
            </a:pPr>
            <a:r>
              <a:rPr sz="2000" b="0" i="0">
                <a:solidFill>
                  <a:srgbClr val="333333"/>
                </a:solidFill>
                <a:latin typeface="Calibri"/>
              </a:rPr>
              <a:t>–   Una leccion es accionable cuando tiene cuatro elementos verificables: un verbo concreto, el artefacto sobre el cual se actua, una frecuencia o un umbral, y la manera de comprobar que se hizo.</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 pruebas, se comparan los conteos de filas de Dueno, Mascota, Cita y Factura contra produccion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se registra fecha y resultado en la bitacora del proyecto; si no hay registro del mes, se declara que no hay respaldo.</a:t>
            </a:r>
          </a:p>
          <a:p>
            <a:pPr>
              <a:spcAft>
                <a:spcPts val="800"/>
              </a:spcAft>
            </a:pPr>
            <a:r>
              <a:rPr sz="2000" b="0" i="0">
                <a:solidFill>
                  <a:srgbClr val="333333"/>
                </a:solidFill>
                <a:latin typeface="Calibri"/>
              </a:rPr>
              <a:t>–   La segunda se puede auditar, la primera es una intencion.</a:t>
            </a:r>
          </a:p>
          <a:p>
            <a:pPr>
              <a:spcAft>
                <a:spcPts val="800"/>
              </a:spcAft>
            </a:pPr>
            <a:r>
              <a:rPr sz="2000" b="0" i="0">
                <a:solidFill>
                  <a:srgbClr val="333333"/>
                </a:solidFill>
                <a:latin typeface="Calibri"/>
              </a:rPr>
              <a:t>–   Aplique el mismo molde a los otros casos y ya tiene la cuarta columna de la tabla: del caso de permisos sale crear el rol rol_vetcare_app con GRANT EXECUTE sobre los procedimientos y revocar todo SELECT</a:t>
            </a:r>
          </a:p>
          <a:p>
            <a:pPr>
              <a:spcAft>
                <a:spcPts val="800"/>
              </a:spcAft>
            </a:pPr>
            <a:r>
              <a:rPr sz="2000" b="0" i="0">
                <a:solidFill>
                  <a:srgbClr val="333333"/>
                </a:solidFill>
                <a:latin typeface="Calibri"/>
              </a:rPr>
              <a:t>–   INSERT, UPDATE y DELETE directo sobre las tablas, verificado consultando las vistas de privilegios</a:t>
            </a:r>
          </a:p>
          <a:p>
            <a:pPr>
              <a:spcAft>
                <a:spcPts val="800"/>
              </a:spcAft>
            </a:pPr>
            <a:r>
              <a:rPr sz="2000" b="0" i="0">
                <a:solidFill>
                  <a:srgbClr val="333333"/>
                </a:solidFill>
                <a:latin typeface="Calibri"/>
              </a:rPr>
              <a:t>–   Del caso de concurrencia sale ALTER TABLE Cita ADD CONSTRAINT uq_cita_vet_franja UNIQUE (id_veterinario, fecha_hora) mas SELECT FOR UPDATE al descontar stock, verificado con dos sesiones simultaneas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Del caso de migracion sale que todo cambio de esquema tenga script de ida, script de retorno y conteo de verificacion.</a:t>
            </a:r>
          </a:p>
          <a:p>
            <a:pPr>
              <a:spcAft>
                <a:spcPts val="800"/>
              </a:spcAft>
            </a:pPr>
            <a:r>
              <a:rPr sz="2000" b="0" i="0">
                <a:solidFill>
                  <a:srgbClr val="333333"/>
                </a:solidFill>
                <a:latin typeface="Calibri"/>
              </a:rPr>
              <a:t>–   Sobre las preguntas que llegaran por el canal del curso: si piden inventar un caso, la respuesta es no, cada caso debe ser verificable con una fuente publica o declararse explicitamente como hipotetico</a:t>
            </a:r>
          </a:p>
          <a:p>
            <a:pPr>
              <a:spcAft>
                <a:spcPts val="800"/>
              </a:spcAft>
            </a:pPr>
            <a:r>
              <a:rPr sz="2000" b="0" i="0">
                <a:solidFill>
                  <a:srgbClr val="333333"/>
                </a:solidFill>
                <a:latin typeface="Calibri"/>
              </a:rPr>
              <a:t>–   Si el caso no tiene detalle tecnico publicado, se escribe solo lo documentado y se marca aparte lo que es inferencia propia, porque separar hecho de suposicion es parte de la nota; y si preguntan cuanto debe medir cada celda.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Leer un plan de ejecucion ajeno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EXPLAIN (ANALYZE, BUFFERS)</a:t>
            </a:r>
          </a:p>
          <a:p>
            <a:pPr>
              <a:spcAft>
                <a:spcPts val="400"/>
              </a:spcAft>
            </a:pPr>
            <a:r>
              <a:rPr sz="1400" b="0" i="0">
                <a:solidFill>
                  <a:srgbClr val="FFFFFF"/>
                </a:solidFill>
                <a:latin typeface="Calibri"/>
              </a:rPr>
              <a:t>SELECT d.nombre, COUNT(c.id_cita) AS citas</a:t>
            </a:r>
          </a:p>
          <a:p>
            <a:pPr>
              <a:spcAft>
                <a:spcPts val="400"/>
              </a:spcAft>
            </a:pPr>
            <a:r>
              <a:rPr sz="1400" b="0" i="0">
                <a:solidFill>
                  <a:srgbClr val="FFFFFF"/>
                </a:solidFill>
                <a:latin typeface="Calibri"/>
              </a:rPr>
              <a:t>FROM dueno d</a:t>
            </a:r>
          </a:p>
          <a:p>
            <a:pPr>
              <a:spcAft>
                <a:spcPts val="400"/>
              </a:spcAft>
            </a:pPr>
            <a:r>
              <a:rPr sz="1400" b="0" i="0">
                <a:solidFill>
                  <a:srgbClr val="FFFFFF"/>
                </a:solidFill>
                <a:latin typeface="Calibri"/>
              </a:rPr>
              <a:t>JOIN mascota m ON m.id_dueno   = d.id_dueno</a:t>
            </a:r>
          </a:p>
          <a:p>
            <a:pPr>
              <a:spcAft>
                <a:spcPts val="400"/>
              </a:spcAft>
            </a:pPr>
            <a:r>
              <a:rPr sz="1400" b="0" i="0">
                <a:solidFill>
                  <a:srgbClr val="FFFFFF"/>
                </a:solidFill>
                <a:latin typeface="Calibri"/>
              </a:rPr>
              <a:t>JOIN cita    c ON c.id_mascota = m.id_mascota</a:t>
            </a:r>
          </a:p>
          <a:p>
            <a:pPr>
              <a:spcAft>
                <a:spcPts val="400"/>
              </a:spcAft>
            </a:pPr>
            <a:r>
              <a:rPr sz="1400" b="0" i="0">
                <a:solidFill>
                  <a:srgbClr val="FFFFFF"/>
                </a:solidFill>
                <a:latin typeface="Calibri"/>
              </a:rPr>
              <a:t>WHERE c.fecha_hora &gt;= DATE '2026-01-01'</a:t>
            </a:r>
          </a:p>
          <a:p>
            <a:pPr>
              <a:spcAft>
                <a:spcPts val="400"/>
              </a:spcAft>
            </a:pPr>
            <a:r>
              <a:rPr sz="1400" b="0" i="0">
                <a:solidFill>
                  <a:srgbClr val="FFFFFF"/>
                </a:solidFill>
                <a:latin typeface="Calibri"/>
              </a:rPr>
              <a:t>GROUP BY d.id_dueno, d.nombre</a:t>
            </a:r>
          </a:p>
          <a:p>
            <a:pPr>
              <a:spcAft>
                <a:spcPts val="400"/>
              </a:spcAft>
            </a:pPr>
            <a:r>
              <a:rPr sz="1400" b="0" i="0">
                <a:solidFill>
                  <a:srgbClr val="FFFFFF"/>
                </a:solidFill>
                <a:latin typeface="Calibri"/>
              </a:rPr>
              <a:t>HAVING COUNT(c.id_cita) &gt;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-- 1. el nodo mas costoso (cost mas alto), no el primero</a:t>
            </a:r>
          </a:p>
          <a:p>
            <a:pPr>
              <a:spcAft>
                <a:spcPts val="400"/>
              </a:spcAft>
            </a:pPr>
            <a:r>
              <a:rPr sz="1400" b="0" i="0">
                <a:solidFill>
                  <a:srgbClr val="FFFFFF"/>
                </a:solidFill>
                <a:latin typeface="Calibri"/>
              </a:rPr>
              <a:t>-- 2. Seq Scan sobre tabla grande con filtro selectivo -&gt; falta indice</a:t>
            </a:r>
          </a:p>
          <a:p>
            <a:pPr>
              <a:spcAft>
                <a:spcPts val="400"/>
              </a:spcAft>
            </a:pPr>
            <a:r>
              <a:rPr sz="1400" b="0" i="0">
                <a:solidFill>
                  <a:srgbClr val="FFFFFF"/>
                </a:solidFill>
                <a:latin typeface="Calibri"/>
              </a:rPr>
              <a:t>-- 3. rows estimadas vs actual: si difieren 10x, ANALYZE la tabla</a:t>
            </a:r>
          </a:p>
          <a:p>
            <a:pPr>
              <a:spcAft>
                <a:spcPts val="400"/>
              </a:spcAft>
            </a:pPr>
            <a:r>
              <a:rPr sz="1400" b="0" i="0">
                <a:solidFill>
                  <a:srgbClr val="FFFFFF"/>
                </a:solidFill>
                <a:latin typeface="Calibri"/>
              </a:rPr>
              <a:t>-- 4. Nested Loop con muchas filas -&gt; suele querer Hash Join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contexto -&gt; fallo -&gt; leccion -&gt; cambio en VetCare.</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cada caso se separa en contexto, fallo, causa raiz y la leccion convertida en una accion verificable sobre VetCare DB.</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una leccion accionable tiene verbo, artefacto, frecuencia o umbral, y una forma de comprobar que se hizo.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Analisis de casos reales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autonoma</a:t>
            </a:r>
          </a:p>
          <a:p>
            <a:pPr algn="ctr">
              <a:spcAft>
                <a:spcPts val="600"/>
              </a:spcAft>
            </a:pPr>
            <a:r>
              <a:rPr sz="1600" b="0" i="0">
                <a:solidFill>
                  <a:srgbClr val="333333"/>
                </a:solidFill>
                <a:latin typeface="Calibri"/>
              </a:rPr>
              <a:t>Causa proxima y causa raiz</a:t>
            </a:r>
          </a:p>
          <a:p>
            <a:pPr algn="ctr">
              <a:spcAft>
                <a:spcPts val="600"/>
              </a:spcAft>
            </a:pPr>
            <a:r>
              <a:rPr sz="1600" b="0" i="0">
                <a:solidFill>
                  <a:srgbClr val="333333"/>
                </a:solidFill>
                <a:latin typeface="Calibri"/>
              </a:rPr>
              <a:t>Caso uno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