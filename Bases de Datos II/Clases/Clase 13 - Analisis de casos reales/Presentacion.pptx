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notesMaster" Target="notesMasters/notesMaster1.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Fuera de la lamina (habla de la practica, no del tema):</a:t>
            </a:r>
          </a:p>
          <a:p>
            <a:r>
              <a:t>- El entregable de hoy es una tabla de cuatro columnas, Contexto, Fallo, Leccion y Cambio en VetCare, con tres casos, y se sube a PostgreSQL en el navegador.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Conviene ademas admitir la existencia de factores contribuyentes, que son condiciones que empeoraron el resultado sin haberlo causado, como que el incidente ocurriera de noche, que la documentacion estuviera desactualizada o que el unico que sabia restaurar estuviera de vacaciones.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Eso es la causa proxima.</a:t>
            </a:r>
          </a:p>
          <a:p>
            <a:r>
              <a:t>Lo que convirtio un error humano corriente en un incidente historico fue que, al intentar recuperar, la compania descubrio que sus cinco mecanismos de respaldo y replicacion fallaban de una u otra forma: entre otras cosas, la herramienta de volcado logico fallaba en silencio por una diferencia de version entre cliente y servidor, y las copias que debian estar en almacenamiento remoto estaban vacias.</a:t>
            </a:r>
          </a:p>
          <a:p>
            <a:r>
              <a:t>Terminaron restaurando desde una copia de trabajo de unas seis horas antes y perdieron de forma definitiva la informacion creada en esa ventana, del orden de miles de proyectos y comentarios.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Caso dos, permisos excesivos.</a:t>
            </a:r>
          </a:p>
          <a:p>
            <a:r>
              <a:t>Y hay que decir la parte incomoda, porque es la que se repite en los proyectos de curso: casi todos los estudiantes hacen que la aplicacion se conecte con un usuario que tiene todo, porque asi nunca aparece un error de permisos y se avanza mas rapido.</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Caso tres, perdida de datos durante una migracion.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Caso cuatro, concurrencia.</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 que decide la calificacion de hoy no es reunir casos sino escribir lecciones accionables, y esa es la habilidad que el estudiante debe practicar sin ayuda.</a:t>
            </a:r>
          </a:p>
          <a:p>
            <a:r>
              <a:t>Compare las dos versiones.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Fuera de la lamina (habla de la practica, no del tema):</a:t>
            </a:r>
          </a:p>
          <a:p>
            <a:r>
              <a:t>- Porque separar hecho de suposicion es parte de la nota; y si preguntan cuanto debe medir cada celda, la convencion de este entregable es de tres a cinco lineas.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1440"/>
            <a:ext cx="12191695"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go_uniajc_blanco.png"/>
          <p:cNvPicPr>
            <a:picLocks noChangeAspect="1"/>
          </p:cNvPicPr>
          <p:nvPr/>
        </p:nvPicPr>
        <p:blipFill>
          <a:blip r:embed="rId2"/>
          <a:stretch>
            <a:fillRect/>
          </a:stretch>
        </p:blipFill>
        <p:spPr>
          <a:xfrm>
            <a:off x="502920" y="384048"/>
            <a:ext cx="2011680" cy="876815"/>
          </a:xfrm>
          <a:prstGeom prst="rect">
            <a:avLst/>
          </a:prstGeom>
        </p:spPr>
      </p:pic>
      <p:sp>
        <p:nvSpPr>
          <p:cNvPr id="6" name="Rounded Rectangle 5"/>
          <p:cNvSpPr/>
          <p:nvPr/>
        </p:nvSpPr>
        <p:spPr>
          <a:xfrm>
            <a:off x="10042855" y="384048"/>
            <a:ext cx="1691640" cy="38404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42855" y="384048"/>
            <a:ext cx="1691640" cy="384048"/>
          </a:xfrm>
          <a:prstGeom prst="rect">
            <a:avLst/>
          </a:prstGeom>
          <a:noFill/>
        </p:spPr>
        <p:txBody>
          <a:bodyPr wrap="square" anchor="ctr"/>
          <a:lstStyle/>
          <a:p>
            <a:pPr algn="ctr"/>
            <a:r>
              <a:rPr sz="1400" b="1" i="0">
                <a:solidFill>
                  <a:srgbClr val="FFFFFF"/>
                </a:solidFill>
                <a:latin typeface="Calibri"/>
              </a:rPr>
              <a:t>Clase 13</a:t>
            </a:r>
          </a:p>
        </p:txBody>
      </p:sp>
      <p:sp>
        <p:nvSpPr>
          <p:cNvPr id="8" name="TextBox 7"/>
          <p:cNvSpPr txBox="1"/>
          <p:nvPr/>
        </p:nvSpPr>
        <p:spPr>
          <a:xfrm>
            <a:off x="731520" y="2331720"/>
            <a:ext cx="10728655" cy="1828800"/>
          </a:xfrm>
          <a:prstGeom prst="rect">
            <a:avLst/>
          </a:prstGeom>
          <a:noFill/>
        </p:spPr>
        <p:txBody>
          <a:bodyPr wrap="square" anchor="ctr"/>
          <a:lstStyle/>
          <a:p>
            <a:pPr algn="ctr"/>
            <a:r>
              <a:rPr sz="4000" b="1" i="0">
                <a:solidFill>
                  <a:srgbClr val="FFFFFF"/>
                </a:solidFill>
                <a:latin typeface="Calibri"/>
              </a:rPr>
              <a:t>Analisis de casos reales · VetCare</a:t>
            </a:r>
          </a:p>
        </p:txBody>
      </p:sp>
      <p:sp>
        <p:nvSpPr>
          <p:cNvPr id="9" name="Rectangle 8"/>
          <p:cNvSpPr/>
          <p:nvPr/>
        </p:nvSpPr>
        <p:spPr>
          <a:xfrm>
            <a:off x="4632807" y="4206240"/>
            <a:ext cx="2926080"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4361688"/>
            <a:ext cx="10728655" cy="640080"/>
          </a:xfrm>
          <a:prstGeom prst="rect">
            <a:avLst/>
          </a:prstGeom>
          <a:noFill/>
        </p:spPr>
        <p:txBody>
          <a:bodyPr wrap="square">
            <a:spAutoFit/>
          </a:bodyPr>
          <a:lstStyle/>
          <a:p>
            <a:pPr algn="ctr"/>
            <a:r>
              <a:rPr sz="1800" b="0" i="0">
                <a:solidFill>
                  <a:srgbClr val="B8D8EE"/>
                </a:solidFill>
                <a:latin typeface="Calibri"/>
              </a:rPr>
              <a:t>Clase autonoma · lecciones para el PI</a:t>
            </a:r>
          </a:p>
        </p:txBody>
      </p:sp>
      <p:sp>
        <p:nvSpPr>
          <p:cNvPr id="11" name="TextBox 10"/>
          <p:cNvSpPr txBox="1"/>
          <p:nvPr/>
        </p:nvSpPr>
        <p:spPr>
          <a:xfrm>
            <a:off x="11094415" y="6419088"/>
            <a:ext cx="548640" cy="274320"/>
          </a:xfrm>
          <a:prstGeom prst="rect">
            <a:avLst/>
          </a:prstGeom>
          <a:noFill/>
        </p:spPr>
        <p:txBody>
          <a:bodyPr wrap="square">
            <a:spAutoFit/>
          </a:bodyPr>
          <a:lstStyle/>
          <a:p>
            <a:pPr algn="r"/>
            <a:r>
              <a:rPr sz="1100" b="1" i="0">
                <a:solidFill>
                  <a:srgbClr val="7EB8D4"/>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Encuadre de hoy · Tema y objetivo</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Tema de hoy:</a:t>
            </a:r>
            <a:r>
              <a:rPr sz="2000" b="0" i="0">
                <a:solidFill>
                  <a:srgbClr val="333333"/>
                </a:solidFill>
                <a:latin typeface="Calibri"/>
              </a:rPr>
              <a:t> Analisis de casos reales · VetCare</a:t>
            </a:r>
          </a:p>
          <a:p>
            <a:pPr>
              <a:spcAft>
                <a:spcPts val="800"/>
              </a:spcAft>
            </a:pPr>
            <a:r>
              <a:rPr sz="2000" b="0" i="0">
                <a:solidFill>
                  <a:srgbClr val="333333"/>
                </a:solidFill>
                <a:latin typeface="Calibri"/>
              </a:rPr>
              <a:t>–   Herramienta: </a:t>
            </a:r>
            <a:r>
              <a:rPr sz="2000" b="1" i="0">
                <a:solidFill>
                  <a:srgbClr val="333333"/>
                </a:solidFill>
                <a:latin typeface="Calibri"/>
              </a:rPr>
              <a:t>Google Docs</a:t>
            </a:r>
            <a:r>
              <a:rPr sz="2000" b="0" i="0">
                <a:solidFill>
                  <a:srgbClr val="333333"/>
                </a:solidFill>
                <a:latin typeface="Calibri"/>
              </a:rPr>
              <a:t> · Bloque </a:t>
            </a:r>
            <a:r>
              <a:rPr sz="2000" b="1" i="0">
                <a:solidFill>
                  <a:srgbClr val="333333"/>
                </a:solidFill>
                <a:latin typeface="Calibri"/>
              </a:rPr>
              <a:t>120 min</a:t>
            </a:r>
          </a:p>
          <a:p>
            <a:pPr>
              <a:spcAft>
                <a:spcPts val="800"/>
              </a:spcAft>
            </a:pPr>
            <a:r>
              <a:rPr sz="2000" b="0" i="0">
                <a:solidFill>
                  <a:srgbClr val="333333"/>
                </a:solidFill>
                <a:latin typeface="Calibri"/>
              </a:rPr>
              <a:t>–   Gratis + navegador · free tier · sin software de pago obligatorio.</a:t>
            </a:r>
          </a:p>
          <a:p>
            <a:pPr>
              <a:spcAft>
                <a:spcPts val="800"/>
              </a:spcAft>
            </a:pPr>
            <a:r>
              <a:rPr sz="2000" b="0" i="0">
                <a:solidFill>
                  <a:srgbClr val="333333"/>
                </a:solidFill>
                <a:latin typeface="Calibri"/>
              </a:rPr>
              <a:t>–   Recorrido: teoría del tema, una lámina por concepto, y demo del docente sobre VetCare DB.</a:t>
            </a:r>
          </a:p>
          <a:p>
            <a:pPr>
              <a:spcAft>
                <a:spcPts val="800"/>
              </a:spcAft>
            </a:pPr>
            <a:r>
              <a:rPr sz="2000" b="0" i="0">
                <a:solidFill>
                  <a:srgbClr val="333333"/>
                </a:solidFill>
                <a:latin typeface="Calibri"/>
              </a:rPr>
              <a:t>–   Cada lámina se sostiene sola: sirve para repasar aunque hayas faltado.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Mapa del bloque de hoy (120 min)</a:t>
            </a:r>
          </a:p>
        </p:txBody>
      </p:sp>
      <p:sp>
        <p:nvSpPr>
          <p:cNvPr id="5" name="Rectangle 4"/>
          <p:cNvSpPr/>
          <p:nvPr/>
        </p:nvSpPr>
        <p:spPr>
          <a:xfrm>
            <a:off x="457200" y="2176272"/>
            <a:ext cx="11277295" cy="7315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438625"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1353312"/>
            <a:ext cx="2255459" cy="502920"/>
          </a:xfrm>
          <a:prstGeom prst="rect">
            <a:avLst/>
          </a:prstGeom>
          <a:noFill/>
        </p:spPr>
        <p:txBody>
          <a:bodyPr wrap="square">
            <a:spAutoFit/>
          </a:bodyPr>
          <a:lstStyle/>
          <a:p>
            <a:pPr algn="ctr"/>
            <a:r>
              <a:rPr sz="1300" b="1" i="0">
                <a:solidFill>
                  <a:srgbClr val="095292"/>
                </a:solidFill>
                <a:latin typeface="Calibri"/>
              </a:rPr>
              <a:t>0-10</a:t>
            </a:r>
          </a:p>
        </p:txBody>
      </p:sp>
      <p:sp>
        <p:nvSpPr>
          <p:cNvPr id="8" name="TextBox 7"/>
          <p:cNvSpPr txBox="1"/>
          <p:nvPr/>
        </p:nvSpPr>
        <p:spPr>
          <a:xfrm>
            <a:off x="502920" y="2587752"/>
            <a:ext cx="2164019" cy="3310128"/>
          </a:xfrm>
          <a:prstGeom prst="rect">
            <a:avLst/>
          </a:prstGeom>
          <a:noFill/>
        </p:spPr>
        <p:txBody>
          <a:bodyPr wrap="square">
            <a:spAutoFit/>
          </a:bodyPr>
          <a:lstStyle/>
          <a:p>
            <a:pPr algn="ctr"/>
            <a:r>
              <a:rPr sz="1300" b="0" i="0">
                <a:solidFill>
                  <a:srgbClr val="333333"/>
                </a:solidFill>
                <a:latin typeface="Calibri"/>
              </a:rPr>
              <a:t>Encuadre · clase autonoma (festivo) · VetCare</a:t>
            </a:r>
          </a:p>
        </p:txBody>
      </p:sp>
      <p:sp>
        <p:nvSpPr>
          <p:cNvPr id="9" name="Rounded Rectangle 8"/>
          <p:cNvSpPr/>
          <p:nvPr/>
        </p:nvSpPr>
        <p:spPr>
          <a:xfrm>
            <a:off x="3694084"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12659" y="1353312"/>
            <a:ext cx="2255459" cy="502920"/>
          </a:xfrm>
          <a:prstGeom prst="rect">
            <a:avLst/>
          </a:prstGeom>
          <a:noFill/>
        </p:spPr>
        <p:txBody>
          <a:bodyPr wrap="square">
            <a:spAutoFit/>
          </a:bodyPr>
          <a:lstStyle/>
          <a:p>
            <a:pPr algn="ctr"/>
            <a:r>
              <a:rPr sz="1300" b="1" i="0">
                <a:solidFill>
                  <a:srgbClr val="095292"/>
                </a:solidFill>
                <a:latin typeface="Calibri"/>
              </a:rPr>
              <a:t>10-35</a:t>
            </a:r>
          </a:p>
        </p:txBody>
      </p:sp>
      <p:sp>
        <p:nvSpPr>
          <p:cNvPr id="11" name="TextBox 10"/>
          <p:cNvSpPr txBox="1"/>
          <p:nvPr/>
        </p:nvSpPr>
        <p:spPr>
          <a:xfrm>
            <a:off x="2758379" y="2587752"/>
            <a:ext cx="2164019" cy="3310128"/>
          </a:xfrm>
          <a:prstGeom prst="rect">
            <a:avLst/>
          </a:prstGeom>
          <a:noFill/>
        </p:spPr>
        <p:txBody>
          <a:bodyPr wrap="square">
            <a:spAutoFit/>
          </a:bodyPr>
          <a:lstStyle/>
          <a:p>
            <a:pPr algn="ctr"/>
            <a:r>
              <a:rPr sz="1300" b="0" i="0">
                <a:solidFill>
                  <a:srgbClr val="333333"/>
                </a:solidFill>
                <a:latin typeface="Calibri"/>
              </a:rPr>
              <a:t>Teoría Core breve (al servicio del PI)</a:t>
            </a:r>
          </a:p>
        </p:txBody>
      </p:sp>
      <p:sp>
        <p:nvSpPr>
          <p:cNvPr id="12" name="Rounded Rectangle 11"/>
          <p:cNvSpPr/>
          <p:nvPr/>
        </p:nvSpPr>
        <p:spPr>
          <a:xfrm>
            <a:off x="5949543"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968118" y="1353312"/>
            <a:ext cx="2255459" cy="502920"/>
          </a:xfrm>
          <a:prstGeom prst="rect">
            <a:avLst/>
          </a:prstGeom>
          <a:noFill/>
        </p:spPr>
        <p:txBody>
          <a:bodyPr wrap="square">
            <a:spAutoFit/>
          </a:bodyPr>
          <a:lstStyle/>
          <a:p>
            <a:pPr algn="ctr"/>
            <a:r>
              <a:rPr sz="1300" b="1" i="0">
                <a:solidFill>
                  <a:srgbClr val="095292"/>
                </a:solidFill>
                <a:latin typeface="Calibri"/>
              </a:rPr>
              <a:t>35-55</a:t>
            </a:r>
          </a:p>
        </p:txBody>
      </p:sp>
      <p:sp>
        <p:nvSpPr>
          <p:cNvPr id="14" name="TextBox 13"/>
          <p:cNvSpPr txBox="1"/>
          <p:nvPr/>
        </p:nvSpPr>
        <p:spPr>
          <a:xfrm>
            <a:off x="5013838" y="2587752"/>
            <a:ext cx="2164019" cy="3310128"/>
          </a:xfrm>
          <a:prstGeom prst="rect">
            <a:avLst/>
          </a:prstGeom>
          <a:noFill/>
        </p:spPr>
        <p:txBody>
          <a:bodyPr wrap="square">
            <a:spAutoFit/>
          </a:bodyPr>
          <a:lstStyle/>
          <a:p>
            <a:pPr algn="ctr"/>
            <a:r>
              <a:rPr sz="1300" b="0" i="0">
                <a:solidFill>
                  <a:srgbClr val="333333"/>
                </a:solidFill>
                <a:latin typeface="Calibri"/>
              </a:rPr>
              <a:t>Demo con la herramienta del día</a:t>
            </a:r>
          </a:p>
        </p:txBody>
      </p:sp>
      <p:sp>
        <p:nvSpPr>
          <p:cNvPr id="15" name="Rounded Rectangle 14"/>
          <p:cNvSpPr/>
          <p:nvPr/>
        </p:nvSpPr>
        <p:spPr>
          <a:xfrm>
            <a:off x="8205002"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23577" y="1353312"/>
            <a:ext cx="2255459" cy="502920"/>
          </a:xfrm>
          <a:prstGeom prst="rect">
            <a:avLst/>
          </a:prstGeom>
          <a:noFill/>
        </p:spPr>
        <p:txBody>
          <a:bodyPr wrap="square">
            <a:spAutoFit/>
          </a:bodyPr>
          <a:lstStyle/>
          <a:p>
            <a:pPr algn="ctr"/>
            <a:r>
              <a:rPr sz="1300" b="1" i="0">
                <a:solidFill>
                  <a:srgbClr val="095292"/>
                </a:solidFill>
                <a:latin typeface="Calibri"/>
              </a:rPr>
              <a:t>55-105</a:t>
            </a:r>
          </a:p>
        </p:txBody>
      </p:sp>
      <p:sp>
        <p:nvSpPr>
          <p:cNvPr id="17" name="TextBox 16"/>
          <p:cNvSpPr txBox="1"/>
          <p:nvPr/>
        </p:nvSpPr>
        <p:spPr>
          <a:xfrm>
            <a:off x="7269297" y="2587752"/>
            <a:ext cx="2164019" cy="3310128"/>
          </a:xfrm>
          <a:prstGeom prst="rect">
            <a:avLst/>
          </a:prstGeom>
          <a:noFill/>
        </p:spPr>
        <p:txBody>
          <a:bodyPr wrap="square">
            <a:spAutoFit/>
          </a:bodyPr>
          <a:lstStyle/>
          <a:p>
            <a:pPr algn="ctr"/>
            <a:r>
              <a:rPr sz="1300" b="0" i="0">
                <a:solidFill>
                  <a:srgbClr val="333333"/>
                </a:solidFill>
                <a:latin typeface="Calibri"/>
              </a:rPr>
              <a:t>Práctica (opcional, guía en la carpeta)</a:t>
            </a:r>
          </a:p>
        </p:txBody>
      </p:sp>
      <p:sp>
        <p:nvSpPr>
          <p:cNvPr id="18" name="Rounded Rectangle 17"/>
          <p:cNvSpPr/>
          <p:nvPr/>
        </p:nvSpPr>
        <p:spPr>
          <a:xfrm>
            <a:off x="10460461"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479036" y="1353312"/>
            <a:ext cx="2255459" cy="502920"/>
          </a:xfrm>
          <a:prstGeom prst="rect">
            <a:avLst/>
          </a:prstGeom>
          <a:noFill/>
        </p:spPr>
        <p:txBody>
          <a:bodyPr wrap="square">
            <a:spAutoFit/>
          </a:bodyPr>
          <a:lstStyle/>
          <a:p>
            <a:pPr algn="ctr"/>
            <a:r>
              <a:rPr sz="1300" b="1" i="0">
                <a:solidFill>
                  <a:srgbClr val="095292"/>
                </a:solidFill>
                <a:latin typeface="Calibri"/>
              </a:rPr>
              <a:t>105-120</a:t>
            </a:r>
          </a:p>
        </p:txBody>
      </p:sp>
      <p:sp>
        <p:nvSpPr>
          <p:cNvPr id="20" name="TextBox 19"/>
          <p:cNvSpPr txBox="1"/>
          <p:nvPr/>
        </p:nvSpPr>
        <p:spPr>
          <a:xfrm>
            <a:off x="9524756" y="2587752"/>
            <a:ext cx="2164019" cy="3310128"/>
          </a:xfrm>
          <a:prstGeom prst="rect">
            <a:avLst/>
          </a:prstGeom>
          <a:noFill/>
        </p:spPr>
        <p:txBody>
          <a:bodyPr wrap="square">
            <a:spAutoFit/>
          </a:bodyPr>
          <a:lstStyle/>
          <a:p>
            <a:pPr algn="ctr"/>
            <a:r>
              <a:rPr sz="1300" b="0" i="0">
                <a:solidFill>
                  <a:srgbClr val="333333"/>
                </a:solidFill>
                <a:latin typeface="Calibri"/>
              </a:rPr>
              <a:t>Cierre conceptual · dudas</a:t>
            </a:r>
          </a:p>
        </p:txBody>
      </p:sp>
      <p:sp>
        <p:nvSpPr>
          <p:cNvPr id="21" name="TextBox 20"/>
          <p:cNvSpPr txBox="1"/>
          <p:nvPr/>
        </p:nvSpPr>
        <p:spPr>
          <a:xfrm>
            <a:off x="457200" y="5806440"/>
            <a:ext cx="11277295" cy="640080"/>
          </a:xfrm>
          <a:prstGeom prst="rect">
            <a:avLst/>
          </a:prstGeom>
          <a:noFill/>
        </p:spPr>
        <p:txBody>
          <a:bodyPr wrap="square">
            <a:spAutoFit/>
          </a:bodyPr>
          <a:lstStyle/>
          <a:p>
            <a:pPr algn="ctr"/>
            <a:r>
              <a:rPr sz="1200" b="0" i="1">
                <a:solidFill>
                  <a:srgbClr val="666666"/>
                </a:solidFill>
                <a:latin typeface="Calibri"/>
              </a:rPr>
              <a:t>Solo el bloque de </a:t>
            </a:r>
            <a:r>
              <a:rPr sz="1200" b="1" i="1">
                <a:solidFill>
                  <a:srgbClr val="666666"/>
                </a:solidFill>
                <a:latin typeface="Calibri"/>
              </a:rPr>
              <a:t>esta</a:t>
            </a:r>
            <a:r>
              <a:rPr sz="1200" b="0" i="1">
                <a:solidFill>
                  <a:srgbClr val="666666"/>
                </a:solidFill>
                <a:latin typeface="Calibri"/>
              </a:rPr>
              <a:t> clase · 120 min</a:t>
            </a:r>
          </a:p>
        </p:txBody>
      </p:sp>
      <p:sp>
        <p:nvSpPr>
          <p:cNvPr id="22" name="TextBox 21"/>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Clase autonoma: este texto es fundamento y guia a la vez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Esta clase es autonoma y cae en festivo, asi que no hay encuentro sincronico: este texto es a la vez el fundamento del docente y la lectura que el estudiante recibe, y por eso debe alcanzar para trabajar solo.</a:t>
            </a:r>
          </a:p>
          <a:p>
            <a:pPr>
              <a:spcAft>
                <a:spcPts val="800"/>
              </a:spcAft>
            </a:pPr>
            <a:r>
              <a:rPr sz="2000" b="0" i="0">
                <a:solidFill>
                  <a:srgbClr val="333333"/>
                </a:solidFill>
                <a:latin typeface="Calibri"/>
              </a:rPr>
              <a:t>–   El tema es el analisis de casos reales, y el primer punto es que esto no es relleno de fin de semestre sino una practica profesional con nombre propio.</a:t>
            </a:r>
          </a:p>
          <a:p>
            <a:pPr>
              <a:spcAft>
                <a:spcPts val="800"/>
              </a:spcAft>
            </a:pPr>
            <a:r>
              <a:rPr sz="2000" b="0" i="0">
                <a:solidFill>
                  <a:srgbClr val="333333"/>
                </a:solidFill>
                <a:latin typeface="Calibri"/>
              </a:rPr>
              <a:t>–   Cuando un sistema falla en produccion, los equipos serios escriben un post-mortem</a:t>
            </a:r>
          </a:p>
          <a:p>
            <a:pPr>
              <a:spcAft>
                <a:spcPts val="800"/>
              </a:spcAft>
            </a:pPr>
            <a:r>
              <a:rPr sz="2000" b="0" i="0">
                <a:solidFill>
                  <a:srgbClr val="333333"/>
                </a:solidFill>
                <a:latin typeface="Calibri"/>
              </a:rPr>
              <a:t>–   Que es un documento breve producido despues del incidente y que responde cuatro preguntas: que paso, cuando y con que impacto medible, por que fue posible, y que se va a cambiar para que no vuelva a ocurrir de la misma manera.</a:t>
            </a:r>
          </a:p>
          <a:p>
            <a:pPr>
              <a:spcAft>
                <a:spcPts val="800"/>
              </a:spcAft>
            </a:pPr>
            <a:r>
              <a:rPr sz="2000" b="0" i="0">
                <a:solidFill>
                  <a:srgbClr val="333333"/>
                </a:solidFill>
                <a:latin typeface="Calibri"/>
              </a:rPr>
              <a:t>–   La palabra clave del oficio es blameless, sin culpables: la regla es que se analiza el sistema y no la persona.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Clase autonoma: este texto es fundamento y guia a la vez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No es cortesia ni buena onda corporativa, es un calculo practico, porque en cuanto el documento sirve para castigar a alguien la gente deja de reportar los errores pequenos y la organizacion pierde la unica fuente de informacion que tiene para evitar los grandes.</a:t>
            </a:r>
          </a:p>
          <a:p>
            <a:pPr>
              <a:spcAft>
                <a:spcPts val="800"/>
              </a:spcAft>
            </a:pPr>
            <a:r>
              <a:rPr sz="2000" b="0" i="0">
                <a:solidFill>
                  <a:srgbClr val="333333"/>
                </a:solidFill>
                <a:latin typeface="Calibri"/>
              </a:rPr>
              <a:t>–   Un incidente, para nuestros fines, es cualquier evento que degrada el servicio o pone en riesgo los datos, y merece post-mortem tanto el que llego al usuario como el que se detuvo a tiempo.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Causa proxima y causa raiz: la distincion que separa el analisis de la anecdota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Antes de mirar los casos hay que instalar la distincion que separa un buen analisis de una anecdota: causa proxima y causa raiz.</a:t>
            </a:r>
          </a:p>
          <a:p>
            <a:pPr>
              <a:spcAft>
                <a:spcPts val="800"/>
              </a:spcAft>
            </a:pPr>
            <a:r>
              <a:rPr sz="2000" b="0" i="0">
                <a:solidFill>
                  <a:srgbClr val="333333"/>
                </a:solidFill>
                <a:latin typeface="Calibri"/>
              </a:rPr>
              <a:t>–   La causa proxima es el ultimo evento de la cadena, el que se ve.</a:t>
            </a:r>
          </a:p>
          <a:p>
            <a:pPr>
              <a:spcAft>
                <a:spcPts val="800"/>
              </a:spcAft>
            </a:pPr>
            <a:r>
              <a:rPr sz="2000" b="0" i="0">
                <a:solidFill>
                  <a:srgbClr val="333333"/>
                </a:solidFill>
                <a:latin typeface="Calibri"/>
              </a:rPr>
              <a:t>–   La causa raiz es la condicion que permitio que ese evento tuviera consecuencias.</a:t>
            </a:r>
          </a:p>
          <a:p>
            <a:pPr>
              <a:spcAft>
                <a:spcPts val="800"/>
              </a:spcAft>
            </a:pPr>
            <a:r>
              <a:rPr sz="2000" b="0" i="0">
                <a:solidFill>
                  <a:srgbClr val="333333"/>
                </a:solidFill>
                <a:latin typeface="Calibri"/>
              </a:rPr>
              <a:t>–   Un ejemplo con VetCare: el disco del servidor falla un viernes y se pierden tres semanas de historias clinicas.</a:t>
            </a:r>
          </a:p>
          <a:p>
            <a:pPr>
              <a:spcAft>
                <a:spcPts val="800"/>
              </a:spcAft>
            </a:pPr>
            <a:r>
              <a:rPr sz="2000" b="0" i="0">
                <a:solidFill>
                  <a:srgbClr val="333333"/>
                </a:solidFill>
                <a:latin typeface="Calibri"/>
              </a:rPr>
              <a:t>–   La causa proxima es el disco.</a:t>
            </a:r>
          </a:p>
          <a:p>
            <a:pPr>
              <a:spcAft>
                <a:spcPts val="800"/>
              </a:spcAft>
            </a:pPr>
            <a:r>
              <a:rPr sz="2000" b="0" i="0">
                <a:solidFill>
                  <a:srgbClr val="333333"/>
                </a:solidFill>
                <a:latin typeface="Calibri"/>
              </a:rPr>
              <a:t>–   La causa raiz es que existia un archivo de respaldo que nadie habia restaurado nunca para comprobar que sirviera, y que nadie vigilaba si el respaldo del dia se habia ejecutado.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Causa proxima y causa raiz: la distincion que separa el analisis de la anecdota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Los discos fallan siempre, eso no es noticia; lo que se puede cambiar es lo segundo.</a:t>
            </a:r>
          </a:p>
          <a:p>
            <a:pPr>
              <a:spcAft>
                <a:spcPts val="800"/>
              </a:spcAft>
            </a:pPr>
            <a:r>
              <a:rPr sz="2000" b="0" i="0">
                <a:solidFill>
                  <a:srgbClr val="333333"/>
                </a:solidFill>
                <a:latin typeface="Calibri"/>
              </a:rPr>
              <a:t>–   La tecnica mas simple para llegar ahi es preguntar por que cinco veces seguidas, y hay dos criterios de parada utiles: si la respuesta nombra una persona, todavia no llego a la causa raiz</a:t>
            </a:r>
          </a:p>
          <a:p>
            <a:pPr>
              <a:spcAft>
                <a:spcPts val="800"/>
              </a:spcAft>
            </a:pPr>
            <a:r>
              <a:rPr sz="2000" b="0" i="0">
                <a:solidFill>
                  <a:srgbClr val="333333"/>
                </a:solidFill>
                <a:latin typeface="Calibri"/>
              </a:rPr>
              <a:t>–   Porque senalar a quien ejecuto el comando equivocado no explica por que el sistema permitia ejecutarlo sin confirmacion ni por que no habia como volver atras</a:t>
            </a:r>
          </a:p>
          <a:p>
            <a:pPr>
              <a:spcAft>
                <a:spcPts val="800"/>
              </a:spcAft>
            </a:pPr>
            <a:r>
              <a:rPr sz="2000" b="0" i="0">
                <a:solidFill>
                  <a:srgbClr val="333333"/>
                </a:solidFill>
                <a:latin typeface="Calibri"/>
              </a:rPr>
              <a:t>–   Y si la respuesta describe algo que se puede cambiar en un procedimiento, un permiso, una restriccion o una alarma, entonces si llego.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Caso uno: el respaldo que nunca se restauro (GitLab, 2017)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Caso uno, el respaldo que nunca se restauro, con el ejemplo publico mejor documentado que existe.</a:t>
            </a:r>
          </a:p>
          <a:p>
            <a:pPr>
              <a:spcAft>
                <a:spcPts val="800"/>
              </a:spcAft>
            </a:pPr>
            <a:r>
              <a:rPr sz="2000" b="0" i="0">
                <a:solidFill>
                  <a:srgbClr val="333333"/>
                </a:solidFill>
                <a:latin typeface="Calibri"/>
              </a:rPr>
              <a:t>–   El 31 de enero de 2017 GitLab sufrio la perdida de datos de su servicio en la nube: durante la atencion de un problema de replicacion</a:t>
            </a:r>
          </a:p>
          <a:p>
            <a:pPr>
              <a:spcAft>
                <a:spcPts val="800"/>
              </a:spcAft>
            </a:pPr>
            <a:r>
              <a:rPr sz="2000" b="0" i="0">
                <a:solidFill>
                  <a:srgbClr val="333333"/>
                </a:solidFill>
                <a:latin typeface="Calibri"/>
              </a:rPr>
              <a:t>–   Un ingeniero ejecuto un borrado recursivo sobre el directorio de datos del servidor equivocado y elimino cerca de trescientos gigabytes.</a:t>
            </a:r>
          </a:p>
          <a:p>
            <a:pPr>
              <a:spcAft>
                <a:spcPts val="800"/>
              </a:spcAft>
            </a:pPr>
            <a:r>
              <a:rPr sz="2000" b="0" i="0">
                <a:solidFill>
                  <a:srgbClr val="333333"/>
                </a:solidFill>
                <a:latin typeface="Calibri"/>
              </a:rPr>
              <a:t>–   La leccion tecnica es exacta: un respaldo que nunca se restauro de prueba no es un respaldo, es una carpeta con un nombre tranquilizador.</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Caso uno: el respaldo que nunca se restauro (GitLab, 2017)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Y hay una segunda leccion igual de importante: un proceso de respaldo que puede fallar sin avisar es peor que no tenerlo, porque produce confianza injustificada.</a:t>
            </a:r>
          </a:p>
          <a:p>
            <a:pPr>
              <a:spcAft>
                <a:spcPts val="800"/>
              </a:spcAft>
            </a:pPr>
            <a:r>
              <a:rPr sz="2000" b="0" i="0">
                <a:solidFill>
                  <a:srgbClr val="333333"/>
                </a:solidFill>
                <a:latin typeface="Calibri"/>
              </a:rPr>
              <a:t>–   Esto conecta con la Clase 4, donde se definieron RPO, la cantidad maxima de datos que la organizacion acepta perder medida en tiempo, y RTO, el tiempo maximo que acepta estar caida.</a:t>
            </a:r>
          </a:p>
          <a:p>
            <a:pPr>
              <a:spcAft>
                <a:spcPts val="800"/>
              </a:spcAft>
            </a:pPr>
            <a:r>
              <a:rPr sz="2000" b="0" i="0">
                <a:solidFill>
                  <a:srgbClr val="333333"/>
                </a:solidFill>
                <a:latin typeface="Calibri"/>
              </a:rPr>
              <a:t>–   GitLab descubrio su RPO real el dia del incidente, y ese es justo el error que no se debe repetir: el RPO no se declara, se demuestra restaurando.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Caso dos: permisos excesivos (Capital One, 2019)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En julio de 2019 Capital One informo un acceso no autorizado que afecto informacion de aproximadamente cien millones de personas en Estados Unidos y varios millones en Canada, incluyendo solicitudes de credito.</a:t>
            </a:r>
          </a:p>
          <a:p>
            <a:pPr>
              <a:spcAft>
                <a:spcPts val="800"/>
              </a:spcAft>
            </a:pPr>
            <a:r>
              <a:rPr sz="2000" b="0" i="0">
                <a:solidFill>
                  <a:srgbClr val="333333"/>
                </a:solidFill>
                <a:latin typeface="Calibri"/>
              </a:rPr>
              <a:t>–   La cadena tecnica publicada es instructiva porque no hubo ninguna hazana: una configuracion incorrecta en un cortafuegos de aplicaciones permitio que se le hiciera hacer peticiones internas en nombre del servidor, con eso se obtuvieron credenciales temporales de un rol de servicio</a:t>
            </a:r>
          </a:p>
          <a:p>
            <a:pPr>
              <a:spcAft>
                <a:spcPts val="800"/>
              </a:spcAft>
            </a:pPr>
            <a:r>
              <a:rPr sz="2000" b="0" i="0">
                <a:solidFill>
                  <a:srgbClr val="333333"/>
                </a:solidFill>
                <a:latin typeface="Calibri"/>
              </a:rPr>
              <a:t>–   Y ese rol tenia permiso para listar y leer todos los buckets de almacenamiento, muchos mas de los que necesitaba para su trabajo.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Caso dos: permisos excesivos (Capital One, 2019)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El regulador bancario estadounidense impuso una multa de ochenta millones de dolares en 2020.</a:t>
            </a:r>
          </a:p>
          <a:p>
            <a:pPr>
              <a:spcAft>
                <a:spcPts val="800"/>
              </a:spcAft>
            </a:pPr>
            <a:r>
              <a:rPr sz="2000" b="0" i="0">
                <a:solidFill>
                  <a:srgbClr val="333333"/>
                </a:solidFill>
                <a:latin typeface="Calibri"/>
              </a:rPr>
              <a:t>–   La causa proxima es la mala configuracion del cortafuegos; la causa raiz es que un componente tenia privilegios mucho mayores que su funcion.</a:t>
            </a:r>
          </a:p>
          <a:p>
            <a:pPr>
              <a:spcAft>
                <a:spcPts val="800"/>
              </a:spcAft>
            </a:pPr>
            <a:r>
              <a:rPr sz="2000" b="0" i="0">
                <a:solidFill>
                  <a:srgbClr val="333333"/>
                </a:solidFill>
                <a:latin typeface="Calibri"/>
              </a:rPr>
              <a:t>–   La leccion, en el vocabulario de la Clase 2, es el principio de privilegio minimo: cada actor recibe exactamente los permisos que necesita para su tarea y nada mas.</a:t>
            </a:r>
          </a:p>
          <a:p>
            <a:pPr>
              <a:spcAft>
                <a:spcPts val="800"/>
              </a:spcAft>
            </a:pPr>
            <a:r>
              <a:rPr sz="2000" b="0" i="0">
                <a:solidFill>
                  <a:srgbClr val="333333"/>
                </a:solidFill>
                <a:latin typeface="Calibri"/>
              </a:rPr>
              <a:t>–   Ese atajo es exactamente el que convierte una vulnerabilidad menor en una fuga total.</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Caso tres: perdida de datos en una migracion (MySpace, 2019)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En marzo de 2019 MySpace reconocio que habia perdido la musica subida a la plataforma entre 2003 y 2015, del orden de cincuenta millones de archivos de unos catorce millones de artistas, durante una migracion de servidores</a:t>
            </a:r>
          </a:p>
          <a:p>
            <a:pPr>
              <a:spcAft>
                <a:spcPts val="800"/>
              </a:spcAft>
            </a:pPr>
            <a:r>
              <a:rPr sz="2000" b="0" i="0">
                <a:solidFill>
                  <a:srgbClr val="333333"/>
                </a:solidFill>
                <a:latin typeface="Calibri"/>
              </a:rPr>
              <a:t>–   No hubo ataque ni desastre natural, solo una migracion sin copia verificada de la que ya no se podia volver atras.</a:t>
            </a:r>
          </a:p>
          <a:p>
            <a:pPr>
              <a:spcAft>
                <a:spcPts val="800"/>
              </a:spcAft>
            </a:pPr>
            <a:r>
              <a:rPr sz="2000" b="0" i="0">
                <a:solidFill>
                  <a:srgbClr val="333333"/>
                </a:solidFill>
                <a:latin typeface="Calibri"/>
              </a:rPr>
              <a:t>–   En la banca hay un caso paralelo y bien documentado con el sistema de TSB en Reino Unido en 2018, donde el paso a una plataforma nueva dejo a millones de clientes sin acceso confiable durante semanas</a:t>
            </a:r>
          </a:p>
          <a:p>
            <a:pPr>
              <a:spcAft>
                <a:spcPts val="800"/>
              </a:spcAft>
            </a:pPr>
            <a:r>
              <a:rPr sz="2000" b="0" i="0">
                <a:solidFill>
                  <a:srgbClr val="333333"/>
                </a:solidFill>
                <a:latin typeface="Calibri"/>
              </a:rPr>
              <a:t>–   Con costos reportados del orden de cientos de millones de libras y sanciones posteriores del regulador</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Caso tres: perdida de datos en una migracion (MySpace, 2019)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 causa raiz senalada en los informes no fue un error puntual de programacion sino una migracion probada de forma insuficiente y sin un camino de retorno real.</a:t>
            </a:r>
          </a:p>
          <a:p>
            <a:pPr>
              <a:spcAft>
                <a:spcPts val="800"/>
              </a:spcAft>
            </a:pPr>
            <a:r>
              <a:rPr sz="2000" b="0" i="0">
                <a:solidFill>
                  <a:srgbClr val="333333"/>
                </a:solidFill>
                <a:latin typeface="Calibri"/>
              </a:rPr>
              <a:t>–   La leccion tecnica es la misma en los dos casos y conecta con la Clase 12: una migracion sin plan de retorno probado es una apuesta, y el plan de retorno se prueba antes, no el dia del cambio.</a:t>
            </a:r>
          </a:p>
          <a:p>
            <a:pPr>
              <a:spcAft>
                <a:spcPts val="800"/>
              </a:spcAft>
            </a:pPr>
            <a:r>
              <a:rPr sz="2000" b="0" i="0">
                <a:solidFill>
                  <a:srgbClr val="333333"/>
                </a:solidFill>
                <a:latin typeface="Calibri"/>
              </a:rPr>
              <a:t>–   La forma disciplinada de hacerlo es la secuencia de expandir, migrar y contraer, con las dos versiones conviviendo, mas una verificacion de conteos entre origen y destino antes de eliminar nada.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Caso cuatro: concurrencia, el que no llega a los titulares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Este merece un tratamiento distinto porque su rasgo caracteristico es que no llega a los titulares con nombre propio tan facilmente: son fallos que no producen mensajes de error y por eso se descubren semanas despues</a:t>
            </a:r>
          </a:p>
          <a:p>
            <a:pPr>
              <a:spcAft>
                <a:spcPts val="800"/>
              </a:spcAft>
            </a:pPr>
            <a:r>
              <a:rPr sz="2000" b="0" i="0">
                <a:solidFill>
                  <a:srgbClr val="333333"/>
                </a:solidFill>
                <a:latin typeface="Calibri"/>
              </a:rPr>
              <a:t>–   Cuando el inventario fisico no coincide con el del sistema o cuando dos clientes reclaman el mismo cupo.</a:t>
            </a:r>
          </a:p>
          <a:p>
            <a:pPr>
              <a:spcAft>
                <a:spcPts val="800"/>
              </a:spcAft>
            </a:pPr>
            <a:r>
              <a:rPr sz="2000" b="0" i="0">
                <a:solidFill>
                  <a:srgbClr val="333333"/>
                </a:solidFill>
                <a:latin typeface="Calibri"/>
              </a:rPr>
              <a:t>–   El patron es siempre uno de los tres que se estudiaron en la Clase 10.</a:t>
            </a:r>
          </a:p>
          <a:p>
            <a:pPr>
              <a:spcAft>
                <a:spcPts val="800"/>
              </a:spcAft>
            </a:pPr>
            <a:r>
              <a:rPr sz="2000" b="0" i="0">
                <a:solidFill>
                  <a:srgbClr val="333333"/>
                </a:solidFill>
                <a:latin typeface="Calibri"/>
              </a:rPr>
              <a:t>–   Actualizacion perdida: dos procesos leen el mismo stock de Insumo, digamos cinco unidades, ambos restan tres y ambos escriben dos, con lo cual se despacharon seis unidades y el sistema declara dos existencias que no estan.</a:t>
            </a:r>
          </a:p>
          <a:p>
            <a:pPr>
              <a:spcAft>
                <a:spcPts val="800"/>
              </a:spcAft>
            </a:pPr>
            <a:r>
              <a:rPr sz="2000" b="0" i="0">
                <a:solidFill>
                  <a:srgbClr val="333333"/>
                </a:solidFill>
                <a:latin typeface="Calibri"/>
              </a:rPr>
              <a:t>–   Doble reserva: dos recepcionistas consultan la franja del martes a las diez del veterinario Ruiz, ambas reciben cero filas, ambas insertan.</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Caso cuatro: concurrencia, el que no llega a los titulares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Bloqueo mutuo o deadlock: dos transacciones se esperan en orden cruzado y el motor mata una.</a:t>
            </a:r>
          </a:p>
          <a:p>
            <a:pPr>
              <a:spcAft>
                <a:spcPts val="800"/>
              </a:spcAft>
            </a:pPr>
            <a:r>
              <a:rPr sz="2000" b="0" i="0">
                <a:solidFill>
                  <a:srgbClr val="333333"/>
                </a:solidFill>
                <a:latin typeface="Calibri"/>
              </a:rPr>
              <a:t>–   La leccion es que ninguna cantidad de validacion previa en la aplicacion resuelve esto</a:t>
            </a:r>
          </a:p>
          <a:p>
            <a:pPr>
              <a:spcAft>
                <a:spcPts val="800"/>
              </a:spcAft>
            </a:pPr>
            <a:r>
              <a:rPr sz="2000" b="0" i="0">
                <a:solidFill>
                  <a:srgbClr val="333333"/>
                </a:solidFill>
                <a:latin typeface="Calibri"/>
              </a:rPr>
              <a:t>–   Porque entre la consulta y la escritura hay una ventana de tiempo en la que el mundo cambio; se resuelve en la base con restricciones, con bloqueo explicito al leer lo que se va a modificar o con el nivel de aislamiento adecuado.</a:t>
            </a:r>
          </a:p>
          <a:p>
            <a:pPr>
              <a:spcAft>
                <a:spcPts val="800"/>
              </a:spcAft>
            </a:pPr>
            <a:r>
              <a:rPr sz="2000" b="0" i="0">
                <a:solidFill>
                  <a:srgbClr val="333333"/>
                </a:solidFill>
                <a:latin typeface="Calibri"/>
              </a:rPr>
              <a:t>–   Y hay una leccion organizacional gratis: estos defectos jamas aparecen probando con un usuario, asi que si el estudiante solo probo VetCare desde una sola maquina, no lo probo.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Lecciones accionables: los cuatro elementos verificables (1/3)</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Una leccion es un lugar comun cuando podria haberse escrito antes de conocer el caso: hay que hacer respaldos, hay que cuidar los permisos, hay que probar bien.</a:t>
            </a:r>
          </a:p>
          <a:p>
            <a:pPr>
              <a:spcAft>
                <a:spcPts val="800"/>
              </a:spcAft>
            </a:pPr>
            <a:r>
              <a:rPr sz="2000" b="0" i="0">
                <a:solidFill>
                  <a:srgbClr val="333333"/>
                </a:solidFill>
                <a:latin typeface="Calibri"/>
              </a:rPr>
              <a:t>–   Una leccion es accionable cuando tiene cuatro elementos verificables: un verbo concreto, el artefacto sobre el cual se actua, una frecuencia o un umbral, y la manera de comprobar que se hizo.</a:t>
            </a:r>
          </a:p>
          <a:p>
            <a:pPr>
              <a:spcAft>
                <a:spcPts val="800"/>
              </a:spcAft>
            </a:pPr>
            <a:r>
              <a:rPr sz="2000" b="0" i="0">
                <a:solidFill>
                  <a:srgbClr val="333333"/>
                </a:solidFill>
                <a:latin typeface="Calibri"/>
              </a:rPr>
              <a:t>–   Version inutil: hay que probar los respaldos.</a:t>
            </a:r>
          </a:p>
          <a:p>
            <a:pPr>
              <a:spcAft>
                <a:spcPts val="800"/>
              </a:spcAft>
            </a:pPr>
            <a:r>
              <a:rPr sz="2000" b="0" i="0">
                <a:solidFill>
                  <a:srgbClr val="333333"/>
                </a:solidFill>
                <a:latin typeface="Calibri"/>
              </a:rPr>
              <a:t>–   Version accionable: el primer lunes de cada mes se restaura el respaldo mas reciente en un esquema temporal de Oracle Live SQL o del entorno de pruebas, se comparan los conteos de filas de Dueno, Mascota, Cita y Factura contra produccion</a:t>
            </a:r>
          </a:p>
          <a:p>
            <a:pPr>
              <a:spcAft>
                <a:spcPts val="800"/>
              </a:spcAft>
            </a:pPr>
            <a:r>
              <a:rPr sz="2000" b="0" i="0">
                <a:solidFill>
                  <a:srgbClr val="333333"/>
                </a:solidFill>
                <a:latin typeface="Calibri"/>
              </a:rPr>
              <a:t>–   Y se registra fecha y resultado en la bitacora del proyecto; si no hay registro del mes, se declara que no hay respaldo.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Lecciones accionables: los cuatro elementos verificables (2/3)</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 segunda se puede auditar, la primera es una intencion.</a:t>
            </a:r>
          </a:p>
          <a:p>
            <a:pPr>
              <a:spcAft>
                <a:spcPts val="800"/>
              </a:spcAft>
            </a:pPr>
            <a:r>
              <a:rPr sz="2000" b="0" i="0">
                <a:solidFill>
                  <a:srgbClr val="333333"/>
                </a:solidFill>
                <a:latin typeface="Calibri"/>
              </a:rPr>
              <a:t>–   Aplique el mismo molde a los otros casos y ya tiene la cuarta columna de la tabla: del caso de permisos sale crear el rol rol_vetcare_app con GRANT EXECUTE sobre los procedimientos y revocar todo SELECT</a:t>
            </a:r>
          </a:p>
          <a:p>
            <a:pPr>
              <a:spcAft>
                <a:spcPts val="800"/>
              </a:spcAft>
            </a:pPr>
            <a:r>
              <a:rPr sz="2000" b="0" i="0">
                <a:solidFill>
                  <a:srgbClr val="333333"/>
                </a:solidFill>
                <a:latin typeface="Calibri"/>
              </a:rPr>
              <a:t>–   INSERT, UPDATE y DELETE directo sobre las tablas, verificado consultando las vistas de privilegios</a:t>
            </a:r>
          </a:p>
          <a:p>
            <a:pPr>
              <a:spcAft>
                <a:spcPts val="800"/>
              </a:spcAft>
            </a:pPr>
            <a:r>
              <a:rPr sz="2000" b="0" i="0">
                <a:solidFill>
                  <a:srgbClr val="333333"/>
                </a:solidFill>
                <a:latin typeface="Calibri"/>
              </a:rPr>
              <a:t>–   Del caso de concurrencia sale ALTER TABLE Cita ADD CONSTRAINT uq_cita_vet_franja UNIQUE (id_veterinario, fecha_hora) mas SELECT FOR UPDATE al descontar stock, verificado con dos sesiones simultaneas</a:t>
            </a:r>
          </a:p>
          <a:p>
            <a:pPr>
              <a:spcAft>
                <a:spcPts val="800"/>
              </a:spcAft>
            </a:pPr>
            <a:r>
              <a:rPr sz="2000" b="0" i="0">
                <a:solidFill>
                  <a:srgbClr val="333333"/>
                </a:solidFill>
                <a:latin typeface="Calibri"/>
              </a:rPr>
              <a:t>–   Del caso de migracion sale que todo cambio de esquema tenga script de ida, script de retorno y conteo de verificacion.</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Lecciones accionables: los cuatro elementos verificables (3/3)</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Sobre las preguntas que llegaran por el canal del curso: si piden inventar un caso, la respuesta es no, cada caso debe ser verificable con una fuente publica o declararse explicitamente como hipotetico</a:t>
            </a:r>
          </a:p>
          <a:p>
            <a:pPr>
              <a:spcAft>
                <a:spcPts val="800"/>
              </a:spcAft>
            </a:pPr>
            <a:r>
              <a:rPr sz="2000" b="0" i="0">
                <a:solidFill>
                  <a:srgbClr val="333333"/>
                </a:solidFill>
                <a:latin typeface="Calibri"/>
              </a:rPr>
              <a:t>–   Si el caso no tiene detalle tecnico publicado, se escribe solo lo documentado y se marca aparte lo que es inferencia propia</a:t>
            </a:r>
          </a:p>
          <a:p>
            <a:pPr>
              <a:spcAft>
                <a:spcPts val="800"/>
              </a:spcAft>
            </a:pPr>
            <a:r>
              <a:rPr sz="2000" b="0" i="0">
                <a:solidFill>
                  <a:srgbClr val="333333"/>
                </a:solidFill>
                <a:latin typeface="Calibri"/>
              </a:rPr>
              <a:t>–   Porque separar hecho de suposicion es parte de la nota; y si preguntan cuanto debe medir cada celda.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Leer un plan de ejecucion ajeno</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400"/>
              </a:spcAft>
            </a:pPr>
            <a:r>
              <a:rPr sz="1400" b="0" i="0">
                <a:solidFill>
                  <a:srgbClr val="FFFFFF"/>
                </a:solidFill>
                <a:latin typeface="Calibri"/>
              </a:rPr>
              <a:t>EXPLAIN (ANALYZE, BUFFERS)</a:t>
            </a:r>
          </a:p>
          <a:p>
            <a:pPr>
              <a:spcAft>
                <a:spcPts val="400"/>
              </a:spcAft>
            </a:pPr>
            <a:r>
              <a:rPr sz="1400" b="0" i="0">
                <a:solidFill>
                  <a:srgbClr val="FFFFFF"/>
                </a:solidFill>
                <a:latin typeface="Calibri"/>
              </a:rPr>
              <a:t>SELECT d.nombre, COUNT(c.id_cita) AS citas</a:t>
            </a:r>
          </a:p>
          <a:p>
            <a:pPr>
              <a:spcAft>
                <a:spcPts val="400"/>
              </a:spcAft>
            </a:pPr>
            <a:r>
              <a:rPr sz="1400" b="0" i="0">
                <a:solidFill>
                  <a:srgbClr val="FFFFFF"/>
                </a:solidFill>
                <a:latin typeface="Calibri"/>
              </a:rPr>
              <a:t>FROM dueno d</a:t>
            </a:r>
          </a:p>
          <a:p>
            <a:pPr>
              <a:spcAft>
                <a:spcPts val="400"/>
              </a:spcAft>
            </a:pPr>
            <a:r>
              <a:rPr sz="1400" b="0" i="0">
                <a:solidFill>
                  <a:srgbClr val="FFFFFF"/>
                </a:solidFill>
                <a:latin typeface="Calibri"/>
              </a:rPr>
              <a:t>JOIN mascota m ON m.id_dueno   = d.id_dueno</a:t>
            </a:r>
          </a:p>
          <a:p>
            <a:pPr>
              <a:spcAft>
                <a:spcPts val="400"/>
              </a:spcAft>
            </a:pPr>
            <a:r>
              <a:rPr sz="1400" b="0" i="0">
                <a:solidFill>
                  <a:srgbClr val="FFFFFF"/>
                </a:solidFill>
                <a:latin typeface="Calibri"/>
              </a:rPr>
              <a:t>JOIN cita    c ON c.id_mascota = m.id_mascota</a:t>
            </a:r>
          </a:p>
          <a:p>
            <a:pPr>
              <a:spcAft>
                <a:spcPts val="400"/>
              </a:spcAft>
            </a:pPr>
            <a:r>
              <a:rPr sz="1400" b="0" i="0">
                <a:solidFill>
                  <a:srgbClr val="FFFFFF"/>
                </a:solidFill>
                <a:latin typeface="Calibri"/>
              </a:rPr>
              <a:t>WHERE c.fecha_hora &gt;= DATE '2026-01-01'</a:t>
            </a:r>
          </a:p>
          <a:p>
            <a:pPr>
              <a:spcAft>
                <a:spcPts val="400"/>
              </a:spcAft>
            </a:pPr>
            <a:r>
              <a:rPr sz="1400" b="0" i="0">
                <a:solidFill>
                  <a:srgbClr val="FFFFFF"/>
                </a:solidFill>
                <a:latin typeface="Calibri"/>
              </a:rPr>
              <a:t>GROUP BY d.id_dueno, d.nombre</a:t>
            </a:r>
          </a:p>
          <a:p>
            <a:pPr>
              <a:spcAft>
                <a:spcPts val="400"/>
              </a:spcAft>
            </a:pPr>
            <a:r>
              <a:rPr sz="1400" b="0" i="0">
                <a:solidFill>
                  <a:srgbClr val="FFFFFF"/>
                </a:solidFill>
                <a:latin typeface="Calibri"/>
              </a:rPr>
              <a:t>HAVING COUNT(c.id_cita) &gt; 5;</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-- 1. el nodo mas costoso (cost mas alto), no el primero</a:t>
            </a:r>
          </a:p>
          <a:p>
            <a:pPr>
              <a:spcAft>
                <a:spcPts val="400"/>
              </a:spcAft>
            </a:pPr>
            <a:r>
              <a:rPr sz="1400" b="0" i="0">
                <a:solidFill>
                  <a:srgbClr val="FFFFFF"/>
                </a:solidFill>
                <a:latin typeface="Calibri"/>
              </a:rPr>
              <a:t>-- 2. Seq Scan sobre tabla grande con filtro selectivo -&gt; falta indice</a:t>
            </a:r>
          </a:p>
          <a:p>
            <a:pPr>
              <a:spcAft>
                <a:spcPts val="400"/>
              </a:spcAft>
            </a:pPr>
            <a:r>
              <a:rPr sz="1400" b="0" i="0">
                <a:solidFill>
                  <a:srgbClr val="FFFFFF"/>
                </a:solidFill>
                <a:latin typeface="Calibri"/>
              </a:rPr>
              <a:t>-- 3. rows estimadas vs actual: si difieren 10x, ANALYZE la tabla</a:t>
            </a:r>
          </a:p>
          <a:p>
            <a:pPr>
              <a:spcAft>
                <a:spcPts val="400"/>
              </a:spcAft>
            </a:pPr>
            <a:r>
              <a:rPr sz="1400" b="0" i="0">
                <a:solidFill>
                  <a:srgbClr val="FFFFFF"/>
                </a:solidFill>
                <a:latin typeface="Calibri"/>
              </a:rPr>
              <a:t>-- 4. Nested Loop con muchas filas -&gt; suele querer Hash Join</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Demo del dia</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Herramienta:</a:t>
            </a:r>
            <a:r>
              <a:rPr sz="2000" b="0" i="0">
                <a:solidFill>
                  <a:srgbClr val="333333"/>
                </a:solidFill>
                <a:latin typeface="Calibri"/>
              </a:rPr>
              <a:t> Google Docs</a:t>
            </a:r>
          </a:p>
          <a:p>
            <a:pPr>
              <a:spcAft>
                <a:spcPts val="800"/>
              </a:spcAft>
            </a:pPr>
            <a:r>
              <a:rPr sz="2000" b="0" i="0">
                <a:solidFill>
                  <a:srgbClr val="333333"/>
                </a:solidFill>
                <a:latin typeface="Calibri"/>
              </a:rPr>
              <a:t>–   </a:t>
            </a:r>
            <a:r>
              <a:rPr sz="2000" b="1" i="0">
                <a:solidFill>
                  <a:srgbClr val="333333"/>
                </a:solidFill>
                <a:latin typeface="Calibri"/>
              </a:rPr>
              <a:t>Demo:</a:t>
            </a:r>
            <a:r>
              <a:rPr sz="2000" b="0" i="0">
                <a:solidFill>
                  <a:srgbClr val="333333"/>
                </a:solidFill>
                <a:latin typeface="Calibri"/>
              </a:rPr>
              <a:t> Plantilla: contexto -&gt; fallo -&gt; leccion -&gt; cambio en VetCare.</a:t>
            </a:r>
          </a:p>
          <a:p>
            <a:pPr>
              <a:spcAft>
                <a:spcPts val="800"/>
              </a:spcAft>
            </a:pPr>
            <a:r>
              <a:rPr sz="2000" b="0" i="0">
                <a:solidFill>
                  <a:srgbClr val="333333"/>
                </a:solidFill>
                <a:latin typeface="Calibri"/>
              </a:rPr>
              <a:t>–   Sigan el mismo dominio VetCare (no inventen otro caso).</a:t>
            </a:r>
          </a:p>
          <a:p>
            <a:pPr>
              <a:spcAft>
                <a:spcPts val="800"/>
              </a:spcAft>
            </a:pPr>
            <a:r>
              <a:rPr sz="2000" b="0" i="0">
                <a:solidFill>
                  <a:srgbClr val="333333"/>
                </a:solidFill>
                <a:latin typeface="Calibri"/>
              </a:rPr>
              <a:t>–   Al final de la demo: dejar enlace/script compartible al grupo.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uniajc_color.png"/>
          <p:cNvPicPr>
            <a:picLocks noChangeAspect="1"/>
          </p:cNvPicPr>
          <p:nvPr/>
        </p:nvPicPr>
        <p:blipFill>
          <a:blip r:embed="rId2"/>
          <a:stretch>
            <a:fillRect/>
          </a:stretch>
        </p:blipFill>
        <p:spPr>
          <a:xfrm>
            <a:off x="10271455" y="5998464"/>
            <a:ext cx="1463040" cy="643233"/>
          </a:xfrm>
          <a:prstGeom prst="rect">
            <a:avLst/>
          </a:prstGeom>
        </p:spPr>
      </p:pic>
      <p:sp>
        <p:nvSpPr>
          <p:cNvPr id="4" name="TextBox 3"/>
          <p:cNvSpPr txBox="1"/>
          <p:nvPr/>
        </p:nvSpPr>
        <p:spPr>
          <a:xfrm>
            <a:off x="457200" y="1737360"/>
            <a:ext cx="11277295" cy="1097280"/>
          </a:xfrm>
          <a:prstGeom prst="rect">
            <a:avLst/>
          </a:prstGeom>
          <a:noFill/>
        </p:spPr>
        <p:txBody>
          <a:bodyPr wrap="square" anchor="ctr"/>
          <a:lstStyle/>
          <a:p>
            <a:pPr algn="ctr"/>
            <a:r>
              <a:rPr sz="3400" b="1" i="0">
                <a:solidFill>
                  <a:srgbClr val="095292"/>
                </a:solidFill>
                <a:latin typeface="Calibri"/>
              </a:rPr>
              <a:t>Clase 13 · Analisis de casos reales · VetCare</a:t>
            </a:r>
          </a:p>
        </p:txBody>
      </p:sp>
      <p:sp>
        <p:nvSpPr>
          <p:cNvPr id="5" name="TextBox 4"/>
          <p:cNvSpPr txBox="1"/>
          <p:nvPr/>
        </p:nvSpPr>
        <p:spPr>
          <a:xfrm>
            <a:off x="457200" y="3017520"/>
            <a:ext cx="11277295" cy="1645920"/>
          </a:xfrm>
          <a:prstGeom prst="rect">
            <a:avLst/>
          </a:prstGeom>
          <a:noFill/>
        </p:spPr>
        <p:txBody>
          <a:bodyPr wrap="square">
            <a:spAutoFit/>
          </a:bodyPr>
          <a:lstStyle/>
          <a:p>
            <a:pPr algn="ctr">
              <a:spcAft>
                <a:spcPts val="600"/>
              </a:spcAft>
            </a:pPr>
            <a:r>
              <a:rPr sz="1600" b="0" i="0">
                <a:solidFill>
                  <a:srgbClr val="333333"/>
                </a:solidFill>
                <a:latin typeface="Calibri"/>
              </a:rPr>
              <a:t>Clase autonoma</a:t>
            </a:r>
          </a:p>
          <a:p>
            <a:pPr algn="ctr">
              <a:spcAft>
                <a:spcPts val="600"/>
              </a:spcAft>
            </a:pPr>
            <a:r>
              <a:rPr sz="1600" b="0" i="0">
                <a:solidFill>
                  <a:srgbClr val="333333"/>
                </a:solidFill>
                <a:latin typeface="Calibri"/>
              </a:rPr>
              <a:t>Causa proxima y causa raiz</a:t>
            </a:r>
          </a:p>
          <a:p>
            <a:pPr algn="ctr">
              <a:spcAft>
                <a:spcPts val="600"/>
              </a:spcAft>
            </a:pPr>
            <a:r>
              <a:rPr sz="1600" b="0" i="0">
                <a:solidFill>
                  <a:srgbClr val="333333"/>
                </a:solidFill>
                <a:latin typeface="Calibri"/>
              </a:rPr>
              <a:t>Caso uno</a:t>
            </a:r>
          </a:p>
        </p:txBody>
      </p:sp>
      <p:sp>
        <p:nvSpPr>
          <p:cNvPr id="6" name="TextBox 5"/>
          <p:cNvSpPr txBox="1"/>
          <p:nvPr/>
        </p:nvSpPr>
        <p:spPr>
          <a:xfrm>
            <a:off x="457200" y="4754880"/>
            <a:ext cx="11277295" cy="640080"/>
          </a:xfrm>
          <a:prstGeom prst="rect">
            <a:avLst/>
          </a:prstGeom>
          <a:noFill/>
        </p:spPr>
        <p:txBody>
          <a:bodyPr wrap="square">
            <a:spAutoFit/>
          </a:bodyPr>
          <a:lstStyle/>
          <a:p>
            <a:pPr algn="ctr"/>
            <a:r>
              <a:rPr sz="2000" b="1" i="0">
                <a:solidFill>
                  <a:srgbClr val="269CCB"/>
                </a:solidFill>
                <a:latin typeface="Calibri"/>
              </a:rPr>
              <a:t>Todo lo visto queda proyectado para repasar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