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Tema de hoy: Integracion app &lt;-&gt; BD · Prep. presentacion</a:t>
            </a:r>
          </a:p>
          <a:p/>
          <a:p>
            <a:r>
              <a:t>Herramienta: Google Docs + Live SQL + Excalidraw · Bloque 120 min</a:t>
            </a:r>
          </a:p>
          <a:p/>
          <a:p>
            <a:r>
              <a:t>Gratis + navegador · free tier · sin software de pago obligatorio.</a:t>
            </a:r>
          </a:p>
          <a:p/>
          <a:p>
            <a:r>
              <a:t>Recorrido: teoría del tema, una lámina por concepto, y demo del docente sobre la base de la clínica.</a:t>
            </a:r>
          </a:p>
          <a:p/>
          <a:p>
            <a:r>
              <a:t>Cada lámina se sostiene sola: sirve para repasar aunque hayas faltado.</a:t>
            </a:r>
          </a:p>
          <a:p/>
          <a:p>
            <a:r>
              <a:t>Conceptos de hoy: Integrar no es conectarse · Inyeccion SQL · La inyeccion de SQL, explicada con las dos versiones · Por que el parametro lo evita por construccion.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Integrar la aplicacion con la base de datos no es conectarse: conectarse son dos lineas de configuracion.</a:t>
            </a:r>
          </a:p>
          <a:p>
            <a:r>
              <a:t>Integrar es decidir cual es la unica puerta por la que la aplicacion puede tocar los datos, y dejar esa puerta escrita en un documento que las dos partes respetan.</a:t>
            </a:r>
          </a:p>
          <a:p>
            <a:r>
              <a:t>En la primera, la aplicacion arma texto SQL contra las tablas: SELECT, INSERT y UPDATE escritos dentro del codigo Java o Python, apuntando directo a Mascota, Cita o Insumo.</a:t>
            </a:r>
          </a:p>
          <a:p>
            <a:r>
              <a:t>En la segunda, la aplicacion no conoce las tablas y solo puede invocar procedimientos y funciones ya construidos dentro de la base, los mismos que este curso escribio en las Clases 3 y 4.</a:t>
            </a:r>
          </a:p>
          <a:p>
            <a:r>
              <a:t>La eleccion no es de gusto.</a:t>
            </a:r>
          </a:p>
          <a:p>
            <a:r>
              <a:t>La primera abre la puerta a la inyeccion SQL, reparte la regla de negocio en tantos lugares como pantallas tenga el sistema y amarra el esquema fisico al codigo.</a:t>
            </a:r>
          </a:p>
          <a:p>
            <a:r>
              <a:t>La segunda concentra cada regla en un unico punto, permite reorganizar las tablas por dentro sin tocar la aplicacion mientras el contrato se mantenga igual</a:t>
            </a:r>
          </a:p>
          <a:p>
            <a:r>
              <a:t>Y habilita algo que la primera hace imposible: quitarle al usuario de la aplicacion todo permiso de leer o escribir tablas y dejarle solo EXECUTE sobre los procedimientos, que es el privilegio minimo trabajado en la Clase 2.</a:t>
            </a:r>
          </a:p>
          <a:p>
            <a:r>
              <a:t>NOTAS:</a:t>
            </a:r>
          </a:p>
          <a:p>
            <a:r>
              <a:t>Esa puerta es la interfaz app-BD y el documento que la describe es el contrato.</a:t>
            </a:r>
          </a:p>
          <a:p>
            <a:r>
              <a:t>Hay exactamente dos formas de construirla.</a:t>
            </a:r>
          </a:p>
          <a:p>
            <a:r>
              <a:t>Todo lo demas de esta clase se deriva de esa decision.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inyeccion SQL es lo que ocurre cuando un dato que escribio un usuario termina siendo interpretado como codigo por el motor.</a:t>
            </a:r>
          </a:p>
          <a:p>
            <a:r>
              <a:t>El motor no puede distinguir que parte del texto la escribio el programador y que parte el usuario: recibe una cadena, la analiza completa y ejecuta lo que esa cadena diga.</a:t>
            </a:r>
          </a:p>
          <a:p>
            <a:r>
              <a:t>Si alguien escribe la secuencia comilla, espacio, OR 1=1, espacio, doble guion, el motor recibe WHERE nombre = '' OR 1=1 -- ' y devuelve la tabla Mascota completa</a:t>
            </a:r>
          </a:p>
          <a:p>
            <a:r>
              <a:t>Porque 1=1 es verdadero para toda fila y el doble guion comenta el resto de la linea, incluida la comilla que quedo sobrando.</a:t>
            </a:r>
          </a:p>
          <a:p>
            <a:r>
              <a:t>El mismo truco en el formulario de acceso permite entrar sin conocer ninguna clave: si la validacion es SELECT COUNT(*) FROM Usuario WHERE usuario = 'U' AND clave = 'C'</a:t>
            </a:r>
          </a:p>
          <a:p>
            <a:r>
              <a:t>Una clave que cierre la comilla y agregue OR 1=1 hace verdadera la condicion para todas las filas.</a:t>
            </a:r>
          </a:p>
          <a:p>
            <a:r>
              <a:t>La inyeccion aparece en todas las ediciones del OWASP Top Ten: fue la categoria numero uno en 2010, 2013 y 2017, y en 2021 quedo tercera ya fusionada con otras inyecciones.</a:t>
            </a:r>
          </a:p>
          <a:p>
            <a:r>
              <a:t>NOTAS:</a:t>
            </a:r>
          </a:p>
          <a:p>
            <a:r>
              <a:t>Concretemoslo en la clínica.</a:t>
            </a:r>
          </a:p>
          <a:p>
            <a:r>
              <a:t>El buscador de mascotas de la recepcion arma la consulta pegando la entrada del usuario, de modo que el motor recibe</a:t>
            </a:r>
          </a:p>
          <a:p>
            <a:r>
              <a:t>Si la recepcionista escribe Luna, el motor recibe WHERE nombre = 'Luna', devuelve una fila, todo parece correcto y la aplicacion pasa a produccion.</a:t>
            </a:r>
          </a:p>
          <a:p>
            <a:r>
              <a:t>Conviene una precision honesta, porque la hara un estudiante: en Oracle no se apilan dos sentencias en una misma llamada, asi que el clasico punto y coma seguido de DROP TABLE Cita no se comporta como en otros motores; lo que si funciona, y basta para un incidente reportable, es leer datos ajenos, saltarse un acceso o modificar informacion cuando la aplicacion ejecuta PL/SQL dinamico.</a:t>
            </a:r>
          </a:p>
          <a:p>
            <a:r>
              <a:t>CÓDIGO CITADO (referencia):</a:t>
            </a:r>
          </a:p>
          <a:p>
            <a:r>
              <a:t>SELECT id_mascota, nombre FROM Mascota WHERE nombre = 'ENTRADA'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Cuando la aplicacion envia la sentencia con marcadores de posicion (en PostgreSQL $1 en una sentencia preparada, en JDBC el signo de interrogacion</a:t>
            </a:r>
          </a:p>
          <a:p>
            <a:r>
              <a:t>Oracle escribe:p_nombre, solo como contraste) el motor analiza primero la sentencia sin los valores, construye el plan de ejecucion, y solo despues recibe cada valor como un dato tipado que se acomoda en una casilla ya reservada.</a:t>
            </a:r>
          </a:p>
          <a:p>
            <a:r>
              <a:t>Ese valor nunca vuelve al analizador sintactico: si el usuario escribio comilla OR 1=1 doble guion, el motor busca literalmente una mascota cuyo nombre sea esa cadena, no la encuentra y devuelve cero filas.</a:t>
            </a:r>
          </a:p>
          <a:p>
            <a:r>
              <a:t>Llamar un procedimiento con parametros hereda esa proteccion y agrega dos cosas: el usuario de la aplicacion puede tener EXECUTE sobre sp_agendar_cita y ninguna posibilidad de SELECT ni UPDATE sobre las tablas</a:t>
            </a:r>
          </a:p>
          <a:p>
            <a:r>
              <a:t>De modo que aunque alguien controle la entrada no tiene sobre que ejercerla</a:t>
            </a:r>
          </a:p>
          <a:p>
            <a:r>
              <a:t>Y el motor reutiliza el plan porque la sentencia es siempre la misma cadena, lo que enlaza con el analisis de planes de las Clases 6 y 8.</a:t>
            </a:r>
          </a:p>
          <a:p>
            <a:r>
              <a:t>Aqui llega la primera pregunta previsible: si uso un ORM como JPA, ya estoy protegido.</a:t>
            </a:r>
          </a:p>
          <a:p>
            <a:r>
              <a:t>NOTAS:</a:t>
            </a:r>
          </a:p>
          <a:p>
            <a:r>
              <a:t>El parametro evita esto por construccion, y hay que explicar el mecanismo y no solo la receta.</a:t>
            </a:r>
          </a:p>
          <a:p>
            <a:r>
              <a:t>La inyeccion queda imposible, no improbable, y esa diferencia entre imposible e improbable es la que hay que instalar.</a:t>
            </a:r>
          </a:p>
          <a:p>
            <a:r>
              <a:t>La respuesta honesta es que si mientras use los metodos del ORM o consultas con parametros nombrados, y que no en el momento en que arme una consulta nativa concatenando texto, porque el ORM no revisa lo que usted le entrega.</a:t>
            </a:r>
          </a:p>
          <a:p>
            <a:r>
              <a:t>La vulnerabilidad no la produce la tecnologia sino la concatenacion.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Contrato, dicho en serio, es mucho mas que el nombre del procedimiento.</a:t>
            </a:r>
          </a:p>
          <a:p>
            <a:r>
              <a:t>La firma: nombre y lista ordenada de parametros con su tipo y su direccion, donde IN significa que el dato entra, OUT que el procedimiento lo devuelve e IN OUT que entra y sale modificado.</a:t>
            </a:r>
          </a:p>
          <a:p>
            <a:r>
              <a:t>Las precondiciones: lo que debe ser verdadero antes de llamar.</a:t>
            </a:r>
          </a:p>
          <a:p>
            <a:r>
              <a:t>El efecto o postcondicion: que quedo distinto en la base despues de la llamada.</a:t>
            </a:r>
          </a:p>
          <a:p>
            <a:r>
              <a:t>Si la operacion es idempotente.</a:t>
            </a:r>
          </a:p>
          <a:p>
            <a:r>
              <a:t>En la clínica el contrato de agendamiento se escribe asi: sp_agendar_cita(p_id_mascota IN NUMBER, p_id_veterinario IN NUMBER, p_fecha_hora IN TIMESTAMP, p_motivo IN VARCHAR2, p_id_cita OUT NUMBER)</a:t>
            </a:r>
          </a:p>
          <a:p>
            <a:r>
              <a:t>Precondicion, la mascota existe y esta activa; efecto, inserta una fila en Cita en estado PROGRAMADA y devuelve su identificador; errores, -20010 mascota inexistente, -20011 mascota inactiva, -20012 franja ocupada; idempotente, no.</a:t>
            </a:r>
          </a:p>
          <a:p>
            <a:r>
              <a:t>Agendar no lo es, y eso tiene consecuencia inmediata: si la recepcionista da doble clic, o si la red corta la respuesta y la aplicacion reintenta, quedan dos citas identicas.</a:t>
            </a:r>
          </a:p>
          <a:p>
            <a:r>
              <a:t>La solucion no es pedirle al usuario que no haga doble clic: es una restriccion UNIQUE sobre (id_veterinario</a:t>
            </a:r>
          </a:p>
          <a:p>
            <a:r>
              <a:t>Fecha_hora) que hace fallar el segundo intento en la base y no en la interfaz, o una clave de idempotencia que la aplicacion genera y la base guarda como unica.</a:t>
            </a:r>
          </a:p>
          <a:p>
            <a:r>
              <a:t>Esto conecta con la Clase 10, donde dos recepcionistas simultaneas producian el mismo dano sin que ninguna sentencia fallara.</a:t>
            </a:r>
          </a:p>
          <a:p>
            <a:r>
              <a:t>NOTAS:</a:t>
            </a:r>
          </a:p>
          <a:p>
            <a:r>
              <a:t>La lista de errores posibles con codigo y significado.</a:t>
            </a:r>
          </a:p>
          <a:p>
            <a:r>
              <a:t>Y la version.</a:t>
            </a:r>
          </a:p>
          <a:p>
            <a:r>
              <a:t>Idempotente significa que ejecutar la operacion dos veces con los mismos datos deja el sistema igual que ejecutarla una sola vez.</a:t>
            </a:r>
          </a:p>
          <a:p>
            <a:r>
              <a:t>Fuera de la lamina (habla de la practica): Contrato, dicho en serio, es mucho mas que el nombre del procedimiento, y tiene seis partes que hay que exigir en el entregable de hoy.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Primera: el procedimiento nunca informa un fallo devolviendo cero o menos uno en un parametro de salida</a:t>
            </a:r>
          </a:p>
          <a:p>
            <a:r>
              <a:t>Porque quien llama puede ignorarlo y seguir; lanza el error con RAISE EXCEPTION y le pone un codigo propio con USING ERRCODE</a:t>
            </a:r>
          </a:p>
          <a:p>
            <a:r>
              <a:t>Un SQLSTATE de cinco caracteres: RAISE EXCEPTION 'la mascota % esta inactiva', p_id USING ERRCODE = 'MA001'; la aplicacion recibe MA001 y el mensaje.</a:t>
            </a:r>
          </a:p>
          <a:p>
            <a:r>
              <a:t>Sin USING ERRCODE el codigo es P0001, el mismo para todos los errores propios.</a:t>
            </a:r>
          </a:p>
          <a:p>
            <a:r>
              <a:t>Repartir los codigos por modulo, por ejemplo MA para mascotas e IN para inventario, es convencion propia del proyecto.</a:t>
            </a:r>
          </a:p>
          <a:p>
            <a:r>
              <a:t>En Oracle el equivalente es RAISE_APPLICATION_ERROR con el rango -20000 a -20999, solo como contraste.</a:t>
            </a:r>
          </a:p>
          <a:p>
            <a:r>
              <a:t>Segunda: la aplicacion captura el codigo, lo traduce a un mensaje en lenguaje de recepcion y jamas muestra el texto crudo del motor</a:t>
            </a:r>
          </a:p>
          <a:p>
            <a:r>
              <a:t>Porque un relation "cita" does not exist le regala al atacante el nombre de los objetos y al recepcionista no le dice nada</a:t>
            </a:r>
          </a:p>
          <a:p>
            <a:r>
              <a:t>El error tecnico completo se registra en el log del servidor con un identificador de correlacion que permita encontrar despues ese evento exacto.</a:t>
            </a:r>
          </a:p>
          <a:p>
            <a:r>
              <a:t>Tercera, la mas discutida: quien decide COMMIT.</a:t>
            </a:r>
          </a:p>
          <a:p>
            <a:r>
              <a:t>La operacion de negocio completa, con todas sus validaciones y sus inserciones, vive dentro de un solo procedimiento</a:t>
            </a:r>
          </a:p>
          <a:p>
            <a:r>
              <a:t>Y en PostgreSQL ese CALL es su propia transaccion: si una validacion lanza el error, la excepcion sale del CALL y deshace todo lo que alcanzo a escribir sin que nadie escriba ROLLBACK; la aplicacion no confirma a la mitad.</a:t>
            </a:r>
          </a:p>
          <a:p>
            <a:r>
              <a:t>Si el procedimiento captura una excepcion, el bloque termina con RAISE para que el error suba, y nunca WHEN OTHERS THEN NULL, que es la forma mas eficaz que existe de perder datos sin enterarse.</a:t>
            </a:r>
          </a:p>
          <a:p>
            <a:r>
              <a:t>NOTAS:</a:t>
            </a:r>
          </a:p>
          <a:p>
            <a:r>
              <a:t>El manejo de errores entre capas se resuelve con tres reglas.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pool de conexiones es un conjunto de conexiones ya abiertas y autenticadas que la aplicacion mantiene vivas, presta a cada peticion mientras dura y recupera al terminar.</a:t>
            </a:r>
          </a:p>
          <a:p>
            <a:r>
              <a:t>Abrir una conexion implica saludo TCP, autenticacion del usuario, creacion de la sesion y reserva de memoria privada</a:t>
            </a:r>
          </a:p>
          <a:p>
            <a:r>
              <a:t>En un motor como Oracle sobre una red de oficina eso cuesta del orden de decenas de milisegundos, digamos entre 20 y 100 segun red y configuracion.</a:t>
            </a:r>
          </a:p>
          <a:p>
            <a:r>
              <a:t>Un SELECT bien indexado sobre Cita se resuelve en 2 o 3 milisegundos.</a:t>
            </a:r>
          </a:p>
          <a:p>
            <a:r>
              <a:t>Si por cada consulta se abre y se cierra la conexion, la aplicacion gasta cincuenta milisegundos en el tramite y tres en el trabajo: mas del noventa por ciento del tiempo de respuesta es protocolo.</a:t>
            </a:r>
          </a:p>
          <a:p>
            <a:r>
              <a:t>Los valores exactos dependen del entorno y hay que medirlos; lo que si es regla dura es la direccion de la desigualdad.</a:t>
            </a:r>
          </a:p>
          <a:p>
            <a:r>
              <a:t>El tamano del pool no se maximiza, porque cada sesion consume memoria del servidor y mas conexiones simultaneas que nucleos de CPU no aumentan el trabajo hecho</a:t>
            </a:r>
          </a:p>
          <a:p>
            <a:r>
              <a:t>Solo la cola: la convencion difundida, no ley, es partir de unas diez conexiones para una aplicacion de este tamano y subir solo con mediciones.</a:t>
            </a:r>
          </a:p>
          <a:p>
            <a:r>
              <a:t>Y la fuga de conexiones es el fallo tipico: si una ruta del codigo no devuelve la conexion porque falto el finally o el try con recursos, el pool se agota y la aplicacion se congela esperando</a:t>
            </a:r>
          </a:p>
          <a:p>
            <a:r>
              <a:t>El sintoma es un sistema que funciona media hora y despues no responde.</a:t>
            </a:r>
          </a:p>
          <a:p>
            <a:r>
              <a:t>Segunda pregunta previsible: no es mas lento llamar un procedimiento que consultar directo.</a:t>
            </a:r>
          </a:p>
          <a:p>
            <a:r>
              <a:t>Normalmente es mas rapido, porque una llamada resuelve en el servidor lo que la aplicacion haria en tres o cuatro viajes de red; en todo caso la respuesta profesional es medir, con las herramientas de la Clase 8.</a:t>
            </a:r>
          </a:p>
          <a:p>
            <a:r>
              <a:t>NOTAS:</a:t>
            </a:r>
          </a:p>
          <a:p>
            <a:r>
              <a:t>Existe por una asimetria que conviene dar con numeros: abrir una conexion es caro y ejecutar una consulta es barato.</a:t>
            </a:r>
          </a:p>
          <a:p>
            <a:r>
              <a:t>Tomar una conexion prestada del pool cuesta una fraccion de milisegundo.</a:t>
            </a:r>
          </a:p>
          <a:p>
            <a:r>
              <a:t>De ahi salen dos consecuencias.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A favor de la base: la regla queda escrita una sola vez y la cumplen todos los clientes, incluida la consola del administrador, el reporte de Excel y el script que alguien correra a las once de la noche</a:t>
            </a:r>
          </a:p>
          <a:p>
            <a:r>
              <a:t>Queda dentro de la misma transaccion que los datos, sin ventana entre validar y escribir; y ahorra viajes de red.</a:t>
            </a:r>
          </a:p>
          <a:p>
            <a:r>
              <a:t>En contra: PL/SQL es mas dificil de probar de forma automatizada, sus cambios no se versionan tan naturalmente en un repositorio como el codigo de la aplicacion, hay menos programadores que lo dominen, ata el proyecto al motor elegido</a:t>
            </a:r>
          </a:p>
          <a:p>
            <a:r>
              <a:t>Y la CPU de la base suele ser el recurso mas escaso y mas caro de escalar, porque se agrega servidor de aplicacion con facilidad y no se agrega servidor de base de datos con la misma facilidad.</a:t>
            </a:r>
          </a:p>
          <a:p>
            <a:r>
              <a:t>El criterio de decision que conviene entregar es este: las invariantes que protegen la integridad de los datos van en la base, porque son las que no pueden depender de que todos los clientes se porten bien</a:t>
            </a:r>
          </a:p>
          <a:p>
            <a:r>
              <a:t>Y en la clínica son exactamente las tres reglas del proyecto, que una mascota inactiva no agende cita, que el stock de Insumo nunca quede negativo y que los cambios sensibles queden auditados.</a:t>
            </a:r>
          </a:p>
          <a:p>
            <a:r>
              <a:t>Cuando pregunten cual es mejor, la respuesta es que depende de donde caiga el costo del error, y para datos que no se pueden reconstruir ese costo cae siempre del lado de la base.</a:t>
            </a:r>
          </a:p>
          <a:p>
            <a:r>
              <a:t>NOTAS:</a:t>
            </a:r>
          </a:p>
          <a:p>
            <a:r>
              <a:t>El trade-off de poner logica en la base o en la aplicacion merece honestidad y no propaganda, porque el estudiante encontrara equipos reales que defienden lo contrario de lo que oye hoy.</a:t>
            </a:r>
          </a:p>
          <a:p>
            <a:r>
              <a:t>La orquestacion, la presentacion, los formatos de fecha y el envio de correos van en la aplicacion.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Queda el problema mas subestimado: cambiar el esquema sin romper la aplicacion que ya esta corriendo.</a:t>
            </a:r>
          </a:p>
          <a:p>
            <a:r>
              <a:t>La regla es que nunca se cambia una cosa en su lugar, se expande, se migra y despues se contrae.</a:t>
            </a:r>
          </a:p>
          <a:p>
            <a:r>
              <a:t>Uno, expandir:, sin tocar ningun procedimiento; la aplicacion vieja ignora la columna y sigue igual porque admite nulos.</a:t>
            </a:r>
          </a:p>
          <a:p>
            <a:r>
              <a:t>Dos, escribir en ambos lados: sp_inactivar_mascota se actualiza para llenar tambien la columna nueva.</a:t>
            </a:r>
          </a:p>
          <a:p>
            <a:r>
              <a:t>Tres, rellenar el historico con UPDATE por lotes y no en una sentencia gigante sobre la tabla completa, para no bloquear a nadie por minutos, lo que enlaza con la Clase 10.</a:t>
            </a:r>
          </a:p>
          <a:p>
            <a:r>
              <a:t>Cinco, contraer: eliminar lo viejo solo cuando ninguna version desplegada lo use.</a:t>
            </a:r>
          </a:p>
          <a:p>
            <a:r>
              <a:t>Con los procedimientos aplica la misma logica: agregar un parametro al final con valor DEFAULT es compatible, porque las llamadas existentes siguen valiendo; cambiar el orden de los parametros, su tipo o el significado de un codigo de error rompe</a:t>
            </a:r>
          </a:p>
          <a:p>
            <a:r>
              <a:t>Y ahi se publica sp_agendar_cita_v2 y se conserva la anterior como envoltura hasta que la aplicacion migre.</a:t>
            </a:r>
          </a:p>
          <a:p>
            <a:r>
              <a:t>Los scripts de migracion se numeran, se guardan en el repositorio y jamas se editan despues de aplicados: si algo quedo mal, se escribe el siguiente numero.</a:t>
            </a:r>
          </a:p>
          <a:p>
            <a:r>
              <a:t>NOTAS:</a:t>
            </a:r>
          </a:p>
          <a:p>
            <a:r>
              <a:t>Suponga que la clínica necesita registrar la fecha en que una mascota fue inactivada, dato que hoy no existe.</a:t>
            </a:r>
          </a:p>
          <a:p>
            <a:r>
              <a:t>Cuatro, mover lecturas y reportes a la columna nueva.</a:t>
            </a:r>
          </a:p>
          <a:p>
            <a:r>
              <a:t>Cada paso deja funcionando al mismo tiempo la version vieja y la nueva.</a:t>
            </a:r>
          </a:p>
          <a:p>
            <a:r>
              <a:t>Eso mismo entra en el informe y en el pitch de hoy, porque el estudiante no muestra pantallas: muestra su contrato, un caso de exito, un caso de error visto por el usuario y su plan de cambio de esquema, que es lo que la Clase 13 mirara desde el lado de los fallos reales y lo que la Clase 15 va a evaluar.</a:t>
            </a:r>
          </a:p>
          <a:p>
            <a:r>
              <a:t>CÓDIGO CITADO (referencia):</a:t>
            </a:r>
          </a:p>
          <a:p>
            <a:r>
              <a:t>ALTER TABLE Mascota ADD (fecha_inactivacion DATE NULL)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Google Docs + Live SQL + Excalidraw</a:t>
            </a:r>
          </a:p>
          <a:p/>
          <a:p>
            <a:r>
              <a:t>Demo: Plantilla contrato sp_agendar_cita + storyboard 6 slides.</a:t>
            </a:r>
          </a:p>
          <a:p/>
          <a:p>
            <a:r>
              <a:t>Sigan el mismo dominio de la clínica (no inventen otro caso).</a:t>
            </a:r>
          </a:p>
          <a:p/>
          <a:p>
            <a:r>
              <a:t>Qué observar: el parametro viaja como dato: el texto `Luna' OR '1'='1` se busca literal y no devuelve todas las mascotas.</a:t>
            </a:r>
          </a:p>
          <a:p/>
          <a:p>
            <a:r>
              <a:t>Qué observar: la aplicacion solo conoce la firma del procedimiento y sus mensajes de error: no ve tablas ni arma SQL con texto.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Integracion app &lt;-&gt; BD · Prep. presentacion</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Contrato de operaciones + ensayo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Integracion app &lt;-&gt; BD · Prep.</a:t>
            </a:r>
          </a:p>
          <a:p>
            <a:pPr>
              <a:spcAft>
                <a:spcPts val="800"/>
              </a:spcAft>
            </a:pPr>
            <a:r>
              <a:rPr sz="2000" b="0" i="0">
                <a:solidFill>
                  <a:srgbClr val="333333"/>
                </a:solidFill>
                <a:latin typeface="Calibri"/>
              </a:rPr>
              <a:t>–   Herramienta: </a:t>
            </a:r>
            <a:r>
              <a:rPr sz="2000" b="1" i="0">
                <a:solidFill>
                  <a:srgbClr val="333333"/>
                </a:solidFill>
                <a:latin typeface="Calibri"/>
              </a:rPr>
              <a:t>Google Docs + Live SQL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uerta-unic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uerta-unic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uerta-unic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Integrar la aplicacion con la base de datos no es conectarse: conectarse son dos lineas de configuracion.</a:t>
            </a:r>
          </a:p>
          <a:p>
            <a:pPr>
              <a:spcAft>
                <a:spcPts val="800"/>
              </a:spcAft>
            </a:pPr>
            <a:r>
              <a:rPr sz="2000" b="0" i="0">
                <a:solidFill>
                  <a:srgbClr val="333333"/>
                </a:solidFill>
                <a:latin typeface="Calibri"/>
              </a:rPr>
              <a:t>–   Integrar es decidir cual es la unica puerta por la que la aplicacion puede tocar los datos, y dejar esa puerta escrita en un documento que las dos…</a:t>
            </a:r>
          </a:p>
          <a:p>
            <a:pPr>
              <a:spcAft>
                <a:spcPts val="800"/>
              </a:spcAft>
            </a:pPr>
            <a:r>
              <a:rPr sz="2000" b="0" i="0">
                <a:solidFill>
                  <a:srgbClr val="333333"/>
                </a:solidFill>
                <a:latin typeface="Calibri"/>
              </a:rPr>
              <a:t>–   En la primera, la aplicacion arma texto SQL contra las tablas.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yeccion-sq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yeccion-sq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yeccion-sq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inyeccion SQL es lo que ocurre cuando un dato que escribio un usuario termina siendo interpretado como codigo por el motor.</a:t>
            </a:r>
          </a:p>
          <a:p>
            <a:pPr>
              <a:spcAft>
                <a:spcPts val="800"/>
              </a:spcAft>
            </a:pPr>
            <a:r>
              <a:rPr sz="2000" b="0" i="0">
                <a:solidFill>
                  <a:srgbClr val="333333"/>
                </a:solidFill>
                <a:latin typeface="Calibri"/>
              </a:rPr>
              <a:t>–   El motor no puede distinguir que parte del texto la escribio el programador y que parte el usuario.</a:t>
            </a:r>
          </a:p>
          <a:p>
            <a:pPr>
              <a:spcAft>
                <a:spcPts val="800"/>
              </a:spcAft>
            </a:pPr>
            <a:r>
              <a:rPr sz="2000" b="0" i="0">
                <a:solidFill>
                  <a:srgbClr val="333333"/>
                </a:solidFill>
                <a:latin typeface="Calibri"/>
              </a:rPr>
              <a:t>–   Si alguien escribe la secuencia comilla, espacio, OR 1=1, espacio, doble guion, el motor recibe WHERE nombre = '' OR 1=1 -- ' y devuelve la tabla…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inyeccion de SQL, explicada con las dos versiones</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1" b="0">
                <a:solidFill>
                  <a:srgbClr val="6A9955"/>
                </a:solidFill>
                <a:latin typeface="Consolas"/>
              </a:rPr>
              <a:t>-- MAL: la aplicacion concatena lo que el usuario escribio</a:t>
            </a:r>
          </a:p>
          <a:p>
            <a:pPr>
              <a:spcAft>
                <a:spcPts val="428"/>
              </a:spcAft>
            </a:pPr>
            <a:r>
              <a:rPr sz="2000" i="1" b="0">
                <a:solidFill>
                  <a:srgbClr val="6A9955"/>
                </a:solidFill>
                <a:latin typeface="Consolas"/>
              </a:rPr>
              <a:t>--   "SELECT * FROM dueno WHERE nombre = '" + entrada + "'"</a:t>
            </a:r>
          </a:p>
          <a:p>
            <a:pPr>
              <a:spcAft>
                <a:spcPts val="428"/>
              </a:spcAft>
            </a:pPr>
            <a:r>
              <a:rPr sz="2000" i="1" b="0">
                <a:solidFill>
                  <a:srgbClr val="6A9955"/>
                </a:solidFill>
                <a:latin typeface="Consolas"/>
              </a:rPr>
              <a:t>-- Si entrada = 'x'; DROP TABLE cita; --</a:t>
            </a:r>
          </a:p>
          <a:p>
            <a:pPr>
              <a:spcAft>
                <a:spcPts val="428"/>
              </a:spcAft>
            </a:pPr>
            <a:r>
              <a:rPr sz="2000" i="1" b="0">
                <a:solidFill>
                  <a:srgbClr val="6A9955"/>
                </a:solidFill>
                <a:latin typeface="Consolas"/>
              </a:rPr>
              <a:t>-- el motor recibe dos sentencias y ejecuta las dos.</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BIEN: el valor viaja como PARAMETRO, nunca como texto de la sentencia</a:t>
            </a:r>
          </a:p>
          <a:p>
            <a:pPr>
              <a:spcAft>
                <a:spcPts val="428"/>
              </a:spcAft>
            </a:pPr>
            <a:r>
              <a:rPr sz="2000" i="0" b="0">
                <a:solidFill>
                  <a:srgbClr val="D4D4D4"/>
                </a:solidFill>
                <a:latin typeface="Consolas"/>
              </a:rPr>
              <a:t>PREPARE</a:t>
            </a:r>
            <a:r>
              <a:rPr sz="2000" i="0" b="0">
                <a:solidFill>
                  <a:srgbClr val="D4D4D4"/>
                </a:solidFill>
                <a:latin typeface="Consolas"/>
              </a:rPr>
              <a:t> </a:t>
            </a:r>
            <a:r>
              <a:rPr sz="2000" i="0" b="0">
                <a:solidFill>
                  <a:srgbClr val="DCDCAA"/>
                </a:solidFill>
                <a:latin typeface="Consolas"/>
              </a:rPr>
              <a:t>buscar_dueno</a:t>
            </a:r>
            <a:r>
              <a:rPr sz="2000" i="0" b="0">
                <a:solidFill>
                  <a:srgbClr val="D4D4D4"/>
                </a:solidFill>
                <a:latin typeface="Consolas"/>
              </a:rPr>
              <a:t> (</a:t>
            </a:r>
            <a:r>
              <a:rPr sz="2000" i="0" b="0">
                <a:solidFill>
                  <a:srgbClr val="4EC9B0"/>
                </a:solidFill>
                <a:latin typeface="Consolas"/>
              </a:rPr>
              <a:t>VARCHAR</a:t>
            </a:r>
            <a:r>
              <a:rPr sz="2000" i="0" b="0">
                <a:solidFill>
                  <a:srgbClr val="D4D4D4"/>
                </a:solidFill>
                <a:latin typeface="Consolas"/>
              </a:rPr>
              <a:t>) </a:t>
            </a:r>
            <a:r>
              <a:rPr sz="2000" i="0" b="0">
                <a:solidFill>
                  <a:srgbClr val="569CD6"/>
                </a:solidFill>
                <a:latin typeface="Consolas"/>
              </a:rPr>
              <a:t>AS</a:t>
            </a:r>
          </a:p>
          <a:p>
            <a:pPr>
              <a:spcAft>
                <a:spcPts val="428"/>
              </a:spcAft>
            </a:pPr>
            <a:r>
              <a:rPr sz="2000" i="0" b="0">
                <a:solidFill>
                  <a:srgbClr val="D4D4D4"/>
                </a:solidFill>
                <a:latin typeface="Consolas"/>
              </a:rPr>
              <a:t>  </a:t>
            </a: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id_dueno</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a:t>
            </a:r>
            <a:r>
              <a:rPr sz="2000" i="0" b="0">
                <a:solidFill>
                  <a:srgbClr val="D4D4D4"/>
                </a:solidFill>
                <a:latin typeface="Consolas"/>
              </a:rPr>
              <a:t>telefono</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 $</a:t>
            </a:r>
            <a:r>
              <a:rPr sz="2000" i="0" b="0">
                <a:solidFill>
                  <a:srgbClr val="B5CEA8"/>
                </a:solidFill>
                <a:latin typeface="Consolas"/>
              </a:rPr>
              <a:t>1</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EXECUTE</a:t>
            </a:r>
            <a:r>
              <a:rPr sz="2000" i="0" b="0">
                <a:solidFill>
                  <a:srgbClr val="D4D4D4"/>
                </a:solidFill>
                <a:latin typeface="Consolas"/>
              </a:rPr>
              <a:t> </a:t>
            </a:r>
            <a:r>
              <a:rPr sz="2000" i="0" b="0">
                <a:solidFill>
                  <a:srgbClr val="DCDCAA"/>
                </a:solidFill>
                <a:latin typeface="Consolas"/>
              </a:rPr>
              <a:t>buscar_dueno</a:t>
            </a:r>
            <a:r>
              <a:rPr sz="2000" i="0" b="0">
                <a:solidFill>
                  <a:srgbClr val="D4D4D4"/>
                </a:solidFill>
                <a:latin typeface="Consolas"/>
              </a:rPr>
              <a:t>(</a:t>
            </a:r>
            <a:r>
              <a:rPr sz="2000" i="0" b="0">
                <a:solidFill>
                  <a:srgbClr val="CE9178"/>
                </a:solidFill>
                <a:latin typeface="Consolas"/>
              </a:rPr>
              <a:t>'Ana Gomez'</a:t>
            </a:r>
            <a:r>
              <a:rPr sz="2000" i="0" b="0">
                <a:solidFill>
                  <a:srgbClr val="D4D4D4"/>
                </a:solidFill>
                <a:latin typeface="Consolas"/>
              </a:rPr>
              <a:t>);</a:t>
            </a:r>
          </a:p>
          <a:p>
            <a:pPr>
              <a:spcAft>
                <a:spcPts val="428"/>
              </a:spcAft>
            </a:pPr>
            <a:r>
              <a:rPr sz="2000" i="0" b="0">
                <a:solidFill>
                  <a:srgbClr val="569CD6"/>
                </a:solidFill>
                <a:latin typeface="Consolas"/>
              </a:rPr>
              <a:t>EXECUTE</a:t>
            </a:r>
            <a:r>
              <a:rPr sz="2000" i="0" b="0">
                <a:solidFill>
                  <a:srgbClr val="D4D4D4"/>
                </a:solidFill>
                <a:latin typeface="Consolas"/>
              </a:rPr>
              <a:t> </a:t>
            </a:r>
            <a:r>
              <a:rPr sz="2000" i="0" b="0">
                <a:solidFill>
                  <a:srgbClr val="DCDCAA"/>
                </a:solidFill>
                <a:latin typeface="Consolas"/>
              </a:rPr>
              <a:t>buscar_dueno</a:t>
            </a:r>
            <a:r>
              <a:rPr sz="2000" i="0" b="0">
                <a:solidFill>
                  <a:srgbClr val="D4D4D4"/>
                </a:solidFill>
                <a:latin typeface="Consolas"/>
              </a:rPr>
              <a:t>(</a:t>
            </a:r>
            <a:r>
              <a:rPr sz="2000" i="0" b="0">
                <a:solidFill>
                  <a:srgbClr val="CE9178"/>
                </a:solidFill>
                <a:latin typeface="Consolas"/>
              </a:rPr>
              <a:t>'x''; DROP TABLE cita; --'</a:t>
            </a:r>
            <a:r>
              <a:rPr sz="2000" i="0" b="0">
                <a:solidFill>
                  <a:srgbClr val="D4D4D4"/>
                </a:solidFill>
                <a:latin typeface="Consolas"/>
              </a:rPr>
              <a:t>);   </a:t>
            </a:r>
            <a:r>
              <a:rPr sz="2000" i="1" b="0">
                <a:solidFill>
                  <a:srgbClr val="6A9955"/>
                </a:solidFill>
                <a:latin typeface="Consolas"/>
              </a:rPr>
              <a:t>-- 0 filas, nada mas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rame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rame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rame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Cuando la aplicacion envia la sentencia con marcadores de posicion (en PostgreSQL $1 en una sentencia preparada, en JDBC el signo de interrogacion</a:t>
            </a:r>
          </a:p>
          <a:p>
            <a:pPr>
              <a:spcAft>
                <a:spcPts val="800"/>
              </a:spcAft>
            </a:pPr>
            <a:r>
              <a:rPr sz="2000" b="0" i="0">
                <a:solidFill>
                  <a:srgbClr val="333333"/>
                </a:solidFill>
                <a:latin typeface="Calibri"/>
              </a:rPr>
              <a:t>–   Oracle escribe:p_nombre, solo como contraste) el motor analiza primero la sentencia sin los valores, construye el plan de ejecucion.</a:t>
            </a:r>
          </a:p>
          <a:p>
            <a:pPr>
              <a:spcAft>
                <a:spcPts val="800"/>
              </a:spcAft>
            </a:pPr>
            <a:r>
              <a:rPr sz="2000" b="0" i="0">
                <a:solidFill>
                  <a:srgbClr val="333333"/>
                </a:solidFill>
                <a:latin typeface="Calibri"/>
              </a:rPr>
              <a:t>–   Ese valor nunca vuelve al analizador sintactico: si el usuario escribio comilla OR 1=1 doble guion.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trato-sei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trato-sei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trato-sei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Contrato, dicho en serio, es mucho mas que el nombre del procedimiento.</a:t>
            </a:r>
          </a:p>
          <a:p>
            <a:pPr>
              <a:spcAft>
                <a:spcPts val="800"/>
              </a:spcAft>
            </a:pPr>
            <a:r>
              <a:rPr sz="2000" b="0" i="0">
                <a:solidFill>
                  <a:srgbClr val="333333"/>
                </a:solidFill>
                <a:latin typeface="Calibri"/>
              </a:rPr>
              <a:t>–   La firma: nombre y lista ordenada de parametros con su tipo y su direccion.</a:t>
            </a:r>
          </a:p>
          <a:p>
            <a:pPr>
              <a:spcAft>
                <a:spcPts val="800"/>
              </a:spcAft>
            </a:pPr>
            <a:r>
              <a:rPr sz="2000" b="0" i="0">
                <a:solidFill>
                  <a:srgbClr val="333333"/>
                </a:solidFill>
                <a:latin typeface="Calibri"/>
              </a:rPr>
              <a:t>–   Las precondiciones: lo que debe ser verdadero antes de llamar.</a:t>
            </a:r>
          </a:p>
          <a:p>
            <a:pPr>
              <a:spcAft>
                <a:spcPts val="800"/>
              </a:spcAft>
            </a:pPr>
            <a:r>
              <a:rPr sz="2000" b="0" i="0">
                <a:solidFill>
                  <a:srgbClr val="333333"/>
                </a:solidFill>
                <a:latin typeface="Calibri"/>
              </a:rPr>
              <a:t>–   El efecto o postcondicion: que quedo distinto en la base despues de la llamada.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la capa de API: siempre parametros ligados</a:t>
            </a:r>
          </a:p>
        </p:txBody>
      </p:sp>
      <p:sp>
        <p:nvSpPr>
          <p:cNvPr id="5" name="Rounded Rectangle 4"/>
          <p:cNvSpPr/>
          <p:nvPr/>
        </p:nvSpPr>
        <p:spPr>
          <a:xfrm>
            <a:off x="457200" y="1261872"/>
            <a:ext cx="11277295" cy="48621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267765"/>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p:txBody>
      </p:sp>
      <p:sp>
        <p:nvSpPr>
          <p:cNvPr id="12" name="TextBox 11"/>
          <p:cNvSpPr txBox="1"/>
          <p:nvPr/>
        </p:nvSpPr>
        <p:spPr>
          <a:xfrm>
            <a:off x="1188720" y="1719072"/>
            <a:ext cx="10271455" cy="4267765"/>
          </a:xfrm>
          <a:prstGeom prst="rect">
            <a:avLst/>
          </a:prstGeom>
          <a:noFill/>
        </p:spPr>
        <p:txBody>
          <a:bodyPr wrap="square">
            <a:spAutoFit/>
          </a:bodyPr>
          <a:lstStyle/>
          <a:p>
            <a:pPr>
              <a:spcAft>
                <a:spcPts val="385"/>
              </a:spcAft>
            </a:pPr>
            <a:r>
              <a:rPr sz="1800" i="1" b="0">
                <a:solidFill>
                  <a:srgbClr val="6A9955"/>
                </a:solidFill>
                <a:latin typeface="Consolas"/>
              </a:rPr>
              <a:t>-- La BD expone operaciones, no tablas. La aplicacion llama, no improvisa SQL.</a:t>
            </a:r>
          </a:p>
          <a:p>
            <a:pPr>
              <a:spcAft>
                <a:spcPts val="385"/>
              </a:spcAft>
            </a:pPr>
            <a:r>
              <a:rPr sz="1800" i="0" b="0">
                <a:solidFill>
                  <a:srgbClr val="569CD6"/>
                </a:solidFill>
                <a:latin typeface="Consolas"/>
              </a:rPr>
              <a:t>CREATE</a:t>
            </a:r>
            <a:r>
              <a:rPr sz="1800" i="0" b="0">
                <a:solidFill>
                  <a:srgbClr val="D4D4D4"/>
                </a:solidFill>
                <a:latin typeface="Consolas"/>
              </a:rPr>
              <a:t> </a:t>
            </a:r>
            <a:r>
              <a:rPr sz="1800" i="0" b="0">
                <a:solidFill>
                  <a:srgbClr val="569CD6"/>
                </a:solidFill>
                <a:latin typeface="Consolas"/>
              </a:rPr>
              <a:t>OR</a:t>
            </a:r>
            <a:r>
              <a:rPr sz="1800" i="0" b="0">
                <a:solidFill>
                  <a:srgbClr val="D4D4D4"/>
                </a:solidFill>
                <a:latin typeface="Consolas"/>
              </a:rPr>
              <a:t> </a:t>
            </a:r>
            <a:r>
              <a:rPr sz="1800" i="0" b="0">
                <a:solidFill>
                  <a:srgbClr val="569CD6"/>
                </a:solidFill>
                <a:latin typeface="Consolas"/>
              </a:rPr>
              <a:t>REPLACE</a:t>
            </a:r>
            <a:r>
              <a:rPr sz="1800" i="0" b="0">
                <a:solidFill>
                  <a:srgbClr val="D4D4D4"/>
                </a:solidFill>
                <a:latin typeface="Consolas"/>
              </a:rPr>
              <a:t> </a:t>
            </a:r>
            <a:r>
              <a:rPr sz="1800" i="0" b="0">
                <a:solidFill>
                  <a:srgbClr val="569CD6"/>
                </a:solidFill>
                <a:latin typeface="Consolas"/>
              </a:rPr>
              <a:t>FUNCTION</a:t>
            </a:r>
            <a:r>
              <a:rPr sz="1800" i="0" b="0">
                <a:solidFill>
                  <a:srgbClr val="D4D4D4"/>
                </a:solidFill>
                <a:latin typeface="Consolas"/>
              </a:rPr>
              <a:t> </a:t>
            </a:r>
            <a:r>
              <a:rPr sz="1800" i="0" b="0">
                <a:solidFill>
                  <a:srgbClr val="DCDCAA"/>
                </a:solidFill>
                <a:latin typeface="Consolas"/>
              </a:rPr>
              <a:t>api_agenda_del_dia</a:t>
            </a:r>
            <a:r>
              <a:rPr sz="1800" i="0" b="0">
                <a:solidFill>
                  <a:srgbClr val="D4D4D4"/>
                </a:solidFill>
                <a:latin typeface="Consolas"/>
              </a:rPr>
              <a:t>(</a:t>
            </a:r>
            <a:r>
              <a:rPr sz="1800" i="0" b="0">
                <a:solidFill>
                  <a:srgbClr val="D4D4D4"/>
                </a:solidFill>
                <a:latin typeface="Consolas"/>
              </a:rPr>
              <a:t>p_dia</a:t>
            </a:r>
            <a:r>
              <a:rPr sz="1800" i="0" b="0">
                <a:solidFill>
                  <a:srgbClr val="D4D4D4"/>
                </a:solidFill>
                <a:latin typeface="Consolas"/>
              </a:rPr>
              <a:t> </a:t>
            </a:r>
            <a:r>
              <a:rPr sz="1800" i="0" b="0">
                <a:solidFill>
                  <a:srgbClr val="4EC9B0"/>
                </a:solidFill>
                <a:latin typeface="Consolas"/>
              </a:rPr>
              <a:t>DATE</a:t>
            </a:r>
            <a:r>
              <a:rPr sz="1800" i="0" b="0">
                <a:solidFill>
                  <a:srgbClr val="D4D4D4"/>
                </a:solidFill>
                <a:latin typeface="Consolas"/>
              </a:rPr>
              <a:t>)</a:t>
            </a:r>
          </a:p>
          <a:p>
            <a:pPr>
              <a:spcAft>
                <a:spcPts val="385"/>
              </a:spcAft>
            </a:pPr>
            <a:r>
              <a:rPr sz="1800" i="0" b="0">
                <a:solidFill>
                  <a:srgbClr val="569CD6"/>
                </a:solidFill>
                <a:latin typeface="Consolas"/>
              </a:rPr>
              <a:t>RETURNS</a:t>
            </a:r>
            <a:r>
              <a:rPr sz="1800" i="0" b="0">
                <a:solidFill>
                  <a:srgbClr val="D4D4D4"/>
                </a:solidFill>
                <a:latin typeface="Consolas"/>
              </a:rPr>
              <a:t> </a:t>
            </a:r>
            <a:r>
              <a:rPr sz="1800" i="0" b="0">
                <a:solidFill>
                  <a:srgbClr val="569CD6"/>
                </a:solidFill>
                <a:latin typeface="Consolas"/>
              </a:rPr>
              <a:t>TABLE</a:t>
            </a:r>
            <a:r>
              <a:rPr sz="1800" i="0" b="0">
                <a:solidFill>
                  <a:srgbClr val="D4D4D4"/>
                </a:solidFill>
                <a:latin typeface="Consolas"/>
              </a:rPr>
              <a:t> (</a:t>
            </a:r>
            <a:r>
              <a:rPr sz="1800" i="0" b="0">
                <a:solidFill>
                  <a:srgbClr val="D4D4D4"/>
                </a:solidFill>
                <a:latin typeface="Consolas"/>
              </a:rPr>
              <a:t>id_cita</a:t>
            </a:r>
            <a:r>
              <a:rPr sz="1800" i="0" b="0">
                <a:solidFill>
                  <a:srgbClr val="D4D4D4"/>
                </a:solidFill>
                <a:latin typeface="Consolas"/>
              </a:rPr>
              <a:t> </a:t>
            </a:r>
            <a:r>
              <a:rPr sz="1800" i="0" b="0">
                <a:solidFill>
                  <a:srgbClr val="4EC9B0"/>
                </a:solidFill>
                <a:latin typeface="Consolas"/>
              </a:rPr>
              <a:t>INT</a:t>
            </a:r>
            <a:r>
              <a:rPr sz="1800" i="0" b="0">
                <a:solidFill>
                  <a:srgbClr val="D4D4D4"/>
                </a:solidFill>
                <a:latin typeface="Consolas"/>
              </a:rPr>
              <a:t>, </a:t>
            </a:r>
            <a:r>
              <a:rPr sz="1800" i="0" b="0">
                <a:solidFill>
                  <a:srgbClr val="D4D4D4"/>
                </a:solidFill>
                <a:latin typeface="Consolas"/>
              </a:rPr>
              <a:t>hora</a:t>
            </a:r>
            <a:r>
              <a:rPr sz="1800" i="0" b="0">
                <a:solidFill>
                  <a:srgbClr val="D4D4D4"/>
                </a:solidFill>
                <a:latin typeface="Consolas"/>
              </a:rPr>
              <a:t> </a:t>
            </a:r>
            <a:r>
              <a:rPr sz="1800" i="0" b="0">
                <a:solidFill>
                  <a:srgbClr val="4EC9B0"/>
                </a:solidFill>
                <a:latin typeface="Consolas"/>
              </a:rPr>
              <a:t>TIMESTAMP</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a:t>
            </a:r>
            <a:r>
              <a:rPr sz="1800" i="0" b="0">
                <a:solidFill>
                  <a:srgbClr val="4EC9B0"/>
                </a:solidFill>
                <a:latin typeface="Consolas"/>
              </a:rPr>
              <a:t>VARCHAR</a:t>
            </a:r>
            <a:r>
              <a:rPr sz="1800" i="0" b="0">
                <a:solidFill>
                  <a:srgbClr val="D4D4D4"/>
                </a:solidFill>
                <a:latin typeface="Consolas"/>
              </a:rPr>
              <a:t>, </a:t>
            </a:r>
            <a:r>
              <a:rPr sz="1800" i="0" b="0">
                <a:solidFill>
                  <a:srgbClr val="D4D4D4"/>
                </a:solidFill>
                <a:latin typeface="Consolas"/>
              </a:rPr>
              <a:t>dueno</a:t>
            </a:r>
            <a:r>
              <a:rPr sz="1800" i="0" b="0">
                <a:solidFill>
                  <a:srgbClr val="D4D4D4"/>
                </a:solidFill>
                <a:latin typeface="Consolas"/>
              </a:rPr>
              <a:t> </a:t>
            </a:r>
            <a:r>
              <a:rPr sz="1800" i="0" b="0">
                <a:solidFill>
                  <a:srgbClr val="4EC9B0"/>
                </a:solidFill>
                <a:latin typeface="Consolas"/>
              </a:rPr>
              <a:t>VARCHAR</a:t>
            </a:r>
            <a:r>
              <a:rPr sz="1800" i="0" b="0">
                <a:solidFill>
                  <a:srgbClr val="D4D4D4"/>
                </a:solidFill>
                <a:latin typeface="Consolas"/>
              </a:rPr>
              <a:t>)</a:t>
            </a:r>
          </a:p>
          <a:p>
            <a:pPr>
              <a:spcAft>
                <a:spcPts val="385"/>
              </a:spcAft>
            </a:pPr>
            <a:r>
              <a:rPr sz="1800" i="0" b="0">
                <a:solidFill>
                  <a:srgbClr val="569CD6"/>
                </a:solidFill>
                <a:latin typeface="Consolas"/>
              </a:rPr>
              <a:t>LANGUAGE</a:t>
            </a:r>
            <a:r>
              <a:rPr sz="1800" i="0" b="0">
                <a:solidFill>
                  <a:srgbClr val="D4D4D4"/>
                </a:solidFill>
                <a:latin typeface="Consolas"/>
              </a:rPr>
              <a:t> </a:t>
            </a:r>
            <a:r>
              <a:rPr sz="1800" i="0" b="0">
                <a:solidFill>
                  <a:srgbClr val="D4D4D4"/>
                </a:solidFill>
                <a:latin typeface="Consolas"/>
              </a:rPr>
              <a:t>sql</a:t>
            </a:r>
          </a:p>
          <a:p>
            <a:pPr>
              <a:spcAft>
                <a:spcPts val="385"/>
              </a:spcAft>
            </a:pPr>
            <a:r>
              <a:rPr sz="1800" i="0" b="0">
                <a:solidFill>
                  <a:srgbClr val="569CD6"/>
                </a:solidFill>
                <a:latin typeface="Consolas"/>
              </a:rPr>
              <a:t>STABLE</a:t>
            </a:r>
          </a:p>
          <a:p>
            <a:pPr>
              <a:spcAft>
                <a:spcPts val="385"/>
              </a:spcAft>
            </a:pPr>
            <a:r>
              <a:rPr sz="1800" i="0" b="0">
                <a:solidFill>
                  <a:srgbClr val="569CD6"/>
                </a:solidFill>
                <a:latin typeface="Consolas"/>
              </a:rPr>
              <a:t>AS</a:t>
            </a:r>
            <a:r>
              <a:rPr sz="1800" i="0" b="0">
                <a:solidFill>
                  <a:srgbClr val="D4D4D4"/>
                </a:solidFill>
                <a:latin typeface="Consolas"/>
              </a:rPr>
              <a:t> </a:t>
            </a:r>
            <a:r>
              <a:rPr sz="1800" i="0" b="0">
                <a:solidFill>
                  <a:srgbClr val="569CD6"/>
                </a:solidFill>
                <a:latin typeface="Consolas"/>
              </a:rPr>
              <a:t>$$</a:t>
            </a:r>
          </a:p>
          <a:p>
            <a:pPr>
              <a:spcAft>
                <a:spcPts val="385"/>
              </a:spcAft>
            </a:pPr>
            <a:r>
              <a:rPr sz="1800" i="0" b="0">
                <a:solidFill>
                  <a:srgbClr val="D4D4D4"/>
                </a:solidFill>
                <a:latin typeface="Consolas"/>
              </a:rPr>
              <a:t>  </a:t>
            </a:r>
            <a:r>
              <a:rPr sz="1800" i="0" b="0">
                <a:solidFill>
                  <a:srgbClr val="569CD6"/>
                </a:solidFill>
                <a:latin typeface="Consolas"/>
              </a:rPr>
              <a:t>SELECT</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id_cita</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 </a:t>
            </a:r>
            <a:r>
              <a:rPr sz="1800" i="0" b="0">
                <a:solidFill>
                  <a:srgbClr val="D4D4D4"/>
                </a:solidFill>
                <a:latin typeface="Consolas"/>
              </a:rPr>
              <a:t>m</a:t>
            </a:r>
            <a:r>
              <a:rPr sz="1800" i="0" b="0">
                <a:solidFill>
                  <a:srgbClr val="D4D4D4"/>
                </a:solidFill>
                <a:latin typeface="Consolas"/>
              </a:rPr>
              <a:t>.</a:t>
            </a:r>
            <a:r>
              <a:rPr sz="1800" i="0" b="0">
                <a:solidFill>
                  <a:srgbClr val="D4D4D4"/>
                </a:solidFill>
                <a:latin typeface="Consolas"/>
              </a:rPr>
              <a:t>nombre</a:t>
            </a:r>
            <a:r>
              <a:rPr sz="1800" i="0" b="0">
                <a:solidFill>
                  <a:srgbClr val="D4D4D4"/>
                </a:solidFill>
                <a:latin typeface="Consolas"/>
              </a:rPr>
              <a:t>, </a:t>
            </a:r>
            <a:r>
              <a:rPr sz="1800" i="0" b="0">
                <a:solidFill>
                  <a:srgbClr val="D4D4D4"/>
                </a:solidFill>
                <a:latin typeface="Consolas"/>
              </a:rPr>
              <a:t>d</a:t>
            </a:r>
            <a:r>
              <a:rPr sz="1800" i="0" b="0">
                <a:solidFill>
                  <a:srgbClr val="D4D4D4"/>
                </a:solidFill>
                <a:latin typeface="Consolas"/>
              </a:rPr>
              <a:t>.</a:t>
            </a:r>
            <a:r>
              <a:rPr sz="1800" i="0" b="0">
                <a:solidFill>
                  <a:srgbClr val="D4D4D4"/>
                </a:solidFill>
                <a:latin typeface="Consolas"/>
              </a:rPr>
              <a:t>nombre</a:t>
            </a:r>
          </a:p>
          <a:p>
            <a:pPr>
              <a:spcAft>
                <a:spcPts val="385"/>
              </a:spcAft>
            </a:pP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a:t>
            </a:r>
            <a:r>
              <a:rPr sz="1800" i="0" b="0">
                <a:solidFill>
                  <a:srgbClr val="D4D4D4"/>
                </a:solidFill>
                <a:latin typeface="Consolas"/>
              </a:rPr>
              <a:t>c</a:t>
            </a:r>
          </a:p>
          <a:p>
            <a:pPr>
              <a:spcAft>
                <a:spcPts val="385"/>
              </a:spcAft>
            </a:pPr>
            <a:r>
              <a:rPr sz="1800" i="0" b="0">
                <a:solidFill>
                  <a:srgbClr val="D4D4D4"/>
                </a:solidFill>
                <a:latin typeface="Consolas"/>
              </a:rPr>
              <a:t>  </a:t>
            </a:r>
            <a:r>
              <a:rPr sz="1800" i="0" b="0">
                <a:solidFill>
                  <a:srgbClr val="569CD6"/>
                </a:solidFill>
                <a:latin typeface="Consolas"/>
              </a:rPr>
              <a:t>JOIN</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a:t>
            </a:r>
            <a:r>
              <a:rPr sz="1800" i="0" b="0">
                <a:solidFill>
                  <a:srgbClr val="D4D4D4"/>
                </a:solidFill>
                <a:latin typeface="Consolas"/>
              </a:rPr>
              <a:t>m</a:t>
            </a:r>
            <a:r>
              <a:rPr sz="1800" i="0" b="0">
                <a:solidFill>
                  <a:srgbClr val="D4D4D4"/>
                </a:solidFill>
                <a:latin typeface="Consolas"/>
              </a:rPr>
              <a:t> </a:t>
            </a:r>
            <a:r>
              <a:rPr sz="1800" i="0" b="0">
                <a:solidFill>
                  <a:srgbClr val="569CD6"/>
                </a:solidFill>
                <a:latin typeface="Consolas"/>
              </a:rPr>
              <a:t>ON</a:t>
            </a:r>
            <a:r>
              <a:rPr sz="1800" i="0" b="0">
                <a:solidFill>
                  <a:srgbClr val="D4D4D4"/>
                </a:solidFill>
                <a:latin typeface="Consolas"/>
              </a:rPr>
              <a:t> </a:t>
            </a:r>
            <a:r>
              <a:rPr sz="1800" i="0" b="0">
                <a:solidFill>
                  <a:srgbClr val="D4D4D4"/>
                </a:solidFill>
                <a:latin typeface="Consolas"/>
              </a:rPr>
              <a:t>m</a:t>
            </a:r>
            <a:r>
              <a:rPr sz="1800" i="0" b="0">
                <a:solidFill>
                  <a:srgbClr val="D4D4D4"/>
                </a:solidFill>
                <a:latin typeface="Consolas"/>
              </a:rPr>
              <a:t>.</a:t>
            </a:r>
            <a:r>
              <a:rPr sz="1800" i="0" b="0">
                <a:solidFill>
                  <a:srgbClr val="D4D4D4"/>
                </a:solidFill>
                <a:latin typeface="Consolas"/>
              </a:rPr>
              <a:t>id_mascota</a:t>
            </a:r>
            <a:r>
              <a:rPr sz="1800" i="0" b="0">
                <a:solidFill>
                  <a:srgbClr val="D4D4D4"/>
                </a:solidFill>
                <a:latin typeface="Consolas"/>
              </a:rPr>
              <a:t> =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id_mascota</a:t>
            </a:r>
          </a:p>
          <a:p>
            <a:pPr>
              <a:spcAft>
                <a:spcPts val="385"/>
              </a:spcAft>
            </a:pPr>
            <a:r>
              <a:rPr sz="1800" i="0" b="0">
                <a:solidFill>
                  <a:srgbClr val="D4D4D4"/>
                </a:solidFill>
                <a:latin typeface="Consolas"/>
              </a:rPr>
              <a:t>  </a:t>
            </a:r>
            <a:r>
              <a:rPr sz="1800" i="0" b="0">
                <a:solidFill>
                  <a:srgbClr val="569CD6"/>
                </a:solidFill>
                <a:latin typeface="Consolas"/>
              </a:rPr>
              <a:t>JOIN</a:t>
            </a:r>
            <a:r>
              <a:rPr sz="1800" i="0" b="0">
                <a:solidFill>
                  <a:srgbClr val="D4D4D4"/>
                </a:solidFill>
                <a:latin typeface="Consolas"/>
              </a:rPr>
              <a:t> </a:t>
            </a:r>
            <a:r>
              <a:rPr sz="1800" i="0" b="0">
                <a:solidFill>
                  <a:srgbClr val="D4D4D4"/>
                </a:solidFill>
                <a:latin typeface="Consolas"/>
              </a:rPr>
              <a:t>dueno</a:t>
            </a:r>
            <a:r>
              <a:rPr sz="1800" i="0" b="0">
                <a:solidFill>
                  <a:srgbClr val="D4D4D4"/>
                </a:solidFill>
                <a:latin typeface="Consolas"/>
              </a:rPr>
              <a:t>   </a:t>
            </a:r>
            <a:r>
              <a:rPr sz="1800" i="0" b="0">
                <a:solidFill>
                  <a:srgbClr val="D4D4D4"/>
                </a:solidFill>
                <a:latin typeface="Consolas"/>
              </a:rPr>
              <a:t>d</a:t>
            </a:r>
            <a:r>
              <a:rPr sz="1800" i="0" b="0">
                <a:solidFill>
                  <a:srgbClr val="D4D4D4"/>
                </a:solidFill>
                <a:latin typeface="Consolas"/>
              </a:rPr>
              <a:t> </a:t>
            </a:r>
            <a:r>
              <a:rPr sz="1800" i="0" b="0">
                <a:solidFill>
                  <a:srgbClr val="569CD6"/>
                </a:solidFill>
                <a:latin typeface="Consolas"/>
              </a:rPr>
              <a:t>ON</a:t>
            </a:r>
            <a:r>
              <a:rPr sz="1800" i="0" b="0">
                <a:solidFill>
                  <a:srgbClr val="D4D4D4"/>
                </a:solidFill>
                <a:latin typeface="Consolas"/>
              </a:rPr>
              <a:t> </a:t>
            </a:r>
            <a:r>
              <a:rPr sz="1800" i="0" b="0">
                <a:solidFill>
                  <a:srgbClr val="D4D4D4"/>
                </a:solidFill>
                <a:latin typeface="Consolas"/>
              </a:rPr>
              <a:t>d</a:t>
            </a:r>
            <a:r>
              <a:rPr sz="1800" i="0" b="0">
                <a:solidFill>
                  <a:srgbClr val="D4D4D4"/>
                </a:solidFill>
                <a:latin typeface="Consolas"/>
              </a:rPr>
              <a:t>.</a:t>
            </a:r>
            <a:r>
              <a:rPr sz="1800" i="0" b="0">
                <a:solidFill>
                  <a:srgbClr val="D4D4D4"/>
                </a:solidFill>
                <a:latin typeface="Consolas"/>
              </a:rPr>
              <a:t>id_dueno</a:t>
            </a:r>
            <a:r>
              <a:rPr sz="1800" i="0" b="0">
                <a:solidFill>
                  <a:srgbClr val="D4D4D4"/>
                </a:solidFill>
                <a:latin typeface="Consolas"/>
              </a:rPr>
              <a:t>   = </a:t>
            </a:r>
            <a:r>
              <a:rPr sz="1800" i="0" b="0">
                <a:solidFill>
                  <a:srgbClr val="D4D4D4"/>
                </a:solidFill>
                <a:latin typeface="Consolas"/>
              </a:rPr>
              <a:t>m</a:t>
            </a:r>
            <a:r>
              <a:rPr sz="1800" i="0" b="0">
                <a:solidFill>
                  <a:srgbClr val="D4D4D4"/>
                </a:solidFill>
                <a:latin typeface="Consolas"/>
              </a:rPr>
              <a:t>.</a:t>
            </a:r>
            <a:r>
              <a:rPr sz="1800" i="0" b="0">
                <a:solidFill>
                  <a:srgbClr val="D4D4D4"/>
                </a:solidFill>
                <a:latin typeface="Consolas"/>
              </a:rPr>
              <a:t>id_dueno</a:t>
            </a:r>
          </a:p>
          <a:p>
            <a:pPr>
              <a:spcAft>
                <a:spcPts val="385"/>
              </a:spcAft>
            </a:pPr>
            <a:r>
              <a:rPr sz="1800" i="0" b="0">
                <a:solidFill>
                  <a:srgbClr val="D4D4D4"/>
                </a:solidFill>
                <a:latin typeface="Consolas"/>
              </a:rPr>
              <a:t>  </a:t>
            </a:r>
            <a:r>
              <a:rPr sz="1800" i="0" b="0">
                <a:solidFill>
                  <a:srgbClr val="569CD6"/>
                </a:solidFill>
                <a:latin typeface="Consolas"/>
              </a:rPr>
              <a:t>WHERE</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 &gt;= </a:t>
            </a:r>
            <a:r>
              <a:rPr sz="1800" i="0" b="0">
                <a:solidFill>
                  <a:srgbClr val="D4D4D4"/>
                </a:solidFill>
                <a:latin typeface="Consolas"/>
              </a:rPr>
              <a:t>p_dia</a:t>
            </a:r>
            <a:r>
              <a:rPr sz="1800" i="0" b="0">
                <a:solidFill>
                  <a:srgbClr val="D4D4D4"/>
                </a:solidFill>
                <a:latin typeface="Consolas"/>
              </a:rPr>
              <a:t> </a:t>
            </a:r>
            <a:r>
              <a:rPr sz="1800" i="0" b="0">
                <a:solidFill>
                  <a:srgbClr val="569CD6"/>
                </a:solidFill>
                <a:latin typeface="Consolas"/>
              </a:rPr>
              <a:t>AND</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 &lt; </a:t>
            </a:r>
            <a:r>
              <a:rPr sz="1800" i="0" b="0">
                <a:solidFill>
                  <a:srgbClr val="D4D4D4"/>
                </a:solidFill>
                <a:latin typeface="Consolas"/>
              </a:rPr>
              <a:t>p_dia</a:t>
            </a:r>
            <a:r>
              <a:rPr sz="1800" i="0" b="0">
                <a:solidFill>
                  <a:srgbClr val="D4D4D4"/>
                </a:solidFill>
                <a:latin typeface="Consolas"/>
              </a:rPr>
              <a:t> + </a:t>
            </a:r>
            <a:r>
              <a:rPr sz="1800" i="0" b="0">
                <a:solidFill>
                  <a:srgbClr val="B5CEA8"/>
                </a:solidFill>
                <a:latin typeface="Consolas"/>
              </a:rPr>
              <a:t>1</a:t>
            </a:r>
          </a:p>
          <a:p>
            <a:pPr>
              <a:spcAft>
                <a:spcPts val="385"/>
              </a:spcAft>
            </a:pPr>
            <a:r>
              <a:rPr sz="1800" i="0" b="0">
                <a:solidFill>
                  <a:srgbClr val="D4D4D4"/>
                </a:solidFill>
                <a:latin typeface="Consolas"/>
              </a:rPr>
              <a:t>  </a:t>
            </a:r>
            <a:r>
              <a:rPr sz="1800" i="0" b="0">
                <a:solidFill>
                  <a:srgbClr val="569CD6"/>
                </a:solidFill>
                <a:latin typeface="Consolas"/>
              </a:rPr>
              <a:t>ORDER</a:t>
            </a:r>
            <a:r>
              <a:rPr sz="1800" i="0" b="0">
                <a:solidFill>
                  <a:srgbClr val="D4D4D4"/>
                </a:solidFill>
                <a:latin typeface="Consolas"/>
              </a:rPr>
              <a:t> </a:t>
            </a:r>
            <a:r>
              <a:rPr sz="1800" i="0" b="0">
                <a:solidFill>
                  <a:srgbClr val="569CD6"/>
                </a:solidFill>
                <a:latin typeface="Consolas"/>
              </a:rPr>
              <a:t>BY</a:t>
            </a:r>
            <a:r>
              <a:rPr sz="1800" i="0" b="0">
                <a:solidFill>
                  <a:srgbClr val="D4D4D4"/>
                </a:solidFill>
                <a:latin typeface="Consolas"/>
              </a:rPr>
              <a:t> </a:t>
            </a:r>
            <a:r>
              <a:rPr sz="1800" i="0" b="0">
                <a:solidFill>
                  <a:srgbClr val="D4D4D4"/>
                </a:solidFill>
                <a:latin typeface="Consolas"/>
              </a:rPr>
              <a:t>c</a:t>
            </a:r>
            <a:r>
              <a:rPr sz="1800" i="0" b="0">
                <a:solidFill>
                  <a:srgbClr val="D4D4D4"/>
                </a:solidFill>
                <a:latin typeface="Consolas"/>
              </a:rPr>
              <a:t>.</a:t>
            </a:r>
            <a:r>
              <a:rPr sz="1800" i="0" b="0">
                <a:solidFill>
                  <a:srgbClr val="D4D4D4"/>
                </a:solidFill>
                <a:latin typeface="Consolas"/>
              </a:rPr>
              <a:t>fecha_hora</a:t>
            </a:r>
            <a:r>
              <a:rPr sz="1800" i="0" b="0">
                <a:solidFill>
                  <a:srgbClr val="D4D4D4"/>
                </a:solidFill>
                <a:latin typeface="Consolas"/>
              </a:rPr>
              <a:t>;</a:t>
            </a:r>
          </a:p>
          <a:p>
            <a:pPr>
              <a:spcAft>
                <a:spcPts val="385"/>
              </a:spcAft>
            </a:pPr>
            <a:r>
              <a:rPr sz="1800" i="0" b="0">
                <a:solidFill>
                  <a:srgbClr val="569CD6"/>
                </a:solidFill>
                <a:latin typeface="Consolas"/>
              </a:rPr>
              <a:t>$$</a:t>
            </a:r>
            <a:r>
              <a:rPr sz="18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que la app consume (no SQL suelto)</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1" b="0">
                <a:solidFill>
                  <a:srgbClr val="6A9955"/>
                </a:solidFill>
                <a:latin typeface="Consolas"/>
              </a:rPr>
              <a:t>-- Firma: lo unico que la aplicacion conoce de la base</a:t>
            </a:r>
          </a:p>
          <a:p>
            <a:pPr>
              <a:spcAft>
                <a:spcPts val="428"/>
              </a:spcAft>
            </a:pPr>
            <a:r>
              <a:rPr sz="2000" i="0" b="0">
                <a:solidFill>
                  <a:srgbClr val="569CD6"/>
                </a:solidFill>
                <a:latin typeface="Consolas"/>
              </a:rPr>
              <a:t>CALL</a:t>
            </a:r>
            <a:r>
              <a:rPr sz="2000" i="0" b="0">
                <a:solidFill>
                  <a:srgbClr val="D4D4D4"/>
                </a:solidFill>
                <a:latin typeface="Consolas"/>
              </a:rPr>
              <a:t> </a:t>
            </a:r>
            <a:r>
              <a:rPr sz="2000" i="0" b="0">
                <a:solidFill>
                  <a:srgbClr val="DCDCAA"/>
                </a:solidFill>
                <a:latin typeface="Consolas"/>
              </a:rPr>
              <a:t>sp_agendar_cita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p_id_mascota</a:t>
            </a:r>
            <a:r>
              <a:rPr sz="2000" i="0" b="0">
                <a:solidFill>
                  <a:srgbClr val="D4D4D4"/>
                </a:solidFill>
                <a:latin typeface="Consolas"/>
              </a:rPr>
              <a:t>     =&gt; </a:t>
            </a:r>
            <a:r>
              <a:rPr sz="2000" i="0" b="0">
                <a:solidFill>
                  <a:srgbClr val="B5CEA8"/>
                </a:solidFill>
                <a:latin typeface="Consolas"/>
              </a:rPr>
              <a:t>3</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p_id_veterinario</a:t>
            </a:r>
            <a:r>
              <a:rPr sz="2000" i="0" b="0">
                <a:solidFill>
                  <a:srgbClr val="D4D4D4"/>
                </a:solidFill>
                <a:latin typeface="Consolas"/>
              </a:rPr>
              <a:t> =&gt; </a:t>
            </a:r>
            <a:r>
              <a:rPr sz="2000" i="0" b="0">
                <a:solidFill>
                  <a:srgbClr val="B5CEA8"/>
                </a:solidFill>
                <a:latin typeface="Consolas"/>
              </a:rPr>
              <a:t>1</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p_fecha_hora</a:t>
            </a:r>
            <a:r>
              <a:rPr sz="2000" i="0" b="0">
                <a:solidFill>
                  <a:srgbClr val="D4D4D4"/>
                </a:solidFill>
                <a:latin typeface="Consolas"/>
              </a:rPr>
              <a:t>     =&gt;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'2026-09-01 09:00:00'</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Si una regla falla, el CALL aborta con un mensaje literal:</a:t>
            </a:r>
          </a:p>
          <a:p>
            <a:pPr>
              <a:spcAft>
                <a:spcPts val="428"/>
              </a:spcAft>
            </a:pPr>
            <a:r>
              <a:rPr sz="2000" i="1" b="0">
                <a:solidFill>
                  <a:srgbClr val="6A9955"/>
                </a:solidFill>
                <a:latin typeface="Consolas"/>
              </a:rPr>
              <a:t>-- ERROR:  ERROR: la mascota 3 esta inactiva</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aplicacion llama el procedimiento con parametros tipados, no arma SQL con texto: por eso no hay inyeccion. El contrato fija la firma, el ejemplo de llamada, los mensajes de error literales y que queda en la base si la llamada falla (nada).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rrores-cap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rrores-cap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rrores-cap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Primera: el procedimiento nunca informa un fallo devolviendo cero o menos uno en un parametro de salida</a:t>
            </a:r>
          </a:p>
          <a:p>
            <a:pPr>
              <a:spcAft>
                <a:spcPts val="800"/>
              </a:spcAft>
            </a:pPr>
            <a:r>
              <a:rPr sz="2000" b="0" i="0">
                <a:solidFill>
                  <a:srgbClr val="333333"/>
                </a:solidFill>
                <a:latin typeface="Calibri"/>
              </a:rPr>
              <a:t>–   Porque quien llama puede ignorarlo y seguir; lanza el error con RAISE EXCEPTION y le pone un codigo propio con USING ERRCODE</a:t>
            </a:r>
          </a:p>
          <a:p>
            <a:pPr>
              <a:spcAft>
                <a:spcPts val="800"/>
              </a:spcAft>
            </a:pPr>
            <a:r>
              <a:rPr sz="2000" b="0" i="0">
                <a:solidFill>
                  <a:srgbClr val="333333"/>
                </a:solidFill>
                <a:latin typeface="Calibri"/>
              </a:rPr>
              <a:t>–   Un SQLSTATE de cinco caracteres: RAISE EXCEPTION 'la mascota % esta inactiva', p_id USING ERRCODE = 'MA001'; la aplicacion recibe MA001 y el mensaje.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ol-conexion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ool-conexion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ool-conexion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pool de conexiones es un conjunto de conexiones ya abiertas y autenticadas que la aplicacion mantiene vivas.</a:t>
            </a:r>
          </a:p>
          <a:p>
            <a:pPr>
              <a:spcAft>
                <a:spcPts val="800"/>
              </a:spcAft>
            </a:pPr>
            <a:r>
              <a:rPr sz="2000" b="0" i="0">
                <a:solidFill>
                  <a:srgbClr val="333333"/>
                </a:solidFill>
                <a:latin typeface="Calibri"/>
              </a:rPr>
              <a:t>–   Abrir una conexion implica saludo TCP, autenticacion del usuario, creacion de la sesion y reserva de memoria privada</a:t>
            </a:r>
          </a:p>
          <a:p>
            <a:pPr>
              <a:spcAft>
                <a:spcPts val="800"/>
              </a:spcAft>
            </a:pPr>
            <a:r>
              <a:rPr sz="2000" b="0" i="0">
                <a:solidFill>
                  <a:srgbClr val="333333"/>
                </a:solidFill>
                <a:latin typeface="Calibri"/>
              </a:rPr>
              <a:t>–   En un motor como Oracle sobre una red de oficina eso cuesta del orden de decenas de milisegundos, digamos entre 20 y 100 segun red y configuracion.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ica-base-app-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ogica-base-app-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ogica-base-app-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 favor de la base: la regla queda escrita una sola vez y la cumplen todos los clientes.</a:t>
            </a:r>
          </a:p>
          <a:p>
            <a:pPr>
              <a:spcAft>
                <a:spcPts val="800"/>
              </a:spcAft>
            </a:pPr>
            <a:r>
              <a:rPr sz="2000" b="0" i="0">
                <a:solidFill>
                  <a:srgbClr val="333333"/>
                </a:solidFill>
                <a:latin typeface="Calibri"/>
              </a:rPr>
              <a:t>–   Queda dentro de la misma transaccion que los datos, sin ventana entre validar y escribir; y ahorra viajes de red.</a:t>
            </a:r>
          </a:p>
          <a:p>
            <a:pPr>
              <a:spcAft>
                <a:spcPts val="800"/>
              </a:spcAft>
            </a:pPr>
            <a:r>
              <a:rPr sz="2000" b="0" i="0">
                <a:solidFill>
                  <a:srgbClr val="333333"/>
                </a:solidFill>
                <a:latin typeface="Calibri"/>
              </a:rPr>
              <a:t>–   En contra: PL/SQL es mas dificil de probar de forma automatizada.</a:t>
            </a:r>
          </a:p>
          <a:p>
            <a:pPr>
              <a:spcAft>
                <a:spcPts val="800"/>
              </a:spcAft>
            </a:pPr>
            <a:r>
              <a:rPr sz="2000" b="0" i="0">
                <a:solidFill>
                  <a:srgbClr val="333333"/>
                </a:solidFill>
                <a:latin typeface="Calibri"/>
              </a:rPr>
              <a:t>–   Y la CPU de la base suele ser el recurso mas escaso y mas caro de escalar.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xpandir-contra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xpandir-contra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xpandir-contrae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Queda el problema mas subestimado: cambiar el esquema sin romper la aplicacion que ya esta corriendo.</a:t>
            </a:r>
          </a:p>
          <a:p>
            <a:pPr>
              <a:spcAft>
                <a:spcPts val="800"/>
              </a:spcAft>
            </a:pPr>
            <a:r>
              <a:rPr sz="2000" b="0" i="0">
                <a:solidFill>
                  <a:srgbClr val="333333"/>
                </a:solidFill>
                <a:latin typeface="Calibri"/>
              </a:rPr>
              <a:t>–   La regla es que nunca se cambia una cosa en su lugar, se expande, se migra y despues se contrae.</a:t>
            </a:r>
          </a:p>
          <a:p>
            <a:pPr>
              <a:spcAft>
                <a:spcPts val="800"/>
              </a:spcAft>
            </a:pPr>
            <a:r>
              <a:rPr sz="2000" b="0" i="0">
                <a:solidFill>
                  <a:srgbClr val="333333"/>
                </a:solidFill>
                <a:latin typeface="Calibri"/>
              </a:rPr>
              <a:t>–   Uno, expandir:, sin tocar ningun procedimiento; la aplicacion vieja ignora la columna y sigue igual porque admite nulos.</a:t>
            </a:r>
          </a:p>
          <a:p>
            <a:pPr>
              <a:spcAft>
                <a:spcPts val="800"/>
              </a:spcAft>
            </a:pPr>
            <a:r>
              <a:rPr sz="2000" b="0" i="0">
                <a:solidFill>
                  <a:srgbClr val="333333"/>
                </a:solidFill>
                <a:latin typeface="Calibri"/>
              </a:rPr>
              <a:t>–   Dos, escribir en ambos lados: sp_inactivar_mascota se actualiza para llenar tambien la columna nueva.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Live SQL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contrato sp_agendar_cita + storyboard 6 slides.</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el parametro viaja como dato: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es texto Mermaid: la imagen sale del codigo, no al reves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y corrige</a:t>
            </a:r>
          </a:p>
          <a:p>
            <a:pPr>
              <a:spcBef>
                <a:spcPts val="200"/>
              </a:spcBef>
            </a:pPr>
            <a:r>
              <a:rPr sz="1300" b="0" i="0">
                <a:solidFill>
                  <a:srgbClr val="333333"/>
                </a:solidFill>
                <a:latin typeface="Calibri"/>
              </a:rPr>
              <a:t>Pega el codigo en un visor Mermaid (por ejemplo mermaid.live) y mira como lo dibuja. Si no renderiza, corrige ahi mismo: un diagrama que no renderiza no comunica nada.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codigo e imagen</a:t>
            </a:r>
          </a:p>
          <a:p>
            <a:pPr>
              <a:spcBef>
                <a:spcPts val="200"/>
              </a:spcBef>
            </a:pPr>
            <a:r>
              <a:rPr sz="1300" b="0" i="0">
                <a:solidFill>
                  <a:srgbClr val="333333"/>
                </a:solidFill>
                <a:latin typeface="Calibri"/>
              </a:rPr>
              <a:t>Conserva el texto Mermaid, que es la fuente, y exporta el PNG para tu informe.</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Integracion app &lt;-&gt; BD · Prep. presentacion</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Integrar no es conectarse</a:t>
            </a:r>
          </a:p>
          <a:p>
            <a:pPr algn="ctr">
              <a:spcAft>
                <a:spcPts val="600"/>
              </a:spcAft>
            </a:pPr>
            <a:r>
              <a:rPr sz="1600" b="0" i="0">
                <a:solidFill>
                  <a:srgbClr val="333333"/>
                </a:solidFill>
                <a:latin typeface="Calibri"/>
              </a:rPr>
              <a:t>Inyeccion SQL</a:t>
            </a:r>
          </a:p>
          <a:p>
            <a:pPr algn="ctr">
              <a:spcAft>
                <a:spcPts val="600"/>
              </a:spcAft>
            </a:pPr>
            <a:r>
              <a:rPr sz="1600" b="0" i="0">
                <a:solidFill>
                  <a:srgbClr val="333333"/>
                </a:solidFill>
                <a:latin typeface="Calibri"/>
              </a:rPr>
              <a:t>Por que el parametro lo evita por construccion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