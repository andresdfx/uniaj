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Esa puerta es la interfaz app-BD y el documento que la describe es el contrato.</a:t>
            </a:r>
          </a:p>
          <a:p>
            <a:r>
              <a:t>Hay exactamente dos formas de construirla.</a:t>
            </a:r>
          </a:p>
          <a:p>
            <a:r>
              <a:t>Todo lo demas de esta clase se deriva de esa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Concretemoslo en VetCare.</a:t>
            </a:r>
          </a:p>
          <a:p>
            <a:r>
              <a:t>El buscador de mascotas de la recepcion arma la consulta pegando la entrada del usuario, de modo que el motor recibe</a:t>
            </a:r>
          </a:p>
          <a:p>
            <a:r>
              <a:t>Si la recepcionista escribe Luna, el motor recibe WHERE nombre = 'Luna', devuelve una fila, todo parece correcto y la aplicacion pasa a produccion.</a:t>
            </a:r>
          </a:p>
          <a:p>
            <a:r>
              <a:t>Conviene una precision honesta, porque la hara un estudiante: en Oracle no se apilan dos sentencias en una misma llamada, asi que el clasico punto y coma seguido de DROP TABLE Cita no se comporta como en otros motores; lo que si funciona, y basta para un incidente reportable, es leer datos ajenos, saltarse un acceso o modificar informacion cuando la aplicacion ejecuta PL/SQL dinamico.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inyeccion queda imposible, no improbable, y esa diferencia entre imposible e improbable es la que hay que instalar.</a:t>
            </a:r>
          </a:p>
          <a:p>
            <a:r>
              <a:t>La respuesta honesta es que si mientras use los metodos del ORM o consultas con parametros nombrados, y que no en el momento en que arme una consulta nativa concatenando texto, porque el ORM no revisa lo que usted le entrega.</a:t>
            </a:r>
          </a:p>
          <a:p>
            <a:r>
              <a:t>La vulnerabilidad no la produce la tecnologia sino la concatenacion.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lista de errores posibles con codigo y significado.</a:t>
            </a:r>
          </a:p>
          <a:p>
            <a:r>
              <a:t>Y la version.</a:t>
            </a:r>
          </a:p>
          <a:p>
            <a:r>
              <a:t>Idempotente significa que ejecutar la operacion dos veces con los mismos datos deja el sistema igual que ejecutarla una sola vez.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manejo de errores entre capas se resuelve con tres reglas.</a:t>
            </a:r>
          </a:p>
          <a:p>
            <a:r>
              <a:t>La operacion de negocio completa, con todas sus validaciones y sus insercciones, vive dentro de un solo procedimiento, y ese procedimiento hace COMMIT si todo salio bien o ROLLBACK si algo fallo; la aplicacion no confirma a la mitad.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Tomar una conexion prestada del pool cuesta una fraccion de milisegundo.</a:t>
            </a:r>
          </a:p>
          <a:p>
            <a:r>
              <a:t>De ahi salen dos consecuencias.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trade-off de poner logica en la base o en la aplicacion merece honestidad y no propaganda, porque el estudiante encontrara equipos reales que defienden lo contrario de lo que oye hoy.</a:t>
            </a:r>
          </a:p>
          <a:p>
            <a:r>
              <a:t>La orquestacion, la presentacion, los formatos de fecha y el envio de correos van en la aplicacion.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Suponga que VetCare necesita registrar la fecha en que una mascota fue inactivada, dato que hoy no existe.</a:t>
            </a:r>
          </a:p>
          <a:p>
            <a:r>
              <a:t>Cuatro, mover lecturas y reportes a la columna nueva.</a:t>
            </a:r>
          </a:p>
          <a:p>
            <a:r>
              <a:t>Cada paso deja funcionando al mismo tiempo la version vieja y la nueva.</a:t>
            </a:r>
          </a:p>
          <a:p>
            <a:r>
              <a:t>Eso mismo entra en el informe y en el pitch de hoy, porque el estudiante no muestra pantallas: muestra su contrato, un caso de exito, un caso de error visto por el usuario y su plan de cambio de esquema, que es lo que la Clase 13 mirara desde el lado de los fallos reales y lo que la Clase 15 va a evaluar.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12</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Integracion app &lt;-&gt; BD · Prep. presentacion</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Contrato de operaciones + ensayo PI</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 · Tema y objetivo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Integracion app &lt;-&gt; BD · Prep. presentacion</a:t>
            </a:r>
          </a:p>
          <a:p>
            <a:pPr>
              <a:spcAft>
                <a:spcPts val="800"/>
              </a:spcAft>
            </a:pPr>
            <a:r>
              <a:rPr sz="2000" b="0" i="0">
                <a:solidFill>
                  <a:srgbClr val="333333"/>
                </a:solidFill>
                <a:latin typeface="Calibri"/>
              </a:rPr>
              <a:t>–   Herramienta: </a:t>
            </a:r>
            <a:r>
              <a:rPr sz="2000" b="1" i="0">
                <a:solidFill>
                  <a:srgbClr val="333333"/>
                </a:solidFill>
                <a:latin typeface="Calibri"/>
              </a:rPr>
              <a:t>Google Docs + Live SQL + Excalidraw</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Gratis + navegador · free tier · sin software de pago obligatorio.</a:t>
            </a:r>
          </a:p>
          <a:p>
            <a:pPr>
              <a:spcAft>
                <a:spcPts val="800"/>
              </a:spcAft>
            </a:pPr>
            <a:r>
              <a:rPr sz="2000" b="0" i="0">
                <a:solidFill>
                  <a:srgbClr val="333333"/>
                </a:solidFill>
                <a:latin typeface="Calibri"/>
              </a:rPr>
              <a:t>–   Recorrido: teoría del tema, una lámina por concepto, y demo del docente sobre VetCare DB.</a:t>
            </a:r>
          </a:p>
          <a:p>
            <a:pPr>
              <a:spcAft>
                <a:spcPts val="800"/>
              </a:spcAft>
            </a:pPr>
            <a:r>
              <a:rPr sz="2000" b="0" i="0">
                <a:solidFill>
                  <a:srgbClr val="333333"/>
                </a:solidFill>
                <a:latin typeface="Calibri"/>
              </a:rPr>
              <a:t>–   Cada lámina se sostiene sola: sirve para repasar aunque hayas faltado.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 clase regular · VetCare</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10-35</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Teoría Core breve (al servicio del PI)</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35-55</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con la herramienta del día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55-105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Práctica (opcional, guía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Cierre conceptual · dudas</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Integrar no es conectarse: cual es la unica puerta de entrada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Integrar la aplicacion con la base de datos no es conectarse: conectarse son dos lineas de configuracion.</a:t>
            </a:r>
          </a:p>
          <a:p>
            <a:pPr>
              <a:spcAft>
                <a:spcPts val="800"/>
              </a:spcAft>
            </a:pPr>
            <a:r>
              <a:rPr sz="2000" b="0" i="0">
                <a:solidFill>
                  <a:srgbClr val="333333"/>
                </a:solidFill>
                <a:latin typeface="Calibri"/>
              </a:rPr>
              <a:t>–   Integrar es decidir cual es la unica puerta por la que la aplicacion puede tocar los datos, y dejar esa puerta escrita en un documento que las dos partes respetan.</a:t>
            </a:r>
          </a:p>
          <a:p>
            <a:pPr>
              <a:spcAft>
                <a:spcPts val="800"/>
              </a:spcAft>
            </a:pPr>
            <a:r>
              <a:rPr sz="2000" b="0" i="0">
                <a:solidFill>
                  <a:srgbClr val="333333"/>
                </a:solidFill>
                <a:latin typeface="Calibri"/>
              </a:rPr>
              <a:t>–   En la primera, la aplicacion arma texto SQL contra las tablas: SELECT, INSERT y UPDATE escritos dentro del codigo Java o Python, apuntando directo a Mascota, Cita o Insumo.</a:t>
            </a:r>
          </a:p>
          <a:p>
            <a:pPr>
              <a:spcAft>
                <a:spcPts val="800"/>
              </a:spcAft>
            </a:pPr>
            <a:r>
              <a:rPr sz="2000" b="0" i="0">
                <a:solidFill>
                  <a:srgbClr val="333333"/>
                </a:solidFill>
                <a:latin typeface="Calibri"/>
              </a:rPr>
              <a:t>–   En la segunda, la aplicacion no conoce las tablas y solo puede invocar procedimientos y funciones ya construidos dentro de la base, los mismos que este curso escribio en las Clases 3 y 4.</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Integrar no es conectarse: cual es la unica puerta de entrada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La eleccion no es de gusto.</a:t>
            </a:r>
          </a:p>
          <a:p>
            <a:pPr>
              <a:spcAft>
                <a:spcPts val="800"/>
              </a:spcAft>
            </a:pPr>
            <a:r>
              <a:rPr sz="2000" b="0" i="0">
                <a:solidFill>
                  <a:srgbClr val="333333"/>
                </a:solidFill>
                <a:latin typeface="Calibri"/>
              </a:rPr>
              <a:t>–   La primera abre la puerta a la inyeccion SQL, reparte la regla de negocio en tantos lugares como pantallas tenga el sistema y amarra el esquema fisico al codigo.</a:t>
            </a:r>
          </a:p>
          <a:p>
            <a:pPr>
              <a:spcAft>
                <a:spcPts val="800"/>
              </a:spcAft>
            </a:pPr>
            <a:r>
              <a:rPr sz="2000" b="0" i="0">
                <a:solidFill>
                  <a:srgbClr val="333333"/>
                </a:solidFill>
                <a:latin typeface="Calibri"/>
              </a:rPr>
              <a:t>–   La segunda concentra cada regla en un unico punto, permite reorganizar las tablas por dentro sin tocar la aplicacion mientras el contrato se mantenga igual</a:t>
            </a:r>
          </a:p>
          <a:p>
            <a:pPr>
              <a:spcAft>
                <a:spcPts val="800"/>
              </a:spcAft>
            </a:pPr>
            <a:r>
              <a:rPr sz="2000" b="0" i="0">
                <a:solidFill>
                  <a:srgbClr val="333333"/>
                </a:solidFill>
                <a:latin typeface="Calibri"/>
              </a:rPr>
              <a:t>–   Y habilita algo que la primera hace imposible: quitarle al usuario de la aplicacion todo permiso de leer o escribir tablas y dejarle solo EXECUTE sobre los procedimientos, que es el privilegio minimo trabajado en la Clase 2.</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Inyeccion SQL: cuando el dato se interpreta como codigo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La inyeccion SQL es lo que ocurre cuando un dato que escribio un usuario termina siendo interpretado como codigo por el motor.</a:t>
            </a:r>
          </a:p>
          <a:p>
            <a:pPr>
              <a:spcAft>
                <a:spcPts val="800"/>
              </a:spcAft>
            </a:pPr>
            <a:r>
              <a:rPr sz="2000" b="0" i="0">
                <a:solidFill>
                  <a:srgbClr val="333333"/>
                </a:solidFill>
                <a:latin typeface="Calibri"/>
              </a:rPr>
              <a:t>–   El motor no puede distinguir que parte del texto la escribio el programador y que parte el usuario: recibe una cadena, la analiza completa y ejecuta lo que esa cadena diga.</a:t>
            </a:r>
          </a:p>
          <a:p>
            <a:pPr>
              <a:spcAft>
                <a:spcPts val="800"/>
              </a:spcAft>
            </a:pPr>
            <a:r>
              <a:rPr sz="2000" b="0" i="0">
                <a:solidFill>
                  <a:srgbClr val="333333"/>
                </a:solidFill>
                <a:latin typeface="Calibri"/>
              </a:rPr>
              <a:t>–   Si alguien escribe la secuencia comilla, espacio, OR 1=1, espacio, doble guion, el motor recibe WHERE nombre = '' OR 1=1 -- ' y devuelve la tabla Mascota completa</a:t>
            </a:r>
          </a:p>
          <a:p>
            <a:pPr>
              <a:spcAft>
                <a:spcPts val="800"/>
              </a:spcAft>
            </a:pPr>
            <a:r>
              <a:rPr sz="2000" b="0" i="0">
                <a:solidFill>
                  <a:srgbClr val="333333"/>
                </a:solidFill>
                <a:latin typeface="Calibri"/>
              </a:rPr>
              <a:t>–   Porque 1=1 es verdadero para toda fila y el doble guion comenta el resto de la linea, incluida la comilla que quedo sobrando.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Inyeccion SQL: cuando el dato se interpreta como codigo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mismo truco en el formulario de acceso permite entrar sin conocer ninguna clave: si la validacion es SELECT COUNT(*) FROM Usuario WHERE usuario = 'U' AND clave = 'C'</a:t>
            </a:r>
          </a:p>
          <a:p>
            <a:pPr>
              <a:spcAft>
                <a:spcPts val="800"/>
              </a:spcAft>
            </a:pPr>
            <a:r>
              <a:rPr sz="2000" b="0" i="0">
                <a:solidFill>
                  <a:srgbClr val="333333"/>
                </a:solidFill>
                <a:latin typeface="Calibri"/>
              </a:rPr>
              <a:t>–   Una clave que cierre la comilla y agregue OR 1=1 hace verdadera la condicion para todas las filas.</a:t>
            </a:r>
          </a:p>
          <a:p>
            <a:pPr>
              <a:spcAft>
                <a:spcPts val="800"/>
              </a:spcAft>
            </a:pPr>
            <a:r>
              <a:rPr sz="2000" b="0" i="0">
                <a:solidFill>
                  <a:srgbClr val="333333"/>
                </a:solidFill>
                <a:latin typeface="Calibri"/>
              </a:rPr>
              <a:t>–   La inyeccion aparece en todas las ediciones del OWASP Top Ten: fue la categoria numero uno en 2010, 2013 y 2017, y en 2021 quedo tercera ya fusionada con otras inyecciones.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Inyeccion SQL: cuando el dato se interpreta... — sintaxis</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SELECT id_mascota, nombre</a:t>
            </a:r>
          </a:p>
          <a:p>
            <a:pPr>
              <a:spcAft>
                <a:spcPts val="400"/>
              </a:spcAft>
            </a:pPr>
            <a:r>
              <a:rPr sz="1400" b="0" i="0">
                <a:solidFill>
                  <a:srgbClr val="FFFFFF"/>
                </a:solidFill>
                <a:latin typeface="Calibri"/>
              </a:rPr>
              <a:t>FROM Mascota</a:t>
            </a:r>
          </a:p>
          <a:p>
            <a:pPr>
              <a:spcAft>
                <a:spcPts val="400"/>
              </a:spcAft>
            </a:pPr>
            <a:r>
              <a:rPr sz="1400" b="0" i="0">
                <a:solidFill>
                  <a:srgbClr val="FFFFFF"/>
                </a:solidFill>
                <a:latin typeface="Calibri"/>
              </a:rPr>
              <a:t>WHERE nombre = 'ENTRADA'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Por que el parametro lo evita por construccion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parametro evita esto por construccion, y hay que explicar el mecanismo y no solo la receta.</a:t>
            </a:r>
          </a:p>
          <a:p>
            <a:pPr>
              <a:spcAft>
                <a:spcPts val="800"/>
              </a:spcAft>
            </a:pPr>
            <a:r>
              <a:rPr sz="2000" b="0" i="0">
                <a:solidFill>
                  <a:srgbClr val="333333"/>
                </a:solidFill>
                <a:latin typeface="Calibri"/>
              </a:rPr>
              <a:t>–   Cuando la aplicacion envia la sentencia con marcadores de posicion (en Oracle:1 o:p_nombre, en JDBC el signo de interrogacion) el motor analiza primero la sentencia sin los valores, construye el plan de ejecucion</a:t>
            </a:r>
          </a:p>
          <a:p>
            <a:pPr>
              <a:spcAft>
                <a:spcPts val="800"/>
              </a:spcAft>
            </a:pPr>
            <a:r>
              <a:rPr sz="2000" b="0" i="0">
                <a:solidFill>
                  <a:srgbClr val="333333"/>
                </a:solidFill>
                <a:latin typeface="Calibri"/>
              </a:rPr>
              <a:t>–   Y solo despues recibe cada valor como un dato tipado que se acomoda en una casilla ya reservada.</a:t>
            </a:r>
          </a:p>
          <a:p>
            <a:pPr>
              <a:spcAft>
                <a:spcPts val="800"/>
              </a:spcAft>
            </a:pPr>
            <a:r>
              <a:rPr sz="2000" b="0" i="0">
                <a:solidFill>
                  <a:srgbClr val="333333"/>
                </a:solidFill>
                <a:latin typeface="Calibri"/>
              </a:rPr>
              <a:t>–   Ese valor nunca vuelve al analizador sintactico: si el usuario escribio comilla OR 1=1 doble guion, el motor busca literalmente una mascota cuyo nombre sea esa cadena, no la encuentra y devuelve cero filas.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Por que el parametro lo evita por construccion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Llamar un procedimiento con parametros hereda esa proteccion y agrega dos cosas: el usuario de la aplicacion puede tener EXECUTE sobre sp_agendar_cita y ninguna posibilidad de SELECT ni UPDATE sobre las tablas</a:t>
            </a:r>
          </a:p>
          <a:p>
            <a:pPr>
              <a:spcAft>
                <a:spcPts val="800"/>
              </a:spcAft>
            </a:pPr>
            <a:r>
              <a:rPr sz="2000" b="0" i="0">
                <a:solidFill>
                  <a:srgbClr val="333333"/>
                </a:solidFill>
                <a:latin typeface="Calibri"/>
              </a:rPr>
              <a:t>–   De modo que aunque alguien controle la entrada no tiene sobre que ejercerla</a:t>
            </a:r>
          </a:p>
          <a:p>
            <a:pPr>
              <a:spcAft>
                <a:spcPts val="800"/>
              </a:spcAft>
            </a:pPr>
            <a:r>
              <a:rPr sz="2000" b="0" i="0">
                <a:solidFill>
                  <a:srgbClr val="333333"/>
                </a:solidFill>
                <a:latin typeface="Calibri"/>
              </a:rPr>
              <a:t>–   Y el motor reutiliza el plan porque la sentencia es siempre la misma cadena, lo que enlaza con el analisis de planes de las Clases 6 y 8.</a:t>
            </a:r>
          </a:p>
          <a:p>
            <a:pPr>
              <a:spcAft>
                <a:spcPts val="800"/>
              </a:spcAft>
            </a:pPr>
            <a:r>
              <a:rPr sz="2000" b="0" i="0">
                <a:solidFill>
                  <a:srgbClr val="333333"/>
                </a:solidFill>
                <a:latin typeface="Calibri"/>
              </a:rPr>
              <a:t>–   Aqui llega la primera pregunta previsible: si uso un ORM como JPA, ya estoy protegido.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contrato y sus seis partes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Contrato, dicho en serio, es mucho mas que el nombre del procedimiento, y tiene seis partes que hay que exigir en el entregable de hoy.</a:t>
            </a:r>
          </a:p>
          <a:p>
            <a:pPr>
              <a:spcAft>
                <a:spcPts val="800"/>
              </a:spcAft>
            </a:pPr>
            <a:r>
              <a:rPr sz="2000" b="0" i="0">
                <a:solidFill>
                  <a:srgbClr val="333333"/>
                </a:solidFill>
                <a:latin typeface="Calibri"/>
              </a:rPr>
              <a:t>–   La firma: nombre y lista ordenada de parametros con su tipo y su direccion, donde IN significa que el dato entra, OUT que el procedimiento lo devuelve e IN OUT que entra y sale modificado.</a:t>
            </a:r>
          </a:p>
          <a:p>
            <a:pPr>
              <a:spcAft>
                <a:spcPts val="800"/>
              </a:spcAft>
            </a:pPr>
            <a:r>
              <a:rPr sz="2000" b="0" i="0">
                <a:solidFill>
                  <a:srgbClr val="333333"/>
                </a:solidFill>
                <a:latin typeface="Calibri"/>
              </a:rPr>
              <a:t>–   Las precondiciones: lo que debe ser verdadero antes de llamar.</a:t>
            </a:r>
          </a:p>
          <a:p>
            <a:pPr>
              <a:spcAft>
                <a:spcPts val="800"/>
              </a:spcAft>
            </a:pPr>
            <a:r>
              <a:rPr sz="2000" b="0" i="0">
                <a:solidFill>
                  <a:srgbClr val="333333"/>
                </a:solidFill>
                <a:latin typeface="Calibri"/>
              </a:rPr>
              <a:t>–   El efecto o postcondicion: que quedo distinto en la base despues de la llamada.</a:t>
            </a:r>
          </a:p>
          <a:p>
            <a:pPr>
              <a:spcAft>
                <a:spcPts val="800"/>
              </a:spcAft>
            </a:pPr>
            <a:r>
              <a:rPr sz="2000" b="0" i="0">
                <a:solidFill>
                  <a:srgbClr val="333333"/>
                </a:solidFill>
                <a:latin typeface="Calibri"/>
              </a:rPr>
              <a:t>–   Si la operacion es idempotente.</a:t>
            </a:r>
          </a:p>
          <a:p>
            <a:pPr>
              <a:spcAft>
                <a:spcPts val="800"/>
              </a:spcAft>
            </a:pPr>
            <a:r>
              <a:rPr sz="2000" b="0" i="0">
                <a:solidFill>
                  <a:srgbClr val="333333"/>
                </a:solidFill>
                <a:latin typeface="Calibri"/>
              </a:rPr>
              <a:t>–   En VetCare el contrato de agendamiento se escribe asi: sp_agendar_cita(p_id_mascota IN NUMBER, p_id_veterinario IN NUMBER, p_fecha_hora IN TIMESTAMP, p_motivo IN VARCHAR2, p_id_cita OUT NUMBER)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contrato y sus seis partes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Precondicion, la mascota existe y esta activa; efecto, inserta una fila en Cita en estado PROGRAMADA y devuelve su identificador; errores, -20010 mascota inexistente, -20011 mascota inactiva, -20012 franja ocupada; idempotente, no.</a:t>
            </a:r>
          </a:p>
          <a:p>
            <a:pPr>
              <a:spcAft>
                <a:spcPts val="800"/>
              </a:spcAft>
            </a:pPr>
            <a:r>
              <a:rPr sz="2000" b="0" i="0">
                <a:solidFill>
                  <a:srgbClr val="333333"/>
                </a:solidFill>
                <a:latin typeface="Calibri"/>
              </a:rPr>
              <a:t>–   Agendar no lo es, y eso tiene consecuencia inmediata: si la recepcionista da doble clic, o si la red corta la respuesta y la aplicacion reintenta, quedan dos citas identicas.</a:t>
            </a:r>
          </a:p>
          <a:p>
            <a:pPr>
              <a:spcAft>
                <a:spcPts val="800"/>
              </a:spcAft>
            </a:pPr>
            <a:r>
              <a:rPr sz="2000" b="0" i="0">
                <a:solidFill>
                  <a:srgbClr val="333333"/>
                </a:solidFill>
                <a:latin typeface="Calibri"/>
              </a:rPr>
              <a:t>–   La solucion no es pedirle al usuario que no haga doble clic: es una restriccion UNIQUE sobre (id_veterinario</a:t>
            </a:r>
          </a:p>
          <a:p>
            <a:pPr>
              <a:spcAft>
                <a:spcPts val="800"/>
              </a:spcAft>
            </a:pPr>
            <a:r>
              <a:rPr sz="2000" b="0" i="0">
                <a:solidFill>
                  <a:srgbClr val="333333"/>
                </a:solidFill>
                <a:latin typeface="Calibri"/>
              </a:rPr>
              <a:t>–   Fecha_hora) que hace fallar el segundo intento en la base y no en la interfaz, o una clave de idempotencia que la aplicacion genera y la base guarda como unica.</a:t>
            </a:r>
          </a:p>
          <a:p>
            <a:pPr>
              <a:spcAft>
                <a:spcPts val="800"/>
              </a:spcAft>
            </a:pPr>
            <a:r>
              <a:rPr sz="2000" b="0" i="0">
                <a:solidFill>
                  <a:srgbClr val="333333"/>
                </a:solidFill>
                <a:latin typeface="Calibri"/>
              </a:rPr>
              <a:t>–   Esto conecta con la Clase 10, donde dos recepcionistas simultaneas producian el mismo dano sin que ninguna sentencia fallara.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manejo de errores entre capas: las tres reglas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Primera: el procedimiento nunca informa un fallo devolviendo cero o menos uno en un parametro de salida, porque quien llama puede ignorarlo y seguir; lanza el error con RAISE_APPLICATION_ERROR</a:t>
            </a:r>
          </a:p>
          <a:p>
            <a:pPr>
              <a:spcAft>
                <a:spcPts val="800"/>
              </a:spcAft>
            </a:pPr>
            <a:r>
              <a:rPr sz="2000" b="0" i="0">
                <a:solidFill>
                  <a:srgbClr val="333333"/>
                </a:solidFill>
                <a:latin typeface="Calibri"/>
              </a:rPr>
              <a:t>–   Y el rango disponible en Oracle para errores propios va de -20000 a -20999, es decir mil codigos.</a:t>
            </a:r>
          </a:p>
          <a:p>
            <a:pPr>
              <a:spcAft>
                <a:spcPts val="800"/>
              </a:spcAft>
            </a:pPr>
            <a:r>
              <a:rPr sz="2000" b="0" i="0">
                <a:solidFill>
                  <a:srgbClr val="333333"/>
                </a:solidFill>
                <a:latin typeface="Calibri"/>
              </a:rPr>
              <a:t>–   Ese rango es regla dura del motor; repartirlo por modulo, por ejemplo -20010 a -20019 para mascotas y -20020 a -20029 para inventario, es convencion propia del proyecto.</a:t>
            </a:r>
          </a:p>
          <a:p>
            <a:pPr>
              <a:spcAft>
                <a:spcPts val="800"/>
              </a:spcAft>
            </a:pPr>
            <a:r>
              <a:rPr sz="2000" b="0" i="0">
                <a:solidFill>
                  <a:srgbClr val="333333"/>
                </a:solidFill>
                <a:latin typeface="Calibri"/>
              </a:rPr>
              <a:t>–   Segunda: la aplicacion captura el codigo, lo traduce a un mensaje en lenguaje de recepcion y jamas muestra el texto crudo del motor</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manejo de errores entre capas: las tres reglas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Porque un ORA-00942 tabla o vista no existe le regala al atacante el nombre de los objetos y al recepcionista no le dice nada</a:t>
            </a:r>
          </a:p>
          <a:p>
            <a:pPr>
              <a:spcAft>
                <a:spcPts val="800"/>
              </a:spcAft>
            </a:pPr>
            <a:r>
              <a:rPr sz="2000" b="0" i="0">
                <a:solidFill>
                  <a:srgbClr val="333333"/>
                </a:solidFill>
                <a:latin typeface="Calibri"/>
              </a:rPr>
              <a:t>–   El error tecnico completo se registra en el log del servidor con un identificador de correlacion que permita encontrar despues ese evento exacto.</a:t>
            </a:r>
          </a:p>
          <a:p>
            <a:pPr>
              <a:spcAft>
                <a:spcPts val="800"/>
              </a:spcAft>
            </a:pPr>
            <a:r>
              <a:rPr sz="2000" b="0" i="0">
                <a:solidFill>
                  <a:srgbClr val="333333"/>
                </a:solidFill>
                <a:latin typeface="Calibri"/>
              </a:rPr>
              <a:t>–   Tercera, la mas discutida: quien decide COMMIT.</a:t>
            </a:r>
          </a:p>
          <a:p>
            <a:pPr>
              <a:spcAft>
                <a:spcPts val="800"/>
              </a:spcAft>
            </a:pPr>
            <a:r>
              <a:rPr sz="2000" b="0" i="0">
                <a:solidFill>
                  <a:srgbClr val="333333"/>
                </a:solidFill>
                <a:latin typeface="Calibri"/>
              </a:rPr>
              <a:t>–   En el bloque de excepciones se escribe ROLLBACK y luego RAISE para que el error suba, y nunca WHEN OTHERS THEN NULL, que es la forma mas eficaz que existe de perder datos sin enterarse.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pool de conexiones: que es y por que se agota (1/3)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Un pool de conexiones es un conjunto de conexiones ya abiertas y autenticadas que la aplicacion mantiene vivas, presta a cada peticion mientras dura y recupera al terminar.</a:t>
            </a:r>
          </a:p>
          <a:p>
            <a:pPr>
              <a:spcAft>
                <a:spcPts val="800"/>
              </a:spcAft>
            </a:pPr>
            <a:r>
              <a:rPr sz="2000" b="0" i="0">
                <a:solidFill>
                  <a:srgbClr val="333333"/>
                </a:solidFill>
                <a:latin typeface="Calibri"/>
              </a:rPr>
              <a:t>–   Existe por una asimetria que conviene dar con numeros: abrir una conexion es caro y ejecutar una consulta es barato.</a:t>
            </a:r>
          </a:p>
          <a:p>
            <a:pPr>
              <a:spcAft>
                <a:spcPts val="800"/>
              </a:spcAft>
            </a:pPr>
            <a:r>
              <a:rPr sz="2000" b="0" i="0">
                <a:solidFill>
                  <a:srgbClr val="333333"/>
                </a:solidFill>
                <a:latin typeface="Calibri"/>
              </a:rPr>
              <a:t>–   Abrir una conexion implica saludo TCP, autenticacion del usuario, creacion de la sesion y reserva de memoria privada</a:t>
            </a:r>
          </a:p>
          <a:p>
            <a:pPr>
              <a:spcAft>
                <a:spcPts val="800"/>
              </a:spcAft>
            </a:pPr>
            <a:r>
              <a:rPr sz="2000" b="0" i="0">
                <a:solidFill>
                  <a:srgbClr val="333333"/>
                </a:solidFill>
                <a:latin typeface="Calibri"/>
              </a:rPr>
              <a:t>–   En un motor como Oracle sobre una red de oficina eso cuesta del orden de decenas de milisegundos, digamos entre 20 y 100 segun red y configuracion.</a:t>
            </a:r>
          </a:p>
          <a:p>
            <a:pPr>
              <a:spcAft>
                <a:spcPts val="800"/>
              </a:spcAft>
            </a:pPr>
            <a:r>
              <a:rPr sz="2000" b="0" i="0">
                <a:solidFill>
                  <a:srgbClr val="333333"/>
                </a:solidFill>
                <a:latin typeface="Calibri"/>
              </a:rPr>
              <a:t>–   Un SELECT bien indexado sobre Cita se resuelve en 2 o 3 milisegundos.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pool de conexiones: que es y por que se agota (2/3)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Si por cada consulta se abre y se cierra la conexion, la aplicacion gasta cincuenta milisegundos en el tramite y tres en el trabajo: mas del noventa por ciento del tiempo de respuesta es protocolo.</a:t>
            </a:r>
          </a:p>
          <a:p>
            <a:pPr>
              <a:spcAft>
                <a:spcPts val="800"/>
              </a:spcAft>
            </a:pPr>
            <a:r>
              <a:rPr sz="2000" b="0" i="0">
                <a:solidFill>
                  <a:srgbClr val="333333"/>
                </a:solidFill>
                <a:latin typeface="Calibri"/>
              </a:rPr>
              <a:t>–   Los valores exactos dependen del entorno y hay que medirlos; lo que si es regla dura es la direccion de la desigualdad.</a:t>
            </a:r>
          </a:p>
          <a:p>
            <a:pPr>
              <a:spcAft>
                <a:spcPts val="800"/>
              </a:spcAft>
            </a:pPr>
            <a:r>
              <a:rPr sz="2000" b="0" i="0">
                <a:solidFill>
                  <a:srgbClr val="333333"/>
                </a:solidFill>
                <a:latin typeface="Calibri"/>
              </a:rPr>
              <a:t>–   El tamano del pool no se maximiza, porque cada sesion consume memoria del servidor y mas conexiones simultaneas que nucleos de CPU no aumentan el trabajo hecho</a:t>
            </a:r>
          </a:p>
          <a:p>
            <a:pPr>
              <a:spcAft>
                <a:spcPts val="800"/>
              </a:spcAft>
            </a:pPr>
            <a:r>
              <a:rPr sz="2000" b="0" i="0">
                <a:solidFill>
                  <a:srgbClr val="333333"/>
                </a:solidFill>
                <a:latin typeface="Calibri"/>
              </a:rPr>
              <a:t>–   Solo la cola: la convencion difundida, no ley, es partir de unas diez conexiones para una aplicacion de este tamano y subir solo con mediciones.</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pool de conexiones: que es y por que se agota (3/3)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Y la fuga de conexiones es el fallo tipico: si una ruta del codigo no devuelve la conexion porque falto el finally o el try con recursos, el pool se agota y la aplicacion se congela esperando</a:t>
            </a:r>
          </a:p>
          <a:p>
            <a:pPr>
              <a:spcAft>
                <a:spcPts val="800"/>
              </a:spcAft>
            </a:pPr>
            <a:r>
              <a:rPr sz="2000" b="0" i="0">
                <a:solidFill>
                  <a:srgbClr val="333333"/>
                </a:solidFill>
                <a:latin typeface="Calibri"/>
              </a:rPr>
              <a:t>–   El sintoma es un sistema que funciona media hora y despues no responde.</a:t>
            </a:r>
          </a:p>
          <a:p>
            <a:pPr>
              <a:spcAft>
                <a:spcPts val="800"/>
              </a:spcAft>
            </a:pPr>
            <a:r>
              <a:rPr sz="2000" b="0" i="0">
                <a:solidFill>
                  <a:srgbClr val="333333"/>
                </a:solidFill>
                <a:latin typeface="Calibri"/>
              </a:rPr>
              <a:t>–   Segunda pregunta previsible: no es mas lento llamar un procedimiento que consultar directo.</a:t>
            </a:r>
          </a:p>
          <a:p>
            <a:pPr>
              <a:spcAft>
                <a:spcPts val="800"/>
              </a:spcAft>
            </a:pPr>
            <a:r>
              <a:rPr sz="2000" b="0" i="0">
                <a:solidFill>
                  <a:srgbClr val="333333"/>
                </a:solidFill>
                <a:latin typeface="Calibri"/>
              </a:rPr>
              <a:t>–   Normalmente es mas rapido, porque una llamada resuelve en el servidor lo que la aplicacion haria en tres o cuatro viajes de red; en todo caso la respuesta profesional es medir, con las herramientas de la Clase 8.</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Logica en la base o en la aplicacion: honestidad y no propaganda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 favor de la base: la regla queda escrita una sola vez y la cumplen todos los clientes, incluida la consola del administrador, el reporte de Excel y el script que alguien correra a las once de la noche</a:t>
            </a:r>
          </a:p>
          <a:p>
            <a:pPr>
              <a:spcAft>
                <a:spcPts val="800"/>
              </a:spcAft>
            </a:pPr>
            <a:r>
              <a:rPr sz="2000" b="0" i="0">
                <a:solidFill>
                  <a:srgbClr val="333333"/>
                </a:solidFill>
                <a:latin typeface="Calibri"/>
              </a:rPr>
              <a:t>–   Queda dentro de la misma transaccion que los datos, sin ventana entre validar y escribir; y ahorra viajes de red.</a:t>
            </a:r>
          </a:p>
          <a:p>
            <a:pPr>
              <a:spcAft>
                <a:spcPts val="800"/>
              </a:spcAft>
            </a:pPr>
            <a:r>
              <a:rPr sz="2000" b="0" i="0">
                <a:solidFill>
                  <a:srgbClr val="333333"/>
                </a:solidFill>
                <a:latin typeface="Calibri"/>
              </a:rPr>
              <a:t>–   En contra: PL/SQL es mas dificil de probar de forma automatizada, sus cambios no se versionan tan naturalmente en un repositorio como el codigo de la aplicacion, hay menos programadores que lo dominen, ata el proyecto al motor elegido</a:t>
            </a:r>
          </a:p>
          <a:p>
            <a:pPr>
              <a:spcAft>
                <a:spcPts val="800"/>
              </a:spcAft>
            </a:pPr>
            <a:r>
              <a:rPr sz="2000" b="0" i="0">
                <a:solidFill>
                  <a:srgbClr val="333333"/>
                </a:solidFill>
                <a:latin typeface="Calibri"/>
              </a:rPr>
              <a:t>–   Y la CPU de la base suele ser el recurso mas escaso y mas caro de escalar, porque se agrega servidor de aplicacion con facilidad y no se agrega servidor de base de datos con la misma facilidad.</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Logica en la base o en la aplicacion: honestidad y no propaganda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El criterio de decision que conviene entregar es este: las invariantes que protegen la integridad de los datos van en la base, porque son las que no pueden depender de que todos los clientes se porten bien</a:t>
            </a:r>
          </a:p>
          <a:p>
            <a:pPr>
              <a:spcAft>
                <a:spcPts val="800"/>
              </a:spcAft>
            </a:pPr>
            <a:r>
              <a:rPr sz="2000" b="0" i="0">
                <a:solidFill>
                  <a:srgbClr val="333333"/>
                </a:solidFill>
                <a:latin typeface="Calibri"/>
              </a:rPr>
              <a:t>–   Y en VetCare son exactamente las tres reglas del proyecto, que una mascota inactiva no agende cita, que el stock de Insumo nunca quede negativo y que los cambios sensibles queden auditados.</a:t>
            </a:r>
          </a:p>
          <a:p>
            <a:pPr>
              <a:spcAft>
                <a:spcPts val="800"/>
              </a:spcAft>
            </a:pPr>
            <a:r>
              <a:rPr sz="2000" b="0" i="0">
                <a:solidFill>
                  <a:srgbClr val="333333"/>
                </a:solidFill>
                <a:latin typeface="Calibri"/>
              </a:rPr>
              <a:t>–   Cuando pregunten cual es mejor, la respuesta es que depende de donde caiga el costo del error, y para datos que no se pueden reconstruir ese costo cae siempre del lado de la base.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Cambiar el esquema sin romper la aplicacion que ya corre (1/2)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Queda el problema mas subestimado: cambiar el esquema sin romper la aplicacion que ya esta corriendo.</a:t>
            </a:r>
          </a:p>
          <a:p>
            <a:pPr>
              <a:spcAft>
                <a:spcPts val="800"/>
              </a:spcAft>
            </a:pPr>
            <a:r>
              <a:rPr sz="2000" b="0" i="0">
                <a:solidFill>
                  <a:srgbClr val="333333"/>
                </a:solidFill>
                <a:latin typeface="Calibri"/>
              </a:rPr>
              <a:t>–   La regla es que nunca se cambia una cosa en su lugar, se expande, se migra y despues se contrae.</a:t>
            </a:r>
          </a:p>
          <a:p>
            <a:pPr>
              <a:spcAft>
                <a:spcPts val="800"/>
              </a:spcAft>
            </a:pPr>
            <a:r>
              <a:rPr sz="2000" b="0" i="0">
                <a:solidFill>
                  <a:srgbClr val="333333"/>
                </a:solidFill>
                <a:latin typeface="Calibri"/>
              </a:rPr>
              <a:t>–   Uno, expandir:, sin tocar ningun procedimiento; la aplicacion vieja ignora la columna y sigue igual porque admite nulos.</a:t>
            </a:r>
          </a:p>
          <a:p>
            <a:pPr>
              <a:spcAft>
                <a:spcPts val="800"/>
              </a:spcAft>
            </a:pPr>
            <a:r>
              <a:rPr sz="2000" b="0" i="0">
                <a:solidFill>
                  <a:srgbClr val="333333"/>
                </a:solidFill>
                <a:latin typeface="Calibri"/>
              </a:rPr>
              <a:t>–   Dos, escribir en ambos lados: sp_inactivar_mascota se actualiza para llenar tambien la columna nueva.</a:t>
            </a:r>
          </a:p>
          <a:p>
            <a:pPr>
              <a:spcAft>
                <a:spcPts val="800"/>
              </a:spcAft>
            </a:pPr>
            <a:r>
              <a:rPr sz="2000" b="0" i="0">
                <a:solidFill>
                  <a:srgbClr val="333333"/>
                </a:solidFill>
                <a:latin typeface="Calibri"/>
              </a:rPr>
              <a:t>–   Tres, rellenar el historico con UPDATE por lotes y no en una sentencia gigante sobre la tabla completa, para no bloquear a nadie por minutos, lo que enlaza con la Clase 10.</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Cambiar el esquema sin romper la aplicacion que ya corre (2/2)</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Cinco, contraer: eliminar lo viejo solo cuando ninguna version desplegada lo use.</a:t>
            </a:r>
          </a:p>
          <a:p>
            <a:pPr>
              <a:spcAft>
                <a:spcPts val="800"/>
              </a:spcAft>
            </a:pPr>
            <a:r>
              <a:rPr sz="2000" b="0" i="0">
                <a:solidFill>
                  <a:srgbClr val="333333"/>
                </a:solidFill>
                <a:latin typeface="Calibri"/>
              </a:rPr>
              <a:t>–   Con los procedimientos aplica la misma logica: agregar un parametro al final con valor DEFAULT es compatible, porque las llamadas existentes siguen valiendo; cambiar el orden de los parametros, su tipo o el significado de un codigo de error rompe</a:t>
            </a:r>
          </a:p>
          <a:p>
            <a:pPr>
              <a:spcAft>
                <a:spcPts val="800"/>
              </a:spcAft>
            </a:pPr>
            <a:r>
              <a:rPr sz="2000" b="0" i="0">
                <a:solidFill>
                  <a:srgbClr val="333333"/>
                </a:solidFill>
                <a:latin typeface="Calibri"/>
              </a:rPr>
              <a:t>–   Y ahi se publica sp_agendar_cita_v2 y se conserva la anterior como envoltura hasta que la aplicacion migre.</a:t>
            </a:r>
          </a:p>
          <a:p>
            <a:pPr>
              <a:spcAft>
                <a:spcPts val="800"/>
              </a:spcAft>
            </a:pPr>
            <a:r>
              <a:rPr sz="2000" b="0" i="0">
                <a:solidFill>
                  <a:srgbClr val="333333"/>
                </a:solidFill>
                <a:latin typeface="Calibri"/>
              </a:rPr>
              <a:t>–   Los scripts de migracion se numeran, se guardan en el repositorio y jamas se editan despues de aplicados: si algo quedo mal, se escribe el siguiente numero.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Cambiar el esquema sin romper la aplicacion... — sintaxis</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ALTER TABLE Mascota ADD (fecha_inactivacion DATE NULL)</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contrato de la capa de API: siempre parametros ligados</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La BD expone operaciones, no tablas. La aplicacion llama, no improvisa SQL.</a:t>
            </a:r>
          </a:p>
          <a:p>
            <a:pPr>
              <a:spcAft>
                <a:spcPts val="400"/>
              </a:spcAft>
            </a:pPr>
            <a:r>
              <a:rPr sz="1400" b="0" i="0">
                <a:solidFill>
                  <a:srgbClr val="FFFFFF"/>
                </a:solidFill>
                <a:latin typeface="Calibri"/>
              </a:rPr>
              <a:t>CREATE OR REPLACE FUNCTION api_agenda_del_dia(p_dia DATE)</a:t>
            </a:r>
          </a:p>
          <a:p>
            <a:pPr>
              <a:spcAft>
                <a:spcPts val="400"/>
              </a:spcAft>
            </a:pPr>
            <a:r>
              <a:rPr sz="1400" b="0" i="0">
                <a:solidFill>
                  <a:srgbClr val="FFFFFF"/>
                </a:solidFill>
                <a:latin typeface="Calibri"/>
              </a:rPr>
              <a:t>RETURNS TABLE (id_cita INT, hora TIMESTAMP, mascota VARCHAR, dueno VARCHAR)</a:t>
            </a:r>
          </a:p>
          <a:p>
            <a:pPr>
              <a:spcAft>
                <a:spcPts val="400"/>
              </a:spcAft>
            </a:pPr>
            <a:r>
              <a:rPr sz="1400" b="0" i="0">
                <a:solidFill>
                  <a:srgbClr val="FFFFFF"/>
                </a:solidFill>
                <a:latin typeface="Calibri"/>
              </a:rPr>
              <a:t>LANGUAGE sql</a:t>
            </a:r>
          </a:p>
          <a:p>
            <a:pPr>
              <a:spcAft>
                <a:spcPts val="400"/>
              </a:spcAft>
            </a:pPr>
            <a:r>
              <a:rPr sz="1400" b="0" i="0">
                <a:solidFill>
                  <a:srgbClr val="FFFFFF"/>
                </a:solidFill>
                <a:latin typeface="Calibri"/>
              </a:rPr>
              <a:t>STABLE</a:t>
            </a:r>
          </a:p>
          <a:p>
            <a:pPr>
              <a:spcAft>
                <a:spcPts val="400"/>
              </a:spcAft>
            </a:pPr>
            <a:r>
              <a:rPr sz="1400" b="0" i="0">
                <a:solidFill>
                  <a:srgbClr val="FFFFFF"/>
                </a:solidFill>
                <a:latin typeface="Calibri"/>
              </a:rPr>
              <a:t>AS $$</a:t>
            </a:r>
          </a:p>
          <a:p>
            <a:pPr>
              <a:spcAft>
                <a:spcPts val="400"/>
              </a:spcAft>
            </a:pPr>
            <a:r>
              <a:rPr sz="1400" b="0" i="0">
                <a:solidFill>
                  <a:srgbClr val="FFFFFF"/>
                </a:solidFill>
                <a:latin typeface="Calibri"/>
              </a:rPr>
              <a:t>  SELECT c.id_cita, c.fecha_hora, m.nombre, d.nombre</a:t>
            </a:r>
          </a:p>
          <a:p>
            <a:pPr>
              <a:spcAft>
                <a:spcPts val="400"/>
              </a:spcAft>
            </a:pPr>
            <a:r>
              <a:rPr sz="1400" b="0" i="0">
                <a:solidFill>
                  <a:srgbClr val="FFFFFF"/>
                </a:solidFill>
                <a:latin typeface="Calibri"/>
              </a:rPr>
              <a:t>  FROM cita c</a:t>
            </a:r>
          </a:p>
          <a:p>
            <a:pPr>
              <a:spcAft>
                <a:spcPts val="400"/>
              </a:spcAft>
            </a:pPr>
            <a:r>
              <a:rPr sz="1400" b="0" i="0">
                <a:solidFill>
                  <a:srgbClr val="FFFFFF"/>
                </a:solidFill>
                <a:latin typeface="Calibri"/>
              </a:rPr>
              <a:t>  JOIN mascota m ON m.id_mascota = c.id_mascota</a:t>
            </a:r>
          </a:p>
          <a:p>
            <a:pPr>
              <a:spcAft>
                <a:spcPts val="400"/>
              </a:spcAft>
            </a:pPr>
            <a:r>
              <a:rPr sz="1400" b="0" i="0">
                <a:solidFill>
                  <a:srgbClr val="FFFFFF"/>
                </a:solidFill>
                <a:latin typeface="Calibri"/>
              </a:rPr>
              <a:t>  JOIN dueno   d ON d.id_dueno   = m.id_dueno</a:t>
            </a:r>
          </a:p>
          <a:p>
            <a:pPr>
              <a:spcAft>
                <a:spcPts val="400"/>
              </a:spcAft>
            </a:pPr>
            <a:r>
              <a:rPr sz="1400" b="0" i="0">
                <a:solidFill>
                  <a:srgbClr val="FFFFFF"/>
                </a:solidFill>
                <a:latin typeface="Calibri"/>
              </a:rPr>
              <a:t>  WHERE c.fecha_hora &gt;= p_dia AND c.fecha_hora &lt; p_dia + 1</a:t>
            </a:r>
          </a:p>
          <a:p>
            <a:pPr>
              <a:spcAft>
                <a:spcPts val="400"/>
              </a:spcAft>
            </a:pPr>
            <a:r>
              <a:rPr sz="1400" b="0" i="0">
                <a:solidFill>
                  <a:srgbClr val="FFFFFF"/>
                </a:solidFill>
                <a:latin typeface="Calibri"/>
              </a:rPr>
              <a:t>  ORDER BY c.fecha_hora;</a:t>
            </a:r>
          </a:p>
          <a:p>
            <a:pPr>
              <a:spcAft>
                <a:spcPts val="400"/>
              </a:spcAft>
            </a:pPr>
            <a:r>
              <a:rPr sz="1400" b="0" i="0">
                <a:solidFill>
                  <a:srgbClr val="FFFFFF"/>
                </a:solidFill>
                <a:latin typeface="Calibri"/>
              </a:rPr>
              <a:t>$$;</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inyeccion de SQL, explicada con las dos versiones</a:t>
            </a:r>
          </a:p>
        </p:txBody>
      </p:sp>
      <p:sp>
        <p:nvSpPr>
          <p:cNvPr id="5" name="Rounded Rectangle 4"/>
          <p:cNvSpPr/>
          <p:nvPr/>
        </p:nvSpPr>
        <p:spPr>
          <a:xfrm>
            <a:off x="457200" y="1261872"/>
            <a:ext cx="11277295" cy="509320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453128"/>
          </a:xfrm>
          <a:prstGeom prst="rect">
            <a:avLst/>
          </a:prstGeom>
          <a:noFill/>
        </p:spPr>
        <p:txBody>
          <a:bodyPr wrap="square">
            <a:spAutoFit/>
          </a:bodyPr>
          <a:lstStyle/>
          <a:p>
            <a:pPr>
              <a:spcAft>
                <a:spcPts val="400"/>
              </a:spcAft>
            </a:pPr>
            <a:r>
              <a:rPr sz="1400" b="0" i="0">
                <a:solidFill>
                  <a:srgbClr val="FFFFFF"/>
                </a:solidFill>
                <a:latin typeface="Calibri"/>
              </a:rPr>
              <a:t>-- MAL: la aplicacion concatena lo que el usuario escribio</a:t>
            </a:r>
          </a:p>
          <a:p>
            <a:pPr>
              <a:spcAft>
                <a:spcPts val="400"/>
              </a:spcAft>
            </a:pPr>
            <a:r>
              <a:rPr sz="1400" b="0" i="0">
                <a:solidFill>
                  <a:srgbClr val="FFFFFF"/>
                </a:solidFill>
                <a:latin typeface="Calibri"/>
              </a:rPr>
              <a:t>--   "SELECT * FROM dueno WHERE nombre = '" + entrada + "'"</a:t>
            </a:r>
          </a:p>
          <a:p>
            <a:pPr>
              <a:spcAft>
                <a:spcPts val="400"/>
              </a:spcAft>
            </a:pPr>
            <a:r>
              <a:rPr sz="1400" b="0" i="0">
                <a:solidFill>
                  <a:srgbClr val="FFFFFF"/>
                </a:solidFill>
                <a:latin typeface="Calibri"/>
              </a:rPr>
              <a:t>-- Si entrada = 'x'; DROP TABLE cita; --</a:t>
            </a:r>
          </a:p>
          <a:p>
            <a:pPr>
              <a:spcAft>
                <a:spcPts val="400"/>
              </a:spcAft>
            </a:pPr>
            <a:r>
              <a:rPr sz="1400" b="0" i="0">
                <a:solidFill>
                  <a:srgbClr val="FFFFFF"/>
                </a:solidFill>
                <a:latin typeface="Calibri"/>
              </a:rPr>
              <a:t>-- el motor recibe dos sentencias y ejecuta las dos.</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 BIEN: el valor viaja como PARAMETRO, nunca como texto de la sentencia</a:t>
            </a:r>
          </a:p>
          <a:p>
            <a:pPr>
              <a:spcAft>
                <a:spcPts val="400"/>
              </a:spcAft>
            </a:pPr>
            <a:r>
              <a:rPr sz="1400" b="0" i="0">
                <a:solidFill>
                  <a:srgbClr val="FFFFFF"/>
                </a:solidFill>
                <a:latin typeface="Calibri"/>
              </a:rPr>
              <a:t>PREPARE buscar_dueno (VARCHAR) AS</a:t>
            </a:r>
          </a:p>
          <a:p>
            <a:pPr>
              <a:spcAft>
                <a:spcPts val="400"/>
              </a:spcAft>
            </a:pPr>
            <a:r>
              <a:rPr sz="1400" b="0" i="0">
                <a:solidFill>
                  <a:srgbClr val="FFFFFF"/>
                </a:solidFill>
                <a:latin typeface="Calibri"/>
              </a:rPr>
              <a:t>  SELECT id_dueno, nombre, telefono FROM dueno WHERE nombre = $1;</a:t>
            </a:r>
          </a:p>
          <a:p>
            <a:pPr>
              <a:spcAft>
                <a:spcPts val="400"/>
              </a:spcAft>
            </a:pPr>
            <a:r>
              <a:rPr sz="1400" b="0" i="0">
                <a:solidFill>
                  <a:srgbClr val="FFFFFF"/>
                </a:solidFill>
                <a:latin typeface="Calibri"/>
              </a:rPr>
              <a:t/>
            </a:r>
          </a:p>
          <a:p>
            <a:pPr>
              <a:spcAft>
                <a:spcPts val="400"/>
              </a:spcAft>
            </a:pPr>
            <a:r>
              <a:rPr sz="1400" b="0" i="0">
                <a:solidFill>
                  <a:srgbClr val="FFFFFF"/>
                </a:solidFill>
                <a:latin typeface="Calibri"/>
              </a:rPr>
              <a:t>EXECUTE buscar_dueno('Ana Gomez');</a:t>
            </a:r>
          </a:p>
          <a:p>
            <a:pPr>
              <a:spcAft>
                <a:spcPts val="400"/>
              </a:spcAft>
            </a:pPr>
            <a:r>
              <a:rPr sz="1400" b="0" i="0">
                <a:solidFill>
                  <a:srgbClr val="FFFFFF"/>
                </a:solidFill>
                <a:latin typeface="Calibri"/>
              </a:rPr>
              <a:t>EXECUTE buscar_dueno('x''; DROP TABLE cita; --');   -- 0 filas, nada mas</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contrato que la app consume (no SQL suelto)</a:t>
            </a:r>
          </a:p>
        </p:txBody>
      </p:sp>
      <p:sp>
        <p:nvSpPr>
          <p:cNvPr id="5" name="Rounded Rectangle 4"/>
          <p:cNvSpPr/>
          <p:nvPr/>
        </p:nvSpPr>
        <p:spPr>
          <a:xfrm>
            <a:off x="457200" y="1261872"/>
            <a:ext cx="11277295" cy="4773168"/>
          </a:xfrm>
          <a:prstGeom prst="roundRect">
            <a:avLst>
              <a:gd name="adj" fmla="val 12000"/>
            </a:avLst>
          </a:prstGeom>
          <a:solidFill>
            <a:srgbClr val="1E2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200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307592"/>
            <a:ext cx="10820095" cy="256032"/>
          </a:xfrm>
          <a:prstGeom prst="rect">
            <a:avLst/>
          </a:prstGeom>
          <a:noFill/>
        </p:spPr>
        <p:txBody>
          <a:bodyPr wrap="square" anchor="ctr"/>
          <a:lstStyle/>
          <a:p>
            <a:r>
              <a:rPr sz="1000" b="1" i="0">
                <a:solidFill>
                  <a:srgbClr val="269CCB"/>
                </a:solidFill>
                <a:latin typeface="Calibri"/>
              </a:rPr>
              <a:t>● ● ●</a:t>
            </a:r>
          </a:p>
        </p:txBody>
      </p:sp>
      <p:sp>
        <p:nvSpPr>
          <p:cNvPr id="8" name="TextBox 7"/>
          <p:cNvSpPr txBox="1"/>
          <p:nvPr/>
        </p:nvSpPr>
        <p:spPr>
          <a:xfrm>
            <a:off x="777240" y="1719072"/>
            <a:ext cx="10637215" cy="4133087"/>
          </a:xfrm>
          <a:prstGeom prst="rect">
            <a:avLst/>
          </a:prstGeom>
          <a:noFill/>
        </p:spPr>
        <p:txBody>
          <a:bodyPr wrap="square">
            <a:spAutoFit/>
          </a:bodyPr>
          <a:lstStyle/>
          <a:p>
            <a:pPr>
              <a:spcAft>
                <a:spcPts val="400"/>
              </a:spcAft>
            </a:pPr>
            <a:r>
              <a:rPr sz="1400" b="0" i="0">
                <a:solidFill>
                  <a:srgbClr val="FFFFFF"/>
                </a:solidFill>
                <a:latin typeface="Calibri"/>
              </a:rPr>
              <a:t>sp_agendar_cita(</a:t>
            </a:r>
          </a:p>
          <a:p>
            <a:pPr>
              <a:spcAft>
                <a:spcPts val="400"/>
              </a:spcAft>
            </a:pPr>
            <a:r>
              <a:rPr sz="1400" b="0" i="0">
                <a:solidFill>
                  <a:srgbClr val="FFFFFF"/>
                </a:solidFill>
                <a:latin typeface="Calibri"/>
              </a:rPr>
              <a:t>   p_id_cita     IN  NUMBER,</a:t>
            </a:r>
          </a:p>
          <a:p>
            <a:pPr>
              <a:spcAft>
                <a:spcPts val="400"/>
              </a:spcAft>
            </a:pPr>
            <a:r>
              <a:rPr sz="1400" b="0" i="0">
                <a:solidFill>
                  <a:srgbClr val="FFFFFF"/>
                </a:solidFill>
                <a:latin typeface="Calibri"/>
              </a:rPr>
              <a:t>   p_id_mascota  IN  NUMBER,</a:t>
            </a:r>
          </a:p>
          <a:p>
            <a:pPr>
              <a:spcAft>
                <a:spcPts val="400"/>
              </a:spcAft>
            </a:pPr>
            <a:r>
              <a:rPr sz="1400" b="0" i="0">
                <a:solidFill>
                  <a:srgbClr val="FFFFFF"/>
                </a:solidFill>
                <a:latin typeface="Calibri"/>
              </a:rPr>
              <a:t>   p_fecha       IN  TIMESTAMP,</a:t>
            </a:r>
          </a:p>
          <a:p>
            <a:pPr>
              <a:spcAft>
                <a:spcPts val="400"/>
              </a:spcAft>
            </a:pPr>
            <a:r>
              <a:rPr sz="1400" b="0" i="0">
                <a:solidFill>
                  <a:srgbClr val="FFFFFF"/>
                </a:solidFill>
                <a:latin typeface="Calibri"/>
              </a:rPr>
              <a:t>   p_msg         OUT VARCHAR2   -- 'OK: ...' | 'ERROR: ...'</a:t>
            </a:r>
          </a:p>
          <a:p>
            <a:pPr>
              <a:spcAft>
                <a:spcPts val="400"/>
              </a:spcAft>
            </a:pPr>
            <a:r>
              <a:rPr sz="1400" b="0" i="0">
                <a:solidFill>
                  <a:srgbClr val="FFFFFF"/>
                </a:solidFill>
                <a:latin typeface="Calibri"/>
              </a:rPr>
              <a:t>)</a:t>
            </a:r>
          </a:p>
        </p:txBody>
      </p:sp>
      <p:sp>
        <p:nvSpPr>
          <p:cNvPr id="9" name="TextBox 8"/>
          <p:cNvSpPr txBox="1"/>
          <p:nvPr/>
        </p:nvSpPr>
        <p:spPr>
          <a:xfrm>
            <a:off x="457200" y="6080760"/>
            <a:ext cx="11277295" cy="320040"/>
          </a:xfrm>
          <a:prstGeom prst="rect">
            <a:avLst/>
          </a:prstGeom>
          <a:noFill/>
        </p:spPr>
        <p:txBody>
          <a:bodyPr wrap="square">
            <a:spAutoFit/>
          </a:bodyPr>
          <a:lstStyle/>
          <a:p>
            <a:pPr algn="ctr"/>
            <a:r>
              <a:rPr sz="1200" b="0" i="1">
                <a:solidFill>
                  <a:srgbClr val="666666"/>
                </a:solidFill>
                <a:latin typeface="Calibri"/>
              </a:rPr>
              <a:t>La app llama el proc con parametros tipados: por eso no hay inyeccion SQL.</a:t>
            </a:r>
          </a:p>
        </p:txBody>
      </p:sp>
      <p:sp>
        <p:nvSpPr>
          <p:cNvPr id="10" name="TextBox 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Google Docs + Live SQL + Excalidraw</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Plantilla contrato sp_agendar_cita + storyboard 6 slides.</a:t>
            </a:r>
          </a:p>
          <a:p>
            <a:pPr>
              <a:spcAft>
                <a:spcPts val="800"/>
              </a:spcAft>
            </a:pPr>
            <a:r>
              <a:rPr sz="2000" b="0" i="0">
                <a:solidFill>
                  <a:srgbClr val="333333"/>
                </a:solidFill>
                <a:latin typeface="Calibri"/>
              </a:rPr>
              <a:t>–   Sigan el mismo dominio VetCare (no inventen otro caso).</a:t>
            </a:r>
          </a:p>
          <a:p>
            <a:pPr>
              <a:spcAft>
                <a:spcPts val="800"/>
              </a:spcAft>
            </a:pPr>
            <a:r>
              <a:rPr sz="2000" b="0" i="0">
                <a:solidFill>
                  <a:srgbClr val="333333"/>
                </a:solidFill>
                <a:latin typeface="Calibri"/>
              </a:rPr>
              <a:t>–   Al final de la demo: dejar enlace/script compartible al grupo.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Del boceto a la plataforma del curso (diagrama)</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diagrama se entrega como codigo Mermaid dentro de la plataforma del curso, no como imagen</a:t>
            </a:r>
          </a:p>
        </p:txBody>
      </p:sp>
      <p:sp>
        <p:nvSpPr>
          <p:cNvPr id="6" name="Rounded Rectangle 5"/>
          <p:cNvSpPr/>
          <p:nvPr/>
        </p:nvSpPr>
        <p:spPr>
          <a:xfrm>
            <a:off x="457200" y="1659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965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65960"/>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751076"/>
            <a:ext cx="10271455" cy="886968"/>
          </a:xfrm>
          <a:prstGeom prst="rect">
            <a:avLst/>
          </a:prstGeom>
          <a:noFill/>
        </p:spPr>
        <p:txBody>
          <a:bodyPr wrap="square" anchor="ctr"/>
          <a:lstStyle/>
          <a:p>
            <a:r>
              <a:rPr sz="1500" b="1" i="0">
                <a:solidFill>
                  <a:srgbClr val="095292"/>
                </a:solidFill>
                <a:latin typeface="Calibri"/>
              </a:rPr>
              <a:t>Disena visual</a:t>
            </a:r>
          </a:p>
          <a:p>
            <a:pPr>
              <a:spcBef>
                <a:spcPts val="200"/>
              </a:spcBef>
            </a:pPr>
            <a:r>
              <a:rPr sz="1300" b="0" i="0">
                <a:solidFill>
                  <a:srgbClr val="333333"/>
                </a:solidFill>
                <a:latin typeface="Calibri"/>
              </a:rPr>
              <a:t>Dibuja el diagrama como quieras en Excalidraw o draw.io: es mas rapido arrastrar cajas que escribir codigo, y ahi es donde piensas el modelo.</a:t>
            </a:r>
          </a:p>
        </p:txBody>
      </p:sp>
      <p:sp>
        <p:nvSpPr>
          <p:cNvPr id="10" name="Rounded Rectangle 9"/>
          <p:cNvSpPr/>
          <p:nvPr/>
        </p:nvSpPr>
        <p:spPr>
          <a:xfrm>
            <a:off x="457200" y="2802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3108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108960"/>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894076"/>
            <a:ext cx="10271455" cy="886968"/>
          </a:xfrm>
          <a:prstGeom prst="rect">
            <a:avLst/>
          </a:prstGeom>
          <a:noFill/>
        </p:spPr>
        <p:txBody>
          <a:bodyPr wrap="square" anchor="ctr"/>
          <a:lstStyle/>
          <a:p>
            <a:r>
              <a:rPr sz="1500" b="1" i="0">
                <a:solidFill>
                  <a:srgbClr val="095292"/>
                </a:solidFill>
                <a:latin typeface="Calibri"/>
              </a:rPr>
              <a:t>Traduce con IA</a:t>
            </a:r>
          </a:p>
          <a:p>
            <a:pPr>
              <a:spcBef>
                <a:spcPts val="200"/>
              </a:spcBef>
            </a:pPr>
            <a:r>
              <a:rPr sz="1300" b="0" i="0">
                <a:solidFill>
                  <a:srgbClr val="333333"/>
                </a:solidFill>
                <a:latin typeface="Calibri"/>
              </a:rPr>
              <a:t>Copia o describe tu boceto a una IA y pidele el codigo Mermaid: «convierte este diagrama a Mermaid usando sequenceDiagram». Revisa el resultado: la IA acierta la sintaxis, no tu modelo.</a:t>
            </a:r>
          </a:p>
        </p:txBody>
      </p:sp>
      <p:sp>
        <p:nvSpPr>
          <p:cNvPr id="14" name="Rounded Rectangle 13"/>
          <p:cNvSpPr/>
          <p:nvPr/>
        </p:nvSpPr>
        <p:spPr>
          <a:xfrm>
            <a:off x="457200" y="3945636"/>
            <a:ext cx="11277295" cy="1051560"/>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4251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519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4037076"/>
            <a:ext cx="10271455" cy="886968"/>
          </a:xfrm>
          <a:prstGeom prst="rect">
            <a:avLst/>
          </a:prstGeom>
          <a:noFill/>
        </p:spPr>
        <p:txBody>
          <a:bodyPr wrap="square" anchor="ctr"/>
          <a:lstStyle/>
          <a:p>
            <a:r>
              <a:rPr sz="1500" b="1" i="0">
                <a:solidFill>
                  <a:srgbClr val="095292"/>
                </a:solidFill>
                <a:latin typeface="Calibri"/>
              </a:rPr>
              <a:t>Pega y renderiza en la plataforma del curso</a:t>
            </a:r>
          </a:p>
          <a:p>
            <a:pPr>
              <a:spcBef>
                <a:spcPts val="200"/>
              </a:spcBef>
            </a:pPr>
            <a:r>
              <a:rPr sz="1300" b="0" i="0">
                <a:solidFill>
                  <a:srgbClr val="333333"/>
                </a:solidFill>
                <a:latin typeface="Calibri"/>
              </a:rPr>
              <a:t>Pega ese codigo en la caja de texto de la pregunta y mira como lo dibuja la plataforma. Si no renderiza, corrige ahi mismo: lo que se califica es el diagrama renderizado dentro de la plataforma del curso.</a:t>
            </a:r>
          </a:p>
        </p:txBody>
      </p:sp>
      <p:sp>
        <p:nvSpPr>
          <p:cNvPr id="18" name="Rounded Rectangle 17"/>
          <p:cNvSpPr/>
          <p:nvPr/>
        </p:nvSpPr>
        <p:spPr>
          <a:xfrm>
            <a:off x="457200" y="5088636"/>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53949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94960"/>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5180076"/>
            <a:ext cx="10271455" cy="886968"/>
          </a:xfrm>
          <a:prstGeom prst="rect">
            <a:avLst/>
          </a:prstGeom>
          <a:noFill/>
        </p:spPr>
        <p:txBody>
          <a:bodyPr wrap="square" anchor="ctr"/>
          <a:lstStyle/>
          <a:p>
            <a:r>
              <a:rPr sz="1500" b="1" i="0">
                <a:solidFill>
                  <a:srgbClr val="095292"/>
                </a:solidFill>
                <a:latin typeface="Calibri"/>
              </a:rPr>
              <a:t>Guarda el PNG para tu PI</a:t>
            </a:r>
          </a:p>
          <a:p>
            <a:pPr>
              <a:spcBef>
                <a:spcPts val="200"/>
              </a:spcBef>
            </a:pPr>
            <a:r>
              <a:rPr sz="1300" b="0" i="0">
                <a:solidFill>
                  <a:srgbClr val="333333"/>
                </a:solidFill>
                <a:latin typeface="Calibri"/>
              </a:rPr>
              <a:t>Exporta tambien la imagen a la carpeta de tu Proyecto Integrador. Esa copia es para tu informe; no reemplaza la respuesta en la plataforma.</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12 · Integracion app &lt;-&gt; BD · Prep. presentacion</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Integrar no es conectarse</a:t>
            </a:r>
          </a:p>
          <a:p>
            <a:pPr algn="ctr">
              <a:spcAft>
                <a:spcPts val="600"/>
              </a:spcAft>
            </a:pPr>
            <a:r>
              <a:rPr sz="1600" b="0" i="0">
                <a:solidFill>
                  <a:srgbClr val="333333"/>
                </a:solidFill>
                <a:latin typeface="Calibri"/>
              </a:rPr>
              <a:t>Inyeccion SQL</a:t>
            </a:r>
          </a:p>
          <a:p>
            <a:pPr algn="ctr">
              <a:spcAft>
                <a:spcPts val="600"/>
              </a:spcAft>
            </a:pPr>
            <a:r>
              <a:rPr sz="1600" b="0" i="0">
                <a:solidFill>
                  <a:srgbClr val="333333"/>
                </a:solidFill>
                <a:latin typeface="Calibri"/>
              </a:rPr>
              <a:t>Por que el parametro lo evita por construccion</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Todo lo visto queda proyectado para repasar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