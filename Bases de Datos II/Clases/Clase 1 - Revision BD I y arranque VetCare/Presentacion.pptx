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dibujar una sola tabla hay que decir para quien se dibuja.</a:t>
            </a:r>
          </a:p>
          <a:p>
            <a:r>
              <a:t>La Clinica Veterinaria Huellitas atiende un alto volumen de pacientes y lleva toda su gestion en carpetas de papel.</a:t>
            </a:r>
          </a:p>
          <a:p>
            <a:r>
              <a:t>Hay que fijar la nomenclatura en voz alta porque el material la usa con precision y el estudiante la mezcla: Huellitas es la CLINICA, es decir el cliente que tiene el problema</a:t>
            </a:r>
          </a:p>
          <a:p>
            <a:r>
              <a:t>Programacion II construye la aplicacion para el mismo cliente y Seminario disena sus planos, asi que un estudiante que curse dos de las tres materias trabaja el mismo caso desde dos angulos.</a:t>
            </a:r>
          </a:p>
          <a:p>
            <a:r>
              <a:t>Los tres interesados son la herramienta de decision mas util que se le puede dar hoy al estudiante, y estan en la diapositiva por eso.</a:t>
            </a:r>
          </a:p>
          <a:p>
            <a:r>
              <a:t>El dueno de la clinica quiere metricas del negocio.</a:t>
            </a:r>
          </a:p>
          <a:p>
            <a:r>
              <a:t>La recepcionista quiere agendar rapido y con pocos clics.</a:t>
            </a:r>
          </a:p>
          <a:p>
            <a:r>
              <a:t>El veterinario quiere el historial del paciente a la mano durante la consulta.</a:t>
            </a:r>
          </a:p>
          <a:p>
            <a:r>
              <a:t>Lo importante, y hay que subrayarlo, es que esos intereses ENTRAN EN CONFLICTO: pedir mas datos en el formulario de la cita da mejores metricas al dueno y le hace mas lento el trabajo a la recepcionista.</a:t>
            </a:r>
          </a:p>
          <a:p>
            <a:r>
              <a:t>Ahi esta la diferencia entre un modelo copiado y uno decidido.</a:t>
            </a:r>
          </a:p>
          <a:p>
            <a:r>
              <a:t>Fuera de la lamina (habla de la practica): Antes de dibujar una sola tabla hay que decir para quien se dibuja, porque el taller de hoy y los enunciados de las quince clases estan escritos sobre un cliente concreto y con nombre.</a:t>
            </a:r>
          </a:p>
          <a:p>
            <a:r>
              <a:t>Fuera de la lamina (habla de la practica): La administracion reporta tres problemas y conviene enunciarlos tal cual, porque cada uno se traduce despues en una decision de esquema: se extravian fichas de pacientes, y esa es la razon de que el expediente tenga que vivir en una fila con clave primaria y no en un papel; buscar un historial en el archivo fisico genera filas en la sala de espera,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  <a:p>
            <a:r>
              <a:t>Fuera de la lamina (habla de la practica): Un curso de bases de datos que no nombra al cliente convierte cada taller en un ejercicio suelto; nombrarlo hace que el estudiante pueda decidir por si mismo si un dato sobra.</a:t>
            </a:r>
          </a:p>
          <a:p>
            <a:r>
              <a:t>Fuera de la lamina (habla de la practica): Cuando en un taller un estudiante pregunte si una columna sobra, la respuesta del docente no deberia ser si o no sino otra pregunta: cual de los tres la necesita, y que pierde otro si la agregamos.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clase parece repetir Bases de Datos I y no lo hace.</a:t>
            </a:r>
          </a:p>
          <a:p>
            <a:r>
              <a:t>Conviene fijar el vocabulario operativo antes de dibujar nada.</a:t>
            </a:r>
          </a:p>
          <a:p>
            <a:r>
              <a:t>Conviene desactivar una trampa de vocabulario: la palabra dominio se usara hoy con dos sentidos, el de un atributo y el del proyecto, que es la clinica Huellitas.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cualquier otra cosa hay que separar dos niveles que el estudiante mezcla y que hoy se recorren los dos.</a:t>
            </a:r>
          </a:p>
          <a:p>
            <a:r>
              <a:t>Conviene decirlo en voz alta porque explica por que se exige tipo y longitud en el diagrama: no es decoracion, es lo que hace traducible el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es estilo, es una restriccion que el motor verifica en cada INSERT y UPDATE y que rechaza con error.</a:t>
            </a:r>
          </a:p>
          <a:p>
            <a:r>
              <a:t>La natural ahorra un JOIN cuando se busca por ella; la sustituta gana cuando el dato natural cambia, se repite o todavia no existe.</a:t>
            </a:r>
          </a:p>
          <a:p>
            <a:r>
              <a:t>Por eso el esquema usa identificadores sustitutos y guarda el dato natural aparte con unicidad:.</a:t>
            </a:r>
          </a:p>
          <a:p>
            <a:r>
              <a:t>UNIQUE impide dos duenos con la misma cedula, permite dejarla nula un rato y permite corregirla sin tocar las filas de mascota que apuntan al dueno.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Supongamos que el estudiante guarda el telefono del dueno dentro de cada fila de cita.</a:t>
            </a:r>
          </a:p>
          <a:p>
            <a:r>
              <a:t>Aparecen tres anomalias.</a:t>
            </a:r>
          </a:p>
          <a:p>
            <a:r>
              <a:t>Leidas asi, las tres formas normales son tres vacunas.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casi nunca se explica es la otra mitad: que pasa al borrar el padre.</a:t>
            </a:r>
          </a:p>
          <a:p>
            <a:r>
              <a:t>Al declarar la clave foranea se elige el comportamiento</a:t>
            </a:r>
          </a:p>
          <a:p>
            <a:r>
              <a:t>RESTRICT o NO ACTION impide borrar el dueno mientras tenga mascotas, CASCADE borra las filas hijas en cadena y SET NULL deja la referencia nula.</a:t>
            </a:r>
          </a:p>
          <a:p>
            <a:r>
              <a:t>Esa baja logica es la que obliga a validar en la Clase 3 que una mascota inactiva no agende, porque la clave foranea la sigue aceptando: el identificador existe, el negocio no lo quiere.</a:t>
            </a:r>
          </a:p>
          <a:p>
            <a:r>
              <a:t>ON DELETE SET NULL deja la fila huerfana con la columna en nulo.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detenerse en la baja logica porque es la decision que sostiene medio semestre y casi nunca se explica.</a:t>
            </a:r>
          </a:p>
          <a:p>
            <a:r>
              <a:t>Lo que se hace es marcar la fila como inactiva: activa CHAR(1) DEFAULT 'S' CHECK (activa IN ('S','N')), y las consultas del dia a dia filtran WHERE activa = 'S'.</a:t>
            </a:r>
          </a:p>
          <a:p>
            <a:r>
              <a:t>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r>
              <a:t>Si el estudiante sale hoy con DELETE en la cabeza, en la Clase 3 no va a entender por que hace falta sp_agendar_cita.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se materializa como consulta.id_cita NOT NULL UNIQUE, no como una clave foranea simple, y decidirlo hoy evita la pregunta que aparece en la Clase 3 cuando alguien intenta registrar la consulta antes de la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Convenciones de nombres del curso.</a:t>
            </a:r>
          </a:p>
          <a:p>
            <a:r>
              <a:t>Identificadores sustitutos uniformes con el patron id_&lt;entidad&gt;, el mismo nombre en la tabla propia y en la que la referencia, para que el JOIN se escriba sin buscar como se llamo la columna alla.</a:t>
            </a:r>
          </a:p>
          <a:p>
            <a:r>
              <a:t>Fuera de la lamina (habla de la practica): Convenciones de nombres del curso, y hay que exigirlas desde hoy porque el taller se corrige ejecutando el guion en el PostgreSQL que PostgreSQL en el navegador trae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lo que se puede demostrar con herramientas gratuitas conviene ser preciso.</a:t>
            </a:r>
          </a:p>
          <a:p>
            <a:r>
              <a:t>En DB Fiddle, sin cuenta y en menos de un minuto, se ejecuta el guion completo de CREATE TABLE con claves primarias, foraneas y CHECK, se insertan Ana Perez, Luna y su cita, se corre el JOIN de las tres tablas y, sobre todo, se provoca el error de integridad en vivo insertando una cita con id_mascota inexistente para que el grupo lea el mensaje real del motor.</a:t>
            </a:r>
          </a:p>
          <a:p>
            <a:r>
              <a:t>Lo que DB Fiddle no da es persistencia: cada ejecucion recrea el esquema desde cero y no hay usuarios ni roles reales, razon por la cual la Clase 2 trabaja con matriz documentada.</a:t>
            </a:r>
          </a:p>
          <a:p>
            <a:r>
              <a:t>Oracle Live SQL exige cuenta gratuita pero conserva esquema y guiones entre sesiones y admite bloques PL/SQL, que es lo que se necesitara desde la Clase 3; conviene que el estudiante la cree hoy y no el dia que la necesite. draw.io corre en el navegador, no pide cuenta y exporta PNG, el formato que pide PostgreSQL en el navegador.</a:t>
            </a:r>
          </a:p>
          <a:p>
            <a:r>
              <a:t>De ahi sale la regla operativa del curso: la fuente de verdad es el archivo sql en la carpeta del proyecto, nunca la pestana del navegador, y el estudiante va bien si reconstruye el esquema completo en menos de cinco minutos pegando su propio guion. draw.io y Excalidraw: son pizarras para pensar el modelo a mano alzada, sin instalar nada.</a:t>
            </a:r>
          </a:p>
          <a:p>
            <a:r>
              <a:t>Fuera de la lamina (habla de la practica): Sobre lo que se puede demostrar con herramientas gratuitas conviene ser preciso, porque de eso depende que el taller no se 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Ultimo tramo.</a:t>
            </a:r>
          </a:p>
          <a:p>
            <a:r>
              <a:t>Eso no significa que haya que dibujar escribiendo codigo, y conviene decirlo asi para que nadie se bloquee: el camino corto es disenar visual en draw.io o Excalidraw, que es donde se piensa el modelo, y despues pedirle a una IA que traduzca ese boceto a Mermaid.</a:t>
            </a:r>
          </a:p>
          <a:p>
            <a:r>
              <a:t>El PNG exportado se conserva en la carpeta del PI para el informe, pero no reemplaza la respuesta en la plataforma.</a:t>
            </a:r>
          </a:p>
          <a:p>
            <a:r>
              <a:t>La demo debe terminar exactamente ahi, y deja los cuatro pasos proyectados mientras el grupo trabaja.</a:t>
            </a:r>
          </a:p>
          <a:p>
            <a:r>
              <a:t>Fuera de la lamina (habla de la practica): Ultimo tramo, y es el que decide si el taller se entrega o no: como pasa el estudiante del dibujo a lo que la plataforma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y conviene tener la respuesta lista.</a:t>
            </a:r>
          </a:p>
          <a:p>
            <a:r>
              <a:t>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r>
              <a:t>Esa regla necesita otra herramienta: un CHECK cuando mira solo columnas de la misma fila, un procedimiento almacenado cuando debe consultar otra tabla, que es el hito de la Clase 3, o un disparador cuando debe aplicarse aunque nadie llame al procedimiento, que es el hito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Revision BD I · Arranque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cliente · Por que esto no es Bases de Datos I, y el vocabulario minimo · Nivel conceptual y nivel fisico ·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es el SISTEMA que se le construye, y VetCare DB es concretamente la base de datos de ese sistema, que es lo que se hace en esta asignatura.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producto del semestre es un esquema con integridad, roles, procedimientos y un plan de ejecucion, no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pasan las tres cosas: el dueno llega sin cedula a la mano, un microchip se digita mal y hay que corregirlo, y una mascota rescatada no tiene microchip.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dueno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INT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cedula VARCHAR(20) UNIQUE,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telefono VARCHAR(30),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email VARCHAR(120)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 decide entidad por entidad: mascota hacia dueno restrictivo, porque borrar un dueno no debe evaporar el historial clinico; consulta hacia cita restrictivo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ante el borrado del padre se declara en la propia FK: ON DELETE RESTRICT, o NO ACTION, que es la opcion por omision, impide borrar un dueno con mascotas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 DELETE CASCADE borraria tambien sus mascotas y citas, que en una clinica es perder historia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eleccion razonable es RESTRICT mas baja logica.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(id_cita, 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(101, 999, TIMESTAMP '2026-09-01 09:00:00', 'PROGRAMADA')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es facil hacer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Mermaid; cuando los tres coinciden, el modelo se lee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del error mas comun: CREATE TABLE "Mascota" con comillas crea un nombre sensible a mayusculas, y despues SELECT * FROM mascota responde relation "mascota" does not exist.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comillas, Mascota, MASCOTA y mascota son el mismo objeto.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DB Fiddle: es un PostgreSQL real en el navegador que ejecuta el DDL y muestra el error exacto si algo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visor Mermaid: convierte el texto erDiagram en el diagrama, y ese texto es la fuente que se versiona junto al DDL.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ER en Mermaid NO es una imagen: es texto en sintaxis Mermaid (erDiagram) que un visor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un visor Mermaid y mirarlo renderizado, porque un diagrama que no renderiza no comunica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Mismo patron que pedira su DDL, sobre otra tabla del modelo.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veterinario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id_veterinario SERIAL PRIMARY KEY,      -- sustituta: la genera la 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tarjeta_prof   VARCHAR(30) UNIQUE,      -- natural: unica, pero puede faltar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    VARCHAR(80) NOT NULL,    -- obligatorio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especialidad   VARCHAR(40)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(especialidad IN ('GENERAL','CIRUGIA','DERMATOLOGIA')),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activo         CHAR(1) DEFAULT 'S'      -- baja logica, no 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(activo IN ('S','N'))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insumo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id_insumo  SERIAL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stock      INT NOT NULL DEFAULT 0 CHECK (stock &gt;= 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precio     DECIMAL(12,2) NOT NULL CHECK (precio &gt; 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comportamiento al borrar el padre SE ELIGE. Si no se declara,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asume NO ACTION: se niega a borrar. Eso es del estandar.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detalle_factura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fk_detalle_insumo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FOREIGN KEY (id_insumo) REFERENCES insumo (id_insumo)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ON DELETE RESTRICT;   -- no se borra un insumo ya facturado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Existe la mascota 1, no existe la 999.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'2026-09-01 09:00:00',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(999, TIMESTAMP '2026-09-01 10:00:00',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insert or update on table "cita" violates foreign key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constraint "cita_id_mascota_fkey"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DETAIL:  Key (id_mascota)=(999) is not present in table "mascota".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    AS mascota,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d.nombre    AS dueno,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c.fecha_hora,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dueno   d ON d.id_dueno  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DATE '2026-09-01'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c.fecha_hora;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JOIN sigue una FK: cita llega a mascota por id_mascota, y mascota a dueno por id_dueno. El WHERE filtra despues de unir; si falta una condicion ON, el resultado no es un error sino un producto cartesiano.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FK garantiza que el identificador EXISTA. No que el negocio lo quiera.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mascota SET activa = 'N' WHERE id_mascota = 1;   -- baja logica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'2026-09-02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   &lt;-- la acepta: para el motor la mascota 1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CHECK tampoco: solo mira columnas de SU propia fila.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«una mascota inactiva no agenda» necesita consultar OTRA tabla,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eso es un procedimiento (Clase 3) o un trigger (Clase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citas”, “un veterinario atiende N citas”. La PK identifica cada fila; la FK materializa la relación y la BD la hace cumplir: una cita con id_mascota 999 que no existe se rechaza con violación de clave foránea.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FK rechaza una cita para una mascota que no existe: el motor responde con violacion de clave foranea y no inserta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mismo modelo en tres formas que deben coincidir: el boceto, el DDL que compila y el texto erDiagram.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 del Proyecto Integrador.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Revision BD I · Arranque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cliente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Por que esto no es Bases de Datos I, y el vocabulario minimo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Nivel conceptual y nivel fisico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