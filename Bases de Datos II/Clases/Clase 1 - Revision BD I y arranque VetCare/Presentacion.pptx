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Que es el motivo por el que en la Clase 7 se habla de indices y no como un tema abstracto de rendimiento; y no hay metricas, no saben cuantas especies atienden al mes, que es exactamente la consulta agregada que aparece en el taller de la Clase 6.</a:t>
            </a:r>
          </a:p>
          <a:p/>
          <a:p>
            <a:r>
              <a:t>Antes de dibujar una sola tabla hay que decir para quien se dibuja, porque el taller de hoy y los enunciados de las quince clases en ExamLab estan escritos sobre un cliente concreto y con nombre.</a:t>
            </a:r>
          </a:p>
          <a:p>
            <a:r>
              <a:t>La Clinica Veterinaria Huellitas atiende un alto volumen de pacientes y lleva toda su gestion en carpetas de papel.</a:t>
            </a:r>
          </a:p>
          <a:p>
            <a:r>
              <a:t>Un curso de bases de datos que no nombra al cliente convierte cada taller en un ejercicio suelto; nombrarlo hace que el estudiante pueda decidir por si mismo si un dato sobra.</a:t>
            </a:r>
          </a:p>
          <a:p>
            <a:r>
              <a:t>Hay que fijar la nomenclatura en voz alta porque el material la usa con precision y el estudiante la mezcla: Huellitas es la CLINICA, es decir el cliente que tiene el problema</a:t>
            </a:r>
          </a:p>
          <a:p>
            <a:r>
              <a:t>Programacion II construye la aplicacion para el mismo cliente y Seminario disena sus planos, asi que un estudiante que curse dos de las tres materias trabaja el mismo caso desde dos angulos.</a:t>
            </a:r>
          </a:p>
          <a:p>
            <a:r>
              <a:t>Los tres interesados son la herramienta de decision mas util que se le puede dar hoy al estudiante, y estan en la diapositiva por eso.</a:t>
            </a:r>
          </a:p>
          <a:p>
            <a:r>
              <a:t>El dueno de la clinica quiere metricas del negocio.</a:t>
            </a:r>
          </a:p>
          <a:p>
            <a:r>
              <a:t>La recepcionista quiere agendar rapido y con pocos clics.</a:t>
            </a:r>
          </a:p>
          <a:p>
            <a:r>
              <a:t>El veterinario quiere el historial del paciente a la mano durante la consulta.</a:t>
            </a:r>
          </a:p>
          <a:p>
            <a:r>
              <a:t>Lo importante, y hay que subrayarlo, es que esos intereses ENTRAN EN CONFLICTO: pedir mas datos en el formulario de la cita da mejores metricas al dueno y le hace mas lento el trabajo a la recepcionista.</a:t>
            </a:r>
          </a:p>
          <a:p>
            <a:r>
              <a:t>Ahi esta la diferencia entre un modelo copiado y uno decidido.</a:t>
            </a:r>
          </a:p>
          <a:p>
            <a:r>
              <a:t>Cuando en un taller un estudiante pregunte si una columna sobra, la respuesta del docente no deberia ser si o no sino otra pregunta: cual de los tres la necesita, y que pierde otro si la agregamos.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clase parece repetir Bases de Datos I y no lo hace.</a:t>
            </a:r>
          </a:p>
          <a:p>
            <a:r>
              <a:t>Conviene fijar el vocabulario operativo antes de dibujar nada.</a:t>
            </a:r>
          </a:p>
          <a:p>
            <a:r>
              <a:t>Conviene desactivar una trampa de vocabulario: la palabra dominio se usara hoy con dos sentidos, el de un atributo y el del proyecto, que es la clinica Huellitas.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cualquier otra cosa hay que separar dos niveles que el estudiante mezcla y que hoy se recorren los dos.</a:t>
            </a:r>
          </a:p>
          <a:p>
            <a:r>
              <a:t>Conviene decirlo en voz alta porque explica por que se exige tipo y longitud en el diagrama: no es decoracion, es lo que hace traducible el dibujo.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no es estilo, es una restriccion que el motor verifica en cada INSERT y UPDATE y que rechaza con error.</a:t>
            </a:r>
          </a:p>
          <a:p>
            <a:r>
              <a:t>La natural ahorra un JOIN cuando se busca por ella; la sustituta gana cuando el dato natural cambia, se repite o todavia no existe.</a:t>
            </a:r>
          </a:p>
          <a:p>
            <a:r>
              <a:t>Por eso el esquema usa identificadores sustitutos y guarda el dato natural aparte con unicidad:.</a:t>
            </a:r>
          </a:p>
          <a:p>
            <a:r>
              <a:t>UNIQUE impide dos duenos con la misma cedula, permite dejarla nula un rato y permite corregirla sin tocar las filas de mascota que apuntan al dueno.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Supongamos que el estudiante guarda el telefono del dueno dentro de cada fila de cita.</a:t>
            </a:r>
          </a:p>
          <a:p>
            <a:r>
              <a:t>Aparecen tres anomalias.</a:t>
            </a:r>
          </a:p>
          <a:p>
            <a:r>
              <a:t>Leidas asi, las tres formas normales son tres vacunas.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casi nunca se explica es la otra mitad: que pasa al borrar el padre.</a:t>
            </a:r>
          </a:p>
          <a:p>
            <a:r>
              <a:t>Al declarar la clave foranea se elige el comportamiento</a:t>
            </a:r>
          </a:p>
          <a:p>
            <a:r>
              <a:t>RESTRICT o NO ACTION impide borrar el dueno mientras tenga mascotas, CASCADE borra las filas hijas en cadena y SET NULL deja la referencia nula.</a:t>
            </a:r>
          </a:p>
          <a:p>
            <a:r>
              <a:t>Esa baja logica es la que obliga a validar en la Clase 3 que una mascota inactiva no agende, porque la clave foranea la sigue aceptando: el identificador existe, el negocio no lo quiere.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detenerse en la baja logica porque es la decision que sostiene medio semestre y casi nunca se explica.</a:t>
            </a:r>
          </a:p>
          <a:p>
            <a:r>
              <a:t>Lo que se hace es marcar la fila como inactiva: activa CHAR(1) DEFAULT 'S' CHECK (activa IN ('S','N')), y las consultas del dia a dia filtran WHERE activa = 'S'.</a:t>
            </a:r>
          </a:p>
          <a:p>
            <a:r>
              <a:t>La consecuencia que hay que subrayar, porque es la que abre la Clase 3, es que la clave foranea NO defiende esa regla: para el motor, la mascota inactiva existe y su identificador es valido, asi que aceptara sin chistar una cita nueva sobre ella.</a:t>
            </a:r>
          </a:p>
          <a:p>
            <a:r>
              <a:t>Si el estudiante sale hoy con DELETE en la cabeza, en la Clase 3 no va a entender por que hace falta sp_agendar_cita.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se materializa como consulta.id_cita NOT NULL UNIQUE, no como una clave foranea simple, y decidirlo hoy evita la pregunta que aparece en la Clase 3 cuando alguien intenta registrar la consulta antes de la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Convenciones de nombres del curso, y hay que exigirlas desde hoy porque el taller se corrige ejecutando el guion en el PostgreSQL que ExamLab trae en el navegador.</a:t>
            </a:r>
          </a:p>
          <a:p>
            <a:r>
              <a:t>Identificadores sustitutos uniformes con el patron id_&lt;entidad&gt;, el mismo nombre en la tabla propia y en la que la referencia, para que el JOIN se escriba sin buscar como se llamo la columna 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Sobre lo que se puede demostrar con herramientas gratuitas conviene ser preciso, porque de eso depende que el taller no se atore.</a:t>
            </a:r>
          </a:p>
          <a:p/>
          <a:p>
            <a:r>
              <a:t>En DB Fiddle, sin cuenta y en menos de un minuto, se ejecuta el guion completo de CREATE TABLE con claves primarias, foraneas y CHECK, se insertan Ana Perez, Luna y su cita, se corre el JOIN de las tres tablas y, sobre todo, se provoca el error de integridad en vivo insertando una cita con id_mascota inexistente para que el grupo lea el mensaje real del motor.</a:t>
            </a:r>
          </a:p>
          <a:p>
            <a:r>
              <a:t>Lo que DB Fiddle no da es persistencia: cada ejecucion recrea el esquema desde cero y no hay usuarios ni roles reales, razon por la cual la Clase 2 trabaja con matriz documentada.</a:t>
            </a:r>
          </a:p>
          <a:p>
            <a:r>
              <a:t>Oracle Live SQL exige cuenta gratuita pero conserva esquema y guiones entre sesiones y admite bloques PL/SQL, que es lo que se necesitara desde la Clase 3; conviene que el estudiante la cree hoy y no el dia que la necesite. draw.io corre en el navegador, no pide cuenta y exporta PNG, el formato que pide ExamLab.</a:t>
            </a:r>
          </a:p>
          <a:p>
            <a:r>
              <a:t>De ahi sale la regla operativa del curso: la fuente de verdad es el archivo sql en la carpeta del proyecto, nunca la pestana del navegador, y el estudiante va bien si reconstruye el esquema completo en menos de cinco minutos pegando su propio guion.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Ultimo tramo, y es el que decide si el taller se entrega o no: como pasa el estudiante del dibujo a lo que la plataforma califica.</a:t>
            </a:r>
          </a:p>
          <a:p>
            <a:r>
              <a:t>Eso no significa que haya que dibujar escribiendo codigo, y conviene decirlo asi para que nadie se bloquee: el camino corto es disenar visual en draw.io o Excalidraw, que es donde se piensa el modelo, y despues pedirle a una IA que traduzca ese boceto a Mermaid.</a:t>
            </a:r>
          </a:p>
          <a:p>
            <a:r>
              <a:t>El PNG exportado se conserva en la carpeta del PI para el informe, pero no reemplaza la respuesta en la plataforma.</a:t>
            </a:r>
          </a:p>
          <a:p>
            <a:r>
              <a:t>La demo debe terminar exactamente ahi, y deja los cuatro pasos proyectados mientras el grupo trabaja.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casi siempre y conviene tener la respuesta lista.</a:t>
            </a:r>
          </a:p>
          <a:p>
            <a:r>
              <a:t>La respuesta no es doctrinal sino de costo: ahi el telefono de un dueno con veinte citas vive veinte veces y basta una actualizacion parcial para que el sistema mienta; ademas ese diseno impide registrar un dueno sin cita o un insumo sin venta.</a:t>
            </a:r>
          </a:p>
          <a:p>
            <a:r>
              <a:t>Esa regla necesita otra herramienta: un CHECK cuando mira solo columnas de la misma fila, un procedimiento almacenado cuando debe consultar otra tabla, que es el hito de la Clase 3, o un disparador cuando debe aplicarse aunque nadie llame al procedimiento, que es el hito de la Clase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Revision BD I · Arranque VetCare DB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Huellitas es la clínica (el cliente); VetCare DB es la base de datos que usted construye para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Clínica Veterinaria «Huellitas»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(Cali):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150 citas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16 veterinarios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~5.000 mascotas de ~2.000 dueños — y todo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Duele en tres puntos: se extravían fichas, buscar un historial genera filas en la sala de espera, y no hay métricas.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personas van a usar el sistema, y esperan cosas distintas: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dueño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métricas,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recepcionista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agendar rápido,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veterinario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historial a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 Ahí están las decisiones de diseño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Caso completo: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anexo «Caso de estudio Clínica Huellitas» en Clases/Proyecto Integrador — 8 entidades, 3 reglas y el elenco de nombres.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la clinica Huellitas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administracion reporta tres problemas y conviene enunciarlos tal cual, porque cada uno se traduce despues en una decision de esquema: se extravian fichas de pacientes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es la razon de que el expediente tenga que vivir en una fila con clave primaria y no en un papel; buscar un historial en el archivo fisico genera filas en la sala de espera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motivo por el que en la Clase 7 se habla de indices y no como un tema abstracto de rendimiento; y no hay metricas, no saben cuantas especies atienden al 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la clinica Huellitas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es el SISTEMA que se le construye, y VetCare DB es concretamente la base de datos de ese sistema, que es lo que se hace en esta asignatura.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frontera de hoy conviene decirla de forma explicita para cortar la ansiedad: aqui no se pide la aplicacion ni la interfaz, se pide la capa de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producto del semestre es un esquema con integridad, roles, procedimientos y un plan de ejecucion, no una pantalla.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Alla el objetivo era escribir consultas que devolvieran el resultado correcto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 disenar un esquema que siga siendo correcto cuando lo usen tres personas distintas, cuando tenga cien mil filas y cuando alguien meta datos malos, a veces por error y a veces a proposito.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tabla, o relacion, es un conjunto de entidades del mismo tipo: mascota guarda mascotas y nada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fila es una instancia concreta e irrepetible: la perra Luna de la duena Ana Perez.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columna es un atributo, y todo atributo tiene un dominio, el conjunto de valores que el motor considera legales: especie no acepta cualquier texto, acepta Canino, Felino, Ave u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estas tres nociones se monta el semestre: los roles de la Clase 2 se otorgan sobre tablas, los procedimientos de la Clase 3 validan columnas y los indices de la Clase 7 se crean sobre columnas concretas.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 conceptual y nivel fisico: dos vistas del mismo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conceptual nombra entidades y relaciones con vocabulario de negocio y sin comprometerse con ningun motor: Dueno posee Mascota, Veterinario atiende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fisico convierte esas entidades en tablas con columnas tipadas, longitudes, restricciones y claves: dueno.telefono VARCHAR(30) NOT NULL.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dos vistas del MISMO modelo, no dos modelos distintos, y esa es la razon de que la clase produzca dos artefactos: el diagrama ER es la vista conceptual, y el guion CREATE TABLE es la misma informacion en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operativo para saber si el conceptual esta completo es exactamente ese: si otra persona puede escribir el fisico mirandolo, sin preguntar nada, esta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primaria es la columna, o el conjunto de columnas, que identifica una fila sin ambiguedad: no se repite y no admite nulos.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diseno real no es si poner clave primaria, sino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natural es un atributo del mundo real que ya identifica la entidad: la cedula del dueno, el microchip de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sustituta, o surrogate, es un numero sin significado de negocio que la base genera: id_dueno 1, 2,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pasan las tres cosas: el dueno llega sin cedula a la mano, un microchip se digita mal y hay que corregirlo, y una mascota rescatada no tiene microchip.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citable, y es convencion de oficio, no regla dura: si el valor lo controla un tercero, el Estado o un fabricante, no lo use como clave primaria.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dueno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INT PRIMARY KEY,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cedula VARCHAR(20) UNIQUE,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VARCHAR(80)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telefono VARCHAR(30),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email VARCHAR(120)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normalizacion se dicta mejor al reves de como se suele dictar: primero la enfermedad.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actualizacion: cuando Ana Perez cambia de telefono hay que actualizar todas sus citas, y si una queda sin actualizar la base contiene dos verdades contradictorias.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insercion: no se puede registrar un dueno nuevo hasta que tenga una cita, porque el dato solo vive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borrado: al eliminar la ultima cita desaparece el telefono.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Primera: nada de listas en una celda; guardar 3001112233 y 3159998877 juntos obliga a buscar con SUBSTR, no se puede indexar y no se sabe cual esta vigente, luego se crea telefono_dueno.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en detalle_factura, con clave compuesta (id_factura, id_insumo), un atributo como nombre_insumo depende solo de id_insumo y sale hacia insumo; en cambio precio_unitario se queda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este matiz separa a quien entendio de quien memorizo, porque no es redundancia sino el precio historico del momento de la venta: si el total se recalcula con el precio actual, reimprimir una factura de hace seis meses da otra cifra.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Tercera: si cita guardara especialidad_veterinario, ese atributo depende de id_veterinario y no de id_cita, luego sale hacia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forma normal es el punto de parada practico en casi todo sistema transaccional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eso es convencion; se rompe a proposito cuando conviene, por ejemplo guardando el total ya calculado en factura, decision que se sostiene con un disparador de la Clase 4 y se justifica con planes de ejecucion en las Clases 6 y 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apunta a la clave primaria de otra tabla y su efecto practico es que el motor se niega a guardar una referencia inventada.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intenta y la mascota 999 no existe, la sentencia falla y nombra la restriccion violada: eso es integridad referencial.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especifica nada, Oracle y PostgreSQL asumen el comportamiento restrictivo, y esa es regla dura del estandar, no convencion.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se decide entidad por entidad: mascota hacia dueno restrictivo, porque borrar un dueno no debe evaporar el historial clinico; consulta hacia cita restrictivo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consulta es el registro medico; detalle_factura hacia factura en cascada, porque una linea de detalle no significa nada sin su factura; detalle_factura hacia insumo restrictivo, porque no se puede borrar un insumo ya facturado.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honesta es que en produccion casi nada se borra: se marca inactivo con activa CHAR(1) DEFAULT 'S' CHECK (activa IN ('S','N')).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(id_cita, 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(101, 999, TIMESTAMP '2026-09-01 09:00:00', 'PROGRAMADA')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Baja logica: activa CHAR(1) en vez de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sistema real no se borran clientes ni pacientes: no se hace DELETE FROM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por integridad, porque la fila esta referenciada por citas, consultas y facturas y el motor lo va a impedir; segundo por trazabilidad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historial clinico y la facturacion de esa mascota tienen que seguir existiendo aunque la mascota ya no venga; y tercero porque un borrado es irreversible y una equivocacion de digitacion no deberia serlo.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vive en otra capa: un CHECK si solo mira columnas de la misma fila, un procedimiento almacenado si necesita consultar otra tabla (Clase 3), o un disparador si debe aplicarse aunque nadie llame al procedimiento (Clase 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falta distinguir un diagrama entidad-relacion de un dibujo, porque es facil hacer lo segundo creyendo que es lo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dibujo son cajas con nombres unidas por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bien hecho cumple cinco condiciones verificables: entidades en singular con su clave primaria marcada; cada atributo con tipo y longitud, no solo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clave foranea senalada indicando a que entidad apunta; cada relacion con cardinalidad en los dos extremos, con maximo y minimo; y cada relacion con nombre verbal legible, Dueno posee Mascota, Veterinario atiende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aceptacion que conviene entregar es operativo: el diagrama esta bien si otra persona puede escribir el CREATE TABLE completo mirandolo, sin preguntar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opcionalidad es la parte que siempre se omite y la que mas cuesta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Consulta y Cita estan en relacion uno a uno pero no simetrica: una cita programada aun no tiene consulta, y una consulta no existe sin su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referencia de tamano, el modelo tiene ocho entidades y siete relaciones y debe caber legible en una hoja; si no cabe, se divide en vistas por subsistema, y eso es convencion, no norma.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tipos parece trivial y es donde se pagan las facturas mas caras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telefono no es un numero: como NUMBER se pierden los ceros iniciales, no cabe el prefijo internacional ni una extension, asi que va VARCHAR(30).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fecha no es texto: si fecha_hora fuera VARCHAR(20), el ORDER BY seria alfabetico y no cronologico, no se podrian sumar treinta minutos para calcular el fin de la cita y el indice de la Clase 7 serviria de poco; va TIMESTAMP.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dinero no es flotante: FLOAT representa decimales en binario y arrastra errores que, sumados en cientos de lineas de detalle_factura, hacen que el total no cuadre con sus partes; va NUMBER(12,2) en Oracle o DECIMAL(12,2) en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tentacion contraria, declarar todo VARCHAR(4000) por comodidad, renuncia a que la base valide algo y traslada la validacion entera a quien programe cada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Numeros de referencia como convencion del curso: nombre VARCHAR(80), email VARCHAR(120) porque el estandar de correo admite hasta 254 caracteres, telefono VARCHAR(30), especie VARCHAR(40).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de equivocarse no es reescribir una linea: la tabla ya tiene datos, el ALTER TABLE debe convertir cada valor, puede fallar por una sola fila invalida, bloquea la tabla mientras dura, y los procedimientos de las Clases 3 y 4 ya asumen el tipo antiguo.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en minusculas: PostgreSQL pliega a minuscula cualquier identificador sin comillas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escribir CREATE TABLE Mascota y despues consultarlo entrecomillado produce un error de tabla inexistente que cuesta veinte minutos de clase encontrar; la regla practica es no usar nunca comillas dobles en identificadores.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de tabla en singular y sin tildes ni enes: dueno, mascota, cita, veterinario, consulta, insumo, factura, detalle_factura.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 es un conjunto de entidades del mismo tipo, pero se nombra por lo que guarda cada fila, y el singular hace que la clave foranea se lea sola: cita.id_mascota apunta a mascota.id_mascota.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Palabras compuestas con guion bajo (detalle_factura, fecha_hora), nunca camelCase.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convencion que mas tiempo ahorra en el semestre: el mismo nombre en el diagrama, en el DDL y en el codigo Mermaid; cuando los tres coinciden, el modelo se lee una sola vez.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dia y que se puede demostrar con cada 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lo que se puede demostrar con herramientas gratuitas conviene ser preciso.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se demuestra el borrado en cascada: DELETE FROM factura WHERE id_factura = 1 y verificar con SELECT COUNT(*) FROM detalle_factura que las lineas hijas desaparecieron.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ER dibujado al codigo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modelo ER en Mermaid NO es una imagen: es texto en sintaxis Mermaid (erDiagram) que un visor renderiza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IA acierta la sintaxis; el modelo sigue siendo del estudiante, y por eso hay que revisar lo que devuelve: entidades completas, cardinalidades en el sentido correcto, PK y FK marcadas.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que nadie se puede saltar es pegar el codigo en un visor Mermaid y mirarlo renderizado, porque un diagrama que no renderiza no comunica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Primera: si la pantalla muestra todo junto, por que no una sola tabla con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la clave primaria tiene que ser el primer campo y autoincremental.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No: el orden fisico de las columnas es irrelevante para el motor, la clave primaria es una restriccion y no una posicion, y el autoincremento es solo una forma comoda de generar valores sustitutos.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la mas valiosa porque abre las clases siguientes: si pongo la clave foranea, ya no necesito validar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garantiza que el identificador exista, no que la regla de negocio se cumpla; la mascota inactiva tiene un identificador valido y la clave foranea la acepta sin chistar.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patron de tabla: PK, obligatorios y dominio cerrado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Mismo patron que pedira su DDL, sobre otra tabla del modelo.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veterinario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id_veterinario SERIAL PRIMARY KEY,      -- sustituta: la genera la base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tarjeta_prof   VARCHAR(30) UNIQUE,      -- natural: unica, pero puede faltar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    VARCHAR(80) NOT NULL,    -- obligatorio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especialidad   VARCHAR(40)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CHECK (especialidad IN ('GENERAL','CIRUGIA','DERMATOLOGIA')),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activo         CHAR(1) DEFAULT 'S'      -- baja logica, no DELETE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CHECK (activo IN ('S','N'))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clave foranea y que pasa al borrar el padre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insumo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id_insumo  SERIAL PRIMARY KEY,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VARCHAR(80)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stock      INT NOT NULL DEFAULT 0 CHECK (stock &gt;= 0),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precio     DECIMAL(12,2) NOT NULL CHECK (precio &gt; 0)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El comportamiento al borrar el padre SE ELIGE. Si no se declara,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PostgreSQL asume NO ACTION: se niega a borrar. Eso es del estandar.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detalle_factura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fk_detalle_insumo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FOREIGN KEY (id_insumo) REFERENCES insumo (id_insumo)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ON DELETE RESTRICT;   -- no se borra un insumo ya facturado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referencial: el error que devuelve el motor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Existe la mascota 1, no existe la 999.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(1, TIMESTAMP '2026-09-01 09:00:00',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INSERT 0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(999, TIMESTAMP '2026-09-01 10:00:00',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ERROR:  insert or update on table "cita" violates foreign key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     constraint "cita_id_mascota_fkey"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DETAIL:  Key (id_mascota)=(999) is not present in table "mascota".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JOIN de tres tablas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m.nombre    AS mascota,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d.nombre    AS dueno,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c.fecha_hora,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c.estado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dueno   d ON d.id_dueno   = m.id_dueno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DATE '2026-09-01'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m.activa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c.fecha_hora;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el DDL NO puede defender solo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FK garantiza que el identificador EXISTA. No que el negocio lo quiera.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mascota SET activa = 'N' WHERE id_mascota = 1;   -- baja logica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(1, TIMESTAMP '2026-09-02 08:00:00',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INSERT 0 1   &lt;-- la acepta: para el motor la mascota 1 existe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Un CHECK tampoco: solo mira columnas de SU propia fila.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 «una mascota inactiva no agenda» necesita consultar OTRA tabla,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y eso es un procedimiento (Clase 3) o un trigger (Clase 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93607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es texto Mermaid: la imagen sale del codigo, no al reves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 usando erDiagram.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y corrige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codigo en un visor Mermaid (por ejemplo mermaid.live) y mira como lo dibuja. Si no renderiza, corrige ahi mismo: un diagrama que no renderiza no comunica nada.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codigo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Conserva el texto Mermaid, que es la fuente, y exporta el PNG para tu informe del Proyecto Integrador.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Revision BD I · Arranque VetCare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cliente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Por que esto no es Bases de Datos I, y el vocabulario minimo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Nivel conceptual y nivel fisico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