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3" roundtripDataSignature="AMtx7mi89OZvy8BkTcn1alg4A4R+M8rp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2.png"/><Relationship Id="rId8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blanco.png" id="87" name="Google Shape;8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384048"/>
            <a:ext cx="2011680" cy="87681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fmla="val 12000" name="adj"/>
            </a:avLst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Clase 1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Revision BD I · Arranque VetCare DB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Diagnostico · dominio PI · primer modelo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EB8D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Encuadre de hoy · Objetivo PI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Hoy avanzamos el PI en: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Arranque PI: dominio, alcance y borrador ER de VetCare DB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Herramienta: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draw.io + DB Fiddle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Bloque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120 min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Teoría breve · Taller PI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 de hoy: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Ficha del PI (plantilla) + ER en Mermaid renderizado en ExamLab (PNG para tu carpeta) + 3 reglas Condicion -&gt; Accion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Gratis + navegador · free tier · sin software de pago obligatorio.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La teoría no es un tema aislado: alimenta evidencias de la rúbrica del PI.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Al salir: avance concreto en su paquete VetCare.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Mapa del bloque de hoy (120 min)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0-10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Encuadre · clase regular · VetCare</a:t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fmla="val 12000" name="adj"/>
            </a:avLst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10-35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Teoría Core breve (al servicio del PI)</a:t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35-55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Demo con la herramienta del día</a:t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fmla="val 12000" name="adj"/>
            </a:avLst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55-105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guiado = tarea del PI</a:t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105-120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Criterios de exito · cierre · dudas del PI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Solo el bloque de </a:t>
            </a:r>
            <a:r>
              <a:rPr b="1" i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esta</a:t>
            </a:r>
            <a:r>
              <a:rPr b="0" i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 clase · 120 min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Teoria Core (breve)</a:t>
            </a:r>
            <a:endParaRPr/>
          </a:p>
        </p:txBody>
      </p:sp>
      <p:sp>
        <p:nvSpPr>
          <p:cNvPr id="135" name="Google Shape;135;p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Nivel conceptual = entidades y relaciones; nivel fisico = tablas con tipos y longitudes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Clave foranea (FK): columna que apunta a la PK de otra tabla y materializa una relacion (1-N o N-N via tabla…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Normalizacion 1FN-3FN en una frase cada una: 1FN = nada de listas dentro de una celda (una fila = una…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Error de docente que no domina el tema: confundir PK con 'el primer campo de la tabla', o asumir que…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Dominio VetCare y sus relaciones: Dueno 1-N Mascota, Mascota 1-N Cita, Veterinario 1-N Cita, Consulta 1-1…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 minimo VetCare (con cardinalidad)</a:t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La FK siempre vive en la tabla del lado “N” de la relacion</a:t>
            </a:r>
            <a:endParaRPr/>
          </a:p>
        </p:txBody>
      </p:sp>
      <p:sp>
        <p:nvSpPr>
          <p:cNvPr id="145" name="Google Shape;145;p5"/>
          <p:cNvSpPr/>
          <p:nvPr/>
        </p:nvSpPr>
        <p:spPr>
          <a:xfrm>
            <a:off x="917765" y="2112267"/>
            <a:ext cx="2469000" cy="1463100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Dueño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id_dueno (PK)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nombre, telefono</a:t>
            </a: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4118164" y="2112267"/>
            <a:ext cx="2469000" cy="1463100"/>
          </a:xfrm>
          <a:prstGeom prst="roundRect">
            <a:avLst>
              <a:gd fmla="val 12000" name="adj"/>
            </a:avLst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Mascota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id_mascota (PK)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id_dueno (FK)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activa</a:t>
            </a: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7318565" y="2112267"/>
            <a:ext cx="2469000" cy="1463100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Cita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id_cita (PK)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id_mascota (FK)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fecha_hora</a:t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7318565" y="4123948"/>
            <a:ext cx="2469000" cy="1005900"/>
          </a:xfrm>
          <a:prstGeom prst="roundRect">
            <a:avLst>
              <a:gd fmla="val 12000" name="adj"/>
            </a:avLst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Veterinario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id_veterinario (PK)</a:t>
            </a:r>
            <a:endParaRPr/>
          </a:p>
        </p:txBody>
      </p:sp>
      <p:cxnSp>
        <p:nvCxnSpPr>
          <p:cNvPr id="149" name="Google Shape;149;p5"/>
          <p:cNvCxnSpPr/>
          <p:nvPr/>
        </p:nvCxnSpPr>
        <p:spPr>
          <a:xfrm>
            <a:off x="3386645" y="2843788"/>
            <a:ext cx="731400" cy="0"/>
          </a:xfrm>
          <a:prstGeom prst="straightConnector1">
            <a:avLst/>
          </a:prstGeom>
          <a:noFill/>
          <a:ln cap="flat" cmpd="sng" w="22225">
            <a:solidFill>
              <a:srgbClr val="66666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0" name="Google Shape;150;p5"/>
          <p:cNvSpPr txBox="1"/>
          <p:nvPr/>
        </p:nvSpPr>
        <p:spPr>
          <a:xfrm>
            <a:off x="2929445" y="2642620"/>
            <a:ext cx="1645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 : N</a:t>
            </a:r>
            <a:endParaRPr/>
          </a:p>
        </p:txBody>
      </p:sp>
      <p:cxnSp>
        <p:nvCxnSpPr>
          <p:cNvPr id="151" name="Google Shape;151;p5"/>
          <p:cNvCxnSpPr/>
          <p:nvPr/>
        </p:nvCxnSpPr>
        <p:spPr>
          <a:xfrm>
            <a:off x="6587045" y="2843788"/>
            <a:ext cx="731400" cy="0"/>
          </a:xfrm>
          <a:prstGeom prst="straightConnector1">
            <a:avLst/>
          </a:prstGeom>
          <a:noFill/>
          <a:ln cap="flat" cmpd="sng" w="22225">
            <a:solidFill>
              <a:srgbClr val="66666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2" name="Google Shape;152;p5"/>
          <p:cNvSpPr txBox="1"/>
          <p:nvPr/>
        </p:nvSpPr>
        <p:spPr>
          <a:xfrm>
            <a:off x="6129844" y="2642620"/>
            <a:ext cx="1645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 : N</a:t>
            </a:r>
            <a:endParaRPr/>
          </a:p>
        </p:txBody>
      </p:sp>
      <p:cxnSp>
        <p:nvCxnSpPr>
          <p:cNvPr id="153" name="Google Shape;153;p5"/>
          <p:cNvCxnSpPr/>
          <p:nvPr/>
        </p:nvCxnSpPr>
        <p:spPr>
          <a:xfrm rot="10800000">
            <a:off x="8553004" y="3575248"/>
            <a:ext cx="0" cy="548700"/>
          </a:xfrm>
          <a:prstGeom prst="straightConnector1">
            <a:avLst/>
          </a:prstGeom>
          <a:noFill/>
          <a:ln cap="flat" cmpd="sng" w="22225">
            <a:solidFill>
              <a:srgbClr val="66666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4" name="Google Shape;154;p5"/>
          <p:cNvSpPr txBox="1"/>
          <p:nvPr/>
        </p:nvSpPr>
        <p:spPr>
          <a:xfrm>
            <a:off x="7730044" y="3648460"/>
            <a:ext cx="1645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 : N</a:t>
            </a:r>
            <a:endParaRPr/>
          </a:p>
        </p:txBody>
      </p:sp>
      <p:sp>
        <p:nvSpPr>
          <p:cNvPr id="155" name="Google Shape;155;p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“Un dueño tiene N mascotas”, “una mascota tiene N citas”. La PK identifica cada fila; la FK materializa la relación y la BD la hace cumplir.</a:t>
            </a:r>
            <a:endParaRPr/>
          </a:p>
        </p:txBody>
      </p:sp>
      <p:sp>
        <p:nvSpPr>
          <p:cNvPr id="156" name="Google Shape;156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DDL minimo que sostiene el ER</a:t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fmla="val 12000" name="adj"/>
            </a:avLst>
          </a:prstGeom>
          <a:solidFill>
            <a:srgbClr val="1E2A3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● ● ●</a:t>
            </a:r>
            <a:endParaRPr/>
          </a:p>
        </p:txBody>
      </p:sp>
      <p:sp>
        <p:nvSpPr>
          <p:cNvPr id="167" name="Google Shape;167;p6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CREATE TABLE mascota (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id_mascota INT PRIMARY KEY,               -- PK: identifica la fila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id_dueno   INT NOT NULL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         REFERENCES dueno(id_dueno),    -- FK: materializa la relacion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nombre     VARCHAR(60) NOT NULL,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activa     CHAR(1) DEFAULT 'S'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         CHECK (activa IN ('S','N'))    -- regla de negocio en la BD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);</a:t>
            </a:r>
            <a:endParaRPr/>
          </a:p>
        </p:txBody>
      </p:sp>
      <p:sp>
        <p:nvSpPr>
          <p:cNvPr id="168" name="Google Shape;168;p6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La FK vive en el lado 'N' de la relacion. El CHECK ya es una regla de negocio.</a:t>
            </a:r>
            <a:endParaRPr/>
          </a:p>
        </p:txBody>
      </p:sp>
      <p:sp>
        <p:nvSpPr>
          <p:cNvPr id="169" name="Google Shape;169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del dia</a:t>
            </a:r>
            <a:endParaRPr/>
          </a:p>
        </p:txBody>
      </p:sp>
      <p:sp>
        <p:nvSpPr>
          <p:cNvPr id="177" name="Google Shape;177;p7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Herramienta: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draw.io + DB Fiddle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Demo: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Boceto ER en draw.io (Dueno-Mascota-Cita) + CREATE TABLE minimo en DB Fiddle, y cierre pasando el boceto a Mermaid con IA para pegarlo renderizado en ExamLab.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Sigan el mismo dominio VetCare (no inventen otro caso).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Al final de la demo: dejar enlace/script compartible al grupo.</a:t>
            </a:r>
            <a:endParaRPr/>
          </a:p>
        </p:txBody>
      </p:sp>
      <p:sp>
        <p:nvSpPr>
          <p:cNvPr id="178" name="Google Shape;178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 hoy</a:t>
            </a:r>
            <a:endParaRPr/>
          </a:p>
        </p:txBody>
      </p:sp>
      <p:sp>
        <p:nvSpPr>
          <p:cNvPr id="186" name="Google Shape;186;p8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o free tier</a:t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rawio.png" id="190" name="Google Shape;19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9331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8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ER VetCare</a:t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bfiddle.png" id="195" name="Google Shape;19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5485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8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DB Fiddle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DDL demo</a:t>
            </a:r>
            <a:endParaRPr/>
          </a:p>
        </p:txBody>
      </p:sp>
      <p:sp>
        <p:nvSpPr>
          <p:cNvPr id="197" name="Google Shape;197;p8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oracle_livesql.png" id="200" name="Google Shape;20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11640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8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Oracle Live SQL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Playground</a:t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oogle_docs.png" id="205" name="Google Shape;205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659331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8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Ficha del PI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ermaid.png" id="210" name="Google Shape;210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485485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8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Mermaid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Codigo del ER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215" name="Google Shape;215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311640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8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Donde se entrega</a:t>
            </a:r>
            <a:endParaRPr/>
          </a:p>
        </p:txBody>
      </p:sp>
      <p:sp>
        <p:nvSpPr>
          <p:cNvPr id="217" name="Google Shape;217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 boceto a ExamLab (diagrama)</a:t>
            </a: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El diagrama se entrega como codigo Mermaid dentro de ExamLab, no como imagen</a:t>
            </a: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29" name="Google Shape;229;p9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Disena visual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Dibuja el diagrama como quieras en Excalidraw o draw.io: es mas rapido arrastrar cajas que escribir codigo, y ahi es donde piensas el modelo.</a:t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33" name="Google Shape;233;p9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Traduce con IA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37" name="Google Shape;237;p9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Pega y renderiza en ExamLab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41" name="Google Shape;241;p9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Guarda el PNG para tu PI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Exporta tambien la imagen a la carpeta de tu Proyecto Integrador. Esa copia es para tu informe; no reemplaza la respuesta en la plataforma.</a:t>
            </a:r>
            <a:endParaRPr/>
          </a:p>
        </p:txBody>
      </p:sp>
      <p:sp>
        <p:nvSpPr>
          <p:cNvPr id="242" name="Google Shape;242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VetCare — contexto / por que importa</a:t>
            </a:r>
            <a:endParaRPr/>
          </a:p>
        </p:txBody>
      </p:sp>
      <p:sp>
        <p:nvSpPr>
          <p:cNvPr id="250" name="Google Shape;250;p10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Por qué importa al PI VetCare: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sin ER/alcance no hay base para procs ni seguridad.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Hoy cierras dominio + entidades mínimas + reglas de negocio propias.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El DDL demo (Codigo/) es semilla; tu ER manda.</a:t>
            </a:r>
            <a:endParaRPr/>
          </a:p>
        </p:txBody>
      </p:sp>
      <p:sp>
        <p:nvSpPr>
          <p:cNvPr id="251" name="Google Shape;251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VetCare — objetivo y criterios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Arrancar VetCare: ficha + ER borrador + entidades/reglas.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Exito: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Proyecto nombrado y registrado.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Exito: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ER PNG con entidades mínimas.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Exito: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3 reglas de negocio propias.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Exito: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Alcance SI/NO 5-8 lineas.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Exito: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Entrega domingo 23:59.</a:t>
            </a:r>
            <a:endParaRPr/>
          </a:p>
        </p:txBody>
      </p:sp>
      <p:sp>
        <p:nvSpPr>
          <p:cNvPr id="260" name="Google Shape;260;p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VetCare — escenario / datos de partida</a:t>
            </a:r>
            <a:endParaRPr/>
          </a:p>
        </p:txBody>
      </p:sp>
      <p:sp>
        <p:nvSpPr>
          <p:cNvPr id="268" name="Google Shape;268;p12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Dominio: clínica veterinaria VetCare.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Ficha con plantilla fija: VetCare - [Apellido], alcance SI / NO y 3 reglas Condición → Acción.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Diagrama: boceto visual en Excalidraw o draw.io → código Mermaid (erDiagram) → ExamLab.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Nombres en minúscula y singular (dueno, mascota, cita) con id_&lt;entidad&gt;: iguales en ER, DDL y Mermaid.</a:t>
            </a:r>
            <a:endParaRPr/>
          </a:p>
        </p:txBody>
      </p:sp>
      <p:sp>
        <p:nvSpPr>
          <p:cNvPr id="269" name="Google Shape;269;p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VetCare — pasos guiados</a:t>
            </a:r>
            <a:endParaRPr/>
          </a:p>
        </p:txBody>
      </p:sp>
      <p:sp>
        <p:nvSpPr>
          <p:cNvPr id="277" name="Google Shape;277;p13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80" name="Google Shape;280;p13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Registrar el proyecto con el nombre exacto VetCare - [Apellido] (trabajo individual por defecto; equipo de 2-3 solo si el docente lo autoriza).</a:t>
            </a:r>
            <a:endParaRPr/>
          </a:p>
        </p:txBody>
      </p:sp>
      <p:sp>
        <p:nvSpPr>
          <p:cNvPr id="281" name="Google Shape;281;p13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84" name="Google Shape;284;p13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Llenar la plantilla de la ficha del PI: alcance SI / alcance NO y 3 reglas de negocio propias en formato Condicion -&gt; Accion.</a:t>
            </a:r>
            <a:endParaRPr/>
          </a:p>
        </p:txBody>
      </p:sp>
      <p:sp>
        <p:nvSpPr>
          <p:cNvPr id="285" name="Google Shape;285;p13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3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88" name="Google Shape;288;p13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Dibujar el ER borrador en Excalidraw o draw.io, pasarlo a Mermaid (erDiagram) con ayuda de una IA y pegarlo renderizado en ExamLab.</a:t>
            </a:r>
            <a:endParaRPr/>
          </a:p>
        </p:txBody>
      </p:sp>
      <p:sp>
        <p:nvSpPr>
          <p:cNvPr id="289" name="Google Shape;289;p13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92" name="Google Shape;292;p13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Exportar tambien el PNG del ER a la carpeta del PI y verificar que los nombres coincidan con el DDL (minusculas, singular, id_&lt;entidad&gt;).</a:t>
            </a:r>
            <a:endParaRPr/>
          </a:p>
        </p:txBody>
      </p:sp>
      <p:sp>
        <p:nvSpPr>
          <p:cNvPr id="293" name="Google Shape;293;p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VetCare — pistas (checklist vacio)</a:t>
            </a:r>
            <a:endParaRPr/>
          </a:p>
        </p:txBody>
      </p:sp>
      <p:sp>
        <p:nvSpPr>
          <p:cNvPr id="301" name="Google Shape;301;p1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4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4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4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□ El proyecto se llama VetCare - [Apellido]?</a:t>
            </a:r>
            <a:endParaRPr/>
          </a:p>
        </p:txBody>
      </p:sp>
      <p:sp>
        <p:nvSpPr>
          <p:cNvPr id="305" name="Google Shape;305;p14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4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4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□ Las 3 reglas están escritas como Condición → Acción?</a:t>
            </a:r>
            <a:endParaRPr/>
          </a:p>
        </p:txBody>
      </p:sp>
      <p:sp>
        <p:nvSpPr>
          <p:cNvPr id="309" name="Google Shape;309;p14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4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4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□ El Mermaid renderiza dentro de ExamLab (no basta el PNG)?</a:t>
            </a:r>
            <a:endParaRPr/>
          </a:p>
        </p:txBody>
      </p:sp>
      <p:sp>
        <p:nvSpPr>
          <p:cNvPr id="313" name="Google Shape;313;p14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4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4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□ Hay PK/FK visibles en el ER?</a:t>
            </a:r>
            <a:endParaRPr/>
          </a:p>
        </p:txBody>
      </p:sp>
      <p:sp>
        <p:nvSpPr>
          <p:cNvPr id="317" name="Google Shape;317;p14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4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4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□ Mascota inactiva / stock aparecen como regla?</a:t>
            </a:r>
            <a:endParaRPr/>
          </a:p>
        </p:txBody>
      </p:sp>
      <p:sp>
        <p:nvSpPr>
          <p:cNvPr id="321" name="Google Shape;321;p1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□ El alcance evita scope infinito?</a:t>
            </a:r>
            <a:endParaRPr/>
          </a:p>
        </p:txBody>
      </p:sp>
      <p:sp>
        <p:nvSpPr>
          <p:cNvPr id="325" name="Google Shape;325;p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Criterios de exito / entregable</a:t>
            </a:r>
            <a:endParaRPr/>
          </a:p>
        </p:txBody>
      </p:sp>
      <p:sp>
        <p:nvSpPr>
          <p:cNvPr id="333" name="Google Shape;333;p15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Ficha del PI (plantilla) + ER en Mermaid renderizado en ExamLab (PNG para tu carpeta) + 3 reglas Condicion -&gt; Accion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Evidencia en playground (enlace) o archivo SQL/PNG propio.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Actualizar checklist PI (que criterio de rubrica avanzo).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 en ExamLab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(https://uniaj.examlab.workers.dev/) — domingo 23:59 cuando aplique taller.</a:t>
            </a:r>
            <a:endParaRPr/>
          </a:p>
        </p:txBody>
      </p:sp>
      <p:sp>
        <p:nvSpPr>
          <p:cNvPr id="334" name="Google Shape;334;p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el PI esta semana</a:t>
            </a:r>
            <a:endParaRPr/>
          </a:p>
        </p:txBody>
      </p:sp>
      <p:sp>
        <p:nvSpPr>
          <p:cNvPr id="342" name="Google Shape;342;p16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6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Hito: Arranque PI: dominio, alcance y borrador ER de VetCare DB</a:t>
            </a:r>
            <a:endParaRPr/>
          </a:p>
        </p:txBody>
      </p:sp>
      <p:sp>
        <p:nvSpPr>
          <p:cNvPr id="345" name="Google Shape;345;p16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FF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6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6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Enunciado completo: Clases/Proyecto Integrador/ (VetCare DB).</a:t>
            </a:r>
            <a:endParaRPr/>
          </a:p>
        </p:txBody>
      </p:sp>
      <p:sp>
        <p:nvSpPr>
          <p:cNvPr id="348" name="Google Shape;348;p16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BE4E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6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6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A02030"/>
                </a:solidFill>
                <a:latin typeface="Calibri"/>
                <a:ea typeface="Calibri"/>
                <a:cs typeface="Calibri"/>
                <a:sym typeface="Calibri"/>
              </a:rPr>
              <a:t>Atención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de la semana en ExamLab (https://uniaj.examlab.workers.dev/): domingo 23:59 (regla del Acuerdo) cuando aplique.</a:t>
            </a:r>
            <a:endParaRPr/>
          </a:p>
        </p:txBody>
      </p:sp>
      <p:sp>
        <p:nvSpPr>
          <p:cNvPr id="351" name="Google Shape;351;p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357" name="Google Shape;35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17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Clase 1 · VetCare avanza</a:t>
            </a:r>
            <a:endParaRPr/>
          </a:p>
        </p:txBody>
      </p:sp>
      <p:sp>
        <p:nvSpPr>
          <p:cNvPr id="359" name="Google Shape;359;p17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Arranque PI: dominio, alcance y borrador ER de VetCare DB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Entregable: Ficha del PI (plantilla) + ER en Mermaid renderizado en ExamLab (PNG para tu carpeta) + 3 reglas Condicion -&gt; Accion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Siguiente clase: continuar el hilo del PI segun plan</a:t>
            </a:r>
            <a:endParaRPr/>
          </a:p>
        </p:txBody>
      </p:sp>
      <p:sp>
        <p:nvSpPr>
          <p:cNvPr id="360" name="Google Shape;360;p17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Teoria breve · practica = PI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