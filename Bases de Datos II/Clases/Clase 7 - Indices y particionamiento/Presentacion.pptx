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tres adjetivos de la definicion importan.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Balanceado significa que todas las hojas quedan a la misma profundidad, asi que cualquier busqueda cuesta lo mismo y no hay valores afortunados.</a:t>
            </a:r>
          </a:p>
          <a:p>
            <a:r>
              <a:t>De ahi la afirmacion que el docente debe poder defender: tres o cuatro niveles alcanzan para tablas de millones de filas, y encontrar una fila cuesta tres o cuatro lecturas de pagina, sin importar si la tabla tiene cien mil filas o cincuenta millones.</a:t>
            </a:r>
          </a:p>
          <a:p>
            <a:r>
              <a:t>Esa es exactamente la forma de la consulta C1 de la clase, que pide un rango de un dia.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El precio de indexar se paga en cada escritura y hay que cuantificarlo, porque es la mitad del veredicto que la pregunta 5 pide por escrito.</a:t>
            </a:r>
          </a:p>
          <a:p>
            <a:r>
              <a:t>Fuera de la lamina (habla de la practica): En produccion eso se decide con datos: PostgreSQL expone pg_stat_user_indexes, donde idx_scan en cero significa que el indice nunca se uso; conviene mencionarlo aunque en una sesion de taller no de tiempo de acumular estadisticas de uso.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ahi la regla del prefijo mas a la izquierda: un indice sobre (estado, fecha_hora) resuelve una busqueda por estado, y una por estado junto con fecha_hora, pero NO resuelve eficientemente una busqueda solo por fecha_hora, igual que en el directorio no se pueden encontrar todas las personas llamadas Ana sin leerlo entero.</a:t>
            </a:r>
          </a:p>
          <a:p>
            <a:r>
              <a:t>El corolario de diseno cabe en una linea, y es la que hay que dejar escrita en la pizarra: las columnas comparadas por igualdad van primero y la comparada por rango va al final, porque despues del primer rango el orden interno del indice deja de ser aprovechable.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Oracle no tiene INCLUDE y la columna se agrega al final de la clave.</a:t>
            </a:r>
          </a:p>
          <a:p>
            <a:r>
              <a:t>Fuera de la lamina (habla de la practica): Esto NO se califica hoy, pero es la respuesta a la pregunta que va a salir cuando alguien vea Index Only Scan en su plan y no sepa si esta bien.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Cinco, se violo el prefijo mas a la izquierda.</a:t>
            </a:r>
          </a:p>
          <a:p>
            <a:r>
              <a:t>Seis, la condicion combina columnas de indices distintos con OR, caso en el que el motor arma una combinacion de mapas de bits o simplemente escanea.</a:t>
            </a:r>
          </a:p>
          <a:p>
            <a:r>
              <a:t>Siete, el tipo de dato o la ordenacion no coincide con lo que el predicado compara.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nombre de cada indice importa.</a:t>
            </a:r>
          </a:p>
          <a:p>
            <a:r>
              <a:t>Dos hechos sobre claves evitan la mitad de los indices inutiles que se entregan en los proyectos.</a:t>
            </a:r>
          </a:p>
          <a:p>
            <a:r>
              <a:t>Fuera de la lamina (habla de la practica): Aqui empieza la parte que se califica letra por letra, y conviene decirlo con esas palabras.</a:t>
            </a:r>
          </a:p>
          <a:p>
            <a:r>
              <a:t>Fuera de la lamina (habla de la practica): El nombre de cada indice importa, porque el plan de ejecucion imprime literalmente Index Scan using seguido del nombre y porque la tabla de justificacion de la pregunta 5 se llena con esos mismos nombres.</a:t>
            </a:r>
          </a:p>
          <a:p>
            <a:r>
              <a:t>Fuera de la lamina (habla de la practica): Un aviso concreto: idx_cita_fecha no es ninguno de los cinco, el sufijo es _fecha_hora como la columna, y ese fue durante un tiempo el nombre que aparecia en el material; si alguien lo escribe asi pierde puntos por el nombre y no por el concepto.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los CREATE INDEX.</a:t>
            </a:r>
          </a:p>
          <a:p>
            <a:r>
              <a:t>Fuera de la lamina (habla de la practica): El enunciado ademas exige comentar CUAL de los dos indices sobre fecha_hora eligio el planeador para C1, y la rubrica descuenta si no se comenta: no basta pegar el plan, hay que leerlo.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regla del prefijo izquierdo vista en vivo, y es la unica manera de que no quede como una frase que se memoriza.</a:t>
            </a:r>
          </a:p>
          <a:p>
            <a:r>
              <a:t>Un plan distinto bien leido vale mas que el plan esperado copiado.</a:t>
            </a:r>
          </a:p>
          <a:p>
            <a:r>
              <a:t>Fuera de la lamina (habla de la practica): La pregunta 2 no pide creer la regla del prefijo izquierdo, pide demostrarla, y el docente tiene que poder anticipar los tres resultados.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advertencia importante para el docente, porque es la que ha costado puntos: eso NO significa que hoy el particionamiento sea una idea conceptual que solo se cuenta.</a:t>
            </a:r>
          </a:p>
          <a:p>
            <a:r>
              <a:t>Lo que si es cierto, y hay que decirlo en la misma frase, es que con 5.010 filas la ganancia de RENDIMIENTO no es apreciable: lo que se demuestra hoy es que el motor descarta particiones enteras antes de leer, y que archivar un ano se vuelve trivial.</a:t>
            </a:r>
          </a:p>
          <a:p>
            <a:r>
              <a:t>En una tabla particionada PostgreSQL exige que la PK incluya la columna de particion, asi que la clave pasa a ser (id_cita, fecha_hora).</a:t>
            </a:r>
          </a:p>
          <a:p>
            <a:r>
              <a:t>Fuera de la lamina (habla de la practica): Si el docente anuncia que hoy no se implementa, el estudiante llega al taller con una respuesta en prosa a una pregunta que pide SQL ejecutado.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esa consulta no hay evidencia del enrutamiento, solo un INSERT que no dio error.</a:t>
            </a:r>
          </a:p>
          <a:p>
            <a:r>
              <a:t>Fuera de la lamina (habla de la practica): Sin esa consulta no hay evidencia del enrutamiento, solo un INSERT que no dio error, y la rubrica lo pide explicitamente.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veredicto de particionamiento tiene tres exigencias distintas.</a:t>
            </a:r>
          </a:p>
          <a:p>
            <a:r>
              <a:t>Fuera de la lamina (habla de la practica): Segunda: la ganancia de rendimiento con 5.010 filas no es apreciable, y reconocerlo suma puntos en vez de restarlos, porque la alternativa es inventar una mejora que el plan no muestra.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script trae cinco bloques y el orden importa.</a:t>
            </a:r>
          </a:p>
          <a:p>
            <a:r>
              <a:t>Lo que no se puede hacer es medir en una base de 20 filas: el plan no va a cambiar y el grupo se va a llevar la conclusion contraria.</a:t>
            </a:r>
          </a:p>
          <a:p>
            <a:r>
              <a:t>Fuera de la lamina (habla de la practica): El bloque 4 es el particionamiento completo, con una salvedad que hay que decir en vivo: como la siembra del bloque 0 pone todas las citas en 2026, todo cae en cita_hist_2026 y cita_hist_2025 queda vacia; eso ya demuestra el enrutamiento, y la base de la pregunta 3 si reparte sus 5.010 citas entre los dos anos.</a:t>
            </a:r>
          </a:p>
          <a:p>
            <a:r>
              <a:t>Fuera de la lamina (habla de la practica): Si el bloque 0 no alcanza el tiempo, la alternativa es abrir directamente la pregunta 1 de la clase, que ya trae la base sembrada, y correr los bloques 1 y 2 ahi.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Ahi corre la demo.</a:t>
            </a:r>
          </a:p>
          <a:p>
            <a:r>
              <a:t>Lo que si se puede medir aqui: el cambio de Seq Scan a Index Scan, la eleccion entre dos indices que compiten, el efecto del orden de columnas con su DROP INDEX, el particionamiento declarativo completo y la poda en el plan, y el tamano de cada indice con pg_relation_size.</a:t>
            </a:r>
          </a:p>
          <a:p>
            <a:r>
              <a:t>Lo que NO se puede medir, y hay que declararlo en el informe en vez de inventarlo: los tiempos con la memoria intermedia vacia, porque vaciarla exige privilegios de administrador; el tiempo de creacion de un indice sobre decenas de millones de filas; la fragmentacion despues de meses de escrituras; la degradacion medible de un INSERT con diez indices, que necesita una carga sostenida; y cualquier cosa que exija dos sesiones simultaneas, porque PGlite corre una sola, que es el tema de la Clase 10.</a:t>
            </a:r>
          </a:p>
          <a:p>
            <a:r>
              <a:t>Fuera de la lamina (habla de la practica): Ahi corre la demo, ahi se resuelve el taller y ahi se califica, asi que no hay razon para trabajar en otro sitio.</a:t>
            </a:r>
          </a:p>
          <a:p>
            <a:r>
              <a:t>Fuera de la lamina (habla de la practica): En particular DB Fiddle queda fuera, aunque tambien tenga PostgreSQL, por un motivo concreto: la base sembrada con las 30.010 citas no existe alli, y sin ella no se puede reproducir ni el cambio de plan ni las 91 filas que la rubrica menciona.</a:t>
            </a:r>
          </a:p>
          <a:p>
            <a:r>
              <a:t>Fuera de la lamina (habla de la practica): Un alterno que cuesta puntos no es un alterno.</a:t>
            </a:r>
          </a:p>
          <a:p>
            <a:r>
              <a:t>Fuera de la lamina (habla de la practica): Google Docs se usa para la tabla de justificacion de la pregunta 5, que es prosa y no SQL.</a:t>
            </a:r>
          </a:p>
          <a:p>
            <a:r>
              <a:t>Fuera de la lamina (habla de la practica): Esa lista de limites es la seccion 5 de la pregunta 5 y vale puntos: se pierde por omitirla, no por tenerla.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todas las consultas del proyecto filtran por PROGRAMADA, entonces si sobra el completo.</a:t>
            </a:r>
          </a:p>
          <a:p>
            <a:r>
              <a:t>No, porque hace falta la linea base con Seq Scan; sin el antes, el despues no demuestra nada.</a:t>
            </a:r>
          </a:p>
          <a:p>
            <a:r>
              <a:t>Fuera de la lamina (habla de la practica): Porque el archivado no tiene alternativa —DROP TABLE de una particion contra un DELETE de millones de filas— y porque son 20 puntos de la actividad, que se califican sobre SQL ejecutado y no sobre una explicacion.</a:t>
            </a:r>
          </a:p>
          <a:p>
            <a:r>
              <a:t>Fuera de la lamina (habla de la practica): Si todas las consultas del proyecto filtran por PROGRAMADA, entonces si sobra el completo, y decirlo asi en la columna de veredicto es la respuesta que la rubrica busca.</a:t>
            </a:r>
          </a:p>
          <a:p>
            <a:r>
              <a:t>Fuera de la lamina (habla de la practica): No, porque hace falta la linea base con Seq Scan; sin el antes, el despues no demuestra nada, y es la primera cosa que la rubrica revisa.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Cual de los dos elige. Con `idx_cita_fecha_hora` y `idx_cita_programada_fecha` compitiendo por la misma consulta, el plan nombra al ganador: hay que leer el `Index Scan using ...` y escribir cual salio, porque la rubrica descuenta si no se comenta.</a:t>
            </a:r>
          </a:p>
          <a:p>
            <a:r>
              <a:t>- La pregunta 1 lo exige por nombre y su rubrica descuenta si falta; la pregunta 4 lo vuelve a cobrar como afirmacion correcta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Indices y particionamiento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proyecto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Indices y particionamiento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De donde viene la clase · El B-Tree por dentro, en cinco minutos · El precio se paga en cada escritura, y se cuantifica · Indice compuesto.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pg_size_pretty(pg_relation_size('idx_cita_fecha_hora'))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 donde sale la advertencia de no indexar columnas que cambian en cada operacion salvo que una consulta muy frecuente lo exija.</a:t>
            </a:r>
          </a:p>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La guia es concreta: dos a cuatro indices por tabla caliente ademas de los que ya trae la clave primaria, cada uno con su consulta escrita al lado</a:t>
            </a:r>
          </a:p>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En la clínica: idx_cita_estado_fecha sirve para WHERE estado = 'PROGRAMADA' AND fecha_hora &gt;= TIMESTAMP '2026-03-01 00:00:00' y para WHERE estado = 'PROGRAMADA' a secas, y no sirve para un filtro que solo trae fecha_hora; para eso existe idx_cita_fecha_hora.</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INCLUDE (id_mascota)</a:t>
            </a:r>
          </a:p>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idx_cita_cubridor ON cita (estado,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la selectividad es mala: WHERE activa = 'S' devuelve mas del 90 % de mascota y el recorrido completo gana con razon.</a:t>
            </a:r>
          </a:p>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tres de la medicion: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a:p>
            <a:pPr>
              <a:spcAft>
                <a:spcPts val="800"/>
              </a:spcAft>
            </a:pPr>
            <a:r>
              <a:rPr sz="2000" b="0" i="0">
                <a:solidFill>
                  <a:srgbClr val="333333"/>
                </a:solidFill>
                <a:latin typeface="Calibri"/>
              </a:rPr>
              <a:t>–   Los dos del experimento de orden: idx_cita_estado_fecha sobre cita (estado, fecha_hora) e idx_cita_fecha_estado sobre cita (fecha_hora, estado), las mismas dos columnas en orden inverso, creados a proposito para medir la diferencia.</a:t>
            </a:r>
          </a:p>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indices, y la consulta que justifica cada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 la clase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es la evidencia de que existen: ORDER BY tablename, indexname;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id_mascota, nombre, especie</a:t>
            </a:r>
          </a:p>
          <a:p>
            <a:pPr>
              <a:spcAft>
                <a:spcPts val="400"/>
              </a:spcAft>
            </a:pPr>
            <a:r>
              <a:rPr sz="1400" b="0" i="0">
                <a:solidFill>
                  <a:srgbClr val="FFFFFF"/>
                </a:solidFill>
                <a:latin typeface="Calibri"/>
              </a:rPr>
              <a:t>FROM mascota</a:t>
            </a:r>
          </a:p>
          <a:p>
            <a:pPr>
              <a:spcAft>
                <a:spcPts val="400"/>
              </a:spcAft>
            </a:pPr>
            <a:r>
              <a:rPr sz="1400" b="0" i="0">
                <a:solidFill>
                  <a:srgbClr val="FFFFFF"/>
                </a:solidFill>
                <a:latin typeface="Calibri"/>
              </a:rPr>
              <a:t>WHERE id_dueno = 1234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indexname, tablename, indexdef</a:t>
            </a:r>
          </a:p>
          <a:p>
            <a:pPr>
              <a:spcAft>
                <a:spcPts val="400"/>
              </a:spcAft>
            </a:pPr>
            <a:r>
              <a:rPr sz="1400" b="0" i="0">
                <a:solidFill>
                  <a:srgbClr val="FFFFFF"/>
                </a:solidFill>
                <a:latin typeface="Calibri"/>
              </a:rPr>
              <a:t>FROM pg_indexes</a:t>
            </a:r>
          </a:p>
          <a:p>
            <a:pPr>
              <a:spcAft>
                <a:spcPts val="400"/>
              </a:spcAft>
            </a:pPr>
            <a:r>
              <a:rPr sz="1400" b="0" i="0">
                <a:solidFill>
                  <a:srgbClr val="FFFFFF"/>
                </a:solidFill>
                <a:latin typeface="Calibri"/>
              </a:rPr>
              <a:t>WHERE tablename IN ('cita','mascota')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Despues viene la parte que convierte la observacion en experimento: se hace DROP INDEX idx_cita_fecha_estado y se vuelve a medir Q2.</a:t>
            </a:r>
          </a:p>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a:p>
            <a:pPr>
              <a:spcAft>
                <a:spcPts val="800"/>
              </a:spcAft>
            </a:pPr>
            <a:r>
              <a:rPr sz="2000" b="0" i="0">
                <a:solidFill>
                  <a:srgbClr val="333333"/>
                </a:solidFill>
                <a:latin typeface="Calibri"/>
              </a:rPr>
              <a:t>–   El caso de la clínica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idx_cita_programada_fecha ON cita (fecha_hora)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por debajo de eso un indice sobre fecha_hora hace el mismo trabajo con mucho menos mantenimiento.</a:t>
            </a:r>
          </a:p>
          <a:p>
            <a:pPr>
              <a:spcAft>
                <a:spcPts val="800"/>
              </a:spcAft>
            </a:pPr>
            <a:r>
              <a:rPr sz="2000" b="0" i="0">
                <a:solidFill>
                  <a:srgbClr val="333333"/>
                </a:solidFill>
                <a:latin typeface="Calibri"/>
              </a:rPr>
              <a:t>–   El particionamiento se implementa completo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a:t>
            </a:r>
          </a:p>
          <a:p>
            <a:pPr>
              <a:spcAft>
                <a:spcPts val="800"/>
              </a:spcAft>
            </a:pPr>
            <a:r>
              <a:rPr sz="2000" b="0" i="0">
                <a:solidFill>
                  <a:srgbClr val="333333"/>
                </a:solidFill>
                <a:latin typeface="Calibri"/>
              </a:rPr>
              <a:t>–   Error comun: declarar la clave primaria solo sobre id_cita.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PARTITION BY RANGE (fecha_hora)</a:t>
            </a:r>
          </a:p>
          <a:p>
            <a:pPr>
              <a:spcAft>
                <a:spcPts val="800"/>
              </a:spcAft>
            </a:pPr>
            <a:r>
              <a:rPr sz="2000" b="0" i="0">
                <a:solidFill>
                  <a:srgbClr val="333333"/>
                </a:solidFill>
                <a:latin typeface="Calibri"/>
              </a:rPr>
              <a:t>–   Las otras dos crean las particiones: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y la prueba de que el reparto ocurrio:, MIN(fecha_hora), MAX(fecha_hora) tableoid es una columna de sistema que dice en que tabla FISICA vive cada fila y::regclass la traduce a nombre.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a:t>
            </a:r>
          </a:p>
          <a:p>
            <a:pPr>
              <a:spcAft>
                <a:spcPts val="400"/>
              </a:spcAft>
            </a:pPr>
            <a:r>
              <a:rPr sz="1400" b="0" i="0">
                <a:solidFill>
                  <a:srgbClr val="FFFFFF"/>
                </a:solidFill>
                <a:latin typeface="Calibri"/>
              </a:rPr>
              <a:t>  id_mascota INT,</a:t>
            </a:r>
          </a:p>
          <a:p>
            <a:pPr>
              <a:spcAft>
                <a:spcPts val="400"/>
              </a:spcAft>
            </a:pPr>
            <a:r>
              <a:rPr sz="1400" b="0" i="0">
                <a:solidFill>
                  <a:srgbClr val="FFFFFF"/>
                </a:solidFill>
                <a:latin typeface="Calibri"/>
              </a:rPr>
              <a:t>  id_veterinario INT,</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TEXT,</a:t>
            </a:r>
          </a:p>
          <a:p>
            <a:pPr>
              <a:spcAft>
                <a:spcPts val="400"/>
              </a:spcAft>
            </a:pPr>
            <a:r>
              <a:rPr sz="1400" b="0" i="0">
                <a:solidFill>
                  <a:srgbClr val="FFFFFF"/>
                </a:solidFill>
                <a:latin typeface="Calibri"/>
              </a:rPr>
              <a:t>  PRIMARY KEY (id_cita, fecha_hora)</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 FOR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VALUES FROM (TIMESTAMP '2025-01-01')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cita_hist SELECT id_cita, id_mascota, id_veterinario, fecha_hora, estado</a:t>
            </a:r>
          </a:p>
          <a:p>
            <a:pPr>
              <a:spcAft>
                <a:spcPts val="400"/>
              </a:spcAft>
            </a:pPr>
            <a:r>
              <a:rPr sz="1400" b="0" i="0">
                <a:solidFill>
                  <a:srgbClr val="FFFFFF"/>
                </a:solidFill>
                <a:latin typeface="Calibri"/>
              </a:rPr>
              <a:t>FROM cita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tableoid::regclass AS particion, COUNT(*)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cita_hist</a:t>
            </a:r>
          </a:p>
          <a:p>
            <a:pPr>
              <a:spcAft>
                <a:spcPts val="400"/>
              </a:spcAft>
            </a:pPr>
            <a:r>
              <a:rPr sz="1400" b="0" i="0">
                <a:solidFill>
                  <a:srgbClr val="FFFFFF"/>
                </a:solidFill>
                <a:latin typeface="Calibri"/>
              </a:rPr>
              <a:t>GROUP BY 1</a:t>
            </a:r>
          </a:p>
          <a:p>
            <a:pPr>
              <a:spcAft>
                <a:spcPts val="400"/>
              </a:spcAft>
            </a:pPr>
            <a:r>
              <a:rPr sz="1400" b="0" i="0">
                <a:solidFill>
                  <a:srgbClr val="FFFFFF"/>
                </a:solidFill>
                <a:latin typeface="Calibri"/>
              </a:rPr>
              <a:t>ORDER BY 1</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el volumen que espera la clínica,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la clínica es que NO se particiona, y decirlo con el numero al lado vale mas que decir que si por quedar bien.</a:t>
            </a:r>
          </a:p>
          <a:p>
            <a:pPr>
              <a:spcAft>
                <a:spcPts val="800"/>
              </a:spcAft>
            </a:pPr>
            <a:r>
              <a:rPr sz="2000" b="0" i="0">
                <a:solidFill>
                  <a:srgbClr val="333333"/>
                </a:solidFill>
                <a:latin typeface="Calibri"/>
              </a:rPr>
              <a:t>–   Segunda: la ganancia de rendimiento con 5.010 filas no es apreciable.</a:t>
            </a:r>
          </a:p>
          <a:p>
            <a:pPr>
              <a:spcAft>
                <a:spcPts val="800"/>
              </a:spcAft>
            </a:pPr>
            <a:r>
              <a:rPr sz="2000" b="0" i="0">
                <a:solidFill>
                  <a:srgbClr val="333333"/>
                </a:solidFill>
                <a:latin typeface="Calibri"/>
              </a:rPr>
              <a:t>–   Tercera: lo que si quedo comprobado, que son dos cosas concretas, la poda de particiones en el plan y la facilidad de archivado.</a:t>
            </a:r>
          </a:p>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Genera un registro de transacciones enorme, sostiene bloqueos largos y deja la tabla que hay que limpiar despues</a:t>
            </a:r>
          </a:p>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Codigo/07_indices_clinica.sql y se corre, no en otra herramienta, porque el volumen sembrado es el que hace cambiar el plan.</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la base de la clínica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2 crea los tres indices, corre ANALYZE y repite las dos consultas: ese es el momento de la clase, y conviene proyectar las dos salidas una debajo de la otra y leer en voz alta la linea del nodo.</a:t>
            </a:r>
          </a:p>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Si el bloque 0 no alcanza el tiempo.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PostgreSQL en el navegador, que ejecuta PostgreSQL sobre PGlite dentro del navegador.</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a:t>
            </a:r>
          </a:p>
          <a:p>
            <a:pPr>
              <a:spcAft>
                <a:spcPts val="800"/>
              </a:spcAft>
            </a:pPr>
            <a:r>
              <a:rPr sz="2000" b="0" i="0">
                <a:solidFill>
                  <a:srgbClr val="333333"/>
                </a:solidFill>
                <a:latin typeface="Calibri"/>
              </a:rPr>
              <a:t>–   Lo medible con confianza: el tipo de nodo, las filas estimadas contra reales y el numero de particiones leidas.</a:t>
            </a:r>
          </a:p>
          <a:p>
            <a:pPr>
              <a:spcAft>
                <a:spcPts val="800"/>
              </a:spcAft>
            </a:pPr>
            <a:r>
              <a:rPr sz="2000" b="0" i="0">
                <a:solidFill>
                  <a:srgbClr val="333333"/>
                </a:solidFill>
                <a:latin typeface="Calibri"/>
              </a:rPr>
              <a:t>–   Los milisegundos no se comparan entre maquinas: cambian incluso entre 2 corridas seguidas en el mismo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el experimento termina con un DROP INDEX que muestra que pasa cuando falta uno: crear para medir y crear para dejar son dos cosas distintas, y esa distincion es la respuesta.</a:t>
            </a:r>
          </a:p>
          <a:p>
            <a:pPr>
              <a:spcAft>
                <a:spcPts val="800"/>
              </a:spcAft>
            </a:pPr>
            <a:r>
              <a:rPr sz="2000" b="0" i="0">
                <a:solidFill>
                  <a:srgbClr val="333333"/>
                </a:solidFill>
                <a:latin typeface="Calibri"/>
              </a:rPr>
              <a:t>–   Segunda: cree el indice y el plan no cambio, entonces sirve o no sirve.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Quinta: puedo poner el indice y ya, sin medir.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Crear el indice y probar que se usa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idx_mascota_dueno    ON mascota (id_dueno);</a:t>
            </a:r>
          </a:p>
          <a:p>
            <a:pPr>
              <a:spcAft>
                <a:spcPts val="400"/>
              </a:spcAft>
            </a:pPr>
            <a:r>
              <a:rPr sz="1400" b="0" i="0">
                <a:solidFill>
                  <a:srgbClr val="FFFFFF"/>
                </a:solidFill>
                <a:latin typeface="Calibri"/>
              </a:rPr>
              <a:t>ANALYZE cita;      -- sin estadisticas frescas el planificador decide a ciegas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EXPLAIN ANALYZE</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WHERE fecha_hora &gt;= TIMESTAMP '2026-09-01 00:00:00'</a:t>
            </a:r>
          </a:p>
          <a:p>
            <a:pPr>
              <a:spcAft>
                <a:spcPts val="400"/>
              </a:spcAft>
            </a:pPr>
            <a:r>
              <a:rPr sz="1400" b="0" i="0">
                <a:solidFill>
                  <a:srgbClr val="FFFFFF"/>
                </a:solidFill>
                <a:latin typeface="Calibri"/>
              </a:rPr>
              <a:t>  AND fecha_hora &lt;  TIMESTAMP '2026-09-02 00:00:00';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Antes:   Seq Scan on cita  (rows=30010)</a:t>
            </a:r>
          </a:p>
          <a:p>
            <a:pPr>
              <a:spcAft>
                <a:spcPts val="400"/>
              </a:spcAft>
            </a:pPr>
            <a:r>
              <a:rPr sz="1400" b="0" i="0">
                <a:solidFill>
                  <a:srgbClr val="FFFFFF"/>
                </a:solidFill>
                <a:latin typeface="Calibri"/>
              </a:rPr>
              <a:t>-- Despues: Index Scan using idx_cita_fecha_hora on cita  (rows=41)</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columnas en un indice compuesto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Consulta: filtra por id_veterinario y ordena por fecha_hora</a:t>
            </a:r>
          </a:p>
          <a:p>
            <a:pPr>
              <a:spcAft>
                <a:spcPts val="400"/>
              </a:spcAft>
            </a:pPr>
            <a:r>
              <a:rPr sz="1400" b="0" i="0">
                <a:solidFill>
                  <a:srgbClr val="FFFFFF"/>
                </a:solidFill>
                <a:latin typeface="Calibri"/>
              </a:rPr>
              <a:t>CREATE INDEX idx_cita_vet_fecha ON cita (id_veterinario,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Sirve para:</a:t>
            </a:r>
          </a:p>
          <a:p>
            <a:pPr>
              <a:spcAft>
                <a:spcPts val="400"/>
              </a:spcAft>
            </a:pPr>
            <a:r>
              <a:rPr sz="1400" b="0" i="0">
                <a:solidFill>
                  <a:srgbClr val="FFFFFF"/>
                </a:solidFill>
                <a:latin typeface="Calibri"/>
              </a:rPr>
              <a:t>--   WHERE id_veterinario = 3                      -&gt; si (prefijo)</a:t>
            </a:r>
          </a:p>
          <a:p>
            <a:pPr>
              <a:spcAft>
                <a:spcPts val="400"/>
              </a:spcAft>
            </a:pPr>
            <a:r>
              <a:rPr sz="1400" b="0" i="0">
                <a:solidFill>
                  <a:srgbClr val="FFFFFF"/>
                </a:solidFill>
                <a:latin typeface="Calibri"/>
              </a:rPr>
              <a:t>--   WHERE id_veterinario = 3 ORDER BY fecha_hora  -&gt; si (prefijo + orden)</a:t>
            </a:r>
          </a:p>
          <a:p>
            <a:pPr>
              <a:spcAft>
                <a:spcPts val="400"/>
              </a:spcAft>
            </a:pPr>
            <a:r>
              <a:rPr sz="1400" b="0" i="0">
                <a:solidFill>
                  <a:srgbClr val="FFFFFF"/>
                </a:solidFill>
                <a:latin typeface="Calibri"/>
              </a:rPr>
              <a:t>-- NO sirve para:</a:t>
            </a:r>
          </a:p>
          <a:p>
            <a:pPr>
              <a:spcAft>
                <a:spcPts val="400"/>
              </a:spcAft>
            </a:pPr>
            <a:r>
              <a:rPr sz="1400" b="0" i="0">
                <a:solidFill>
                  <a:srgbClr val="FFFFFF"/>
                </a:solidFill>
                <a:latin typeface="Calibri"/>
              </a:rPr>
              <a:t>--   WHERE fecha_hora &gt;= ...                       -&gt; no (no es prefijo)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regla: primero la columna de IGUALDAD, despues la de RANGO u ORDEN.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el historico por rango de fecha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TABLE cita_hist (</a:t>
            </a:r>
          </a:p>
          <a:p>
            <a:pPr>
              <a:spcAft>
                <a:spcPts val="400"/>
              </a:spcAft>
            </a:pPr>
            <a:r>
              <a:rPr sz="1400" b="0" i="0">
                <a:solidFill>
                  <a:srgbClr val="FFFFFF"/>
                </a:solidFill>
                <a:latin typeface="Calibri"/>
              </a:rPr>
              <a:t>  id_cita     INT NOT NULL,</a:t>
            </a:r>
          </a:p>
          <a:p>
            <a:pPr>
              <a:spcAft>
                <a:spcPts val="400"/>
              </a:spcAft>
            </a:pPr>
            <a:r>
              <a:rPr sz="1400" b="0" i="0">
                <a:solidFill>
                  <a:srgbClr val="FFFFFF"/>
                </a:solidFill>
                <a:latin typeface="Calibri"/>
              </a:rPr>
              <a:t>  id_mascota  INT NOT NULL,</a:t>
            </a:r>
          </a:p>
          <a:p>
            <a:pPr>
              <a:spcAft>
                <a:spcPts val="400"/>
              </a:spcAft>
            </a:pPr>
            <a:r>
              <a:rPr sz="1400" b="0" i="0">
                <a:solidFill>
                  <a:srgbClr val="FFFFFF"/>
                </a:solidFill>
                <a:latin typeface="Calibri"/>
              </a:rPr>
              <a:t>  fecha_hora  TIMESTAMP NOT NULL,</a:t>
            </a:r>
          </a:p>
          <a:p>
            <a:pPr>
              <a:spcAft>
                <a:spcPts val="400"/>
              </a:spcAft>
            </a:pPr>
            <a:r>
              <a:rPr sz="1400" b="0" i="0">
                <a:solidFill>
                  <a:srgbClr val="FFFFFF"/>
                </a:solidFill>
                <a:latin typeface="Calibri"/>
              </a:rPr>
              <a:t>  estado      VARCHAR(20) NOT NULL</a:t>
            </a:r>
          </a:p>
          <a:p>
            <a:pPr>
              <a:spcAft>
                <a:spcPts val="400"/>
              </a:spcAft>
            </a:pPr>
            <a:r>
              <a:rPr sz="1400" b="0" i="0">
                <a:solidFill>
                  <a:srgbClr val="FFFFFF"/>
                </a:solidFill>
                <a:latin typeface="Calibri"/>
              </a:rPr>
              <a:t>) PARTITION BY RANGE (fecha_hora);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TABLE cita_hist_2025 PARTITION OF cita_hist</a:t>
            </a:r>
          </a:p>
          <a:p>
            <a:pPr>
              <a:spcAft>
                <a:spcPts val="400"/>
              </a:spcAft>
            </a:pPr>
            <a:r>
              <a:rPr sz="1400" b="0" i="0">
                <a:solidFill>
                  <a:srgbClr val="FFFFFF"/>
                </a:solidFill>
                <a:latin typeface="Calibri"/>
              </a:rPr>
              <a:t>  FOR VALUES FROM ('2025-01-01') TO ('2026-01-01');</a:t>
            </a:r>
          </a:p>
          <a:p>
            <a:pPr>
              <a:spcAft>
                <a:spcPts val="400"/>
              </a:spcAft>
            </a:pPr>
            <a:r>
              <a:rPr sz="1400" b="0" i="0">
                <a:solidFill>
                  <a:srgbClr val="FFFFFF"/>
                </a:solidFill>
                <a:latin typeface="Calibri"/>
              </a:rPr>
              <a:t>CREATE TABLE cita_hist_2026 PARTITION OF cita_hist</a:t>
            </a:r>
          </a:p>
          <a:p>
            <a:pPr>
              <a:spcAft>
                <a:spcPts val="400"/>
              </a:spcAft>
            </a:pPr>
            <a:r>
              <a:rPr sz="1400" b="0" i="0">
                <a:solidFill>
                  <a:srgbClr val="FFFFFF"/>
                </a:solidFill>
                <a:latin typeface="Calibri"/>
              </a:rPr>
              <a:t>  FOR VALUES FROM ('2026-01-01') TO ('2027-01-01');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clave de particion TIENE que estar en la PK si hay PK: la unicidad</a:t>
            </a:r>
          </a:p>
          <a:p>
            <a:pPr>
              <a:spcAft>
                <a:spcPts val="400"/>
              </a:spcAft>
            </a:pPr>
            <a:r>
              <a:rPr sz="1400" b="0" i="0">
                <a:solidFill>
                  <a:srgbClr val="FFFFFF"/>
                </a:solidFill>
                <a:latin typeface="Calibri"/>
              </a:rPr>
              <a:t>-- se garantiza por particion, no entre particiones.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costo de sobre-indexar, que casi nunca se menciona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indice se ACTUALIZA en cada INSERT, UPDATE y DELETE.</a:t>
            </a:r>
          </a:p>
          <a:p>
            <a:pPr>
              <a:spcAft>
                <a:spcPts val="400"/>
              </a:spcAft>
            </a:pPr>
            <a:r>
              <a:rPr sz="1400" b="0" i="0">
                <a:solidFill>
                  <a:srgbClr val="FFFFFF"/>
                </a:solidFill>
                <a:latin typeface="Calibri"/>
              </a:rPr>
              <a:t>-- Seis indices sobre cita = seis escrituras extra por cita agendada.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Que indices existen y cuanto pesan:</a:t>
            </a:r>
          </a:p>
          <a:p>
            <a:pPr>
              <a:spcAft>
                <a:spcPts val="400"/>
              </a:spcAft>
            </a:pPr>
            <a:r>
              <a:rPr sz="1400" b="0" i="0">
                <a:solidFill>
                  <a:srgbClr val="FFFFFF"/>
                </a:solidFill>
                <a:latin typeface="Calibri"/>
              </a:rPr>
              <a:t>SELECT indexrelname, idx_scan, pg_size_pretty(pg_relation_size(indexrelid))</a:t>
            </a:r>
          </a:p>
          <a:p>
            <a:pPr>
              <a:spcAft>
                <a:spcPts val="400"/>
              </a:spcAft>
            </a:pPr>
            <a:r>
              <a:rPr sz="1400" b="0" i="0">
                <a:solidFill>
                  <a:srgbClr val="FFFFFF"/>
                </a:solidFill>
                <a:latin typeface="Calibri"/>
              </a:rPr>
              <a:t>FROM pg_stat_user_indexes</a:t>
            </a:r>
          </a:p>
          <a:p>
            <a:pPr>
              <a:spcAft>
                <a:spcPts val="400"/>
              </a:spcAft>
            </a:pPr>
            <a:r>
              <a:rPr sz="1400" b="0" i="0">
                <a:solidFill>
                  <a:srgbClr val="FFFFFF"/>
                </a:solidFill>
                <a:latin typeface="Calibri"/>
              </a:rPr>
              <a:t>WHERE relname = 'cita'</a:t>
            </a:r>
          </a:p>
          <a:p>
            <a:pPr>
              <a:spcAft>
                <a:spcPts val="400"/>
              </a:spcAft>
            </a:pPr>
            <a:r>
              <a:rPr sz="1400" b="0" i="0">
                <a:solidFill>
                  <a:srgbClr val="FFFFFF"/>
                </a:solidFill>
                <a:latin typeface="Calibri"/>
              </a:rPr>
              <a:t>ORDER BY idx_scan;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idx_scan = 0 despues de dias de uso: el indice no sirve a nadie y</a:t>
            </a:r>
          </a:p>
          <a:p>
            <a:pPr>
              <a:spcAft>
                <a:spcPts val="400"/>
              </a:spcAft>
            </a:pPr>
            <a:r>
              <a:rPr sz="1400" b="0" i="0">
                <a:solidFill>
                  <a:srgbClr val="FFFFFF"/>
                </a:solidFill>
                <a:latin typeface="Calibri"/>
              </a:rPr>
              <a:t>-- se esta pagando en cada escritura. Candidato a DROP INDEX.</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es el que el plan imprime en «Index Scan using».</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Medir antes, crear, ANALYZE, medir despues: sin la linea base el despues no prueba nada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importa.</a:t>
            </a:r>
            <a:r>
              <a:rPr sz="1800" b="0" i="0">
                <a:solidFill>
                  <a:srgbClr val="333333"/>
                </a:solidFill>
                <a:latin typeface="Calibri"/>
              </a:rPr>
              <a:t> El plan imprime «Index Scan using» seguido del nombre, asi que se lee en la salida: «idx_cita_fecha_hora», «idx_mascota_dueno», «idx_cita_programada_fecha» para la medicion, y «idx_cita_estado_fecha» + «idx_cita_fecha_estado» para el orden.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 la clase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Que es.</a:t>
            </a:r>
            <a:r>
              <a:rPr sz="20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2000" b="1" i="0">
                <a:solidFill>
                  <a:srgbClr val="333333"/>
                </a:solidFill>
                <a:latin typeface="Calibri"/>
              </a:rPr>
              <a:t>parte de la definicion del indice</a:t>
            </a:r>
            <a:r>
              <a:rPr sz="2000" b="0" i="0">
                <a:solidFill>
                  <a:srgbClr val="333333"/>
                </a:solidFill>
                <a:latin typeface="Calibri"/>
              </a:rPr>
              <a:t> y decide que filas entran en el arbol.</a:t>
            </a:r>
          </a:p>
          <a:p>
            <a:pPr>
              <a:spcAft>
                <a:spcPts val="800"/>
              </a:spcAft>
            </a:pPr>
            <a:r>
              <a:rPr sz="2000" b="0" i="0">
                <a:solidFill>
                  <a:srgbClr val="333333"/>
                </a:solidFill>
                <a:latin typeface="Calibri"/>
              </a:rPr>
              <a:t>–   </a:t>
            </a:r>
            <a:r>
              <a:rPr sz="2000" b="1" i="0">
                <a:solidFill>
                  <a:srgbClr val="333333"/>
                </a:solidFill>
                <a:latin typeface="Calibri"/>
              </a:rPr>
              <a:t>Cuanto se ahorra, con los datos de hoy.</a:t>
            </a:r>
            <a:r>
              <a:rPr sz="2000" b="0" i="0">
                <a:solidFill>
                  <a:srgbClr val="333333"/>
                </a:solidFill>
                <a:latin typeface="Calibri"/>
              </a:rPr>
              <a:t> De las 30.010 citas sembradas, </a:t>
            </a:r>
            <a:r>
              <a:rPr sz="2000" b="1" i="0">
                <a:solidFill>
                  <a:srgbClr val="333333"/>
                </a:solidFill>
                <a:latin typeface="Calibri"/>
              </a:rPr>
              <a:t>18.187</a:t>
            </a:r>
            <a:r>
              <a:rPr sz="20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2000" b="1" i="0">
                <a:solidFill>
                  <a:srgbClr val="333333"/>
                </a:solidFill>
                <a:latin typeface="Calibri"/>
              </a:rPr>
              <a:t>que no este programada</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La condicion para que sirva.</a:t>
            </a:r>
            <a:r>
              <a:rPr sz="2000" b="0" i="0">
                <a:solidFill>
                  <a:srgbClr val="333333"/>
                </a:solidFill>
                <a:latin typeface="Calibri"/>
              </a:rPr>
              <a:t> El planeador solo lo usa si puede demostrar que la consulta </a:t>
            </a:r>
            <a:r>
              <a:rPr sz="2000" b="1" i="0">
                <a:solidFill>
                  <a:srgbClr val="333333"/>
                </a:solidFill>
                <a:latin typeface="Calibri"/>
              </a:rPr>
              <a:t>trae la misma condicion</a:t>
            </a:r>
            <a:r>
              <a:rPr sz="2000" b="0" i="0">
                <a:solidFill>
                  <a:srgbClr val="333333"/>
                </a:solidFill>
                <a:latin typeface="Calibri"/>
              </a:rPr>
              <a:t> del indice. «WHERE estado = 'PROGRAMADA' AND fecha_hora &gt;= ...» si lo aprovecha; la misma consulta sin el filtro de estado </a:t>
            </a:r>
            <a:r>
              <a:rPr sz="2000" b="1" i="0">
                <a:solidFill>
                  <a:srgbClr val="333333"/>
                </a:solidFill>
                <a:latin typeface="Calibri"/>
              </a:rPr>
              <a:t>no</a:t>
            </a:r>
            <a:r>
              <a:rPr sz="2000" b="0" i="0">
                <a:solidFill>
                  <a:srgbClr val="333333"/>
                </a:solidFill>
                <a:latin typeface="Calibri"/>
              </a:rPr>
              <a:t>, porque el indice no contiene las filas atendidas ni las canceladas.</a:t>
            </a:r>
          </a:p>
          <a:p>
            <a:pPr>
              <a:spcAft>
                <a:spcPts val="800"/>
              </a:spcAft>
            </a:pPr>
            <a:r>
              <a:rPr sz="2000" b="0" i="0">
                <a:solidFill>
                  <a:srgbClr val="333333"/>
                </a:solidFill>
                <a:latin typeface="Calibri"/>
              </a:rPr>
              <a:t>–   </a:t>
            </a:r>
            <a:r>
              <a:rPr sz="2000" b="1" i="0">
                <a:solidFill>
                  <a:srgbClr val="333333"/>
                </a:solidFill>
                <a:latin typeface="Calibri"/>
              </a:rPr>
              <a:t>El caso de la clínica que lo justifica.</a:t>
            </a:r>
            <a:r>
              <a:rPr sz="2000" b="0" i="0">
                <a:solidFill>
                  <a:srgbClr val="333333"/>
                </a:solidFill>
                <a:latin typeface="Calibri"/>
              </a:rPr>
              <a:t> La agenda del dia de la recepcion </a:t>
            </a:r>
            <a:r>
              <a:rPr sz="2000" b="1" i="0">
                <a:solidFill>
                  <a:srgbClr val="333333"/>
                </a:solidFill>
                <a:latin typeface="Calibri"/>
              </a:rPr>
              <a:t>siempre</a:t>
            </a:r>
            <a:r>
              <a:rPr sz="20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2000" b="0" i="0">
                <a:solidFill>
                  <a:srgbClr val="333333"/>
                </a:solidFill>
                <a:latin typeface="Calibri"/>
              </a:rPr>
              <a:t>–   </a:t>
            </a:r>
            <a:r>
              <a:rPr sz="2000" b="1" i="0">
                <a:solidFill>
                  <a:srgbClr val="333333"/>
                </a:solidFill>
                <a:latin typeface="Calibri"/>
              </a:rPr>
              <a:t>Cual de los dos elige.</a:t>
            </a:r>
            <a:r>
              <a:rPr sz="2000" b="0" i="0">
                <a:solidFill>
                  <a:srgbClr val="333333"/>
                </a:solidFill>
                <a:latin typeface="Calibri"/>
              </a:rPr>
              <a:t> Con «idx_cita_fecha_hora» y «idx_cita_programada_fecha» compitiendo por la misma consulta, el plan nombra al ganador: hay que leer el «Index Scan using ...» y </a:t>
            </a:r>
            <a:r>
              <a:rPr sz="2000" b="1" i="0">
                <a:solidFill>
                  <a:srgbClr val="333333"/>
                </a:solidFill>
                <a:latin typeface="Calibri"/>
              </a:rPr>
              <a:t>escribir cual salio</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Particionar separa los datos por rango; la poda hace que una consulta de 2026 no toque la particion de 2025</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el plan pasa de Seq Scan a Index Scan using con el nombre del indice, y con la particion la consulta de un ano lee una sola particion.</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despues de crear el indice hace falta ANALYZE: sin estadisticas frescas el planeador puede seguir eligiendo el Seq Scan.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Indices y particionamiento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De donde viene la clase</a:t>
            </a:r>
          </a:p>
          <a:p>
            <a:pPr algn="ctr">
              <a:spcAft>
                <a:spcPts val="600"/>
              </a:spcAft>
            </a:pPr>
            <a:r>
              <a:rPr sz="1600" b="0" i="0">
                <a:solidFill>
                  <a:srgbClr val="333333"/>
                </a:solidFill>
                <a:latin typeface="Calibri"/>
              </a:rPr>
              <a:t>El B-Tree por dentro, en cinco minutos</a:t>
            </a:r>
          </a:p>
          <a:p>
            <a:pPr algn="ctr">
              <a:spcAft>
                <a:spcPts val="600"/>
              </a:spcAft>
            </a:pPr>
            <a:r>
              <a:rPr sz="1600" b="0" i="0">
                <a:solidFill>
                  <a:srgbClr val="333333"/>
                </a:solidFill>
                <a:latin typeface="Calibri"/>
              </a:rPr>
              <a:t>El precio se paga en cada escritura, y se cuantifica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