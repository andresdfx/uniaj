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notesMaster" Target="notesMasters/notesMaster1.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TEXTO COMPLETO DE LA LÁMINA (se proyecta resumido):</a:t>
            </a:r>
          </a:p>
          <a:p/>
          <a:p>
            <a:r>
              <a:t>Tema de hoy: Indices y particionamiento · la clínica</a:t>
            </a:r>
          </a:p>
          <a:p/>
          <a:p>
            <a:r>
              <a:t>Herramienta: PostgreSQL/PGlite · Bloque 120 min</a:t>
            </a:r>
          </a:p>
          <a:p/>
          <a:p>
            <a:r>
              <a:t>Gratis + navegador · free tier · sin software de pago obligatorio.</a:t>
            </a:r>
          </a:p>
          <a:p/>
          <a:p>
            <a:r>
              <a:t>Recorrido: teoría del tema, una lámina por concepto, y demo del docente sobre la base de la clínica.</a:t>
            </a:r>
          </a:p>
          <a:p/>
          <a:p>
            <a:r>
              <a:t>Cada lámina se sostiene sola: sirve para repasar aunque hayas faltado.</a:t>
            </a:r>
          </a:p>
          <a:p/>
          <a:p>
            <a:r>
              <a:t>Conceptos de hoy: De donde viene la clase · El B-Tree por dentro, en cinco minutos · El precio se paga en cada escritura, y se cuantifica · El costo de sobre-indexar, que casi nunca se menciona.</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DESARROLLO (para explicarlo, no se proyecta):</a:t>
            </a:r>
          </a:p>
          <a:p>
            <a:r>
              <a:t>La Clase 6 dejo al grupo mirando planes que decian Seq Scan donde se esperaba algo mejor; hoy se construye la estructura que cambia esa linea.</a:t>
            </a:r>
          </a:p>
          <a:p>
            <a:r>
              <a:t>Un indice es una estructura de datos auxiliar, redundante y opcional, que el motor crea a partir de una o mas columnas de una tabla, mantiene ordenada por esas columnas y sincroniza automaticamente con cada cambio de los datos.</a:t>
            </a:r>
          </a:p>
          <a:p>
            <a:r>
              <a:t>Cada entrada guarda dos cosas: el valor de la clave y un puntero fisico a la fila completa, que en PostgreSQL se llama ctid y en Oracle ROWID.</a:t>
            </a:r>
          </a:p>
          <a:p>
            <a:r>
              <a:t>Redundante: no agrega informacion nueva, duplica columnas que ya estan en la tabla, y por eso se puede borrar y volver a crear sin perder un dato.</a:t>
            </a:r>
          </a:p>
          <a:p>
            <a:r>
              <a:t>Opcional: ninguna consulta deja de funcionar si el indice no existe, solo tarda mas.</a:t>
            </a:r>
          </a:p>
          <a:p>
            <a:r>
              <a:t>Automatico: nadie escribe codigo para mantenerlo, el motor lo actualiza dentro de la misma operacion del INSERT, del UPDATE o del DELETE, y de ahi sale el costo del que habla la segunda mitad de la clase.</a:t>
            </a:r>
          </a:p>
          <a:p>
            <a:r>
              <a:t>La base de hoy es la misma de la clase anterior: 30.010 citas del 5 de enero al 23 de julio de 2026, 5.008 mascotas, 2.006 duenos y 16 veterinarios, con estadisticas frescas y sin ningun indice salvo los de las claves primarias.</a:t>
            </a:r>
          </a:p>
          <a:p>
            <a:r>
              <a:t>Sobre esa tabla, un indice de una columna sobre cita(fecha_hora) guarda 30.010 entradas de unos 20 a 25 bytes y ocupa del orden de 700 KB frente a los 2 MB de la tabla</a:t>
            </a:r>
          </a:p>
          <a:p>
            <a:r>
              <a:t>Como orden de magnitud, cada indice de una columna cuesta entre el 10 % y el 30 % del tamano de la tabla, y esa cifra es estimacion de oficio, no constante del motor.</a:t>
            </a:r>
          </a:p>
          <a:p>
            <a:r>
              <a:t>El numero real se lee con; y es el que hay que reportar, no el de esta linea.</a:t>
            </a:r>
          </a:p>
          <a:p>
            <a:r>
              <a:t>NOTAS:</a:t>
            </a:r>
          </a:p>
          <a:p>
            <a:r>
              <a:t>Los tres adjetivos de la definicion importan.</a:t>
            </a:r>
          </a:p>
          <a:p>
            <a:r>
              <a:t>CÓDIGO CITADO (referencia):</a:t>
            </a:r>
          </a:p>
          <a:p>
            <a:r>
              <a:t>SELECT pg_size_pretty(pg_relation_size('idx_cita_fecha_hora'))</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DESARROLLO (para explicarlo, no se proyecta):</a:t>
            </a:r>
          </a:p>
          <a:p>
            <a:r>
              <a:t>El tipo de indice por omision en PostgreSQL, Oracle, MySQL y SQL Server es el B-Tree, arbol balanceado, y entenderlo por dentro toma cinco minutos bien invertidos.</a:t>
            </a:r>
          </a:p>
          <a:p>
            <a:r>
              <a:t>Tiene tres clases de nodos: una raiz, cero o mas niveles intermedios o de rama, y un nivel de hojas donde estan todas las claves con sus punteros.</a:t>
            </a:r>
          </a:p>
          <a:p>
            <a:r>
              <a:t>Cada nodo ocupa una pagina, tipicamente de 8 KB, y si cada entrada pesa unos 20 bytes, en una pagina caben del orden de 400 claves; ese numero se llama grado de ramificacion o fan-out.</a:t>
            </a:r>
          </a:p>
          <a:p>
            <a:r>
              <a:t>Con 400 hijos por nodo, un arbol de un nivel cubre 400 filas, de dos niveles 160.000, de tres niveles 64 millones y de cuatro niveles mas de 25 mil millones.</a:t>
            </a:r>
          </a:p>
          <a:p>
            <a:r>
              <a:t>El crecimiento es logaritmico: duplicar la tabla no duplica el tiempo de busqueda, apenas lo mueve.</a:t>
            </a:r>
          </a:p>
          <a:p>
            <a:r>
              <a:t>El indice de cita de hoy, con 30.010 entradas, tiene apenas dos niveles: unas 75 paginas de hojas y una raiz que apunta a todas.</a:t>
            </a:r>
          </a:p>
          <a:p>
            <a:r>
              <a:t>Un detalle mas explica la mitad de los usos reales: las hojas estan enlazadas entre si formando una lista, de modo que al llegar a la primera clave que cumple la condicion se puede seguir avanzando en orden</a:t>
            </a:r>
          </a:p>
          <a:p>
            <a:r>
              <a:t>Por eso un B-Tree sirve para BETWEEN, para mayor que, para menor que y para devolver filas ya ordenadas sin ejecutar un ordenamiento aparte, no solo para igualdades.</a:t>
            </a:r>
          </a:p>
          <a:p>
            <a:r>
              <a:t>NOTAS:</a:t>
            </a:r>
          </a:p>
          <a:p>
            <a:r>
              <a:t>Balanceado significa que todas las hojas quedan a la misma profundidad, asi que cualquier busqueda cuesta lo mismo y no hay valores afortunados.</a:t>
            </a:r>
          </a:p>
          <a:p>
            <a:r>
              <a:t>De ahi la afirmacion que el docente debe poder defender: tres o cuatro niveles alcanzan para tablas de millones de filas, y encontrar una fila cuesta tres o cuatro lecturas de pagina, sin importar si la tabla tiene cien mil filas o cincuenta millones.</a:t>
            </a:r>
          </a:p>
          <a:p>
            <a:r>
              <a:t>Esa es exactamente la forma de la consulta C1 de la clase, que pide un rango de un dia.</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DESARROLLO (para explicarlo, no se proyecta):</a:t>
            </a:r>
          </a:p>
          <a:p>
            <a:r>
              <a:t>El precio de indexar se paga en cada escritura y hay que cuantificarlo.</a:t>
            </a:r>
          </a:p>
          <a:p>
            <a:r>
              <a:t>Un INSERT en cita con cuatro indices no es una operacion, son cinco: la fila en la tabla mas una insercion ordenada en cada arbol, cada una bajando dos o tres niveles y a veces partiendo en dos una pagina llena, lo que ademas fragmenta el indice.</a:t>
            </a:r>
          </a:p>
          <a:p>
            <a:r>
              <a:t>Como orden de magnitud de oficio, cada indice adicional encarece las escrituras entre un 5 % y un 15 %</a:t>
            </a:r>
          </a:p>
          <a:p>
            <a:r>
              <a:t>Y una tabla con diez indices puede escribir varias veces mas lento que la misma con dos; el numero exacto depende del motor y hay que medirlo, pero la direccion nunca cambia.</a:t>
            </a:r>
          </a:p>
          <a:p>
            <a:r>
              <a:t>El UPDATE tiene un matiz util y muy citable: solo se actualizan los indices que contienen alguna columna modificada, asi que cambiar cita.estado de PROGRAMADA a ATENDIDA toca idx_cita_estado_fecha pero no idx_cita_fecha_hora</a:t>
            </a:r>
          </a:p>
          <a:p>
            <a:r>
              <a:t>De donde sale la advertencia de no indexar columnas que cambian en cada operacion salvo que una consulta muy frecuente lo exija.</a:t>
            </a:r>
          </a:p>
          <a:p>
            <a:r>
              <a:t>Ojo con una excepcion que aparece hoy: el indice PARCIAL sobre las citas PROGRAMADA si se toca cuando el estado cambia, porque la fila entra o sale del indice.</a:t>
            </a:r>
          </a:p>
          <a:p>
            <a:r>
              <a:t>En espacio, no es raro que la suma de los indices supere el tamano de la tabla.</a:t>
            </a:r>
          </a:p>
          <a:p>
            <a:r>
              <a:t>La guia es concreta: dos a cuatro indices por tabla caliente ademas de los que ya trae la clave primaria, cada uno con su consulta escrita al lado</a:t>
            </a:r>
          </a:p>
          <a:p>
            <a:r>
              <a:t>Y la regla de descarte mas util que existe, si el estudiante no puede escribir la consulta que usa el indice, el indice se borra.</a:t>
            </a:r>
          </a:p>
          <a:p>
            <a:r>
              <a:t>En produccion eso se decide con datos: PostgreSQL expone pg_stat_user_indexes, donde idx_scan en cero significa que el indice nunca se uso.</a:t>
            </a:r>
          </a:p>
          <a:p>
            <a:r>
              <a:t>Fuera de la lamina (habla de la practica): El precio de indexar se paga en cada escritura y hay que cuantificarlo, porque es la mitad del veredicto que la pregunta 5 pide por escrito.</a:t>
            </a:r>
          </a:p>
          <a:p>
            <a:r>
              <a:t>Fuera de la lamina (habla de la practica): En produccion eso se decide con datos: PostgreSQL expone pg_stat_user_indexes, donde idx_scan en cero significa que el indice nunca se uso; conviene mencionarlo aunque en una sesion de taller no de tiempo de acumular estadisticas de uso.</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DESARROLLO (para explicarlo, no se proyecta):</a:t>
            </a:r>
          </a:p>
          <a:p>
            <a:r>
              <a:t>Un indice compuesto es el creado sobre dos o mas columnas, y su regla de uso es la fuente de error mas frecuente del tema.</a:t>
            </a:r>
          </a:p>
          <a:p>
            <a:r>
              <a:t>Las entradas se ordenan por la primera columna y solo dentro de los valores iguales de la primera se ordenan por la segunda; es el orden de un directorio telefonico por apellido y luego nombre.</a:t>
            </a:r>
          </a:p>
          <a:p>
            <a:r>
              <a:t>En la clínica: idx_cita_estado_fecha sirve para WHERE estado = 'PROGRAMADA' AND fecha_hora &gt;= TIMESTAMP '2026-03-01 00:00:00' y para WHERE estado = 'PROGRAMADA' a secas, y no sirve para un filtro que solo trae fecha_hora; para eso existe idx_cita_fecha_hora.</a:t>
            </a:r>
          </a:p>
          <a:p>
            <a:r>
              <a:t>Y un numero citable que desarma la idea de indexar todo por si acaso: un indice de k columnas atiende solamente los k prefijos, no las combinaciones, asi que uno de tres columnas atiende tres formas de consulta y no seis.</a:t>
            </a:r>
          </a:p>
          <a:p>
            <a:r>
              <a:t>NOTAS:</a:t>
            </a:r>
          </a:p>
          <a:p>
            <a:r>
              <a:t>De ahi la regla del prefijo mas a la izquierda: un indice sobre (estado, fecha_hora) resuelve una busqueda por estado, y una por estado junto con fecha_hora, pero NO resuelve eficientemente una busqueda solo por fecha_hora, igual que en el directorio no se pueden encontrar todas las personas llamadas Ana sin leerlo entero.</a:t>
            </a:r>
          </a:p>
          <a:p>
            <a:r>
              <a:t>El corolario de diseno cabe en una linea, y es la que hay que dejar escrita en la pizarra: las columnas comparadas por igualdad van primero y la comparada por rango va al final, porque despues del primer rango el orden interno del indice deja de ser aprovechable.</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DESARROLLO (para explicarlo, no se proyecta):</a:t>
            </a:r>
          </a:p>
          <a:p>
            <a:r>
              <a:t>Cuando todas las columnas que la consulta necesita, las del WHERE y las del SELECT, estan dentro del indice, el motor responde sin tocar la tabla, y eso se llama index-only scan o indice cubridor.</a:t>
            </a:r>
          </a:p>
          <a:p>
            <a:r>
              <a:t>Ejemplo exacto con los indices de hoy: SELECT estado, fecha_hora FROM cita WHERE estado = 'PROGRAMADA' AND fecha_hora &gt;= TIMESTAMP '2026-03-01 00:00:00' se puede responder entera desde idx_cita_estado_fecha, y el plan lo dice con las palabras Index Only Scan.</a:t>
            </a:r>
          </a:p>
          <a:p>
            <a:r>
              <a:t>El ahorro es justamente la parte cara del acceso por indice: en lugar de dos o tres lecturas para bajar el arbol mas un centenar de lecturas dispersas a la tabla, quedan unas pocas lecturas de hojas contiguas.</a:t>
            </a:r>
          </a:p>
          <a:p>
            <a:r>
              <a:t>Si la consulta agrega id_mascota la ventaja se pierde, y hay dos maneras de recuperarla: agregar la columna a la clave, o usar la clausula INCLUDE de PostgreSQL, INCLUDE (id_mascota)</a:t>
            </a:r>
          </a:p>
          <a:p>
            <a:r>
              <a:t>Que guarda la columna en las hojas sin usarla para ordenar y por lo tanto sin engordar los niveles superiores</a:t>
            </a:r>
          </a:p>
          <a:p>
            <a:r>
              <a:t>Un detalle honesto que evita una confusion en vivo: en PostgreSQL el index-only scan depende del mapa de visibilidad</a:t>
            </a:r>
          </a:p>
          <a:p>
            <a:r>
              <a:t>Asi que inmediatamente despues de una carga masiva el plan puede seguir mostrando Index Scan hasta que pase VACUUM, y eso no significa que el indice este mal disenado.</a:t>
            </a:r>
          </a:p>
          <a:p>
            <a:r>
              <a:t>NOTAS:</a:t>
            </a:r>
          </a:p>
          <a:p>
            <a:r>
              <a:t>Oracle no tiene INCLUDE y la columna se agrega al final de la clave.</a:t>
            </a:r>
          </a:p>
          <a:p>
            <a:r>
              <a:t>CÓDIGO CITADO (referencia):</a:t>
            </a:r>
          </a:p>
          <a:p>
            <a:r>
              <a:t>CREATE INDEX idx_cita_cubridor ON cita (estado, fecha_hora)</a:t>
            </a:r>
          </a:p>
          <a:p>
            <a:r>
              <a:t>Fuera de la lamina (habla de la practica): Esto NO se califica hoy, pero es la respuesta a la pregunta que va a salir cuando alguien vea Index Only Scan en su plan y no sepa si esta bien.</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DESARROLLO (para explicarlo, no se proyecta):</a:t>
            </a:r>
          </a:p>
          <a:p>
            <a:r>
              <a:t>Un indice existente puede quedar sin usar por siete razones, y recitarlas separa al docente que responde del que dice que el motor es raro.</a:t>
            </a:r>
          </a:p>
          <a:p>
            <a:r>
              <a:t>Uno, la tabla es demasiado pequena: dueno con 2.006 filas cabe en unas 20 paginas y ningun indice le gana a leer 20 paginas seguidas; con las 20 filas de prueba de una base propia jamas se usara un indice y el motor esta en lo correcto.</a:t>
            </a:r>
          </a:p>
          <a:p>
            <a:r>
              <a:t>Dos, el predicado no es sargable, como se vio en la Clase 6: UPPER(nombre), EXTRACT(YEAR FROM fecha_hora) o una conversion implicita de tipo bloquean el indice</a:t>
            </a:r>
          </a:p>
          <a:p>
            <a:r>
              <a:t>Y la salida es el indice funcional, CREATE INDEX idx_mascota_nombre_upper ON mascota (UPPER(nombre)).</a:t>
            </a:r>
          </a:p>
          <a:p>
            <a:r>
              <a:t>Tres, la selectividad es mala: WHERE activa = 'S' devuelve mas del 90 % de mascota y el recorrido completo gana con razon.</a:t>
            </a:r>
          </a:p>
          <a:p>
            <a:r>
              <a:t>Cuatro, las estadisticas estan viejas y el motor cree que la tabla es diminuta; se corrige con ANALYZE cita, y es el paso que se salta medio salon.</a:t>
            </a:r>
          </a:p>
          <a:p>
            <a:r>
              <a:t>Con la base de hoy la excusa del volumen no aplica: 30.010 citas son suficientes para que el planeador prefiera el indice, asi que si el plan no cambia el problema esta en el predicado, en el nombre de la columna lider o en el ANALYZE que falto.</a:t>
            </a:r>
          </a:p>
          <a:p>
            <a:r>
              <a:t>NOTAS:</a:t>
            </a:r>
          </a:p>
          <a:p>
            <a:r>
              <a:t>Cinco, se violo el prefijo mas a la izquierda.</a:t>
            </a:r>
          </a:p>
          <a:p>
            <a:r>
              <a:t>Seis, la condicion combina columnas de indices distintos con OR, caso en el que el motor arma una combinacion de mapas de bits o simplemente escanea.</a:t>
            </a:r>
          </a:p>
          <a:p>
            <a:r>
              <a:t>Siete, el tipo de dato o la ordenacion no coincide con lo que el predicado compara.</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DESARROLLO (para explicarlo, no se proyecta):</a:t>
            </a:r>
          </a:p>
          <a:p>
            <a:r>
              <a:t>Los tres de la medicion: idx_cita_fecha_hora sobre cita (fecha_hora), que atiende cualquier consulta por rango de fecha con o sin estado; idx_mascota_dueno sobre mascota (id_dueno)</a:t>
            </a:r>
          </a:p>
          <a:p>
            <a:r>
              <a:t>Que atiende el historial de un dueno; y idx_cita_programada_fecha, el indice parcial sobre cita (fecha_hora) WHERE estado = 'PROGRAMADA', que atiende la agenda del dia de la recepcion.</a:t>
            </a:r>
          </a:p>
          <a:p>
            <a:r>
              <a:t>Los dos del experimento de orden: idx_cita_estado_fecha sobre cita (estado, fecha_hora) e idx_cita_fecha_estado sobre cita (fecha_hora, estado), las mismas dos columnas en orden inverso, creados a proposito para medir la diferencia.</a:t>
            </a:r>
          </a:p>
          <a:p>
            <a:r>
              <a:t>Un aviso concreto: idx_cita_fecha no es ninguno de los cinco, el sufijo es _fecha_hora como la columna, y ese fue durante un tiempo el nombre que aparecia en el material.</a:t>
            </a:r>
          </a:p>
          <a:p>
            <a:r>
              <a:t>Primero: declarar PRIMARY KEY o UNIQUE crea automaticamente un indice unico para sostener la restriccion, asi que id_dueno, id_mascota e id_cita YA tienen indice y crear otro encima solo duplica espacio y trabajo de escritura.</a:t>
            </a:r>
          </a:p>
          <a:p>
            <a:r>
              <a:t>Segundo, menos conocido: declarar una FOREIGN KEY NO crea indice en ninguno de los dos motores. mascota.id_dueno apunta a dueno, pero del lado de mascota no hay nada ordenado</a:t>
            </a:r>
          </a:p>
          <a:p>
            <a:r>
              <a:t>Y por eso idx_mascota_dueno si es una adicion legitima; sin el, ademas, borrar un dueno obliga a recorrer mascota completa para verificar la integridad.</a:t>
            </a:r>
          </a:p>
          <a:p>
            <a:r>
              <a:t>NOTAS:</a:t>
            </a:r>
          </a:p>
          <a:p>
            <a:r>
              <a:t>El nombre de cada indice importa.</a:t>
            </a:r>
          </a:p>
          <a:p>
            <a:r>
              <a:t>Dos hechos sobre claves evitan la mitad de los indices inutiles que se entregan en los proyectos.</a:t>
            </a:r>
          </a:p>
          <a:p>
            <a:r>
              <a:t>Fuera de la lamina (habla de la practica): Aqui empieza la parte que se califica letra por letra, y conviene decirlo con esas palabras.</a:t>
            </a:r>
          </a:p>
          <a:p>
            <a:r>
              <a:t>Fuera de la lamina (habla de la practica): El nombre de cada indice importa, porque el plan de ejecucion imprime literalmente Index Scan using seguido del nombre y porque la tabla de justificacion de la pregunta 5 se llena con esos mismos nombres.</a:t>
            </a:r>
          </a:p>
          <a:p>
            <a:r>
              <a:t>Fuera de la lamina (habla de la practica): Un aviso concreto: idx_cita_fecha no es ninguno de los cinco, el sufijo es _fecha_hora como la columna, y ese fue durante un tiempo el nombre que aparecia en el material; si alguien lo escribe asi pierde puntos por el nombre y no por el concepto.</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DESARROLLO (para explicarlo, no se proyecta):</a:t>
            </a:r>
          </a:p>
          <a:p>
            <a:r>
              <a:t>La clase entera vive en una secuencia de cuatro pasos que hay que proyectar en ese orden, porque cambiarlo destruye la evidencia.</a:t>
            </a:r>
          </a:p>
          <a:p>
            <a:r>
              <a:t>Primero, EXPLAIN ANALYZE de las dos consultas frecuentes ANTES de crear nada: tiene que salir Seq Scan on cita y Seq Scan on mascota, y ese es el punto de comparacion.</a:t>
            </a:r>
          </a:p>
          <a:p>
            <a:r>
              <a:t>C1 es la agenda del dia, SELECT id_cita, fecha_hora, estado FROM cita WHERE fecha_hora &gt;= TIMESTAMP '2026-03-10 00:00:00' AND fecha_hora &lt; TIMESTAMP '2026-03-11 00:00:00' AND estado = 'PROGRAMADA', y devuelve 91 filas de las 150 citas que tiene ese dia</a:t>
            </a:r>
          </a:p>
          <a:p>
            <a:r>
              <a:t>Tercero, y este es el paso que se salta medio salon, ANALYZE cita; y ANALYZE mascota;: crear el indice NO actualiza las estadisticas, el planeador decide por costo estimado, y con numeros viejos puede ignorar un indice perfectamente bueno.</a:t>
            </a:r>
          </a:p>
          <a:p>
            <a:r>
              <a:t>La mitad de los avisos de «cree el indice y no me sirvio» de la clase son este paso omitido.</a:t>
            </a:r>
          </a:p>
          <a:p>
            <a:r>
              <a:t>Cuarto, las MISMAS dos consultas otra vez, sin cambiar una coma: si se cambia una fecha o un id la comparacion deja de valer.</a:t>
            </a:r>
          </a:p>
          <a:p>
            <a:r>
              <a:t>Y el cierre es la evidencia de que existen: ORDER BY tablename, indexname; la columna indexdef devuelve el CREATE INDEX completo, asi que ahi se ve tambien la clausula WHERE del indice parcial, que es lo que confirma que se creo parcial y no completo.</a:t>
            </a:r>
          </a:p>
          <a:p>
            <a:r>
              <a:t>El enunciado ademas exige comentar CUAL de los dos indices sobre fecha_hora eligio el planeador para C1.</a:t>
            </a:r>
          </a:p>
          <a:p>
            <a:r>
              <a:t>NOTAS:</a:t>
            </a:r>
          </a:p>
          <a:p>
            <a:r>
              <a:t>Segundo, los CREATE INDEX.</a:t>
            </a:r>
          </a:p>
          <a:p>
            <a:r>
              <a:t>CÓDIGO CITADO (referencia):</a:t>
            </a:r>
          </a:p>
          <a:p>
            <a:r>
              <a:t>SELECT id_mascota, nombre, especie FROM mascota WHERE id_dueno = 1234</a:t>
            </a:r>
          </a:p>
          <a:p>
            <a:r>
              <a:t>SELECT indexname, tablename, indexdef FROM pg_indexes WHERE tablename IN ('cita','mascota')</a:t>
            </a:r>
          </a:p>
          <a:p>
            <a:r>
              <a:t>Fuera de la lamina (habla de la practica): El enunciado ademas exige comentar CUAL de los dos indices sobre fecha_hora eligio el planeador para C1, y la rubrica descuenta si no se comenta: no basta pegar el plan, hay que leerlo.</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DESARROLLO (para explicarlo, no se proyecta):</a:t>
            </a:r>
          </a:p>
          <a:p>
            <a:r>
              <a:t>Se crean los dos compuestos, se corre ANALYZE cita, y se miden tres consultas.</a:t>
            </a:r>
          </a:p>
          <a:p>
            <a:r>
              <a:t>Q1 filtra por estado con igualdad y por fecha_hora con rango: favorece a idx_cita_estado_fecha, porque la columna de igualdad es la lider y el rango queda al final.</a:t>
            </a:r>
          </a:p>
          <a:p>
            <a:r>
              <a:t>Q2 filtra solo por rango de fecha_hora: favorece a idx_cita_fecha_estado, porque ahi fecha_hora si es la lider.</a:t>
            </a:r>
          </a:p>
          <a:p>
            <a:r>
              <a:t>Q3 filtra solo por estado, sin fecha: idx_cita_fecha_estado no le sirve, porque su columna lider no aparece en el WHERE, y con CANCELADA siendo apenas 2.728 de 30.010 filas el motor puede elegir idx_cita_estado_fecha o resolver por conteo.</a:t>
            </a:r>
          </a:p>
          <a:p>
            <a:r>
              <a:t>Despues viene la parte que convierte la observacion en experimento: se hace DROP INDEX idx_cita_fecha_estado y se vuelve a medir Q2.</a:t>
            </a:r>
          </a:p>
          <a:p>
            <a:r>
              <a:t>El plan cae en idx_cita_fecha_hora, que tambien tiene fecha_hora como lider, o vuelve al recorrido completo, pero NO se pasa a idx_cita_estado_fecha.</a:t>
            </a:r>
          </a:p>
          <a:p>
            <a:r>
              <a:t>Un matiz honesto: el planeador decide por costo y puede sorprender, sobre todo entre dos indices que compiten de cerca; la instruccion al grupo es reportar lo que VIO en su plan, no lo que decia la diapositiva, y explicar la eleccion.</a:t>
            </a:r>
          </a:p>
          <a:p>
            <a:r>
              <a:t>NOTAS:</a:t>
            </a:r>
          </a:p>
          <a:p>
            <a:r>
              <a:t>Eso es la regla del prefijo izquierdo vista en vivo, y es la unica manera de que no quede como una frase que se memoriza.</a:t>
            </a:r>
          </a:p>
          <a:p>
            <a:r>
              <a:t>Un plan distinto bien leido vale mas que el plan esperado copiado.</a:t>
            </a:r>
          </a:p>
          <a:p>
            <a:r>
              <a:t>Fuera de la lamina (habla de la practica): La pregunta 2 no pide creer la regla del prefijo izquierdo, pide demostrarla, y el docente tiene que poder anticipar los tres resultados.</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TEXTO COMPLETO DE LA LÁMINA (se proyecta resumido):</a:t>
            </a:r>
          </a:p>
          <a:p/>
          <a:p>
            <a:r>
              <a:t>El nombre importa. El plan imprime «Index Scan using» seguido del nombre, asi que se lee en la salida: `idx_cita_fecha_hora`, `idx_mascota_dueno`, `idx_cita_programada_fecha` para la medicion, y `idx_cita_estado_fecha` + `idx_cita_fecha_estado` para el orden. `idx_cita_fecha` no es ninguno de los cinco: el sufijo es `_fecha_hora`, como la columna.</a:t>
            </a:r>
          </a:p>
          <a:p/>
          <a:p>
            <a:r>
              <a:t>Simple o compuesto. Los tres primeros son de una columna; los dos ultimos llevan las mismas dos columnas en orden inverso, y existen precisamente para que se vea que el orden cambia el resultado.</a:t>
            </a:r>
          </a:p>
          <a:p/>
          <a:p>
            <a:r>
              <a:t>La secuencia que hay que respetar. `EXPLAIN ANALYZE` antes (tiene que salir `Seq Scan`) -&gt; `CREATE INDEX` -&gt; `ANALYZE cita;` -&gt; el mismo `EXPLAIN` otra vez. Sin el `ANALYZE` intermedio el planeador sigue con las estadisticas viejas y puede ignorar el indice que acabas de crear: la mitad de los «no me sirvio» de la clase son este paso saltado.</a:t>
            </a:r>
          </a:p>
          <a:p/>
          <a:p>
            <a:r>
              <a:t>La evidencia de que existen. `SELECT indexname, tablename, indexdef FROM pg_indexes WHERE tablename IN ('cita','mascota') ORDER BY tablename, indexname;` — `indexdef` devuelve el `CREATE INDEX` completo, asi que ahi se ve tambien el `WHERE` del parcial.</a:t>
            </a:r>
          </a:p>
          <a:p/>
          <a:p>
            <a:r>
              <a:t>Y el experimento del orden. Con los dos compuestos creados se miden tres consultas: estado + rango de fecha, solo rango, solo estado. Despues se hace `DROP INDEX idx_cita_fecha_estado` y se vuelve a medir la del rango solo. La columna de igualdad va primero y la de rango al final; un indice cuya columna lider no aparece en el `WHERE` normalmente no se usa.</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DESARROLLO (para explicarlo, no se proyecta):</a:t>
            </a:r>
          </a:p>
          <a:p>
            <a:r>
              <a:t>Un indice parcial es el que solo contiene las filas que cumplen una condicion, y la sintaxis es WHERE estado = 'PROGRAMADA'.</a:t>
            </a:r>
          </a:p>
          <a:p>
            <a:r>
              <a:t>Lo primero que hay que aclarar, porque es donde se confunde todo el mundo: ese WHERE no es el de la consulta, es parte de la DEFINICION del indice y decide que filas entran en el arbol.</a:t>
            </a:r>
          </a:p>
          <a:p>
            <a:r>
              <a:t>Con los datos de hoy el ahorro se puede decir con numeros exactos: de las 30.010 citas, 18.187 estan PROGRAMADA, el 61 %; el indice completo indexa 30.010 entradas y el parcial 18.187, cuatro de cada diez menos.</a:t>
            </a:r>
          </a:p>
          <a:p>
            <a:r>
              <a:t>Menos entradas es menos disco, menos memoria intermedia ocupada y menos trabajo en cada escritura de una cita que no este programada.</a:t>
            </a:r>
          </a:p>
          <a:p>
            <a:r>
              <a:t>La condicion para que el planeador lo use es estricta: tiene que poder demostrar que la consulta trae la misma condicion del indice.</a:t>
            </a:r>
          </a:p>
          <a:p>
            <a:r>
              <a:t>WHERE estado = 'PROGRAMADA' AND fecha_hora &gt;=... si lo aprovecha; la misma consulta sin el filtro de estado no, porque el indice no contiene las filas atendidas ni las canceladas y el motor no puede arriesgarse a devolver un resultado incompleto.</a:t>
            </a:r>
          </a:p>
          <a:p>
            <a:r>
              <a:t>Cuando el filtro es parte del caso de uso y no del capricho de una consulta, el parcial es la respuesta correcta.</a:t>
            </a:r>
          </a:p>
          <a:p>
            <a:r>
              <a:t>Y en C1 los dos indices sobre fecha_hora compiten: se espera que gane el parcial</a:t>
            </a:r>
          </a:p>
          <a:p>
            <a:r>
              <a:t>Porque recorre 91 entradas y ya sabe que todas cumplen el estado, mientras el completo recorreria las 150 del dia y tendria que descartar 59 despues de ir a la tabla a leer el estado.</a:t>
            </a:r>
          </a:p>
          <a:p>
            <a:r>
              <a:t>La diferencia de costo es pequena con este volumen, asi que si en la corrida gana el completo la respuesta correcta sigue siendo la que reporta lo que se vio.</a:t>
            </a:r>
          </a:p>
          <a:p>
            <a:r>
              <a:t>NOTAS:</a:t>
            </a:r>
          </a:p>
          <a:p>
            <a:r>
              <a:t>El caso de la clínica que lo justifica hay que nombrarlo: la agenda del dia de la recepcion SIEMPRE filtra por PROGRAMADA, porque nadie abre esa pantalla para ver las citas que ya se atendieron.</a:t>
            </a:r>
          </a:p>
          <a:p>
            <a:r>
              <a:t>CÓDIGO CITADO (referencia):</a:t>
            </a:r>
          </a:p>
          <a:p>
            <a:r>
              <a:t>CREATE INDEX idx_cita_programada_fecha ON cita (fecha_hora)</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TEXTO COMPLETO DE LA LÁMINA (se proyecta resumido):</a:t>
            </a:r>
          </a:p>
          <a:p/>
          <a:p>
            <a:r>
              <a:t>Que es. Un indice que solo contiene las filas que cumplen una condicion: `CREATE INDEX idx_cita_programada_fecha ON cita (fecha_hora) WHERE estado = 'PROGRAMADA';`. El `WHERE` no es el de la consulta: es parte de la definicion del indice y decide que filas entran en el arbol.</a:t>
            </a:r>
          </a:p>
          <a:p/>
          <a:p>
            <a:r>
              <a:t>Cuanto se ahorra, con los datos de hoy. De las 30.010 citas sembradas, 18.187 estan `PROGRAMADA` (el 61 %): el indice completo indexa 30.010 entradas y el parcial 18.187, cuatro de cada diez menos. Menos entradas es menos disco, menos cache ocupada y menos trabajo en cada escritura de una cita que no este programada.</a:t>
            </a:r>
          </a:p>
          <a:p/>
          <a:p>
            <a:r>
              <a:t>La condicion para que sirva. El planeador solo lo usa si puede demostrar que la consulta trae la misma condicion del indice. `WHERE estado = 'PROGRAMADA' AND fecha_hora &gt;= ...` si lo aprovecha; la misma consulta sin el filtro de estado no, porque el indice no contiene las filas atendidas ni las canceladas.</a:t>
            </a:r>
          </a:p>
          <a:p/>
          <a:p>
            <a:r>
              <a:t>El caso de la clínica que lo justifica. La agenda del dia de la recepcion siempre filtra por `PROGRAMADA`: nadie abre la pantalla para ver las citas que ya se atendieron. Cuando el filtro es parte del caso de uso y no del capricho de una consulta, el parcial es la respuesta correcta.</a:t>
            </a:r>
          </a:p>
          <a:p/>
          <a:p>
            <a:r>
              <a:t>Cual de los dos elige. Con `idx_cita_fecha_hora` y `idx_cita_programada_fecha` compitiendo por la misma consulta, el plan nombra al ganador: hay que leer el `Index Scan using ...` y escribir cual salio.</a:t>
            </a:r>
          </a:p>
          <a:p/>
          <a:p>
            <a:r>
              <a:t>Fuera de la lamina (habla de la practica, no del tema):</a:t>
            </a:r>
          </a:p>
          <a:p>
            <a:r>
              <a:t>- Cual de los dos elige. Con `idx_cita_fecha_hora` y `idx_cita_programada_fecha` compitiendo por la misma consulta, el plan nombra al ganador: hay que leer el `Index Scan using ...` y escribir cual salio, porque la rubrica descuenta si no se comenta.</a:t>
            </a:r>
          </a:p>
          <a:p>
            <a:r>
              <a:t>- La pregunta 1 lo exige por nombre y su rubrica descuenta si falta; la pregunta 4 lo vuelve a cobrar como afirmacion correcta</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DESARROLLO (para explicarlo, no se proyecta):</a:t>
            </a:r>
          </a:p>
          <a:p>
            <a:r>
              <a:t>Particionar es dividir una sola tabla logica en fragmentos fisicos llamados particiones, segun una clave, de modo que el motor descarte de entrada las que no pueden contener lo buscado; ese descarte se llama poda de particiones o partition pruning.</a:t>
            </a:r>
          </a:p>
          <a:p>
            <a:r>
              <a:t>La forma mas frecuente es por rango de fechas: una particion por ano, de manera que una consulta de 2026 lee unicamente la particion de 2026 y el plan lo muestra.</a:t>
            </a:r>
          </a:p>
          <a:p>
            <a:r>
              <a:t>La frase que lo separa del tema anterior es corta: el indice ordena, la particion separa.</a:t>
            </a:r>
          </a:p>
          <a:p>
            <a:r>
              <a:t>El particionamiento se implementa completo —DDL, dos particiones, migracion de las citas, prueba de enrutamiento y prueba de poda— sobre una base de 5.010 citas repartidas entre 2025 y 2026.</a:t>
            </a:r>
          </a:p>
          <a:p>
            <a:r>
              <a:t>Si el docente anuncia que hoy no se implementa.</a:t>
            </a:r>
          </a:p>
          <a:p>
            <a:r>
              <a:t>Error comun: declarar la clave primaria solo sobre id_cita.</a:t>
            </a:r>
          </a:p>
          <a:p>
            <a:r>
              <a:t>NOTAS:</a:t>
            </a:r>
          </a:p>
          <a:p>
            <a:r>
              <a:t>El umbral en el que empieza a pagar en produccion es alto y hay que decirlo con numeros para que nadie lo use de adorno: como convencion de oficio se piensa en particionar por encima de unas decenas de millones de filas o de tablas de decenas de gigabytes, y por debajo de eso un indice sobre fecha_hora hace el mismo trabajo con mucho menos mantenimiento.</a:t>
            </a:r>
          </a:p>
          <a:p>
            <a:r>
              <a:t>Ahora la advertencia importante para el docente, porque es la que ha costado puntos: eso NO significa que hoy el particionamiento sea una idea conceptual que solo se cuenta.</a:t>
            </a:r>
          </a:p>
          <a:p>
            <a:r>
              <a:t>Lo que si es cierto, y hay que decirlo en la misma frase, es que con 5.010 filas la ganancia de RENDIMIENTO no es apreciable: lo que se demuestra hoy es que el motor descarta particiones enteras antes de leer, y que archivar un ano se vuelve trivial.</a:t>
            </a:r>
          </a:p>
          <a:p>
            <a:r>
              <a:t>En una tabla particionada PostgreSQL exige que la PK incluya la columna de particion, asi que la clave pasa a ser (id_cita, fecha_hora).</a:t>
            </a:r>
          </a:p>
          <a:p>
            <a:r>
              <a:t>Fuera de la lamina (habla de la practica): Si el docente anuncia que hoy no se implementa, el estudiante llega al taller con una respuesta en prosa a una pregunta que pide SQL ejecutado.</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DESARROLLO (para explicarlo, no se proyecta):</a:t>
            </a:r>
          </a:p>
          <a:p>
            <a:r>
              <a:t>El DDL son tres sentencias y dos trampas.</a:t>
            </a:r>
          </a:p>
          <a:p>
            <a:r>
              <a:t>La primera sentencia declara la tabla particionada: PARTITION BY RANGE (fecha_hora)</a:t>
            </a:r>
          </a:p>
          <a:p>
            <a:r>
              <a:t>Las otras dos crean las particiones: TO (TIMESTAMP '2026-01-01'); y su gemela de 2026.</a:t>
            </a:r>
          </a:p>
          <a:p>
            <a:r>
              <a:t>Primera trampa, la que cuesta la pregunta: en una tabla particionada la clave primaria DEBE incluir la columna de particion, asi que PRIMARY KEY (id_cita, fecha_hora) y no PRIMARY KEY (id_cita) a secas.</a:t>
            </a:r>
          </a:p>
          <a:p>
            <a:r>
              <a:t>Esto no es una rareza de MySQL, es la regla de PostgreSQL, y el mensaje de error del motor no dice «te falta la columna de particion» con esas palabras, asi que el estudiante que lo intenta se queda mirando un error que no entiende.</a:t>
            </a:r>
          </a:p>
          <a:p>
            <a:r>
              <a:t>Segunda trampa, mas silenciosa: el rango es cerrado por abajo y abierto por arriba, de modo que el TO de una particion es exactamente el FROM de la siguiente y nunca se solapan</a:t>
            </a:r>
          </a:p>
          <a:p>
            <a:r>
              <a:t>Quien escriba TO (TIMESTAMP '2025-12-31') se queda sin sitio donde poner las citas del 31 de diciembre y el INSERT falla con un error de que no se encontro particion.</a:t>
            </a:r>
          </a:p>
          <a:p>
            <a:r>
              <a:t>Despues del DDL viene la migracion,, y la prueba de que el reparto ocurrio:, MIN(fecha_hora), MAX(fecha_hora) tableoid es una columna de sistema que dice en que tabla FISICA vive cada fila y::regclass la traduce a nombre.</a:t>
            </a:r>
          </a:p>
          <a:p>
            <a:r>
              <a:t>La poda se comprueba con EXPLAIN ANALYZE de una consulta acotada a 2026: en el plan debe aparecer SOLO cita_hist_2026.</a:t>
            </a:r>
          </a:p>
          <a:p>
            <a:r>
              <a:t>NOTAS:</a:t>
            </a:r>
          </a:p>
          <a:p>
            <a:r>
              <a:t>Sin esa consulta no hay evidencia del enrutamiento, solo un INSERT que no dio error.</a:t>
            </a:r>
          </a:p>
          <a:p>
            <a:r>
              <a:t>CÓDIGO CITADO (referencia):</a:t>
            </a:r>
          </a:p>
          <a:p>
            <a:r>
              <a:t>CREATE TABLE cita_hist (id_cita INT, id_mascota INT, id_veterinario INT, fecha_hora TIMESTAMP NOT NULL, estado TEXT, PRIMARY KEY (id_cita, fecha_hora))</a:t>
            </a:r>
          </a:p>
          <a:p>
            <a:r>
              <a:t>CREATE TABLE cita_hist_2025 PARTITION OF cita_hist FOR VALUES FROM (TIMESTAMP '2025-01-01')</a:t>
            </a:r>
          </a:p>
          <a:p>
            <a:r>
              <a:t>INSERT INTO cita_hist SELECT id_cita, id_mascota, id_veterinario, fecha_hora, estado FROM cita</a:t>
            </a:r>
          </a:p>
          <a:p>
            <a:r>
              <a:t>SELECT tableoid::regclass AS particion, COUNT(*)</a:t>
            </a:r>
          </a:p>
          <a:p>
            <a:r>
              <a:t>FROM cita_hist GROUP BY 1 ORDER BY 1</a:t>
            </a:r>
          </a:p>
          <a:p>
            <a:r>
              <a:t>Fuera de la lamina (habla de la practica): Sin esa consulta no hay evidencia del enrutamiento, solo un INSERT que no dio error, y la rubrica lo pide explicitamente.</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TEXTO COMPLETO DE LA LÁMINA (se proyecta resumido):</a:t>
            </a:r>
          </a:p>
          <a:p/>
          <a:p>
            <a:r>
              <a:t>El DDL, en tres sentencias. `CREATE TABLE cita_hist (... ) PARTITION BY RANGE (fecha_hora);` y despues una particion por ano: `CREATE TABLE cita_hist_2025 PARTITION OF cita_hist FOR VALUES FROM (TIMESTAMP '2025-01-01') TO (TIMESTAMP '2026-01-01');`. El rango es cerrado por abajo y abierto por arriba, asi que el `TO` de una particion es el `FROM` de la siguiente y nunca se solapan.</a:t>
            </a:r>
          </a:p>
          <a:p/>
          <a:p>
            <a:r>
              <a:t>La trampa que cuesta la pregunta. En una tabla particionada la clave primaria debe incluir la columna de particion: `PRIMARY KEY (id_cita, fecha_hora)`. Un `PRIMARY KEY (id_cita)` a secas no compila, y el error del motor no dice «te falta la columna de particion» con esas palabras.</a:t>
            </a:r>
          </a:p>
          <a:p/>
          <a:p>
            <a:r>
              <a:t>La prueba de que el reparto ocurrio. `SELECT tableoid::regclass AS particion, COUNT(*), MIN(fecha_hora), MAX(fecha_hora) FROM cita_hist GROUP BY 1 ORDER BY 1;` — `tableoid` es la columna de sistema que dice en que tabla fisica vive cada fila, y `::regclass` la traduce a nombre. Sin esta consulta no hay evidencia del enrutamiento, solo un `INSERT` que no dio error.</a:t>
            </a:r>
          </a:p>
          <a:p/>
          <a:p>
            <a:r>
              <a:t>La poda, que es lo unico que mejora hoy. En `EXPLAIN ANALYZE` de una consulta acotada a 2026 el plan tiene que mencionar solo `cita_hist_2026`. Con 5.010 filas el tiempo no baja de forma apreciable y hay que decirlo: lo que se demuestra es que el motor descarta particiones enteras antes de leer.</a:t>
            </a:r>
          </a:p>
          <a:p/>
          <a:p>
            <a:r>
              <a:t>Y el beneficio real, que es de mantenimiento. Archivar 2025 es `DROP TABLE cita_hist_2025`, una operacion de metadatos que tarda un instante. El `DELETE FROM cita WHERE fecha_hora &lt; ...` equivalente toca millones de filas, infla el registro de transacciones y sostiene bloqueos largos — el contraste conecta directo con la Clase 8.</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DESARROLLO (para explicarlo, no se proyecta):</a:t>
            </a:r>
          </a:p>
          <a:p>
            <a:r>
              <a:t>Primera: el volumen que espera la clínica, con numeros propios del estudiante, del estilo tantas citas por dia por tantos dias de operacion al ano por tantos anos de historia.</a:t>
            </a:r>
          </a:p>
          <a:p>
            <a:r>
              <a:t>Un dato de referencia para calibrar: 40 citas diarias durante 300 dias son 12.000 citas al ano</a:t>
            </a:r>
          </a:p>
          <a:p>
            <a:r>
              <a:t>Y a cinco anos son 60.000; eso esta tres ordenes de magnitud por debajo del umbral de particionamiento, asi que el veredicto honesto para la clínica es que NO se particiona, y decirlo con el numero al lado vale mas que decir que si por quedar bien.</a:t>
            </a:r>
          </a:p>
          <a:p>
            <a:r>
              <a:t>Segunda: la ganancia de rendimiento con 5.010 filas no es apreciable.</a:t>
            </a:r>
          </a:p>
          <a:p>
            <a:r>
              <a:t>Tercera: lo que si quedo comprobado, que son dos cosas concretas, la poda de particiones en el plan y la facilidad de archivado.</a:t>
            </a:r>
          </a:p>
          <a:p>
            <a:r>
              <a:t>Y ahi esta el caso que no tiene alternativa, el que justifica aprender el tema aunque hoy no se aplique: borrar cinco anos de historia con DELETE FROM cita WHERE fecha_hora &lt; TIMESTAMP '2021-01-01 00:00:00' toca millones de filas</a:t>
            </a:r>
          </a:p>
          <a:p>
            <a:r>
              <a:t>Genera un registro de transacciones enorme, sostiene bloqueos largos y deja la tabla que hay que limpiar despues</a:t>
            </a:r>
          </a:p>
          <a:p>
            <a:r>
              <a:t>En cambio DROP TABLE cita_hist_2021 es una operacion de metadatos que tarda un instante, y ALTER TABLE cita_hist DETACH PARTITION cita_hist_2021 la separa sin borrar los datos si hay que conservarlos aparte.</a:t>
            </a:r>
          </a:p>
          <a:p>
            <a:r>
              <a:t>En Oracle la sentencia equivalente es ALTER TABLE cita DROP PARTITION cita_2021, y la diferencia de sintaxis conviene mencionarla porque el motor de hoy es PostgreSQL.</a:t>
            </a:r>
          </a:p>
          <a:p>
            <a:r>
              <a:t>Ese contraste entre DROP de particion y DELETE masivo conecta directo con la Clase 8, donde el registro de transacciones y la duracion de los bloqueos son el tema.</a:t>
            </a:r>
          </a:p>
          <a:p>
            <a:r>
              <a:t>NOTAS:</a:t>
            </a:r>
          </a:p>
          <a:p>
            <a:r>
              <a:t>Un veredicto de particionamiento tiene tres exigencias distintas.</a:t>
            </a:r>
          </a:p>
          <a:p>
            <a:r>
              <a:t>Fuera de la lamina (habla de la practica): Segunda: la ganancia de rendimiento con 5.010 filas no es apreciable, y reconocerlo suma puntos en vez de restarlos, porque la alternativa es inventar una mejora que el plan no muestra.</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DESARROLLO (para explicarlo, no se proyecta):</a:t>
            </a:r>
          </a:p>
          <a:p>
            <a:r>
              <a:t>La demo es el script Codigo/07_indices_clinica.sql y se corre, no en otra herramienta, porque el volumen sembrado es el que hace cambiar el plan.</a:t>
            </a:r>
          </a:p>
          <a:p>
            <a:r>
              <a:t>Termina con una consulta de control que debe devolver 18.187 PROGRAMADA, 9.095 ATENDIDA y 2.728 CANCELADA; si esos numeros no salen, nada de lo que sigue cuadra y hay que parar ahi.</a:t>
            </a:r>
          </a:p>
          <a:p>
            <a:r>
              <a:t>El bloque 1 es la linea base, con los dos Seq Scan.</a:t>
            </a:r>
          </a:p>
          <a:p>
            <a:r>
              <a:t>El bloque 3 es el experimento del orden, con su DROP INDEX al final.</a:t>
            </a:r>
          </a:p>
          <a:p>
            <a:r>
              <a:t>Si el bloque 0 no alcanza el tiempo.</a:t>
            </a:r>
          </a:p>
          <a:p>
            <a:r>
              <a:t>NOTAS:</a:t>
            </a:r>
          </a:p>
          <a:p>
            <a:r>
              <a:t>El script trae cinco bloques y el orden importa.</a:t>
            </a:r>
          </a:p>
          <a:p>
            <a:r>
              <a:t>El bloque 2 crea los tres indices, corre ANALYZE y repite las dos consultas: ese es el momento de la clase, y conviene proyectar las dos salidas una debajo de la otra y leer en voz alta la linea del nodo.</a:t>
            </a:r>
          </a:p>
          <a:p>
            <a:r>
              <a:t>El bloque 4 es el particionamiento completo, con una salvedad que hay que decir en vivo: como la siembra del bloque 0 pone todas las citas en 2026, todo cae en cita_hist_2026 y cita_hist_2025 queda vacia; eso ya demuestra el enrutamiento.</a:t>
            </a:r>
          </a:p>
          <a:p>
            <a:r>
              <a:t>Lo que no se puede hacer es medir en una base de 20 filas: el plan no va a cambiar y el grupo se va a llevar la conclusion contraria.</a:t>
            </a:r>
          </a:p>
          <a:p>
            <a:r>
              <a:t>Fuera de la lamina (habla de la practica): El bloque 0 crea las tablas y siembra la misma base de la actividad: 10 citas a mano mas 30.000 con generate_series, 30.010 en total; hay que advertir que ese bloque recrea las tablas, asi que se corre en una base vacia y no sobre la base de la clínica con datos que alguien quiera conservar.</a:t>
            </a:r>
          </a:p>
          <a:p>
            <a:r>
              <a:t>Fuera de la lamina (habla de la practica): El bloque 4 es el particionamiento completo, con una salvedad que hay que decir en vivo: como la siembra del bloque 0 pone todas las citas en 2026, todo cae en cita_hist_2026 y cita_hist_2025 queda vacia; eso ya demuestra el enrutamiento, y la base de la pregunta 3 si reparte sus 5.010 citas entre los dos anos.</a:t>
            </a:r>
          </a:p>
          <a:p>
            <a:r>
              <a:t>Fuera de la lamina (habla de la practica): Si el bloque 0 no alcanza el tiempo, la alternativa es abrir directamente la pregunta 1 de la clase, que ya trae la base sembrada, y correr los bloques 1 y 2 ahi.</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DESARROLLO (para explicarlo, no se proyecta):</a:t>
            </a:r>
          </a:p>
          <a:p>
            <a:r>
              <a:t>En particular DB Fiddle queda fuera, aunque tambien tenga PostgreSQL, por un motivo concreto: la base sembrada con las 30.010 citas no existe alli.</a:t>
            </a:r>
          </a:p>
          <a:p>
            <a:r>
              <a:t>Lo medible con confianza: el tipo de nodo, las filas estimadas contra reales y el numero de particiones leidas.</a:t>
            </a:r>
          </a:p>
          <a:p>
            <a:r>
              <a:t>Los milisegundos no se comparan entre maquinas: cambian incluso entre 2 corridas seguidas en el mismo equipo.</a:t>
            </a:r>
          </a:p>
          <a:p>
            <a:r>
              <a:t>NOTAS:</a:t>
            </a:r>
          </a:p>
          <a:p>
            <a:r>
              <a:t>La herramienta de hoy es una sola y conviene decirlo sin ambiguedad: PostgreSQL en el navegador, que ejecuta PostgreSQL sobre PGlite dentro del navegador.</a:t>
            </a:r>
          </a:p>
          <a:p>
            <a:r>
              <a:t>Ahi corre la demo.</a:t>
            </a:r>
          </a:p>
          <a:p>
            <a:r>
              <a:t>Lo que si se puede medir aqui: el cambio de Seq Scan a Index Scan, la eleccion entre dos indices que compiten, el efecto del orden de columnas con su DROP INDEX, el particionamiento declarativo completo y la poda en el plan, y el tamano de cada indice con pg_relation_size.</a:t>
            </a:r>
          </a:p>
          <a:p>
            <a:r>
              <a:t>Lo que NO se puede medir, y hay que declararlo en el informe en vez de inventarlo: los tiempos con la memoria intermedia vacia, porque vaciarla exige privilegios de administrador; el tiempo de creacion de un indice sobre decenas de millones de filas; la fragmentacion despues de meses de escrituras; la degradacion medible de un INSERT con diez indices, que necesita una carga sostenida; y cualquier cosa que exija dos sesiones simultaneas, porque PGlite corre una sola, que es el tema de la Clase 10.</a:t>
            </a:r>
          </a:p>
          <a:p>
            <a:r>
              <a:t>PREGUNTAS FRECUENTES DEL GRUPO</a:t>
            </a:r>
          </a:p>
          <a:p>
            <a:r>
              <a:t>Primera, y la mas previsible: entonces creo (estado, fecha_hora) y tambien (fecha_hora, estado).</a:t>
            </a:r>
          </a:p>
          <a:p>
            <a:r>
              <a:t>En produccion rara vez se justifica tener los dos, porque el segundo queda casi siempre cubierto por el indice de una sola columna sobre fecha_hora mas el filtro de estado aplicado sobre las pocas filas que sobreviven, y cada indice extra se paga en cada escritura.</a:t>
            </a:r>
          </a:p>
          <a:p>
            <a:r>
              <a:t>Hoy se crean los dos a proposito, para medir, y el experimento termina con un DROP INDEX que muestra que pasa cuando falta uno: crear para medir y crear para dejar son dos cosas distintas, y esa distincion es la respuesta.</a:t>
            </a:r>
          </a:p>
          <a:p>
            <a:r>
              <a:t>Segunda: cree el indice y el plan no cambio, entonces sirve o no sirve.</a:t>
            </a:r>
          </a:p>
          <a:p>
            <a:r>
              <a:t>Con 20 filas el indice puede estar bien elegido y el motor tener razon en no usarlo; con las 30.010 de hoy el volumen ya no es excusa, asi que se revisa en este orden, el ANALYZE, el nombre de la columna lider, y si el predicado es sargable.</a:t>
            </a:r>
          </a:p>
          <a:p>
            <a:r>
              <a:t>Tercera: si particionar no mejora nada con este volumen, para que lo hacemos.</a:t>
            </a:r>
          </a:p>
          <a:p>
            <a:r>
              <a:t>Cuarta: el indice parcial y el completo indexan la misma columna, no es redundante.</a:t>
            </a:r>
          </a:p>
          <a:p>
            <a:r>
              <a:t>No lo es mientras existan consultas que no traigan el filtro de estado: esas solo pueden usar el completo.</a:t>
            </a:r>
          </a:p>
          <a:p>
            <a:r>
              <a:t>Quinta: puedo poner el indice y ya, sin medir.</a:t>
            </a:r>
          </a:p>
          <a:p>
            <a:r>
              <a:t>Si todas las consultas del proyecto filtran por PROGRAMADA, entonces si sobra el completo.</a:t>
            </a:r>
          </a:p>
          <a:p>
            <a:r>
              <a:t>No, porque hace falta la linea base con Seq Scan; sin el antes, el despues no demuestra nada.</a:t>
            </a:r>
          </a:p>
          <a:p>
            <a:r>
              <a:t>Fuera de la lamina (habla de la practica): Ahi corre la demo, ahi se resuelve el taller y ahi se califica, asi que no hay razon para trabajar en otro sitio.</a:t>
            </a:r>
          </a:p>
          <a:p>
            <a:r>
              <a:t>Fuera de la lamina (habla de la practica): En particular DB Fiddle queda fuera, aunque tambien tenga PostgreSQL, por un motivo concreto: la base sembrada con las 30.010 citas no existe alli, y sin ella no se puede reproducir ni el cambio de plan ni las 91 filas que la rubrica menciona.</a:t>
            </a:r>
          </a:p>
          <a:p>
            <a:r>
              <a:t>Fuera de la lamina (habla de la practica): Un alterno que cuesta puntos no es un alterno.</a:t>
            </a:r>
          </a:p>
          <a:p>
            <a:r>
              <a:t>Fuera de la lamina (habla de la practica): Google Docs se usa para la tabla de justificacion de la pregunta 5, que es prosa y no SQL.</a:t>
            </a:r>
          </a:p>
          <a:p>
            <a:r>
              <a:t>Fuera de la lamina (habla de la practica): Esa lista de limites es la seccion 5 de la pregunta 5 y vale puntos: se pierde por omitirla, no por tenerla.</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TEXTO COMPLETO DE LA LÁMINA (se proyecta resumido):</a:t>
            </a:r>
          </a:p>
          <a:p/>
          <a:p>
            <a:r>
              <a:t>Herramienta: PostgreSQL/PGlite</a:t>
            </a:r>
          </a:p>
          <a:p/>
          <a:p>
            <a:r>
              <a:t>Demo: EXPLAIN ANALYZE con Seq Scan, CREATE INDEX idx_cita_fecha_hora, ANALYZE, y el mismo EXPLAIN mostrando Index Scan.</a:t>
            </a:r>
          </a:p>
          <a:p/>
          <a:p>
            <a:r>
              <a:t>Sigan el mismo dominio de la clínica (no inventen otro caso).</a:t>
            </a:r>
          </a:p>
          <a:p/>
          <a:p>
            <a:r>
              <a:t>Qué observar: el plan pasa de Seq Scan a Index Scan using con el nombre del indice, y con la particion la consulta de un ano lee una sola particion.</a:t>
            </a:r>
          </a:p>
          <a:p/>
          <a:p>
            <a:r>
              <a:t>Qué observar: despues de crear el indice hace falta ANALYZE: sin estadisticas frescas el planeador puede seguir eligiendo el Seq Scan.</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jpg"/><Relationship Id="rId3" Type="http://schemas.openxmlformats.org/officeDocument/2006/relationships/notesSlide" Target="../notesSlides/notesSlide1.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image" Target="../media/image4.png"/><Relationship Id="rId4" Type="http://schemas.openxmlformats.org/officeDocument/2006/relationships/image" Target="../media/image5.png"/><Relationship Id="rId5" Type="http://schemas.openxmlformats.org/officeDocument/2006/relationships/notesSlide" Target="../notesSlides/notesSlide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image" Target="../media/image7.png"/><Relationship Id="rId4" Type="http://schemas.openxmlformats.org/officeDocument/2006/relationships/image" Target="../media/image8.png"/><Relationship Id="rId5" Type="http://schemas.openxmlformats.org/officeDocument/2006/relationships/notesSlide" Target="../notesSlides/notesSlide3.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 Id="rId3" Type="http://schemas.openxmlformats.org/officeDocument/2006/relationships/image" Target="../media/image10.png"/><Relationship Id="rId4" Type="http://schemas.openxmlformats.org/officeDocument/2006/relationships/notesSlide" Target="../notesSlides/notesSlide4.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png"/><Relationship Id="rId3" Type="http://schemas.openxmlformats.org/officeDocument/2006/relationships/image" Target="../media/image12.png"/><Relationship Id="rId4" Type="http://schemas.openxmlformats.org/officeDocument/2006/relationships/image" Target="../media/image13.png"/><Relationship Id="rId5" Type="http://schemas.openxmlformats.org/officeDocument/2006/relationships/notesSlide" Target="../notesSlides/notesSlide5.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png"/><Relationship Id="rId3" Type="http://schemas.openxmlformats.org/officeDocument/2006/relationships/image" Target="../media/image15.png"/><Relationship Id="rId4" Type="http://schemas.openxmlformats.org/officeDocument/2006/relationships/image" Target="../media/image16.png"/><Relationship Id="rId5" Type="http://schemas.openxmlformats.org/officeDocument/2006/relationships/notesSlide" Target="../notesSlides/notesSlide6.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7.jpg"/><Relationship Id="rId3" Type="http://schemas.openxmlformats.org/officeDocument/2006/relationships/notesSlide" Target="../notesSlides/notesSlide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8.jpg"/><Relationship Id="rId3" Type="http://schemas.openxmlformats.org/officeDocument/2006/relationships/notesSlide" Target="../notesSlides/notesSlide8.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9.png"/><Relationship Id="rId3" Type="http://schemas.openxmlformats.org/officeDocument/2006/relationships/image" Target="../media/image20.png"/><Relationship Id="rId4" Type="http://schemas.openxmlformats.org/officeDocument/2006/relationships/image" Target="../media/image21.png"/><Relationship Id="rId5" Type="http://schemas.openxmlformats.org/officeDocument/2006/relationships/image" Target="../media/image22.png"/><Relationship Id="rId6" Type="http://schemas.openxmlformats.org/officeDocument/2006/relationships/notesSlide" Target="../notesSlides/notesSlide9.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3.png"/><Relationship Id="rId3" Type="http://schemas.openxmlformats.org/officeDocument/2006/relationships/image" Target="../media/image24.png"/><Relationship Id="rId4" Type="http://schemas.openxmlformats.org/officeDocument/2006/relationships/image" Target="../media/image25.png"/><Relationship Id="rId5" Type="http://schemas.openxmlformats.org/officeDocument/2006/relationships/image" Target="../media/image26.png"/><Relationship Id="rId6" Type="http://schemas.openxmlformats.org/officeDocument/2006/relationships/notesSlide" Target="../notesSlides/notesSlide10.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7.jpg"/><Relationship Id="rId3" Type="http://schemas.openxmlformats.org/officeDocument/2006/relationships/notesSlide" Target="../notesSlides/notesSlide11.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8.png"/><Relationship Id="rId3" Type="http://schemas.openxmlformats.org/officeDocument/2006/relationships/image" Target="../media/image29.png"/><Relationship Id="rId4" Type="http://schemas.openxmlformats.org/officeDocument/2006/relationships/image" Target="../media/image30.png"/><Relationship Id="rId5" Type="http://schemas.openxmlformats.org/officeDocument/2006/relationships/notesSlide" Target="../notesSlides/notesSlide12.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1.jpg"/><Relationship Id="rId3" Type="http://schemas.openxmlformats.org/officeDocument/2006/relationships/notesSlide" Target="../notesSlides/notesSlide13.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notesSlide" Target="../notesSlides/notesSlide14.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5.png"/><Relationship Id="rId3" Type="http://schemas.openxmlformats.org/officeDocument/2006/relationships/image" Target="../media/image36.png"/><Relationship Id="rId4" Type="http://schemas.openxmlformats.org/officeDocument/2006/relationships/image" Target="../media/image37.png"/><Relationship Id="rId5" Type="http://schemas.openxmlformats.org/officeDocument/2006/relationships/notesSlide" Target="../notesSlides/notesSlide15.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8.jpg"/><Relationship Id="rId3" Type="http://schemas.openxmlformats.org/officeDocument/2006/relationships/notesSlide" Target="../notesSlides/notesSlide16.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9.jpg"/><Relationship Id="rId3" Type="http://schemas.openxmlformats.org/officeDocument/2006/relationships/notesSlide" Target="../notesSlides/notesSlide17.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0.jpg"/><Relationship Id="rId3" Type="http://schemas.openxmlformats.org/officeDocument/2006/relationships/notesSlide" Target="../notesSlides/notesSlide18.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1.jpg"/><Relationship Id="rId3" Type="http://schemas.openxmlformats.org/officeDocument/2006/relationships/notesSlide" Target="../notesSlides/notesSlide19.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2.jpg"/><Relationship Id="rId3" Type="http://schemas.openxmlformats.org/officeDocument/2006/relationships/notesSlide" Target="../notesSlides/notesSlide20.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3.png"/></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1440"/>
          </a:xfrm>
          <a:prstGeom prst="rect">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1440"/>
            <a:ext cx="12191695" cy="50292"/>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logo_uniajc_blanco.png"/>
          <p:cNvPicPr>
            <a:picLocks noChangeAspect="1"/>
          </p:cNvPicPr>
          <p:nvPr/>
        </p:nvPicPr>
        <p:blipFill>
          <a:blip r:embed="rId2"/>
          <a:stretch>
            <a:fillRect/>
          </a:stretch>
        </p:blipFill>
        <p:spPr>
          <a:xfrm>
            <a:off x="502920" y="384048"/>
            <a:ext cx="2011680" cy="876815"/>
          </a:xfrm>
          <a:prstGeom prst="rect">
            <a:avLst/>
          </a:prstGeom>
        </p:spPr>
      </p:pic>
      <p:sp>
        <p:nvSpPr>
          <p:cNvPr id="6" name="Rounded Rectangle 5"/>
          <p:cNvSpPr/>
          <p:nvPr/>
        </p:nvSpPr>
        <p:spPr>
          <a:xfrm>
            <a:off x="10042855" y="384048"/>
            <a:ext cx="1691640" cy="384048"/>
          </a:xfrm>
          <a:prstGeom prst="roundRect">
            <a:avLst>
              <a:gd name="adj" fmla="val 12000"/>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042855" y="384048"/>
            <a:ext cx="1691640" cy="384048"/>
          </a:xfrm>
          <a:prstGeom prst="rect">
            <a:avLst/>
          </a:prstGeom>
          <a:noFill/>
        </p:spPr>
        <p:txBody>
          <a:bodyPr wrap="square" anchor="ctr"/>
          <a:lstStyle/>
          <a:p>
            <a:pPr algn="ctr"/>
            <a:r>
              <a:rPr sz="1400" b="1" i="0">
                <a:solidFill>
                  <a:srgbClr val="FFFFFF"/>
                </a:solidFill>
                <a:latin typeface="Calibri"/>
              </a:rPr>
              <a:t>Clase 7</a:t>
            </a:r>
          </a:p>
        </p:txBody>
      </p:sp>
      <p:sp>
        <p:nvSpPr>
          <p:cNvPr id="8" name="TextBox 7"/>
          <p:cNvSpPr txBox="1"/>
          <p:nvPr/>
        </p:nvSpPr>
        <p:spPr>
          <a:xfrm>
            <a:off x="731520" y="2331720"/>
            <a:ext cx="10728655" cy="1828800"/>
          </a:xfrm>
          <a:prstGeom prst="rect">
            <a:avLst/>
          </a:prstGeom>
          <a:noFill/>
        </p:spPr>
        <p:txBody>
          <a:bodyPr wrap="square" anchor="ctr"/>
          <a:lstStyle/>
          <a:p>
            <a:pPr algn="ctr"/>
            <a:r>
              <a:rPr sz="3400" b="1" i="0">
                <a:solidFill>
                  <a:srgbClr val="FFFFFF"/>
                </a:solidFill>
                <a:latin typeface="Calibri"/>
              </a:rPr>
              <a:t>Indices y particionamiento · la clínica</a:t>
            </a:r>
          </a:p>
        </p:txBody>
      </p:sp>
      <p:sp>
        <p:nvSpPr>
          <p:cNvPr id="9" name="Rectangle 8"/>
          <p:cNvSpPr/>
          <p:nvPr/>
        </p:nvSpPr>
        <p:spPr>
          <a:xfrm>
            <a:off x="4632807" y="4206240"/>
            <a:ext cx="2926080" cy="50292"/>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31520" y="4361688"/>
            <a:ext cx="10728655" cy="640080"/>
          </a:xfrm>
          <a:prstGeom prst="rect">
            <a:avLst/>
          </a:prstGeom>
          <a:noFill/>
        </p:spPr>
        <p:txBody>
          <a:bodyPr wrap="square">
            <a:spAutoFit/>
          </a:bodyPr>
          <a:lstStyle/>
          <a:p>
            <a:pPr algn="ctr"/>
            <a:r>
              <a:rPr sz="1800" b="0" i="0">
                <a:solidFill>
                  <a:srgbClr val="B8D8EE"/>
                </a:solidFill>
                <a:latin typeface="Calibri"/>
              </a:rPr>
              <a:t>Diseno fisico al servicio del proyecto</a:t>
            </a:r>
          </a:p>
        </p:txBody>
      </p:sp>
      <p:sp>
        <p:nvSpPr>
          <p:cNvPr id="11" name="TextBox 10"/>
          <p:cNvSpPr txBox="1"/>
          <p:nvPr/>
        </p:nvSpPr>
        <p:spPr>
          <a:xfrm>
            <a:off x="11094415" y="6419088"/>
            <a:ext cx="548640" cy="274320"/>
          </a:xfrm>
          <a:prstGeom prst="rect">
            <a:avLst/>
          </a:prstGeom>
          <a:noFill/>
        </p:spPr>
        <p:txBody>
          <a:bodyPr wrap="square">
            <a:spAutoFit/>
          </a:bodyPr>
          <a:lstStyle/>
          <a:p>
            <a:pPr algn="r"/>
            <a:r>
              <a:rPr sz="1100" b="1" i="0">
                <a:solidFill>
                  <a:srgbClr val="7EB8D4"/>
                </a:solidFill>
                <a:latin typeface="Calibri"/>
              </a:rPr>
              <a:t>1</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Encuadre de hoy · Tema y objetivo</a:t>
            </a:r>
          </a:p>
        </p:txBody>
      </p:sp>
      <p:sp>
        <p:nvSpPr>
          <p:cNvPr id="5" name="Rounded Rectangle 4"/>
          <p:cNvSpPr/>
          <p:nvPr/>
        </p:nvSpPr>
        <p:spPr>
          <a:xfrm>
            <a:off x="5797149" y="1573813"/>
            <a:ext cx="6010497" cy="4057845"/>
          </a:xfrm>
          <a:prstGeom prst="roundRect">
            <a:avLst>
              <a:gd name="adj" fmla="val 4000"/>
            </a:avLst>
          </a:prstGeom>
          <a:solidFill>
            <a:srgbClr val="E8EE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notebook-planning-desk-coffee.jpg"/>
          <p:cNvPicPr>
            <a:picLocks noChangeAspect="1"/>
          </p:cNvPicPr>
          <p:nvPr/>
        </p:nvPicPr>
        <p:blipFill>
          <a:blip r:embed="rId2"/>
          <a:stretch>
            <a:fillRect/>
          </a:stretch>
        </p:blipFill>
        <p:spPr>
          <a:xfrm>
            <a:off x="5870301" y="1646965"/>
            <a:ext cx="5864193" cy="3911541"/>
          </a:xfrm>
          <a:prstGeom prst="rect">
            <a:avLst/>
          </a:prstGeom>
        </p:spPr>
      </p:pic>
      <p:sp>
        <p:nvSpPr>
          <p:cNvPr id="7" name="TextBox 6"/>
          <p:cNvSpPr txBox="1"/>
          <p:nvPr/>
        </p:nvSpPr>
        <p:spPr>
          <a:xfrm>
            <a:off x="5870301" y="5961888"/>
            <a:ext cx="5864193" cy="320040"/>
          </a:xfrm>
          <a:prstGeom prst="rect">
            <a:avLst/>
          </a:prstGeom>
          <a:noFill/>
        </p:spPr>
        <p:txBody>
          <a:bodyPr wrap="square">
            <a:spAutoFit/>
          </a:bodyPr>
          <a:lstStyle/>
          <a:p>
            <a:pPr algn="ctr"/>
            <a:r>
              <a:rPr sz="1100" b="0" i="1">
                <a:solidFill>
                  <a:srgbClr val="666666"/>
                </a:solidFill>
                <a:latin typeface="Calibri"/>
              </a:rPr>
              <a:t>Foto: Cup of  Couple · Pexels</a:t>
            </a:r>
          </a:p>
        </p:txBody>
      </p:sp>
      <p:sp>
        <p:nvSpPr>
          <p:cNvPr id="8" name="TextBox 7"/>
          <p:cNvSpPr txBox="1"/>
          <p:nvPr/>
        </p:nvSpPr>
        <p:spPr>
          <a:xfrm>
            <a:off x="457200" y="1353312"/>
            <a:ext cx="5093061" cy="5047488"/>
          </a:xfrm>
          <a:prstGeom prst="rect">
            <a:avLst/>
          </a:prstGeom>
          <a:noFill/>
        </p:spPr>
        <p:txBody>
          <a:bodyPr wrap="square">
            <a:spAutoFit/>
          </a:bodyPr>
          <a:lstStyle/>
          <a:p>
            <a:pPr>
              <a:spcAft>
                <a:spcPts val="800"/>
              </a:spcAft>
            </a:pPr>
            <a:r>
              <a:rPr sz="2000" b="0" i="0">
                <a:solidFill>
                  <a:srgbClr val="333333"/>
                </a:solidFill>
                <a:latin typeface="Calibri"/>
              </a:rPr>
              <a:t>–   </a:t>
            </a:r>
            <a:r>
              <a:rPr sz="2000" b="1" i="0">
                <a:solidFill>
                  <a:srgbClr val="333333"/>
                </a:solidFill>
                <a:latin typeface="Calibri"/>
              </a:rPr>
              <a:t>Tema de hoy:</a:t>
            </a:r>
            <a:r>
              <a:rPr sz="2000" b="0" i="0">
                <a:solidFill>
                  <a:srgbClr val="333333"/>
                </a:solidFill>
                <a:latin typeface="Calibri"/>
              </a:rPr>
              <a:t> Indices y particionamiento · la clínica</a:t>
            </a:r>
          </a:p>
          <a:p>
            <a:pPr>
              <a:spcAft>
                <a:spcPts val="800"/>
              </a:spcAft>
            </a:pPr>
            <a:r>
              <a:rPr sz="2000" b="0" i="0">
                <a:solidFill>
                  <a:srgbClr val="333333"/>
                </a:solidFill>
                <a:latin typeface="Calibri"/>
              </a:rPr>
              <a:t>–   Herramienta: </a:t>
            </a:r>
            <a:r>
              <a:rPr sz="2000" b="1" i="0">
                <a:solidFill>
                  <a:srgbClr val="333333"/>
                </a:solidFill>
                <a:latin typeface="Calibri"/>
              </a:rPr>
              <a:t>PostgreSQL/PGlite</a:t>
            </a:r>
            <a:r>
              <a:rPr sz="2000" b="0" i="0">
                <a:solidFill>
                  <a:srgbClr val="333333"/>
                </a:solidFill>
                <a:latin typeface="Calibri"/>
              </a:rPr>
              <a:t> · Bloque </a:t>
            </a:r>
            <a:r>
              <a:rPr sz="2000" b="1" i="0">
                <a:solidFill>
                  <a:srgbClr val="333333"/>
                </a:solidFill>
                <a:latin typeface="Calibri"/>
              </a:rPr>
              <a:t>120 min</a:t>
            </a:r>
          </a:p>
          <a:p>
            <a:pPr>
              <a:spcAft>
                <a:spcPts val="800"/>
              </a:spcAft>
            </a:pPr>
            <a:r>
              <a:rPr sz="2000" b="0" i="0">
                <a:solidFill>
                  <a:srgbClr val="333333"/>
                </a:solidFill>
                <a:latin typeface="Calibri"/>
              </a:rPr>
              <a:t>–   Gratis + navegador · free tier · sin software de pago obligatorio.</a:t>
            </a:r>
          </a:p>
          <a:p>
            <a:pPr>
              <a:spcAft>
                <a:spcPts val="800"/>
              </a:spcAft>
            </a:pPr>
            <a:r>
              <a:rPr sz="2000" b="0" i="0">
                <a:solidFill>
                  <a:srgbClr val="333333"/>
                </a:solidFill>
                <a:latin typeface="Calibri"/>
              </a:rPr>
              <a:t>–   Recorrido: teoría del tema, una lámina por concepto, y demo del docente sobre la base de la clínica.</a:t>
            </a:r>
          </a:p>
        </p:txBody>
      </p:sp>
      <p:sp>
        <p:nvSpPr>
          <p:cNvPr id="9" name="TextBox 8"/>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Mapa del bloque de hoy (120 min)</a:t>
            </a:r>
          </a:p>
        </p:txBody>
      </p:sp>
      <p:sp>
        <p:nvSpPr>
          <p:cNvPr id="5" name="Rectangle 4"/>
          <p:cNvSpPr/>
          <p:nvPr/>
        </p:nvSpPr>
        <p:spPr>
          <a:xfrm>
            <a:off x="457200" y="2176272"/>
            <a:ext cx="11277295" cy="73152"/>
          </a:xfrm>
          <a:prstGeom prst="rect">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1438625" y="2066543"/>
            <a:ext cx="292608" cy="292608"/>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1353312"/>
            <a:ext cx="2255459" cy="502920"/>
          </a:xfrm>
          <a:prstGeom prst="rect">
            <a:avLst/>
          </a:prstGeom>
          <a:noFill/>
        </p:spPr>
        <p:txBody>
          <a:bodyPr wrap="square">
            <a:spAutoFit/>
          </a:bodyPr>
          <a:lstStyle/>
          <a:p>
            <a:pPr algn="ctr"/>
            <a:r>
              <a:rPr sz="1300" b="1" i="0">
                <a:solidFill>
                  <a:srgbClr val="095292"/>
                </a:solidFill>
                <a:latin typeface="Calibri"/>
              </a:rPr>
              <a:t>0-10</a:t>
            </a:r>
          </a:p>
        </p:txBody>
      </p:sp>
      <p:sp>
        <p:nvSpPr>
          <p:cNvPr id="8" name="TextBox 7"/>
          <p:cNvSpPr txBox="1"/>
          <p:nvPr/>
        </p:nvSpPr>
        <p:spPr>
          <a:xfrm>
            <a:off x="502920" y="2587752"/>
            <a:ext cx="2164019" cy="3310128"/>
          </a:xfrm>
          <a:prstGeom prst="rect">
            <a:avLst/>
          </a:prstGeom>
          <a:noFill/>
        </p:spPr>
        <p:txBody>
          <a:bodyPr wrap="square">
            <a:spAutoFit/>
          </a:bodyPr>
          <a:lstStyle/>
          <a:p>
            <a:pPr algn="ctr"/>
            <a:r>
              <a:rPr sz="1300" b="0" i="0">
                <a:solidFill>
                  <a:srgbClr val="333333"/>
                </a:solidFill>
                <a:latin typeface="Calibri"/>
              </a:rPr>
              <a:t>Encuadre · clase regular · la clínica</a:t>
            </a:r>
          </a:p>
        </p:txBody>
      </p:sp>
      <p:sp>
        <p:nvSpPr>
          <p:cNvPr id="9" name="Rounded Rectangle 8"/>
          <p:cNvSpPr/>
          <p:nvPr/>
        </p:nvSpPr>
        <p:spPr>
          <a:xfrm>
            <a:off x="3694084" y="2066543"/>
            <a:ext cx="292608" cy="292608"/>
          </a:xfrm>
          <a:prstGeom prst="roundRect">
            <a:avLst>
              <a:gd name="adj" fmla="val 12000"/>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2712659" y="1353312"/>
            <a:ext cx="2255459" cy="502920"/>
          </a:xfrm>
          <a:prstGeom prst="rect">
            <a:avLst/>
          </a:prstGeom>
          <a:noFill/>
        </p:spPr>
        <p:txBody>
          <a:bodyPr wrap="square">
            <a:spAutoFit/>
          </a:bodyPr>
          <a:lstStyle/>
          <a:p>
            <a:pPr algn="ctr"/>
            <a:r>
              <a:rPr sz="1300" b="1" i="0">
                <a:solidFill>
                  <a:srgbClr val="095292"/>
                </a:solidFill>
                <a:latin typeface="Calibri"/>
              </a:rPr>
              <a:t>10-35</a:t>
            </a:r>
          </a:p>
        </p:txBody>
      </p:sp>
      <p:sp>
        <p:nvSpPr>
          <p:cNvPr id="11" name="TextBox 10"/>
          <p:cNvSpPr txBox="1"/>
          <p:nvPr/>
        </p:nvSpPr>
        <p:spPr>
          <a:xfrm>
            <a:off x="2758379" y="2587752"/>
            <a:ext cx="2164019" cy="3310128"/>
          </a:xfrm>
          <a:prstGeom prst="rect">
            <a:avLst/>
          </a:prstGeom>
          <a:noFill/>
        </p:spPr>
        <p:txBody>
          <a:bodyPr wrap="square">
            <a:spAutoFit/>
          </a:bodyPr>
          <a:lstStyle/>
          <a:p>
            <a:pPr algn="ctr"/>
            <a:r>
              <a:rPr sz="1300" b="0" i="0">
                <a:solidFill>
                  <a:srgbClr val="333333"/>
                </a:solidFill>
                <a:latin typeface="Calibri"/>
              </a:rPr>
              <a:t>Teoría Core breve (al servicio del proyecto)</a:t>
            </a:r>
          </a:p>
        </p:txBody>
      </p:sp>
      <p:sp>
        <p:nvSpPr>
          <p:cNvPr id="12" name="Rounded Rectangle 11"/>
          <p:cNvSpPr/>
          <p:nvPr/>
        </p:nvSpPr>
        <p:spPr>
          <a:xfrm>
            <a:off x="5949543" y="2066543"/>
            <a:ext cx="292608" cy="292608"/>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968118" y="1353312"/>
            <a:ext cx="2255459" cy="502920"/>
          </a:xfrm>
          <a:prstGeom prst="rect">
            <a:avLst/>
          </a:prstGeom>
          <a:noFill/>
        </p:spPr>
        <p:txBody>
          <a:bodyPr wrap="square">
            <a:spAutoFit/>
          </a:bodyPr>
          <a:lstStyle/>
          <a:p>
            <a:pPr algn="ctr"/>
            <a:r>
              <a:rPr sz="1300" b="1" i="0">
                <a:solidFill>
                  <a:srgbClr val="095292"/>
                </a:solidFill>
                <a:latin typeface="Calibri"/>
              </a:rPr>
              <a:t>35-55</a:t>
            </a:r>
          </a:p>
        </p:txBody>
      </p:sp>
      <p:sp>
        <p:nvSpPr>
          <p:cNvPr id="14" name="TextBox 13"/>
          <p:cNvSpPr txBox="1"/>
          <p:nvPr/>
        </p:nvSpPr>
        <p:spPr>
          <a:xfrm>
            <a:off x="5013838" y="2587752"/>
            <a:ext cx="2164019" cy="3310128"/>
          </a:xfrm>
          <a:prstGeom prst="rect">
            <a:avLst/>
          </a:prstGeom>
          <a:noFill/>
        </p:spPr>
        <p:txBody>
          <a:bodyPr wrap="square">
            <a:spAutoFit/>
          </a:bodyPr>
          <a:lstStyle/>
          <a:p>
            <a:pPr algn="ctr"/>
            <a:r>
              <a:rPr sz="1300" b="0" i="0">
                <a:solidFill>
                  <a:srgbClr val="333333"/>
                </a:solidFill>
                <a:latin typeface="Calibri"/>
              </a:rPr>
              <a:t>Demo con la herramienta del día</a:t>
            </a:r>
          </a:p>
        </p:txBody>
      </p:sp>
      <p:sp>
        <p:nvSpPr>
          <p:cNvPr id="15" name="Rounded Rectangle 14"/>
          <p:cNvSpPr/>
          <p:nvPr/>
        </p:nvSpPr>
        <p:spPr>
          <a:xfrm>
            <a:off x="8205002" y="2066543"/>
            <a:ext cx="292608" cy="292608"/>
          </a:xfrm>
          <a:prstGeom prst="roundRect">
            <a:avLst>
              <a:gd name="adj" fmla="val 12000"/>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223577" y="1353312"/>
            <a:ext cx="2255459" cy="502920"/>
          </a:xfrm>
          <a:prstGeom prst="rect">
            <a:avLst/>
          </a:prstGeom>
          <a:noFill/>
        </p:spPr>
        <p:txBody>
          <a:bodyPr wrap="square">
            <a:spAutoFit/>
          </a:bodyPr>
          <a:lstStyle/>
          <a:p>
            <a:pPr algn="ctr"/>
            <a:r>
              <a:rPr sz="1300" b="1" i="0">
                <a:solidFill>
                  <a:srgbClr val="095292"/>
                </a:solidFill>
                <a:latin typeface="Calibri"/>
              </a:rPr>
              <a:t>55-105</a:t>
            </a:r>
          </a:p>
        </p:txBody>
      </p:sp>
      <p:sp>
        <p:nvSpPr>
          <p:cNvPr id="17" name="TextBox 16"/>
          <p:cNvSpPr txBox="1"/>
          <p:nvPr/>
        </p:nvSpPr>
        <p:spPr>
          <a:xfrm>
            <a:off x="7269297" y="2587752"/>
            <a:ext cx="2164019" cy="3310128"/>
          </a:xfrm>
          <a:prstGeom prst="rect">
            <a:avLst/>
          </a:prstGeom>
          <a:noFill/>
        </p:spPr>
        <p:txBody>
          <a:bodyPr wrap="square">
            <a:spAutoFit/>
          </a:bodyPr>
          <a:lstStyle/>
          <a:p>
            <a:pPr algn="ctr"/>
            <a:r>
              <a:rPr sz="1300" b="0" i="0">
                <a:solidFill>
                  <a:srgbClr val="333333"/>
                </a:solidFill>
                <a:latin typeface="Calibri"/>
              </a:rPr>
              <a:t>Práctica (opcional, guía en la carpeta)</a:t>
            </a:r>
          </a:p>
        </p:txBody>
      </p:sp>
      <p:sp>
        <p:nvSpPr>
          <p:cNvPr id="18" name="Rounded Rectangle 17"/>
          <p:cNvSpPr/>
          <p:nvPr/>
        </p:nvSpPr>
        <p:spPr>
          <a:xfrm>
            <a:off x="10460461" y="2066543"/>
            <a:ext cx="292608" cy="292608"/>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9479036" y="1353312"/>
            <a:ext cx="2255459" cy="502920"/>
          </a:xfrm>
          <a:prstGeom prst="rect">
            <a:avLst/>
          </a:prstGeom>
          <a:noFill/>
        </p:spPr>
        <p:txBody>
          <a:bodyPr wrap="square">
            <a:spAutoFit/>
          </a:bodyPr>
          <a:lstStyle/>
          <a:p>
            <a:pPr algn="ctr"/>
            <a:r>
              <a:rPr sz="1300" b="1" i="0">
                <a:solidFill>
                  <a:srgbClr val="095292"/>
                </a:solidFill>
                <a:latin typeface="Calibri"/>
              </a:rPr>
              <a:t>105-120</a:t>
            </a:r>
          </a:p>
        </p:txBody>
      </p:sp>
      <p:sp>
        <p:nvSpPr>
          <p:cNvPr id="20" name="TextBox 19"/>
          <p:cNvSpPr txBox="1"/>
          <p:nvPr/>
        </p:nvSpPr>
        <p:spPr>
          <a:xfrm>
            <a:off x="9524756" y="2587752"/>
            <a:ext cx="2164019" cy="3310128"/>
          </a:xfrm>
          <a:prstGeom prst="rect">
            <a:avLst/>
          </a:prstGeom>
          <a:noFill/>
        </p:spPr>
        <p:txBody>
          <a:bodyPr wrap="square">
            <a:spAutoFit/>
          </a:bodyPr>
          <a:lstStyle/>
          <a:p>
            <a:pPr algn="ctr"/>
            <a:r>
              <a:rPr sz="1300" b="0" i="0">
                <a:solidFill>
                  <a:srgbClr val="333333"/>
                </a:solidFill>
                <a:latin typeface="Calibri"/>
              </a:rPr>
              <a:t>Cierre conceptual · dudas</a:t>
            </a:r>
          </a:p>
        </p:txBody>
      </p:sp>
      <p:sp>
        <p:nvSpPr>
          <p:cNvPr id="21" name="TextBox 20"/>
          <p:cNvSpPr txBox="1"/>
          <p:nvPr/>
        </p:nvSpPr>
        <p:spPr>
          <a:xfrm>
            <a:off x="457200" y="5806440"/>
            <a:ext cx="11277295" cy="640080"/>
          </a:xfrm>
          <a:prstGeom prst="rect">
            <a:avLst/>
          </a:prstGeom>
          <a:noFill/>
        </p:spPr>
        <p:txBody>
          <a:bodyPr wrap="square">
            <a:spAutoFit/>
          </a:bodyPr>
          <a:lstStyle/>
          <a:p>
            <a:pPr algn="ctr"/>
            <a:r>
              <a:rPr sz="1200" b="0" i="1">
                <a:solidFill>
                  <a:srgbClr val="666666"/>
                </a:solidFill>
                <a:latin typeface="Calibri"/>
              </a:rPr>
              <a:t>Solo el bloque de </a:t>
            </a:r>
            <a:r>
              <a:rPr sz="1200" b="1" i="1">
                <a:solidFill>
                  <a:srgbClr val="666666"/>
                </a:solidFill>
                <a:latin typeface="Calibri"/>
              </a:rPr>
              <a:t>esta</a:t>
            </a:r>
            <a:r>
              <a:rPr sz="1200" b="0" i="1">
                <a:solidFill>
                  <a:srgbClr val="666666"/>
                </a:solidFill>
                <a:latin typeface="Calibri"/>
              </a:rPr>
              <a:t> clase · 120 min</a:t>
            </a:r>
          </a:p>
        </p:txBody>
      </p:sp>
      <p:sp>
        <p:nvSpPr>
          <p:cNvPr id="22" name="TextBox 21"/>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De donde viene la clase: los Seq Scan de la Clase 6</a:t>
            </a:r>
          </a:p>
        </p:txBody>
      </p:sp>
      <p:sp>
        <p:nvSpPr>
          <p:cNvPr id="5" name="Rounded Rectangle 4"/>
          <p:cNvSpPr/>
          <p:nvPr/>
        </p:nvSpPr>
        <p:spPr>
          <a:xfrm>
            <a:off x="5803166" y="1188719"/>
            <a:ext cx="5998464" cy="4828032"/>
          </a:xfrm>
          <a:prstGeom prst="roundRect">
            <a:avLst>
              <a:gd name="adj" fmla="val 4000"/>
            </a:avLst>
          </a:prstGeom>
          <a:solidFill>
            <a:srgbClr val="E8EE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indice-puntero-paso1.png"/>
          <p:cNvPicPr>
            <a:picLocks noChangeAspect="1"/>
          </p:cNvPicPr>
          <p:nvPr/>
        </p:nvPicPr>
        <p:blipFill>
          <a:blip r:embed="rId2"/>
          <a:stretch>
            <a:fillRect/>
          </a:stretch>
        </p:blipFill>
        <p:spPr>
          <a:xfrm>
            <a:off x="5876318" y="1261872"/>
            <a:ext cx="5852160" cy="4681728"/>
          </a:xfrm>
          <a:prstGeom prst="rect">
            <a:avLst/>
          </a:prstGeom>
        </p:spPr>
      </p:pic>
      <p:pic>
        <p:nvPicPr>
          <p:cNvPr id="7" name="Picture 6" descr="indice-puntero-paso2.png"/>
          <p:cNvPicPr>
            <a:picLocks noChangeAspect="1"/>
          </p:cNvPicPr>
          <p:nvPr/>
        </p:nvPicPr>
        <p:blipFill>
          <a:blip r:embed="rId3"/>
          <a:stretch>
            <a:fillRect/>
          </a:stretch>
        </p:blipFill>
        <p:spPr>
          <a:xfrm>
            <a:off x="5876318" y="1261872"/>
            <a:ext cx="5852160" cy="4681728"/>
          </a:xfrm>
          <a:prstGeom prst="rect">
            <a:avLst/>
          </a:prstGeom>
        </p:spPr>
      </p:pic>
      <p:pic>
        <p:nvPicPr>
          <p:cNvPr id="8" name="Picture 7" descr="indice-puntero-paso3.png"/>
          <p:cNvPicPr>
            <a:picLocks noChangeAspect="1"/>
          </p:cNvPicPr>
          <p:nvPr/>
        </p:nvPicPr>
        <p:blipFill>
          <a:blip r:embed="rId4"/>
          <a:stretch>
            <a:fillRect/>
          </a:stretch>
        </p:blipFill>
        <p:spPr>
          <a:xfrm>
            <a:off x="5876318" y="1261872"/>
            <a:ext cx="5852160" cy="4681728"/>
          </a:xfrm>
          <a:prstGeom prst="rect">
            <a:avLst/>
          </a:prstGeom>
        </p:spPr>
      </p:pic>
      <p:sp>
        <p:nvSpPr>
          <p:cNvPr id="13" name="TextBox 12"/>
          <p:cNvSpPr txBox="1"/>
          <p:nvPr/>
        </p:nvSpPr>
        <p:spPr>
          <a:xfrm>
            <a:off x="5870301" y="5961888"/>
            <a:ext cx="5864193" cy="320040"/>
          </a:xfrm>
          <a:prstGeom prst="rect">
            <a:avLst/>
          </a:prstGeom>
          <a:noFill/>
        </p:spPr>
        <p:txBody>
          <a:bodyPr wrap="square">
            <a:spAutoFit/>
          </a:bodyPr>
          <a:lstStyle/>
          <a:p>
            <a:pPr algn="ctr"/>
            <a:r>
              <a:rPr sz="1100" b="0" i="1">
                <a:solidFill>
                  <a:srgbClr val="666666"/>
                </a:solidFill>
                <a:latin typeface="Calibri"/>
              </a:rPr>
              <a:t>Clic para avanzar la animación</a:t>
            </a:r>
          </a:p>
        </p:txBody>
      </p:sp>
      <p:sp>
        <p:nvSpPr>
          <p:cNvPr id="14" name="TextBox 13"/>
          <p:cNvSpPr txBox="1"/>
          <p:nvPr/>
        </p:nvSpPr>
        <p:spPr>
          <a:xfrm>
            <a:off x="457200" y="1353312"/>
            <a:ext cx="5093061" cy="5047488"/>
          </a:xfrm>
          <a:prstGeom prst="rect">
            <a:avLst/>
          </a:prstGeom>
          <a:noFill/>
        </p:spPr>
        <p:txBody>
          <a:bodyPr wrap="square">
            <a:spAutoFit/>
          </a:bodyPr>
          <a:lstStyle/>
          <a:p>
            <a:pPr>
              <a:spcAft>
                <a:spcPts val="800"/>
              </a:spcAft>
            </a:pPr>
            <a:r>
              <a:rPr sz="2000" b="0" i="0">
                <a:solidFill>
                  <a:srgbClr val="333333"/>
                </a:solidFill>
                <a:latin typeface="Calibri"/>
              </a:rPr>
              <a:t>–   La Clase 6 dejo al grupo mirando planes que decian Seq Scan donde se esperaba algo mejor; hoy se construye la estructura que cambia esa linea.</a:t>
            </a:r>
          </a:p>
          <a:p>
            <a:pPr>
              <a:spcAft>
                <a:spcPts val="800"/>
              </a:spcAft>
            </a:pPr>
            <a:r>
              <a:rPr sz="2000" b="0" i="0">
                <a:solidFill>
                  <a:srgbClr val="333333"/>
                </a:solidFill>
                <a:latin typeface="Calibri"/>
              </a:rPr>
              <a:t>–   Un indice es una estructura de datos auxiliar, redundante y opcional.</a:t>
            </a:r>
          </a:p>
          <a:p>
            <a:pPr>
              <a:spcAft>
                <a:spcPts val="800"/>
              </a:spcAft>
            </a:pPr>
            <a:r>
              <a:rPr sz="2000" b="0" i="0">
                <a:solidFill>
                  <a:srgbClr val="333333"/>
                </a:solidFill>
                <a:latin typeface="Calibri"/>
              </a:rPr>
              <a:t>–   Cada entrada guarda dos cosas: el valor de la clave y un puntero fisico a la fila completa, que en PostgreSQL se llama ctid y en Oracle ROWID.</a:t>
            </a:r>
          </a:p>
        </p:txBody>
      </p:sp>
      <p:sp>
        <p:nvSpPr>
          <p:cNvPr id="15" name="TextBox 14"/>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4</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7"/>
                                        </p:tgtEl>
                                        <p:attrNameLst>
                                          <p:attrName>style.visibility</p:attrName>
                                        </p:attrNameLst>
                                      </p:cBhvr>
                                      <p:to>
                                        <p:strVal val="visible"/>
                                      </p:to>
                                    </p:set>
                                    <p:animEffect transition="in" filter="fade">
                                      <p:cBhvr>
                                        <p:cTn id="7" dur="450"/>
                                        <p:tgtEl>
                                          <p:spTgt spid="7"/>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8"/>
                                        </p:tgtEl>
                                        <p:attrNameLst>
                                          <p:attrName>style.visibility</p:attrName>
                                        </p:attrNameLst>
                                      </p:cBhvr>
                                      <p:to>
                                        <p:strVal val="visible"/>
                                      </p:to>
                                    </p:set>
                                    <p:animEffect transition="in" filter="fade">
                                      <p:cBhvr>
                                        <p:cTn id="12" dur="450"/>
                                        <p:tgtEl>
                                          <p:spTgt spid="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El B-Tree por dentro, en cinco minutos</a:t>
            </a:r>
          </a:p>
        </p:txBody>
      </p:sp>
      <p:sp>
        <p:nvSpPr>
          <p:cNvPr id="5" name="Rounded Rectangle 4"/>
          <p:cNvSpPr/>
          <p:nvPr/>
        </p:nvSpPr>
        <p:spPr>
          <a:xfrm>
            <a:off x="5803166" y="1188719"/>
            <a:ext cx="5998464" cy="4828032"/>
          </a:xfrm>
          <a:prstGeom prst="roundRect">
            <a:avLst>
              <a:gd name="adj" fmla="val 4000"/>
            </a:avLst>
          </a:prstGeom>
          <a:solidFill>
            <a:srgbClr val="E8EE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btree-paso1.png"/>
          <p:cNvPicPr>
            <a:picLocks noChangeAspect="1"/>
          </p:cNvPicPr>
          <p:nvPr/>
        </p:nvPicPr>
        <p:blipFill>
          <a:blip r:embed="rId2"/>
          <a:stretch>
            <a:fillRect/>
          </a:stretch>
        </p:blipFill>
        <p:spPr>
          <a:xfrm>
            <a:off x="5876318" y="1261872"/>
            <a:ext cx="5852160" cy="4681728"/>
          </a:xfrm>
          <a:prstGeom prst="rect">
            <a:avLst/>
          </a:prstGeom>
        </p:spPr>
      </p:pic>
      <p:pic>
        <p:nvPicPr>
          <p:cNvPr id="7" name="Picture 6" descr="btree-paso2.png"/>
          <p:cNvPicPr>
            <a:picLocks noChangeAspect="1"/>
          </p:cNvPicPr>
          <p:nvPr/>
        </p:nvPicPr>
        <p:blipFill>
          <a:blip r:embed="rId3"/>
          <a:stretch>
            <a:fillRect/>
          </a:stretch>
        </p:blipFill>
        <p:spPr>
          <a:xfrm>
            <a:off x="5876318" y="1261872"/>
            <a:ext cx="5852160" cy="4681728"/>
          </a:xfrm>
          <a:prstGeom prst="rect">
            <a:avLst/>
          </a:prstGeom>
        </p:spPr>
      </p:pic>
      <p:pic>
        <p:nvPicPr>
          <p:cNvPr id="8" name="Picture 7" descr="btree-paso3.png"/>
          <p:cNvPicPr>
            <a:picLocks noChangeAspect="1"/>
          </p:cNvPicPr>
          <p:nvPr/>
        </p:nvPicPr>
        <p:blipFill>
          <a:blip r:embed="rId4"/>
          <a:stretch>
            <a:fillRect/>
          </a:stretch>
        </p:blipFill>
        <p:spPr>
          <a:xfrm>
            <a:off x="5876318" y="1261872"/>
            <a:ext cx="5852160" cy="4681728"/>
          </a:xfrm>
          <a:prstGeom prst="rect">
            <a:avLst/>
          </a:prstGeom>
        </p:spPr>
      </p:pic>
      <p:sp>
        <p:nvSpPr>
          <p:cNvPr id="13" name="TextBox 12"/>
          <p:cNvSpPr txBox="1"/>
          <p:nvPr/>
        </p:nvSpPr>
        <p:spPr>
          <a:xfrm>
            <a:off x="5870301" y="5961888"/>
            <a:ext cx="5864193" cy="320040"/>
          </a:xfrm>
          <a:prstGeom prst="rect">
            <a:avLst/>
          </a:prstGeom>
          <a:noFill/>
        </p:spPr>
        <p:txBody>
          <a:bodyPr wrap="square">
            <a:spAutoFit/>
          </a:bodyPr>
          <a:lstStyle/>
          <a:p>
            <a:pPr algn="ctr"/>
            <a:r>
              <a:rPr sz="1100" b="0" i="1">
                <a:solidFill>
                  <a:srgbClr val="666666"/>
                </a:solidFill>
                <a:latin typeface="Calibri"/>
              </a:rPr>
              <a:t>Clic para avanzar la animación</a:t>
            </a:r>
          </a:p>
        </p:txBody>
      </p:sp>
      <p:sp>
        <p:nvSpPr>
          <p:cNvPr id="14" name="TextBox 13"/>
          <p:cNvSpPr txBox="1"/>
          <p:nvPr/>
        </p:nvSpPr>
        <p:spPr>
          <a:xfrm>
            <a:off x="457200" y="1353312"/>
            <a:ext cx="5093061" cy="5047488"/>
          </a:xfrm>
          <a:prstGeom prst="rect">
            <a:avLst/>
          </a:prstGeom>
          <a:noFill/>
        </p:spPr>
        <p:txBody>
          <a:bodyPr wrap="square">
            <a:spAutoFit/>
          </a:bodyPr>
          <a:lstStyle/>
          <a:p>
            <a:pPr>
              <a:spcAft>
                <a:spcPts val="800"/>
              </a:spcAft>
            </a:pPr>
            <a:r>
              <a:rPr sz="2000" b="0" i="0">
                <a:solidFill>
                  <a:srgbClr val="333333"/>
                </a:solidFill>
                <a:latin typeface="Calibri"/>
              </a:rPr>
              <a:t>–   El tipo de indice por omision en PostgreSQL, Oracle, MySQL y SQL Server es el B-Tree, arbol balanceado, y entenderlo por dentro toma cinco minutos…</a:t>
            </a:r>
          </a:p>
          <a:p>
            <a:pPr>
              <a:spcAft>
                <a:spcPts val="800"/>
              </a:spcAft>
            </a:pPr>
            <a:r>
              <a:rPr sz="2000" b="0" i="0">
                <a:solidFill>
                  <a:srgbClr val="333333"/>
                </a:solidFill>
                <a:latin typeface="Calibri"/>
              </a:rPr>
              <a:t>–   Tiene tres clases de nodos: una raiz, cero o mas niveles intermedios o de rama, y un nivel de hojas donde estan todas las claves con sus punteros.</a:t>
            </a:r>
          </a:p>
          <a:p>
            <a:pPr>
              <a:spcAft>
                <a:spcPts val="800"/>
              </a:spcAft>
            </a:pPr>
            <a:r>
              <a:rPr sz="2000" b="0" i="0">
                <a:solidFill>
                  <a:srgbClr val="333333"/>
                </a:solidFill>
                <a:latin typeface="Calibri"/>
              </a:rPr>
              <a:t>–   Cada nodo ocupa una pagina, tipicamente de 8 KB, y si cada entrada pesa unos 20 bytes, en una pagina caben del orden de 400 claves.</a:t>
            </a:r>
          </a:p>
        </p:txBody>
      </p:sp>
      <p:sp>
        <p:nvSpPr>
          <p:cNvPr id="15" name="TextBox 14"/>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5</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7"/>
                                        </p:tgtEl>
                                        <p:attrNameLst>
                                          <p:attrName>style.visibility</p:attrName>
                                        </p:attrNameLst>
                                      </p:cBhvr>
                                      <p:to>
                                        <p:strVal val="visible"/>
                                      </p:to>
                                    </p:set>
                                    <p:animEffect transition="in" filter="fade">
                                      <p:cBhvr>
                                        <p:cTn id="7" dur="450"/>
                                        <p:tgtEl>
                                          <p:spTgt spid="7"/>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8"/>
                                        </p:tgtEl>
                                        <p:attrNameLst>
                                          <p:attrName>style.visibility</p:attrName>
                                        </p:attrNameLst>
                                      </p:cBhvr>
                                      <p:to>
                                        <p:strVal val="visible"/>
                                      </p:to>
                                    </p:set>
                                    <p:animEffect transition="in" filter="fade">
                                      <p:cBhvr>
                                        <p:cTn id="12" dur="450"/>
                                        <p:tgtEl>
                                          <p:spTgt spid="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El precio se paga en cada escritura, y se cuantifica</a:t>
            </a:r>
          </a:p>
        </p:txBody>
      </p:sp>
      <p:sp>
        <p:nvSpPr>
          <p:cNvPr id="5" name="Rounded Rectangle 4"/>
          <p:cNvSpPr/>
          <p:nvPr/>
        </p:nvSpPr>
        <p:spPr>
          <a:xfrm>
            <a:off x="5803166" y="1188719"/>
            <a:ext cx="5998464" cy="4828032"/>
          </a:xfrm>
          <a:prstGeom prst="roundRect">
            <a:avLst>
              <a:gd name="adj" fmla="val 4000"/>
            </a:avLst>
          </a:prstGeom>
          <a:solidFill>
            <a:srgbClr val="E8EE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precio-escritura-paso1.png"/>
          <p:cNvPicPr>
            <a:picLocks noChangeAspect="1"/>
          </p:cNvPicPr>
          <p:nvPr/>
        </p:nvPicPr>
        <p:blipFill>
          <a:blip r:embed="rId2"/>
          <a:stretch>
            <a:fillRect/>
          </a:stretch>
        </p:blipFill>
        <p:spPr>
          <a:xfrm>
            <a:off x="5876318" y="1261872"/>
            <a:ext cx="5852160" cy="4681728"/>
          </a:xfrm>
          <a:prstGeom prst="rect">
            <a:avLst/>
          </a:prstGeom>
        </p:spPr>
      </p:pic>
      <p:pic>
        <p:nvPicPr>
          <p:cNvPr id="7" name="Picture 6" descr="precio-escritura-paso2.png"/>
          <p:cNvPicPr>
            <a:picLocks noChangeAspect="1"/>
          </p:cNvPicPr>
          <p:nvPr/>
        </p:nvPicPr>
        <p:blipFill>
          <a:blip r:embed="rId3"/>
          <a:stretch>
            <a:fillRect/>
          </a:stretch>
        </p:blipFill>
        <p:spPr>
          <a:xfrm>
            <a:off x="5876318" y="1261872"/>
            <a:ext cx="5852160" cy="4681728"/>
          </a:xfrm>
          <a:prstGeom prst="rect">
            <a:avLst/>
          </a:prstGeom>
        </p:spPr>
      </p:pic>
      <p:sp>
        <p:nvSpPr>
          <p:cNvPr id="8" name="TextBox 7"/>
          <p:cNvSpPr txBox="1"/>
          <p:nvPr/>
        </p:nvSpPr>
        <p:spPr>
          <a:xfrm>
            <a:off x="5870301" y="5961888"/>
            <a:ext cx="5864193" cy="320040"/>
          </a:xfrm>
          <a:prstGeom prst="rect">
            <a:avLst/>
          </a:prstGeom>
          <a:noFill/>
        </p:spPr>
        <p:txBody>
          <a:bodyPr wrap="square">
            <a:spAutoFit/>
          </a:bodyPr>
          <a:lstStyle/>
          <a:p>
            <a:pPr algn="ctr"/>
            <a:r>
              <a:rPr sz="1100" b="0" i="1">
                <a:solidFill>
                  <a:srgbClr val="666666"/>
                </a:solidFill>
                <a:latin typeface="Calibri"/>
              </a:rPr>
              <a:t>Clic para avanzar la animación</a:t>
            </a:r>
          </a:p>
        </p:txBody>
      </p:sp>
      <p:sp>
        <p:nvSpPr>
          <p:cNvPr id="9" name="TextBox 8"/>
          <p:cNvSpPr txBox="1"/>
          <p:nvPr/>
        </p:nvSpPr>
        <p:spPr>
          <a:xfrm>
            <a:off x="457200" y="1353312"/>
            <a:ext cx="5093061" cy="5047488"/>
          </a:xfrm>
          <a:prstGeom prst="rect">
            <a:avLst/>
          </a:prstGeom>
          <a:noFill/>
        </p:spPr>
        <p:txBody>
          <a:bodyPr wrap="square">
            <a:spAutoFit/>
          </a:bodyPr>
          <a:lstStyle/>
          <a:p>
            <a:pPr>
              <a:spcAft>
                <a:spcPts val="800"/>
              </a:spcAft>
            </a:pPr>
            <a:r>
              <a:rPr sz="2000" b="0" i="0">
                <a:solidFill>
                  <a:srgbClr val="333333"/>
                </a:solidFill>
                <a:latin typeface="Calibri"/>
              </a:rPr>
              <a:t>–   El precio de indexar se paga en cada escritura y hay que cuantificarlo.</a:t>
            </a:r>
          </a:p>
          <a:p>
            <a:pPr>
              <a:spcAft>
                <a:spcPts val="800"/>
              </a:spcAft>
            </a:pPr>
            <a:r>
              <a:rPr sz="2000" b="0" i="0">
                <a:solidFill>
                  <a:srgbClr val="333333"/>
                </a:solidFill>
                <a:latin typeface="Calibri"/>
              </a:rPr>
              <a:t>–   Un INSERT en cita con cuatro indices no es una operacion, son cinco.</a:t>
            </a:r>
          </a:p>
          <a:p>
            <a:pPr>
              <a:spcAft>
                <a:spcPts val="800"/>
              </a:spcAft>
            </a:pPr>
            <a:r>
              <a:rPr sz="2000" b="0" i="0">
                <a:solidFill>
                  <a:srgbClr val="333333"/>
                </a:solidFill>
                <a:latin typeface="Calibri"/>
              </a:rPr>
              <a:t>–   Como orden de magnitud de oficio, cada indice adicional encarece las escrituras entre un 5 % y un 15 %</a:t>
            </a:r>
          </a:p>
          <a:p>
            <a:pPr>
              <a:spcAft>
                <a:spcPts val="800"/>
              </a:spcAft>
            </a:pPr>
            <a:r>
              <a:rPr sz="2000" b="0" i="0">
                <a:solidFill>
                  <a:srgbClr val="333333"/>
                </a:solidFill>
                <a:latin typeface="Calibri"/>
              </a:rPr>
              <a:t>–   Y una tabla con diez indices puede escribir varias veces mas lento que la misma con dos.</a:t>
            </a:r>
          </a:p>
        </p:txBody>
      </p:sp>
      <p:sp>
        <p:nvSpPr>
          <p:cNvPr id="10" name="TextBox 9"/>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6</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7"/>
                                        </p:tgtEl>
                                        <p:attrNameLst>
                                          <p:attrName>style.visibility</p:attrName>
                                        </p:attrNameLst>
                                      </p:cBhvr>
                                      <p:to>
                                        <p:strVal val="visible"/>
                                      </p:to>
                                    </p:set>
                                    <p:animEffect transition="in" filter="fade">
                                      <p:cBhvr>
                                        <p:cTn id="7" dur="450"/>
                                        <p:tgtEl>
                                          <p:spTgt spid="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El costo de sobre-indexar, que casi nunca se menciona</a:t>
            </a:r>
          </a:p>
        </p:txBody>
      </p:sp>
      <p:sp>
        <p:nvSpPr>
          <p:cNvPr id="5" name="Rounded Rectangle 4"/>
          <p:cNvSpPr/>
          <p:nvPr/>
        </p:nvSpPr>
        <p:spPr>
          <a:xfrm>
            <a:off x="457200" y="1261872"/>
            <a:ext cx="11277295" cy="4878943"/>
          </a:xfrm>
          <a:prstGeom prst="roundRect">
            <a:avLst>
              <a:gd name="adj" fmla="val 4000"/>
            </a:avLst>
          </a:prstGeom>
          <a:solidFill>
            <a:srgbClr val="1E1E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457200" y="1261872"/>
            <a:ext cx="11277295" cy="365760"/>
          </a:xfrm>
          <a:prstGeom prst="rect">
            <a:avLst/>
          </a:prstGeom>
          <a:solidFill>
            <a:srgbClr val="2D2D3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658368" y="1380743"/>
            <a:ext cx="128016" cy="128016"/>
          </a:xfrm>
          <a:prstGeom prst="ellipse">
            <a:avLst/>
          </a:prstGeom>
          <a:solidFill>
            <a:srgbClr val="FF5F5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877824" y="1380743"/>
            <a:ext cx="128016" cy="128016"/>
          </a:xfrm>
          <a:prstGeom prst="ellipse">
            <a:avLst/>
          </a:prstGeom>
          <a:solidFill>
            <a:srgbClr val="FFBD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97280" y="1380743"/>
            <a:ext cx="128016" cy="128016"/>
          </a:xfrm>
          <a:prstGeom prst="ellipse">
            <a:avLst/>
          </a:prstGeom>
          <a:solidFill>
            <a:srgbClr val="27C93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371600" y="1298448"/>
            <a:ext cx="10180015" cy="292608"/>
          </a:xfrm>
          <a:prstGeom prst="rect">
            <a:avLst/>
          </a:prstGeom>
          <a:noFill/>
        </p:spPr>
        <p:txBody>
          <a:bodyPr wrap="square" anchor="ctr"/>
          <a:lstStyle/>
          <a:p>
            <a:pPr algn="r"/>
            <a:r>
              <a:rPr sz="1100" b="1" i="0">
                <a:solidFill>
                  <a:srgbClr val="BBBBBB"/>
                </a:solidFill>
                <a:latin typeface="Calibri"/>
              </a:rPr>
              <a:t>SQL · PostgreSQL</a:t>
            </a:r>
          </a:p>
        </p:txBody>
      </p:sp>
      <p:sp>
        <p:nvSpPr>
          <p:cNvPr id="11" name="TextBox 10"/>
          <p:cNvSpPr txBox="1"/>
          <p:nvPr/>
        </p:nvSpPr>
        <p:spPr>
          <a:xfrm>
            <a:off x="1188720" y="1719072"/>
            <a:ext cx="10271455" cy="4284583"/>
          </a:xfrm>
          <a:prstGeom prst="rect">
            <a:avLst/>
          </a:prstGeom>
          <a:noFill/>
        </p:spPr>
        <p:txBody>
          <a:bodyPr wrap="square">
            <a:spAutoFit/>
          </a:bodyPr>
          <a:lstStyle/>
          <a:p>
            <a:pPr>
              <a:spcAft>
                <a:spcPts val="428"/>
              </a:spcAft>
            </a:pPr>
            <a:r>
              <a:rPr sz="2000" i="1" b="0">
                <a:solidFill>
                  <a:srgbClr val="6A9955"/>
                </a:solidFill>
                <a:latin typeface="Consolas"/>
              </a:rPr>
              <a:t>-- Cada indice se ACTUALIZA en cada INSERT, UPDATE y DELETE.</a:t>
            </a:r>
          </a:p>
          <a:p>
            <a:pPr>
              <a:spcAft>
                <a:spcPts val="428"/>
              </a:spcAft>
            </a:pPr>
            <a:r>
              <a:rPr sz="2000" i="1" b="0">
                <a:solidFill>
                  <a:srgbClr val="6A9955"/>
                </a:solidFill>
                <a:latin typeface="Consolas"/>
              </a:rPr>
              <a:t>-- Seis indices sobre cita = seis escrituras extra por cita agendada.</a:t>
            </a:r>
          </a:p>
          <a:p>
            <a:pPr>
              <a:spcAft>
                <a:spcPts val="428"/>
              </a:spcAft>
            </a:pPr>
            <a:r>
              <a:rPr sz="2000" i="0" b="0">
                <a:solidFill>
                  <a:srgbClr val="D4D4D4"/>
                </a:solidFill>
                <a:latin typeface="Consolas"/>
              </a:rPr>
              <a:t/>
            </a:r>
          </a:p>
          <a:p>
            <a:pPr>
              <a:spcAft>
                <a:spcPts val="428"/>
              </a:spcAft>
            </a:pPr>
            <a:r>
              <a:rPr sz="2000" i="1" b="0">
                <a:solidFill>
                  <a:srgbClr val="6A9955"/>
                </a:solidFill>
                <a:latin typeface="Consolas"/>
              </a:rPr>
              <a:t>-- Que indices existen y cuanto pesan:</a:t>
            </a:r>
          </a:p>
          <a:p>
            <a:pPr>
              <a:spcAft>
                <a:spcPts val="428"/>
              </a:spcAft>
            </a:pPr>
            <a:r>
              <a:rPr sz="2000" i="0" b="0">
                <a:solidFill>
                  <a:srgbClr val="569CD6"/>
                </a:solidFill>
                <a:latin typeface="Consolas"/>
              </a:rPr>
              <a:t>SELECT</a:t>
            </a:r>
            <a:r>
              <a:rPr sz="2000" i="0" b="0">
                <a:solidFill>
                  <a:srgbClr val="D4D4D4"/>
                </a:solidFill>
                <a:latin typeface="Consolas"/>
              </a:rPr>
              <a:t> </a:t>
            </a:r>
            <a:r>
              <a:rPr sz="2000" i="0" b="0">
                <a:solidFill>
                  <a:srgbClr val="D4D4D4"/>
                </a:solidFill>
                <a:latin typeface="Consolas"/>
              </a:rPr>
              <a:t>indexrelname</a:t>
            </a:r>
            <a:r>
              <a:rPr sz="2000" i="0" b="0">
                <a:solidFill>
                  <a:srgbClr val="D4D4D4"/>
                </a:solidFill>
                <a:latin typeface="Consolas"/>
              </a:rPr>
              <a:t>, </a:t>
            </a:r>
            <a:r>
              <a:rPr sz="2000" i="0" b="0">
                <a:solidFill>
                  <a:srgbClr val="D4D4D4"/>
                </a:solidFill>
                <a:latin typeface="Consolas"/>
              </a:rPr>
              <a:t>idx_scan</a:t>
            </a:r>
            <a:r>
              <a:rPr sz="2000" i="0" b="0">
                <a:solidFill>
                  <a:srgbClr val="D4D4D4"/>
                </a:solidFill>
                <a:latin typeface="Consolas"/>
              </a:rPr>
              <a:t>, </a:t>
            </a:r>
            <a:r>
              <a:rPr sz="2000" i="0" b="0">
                <a:solidFill>
                  <a:srgbClr val="DCDCAA"/>
                </a:solidFill>
                <a:latin typeface="Consolas"/>
              </a:rPr>
              <a:t>pg_size_pretty</a:t>
            </a:r>
            <a:r>
              <a:rPr sz="2000" i="0" b="0">
                <a:solidFill>
                  <a:srgbClr val="D4D4D4"/>
                </a:solidFill>
                <a:latin typeface="Consolas"/>
              </a:rPr>
              <a:t>(</a:t>
            </a:r>
            <a:r>
              <a:rPr sz="2000" i="0" b="0">
                <a:solidFill>
                  <a:srgbClr val="DCDCAA"/>
                </a:solidFill>
                <a:latin typeface="Consolas"/>
              </a:rPr>
              <a:t>pg_relation_size</a:t>
            </a:r>
            <a:r>
              <a:rPr sz="2000" i="0" b="0">
                <a:solidFill>
                  <a:srgbClr val="D4D4D4"/>
                </a:solidFill>
                <a:latin typeface="Consolas"/>
              </a:rPr>
              <a:t>(</a:t>
            </a:r>
            <a:r>
              <a:rPr sz="2000" i="0" b="0">
                <a:solidFill>
                  <a:srgbClr val="D4D4D4"/>
                </a:solidFill>
                <a:latin typeface="Consolas"/>
              </a:rPr>
              <a:t>indexrelid</a:t>
            </a:r>
            <a:r>
              <a:rPr sz="2000" i="0" b="0">
                <a:solidFill>
                  <a:srgbClr val="D4D4D4"/>
                </a:solidFill>
                <a:latin typeface="Consolas"/>
              </a:rPr>
              <a:t>))</a:t>
            </a:r>
          </a:p>
          <a:p>
            <a:pPr>
              <a:spcAft>
                <a:spcPts val="428"/>
              </a:spcAft>
            </a:pPr>
            <a:r>
              <a:rPr sz="2000" i="0" b="0">
                <a:solidFill>
                  <a:srgbClr val="569CD6"/>
                </a:solidFill>
                <a:latin typeface="Consolas"/>
              </a:rPr>
              <a:t>FROM</a:t>
            </a:r>
            <a:r>
              <a:rPr sz="2000" i="0" b="0">
                <a:solidFill>
                  <a:srgbClr val="D4D4D4"/>
                </a:solidFill>
                <a:latin typeface="Consolas"/>
              </a:rPr>
              <a:t> </a:t>
            </a:r>
            <a:r>
              <a:rPr sz="2000" i="0" b="0">
                <a:solidFill>
                  <a:srgbClr val="D4D4D4"/>
                </a:solidFill>
                <a:latin typeface="Consolas"/>
              </a:rPr>
              <a:t>pg_stat_user_indexes</a:t>
            </a:r>
          </a:p>
          <a:p>
            <a:pPr>
              <a:spcAft>
                <a:spcPts val="428"/>
              </a:spcAft>
            </a:pPr>
            <a:r>
              <a:rPr sz="2000" i="0" b="0">
                <a:solidFill>
                  <a:srgbClr val="569CD6"/>
                </a:solidFill>
                <a:latin typeface="Consolas"/>
              </a:rPr>
              <a:t>WHERE</a:t>
            </a:r>
            <a:r>
              <a:rPr sz="2000" i="0" b="0">
                <a:solidFill>
                  <a:srgbClr val="D4D4D4"/>
                </a:solidFill>
                <a:latin typeface="Consolas"/>
              </a:rPr>
              <a:t> </a:t>
            </a:r>
            <a:r>
              <a:rPr sz="2000" i="0" b="0">
                <a:solidFill>
                  <a:srgbClr val="D4D4D4"/>
                </a:solidFill>
                <a:latin typeface="Consolas"/>
              </a:rPr>
              <a:t>relname</a:t>
            </a:r>
            <a:r>
              <a:rPr sz="2000" i="0" b="0">
                <a:solidFill>
                  <a:srgbClr val="D4D4D4"/>
                </a:solidFill>
                <a:latin typeface="Consolas"/>
              </a:rPr>
              <a:t> = </a:t>
            </a:r>
            <a:r>
              <a:rPr sz="2000" i="0" b="0">
                <a:solidFill>
                  <a:srgbClr val="CE9178"/>
                </a:solidFill>
                <a:latin typeface="Consolas"/>
              </a:rPr>
              <a:t>'cita'</a:t>
            </a:r>
          </a:p>
          <a:p>
            <a:pPr>
              <a:spcAft>
                <a:spcPts val="428"/>
              </a:spcAft>
            </a:pPr>
            <a:r>
              <a:rPr sz="2000" i="0" b="0">
                <a:solidFill>
                  <a:srgbClr val="569CD6"/>
                </a:solidFill>
                <a:latin typeface="Consolas"/>
              </a:rPr>
              <a:t>ORDER</a:t>
            </a:r>
            <a:r>
              <a:rPr sz="2000" i="0" b="0">
                <a:solidFill>
                  <a:srgbClr val="D4D4D4"/>
                </a:solidFill>
                <a:latin typeface="Consolas"/>
              </a:rPr>
              <a:t> </a:t>
            </a:r>
            <a:r>
              <a:rPr sz="2000" i="0" b="0">
                <a:solidFill>
                  <a:srgbClr val="569CD6"/>
                </a:solidFill>
                <a:latin typeface="Consolas"/>
              </a:rPr>
              <a:t>BY</a:t>
            </a:r>
            <a:r>
              <a:rPr sz="2000" i="0" b="0">
                <a:solidFill>
                  <a:srgbClr val="D4D4D4"/>
                </a:solidFill>
                <a:latin typeface="Consolas"/>
              </a:rPr>
              <a:t> </a:t>
            </a:r>
            <a:r>
              <a:rPr sz="2000" i="0" b="0">
                <a:solidFill>
                  <a:srgbClr val="D4D4D4"/>
                </a:solidFill>
                <a:latin typeface="Consolas"/>
              </a:rPr>
              <a:t>idx_scan</a:t>
            </a:r>
            <a:r>
              <a:rPr sz="2000" i="0" b="0">
                <a:solidFill>
                  <a:srgbClr val="D4D4D4"/>
                </a:solidFill>
                <a:latin typeface="Consolas"/>
              </a:rPr>
              <a:t>;</a:t>
            </a:r>
          </a:p>
          <a:p>
            <a:pPr>
              <a:spcAft>
                <a:spcPts val="428"/>
              </a:spcAft>
            </a:pPr>
            <a:r>
              <a:rPr sz="2000" i="0" b="0">
                <a:solidFill>
                  <a:srgbClr val="D4D4D4"/>
                </a:solidFill>
                <a:latin typeface="Consolas"/>
              </a:rPr>
              <a:t/>
            </a:r>
          </a:p>
          <a:p>
            <a:pPr>
              <a:spcAft>
                <a:spcPts val="428"/>
              </a:spcAft>
            </a:pPr>
            <a:r>
              <a:rPr sz="2000" i="1" b="0">
                <a:solidFill>
                  <a:srgbClr val="6A9955"/>
                </a:solidFill>
                <a:latin typeface="Consolas"/>
              </a:rPr>
              <a:t>-- idx_scan = 0 despues de dias de uso: el indice no sirve a nadie y</a:t>
            </a:r>
          </a:p>
          <a:p>
            <a:pPr>
              <a:spcAft>
                <a:spcPts val="428"/>
              </a:spcAft>
            </a:pPr>
            <a:r>
              <a:rPr sz="2000" i="1" b="0">
                <a:solidFill>
                  <a:srgbClr val="6A9955"/>
                </a:solidFill>
                <a:latin typeface="Consolas"/>
              </a:rPr>
              <a:t>-- se esta pagando en cada escritura. Candidato a DROP INDEX.</a:t>
            </a:r>
          </a:p>
        </p:txBody>
      </p:sp>
      <p:sp>
        <p:nvSpPr>
          <p:cNvPr id="12" name="TextBox 11"/>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7</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Indice compuesto: la regla del prefijo izquierdo</a:t>
            </a:r>
          </a:p>
        </p:txBody>
      </p:sp>
      <p:sp>
        <p:nvSpPr>
          <p:cNvPr id="5" name="Rounded Rectangle 4"/>
          <p:cNvSpPr/>
          <p:nvPr/>
        </p:nvSpPr>
        <p:spPr>
          <a:xfrm>
            <a:off x="5803166" y="1188719"/>
            <a:ext cx="5998464" cy="4828032"/>
          </a:xfrm>
          <a:prstGeom prst="roundRect">
            <a:avLst>
              <a:gd name="adj" fmla="val 4000"/>
            </a:avLst>
          </a:prstGeom>
          <a:solidFill>
            <a:srgbClr val="E8EE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prefijo-izquierdo-paso1.png"/>
          <p:cNvPicPr>
            <a:picLocks noChangeAspect="1"/>
          </p:cNvPicPr>
          <p:nvPr/>
        </p:nvPicPr>
        <p:blipFill>
          <a:blip r:embed="rId2"/>
          <a:stretch>
            <a:fillRect/>
          </a:stretch>
        </p:blipFill>
        <p:spPr>
          <a:xfrm>
            <a:off x="5876318" y="1261872"/>
            <a:ext cx="5852160" cy="4681728"/>
          </a:xfrm>
          <a:prstGeom prst="rect">
            <a:avLst/>
          </a:prstGeom>
        </p:spPr>
      </p:pic>
      <p:pic>
        <p:nvPicPr>
          <p:cNvPr id="7" name="Picture 6" descr="prefijo-izquierdo-paso2.png"/>
          <p:cNvPicPr>
            <a:picLocks noChangeAspect="1"/>
          </p:cNvPicPr>
          <p:nvPr/>
        </p:nvPicPr>
        <p:blipFill>
          <a:blip r:embed="rId3"/>
          <a:stretch>
            <a:fillRect/>
          </a:stretch>
        </p:blipFill>
        <p:spPr>
          <a:xfrm>
            <a:off x="5876318" y="1261872"/>
            <a:ext cx="5852160" cy="4681728"/>
          </a:xfrm>
          <a:prstGeom prst="rect">
            <a:avLst/>
          </a:prstGeom>
        </p:spPr>
      </p:pic>
      <p:pic>
        <p:nvPicPr>
          <p:cNvPr id="8" name="Picture 7" descr="prefijo-izquierdo-paso3.png"/>
          <p:cNvPicPr>
            <a:picLocks noChangeAspect="1"/>
          </p:cNvPicPr>
          <p:nvPr/>
        </p:nvPicPr>
        <p:blipFill>
          <a:blip r:embed="rId4"/>
          <a:stretch>
            <a:fillRect/>
          </a:stretch>
        </p:blipFill>
        <p:spPr>
          <a:xfrm>
            <a:off x="5876318" y="1261872"/>
            <a:ext cx="5852160" cy="4681728"/>
          </a:xfrm>
          <a:prstGeom prst="rect">
            <a:avLst/>
          </a:prstGeom>
        </p:spPr>
      </p:pic>
      <p:sp>
        <p:nvSpPr>
          <p:cNvPr id="13" name="TextBox 12"/>
          <p:cNvSpPr txBox="1"/>
          <p:nvPr/>
        </p:nvSpPr>
        <p:spPr>
          <a:xfrm>
            <a:off x="5870301" y="5961888"/>
            <a:ext cx="5864193" cy="320040"/>
          </a:xfrm>
          <a:prstGeom prst="rect">
            <a:avLst/>
          </a:prstGeom>
          <a:noFill/>
        </p:spPr>
        <p:txBody>
          <a:bodyPr wrap="square">
            <a:spAutoFit/>
          </a:bodyPr>
          <a:lstStyle/>
          <a:p>
            <a:pPr algn="ctr"/>
            <a:r>
              <a:rPr sz="1100" b="0" i="1">
                <a:solidFill>
                  <a:srgbClr val="666666"/>
                </a:solidFill>
                <a:latin typeface="Calibri"/>
              </a:rPr>
              <a:t>Clic para avanzar la animación</a:t>
            </a:r>
          </a:p>
        </p:txBody>
      </p:sp>
      <p:sp>
        <p:nvSpPr>
          <p:cNvPr id="14" name="TextBox 13"/>
          <p:cNvSpPr txBox="1"/>
          <p:nvPr/>
        </p:nvSpPr>
        <p:spPr>
          <a:xfrm>
            <a:off x="457200" y="1353312"/>
            <a:ext cx="5093061" cy="5047488"/>
          </a:xfrm>
          <a:prstGeom prst="rect">
            <a:avLst/>
          </a:prstGeom>
          <a:noFill/>
        </p:spPr>
        <p:txBody>
          <a:bodyPr wrap="square">
            <a:spAutoFit/>
          </a:bodyPr>
          <a:lstStyle/>
          <a:p>
            <a:pPr>
              <a:spcAft>
                <a:spcPts val="800"/>
              </a:spcAft>
            </a:pPr>
            <a:r>
              <a:rPr sz="2000" b="0" i="0">
                <a:solidFill>
                  <a:srgbClr val="333333"/>
                </a:solidFill>
                <a:latin typeface="Calibri"/>
              </a:rPr>
              <a:t>–   Un indice compuesto es el creado sobre dos o mas columnas, y su regla de uso es la fuente de error mas frecuente del tema.</a:t>
            </a:r>
          </a:p>
          <a:p>
            <a:pPr>
              <a:spcAft>
                <a:spcPts val="800"/>
              </a:spcAft>
            </a:pPr>
            <a:r>
              <a:rPr sz="2000" b="0" i="0">
                <a:solidFill>
                  <a:srgbClr val="333333"/>
                </a:solidFill>
                <a:latin typeface="Calibri"/>
              </a:rPr>
              <a:t>–   Las entradas se ordenan por la primera columna y solo dentro de los valores iguales de la primera se ordenan por la segunda.</a:t>
            </a:r>
          </a:p>
          <a:p>
            <a:pPr>
              <a:spcAft>
                <a:spcPts val="800"/>
              </a:spcAft>
            </a:pPr>
            <a:r>
              <a:rPr sz="2000" b="0" i="0">
                <a:solidFill>
                  <a:srgbClr val="333333"/>
                </a:solidFill>
                <a:latin typeface="Calibri"/>
              </a:rPr>
              <a:t>–   En la clínica: idx_cita_estado_fecha sirve para WHERE estado = 'PROGRAMADA' AND fecha_hora &gt;= TIMESTAMP '2026-03-01 00:00:00' y para WHERE estado =…</a:t>
            </a:r>
          </a:p>
        </p:txBody>
      </p:sp>
      <p:sp>
        <p:nvSpPr>
          <p:cNvPr id="15" name="TextBox 14"/>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8</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7"/>
                                        </p:tgtEl>
                                        <p:attrNameLst>
                                          <p:attrName>style.visibility</p:attrName>
                                        </p:attrNameLst>
                                      </p:cBhvr>
                                      <p:to>
                                        <p:strVal val="visible"/>
                                      </p:to>
                                    </p:set>
                                    <p:animEffect transition="in" filter="fade">
                                      <p:cBhvr>
                                        <p:cTn id="7" dur="450"/>
                                        <p:tgtEl>
                                          <p:spTgt spid="7"/>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8"/>
                                        </p:tgtEl>
                                        <p:attrNameLst>
                                          <p:attrName>style.visibility</p:attrName>
                                        </p:attrNameLst>
                                      </p:cBhvr>
                                      <p:to>
                                        <p:strVal val="visible"/>
                                      </p:to>
                                    </p:set>
                                    <p:animEffect transition="in" filter="fade">
                                      <p:cBhvr>
                                        <p:cTn id="12" dur="450"/>
                                        <p:tgtEl>
                                          <p:spTgt spid="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Cuando el indice responde solo, sin tocar la tabla</a:t>
            </a:r>
          </a:p>
        </p:txBody>
      </p:sp>
      <p:sp>
        <p:nvSpPr>
          <p:cNvPr id="5" name="Rounded Rectangle 4"/>
          <p:cNvSpPr/>
          <p:nvPr/>
        </p:nvSpPr>
        <p:spPr>
          <a:xfrm>
            <a:off x="5803166" y="1188719"/>
            <a:ext cx="5998464" cy="4828032"/>
          </a:xfrm>
          <a:prstGeom prst="roundRect">
            <a:avLst>
              <a:gd name="adj" fmla="val 4000"/>
            </a:avLst>
          </a:prstGeom>
          <a:solidFill>
            <a:srgbClr val="E8EE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index-only-paso1.png"/>
          <p:cNvPicPr>
            <a:picLocks noChangeAspect="1"/>
          </p:cNvPicPr>
          <p:nvPr/>
        </p:nvPicPr>
        <p:blipFill>
          <a:blip r:embed="rId2"/>
          <a:stretch>
            <a:fillRect/>
          </a:stretch>
        </p:blipFill>
        <p:spPr>
          <a:xfrm>
            <a:off x="5876318" y="1261872"/>
            <a:ext cx="5852160" cy="4681728"/>
          </a:xfrm>
          <a:prstGeom prst="rect">
            <a:avLst/>
          </a:prstGeom>
        </p:spPr>
      </p:pic>
      <p:pic>
        <p:nvPicPr>
          <p:cNvPr id="7" name="Picture 6" descr="index-only-paso2.png"/>
          <p:cNvPicPr>
            <a:picLocks noChangeAspect="1"/>
          </p:cNvPicPr>
          <p:nvPr/>
        </p:nvPicPr>
        <p:blipFill>
          <a:blip r:embed="rId3"/>
          <a:stretch>
            <a:fillRect/>
          </a:stretch>
        </p:blipFill>
        <p:spPr>
          <a:xfrm>
            <a:off x="5876318" y="1261872"/>
            <a:ext cx="5852160" cy="4681728"/>
          </a:xfrm>
          <a:prstGeom prst="rect">
            <a:avLst/>
          </a:prstGeom>
        </p:spPr>
      </p:pic>
      <p:pic>
        <p:nvPicPr>
          <p:cNvPr id="8" name="Picture 7" descr="index-only-paso3.png"/>
          <p:cNvPicPr>
            <a:picLocks noChangeAspect="1"/>
          </p:cNvPicPr>
          <p:nvPr/>
        </p:nvPicPr>
        <p:blipFill>
          <a:blip r:embed="rId4"/>
          <a:stretch>
            <a:fillRect/>
          </a:stretch>
        </p:blipFill>
        <p:spPr>
          <a:xfrm>
            <a:off x="5876318" y="1261872"/>
            <a:ext cx="5852160" cy="4681728"/>
          </a:xfrm>
          <a:prstGeom prst="rect">
            <a:avLst/>
          </a:prstGeom>
        </p:spPr>
      </p:pic>
      <p:sp>
        <p:nvSpPr>
          <p:cNvPr id="13" name="TextBox 12"/>
          <p:cNvSpPr txBox="1"/>
          <p:nvPr/>
        </p:nvSpPr>
        <p:spPr>
          <a:xfrm>
            <a:off x="5870301" y="5961888"/>
            <a:ext cx="5864193" cy="320040"/>
          </a:xfrm>
          <a:prstGeom prst="rect">
            <a:avLst/>
          </a:prstGeom>
          <a:noFill/>
        </p:spPr>
        <p:txBody>
          <a:bodyPr wrap="square">
            <a:spAutoFit/>
          </a:bodyPr>
          <a:lstStyle/>
          <a:p>
            <a:pPr algn="ctr"/>
            <a:r>
              <a:rPr sz="1100" b="0" i="1">
                <a:solidFill>
                  <a:srgbClr val="666666"/>
                </a:solidFill>
                <a:latin typeface="Calibri"/>
              </a:rPr>
              <a:t>Clic para avanzar la animación</a:t>
            </a:r>
          </a:p>
        </p:txBody>
      </p:sp>
      <p:sp>
        <p:nvSpPr>
          <p:cNvPr id="14" name="TextBox 13"/>
          <p:cNvSpPr txBox="1"/>
          <p:nvPr/>
        </p:nvSpPr>
        <p:spPr>
          <a:xfrm>
            <a:off x="457200" y="1353312"/>
            <a:ext cx="5093061" cy="5047488"/>
          </a:xfrm>
          <a:prstGeom prst="rect">
            <a:avLst/>
          </a:prstGeom>
          <a:noFill/>
        </p:spPr>
        <p:txBody>
          <a:bodyPr wrap="square">
            <a:spAutoFit/>
          </a:bodyPr>
          <a:lstStyle/>
          <a:p>
            <a:pPr>
              <a:spcAft>
                <a:spcPts val="800"/>
              </a:spcAft>
            </a:pPr>
            <a:r>
              <a:rPr sz="2000" b="0" i="0">
                <a:solidFill>
                  <a:srgbClr val="333333"/>
                </a:solidFill>
                <a:latin typeface="Calibri"/>
              </a:rPr>
              <a:t>–   Cuando todas las columnas que la consulta necesita, las del WHERE y las del SELECT, estan dentro del indice, el motor responde sin tocar la tabla.</a:t>
            </a:r>
          </a:p>
          <a:p>
            <a:pPr>
              <a:spcAft>
                <a:spcPts val="800"/>
              </a:spcAft>
            </a:pPr>
            <a:r>
              <a:rPr sz="2000" b="0" i="0">
                <a:solidFill>
                  <a:srgbClr val="333333"/>
                </a:solidFill>
                <a:latin typeface="Calibri"/>
              </a:rPr>
              <a:t>–   Ejemplo exacto con los indices de hoy: SELECT estado.</a:t>
            </a:r>
          </a:p>
          <a:p>
            <a:pPr>
              <a:spcAft>
                <a:spcPts val="800"/>
              </a:spcAft>
            </a:pPr>
            <a:r>
              <a:rPr sz="2000" b="0" i="0">
                <a:solidFill>
                  <a:srgbClr val="333333"/>
                </a:solidFill>
                <a:latin typeface="Calibri"/>
              </a:rPr>
              <a:t>–   El ahorro es justamente la parte cara del acceso por indice.</a:t>
            </a:r>
          </a:p>
          <a:p>
            <a:pPr>
              <a:spcAft>
                <a:spcPts val="800"/>
              </a:spcAft>
            </a:pPr>
            <a:r>
              <a:rPr sz="2000" b="0" i="0">
                <a:solidFill>
                  <a:srgbClr val="333333"/>
                </a:solidFill>
                <a:latin typeface="Calibri"/>
              </a:rPr>
              <a:t>–   Si la consulta agrega id_mascota la ventaja se pierde, y hay dos maneras de recuperarla.</a:t>
            </a:r>
          </a:p>
        </p:txBody>
      </p:sp>
      <p:sp>
        <p:nvSpPr>
          <p:cNvPr id="15" name="TextBox 14"/>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9</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7"/>
                                        </p:tgtEl>
                                        <p:attrNameLst>
                                          <p:attrName>style.visibility</p:attrName>
                                        </p:attrNameLst>
                                      </p:cBhvr>
                                      <p:to>
                                        <p:strVal val="visible"/>
                                      </p:to>
                                    </p:set>
                                    <p:animEffect transition="in" filter="fade">
                                      <p:cBhvr>
                                        <p:cTn id="7" dur="450"/>
                                        <p:tgtEl>
                                          <p:spTgt spid="7"/>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8"/>
                                        </p:tgtEl>
                                        <p:attrNameLst>
                                          <p:attrName>style.visibility</p:attrName>
                                        </p:attrNameLst>
                                      </p:cBhvr>
                                      <p:to>
                                        <p:strVal val="visible"/>
                                      </p:to>
                                    </p:set>
                                    <p:animEffect transition="in" filter="fade">
                                      <p:cBhvr>
                                        <p:cTn id="12" dur="450"/>
                                        <p:tgtEl>
                                          <p:spTgt spid="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Las siete razones por las que un indice existente no se usa</a:t>
            </a:r>
          </a:p>
        </p:txBody>
      </p:sp>
      <p:sp>
        <p:nvSpPr>
          <p:cNvPr id="5" name="Rounded Rectangle 4"/>
          <p:cNvSpPr/>
          <p:nvPr/>
        </p:nvSpPr>
        <p:spPr>
          <a:xfrm>
            <a:off x="5797149" y="1432925"/>
            <a:ext cx="6010497" cy="4339621"/>
          </a:xfrm>
          <a:prstGeom prst="roundRect">
            <a:avLst>
              <a:gd name="adj" fmla="val 4000"/>
            </a:avLst>
          </a:prstGeom>
          <a:solidFill>
            <a:srgbClr val="E8EE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library-index-card-catalog.jpg"/>
          <p:cNvPicPr>
            <a:picLocks noChangeAspect="1"/>
          </p:cNvPicPr>
          <p:nvPr/>
        </p:nvPicPr>
        <p:blipFill>
          <a:blip r:embed="rId2"/>
          <a:stretch>
            <a:fillRect/>
          </a:stretch>
        </p:blipFill>
        <p:spPr>
          <a:xfrm>
            <a:off x="5870301" y="1506077"/>
            <a:ext cx="5864193" cy="4193317"/>
          </a:xfrm>
          <a:prstGeom prst="rect">
            <a:avLst/>
          </a:prstGeom>
        </p:spPr>
      </p:pic>
      <p:sp>
        <p:nvSpPr>
          <p:cNvPr id="7" name="TextBox 6"/>
          <p:cNvSpPr txBox="1"/>
          <p:nvPr/>
        </p:nvSpPr>
        <p:spPr>
          <a:xfrm>
            <a:off x="5870301" y="5961888"/>
            <a:ext cx="5864193" cy="320040"/>
          </a:xfrm>
          <a:prstGeom prst="rect">
            <a:avLst/>
          </a:prstGeom>
          <a:noFill/>
        </p:spPr>
        <p:txBody>
          <a:bodyPr wrap="square">
            <a:spAutoFit/>
          </a:bodyPr>
          <a:lstStyle/>
          <a:p>
            <a:pPr algn="ctr"/>
            <a:r>
              <a:rPr sz="1100" b="0" i="1">
                <a:solidFill>
                  <a:srgbClr val="666666"/>
                </a:solidFill>
                <a:latin typeface="Calibri"/>
              </a:rPr>
              <a:t>Foto: George Diamanto · Pexels</a:t>
            </a:r>
          </a:p>
        </p:txBody>
      </p:sp>
      <p:sp>
        <p:nvSpPr>
          <p:cNvPr id="8" name="TextBox 7"/>
          <p:cNvSpPr txBox="1"/>
          <p:nvPr/>
        </p:nvSpPr>
        <p:spPr>
          <a:xfrm>
            <a:off x="457200" y="1353312"/>
            <a:ext cx="5093061" cy="5047488"/>
          </a:xfrm>
          <a:prstGeom prst="rect">
            <a:avLst/>
          </a:prstGeom>
          <a:noFill/>
        </p:spPr>
        <p:txBody>
          <a:bodyPr wrap="square">
            <a:spAutoFit/>
          </a:bodyPr>
          <a:lstStyle/>
          <a:p>
            <a:pPr>
              <a:spcAft>
                <a:spcPts val="800"/>
              </a:spcAft>
            </a:pPr>
            <a:r>
              <a:rPr sz="2000" b="0" i="0">
                <a:solidFill>
                  <a:srgbClr val="333333"/>
                </a:solidFill>
                <a:latin typeface="Calibri"/>
              </a:rPr>
              <a:t>–   Un indice existente puede quedar sin usar por siete razones, y recitarlas separa al docente que responde del que dice que el motor es raro.</a:t>
            </a:r>
          </a:p>
          <a:p>
            <a:pPr>
              <a:spcAft>
                <a:spcPts val="800"/>
              </a:spcAft>
            </a:pPr>
            <a:r>
              <a:rPr sz="2000" b="0" i="0">
                <a:solidFill>
                  <a:srgbClr val="333333"/>
                </a:solidFill>
                <a:latin typeface="Calibri"/>
              </a:rPr>
              <a:t>–   Uno, la tabla es demasiado pequena: dueno con 2.006 filas cabe en unas 20 paginas y ningun indice le gana a leer 20 paginas seguidas.</a:t>
            </a:r>
          </a:p>
          <a:p>
            <a:pPr>
              <a:spcAft>
                <a:spcPts val="800"/>
              </a:spcAft>
            </a:pPr>
            <a:r>
              <a:rPr sz="2000" b="0" i="0">
                <a:solidFill>
                  <a:srgbClr val="333333"/>
                </a:solidFill>
                <a:latin typeface="Calibri"/>
              </a:rPr>
              <a:t>–   Dos, el predicado no es sargable, como se vio en la Clase 6: UPPER(nombre), EXTRACT(YEAR FROM fecha_hora) o una conversion implicita de tipo bloquean…</a:t>
            </a:r>
          </a:p>
        </p:txBody>
      </p:sp>
      <p:sp>
        <p:nvSpPr>
          <p:cNvPr id="9" name="TextBox 8"/>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10</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Los cinco indices, y la consulta que justifica cada uno</a:t>
            </a:r>
          </a:p>
        </p:txBody>
      </p:sp>
      <p:sp>
        <p:nvSpPr>
          <p:cNvPr id="5" name="Rounded Rectangle 4"/>
          <p:cNvSpPr/>
          <p:nvPr/>
        </p:nvSpPr>
        <p:spPr>
          <a:xfrm>
            <a:off x="5797149" y="1573813"/>
            <a:ext cx="6010497" cy="4057845"/>
          </a:xfrm>
          <a:prstGeom prst="roundRect">
            <a:avLst>
              <a:gd name="adj" fmla="val 4000"/>
            </a:avLst>
          </a:prstGeom>
          <a:solidFill>
            <a:srgbClr val="E8EE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book-index-pages.jpg"/>
          <p:cNvPicPr>
            <a:picLocks noChangeAspect="1"/>
          </p:cNvPicPr>
          <p:nvPr/>
        </p:nvPicPr>
        <p:blipFill>
          <a:blip r:embed="rId2"/>
          <a:stretch>
            <a:fillRect/>
          </a:stretch>
        </p:blipFill>
        <p:spPr>
          <a:xfrm>
            <a:off x="5870301" y="1646965"/>
            <a:ext cx="5864193" cy="3911541"/>
          </a:xfrm>
          <a:prstGeom prst="rect">
            <a:avLst/>
          </a:prstGeom>
        </p:spPr>
      </p:pic>
      <p:sp>
        <p:nvSpPr>
          <p:cNvPr id="7" name="TextBox 6"/>
          <p:cNvSpPr txBox="1"/>
          <p:nvPr/>
        </p:nvSpPr>
        <p:spPr>
          <a:xfrm>
            <a:off x="5870301" y="5961888"/>
            <a:ext cx="5864193" cy="320040"/>
          </a:xfrm>
          <a:prstGeom prst="rect">
            <a:avLst/>
          </a:prstGeom>
          <a:noFill/>
        </p:spPr>
        <p:txBody>
          <a:bodyPr wrap="square">
            <a:spAutoFit/>
          </a:bodyPr>
          <a:lstStyle/>
          <a:p>
            <a:pPr algn="ctr"/>
            <a:r>
              <a:rPr sz="1100" b="0" i="1">
                <a:solidFill>
                  <a:srgbClr val="666666"/>
                </a:solidFill>
                <a:latin typeface="Calibri"/>
              </a:rPr>
              <a:t>Foto: https://kaboompics.com/ · Pexels</a:t>
            </a:r>
          </a:p>
        </p:txBody>
      </p:sp>
      <p:sp>
        <p:nvSpPr>
          <p:cNvPr id="8" name="TextBox 7"/>
          <p:cNvSpPr txBox="1"/>
          <p:nvPr/>
        </p:nvSpPr>
        <p:spPr>
          <a:xfrm>
            <a:off x="457200" y="1353312"/>
            <a:ext cx="5093061" cy="5047488"/>
          </a:xfrm>
          <a:prstGeom prst="rect">
            <a:avLst/>
          </a:prstGeom>
          <a:noFill/>
        </p:spPr>
        <p:txBody>
          <a:bodyPr wrap="square">
            <a:spAutoFit/>
          </a:bodyPr>
          <a:lstStyle/>
          <a:p>
            <a:pPr>
              <a:spcAft>
                <a:spcPts val="800"/>
              </a:spcAft>
            </a:pPr>
            <a:r>
              <a:rPr sz="2000" b="0" i="0">
                <a:solidFill>
                  <a:srgbClr val="333333"/>
                </a:solidFill>
                <a:latin typeface="Calibri"/>
              </a:rPr>
              <a:t>–   Los tres de la medicion: idx_cita_fecha_hora sobre cita (fecha_hora), que atiende cualquier consulta por rango de fecha con o sin estado.</a:t>
            </a:r>
          </a:p>
          <a:p>
            <a:pPr>
              <a:spcAft>
                <a:spcPts val="800"/>
              </a:spcAft>
            </a:pPr>
            <a:r>
              <a:rPr sz="2000" b="0" i="0">
                <a:solidFill>
                  <a:srgbClr val="333333"/>
                </a:solidFill>
                <a:latin typeface="Calibri"/>
              </a:rPr>
              <a:t>–   Que atiende el historial de un dueno; y idx_cita_programada_fecha, el indice parcial sobre cita (fecha_hora) WHERE estado = 'PROGRAMADA'.</a:t>
            </a:r>
          </a:p>
          <a:p>
            <a:pPr>
              <a:spcAft>
                <a:spcPts val="800"/>
              </a:spcAft>
            </a:pPr>
            <a:r>
              <a:rPr sz="2000" b="0" i="0">
                <a:solidFill>
                  <a:srgbClr val="333333"/>
                </a:solidFill>
                <a:latin typeface="Calibri"/>
              </a:rPr>
              <a:t>–   Los dos del experimento de orden: idx_cita_estado_fecha sobre cita (estado.</a:t>
            </a:r>
          </a:p>
        </p:txBody>
      </p:sp>
      <p:sp>
        <p:nvSpPr>
          <p:cNvPr id="9" name="TextBox 8"/>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11</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Un indice se justifica con la consulta que lo usa</a:t>
            </a:r>
          </a:p>
        </p:txBody>
      </p:sp>
      <p:sp>
        <p:nvSpPr>
          <p:cNvPr id="5" name="Rounded Rectangle 4"/>
          <p:cNvSpPr/>
          <p:nvPr/>
        </p:nvSpPr>
        <p:spPr>
          <a:xfrm>
            <a:off x="457200" y="1261872"/>
            <a:ext cx="11277295" cy="4220725"/>
          </a:xfrm>
          <a:prstGeom prst="roundRect">
            <a:avLst>
              <a:gd name="adj" fmla="val 4000"/>
            </a:avLst>
          </a:prstGeom>
          <a:solidFill>
            <a:srgbClr val="1E1E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457200" y="1261872"/>
            <a:ext cx="11277295" cy="365760"/>
          </a:xfrm>
          <a:prstGeom prst="rect">
            <a:avLst/>
          </a:prstGeom>
          <a:solidFill>
            <a:srgbClr val="2D2D3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658368" y="1380743"/>
            <a:ext cx="128016" cy="128016"/>
          </a:xfrm>
          <a:prstGeom prst="ellipse">
            <a:avLst/>
          </a:prstGeom>
          <a:solidFill>
            <a:srgbClr val="FF5F5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877824" y="1380743"/>
            <a:ext cx="128016" cy="128016"/>
          </a:xfrm>
          <a:prstGeom prst="ellipse">
            <a:avLst/>
          </a:prstGeom>
          <a:solidFill>
            <a:srgbClr val="FFBD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97280" y="1380743"/>
            <a:ext cx="128016" cy="128016"/>
          </a:xfrm>
          <a:prstGeom prst="ellipse">
            <a:avLst/>
          </a:prstGeom>
          <a:solidFill>
            <a:srgbClr val="27C93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371600" y="1298448"/>
            <a:ext cx="10180015" cy="292608"/>
          </a:xfrm>
          <a:prstGeom prst="rect">
            <a:avLst/>
          </a:prstGeom>
          <a:noFill/>
        </p:spPr>
        <p:txBody>
          <a:bodyPr wrap="square" anchor="ctr"/>
          <a:lstStyle/>
          <a:p>
            <a:pPr algn="r"/>
            <a:r>
              <a:rPr sz="1100" b="1" i="0">
                <a:solidFill>
                  <a:srgbClr val="BBBBBB"/>
                </a:solidFill>
                <a:latin typeface="Calibri"/>
              </a:rPr>
              <a:t>SQL · PostgreSQL</a:t>
            </a:r>
          </a:p>
        </p:txBody>
      </p:sp>
      <p:sp>
        <p:nvSpPr>
          <p:cNvPr id="11" name="TextBox 10"/>
          <p:cNvSpPr txBox="1"/>
          <p:nvPr/>
        </p:nvSpPr>
        <p:spPr>
          <a:xfrm>
            <a:off x="685800" y="1719072"/>
            <a:ext cx="502920" cy="3626365"/>
          </a:xfrm>
          <a:prstGeom prst="rect">
            <a:avLst/>
          </a:prstGeom>
          <a:noFill/>
        </p:spPr>
        <p:txBody>
          <a:bodyPr wrap="square">
            <a:spAutoFit/>
          </a:bodyPr>
          <a:lstStyle/>
          <a:p>
            <a:pPr algn="r">
              <a:spcAft>
                <a:spcPts val="428"/>
              </a:spcAft>
            </a:pPr>
            <a:r>
              <a:rPr sz="2000" i="0" b="0">
                <a:solidFill>
                  <a:srgbClr val="858585"/>
                </a:solidFill>
                <a:latin typeface="Consolas"/>
              </a:rPr>
              <a:t>1</a:t>
            </a:r>
          </a:p>
          <a:p>
            <a:pPr algn="r">
              <a:spcAft>
                <a:spcPts val="428"/>
              </a:spcAft>
            </a:pPr>
            <a:r>
              <a:rPr sz="2000" i="0" b="0">
                <a:solidFill>
                  <a:srgbClr val="858585"/>
                </a:solidFill>
                <a:latin typeface="Consolas"/>
              </a:rPr>
              <a:t>2</a:t>
            </a:r>
          </a:p>
          <a:p>
            <a:pPr algn="r">
              <a:spcAft>
                <a:spcPts val="428"/>
              </a:spcAft>
            </a:pPr>
            <a:r>
              <a:rPr sz="2000" i="0" b="0">
                <a:solidFill>
                  <a:srgbClr val="858585"/>
                </a:solidFill>
                <a:latin typeface="Consolas"/>
              </a:rPr>
              <a:t>3</a:t>
            </a:r>
          </a:p>
          <a:p>
            <a:pPr algn="r">
              <a:spcAft>
                <a:spcPts val="428"/>
              </a:spcAft>
            </a:pPr>
            <a:r>
              <a:rPr sz="2000" i="0" b="0">
                <a:solidFill>
                  <a:srgbClr val="858585"/>
                </a:solidFill>
                <a:latin typeface="Consolas"/>
              </a:rPr>
              <a:t>4</a:t>
            </a:r>
          </a:p>
          <a:p>
            <a:pPr algn="r">
              <a:spcAft>
                <a:spcPts val="428"/>
              </a:spcAft>
            </a:pPr>
            <a:r>
              <a:rPr sz="2000" i="0" b="0">
                <a:solidFill>
                  <a:srgbClr val="858585"/>
                </a:solidFill>
                <a:latin typeface="Consolas"/>
              </a:rPr>
              <a:t>5</a:t>
            </a:r>
          </a:p>
          <a:p>
            <a:pPr algn="r">
              <a:spcAft>
                <a:spcPts val="428"/>
              </a:spcAft>
            </a:pPr>
            <a:r>
              <a:rPr sz="2000" i="0" b="0">
                <a:solidFill>
                  <a:srgbClr val="858585"/>
                </a:solidFill>
                <a:latin typeface="Consolas"/>
              </a:rPr>
              <a:t>6</a:t>
            </a:r>
          </a:p>
          <a:p>
            <a:pPr algn="r">
              <a:spcAft>
                <a:spcPts val="428"/>
              </a:spcAft>
            </a:pPr>
            <a:r>
              <a:rPr sz="2000" i="0" b="0">
                <a:solidFill>
                  <a:srgbClr val="858585"/>
                </a:solidFill>
                <a:latin typeface="Consolas"/>
              </a:rPr>
              <a:t>7</a:t>
            </a:r>
          </a:p>
          <a:p>
            <a:pPr algn="r">
              <a:spcAft>
                <a:spcPts val="428"/>
              </a:spcAft>
            </a:pPr>
            <a:r>
              <a:rPr sz="2000" i="0" b="0">
                <a:solidFill>
                  <a:srgbClr val="858585"/>
                </a:solidFill>
                <a:latin typeface="Consolas"/>
              </a:rPr>
              <a:t>8</a:t>
            </a:r>
          </a:p>
          <a:p>
            <a:pPr algn="r">
              <a:spcAft>
                <a:spcPts val="428"/>
              </a:spcAft>
            </a:pPr>
            <a:r>
              <a:rPr sz="2000" i="0" b="0">
                <a:solidFill>
                  <a:srgbClr val="858585"/>
                </a:solidFill>
                <a:latin typeface="Consolas"/>
              </a:rPr>
              <a:t>9</a:t>
            </a:r>
          </a:p>
          <a:p>
            <a:pPr algn="r">
              <a:spcAft>
                <a:spcPts val="428"/>
              </a:spcAft>
            </a:pPr>
            <a:r>
              <a:rPr sz="2000" i="0" b="0">
                <a:solidFill>
                  <a:srgbClr val="858585"/>
                </a:solidFill>
                <a:latin typeface="Consolas"/>
              </a:rPr>
              <a:t>10</a:t>
            </a:r>
          </a:p>
        </p:txBody>
      </p:sp>
      <p:sp>
        <p:nvSpPr>
          <p:cNvPr id="12" name="TextBox 11"/>
          <p:cNvSpPr txBox="1"/>
          <p:nvPr/>
        </p:nvSpPr>
        <p:spPr>
          <a:xfrm>
            <a:off x="1188720" y="1719072"/>
            <a:ext cx="10271455" cy="3626365"/>
          </a:xfrm>
          <a:prstGeom prst="rect">
            <a:avLst/>
          </a:prstGeom>
          <a:noFill/>
        </p:spPr>
        <p:txBody>
          <a:bodyPr wrap="square">
            <a:spAutoFit/>
          </a:bodyPr>
          <a:lstStyle/>
          <a:p>
            <a:pPr>
              <a:spcAft>
                <a:spcPts val="428"/>
              </a:spcAft>
            </a:pPr>
            <a:r>
              <a:rPr sz="2000" i="1" b="0">
                <a:solidFill>
                  <a:srgbClr val="6A9955"/>
                </a:solidFill>
                <a:latin typeface="Consolas"/>
              </a:rPr>
              <a:t>-- Consulta frecuente: la agenda del dia (siempre PROGRAMADA)</a:t>
            </a:r>
          </a:p>
          <a:p>
            <a:pPr>
              <a:spcAft>
                <a:spcPts val="428"/>
              </a:spcAft>
            </a:pPr>
            <a:r>
              <a:rPr sz="2000" i="0" b="0">
                <a:solidFill>
                  <a:srgbClr val="569CD6"/>
                </a:solidFill>
                <a:latin typeface="Consolas"/>
              </a:rPr>
              <a:t>SELECT</a:t>
            </a:r>
            <a:r>
              <a:rPr sz="2000" i="0" b="0">
                <a:solidFill>
                  <a:srgbClr val="D4D4D4"/>
                </a:solidFill>
                <a:latin typeface="Consolas"/>
              </a:rPr>
              <a:t> </a:t>
            </a:r>
            <a:r>
              <a:rPr sz="2000" i="0" b="0">
                <a:solidFill>
                  <a:srgbClr val="D4D4D4"/>
                </a:solidFill>
                <a:latin typeface="Consolas"/>
              </a:rPr>
              <a:t>id_cita</a:t>
            </a:r>
            <a:r>
              <a:rPr sz="2000" i="0" b="0">
                <a:solidFill>
                  <a:srgbClr val="D4D4D4"/>
                </a:solidFill>
                <a:latin typeface="Consolas"/>
              </a:rPr>
              <a:t>, </a:t>
            </a:r>
            <a:r>
              <a:rPr sz="2000" i="0" b="0">
                <a:solidFill>
                  <a:srgbClr val="D4D4D4"/>
                </a:solidFill>
                <a:latin typeface="Consolas"/>
              </a:rPr>
              <a:t>id_mascota</a:t>
            </a:r>
            <a:r>
              <a:rPr sz="2000" i="0" b="0">
                <a:solidFill>
                  <a:srgbClr val="D4D4D4"/>
                </a:solidFill>
                <a:latin typeface="Consolas"/>
              </a:rPr>
              <a:t>, </a:t>
            </a:r>
            <a:r>
              <a:rPr sz="2000" i="0" b="0">
                <a:solidFill>
                  <a:srgbClr val="D4D4D4"/>
                </a:solidFill>
                <a:latin typeface="Consolas"/>
              </a:rPr>
              <a:t>fecha_hora</a:t>
            </a:r>
            <a:r>
              <a:rPr sz="2000" i="0" b="0">
                <a:solidFill>
                  <a:srgbClr val="D4D4D4"/>
                </a:solidFill>
                <a:latin typeface="Consolas"/>
              </a:rPr>
              <a:t> </a:t>
            </a:r>
            <a:r>
              <a:rPr sz="2000" i="0" b="0">
                <a:solidFill>
                  <a:srgbClr val="569CD6"/>
                </a:solidFill>
                <a:latin typeface="Consolas"/>
              </a:rPr>
              <a:t>FROM</a:t>
            </a:r>
            <a:r>
              <a:rPr sz="2000" i="0" b="0">
                <a:solidFill>
                  <a:srgbClr val="D4D4D4"/>
                </a:solidFill>
                <a:latin typeface="Consolas"/>
              </a:rPr>
              <a:t> </a:t>
            </a:r>
            <a:r>
              <a:rPr sz="2000" i="0" b="0">
                <a:solidFill>
                  <a:srgbClr val="D4D4D4"/>
                </a:solidFill>
                <a:latin typeface="Consolas"/>
              </a:rPr>
              <a:t>cita</a:t>
            </a:r>
          </a:p>
          <a:p>
            <a:pPr>
              <a:spcAft>
                <a:spcPts val="428"/>
              </a:spcAft>
            </a:pPr>
            <a:r>
              <a:rPr sz="2000" i="0" b="0">
                <a:solidFill>
                  <a:srgbClr val="D4D4D4"/>
                </a:solidFill>
                <a:latin typeface="Consolas"/>
              </a:rPr>
              <a:t> </a:t>
            </a:r>
            <a:r>
              <a:rPr sz="2000" i="0" b="0">
                <a:solidFill>
                  <a:srgbClr val="569CD6"/>
                </a:solidFill>
                <a:latin typeface="Consolas"/>
              </a:rPr>
              <a:t>WHERE</a:t>
            </a:r>
            <a:r>
              <a:rPr sz="2000" i="0" b="0">
                <a:solidFill>
                  <a:srgbClr val="D4D4D4"/>
                </a:solidFill>
                <a:latin typeface="Consolas"/>
              </a:rPr>
              <a:t> </a:t>
            </a:r>
            <a:r>
              <a:rPr sz="2000" i="0" b="0">
                <a:solidFill>
                  <a:srgbClr val="D4D4D4"/>
                </a:solidFill>
                <a:latin typeface="Consolas"/>
              </a:rPr>
              <a:t>fecha_hora</a:t>
            </a:r>
            <a:r>
              <a:rPr sz="2000" i="0" b="0">
                <a:solidFill>
                  <a:srgbClr val="D4D4D4"/>
                </a:solidFill>
                <a:latin typeface="Consolas"/>
              </a:rPr>
              <a:t> &gt;= </a:t>
            </a:r>
            <a:r>
              <a:rPr sz="2000" i="0" b="0">
                <a:solidFill>
                  <a:srgbClr val="569CD6"/>
                </a:solidFill>
                <a:latin typeface="Consolas"/>
              </a:rPr>
              <a:t>CURRENT_DATE</a:t>
            </a:r>
            <a:r>
              <a:rPr sz="2000" i="0" b="0">
                <a:solidFill>
                  <a:srgbClr val="D4D4D4"/>
                </a:solidFill>
                <a:latin typeface="Consolas"/>
              </a:rPr>
              <a:t> </a:t>
            </a:r>
            <a:r>
              <a:rPr sz="2000" i="0" b="0">
                <a:solidFill>
                  <a:srgbClr val="569CD6"/>
                </a:solidFill>
                <a:latin typeface="Consolas"/>
              </a:rPr>
              <a:t>AND</a:t>
            </a:r>
            <a:r>
              <a:rPr sz="2000" i="0" b="0">
                <a:solidFill>
                  <a:srgbClr val="D4D4D4"/>
                </a:solidFill>
                <a:latin typeface="Consolas"/>
              </a:rPr>
              <a:t> </a:t>
            </a:r>
            <a:r>
              <a:rPr sz="2000" i="0" b="0">
                <a:solidFill>
                  <a:srgbClr val="D4D4D4"/>
                </a:solidFill>
                <a:latin typeface="Consolas"/>
              </a:rPr>
              <a:t>estado</a:t>
            </a:r>
            <a:r>
              <a:rPr sz="2000" i="0" b="0">
                <a:solidFill>
                  <a:srgbClr val="D4D4D4"/>
                </a:solidFill>
                <a:latin typeface="Consolas"/>
              </a:rPr>
              <a:t> = </a:t>
            </a:r>
            <a:r>
              <a:rPr sz="2000" i="0" b="0">
                <a:solidFill>
                  <a:srgbClr val="CE9178"/>
                </a:solidFill>
                <a:latin typeface="Consolas"/>
              </a:rPr>
              <a:t>'PROGRAMADA'</a:t>
            </a:r>
            <a:r>
              <a:rPr sz="2000" i="0" b="0">
                <a:solidFill>
                  <a:srgbClr val="D4D4D4"/>
                </a:solidFill>
                <a:latin typeface="Consolas"/>
              </a:rPr>
              <a:t>;</a:t>
            </a:r>
          </a:p>
          <a:p>
            <a:pPr>
              <a:spcAft>
                <a:spcPts val="428"/>
              </a:spcAft>
            </a:pPr>
            <a:r>
              <a:rPr sz="2000" i="0" b="0">
                <a:solidFill>
                  <a:srgbClr val="D4D4D4"/>
                </a:solidFill>
                <a:latin typeface="Consolas"/>
              </a:rPr>
              <a:t/>
            </a:r>
          </a:p>
          <a:p>
            <a:pPr>
              <a:spcAft>
                <a:spcPts val="428"/>
              </a:spcAft>
            </a:pPr>
            <a:r>
              <a:rPr sz="2000" i="0" b="0">
                <a:solidFill>
                  <a:srgbClr val="569CD6"/>
                </a:solidFill>
                <a:latin typeface="Consolas"/>
              </a:rPr>
              <a:t>CREATE</a:t>
            </a:r>
            <a:r>
              <a:rPr sz="2000" i="0" b="0">
                <a:solidFill>
                  <a:srgbClr val="D4D4D4"/>
                </a:solidFill>
                <a:latin typeface="Consolas"/>
              </a:rPr>
              <a:t> </a:t>
            </a:r>
            <a:r>
              <a:rPr sz="2000" i="0" b="0">
                <a:solidFill>
                  <a:srgbClr val="569CD6"/>
                </a:solidFill>
                <a:latin typeface="Consolas"/>
              </a:rPr>
              <a:t>INDEX</a:t>
            </a:r>
            <a:r>
              <a:rPr sz="2000" i="0" b="0">
                <a:solidFill>
                  <a:srgbClr val="D4D4D4"/>
                </a:solidFill>
                <a:latin typeface="Consolas"/>
              </a:rPr>
              <a:t> </a:t>
            </a:r>
            <a:r>
              <a:rPr sz="2000" i="0" b="0">
                <a:solidFill>
                  <a:srgbClr val="D4D4D4"/>
                </a:solidFill>
                <a:latin typeface="Consolas"/>
              </a:rPr>
              <a:t>idx_cita_fecha_hora</a:t>
            </a:r>
            <a:r>
              <a:rPr sz="2000" i="0" b="0">
                <a:solidFill>
                  <a:srgbClr val="D4D4D4"/>
                </a:solidFill>
                <a:latin typeface="Consolas"/>
              </a:rPr>
              <a:t> </a:t>
            </a:r>
            <a:r>
              <a:rPr sz="2000" i="0" b="0">
                <a:solidFill>
                  <a:srgbClr val="569CD6"/>
                </a:solidFill>
                <a:latin typeface="Consolas"/>
              </a:rPr>
              <a:t>ON</a:t>
            </a:r>
            <a:r>
              <a:rPr sz="2000" i="0" b="0">
                <a:solidFill>
                  <a:srgbClr val="D4D4D4"/>
                </a:solidFill>
                <a:latin typeface="Consolas"/>
              </a:rPr>
              <a:t> </a:t>
            </a:r>
            <a:r>
              <a:rPr sz="2000" i="0" b="0">
                <a:solidFill>
                  <a:srgbClr val="DCDCAA"/>
                </a:solidFill>
                <a:latin typeface="Consolas"/>
              </a:rPr>
              <a:t>cita</a:t>
            </a:r>
            <a:r>
              <a:rPr sz="2000" i="0" b="0">
                <a:solidFill>
                  <a:srgbClr val="D4D4D4"/>
                </a:solidFill>
                <a:latin typeface="Consolas"/>
              </a:rPr>
              <a:t> (</a:t>
            </a:r>
            <a:r>
              <a:rPr sz="2000" i="0" b="0">
                <a:solidFill>
                  <a:srgbClr val="D4D4D4"/>
                </a:solidFill>
                <a:latin typeface="Consolas"/>
              </a:rPr>
              <a:t>fecha_hora</a:t>
            </a:r>
            <a:r>
              <a:rPr sz="2000" i="0" b="0">
                <a:solidFill>
                  <a:srgbClr val="D4D4D4"/>
                </a:solidFill>
                <a:latin typeface="Consolas"/>
              </a:rPr>
              <a:t>);</a:t>
            </a:r>
          </a:p>
          <a:p>
            <a:pPr>
              <a:spcAft>
                <a:spcPts val="428"/>
              </a:spcAft>
            </a:pPr>
            <a:r>
              <a:rPr sz="2000" i="0" b="0">
                <a:solidFill>
                  <a:srgbClr val="569CD6"/>
                </a:solidFill>
                <a:latin typeface="Consolas"/>
              </a:rPr>
              <a:t>CREATE</a:t>
            </a:r>
            <a:r>
              <a:rPr sz="2000" i="0" b="0">
                <a:solidFill>
                  <a:srgbClr val="D4D4D4"/>
                </a:solidFill>
                <a:latin typeface="Consolas"/>
              </a:rPr>
              <a:t> </a:t>
            </a:r>
            <a:r>
              <a:rPr sz="2000" i="0" b="0">
                <a:solidFill>
                  <a:srgbClr val="569CD6"/>
                </a:solidFill>
                <a:latin typeface="Consolas"/>
              </a:rPr>
              <a:t>INDEX</a:t>
            </a:r>
            <a:r>
              <a:rPr sz="2000" i="0" b="0">
                <a:solidFill>
                  <a:srgbClr val="D4D4D4"/>
                </a:solidFill>
                <a:latin typeface="Consolas"/>
              </a:rPr>
              <a:t> </a:t>
            </a:r>
            <a:r>
              <a:rPr sz="2000" i="0" b="0">
                <a:solidFill>
                  <a:srgbClr val="D4D4D4"/>
                </a:solidFill>
                <a:latin typeface="Consolas"/>
              </a:rPr>
              <a:t>idx_cita_programada_fecha</a:t>
            </a:r>
            <a:r>
              <a:rPr sz="2000" i="0" b="0">
                <a:solidFill>
                  <a:srgbClr val="D4D4D4"/>
                </a:solidFill>
                <a:latin typeface="Consolas"/>
              </a:rPr>
              <a:t> </a:t>
            </a:r>
            <a:r>
              <a:rPr sz="2000" i="0" b="0">
                <a:solidFill>
                  <a:srgbClr val="569CD6"/>
                </a:solidFill>
                <a:latin typeface="Consolas"/>
              </a:rPr>
              <a:t>ON</a:t>
            </a:r>
            <a:r>
              <a:rPr sz="2000" i="0" b="0">
                <a:solidFill>
                  <a:srgbClr val="D4D4D4"/>
                </a:solidFill>
                <a:latin typeface="Consolas"/>
              </a:rPr>
              <a:t> </a:t>
            </a:r>
            <a:r>
              <a:rPr sz="2000" i="0" b="0">
                <a:solidFill>
                  <a:srgbClr val="DCDCAA"/>
                </a:solidFill>
                <a:latin typeface="Consolas"/>
              </a:rPr>
              <a:t>cita</a:t>
            </a:r>
            <a:r>
              <a:rPr sz="2000" i="0" b="0">
                <a:solidFill>
                  <a:srgbClr val="D4D4D4"/>
                </a:solidFill>
                <a:latin typeface="Consolas"/>
              </a:rPr>
              <a:t> (</a:t>
            </a:r>
            <a:r>
              <a:rPr sz="2000" i="0" b="0">
                <a:solidFill>
                  <a:srgbClr val="D4D4D4"/>
                </a:solidFill>
                <a:latin typeface="Consolas"/>
              </a:rPr>
              <a:t>fecha_hora</a:t>
            </a:r>
            <a:r>
              <a:rPr sz="2000" i="0" b="0">
                <a:solidFill>
                  <a:srgbClr val="D4D4D4"/>
                </a:solidFill>
                <a:latin typeface="Consolas"/>
              </a:rPr>
              <a:t>)</a:t>
            </a:r>
          </a:p>
          <a:p>
            <a:pPr>
              <a:spcAft>
                <a:spcPts val="428"/>
              </a:spcAft>
            </a:pPr>
            <a:r>
              <a:rPr sz="2000" i="0" b="0">
                <a:solidFill>
                  <a:srgbClr val="D4D4D4"/>
                </a:solidFill>
                <a:latin typeface="Consolas"/>
              </a:rPr>
              <a:t>  </a:t>
            </a:r>
            <a:r>
              <a:rPr sz="2000" i="0" b="0">
                <a:solidFill>
                  <a:srgbClr val="569CD6"/>
                </a:solidFill>
                <a:latin typeface="Consolas"/>
              </a:rPr>
              <a:t>WHERE</a:t>
            </a:r>
            <a:r>
              <a:rPr sz="2000" i="0" b="0">
                <a:solidFill>
                  <a:srgbClr val="D4D4D4"/>
                </a:solidFill>
                <a:latin typeface="Consolas"/>
              </a:rPr>
              <a:t> </a:t>
            </a:r>
            <a:r>
              <a:rPr sz="2000" i="0" b="0">
                <a:solidFill>
                  <a:srgbClr val="D4D4D4"/>
                </a:solidFill>
                <a:latin typeface="Consolas"/>
              </a:rPr>
              <a:t>estado</a:t>
            </a:r>
            <a:r>
              <a:rPr sz="2000" i="0" b="0">
                <a:solidFill>
                  <a:srgbClr val="D4D4D4"/>
                </a:solidFill>
                <a:latin typeface="Consolas"/>
              </a:rPr>
              <a:t> = </a:t>
            </a:r>
            <a:r>
              <a:rPr sz="2000" i="0" b="0">
                <a:solidFill>
                  <a:srgbClr val="CE9178"/>
                </a:solidFill>
                <a:latin typeface="Consolas"/>
              </a:rPr>
              <a:t>'PROGRAMADA'</a:t>
            </a:r>
            <a:r>
              <a:rPr sz="2000" i="0" b="0">
                <a:solidFill>
                  <a:srgbClr val="D4D4D4"/>
                </a:solidFill>
                <a:latin typeface="Consolas"/>
              </a:rPr>
              <a:t>;        </a:t>
            </a:r>
            <a:r>
              <a:rPr sz="2000" i="1" b="0">
                <a:solidFill>
                  <a:srgbClr val="6A9955"/>
                </a:solidFill>
                <a:latin typeface="Consolas"/>
              </a:rPr>
              <a:t>-- indice PARCIAL</a:t>
            </a:r>
          </a:p>
          <a:p>
            <a:pPr>
              <a:spcAft>
                <a:spcPts val="428"/>
              </a:spcAft>
            </a:pPr>
            <a:r>
              <a:rPr sz="2000" i="0" b="0">
                <a:solidFill>
                  <a:srgbClr val="D4D4D4"/>
                </a:solidFill>
                <a:latin typeface="Consolas"/>
              </a:rPr>
              <a:t/>
            </a:r>
          </a:p>
          <a:p>
            <a:pPr>
              <a:spcAft>
                <a:spcPts val="428"/>
              </a:spcAft>
            </a:pPr>
            <a:r>
              <a:rPr sz="2000" i="1" b="0">
                <a:solidFill>
                  <a:srgbClr val="6A9955"/>
                </a:solidFill>
                <a:latin typeface="Consolas"/>
              </a:rPr>
              <a:t>-- Mal candidato: baja cardinalidad (solo 'S' o 'N')</a:t>
            </a:r>
          </a:p>
          <a:p>
            <a:pPr>
              <a:spcAft>
                <a:spcPts val="428"/>
              </a:spcAft>
            </a:pPr>
            <a:r>
              <a:rPr sz="2000" i="1" b="0">
                <a:solidFill>
                  <a:srgbClr val="6A9955"/>
                </a:solidFill>
                <a:latin typeface="Consolas"/>
              </a:rPr>
              <a:t>-- CREATE INDEX idx_mascota_activa ON mascota(activa);</a:t>
            </a:r>
          </a:p>
        </p:txBody>
      </p:sp>
      <p:sp>
        <p:nvSpPr>
          <p:cNvPr id="13" name="TextBox 12"/>
          <p:cNvSpPr txBox="1"/>
          <p:nvPr/>
        </p:nvSpPr>
        <p:spPr>
          <a:xfrm>
            <a:off x="457200" y="6035040"/>
            <a:ext cx="11277295" cy="365760"/>
          </a:xfrm>
          <a:prstGeom prst="rect">
            <a:avLst/>
          </a:prstGeom>
          <a:noFill/>
        </p:spPr>
        <p:txBody>
          <a:bodyPr wrap="square">
            <a:spAutoFit/>
          </a:bodyPr>
          <a:lstStyle/>
          <a:p>
            <a:pPr algn="ctr"/>
            <a:r>
              <a:rPr sz="1300" b="0" i="1">
                <a:solidFill>
                  <a:srgbClr val="666666"/>
                </a:solidFill>
                <a:latin typeface="Calibri"/>
              </a:rPr>
              <a:t>Cada indice acelera lecturas y encarece INSERT/UPDATE/DELETE. El nombre es el que el plan imprime en «Index Scan using».</a:t>
            </a:r>
          </a:p>
        </p:txBody>
      </p:sp>
      <p:sp>
        <p:nvSpPr>
          <p:cNvPr id="14" name="TextBox 13"/>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12</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La secuencia de medicion, y por que el ANALYZE del medio no es opcional</a:t>
            </a:r>
          </a:p>
        </p:txBody>
      </p:sp>
      <p:sp>
        <p:nvSpPr>
          <p:cNvPr id="5" name="Rounded Rectangle 4"/>
          <p:cNvSpPr/>
          <p:nvPr/>
        </p:nvSpPr>
        <p:spPr>
          <a:xfrm>
            <a:off x="5803166" y="1188719"/>
            <a:ext cx="5998464" cy="4828032"/>
          </a:xfrm>
          <a:prstGeom prst="roundRect">
            <a:avLst>
              <a:gd name="adj" fmla="val 4000"/>
            </a:avLst>
          </a:prstGeom>
          <a:solidFill>
            <a:srgbClr val="E8EE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secuencia-medicion-paso1.png"/>
          <p:cNvPicPr>
            <a:picLocks noChangeAspect="1"/>
          </p:cNvPicPr>
          <p:nvPr/>
        </p:nvPicPr>
        <p:blipFill>
          <a:blip r:embed="rId2"/>
          <a:stretch>
            <a:fillRect/>
          </a:stretch>
        </p:blipFill>
        <p:spPr>
          <a:xfrm>
            <a:off x="5876318" y="1261872"/>
            <a:ext cx="5852160" cy="4681728"/>
          </a:xfrm>
          <a:prstGeom prst="rect">
            <a:avLst/>
          </a:prstGeom>
        </p:spPr>
      </p:pic>
      <p:pic>
        <p:nvPicPr>
          <p:cNvPr id="7" name="Picture 6" descr="secuencia-medicion-paso2.png"/>
          <p:cNvPicPr>
            <a:picLocks noChangeAspect="1"/>
          </p:cNvPicPr>
          <p:nvPr/>
        </p:nvPicPr>
        <p:blipFill>
          <a:blip r:embed="rId3"/>
          <a:stretch>
            <a:fillRect/>
          </a:stretch>
        </p:blipFill>
        <p:spPr>
          <a:xfrm>
            <a:off x="5876318" y="1261872"/>
            <a:ext cx="5852160" cy="4681728"/>
          </a:xfrm>
          <a:prstGeom prst="rect">
            <a:avLst/>
          </a:prstGeom>
        </p:spPr>
      </p:pic>
      <p:pic>
        <p:nvPicPr>
          <p:cNvPr id="8" name="Picture 7" descr="secuencia-medicion-paso3.png"/>
          <p:cNvPicPr>
            <a:picLocks noChangeAspect="1"/>
          </p:cNvPicPr>
          <p:nvPr/>
        </p:nvPicPr>
        <p:blipFill>
          <a:blip r:embed="rId4"/>
          <a:stretch>
            <a:fillRect/>
          </a:stretch>
        </p:blipFill>
        <p:spPr>
          <a:xfrm>
            <a:off x="5876318" y="1261872"/>
            <a:ext cx="5852160" cy="4681728"/>
          </a:xfrm>
          <a:prstGeom prst="rect">
            <a:avLst/>
          </a:prstGeom>
        </p:spPr>
      </p:pic>
      <p:pic>
        <p:nvPicPr>
          <p:cNvPr id="9" name="Picture 8" descr="secuencia-medicion-paso4.png"/>
          <p:cNvPicPr>
            <a:picLocks noChangeAspect="1"/>
          </p:cNvPicPr>
          <p:nvPr/>
        </p:nvPicPr>
        <p:blipFill>
          <a:blip r:embed="rId5"/>
          <a:stretch>
            <a:fillRect/>
          </a:stretch>
        </p:blipFill>
        <p:spPr>
          <a:xfrm>
            <a:off x="5876318" y="1261872"/>
            <a:ext cx="5852160" cy="4681728"/>
          </a:xfrm>
          <a:prstGeom prst="rect">
            <a:avLst/>
          </a:prstGeom>
        </p:spPr>
      </p:pic>
      <p:sp>
        <p:nvSpPr>
          <p:cNvPr id="18" name="TextBox 17"/>
          <p:cNvSpPr txBox="1"/>
          <p:nvPr/>
        </p:nvSpPr>
        <p:spPr>
          <a:xfrm>
            <a:off x="5870301" y="5961888"/>
            <a:ext cx="5864193" cy="320040"/>
          </a:xfrm>
          <a:prstGeom prst="rect">
            <a:avLst/>
          </a:prstGeom>
          <a:noFill/>
        </p:spPr>
        <p:txBody>
          <a:bodyPr wrap="square">
            <a:spAutoFit/>
          </a:bodyPr>
          <a:lstStyle/>
          <a:p>
            <a:pPr algn="ctr"/>
            <a:r>
              <a:rPr sz="1100" b="0" i="1">
                <a:solidFill>
                  <a:srgbClr val="666666"/>
                </a:solidFill>
                <a:latin typeface="Calibri"/>
              </a:rPr>
              <a:t>Clic para avanzar la animación</a:t>
            </a:r>
          </a:p>
        </p:txBody>
      </p:sp>
      <p:sp>
        <p:nvSpPr>
          <p:cNvPr id="19" name="TextBox 18"/>
          <p:cNvSpPr txBox="1"/>
          <p:nvPr/>
        </p:nvSpPr>
        <p:spPr>
          <a:xfrm>
            <a:off x="457200" y="1353312"/>
            <a:ext cx="5093061" cy="5047488"/>
          </a:xfrm>
          <a:prstGeom prst="rect">
            <a:avLst/>
          </a:prstGeom>
          <a:noFill/>
        </p:spPr>
        <p:txBody>
          <a:bodyPr wrap="square">
            <a:spAutoFit/>
          </a:bodyPr>
          <a:lstStyle/>
          <a:p>
            <a:pPr>
              <a:spcAft>
                <a:spcPts val="800"/>
              </a:spcAft>
            </a:pPr>
            <a:r>
              <a:rPr sz="2000" b="0" i="0">
                <a:solidFill>
                  <a:srgbClr val="333333"/>
                </a:solidFill>
                <a:latin typeface="Calibri"/>
              </a:rPr>
              <a:t>–   La clase entera vive en una secuencia de cuatro pasos que hay que proyectar en ese orden, porque cambiarlo destruye la evidencia.</a:t>
            </a:r>
          </a:p>
          <a:p>
            <a:pPr>
              <a:spcAft>
                <a:spcPts val="800"/>
              </a:spcAft>
            </a:pPr>
            <a:r>
              <a:rPr sz="2000" b="0" i="0">
                <a:solidFill>
                  <a:srgbClr val="333333"/>
                </a:solidFill>
                <a:latin typeface="Calibri"/>
              </a:rPr>
              <a:t>–   Primero, EXPLAIN ANALYZE de las dos consultas frecuentes ANTES de crear nada.</a:t>
            </a:r>
          </a:p>
          <a:p>
            <a:pPr>
              <a:spcAft>
                <a:spcPts val="800"/>
              </a:spcAft>
            </a:pPr>
            <a:r>
              <a:rPr sz="2000" b="0" i="0">
                <a:solidFill>
                  <a:srgbClr val="333333"/>
                </a:solidFill>
                <a:latin typeface="Calibri"/>
              </a:rPr>
              <a:t>–   C1 es la agenda del dia, SELECT id_cita, fecha_hora.</a:t>
            </a:r>
          </a:p>
          <a:p>
            <a:pPr>
              <a:spcAft>
                <a:spcPts val="800"/>
              </a:spcAft>
            </a:pPr>
            <a:r>
              <a:rPr sz="2000" b="0" i="0">
                <a:solidFill>
                  <a:srgbClr val="333333"/>
                </a:solidFill>
                <a:latin typeface="Calibri"/>
              </a:rPr>
              <a:t>–   Tercero, y este es el paso que se salta medio salon, ANALYZE cita; y ANALYZE mascota.</a:t>
            </a:r>
          </a:p>
        </p:txBody>
      </p:sp>
      <p:sp>
        <p:nvSpPr>
          <p:cNvPr id="20" name="TextBox 19"/>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13</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7"/>
                                        </p:tgtEl>
                                        <p:attrNameLst>
                                          <p:attrName>style.visibility</p:attrName>
                                        </p:attrNameLst>
                                      </p:cBhvr>
                                      <p:to>
                                        <p:strVal val="visible"/>
                                      </p:to>
                                    </p:set>
                                    <p:animEffect transition="in" filter="fade">
                                      <p:cBhvr>
                                        <p:cTn id="7" dur="450"/>
                                        <p:tgtEl>
                                          <p:spTgt spid="7"/>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8"/>
                                        </p:tgtEl>
                                        <p:attrNameLst>
                                          <p:attrName>style.visibility</p:attrName>
                                        </p:attrNameLst>
                                      </p:cBhvr>
                                      <p:to>
                                        <p:strVal val="visible"/>
                                      </p:to>
                                    </p:set>
                                    <p:animEffect transition="in" filter="fade">
                                      <p:cBhvr>
                                        <p:cTn id="12" dur="450"/>
                                        <p:tgtEl>
                                          <p:spTgt spid="8"/>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9"/>
                                        </p:tgtEl>
                                        <p:attrNameLst>
                                          <p:attrName>style.visibility</p:attrName>
                                        </p:attrNameLst>
                                      </p:cBhvr>
                                      <p:to>
                                        <p:strVal val="visible"/>
                                      </p:to>
                                    </p:set>
                                    <p:animEffect transition="in" filter="fade">
                                      <p:cBhvr>
                                        <p:cTn id="17" dur="450"/>
                                        <p:tgtEl>
                                          <p:spTgt spid="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Crear el indice y probar que se usa</a:t>
            </a:r>
          </a:p>
        </p:txBody>
      </p:sp>
      <p:sp>
        <p:nvSpPr>
          <p:cNvPr id="5" name="Rounded Rectangle 4"/>
          <p:cNvSpPr/>
          <p:nvPr/>
        </p:nvSpPr>
        <p:spPr>
          <a:xfrm>
            <a:off x="457200" y="1261872"/>
            <a:ext cx="11277295" cy="4878943"/>
          </a:xfrm>
          <a:prstGeom prst="roundRect">
            <a:avLst>
              <a:gd name="adj" fmla="val 4000"/>
            </a:avLst>
          </a:prstGeom>
          <a:solidFill>
            <a:srgbClr val="1E1E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457200" y="1261872"/>
            <a:ext cx="11277295" cy="365760"/>
          </a:xfrm>
          <a:prstGeom prst="rect">
            <a:avLst/>
          </a:prstGeom>
          <a:solidFill>
            <a:srgbClr val="2D2D3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658368" y="1380743"/>
            <a:ext cx="128016" cy="128016"/>
          </a:xfrm>
          <a:prstGeom prst="ellipse">
            <a:avLst/>
          </a:prstGeom>
          <a:solidFill>
            <a:srgbClr val="FF5F5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877824" y="1380743"/>
            <a:ext cx="128016" cy="128016"/>
          </a:xfrm>
          <a:prstGeom prst="ellipse">
            <a:avLst/>
          </a:prstGeom>
          <a:solidFill>
            <a:srgbClr val="FFBD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97280" y="1380743"/>
            <a:ext cx="128016" cy="128016"/>
          </a:xfrm>
          <a:prstGeom prst="ellipse">
            <a:avLst/>
          </a:prstGeom>
          <a:solidFill>
            <a:srgbClr val="27C93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371600" y="1298448"/>
            <a:ext cx="10180015" cy="292608"/>
          </a:xfrm>
          <a:prstGeom prst="rect">
            <a:avLst/>
          </a:prstGeom>
          <a:noFill/>
        </p:spPr>
        <p:txBody>
          <a:bodyPr wrap="square" anchor="ctr"/>
          <a:lstStyle/>
          <a:p>
            <a:pPr algn="r"/>
            <a:r>
              <a:rPr sz="1100" b="1" i="0">
                <a:solidFill>
                  <a:srgbClr val="BBBBBB"/>
                </a:solidFill>
                <a:latin typeface="Calibri"/>
              </a:rPr>
              <a:t>SQL · PostgreSQL</a:t>
            </a:r>
          </a:p>
        </p:txBody>
      </p:sp>
      <p:sp>
        <p:nvSpPr>
          <p:cNvPr id="11" name="TextBox 10"/>
          <p:cNvSpPr txBox="1"/>
          <p:nvPr/>
        </p:nvSpPr>
        <p:spPr>
          <a:xfrm>
            <a:off x="1188720" y="1719072"/>
            <a:ext cx="10271455" cy="4284583"/>
          </a:xfrm>
          <a:prstGeom prst="rect">
            <a:avLst/>
          </a:prstGeom>
          <a:noFill/>
        </p:spPr>
        <p:txBody>
          <a:bodyPr wrap="square">
            <a:spAutoFit/>
          </a:bodyPr>
          <a:lstStyle/>
          <a:p>
            <a:pPr>
              <a:spcAft>
                <a:spcPts val="428"/>
              </a:spcAft>
            </a:pPr>
            <a:r>
              <a:rPr sz="2000" i="0" b="0">
                <a:solidFill>
                  <a:srgbClr val="569CD6"/>
                </a:solidFill>
                <a:latin typeface="Consolas"/>
              </a:rPr>
              <a:t>CREATE</a:t>
            </a:r>
            <a:r>
              <a:rPr sz="2000" i="0" b="0">
                <a:solidFill>
                  <a:srgbClr val="D4D4D4"/>
                </a:solidFill>
                <a:latin typeface="Consolas"/>
              </a:rPr>
              <a:t> </a:t>
            </a:r>
            <a:r>
              <a:rPr sz="2000" i="0" b="0">
                <a:solidFill>
                  <a:srgbClr val="569CD6"/>
                </a:solidFill>
                <a:latin typeface="Consolas"/>
              </a:rPr>
              <a:t>INDEX</a:t>
            </a:r>
            <a:r>
              <a:rPr sz="2000" i="0" b="0">
                <a:solidFill>
                  <a:srgbClr val="D4D4D4"/>
                </a:solidFill>
                <a:latin typeface="Consolas"/>
              </a:rPr>
              <a:t> </a:t>
            </a:r>
            <a:r>
              <a:rPr sz="2000" i="0" b="0">
                <a:solidFill>
                  <a:srgbClr val="D4D4D4"/>
                </a:solidFill>
                <a:latin typeface="Consolas"/>
              </a:rPr>
              <a:t>idx_cita_fecha_hora</a:t>
            </a:r>
            <a:r>
              <a:rPr sz="2000" i="0" b="0">
                <a:solidFill>
                  <a:srgbClr val="D4D4D4"/>
                </a:solidFill>
                <a:latin typeface="Consolas"/>
              </a:rPr>
              <a:t> </a:t>
            </a:r>
            <a:r>
              <a:rPr sz="2000" i="0" b="0">
                <a:solidFill>
                  <a:srgbClr val="569CD6"/>
                </a:solidFill>
                <a:latin typeface="Consolas"/>
              </a:rPr>
              <a:t>ON</a:t>
            </a:r>
            <a:r>
              <a:rPr sz="2000" i="0" b="0">
                <a:solidFill>
                  <a:srgbClr val="D4D4D4"/>
                </a:solidFill>
                <a:latin typeface="Consolas"/>
              </a:rPr>
              <a:t> </a:t>
            </a:r>
            <a:r>
              <a:rPr sz="2000" i="0" b="0">
                <a:solidFill>
                  <a:srgbClr val="DCDCAA"/>
                </a:solidFill>
                <a:latin typeface="Consolas"/>
              </a:rPr>
              <a:t>cita</a:t>
            </a:r>
            <a:r>
              <a:rPr sz="2000" i="0" b="0">
                <a:solidFill>
                  <a:srgbClr val="D4D4D4"/>
                </a:solidFill>
                <a:latin typeface="Consolas"/>
              </a:rPr>
              <a:t> (</a:t>
            </a:r>
            <a:r>
              <a:rPr sz="2000" i="0" b="0">
                <a:solidFill>
                  <a:srgbClr val="D4D4D4"/>
                </a:solidFill>
                <a:latin typeface="Consolas"/>
              </a:rPr>
              <a:t>fecha_hora</a:t>
            </a:r>
            <a:r>
              <a:rPr sz="2000" i="0" b="0">
                <a:solidFill>
                  <a:srgbClr val="D4D4D4"/>
                </a:solidFill>
                <a:latin typeface="Consolas"/>
              </a:rPr>
              <a:t>);</a:t>
            </a:r>
          </a:p>
          <a:p>
            <a:pPr>
              <a:spcAft>
                <a:spcPts val="428"/>
              </a:spcAft>
            </a:pPr>
            <a:r>
              <a:rPr sz="2000" i="0" b="0">
                <a:solidFill>
                  <a:srgbClr val="569CD6"/>
                </a:solidFill>
                <a:latin typeface="Consolas"/>
              </a:rPr>
              <a:t>CREATE</a:t>
            </a:r>
            <a:r>
              <a:rPr sz="2000" i="0" b="0">
                <a:solidFill>
                  <a:srgbClr val="D4D4D4"/>
                </a:solidFill>
                <a:latin typeface="Consolas"/>
              </a:rPr>
              <a:t> </a:t>
            </a:r>
            <a:r>
              <a:rPr sz="2000" i="0" b="0">
                <a:solidFill>
                  <a:srgbClr val="569CD6"/>
                </a:solidFill>
                <a:latin typeface="Consolas"/>
              </a:rPr>
              <a:t>INDEX</a:t>
            </a:r>
            <a:r>
              <a:rPr sz="2000" i="0" b="0">
                <a:solidFill>
                  <a:srgbClr val="D4D4D4"/>
                </a:solidFill>
                <a:latin typeface="Consolas"/>
              </a:rPr>
              <a:t> </a:t>
            </a:r>
            <a:r>
              <a:rPr sz="2000" i="0" b="0">
                <a:solidFill>
                  <a:srgbClr val="D4D4D4"/>
                </a:solidFill>
                <a:latin typeface="Consolas"/>
              </a:rPr>
              <a:t>idx_mascota_dueno</a:t>
            </a:r>
            <a:r>
              <a:rPr sz="2000" i="0" b="0">
                <a:solidFill>
                  <a:srgbClr val="D4D4D4"/>
                </a:solidFill>
                <a:latin typeface="Consolas"/>
              </a:rPr>
              <a:t>    </a:t>
            </a:r>
            <a:r>
              <a:rPr sz="2000" i="0" b="0">
                <a:solidFill>
                  <a:srgbClr val="569CD6"/>
                </a:solidFill>
                <a:latin typeface="Consolas"/>
              </a:rPr>
              <a:t>ON</a:t>
            </a:r>
            <a:r>
              <a:rPr sz="2000" i="0" b="0">
                <a:solidFill>
                  <a:srgbClr val="D4D4D4"/>
                </a:solidFill>
                <a:latin typeface="Consolas"/>
              </a:rPr>
              <a:t> </a:t>
            </a:r>
            <a:r>
              <a:rPr sz="2000" i="0" b="0">
                <a:solidFill>
                  <a:srgbClr val="DCDCAA"/>
                </a:solidFill>
                <a:latin typeface="Consolas"/>
              </a:rPr>
              <a:t>mascota</a:t>
            </a:r>
            <a:r>
              <a:rPr sz="2000" i="0" b="0">
                <a:solidFill>
                  <a:srgbClr val="D4D4D4"/>
                </a:solidFill>
                <a:latin typeface="Consolas"/>
              </a:rPr>
              <a:t> (</a:t>
            </a:r>
            <a:r>
              <a:rPr sz="2000" i="0" b="0">
                <a:solidFill>
                  <a:srgbClr val="D4D4D4"/>
                </a:solidFill>
                <a:latin typeface="Consolas"/>
              </a:rPr>
              <a:t>id_dueno</a:t>
            </a:r>
            <a:r>
              <a:rPr sz="2000" i="0" b="0">
                <a:solidFill>
                  <a:srgbClr val="D4D4D4"/>
                </a:solidFill>
                <a:latin typeface="Consolas"/>
              </a:rPr>
              <a:t>);</a:t>
            </a:r>
          </a:p>
          <a:p>
            <a:pPr>
              <a:spcAft>
                <a:spcPts val="428"/>
              </a:spcAft>
            </a:pPr>
            <a:r>
              <a:rPr sz="2000" i="0" b="0">
                <a:solidFill>
                  <a:srgbClr val="569CD6"/>
                </a:solidFill>
                <a:latin typeface="Consolas"/>
              </a:rPr>
              <a:t>ANALYZE</a:t>
            </a:r>
            <a:r>
              <a:rPr sz="2000" i="0" b="0">
                <a:solidFill>
                  <a:srgbClr val="D4D4D4"/>
                </a:solidFill>
                <a:latin typeface="Consolas"/>
              </a:rPr>
              <a:t> </a:t>
            </a:r>
            <a:r>
              <a:rPr sz="2000" i="0" b="0">
                <a:solidFill>
                  <a:srgbClr val="D4D4D4"/>
                </a:solidFill>
                <a:latin typeface="Consolas"/>
              </a:rPr>
              <a:t>cita</a:t>
            </a:r>
            <a:r>
              <a:rPr sz="2000" i="0" b="0">
                <a:solidFill>
                  <a:srgbClr val="D4D4D4"/>
                </a:solidFill>
                <a:latin typeface="Consolas"/>
              </a:rPr>
              <a:t>;      </a:t>
            </a:r>
            <a:r>
              <a:rPr sz="2000" i="1" b="0">
                <a:solidFill>
                  <a:srgbClr val="6A9955"/>
                </a:solidFill>
                <a:latin typeface="Consolas"/>
              </a:rPr>
              <a:t>-- sin estadisticas frescas el planificador decide a ciegas</a:t>
            </a:r>
          </a:p>
          <a:p>
            <a:pPr>
              <a:spcAft>
                <a:spcPts val="428"/>
              </a:spcAft>
            </a:pPr>
            <a:r>
              <a:rPr sz="2000" i="0" b="0">
                <a:solidFill>
                  <a:srgbClr val="D4D4D4"/>
                </a:solidFill>
                <a:latin typeface="Consolas"/>
              </a:rPr>
              <a:t/>
            </a:r>
          </a:p>
          <a:p>
            <a:pPr>
              <a:spcAft>
                <a:spcPts val="428"/>
              </a:spcAft>
            </a:pPr>
            <a:r>
              <a:rPr sz="2000" i="0" b="0">
                <a:solidFill>
                  <a:srgbClr val="569CD6"/>
                </a:solidFill>
                <a:latin typeface="Consolas"/>
              </a:rPr>
              <a:t>EXPLAIN</a:t>
            </a:r>
            <a:r>
              <a:rPr sz="2000" i="0" b="0">
                <a:solidFill>
                  <a:srgbClr val="D4D4D4"/>
                </a:solidFill>
                <a:latin typeface="Consolas"/>
              </a:rPr>
              <a:t> </a:t>
            </a:r>
            <a:r>
              <a:rPr sz="2000" i="0" b="0">
                <a:solidFill>
                  <a:srgbClr val="569CD6"/>
                </a:solidFill>
                <a:latin typeface="Consolas"/>
              </a:rPr>
              <a:t>ANALYZE</a:t>
            </a:r>
          </a:p>
          <a:p>
            <a:pPr>
              <a:spcAft>
                <a:spcPts val="428"/>
              </a:spcAft>
            </a:pPr>
            <a:r>
              <a:rPr sz="2000" i="0" b="0">
                <a:solidFill>
                  <a:srgbClr val="569CD6"/>
                </a:solidFill>
                <a:latin typeface="Consolas"/>
              </a:rPr>
              <a:t>SELECT</a:t>
            </a:r>
            <a:r>
              <a:rPr sz="2000" i="0" b="0">
                <a:solidFill>
                  <a:srgbClr val="D4D4D4"/>
                </a:solidFill>
                <a:latin typeface="Consolas"/>
              </a:rPr>
              <a:t> * </a:t>
            </a:r>
            <a:r>
              <a:rPr sz="2000" i="0" b="0">
                <a:solidFill>
                  <a:srgbClr val="569CD6"/>
                </a:solidFill>
                <a:latin typeface="Consolas"/>
              </a:rPr>
              <a:t>FROM</a:t>
            </a:r>
            <a:r>
              <a:rPr sz="2000" i="0" b="0">
                <a:solidFill>
                  <a:srgbClr val="D4D4D4"/>
                </a:solidFill>
                <a:latin typeface="Consolas"/>
              </a:rPr>
              <a:t> </a:t>
            </a:r>
            <a:r>
              <a:rPr sz="2000" i="0" b="0">
                <a:solidFill>
                  <a:srgbClr val="D4D4D4"/>
                </a:solidFill>
                <a:latin typeface="Consolas"/>
              </a:rPr>
              <a:t>cita</a:t>
            </a:r>
          </a:p>
          <a:p>
            <a:pPr>
              <a:spcAft>
                <a:spcPts val="428"/>
              </a:spcAft>
            </a:pPr>
            <a:r>
              <a:rPr sz="2000" i="0" b="0">
                <a:solidFill>
                  <a:srgbClr val="569CD6"/>
                </a:solidFill>
                <a:latin typeface="Consolas"/>
              </a:rPr>
              <a:t>WHERE</a:t>
            </a:r>
            <a:r>
              <a:rPr sz="2000" i="0" b="0">
                <a:solidFill>
                  <a:srgbClr val="D4D4D4"/>
                </a:solidFill>
                <a:latin typeface="Consolas"/>
              </a:rPr>
              <a:t> </a:t>
            </a:r>
            <a:r>
              <a:rPr sz="2000" i="0" b="0">
                <a:solidFill>
                  <a:srgbClr val="D4D4D4"/>
                </a:solidFill>
                <a:latin typeface="Consolas"/>
              </a:rPr>
              <a:t>fecha_hora</a:t>
            </a:r>
            <a:r>
              <a:rPr sz="2000" i="0" b="0">
                <a:solidFill>
                  <a:srgbClr val="D4D4D4"/>
                </a:solidFill>
                <a:latin typeface="Consolas"/>
              </a:rPr>
              <a:t> &gt;= </a:t>
            </a:r>
            <a:r>
              <a:rPr sz="2000" i="0" b="0">
                <a:solidFill>
                  <a:srgbClr val="4EC9B0"/>
                </a:solidFill>
                <a:latin typeface="Consolas"/>
              </a:rPr>
              <a:t>TIMESTAMP</a:t>
            </a:r>
            <a:r>
              <a:rPr sz="2000" i="0" b="0">
                <a:solidFill>
                  <a:srgbClr val="D4D4D4"/>
                </a:solidFill>
                <a:latin typeface="Consolas"/>
              </a:rPr>
              <a:t> </a:t>
            </a:r>
            <a:r>
              <a:rPr sz="2000" i="0" b="0">
                <a:solidFill>
                  <a:srgbClr val="CE9178"/>
                </a:solidFill>
                <a:latin typeface="Consolas"/>
              </a:rPr>
              <a:t>'2026-09-01 00:00:00'</a:t>
            </a:r>
          </a:p>
          <a:p>
            <a:pPr>
              <a:spcAft>
                <a:spcPts val="428"/>
              </a:spcAft>
            </a:pPr>
            <a:r>
              <a:rPr sz="2000" i="0" b="0">
                <a:solidFill>
                  <a:srgbClr val="D4D4D4"/>
                </a:solidFill>
                <a:latin typeface="Consolas"/>
              </a:rPr>
              <a:t>  </a:t>
            </a:r>
            <a:r>
              <a:rPr sz="2000" i="0" b="0">
                <a:solidFill>
                  <a:srgbClr val="569CD6"/>
                </a:solidFill>
                <a:latin typeface="Consolas"/>
              </a:rPr>
              <a:t>AND</a:t>
            </a:r>
            <a:r>
              <a:rPr sz="2000" i="0" b="0">
                <a:solidFill>
                  <a:srgbClr val="D4D4D4"/>
                </a:solidFill>
                <a:latin typeface="Consolas"/>
              </a:rPr>
              <a:t> </a:t>
            </a:r>
            <a:r>
              <a:rPr sz="2000" i="0" b="0">
                <a:solidFill>
                  <a:srgbClr val="D4D4D4"/>
                </a:solidFill>
                <a:latin typeface="Consolas"/>
              </a:rPr>
              <a:t>fecha_hora</a:t>
            </a:r>
            <a:r>
              <a:rPr sz="2000" i="0" b="0">
                <a:solidFill>
                  <a:srgbClr val="D4D4D4"/>
                </a:solidFill>
                <a:latin typeface="Consolas"/>
              </a:rPr>
              <a:t> &lt;  </a:t>
            </a:r>
            <a:r>
              <a:rPr sz="2000" i="0" b="0">
                <a:solidFill>
                  <a:srgbClr val="4EC9B0"/>
                </a:solidFill>
                <a:latin typeface="Consolas"/>
              </a:rPr>
              <a:t>TIMESTAMP</a:t>
            </a:r>
            <a:r>
              <a:rPr sz="2000" i="0" b="0">
                <a:solidFill>
                  <a:srgbClr val="D4D4D4"/>
                </a:solidFill>
                <a:latin typeface="Consolas"/>
              </a:rPr>
              <a:t> </a:t>
            </a:r>
            <a:r>
              <a:rPr sz="2000" i="0" b="0">
                <a:solidFill>
                  <a:srgbClr val="CE9178"/>
                </a:solidFill>
                <a:latin typeface="Consolas"/>
              </a:rPr>
              <a:t>'2026-09-02 00:00:00'</a:t>
            </a:r>
            <a:r>
              <a:rPr sz="2000" i="0" b="0">
                <a:solidFill>
                  <a:srgbClr val="D4D4D4"/>
                </a:solidFill>
                <a:latin typeface="Consolas"/>
              </a:rPr>
              <a:t>;</a:t>
            </a:r>
          </a:p>
          <a:p>
            <a:pPr>
              <a:spcAft>
                <a:spcPts val="428"/>
              </a:spcAft>
            </a:pPr>
            <a:r>
              <a:rPr sz="2000" i="0" b="0">
                <a:solidFill>
                  <a:srgbClr val="D4D4D4"/>
                </a:solidFill>
                <a:latin typeface="Consolas"/>
              </a:rPr>
              <a:t/>
            </a:r>
          </a:p>
          <a:p>
            <a:pPr>
              <a:spcAft>
                <a:spcPts val="428"/>
              </a:spcAft>
            </a:pPr>
            <a:r>
              <a:rPr sz="2000" i="1" b="0">
                <a:solidFill>
                  <a:srgbClr val="6A9955"/>
                </a:solidFill>
                <a:latin typeface="Consolas"/>
              </a:rPr>
              <a:t>-- Antes:   Seq Scan on cita  (rows=30010)</a:t>
            </a:r>
          </a:p>
          <a:p>
            <a:pPr>
              <a:spcAft>
                <a:spcPts val="428"/>
              </a:spcAft>
            </a:pPr>
            <a:r>
              <a:rPr sz="2000" i="1" b="0">
                <a:solidFill>
                  <a:srgbClr val="6A9955"/>
                </a:solidFill>
                <a:latin typeface="Consolas"/>
              </a:rPr>
              <a:t>-- Despues: Index Scan using idx_cita_fecha_hora on cita  (rows=41)</a:t>
            </a:r>
          </a:p>
        </p:txBody>
      </p:sp>
      <p:sp>
        <p:nvSpPr>
          <p:cNvPr id="12" name="TextBox 11"/>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14</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El experimento del orden de columnas, paso a paso</a:t>
            </a:r>
          </a:p>
        </p:txBody>
      </p:sp>
      <p:sp>
        <p:nvSpPr>
          <p:cNvPr id="5" name="Rounded Rectangle 4"/>
          <p:cNvSpPr/>
          <p:nvPr/>
        </p:nvSpPr>
        <p:spPr>
          <a:xfrm>
            <a:off x="5803166" y="1188719"/>
            <a:ext cx="5998464" cy="4828032"/>
          </a:xfrm>
          <a:prstGeom prst="roundRect">
            <a:avLst>
              <a:gd name="adj" fmla="val 4000"/>
            </a:avLst>
          </a:prstGeom>
          <a:solidFill>
            <a:srgbClr val="E8EE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orden-columnas-paso1.png"/>
          <p:cNvPicPr>
            <a:picLocks noChangeAspect="1"/>
          </p:cNvPicPr>
          <p:nvPr/>
        </p:nvPicPr>
        <p:blipFill>
          <a:blip r:embed="rId2"/>
          <a:stretch>
            <a:fillRect/>
          </a:stretch>
        </p:blipFill>
        <p:spPr>
          <a:xfrm>
            <a:off x="5876318" y="1261872"/>
            <a:ext cx="5852160" cy="4681728"/>
          </a:xfrm>
          <a:prstGeom prst="rect">
            <a:avLst/>
          </a:prstGeom>
        </p:spPr>
      </p:pic>
      <p:pic>
        <p:nvPicPr>
          <p:cNvPr id="7" name="Picture 6" descr="orden-columnas-paso2.png"/>
          <p:cNvPicPr>
            <a:picLocks noChangeAspect="1"/>
          </p:cNvPicPr>
          <p:nvPr/>
        </p:nvPicPr>
        <p:blipFill>
          <a:blip r:embed="rId3"/>
          <a:stretch>
            <a:fillRect/>
          </a:stretch>
        </p:blipFill>
        <p:spPr>
          <a:xfrm>
            <a:off x="5876318" y="1261872"/>
            <a:ext cx="5852160" cy="4681728"/>
          </a:xfrm>
          <a:prstGeom prst="rect">
            <a:avLst/>
          </a:prstGeom>
        </p:spPr>
      </p:pic>
      <p:pic>
        <p:nvPicPr>
          <p:cNvPr id="8" name="Picture 7" descr="orden-columnas-paso3.png"/>
          <p:cNvPicPr>
            <a:picLocks noChangeAspect="1"/>
          </p:cNvPicPr>
          <p:nvPr/>
        </p:nvPicPr>
        <p:blipFill>
          <a:blip r:embed="rId4"/>
          <a:stretch>
            <a:fillRect/>
          </a:stretch>
        </p:blipFill>
        <p:spPr>
          <a:xfrm>
            <a:off x="5876318" y="1261872"/>
            <a:ext cx="5852160" cy="4681728"/>
          </a:xfrm>
          <a:prstGeom prst="rect">
            <a:avLst/>
          </a:prstGeom>
        </p:spPr>
      </p:pic>
      <p:pic>
        <p:nvPicPr>
          <p:cNvPr id="9" name="Picture 8" descr="orden-columnas-paso4.png"/>
          <p:cNvPicPr>
            <a:picLocks noChangeAspect="1"/>
          </p:cNvPicPr>
          <p:nvPr/>
        </p:nvPicPr>
        <p:blipFill>
          <a:blip r:embed="rId5"/>
          <a:stretch>
            <a:fillRect/>
          </a:stretch>
        </p:blipFill>
        <p:spPr>
          <a:xfrm>
            <a:off x="5876318" y="1261872"/>
            <a:ext cx="5852160" cy="4681728"/>
          </a:xfrm>
          <a:prstGeom prst="rect">
            <a:avLst/>
          </a:prstGeom>
        </p:spPr>
      </p:pic>
      <p:sp>
        <p:nvSpPr>
          <p:cNvPr id="18" name="TextBox 17"/>
          <p:cNvSpPr txBox="1"/>
          <p:nvPr/>
        </p:nvSpPr>
        <p:spPr>
          <a:xfrm>
            <a:off x="5870301" y="5961888"/>
            <a:ext cx="5864193" cy="320040"/>
          </a:xfrm>
          <a:prstGeom prst="rect">
            <a:avLst/>
          </a:prstGeom>
          <a:noFill/>
        </p:spPr>
        <p:txBody>
          <a:bodyPr wrap="square">
            <a:spAutoFit/>
          </a:bodyPr>
          <a:lstStyle/>
          <a:p>
            <a:pPr algn="ctr"/>
            <a:r>
              <a:rPr sz="1100" b="0" i="1">
                <a:solidFill>
                  <a:srgbClr val="666666"/>
                </a:solidFill>
                <a:latin typeface="Calibri"/>
              </a:rPr>
              <a:t>Clic para avanzar la animación</a:t>
            </a:r>
          </a:p>
        </p:txBody>
      </p:sp>
      <p:sp>
        <p:nvSpPr>
          <p:cNvPr id="19" name="TextBox 18"/>
          <p:cNvSpPr txBox="1"/>
          <p:nvPr/>
        </p:nvSpPr>
        <p:spPr>
          <a:xfrm>
            <a:off x="457200" y="1353312"/>
            <a:ext cx="5093061" cy="5047488"/>
          </a:xfrm>
          <a:prstGeom prst="rect">
            <a:avLst/>
          </a:prstGeom>
          <a:noFill/>
        </p:spPr>
        <p:txBody>
          <a:bodyPr wrap="square">
            <a:spAutoFit/>
          </a:bodyPr>
          <a:lstStyle/>
          <a:p>
            <a:pPr>
              <a:spcAft>
                <a:spcPts val="800"/>
              </a:spcAft>
            </a:pPr>
            <a:r>
              <a:rPr sz="2000" b="0" i="0">
                <a:solidFill>
                  <a:srgbClr val="333333"/>
                </a:solidFill>
                <a:latin typeface="Calibri"/>
              </a:rPr>
              <a:t>–   Se crean los dos compuestos, se corre ANALYZE cita, y se miden tres consultas.</a:t>
            </a:r>
          </a:p>
          <a:p>
            <a:pPr>
              <a:spcAft>
                <a:spcPts val="800"/>
              </a:spcAft>
            </a:pPr>
            <a:r>
              <a:rPr sz="2000" b="0" i="0">
                <a:solidFill>
                  <a:srgbClr val="333333"/>
                </a:solidFill>
                <a:latin typeface="Calibri"/>
              </a:rPr>
              <a:t>–   Q1 filtra por estado con igualdad y por fecha_hora con rango: favorece a idx_cita_estado_fecha, porque la columna de igualdad es la lider y el rango…</a:t>
            </a:r>
          </a:p>
          <a:p>
            <a:pPr>
              <a:spcAft>
                <a:spcPts val="800"/>
              </a:spcAft>
            </a:pPr>
            <a:r>
              <a:rPr sz="2000" b="0" i="0">
                <a:solidFill>
                  <a:srgbClr val="333333"/>
                </a:solidFill>
                <a:latin typeface="Calibri"/>
              </a:rPr>
              <a:t>–   Q2 filtra solo por rango de fecha_hora: favorece a idx_cita_fecha_estado, porque ahi fecha_hora si es la lider.</a:t>
            </a:r>
          </a:p>
          <a:p>
            <a:pPr>
              <a:spcAft>
                <a:spcPts val="800"/>
              </a:spcAft>
            </a:pPr>
            <a:r>
              <a:rPr sz="2000" b="0" i="0">
                <a:solidFill>
                  <a:srgbClr val="333333"/>
                </a:solidFill>
                <a:latin typeface="Calibri"/>
              </a:rPr>
              <a:t>–   Q3 filtra solo por estado, sin fecha: idx_cita_fecha_estado no le sirve.</a:t>
            </a:r>
          </a:p>
        </p:txBody>
      </p:sp>
      <p:sp>
        <p:nvSpPr>
          <p:cNvPr id="20" name="TextBox 19"/>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15</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7"/>
                                        </p:tgtEl>
                                        <p:attrNameLst>
                                          <p:attrName>style.visibility</p:attrName>
                                        </p:attrNameLst>
                                      </p:cBhvr>
                                      <p:to>
                                        <p:strVal val="visible"/>
                                      </p:to>
                                    </p:set>
                                    <p:animEffect transition="in" filter="fade">
                                      <p:cBhvr>
                                        <p:cTn id="7" dur="450"/>
                                        <p:tgtEl>
                                          <p:spTgt spid="7"/>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8"/>
                                        </p:tgtEl>
                                        <p:attrNameLst>
                                          <p:attrName>style.visibility</p:attrName>
                                        </p:attrNameLst>
                                      </p:cBhvr>
                                      <p:to>
                                        <p:strVal val="visible"/>
                                      </p:to>
                                    </p:set>
                                    <p:animEffect transition="in" filter="fade">
                                      <p:cBhvr>
                                        <p:cTn id="12" dur="450"/>
                                        <p:tgtEl>
                                          <p:spTgt spid="8"/>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9"/>
                                        </p:tgtEl>
                                        <p:attrNameLst>
                                          <p:attrName>style.visibility</p:attrName>
                                        </p:attrNameLst>
                                      </p:cBhvr>
                                      <p:to>
                                        <p:strVal val="visible"/>
                                      </p:to>
                                    </p:set>
                                    <p:animEffect transition="in" filter="fade">
                                      <p:cBhvr>
                                        <p:cTn id="17" dur="450"/>
                                        <p:tgtEl>
                                          <p:spTgt spid="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El orden de columnas en un indice compuesto</a:t>
            </a:r>
          </a:p>
        </p:txBody>
      </p:sp>
      <p:sp>
        <p:nvSpPr>
          <p:cNvPr id="5" name="Rounded Rectangle 4"/>
          <p:cNvSpPr/>
          <p:nvPr/>
        </p:nvSpPr>
        <p:spPr>
          <a:xfrm>
            <a:off x="457200" y="1261872"/>
            <a:ext cx="11277295" cy="4530784"/>
          </a:xfrm>
          <a:prstGeom prst="roundRect">
            <a:avLst>
              <a:gd name="adj" fmla="val 4000"/>
            </a:avLst>
          </a:prstGeom>
          <a:solidFill>
            <a:srgbClr val="1E1E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457200" y="1261872"/>
            <a:ext cx="11277295" cy="365760"/>
          </a:xfrm>
          <a:prstGeom prst="rect">
            <a:avLst/>
          </a:prstGeom>
          <a:solidFill>
            <a:srgbClr val="2D2D3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658368" y="1380743"/>
            <a:ext cx="128016" cy="128016"/>
          </a:xfrm>
          <a:prstGeom prst="ellipse">
            <a:avLst/>
          </a:prstGeom>
          <a:solidFill>
            <a:srgbClr val="FF5F5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877824" y="1380743"/>
            <a:ext cx="128016" cy="128016"/>
          </a:xfrm>
          <a:prstGeom prst="ellipse">
            <a:avLst/>
          </a:prstGeom>
          <a:solidFill>
            <a:srgbClr val="FFBD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97280" y="1380743"/>
            <a:ext cx="128016" cy="128016"/>
          </a:xfrm>
          <a:prstGeom prst="ellipse">
            <a:avLst/>
          </a:prstGeom>
          <a:solidFill>
            <a:srgbClr val="27C93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371600" y="1298448"/>
            <a:ext cx="10180015" cy="292608"/>
          </a:xfrm>
          <a:prstGeom prst="rect">
            <a:avLst/>
          </a:prstGeom>
          <a:noFill/>
        </p:spPr>
        <p:txBody>
          <a:bodyPr wrap="square" anchor="ctr"/>
          <a:lstStyle/>
          <a:p>
            <a:pPr algn="r"/>
            <a:r>
              <a:rPr sz="1100" b="1" i="0">
                <a:solidFill>
                  <a:srgbClr val="BBBBBB"/>
                </a:solidFill>
                <a:latin typeface="Calibri"/>
              </a:rPr>
              <a:t>SQL · PostgreSQL</a:t>
            </a:r>
          </a:p>
        </p:txBody>
      </p:sp>
      <p:sp>
        <p:nvSpPr>
          <p:cNvPr id="11" name="TextBox 10"/>
          <p:cNvSpPr txBox="1"/>
          <p:nvPr/>
        </p:nvSpPr>
        <p:spPr>
          <a:xfrm>
            <a:off x="1188720" y="1719072"/>
            <a:ext cx="10271455" cy="3936424"/>
          </a:xfrm>
          <a:prstGeom prst="rect">
            <a:avLst/>
          </a:prstGeom>
          <a:noFill/>
        </p:spPr>
        <p:txBody>
          <a:bodyPr wrap="square">
            <a:spAutoFit/>
          </a:bodyPr>
          <a:lstStyle/>
          <a:p>
            <a:pPr>
              <a:spcAft>
                <a:spcPts val="428"/>
              </a:spcAft>
            </a:pPr>
            <a:r>
              <a:rPr sz="2000" i="1" b="0">
                <a:solidFill>
                  <a:srgbClr val="6A9955"/>
                </a:solidFill>
                <a:latin typeface="Consolas"/>
              </a:rPr>
              <a:t>-- Consulta: filtra por id_veterinario y ordena por fecha_hora</a:t>
            </a:r>
          </a:p>
          <a:p>
            <a:pPr>
              <a:spcAft>
                <a:spcPts val="428"/>
              </a:spcAft>
            </a:pPr>
            <a:r>
              <a:rPr sz="2000" i="0" b="0">
                <a:solidFill>
                  <a:srgbClr val="569CD6"/>
                </a:solidFill>
                <a:latin typeface="Consolas"/>
              </a:rPr>
              <a:t>CREATE</a:t>
            </a:r>
            <a:r>
              <a:rPr sz="2000" i="0" b="0">
                <a:solidFill>
                  <a:srgbClr val="D4D4D4"/>
                </a:solidFill>
                <a:latin typeface="Consolas"/>
              </a:rPr>
              <a:t> </a:t>
            </a:r>
            <a:r>
              <a:rPr sz="2000" i="0" b="0">
                <a:solidFill>
                  <a:srgbClr val="569CD6"/>
                </a:solidFill>
                <a:latin typeface="Consolas"/>
              </a:rPr>
              <a:t>INDEX</a:t>
            </a:r>
            <a:r>
              <a:rPr sz="2000" i="0" b="0">
                <a:solidFill>
                  <a:srgbClr val="D4D4D4"/>
                </a:solidFill>
                <a:latin typeface="Consolas"/>
              </a:rPr>
              <a:t> </a:t>
            </a:r>
            <a:r>
              <a:rPr sz="2000" i="0" b="0">
                <a:solidFill>
                  <a:srgbClr val="D4D4D4"/>
                </a:solidFill>
                <a:latin typeface="Consolas"/>
              </a:rPr>
              <a:t>idx_cita_vet_fecha</a:t>
            </a:r>
            <a:r>
              <a:rPr sz="2000" i="0" b="0">
                <a:solidFill>
                  <a:srgbClr val="D4D4D4"/>
                </a:solidFill>
                <a:latin typeface="Consolas"/>
              </a:rPr>
              <a:t> </a:t>
            </a:r>
            <a:r>
              <a:rPr sz="2000" i="0" b="0">
                <a:solidFill>
                  <a:srgbClr val="569CD6"/>
                </a:solidFill>
                <a:latin typeface="Consolas"/>
              </a:rPr>
              <a:t>ON</a:t>
            </a:r>
            <a:r>
              <a:rPr sz="2000" i="0" b="0">
                <a:solidFill>
                  <a:srgbClr val="D4D4D4"/>
                </a:solidFill>
                <a:latin typeface="Consolas"/>
              </a:rPr>
              <a:t> </a:t>
            </a:r>
            <a:r>
              <a:rPr sz="2000" i="0" b="0">
                <a:solidFill>
                  <a:srgbClr val="DCDCAA"/>
                </a:solidFill>
                <a:latin typeface="Consolas"/>
              </a:rPr>
              <a:t>cita</a:t>
            </a:r>
            <a:r>
              <a:rPr sz="2000" i="0" b="0">
                <a:solidFill>
                  <a:srgbClr val="D4D4D4"/>
                </a:solidFill>
                <a:latin typeface="Consolas"/>
              </a:rPr>
              <a:t> (</a:t>
            </a:r>
            <a:r>
              <a:rPr sz="2000" i="0" b="0">
                <a:solidFill>
                  <a:srgbClr val="D4D4D4"/>
                </a:solidFill>
                <a:latin typeface="Consolas"/>
              </a:rPr>
              <a:t>id_veterinario</a:t>
            </a:r>
            <a:r>
              <a:rPr sz="2000" i="0" b="0">
                <a:solidFill>
                  <a:srgbClr val="D4D4D4"/>
                </a:solidFill>
                <a:latin typeface="Consolas"/>
              </a:rPr>
              <a:t>, </a:t>
            </a:r>
            <a:r>
              <a:rPr sz="2000" i="0" b="0">
                <a:solidFill>
                  <a:srgbClr val="D4D4D4"/>
                </a:solidFill>
                <a:latin typeface="Consolas"/>
              </a:rPr>
              <a:t>fecha_hora</a:t>
            </a:r>
            <a:r>
              <a:rPr sz="2000" i="0" b="0">
                <a:solidFill>
                  <a:srgbClr val="D4D4D4"/>
                </a:solidFill>
                <a:latin typeface="Consolas"/>
              </a:rPr>
              <a:t>);</a:t>
            </a:r>
          </a:p>
          <a:p>
            <a:pPr>
              <a:spcAft>
                <a:spcPts val="428"/>
              </a:spcAft>
            </a:pPr>
            <a:r>
              <a:rPr sz="2000" i="0" b="0">
                <a:solidFill>
                  <a:srgbClr val="D4D4D4"/>
                </a:solidFill>
                <a:latin typeface="Consolas"/>
              </a:rPr>
              <a:t/>
            </a:r>
          </a:p>
          <a:p>
            <a:pPr>
              <a:spcAft>
                <a:spcPts val="428"/>
              </a:spcAft>
            </a:pPr>
            <a:r>
              <a:rPr sz="2000" i="1" b="0">
                <a:solidFill>
                  <a:srgbClr val="6A9955"/>
                </a:solidFill>
                <a:latin typeface="Consolas"/>
              </a:rPr>
              <a:t>-- Sirve para:</a:t>
            </a:r>
          </a:p>
          <a:p>
            <a:pPr>
              <a:spcAft>
                <a:spcPts val="428"/>
              </a:spcAft>
            </a:pPr>
            <a:r>
              <a:rPr sz="2000" i="0" b="0">
                <a:solidFill>
                  <a:srgbClr val="D4D4D4"/>
                </a:solidFill>
                <a:latin typeface="Consolas"/>
              </a:rPr>
              <a:t>--   </a:t>
            </a:r>
            <a:r>
              <a:rPr sz="2000" i="0" b="0">
                <a:solidFill>
                  <a:srgbClr val="569CD6"/>
                </a:solidFill>
                <a:latin typeface="Consolas"/>
              </a:rPr>
              <a:t>WHERE</a:t>
            </a:r>
            <a:r>
              <a:rPr sz="2000" i="0" b="0">
                <a:solidFill>
                  <a:srgbClr val="D4D4D4"/>
                </a:solidFill>
                <a:latin typeface="Consolas"/>
              </a:rPr>
              <a:t> </a:t>
            </a:r>
            <a:r>
              <a:rPr sz="2000" i="0" b="0">
                <a:solidFill>
                  <a:srgbClr val="D4D4D4"/>
                </a:solidFill>
                <a:latin typeface="Consolas"/>
              </a:rPr>
              <a:t>id_veterinario</a:t>
            </a:r>
            <a:r>
              <a:rPr sz="2000" i="0" b="0">
                <a:solidFill>
                  <a:srgbClr val="D4D4D4"/>
                </a:solidFill>
                <a:latin typeface="Consolas"/>
              </a:rPr>
              <a:t> = </a:t>
            </a:r>
            <a:r>
              <a:rPr sz="2000" i="0" b="0">
                <a:solidFill>
                  <a:srgbClr val="B5CEA8"/>
                </a:solidFill>
                <a:latin typeface="Consolas"/>
              </a:rPr>
              <a:t>3</a:t>
            </a:r>
            <a:r>
              <a:rPr sz="2000" i="0" b="0">
                <a:solidFill>
                  <a:srgbClr val="D4D4D4"/>
                </a:solidFill>
                <a:latin typeface="Consolas"/>
              </a:rPr>
              <a:t>                      -&gt; </a:t>
            </a:r>
            <a:r>
              <a:rPr sz="2000" i="0" b="0">
                <a:solidFill>
                  <a:srgbClr val="DCDCAA"/>
                </a:solidFill>
                <a:latin typeface="Consolas"/>
              </a:rPr>
              <a:t>si</a:t>
            </a:r>
            <a:r>
              <a:rPr sz="2000" i="0" b="0">
                <a:solidFill>
                  <a:srgbClr val="D4D4D4"/>
                </a:solidFill>
                <a:latin typeface="Consolas"/>
              </a:rPr>
              <a:t> (</a:t>
            </a:r>
            <a:r>
              <a:rPr sz="2000" i="0" b="0">
                <a:solidFill>
                  <a:srgbClr val="D4D4D4"/>
                </a:solidFill>
                <a:latin typeface="Consolas"/>
              </a:rPr>
              <a:t>prefijo</a:t>
            </a:r>
            <a:r>
              <a:rPr sz="2000" i="0" b="0">
                <a:solidFill>
                  <a:srgbClr val="D4D4D4"/>
                </a:solidFill>
                <a:latin typeface="Consolas"/>
              </a:rPr>
              <a:t>)</a:t>
            </a:r>
          </a:p>
          <a:p>
            <a:pPr>
              <a:spcAft>
                <a:spcPts val="428"/>
              </a:spcAft>
            </a:pPr>
            <a:r>
              <a:rPr sz="2000" i="0" b="0">
                <a:solidFill>
                  <a:srgbClr val="D4D4D4"/>
                </a:solidFill>
                <a:latin typeface="Consolas"/>
              </a:rPr>
              <a:t>--   </a:t>
            </a:r>
            <a:r>
              <a:rPr sz="2000" i="0" b="0">
                <a:solidFill>
                  <a:srgbClr val="569CD6"/>
                </a:solidFill>
                <a:latin typeface="Consolas"/>
              </a:rPr>
              <a:t>WHERE</a:t>
            </a:r>
            <a:r>
              <a:rPr sz="2000" i="0" b="0">
                <a:solidFill>
                  <a:srgbClr val="D4D4D4"/>
                </a:solidFill>
                <a:latin typeface="Consolas"/>
              </a:rPr>
              <a:t> </a:t>
            </a:r>
            <a:r>
              <a:rPr sz="2000" i="0" b="0">
                <a:solidFill>
                  <a:srgbClr val="D4D4D4"/>
                </a:solidFill>
                <a:latin typeface="Consolas"/>
              </a:rPr>
              <a:t>id_veterinario</a:t>
            </a:r>
            <a:r>
              <a:rPr sz="2000" i="0" b="0">
                <a:solidFill>
                  <a:srgbClr val="D4D4D4"/>
                </a:solidFill>
                <a:latin typeface="Consolas"/>
              </a:rPr>
              <a:t> = </a:t>
            </a:r>
            <a:r>
              <a:rPr sz="2000" i="0" b="0">
                <a:solidFill>
                  <a:srgbClr val="B5CEA8"/>
                </a:solidFill>
                <a:latin typeface="Consolas"/>
              </a:rPr>
              <a:t>3</a:t>
            </a:r>
            <a:r>
              <a:rPr sz="2000" i="0" b="0">
                <a:solidFill>
                  <a:srgbClr val="D4D4D4"/>
                </a:solidFill>
                <a:latin typeface="Consolas"/>
              </a:rPr>
              <a:t> </a:t>
            </a:r>
            <a:r>
              <a:rPr sz="2000" i="0" b="0">
                <a:solidFill>
                  <a:srgbClr val="569CD6"/>
                </a:solidFill>
                <a:latin typeface="Consolas"/>
              </a:rPr>
              <a:t>ORDER</a:t>
            </a:r>
            <a:r>
              <a:rPr sz="2000" i="0" b="0">
                <a:solidFill>
                  <a:srgbClr val="D4D4D4"/>
                </a:solidFill>
                <a:latin typeface="Consolas"/>
              </a:rPr>
              <a:t> </a:t>
            </a:r>
            <a:r>
              <a:rPr sz="2000" i="0" b="0">
                <a:solidFill>
                  <a:srgbClr val="569CD6"/>
                </a:solidFill>
                <a:latin typeface="Consolas"/>
              </a:rPr>
              <a:t>BY</a:t>
            </a:r>
            <a:r>
              <a:rPr sz="2000" i="0" b="0">
                <a:solidFill>
                  <a:srgbClr val="D4D4D4"/>
                </a:solidFill>
                <a:latin typeface="Consolas"/>
              </a:rPr>
              <a:t> </a:t>
            </a:r>
            <a:r>
              <a:rPr sz="2000" i="0" b="0">
                <a:solidFill>
                  <a:srgbClr val="D4D4D4"/>
                </a:solidFill>
                <a:latin typeface="Consolas"/>
              </a:rPr>
              <a:t>fecha_hora</a:t>
            </a:r>
            <a:r>
              <a:rPr sz="2000" i="0" b="0">
                <a:solidFill>
                  <a:srgbClr val="D4D4D4"/>
                </a:solidFill>
                <a:latin typeface="Consolas"/>
              </a:rPr>
              <a:t>  -&gt; </a:t>
            </a:r>
            <a:r>
              <a:rPr sz="2000" i="0" b="0">
                <a:solidFill>
                  <a:srgbClr val="DCDCAA"/>
                </a:solidFill>
                <a:latin typeface="Consolas"/>
              </a:rPr>
              <a:t>si</a:t>
            </a:r>
            <a:r>
              <a:rPr sz="2000" i="0" b="0">
                <a:solidFill>
                  <a:srgbClr val="D4D4D4"/>
                </a:solidFill>
                <a:latin typeface="Consolas"/>
              </a:rPr>
              <a:t> (</a:t>
            </a:r>
            <a:r>
              <a:rPr sz="2000" i="0" b="0">
                <a:solidFill>
                  <a:srgbClr val="D4D4D4"/>
                </a:solidFill>
                <a:latin typeface="Consolas"/>
              </a:rPr>
              <a:t>prefijo</a:t>
            </a:r>
            <a:r>
              <a:rPr sz="2000" i="0" b="0">
                <a:solidFill>
                  <a:srgbClr val="D4D4D4"/>
                </a:solidFill>
                <a:latin typeface="Consolas"/>
              </a:rPr>
              <a:t> + </a:t>
            </a:r>
            <a:r>
              <a:rPr sz="2000" i="0" b="0">
                <a:solidFill>
                  <a:srgbClr val="D4D4D4"/>
                </a:solidFill>
                <a:latin typeface="Consolas"/>
              </a:rPr>
              <a:t>orden</a:t>
            </a:r>
            <a:r>
              <a:rPr sz="2000" i="0" b="0">
                <a:solidFill>
                  <a:srgbClr val="D4D4D4"/>
                </a:solidFill>
                <a:latin typeface="Consolas"/>
              </a:rPr>
              <a:t>)</a:t>
            </a:r>
          </a:p>
          <a:p>
            <a:pPr>
              <a:spcAft>
                <a:spcPts val="428"/>
              </a:spcAft>
            </a:pPr>
            <a:r>
              <a:rPr sz="2000" i="1" b="0">
                <a:solidFill>
                  <a:srgbClr val="6A9955"/>
                </a:solidFill>
                <a:latin typeface="Consolas"/>
              </a:rPr>
              <a:t>-- NO sirve para:</a:t>
            </a:r>
          </a:p>
          <a:p>
            <a:pPr>
              <a:spcAft>
                <a:spcPts val="428"/>
              </a:spcAft>
            </a:pPr>
            <a:r>
              <a:rPr sz="2000" i="0" b="0">
                <a:solidFill>
                  <a:srgbClr val="D4D4D4"/>
                </a:solidFill>
                <a:latin typeface="Consolas"/>
              </a:rPr>
              <a:t>--   </a:t>
            </a:r>
            <a:r>
              <a:rPr sz="2000" i="0" b="0">
                <a:solidFill>
                  <a:srgbClr val="569CD6"/>
                </a:solidFill>
                <a:latin typeface="Consolas"/>
              </a:rPr>
              <a:t>WHERE</a:t>
            </a:r>
            <a:r>
              <a:rPr sz="2000" i="0" b="0">
                <a:solidFill>
                  <a:srgbClr val="D4D4D4"/>
                </a:solidFill>
                <a:latin typeface="Consolas"/>
              </a:rPr>
              <a:t> </a:t>
            </a:r>
            <a:r>
              <a:rPr sz="2000" i="0" b="0">
                <a:solidFill>
                  <a:srgbClr val="D4D4D4"/>
                </a:solidFill>
                <a:latin typeface="Consolas"/>
              </a:rPr>
              <a:t>fecha_hora</a:t>
            </a:r>
            <a:r>
              <a:rPr sz="2000" i="0" b="0">
                <a:solidFill>
                  <a:srgbClr val="D4D4D4"/>
                </a:solidFill>
                <a:latin typeface="Consolas"/>
              </a:rPr>
              <a:t> &gt;= ...                       -&gt; </a:t>
            </a:r>
            <a:r>
              <a:rPr sz="2000" i="0" b="0">
                <a:solidFill>
                  <a:srgbClr val="DCDCAA"/>
                </a:solidFill>
                <a:latin typeface="Consolas"/>
              </a:rPr>
              <a:t>no</a:t>
            </a:r>
            <a:r>
              <a:rPr sz="2000" i="0" b="0">
                <a:solidFill>
                  <a:srgbClr val="D4D4D4"/>
                </a:solidFill>
                <a:latin typeface="Consolas"/>
              </a:rPr>
              <a:t> (</a:t>
            </a:r>
            <a:r>
              <a:rPr sz="2000" i="0" b="0">
                <a:solidFill>
                  <a:srgbClr val="D4D4D4"/>
                </a:solidFill>
                <a:latin typeface="Consolas"/>
              </a:rPr>
              <a:t>no</a:t>
            </a:r>
            <a:r>
              <a:rPr sz="2000" i="0" b="0">
                <a:solidFill>
                  <a:srgbClr val="D4D4D4"/>
                </a:solidFill>
                <a:latin typeface="Consolas"/>
              </a:rPr>
              <a:t> </a:t>
            </a:r>
            <a:r>
              <a:rPr sz="2000" i="0" b="0">
                <a:solidFill>
                  <a:srgbClr val="D4D4D4"/>
                </a:solidFill>
                <a:latin typeface="Consolas"/>
              </a:rPr>
              <a:t>es</a:t>
            </a:r>
            <a:r>
              <a:rPr sz="2000" i="0" b="0">
                <a:solidFill>
                  <a:srgbClr val="D4D4D4"/>
                </a:solidFill>
                <a:latin typeface="Consolas"/>
              </a:rPr>
              <a:t> </a:t>
            </a:r>
            <a:r>
              <a:rPr sz="2000" i="0" b="0">
                <a:solidFill>
                  <a:srgbClr val="D4D4D4"/>
                </a:solidFill>
                <a:latin typeface="Consolas"/>
              </a:rPr>
              <a:t>prefijo</a:t>
            </a:r>
            <a:r>
              <a:rPr sz="2000" i="0" b="0">
                <a:solidFill>
                  <a:srgbClr val="D4D4D4"/>
                </a:solidFill>
                <a:latin typeface="Consolas"/>
              </a:rPr>
              <a:t>)</a:t>
            </a:r>
          </a:p>
          <a:p>
            <a:pPr>
              <a:spcAft>
                <a:spcPts val="428"/>
              </a:spcAft>
            </a:pPr>
            <a:r>
              <a:rPr sz="2000" i="0" b="0">
                <a:solidFill>
                  <a:srgbClr val="D4D4D4"/>
                </a:solidFill>
                <a:latin typeface="Consolas"/>
              </a:rPr>
              <a:t/>
            </a:r>
          </a:p>
          <a:p>
            <a:pPr>
              <a:spcAft>
                <a:spcPts val="428"/>
              </a:spcAft>
            </a:pPr>
            <a:r>
              <a:rPr sz="2000" i="1" b="0">
                <a:solidFill>
                  <a:srgbClr val="6A9955"/>
                </a:solidFill>
                <a:latin typeface="Consolas"/>
              </a:rPr>
              <a:t>-- La regla: primero la columna de IGUALDAD, despues la de RANGO u ORDEN.</a:t>
            </a:r>
          </a:p>
        </p:txBody>
      </p:sp>
      <p:sp>
        <p:nvSpPr>
          <p:cNvPr id="12" name="TextBox 11"/>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16</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170432"/>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170432"/>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384048"/>
          </a:xfrm>
          <a:prstGeom prst="rect">
            <a:avLst/>
          </a:prstGeom>
          <a:noFill/>
        </p:spPr>
        <p:txBody>
          <a:bodyPr wrap="square">
            <a:spAutoFit/>
          </a:bodyPr>
          <a:lstStyle/>
          <a:p>
            <a:r>
              <a:rPr sz="2600" b="1" i="0">
                <a:solidFill>
                  <a:srgbClr val="FFFFFF"/>
                </a:solidFill>
                <a:latin typeface="Calibri"/>
              </a:rPr>
              <a:t>Los cinco indices de hoy, con su nombre exacto</a:t>
            </a:r>
          </a:p>
        </p:txBody>
      </p:sp>
      <p:sp>
        <p:nvSpPr>
          <p:cNvPr id="5" name="TextBox 4"/>
          <p:cNvSpPr txBox="1"/>
          <p:nvPr/>
        </p:nvSpPr>
        <p:spPr>
          <a:xfrm>
            <a:off x="457200" y="566928"/>
            <a:ext cx="11277295" cy="411480"/>
          </a:xfrm>
          <a:prstGeom prst="rect">
            <a:avLst/>
          </a:prstGeom>
          <a:noFill/>
        </p:spPr>
        <p:txBody>
          <a:bodyPr wrap="square">
            <a:spAutoFit/>
          </a:bodyPr>
          <a:lstStyle/>
          <a:p>
            <a:r>
              <a:rPr sz="1400" b="0" i="0">
                <a:solidFill>
                  <a:srgbClr val="B8D8EE"/>
                </a:solidFill>
                <a:latin typeface="Calibri"/>
              </a:rPr>
              <a:t>Medir antes, crear, ANALYZE, medir despues: sin la linea base el despues no prueba nada</a:t>
            </a:r>
          </a:p>
        </p:txBody>
      </p:sp>
      <p:sp>
        <p:nvSpPr>
          <p:cNvPr id="6" name="Rounded Rectangle 5"/>
          <p:cNvSpPr/>
          <p:nvPr/>
        </p:nvSpPr>
        <p:spPr>
          <a:xfrm>
            <a:off x="5797149" y="1678969"/>
            <a:ext cx="6010497" cy="4057845"/>
          </a:xfrm>
          <a:prstGeom prst="roundRect">
            <a:avLst>
              <a:gd name="adj" fmla="val 4000"/>
            </a:avLst>
          </a:prstGeom>
          <a:solidFill>
            <a:srgbClr val="E8EE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library-catalog-drawers.jpg"/>
          <p:cNvPicPr>
            <a:picLocks noChangeAspect="1"/>
          </p:cNvPicPr>
          <p:nvPr/>
        </p:nvPicPr>
        <p:blipFill>
          <a:blip r:embed="rId2"/>
          <a:stretch>
            <a:fillRect/>
          </a:stretch>
        </p:blipFill>
        <p:spPr>
          <a:xfrm>
            <a:off x="5870301" y="1752121"/>
            <a:ext cx="5864193" cy="3911541"/>
          </a:xfrm>
          <a:prstGeom prst="rect">
            <a:avLst/>
          </a:prstGeom>
        </p:spPr>
      </p:pic>
      <p:sp>
        <p:nvSpPr>
          <p:cNvPr id="8" name="TextBox 7"/>
          <p:cNvSpPr txBox="1"/>
          <p:nvPr/>
        </p:nvSpPr>
        <p:spPr>
          <a:xfrm>
            <a:off x="5870301" y="5961888"/>
            <a:ext cx="5864193" cy="320040"/>
          </a:xfrm>
          <a:prstGeom prst="rect">
            <a:avLst/>
          </a:prstGeom>
          <a:noFill/>
        </p:spPr>
        <p:txBody>
          <a:bodyPr wrap="square">
            <a:spAutoFit/>
          </a:bodyPr>
          <a:lstStyle/>
          <a:p>
            <a:pPr algn="ctr"/>
            <a:r>
              <a:rPr sz="1100" b="0" i="1">
                <a:solidFill>
                  <a:srgbClr val="666666"/>
                </a:solidFill>
                <a:latin typeface="Calibri"/>
              </a:rPr>
              <a:t>Foto: cottonbro studio · Pexels</a:t>
            </a:r>
          </a:p>
        </p:txBody>
      </p:sp>
      <p:sp>
        <p:nvSpPr>
          <p:cNvPr id="9" name="TextBox 8"/>
          <p:cNvSpPr txBox="1"/>
          <p:nvPr/>
        </p:nvSpPr>
        <p:spPr>
          <a:xfrm>
            <a:off x="457200" y="1563624"/>
            <a:ext cx="5093061" cy="4837176"/>
          </a:xfrm>
          <a:prstGeom prst="rect">
            <a:avLst/>
          </a:prstGeom>
          <a:noFill/>
        </p:spPr>
        <p:txBody>
          <a:bodyPr wrap="square">
            <a:spAutoFit/>
          </a:bodyPr>
          <a:lstStyle/>
          <a:p>
            <a:pPr>
              <a:spcAft>
                <a:spcPts val="800"/>
              </a:spcAft>
            </a:pPr>
            <a:r>
              <a:rPr sz="2000" b="0" i="0">
                <a:solidFill>
                  <a:srgbClr val="333333"/>
                </a:solidFill>
                <a:latin typeface="Calibri"/>
              </a:rPr>
              <a:t>–   </a:t>
            </a:r>
            <a:r>
              <a:rPr sz="2000" b="1" i="0">
                <a:solidFill>
                  <a:srgbClr val="333333"/>
                </a:solidFill>
                <a:latin typeface="Calibri"/>
              </a:rPr>
              <a:t>El nombre importa.</a:t>
            </a:r>
            <a:r>
              <a:rPr sz="2000" b="0" i="0">
                <a:solidFill>
                  <a:srgbClr val="333333"/>
                </a:solidFill>
                <a:latin typeface="Calibri"/>
              </a:rPr>
              <a:t> El plan imprime «Index Scan using» seguido del nombre, asi que se lee en la salida:</a:t>
            </a:r>
          </a:p>
          <a:p>
            <a:pPr>
              <a:spcAft>
                <a:spcPts val="800"/>
              </a:spcAft>
            </a:pPr>
            <a:r>
              <a:rPr sz="2000" b="0" i="0">
                <a:solidFill>
                  <a:srgbClr val="333333"/>
                </a:solidFill>
                <a:latin typeface="Calibri"/>
              </a:rPr>
              <a:t>–   </a:t>
            </a:r>
            <a:r>
              <a:rPr sz="2000" b="1" i="0">
                <a:solidFill>
                  <a:srgbClr val="333333"/>
                </a:solidFill>
                <a:latin typeface="Calibri"/>
              </a:rPr>
              <a:t>Simple o compuesto.</a:t>
            </a:r>
            <a:r>
              <a:rPr sz="2000" b="0" i="0">
                <a:solidFill>
                  <a:srgbClr val="333333"/>
                </a:solidFill>
                <a:latin typeface="Calibri"/>
              </a:rPr>
              <a:t> Los tres primeros son de una columna;</a:t>
            </a:r>
          </a:p>
          <a:p>
            <a:pPr>
              <a:spcAft>
                <a:spcPts val="800"/>
              </a:spcAft>
            </a:pPr>
            <a:r>
              <a:rPr sz="2000" b="0" i="0">
                <a:solidFill>
                  <a:srgbClr val="333333"/>
                </a:solidFill>
                <a:latin typeface="Calibri"/>
              </a:rPr>
              <a:t>–   </a:t>
            </a:r>
            <a:r>
              <a:rPr sz="2000" b="1" i="0">
                <a:solidFill>
                  <a:srgbClr val="333333"/>
                </a:solidFill>
                <a:latin typeface="Calibri"/>
              </a:rPr>
              <a:t>La secuencia que hay que respetar.</a:t>
            </a:r>
          </a:p>
          <a:p>
            <a:pPr>
              <a:spcAft>
                <a:spcPts val="800"/>
              </a:spcAft>
            </a:pPr>
            <a:r>
              <a:rPr sz="2000" b="0" i="0">
                <a:solidFill>
                  <a:srgbClr val="333333"/>
                </a:solidFill>
                <a:latin typeface="Calibri"/>
              </a:rPr>
              <a:t>–   </a:t>
            </a:r>
            <a:r>
              <a:rPr sz="2000" b="1" i="0">
                <a:solidFill>
                  <a:srgbClr val="333333"/>
                </a:solidFill>
                <a:latin typeface="Calibri"/>
              </a:rPr>
              <a:t>La evidencia de que existen.</a:t>
            </a:r>
          </a:p>
        </p:txBody>
      </p:sp>
      <p:sp>
        <p:nvSpPr>
          <p:cNvPr id="10" name="TextBox 9"/>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17</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El indice parcial: que indexa, cuanto ahorra y cuando gana</a:t>
            </a:r>
          </a:p>
        </p:txBody>
      </p:sp>
      <p:sp>
        <p:nvSpPr>
          <p:cNvPr id="5" name="Rounded Rectangle 4"/>
          <p:cNvSpPr/>
          <p:nvPr/>
        </p:nvSpPr>
        <p:spPr>
          <a:xfrm>
            <a:off x="5803166" y="1188719"/>
            <a:ext cx="5998464" cy="4828032"/>
          </a:xfrm>
          <a:prstGeom prst="roundRect">
            <a:avLst>
              <a:gd name="adj" fmla="val 4000"/>
            </a:avLst>
          </a:prstGeom>
          <a:solidFill>
            <a:srgbClr val="E8EE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indice-parcial-paso1.png"/>
          <p:cNvPicPr>
            <a:picLocks noChangeAspect="1"/>
          </p:cNvPicPr>
          <p:nvPr/>
        </p:nvPicPr>
        <p:blipFill>
          <a:blip r:embed="rId2"/>
          <a:stretch>
            <a:fillRect/>
          </a:stretch>
        </p:blipFill>
        <p:spPr>
          <a:xfrm>
            <a:off x="5876318" y="1261872"/>
            <a:ext cx="5852160" cy="4681728"/>
          </a:xfrm>
          <a:prstGeom prst="rect">
            <a:avLst/>
          </a:prstGeom>
        </p:spPr>
      </p:pic>
      <p:pic>
        <p:nvPicPr>
          <p:cNvPr id="7" name="Picture 6" descr="indice-parcial-paso2.png"/>
          <p:cNvPicPr>
            <a:picLocks noChangeAspect="1"/>
          </p:cNvPicPr>
          <p:nvPr/>
        </p:nvPicPr>
        <p:blipFill>
          <a:blip r:embed="rId3"/>
          <a:stretch>
            <a:fillRect/>
          </a:stretch>
        </p:blipFill>
        <p:spPr>
          <a:xfrm>
            <a:off x="5876318" y="1261872"/>
            <a:ext cx="5852160" cy="4681728"/>
          </a:xfrm>
          <a:prstGeom prst="rect">
            <a:avLst/>
          </a:prstGeom>
        </p:spPr>
      </p:pic>
      <p:pic>
        <p:nvPicPr>
          <p:cNvPr id="8" name="Picture 7" descr="indice-parcial-paso3.png"/>
          <p:cNvPicPr>
            <a:picLocks noChangeAspect="1"/>
          </p:cNvPicPr>
          <p:nvPr/>
        </p:nvPicPr>
        <p:blipFill>
          <a:blip r:embed="rId4"/>
          <a:stretch>
            <a:fillRect/>
          </a:stretch>
        </p:blipFill>
        <p:spPr>
          <a:xfrm>
            <a:off x="5876318" y="1261872"/>
            <a:ext cx="5852160" cy="4681728"/>
          </a:xfrm>
          <a:prstGeom prst="rect">
            <a:avLst/>
          </a:prstGeom>
        </p:spPr>
      </p:pic>
      <p:sp>
        <p:nvSpPr>
          <p:cNvPr id="13" name="TextBox 12"/>
          <p:cNvSpPr txBox="1"/>
          <p:nvPr/>
        </p:nvSpPr>
        <p:spPr>
          <a:xfrm>
            <a:off x="5870301" y="5961888"/>
            <a:ext cx="5864193" cy="320040"/>
          </a:xfrm>
          <a:prstGeom prst="rect">
            <a:avLst/>
          </a:prstGeom>
          <a:noFill/>
        </p:spPr>
        <p:txBody>
          <a:bodyPr wrap="square">
            <a:spAutoFit/>
          </a:bodyPr>
          <a:lstStyle/>
          <a:p>
            <a:pPr algn="ctr"/>
            <a:r>
              <a:rPr sz="1100" b="0" i="1">
                <a:solidFill>
                  <a:srgbClr val="666666"/>
                </a:solidFill>
                <a:latin typeface="Calibri"/>
              </a:rPr>
              <a:t>Clic para avanzar la animación</a:t>
            </a:r>
          </a:p>
        </p:txBody>
      </p:sp>
      <p:sp>
        <p:nvSpPr>
          <p:cNvPr id="14" name="TextBox 13"/>
          <p:cNvSpPr txBox="1"/>
          <p:nvPr/>
        </p:nvSpPr>
        <p:spPr>
          <a:xfrm>
            <a:off x="457200" y="1353312"/>
            <a:ext cx="5093061" cy="5047488"/>
          </a:xfrm>
          <a:prstGeom prst="rect">
            <a:avLst/>
          </a:prstGeom>
          <a:noFill/>
        </p:spPr>
        <p:txBody>
          <a:bodyPr wrap="square">
            <a:spAutoFit/>
          </a:bodyPr>
          <a:lstStyle/>
          <a:p>
            <a:pPr>
              <a:spcAft>
                <a:spcPts val="800"/>
              </a:spcAft>
            </a:pPr>
            <a:r>
              <a:rPr sz="2000" b="0" i="0">
                <a:solidFill>
                  <a:srgbClr val="333333"/>
                </a:solidFill>
                <a:latin typeface="Calibri"/>
              </a:rPr>
              <a:t>–   Un indice parcial es el que solo contiene las filas que cumplen una condicion, y la sintaxis es WHERE estado = 'PROGRAMADA'.</a:t>
            </a:r>
          </a:p>
          <a:p>
            <a:pPr>
              <a:spcAft>
                <a:spcPts val="800"/>
              </a:spcAft>
            </a:pPr>
            <a:r>
              <a:rPr sz="2000" b="0" i="0">
                <a:solidFill>
                  <a:srgbClr val="333333"/>
                </a:solidFill>
                <a:latin typeface="Calibri"/>
              </a:rPr>
              <a:t>–   Lo primero que hay que aclarar, porque es donde se confunde todo el mundo.</a:t>
            </a:r>
          </a:p>
          <a:p>
            <a:pPr>
              <a:spcAft>
                <a:spcPts val="800"/>
              </a:spcAft>
            </a:pPr>
            <a:r>
              <a:rPr sz="2000" b="0" i="0">
                <a:solidFill>
                  <a:srgbClr val="333333"/>
                </a:solidFill>
                <a:latin typeface="Calibri"/>
              </a:rPr>
              <a:t>–   Con los datos de hoy el ahorro se puede decir con numeros exactos.</a:t>
            </a:r>
          </a:p>
          <a:p>
            <a:pPr>
              <a:spcAft>
                <a:spcPts val="800"/>
              </a:spcAft>
            </a:pPr>
            <a:r>
              <a:rPr sz="2000" b="0" i="0">
                <a:solidFill>
                  <a:srgbClr val="333333"/>
                </a:solidFill>
                <a:latin typeface="Calibri"/>
              </a:rPr>
              <a:t>–   Menos entradas es menos disco, menos memoria intermedia ocupada y menos trabajo en cada escritura de una cita que no este programada.</a:t>
            </a:r>
          </a:p>
        </p:txBody>
      </p:sp>
      <p:sp>
        <p:nvSpPr>
          <p:cNvPr id="15" name="TextBox 14"/>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18</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7"/>
                                        </p:tgtEl>
                                        <p:attrNameLst>
                                          <p:attrName>style.visibility</p:attrName>
                                        </p:attrNameLst>
                                      </p:cBhvr>
                                      <p:to>
                                        <p:strVal val="visible"/>
                                      </p:to>
                                    </p:set>
                                    <p:animEffect transition="in" filter="fade">
                                      <p:cBhvr>
                                        <p:cTn id="7" dur="450"/>
                                        <p:tgtEl>
                                          <p:spTgt spid="7"/>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8"/>
                                        </p:tgtEl>
                                        <p:attrNameLst>
                                          <p:attrName>style.visibility</p:attrName>
                                        </p:attrNameLst>
                                      </p:cBhvr>
                                      <p:to>
                                        <p:strVal val="visible"/>
                                      </p:to>
                                    </p:set>
                                    <p:animEffect transition="in" filter="fade">
                                      <p:cBhvr>
                                        <p:cTn id="12" dur="450"/>
                                        <p:tgtEl>
                                          <p:spTgt spid="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El indice parcial: el mismo beneficio, una fraccion del tamano</a:t>
            </a:r>
          </a:p>
        </p:txBody>
      </p:sp>
      <p:sp>
        <p:nvSpPr>
          <p:cNvPr id="5" name="Rounded Rectangle 4"/>
          <p:cNvSpPr/>
          <p:nvPr/>
        </p:nvSpPr>
        <p:spPr>
          <a:xfrm>
            <a:off x="5797149" y="1573813"/>
            <a:ext cx="6010497" cy="4057845"/>
          </a:xfrm>
          <a:prstGeom prst="roundRect">
            <a:avLst>
              <a:gd name="adj" fmla="val 4000"/>
            </a:avLst>
          </a:prstGeom>
          <a:solidFill>
            <a:srgbClr val="E8EE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highlighted-pages-book.jpg"/>
          <p:cNvPicPr>
            <a:picLocks noChangeAspect="1"/>
          </p:cNvPicPr>
          <p:nvPr/>
        </p:nvPicPr>
        <p:blipFill>
          <a:blip r:embed="rId2"/>
          <a:stretch>
            <a:fillRect/>
          </a:stretch>
        </p:blipFill>
        <p:spPr>
          <a:xfrm>
            <a:off x="5870301" y="1646965"/>
            <a:ext cx="5864193" cy="3911541"/>
          </a:xfrm>
          <a:prstGeom prst="rect">
            <a:avLst/>
          </a:prstGeom>
        </p:spPr>
      </p:pic>
      <p:sp>
        <p:nvSpPr>
          <p:cNvPr id="7" name="TextBox 6"/>
          <p:cNvSpPr txBox="1"/>
          <p:nvPr/>
        </p:nvSpPr>
        <p:spPr>
          <a:xfrm>
            <a:off x="5870301" y="5961888"/>
            <a:ext cx="5864193" cy="320040"/>
          </a:xfrm>
          <a:prstGeom prst="rect">
            <a:avLst/>
          </a:prstGeom>
          <a:noFill/>
        </p:spPr>
        <p:txBody>
          <a:bodyPr wrap="square">
            <a:spAutoFit/>
          </a:bodyPr>
          <a:lstStyle/>
          <a:p>
            <a:pPr algn="ctr"/>
            <a:r>
              <a:rPr sz="1100" b="0" i="1">
                <a:solidFill>
                  <a:srgbClr val="666666"/>
                </a:solidFill>
                <a:latin typeface="Calibri"/>
              </a:rPr>
              <a:t>Foto: Jesus Vidal · Pexels</a:t>
            </a:r>
          </a:p>
        </p:txBody>
      </p:sp>
      <p:sp>
        <p:nvSpPr>
          <p:cNvPr id="8" name="TextBox 7"/>
          <p:cNvSpPr txBox="1"/>
          <p:nvPr/>
        </p:nvSpPr>
        <p:spPr>
          <a:xfrm>
            <a:off x="457200" y="1353312"/>
            <a:ext cx="5093061" cy="5047488"/>
          </a:xfrm>
          <a:prstGeom prst="rect">
            <a:avLst/>
          </a:prstGeom>
          <a:noFill/>
        </p:spPr>
        <p:txBody>
          <a:bodyPr wrap="square">
            <a:spAutoFit/>
          </a:bodyPr>
          <a:lstStyle/>
          <a:p>
            <a:pPr>
              <a:spcAft>
                <a:spcPts val="800"/>
              </a:spcAft>
            </a:pPr>
            <a:r>
              <a:rPr sz="2000" b="0" i="0">
                <a:solidFill>
                  <a:srgbClr val="333333"/>
                </a:solidFill>
                <a:latin typeface="Calibri"/>
              </a:rPr>
              <a:t>–   </a:t>
            </a:r>
            <a:r>
              <a:rPr sz="2000" b="1" i="0">
                <a:solidFill>
                  <a:srgbClr val="333333"/>
                </a:solidFill>
                <a:latin typeface="Calibri"/>
              </a:rPr>
              <a:t>Que es.</a:t>
            </a:r>
            <a:r>
              <a:rPr sz="2000" b="0" i="0">
                <a:solidFill>
                  <a:srgbClr val="333333"/>
                </a:solidFill>
                <a:latin typeface="Calibri"/>
              </a:rPr>
              <a:t> Un indice que solo contiene las filas que cumplen una condicion:</a:t>
            </a:r>
          </a:p>
          <a:p>
            <a:pPr>
              <a:spcAft>
                <a:spcPts val="800"/>
              </a:spcAft>
            </a:pPr>
            <a:r>
              <a:rPr sz="2000" b="0" i="0">
                <a:solidFill>
                  <a:srgbClr val="333333"/>
                </a:solidFill>
                <a:latin typeface="Calibri"/>
              </a:rPr>
              <a:t>–   </a:t>
            </a:r>
            <a:r>
              <a:rPr sz="2000" b="1" i="0">
                <a:solidFill>
                  <a:srgbClr val="333333"/>
                </a:solidFill>
                <a:latin typeface="Calibri"/>
              </a:rPr>
              <a:t>Cuanto se ahorra, con los datos de hoy.</a:t>
            </a:r>
            <a:r>
              <a:rPr sz="2000" b="0" i="0">
                <a:solidFill>
                  <a:srgbClr val="333333"/>
                </a:solidFill>
                <a:latin typeface="Calibri"/>
              </a:rPr>
              <a:t> De las 30.010 citas sembradas, </a:t>
            </a:r>
            <a:r>
              <a:rPr sz="2000" b="1" i="0">
                <a:solidFill>
                  <a:srgbClr val="333333"/>
                </a:solidFill>
                <a:latin typeface="Calibri"/>
              </a:rPr>
              <a:t>18.187</a:t>
            </a:r>
            <a:r>
              <a:rPr sz="2000" b="0" i="0">
                <a:solidFill>
                  <a:srgbClr val="333333"/>
                </a:solidFill>
                <a:latin typeface="Calibri"/>
              </a:rPr>
              <a:t> estan «PROGRAMADA» (el 61 %):</a:t>
            </a:r>
          </a:p>
          <a:p>
            <a:pPr>
              <a:spcAft>
                <a:spcPts val="800"/>
              </a:spcAft>
            </a:pPr>
            <a:r>
              <a:rPr sz="2000" b="0" i="0">
                <a:solidFill>
                  <a:srgbClr val="333333"/>
                </a:solidFill>
                <a:latin typeface="Calibri"/>
              </a:rPr>
              <a:t>–   </a:t>
            </a:r>
            <a:r>
              <a:rPr sz="2000" b="1" i="0">
                <a:solidFill>
                  <a:srgbClr val="333333"/>
                </a:solidFill>
                <a:latin typeface="Calibri"/>
              </a:rPr>
              <a:t>La condicion para que sirva.</a:t>
            </a:r>
            <a:r>
              <a:rPr sz="2000" b="0" i="0">
                <a:solidFill>
                  <a:srgbClr val="333333"/>
                </a:solidFill>
                <a:latin typeface="Calibri"/>
              </a:rPr>
              <a:t> El planeador solo lo usa si puede demostrar que la consulta </a:t>
            </a:r>
            <a:r>
              <a:rPr sz="2000" b="1" i="0">
                <a:solidFill>
                  <a:srgbClr val="333333"/>
                </a:solidFill>
                <a:latin typeface="Calibri"/>
              </a:rPr>
              <a:t>trae la misma condicion</a:t>
            </a:r>
            <a:r>
              <a:rPr sz="2000" b="0" i="0">
                <a:solidFill>
                  <a:srgbClr val="333333"/>
                </a:solidFill>
                <a:latin typeface="Calibri"/>
              </a:rPr>
              <a:t> del indice.</a:t>
            </a:r>
          </a:p>
        </p:txBody>
      </p:sp>
      <p:sp>
        <p:nvSpPr>
          <p:cNvPr id="9" name="TextBox 8"/>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19</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Particionar: que es, y por que hoy si se implementa</a:t>
            </a:r>
          </a:p>
        </p:txBody>
      </p:sp>
      <p:sp>
        <p:nvSpPr>
          <p:cNvPr id="5" name="Rounded Rectangle 4"/>
          <p:cNvSpPr/>
          <p:nvPr/>
        </p:nvSpPr>
        <p:spPr>
          <a:xfrm>
            <a:off x="5803166" y="1188719"/>
            <a:ext cx="5998464" cy="4828032"/>
          </a:xfrm>
          <a:prstGeom prst="roundRect">
            <a:avLst>
              <a:gd name="adj" fmla="val 4000"/>
            </a:avLst>
          </a:prstGeom>
          <a:solidFill>
            <a:srgbClr val="E8EE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particionar-paso1.png"/>
          <p:cNvPicPr>
            <a:picLocks noChangeAspect="1"/>
          </p:cNvPicPr>
          <p:nvPr/>
        </p:nvPicPr>
        <p:blipFill>
          <a:blip r:embed="rId2"/>
          <a:stretch>
            <a:fillRect/>
          </a:stretch>
        </p:blipFill>
        <p:spPr>
          <a:xfrm>
            <a:off x="5876318" y="1261872"/>
            <a:ext cx="5852160" cy="4681728"/>
          </a:xfrm>
          <a:prstGeom prst="rect">
            <a:avLst/>
          </a:prstGeom>
        </p:spPr>
      </p:pic>
      <p:pic>
        <p:nvPicPr>
          <p:cNvPr id="7" name="Picture 6" descr="particionar-paso2.png"/>
          <p:cNvPicPr>
            <a:picLocks noChangeAspect="1"/>
          </p:cNvPicPr>
          <p:nvPr/>
        </p:nvPicPr>
        <p:blipFill>
          <a:blip r:embed="rId3"/>
          <a:stretch>
            <a:fillRect/>
          </a:stretch>
        </p:blipFill>
        <p:spPr>
          <a:xfrm>
            <a:off x="5876318" y="1261872"/>
            <a:ext cx="5852160" cy="4681728"/>
          </a:xfrm>
          <a:prstGeom prst="rect">
            <a:avLst/>
          </a:prstGeom>
        </p:spPr>
      </p:pic>
      <p:pic>
        <p:nvPicPr>
          <p:cNvPr id="8" name="Picture 7" descr="particionar-paso3.png"/>
          <p:cNvPicPr>
            <a:picLocks noChangeAspect="1"/>
          </p:cNvPicPr>
          <p:nvPr/>
        </p:nvPicPr>
        <p:blipFill>
          <a:blip r:embed="rId4"/>
          <a:stretch>
            <a:fillRect/>
          </a:stretch>
        </p:blipFill>
        <p:spPr>
          <a:xfrm>
            <a:off x="5876318" y="1261872"/>
            <a:ext cx="5852160" cy="4681728"/>
          </a:xfrm>
          <a:prstGeom prst="rect">
            <a:avLst/>
          </a:prstGeom>
        </p:spPr>
      </p:pic>
      <p:sp>
        <p:nvSpPr>
          <p:cNvPr id="13" name="TextBox 12"/>
          <p:cNvSpPr txBox="1"/>
          <p:nvPr/>
        </p:nvSpPr>
        <p:spPr>
          <a:xfrm>
            <a:off x="5870301" y="5961888"/>
            <a:ext cx="5864193" cy="320040"/>
          </a:xfrm>
          <a:prstGeom prst="rect">
            <a:avLst/>
          </a:prstGeom>
          <a:noFill/>
        </p:spPr>
        <p:txBody>
          <a:bodyPr wrap="square">
            <a:spAutoFit/>
          </a:bodyPr>
          <a:lstStyle/>
          <a:p>
            <a:pPr algn="ctr"/>
            <a:r>
              <a:rPr sz="1100" b="0" i="1">
                <a:solidFill>
                  <a:srgbClr val="666666"/>
                </a:solidFill>
                <a:latin typeface="Calibri"/>
              </a:rPr>
              <a:t>Clic para avanzar la animación</a:t>
            </a:r>
          </a:p>
        </p:txBody>
      </p:sp>
      <p:sp>
        <p:nvSpPr>
          <p:cNvPr id="14" name="TextBox 13"/>
          <p:cNvSpPr txBox="1"/>
          <p:nvPr/>
        </p:nvSpPr>
        <p:spPr>
          <a:xfrm>
            <a:off x="457200" y="1353312"/>
            <a:ext cx="5093061" cy="5047488"/>
          </a:xfrm>
          <a:prstGeom prst="rect">
            <a:avLst/>
          </a:prstGeom>
          <a:noFill/>
        </p:spPr>
        <p:txBody>
          <a:bodyPr wrap="square">
            <a:spAutoFit/>
          </a:bodyPr>
          <a:lstStyle/>
          <a:p>
            <a:pPr>
              <a:spcAft>
                <a:spcPts val="800"/>
              </a:spcAft>
            </a:pPr>
            <a:r>
              <a:rPr sz="2000" b="0" i="0">
                <a:solidFill>
                  <a:srgbClr val="333333"/>
                </a:solidFill>
                <a:latin typeface="Calibri"/>
              </a:rPr>
              <a:t>–   Particionar es dividir una sola tabla logica en fragmentos fisicos llamados particiones.</a:t>
            </a:r>
          </a:p>
          <a:p>
            <a:pPr>
              <a:spcAft>
                <a:spcPts val="800"/>
              </a:spcAft>
            </a:pPr>
            <a:r>
              <a:rPr sz="2000" b="0" i="0">
                <a:solidFill>
                  <a:srgbClr val="333333"/>
                </a:solidFill>
                <a:latin typeface="Calibri"/>
              </a:rPr>
              <a:t>–   La forma mas frecuente es por rango de fechas: una particion por ano, de manera que una consulta de 2026 lee unicamente la particion de 2026 y el…</a:t>
            </a:r>
          </a:p>
          <a:p>
            <a:pPr>
              <a:spcAft>
                <a:spcPts val="800"/>
              </a:spcAft>
            </a:pPr>
            <a:r>
              <a:rPr sz="2000" b="0" i="0">
                <a:solidFill>
                  <a:srgbClr val="333333"/>
                </a:solidFill>
                <a:latin typeface="Calibri"/>
              </a:rPr>
              <a:t>–   La frase que lo separa del tema anterior es corta: el indice ordena, la particion separa.</a:t>
            </a:r>
          </a:p>
          <a:p>
            <a:pPr>
              <a:spcAft>
                <a:spcPts val="800"/>
              </a:spcAft>
            </a:pPr>
            <a:r>
              <a:rPr sz="2000" b="0" i="0">
                <a:solidFill>
                  <a:srgbClr val="333333"/>
                </a:solidFill>
                <a:latin typeface="Calibri"/>
              </a:rPr>
              <a:t>–   El particionamiento se implementa completo —DDL, dos particiones.</a:t>
            </a:r>
          </a:p>
        </p:txBody>
      </p:sp>
      <p:sp>
        <p:nvSpPr>
          <p:cNvPr id="15" name="TextBox 14"/>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20</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7"/>
                                        </p:tgtEl>
                                        <p:attrNameLst>
                                          <p:attrName>style.visibility</p:attrName>
                                        </p:attrNameLst>
                                      </p:cBhvr>
                                      <p:to>
                                        <p:strVal val="visible"/>
                                      </p:to>
                                    </p:set>
                                    <p:animEffect transition="in" filter="fade">
                                      <p:cBhvr>
                                        <p:cTn id="7" dur="450"/>
                                        <p:tgtEl>
                                          <p:spTgt spid="7"/>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8"/>
                                        </p:tgtEl>
                                        <p:attrNameLst>
                                          <p:attrName>style.visibility</p:attrName>
                                        </p:attrNameLst>
                                      </p:cBhvr>
                                      <p:to>
                                        <p:strVal val="visible"/>
                                      </p:to>
                                    </p:set>
                                    <p:animEffect transition="in" filter="fade">
                                      <p:cBhvr>
                                        <p:cTn id="12" dur="450"/>
                                        <p:tgtEl>
                                          <p:spTgt spid="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Particionar el historico por rango de fecha</a:t>
            </a:r>
          </a:p>
        </p:txBody>
      </p:sp>
      <p:sp>
        <p:nvSpPr>
          <p:cNvPr id="5" name="Rounded Rectangle 4"/>
          <p:cNvSpPr/>
          <p:nvPr/>
        </p:nvSpPr>
        <p:spPr>
          <a:xfrm>
            <a:off x="457200" y="1261872"/>
            <a:ext cx="11277295" cy="5179278"/>
          </a:xfrm>
          <a:prstGeom prst="roundRect">
            <a:avLst>
              <a:gd name="adj" fmla="val 4000"/>
            </a:avLst>
          </a:prstGeom>
          <a:solidFill>
            <a:srgbClr val="1E1E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457200" y="1261872"/>
            <a:ext cx="11277295" cy="365760"/>
          </a:xfrm>
          <a:prstGeom prst="rect">
            <a:avLst/>
          </a:prstGeom>
          <a:solidFill>
            <a:srgbClr val="2D2D3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658368" y="1380743"/>
            <a:ext cx="128016" cy="128016"/>
          </a:xfrm>
          <a:prstGeom prst="ellipse">
            <a:avLst/>
          </a:prstGeom>
          <a:solidFill>
            <a:srgbClr val="FF5F5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877824" y="1380743"/>
            <a:ext cx="128016" cy="128016"/>
          </a:xfrm>
          <a:prstGeom prst="ellipse">
            <a:avLst/>
          </a:prstGeom>
          <a:solidFill>
            <a:srgbClr val="FFBD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97280" y="1380743"/>
            <a:ext cx="128016" cy="128016"/>
          </a:xfrm>
          <a:prstGeom prst="ellipse">
            <a:avLst/>
          </a:prstGeom>
          <a:solidFill>
            <a:srgbClr val="27C93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371600" y="1298448"/>
            <a:ext cx="10180015" cy="292608"/>
          </a:xfrm>
          <a:prstGeom prst="rect">
            <a:avLst/>
          </a:prstGeom>
          <a:noFill/>
        </p:spPr>
        <p:txBody>
          <a:bodyPr wrap="square" anchor="ctr"/>
          <a:lstStyle/>
          <a:p>
            <a:pPr algn="r"/>
            <a:r>
              <a:rPr sz="1100" b="1" i="0">
                <a:solidFill>
                  <a:srgbClr val="BBBBBB"/>
                </a:solidFill>
                <a:latin typeface="Calibri"/>
              </a:rPr>
              <a:t>SQL · PostgreSQL</a:t>
            </a:r>
          </a:p>
        </p:txBody>
      </p:sp>
      <p:sp>
        <p:nvSpPr>
          <p:cNvPr id="11" name="TextBox 10"/>
          <p:cNvSpPr txBox="1"/>
          <p:nvPr/>
        </p:nvSpPr>
        <p:spPr>
          <a:xfrm>
            <a:off x="685800" y="1719072"/>
            <a:ext cx="502920" cy="4584918"/>
          </a:xfrm>
          <a:prstGeom prst="rect">
            <a:avLst/>
          </a:prstGeom>
          <a:noFill/>
        </p:spPr>
        <p:txBody>
          <a:bodyPr wrap="square">
            <a:spAutoFit/>
          </a:bodyPr>
          <a:lstStyle/>
          <a:p>
            <a:pPr algn="r">
              <a:spcAft>
                <a:spcPts val="385"/>
              </a:spcAft>
            </a:pPr>
            <a:r>
              <a:rPr sz="1800" i="0" b="0">
                <a:solidFill>
                  <a:srgbClr val="858585"/>
                </a:solidFill>
                <a:latin typeface="Consolas"/>
              </a:rPr>
              <a:t>1</a:t>
            </a:r>
          </a:p>
          <a:p>
            <a:pPr algn="r">
              <a:spcAft>
                <a:spcPts val="385"/>
              </a:spcAft>
            </a:pPr>
            <a:r>
              <a:rPr sz="1800" i="0" b="0">
                <a:solidFill>
                  <a:srgbClr val="858585"/>
                </a:solidFill>
                <a:latin typeface="Consolas"/>
              </a:rPr>
              <a:t>2</a:t>
            </a:r>
          </a:p>
          <a:p>
            <a:pPr algn="r">
              <a:spcAft>
                <a:spcPts val="385"/>
              </a:spcAft>
            </a:pPr>
            <a:r>
              <a:rPr sz="1800" i="0" b="0">
                <a:solidFill>
                  <a:srgbClr val="858585"/>
                </a:solidFill>
                <a:latin typeface="Consolas"/>
              </a:rPr>
              <a:t>3</a:t>
            </a:r>
          </a:p>
          <a:p>
            <a:pPr algn="r">
              <a:spcAft>
                <a:spcPts val="385"/>
              </a:spcAft>
            </a:pPr>
            <a:r>
              <a:rPr sz="1800" i="0" b="0">
                <a:solidFill>
                  <a:srgbClr val="858585"/>
                </a:solidFill>
                <a:latin typeface="Consolas"/>
              </a:rPr>
              <a:t>4</a:t>
            </a:r>
          </a:p>
          <a:p>
            <a:pPr algn="r">
              <a:spcAft>
                <a:spcPts val="385"/>
              </a:spcAft>
            </a:pPr>
            <a:r>
              <a:rPr sz="1800" i="0" b="0">
                <a:solidFill>
                  <a:srgbClr val="858585"/>
                </a:solidFill>
                <a:latin typeface="Consolas"/>
              </a:rPr>
              <a:t>5</a:t>
            </a:r>
          </a:p>
          <a:p>
            <a:pPr algn="r">
              <a:spcAft>
                <a:spcPts val="385"/>
              </a:spcAft>
            </a:pPr>
            <a:r>
              <a:rPr sz="1800" i="0" b="0">
                <a:solidFill>
                  <a:srgbClr val="858585"/>
                </a:solidFill>
                <a:latin typeface="Consolas"/>
              </a:rPr>
              <a:t>6</a:t>
            </a:r>
          </a:p>
          <a:p>
            <a:pPr algn="r">
              <a:spcAft>
                <a:spcPts val="385"/>
              </a:spcAft>
            </a:pPr>
            <a:r>
              <a:rPr sz="1800" i="0" b="0">
                <a:solidFill>
                  <a:srgbClr val="858585"/>
                </a:solidFill>
                <a:latin typeface="Consolas"/>
              </a:rPr>
              <a:t>7</a:t>
            </a:r>
          </a:p>
          <a:p>
            <a:pPr algn="r">
              <a:spcAft>
                <a:spcPts val="385"/>
              </a:spcAft>
            </a:pPr>
            <a:r>
              <a:rPr sz="1800" i="0" b="0">
                <a:solidFill>
                  <a:srgbClr val="858585"/>
                </a:solidFill>
                <a:latin typeface="Consolas"/>
              </a:rPr>
              <a:t>8</a:t>
            </a:r>
          </a:p>
          <a:p>
            <a:pPr algn="r">
              <a:spcAft>
                <a:spcPts val="385"/>
              </a:spcAft>
            </a:pPr>
            <a:r>
              <a:rPr sz="1800" i="0" b="0">
                <a:solidFill>
                  <a:srgbClr val="858585"/>
                </a:solidFill>
                <a:latin typeface="Consolas"/>
              </a:rPr>
              <a:t>9</a:t>
            </a:r>
          </a:p>
          <a:p>
            <a:pPr algn="r">
              <a:spcAft>
                <a:spcPts val="385"/>
              </a:spcAft>
            </a:pPr>
            <a:r>
              <a:rPr sz="1800" i="0" b="0">
                <a:solidFill>
                  <a:srgbClr val="858585"/>
                </a:solidFill>
                <a:latin typeface="Consolas"/>
              </a:rPr>
              <a:t>10</a:t>
            </a:r>
          </a:p>
          <a:p>
            <a:pPr algn="r">
              <a:spcAft>
                <a:spcPts val="385"/>
              </a:spcAft>
            </a:pPr>
            <a:r>
              <a:rPr sz="1800" i="0" b="0">
                <a:solidFill>
                  <a:srgbClr val="858585"/>
                </a:solidFill>
                <a:latin typeface="Consolas"/>
              </a:rPr>
              <a:t>11</a:t>
            </a:r>
          </a:p>
          <a:p>
            <a:pPr algn="r">
              <a:spcAft>
                <a:spcPts val="385"/>
              </a:spcAft>
            </a:pPr>
            <a:r>
              <a:rPr sz="1800" i="0" b="0">
                <a:solidFill>
                  <a:srgbClr val="858585"/>
                </a:solidFill>
                <a:latin typeface="Consolas"/>
              </a:rPr>
              <a:t>12</a:t>
            </a:r>
          </a:p>
          <a:p>
            <a:pPr algn="r">
              <a:spcAft>
                <a:spcPts val="385"/>
              </a:spcAft>
            </a:pPr>
            <a:r>
              <a:rPr sz="1800" i="0" b="0">
                <a:solidFill>
                  <a:srgbClr val="858585"/>
                </a:solidFill>
                <a:latin typeface="Consolas"/>
              </a:rPr>
              <a:t>13</a:t>
            </a:r>
          </a:p>
          <a:p>
            <a:pPr algn="r">
              <a:spcAft>
                <a:spcPts val="385"/>
              </a:spcAft>
            </a:pPr>
            <a:r>
              <a:rPr sz="1800" i="0" b="0">
                <a:solidFill>
                  <a:srgbClr val="858585"/>
                </a:solidFill>
                <a:latin typeface="Consolas"/>
              </a:rPr>
              <a:t>14</a:t>
            </a:r>
          </a:p>
        </p:txBody>
      </p:sp>
      <p:sp>
        <p:nvSpPr>
          <p:cNvPr id="12" name="TextBox 11"/>
          <p:cNvSpPr txBox="1"/>
          <p:nvPr/>
        </p:nvSpPr>
        <p:spPr>
          <a:xfrm>
            <a:off x="1188720" y="1719072"/>
            <a:ext cx="10271455" cy="4584918"/>
          </a:xfrm>
          <a:prstGeom prst="rect">
            <a:avLst/>
          </a:prstGeom>
          <a:noFill/>
        </p:spPr>
        <p:txBody>
          <a:bodyPr wrap="square">
            <a:spAutoFit/>
          </a:bodyPr>
          <a:lstStyle/>
          <a:p>
            <a:pPr>
              <a:spcAft>
                <a:spcPts val="385"/>
              </a:spcAft>
            </a:pPr>
            <a:r>
              <a:rPr sz="1800" i="0" b="0">
                <a:solidFill>
                  <a:srgbClr val="569CD6"/>
                </a:solidFill>
                <a:latin typeface="Consolas"/>
              </a:rPr>
              <a:t>CREATE</a:t>
            </a:r>
            <a:r>
              <a:rPr sz="1800" i="0" b="0">
                <a:solidFill>
                  <a:srgbClr val="D4D4D4"/>
                </a:solidFill>
                <a:latin typeface="Consolas"/>
              </a:rPr>
              <a:t> </a:t>
            </a:r>
            <a:r>
              <a:rPr sz="1800" i="0" b="0">
                <a:solidFill>
                  <a:srgbClr val="569CD6"/>
                </a:solidFill>
                <a:latin typeface="Consolas"/>
              </a:rPr>
              <a:t>TABLE</a:t>
            </a:r>
            <a:r>
              <a:rPr sz="1800" i="0" b="0">
                <a:solidFill>
                  <a:srgbClr val="D4D4D4"/>
                </a:solidFill>
                <a:latin typeface="Consolas"/>
              </a:rPr>
              <a:t> </a:t>
            </a:r>
            <a:r>
              <a:rPr sz="1800" i="0" b="0">
                <a:solidFill>
                  <a:srgbClr val="DCDCAA"/>
                </a:solidFill>
                <a:latin typeface="Consolas"/>
              </a:rPr>
              <a:t>cita_hist</a:t>
            </a:r>
            <a:r>
              <a:rPr sz="1800" i="0" b="0">
                <a:solidFill>
                  <a:srgbClr val="D4D4D4"/>
                </a:solidFill>
                <a:latin typeface="Consolas"/>
              </a:rPr>
              <a:t> (</a:t>
            </a:r>
          </a:p>
          <a:p>
            <a:pPr>
              <a:spcAft>
                <a:spcPts val="385"/>
              </a:spcAft>
            </a:pPr>
            <a:r>
              <a:rPr sz="1800" i="0" b="0">
                <a:solidFill>
                  <a:srgbClr val="D4D4D4"/>
                </a:solidFill>
                <a:latin typeface="Consolas"/>
              </a:rPr>
              <a:t>  </a:t>
            </a:r>
            <a:r>
              <a:rPr sz="1800" i="0" b="0">
                <a:solidFill>
                  <a:srgbClr val="D4D4D4"/>
                </a:solidFill>
                <a:latin typeface="Consolas"/>
              </a:rPr>
              <a:t>id_cita</a:t>
            </a:r>
            <a:r>
              <a:rPr sz="1800" i="0" b="0">
                <a:solidFill>
                  <a:srgbClr val="D4D4D4"/>
                </a:solidFill>
                <a:latin typeface="Consolas"/>
              </a:rPr>
              <a:t>     </a:t>
            </a:r>
            <a:r>
              <a:rPr sz="1800" i="0" b="0">
                <a:solidFill>
                  <a:srgbClr val="4EC9B0"/>
                </a:solidFill>
                <a:latin typeface="Consolas"/>
              </a:rPr>
              <a:t>INT</a:t>
            </a:r>
            <a:r>
              <a:rPr sz="1800" i="0" b="0">
                <a:solidFill>
                  <a:srgbClr val="D4D4D4"/>
                </a:solidFill>
                <a:latin typeface="Consolas"/>
              </a:rPr>
              <a:t> </a:t>
            </a:r>
            <a:r>
              <a:rPr sz="1800" i="0" b="0">
                <a:solidFill>
                  <a:srgbClr val="569CD6"/>
                </a:solidFill>
                <a:latin typeface="Consolas"/>
              </a:rPr>
              <a:t>NOT</a:t>
            </a:r>
            <a:r>
              <a:rPr sz="1800" i="0" b="0">
                <a:solidFill>
                  <a:srgbClr val="D4D4D4"/>
                </a:solidFill>
                <a:latin typeface="Consolas"/>
              </a:rPr>
              <a:t> </a:t>
            </a:r>
            <a:r>
              <a:rPr sz="1800" i="0" b="0">
                <a:solidFill>
                  <a:srgbClr val="569CD6"/>
                </a:solidFill>
                <a:latin typeface="Consolas"/>
              </a:rPr>
              <a:t>NULL</a:t>
            </a:r>
            <a:r>
              <a:rPr sz="1800" i="0" b="0">
                <a:solidFill>
                  <a:srgbClr val="D4D4D4"/>
                </a:solidFill>
                <a:latin typeface="Consolas"/>
              </a:rPr>
              <a:t>,</a:t>
            </a:r>
          </a:p>
          <a:p>
            <a:pPr>
              <a:spcAft>
                <a:spcPts val="385"/>
              </a:spcAft>
            </a:pPr>
            <a:r>
              <a:rPr sz="1800" i="0" b="0">
                <a:solidFill>
                  <a:srgbClr val="D4D4D4"/>
                </a:solidFill>
                <a:latin typeface="Consolas"/>
              </a:rPr>
              <a:t>  </a:t>
            </a:r>
            <a:r>
              <a:rPr sz="1800" i="0" b="0">
                <a:solidFill>
                  <a:srgbClr val="D4D4D4"/>
                </a:solidFill>
                <a:latin typeface="Consolas"/>
              </a:rPr>
              <a:t>id_mascota</a:t>
            </a:r>
            <a:r>
              <a:rPr sz="1800" i="0" b="0">
                <a:solidFill>
                  <a:srgbClr val="D4D4D4"/>
                </a:solidFill>
                <a:latin typeface="Consolas"/>
              </a:rPr>
              <a:t>  </a:t>
            </a:r>
            <a:r>
              <a:rPr sz="1800" i="0" b="0">
                <a:solidFill>
                  <a:srgbClr val="4EC9B0"/>
                </a:solidFill>
                <a:latin typeface="Consolas"/>
              </a:rPr>
              <a:t>INT</a:t>
            </a:r>
            <a:r>
              <a:rPr sz="1800" i="0" b="0">
                <a:solidFill>
                  <a:srgbClr val="D4D4D4"/>
                </a:solidFill>
                <a:latin typeface="Consolas"/>
              </a:rPr>
              <a:t> </a:t>
            </a:r>
            <a:r>
              <a:rPr sz="1800" i="0" b="0">
                <a:solidFill>
                  <a:srgbClr val="569CD6"/>
                </a:solidFill>
                <a:latin typeface="Consolas"/>
              </a:rPr>
              <a:t>NOT</a:t>
            </a:r>
            <a:r>
              <a:rPr sz="1800" i="0" b="0">
                <a:solidFill>
                  <a:srgbClr val="D4D4D4"/>
                </a:solidFill>
                <a:latin typeface="Consolas"/>
              </a:rPr>
              <a:t> </a:t>
            </a:r>
            <a:r>
              <a:rPr sz="1800" i="0" b="0">
                <a:solidFill>
                  <a:srgbClr val="569CD6"/>
                </a:solidFill>
                <a:latin typeface="Consolas"/>
              </a:rPr>
              <a:t>NULL</a:t>
            </a:r>
            <a:r>
              <a:rPr sz="1800" i="0" b="0">
                <a:solidFill>
                  <a:srgbClr val="D4D4D4"/>
                </a:solidFill>
                <a:latin typeface="Consolas"/>
              </a:rPr>
              <a:t>,</a:t>
            </a:r>
          </a:p>
          <a:p>
            <a:pPr>
              <a:spcAft>
                <a:spcPts val="385"/>
              </a:spcAft>
            </a:pPr>
            <a:r>
              <a:rPr sz="1800" i="0" b="0">
                <a:solidFill>
                  <a:srgbClr val="D4D4D4"/>
                </a:solidFill>
                <a:latin typeface="Consolas"/>
              </a:rPr>
              <a:t>  </a:t>
            </a:r>
            <a:r>
              <a:rPr sz="1800" i="0" b="0">
                <a:solidFill>
                  <a:srgbClr val="D4D4D4"/>
                </a:solidFill>
                <a:latin typeface="Consolas"/>
              </a:rPr>
              <a:t>fecha_hora</a:t>
            </a:r>
            <a:r>
              <a:rPr sz="1800" i="0" b="0">
                <a:solidFill>
                  <a:srgbClr val="D4D4D4"/>
                </a:solidFill>
                <a:latin typeface="Consolas"/>
              </a:rPr>
              <a:t>  </a:t>
            </a:r>
            <a:r>
              <a:rPr sz="1800" i="0" b="0">
                <a:solidFill>
                  <a:srgbClr val="4EC9B0"/>
                </a:solidFill>
                <a:latin typeface="Consolas"/>
              </a:rPr>
              <a:t>TIMESTAMP</a:t>
            </a:r>
            <a:r>
              <a:rPr sz="1800" i="0" b="0">
                <a:solidFill>
                  <a:srgbClr val="D4D4D4"/>
                </a:solidFill>
                <a:latin typeface="Consolas"/>
              </a:rPr>
              <a:t> </a:t>
            </a:r>
            <a:r>
              <a:rPr sz="1800" i="0" b="0">
                <a:solidFill>
                  <a:srgbClr val="569CD6"/>
                </a:solidFill>
                <a:latin typeface="Consolas"/>
              </a:rPr>
              <a:t>NOT</a:t>
            </a:r>
            <a:r>
              <a:rPr sz="1800" i="0" b="0">
                <a:solidFill>
                  <a:srgbClr val="D4D4D4"/>
                </a:solidFill>
                <a:latin typeface="Consolas"/>
              </a:rPr>
              <a:t> </a:t>
            </a:r>
            <a:r>
              <a:rPr sz="1800" i="0" b="0">
                <a:solidFill>
                  <a:srgbClr val="569CD6"/>
                </a:solidFill>
                <a:latin typeface="Consolas"/>
              </a:rPr>
              <a:t>NULL</a:t>
            </a:r>
            <a:r>
              <a:rPr sz="1800" i="0" b="0">
                <a:solidFill>
                  <a:srgbClr val="D4D4D4"/>
                </a:solidFill>
                <a:latin typeface="Consolas"/>
              </a:rPr>
              <a:t>,</a:t>
            </a:r>
          </a:p>
          <a:p>
            <a:pPr>
              <a:spcAft>
                <a:spcPts val="385"/>
              </a:spcAft>
            </a:pPr>
            <a:r>
              <a:rPr sz="1800" i="0" b="0">
                <a:solidFill>
                  <a:srgbClr val="D4D4D4"/>
                </a:solidFill>
                <a:latin typeface="Consolas"/>
              </a:rPr>
              <a:t>  </a:t>
            </a:r>
            <a:r>
              <a:rPr sz="1800" i="0" b="0">
                <a:solidFill>
                  <a:srgbClr val="D4D4D4"/>
                </a:solidFill>
                <a:latin typeface="Consolas"/>
              </a:rPr>
              <a:t>estado</a:t>
            </a:r>
            <a:r>
              <a:rPr sz="1800" i="0" b="0">
                <a:solidFill>
                  <a:srgbClr val="D4D4D4"/>
                </a:solidFill>
                <a:latin typeface="Consolas"/>
              </a:rPr>
              <a:t>      </a:t>
            </a:r>
            <a:r>
              <a:rPr sz="1800" i="0" b="0">
                <a:solidFill>
                  <a:srgbClr val="4EC9B0"/>
                </a:solidFill>
                <a:latin typeface="Consolas"/>
              </a:rPr>
              <a:t>VARCHAR</a:t>
            </a:r>
            <a:r>
              <a:rPr sz="1800" i="0" b="0">
                <a:solidFill>
                  <a:srgbClr val="D4D4D4"/>
                </a:solidFill>
                <a:latin typeface="Consolas"/>
              </a:rPr>
              <a:t>(</a:t>
            </a:r>
            <a:r>
              <a:rPr sz="1800" i="0" b="0">
                <a:solidFill>
                  <a:srgbClr val="B5CEA8"/>
                </a:solidFill>
                <a:latin typeface="Consolas"/>
              </a:rPr>
              <a:t>20</a:t>
            </a:r>
            <a:r>
              <a:rPr sz="1800" i="0" b="0">
                <a:solidFill>
                  <a:srgbClr val="D4D4D4"/>
                </a:solidFill>
                <a:latin typeface="Consolas"/>
              </a:rPr>
              <a:t>) </a:t>
            </a:r>
            <a:r>
              <a:rPr sz="1800" i="0" b="0">
                <a:solidFill>
                  <a:srgbClr val="569CD6"/>
                </a:solidFill>
                <a:latin typeface="Consolas"/>
              </a:rPr>
              <a:t>NOT</a:t>
            </a:r>
            <a:r>
              <a:rPr sz="1800" i="0" b="0">
                <a:solidFill>
                  <a:srgbClr val="D4D4D4"/>
                </a:solidFill>
                <a:latin typeface="Consolas"/>
              </a:rPr>
              <a:t> </a:t>
            </a:r>
            <a:r>
              <a:rPr sz="1800" i="0" b="0">
                <a:solidFill>
                  <a:srgbClr val="569CD6"/>
                </a:solidFill>
                <a:latin typeface="Consolas"/>
              </a:rPr>
              <a:t>NULL</a:t>
            </a:r>
          </a:p>
          <a:p>
            <a:pPr>
              <a:spcAft>
                <a:spcPts val="385"/>
              </a:spcAft>
            </a:pPr>
            <a:r>
              <a:rPr sz="1800" i="0" b="0">
                <a:solidFill>
                  <a:srgbClr val="D4D4D4"/>
                </a:solidFill>
                <a:latin typeface="Consolas"/>
              </a:rPr>
              <a:t>) </a:t>
            </a:r>
            <a:r>
              <a:rPr sz="1800" i="0" b="0">
                <a:solidFill>
                  <a:srgbClr val="569CD6"/>
                </a:solidFill>
                <a:latin typeface="Consolas"/>
              </a:rPr>
              <a:t>PARTITION</a:t>
            </a:r>
            <a:r>
              <a:rPr sz="1800" i="0" b="0">
                <a:solidFill>
                  <a:srgbClr val="D4D4D4"/>
                </a:solidFill>
                <a:latin typeface="Consolas"/>
              </a:rPr>
              <a:t> </a:t>
            </a:r>
            <a:r>
              <a:rPr sz="1800" i="0" b="0">
                <a:solidFill>
                  <a:srgbClr val="569CD6"/>
                </a:solidFill>
                <a:latin typeface="Consolas"/>
              </a:rPr>
              <a:t>BY</a:t>
            </a:r>
            <a:r>
              <a:rPr sz="1800" i="0" b="0">
                <a:solidFill>
                  <a:srgbClr val="D4D4D4"/>
                </a:solidFill>
                <a:latin typeface="Consolas"/>
              </a:rPr>
              <a:t> </a:t>
            </a:r>
            <a:r>
              <a:rPr sz="1800" i="0" b="0">
                <a:solidFill>
                  <a:srgbClr val="569CD6"/>
                </a:solidFill>
                <a:latin typeface="Consolas"/>
              </a:rPr>
              <a:t>RANGE</a:t>
            </a:r>
            <a:r>
              <a:rPr sz="1800" i="0" b="0">
                <a:solidFill>
                  <a:srgbClr val="D4D4D4"/>
                </a:solidFill>
                <a:latin typeface="Consolas"/>
              </a:rPr>
              <a:t> (</a:t>
            </a:r>
            <a:r>
              <a:rPr sz="1800" i="0" b="0">
                <a:solidFill>
                  <a:srgbClr val="D4D4D4"/>
                </a:solidFill>
                <a:latin typeface="Consolas"/>
              </a:rPr>
              <a:t>fecha_hora</a:t>
            </a:r>
            <a:r>
              <a:rPr sz="1800" i="0" b="0">
                <a:solidFill>
                  <a:srgbClr val="D4D4D4"/>
                </a:solidFill>
                <a:latin typeface="Consolas"/>
              </a:rPr>
              <a:t>);</a:t>
            </a:r>
          </a:p>
          <a:p>
            <a:pPr>
              <a:spcAft>
                <a:spcPts val="385"/>
              </a:spcAft>
            </a:pPr>
            <a:r>
              <a:rPr sz="1800" i="0" b="0">
                <a:solidFill>
                  <a:srgbClr val="D4D4D4"/>
                </a:solidFill>
                <a:latin typeface="Consolas"/>
              </a:rPr>
              <a:t/>
            </a:r>
          </a:p>
          <a:p>
            <a:pPr>
              <a:spcAft>
                <a:spcPts val="385"/>
              </a:spcAft>
            </a:pPr>
            <a:r>
              <a:rPr sz="1800" i="0" b="0">
                <a:solidFill>
                  <a:srgbClr val="569CD6"/>
                </a:solidFill>
                <a:latin typeface="Consolas"/>
              </a:rPr>
              <a:t>CREATE</a:t>
            </a:r>
            <a:r>
              <a:rPr sz="1800" i="0" b="0">
                <a:solidFill>
                  <a:srgbClr val="D4D4D4"/>
                </a:solidFill>
                <a:latin typeface="Consolas"/>
              </a:rPr>
              <a:t> </a:t>
            </a:r>
            <a:r>
              <a:rPr sz="1800" i="0" b="0">
                <a:solidFill>
                  <a:srgbClr val="569CD6"/>
                </a:solidFill>
                <a:latin typeface="Consolas"/>
              </a:rPr>
              <a:t>TABLE</a:t>
            </a:r>
            <a:r>
              <a:rPr sz="1800" i="0" b="0">
                <a:solidFill>
                  <a:srgbClr val="D4D4D4"/>
                </a:solidFill>
                <a:latin typeface="Consolas"/>
              </a:rPr>
              <a:t> </a:t>
            </a:r>
            <a:r>
              <a:rPr sz="1800" i="0" b="0">
                <a:solidFill>
                  <a:srgbClr val="D4D4D4"/>
                </a:solidFill>
                <a:latin typeface="Consolas"/>
              </a:rPr>
              <a:t>cita_hist_2025</a:t>
            </a:r>
            <a:r>
              <a:rPr sz="1800" i="0" b="0">
                <a:solidFill>
                  <a:srgbClr val="D4D4D4"/>
                </a:solidFill>
                <a:latin typeface="Consolas"/>
              </a:rPr>
              <a:t> </a:t>
            </a:r>
            <a:r>
              <a:rPr sz="1800" i="0" b="0">
                <a:solidFill>
                  <a:srgbClr val="569CD6"/>
                </a:solidFill>
                <a:latin typeface="Consolas"/>
              </a:rPr>
              <a:t>PARTITION</a:t>
            </a:r>
            <a:r>
              <a:rPr sz="1800" i="0" b="0">
                <a:solidFill>
                  <a:srgbClr val="D4D4D4"/>
                </a:solidFill>
                <a:latin typeface="Consolas"/>
              </a:rPr>
              <a:t> </a:t>
            </a:r>
            <a:r>
              <a:rPr sz="1800" i="0" b="0">
                <a:solidFill>
                  <a:srgbClr val="569CD6"/>
                </a:solidFill>
                <a:latin typeface="Consolas"/>
              </a:rPr>
              <a:t>OF</a:t>
            </a:r>
            <a:r>
              <a:rPr sz="1800" i="0" b="0">
                <a:solidFill>
                  <a:srgbClr val="D4D4D4"/>
                </a:solidFill>
                <a:latin typeface="Consolas"/>
              </a:rPr>
              <a:t> </a:t>
            </a:r>
            <a:r>
              <a:rPr sz="1800" i="0" b="0">
                <a:solidFill>
                  <a:srgbClr val="D4D4D4"/>
                </a:solidFill>
                <a:latin typeface="Consolas"/>
              </a:rPr>
              <a:t>cita_hist</a:t>
            </a:r>
          </a:p>
          <a:p>
            <a:pPr>
              <a:spcAft>
                <a:spcPts val="385"/>
              </a:spcAft>
            </a:pPr>
            <a:r>
              <a:rPr sz="1800" i="0" b="0">
                <a:solidFill>
                  <a:srgbClr val="D4D4D4"/>
                </a:solidFill>
                <a:latin typeface="Consolas"/>
              </a:rPr>
              <a:t>  </a:t>
            </a:r>
            <a:r>
              <a:rPr sz="1800" i="0" b="0">
                <a:solidFill>
                  <a:srgbClr val="569CD6"/>
                </a:solidFill>
                <a:latin typeface="Consolas"/>
              </a:rPr>
              <a:t>FOR</a:t>
            </a:r>
            <a:r>
              <a:rPr sz="1800" i="0" b="0">
                <a:solidFill>
                  <a:srgbClr val="D4D4D4"/>
                </a:solidFill>
                <a:latin typeface="Consolas"/>
              </a:rPr>
              <a:t> </a:t>
            </a:r>
            <a:r>
              <a:rPr sz="1800" i="0" b="0">
                <a:solidFill>
                  <a:srgbClr val="569CD6"/>
                </a:solidFill>
                <a:latin typeface="Consolas"/>
              </a:rPr>
              <a:t>VALUES</a:t>
            </a:r>
            <a:r>
              <a:rPr sz="1800" i="0" b="0">
                <a:solidFill>
                  <a:srgbClr val="D4D4D4"/>
                </a:solidFill>
                <a:latin typeface="Consolas"/>
              </a:rPr>
              <a:t> </a:t>
            </a:r>
            <a:r>
              <a:rPr sz="1800" i="0" b="0">
                <a:solidFill>
                  <a:srgbClr val="569CD6"/>
                </a:solidFill>
                <a:latin typeface="Consolas"/>
              </a:rPr>
              <a:t>FROM</a:t>
            </a:r>
            <a:r>
              <a:rPr sz="1800" i="0" b="0">
                <a:solidFill>
                  <a:srgbClr val="D4D4D4"/>
                </a:solidFill>
                <a:latin typeface="Consolas"/>
              </a:rPr>
              <a:t> (</a:t>
            </a:r>
            <a:r>
              <a:rPr sz="1800" i="0" b="0">
                <a:solidFill>
                  <a:srgbClr val="CE9178"/>
                </a:solidFill>
                <a:latin typeface="Consolas"/>
              </a:rPr>
              <a:t>'2025-01-01'</a:t>
            </a:r>
            <a:r>
              <a:rPr sz="1800" i="0" b="0">
                <a:solidFill>
                  <a:srgbClr val="D4D4D4"/>
                </a:solidFill>
                <a:latin typeface="Consolas"/>
              </a:rPr>
              <a:t>) </a:t>
            </a:r>
            <a:r>
              <a:rPr sz="1800" i="0" b="0">
                <a:solidFill>
                  <a:srgbClr val="569CD6"/>
                </a:solidFill>
                <a:latin typeface="Consolas"/>
              </a:rPr>
              <a:t>TO</a:t>
            </a:r>
            <a:r>
              <a:rPr sz="1800" i="0" b="0">
                <a:solidFill>
                  <a:srgbClr val="D4D4D4"/>
                </a:solidFill>
                <a:latin typeface="Consolas"/>
              </a:rPr>
              <a:t> (</a:t>
            </a:r>
            <a:r>
              <a:rPr sz="1800" i="0" b="0">
                <a:solidFill>
                  <a:srgbClr val="CE9178"/>
                </a:solidFill>
                <a:latin typeface="Consolas"/>
              </a:rPr>
              <a:t>'2026-01-01'</a:t>
            </a:r>
            <a:r>
              <a:rPr sz="1800" i="0" b="0">
                <a:solidFill>
                  <a:srgbClr val="D4D4D4"/>
                </a:solidFill>
                <a:latin typeface="Consolas"/>
              </a:rPr>
              <a:t>);</a:t>
            </a:r>
          </a:p>
          <a:p>
            <a:pPr>
              <a:spcAft>
                <a:spcPts val="385"/>
              </a:spcAft>
            </a:pPr>
            <a:r>
              <a:rPr sz="1800" i="0" b="0">
                <a:solidFill>
                  <a:srgbClr val="569CD6"/>
                </a:solidFill>
                <a:latin typeface="Consolas"/>
              </a:rPr>
              <a:t>CREATE</a:t>
            </a:r>
            <a:r>
              <a:rPr sz="1800" i="0" b="0">
                <a:solidFill>
                  <a:srgbClr val="D4D4D4"/>
                </a:solidFill>
                <a:latin typeface="Consolas"/>
              </a:rPr>
              <a:t> </a:t>
            </a:r>
            <a:r>
              <a:rPr sz="1800" i="0" b="0">
                <a:solidFill>
                  <a:srgbClr val="569CD6"/>
                </a:solidFill>
                <a:latin typeface="Consolas"/>
              </a:rPr>
              <a:t>TABLE</a:t>
            </a:r>
            <a:r>
              <a:rPr sz="1800" i="0" b="0">
                <a:solidFill>
                  <a:srgbClr val="D4D4D4"/>
                </a:solidFill>
                <a:latin typeface="Consolas"/>
              </a:rPr>
              <a:t> </a:t>
            </a:r>
            <a:r>
              <a:rPr sz="1800" i="0" b="0">
                <a:solidFill>
                  <a:srgbClr val="D4D4D4"/>
                </a:solidFill>
                <a:latin typeface="Consolas"/>
              </a:rPr>
              <a:t>cita_hist_2026</a:t>
            </a:r>
            <a:r>
              <a:rPr sz="1800" i="0" b="0">
                <a:solidFill>
                  <a:srgbClr val="D4D4D4"/>
                </a:solidFill>
                <a:latin typeface="Consolas"/>
              </a:rPr>
              <a:t> </a:t>
            </a:r>
            <a:r>
              <a:rPr sz="1800" i="0" b="0">
                <a:solidFill>
                  <a:srgbClr val="569CD6"/>
                </a:solidFill>
                <a:latin typeface="Consolas"/>
              </a:rPr>
              <a:t>PARTITION</a:t>
            </a:r>
            <a:r>
              <a:rPr sz="1800" i="0" b="0">
                <a:solidFill>
                  <a:srgbClr val="D4D4D4"/>
                </a:solidFill>
                <a:latin typeface="Consolas"/>
              </a:rPr>
              <a:t> </a:t>
            </a:r>
            <a:r>
              <a:rPr sz="1800" i="0" b="0">
                <a:solidFill>
                  <a:srgbClr val="569CD6"/>
                </a:solidFill>
                <a:latin typeface="Consolas"/>
              </a:rPr>
              <a:t>OF</a:t>
            </a:r>
            <a:r>
              <a:rPr sz="1800" i="0" b="0">
                <a:solidFill>
                  <a:srgbClr val="D4D4D4"/>
                </a:solidFill>
                <a:latin typeface="Consolas"/>
              </a:rPr>
              <a:t> </a:t>
            </a:r>
            <a:r>
              <a:rPr sz="1800" i="0" b="0">
                <a:solidFill>
                  <a:srgbClr val="D4D4D4"/>
                </a:solidFill>
                <a:latin typeface="Consolas"/>
              </a:rPr>
              <a:t>cita_hist</a:t>
            </a:r>
          </a:p>
          <a:p>
            <a:pPr>
              <a:spcAft>
                <a:spcPts val="385"/>
              </a:spcAft>
            </a:pPr>
            <a:r>
              <a:rPr sz="1800" i="0" b="0">
                <a:solidFill>
                  <a:srgbClr val="D4D4D4"/>
                </a:solidFill>
                <a:latin typeface="Consolas"/>
              </a:rPr>
              <a:t>  </a:t>
            </a:r>
            <a:r>
              <a:rPr sz="1800" i="0" b="0">
                <a:solidFill>
                  <a:srgbClr val="569CD6"/>
                </a:solidFill>
                <a:latin typeface="Consolas"/>
              </a:rPr>
              <a:t>FOR</a:t>
            </a:r>
            <a:r>
              <a:rPr sz="1800" i="0" b="0">
                <a:solidFill>
                  <a:srgbClr val="D4D4D4"/>
                </a:solidFill>
                <a:latin typeface="Consolas"/>
              </a:rPr>
              <a:t> </a:t>
            </a:r>
            <a:r>
              <a:rPr sz="1800" i="0" b="0">
                <a:solidFill>
                  <a:srgbClr val="569CD6"/>
                </a:solidFill>
                <a:latin typeface="Consolas"/>
              </a:rPr>
              <a:t>VALUES</a:t>
            </a:r>
            <a:r>
              <a:rPr sz="1800" i="0" b="0">
                <a:solidFill>
                  <a:srgbClr val="D4D4D4"/>
                </a:solidFill>
                <a:latin typeface="Consolas"/>
              </a:rPr>
              <a:t> </a:t>
            </a:r>
            <a:r>
              <a:rPr sz="1800" i="0" b="0">
                <a:solidFill>
                  <a:srgbClr val="569CD6"/>
                </a:solidFill>
                <a:latin typeface="Consolas"/>
              </a:rPr>
              <a:t>FROM</a:t>
            </a:r>
            <a:r>
              <a:rPr sz="1800" i="0" b="0">
                <a:solidFill>
                  <a:srgbClr val="D4D4D4"/>
                </a:solidFill>
                <a:latin typeface="Consolas"/>
              </a:rPr>
              <a:t> (</a:t>
            </a:r>
            <a:r>
              <a:rPr sz="1800" i="0" b="0">
                <a:solidFill>
                  <a:srgbClr val="CE9178"/>
                </a:solidFill>
                <a:latin typeface="Consolas"/>
              </a:rPr>
              <a:t>'2026-01-01'</a:t>
            </a:r>
            <a:r>
              <a:rPr sz="1800" i="0" b="0">
                <a:solidFill>
                  <a:srgbClr val="D4D4D4"/>
                </a:solidFill>
                <a:latin typeface="Consolas"/>
              </a:rPr>
              <a:t>) </a:t>
            </a:r>
            <a:r>
              <a:rPr sz="1800" i="0" b="0">
                <a:solidFill>
                  <a:srgbClr val="569CD6"/>
                </a:solidFill>
                <a:latin typeface="Consolas"/>
              </a:rPr>
              <a:t>TO</a:t>
            </a:r>
            <a:r>
              <a:rPr sz="1800" i="0" b="0">
                <a:solidFill>
                  <a:srgbClr val="D4D4D4"/>
                </a:solidFill>
                <a:latin typeface="Consolas"/>
              </a:rPr>
              <a:t> (</a:t>
            </a:r>
            <a:r>
              <a:rPr sz="1800" i="0" b="0">
                <a:solidFill>
                  <a:srgbClr val="CE9178"/>
                </a:solidFill>
                <a:latin typeface="Consolas"/>
              </a:rPr>
              <a:t>'2027-01-01'</a:t>
            </a:r>
            <a:r>
              <a:rPr sz="1800" i="0" b="0">
                <a:solidFill>
                  <a:srgbClr val="D4D4D4"/>
                </a:solidFill>
                <a:latin typeface="Consolas"/>
              </a:rPr>
              <a:t>);</a:t>
            </a:r>
          </a:p>
          <a:p>
            <a:pPr>
              <a:spcAft>
                <a:spcPts val="385"/>
              </a:spcAft>
            </a:pPr>
            <a:r>
              <a:rPr sz="1800" i="0" b="0">
                <a:solidFill>
                  <a:srgbClr val="D4D4D4"/>
                </a:solidFill>
                <a:latin typeface="Consolas"/>
              </a:rPr>
              <a:t/>
            </a:r>
          </a:p>
          <a:p>
            <a:pPr>
              <a:spcAft>
                <a:spcPts val="385"/>
              </a:spcAft>
            </a:pPr>
            <a:r>
              <a:rPr sz="1800" i="1" b="0">
                <a:solidFill>
                  <a:srgbClr val="6A9955"/>
                </a:solidFill>
                <a:latin typeface="Consolas"/>
              </a:rPr>
              <a:t>-- La clave de particion TIENE que estar en la PK si hay PK: la unicidad</a:t>
            </a:r>
          </a:p>
          <a:p>
            <a:pPr>
              <a:spcAft>
                <a:spcPts val="385"/>
              </a:spcAft>
            </a:pPr>
            <a:r>
              <a:rPr sz="1800" i="1" b="0">
                <a:solidFill>
                  <a:srgbClr val="6A9955"/>
                </a:solidFill>
                <a:latin typeface="Consolas"/>
              </a:rPr>
              <a:t>-- se garantiza por particion, no entre particiones.</a:t>
            </a:r>
          </a:p>
        </p:txBody>
      </p:sp>
      <p:sp>
        <p:nvSpPr>
          <p:cNvPr id="13" name="TextBox 12"/>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21</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El DDL de la particion, con sus dos trampas</a:t>
            </a:r>
          </a:p>
        </p:txBody>
      </p:sp>
      <p:sp>
        <p:nvSpPr>
          <p:cNvPr id="5" name="Rounded Rectangle 4"/>
          <p:cNvSpPr/>
          <p:nvPr/>
        </p:nvSpPr>
        <p:spPr>
          <a:xfrm>
            <a:off x="5803166" y="1188719"/>
            <a:ext cx="5998464" cy="4828032"/>
          </a:xfrm>
          <a:prstGeom prst="roundRect">
            <a:avLst>
              <a:gd name="adj" fmla="val 4000"/>
            </a:avLst>
          </a:prstGeom>
          <a:solidFill>
            <a:srgbClr val="E8EE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ddl-particion-paso1.png"/>
          <p:cNvPicPr>
            <a:picLocks noChangeAspect="1"/>
          </p:cNvPicPr>
          <p:nvPr/>
        </p:nvPicPr>
        <p:blipFill>
          <a:blip r:embed="rId2"/>
          <a:stretch>
            <a:fillRect/>
          </a:stretch>
        </p:blipFill>
        <p:spPr>
          <a:xfrm>
            <a:off x="5876318" y="1261872"/>
            <a:ext cx="5852160" cy="4681728"/>
          </a:xfrm>
          <a:prstGeom prst="rect">
            <a:avLst/>
          </a:prstGeom>
        </p:spPr>
      </p:pic>
      <p:pic>
        <p:nvPicPr>
          <p:cNvPr id="7" name="Picture 6" descr="ddl-particion-paso2.png"/>
          <p:cNvPicPr>
            <a:picLocks noChangeAspect="1"/>
          </p:cNvPicPr>
          <p:nvPr/>
        </p:nvPicPr>
        <p:blipFill>
          <a:blip r:embed="rId3"/>
          <a:stretch>
            <a:fillRect/>
          </a:stretch>
        </p:blipFill>
        <p:spPr>
          <a:xfrm>
            <a:off x="5876318" y="1261872"/>
            <a:ext cx="5852160" cy="4681728"/>
          </a:xfrm>
          <a:prstGeom prst="rect">
            <a:avLst/>
          </a:prstGeom>
        </p:spPr>
      </p:pic>
      <p:pic>
        <p:nvPicPr>
          <p:cNvPr id="8" name="Picture 7" descr="ddl-particion-paso3.png"/>
          <p:cNvPicPr>
            <a:picLocks noChangeAspect="1"/>
          </p:cNvPicPr>
          <p:nvPr/>
        </p:nvPicPr>
        <p:blipFill>
          <a:blip r:embed="rId4"/>
          <a:stretch>
            <a:fillRect/>
          </a:stretch>
        </p:blipFill>
        <p:spPr>
          <a:xfrm>
            <a:off x="5876318" y="1261872"/>
            <a:ext cx="5852160" cy="4681728"/>
          </a:xfrm>
          <a:prstGeom prst="rect">
            <a:avLst/>
          </a:prstGeom>
        </p:spPr>
      </p:pic>
      <p:sp>
        <p:nvSpPr>
          <p:cNvPr id="13" name="TextBox 12"/>
          <p:cNvSpPr txBox="1"/>
          <p:nvPr/>
        </p:nvSpPr>
        <p:spPr>
          <a:xfrm>
            <a:off x="5870301" y="5961888"/>
            <a:ext cx="5864193" cy="320040"/>
          </a:xfrm>
          <a:prstGeom prst="rect">
            <a:avLst/>
          </a:prstGeom>
          <a:noFill/>
        </p:spPr>
        <p:txBody>
          <a:bodyPr wrap="square">
            <a:spAutoFit/>
          </a:bodyPr>
          <a:lstStyle/>
          <a:p>
            <a:pPr algn="ctr"/>
            <a:r>
              <a:rPr sz="1100" b="0" i="1">
                <a:solidFill>
                  <a:srgbClr val="666666"/>
                </a:solidFill>
                <a:latin typeface="Calibri"/>
              </a:rPr>
              <a:t>Clic para avanzar la animación</a:t>
            </a:r>
          </a:p>
        </p:txBody>
      </p:sp>
      <p:sp>
        <p:nvSpPr>
          <p:cNvPr id="14" name="TextBox 13"/>
          <p:cNvSpPr txBox="1"/>
          <p:nvPr/>
        </p:nvSpPr>
        <p:spPr>
          <a:xfrm>
            <a:off x="457200" y="1353312"/>
            <a:ext cx="5093061" cy="5047488"/>
          </a:xfrm>
          <a:prstGeom prst="rect">
            <a:avLst/>
          </a:prstGeom>
          <a:noFill/>
        </p:spPr>
        <p:txBody>
          <a:bodyPr wrap="square">
            <a:spAutoFit/>
          </a:bodyPr>
          <a:lstStyle/>
          <a:p>
            <a:pPr>
              <a:spcAft>
                <a:spcPts val="800"/>
              </a:spcAft>
            </a:pPr>
            <a:r>
              <a:rPr sz="2000" b="0" i="0">
                <a:solidFill>
                  <a:srgbClr val="333333"/>
                </a:solidFill>
                <a:latin typeface="Calibri"/>
              </a:rPr>
              <a:t>–   El DDL son tres sentencias y dos trampas.</a:t>
            </a:r>
          </a:p>
          <a:p>
            <a:pPr>
              <a:spcAft>
                <a:spcPts val="800"/>
              </a:spcAft>
            </a:pPr>
            <a:r>
              <a:rPr sz="2000" b="0" i="0">
                <a:solidFill>
                  <a:srgbClr val="333333"/>
                </a:solidFill>
                <a:latin typeface="Calibri"/>
              </a:rPr>
              <a:t>–   La primera sentencia declara la tabla particionada: PARTITION BY RANGE (fecha_hora)</a:t>
            </a:r>
          </a:p>
          <a:p>
            <a:pPr>
              <a:spcAft>
                <a:spcPts val="800"/>
              </a:spcAft>
            </a:pPr>
            <a:r>
              <a:rPr sz="2000" b="0" i="0">
                <a:solidFill>
                  <a:srgbClr val="333333"/>
                </a:solidFill>
                <a:latin typeface="Calibri"/>
              </a:rPr>
              <a:t>–   Las otras dos crean las particiones: TO (TIMESTAMP '2026-01-01'); y su gemela de 2026.</a:t>
            </a:r>
          </a:p>
          <a:p>
            <a:pPr>
              <a:spcAft>
                <a:spcPts val="800"/>
              </a:spcAft>
            </a:pPr>
            <a:r>
              <a:rPr sz="2000" b="0" i="0">
                <a:solidFill>
                  <a:srgbClr val="333333"/>
                </a:solidFill>
                <a:latin typeface="Calibri"/>
              </a:rPr>
              <a:t>–   Primera trampa, la que cuesta la pregunta: en una tabla particionada la clave primaria DEBE incluir la columna de particion.</a:t>
            </a:r>
          </a:p>
        </p:txBody>
      </p:sp>
      <p:sp>
        <p:nvSpPr>
          <p:cNvPr id="15" name="TextBox 14"/>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22</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7"/>
                                        </p:tgtEl>
                                        <p:attrNameLst>
                                          <p:attrName>style.visibility</p:attrName>
                                        </p:attrNameLst>
                                      </p:cBhvr>
                                      <p:to>
                                        <p:strVal val="visible"/>
                                      </p:to>
                                    </p:set>
                                    <p:animEffect transition="in" filter="fade">
                                      <p:cBhvr>
                                        <p:cTn id="7" dur="450"/>
                                        <p:tgtEl>
                                          <p:spTgt spid="7"/>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8"/>
                                        </p:tgtEl>
                                        <p:attrNameLst>
                                          <p:attrName>style.visibility</p:attrName>
                                        </p:attrNameLst>
                                      </p:cBhvr>
                                      <p:to>
                                        <p:strVal val="visible"/>
                                      </p:to>
                                    </p:set>
                                    <p:animEffect transition="in" filter="fade">
                                      <p:cBhvr>
                                        <p:cTn id="12" dur="450"/>
                                        <p:tgtEl>
                                          <p:spTgt spid="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170432"/>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170432"/>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384048"/>
          </a:xfrm>
          <a:prstGeom prst="rect">
            <a:avLst/>
          </a:prstGeom>
          <a:noFill/>
        </p:spPr>
        <p:txBody>
          <a:bodyPr wrap="square">
            <a:spAutoFit/>
          </a:bodyPr>
          <a:lstStyle/>
          <a:p>
            <a:r>
              <a:rPr sz="2600" b="1" i="0">
                <a:solidFill>
                  <a:srgbClr val="FFFFFF"/>
                </a:solidFill>
                <a:latin typeface="Calibri"/>
              </a:rPr>
              <a:t>Particionar hoy de verdad: rango por ano, poda y archivado</a:t>
            </a:r>
          </a:p>
        </p:txBody>
      </p:sp>
      <p:sp>
        <p:nvSpPr>
          <p:cNvPr id="5" name="TextBox 4"/>
          <p:cNvSpPr txBox="1"/>
          <p:nvPr/>
        </p:nvSpPr>
        <p:spPr>
          <a:xfrm>
            <a:off x="457200" y="566928"/>
            <a:ext cx="11277295" cy="411480"/>
          </a:xfrm>
          <a:prstGeom prst="rect">
            <a:avLst/>
          </a:prstGeom>
          <a:noFill/>
        </p:spPr>
        <p:txBody>
          <a:bodyPr wrap="square">
            <a:spAutoFit/>
          </a:bodyPr>
          <a:lstStyle/>
          <a:p>
            <a:r>
              <a:rPr sz="1400" b="0" i="0">
                <a:solidFill>
                  <a:srgbClr val="B8D8EE"/>
                </a:solidFill>
                <a:latin typeface="Calibri"/>
              </a:rPr>
              <a:t>Particionar separa los datos por rango; la poda hace que una consulta de 2026 no toque la particion de 2025</a:t>
            </a:r>
          </a:p>
        </p:txBody>
      </p:sp>
      <p:sp>
        <p:nvSpPr>
          <p:cNvPr id="6" name="Rounded Rectangle 5"/>
          <p:cNvSpPr/>
          <p:nvPr/>
        </p:nvSpPr>
        <p:spPr>
          <a:xfrm>
            <a:off x="5797149" y="1675849"/>
            <a:ext cx="6010497" cy="4064084"/>
          </a:xfrm>
          <a:prstGeom prst="roundRect">
            <a:avLst>
              <a:gd name="adj" fmla="val 4000"/>
            </a:avLst>
          </a:prstGeom>
          <a:solidFill>
            <a:srgbClr val="E8EE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filing-cabinet-drawers-years.jpg"/>
          <p:cNvPicPr>
            <a:picLocks noChangeAspect="1"/>
          </p:cNvPicPr>
          <p:nvPr/>
        </p:nvPicPr>
        <p:blipFill>
          <a:blip r:embed="rId2"/>
          <a:stretch>
            <a:fillRect/>
          </a:stretch>
        </p:blipFill>
        <p:spPr>
          <a:xfrm>
            <a:off x="5870301" y="1749001"/>
            <a:ext cx="5864193" cy="3917780"/>
          </a:xfrm>
          <a:prstGeom prst="rect">
            <a:avLst/>
          </a:prstGeom>
        </p:spPr>
      </p:pic>
      <p:sp>
        <p:nvSpPr>
          <p:cNvPr id="8" name="TextBox 7"/>
          <p:cNvSpPr txBox="1"/>
          <p:nvPr/>
        </p:nvSpPr>
        <p:spPr>
          <a:xfrm>
            <a:off x="5870301" y="5961888"/>
            <a:ext cx="5864193" cy="320040"/>
          </a:xfrm>
          <a:prstGeom prst="rect">
            <a:avLst/>
          </a:prstGeom>
          <a:noFill/>
        </p:spPr>
        <p:txBody>
          <a:bodyPr wrap="square">
            <a:spAutoFit/>
          </a:bodyPr>
          <a:lstStyle/>
          <a:p>
            <a:pPr algn="ctr"/>
            <a:r>
              <a:rPr sz="1100" b="0" i="1">
                <a:solidFill>
                  <a:srgbClr val="666666"/>
                </a:solidFill>
                <a:latin typeface="Calibri"/>
              </a:rPr>
              <a:t>Foto: Element5 Digital · Pexels</a:t>
            </a:r>
          </a:p>
        </p:txBody>
      </p:sp>
      <p:sp>
        <p:nvSpPr>
          <p:cNvPr id="9" name="TextBox 8"/>
          <p:cNvSpPr txBox="1"/>
          <p:nvPr/>
        </p:nvSpPr>
        <p:spPr>
          <a:xfrm>
            <a:off x="457200" y="1563624"/>
            <a:ext cx="5093061" cy="4837176"/>
          </a:xfrm>
          <a:prstGeom prst="rect">
            <a:avLst/>
          </a:prstGeom>
          <a:noFill/>
        </p:spPr>
        <p:txBody>
          <a:bodyPr wrap="square">
            <a:spAutoFit/>
          </a:bodyPr>
          <a:lstStyle/>
          <a:p>
            <a:pPr>
              <a:spcAft>
                <a:spcPts val="800"/>
              </a:spcAft>
            </a:pPr>
            <a:r>
              <a:rPr sz="2000" b="0" i="0">
                <a:solidFill>
                  <a:srgbClr val="333333"/>
                </a:solidFill>
                <a:latin typeface="Calibri"/>
              </a:rPr>
              <a:t>–   </a:t>
            </a:r>
            <a:r>
              <a:rPr sz="2000" b="1" i="0">
                <a:solidFill>
                  <a:srgbClr val="333333"/>
                </a:solidFill>
                <a:latin typeface="Calibri"/>
              </a:rPr>
              <a:t>El DDL, en tres sentencias.</a:t>
            </a:r>
          </a:p>
          <a:p>
            <a:pPr>
              <a:spcAft>
                <a:spcPts val="800"/>
              </a:spcAft>
            </a:pPr>
            <a:r>
              <a:rPr sz="2000" b="0" i="0">
                <a:solidFill>
                  <a:srgbClr val="333333"/>
                </a:solidFill>
                <a:latin typeface="Calibri"/>
              </a:rPr>
              <a:t>–   </a:t>
            </a:r>
            <a:r>
              <a:rPr sz="2000" b="1" i="0">
                <a:solidFill>
                  <a:srgbClr val="333333"/>
                </a:solidFill>
                <a:latin typeface="Calibri"/>
              </a:rPr>
              <a:t>La trampa que cuesta la pregunta.</a:t>
            </a:r>
            <a:r>
              <a:rPr sz="2000" b="0" i="0">
                <a:solidFill>
                  <a:srgbClr val="333333"/>
                </a:solidFill>
                <a:latin typeface="Calibri"/>
              </a:rPr>
              <a:t> En una tabla particionada la clave primaria </a:t>
            </a:r>
            <a:r>
              <a:rPr sz="2000" b="1" i="0">
                <a:solidFill>
                  <a:srgbClr val="333333"/>
                </a:solidFill>
                <a:latin typeface="Calibri"/>
              </a:rPr>
              <a:t>debe incluir la columna de particion</a:t>
            </a:r>
            <a:r>
              <a:rPr sz="2000" b="0" i="0">
                <a:solidFill>
                  <a:srgbClr val="333333"/>
                </a:solidFill>
                <a:latin typeface="Calibri"/>
              </a:rPr>
              <a:t>:</a:t>
            </a:r>
          </a:p>
          <a:p>
            <a:pPr>
              <a:spcAft>
                <a:spcPts val="800"/>
              </a:spcAft>
            </a:pPr>
            <a:r>
              <a:rPr sz="2000" b="0" i="0">
                <a:solidFill>
                  <a:srgbClr val="333333"/>
                </a:solidFill>
                <a:latin typeface="Calibri"/>
              </a:rPr>
              <a:t>–   </a:t>
            </a:r>
            <a:r>
              <a:rPr sz="2000" b="1" i="0">
                <a:solidFill>
                  <a:srgbClr val="333333"/>
                </a:solidFill>
                <a:latin typeface="Calibri"/>
              </a:rPr>
              <a:t>La prueba de que el reparto ocurrio.</a:t>
            </a:r>
          </a:p>
          <a:p>
            <a:pPr>
              <a:spcAft>
                <a:spcPts val="800"/>
              </a:spcAft>
            </a:pPr>
            <a:r>
              <a:rPr sz="2000" b="0" i="0">
                <a:solidFill>
                  <a:srgbClr val="333333"/>
                </a:solidFill>
                <a:latin typeface="Calibri"/>
              </a:rPr>
              <a:t>–   </a:t>
            </a:r>
            <a:r>
              <a:rPr sz="2000" b="1" i="0">
                <a:solidFill>
                  <a:srgbClr val="333333"/>
                </a:solidFill>
                <a:latin typeface="Calibri"/>
              </a:rPr>
              <a:t>La poda, que es lo unico que mejora hoy.</a:t>
            </a:r>
            <a:r>
              <a:rPr sz="2000" b="0" i="0">
                <a:solidFill>
                  <a:srgbClr val="333333"/>
                </a:solidFill>
                <a:latin typeface="Calibri"/>
              </a:rPr>
              <a:t> En «EXPLAIN ANALYZE» de una consulta acotada a 2026 el plan tiene que mencionar </a:t>
            </a:r>
            <a:r>
              <a:rPr sz="2000" b="1" i="0">
                <a:solidFill>
                  <a:srgbClr val="333333"/>
                </a:solidFill>
                <a:latin typeface="Calibri"/>
              </a:rPr>
              <a:t>solo «cita_hist_2026»</a:t>
            </a:r>
            <a:r>
              <a:rPr sz="2000" b="0" i="0">
                <a:solidFill>
                  <a:srgbClr val="333333"/>
                </a:solidFill>
                <a:latin typeface="Calibri"/>
              </a:rPr>
              <a:t>.</a:t>
            </a:r>
          </a:p>
        </p:txBody>
      </p:sp>
      <p:sp>
        <p:nvSpPr>
          <p:cNvPr id="10" name="TextBox 9"/>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23</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El veredicto de particionamiento</a:t>
            </a:r>
          </a:p>
        </p:txBody>
      </p:sp>
      <p:sp>
        <p:nvSpPr>
          <p:cNvPr id="5" name="Rounded Rectangle 4"/>
          <p:cNvSpPr/>
          <p:nvPr/>
        </p:nvSpPr>
        <p:spPr>
          <a:xfrm>
            <a:off x="5797149" y="1573813"/>
            <a:ext cx="6010497" cy="4057845"/>
          </a:xfrm>
          <a:prstGeom prst="roundRect">
            <a:avLst>
              <a:gd name="adj" fmla="val 4000"/>
            </a:avLst>
          </a:prstGeom>
          <a:solidFill>
            <a:srgbClr val="E8EE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judge-gavel-decision.jpg"/>
          <p:cNvPicPr>
            <a:picLocks noChangeAspect="1"/>
          </p:cNvPicPr>
          <p:nvPr/>
        </p:nvPicPr>
        <p:blipFill>
          <a:blip r:embed="rId2"/>
          <a:stretch>
            <a:fillRect/>
          </a:stretch>
        </p:blipFill>
        <p:spPr>
          <a:xfrm>
            <a:off x="5870301" y="1646965"/>
            <a:ext cx="5864193" cy="3911541"/>
          </a:xfrm>
          <a:prstGeom prst="rect">
            <a:avLst/>
          </a:prstGeom>
        </p:spPr>
      </p:pic>
      <p:sp>
        <p:nvSpPr>
          <p:cNvPr id="7" name="TextBox 6"/>
          <p:cNvSpPr txBox="1"/>
          <p:nvPr/>
        </p:nvSpPr>
        <p:spPr>
          <a:xfrm>
            <a:off x="5870301" y="5961888"/>
            <a:ext cx="5864193" cy="320040"/>
          </a:xfrm>
          <a:prstGeom prst="rect">
            <a:avLst/>
          </a:prstGeom>
          <a:noFill/>
        </p:spPr>
        <p:txBody>
          <a:bodyPr wrap="square">
            <a:spAutoFit/>
          </a:bodyPr>
          <a:lstStyle/>
          <a:p>
            <a:pPr algn="ctr"/>
            <a:r>
              <a:rPr sz="1100" b="0" i="1">
                <a:solidFill>
                  <a:srgbClr val="666666"/>
                </a:solidFill>
                <a:latin typeface="Calibri"/>
              </a:rPr>
              <a:t>Foto: KATRIN  BOLOVTSOVA · Pexels</a:t>
            </a:r>
          </a:p>
        </p:txBody>
      </p:sp>
      <p:sp>
        <p:nvSpPr>
          <p:cNvPr id="8" name="TextBox 7"/>
          <p:cNvSpPr txBox="1"/>
          <p:nvPr/>
        </p:nvSpPr>
        <p:spPr>
          <a:xfrm>
            <a:off x="457200" y="1353312"/>
            <a:ext cx="5093061" cy="5047488"/>
          </a:xfrm>
          <a:prstGeom prst="rect">
            <a:avLst/>
          </a:prstGeom>
          <a:noFill/>
        </p:spPr>
        <p:txBody>
          <a:bodyPr wrap="square">
            <a:spAutoFit/>
          </a:bodyPr>
          <a:lstStyle/>
          <a:p>
            <a:pPr>
              <a:spcAft>
                <a:spcPts val="800"/>
              </a:spcAft>
            </a:pPr>
            <a:r>
              <a:rPr sz="2000" b="0" i="0">
                <a:solidFill>
                  <a:srgbClr val="333333"/>
                </a:solidFill>
                <a:latin typeface="Calibri"/>
              </a:rPr>
              <a:t>–   Primera: el volumen que espera la clínica, con numeros propios del estudiante.</a:t>
            </a:r>
          </a:p>
          <a:p>
            <a:pPr>
              <a:spcAft>
                <a:spcPts val="800"/>
              </a:spcAft>
            </a:pPr>
            <a:r>
              <a:rPr sz="2000" b="0" i="0">
                <a:solidFill>
                  <a:srgbClr val="333333"/>
                </a:solidFill>
                <a:latin typeface="Calibri"/>
              </a:rPr>
              <a:t>–   Un dato de referencia para calibrar: 40 citas diarias durante 300 dias son 12.000 citas al ano</a:t>
            </a:r>
          </a:p>
          <a:p>
            <a:pPr>
              <a:spcAft>
                <a:spcPts val="800"/>
              </a:spcAft>
            </a:pPr>
            <a:r>
              <a:rPr sz="2000" b="0" i="0">
                <a:solidFill>
                  <a:srgbClr val="333333"/>
                </a:solidFill>
                <a:latin typeface="Calibri"/>
              </a:rPr>
              <a:t>–   Y a cinco anos son 60.000; eso esta tres ordenes de magnitud por debajo del umbral de particionamiento.</a:t>
            </a:r>
          </a:p>
          <a:p>
            <a:pPr>
              <a:spcAft>
                <a:spcPts val="800"/>
              </a:spcAft>
            </a:pPr>
            <a:r>
              <a:rPr sz="2000" b="0" i="0">
                <a:solidFill>
                  <a:srgbClr val="333333"/>
                </a:solidFill>
                <a:latin typeface="Calibri"/>
              </a:rPr>
              <a:t>–   Segunda: la ganancia de rendimiento con 5.010 filas no es apreciable.</a:t>
            </a:r>
          </a:p>
        </p:txBody>
      </p:sp>
      <p:sp>
        <p:nvSpPr>
          <p:cNvPr id="9" name="TextBox 8"/>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24</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La demo, en el orden en que se proyecta</a:t>
            </a:r>
          </a:p>
        </p:txBody>
      </p:sp>
      <p:sp>
        <p:nvSpPr>
          <p:cNvPr id="5" name="Rounded Rectangle 4"/>
          <p:cNvSpPr/>
          <p:nvPr/>
        </p:nvSpPr>
        <p:spPr>
          <a:xfrm>
            <a:off x="5797149" y="1573813"/>
            <a:ext cx="6010497" cy="4057845"/>
          </a:xfrm>
          <a:prstGeom prst="roundRect">
            <a:avLst>
              <a:gd name="adj" fmla="val 4000"/>
            </a:avLst>
          </a:prstGeom>
          <a:solidFill>
            <a:srgbClr val="E8EE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laptop-presentation-demo.jpg"/>
          <p:cNvPicPr>
            <a:picLocks noChangeAspect="1"/>
          </p:cNvPicPr>
          <p:nvPr/>
        </p:nvPicPr>
        <p:blipFill>
          <a:blip r:embed="rId2"/>
          <a:stretch>
            <a:fillRect/>
          </a:stretch>
        </p:blipFill>
        <p:spPr>
          <a:xfrm>
            <a:off x="5870301" y="1646965"/>
            <a:ext cx="5864193" cy="3911541"/>
          </a:xfrm>
          <a:prstGeom prst="rect">
            <a:avLst/>
          </a:prstGeom>
        </p:spPr>
      </p:pic>
      <p:sp>
        <p:nvSpPr>
          <p:cNvPr id="7" name="TextBox 6"/>
          <p:cNvSpPr txBox="1"/>
          <p:nvPr/>
        </p:nvSpPr>
        <p:spPr>
          <a:xfrm>
            <a:off x="5870301" y="5961888"/>
            <a:ext cx="5864193" cy="320040"/>
          </a:xfrm>
          <a:prstGeom prst="rect">
            <a:avLst/>
          </a:prstGeom>
          <a:noFill/>
        </p:spPr>
        <p:txBody>
          <a:bodyPr wrap="square">
            <a:spAutoFit/>
          </a:bodyPr>
          <a:lstStyle/>
          <a:p>
            <a:pPr algn="ctr"/>
            <a:r>
              <a:rPr sz="1100" b="0" i="1">
                <a:solidFill>
                  <a:srgbClr val="666666"/>
                </a:solidFill>
                <a:latin typeface="Calibri"/>
              </a:rPr>
              <a:t>Foto: Matheus Bertelli · Pexels</a:t>
            </a:r>
          </a:p>
        </p:txBody>
      </p:sp>
      <p:sp>
        <p:nvSpPr>
          <p:cNvPr id="8" name="TextBox 7"/>
          <p:cNvSpPr txBox="1"/>
          <p:nvPr/>
        </p:nvSpPr>
        <p:spPr>
          <a:xfrm>
            <a:off x="457200" y="1353312"/>
            <a:ext cx="5093061" cy="5047488"/>
          </a:xfrm>
          <a:prstGeom prst="rect">
            <a:avLst/>
          </a:prstGeom>
          <a:noFill/>
        </p:spPr>
        <p:txBody>
          <a:bodyPr wrap="square">
            <a:spAutoFit/>
          </a:bodyPr>
          <a:lstStyle/>
          <a:p>
            <a:pPr>
              <a:spcAft>
                <a:spcPts val="800"/>
              </a:spcAft>
            </a:pPr>
            <a:r>
              <a:rPr sz="2000" b="0" i="0">
                <a:solidFill>
                  <a:srgbClr val="333333"/>
                </a:solidFill>
                <a:latin typeface="Calibri"/>
              </a:rPr>
              <a:t>–   La demo es el script Codigo/07_indices_clinica.sql y se corre, no en otra herramienta, porque el volumen sembrado es el que hace cambiar el plan.</a:t>
            </a:r>
          </a:p>
          <a:p>
            <a:pPr>
              <a:spcAft>
                <a:spcPts val="800"/>
              </a:spcAft>
            </a:pPr>
            <a:r>
              <a:rPr sz="2000" b="0" i="0">
                <a:solidFill>
                  <a:srgbClr val="333333"/>
                </a:solidFill>
                <a:latin typeface="Calibri"/>
              </a:rPr>
              <a:t>–   Termina con una consulta de control que debe devolver 18.187 PROGRAMADA, 9.095 ATENDIDA y 2.728 CANCELADA.</a:t>
            </a:r>
          </a:p>
          <a:p>
            <a:pPr>
              <a:spcAft>
                <a:spcPts val="800"/>
              </a:spcAft>
            </a:pPr>
            <a:r>
              <a:rPr sz="2000" b="0" i="0">
                <a:solidFill>
                  <a:srgbClr val="333333"/>
                </a:solidFill>
                <a:latin typeface="Calibri"/>
              </a:rPr>
              <a:t>–   El bloque 1 es la linea base, con los dos Seq Scan.</a:t>
            </a:r>
          </a:p>
          <a:p>
            <a:pPr>
              <a:spcAft>
                <a:spcPts val="800"/>
              </a:spcAft>
            </a:pPr>
            <a:r>
              <a:rPr sz="2000" b="0" i="0">
                <a:solidFill>
                  <a:srgbClr val="333333"/>
                </a:solidFill>
                <a:latin typeface="Calibri"/>
              </a:rPr>
              <a:t>–   El bloque 3 es el experimento del orden, con su DROP INDEX al final.</a:t>
            </a:r>
          </a:p>
        </p:txBody>
      </p:sp>
      <p:sp>
        <p:nvSpPr>
          <p:cNvPr id="9" name="TextBox 8"/>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25</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Donde corre esto, y que no se puede medir aqui</a:t>
            </a:r>
          </a:p>
        </p:txBody>
      </p:sp>
      <p:sp>
        <p:nvSpPr>
          <p:cNvPr id="5" name="Rounded Rectangle 4"/>
          <p:cNvSpPr/>
          <p:nvPr/>
        </p:nvSpPr>
        <p:spPr>
          <a:xfrm>
            <a:off x="5797149" y="1573813"/>
            <a:ext cx="6010497" cy="4057845"/>
          </a:xfrm>
          <a:prstGeom prst="roundRect">
            <a:avLst>
              <a:gd name="adj" fmla="val 4000"/>
            </a:avLst>
          </a:prstGeom>
          <a:solidFill>
            <a:srgbClr val="E8EE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laptop-browser-code.jpg"/>
          <p:cNvPicPr>
            <a:picLocks noChangeAspect="1"/>
          </p:cNvPicPr>
          <p:nvPr/>
        </p:nvPicPr>
        <p:blipFill>
          <a:blip r:embed="rId2"/>
          <a:stretch>
            <a:fillRect/>
          </a:stretch>
        </p:blipFill>
        <p:spPr>
          <a:xfrm>
            <a:off x="5870301" y="1646965"/>
            <a:ext cx="5864193" cy="3911541"/>
          </a:xfrm>
          <a:prstGeom prst="rect">
            <a:avLst/>
          </a:prstGeom>
        </p:spPr>
      </p:pic>
      <p:sp>
        <p:nvSpPr>
          <p:cNvPr id="7" name="TextBox 6"/>
          <p:cNvSpPr txBox="1"/>
          <p:nvPr/>
        </p:nvSpPr>
        <p:spPr>
          <a:xfrm>
            <a:off x="5870301" y="5961888"/>
            <a:ext cx="5864193" cy="320040"/>
          </a:xfrm>
          <a:prstGeom prst="rect">
            <a:avLst/>
          </a:prstGeom>
          <a:noFill/>
        </p:spPr>
        <p:txBody>
          <a:bodyPr wrap="square">
            <a:spAutoFit/>
          </a:bodyPr>
          <a:lstStyle/>
          <a:p>
            <a:pPr algn="ctr"/>
            <a:r>
              <a:rPr sz="1100" b="0" i="1">
                <a:solidFill>
                  <a:srgbClr val="666666"/>
                </a:solidFill>
                <a:latin typeface="Calibri"/>
              </a:rPr>
              <a:t>Foto: Markus Spiske · Pexels</a:t>
            </a:r>
          </a:p>
        </p:txBody>
      </p:sp>
      <p:sp>
        <p:nvSpPr>
          <p:cNvPr id="8" name="TextBox 7"/>
          <p:cNvSpPr txBox="1"/>
          <p:nvPr/>
        </p:nvSpPr>
        <p:spPr>
          <a:xfrm>
            <a:off x="457200" y="1353312"/>
            <a:ext cx="5093061" cy="5047488"/>
          </a:xfrm>
          <a:prstGeom prst="rect">
            <a:avLst/>
          </a:prstGeom>
          <a:noFill/>
        </p:spPr>
        <p:txBody>
          <a:bodyPr wrap="square">
            <a:spAutoFit/>
          </a:bodyPr>
          <a:lstStyle/>
          <a:p>
            <a:pPr>
              <a:spcAft>
                <a:spcPts val="800"/>
              </a:spcAft>
            </a:pPr>
            <a:r>
              <a:rPr sz="2000" b="0" i="0">
                <a:solidFill>
                  <a:srgbClr val="333333"/>
                </a:solidFill>
                <a:latin typeface="Calibri"/>
              </a:rPr>
              <a:t>–   En particular DB Fiddle queda fuera, aunque tambien tenga PostgreSQL, por un motivo concreto: la base sembrada con las 30.010 citas no existe alli.</a:t>
            </a:r>
          </a:p>
          <a:p>
            <a:pPr>
              <a:spcAft>
                <a:spcPts val="800"/>
              </a:spcAft>
            </a:pPr>
            <a:r>
              <a:rPr sz="2000" b="0" i="0">
                <a:solidFill>
                  <a:srgbClr val="333333"/>
                </a:solidFill>
                <a:latin typeface="Calibri"/>
              </a:rPr>
              <a:t>–   Lo medible con confianza: el tipo de nodo, las filas estimadas contra reales y el numero de particiones leidas.</a:t>
            </a:r>
          </a:p>
          <a:p>
            <a:pPr>
              <a:spcAft>
                <a:spcPts val="800"/>
              </a:spcAft>
            </a:pPr>
            <a:r>
              <a:rPr sz="2000" b="0" i="0">
                <a:solidFill>
                  <a:srgbClr val="333333"/>
                </a:solidFill>
                <a:latin typeface="Calibri"/>
              </a:rPr>
              <a:t>–   Los milisegundos no se comparan entre maquinas: cambian incluso entre 2 corridas seguidas en el mismo equipo.</a:t>
            </a:r>
          </a:p>
        </p:txBody>
      </p:sp>
      <p:sp>
        <p:nvSpPr>
          <p:cNvPr id="9" name="TextBox 8"/>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26</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Demo del dia</a:t>
            </a:r>
          </a:p>
        </p:txBody>
      </p:sp>
      <p:sp>
        <p:nvSpPr>
          <p:cNvPr id="5" name="Rounded Rectangle 4"/>
          <p:cNvSpPr/>
          <p:nvPr/>
        </p:nvSpPr>
        <p:spPr>
          <a:xfrm>
            <a:off x="5797149" y="1573813"/>
            <a:ext cx="6010497" cy="4057845"/>
          </a:xfrm>
          <a:prstGeom prst="roundRect">
            <a:avLst>
              <a:gd name="adj" fmla="val 4000"/>
            </a:avLst>
          </a:prstGeom>
          <a:solidFill>
            <a:srgbClr val="E8EE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laptop-code-live-demo.jpg"/>
          <p:cNvPicPr>
            <a:picLocks noChangeAspect="1"/>
          </p:cNvPicPr>
          <p:nvPr/>
        </p:nvPicPr>
        <p:blipFill>
          <a:blip r:embed="rId2"/>
          <a:stretch>
            <a:fillRect/>
          </a:stretch>
        </p:blipFill>
        <p:spPr>
          <a:xfrm>
            <a:off x="5870301" y="1646965"/>
            <a:ext cx="5864193" cy="3911541"/>
          </a:xfrm>
          <a:prstGeom prst="rect">
            <a:avLst/>
          </a:prstGeom>
        </p:spPr>
      </p:pic>
      <p:sp>
        <p:nvSpPr>
          <p:cNvPr id="7" name="TextBox 6"/>
          <p:cNvSpPr txBox="1"/>
          <p:nvPr/>
        </p:nvSpPr>
        <p:spPr>
          <a:xfrm>
            <a:off x="5870301" y="5961888"/>
            <a:ext cx="5864193" cy="320040"/>
          </a:xfrm>
          <a:prstGeom prst="rect">
            <a:avLst/>
          </a:prstGeom>
          <a:noFill/>
        </p:spPr>
        <p:txBody>
          <a:bodyPr wrap="square">
            <a:spAutoFit/>
          </a:bodyPr>
          <a:lstStyle/>
          <a:p>
            <a:pPr algn="ctr"/>
            <a:r>
              <a:rPr sz="1100" b="0" i="1">
                <a:solidFill>
                  <a:srgbClr val="666666"/>
                </a:solidFill>
                <a:latin typeface="Calibri"/>
              </a:rPr>
              <a:t>Foto: olia danilevich · Pexels</a:t>
            </a:r>
          </a:p>
        </p:txBody>
      </p:sp>
      <p:sp>
        <p:nvSpPr>
          <p:cNvPr id="8" name="TextBox 7"/>
          <p:cNvSpPr txBox="1"/>
          <p:nvPr/>
        </p:nvSpPr>
        <p:spPr>
          <a:xfrm>
            <a:off x="457200" y="1353312"/>
            <a:ext cx="5093061" cy="5047488"/>
          </a:xfrm>
          <a:prstGeom prst="rect">
            <a:avLst/>
          </a:prstGeom>
          <a:noFill/>
        </p:spPr>
        <p:txBody>
          <a:bodyPr wrap="square">
            <a:spAutoFit/>
          </a:bodyPr>
          <a:lstStyle/>
          <a:p>
            <a:pPr>
              <a:spcAft>
                <a:spcPts val="800"/>
              </a:spcAft>
            </a:pPr>
            <a:r>
              <a:rPr sz="2000" b="0" i="0">
                <a:solidFill>
                  <a:srgbClr val="333333"/>
                </a:solidFill>
                <a:latin typeface="Calibri"/>
              </a:rPr>
              <a:t>–   </a:t>
            </a:r>
            <a:r>
              <a:rPr sz="2000" b="1" i="0">
                <a:solidFill>
                  <a:srgbClr val="333333"/>
                </a:solidFill>
                <a:latin typeface="Calibri"/>
              </a:rPr>
              <a:t>Herramienta:</a:t>
            </a:r>
            <a:r>
              <a:rPr sz="2000" b="0" i="0">
                <a:solidFill>
                  <a:srgbClr val="333333"/>
                </a:solidFill>
                <a:latin typeface="Calibri"/>
              </a:rPr>
              <a:t> PostgreSQL/PGlite</a:t>
            </a:r>
          </a:p>
          <a:p>
            <a:pPr>
              <a:spcAft>
                <a:spcPts val="800"/>
              </a:spcAft>
            </a:pPr>
            <a:r>
              <a:rPr sz="2000" b="0" i="0">
                <a:solidFill>
                  <a:srgbClr val="333333"/>
                </a:solidFill>
                <a:latin typeface="Calibri"/>
              </a:rPr>
              <a:t>–   </a:t>
            </a:r>
            <a:r>
              <a:rPr sz="2000" b="1" i="0">
                <a:solidFill>
                  <a:srgbClr val="333333"/>
                </a:solidFill>
                <a:latin typeface="Calibri"/>
              </a:rPr>
              <a:t>Demo:</a:t>
            </a:r>
            <a:r>
              <a:rPr sz="2000" b="0" i="0">
                <a:solidFill>
                  <a:srgbClr val="333333"/>
                </a:solidFill>
                <a:latin typeface="Calibri"/>
              </a:rPr>
              <a:t> EXPLAIN ANALYZE con Seq Scan, CREATE INDEX idx_cita_fecha_hora, ANALYZE, y el mismo EXPLAIN mostrando Index Scan.</a:t>
            </a:r>
          </a:p>
          <a:p>
            <a:pPr>
              <a:spcAft>
                <a:spcPts val="800"/>
              </a:spcAft>
            </a:pPr>
            <a:r>
              <a:rPr sz="2000" b="0" i="0">
                <a:solidFill>
                  <a:srgbClr val="333333"/>
                </a:solidFill>
                <a:latin typeface="Calibri"/>
              </a:rPr>
              <a:t>–   Sigan el mismo dominio de la clínica (no inventen otro caso).</a:t>
            </a:r>
          </a:p>
          <a:p>
            <a:pPr>
              <a:spcAft>
                <a:spcPts val="800"/>
              </a:spcAft>
            </a:pPr>
            <a:r>
              <a:rPr sz="2000" b="0" i="0">
                <a:solidFill>
                  <a:srgbClr val="333333"/>
                </a:solidFill>
                <a:latin typeface="Calibri"/>
              </a:rPr>
              <a:t>–   </a:t>
            </a:r>
            <a:r>
              <a:rPr sz="2000" b="1" i="0">
                <a:solidFill>
                  <a:srgbClr val="333333"/>
                </a:solidFill>
                <a:latin typeface="Calibri"/>
              </a:rPr>
              <a:t>Qué observar:</a:t>
            </a:r>
          </a:p>
        </p:txBody>
      </p:sp>
      <p:sp>
        <p:nvSpPr>
          <p:cNvPr id="9" name="TextBox 8"/>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27</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64592"/>
          </a:xfrm>
          <a:prstGeom prst="rect">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logo_uniajc_color.png"/>
          <p:cNvPicPr>
            <a:picLocks noChangeAspect="1"/>
          </p:cNvPicPr>
          <p:nvPr/>
        </p:nvPicPr>
        <p:blipFill>
          <a:blip r:embed="rId2"/>
          <a:stretch>
            <a:fillRect/>
          </a:stretch>
        </p:blipFill>
        <p:spPr>
          <a:xfrm>
            <a:off x="10271455" y="5998464"/>
            <a:ext cx="1463040" cy="643233"/>
          </a:xfrm>
          <a:prstGeom prst="rect">
            <a:avLst/>
          </a:prstGeom>
        </p:spPr>
      </p:pic>
      <p:sp>
        <p:nvSpPr>
          <p:cNvPr id="4" name="TextBox 3"/>
          <p:cNvSpPr txBox="1"/>
          <p:nvPr/>
        </p:nvSpPr>
        <p:spPr>
          <a:xfrm>
            <a:off x="457200" y="1737360"/>
            <a:ext cx="11277295" cy="1097280"/>
          </a:xfrm>
          <a:prstGeom prst="rect">
            <a:avLst/>
          </a:prstGeom>
          <a:noFill/>
        </p:spPr>
        <p:txBody>
          <a:bodyPr wrap="square" anchor="ctr"/>
          <a:lstStyle/>
          <a:p>
            <a:pPr algn="ctr"/>
            <a:r>
              <a:rPr sz="3400" b="1" i="0">
                <a:solidFill>
                  <a:srgbClr val="095292"/>
                </a:solidFill>
                <a:latin typeface="Calibri"/>
              </a:rPr>
              <a:t>Clase 7 · Indices y particionamiento · la clínica</a:t>
            </a:r>
          </a:p>
        </p:txBody>
      </p:sp>
      <p:sp>
        <p:nvSpPr>
          <p:cNvPr id="5" name="TextBox 4"/>
          <p:cNvSpPr txBox="1"/>
          <p:nvPr/>
        </p:nvSpPr>
        <p:spPr>
          <a:xfrm>
            <a:off x="457200" y="3017520"/>
            <a:ext cx="11277295" cy="1645920"/>
          </a:xfrm>
          <a:prstGeom prst="rect">
            <a:avLst/>
          </a:prstGeom>
          <a:noFill/>
        </p:spPr>
        <p:txBody>
          <a:bodyPr wrap="square">
            <a:spAutoFit/>
          </a:bodyPr>
          <a:lstStyle/>
          <a:p>
            <a:pPr algn="ctr">
              <a:spcAft>
                <a:spcPts val="600"/>
              </a:spcAft>
            </a:pPr>
            <a:r>
              <a:rPr sz="1600" b="0" i="0">
                <a:solidFill>
                  <a:srgbClr val="333333"/>
                </a:solidFill>
                <a:latin typeface="Calibri"/>
              </a:rPr>
              <a:t>De donde viene la clase</a:t>
            </a:r>
          </a:p>
          <a:p>
            <a:pPr algn="ctr">
              <a:spcAft>
                <a:spcPts val="600"/>
              </a:spcAft>
            </a:pPr>
            <a:r>
              <a:rPr sz="1600" b="0" i="0">
                <a:solidFill>
                  <a:srgbClr val="333333"/>
                </a:solidFill>
                <a:latin typeface="Calibri"/>
              </a:rPr>
              <a:t>El B-Tree por dentro, en cinco minutos</a:t>
            </a:r>
          </a:p>
          <a:p>
            <a:pPr algn="ctr">
              <a:spcAft>
                <a:spcPts val="600"/>
              </a:spcAft>
            </a:pPr>
            <a:r>
              <a:rPr sz="1600" b="0" i="0">
                <a:solidFill>
                  <a:srgbClr val="333333"/>
                </a:solidFill>
                <a:latin typeface="Calibri"/>
              </a:rPr>
              <a:t>El precio se paga en cada escritura, y se cuantifica</a:t>
            </a:r>
          </a:p>
        </p:txBody>
      </p:sp>
      <p:sp>
        <p:nvSpPr>
          <p:cNvPr id="6" name="TextBox 5"/>
          <p:cNvSpPr txBox="1"/>
          <p:nvPr/>
        </p:nvSpPr>
        <p:spPr>
          <a:xfrm>
            <a:off x="457200" y="4754880"/>
            <a:ext cx="11277295" cy="640080"/>
          </a:xfrm>
          <a:prstGeom prst="rect">
            <a:avLst/>
          </a:prstGeom>
          <a:noFill/>
        </p:spPr>
        <p:txBody>
          <a:bodyPr wrap="square">
            <a:spAutoFit/>
          </a:bodyPr>
          <a:lstStyle/>
          <a:p>
            <a:pPr algn="ctr"/>
            <a:r>
              <a:rPr sz="2000" b="1" i="0">
                <a:solidFill>
                  <a:srgbClr val="269CCB"/>
                </a:solidFill>
                <a:latin typeface="Calibri"/>
              </a:rPr>
              <a:t>Todo lo visto queda proyectado para repasar</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