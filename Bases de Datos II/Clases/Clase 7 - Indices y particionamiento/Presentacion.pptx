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Indices y particionamiento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Diseno fisico al servicio del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3 indices justificados (uno parcial) + historico particionado por ano</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Script CREATE INDEX + cita_hist particionada + tabla justificacion consulta-&gt;indice</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6 dejo al grupo mirando planes que decian Seq Scan donde se esperaba algo mejor; hoy se construye la estructura que cambia esa linea.</a:t>
            </a:r>
          </a:p>
          <a:p>
            <a:pPr>
              <a:spcAft>
                <a:spcPts val="800"/>
              </a:spcAft>
            </a:pPr>
            <a:r>
              <a:rPr sz="2000" b="0" i="0">
                <a:solidFill>
                  <a:srgbClr val="333333"/>
                </a:solidFill>
                <a:latin typeface="Calibri"/>
              </a:rPr>
              <a:t>–   Un indice es una estructura de datos auxiliar, redundante y opcional, que el motor crea a partir de una o mas columnas de una tabla, mantiene ordenada por esas columnas y sincroniza automaticamente con cada cambio de los datos.</a:t>
            </a:r>
          </a:p>
          <a:p>
            <a:pPr>
              <a:spcAft>
                <a:spcPts val="800"/>
              </a:spcAft>
            </a:pPr>
            <a:r>
              <a:rPr sz="2000" b="0" i="0">
                <a:solidFill>
                  <a:srgbClr val="333333"/>
                </a:solidFill>
                <a:latin typeface="Calibri"/>
              </a:rPr>
              <a:t>–   Cada entrada guarda dos cosas: el valor de la clave y un puntero fisico a la fila completa, que en PostgreSQL se llama ctid y en Oracle ROWID.</a:t>
            </a:r>
          </a:p>
          <a:p>
            <a:pPr>
              <a:spcAft>
                <a:spcPts val="800"/>
              </a:spcAft>
            </a:pPr>
            <a:r>
              <a:rPr sz="2000" b="0" i="0">
                <a:solidFill>
                  <a:srgbClr val="333333"/>
                </a:solidFill>
                <a:latin typeface="Calibri"/>
              </a:rPr>
              <a:t>–   Redundante: no agrega informacion nueva, duplica columnas que ya estan en la tabla, y por eso se puede borrar y volver a crear sin perder un dato.</a:t>
            </a:r>
          </a:p>
          <a:p>
            <a:pPr>
              <a:spcAft>
                <a:spcPts val="800"/>
              </a:spcAft>
            </a:pPr>
            <a:r>
              <a:rPr sz="2000" b="0" i="0">
                <a:solidFill>
                  <a:srgbClr val="333333"/>
                </a:solidFill>
                <a:latin typeface="Calibri"/>
              </a:rPr>
              <a:t>–   Opcional: ninguna consulta deja de funcionar si el indice no existe, solo tarda mas.</a:t>
            </a:r>
          </a:p>
          <a:p>
            <a:pPr>
              <a:spcAft>
                <a:spcPts val="800"/>
              </a:spcAft>
            </a:pPr>
            <a:r>
              <a:rPr sz="2000" b="0" i="0">
                <a:solidFill>
                  <a:srgbClr val="333333"/>
                </a:solidFill>
                <a:latin typeface="Calibri"/>
              </a:rPr>
              <a:t>–   Automatico: nadie escribe codigo para mantenerlo, el motor lo actualiza dentro de la misma operacion del INSERT, del UPDATE o del DELETE, y de ahi sale el costo del que habla la segunda mitad de la clase.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base de hoy es la misma de la clase anterior: 30.010 citas del 5 de enero al 23 de julio de 2026, 5.008 mascotas, 2.006 duenos y 16 veterinarios, con estadisticas frescas y sin ningun indice salvo los de las claves primarias.</a:t>
            </a:r>
          </a:p>
          <a:p>
            <a:pPr>
              <a:spcAft>
                <a:spcPts val="800"/>
              </a:spcAft>
            </a:pPr>
            <a:r>
              <a:rPr sz="2000" b="0" i="0">
                <a:solidFill>
                  <a:srgbClr val="333333"/>
                </a:solidFill>
                <a:latin typeface="Calibri"/>
              </a:rPr>
              <a:t>–   Sobre esa tabla, un indice de una columna sobre cita(fecha_hora) guarda 30.010 entradas de unos 20 a 25 bytes y ocupa del orden de 700 KB frente a los 2 MB de la tabla</a:t>
            </a:r>
          </a:p>
          <a:p>
            <a:pPr>
              <a:spcAft>
                <a:spcPts val="800"/>
              </a:spcAft>
            </a:pPr>
            <a:r>
              <a:rPr sz="2000" b="0" i="0">
                <a:solidFill>
                  <a:srgbClr val="333333"/>
                </a:solidFill>
                <a:latin typeface="Calibri"/>
              </a:rPr>
              <a:t>–   Como orden de magnitud, cada indice de una columna cuesta entre el 10 % y el 30 % del tamano de la tabla, y esa cifra es estimacion de oficio, no constante del motor.</a:t>
            </a:r>
          </a:p>
          <a:p>
            <a:pPr>
              <a:spcAft>
                <a:spcPts val="800"/>
              </a:spcAft>
            </a:pPr>
            <a:r>
              <a:rPr sz="2000" b="0" i="0">
                <a:solidFill>
                  <a:srgbClr val="333333"/>
                </a:solidFill>
                <a:latin typeface="Calibri"/>
              </a:rPr>
              <a:t>–   El numero real se lee con; y es el que hay que reportar, no el de esta linea.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pg_size_pretty(pg_relation_size('idx_cita_fecha_hora'))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tipo de indice por omision en PostgreSQL, Oracle, MySQL y SQL Server es el B-Tree, arbol balanceado, y entenderlo por dentro toma cinco minutos bien invertidos.</a:t>
            </a:r>
          </a:p>
          <a:p>
            <a:pPr>
              <a:spcAft>
                <a:spcPts val="800"/>
              </a:spcAft>
            </a:pPr>
            <a:r>
              <a:rPr sz="2000" b="0" i="0">
                <a:solidFill>
                  <a:srgbClr val="333333"/>
                </a:solidFill>
                <a:latin typeface="Calibri"/>
              </a:rPr>
              <a:t>–   Tiene tres clases de nodos: una raiz, cero o mas niveles intermedios o de rama, y un nivel de hojas donde estan todas las claves con sus punteros.</a:t>
            </a:r>
          </a:p>
          <a:p>
            <a:pPr>
              <a:spcAft>
                <a:spcPts val="800"/>
              </a:spcAft>
            </a:pPr>
            <a:r>
              <a:rPr sz="2000" b="0" i="0">
                <a:solidFill>
                  <a:srgbClr val="333333"/>
                </a:solidFill>
                <a:latin typeface="Calibri"/>
              </a:rPr>
              <a:t>–   Cada nodo ocupa una pagina, tipicamente de 8 KB, y si cada entrada pesa unos 20 bytes, en una pagina caben del orden de 400 claves; ese numero se llama grado de ramificacion o fan-out.</a:t>
            </a:r>
          </a:p>
          <a:p>
            <a:pPr>
              <a:spcAft>
                <a:spcPts val="800"/>
              </a:spcAft>
            </a:pPr>
            <a:r>
              <a:rPr sz="2000" b="0" i="0">
                <a:solidFill>
                  <a:srgbClr val="333333"/>
                </a:solidFill>
                <a:latin typeface="Calibri"/>
              </a:rPr>
              <a:t>–   Con 400 hijos por nodo, un arbol de un nivel cubre 400 filas, de dos niveles 160.000, de tres niveles 64 millones y de cuatro niveles mas de 25 mil millones.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crecimiento es logaritmico: duplicar la tabla no duplica el tiempo de busqueda, apenas lo mueve.</a:t>
            </a:r>
          </a:p>
          <a:p>
            <a:pPr>
              <a:spcAft>
                <a:spcPts val="800"/>
              </a:spcAft>
            </a:pPr>
            <a:r>
              <a:rPr sz="2000" b="0" i="0">
                <a:solidFill>
                  <a:srgbClr val="333333"/>
                </a:solidFill>
                <a:latin typeface="Calibri"/>
              </a:rPr>
              <a:t>–   El indice de cita de hoy, con 30.010 entradas, tiene apenas dos niveles: unas 75 paginas de hojas y una raiz que apunta a todas.</a:t>
            </a:r>
          </a:p>
          <a:p>
            <a:pPr>
              <a:spcAft>
                <a:spcPts val="800"/>
              </a:spcAft>
            </a:pPr>
            <a:r>
              <a:rPr sz="2000" b="0" i="0">
                <a:solidFill>
                  <a:srgbClr val="333333"/>
                </a:solidFill>
                <a:latin typeface="Calibri"/>
              </a:rPr>
              <a:t>–   Un detalle mas explica la mitad de los usos reales: las hojas estan enlazadas entre si formando una lista, de modo que al llegar a la primera clave que cumple la condicion se puede seguir avanzando en orden</a:t>
            </a:r>
          </a:p>
          <a:p>
            <a:pPr>
              <a:spcAft>
                <a:spcPts val="800"/>
              </a:spcAft>
            </a:pPr>
            <a:r>
              <a:rPr sz="2000" b="0" i="0">
                <a:solidFill>
                  <a:srgbClr val="333333"/>
                </a:solidFill>
                <a:latin typeface="Calibri"/>
              </a:rPr>
              <a:t>–   Por eso un B-Tree sirve para BETWEEN, para mayor que, para menor que y para devolver filas ya ordenadas sin ejecutar un ordenamiento aparte, no solo para igualdades.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precio de indexar se paga en cada escritura y hay que cuantificarlo, porque es la mitad del veredicto que la pregunta 5 pide por escrito.</a:t>
            </a:r>
          </a:p>
          <a:p>
            <a:pPr>
              <a:spcAft>
                <a:spcPts val="800"/>
              </a:spcAft>
            </a:pPr>
            <a:r>
              <a:rPr sz="2000" b="0" i="0">
                <a:solidFill>
                  <a:srgbClr val="333333"/>
                </a:solidFill>
                <a:latin typeface="Calibri"/>
              </a:rPr>
              <a:t>–   Un INSERT en cita con cuatro indices no es una operacion, son cinco: la fila en la tabla mas una insercion ordenada en cada arbol, cada una bajando dos o tres niveles y a veces partiendo en dos una pagina llena, lo que ademas fragmenta el indice.</a:t>
            </a:r>
          </a:p>
          <a:p>
            <a:pPr>
              <a:spcAft>
                <a:spcPts val="800"/>
              </a:spcAft>
            </a:pPr>
            <a:r>
              <a:rPr sz="2000" b="0" i="0">
                <a:solidFill>
                  <a:srgbClr val="333333"/>
                </a:solidFill>
                <a:latin typeface="Calibri"/>
              </a:rPr>
              <a:t>–   Como orden de magnitud de oficio, cada indice adicional encarece las escrituras entre un 5 % y un 15 %</a:t>
            </a:r>
          </a:p>
          <a:p>
            <a:pPr>
              <a:spcAft>
                <a:spcPts val="800"/>
              </a:spcAft>
            </a:pPr>
            <a:r>
              <a:rPr sz="2000" b="0" i="0">
                <a:solidFill>
                  <a:srgbClr val="333333"/>
                </a:solidFill>
                <a:latin typeface="Calibri"/>
              </a:rPr>
              <a:t>–   Y una tabla con diez indices puede escribir varias veces mas lento que la misma con dos; el numero exacto depende del motor y hay que medirlo, pero la direccion nunca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UPDATE tiene un matiz util y muy citable: solo se actualizan los indices que contienen alguna columna modificada, asi que cambiar cita.estado de PROGRAMADA a ATENDIDA toca idx_cita_estado_fecha pero no idx_cita_fecha_hora</a:t>
            </a:r>
          </a:p>
          <a:p>
            <a:pPr>
              <a:spcAft>
                <a:spcPts val="800"/>
              </a:spcAft>
            </a:pPr>
            <a:r>
              <a:rPr sz="2000" b="0" i="0">
                <a:solidFill>
                  <a:srgbClr val="333333"/>
                </a:solidFill>
                <a:latin typeface="Calibri"/>
              </a:rPr>
              <a:t>–   De donde sale la advertencia de no indexar columnas que cambian en cada operacion salvo que una consulta muy frecuente lo exija.</a:t>
            </a:r>
          </a:p>
          <a:p>
            <a:pPr>
              <a:spcAft>
                <a:spcPts val="800"/>
              </a:spcAft>
            </a:pPr>
            <a:r>
              <a:rPr sz="2000" b="0" i="0">
                <a:solidFill>
                  <a:srgbClr val="333333"/>
                </a:solidFill>
                <a:latin typeface="Calibri"/>
              </a:rPr>
              <a:t>–   Ojo con una excepcion que aparece hoy: el indice PARCIAL sobre las citas PROGRAMADA si se toca cuando el estado cambia, porque la fila entra o sale del indice.</a:t>
            </a:r>
          </a:p>
          <a:p>
            <a:pPr>
              <a:spcAft>
                <a:spcPts val="800"/>
              </a:spcAft>
            </a:pPr>
            <a:r>
              <a:rPr sz="2000" b="0" i="0">
                <a:solidFill>
                  <a:srgbClr val="333333"/>
                </a:solidFill>
                <a:latin typeface="Calibri"/>
              </a:rPr>
              <a:t>–   En espacio, no es raro que la suma de los indices supere el tamano de la tabla.</a:t>
            </a:r>
          </a:p>
          <a:p>
            <a:pPr>
              <a:spcAft>
                <a:spcPts val="800"/>
              </a:spcAft>
            </a:pPr>
            <a:r>
              <a:rPr sz="2000" b="0" i="0">
                <a:solidFill>
                  <a:srgbClr val="333333"/>
                </a:solidFill>
                <a:latin typeface="Calibri"/>
              </a:rPr>
              <a:t>–   Para el entregable la guia es concreta: dos a cuatro indices por tabla caliente ademas de los que ya trae la clave primaria, cada uno con su consulta escrita al lado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regla de descarte mas util que existe, si el estudiante no puede escribir la consulta que usa el indice, el indice se borra.</a:t>
            </a:r>
          </a:p>
          <a:p>
            <a:pPr>
              <a:spcAft>
                <a:spcPts val="800"/>
              </a:spcAft>
            </a:pPr>
            <a:r>
              <a:rPr sz="2000" b="0" i="0">
                <a:solidFill>
                  <a:srgbClr val="333333"/>
                </a:solidFill>
                <a:latin typeface="Calibri"/>
              </a:rPr>
              <a:t>–   En produccion eso se decide con datos: PostgreSQL expone pg_stat_user_indexes, donde idx_scan en cero significa que el indice nunca se uso; conviene mencionarlo aunque en una sesion de taller no de tiempo de acumular estadisticas de uso.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Indice compuesto: la regla del prefijo izquierdo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compuesto es el creado sobre dos o mas columnas, y su regla de uso es la fuente de error mas frecuente del tema.</a:t>
            </a:r>
          </a:p>
          <a:p>
            <a:pPr>
              <a:spcAft>
                <a:spcPts val="800"/>
              </a:spcAft>
            </a:pPr>
            <a:r>
              <a:rPr sz="2000" b="0" i="0">
                <a:solidFill>
                  <a:srgbClr val="333333"/>
                </a:solidFill>
                <a:latin typeface="Calibri"/>
              </a:rPr>
              <a:t>–   Las entradas se ordenan por la primera columna y solo dentro de los valores iguales de la primera se ordenan por la segunda; es el orden de un directorio telefonico por apellido y luego nombre.</a:t>
            </a:r>
          </a:p>
          <a:p>
            <a:pPr>
              <a:spcAft>
                <a:spcPts val="800"/>
              </a:spcAft>
            </a:pPr>
            <a:r>
              <a:rPr sz="2000" b="0" i="0">
                <a:solidFill>
                  <a:srgbClr val="333333"/>
                </a:solidFill>
                <a:latin typeface="Calibri"/>
              </a:rPr>
              <a:t>–   En VetCare: idx_cita_estado_fecha sirve para WHERE estado = 'PROGRAMADA' AND fecha_hora &gt;= TIMESTAMP '2026-03-01 00:00:00' y para WHERE estado = 'PROGRAMADA' a secas, y no sirve para un filtro que solo trae fecha_hora; para eso existe idx_cita_fecha_hora.</a:t>
            </a:r>
          </a:p>
          <a:p>
            <a:pPr>
              <a:spcAft>
                <a:spcPts val="800"/>
              </a:spcAft>
            </a:pPr>
            <a:r>
              <a:rPr sz="2000" b="0" i="0">
                <a:solidFill>
                  <a:srgbClr val="333333"/>
                </a:solidFill>
                <a:latin typeface="Calibri"/>
              </a:rPr>
              <a:t>–   Y un numero citable que desarma la idea de indexar todo por si acaso: un indice de k columnas atiende solamente los k prefijos, no las combinaciones, asi que uno de tres columnas atiende tres formas de consulta y no seis.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todas las columnas que la consulta necesita, las del WHERE y las del SELECT, estan dentro del indice, el motor responde sin tocar la tabla, y eso se llama index-only scan o indice cubridor.</a:t>
            </a:r>
          </a:p>
          <a:p>
            <a:pPr>
              <a:spcAft>
                <a:spcPts val="800"/>
              </a:spcAft>
            </a:pPr>
            <a:r>
              <a:rPr sz="2000" b="0" i="0">
                <a:solidFill>
                  <a:srgbClr val="333333"/>
                </a:solidFill>
                <a:latin typeface="Calibri"/>
              </a:rPr>
              <a:t>–   Ejemplo exacto con los indices de hoy: SELECT estado, fecha_hora FROM cita WHERE estado = 'PROGRAMADA' AND fecha_hora &gt;= TIMESTAMP '2026-03-01 00:00:00' se puede responder entera desde idx_cita_estado_fecha, y el plan lo dice con las palabras Index Only Scan.</a:t>
            </a:r>
          </a:p>
          <a:p>
            <a:pPr>
              <a:spcAft>
                <a:spcPts val="800"/>
              </a:spcAft>
            </a:pPr>
            <a:r>
              <a:rPr sz="2000" b="0" i="0">
                <a:solidFill>
                  <a:srgbClr val="333333"/>
                </a:solidFill>
                <a:latin typeface="Calibri"/>
              </a:rPr>
              <a:t>–   El ahorro es justamente la parte cara del acceso por indice: en lugar de dos o tres lecturas para bajar el arbol mas un centenar de lecturas dispersas a la tabla, quedan unas pocas lecturas de hojas contiguas.</a:t>
            </a:r>
          </a:p>
          <a:p>
            <a:pPr>
              <a:spcAft>
                <a:spcPts val="800"/>
              </a:spcAft>
            </a:pPr>
            <a:r>
              <a:rPr sz="2000" b="0" i="0">
                <a:solidFill>
                  <a:srgbClr val="333333"/>
                </a:solidFill>
                <a:latin typeface="Calibri"/>
              </a:rPr>
              <a:t>–   Si la consulta agrega id_mascota la ventaja se pierde, y hay dos maneras de recuperarla: agregar la columna a la clave, o usar la clausula INCLUDE de PostgreSQL, INCLUDE (id_mascota)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guarda la columna en las hojas sin usarla para ordenar y por lo tanto sin engordar los niveles superiores</a:t>
            </a:r>
          </a:p>
          <a:p>
            <a:pPr>
              <a:spcAft>
                <a:spcPts val="800"/>
              </a:spcAft>
            </a:pPr>
            <a:r>
              <a:rPr sz="2000" b="0" i="0">
                <a:solidFill>
                  <a:srgbClr val="333333"/>
                </a:solidFill>
                <a:latin typeface="Calibri"/>
              </a:rPr>
              <a:t>–   Un detalle honesto que evita una confusion en vivo: en PostgreSQL el index-only scan depende del mapa de visibilidad</a:t>
            </a:r>
          </a:p>
          <a:p>
            <a:pPr>
              <a:spcAft>
                <a:spcPts val="800"/>
              </a:spcAft>
            </a:pPr>
            <a:r>
              <a:rPr sz="2000" b="0" i="0">
                <a:solidFill>
                  <a:srgbClr val="333333"/>
                </a:solidFill>
                <a:latin typeface="Calibri"/>
              </a:rPr>
              <a:t>–   Asi que inmediatamente despues de una carga masiva el plan puede seguir mostrando Index Scan hasta que pase VACUUM, y eso no significa que el indice este mal disenado.</a:t>
            </a:r>
          </a:p>
          <a:p>
            <a:pPr>
              <a:spcAft>
                <a:spcPts val="800"/>
              </a:spcAft>
            </a:pPr>
            <a:r>
              <a:rPr sz="2000" b="0" i="0">
                <a:solidFill>
                  <a:srgbClr val="333333"/>
                </a:solidFill>
                <a:latin typeface="Calibri"/>
              </a:rPr>
              <a:t>–   Esto NO se califica hoy, pero es la respuesta a la pregunta que va a salir cuando alguien vea Index Only Scan en su plan y no sepa si esta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idx_cita_cubridor ON cita (estado,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existente puede quedar sin usar por siete razones, y recitarlas separa al docente que responde del que dice que el motor es raro.</a:t>
            </a:r>
          </a:p>
          <a:p>
            <a:pPr>
              <a:spcAft>
                <a:spcPts val="800"/>
              </a:spcAft>
            </a:pPr>
            <a:r>
              <a:rPr sz="2000" b="0" i="0">
                <a:solidFill>
                  <a:srgbClr val="333333"/>
                </a:solidFill>
                <a:latin typeface="Calibri"/>
              </a:rPr>
              <a:t>–   Uno, la tabla es demasiado pequena: dueno con 2.006 filas cabe en unas 20 paginas y ningun indice le gana a leer 20 paginas seguidas; con las 20 filas de prueba de una base propia jamas se usara un indice y el motor esta en lo correcto.</a:t>
            </a:r>
          </a:p>
          <a:p>
            <a:pPr>
              <a:spcAft>
                <a:spcPts val="800"/>
              </a:spcAft>
            </a:pPr>
            <a:r>
              <a:rPr sz="2000" b="0" i="0">
                <a:solidFill>
                  <a:srgbClr val="333333"/>
                </a:solidFill>
                <a:latin typeface="Calibri"/>
              </a:rPr>
              <a:t>–   Dos, el predicado no es sargable, como se vio en la Clase 6: UPPER(nombre), EXTRACT(YEAR FROM fecha_hora) o una conversion implicita de tipo bloquean el indice</a:t>
            </a:r>
          </a:p>
          <a:p>
            <a:pPr>
              <a:spcAft>
                <a:spcPts val="800"/>
              </a:spcAft>
            </a:pPr>
            <a:r>
              <a:rPr sz="2000" b="0" i="0">
                <a:solidFill>
                  <a:srgbClr val="333333"/>
                </a:solidFill>
                <a:latin typeface="Calibri"/>
              </a:rPr>
              <a:t>–   Y la salida es el indice funcional, CREATE INDEX idx_mascota_nombre_upper ON mascota (UPPER(nombre)).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la selectividad es mala: WHERE activa = 'S' devuelve mas del 90 % de mascota y el recorrido completo gana con razon.</a:t>
            </a:r>
          </a:p>
          <a:p>
            <a:pPr>
              <a:spcAft>
                <a:spcPts val="800"/>
              </a:spcAft>
            </a:pPr>
            <a:r>
              <a:rPr sz="2000" b="0" i="0">
                <a:solidFill>
                  <a:srgbClr val="333333"/>
                </a:solidFill>
                <a:latin typeface="Calibri"/>
              </a:rPr>
              <a:t>–   Cuatro, las estadisticas estan viejas y el motor cree que la tabla es diminuta; se corrige con ANALYZE cita, y es el paso que se salta medio salon.</a:t>
            </a:r>
          </a:p>
          <a:p>
            <a:pPr>
              <a:spcAft>
                <a:spcPts val="800"/>
              </a:spcAft>
            </a:pPr>
            <a:r>
              <a:rPr sz="2000" b="0" i="0">
                <a:solidFill>
                  <a:srgbClr val="333333"/>
                </a:solidFill>
                <a:latin typeface="Calibri"/>
              </a:rPr>
              <a:t>–   Con la base de hoy la excusa del volumen no aplica: 30.010 citas son suficientes para que el planeador prefiera el indice, asi que si el plan no cambia el problema esta en el predicado, en el nombre de la columna lider o en el ANALYZE que falto.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actividad pide cinco indices con nombre EXACTO, porque el plan de ejecucion imprime literalmente Index Scan using seguido del nombre y porque la tabla de justificacion de la pregunta 5 se llena con esos mismos nombres.</a:t>
            </a:r>
          </a:p>
          <a:p>
            <a:pPr>
              <a:spcAft>
                <a:spcPts val="800"/>
              </a:spcAft>
            </a:pPr>
            <a:r>
              <a:rPr sz="2000" b="0" i="0">
                <a:solidFill>
                  <a:srgbClr val="333333"/>
                </a:solidFill>
                <a:latin typeface="Calibri"/>
              </a:rPr>
              <a:t>–   Los tres de la pregunta 1: idx_cita_fecha_hora sobre cita (fecha_hora), que atiende cualquier consulta por rango de fecha con o sin estado; idx_mascota_dueno sobre mascota (id_dueno)</a:t>
            </a:r>
          </a:p>
          <a:p>
            <a:pPr>
              <a:spcAft>
                <a:spcPts val="800"/>
              </a:spcAft>
            </a:pPr>
            <a:r>
              <a:rPr sz="2000" b="0" i="0">
                <a:solidFill>
                  <a:srgbClr val="333333"/>
                </a:solidFill>
                <a:latin typeface="Calibri"/>
              </a:rPr>
              <a:t>–   Que atiende el historial de un dueno; y idx_cita_programada_fecha, el indice parcial sobre cita (fecha_hora) WHERE estado = 'PROGRAMADA', que atiende la agenda del dia de la recepcion.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dos de la pregunta 2: idx_cita_estado_fecha sobre cita (estado, fecha_hora) e idx_cita_fecha_estado sobre cita (fecha_hora, estado), las mismas dos columnas en orden inverso, creados a proposito para medir la diferencia.</a:t>
            </a:r>
          </a:p>
          <a:p>
            <a:pPr>
              <a:spcAft>
                <a:spcPts val="800"/>
              </a:spcAft>
            </a:pPr>
            <a:r>
              <a:rPr sz="2000" b="0" i="0">
                <a:solidFill>
                  <a:srgbClr val="333333"/>
                </a:solidFill>
                <a:latin typeface="Calibri"/>
              </a:rPr>
              <a:t>–   Un aviso concreto: idx_cita_fecha no es ninguno de los cinco, el sufijo es _fecha_hora como la columna, y ese fue durante un tiempo el nombre que aparecia en el material; si alguien lo escribe asi pierde puntos por el nombre y no por el concepto.</a:t>
            </a:r>
          </a:p>
          <a:p>
            <a:pPr>
              <a:spcAft>
                <a:spcPts val="800"/>
              </a:spcAft>
            </a:pPr>
            <a:r>
              <a:rPr sz="2000" b="0" i="0">
                <a:solidFill>
                  <a:srgbClr val="333333"/>
                </a:solidFill>
                <a:latin typeface="Calibri"/>
              </a:rPr>
              <a:t>–   Primero: declarar PRIMARY KEY o UNIQUE crea automaticamente un indice unico para sostener la restriccion, asi que id_dueno, id_mascota e id_cita YA tienen indice y crear otro encima solo duplica espacio y trabajo de escritura.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Segundo, menos conocido: declarar una FOREIGN KEY NO crea indice en ninguno de los dos motores. mascota.id_dueno apunta a dueno, pero del lado de mascota no hay nada ordenado</a:t>
            </a:r>
          </a:p>
          <a:p>
            <a:pPr>
              <a:spcAft>
                <a:spcPts val="800"/>
              </a:spcAft>
            </a:pPr>
            <a:r>
              <a:rPr sz="2000" b="0" i="0">
                <a:solidFill>
                  <a:srgbClr val="333333"/>
                </a:solidFill>
                <a:latin typeface="Calibri"/>
              </a:rPr>
              <a:t>–   Y por eso idx_mascota_dueno si es una adicion legitima; sin el, ademas, borrar un dueno obliga a recorrer mascota completa para verificar la integridad.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entera vive en una secuencia de cuatro pasos que hay que proyectar en ese orden, porque cambiarlo destruye la evidencia.</a:t>
            </a:r>
          </a:p>
          <a:p>
            <a:pPr>
              <a:spcAft>
                <a:spcPts val="800"/>
              </a:spcAft>
            </a:pPr>
            <a:r>
              <a:rPr sz="2000" b="0" i="0">
                <a:solidFill>
                  <a:srgbClr val="333333"/>
                </a:solidFill>
                <a:latin typeface="Calibri"/>
              </a:rPr>
              <a:t>–   Primero, EXPLAIN ANALYZE de las dos consultas frecuentes ANTES de crear nada: tiene que salir Seq Scan on cita y Seq Scan on mascota, y ese es el punto de comparacion.</a:t>
            </a:r>
          </a:p>
          <a:p>
            <a:pPr>
              <a:spcAft>
                <a:spcPts val="800"/>
              </a:spcAft>
            </a:pPr>
            <a:r>
              <a:rPr sz="2000" b="0" i="0">
                <a:solidFill>
                  <a:srgbClr val="333333"/>
                </a:solidFill>
                <a:latin typeface="Calibri"/>
              </a:rPr>
              <a:t>–   C1 es la agenda del dia, SELECT id_cita, fecha_hora, estado FROM cita WHERE fecha_hora &gt;= TIMESTAMP '2026-03-10 00:00:00' AND fecha_hora &lt; TIMESTAMP '2026-03-11 00:00:00' AND estado = 'PROGRAMADA', y devuelve 91 filas de las 150 citas que tiene ese dia</a:t>
            </a:r>
          </a:p>
          <a:p>
            <a:pPr>
              <a:spcAft>
                <a:spcPts val="800"/>
              </a:spcAft>
            </a:pPr>
            <a:r>
              <a:rPr sz="2000" b="0" i="0">
                <a:solidFill>
                  <a:srgbClr val="333333"/>
                </a:solidFill>
                <a:latin typeface="Calibri"/>
              </a:rPr>
              <a:t>–   Tercero, y este es el paso que se salta medio salon, ANALYZE cita; y ANALYZE mascota;: crear el indice NO actualiza las estadisticas, el planeador decide por costo estimado, y con numeros viejos puede ignorar un indice perfectamente bueno.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mitad de los avisos de «cree el indice y no me sirvio» del taller son este paso omitido.</a:t>
            </a:r>
          </a:p>
          <a:p>
            <a:pPr>
              <a:spcAft>
                <a:spcPts val="800"/>
              </a:spcAft>
            </a:pPr>
            <a:r>
              <a:rPr sz="2000" b="0" i="0">
                <a:solidFill>
                  <a:srgbClr val="333333"/>
                </a:solidFill>
                <a:latin typeface="Calibri"/>
              </a:rPr>
              <a:t>–   Cuarto, las MISMAS dos consultas otra vez, sin cambiar una coma: si se cambia una fecha o un id la comparacion deja de valer.</a:t>
            </a:r>
          </a:p>
          <a:p>
            <a:pPr>
              <a:spcAft>
                <a:spcPts val="800"/>
              </a:spcAft>
            </a:pPr>
            <a:r>
              <a:rPr sz="2000" b="0" i="0">
                <a:solidFill>
                  <a:srgbClr val="333333"/>
                </a:solidFill>
                <a:latin typeface="Calibri"/>
              </a:rPr>
              <a:t>–   Y el cierre de la pregunta 1 es la evidencia de que existen: ORDER BY tablename, indexname</a:t>
            </a:r>
          </a:p>
          <a:p>
            <a:pPr>
              <a:spcAft>
                <a:spcPts val="800"/>
              </a:spcAft>
            </a:pPr>
            <a:r>
              <a:rPr sz="2000" b="0" i="0">
                <a:solidFill>
                  <a:srgbClr val="333333"/>
                </a:solidFill>
                <a:latin typeface="Calibri"/>
              </a:rPr>
              <a:t>–   La columna indexdef devuelve el CREATE INDEX completo, asi que ahi se ve tambien la clausula WHERE del indice parcial, que es lo que confirma que se creo parcial y no completo.</a:t>
            </a:r>
          </a:p>
          <a:p>
            <a:pPr>
              <a:spcAft>
                <a:spcPts val="800"/>
              </a:spcAft>
            </a:pPr>
            <a:r>
              <a:rPr sz="2000" b="0" i="0">
                <a:solidFill>
                  <a:srgbClr val="333333"/>
                </a:solidFill>
                <a:latin typeface="Calibri"/>
              </a:rPr>
              <a:t>–   El enunciado ademas exige comentar CUAL de los dos indices sobre fecha_hora eligio el planeador para C1, y la rubrica descuenta si no se comenta: no basta pegar el plan, hay que leerlo.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 especie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id_dueno = 1234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indexname, tablename, indexdef</a:t>
            </a:r>
          </a:p>
          <a:p>
            <a:pPr>
              <a:spcAft>
                <a:spcPts val="400"/>
              </a:spcAft>
            </a:pPr>
            <a:r>
              <a:rPr sz="1400" b="0" i="0">
                <a:solidFill>
                  <a:srgbClr val="FFFFFF"/>
                </a:solidFill>
                <a:latin typeface="Calibri"/>
              </a:rPr>
              <a:t>FROM pg_indexes</a:t>
            </a:r>
          </a:p>
          <a:p>
            <a:pPr>
              <a:spcAft>
                <a:spcPts val="400"/>
              </a:spcAft>
            </a:pPr>
            <a:r>
              <a:rPr sz="1400" b="0" i="0">
                <a:solidFill>
                  <a:srgbClr val="FFFFFF"/>
                </a:solidFill>
                <a:latin typeface="Calibri"/>
              </a:rPr>
              <a:t>WHERE tablename IN ('cita','mascota')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crean los dos compuestos, se corre ANALYZE cita, y se miden tres consultas.</a:t>
            </a:r>
          </a:p>
          <a:p>
            <a:pPr>
              <a:spcAft>
                <a:spcPts val="800"/>
              </a:spcAft>
            </a:pPr>
            <a:r>
              <a:rPr sz="2000" b="0" i="0">
                <a:solidFill>
                  <a:srgbClr val="333333"/>
                </a:solidFill>
                <a:latin typeface="Calibri"/>
              </a:rPr>
              <a:t>–   Q1 filtra por estado con igualdad y por fecha_hora con rango: favorece a idx_cita_estado_fecha, porque la columna de igualdad es la lider y el rango queda al final.</a:t>
            </a:r>
          </a:p>
          <a:p>
            <a:pPr>
              <a:spcAft>
                <a:spcPts val="800"/>
              </a:spcAft>
            </a:pPr>
            <a:r>
              <a:rPr sz="2000" b="0" i="0">
                <a:solidFill>
                  <a:srgbClr val="333333"/>
                </a:solidFill>
                <a:latin typeface="Calibri"/>
              </a:rPr>
              <a:t>–   Q2 filtra solo por rango de fecha_hora: favorece a idx_cita_fecha_estado, porque ahi fecha_hora si es la lider.</a:t>
            </a:r>
          </a:p>
          <a:p>
            <a:pPr>
              <a:spcAft>
                <a:spcPts val="800"/>
              </a:spcAft>
            </a:pPr>
            <a:r>
              <a:rPr sz="2000" b="0" i="0">
                <a:solidFill>
                  <a:srgbClr val="333333"/>
                </a:solidFill>
                <a:latin typeface="Calibri"/>
              </a:rPr>
              <a:t>–   Q3 filtra solo por estado, sin fecha: idx_cita_fecha_estado no le sirve, porque su columna lider no aparece en el WHERE, y con CANCELADA siendo apenas 2.728 de 30.010 filas el motor puede elegir idx_cita_estado_fecha o resolver por conteo.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Despues viene la parte que convierte la observacion en experimento: se hace DROP INDEX idx_cita_fecha_estado y se vuelve a medir Q2.</a:t>
            </a:r>
          </a:p>
          <a:p>
            <a:pPr>
              <a:spcAft>
                <a:spcPts val="800"/>
              </a:spcAft>
            </a:pPr>
            <a:r>
              <a:rPr sz="2000" b="0" i="0">
                <a:solidFill>
                  <a:srgbClr val="333333"/>
                </a:solidFill>
                <a:latin typeface="Calibri"/>
              </a:rPr>
              <a:t>–   El plan cae en idx_cita_fecha_hora, que tambien tiene fecha_hora como lider, o vuelve al recorrido completo, pero NO se pasa a idx_cita_estado_fecha.</a:t>
            </a:r>
          </a:p>
          <a:p>
            <a:pPr>
              <a:spcAft>
                <a:spcPts val="800"/>
              </a:spcAft>
            </a:pPr>
            <a:r>
              <a:rPr sz="2000" b="0" i="0">
                <a:solidFill>
                  <a:srgbClr val="333333"/>
                </a:solidFill>
                <a:latin typeface="Calibri"/>
              </a:rPr>
              <a:t>–   Un matiz honesto: el planeador decide por costo y puede sorprender, sobre todo entre dos indices que compiten de cerca; la instruccion al grupo es reportar lo que VIO en su plan, no lo que decia la diapositiva, y explicar la eleccion.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parcial es el que solo contiene las filas que cumplen una condicion, y la sintaxis es WHERE estado = 'PROGRAMADA'.</a:t>
            </a:r>
          </a:p>
          <a:p>
            <a:pPr>
              <a:spcAft>
                <a:spcPts val="800"/>
              </a:spcAft>
            </a:pPr>
            <a:r>
              <a:rPr sz="2000" b="0" i="0">
                <a:solidFill>
                  <a:srgbClr val="333333"/>
                </a:solidFill>
                <a:latin typeface="Calibri"/>
              </a:rPr>
              <a:t>–   Lo primero que hay que aclarar, porque es donde se confunde todo el mundo: ese WHERE no es el de la consulta, es parte de la DEFINICION del indice y decide que filas entran en el arbol.</a:t>
            </a:r>
          </a:p>
          <a:p>
            <a:pPr>
              <a:spcAft>
                <a:spcPts val="800"/>
              </a:spcAft>
            </a:pPr>
            <a:r>
              <a:rPr sz="2000" b="0" i="0">
                <a:solidFill>
                  <a:srgbClr val="333333"/>
                </a:solidFill>
                <a:latin typeface="Calibri"/>
              </a:rPr>
              <a:t>–   Con los datos de hoy el ahorro se puede decir con numeros exactos: de las 30.010 citas, 18.187 estan PROGRAMADA, el 61 %; el indice completo indexa 30.010 entradas y el parcial 18.187, cuatro de cada diez menos.</a:t>
            </a:r>
          </a:p>
          <a:p>
            <a:pPr>
              <a:spcAft>
                <a:spcPts val="800"/>
              </a:spcAft>
            </a:pPr>
            <a:r>
              <a:rPr sz="2000" b="0" i="0">
                <a:solidFill>
                  <a:srgbClr val="333333"/>
                </a:solidFill>
                <a:latin typeface="Calibri"/>
              </a:rPr>
              <a:t>–   Menos entradas es menos disco, menos memoria intermedia ocupada y menos trabajo en cada escritura de una cita que no este programada.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condicion para que el planeador lo use es estricta: tiene que poder demostrar que la consulta trae la misma condicion del indice.</a:t>
            </a:r>
          </a:p>
          <a:p>
            <a:pPr>
              <a:spcAft>
                <a:spcPts val="800"/>
              </a:spcAft>
            </a:pPr>
            <a:r>
              <a:rPr sz="2000" b="0" i="0">
                <a:solidFill>
                  <a:srgbClr val="333333"/>
                </a:solidFill>
                <a:latin typeface="Calibri"/>
              </a:rPr>
              <a:t>–   WHERE estado = 'PROGRAMADA' AND fecha_hora &gt;=... si lo aprovecha; la misma consulta sin el filtro de estado no, porque el indice no contiene las filas atendidas ni las canceladas y el motor no puede arriesgarse a devolver un resultado incompleto.</a:t>
            </a:r>
          </a:p>
          <a:p>
            <a:pPr>
              <a:spcAft>
                <a:spcPts val="800"/>
              </a:spcAft>
            </a:pPr>
            <a:r>
              <a:rPr sz="2000" b="0" i="0">
                <a:solidFill>
                  <a:srgbClr val="333333"/>
                </a:solidFill>
                <a:latin typeface="Calibri"/>
              </a:rPr>
              <a:t>–   El caso de VetCare que lo justifica hay que nombrarlo: la agenda del dia de la recepcion SIEMPRE filtra por PROGRAMADA, porque nadie abre esa pantalla para ver las citas que ya se atendieron.</a:t>
            </a:r>
          </a:p>
          <a:p>
            <a:pPr>
              <a:spcAft>
                <a:spcPts val="800"/>
              </a:spcAft>
            </a:pPr>
            <a:r>
              <a:rPr sz="2000" b="0" i="0">
                <a:solidFill>
                  <a:srgbClr val="333333"/>
                </a:solidFill>
                <a:latin typeface="Calibri"/>
              </a:rPr>
              <a:t>–   Cuando el filtro es parte del caso de uso y no del capricho de una consulta, el parcial es la respuesta correcta.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C1 los dos indices sobre fecha_hora compiten: se espera que gane el parcial</a:t>
            </a:r>
          </a:p>
          <a:p>
            <a:pPr>
              <a:spcAft>
                <a:spcPts val="800"/>
              </a:spcAft>
            </a:pPr>
            <a:r>
              <a:rPr sz="2000" b="0" i="0">
                <a:solidFill>
                  <a:srgbClr val="333333"/>
                </a:solidFill>
                <a:latin typeface="Calibri"/>
              </a:rPr>
              <a:t>–   Porque recorre 91 entradas y ya sabe que todas cumplen el estado, mientras el completo recorreria las 150 del dia y tendria que descartar 59 despues de ir a la tabla a leer el estado.</a:t>
            </a:r>
          </a:p>
          <a:p>
            <a:pPr>
              <a:spcAft>
                <a:spcPts val="800"/>
              </a:spcAft>
            </a:pPr>
            <a:r>
              <a:rPr sz="2000" b="0" i="0">
                <a:solidFill>
                  <a:srgbClr val="333333"/>
                </a:solidFill>
                <a:latin typeface="Calibri"/>
              </a:rPr>
              <a:t>–   La diferencia de costo es pequena con este volumen, asi que si en la corrida gana el completo la respuesta correcta sigue siendo la que reporta lo que se vio.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idx_cita_programada_fecha ON cita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Particionar es dividir una sola tabla logica en fragmentos fisicos llamados particiones, segun una clave, de modo que el motor descarte de entrada las que no pueden contener lo buscado; ese descarte se llama poda de particiones o partition pruning.</a:t>
            </a:r>
          </a:p>
          <a:p>
            <a:pPr>
              <a:spcAft>
                <a:spcPts val="800"/>
              </a:spcAft>
            </a:pPr>
            <a:r>
              <a:rPr sz="2000" b="0" i="0">
                <a:solidFill>
                  <a:srgbClr val="333333"/>
                </a:solidFill>
                <a:latin typeface="Calibri"/>
              </a:rPr>
              <a:t>–   La forma mas frecuente es por rango de fechas: una particion por ano, de manera que una consulta de 2026 lee unicamente la particion de 2026 y el plan lo muestra.</a:t>
            </a:r>
          </a:p>
          <a:p>
            <a:pPr>
              <a:spcAft>
                <a:spcPts val="800"/>
              </a:spcAft>
            </a:pPr>
            <a:r>
              <a:rPr sz="2000" b="0" i="0">
                <a:solidFill>
                  <a:srgbClr val="333333"/>
                </a:solidFill>
                <a:latin typeface="Calibri"/>
              </a:rPr>
              <a:t>–   La frase que lo separa del tema anterior es corta: el indice ordena, la particion separa.</a:t>
            </a:r>
          </a:p>
          <a:p>
            <a:pPr>
              <a:spcAft>
                <a:spcPts val="800"/>
              </a:spcAft>
            </a:pPr>
            <a:r>
              <a:rPr sz="2000" b="0" i="0">
                <a:solidFill>
                  <a:srgbClr val="333333"/>
                </a:solidFill>
                <a:latin typeface="Calibri"/>
              </a:rPr>
              <a:t>–   El umbral en el que empieza a pagar en produccion es alto y hay que decirlo con numeros para que nadie lo use de adorno: como convencion de oficio se piensa en particionar por encima de unas decenas de millones de filas o de tablas de decenas de gigabytes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por debajo de eso un indice sobre fecha_hora hace el mismo trabajo con mucho menos mantenimiento.</a:t>
            </a:r>
          </a:p>
          <a:p>
            <a:pPr>
              <a:spcAft>
                <a:spcPts val="800"/>
              </a:spcAft>
            </a:pPr>
            <a:r>
              <a:rPr sz="2000" b="0" i="0">
                <a:solidFill>
                  <a:srgbClr val="333333"/>
                </a:solidFill>
                <a:latin typeface="Calibri"/>
              </a:rPr>
              <a:t>–   La pregunta 3 del taller vale 20 de los 100 puntos y se implementa completa —DDL, dos particiones, migracion de las citas, prueba de enrutamiento y prueba de poda— sobre una base de 5.010 citas repartidas entre 2025 y 2026.</a:t>
            </a:r>
          </a:p>
          <a:p>
            <a:pPr>
              <a:spcAft>
                <a:spcPts val="800"/>
              </a:spcAft>
            </a:pPr>
            <a:r>
              <a:rPr sz="2000" b="0" i="0">
                <a:solidFill>
                  <a:srgbClr val="333333"/>
                </a:solidFill>
                <a:latin typeface="Calibri"/>
              </a:rPr>
              <a:t>–   Si el docente anuncia que hoy no se implementa, el estudiante llega al taller con una respuesta en prosa a una pregunta que pide SQL ejecutado.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DDL son tres sentencias y dos trampas.</a:t>
            </a:r>
          </a:p>
          <a:p>
            <a:pPr>
              <a:spcAft>
                <a:spcPts val="800"/>
              </a:spcAft>
            </a:pPr>
            <a:r>
              <a:rPr sz="2000" b="0" i="0">
                <a:solidFill>
                  <a:srgbClr val="333333"/>
                </a:solidFill>
                <a:latin typeface="Calibri"/>
              </a:rPr>
              <a:t>–   La primera sentencia declara la tabla particionada: PARTITION BY RANGE (fecha_hora)</a:t>
            </a:r>
          </a:p>
          <a:p>
            <a:pPr>
              <a:spcAft>
                <a:spcPts val="800"/>
              </a:spcAft>
            </a:pPr>
            <a:r>
              <a:rPr sz="2000" b="0" i="0">
                <a:solidFill>
                  <a:srgbClr val="333333"/>
                </a:solidFill>
                <a:latin typeface="Calibri"/>
              </a:rPr>
              <a:t>–   Las otras dos crean las particiones: TO (TIMESTAMP '2026-01-01'); y su gemela de 2026.</a:t>
            </a:r>
          </a:p>
          <a:p>
            <a:pPr>
              <a:spcAft>
                <a:spcPts val="800"/>
              </a:spcAft>
            </a:pPr>
            <a:r>
              <a:rPr sz="2000" b="0" i="0">
                <a:solidFill>
                  <a:srgbClr val="333333"/>
                </a:solidFill>
                <a:latin typeface="Calibri"/>
              </a:rPr>
              <a:t>–   Primera trampa, la que cuesta la pregunta: en una tabla particionada la clave primaria DEBE incluir la columna de particion, asi que PRIMARY KEY (id_cita, fecha_hora) y no PRIMARY KEY (id_cita) a secas.</a:t>
            </a:r>
          </a:p>
          <a:p>
            <a:pPr>
              <a:spcAft>
                <a:spcPts val="800"/>
              </a:spcAft>
            </a:pPr>
            <a:r>
              <a:rPr sz="2000" b="0" i="0">
                <a:solidFill>
                  <a:srgbClr val="333333"/>
                </a:solidFill>
                <a:latin typeface="Calibri"/>
              </a:rPr>
              <a:t>–   Esto no es una rareza de MySQL, es la regla de PostgreSQL, y el mensaje de error del motor no dice «te falta la columna de particion» con esas palabras, asi que el estudiante que lo intenta se queda mirando un error que no entiende.</a:t>
            </a:r>
          </a:p>
          <a:p>
            <a:pPr>
              <a:spcAft>
                <a:spcPts val="800"/>
              </a:spcAft>
            </a:pPr>
            <a:r>
              <a:rPr sz="2000" b="0" i="0">
                <a:solidFill>
                  <a:srgbClr val="333333"/>
                </a:solidFill>
                <a:latin typeface="Calibri"/>
              </a:rPr>
              <a:t>–   Segunda trampa, mas silenciosa: el rango es cerrado por abajo y abierto por arriba, de modo que el TO de una particion es exactamente el FROM de la siguiente y nunca se solapan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Quien escriba TO (TIMESTAMP '2025-12-31') se queda sin sitio donde poner las citas del 31 de diciembre y el INSERT falla con un error de que no se encontro particion.</a:t>
            </a:r>
          </a:p>
          <a:p>
            <a:pPr>
              <a:spcAft>
                <a:spcPts val="800"/>
              </a:spcAft>
            </a:pPr>
            <a:r>
              <a:rPr sz="2000" b="0" i="0">
                <a:solidFill>
                  <a:srgbClr val="333333"/>
                </a:solidFill>
                <a:latin typeface="Calibri"/>
              </a:rPr>
              <a:t>–   Despues del DDL viene la migracion,, y la prueba de que el reparto ocurrio:, MIN(fecha_hora), MAX(fecha_hora) tableoid es una columna de sistema que dice en que tabla FISICA vive cada fila y::regclass la traduce a nombre.</a:t>
            </a:r>
          </a:p>
          <a:p>
            <a:pPr>
              <a:spcAft>
                <a:spcPts val="800"/>
              </a:spcAft>
            </a:pPr>
            <a:r>
              <a:rPr sz="2000" b="0" i="0">
                <a:solidFill>
                  <a:srgbClr val="333333"/>
                </a:solidFill>
                <a:latin typeface="Calibri"/>
              </a:rPr>
              <a:t>–   La poda se comprueba con EXPLAIN ANALYZE de una consulta acotada a 2026: en el plan debe aparecer SOLO cita_hist_2026.</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a:t>
            </a:r>
          </a:p>
          <a:p>
            <a:pPr>
              <a:spcAft>
                <a:spcPts val="400"/>
              </a:spcAft>
            </a:pPr>
            <a:r>
              <a:rPr sz="1400" b="0" i="0">
                <a:solidFill>
                  <a:srgbClr val="FFFFFF"/>
                </a:solidFill>
                <a:latin typeface="Calibri"/>
              </a:rPr>
              <a:t>  id_mascota INT,</a:t>
            </a:r>
          </a:p>
          <a:p>
            <a:pPr>
              <a:spcAft>
                <a:spcPts val="400"/>
              </a:spcAft>
            </a:pPr>
            <a:r>
              <a:rPr sz="1400" b="0" i="0">
                <a:solidFill>
                  <a:srgbClr val="FFFFFF"/>
                </a:solidFill>
                <a:latin typeface="Calibri"/>
              </a:rPr>
              <a:t>  id_veterinario INT,</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TEXT,</a:t>
            </a:r>
          </a:p>
          <a:p>
            <a:pPr>
              <a:spcAft>
                <a:spcPts val="400"/>
              </a:spcAft>
            </a:pPr>
            <a:r>
              <a:rPr sz="1400" b="0" i="0">
                <a:solidFill>
                  <a:srgbClr val="FFFFFF"/>
                </a:solidFill>
                <a:latin typeface="Calibri"/>
              </a:rPr>
              <a:t>  PRIMARY KEY (id_cita, fecha_hora)</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 FOR</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VALUES FROM (TIMESTAMP '2025-01-01')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cita_hist SELECT id_cita, id_mascota, id_veterinario, fecha_hora, estado</a:t>
            </a:r>
          </a:p>
          <a:p>
            <a:pPr>
              <a:spcAft>
                <a:spcPts val="400"/>
              </a:spcAft>
            </a:pPr>
            <a:r>
              <a:rPr sz="1400" b="0" i="0">
                <a:solidFill>
                  <a:srgbClr val="FFFFFF"/>
                </a:solidFill>
                <a:latin typeface="Calibri"/>
              </a:rPr>
              <a:t>FROM cita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tableoid::regclass AS particion, COUNT(*)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cita_hist</a:t>
            </a:r>
          </a:p>
          <a:p>
            <a:pPr>
              <a:spcAft>
                <a:spcPts val="400"/>
              </a:spcAft>
            </a:pPr>
            <a:r>
              <a:rPr sz="1400" b="0" i="0">
                <a:solidFill>
                  <a:srgbClr val="FFFFFF"/>
                </a:solidFill>
                <a:latin typeface="Calibri"/>
              </a:rPr>
              <a:t>GROUP BY 1</a:t>
            </a:r>
          </a:p>
          <a:p>
            <a:pPr>
              <a:spcAft>
                <a:spcPts val="400"/>
              </a:spcAft>
            </a:pPr>
            <a:r>
              <a:rPr sz="1400" b="0" i="0">
                <a:solidFill>
                  <a:srgbClr val="FFFFFF"/>
                </a:solidFill>
                <a:latin typeface="Calibri"/>
              </a:rPr>
              <a:t>ORDER BY 1</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parrafo de la pregunta 5 pide un veredicto, y tiene tres exigencias que se califican por separado; conviene dictarlas.</a:t>
            </a:r>
          </a:p>
          <a:p>
            <a:pPr>
              <a:spcAft>
                <a:spcPts val="800"/>
              </a:spcAft>
            </a:pPr>
            <a:r>
              <a:rPr sz="2000" b="0" i="0">
                <a:solidFill>
                  <a:srgbClr val="333333"/>
                </a:solidFill>
                <a:latin typeface="Calibri"/>
              </a:rPr>
              <a:t>–   Primera: el volumen que espera Huellitas, con numeros propios del estudiante, del estilo tantas citas por dia por tantos dias de operacion al ano por tantos anos de historia.</a:t>
            </a:r>
          </a:p>
          <a:p>
            <a:pPr>
              <a:spcAft>
                <a:spcPts val="800"/>
              </a:spcAft>
            </a:pPr>
            <a:r>
              <a:rPr sz="2000" b="0" i="0">
                <a:solidFill>
                  <a:srgbClr val="333333"/>
                </a:solidFill>
                <a:latin typeface="Calibri"/>
              </a:rPr>
              <a:t>–   Un dato de referencia para calibrar: 40 citas diarias durante 300 dias son 12.000 citas al ano</a:t>
            </a:r>
          </a:p>
          <a:p>
            <a:pPr>
              <a:spcAft>
                <a:spcPts val="800"/>
              </a:spcAft>
            </a:pPr>
            <a:r>
              <a:rPr sz="2000" b="0" i="0">
                <a:solidFill>
                  <a:srgbClr val="333333"/>
                </a:solidFill>
                <a:latin typeface="Calibri"/>
              </a:rPr>
              <a:t>–   Y a cinco anos son 60.000; eso esta tres ordenes de magnitud por debajo del umbral de particionamiento, asi que el veredicto honesto para VetCare es que NO se particiona, y decirlo con el numero al lado vale mas que decir que si por quedar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la ganancia de rendimiento con 5.010 filas no es apreciable, y reconocerlo suma puntos en vez de restarlos, porque la alternativa es inventar una mejora que el plan no muestra.</a:t>
            </a:r>
          </a:p>
          <a:p>
            <a:pPr>
              <a:spcAft>
                <a:spcPts val="800"/>
              </a:spcAft>
            </a:pPr>
            <a:r>
              <a:rPr sz="2000" b="0" i="0">
                <a:solidFill>
                  <a:srgbClr val="333333"/>
                </a:solidFill>
                <a:latin typeface="Calibri"/>
              </a:rPr>
              <a:t>–   Tercera: lo que si quedo comprobado, que son dos cosas concretas, la poda de particiones en el plan y la facilidad de archivado.</a:t>
            </a:r>
          </a:p>
          <a:p>
            <a:pPr>
              <a:spcAft>
                <a:spcPts val="800"/>
              </a:spcAft>
            </a:pPr>
            <a:r>
              <a:rPr sz="2000" b="0" i="0">
                <a:solidFill>
                  <a:srgbClr val="333333"/>
                </a:solidFill>
                <a:latin typeface="Calibri"/>
              </a:rPr>
              <a:t>–   Y ahi esta el caso que no tiene alternativa, el que justifica aprender el tema aunque hoy no se aplique: borrar cinco anos de historia con DELETE FROM cita WHERE fecha_hora &lt; TIMESTAMP '2021-01-01 00:00:00' toca millones de filas</a:t>
            </a:r>
          </a:p>
          <a:p>
            <a:pPr>
              <a:spcAft>
                <a:spcPts val="800"/>
              </a:spcAft>
            </a:pPr>
            <a:r>
              <a:rPr sz="2000" b="0" i="0">
                <a:solidFill>
                  <a:srgbClr val="333333"/>
                </a:solidFill>
                <a:latin typeface="Calibri"/>
              </a:rPr>
              <a:t>–   Genera un registro de transacciones enorme, sostiene bloqueos largos y deja la tabla que hay que limpiar despues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cambio DROP TABLE cita_hist_2021 es una operacion de metadatos que tarda un instante, y ALTER TABLE cita_hist DETACH PARTITION cita_hist_2021 la separa sin borrar los datos si hay que conservarlos aparte.</a:t>
            </a:r>
          </a:p>
          <a:p>
            <a:pPr>
              <a:spcAft>
                <a:spcPts val="800"/>
              </a:spcAft>
            </a:pPr>
            <a:r>
              <a:rPr sz="2000" b="0" i="0">
                <a:solidFill>
                  <a:srgbClr val="333333"/>
                </a:solidFill>
                <a:latin typeface="Calibri"/>
              </a:rPr>
              <a:t>–   En Oracle la sentencia equivalente es ALTER TABLE cita DROP PARTITION cita_2021, y la diferencia de sintaxis conviene mencionarla porque el motor de hoy es PostgreSQL.</a:t>
            </a:r>
          </a:p>
          <a:p>
            <a:pPr>
              <a:spcAft>
                <a:spcPts val="800"/>
              </a:spcAft>
            </a:pPr>
            <a:r>
              <a:rPr sz="2000" b="0" i="0">
                <a:solidFill>
                  <a:srgbClr val="333333"/>
                </a:solidFill>
                <a:latin typeface="Calibri"/>
              </a:rPr>
              <a:t>–   Ese contraste entre DROP de particion y DELETE masivo conecta directo con la Clase 8, donde el registro de transacciones y la duracion de los bloqueos son el 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Codigo/07_indices_vetcare.sql y se corre en la consola de la plataforma del curso, no en otra herramienta, porque el volumen sembrado es el que hace cambiar el plan.</a:t>
            </a:r>
          </a:p>
          <a:p>
            <a:pPr>
              <a:spcAft>
                <a:spcPts val="800"/>
              </a:spcAft>
            </a:pPr>
            <a:r>
              <a:rPr sz="2000" b="0" i="0">
                <a:solidFill>
                  <a:srgbClr val="333333"/>
                </a:solidFill>
                <a:latin typeface="Calibri"/>
              </a:rPr>
              <a:t>–   El bloque 0 crea las tablas y siembra 30.000 citas con generate_series; hay que advertir que ese bloque recrea las tablas, asi que se corre en una base vacia y no sobre una VetCare DB con datos que alguien quiera conservar.</a:t>
            </a:r>
          </a:p>
          <a:p>
            <a:pPr>
              <a:spcAft>
                <a:spcPts val="800"/>
              </a:spcAft>
            </a:pPr>
            <a:r>
              <a:rPr sz="2000" b="0" i="0">
                <a:solidFill>
                  <a:srgbClr val="333333"/>
                </a:solidFill>
                <a:latin typeface="Calibri"/>
              </a:rPr>
              <a:t>–   Termina con una consulta de control que debe devolver 18.182 PROGRAMADA, 9.091 ATENDIDA y 2.727 CANCELADA; si esos numeros no salen, nada de lo que sigue cuadra y hay que parar ahi.</a:t>
            </a:r>
          </a:p>
          <a:p>
            <a:pPr>
              <a:spcAft>
                <a:spcPts val="800"/>
              </a:spcAft>
            </a:pPr>
            <a:r>
              <a:rPr sz="2000" b="0" i="0">
                <a:solidFill>
                  <a:srgbClr val="333333"/>
                </a:solidFill>
                <a:latin typeface="Calibri"/>
              </a:rPr>
              <a:t>–   El bloque 1 es la linea base, con los dos Seq Scan.</a:t>
            </a:r>
          </a:p>
          <a:p>
            <a:pPr>
              <a:spcAft>
                <a:spcPts val="800"/>
              </a:spcAft>
            </a:pPr>
            <a:r>
              <a:rPr sz="2000" b="0" i="0">
                <a:solidFill>
                  <a:srgbClr val="333333"/>
                </a:solidFill>
                <a:latin typeface="Calibri"/>
              </a:rPr>
              <a:t>–   El bloque 2 crea los tres indices de la pregunta 1, corre ANALYZE y repite las dos consultas: ese es el momento de la clase, y conviene proyectar las dos salidas una debajo de la otra y leer en voz alta la linea del nodo.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3 es el experimento del orden, con su DROP INDEX al final.</a:t>
            </a:r>
          </a:p>
          <a:p>
            <a:pPr>
              <a:spcAft>
                <a:spcPts val="800"/>
              </a:spcAft>
            </a:pPr>
            <a:r>
              <a:rPr sz="2000" b="0" i="0">
                <a:solidFill>
                  <a:srgbClr val="333333"/>
                </a:solidFill>
                <a:latin typeface="Calibri"/>
              </a:rPr>
              <a:t>–   El bloque 4 es el particionamiento completo, con una salvedad que hay que decir en vivo: como la siembra del bloque 0 pone todas las citas en 2026, todo cae en cita_hist_2026 y cita_hist_2025 queda vacia; eso ya demuestra el enrutamiento</a:t>
            </a:r>
          </a:p>
          <a:p>
            <a:pPr>
              <a:spcAft>
                <a:spcPts val="800"/>
              </a:spcAft>
            </a:pPr>
            <a:r>
              <a:rPr sz="2000" b="0" i="0">
                <a:solidFill>
                  <a:srgbClr val="333333"/>
                </a:solidFill>
                <a:latin typeface="Calibri"/>
              </a:rPr>
              <a:t>–   Y la base de la pregunta 3 en la plataforma del curso si reparte sus 5.010 citas entre los dos anos.</a:t>
            </a:r>
          </a:p>
          <a:p>
            <a:pPr>
              <a:spcAft>
                <a:spcPts val="800"/>
              </a:spcAft>
            </a:pPr>
            <a:r>
              <a:rPr sz="2000" b="0" i="0">
                <a:solidFill>
                  <a:srgbClr val="333333"/>
                </a:solidFill>
                <a:latin typeface="Calibri"/>
              </a:rPr>
              <a:t>–   Si el bloque 0 no alcanza el tiempo, la alternativa es abrir directamente la pregunta 1 del taller en la plataforma del curso, que ya trae la base sembrada, y correr los bloques 1 y 2 ahi.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que no se puede medir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una sola y conviene decirlo sin ambiguedad: la plataforma del curso, que ejecuta PostgreSQL sobre PGlite dentro del navegador.</a:t>
            </a:r>
          </a:p>
          <a:p>
            <a:pPr>
              <a:spcAft>
                <a:spcPts val="800"/>
              </a:spcAft>
            </a:pPr>
            <a:r>
              <a:rPr sz="2000" b="0" i="0">
                <a:solidFill>
                  <a:srgbClr val="333333"/>
                </a:solidFill>
                <a:latin typeface="Calibri"/>
              </a:rPr>
              <a:t>–   En particular DB Fiddle queda fuera, aunque tambien tenga PostgreSQL, por un motivo concreto: la base sembrada con las 30.010 citas no existe alli, y sin ella no se puede reproducir ni el cambio de plan ni las 91 filas que la rubrica menciona.</a:t>
            </a:r>
          </a:p>
          <a:p>
            <a:pPr>
              <a:spcAft>
                <a:spcPts val="800"/>
              </a:spcAft>
            </a:pPr>
            <a:r>
              <a:rPr sz="2000" b="0" i="0">
                <a:solidFill>
                  <a:srgbClr val="333333"/>
                </a:solidFill>
                <a:latin typeface="Calibri"/>
              </a:rPr>
              <a:t>–   Un alterno que cuesta puntos no es un alterno.</a:t>
            </a:r>
          </a:p>
          <a:p>
            <a:pPr>
              <a:spcAft>
                <a:spcPts val="800"/>
              </a:spcAft>
            </a:pPr>
            <a:r>
              <a:rPr sz="2000" b="0" i="0">
                <a:solidFill>
                  <a:srgbClr val="333333"/>
                </a:solidFill>
                <a:latin typeface="Calibri"/>
              </a:rPr>
              <a:t>–   Google Docs se usa para la tabla de justificacion de la pregunta 5, que es prosa y no SQL.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de 120 minutos se reparte asi.</a:t>
            </a:r>
          </a:p>
          <a:p>
            <a:pPr>
              <a:spcAft>
                <a:spcPts val="800"/>
              </a:spcAft>
            </a:pPr>
            <a:r>
              <a:rPr sz="2000" b="0" i="0">
                <a:solidFill>
                  <a:srgbClr val="333333"/>
                </a:solidFill>
                <a:latin typeface="Calibri"/>
              </a:rPr>
              <a:t>–   Del minuto 0 al 10, encuadre y el enganche de la Clase 6: se proyecta un plan con Seq Scan y se anuncia que hoy esa linea cambia.</a:t>
            </a:r>
          </a:p>
          <a:p>
            <a:pPr>
              <a:spcAft>
                <a:spcPts val="800"/>
              </a:spcAft>
            </a:pPr>
            <a:r>
              <a:rPr sz="2000" b="0" i="0">
                <a:solidFill>
                  <a:srgbClr val="333333"/>
                </a:solidFill>
                <a:latin typeface="Calibri"/>
              </a:rPr>
              <a:t>–   Del 10 al 30, la teoria core: que es un indice, el B-Tree y el precio en cada escritura.</a:t>
            </a:r>
          </a:p>
          <a:p>
            <a:pPr>
              <a:spcAft>
                <a:spcPts val="800"/>
              </a:spcAft>
            </a:pPr>
            <a:r>
              <a:rPr sz="2000" b="0" i="0">
                <a:solidFill>
                  <a:srgbClr val="333333"/>
                </a:solidFill>
                <a:latin typeface="Calibri"/>
              </a:rPr>
              <a:t>–   Del 30 al 45, la diapositiva de justificacion, el prefijo izquierdo y las razones por las que un indice no se usa.</a:t>
            </a:r>
          </a:p>
          <a:p>
            <a:pPr>
              <a:spcAft>
                <a:spcPts val="800"/>
              </a:spcAft>
            </a:pPr>
            <a:r>
              <a:rPr sz="2000" b="0" i="0">
                <a:solidFill>
                  <a:srgbClr val="333333"/>
                </a:solidFill>
                <a:latin typeface="Calibri"/>
              </a:rPr>
              <a:t>–   Del 45 al 60, los cinco nombres y la secuencia de medicion, con la demo del bloque 2 en vivo: es el corazon de la sesion y no se debe recortar.</a:t>
            </a:r>
          </a:p>
          <a:p>
            <a:pPr>
              <a:spcAft>
                <a:spcPts val="800"/>
              </a:spcAft>
            </a:pPr>
            <a:r>
              <a:rPr sz="2000" b="0" i="0">
                <a:solidFill>
                  <a:srgbClr val="333333"/>
                </a:solidFill>
                <a:latin typeface="Calibri"/>
              </a:rPr>
              <a:t>–   Del 60 al 70, el indice parcial con sus numeros.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Del 70 al 80, el particionamiento con el DDL y la trampa de la clave primaria.</a:t>
            </a:r>
          </a:p>
          <a:p>
            <a:pPr>
              <a:spcAft>
                <a:spcPts val="800"/>
              </a:spcAft>
            </a:pPr>
            <a:r>
              <a:rPr sz="2000" b="0" i="0">
                <a:solidFill>
                  <a:srgbClr val="333333"/>
                </a:solidFill>
                <a:latin typeface="Calibri"/>
              </a:rPr>
              <a:t>–   Del 80 al 115, el taller, que son 100 puntos en cinco preguntas: se abre la plataforma del curso y se resuelve la pregunta 1 acompanada, en voz alta, hasta que aparezca el primer Index Scan del grupo, y las cuatro restantes de forma individual.</a:t>
            </a:r>
          </a:p>
          <a:p>
            <a:pPr>
              <a:spcAft>
                <a:spcPts val="800"/>
              </a:spcAft>
            </a:pPr>
            <a:r>
              <a:rPr sz="2000" b="0" i="0">
                <a:solidFill>
                  <a:srgbClr val="333333"/>
                </a:solidFill>
                <a:latin typeface="Calibri"/>
              </a:rPr>
              <a:t>–   Del 115 al 120, cierre y el amarre con la Clase 8.</a:t>
            </a:r>
          </a:p>
          <a:p>
            <a:pPr>
              <a:spcAft>
                <a:spcPts val="800"/>
              </a:spcAft>
            </a:pPr>
            <a:r>
              <a:rPr sz="2000" b="0" i="0">
                <a:solidFill>
                  <a:srgbClr val="333333"/>
                </a:solidFill>
                <a:latin typeface="Calibri"/>
              </a:rPr>
              <a:t>–   Uno, el error mas frecuente no es conceptual sino de nombre: conviene proyectar los cinco nombres y dejarlos en pantalla mientras el grupo trabaja.</a:t>
            </a:r>
          </a:p>
          <a:p>
            <a:pPr>
              <a:spcAft>
                <a:spcPts val="800"/>
              </a:spcAft>
            </a:pPr>
            <a:r>
              <a:rPr sz="2000" b="0" i="0">
                <a:solidFill>
                  <a:srgbClr val="333333"/>
                </a:solidFill>
                <a:latin typeface="Calibri"/>
              </a:rPr>
              <a:t>–   Dos, cuando alguien diga que su indice no sirvio, la primera pregunta es si corrio el ANALYZE, no si el indice esta bien pensado.</a:t>
            </a:r>
          </a:p>
          <a:p>
            <a:pPr>
              <a:spcAft>
                <a:spcPts val="800"/>
              </a:spcAft>
            </a:pPr>
            <a:r>
              <a:rPr sz="2000" b="0" i="0">
                <a:solidFill>
                  <a:srgbClr val="333333"/>
                </a:solidFill>
                <a:latin typeface="Calibri"/>
              </a:rPr>
              <a:t>–   Tres, la pregunta 5 no es un relleno de cierre: son 20 puntos, la tabla tiene siete columnas y quien la deje para el ultimo minuto entrega tres columnas de siete.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y la mas previsible: entonces creo (estado, fecha_hora) y tambien (fecha_hora, estado).</a:t>
            </a:r>
          </a:p>
          <a:p>
            <a:pPr>
              <a:spcAft>
                <a:spcPts val="800"/>
              </a:spcAft>
            </a:pPr>
            <a:r>
              <a:rPr sz="2000" b="0" i="0">
                <a:solidFill>
                  <a:srgbClr val="333333"/>
                </a:solidFill>
                <a:latin typeface="Calibri"/>
              </a:rPr>
              <a:t>–   En produccion rara vez se justifica tener los dos, porque el segundo queda casi siempre cubierto por el indice de una sola columna sobre fecha_hora mas el filtro de estado aplicado sobre las pocas filas que sobreviven, y cada indice extra se paga en cada escritura.</a:t>
            </a:r>
          </a:p>
          <a:p>
            <a:pPr>
              <a:spcAft>
                <a:spcPts val="800"/>
              </a:spcAft>
            </a:pPr>
            <a:r>
              <a:rPr sz="2000" b="0" i="0">
                <a:solidFill>
                  <a:srgbClr val="333333"/>
                </a:solidFill>
                <a:latin typeface="Calibri"/>
              </a:rPr>
              <a:t>–   Hoy se crean los dos a proposito, para medir, y la pregunta 2 termina con un DROP INDEX que muestra que pasa cuando falta uno: crear para medir y crear para dejar son dos cosas distintas, y esa distincion es la respuesta.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cree el indice y el plan no cambio, entonces sirve o no sirve.</a:t>
            </a:r>
          </a:p>
          <a:p>
            <a:pPr>
              <a:spcAft>
                <a:spcPts val="800"/>
              </a:spcAft>
            </a:pPr>
            <a:r>
              <a:rPr sz="2000" b="0" i="0">
                <a:solidFill>
                  <a:srgbClr val="333333"/>
                </a:solidFill>
                <a:latin typeface="Calibri"/>
              </a:rPr>
              <a:t>–   Con 20 filas el indice puede estar bien elegido y el motor tener razon en no usarlo; con las 30.010 de hoy el volumen ya no es excusa, asi que se revisa en este orden, el ANALYZE, el nombre de la columna lider, y si el predicado es sargable.</a:t>
            </a:r>
          </a:p>
          <a:p>
            <a:pPr>
              <a:spcAft>
                <a:spcPts val="800"/>
              </a:spcAft>
            </a:pPr>
            <a:r>
              <a:rPr sz="2000" b="0" i="0">
                <a:solidFill>
                  <a:srgbClr val="333333"/>
                </a:solidFill>
                <a:latin typeface="Calibri"/>
              </a:rPr>
              <a:t>–   Tercera: si particionar no mejora nada con este volumen, para que lo hacemos.</a:t>
            </a:r>
          </a:p>
          <a:p>
            <a:pPr>
              <a:spcAft>
                <a:spcPts val="800"/>
              </a:spcAft>
            </a:pPr>
            <a:r>
              <a:rPr sz="2000" b="0" i="0">
                <a:solidFill>
                  <a:srgbClr val="333333"/>
                </a:solidFill>
                <a:latin typeface="Calibri"/>
              </a:rPr>
              <a:t>–   Porque el archivado no tiene alternativa —DROP TABLE de una particion contra un DELETE de millones de filas— y porque son 20 puntos de la actividad, que se califican sobre SQL ejecutado y no sobre una explicacion.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el indice parcial y el completo indexan la misma columna, no es redundante.</a:t>
            </a:r>
          </a:p>
          <a:p>
            <a:pPr>
              <a:spcAft>
                <a:spcPts val="800"/>
              </a:spcAft>
            </a:pPr>
            <a:r>
              <a:rPr sz="2000" b="0" i="0">
                <a:solidFill>
                  <a:srgbClr val="333333"/>
                </a:solidFill>
                <a:latin typeface="Calibri"/>
              </a:rPr>
              <a:t>–   No lo es mientras existan consultas que no traigan el filtro de estado: esas solo pueden usar el completo.</a:t>
            </a:r>
          </a:p>
          <a:p>
            <a:pPr>
              <a:spcAft>
                <a:spcPts val="800"/>
              </a:spcAft>
            </a:pPr>
            <a:r>
              <a:rPr sz="2000" b="0" i="0">
                <a:solidFill>
                  <a:srgbClr val="333333"/>
                </a:solidFill>
                <a:latin typeface="Calibri"/>
              </a:rPr>
              <a:t>–   Si todas las consultas del PI filtran por PROGRAMADA, entonces si sobra el completo, y decirlo asi en la columna de veredicto es la respuesta que la rubrica busca.</a:t>
            </a:r>
          </a:p>
          <a:p>
            <a:pPr>
              <a:spcAft>
                <a:spcPts val="800"/>
              </a:spcAft>
            </a:pPr>
            <a:r>
              <a:rPr sz="2000" b="0" i="0">
                <a:solidFill>
                  <a:srgbClr val="333333"/>
                </a:solidFill>
                <a:latin typeface="Calibri"/>
              </a:rPr>
              <a:t>–   Quinta: puedo poner el indice y ya, sin medir.</a:t>
            </a:r>
          </a:p>
          <a:p>
            <a:pPr>
              <a:spcAft>
                <a:spcPts val="800"/>
              </a:spcAft>
            </a:pPr>
            <a:r>
              <a:rPr sz="2000" b="0" i="0">
                <a:solidFill>
                  <a:srgbClr val="333333"/>
                </a:solidFill>
                <a:latin typeface="Calibri"/>
              </a:rPr>
              <a:t>–   No, porque la pregunta 1 exige la linea base con Seq Scan; sin el antes, el despues no demuestra nada, y es la primera cosa que la rubrica revisa.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indice se justifica con la consulta que lo usa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Consulta frecuente: la agenda del dia (siempre PROGRAMADA)</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 WHERE fecha_hora &gt;= :hoy AND estado = 'PROGRAMADA';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idx_cita_programada_fecha ON cita (fecha_hora)</a:t>
            </a:r>
          </a:p>
          <a:p>
            <a:pPr>
              <a:spcAft>
                <a:spcPts val="400"/>
              </a:spcAft>
            </a:pPr>
            <a:r>
              <a:rPr sz="1400" b="0" i="0">
                <a:solidFill>
                  <a:srgbClr val="FFFFFF"/>
                </a:solidFill>
                <a:latin typeface="Calibri"/>
              </a:rPr>
              <a:t>  WHERE estado = 'PROGRAMADA';        -- indice PARCIAL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Mal candidato: baja cardinalidad (solo 'S' o 'N')</a:t>
            </a:r>
          </a:p>
          <a:p>
            <a:pPr>
              <a:spcAft>
                <a:spcPts val="400"/>
              </a:spcAft>
            </a:pPr>
            <a:r>
              <a:rPr sz="1400" b="0" i="0">
                <a:solidFill>
                  <a:srgbClr val="FFFFFF"/>
                </a:solidFill>
                <a:latin typeface="Calibri"/>
              </a:rPr>
              <a:t>-- CREATE INDEX idx_mascota_activa ON mascota(activa);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indice acelera lecturas y encarece INSERT/UPDATE/DELETE. El nombre se califica letra por letra.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indices de hoy, con su nombre exacto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Preguntas 1 y 2 del taller — 50 de los 100 puntos — y los nombres son los que se escriben en la plantilla del entregable</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El nombre se califica.</a:t>
            </a:r>
            <a:r>
              <a:rPr sz="1800" b="0" i="0">
                <a:solidFill>
                  <a:srgbClr val="333333"/>
                </a:solidFill>
                <a:latin typeface="Calibri"/>
              </a:rPr>
              <a:t> La actividad dice «nombres exactos» y los compara letra por letra: «idx_cita_fecha_hora», «idx_mascota_dueno», «idx_cita_programada_fecha» en la pregunta 1, y «idx_cita_estado_fecha» + «idx_cita_fecha_estado» en la 2. </a:t>
            </a:r>
            <a:r>
              <a:rPr sz="1800" b="1" i="0">
                <a:solidFill>
                  <a:srgbClr val="333333"/>
                </a:solidFill>
                <a:latin typeface="Calibri"/>
              </a:rPr>
              <a:t>«idx_cita_fecha» no es ninguno de los cinco</a:t>
            </a:r>
            <a:r>
              <a:rPr sz="1800" b="0" i="0">
                <a:solidFill>
                  <a:srgbClr val="333333"/>
                </a:solidFill>
                <a:latin typeface="Calibri"/>
              </a:rPr>
              <a:t>: el sufijo es «_fecha_hora», como la columna.</a:t>
            </a:r>
          </a:p>
          <a:p>
            <a:pPr>
              <a:spcAft>
                <a:spcPts val="800"/>
              </a:spcAft>
            </a:pPr>
            <a:r>
              <a:rPr sz="1800" b="0" i="0">
                <a:solidFill>
                  <a:srgbClr val="333333"/>
                </a:solidFill>
                <a:latin typeface="Calibri"/>
              </a:rPr>
              <a:t>–   </a:t>
            </a:r>
            <a:r>
              <a:rPr sz="1800" b="1" i="0">
                <a:solidFill>
                  <a:srgbClr val="333333"/>
                </a:solidFill>
                <a:latin typeface="Calibri"/>
              </a:rPr>
              <a:t>Simple o compuesto.</a:t>
            </a:r>
            <a:r>
              <a:rPr sz="1800" b="0" i="0">
                <a:solidFill>
                  <a:srgbClr val="333333"/>
                </a:solidFill>
                <a:latin typeface="Calibri"/>
              </a:rPr>
              <a:t> Los tres primeros son de una columna; los dos ultimos llevan las mismas dos columnas </a:t>
            </a:r>
            <a:r>
              <a:rPr sz="1800" b="1" i="0">
                <a:solidFill>
                  <a:srgbClr val="333333"/>
                </a:solidFill>
                <a:latin typeface="Calibri"/>
              </a:rPr>
              <a:t>en orden inverso</a:t>
            </a:r>
            <a:r>
              <a:rPr sz="1800" b="0" i="0">
                <a:solidFill>
                  <a:srgbClr val="333333"/>
                </a:solidFill>
                <a:latin typeface="Calibri"/>
              </a:rPr>
              <a:t>, y existen precisamente para que se vea que el orden cambia el resultado.</a:t>
            </a:r>
          </a:p>
          <a:p>
            <a:pPr>
              <a:spcAft>
                <a:spcPts val="800"/>
              </a:spcAft>
            </a:pPr>
            <a:r>
              <a:rPr sz="1800" b="0" i="0">
                <a:solidFill>
                  <a:srgbClr val="333333"/>
                </a:solidFill>
                <a:latin typeface="Calibri"/>
              </a:rPr>
              <a:t>–   </a:t>
            </a:r>
            <a:r>
              <a:rPr sz="1800" b="1" i="0">
                <a:solidFill>
                  <a:srgbClr val="333333"/>
                </a:solidFill>
                <a:latin typeface="Calibri"/>
              </a:rPr>
              <a:t>La secuencia que hay que respetar.</a:t>
            </a:r>
            <a:r>
              <a:rPr sz="1800" b="0" i="0">
                <a:solidFill>
                  <a:srgbClr val="333333"/>
                </a:solidFill>
                <a:latin typeface="Calibri"/>
              </a:rPr>
              <a:t> «EXPLAIN ANALYZE» </a:t>
            </a:r>
            <a:r>
              <a:rPr sz="1800" b="1" i="0">
                <a:solidFill>
                  <a:srgbClr val="333333"/>
                </a:solidFill>
                <a:latin typeface="Calibri"/>
              </a:rPr>
              <a:t>antes</a:t>
            </a:r>
            <a:r>
              <a:rPr sz="1800" b="0" i="0">
                <a:solidFill>
                  <a:srgbClr val="333333"/>
                </a:solidFill>
                <a:latin typeface="Calibri"/>
              </a:rPr>
              <a:t> (tiene que salir «Seq Scan») -&gt; «CREATE INDEX» -&gt; </a:t>
            </a:r>
            <a:r>
              <a:rPr sz="1800" b="1" i="0">
                <a:solidFill>
                  <a:srgbClr val="333333"/>
                </a:solidFill>
                <a:latin typeface="Calibri"/>
              </a:rPr>
              <a:t>«ANALYZE cita;»</a:t>
            </a:r>
            <a:r>
              <a:rPr sz="1800" b="0" i="0">
                <a:solidFill>
                  <a:srgbClr val="333333"/>
                </a:solidFill>
                <a:latin typeface="Calibri"/>
              </a:rPr>
              <a:t> -&gt; el mismo «EXPLAIN» otra vez. Sin el «ANALYZE» intermedio el planeador sigue con las estadisticas viejas y puede ignorar el indice que acabas de crear: la mitad de los «no me sirvio» del taller son este paso saltado.</a:t>
            </a:r>
          </a:p>
          <a:p>
            <a:pPr>
              <a:spcAft>
                <a:spcPts val="800"/>
              </a:spcAft>
            </a:pPr>
            <a:r>
              <a:rPr sz="1800" b="0" i="0">
                <a:solidFill>
                  <a:srgbClr val="333333"/>
                </a:solidFill>
                <a:latin typeface="Calibri"/>
              </a:rPr>
              <a:t>–   </a:t>
            </a:r>
            <a:r>
              <a:rPr sz="1800" b="1" i="0">
                <a:solidFill>
                  <a:srgbClr val="333333"/>
                </a:solidFill>
                <a:latin typeface="Calibri"/>
              </a:rPr>
              <a:t>La evidencia de que existen.</a:t>
            </a:r>
            <a:r>
              <a:rPr sz="1800" b="0" i="0">
                <a:solidFill>
                  <a:srgbClr val="333333"/>
                </a:solidFill>
                <a:latin typeface="Calibri"/>
              </a:rPr>
              <a:t> «SELECT indexname, tablename, indexdef FROM pg_indexes WHERE tablename IN ('cita','mascota') ORDER BY tablename, indexname;» — «indexdef» devuelve el «CREATE INDEX» completo, asi que ahi se ve tambien el «WHERE» del parcial.</a:t>
            </a:r>
          </a:p>
          <a:p>
            <a:pPr>
              <a:spcAft>
                <a:spcPts val="800"/>
              </a:spcAft>
            </a:pPr>
            <a:r>
              <a:rPr sz="1800" b="0" i="0">
                <a:solidFill>
                  <a:srgbClr val="333333"/>
                </a:solidFill>
                <a:latin typeface="Calibri"/>
              </a:rPr>
              <a:t>–   </a:t>
            </a:r>
            <a:r>
              <a:rPr sz="1800" b="1" i="0">
                <a:solidFill>
                  <a:srgbClr val="333333"/>
                </a:solidFill>
                <a:latin typeface="Calibri"/>
              </a:rPr>
              <a:t>Y el experimento del orden.</a:t>
            </a:r>
            <a:r>
              <a:rPr sz="1800" b="0" i="0">
                <a:solidFill>
                  <a:srgbClr val="333333"/>
                </a:solidFill>
                <a:latin typeface="Calibri"/>
              </a:rPr>
              <a:t> Con los dos compuestos creados se miden tres consultas: estado + rango de fecha, solo rango, solo estado. Despues se hace «DROP INDEX idx_cita_fecha_estado» y se vuelve a medir la del rango solo. </a:t>
            </a:r>
            <a:r>
              <a:rPr sz="1800" b="1" i="0">
                <a:solidFill>
                  <a:srgbClr val="333333"/>
                </a:solidFill>
                <a:latin typeface="Calibri"/>
              </a:rPr>
              <a:t>La columna de igualdad va primero y la de rango al final</a:t>
            </a:r>
            <a:r>
              <a:rPr sz="1800" b="0" i="0">
                <a:solidFill>
                  <a:srgbClr val="333333"/>
                </a:solidFill>
                <a:latin typeface="Calibri"/>
              </a:rPr>
              <a:t>; un indice cuya columna lider no aparece en el «WHERE» normalmente no se usa.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indice parcial: el mismo beneficio, una fraccion del tamano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pregunta 1 lo exige por nombre y su rubrica descuenta si falta; la pregunta 4 lo vuelve a cobrar como afirmacion correcta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Que es.</a:t>
            </a:r>
            <a:r>
              <a:rPr sz="1900" b="0" i="0">
                <a:solidFill>
                  <a:srgbClr val="333333"/>
                </a:solidFill>
                <a:latin typeface="Calibri"/>
              </a:rPr>
              <a:t> Un indice que solo contiene las filas que cumplen una condicion: «CREATE INDEX idx_cita_programada_fecha ON cita (fecha_hora) WHERE estado = 'PROGRAMADA';». El «WHERE» no es el de la consulta: es </a:t>
            </a:r>
            <a:r>
              <a:rPr sz="1900" b="1" i="0">
                <a:solidFill>
                  <a:srgbClr val="333333"/>
                </a:solidFill>
                <a:latin typeface="Calibri"/>
              </a:rPr>
              <a:t>parte de la definicion del indice</a:t>
            </a:r>
            <a:r>
              <a:rPr sz="1900" b="0" i="0">
                <a:solidFill>
                  <a:srgbClr val="333333"/>
                </a:solidFill>
                <a:latin typeface="Calibri"/>
              </a:rPr>
              <a:t> y decide que filas entran en el arbol.</a:t>
            </a:r>
          </a:p>
          <a:p>
            <a:pPr>
              <a:spcAft>
                <a:spcPts val="800"/>
              </a:spcAft>
            </a:pPr>
            <a:r>
              <a:rPr sz="1900" b="0" i="0">
                <a:solidFill>
                  <a:srgbClr val="333333"/>
                </a:solidFill>
                <a:latin typeface="Calibri"/>
              </a:rPr>
              <a:t>–   </a:t>
            </a:r>
            <a:r>
              <a:rPr sz="1900" b="1" i="0">
                <a:solidFill>
                  <a:srgbClr val="333333"/>
                </a:solidFill>
                <a:latin typeface="Calibri"/>
              </a:rPr>
              <a:t>Cuanto se ahorra, con los datos de hoy.</a:t>
            </a:r>
            <a:r>
              <a:rPr sz="1900" b="0" i="0">
                <a:solidFill>
                  <a:srgbClr val="333333"/>
                </a:solidFill>
                <a:latin typeface="Calibri"/>
              </a:rPr>
              <a:t> De las 30.010 citas sembradas, </a:t>
            </a:r>
            <a:r>
              <a:rPr sz="1900" b="1" i="0">
                <a:solidFill>
                  <a:srgbClr val="333333"/>
                </a:solidFill>
                <a:latin typeface="Calibri"/>
              </a:rPr>
              <a:t>18.187</a:t>
            </a:r>
            <a:r>
              <a:rPr sz="1900" b="0" i="0">
                <a:solidFill>
                  <a:srgbClr val="333333"/>
                </a:solidFill>
                <a:latin typeface="Calibri"/>
              </a:rPr>
              <a:t> estan «PROGRAMADA» (el 61 %): el indice completo indexa 30.010 entradas y el parcial 18.187, cuatro de cada diez menos. Menos entradas es menos disco, menos cache ocupada y menos trabajo en cada escritura de una cita </a:t>
            </a:r>
            <a:r>
              <a:rPr sz="1900" b="1" i="0">
                <a:solidFill>
                  <a:srgbClr val="333333"/>
                </a:solidFill>
                <a:latin typeface="Calibri"/>
              </a:rPr>
              <a:t>que no este programada</a:t>
            </a:r>
            <a:r>
              <a:rPr sz="1900" b="0" i="0">
                <a:solidFill>
                  <a:srgbClr val="333333"/>
                </a:solidFill>
                <a:latin typeface="Calibri"/>
              </a:rPr>
              <a:t>.</a:t>
            </a:r>
          </a:p>
          <a:p>
            <a:pPr>
              <a:spcAft>
                <a:spcPts val="800"/>
              </a:spcAft>
            </a:pPr>
            <a:r>
              <a:rPr sz="1900" b="0" i="0">
                <a:solidFill>
                  <a:srgbClr val="333333"/>
                </a:solidFill>
                <a:latin typeface="Calibri"/>
              </a:rPr>
              <a:t>–   </a:t>
            </a:r>
            <a:r>
              <a:rPr sz="1900" b="1" i="0">
                <a:solidFill>
                  <a:srgbClr val="333333"/>
                </a:solidFill>
                <a:latin typeface="Calibri"/>
              </a:rPr>
              <a:t>La condicion para que sirva.</a:t>
            </a:r>
            <a:r>
              <a:rPr sz="1900" b="0" i="0">
                <a:solidFill>
                  <a:srgbClr val="333333"/>
                </a:solidFill>
                <a:latin typeface="Calibri"/>
              </a:rPr>
              <a:t> El planeador solo lo usa si puede demostrar que la consulta </a:t>
            </a:r>
            <a:r>
              <a:rPr sz="1900" b="1" i="0">
                <a:solidFill>
                  <a:srgbClr val="333333"/>
                </a:solidFill>
                <a:latin typeface="Calibri"/>
              </a:rPr>
              <a:t>trae la misma condicion</a:t>
            </a:r>
            <a:r>
              <a:rPr sz="1900" b="0" i="0">
                <a:solidFill>
                  <a:srgbClr val="333333"/>
                </a:solidFill>
                <a:latin typeface="Calibri"/>
              </a:rPr>
              <a:t> del indice. «WHERE estado = 'PROGRAMADA' AND fecha_hora &gt;= ...» si lo aprovecha; la misma consulta sin el filtro de estado </a:t>
            </a:r>
            <a:r>
              <a:rPr sz="1900" b="1" i="0">
                <a:solidFill>
                  <a:srgbClr val="333333"/>
                </a:solidFill>
                <a:latin typeface="Calibri"/>
              </a:rPr>
              <a:t>no</a:t>
            </a:r>
            <a:r>
              <a:rPr sz="1900" b="0" i="0">
                <a:solidFill>
                  <a:srgbClr val="333333"/>
                </a:solidFill>
                <a:latin typeface="Calibri"/>
              </a:rPr>
              <a:t>, porque el indice no contiene las filas atendidas ni las canceladas.</a:t>
            </a:r>
          </a:p>
          <a:p>
            <a:pPr>
              <a:spcAft>
                <a:spcPts val="800"/>
              </a:spcAft>
            </a:pPr>
            <a:r>
              <a:rPr sz="1900" b="0" i="0">
                <a:solidFill>
                  <a:srgbClr val="333333"/>
                </a:solidFill>
                <a:latin typeface="Calibri"/>
              </a:rPr>
              <a:t>–   </a:t>
            </a:r>
            <a:r>
              <a:rPr sz="1900" b="1" i="0">
                <a:solidFill>
                  <a:srgbClr val="333333"/>
                </a:solidFill>
                <a:latin typeface="Calibri"/>
              </a:rPr>
              <a:t>El caso de VetCare que lo justifica.</a:t>
            </a:r>
            <a:r>
              <a:rPr sz="1900" b="0" i="0">
                <a:solidFill>
                  <a:srgbClr val="333333"/>
                </a:solidFill>
                <a:latin typeface="Calibri"/>
              </a:rPr>
              <a:t> La agenda del dia de la recepcion </a:t>
            </a:r>
            <a:r>
              <a:rPr sz="1900" b="1" i="0">
                <a:solidFill>
                  <a:srgbClr val="333333"/>
                </a:solidFill>
                <a:latin typeface="Calibri"/>
              </a:rPr>
              <a:t>siempre</a:t>
            </a:r>
            <a:r>
              <a:rPr sz="1900" b="0" i="0">
                <a:solidFill>
                  <a:srgbClr val="333333"/>
                </a:solidFill>
                <a:latin typeface="Calibri"/>
              </a:rPr>
              <a:t> filtra por «PROGRAMADA»: nadie abre la pantalla para ver las citas que ya se atendieron. Cuando el filtro es parte del caso de uso y no del capricho de una consulta, el parcial es la respuesta correcta.</a:t>
            </a:r>
          </a:p>
          <a:p>
            <a:pPr>
              <a:spcAft>
                <a:spcPts val="800"/>
              </a:spcAft>
            </a:pPr>
            <a:r>
              <a:rPr sz="1900" b="0" i="0">
                <a:solidFill>
                  <a:srgbClr val="333333"/>
                </a:solidFill>
                <a:latin typeface="Calibri"/>
              </a:rPr>
              <a:t>–   </a:t>
            </a:r>
            <a:r>
              <a:rPr sz="1900" b="1" i="0">
                <a:solidFill>
                  <a:srgbClr val="333333"/>
                </a:solidFill>
                <a:latin typeface="Calibri"/>
              </a:rPr>
              <a:t>Cual de los dos elige.</a:t>
            </a:r>
            <a:r>
              <a:rPr sz="1900" b="0" i="0">
                <a:solidFill>
                  <a:srgbClr val="333333"/>
                </a:solidFill>
                <a:latin typeface="Calibri"/>
              </a:rPr>
              <a:t> Con «idx_cita_fecha_hora» y «idx_cita_programada_fecha» compitiendo por la misma consulta, el plan nombra al ganador: hay que leer el «Index Scan using ...» y </a:t>
            </a:r>
            <a:r>
              <a:rPr sz="1900" b="1" i="0">
                <a:solidFill>
                  <a:srgbClr val="333333"/>
                </a:solidFill>
                <a:latin typeface="Calibri"/>
              </a:rPr>
              <a:t>escribir cual salio</a:t>
            </a:r>
            <a:r>
              <a:rPr sz="1900" b="0" i="0">
                <a:solidFill>
                  <a:srgbClr val="333333"/>
                </a:solidFill>
                <a:latin typeface="Calibri"/>
              </a:rPr>
              <a:t>, porque la rubrica descuenta si no se comenta.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Particionar hoy de verdad: rango por ano, poda y archivado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3 completa —20 de los 100 puntos— y el segundo parrafo de la pregunta 5: hoy se implementa, no se cuenta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El DDL, en tres sentencias.</a:t>
            </a:r>
            <a:r>
              <a:rPr sz="1700" b="0" i="0">
                <a:solidFill>
                  <a:srgbClr val="333333"/>
                </a:solidFill>
                <a:latin typeface="Calibri"/>
              </a:rPr>
              <a:t> «CREATE TABLE cita_hist (... ) PARTITION BY RANGE (fecha_hora);» y despues una particion por ano: «CREATE TABLE cita_hist_2025 PARTITION OF cita_hist FOR VALUES FROM (TIMESTAMP '2025-01-01') TO (TIMESTAMP '2026-01-01');». El rango es </a:t>
            </a:r>
            <a:r>
              <a:rPr sz="1700" b="1" i="0">
                <a:solidFill>
                  <a:srgbClr val="333333"/>
                </a:solidFill>
                <a:latin typeface="Calibri"/>
              </a:rPr>
              <a:t>cerrado por abajo y abierto por arriba</a:t>
            </a:r>
            <a:r>
              <a:rPr sz="1700" b="0" i="0">
                <a:solidFill>
                  <a:srgbClr val="333333"/>
                </a:solidFill>
                <a:latin typeface="Calibri"/>
              </a:rPr>
              <a:t>, asi que el «TO» de una particion es el «FROM» de la siguiente y nunca se solapan.</a:t>
            </a:r>
          </a:p>
          <a:p>
            <a:pPr>
              <a:spcAft>
                <a:spcPts val="800"/>
              </a:spcAft>
            </a:pPr>
            <a:r>
              <a:rPr sz="1700" b="0" i="0">
                <a:solidFill>
                  <a:srgbClr val="333333"/>
                </a:solidFill>
                <a:latin typeface="Calibri"/>
              </a:rPr>
              <a:t>–   </a:t>
            </a:r>
            <a:r>
              <a:rPr sz="1700" b="1" i="0">
                <a:solidFill>
                  <a:srgbClr val="333333"/>
                </a:solidFill>
                <a:latin typeface="Calibri"/>
              </a:rPr>
              <a:t>La trampa que cuesta la pregunta.</a:t>
            </a:r>
            <a:r>
              <a:rPr sz="1700" b="0" i="0">
                <a:solidFill>
                  <a:srgbClr val="333333"/>
                </a:solidFill>
                <a:latin typeface="Calibri"/>
              </a:rPr>
              <a:t> En una tabla particionada la clave primaria </a:t>
            </a:r>
            <a:r>
              <a:rPr sz="1700" b="1" i="0">
                <a:solidFill>
                  <a:srgbClr val="333333"/>
                </a:solidFill>
                <a:latin typeface="Calibri"/>
              </a:rPr>
              <a:t>debe incluir la columna de particion</a:t>
            </a:r>
            <a:r>
              <a:rPr sz="1700" b="0" i="0">
                <a:solidFill>
                  <a:srgbClr val="333333"/>
                </a:solidFill>
                <a:latin typeface="Calibri"/>
              </a:rPr>
              <a:t>: «PRIMARY KEY (id_cita, fecha_hora)». Un «PRIMARY KEY (id_cita)» a secas no compila, y el error del motor no dice «te falta la columna de particion» con esas palabras.</a:t>
            </a:r>
          </a:p>
          <a:p>
            <a:pPr>
              <a:spcAft>
                <a:spcPts val="800"/>
              </a:spcAft>
            </a:pPr>
            <a:r>
              <a:rPr sz="1700" b="0" i="0">
                <a:solidFill>
                  <a:srgbClr val="333333"/>
                </a:solidFill>
                <a:latin typeface="Calibri"/>
              </a:rPr>
              <a:t>–   </a:t>
            </a:r>
            <a:r>
              <a:rPr sz="1700" b="1" i="0">
                <a:solidFill>
                  <a:srgbClr val="333333"/>
                </a:solidFill>
                <a:latin typeface="Calibri"/>
              </a:rPr>
              <a:t>La prueba de que el reparto ocurrio.</a:t>
            </a:r>
            <a:r>
              <a:rPr sz="1700" b="0" i="0">
                <a:solidFill>
                  <a:srgbClr val="333333"/>
                </a:solidFill>
                <a:latin typeface="Calibri"/>
              </a:rPr>
              <a:t> «SELECT tableoid::regclass AS particion, COUNT(*), MIN(fecha_hora), MAX(fecha_hora) FROM cita_hist GROUP BY 1 ORDER BY 1;» — «tableoid» es la columna de sistema que dice </a:t>
            </a:r>
            <a:r>
              <a:rPr sz="1700" b="1" i="0">
                <a:solidFill>
                  <a:srgbClr val="333333"/>
                </a:solidFill>
                <a:latin typeface="Calibri"/>
              </a:rPr>
              <a:t>en que tabla fisica vive cada fila</a:t>
            </a:r>
            <a:r>
              <a:rPr sz="1700" b="0" i="0">
                <a:solidFill>
                  <a:srgbClr val="333333"/>
                </a:solidFill>
                <a:latin typeface="Calibri"/>
              </a:rPr>
              <a:t>, y «::regclass» la traduce a nombre. Sin esta consulta no hay evidencia del enrutamiento, solo un «INSERT» que no dio error.</a:t>
            </a:r>
          </a:p>
          <a:p>
            <a:pPr>
              <a:spcAft>
                <a:spcPts val="800"/>
              </a:spcAft>
            </a:pPr>
            <a:r>
              <a:rPr sz="1700" b="0" i="0">
                <a:solidFill>
                  <a:srgbClr val="333333"/>
                </a:solidFill>
                <a:latin typeface="Calibri"/>
              </a:rPr>
              <a:t>–   </a:t>
            </a:r>
            <a:r>
              <a:rPr sz="1700" b="1" i="0">
                <a:solidFill>
                  <a:srgbClr val="333333"/>
                </a:solidFill>
                <a:latin typeface="Calibri"/>
              </a:rPr>
              <a:t>La poda, que es lo unico que mejora hoy.</a:t>
            </a:r>
            <a:r>
              <a:rPr sz="1700" b="0" i="0">
                <a:solidFill>
                  <a:srgbClr val="333333"/>
                </a:solidFill>
                <a:latin typeface="Calibri"/>
              </a:rPr>
              <a:t> En «EXPLAIN ANALYZE» de una consulta acotada a 2026 el plan tiene que mencionar </a:t>
            </a:r>
            <a:r>
              <a:rPr sz="1700" b="1" i="0">
                <a:solidFill>
                  <a:srgbClr val="333333"/>
                </a:solidFill>
                <a:latin typeface="Calibri"/>
              </a:rPr>
              <a:t>solo «cita_hist_2026»</a:t>
            </a:r>
            <a:r>
              <a:rPr sz="1700" b="0" i="0">
                <a:solidFill>
                  <a:srgbClr val="333333"/>
                </a:solidFill>
                <a:latin typeface="Calibri"/>
              </a:rPr>
              <a:t>. Con 5.010 filas el tiempo no baja de forma apreciable y hay que decirlo: lo que se demuestra es que el motor </a:t>
            </a:r>
            <a:r>
              <a:rPr sz="1700" b="1" i="0">
                <a:solidFill>
                  <a:srgbClr val="333333"/>
                </a:solidFill>
                <a:latin typeface="Calibri"/>
              </a:rPr>
              <a:t>descarta particiones enteras</a:t>
            </a:r>
            <a:r>
              <a:rPr sz="1700" b="0" i="0">
                <a:solidFill>
                  <a:srgbClr val="333333"/>
                </a:solidFill>
                <a:latin typeface="Calibri"/>
              </a:rPr>
              <a:t> antes de leer.</a:t>
            </a:r>
          </a:p>
          <a:p>
            <a:pPr>
              <a:spcAft>
                <a:spcPts val="800"/>
              </a:spcAft>
            </a:pPr>
            <a:r>
              <a:rPr sz="1700" b="0" i="0">
                <a:solidFill>
                  <a:srgbClr val="333333"/>
                </a:solidFill>
                <a:latin typeface="Calibri"/>
              </a:rPr>
              <a:t>–   </a:t>
            </a:r>
            <a:r>
              <a:rPr sz="1700" b="1" i="0">
                <a:solidFill>
                  <a:srgbClr val="333333"/>
                </a:solidFill>
                <a:latin typeface="Calibri"/>
              </a:rPr>
              <a:t>Y el beneficio real, que es de mantenimiento.</a:t>
            </a:r>
            <a:r>
              <a:rPr sz="1700" b="0" i="0">
                <a:solidFill>
                  <a:srgbClr val="333333"/>
                </a:solidFill>
                <a:latin typeface="Calibri"/>
              </a:rPr>
              <a:t> Archivar 2025 es «DROP TABLE cita_hist_2025», una operacion de </a:t>
            </a:r>
            <a:r>
              <a:rPr sz="1700" b="1" i="0">
                <a:solidFill>
                  <a:srgbClr val="333333"/>
                </a:solidFill>
                <a:latin typeface="Calibri"/>
              </a:rPr>
              <a:t>metadatos</a:t>
            </a:r>
            <a:r>
              <a:rPr sz="1700" b="0" i="0">
                <a:solidFill>
                  <a:srgbClr val="333333"/>
                </a:solidFill>
                <a:latin typeface="Calibri"/>
              </a:rPr>
              <a:t> que tarda un instante. El «DELETE FROM cita WHERE fecha_hora &lt; ...» equivalente toca millones de filas, infla el registro de transacciones y sostiene bloqueos largos — el contraste conecta directo con la Clase 8.</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en el navegador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EXPLAIN ANALYZE con Seq Scan, CREATE INDEX idx_cita_fecha_hora, ANALYZE, y el mismo EXPLAIN mostrando Index Scan.</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5538063"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5538063"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5538063"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amlab.png"/>
          <p:cNvPicPr>
            <a:picLocks noChangeAspect="1"/>
          </p:cNvPicPr>
          <p:nvPr/>
        </p:nvPicPr>
        <p:blipFill>
          <a:blip r:embed="rId2"/>
          <a:stretch>
            <a:fillRect/>
          </a:stretch>
        </p:blipFill>
        <p:spPr>
          <a:xfrm>
            <a:off x="2599867" y="1847087"/>
            <a:ext cx="1252728" cy="1252728"/>
          </a:xfrm>
          <a:prstGeom prst="rect">
            <a:avLst/>
          </a:prstGeom>
        </p:spPr>
      </p:pic>
      <p:sp>
        <p:nvSpPr>
          <p:cNvPr id="10" name="TextBox 9"/>
          <p:cNvSpPr txBox="1"/>
          <p:nvPr/>
        </p:nvSpPr>
        <p:spPr>
          <a:xfrm>
            <a:off x="530352" y="3191256"/>
            <a:ext cx="5391759"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PostgreSQL: 30.010 citas</a:t>
            </a:r>
          </a:p>
        </p:txBody>
      </p:sp>
      <p:sp>
        <p:nvSpPr>
          <p:cNvPr id="11" name="Rounded Rectangle 10"/>
          <p:cNvSpPr/>
          <p:nvPr/>
        </p:nvSpPr>
        <p:spPr>
          <a:xfrm>
            <a:off x="6196431" y="1591056"/>
            <a:ext cx="5538063"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6431" y="1591056"/>
            <a:ext cx="5538063"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6431" y="1655064"/>
            <a:ext cx="5538063"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8339099" y="1847087"/>
            <a:ext cx="1252728" cy="1252728"/>
          </a:xfrm>
          <a:prstGeom prst="rect">
            <a:avLst/>
          </a:prstGeom>
        </p:spPr>
      </p:pic>
      <p:sp>
        <p:nvSpPr>
          <p:cNvPr id="15" name="TextBox 14"/>
          <p:cNvSpPr txBox="1"/>
          <p:nvPr/>
        </p:nvSpPr>
        <p:spPr>
          <a:xfrm>
            <a:off x="6269583" y="3191256"/>
            <a:ext cx="5391759"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Tabla de justificacion</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la rúbrica pide índices </a:t>
            </a:r>
            <a:r>
              <a:rPr sz="2000" b="1" i="0">
                <a:solidFill>
                  <a:srgbClr val="333333"/>
                </a:solidFill>
                <a:latin typeface="Calibri"/>
              </a:rPr>
              <a:t>justificados</a:t>
            </a:r>
            <a:r>
              <a:rPr sz="2000" b="0" i="0">
                <a:solidFill>
                  <a:srgbClr val="333333"/>
                </a:solidFill>
                <a:latin typeface="Calibri"/>
              </a:rPr>
              <a:t>, y una justificación es una consulta concreta más la evidencia del plan — no «indexé las columnas importantes».</a:t>
            </a:r>
          </a:p>
          <a:p>
            <a:pPr>
              <a:spcAft>
                <a:spcPts val="800"/>
              </a:spcAft>
            </a:pPr>
            <a:r>
              <a:rPr sz="2000" b="0" i="0">
                <a:solidFill>
                  <a:srgbClr val="333333"/>
                </a:solidFill>
                <a:latin typeface="Calibri"/>
              </a:rPr>
              <a:t>–   La agenda del día y la ficha del dueño son las dos pantallas que Huellitas abre </a:t>
            </a:r>
            <a:r>
              <a:rPr sz="2000" b="1" i="0">
                <a:solidFill>
                  <a:srgbClr val="333333"/>
                </a:solidFill>
                <a:latin typeface="Calibri"/>
              </a:rPr>
              <a:t>todo el día</a:t>
            </a:r>
            <a:r>
              <a:rPr sz="2000" b="0" i="0">
                <a:solidFill>
                  <a:srgbClr val="333333"/>
                </a:solidFill>
                <a:latin typeface="Calibri"/>
              </a:rPr>
              <a:t>: son las que pagan cada «Seq Scan» sobre 30.010 citas.</a:t>
            </a:r>
          </a:p>
          <a:p>
            <a:pPr>
              <a:spcAft>
                <a:spcPts val="800"/>
              </a:spcAft>
            </a:pPr>
            <a:r>
              <a:rPr sz="2000" b="0" i="0">
                <a:solidFill>
                  <a:srgbClr val="333333"/>
                </a:solidFill>
                <a:latin typeface="Calibri"/>
              </a:rPr>
              <a:t>–   Indexar de más también cuesta: cada índice se mantiene en </a:t>
            </a:r>
            <a:r>
              <a:rPr sz="2000" b="1" i="0">
                <a:solidFill>
                  <a:srgbClr val="333333"/>
                </a:solidFill>
                <a:latin typeface="Calibri"/>
              </a:rPr>
              <a:t>cada cita agendada</a:t>
            </a:r>
            <a:r>
              <a:rPr sz="2000" b="0" i="0">
                <a:solidFill>
                  <a:srgbClr val="333333"/>
                </a:solidFill>
                <a:latin typeface="Calibri"/>
              </a:rPr>
              <a:t>. Por eso hoy el </a:t>
            </a:r>
            <a:r>
              <a:rPr sz="2000" b="1" i="0">
                <a:solidFill>
                  <a:srgbClr val="333333"/>
                </a:solidFill>
                <a:latin typeface="Calibri"/>
              </a:rPr>
              <a:t>veredicto</a:t>
            </a:r>
            <a:r>
              <a:rPr sz="2000" b="0" i="0">
                <a:solidFill>
                  <a:srgbClr val="333333"/>
                </a:solidFill>
                <a:latin typeface="Calibri"/>
              </a:rPr>
              <a:t> de cada índice vale tantos puntos como crearlo.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Objetivo:</a:t>
            </a:r>
            <a:r>
              <a:rPr sz="1700" b="0" i="0">
                <a:solidFill>
                  <a:srgbClr val="333333"/>
                </a:solidFill>
                <a:latin typeface="Calibri"/>
              </a:rPr>
              <a:t> Tres índices creados con nombre exacto (uno parcial) y probados con EXPLAIN antes y después, el experimento del orden de columnas en un índice compuesto, el histórico particionado por año con su poda demostrada, y la tabla de justificación que va al informe.</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La línea base medida </a:t>
            </a:r>
            <a:r>
              <a:rPr sz="1700" b="1" i="0">
                <a:solidFill>
                  <a:srgbClr val="333333"/>
                </a:solidFill>
                <a:latin typeface="Calibri"/>
              </a:rPr>
              <a:t>antes</a:t>
            </a:r>
            <a:r>
              <a:rPr sz="1700" b="0" i="0">
                <a:solidFill>
                  <a:srgbClr val="333333"/>
                </a:solidFill>
                <a:latin typeface="Calibri"/>
              </a:rPr>
              <a:t> de indexar: «EXPLAIN ANALYZE» de las dos consultas frecuentes con «Seq Scan» a la vista.</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Los </a:t>
            </a:r>
            <a:r>
              <a:rPr sz="1700" b="1" i="0">
                <a:solidFill>
                  <a:srgbClr val="333333"/>
                </a:solidFill>
                <a:latin typeface="Calibri"/>
              </a:rPr>
              <a:t>tres</a:t>
            </a:r>
            <a:r>
              <a:rPr sz="1700" b="0" i="0">
                <a:solidFill>
                  <a:srgbClr val="333333"/>
                </a:solidFill>
                <a:latin typeface="Calibri"/>
              </a:rPr>
              <a:t> índices con el nombre exacto — «idx_cita_fecha_hora», «idx_mascota_dueno» y el </a:t>
            </a:r>
            <a:r>
              <a:rPr sz="1700" b="1" i="0">
                <a:solidFill>
                  <a:srgbClr val="333333"/>
                </a:solidFill>
                <a:latin typeface="Calibri"/>
              </a:rPr>
              <a:t>parcial</a:t>
            </a:r>
            <a:r>
              <a:rPr sz="1700" b="0" i="0">
                <a:solidFill>
                  <a:srgbClr val="333333"/>
                </a:solidFill>
                <a:latin typeface="Calibri"/>
              </a:rPr>
              <a:t> «idx_cita_programada_fecha» con su «WHERE estado = 'PROGRAMADA'» — y «ANALYZE» corrido después.</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Los «EXPLAIN» repetidos mostrando «Index Scan» o «Bitmap Index Scan», y dicho </a:t>
            </a:r>
            <a:r>
              <a:rPr sz="1700" b="1" i="0">
                <a:solidFill>
                  <a:srgbClr val="333333"/>
                </a:solidFill>
                <a:latin typeface="Calibri"/>
              </a:rPr>
              <a:t>cuál</a:t>
            </a:r>
            <a:r>
              <a:rPr sz="1700" b="0" i="0">
                <a:solidFill>
                  <a:srgbClr val="333333"/>
                </a:solidFill>
                <a:latin typeface="Calibri"/>
              </a:rPr>
              <a:t> de los dos índices sobre «fecha_hora» eligió el planeador.</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El experimento del orden de columnas: los dos índices compuestos, las </a:t>
            </a:r>
            <a:r>
              <a:rPr sz="1700" b="1" i="0">
                <a:solidFill>
                  <a:srgbClr val="333333"/>
                </a:solidFill>
                <a:latin typeface="Calibri"/>
              </a:rPr>
              <a:t>tres</a:t>
            </a:r>
            <a:r>
              <a:rPr sz="1700" b="0" i="0">
                <a:solidFill>
                  <a:srgbClr val="333333"/>
                </a:solidFill>
                <a:latin typeface="Calibri"/>
              </a:rPr>
              <a:t> consultas medidas, el «DROP INDEX» que fuerza la comparación y la línea «-- CONCLUSION:» con la regla de igualdad antes que rango.</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«cita_hist» particionada por año: PK que </a:t>
            </a:r>
            <a:r>
              <a:rPr sz="1700" b="1" i="0">
                <a:solidFill>
                  <a:srgbClr val="333333"/>
                </a:solidFill>
                <a:latin typeface="Calibri"/>
              </a:rPr>
              <a:t>incluye la columna de partición</a:t>
            </a:r>
            <a:r>
              <a:rPr sz="1700" b="0" i="0">
                <a:solidFill>
                  <a:srgbClr val="333333"/>
                </a:solidFill>
                <a:latin typeface="Calibri"/>
              </a:rPr>
              <a:t>, las dos particiones sin solaparse, la migración completa y la </a:t>
            </a:r>
            <a:r>
              <a:rPr sz="1700" b="1" i="0">
                <a:solidFill>
                  <a:srgbClr val="333333"/>
                </a:solidFill>
                <a:latin typeface="Calibri"/>
              </a:rPr>
              <a:t>poda</a:t>
            </a:r>
            <a:r>
              <a:rPr sz="1700" b="0" i="0">
                <a:solidFill>
                  <a:srgbClr val="333333"/>
                </a:solidFill>
                <a:latin typeface="Calibri"/>
              </a:rPr>
              <a:t> evidenciada en el plan.</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La tabla de justificación con sus </a:t>
            </a:r>
            <a:r>
              <a:rPr sz="1700" b="1" i="0">
                <a:solidFill>
                  <a:srgbClr val="333333"/>
                </a:solidFill>
                <a:latin typeface="Calibri"/>
              </a:rPr>
              <a:t>7 columnas</a:t>
            </a:r>
            <a:r>
              <a:rPr sz="1700" b="0" i="0">
                <a:solidFill>
                  <a:srgbClr val="333333"/>
                </a:solidFill>
                <a:latin typeface="Calibri"/>
              </a:rPr>
              <a:t> y una fila por índice (mínimo 3), la regla de sobre-indexación y el veredicto de particionamiento con </a:t>
            </a:r>
            <a:r>
              <a:rPr sz="1700" b="1" i="0">
                <a:solidFill>
                  <a:srgbClr val="333333"/>
                </a:solidFill>
                <a:latin typeface="Calibri"/>
              </a:rPr>
              <a:t>tus números</a:t>
            </a:r>
            <a:r>
              <a:rPr sz="1700" b="0" i="0">
                <a:solidFill>
                  <a:srgbClr val="333333"/>
                </a:solidFill>
                <a:latin typeface="Calibri"/>
              </a:rPr>
              <a:t>.</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Entrega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1 y 2 corren sobre una base </a:t>
            </a:r>
            <a:r>
              <a:rPr sz="2000" b="1" i="0">
                <a:solidFill>
                  <a:srgbClr val="333333"/>
                </a:solidFill>
                <a:latin typeface="Calibri"/>
              </a:rPr>
              <a:t>con volumen</a:t>
            </a:r>
            <a:r>
              <a:rPr sz="2000" b="0" i="0">
                <a:solidFill>
                  <a:srgbClr val="333333"/>
                </a:solidFill>
                <a:latin typeface="Calibri"/>
              </a:rPr>
              <a:t>: 2.006 duenos, 5.008 mascotas, 16 veterinarios y </a:t>
            </a:r>
            <a:r>
              <a:rPr sz="2000" b="1" i="0">
                <a:solidFill>
                  <a:srgbClr val="333333"/>
                </a:solidFill>
                <a:latin typeface="Calibri"/>
              </a:rPr>
              <a:t>30.010 citas</a:t>
            </a:r>
            <a:r>
              <a:rPr sz="2000" b="0" i="0">
                <a:solidFill>
                  <a:srgbClr val="333333"/>
                </a:solidFill>
                <a:latin typeface="Calibri"/>
              </a:rPr>
              <a:t> entre el 2026-01-05 y el 2026-07-23. «ANALYZE» ya está corrido y </a:t>
            </a:r>
            <a:r>
              <a:rPr sz="2000" b="1" i="0">
                <a:solidFill>
                  <a:srgbClr val="333333"/>
                </a:solidFill>
                <a:latin typeface="Calibri"/>
              </a:rPr>
              <a:t>no hay ningún índice</a:t>
            </a:r>
            <a:r>
              <a:rPr sz="2000" b="0" i="0">
                <a:solidFill>
                  <a:srgbClr val="333333"/>
                </a:solidFill>
                <a:latin typeface="Calibri"/>
              </a:rPr>
              <a:t> más allá de las PK: los creas tú.</a:t>
            </a:r>
          </a:p>
          <a:p>
            <a:pPr>
              <a:spcAft>
                <a:spcPts val="800"/>
              </a:spcAft>
            </a:pPr>
            <a:r>
              <a:rPr sz="2000" b="0" i="0">
                <a:solidFill>
                  <a:srgbClr val="333333"/>
                </a:solidFill>
                <a:latin typeface="Calibri"/>
              </a:rPr>
              <a:t>–   Las dos consultas frecuentes vienen </a:t>
            </a:r>
            <a:r>
              <a:rPr sz="2000" b="1" i="0">
                <a:solidFill>
                  <a:srgbClr val="333333"/>
                </a:solidFill>
                <a:latin typeface="Calibri"/>
              </a:rPr>
              <a:t>escritas en el enunciado</a:t>
            </a:r>
            <a:r>
              <a:rPr sz="2000" b="0" i="0">
                <a:solidFill>
                  <a:srgbClr val="333333"/>
                </a:solidFill>
                <a:latin typeface="Calibri"/>
              </a:rPr>
              <a:t> y no se cambian: la agenda del día filtra «cita» por rango de «fecha_hora» y por «estado = 'PROGRAMADA'»; la ficha del dueño filtra «mascota» por «id_dueno».</a:t>
            </a:r>
          </a:p>
          <a:p>
            <a:pPr>
              <a:spcAft>
                <a:spcPts val="800"/>
              </a:spcAft>
            </a:pPr>
            <a:r>
              <a:rPr sz="2000" b="0" i="0">
                <a:solidFill>
                  <a:srgbClr val="333333"/>
                </a:solidFill>
                <a:latin typeface="Calibri"/>
              </a:rPr>
              <a:t>–   La pregunta 3 usa </a:t>
            </a:r>
            <a:r>
              <a:rPr sz="2000" b="1" i="0">
                <a:solidFill>
                  <a:srgbClr val="333333"/>
                </a:solidFill>
                <a:latin typeface="Calibri"/>
              </a:rPr>
              <a:t>otra</a:t>
            </a:r>
            <a:r>
              <a:rPr sz="2000" b="0" i="0">
                <a:solidFill>
                  <a:srgbClr val="333333"/>
                </a:solidFill>
                <a:latin typeface="Calibri"/>
              </a:rPr>
              <a:t> base, a propósito: </a:t>
            </a:r>
            <a:r>
              <a:rPr sz="2000" b="1" i="0">
                <a:solidFill>
                  <a:srgbClr val="333333"/>
                </a:solidFill>
                <a:latin typeface="Calibri"/>
              </a:rPr>
              <a:t>5.010 citas</a:t>
            </a:r>
            <a:r>
              <a:rPr sz="2000" b="0" i="0">
                <a:solidFill>
                  <a:srgbClr val="333333"/>
                </a:solidFill>
                <a:latin typeface="Calibri"/>
              </a:rPr>
              <a:t> repartidas entre enero de 2025 y diciembre de 2026, para que haya dos años que particionar. Si ves 5.010 donde esperabas 30.010, </a:t>
            </a:r>
            <a:r>
              <a:rPr sz="2000" b="1" i="0">
                <a:solidFill>
                  <a:srgbClr val="333333"/>
                </a:solidFill>
                <a:latin typeface="Calibri"/>
              </a:rPr>
              <a:t>no es un error</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Motor:</a:t>
            </a:r>
            <a:r>
              <a:rPr sz="2000" b="0" i="0">
                <a:solidFill>
                  <a:srgbClr val="333333"/>
                </a:solidFill>
                <a:latin typeface="Calibri"/>
              </a:rPr>
              <a:t> PostgreSQL dentro de la plataforma del curso, en el navegador. «EXPLAIN ANALYZE», los índices parciales, «PARTITION BY RANGE» y la poda de particiones corren de verdad; ahí se califica.</a:t>
            </a:r>
          </a:p>
          <a:p>
            <a:pPr>
              <a:spcAft>
                <a:spcPts val="800"/>
              </a:spcAft>
            </a:pPr>
            <a:r>
              <a:rPr sz="2000" b="0" i="0">
                <a:solidFill>
                  <a:srgbClr val="333333"/>
                </a:solidFill>
                <a:latin typeface="Calibri"/>
              </a:rPr>
              <a:t>–   Los nombres del curso son </a:t>
            </a:r>
            <a:r>
              <a:rPr sz="2000" b="1" i="0">
                <a:solidFill>
                  <a:srgbClr val="333333"/>
                </a:solidFill>
                <a:latin typeface="Calibri"/>
              </a:rPr>
              <a:t>minúsculas y sin eñes</a:t>
            </a:r>
            <a:r>
              <a:rPr sz="2000" b="0" i="0">
                <a:solidFill>
                  <a:srgbClr val="333333"/>
                </a:solidFill>
                <a:latin typeface="Calibri"/>
              </a:rPr>
              <a:t>: las tablas son «dueno», «mascota» y «cita», y la columna es «id_dueno». Un «Mascota(id_dueño)» no compila.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Medir la linea base con EXPLAIN ANALYZE de las dos consultas frecuentes: hay que ver Seq Scan.</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Crear los tres indices con el nombre exacto, incluido el parcial idx_cita_programada_fecha, y correr ANALYZE.</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Repetir los EXPLAIN y decir cual indice eligio el planeador y por que.</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Construir cita_hist particionada por ano, migrar las citas y demostrar el enrutamiento y la poda.</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Llenar la tabla de justificacion consulta-&gt;indice (7 columnas) y el veredicto de particionamiento.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¿Corriste los «EXPLAIN» </a:t>
            </a:r>
            <a:r>
              <a:rPr sz="1500" b="1" i="0">
                <a:solidFill>
                  <a:srgbClr val="333333"/>
                </a:solidFill>
                <a:latin typeface="Calibri"/>
              </a:rPr>
              <a:t>antes</a:t>
            </a:r>
            <a:r>
              <a:rPr sz="1500" b="0" i="0">
                <a:solidFill>
                  <a:srgbClr val="333333"/>
                </a:solidFill>
                <a:latin typeface="Calibri"/>
              </a:rPr>
              <a:t> de crear los índices? Sin la línea base con «Seq Scan» no hay con qué comparar el después.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¿Los tres índices tienen el </a:t>
            </a:r>
            <a:r>
              <a:rPr sz="1500" b="1" i="0">
                <a:solidFill>
                  <a:srgbClr val="333333"/>
                </a:solidFill>
                <a:latin typeface="Calibri"/>
              </a:rPr>
              <a:t>nombre exacto</a:t>
            </a:r>
            <a:r>
              <a:rPr sz="1500" b="0" i="0">
                <a:solidFill>
                  <a:srgbClr val="333333"/>
                </a:solidFill>
                <a:latin typeface="Calibri"/>
              </a:rPr>
              <a:t> del enunciado, y el parcial lleva su cláusula «WHERE estado = 'PROGRAMADA'»?</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¿Corriste «ANALYZE cita;» y «ANALYZE mascota;» antes de volver a medir? Sin estadísticas frescas el planeador puede seguir eligiendo el barrido.</a:t>
            </a:r>
          </a:p>
        </p:txBody>
      </p:sp>
      <p:sp>
        <p:nvSpPr>
          <p:cNvPr id="17" name="Rounded Rectangle 16"/>
          <p:cNvSpPr/>
          <p:nvPr/>
        </p:nvSpPr>
        <p:spPr>
          <a:xfrm>
            <a:off x="457200" y="3291840"/>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438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438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3383280"/>
            <a:ext cx="10362895" cy="402336"/>
          </a:xfrm>
          <a:prstGeom prst="rect">
            <a:avLst/>
          </a:prstGeom>
          <a:noFill/>
        </p:spPr>
        <p:txBody>
          <a:bodyPr wrap="square" anchor="ctr"/>
          <a:lstStyle/>
          <a:p>
            <a:r>
              <a:rPr sz="1500" b="0" i="0">
                <a:solidFill>
                  <a:srgbClr val="333333"/>
                </a:solidFill>
                <a:latin typeface="Calibri"/>
              </a:rPr>
              <a:t>□ ¿Dijiste </a:t>
            </a:r>
            <a:r>
              <a:rPr sz="1500" b="1" i="0">
                <a:solidFill>
                  <a:srgbClr val="333333"/>
                </a:solidFill>
                <a:latin typeface="Calibri"/>
              </a:rPr>
              <a:t>cuál</a:t>
            </a:r>
            <a:r>
              <a:rPr sz="1500" b="0" i="0">
                <a:solidFill>
                  <a:srgbClr val="333333"/>
                </a:solidFill>
                <a:latin typeface="Calibri"/>
              </a:rPr>
              <a:t> de los dos índices sobre «fecha_hora» usó la agenda del día, y por qué ese y no el otro?</a:t>
            </a:r>
          </a:p>
        </p:txBody>
      </p:sp>
      <p:sp>
        <p:nvSpPr>
          <p:cNvPr id="21" name="Rounded Rectangle 20"/>
          <p:cNvSpPr/>
          <p:nvPr/>
        </p:nvSpPr>
        <p:spPr>
          <a:xfrm>
            <a:off x="457200" y="3968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114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114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059936"/>
            <a:ext cx="10362895" cy="402336"/>
          </a:xfrm>
          <a:prstGeom prst="rect">
            <a:avLst/>
          </a:prstGeom>
          <a:noFill/>
        </p:spPr>
        <p:txBody>
          <a:bodyPr wrap="square" anchor="ctr"/>
          <a:lstStyle/>
          <a:p>
            <a:r>
              <a:rPr sz="1500" b="0" i="0">
                <a:solidFill>
                  <a:srgbClr val="333333"/>
                </a:solidFill>
                <a:latin typeface="Calibri"/>
              </a:rPr>
              <a:t>□ En la pregunta 2, ¿hiciste el «DROP INDEX» y volviste a medir </a:t>
            </a:r>
            <a:r>
              <a:rPr sz="1500" b="1" i="0">
                <a:solidFill>
                  <a:srgbClr val="333333"/>
                </a:solidFill>
                <a:latin typeface="Calibri"/>
              </a:rPr>
              <a:t>Q2</a:t>
            </a:r>
            <a:r>
              <a:rPr sz="1500" b="0" i="0">
                <a:solidFill>
                  <a:srgbClr val="333333"/>
                </a:solidFill>
                <a:latin typeface="Calibri"/>
              </a:rPr>
              <a:t>? La comparación es el punto del experimento, no crear los dos índices.</a:t>
            </a:r>
          </a:p>
        </p:txBody>
      </p:sp>
      <p:sp>
        <p:nvSpPr>
          <p:cNvPr id="25" name="Rounded Rectangle 24"/>
          <p:cNvSpPr/>
          <p:nvPr/>
        </p:nvSpPr>
        <p:spPr>
          <a:xfrm>
            <a:off x="457200" y="4645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4791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791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4736592"/>
            <a:ext cx="10362895" cy="402336"/>
          </a:xfrm>
          <a:prstGeom prst="rect">
            <a:avLst/>
          </a:prstGeom>
          <a:noFill/>
        </p:spPr>
        <p:txBody>
          <a:bodyPr wrap="square" anchor="ctr"/>
          <a:lstStyle/>
          <a:p>
            <a:r>
              <a:rPr sz="1500" b="0" i="0">
                <a:solidFill>
                  <a:srgbClr val="333333"/>
                </a:solidFill>
                <a:latin typeface="Calibri"/>
              </a:rPr>
              <a:t>□ ¿La «-- CONCLUSION:» habla del orden de las columnas, o solo dice que el índice sirvió?</a:t>
            </a:r>
          </a:p>
        </p:txBody>
      </p:sp>
      <p:sp>
        <p:nvSpPr>
          <p:cNvPr id="29" name="Rounded Rectangle 28"/>
          <p:cNvSpPr/>
          <p:nvPr/>
        </p:nvSpPr>
        <p:spPr>
          <a:xfrm>
            <a:off x="457200" y="5321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080" y="5468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5468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413248"/>
            <a:ext cx="10362895" cy="402336"/>
          </a:xfrm>
          <a:prstGeom prst="rect">
            <a:avLst/>
          </a:prstGeom>
          <a:noFill/>
        </p:spPr>
        <p:txBody>
          <a:bodyPr wrap="square" anchor="ctr"/>
          <a:lstStyle/>
          <a:p>
            <a:r>
              <a:rPr sz="1500" b="0" i="0">
                <a:solidFill>
                  <a:srgbClr val="333333"/>
                </a:solidFill>
                <a:latin typeface="Calibri"/>
              </a:rPr>
              <a:t>□ En «cita_hist», ¿la PK incluye «fecha_hora»? PostgreSQL </a:t>
            </a:r>
            <a:r>
              <a:rPr sz="1500" b="1" i="0">
                <a:solidFill>
                  <a:srgbClr val="333333"/>
                </a:solidFill>
                <a:latin typeface="Calibri"/>
              </a:rPr>
              <a:t>rechaza</a:t>
            </a:r>
            <a:r>
              <a:rPr sz="1500" b="0" i="0">
                <a:solidFill>
                  <a:srgbClr val="333333"/>
                </a:solidFill>
                <a:latin typeface="Calibri"/>
              </a:rPr>
              <a:t> una PK particionada que no contenga la columna de partición.</a:t>
            </a:r>
          </a:p>
        </p:txBody>
      </p:sp>
      <p:sp>
        <p:nvSpPr>
          <p:cNvPr id="33" name="Rounded Rectangle 32"/>
          <p:cNvSpPr/>
          <p:nvPr/>
        </p:nvSpPr>
        <p:spPr>
          <a:xfrm>
            <a:off x="457200" y="599846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614476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0080" y="614476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6089904"/>
            <a:ext cx="10362895" cy="402336"/>
          </a:xfrm>
          <a:prstGeom prst="rect">
            <a:avLst/>
          </a:prstGeom>
          <a:noFill/>
        </p:spPr>
        <p:txBody>
          <a:bodyPr wrap="square" anchor="ctr"/>
          <a:lstStyle/>
          <a:p>
            <a:r>
              <a:rPr sz="1500" b="0" i="0">
                <a:solidFill>
                  <a:srgbClr val="333333"/>
                </a:solidFill>
                <a:latin typeface="Calibri"/>
              </a:rPr>
              <a:t>□ ¿El plan de la consulta de 2026 muestra </a:t>
            </a:r>
            <a:r>
              <a:rPr sz="1500" b="1" i="0">
                <a:solidFill>
                  <a:srgbClr val="333333"/>
                </a:solidFill>
                <a:latin typeface="Calibri"/>
              </a:rPr>
              <a:t>una sola</a:t>
            </a:r>
            <a:r>
              <a:rPr sz="1500" b="0" i="0">
                <a:solidFill>
                  <a:srgbClr val="333333"/>
                </a:solidFill>
                <a:latin typeface="Calibri"/>
              </a:rPr>
              <a:t> partición? Si aparecen las dos, no hubo poda y eso es lo que se califica.</a:t>
            </a:r>
          </a:p>
        </p:txBody>
      </p:sp>
      <p:sp>
        <p:nvSpPr>
          <p:cNvPr id="37" name="TextBox 3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Script CREATE INDEX + cita_hist particionada + tabla justificacion consulta-&gt;indice</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3 indices justificados (uno parcial) + historico particionado por ano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3 indices justificados (uno parcial) + historico particionado por ano</a:t>
            </a:r>
          </a:p>
          <a:p>
            <a:pPr algn="ctr">
              <a:spcAft>
                <a:spcPts val="600"/>
              </a:spcAft>
            </a:pPr>
            <a:r>
              <a:rPr sz="1600" b="0" i="0">
                <a:solidFill>
                  <a:srgbClr val="333333"/>
                </a:solidFill>
                <a:latin typeface="Calibri"/>
              </a:rPr>
              <a:t>Entregable: Script CREATE INDEX + cita_hist particionada + tabla justificacion consulta-&gt;indice</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