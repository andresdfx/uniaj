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77295" cy="1463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Bases de Datos II</a:t>
            </a:r>
          </a:p>
          <a:p>
            <a:pPr algn="ctr">
              <a:spcBef>
                <a:spcPts val="1000"/>
              </a:spcBef>
            </a:pPr>
            <a:r>
              <a:rPr sz="1800" b="0" i="0">
                <a:solidFill>
                  <a:srgbClr val="B8D8EE"/>
                </a:solidFill>
                <a:latin typeface="Calibri"/>
              </a:rPr>
              <a:t>Gestión avanzada y optimización</a:t>
            </a:r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20040"/>
            <a:ext cx="1920240" cy="836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3337560"/>
            <a:ext cx="11277295" cy="2606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Código: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FI303215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Grupo: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641A-2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Periodo: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2026-2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Programa: Ingeniería de Sistemas · Facultad de Ingeniería · UNIAJC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Horario: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Lunes 18:00 – 20:00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(120 min) · Modalidad: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Presencialidad asistida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Docente: Julian Andres Castaño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199632"/>
            <a:ext cx="11277295" cy="18288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291072"/>
            <a:ext cx="11277295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0" i="0">
                <a:solidFill>
                  <a:srgbClr val="095292"/>
                </a:solidFill>
                <a:latin typeface="Calibri"/>
              </a:rPr>
              <a:t>Inicio de clase: </a:t>
            </a:r>
            <a:r>
              <a:rPr sz="1600" b="1" i="0">
                <a:solidFill>
                  <a:srgbClr val="095292"/>
                </a:solidFill>
                <a:latin typeface="Calibri"/>
              </a:rPr>
              <a:t>18:10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Julian Andres Castaño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0320" y="2057400"/>
            <a:ext cx="9174175" cy="18562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Ingeniero de Sistemas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Candidato a MsC en Inteligencia Artificial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Líder Técnico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Speaker Tecnológico</a:t>
            </a:r>
          </a:p>
        </p:txBody>
      </p:sp>
      <p:pic>
        <p:nvPicPr>
          <p:cNvPr id="6" name="Picture 5" descr="outlook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0" y="4050791"/>
            <a:ext cx="292608" cy="29260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063239" y="4032504"/>
            <a:ext cx="8671255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600" b="1" i="0">
                <a:solidFill>
                  <a:srgbClr val="0D7A8C"/>
                </a:solidFill>
                <a:latin typeface="Calibri"/>
              </a:rPr>
              <a:t>julianacastano@profesores.uniajc.edu.co</a:t>
            </a:r>
          </a:p>
        </p:txBody>
      </p:sp>
      <p:pic>
        <p:nvPicPr>
          <p:cNvPr id="8" name="Picture 7" descr="logo_uniajc_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5879592"/>
            <a:ext cx="1645920" cy="72363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Rompe-hielo · Padlet del grupo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6583680" cy="416052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34440"/>
            <a:ext cx="128016" cy="41605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417320"/>
            <a:ext cx="60807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Escanea el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QR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o abre el enlace del tablero colaborativo.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Deja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 nota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en cada columna: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¿Quién soy? (nombre + una habilidad o hobby)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Expectativa del curso (1 frase)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Pregunta al docente / al grupo</a:t>
            </a:r>
          </a:p>
          <a:p>
            <a:pPr>
              <a:spcAft>
                <a:spcPts val="800"/>
              </a:spcAft>
            </a:pPr>
            <a:r>
              <a:rPr sz="1400" b="0" i="0">
                <a:solidFill>
                  <a:srgbClr val="333333"/>
                </a:solidFill>
                <a:latin typeface="Calibri"/>
              </a:rPr>
              <a:t>–   5–8 min · sin instalar · solo navegador.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Enlace: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https://padlet.com/andres_dfx/uniaj-l77e9uu16trgdvcp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69480" y="1234440"/>
            <a:ext cx="4465015" cy="41605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qr_padlet_uniaj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1787" y="1554480"/>
            <a:ext cx="3200400" cy="3200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60920" y="4937760"/>
            <a:ext cx="42821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666666"/>
                </a:solidFill>
                <a:latin typeface="Calibri"/>
              </a:rPr>
              <a:t>QR oficial Padlet UNIAJC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¿Para qué existe este curso?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Profundizar la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gestion avanzada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de bases de datos: optimización, seguridad, procedimientos y administración.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Diseñar soluciones de alto rendimiento con integridad, disponibilidad y protección de datos.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Consolida habilidades para Arquitectura de Sistemas y Seguridad.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Objeto de estudio: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gestion avanzada y optimización de BD relacionales.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 de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Objeto de estudio: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gestión avanzada y optimización de bases de datos relacionales.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Objetivo: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diseñar, administrar y optimizar bases de datos relacionales avanzadas, garantizando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seguridad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integridad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y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eficiencia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en el manejo de grandes volúmenes de información.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Profundiza en optimización, seguridad, procedimientos almacenados y administración eficiente de los recursos de información.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Consolida habilidades clave para Arquitectura de Sistemas Computacionales y Seguridad.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Resultados de aprendizaje (RAA)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RAA1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Administra bases de datos aplicando estrategias de seguridad y respaldo. Configura políticas de protección y planes de respaldo/recuperación responsables.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RAA2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Implementa procedimientos almacenados y disparadores para la automatización de procesos. Desarrolla lógica en el motor de BD para integridad y reutilización.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RAA3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Optimiza consultas y estructuras de bases de datos para mejorar el rendimiento del sistema. Aplica índices, tuning y análisis de rendimiento sobre casos reales.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trabajamos en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0 (hoy)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= logística + acuerdo pedagógico + evaluación + CONTENIDO +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socialización del Proyecto Integrador VetCare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1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(material en archivo aparte) = diagnóstico de conocimientos previos + arranque temático — mismo bloque de hoy.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Cada lunes (120 min):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Teoría Core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→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Taller / laboratorio en la nube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→ cierre. Modalidad: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Presencialidad asistida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: Clase 1 y parciales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presencial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; resto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virtual síncrona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; festivos =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autónoma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Herramientas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gratis + en la nube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 Talleres y quices/parciales se entregan/presentan en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ExamLab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(no es la plataforma oficial de la UNIAJC, la usamos solo para esto).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Hilo conductor de todo el semestre: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Proyecto Integrador VetCare DB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Sistema de evaluación (Acuerdo pedagógico)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3545738" cy="4910327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3545738" cy="5029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07592"/>
            <a:ext cx="327141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FFFFFF"/>
                </a:solidFill>
                <a:latin typeface="Calibri"/>
              </a:rPr>
              <a:t>Corte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856231"/>
            <a:ext cx="327141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269CCB"/>
                </a:solidFill>
                <a:latin typeface="Calibri"/>
              </a:rPr>
              <a:t>30%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679191"/>
            <a:ext cx="327141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10/08 – 13/09/2026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090672"/>
            <a:ext cx="3271418" cy="2990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Parcial 1</a:t>
            </a:r>
            <a:r>
              <a:rPr sz="1250" b="0" i="0">
                <a:solidFill>
                  <a:srgbClr val="333333"/>
                </a:solidFill>
                <a:latin typeface="Calibri"/>
              </a:rPr>
              <a:t> (07/09 · Clase 5) · 10%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Talleres o Quiz · 10%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Asistencia · 10%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22978" y="1261872"/>
            <a:ext cx="3545738" cy="4910327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22978" y="1261872"/>
            <a:ext cx="3545738" cy="50292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60138" y="1307592"/>
            <a:ext cx="327141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Corte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60138" y="1856231"/>
            <a:ext cx="327141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D000"/>
                </a:solidFill>
                <a:latin typeface="Calibri"/>
              </a:rPr>
              <a:t>30%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60138" y="2679191"/>
            <a:ext cx="327141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14/09 – 18/10/2026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60138" y="3090672"/>
            <a:ext cx="3271418" cy="2990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Parcial 2</a:t>
            </a:r>
            <a:r>
              <a:rPr sz="1250" b="0" i="0">
                <a:solidFill>
                  <a:srgbClr val="333333"/>
                </a:solidFill>
                <a:latin typeface="Calibri"/>
              </a:rPr>
              <a:t> (05/10 · Clase 9) · 10%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Talleres o Quiz · 10%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Asistencia · 10%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88756" y="1261872"/>
            <a:ext cx="3545738" cy="4910327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88756" y="1261872"/>
            <a:ext cx="3545738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5916" y="1307592"/>
            <a:ext cx="327141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FFFFFF"/>
                </a:solidFill>
                <a:latin typeface="Calibri"/>
              </a:rPr>
              <a:t>Corte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5916" y="1856231"/>
            <a:ext cx="327141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095292"/>
                </a:solidFill>
                <a:latin typeface="Calibri"/>
              </a:rPr>
              <a:t>40%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5916" y="2679191"/>
            <a:ext cx="327141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19/10 – 22/11/2026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5916" y="3090672"/>
            <a:ext cx="3271418" cy="2990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Parcial 3</a:t>
            </a:r>
            <a:r>
              <a:rPr sz="1250" b="0" i="0">
                <a:solidFill>
                  <a:srgbClr val="333333"/>
                </a:solidFill>
                <a:latin typeface="Calibri"/>
              </a:rPr>
              <a:t> (09/11 · Clase 14) · 15%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PI VetCare</a:t>
            </a:r>
            <a:r>
              <a:rPr sz="1250" b="0" i="0">
                <a:solidFill>
                  <a:srgbClr val="333333"/>
                </a:solidFill>
                <a:latin typeface="Calibri"/>
              </a:rPr>
              <a:t> · 20%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Asistencia · 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30936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 i="1">
                <a:solidFill>
                  <a:srgbClr val="666666"/>
                </a:solidFill>
                <a:latin typeface="Calibri"/>
              </a:rPr>
              <a:t>Parciales síncronos presenciales · nunca en festivo/autónoma. Día de parcial = solo evaluación.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32004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0"/>
            <a:ext cx="11277295" cy="9601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2800" b="1" i="0">
                <a:solidFill>
                  <a:srgbClr val="095292"/>
                </a:solidFill>
                <a:latin typeface="Calibri"/>
              </a:rPr>
              <a:t>CONTENIDO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06424"/>
            <a:ext cx="1127729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666666"/>
                </a:solidFill>
                <a:latin typeface="Calibri"/>
              </a:rPr>
              <a:t>Día 1: Sesión 0 (Presentación del curso, archivo aparte) + Clase 1 (diagnóstico · tema)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53895"/>
            <a:ext cx="5364327" cy="4946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0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Presentación del curso (logística) (10/08)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1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Diagnóstico · Revisión de Bases de Datos I (10/08)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2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Administración de bases de datos (17/08) · Autónoma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3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Procedimientos almacenados (24/08)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4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Funciones y disparadores · Seguridad y respaldo (31/08)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5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Parcial 1 (07/09)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6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Optimización de consultas (14/09)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7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Índices y particionamiento (21/09)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87287" y="1453895"/>
            <a:ext cx="5364327" cy="4946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8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Tuning de bases de datos · Gestión de transacciones (28/09)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9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Parcial 2 (05/10)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10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Control de concurrencia (12/10) · Autónoma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11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Avance del proyecto final (19/10)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12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Integración de aplicaciones externas · Preparación de presentación final (26/10)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13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Análisis de casos reales (02/11) · Autónoma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14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Parcial 3 (09/11)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15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Presentación del proyecto + cierre (16/11) · Autónoma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Proyecto Integrador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Socialización de hoy (Sesión 0):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presentamos el PI completo para que lo tengan claro desde la Clase 1.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VetCare DB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BD avanzada para clínica veterinaria (ABPr).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Integra seguridad/respaldo, procs/triggers, optimización e integración app↔BD.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Hitos: avance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11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(19/10) · prep.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12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(26/10) · Parcial 3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14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(09/11) · cierre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15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(16/11, autónoma).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Pesa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20%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del Corte 3. Enunciado: carpeta `Clases/Proyecto Integrador/`.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Recursos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Herramientas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gratis en navegador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(sin instalacion de SGBD local) — detalle en Plan de curso (pendiente aprobacion docente).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ExamLab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(examlab.lovable.app/app): entrega de talleres + quices/parciales del curso.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SQL: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DB Fiddle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/ SQLTest.online · PL/SQL: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Oracle Live SQL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Modelos ER: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draw.io / diagrams.net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bocetos: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Excalidraw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Bibliografia: Coronel &amp; Morris · Date · Oracle PL/SQL Docs.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Acuerdos importantes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Lunes 18:00 – 20:00 · Presencialidad asistida: Clase 1 y parciales presencial · resto virtual síncrona · festivos autónoma · Grupo 641A-2.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Día 1: Sesión 0 (Presentación del curso, archivo aparte) + Clase 1 (diagnóstico + revisión BD I). Festivos = autónoma en Campus Virtual.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Parciales NUNCA en autonoma: P1=Clase 5 (07/09), P2=Clase 9 (05/10), P3=Clase 14 (09/11).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del curso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en navegador · SQL + diagramas ER + entrega/evaluación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bfidd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3913" y="1792224"/>
            <a:ext cx="1051560" cy="1051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DB Fiddle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SQL práctico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oracle_livesq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0067" y="1792224"/>
            <a:ext cx="1051560" cy="10515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Oracle Live SQL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PL/SQL · cuenta free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drawi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96222" y="1792224"/>
            <a:ext cx="1051560" cy="10515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Modelos 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sqltes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43913" y="4256532"/>
            <a:ext cx="1051560" cy="105156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530352" y="5381244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SQLTest.online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Multi-motor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83354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283354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283354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examla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70067" y="4256532"/>
            <a:ext cx="1051560" cy="105156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4356506" y="5381244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ExamLab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Talleres + quices/parciales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¡Empezamos!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Bases de Datos II · Grupo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641A-2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2026-2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Lunes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18:00 – 20:00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Presencialidad asistida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UNIAJC · Ingeniería de Sistemas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Datos seguros, consultas rapidas, proyecto real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