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administracion reporta tres problemas y conviene enunciarlos tal cual, porque cada uno se traduce despues en una decision de esquema: se extravian fichas de pacientes</a:t>
            </a:r>
          </a:p>
          <a:p>
            <a:r>
              <a:t>Y esa es la razon de que el expediente tenga que vivir en una fila con clave primaria y no en un papel; buscar un historial en el archivo fisico genera filas en la sala de espera</a:t>
            </a:r>
          </a:p>
          <a:p>
            <a:r>
              <a:t>Que es el motivo por el que en la Clase 7 se habla de indices y no como un tema abstracto de rendimiento; y no hay metricas, no saben cuantas especies atienden al mes.</a:t>
            </a:r>
          </a:p>
          <a:p>
            <a:r>
              <a:t>NOTAS:</a:t>
            </a:r>
          </a:p>
          <a:p>
            <a:r>
              <a:t>Antes de dibujar una sola tabla hay que decir para quien se dibuja.</a:t>
            </a:r>
          </a:p>
          <a:p>
            <a:r>
              <a:t>Hay que fijar la nomenclatura en voz alta porque el material la usa con precision y el estudiante la mezcla: la clínica es la CLINICA, es decir el cliente que tiene el problema; la clínica es el SISTEMA que se le construye, y la base de la clínica es concretamente la base de datos de ese sistema, que es lo que se hace en esta asignatura.</a:t>
            </a:r>
          </a:p>
          <a:p>
            <a:r>
              <a:t>Programacion II construye la aplicacion para el mismo cliente y Seminario disena sus planos, asi que un estudiante que curse dos de las tres materias trabaja el mismo caso desde dos angulos.</a:t>
            </a:r>
          </a:p>
          <a:p>
            <a:r>
              <a:t>La frontera de hoy conviene decirla de forma explicita para cortar la ansiedad: aqui no se pide la aplicacion ni la interfaz, se pide la capa de datos, y por eso el producto del semestre es un esquema con integridad, roles, procedimientos y un plan de ejecucion, no una pantalla.</a:t>
            </a:r>
          </a:p>
          <a:p>
            <a:r>
              <a:t>Los tres interesados son la herramienta de decision mas util que se le puede dar hoy al estudiante, y estan en la diapositiva por eso.</a:t>
            </a:r>
          </a:p>
          <a:p>
            <a:r>
              <a:t>El dueno de la clinica quiere metricas del negocio.</a:t>
            </a:r>
          </a:p>
          <a:p>
            <a:r>
              <a:t>La recepcionista quiere agendar rapido y con pocos clics.</a:t>
            </a:r>
          </a:p>
          <a:p>
            <a:r>
              <a:t>El veterinario quiere el historial del paciente a la mano durante la consulta.</a:t>
            </a:r>
          </a:p>
          <a:p>
            <a:r>
              <a:t>Lo importante, y hay que subrayarlo, es que esos intereses ENTRAN EN CONFLICTO: pedir mas datos en el formulario de la cita da mejores metricas al dueno y le hace mas lento el trabajo a la recepcionista.</a:t>
            </a:r>
          </a:p>
          <a:p>
            <a:r>
              <a:t>Ahi esta la diferencia entre un modelo copiado y uno decidido.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Alla el objetivo era escribir consultas que devolvieran el resultado correcto</a:t>
            </a:r>
          </a:p>
          <a:p>
            <a:r>
              <a:t>Aqui es disenar un esquema que siga siendo correcto cuando lo usen tres personas distintas, cuando tenga cien mil filas y cuando alguien meta datos malos, a veces por error y a veces a proposito.</a:t>
            </a:r>
          </a:p>
          <a:p>
            <a:r>
              <a:t>Una tabla, o relacion, es un conjunto de entidades del mismo tipo: mascota guarda mascotas y nada mas.</a:t>
            </a:r>
          </a:p>
          <a:p>
            <a:r>
              <a:t>Una fila es una instancia concreta e irrepetible: la perra Luna de la duena Ana Perez.</a:t>
            </a:r>
          </a:p>
          <a:p>
            <a:r>
              <a:t>Una columna es un atributo, y todo atributo tiene un dominio, el conjunto de valores que el motor considera legales: especie no acepta cualquier texto, acepta Canino, Felino, Ave u Otro.</a:t>
            </a:r>
          </a:p>
          <a:p>
            <a:r>
              <a:t>Sobre estas tres nociones se monta el semestre: los roles de la Clase 2 se otorgan sobre tablas, los procedimientos de la Clase 3 validan columnas y los indices de la Clase 7 se crean sobre columnas concretas.</a:t>
            </a:r>
          </a:p>
          <a:p>
            <a:r>
              <a:t>NOTAS:</a:t>
            </a:r>
          </a:p>
          <a:p>
            <a:r>
              <a:t>Esta clase parece repetir Bases de Datos I y no lo hace.</a:t>
            </a:r>
          </a:p>
          <a:p>
            <a:r>
              <a:t>Conviene fijar el vocabulario operativo antes de dibujar nada.</a:t>
            </a:r>
          </a:p>
          <a:p>
            <a:r>
              <a:t>Conviene desactivar una trampa de vocabulario: la palabra dominio se usara hoy con dos sentidos, el de un atributo y el del proyecto, que es la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El nivel conceptual nombra entidades y relaciones con vocabulario de negocio y sin comprometerse con ningun motor: Dueno posee Mascota, Veterinario atiende Cita.</a:t>
            </a:r>
          </a:p>
          <a:p>
            <a:r>
              <a:t>El nivel fisico convierte esas entidades en tablas con columnas tipadas, longitudes, restricciones y claves: dueno.telefono VARCHAR(30) NOT NULL.</a:t>
            </a:r>
          </a:p>
          <a:p>
            <a:r>
              <a:t>Son dos vistas del MISMO modelo, no dos modelos distintos, y esa es la razon de que la clase produzca dos artefactos: el diagrama ER es la vista conceptual, y el guion CREATE TABLE es la misma informacion en fisico.</a:t>
            </a:r>
          </a:p>
          <a:p>
            <a:r>
              <a:t>El criterio operativo para saber si el conceptual esta completo es exactamente ese: si otra persona puede escribir el fisico mirandolo, sin preguntar nada, esta completo.</a:t>
            </a:r>
          </a:p>
          <a:p>
            <a:r>
              <a:t>NOTAS:</a:t>
            </a:r>
          </a:p>
          <a:p>
            <a:r>
              <a:t>Antes de cualquier otra cosa hay que separar dos niveles que el estudiante mezcla y que hoy se recorren los dos.</a:t>
            </a:r>
          </a:p>
          <a:p>
            <a:r>
              <a:t>Conviene decirlo en voz alta porque explica por que se exige tipo y longitud en el diagrama: no es decoracion, es lo que hace traducible el dibujo.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clave primaria es la columna, o el conjunto de columnas, que identifica una fila sin ambiguedad: no se repite y no admite nulos.</a:t>
            </a:r>
          </a:p>
          <a:p>
            <a:r>
              <a:t>La pregunta de diseno real no es si poner clave primaria, sino cual.</a:t>
            </a:r>
          </a:p>
          <a:p>
            <a:r>
              <a:t>Una clave natural es un atributo del mundo real que ya identifica la entidad: la cedula del dueno, el microchip de la mascota.</a:t>
            </a:r>
          </a:p>
          <a:p>
            <a:r>
              <a:t>Una clave sustituta, o surrogate, es un numero sin significado de negocio que la base genera: id_dueno 1, 2, 3.</a:t>
            </a:r>
          </a:p>
          <a:p>
            <a:r>
              <a:t>En la clínica pasan las tres cosas: el dueno llega sin cedula a la mano, un microchip se digita mal y hay que corregirlo, y una mascota rescatada no tiene microchip.</a:t>
            </a:r>
          </a:p>
          <a:p>
            <a:r>
              <a:t>Regla citable, y es convencion de oficio, no regla dura: si el valor lo controla un tercero, el Estado o un fabricante, no lo use como clave primaria.</a:t>
            </a:r>
          </a:p>
          <a:p>
            <a:r>
              <a:t>NOTAS:</a:t>
            </a:r>
          </a:p>
          <a:p>
            <a:r>
              <a:t>Eso no es estilo, es una restriccion que el motor verifica en cada INSERT y UPDATE y que rechaza con error.</a:t>
            </a:r>
          </a:p>
          <a:p>
            <a:r>
              <a:t>La natural ahorra un JOIN cuando se busca por ella; la sustituta gana cuando el dato natural cambia, se repite o todavia no existe.</a:t>
            </a:r>
          </a:p>
          <a:p>
            <a:r>
              <a:t>Por eso el esquema usa identificadores sustitutos y guarda el dato natural aparte con unicidad:.</a:t>
            </a:r>
          </a:p>
          <a:p>
            <a:r>
              <a:t>UNIQUE impide dos duenos con la misma cedula, permite dejarla nula un rato y permite corregirla sin tocar las filas de mascota que apuntan al dueno.</a:t>
            </a:r>
          </a:p>
          <a:p>
            <a:r>
              <a:t>CÓDIGO CITADO (referencia):</a:t>
            </a:r>
          </a:p>
          <a:p>
            <a:r>
              <a:t>CREATE TABLE dueno (id_dueno INT PRIMARY KEY, cedula VARCHAR(20) UNIQUE, nombre VARCHAR(80) NOT NULL, telefono VARCHAR(30), email VARCHAR(120))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normalizacion se dicta mejor al reves de como se suele dictar: primero la enfermedad.</a:t>
            </a:r>
          </a:p>
          <a:p>
            <a:r>
              <a:t>De actualizacion: cuando Ana Perez cambia de telefono hay que actualizar todas sus citas, y si una queda sin actualizar la base contiene dos verdades contradictorias.</a:t>
            </a:r>
          </a:p>
          <a:p>
            <a:r>
              <a:t>De insercion: no se puede registrar un dueno nuevo hasta que tenga una cita, porque el dato solo vive en cita.</a:t>
            </a:r>
          </a:p>
          <a:p>
            <a:r>
              <a:t>De borrado: al eliminar la ultima cita desaparece el telefono.</a:t>
            </a:r>
          </a:p>
          <a:p>
            <a:r>
              <a:t>Primera: nada de listas en una celda; guardar 3001112233 y 3159998877 juntos obliga a buscar con SUBSTR, no se puede indexar y no se sabe cual esta vigente, luego se crea telefono_dueno.</a:t>
            </a:r>
          </a:p>
          <a:p>
            <a:r>
              <a:t>Segunda: en detalle_factura, con clave compuesta (id_factura, id_insumo), un atributo como nombre_insumo depende solo de id_insumo y sale hacia insumo; en cambio precio_unitario se queda</a:t>
            </a:r>
          </a:p>
          <a:p>
            <a:r>
              <a:t>Y este matiz separa a quien entendio de quien memorizo, porque no es redundancia sino el precio historico del momento de la venta: si el total se recalcula con el precio actual, reimprimir una factura de hace seis meses da otra cifra.</a:t>
            </a:r>
          </a:p>
          <a:p>
            <a:r>
              <a:t>Tercera: si cita guardara especialidad_veterinario, ese atributo depende de id_veterinario y no de id_cita, luego sale hacia veterinario.</a:t>
            </a:r>
          </a:p>
          <a:p>
            <a:r>
              <a:t>La tercera forma normal es el punto de parada practico en casi todo sistema transaccional</a:t>
            </a:r>
          </a:p>
          <a:p>
            <a:r>
              <a:t>Y eso es convencion; se rompe a proposito cuando conviene, por ejemplo guardando el total ya calculado en factura, decision que se sostiene con un disparador de la Clase 4 y se justifica con planes de ejecucion en las Clases 6 y 7.</a:t>
            </a:r>
          </a:p>
          <a:p>
            <a:r>
              <a:t>NOTAS:</a:t>
            </a:r>
          </a:p>
          <a:p>
            <a:r>
              <a:t>Supongamos que el estudiante guarda el telefono del dueno dentro de cada fila de cita.</a:t>
            </a:r>
          </a:p>
          <a:p>
            <a:r>
              <a:t>Aparecen tres anomalias.</a:t>
            </a:r>
          </a:p>
          <a:p>
            <a:r>
              <a:t>Leidas asi, las tres formas normales son tres vacunas.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clave foranea apunta a la clave primaria de otra tabla y su efecto practico es que el motor se niega a guardar una referencia inventada.</a:t>
            </a:r>
          </a:p>
          <a:p>
            <a:r>
              <a:t>Si se intenta y la mascota 999 no existe, la sentencia falla y nombra la restriccion violada: eso es integridad referencial.</a:t>
            </a:r>
          </a:p>
          <a:p>
            <a:r>
              <a:t>Si no se especifica nada, Oracle y PostgreSQL asumen el comportamiento restrictivo, y esa es regla dura del estandar, no convencion.</a:t>
            </a:r>
          </a:p>
          <a:p>
            <a:r>
              <a:t>En la clínica se decide entidad por entidad: mascota hacia dueno restrictivo, porque borrar un dueno no debe evaporar el historial clinico; consulta hacia cita restrictivo</a:t>
            </a:r>
          </a:p>
          <a:p>
            <a:r>
              <a:t>Porque la consulta es el registro medico; detalle_factura hacia factura en cascada, porque una linea de detalle no significa nada sin su factura; detalle_factura hacia insumo restrictivo, porque no se puede borrar un insumo ya facturado.</a:t>
            </a:r>
          </a:p>
          <a:p>
            <a:r>
              <a:t>La conclusion honesta es que en produccion casi nada se borra: se marca inactivo con activa CHAR(1) DEFAULT 'S' CHECK (activa IN ('S','N')).</a:t>
            </a:r>
          </a:p>
          <a:p>
            <a:r>
              <a:t>La accion ante el borrado del padre se declara en la propia FK: ON DELETE RESTRICT, o NO ACTION, que es la opcion por omision, impide borrar un dueno con mascotas</a:t>
            </a:r>
          </a:p>
          <a:p>
            <a:r>
              <a:t>ON DELETE CASCADE borraria tambien sus mascotas y citas, que en una clinica es perder historia clinica</a:t>
            </a:r>
          </a:p>
          <a:p>
            <a:r>
              <a:t>En la clínica la eleccion razonable es RESTRICT mas baja logica.</a:t>
            </a:r>
          </a:p>
          <a:p>
            <a:r>
              <a:t>NOTAS:</a:t>
            </a:r>
          </a:p>
          <a:p>
            <a:r>
              <a:t>Lo que casi nunca se explica es la otra mitad: que pasa al borrar el padre.</a:t>
            </a:r>
          </a:p>
          <a:p>
            <a:r>
              <a:t>Al declarar la clave foranea se elige el comportamiento</a:t>
            </a:r>
          </a:p>
          <a:p>
            <a:r>
              <a:t>RESTRICT o NO ACTION impide borrar el dueno mientras tenga mascotas, CASCADE borra las filas hijas en cadena y SET NULL deja la referencia nula.</a:t>
            </a:r>
          </a:p>
          <a:p>
            <a:r>
              <a:t>Esa baja logica es la que obliga a validar en la Clase 3 que una mascota inactiva no agende, porque la clave foranea la sigue aceptando: el identificador existe, el negocio no lo quiere.</a:t>
            </a:r>
          </a:p>
          <a:p>
            <a:r>
              <a:t>ON DELETE SET NULL deja la fila huerfana con la columna en nulo.</a:t>
            </a:r>
          </a:p>
          <a:p>
            <a:r>
              <a:t>CÓDIGO CITADO (referencia):</a:t>
            </a:r>
          </a:p>
          <a:p>
            <a:r>
              <a:t>INSERT INTO cita (id_cita, id_mascota, fecha_hora, estado) VALUES (101, 999, TIMESTAMP '2026-09-01 09:00:00', 'PROGRAMADA')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En un sistema real no se borran clientes ni pacientes: no se hace DELETE FROM mascota.</a:t>
            </a:r>
          </a:p>
          <a:p>
            <a:r>
              <a:t>Primero por integridad, porque la fila esta referenciada por citas, consultas y facturas y el motor lo va a impedir; segundo por trazabilidad</a:t>
            </a:r>
          </a:p>
          <a:p>
            <a:r>
              <a:t>Porque el historial clinico y la facturacion de esa mascota tienen que seguir existiendo aunque la mascota ya no venga; y tercero porque un borrado es irreversible y una equivocacion de digitacion no deberia serlo.</a:t>
            </a:r>
          </a:p>
          <a:p>
            <a:r>
              <a:t>La regla vive en otra capa: un CHECK si solo mira columnas de la misma fila, un procedimiento almacenado si necesita consultar otra tabla (Clase 3), o un disparador si debe aplicarse aunque nadie llame al procedimiento (Clase 4).</a:t>
            </a:r>
          </a:p>
          <a:p>
            <a:r>
              <a:t>NOTAS:</a:t>
            </a:r>
          </a:p>
          <a:p>
            <a:r>
              <a:t>Conviene detenerse en la baja logica porque es la decision que sostiene medio semestre y casi nunca se explica.</a:t>
            </a:r>
          </a:p>
          <a:p>
            <a:r>
              <a:t>Lo que se hace es marcar la fila como inactiva: activa CHAR(1) DEFAULT 'S' CHECK (activa IN ('S','N')), y las consultas del dia a dia filtran WHERE activa = 'S'.</a:t>
            </a:r>
          </a:p>
          <a:p>
            <a:r>
              <a:t>La consecuencia que hay que subrayar, porque es la que abre la Clase 3, es que la clave foranea NO defiende esa regla: para el motor, la mascota inactiva existe y su identificador es valido, asi que aceptara sin chistar una cita nueva sobre ella.</a:t>
            </a:r>
          </a:p>
          <a:p>
            <a:r>
              <a:t>Si el estudiante sale hoy con DELETE en la cabeza, en la Clase 3 no va a entender por que hace falta sp_agendar_cita.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Hace falta distinguir un diagrama entidad-relacion de un dibujo, porque es facil hacer lo segundo creyendo que es lo primero.</a:t>
            </a:r>
          </a:p>
          <a:p>
            <a:r>
              <a:t>Un dibujo son cajas con nombres unidas por lineas.</a:t>
            </a:r>
          </a:p>
          <a:p>
            <a:r>
              <a:t>Un diagrama bien hecho cumple cinco condiciones verificables: entidades en singular con su clave primaria marcada; cada atributo con tipo y longitud, no solo nombre</a:t>
            </a:r>
          </a:p>
          <a:p>
            <a:r>
              <a:t>Cada clave foranea senalada indicando a que entidad apunta; cada relacion con cardinalidad en los dos extremos, con maximo y minimo; y cada relacion con nombre verbal legible, Dueno posee Mascota, Veterinario atiende Cita.</a:t>
            </a:r>
          </a:p>
          <a:p>
            <a:r>
              <a:t>El criterio de aceptacion que conviene entregar es operativo: el diagrama esta bien si otra persona puede escribir el CREATE TABLE completo mirandolo, sin preguntar nada.</a:t>
            </a:r>
          </a:p>
          <a:p>
            <a:r>
              <a:t>La opcionalidad es la parte que siempre se omite y la que mas cuesta despues.</a:t>
            </a:r>
          </a:p>
          <a:p>
            <a:r>
              <a:t>En la clínica, Consulta y Cita estan en relacion uno a uno pero no simetrica: una cita programada aun no tiene consulta, y una consulta no existe sin su cita.</a:t>
            </a:r>
          </a:p>
          <a:p>
            <a:r>
              <a:t>Como referencia de tamano, el modelo tiene ocho entidades y siete relaciones y debe caber legible en una hoja; si no cabe, se divide en vistas por subsistema, y eso es convencion, no norma.</a:t>
            </a:r>
          </a:p>
          <a:p>
            <a:r>
              <a:t>NOTAS:</a:t>
            </a:r>
          </a:p>
          <a:p>
            <a:r>
              <a:t>Eso se materializa como consulta.id_cita NOT NULL UNIQUE, no como una clave foranea simple, y decidirlo hoy evita la pregunta que aparece en la Clase 3 cuando alguien intenta registrar la consulta antes de la 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Elegir tipos parece trivial y es donde se pagan las facturas mas caras del semestre.</a:t>
            </a:r>
          </a:p>
          <a:p>
            <a:r>
              <a:t>Un telefono no es un numero: como NUMBER se pierden los ceros iniciales, no cabe el prefijo internacional ni una extension, asi que va VARCHAR(30).</a:t>
            </a:r>
          </a:p>
          <a:p>
            <a:r>
              <a:t>Una fecha no es texto: si fecha_hora fuera VARCHAR(20), el ORDER BY seria alfabetico y no cronologico, no se podrian sumar treinta minutos para calcular el fin de la cita y el indice de la Clase 7 serviria de poco; va TIMESTAMP.</a:t>
            </a:r>
          </a:p>
          <a:p>
            <a:r>
              <a:t>El dinero no es flotante: FLOAT representa decimales en binario y arrastra errores que, sumados en cientos de lineas de detalle_factura, hacen que el total no cuadre con sus partes; va NUMBER(12,2) en Oracle o DECIMAL(12,2) en PostgreSQL.</a:t>
            </a:r>
          </a:p>
          <a:p>
            <a:r>
              <a:t>La tentacion contraria, declarar todo VARCHAR(4000) por comodidad, renuncia a que la base valide algo y traslada la validacion entera a quien programe cada pantalla.</a:t>
            </a:r>
          </a:p>
          <a:p>
            <a:r>
              <a:t>Numeros de referencia como convencion del curso: nombre VARCHAR(80), email VARCHAR(120) porque el estandar de correo admite hasta 254 caracteres, telefono VARCHAR(30), especie VARCHAR(40).</a:t>
            </a:r>
          </a:p>
          <a:p>
            <a:r>
              <a:t>El costo de equivocarse no es reescribir una linea: la tabla ya tiene datos, el ALTER TABLE debe convertir cada valor, puede fallar por una sola fila invalida, bloquea la tabla mientras dura, y los procedimientos de las Clases 3 y 4 ya asumen el tipo antiguo.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Todo en minusculas: PostgreSQL pliega a minuscula cualquier identificador sin comillas</a:t>
            </a:r>
          </a:p>
          <a:p>
            <a:r>
              <a:t>Asi que escribir CREATE TABLE Mascota y despues consultarlo entrecomillado produce un error de tabla inexistente que cuesta veinte minutos de clase encontrar; la regla practica es no usar nunca comillas dobles en identificadores.</a:t>
            </a:r>
          </a:p>
          <a:p>
            <a:r>
              <a:t>Nombres de tabla en singular y sin tildes ni enes: dueno, mascota, cita, veterinario, consulta, insumo, factura, detalle_factura.</a:t>
            </a:r>
          </a:p>
          <a:p>
            <a:r>
              <a:t>Una tabla es un conjunto de entidades del mismo tipo, pero se nombra por lo que guarda cada fila, y el singular hace que la clave foranea se lea sola: cita.id_mascota apunta a mascota.id_mascota.</a:t>
            </a:r>
          </a:p>
          <a:p>
            <a:r>
              <a:t>Palabras compuestas con guion bajo (detalle_factura, fecha_hora), nunca camelCase.</a:t>
            </a:r>
          </a:p>
          <a:p>
            <a:r>
              <a:t>Y la convencion que mas tiempo ahorra en el semestre: el mismo nombre en el diagrama, en el DDL y en el codigo Mermaid; cuando los tres coinciden, el modelo se lee una sola vez.</a:t>
            </a:r>
          </a:p>
          <a:p>
            <a:r>
              <a:t>Ejemplo del error mas comun: CREATE TABLE "Mascota" con comillas crea un nombre sensible a mayusculas, y despues SELECT * FROM mascota responde relation "mascota" does not exist.</a:t>
            </a:r>
          </a:p>
          <a:p>
            <a:r>
              <a:t>Sin comillas, Mascota, MASCOTA y mascota son el mismo objeto.</a:t>
            </a:r>
          </a:p>
          <a:p>
            <a:r>
              <a:t>NOTAS:</a:t>
            </a:r>
          </a:p>
          <a:p>
            <a:r>
              <a:t>Convenciones de nombres del curso.</a:t>
            </a:r>
          </a:p>
          <a:p>
            <a:r>
              <a:t>Identificadores sustitutos uniformes con el patron id_&lt;entidad&gt;, el mismo nombre en la tabla propia y en la que la referencia, para que el JOIN se escriba sin buscar como se llamo la columna alla.</a:t>
            </a:r>
          </a:p>
          <a:p>
            <a:r>
              <a:t>Fuera de la lamina (habla de la practica): Convenciones de nombres del curso, y hay que exigirlas desde hoy porque el taller se corrige ejecutando el guion en el PostgreSQL que PostgreSQL en el navegador trae en el navegador.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Tambien se demuestra el borrado en cascada: DELETE FROM factura WHERE id_factura = 1 y verificar con SELECT COUNT(*) FROM detalle_factura que las lineas hijas desaparecieron.</a:t>
            </a:r>
          </a:p>
          <a:p>
            <a:r>
              <a:t>DB Fiddle: es un PostgreSQL real en el navegador que ejecuta el DDL y muestra el error exacto si algo no compila.</a:t>
            </a:r>
          </a:p>
          <a:p>
            <a:r>
              <a:t>Un visor Mermaid: convierte el texto erDiagram en el diagrama, y ese texto es la fuente que se versiona junto al DDL.</a:t>
            </a:r>
          </a:p>
          <a:p>
            <a:r>
              <a:t>NOTAS:</a:t>
            </a:r>
          </a:p>
          <a:p>
            <a:r>
              <a:t>Sobre lo que se puede demostrar con herramientas gratuitas conviene ser preciso.</a:t>
            </a:r>
          </a:p>
          <a:p>
            <a:r>
              <a:t>En DB Fiddle, sin cuenta y en menos de un minuto, se ejecuta el guion completo de CREATE TABLE con claves primarias, foraneas y CHECK, se insertan Ana Perez, Luna y su cita, se corre el JOIN de las tres tablas y, sobre todo, se provoca el error de integridad en vivo insertando una cita con id_mascota inexistente para que el grupo lea el mensaje real del motor.</a:t>
            </a:r>
          </a:p>
          <a:p>
            <a:r>
              <a:t>Lo que DB Fiddle no da es persistencia: cada ejecucion recrea el esquema desde cero y no hay usuarios ni roles reales, razon por la cual la Clase 2 trabaja con matriz documentada.</a:t>
            </a:r>
          </a:p>
          <a:p>
            <a:r>
              <a:t>Oracle Live SQL exige cuenta gratuita pero conserva esquema y guiones entre sesiones y admite bloques PL/SQL, que es lo que se necesitara desde la Clase 3; conviene que el estudiante la cree hoy y no el dia que la necesite. draw.io corre en el navegador, no pide cuenta y exporta PNG, el formato que pide PostgreSQL en el navegador.</a:t>
            </a:r>
          </a:p>
          <a:p>
            <a:r>
              <a:t>De ahi sale la regla operativa del curso: la fuente de verdad es el archivo sql en la carpeta del proyecto, nunca la pestana del navegador, y el estudiante va bien si reconstruye el esquema completo en menos de cinco minutos pegando su propio guion. draw.io y Excalidraw: son pizarras para pensar el modelo a mano alzada, sin instalar nada.</a:t>
            </a:r>
          </a:p>
          <a:p>
            <a:r>
              <a:t>Fuera de la lamina (habla de la practica): Sobre lo que se puede demostrar con herramientas gratuitas conviene ser preciso, porque de eso depende que el taller no se atore.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Un modelo ER en Mermaid NO es una imagen: es texto en sintaxis Mermaid (erDiagram) que un visor renderiza al instante.</a:t>
            </a:r>
          </a:p>
          <a:p>
            <a:r>
              <a:t>La IA acierta la sintaxis; el modelo sigue siendo del estudiante, y por eso hay que revisar lo que devuelve: entidades completas, cardinalidades en el sentido correcto, PK y FK marcadas.</a:t>
            </a:r>
          </a:p>
          <a:p>
            <a:r>
              <a:t>El paso que nadie se puede saltar es pegar el codigo en un visor Mermaid y mirarlo renderizado, porque un diagrama que no renderiza no comunica nada.</a:t>
            </a:r>
          </a:p>
          <a:p>
            <a:r>
              <a:t>NOTAS:</a:t>
            </a:r>
          </a:p>
          <a:p>
            <a:r>
              <a:t>Ultimo tramo.</a:t>
            </a:r>
          </a:p>
          <a:p>
            <a:r>
              <a:t>Eso no significa que haya que dibujar escribiendo codigo, y conviene decirlo asi para que nadie se bloquee: el camino corto es disenar visual en draw.io o Excalidraw, que es donde se piensa el modelo, y despues pedirle a una IA que traduzca ese boceto a Mermaid.</a:t>
            </a:r>
          </a:p>
          <a:p>
            <a:r>
              <a:t>El PNG exportado se conserva en la carpeta del proyecto para el informe, pero no reemplaza la respuesta en la plataforma.</a:t>
            </a:r>
          </a:p>
          <a:p>
            <a:r>
              <a:t>La demo debe terminar exactamente ahi, y deja los cuatro pasos proyectados mientras el grupo trabaja.</a:t>
            </a:r>
          </a:p>
          <a:p>
            <a:r>
              <a:t>PREGUNTAS FRECUENTES DEL GRUPO</a:t>
            </a:r>
          </a:p>
          <a:p>
            <a:r>
              <a:t>Primera: si la pantalla muestra todo junto, por que no una sola tabla con todo.</a:t>
            </a:r>
          </a:p>
          <a:p>
            <a:r>
              <a:t>Segunda: la clave primaria tiene que ser el primer campo y autoincremental.</a:t>
            </a:r>
          </a:p>
          <a:p>
            <a:r>
              <a:t>No: el orden fisico de las columnas es irrelevante para el motor, la clave primaria es una restriccion y no una posicion, y el autoincremento es solo una forma comoda de generar valores sustitutos.</a:t>
            </a:r>
          </a:p>
          <a:p>
            <a:r>
              <a:t>Tercera, la mas valiosa porque abre las clases siguientes: si pongo la clave foranea, ya no necesito validar en la aplicacion.</a:t>
            </a:r>
          </a:p>
          <a:p>
            <a:r>
              <a:t>La clave foranea garantiza que el identificador exista, no que la regla de negocio se cumpla; la mascota inactiva tiene un identificador valido y la clave foranea la acepta sin chistar.</a:t>
            </a:r>
          </a:p>
          <a:p>
            <a:r>
              <a:t>Tres preguntas aparecen casi siempre y conviene tener la respuesta lista.</a:t>
            </a:r>
          </a:p>
          <a:p>
            <a:r>
              <a:t>La respuesta no es doctrinal sino de costo: ahi el telefono de un dueno con veinte citas vive veinte veces y basta una actualizacion parcial para que el sistema mienta; ademas ese diseno impide registrar un dueno sin cita o un insumo sin venta.</a:t>
            </a:r>
          </a:p>
          <a:p>
            <a:r>
              <a:t>Esa regla necesita otra herramienta: un CHECK cuando mira solo columnas de la misma fila, un procedimiento almacenado cuando debe consultar otra tabla, que es el hito de la Clase 3, o un disparador cuando debe aplicarse aunque nadie llame al procedimiento, que es el hito de la Clase 4.</a:t>
            </a:r>
          </a:p>
          <a:p>
            <a:r>
              <a:t>Fuera de la lamina (habla de la practica): Ultimo tramo, y es el que decide si el taller se entrega o no: como pasa el estudiante del dibujo a lo que la plataforma califica.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Revision BD I · Arranque la base de la clínica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proyecto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Revision BD I · Arranque la base de la clínica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que esto no es Bases de Datos I, y el vocabulario minimo · Nivel conceptual y nivel fisico · El patron de tabla · El JOIN de tres tablas.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cliente: una clínica veterinaria en papel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clínica es la clínica (el cliente); la base de la clínica es la base de datos que usted construye para ella.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clínica Veterinaria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(Cali): unas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150 citas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16 veterinarios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~5.000 mascotas de ~2.000 dueños — y todo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carpetas de papel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Duele en tres puntos: se extravían fichas, buscar un historial genera filas en la sala de espera, y no hay métricas.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personas van a usar el sistema, y esperan cosas distintas: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dueño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métricas,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recepcionista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agendar rápido,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veterinario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historial a la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intereses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entran en conflicto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más datos dan mejores métricas, pero hacen más lento el agendamiento. Ahí están las decisiones de diseño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modelo de la clínica tiene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8 entidades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 reglas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dueño, mascota, veterinario, cita, consulta, insumo, factura y detalle de factura.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esto no es Bases de Datos I, y el vocabulario minimo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bla-fila-column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abla-fila-column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abla-fila-column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Alla el objetivo era escribir consultas que devolvieran el resultado correcto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 disenar un esquema que siga siendo correcto cuando lo usen tres personas distintas.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tabla, o relacion, es un conjunto de entidades del mismo tipo: mascota guarda mascotas y nada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fila es una instancia concreta e irrepetible: la perra Luna de la duena Ana Perez.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 conceptual y nivel fisico: dos vistas del mismo modelo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ceptual-fisic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nceptual-fisic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nceptual-fisic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conceptual nombra entidades y relaciones con vocabulario de negocio y sin comprometerse con ningun motor: Dueno posee Mascota, Veterinario…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fisico convierte esas entidades en tablas con columnas tipadas, longitudes, restricciones y claves: dueno.telefono VARCHAR(30) NOT NULL.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dos vistas del MISMO modelo, no dos modelos distintos, y esa es la razon de que la clase produzca dos artefactos.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la clínica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93607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citas”, “un veterinario atiende N citas”. La PK identifica cada fila; la FK materializa la relación y la BD la hace cumplir: una cita con id_mascota 999 que no existe se rechaza con violación de clave foránea.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352440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293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293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TABLE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consulta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id_consulta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SERIAL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PRIMARY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KEY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    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PK: identifica la fila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INT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UNIQUE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        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REFERENCES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),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FK: materializa la relacion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diagnostico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TEXT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precio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NUMERIC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NULL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        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CHECK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precio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   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regla de negocio en la BD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 FK vive en la tabla que depende; con UNIQUE la relacion queda 1:1 (una consulta por cita). El CHECK ya es una regla de negocio.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patron de tabla: PK, obligatorios y dominio cerrado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2207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Mismo patron que pedira su DDL, sobre otra tabla del modelo.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TABLE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veterinario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id_veterinario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SERIAL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PRIMARY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KEY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sustituta: la genera la base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tarjeta_prof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VARCHAR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UNIQUE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natural: unica, pero puede faltar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VARCHAR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80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obligatorio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especialidad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VARCHAR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40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NULL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CHECK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especialidad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'GENERAL'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'CIRUGIA'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'DERMATOLOGIA'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)),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activo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CHAR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DEFAULT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'S'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baja logica, no DELETE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CHECK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activo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'S'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'N'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JOIN de tres tablas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2207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 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 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 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estado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=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id_dueno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DATE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'2026-09-01'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AND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activa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'S'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Cada JOIN sigue una FK: cita llega a mascota por id_mascota, y mascota a dueno por id_dueno. El WHERE filtra despues de unir; si falta una condicion ON, el resultado no es un error sino un producto cartesiano.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primaria: natural o sustituta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k-natural-sustitu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k-natural-sustitu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k-natural-sustitu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primaria es la columna, o el conjunto de columnas, que identifica una fila sin ambiguedad: no se repite y no admite nulos.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diseno real no es si poner clave primaria, sino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clave natural es un atributo del mundo real que ya identifica la entidad: la cedula del dueno, el microchip de la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clave sustituta, o surrogate, es un numero sin significado de negocio que la base genera: id_dueno 1, 2, 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Normalizacion 1FN-3FN: primero la enfermedad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nomali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nomali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nomali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anomalia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normalizacion se dicta mejor al reves de como se suele dictar: primero la enfermedad.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actualizacion: cuando Ana Perez cambia de telefono hay que actualizar todas sus citas.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insercion: no se puede registrar un dueno nuevo hasta que tenga una cita, porque el dato solo vive en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borrado: al eliminar la ultima cita desaparece el telefono.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 basta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k-restrictiv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k-restrictiv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k-restrictiv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foranea apunta a la clave primaria de otra tabla y su efecto practico es que el motor se niega a guardar una referencia inventada.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intenta y la mascota 999 no existe, la sentencia falla y nombra la restriccion violada: eso es integridad referencial.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especifica nada, Oracle y PostgreSQL asumen el comportamiento restrictivo, y esa es regla dura del estandar, no convencion.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clave foranea y que pasa al borrar el padre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6366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69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69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TABLE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CDCAA"/>
                </a:solidFill>
                <a:latin typeface="Consolas"/>
              </a:rPr>
              <a:t>insumo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(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id_insumo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4EC9B0"/>
                </a:solidFill>
                <a:latin typeface="Consolas"/>
              </a:rPr>
              <a:t>SERIAL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PRIMARY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KEY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1900" i="0" b="0">
                <a:solidFill>
                  <a:srgbClr val="4EC9B0"/>
                </a:solidFill>
                <a:latin typeface="Consolas"/>
              </a:rPr>
              <a:t>VARCHAR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80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stock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 </a:t>
            </a:r>
            <a:r>
              <a:rPr sz="1900" i="0" b="0">
                <a:solidFill>
                  <a:srgbClr val="4EC9B0"/>
                </a:solidFill>
                <a:latin typeface="Consolas"/>
              </a:rPr>
              <a:t>INT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DEFAULT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CHECK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stock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),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precio_unit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4EC9B0"/>
                </a:solidFill>
                <a:latin typeface="Consolas"/>
              </a:rPr>
              <a:t>NUMERIC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CHECK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precio_unit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El comportamiento al borrar el padre SE ELIGE. Si no se declara,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PostgreSQL asume NO ACTION: se niega a borrar. Eso es del estandar.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ALTER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TABLE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detalle_factura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ADD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CONSTRAINT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fk_detalle_insumo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FOREIGN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KEY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id_insumo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REFERENCES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CDCAA"/>
                </a:solidFill>
                <a:latin typeface="Consolas"/>
              </a:rPr>
              <a:t>insumo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id_insumo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DELETE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RESTRICT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   </a:t>
            </a:r>
            <a:r>
              <a:rPr sz="1900" i="1" b="0">
                <a:solidFill>
                  <a:srgbClr val="6A9955"/>
                </a:solidFill>
                <a:latin typeface="Consolas"/>
              </a:rPr>
              <a:t>-- no se borra un insumo ya facturado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Integridad referencial: el error que devuelve el motor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2207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62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Existe la mascota 1, no existe la 999.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INSERT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id_veterinario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VALUES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TIMESTAMP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'2026-09-01 09:00:00'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'PROGRAMADA'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INSERT 0 1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INSERT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id_veterinario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VALUES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999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TIMESTAMP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'2026-09-01 10:00:00'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'PROGRAMADA'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ERROR:  insert or update on table "cita" violates foreign key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        constraint "cita_id_mascota_fkey"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DETAIL:  Key (id_mascota)=(999) is not present in table "mascota".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Baja logica: activa CHAR(1) en vez de DELETE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ja-logic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baja-logic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baja-logic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sistema real no se borran clientes ni pacientes: no se hace DELETE FROM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por integridad, porque la fila esta referenciada por citas, consultas y facturas y el motor lo va a impedir; segundo por trazabilidad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historial clinico y la facturacion de esa mascota tienen que seguir existiendo aunque la mascota ya no venga.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vive en otra capa: un CHECK si solo mira columnas de la misma fila.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el DDL NO puede defender solo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8408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42464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La FK garantiza que el identificador EXISTA. No que el negocio lo quiera.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UPDATE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SET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activa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'N'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baja logica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INSERT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id_veterinario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VALUES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4EC9B0"/>
                </a:solidFill>
                <a:latin typeface="Consolas"/>
              </a:rPr>
              <a:t>TIMESTAMP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'2026-09-02 08:00:00'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'PROGRAMADA'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INSERT 0 1   &lt;-- la acepta: para el motor la mascota 1 existe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Un CHECK tampoco: solo mira columnas de SU propia fila.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La regla «una mascota inactiva no agenda» necesita consultar OTRA tabla,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y eso es un procedimiento (Clase 3) o un trigger (Clase 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separa un diagrama ER de un dibujo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-vs-dibuj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r-vs-dibuj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r-vs-dibuj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 falta distinguir un diagrama entidad-relacion de un dibujo, porque es facil hacer lo segundo creyendo que es lo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dibujo son cajas con nombres unidas por lineas.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bien hecho cumple cinco condiciones verificables: entidades en singular con su clave primaria marcada;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clave foranea senalada indicando a que entidad apunta.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Tipos de datos: donde se pagan las facturas mas caras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ipos-de-dat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ipos-de-dat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ipos-de-dat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tipos parece trivial y es donde se pagan las facturas mas caras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telefono no es un numero: como NUMBER se pierden los ceros iniciales, no cabe el prefijo internacional ni una extension, asi que va VARCHAR(30).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fecha no es texto: si fecha_hora fuera VARCHAR(20).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dinero no es flotante: FLOAT representa decimales en binario y arrastra errores 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Convenciones de nombres para que el DDL corra a la primera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ombres-minuscul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nombres-minuscul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nombres-minuscul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en minusculas: PostgreSQL pliega a minuscula cualquier identificador sin comillas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Asi que escribir CREATE TABLE Mascota y despues consultarlo entrecomillado produce un error de tabla inexistente que cuesta veinte minutos de clase…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Nombres de tabla en singular y sin tildes ni enes: dueno, mascota, cita, veterinario, consulta, insumo, factura, detalle_factura.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dia y que se puede demostrar con cada 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Tambien se demuestra el borrado en cascada: DELETE FROM factura WHERE id_factura = 1 y verificar con SELECT COUNT(*) FROM detalle_factura que las lineas hijas…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DB Fiddle: es un PostgreSQL real en el navegador que ejecuta el DDL y muestra el error exacto si algo no compila.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visor Mermaid: convierte el texto erDiagram en el diagrama, y ese texto es la fuente que se versiona junto al DDL.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ER dibujado al codigo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-a-mermai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r-a-mermai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r-a-mermai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modelo ER en Mermaid NO es una imagen: es texto en sintaxis Mermaid (erDiagram) que un visor renderiza al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IA acierta la sintaxis; el modelo sigue siendo del estudiante, y por eso hay que revisar lo que devuelve.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paso que nadie se puede saltar es pegar el codigo en un visor Mermaid y mirarlo renderizado, porque un diagrama que no renderiza no comunica nada.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Fiddle, y cierre pasando el boceto a Mermaid con IA para pegarlo renderizado.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de la clínica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FK rechaza una cita para una mascota que no existe: el motor responde con violacion de clave foranea y no inserta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mismo modelo en tres formas que deben coincidir: el boceto, el DDL que compila y el texto erDiagram.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es texto Mermaid: la imagen sale del codigo, no al reves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 usando erDiagram.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y corrige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codigo en un visor Mermaid (por ejemplo mermaid.live) y mira como lo dibuja. Si no renderiza, corrige ahi mismo: un diagrama que no renderiza no comunica nada.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codigo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Conserva el texto Mermaid, que es la fuente, y exporta el PNG para tu informe.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Revision BD I · Arranque la base de la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Por que esto no es Bases de Datos I, y el vocabulario minimo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Nivel conceptual y nivel fisico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Clave primaria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