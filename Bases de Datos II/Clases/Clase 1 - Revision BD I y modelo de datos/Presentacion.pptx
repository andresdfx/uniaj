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Toda base de datos se diseña para alguien. Nuestro cliente es una clínica veterinaria de Cali con unas 150 citas diarias, 16 veterinarios y cerca de 5.000 mascotas de 2.000 dueños, y todo vive en carpetas. El semestre entero construye la capa de datos de esa clínica: no la aplicación ni las pantallas, sino el esquema, sus reglas, sus permisos y su rendimiento.</a:t>
            </a:r>
          </a:p>
          <a:p/>
          <a:p>
            <a:r>
              <a:t>CÓMO DARLA (≈4 min):</a:t>
            </a:r>
          </a:p>
          <a:p>
            <a:r>
              <a:t>  • Al entrar: Arriba, los tres dolores, y conecta cada uno con una decisión del curso: la ficha perdida se resuelve con una fila que tiene clave primaria (hoy); las filas en la sala de espera, con índices (Clase 7); la falta de métricas, con consultas agregadas (Clase 6). Abajo, las tres personas y lo que quiere cada una, y el recuadro del conflicto: «un campo más en el formulario de la cita le da métricas al dueño y le suma clics a la recepcionista».</a:t>
            </a:r>
          </a:p>
          <a:p/>
          <a:p>
            <a:r>
              <a:t>EJEMPLO: ¿Guardamos la raza de la mascota? Al dueño le sirve para saber qué razas atiende más; a la recepcionista le cuesta un campo más por cita; al veterinario le sirve en la consulta. Se guarda en mascota, una sola vez, y no en cada cita.</a:t>
            </a:r>
          </a:p>
          <a:p/>
          <a:p>
            <a:r>
              <a:t>SI PREGUNTAN:</a:t>
            </a:r>
          </a:p>
          <a:p>
            <a:r>
              <a:t>  • «¿Esta columna sobra?» → Responde con otra pregunta: ¿cuál de las tres personas la necesita, y qué pierde otra si la agregamos? Así se decide un modelo, no se copia.</a:t>
            </a:r>
          </a:p>
          <a:p>
            <a:r>
              <a:t>  • «¿Tenemos que hacer la aplicación?» → No. En esta materia se construye la base de datos: tablas, reglas, roles, procedimientos y rendimiento. La aplicación es de otra materia.</a:t>
            </a:r>
          </a:p>
          <a:p/>
          <a:p>
            <a:r>
              <a:t>CUIDADO: El modelo tiene 8 entidades (dueño, mascota, veterinario, cita, consulta, insumo, factura, detalle de factura) y 3 reglas que vuelven todo el semestre: una mascota inactiva no agenda, el stock nunca queda negativo y todo cambio de estado de una cita queda registrado. Nómbralas hoy aunque se resuelvan después.</a:t>
            </a:r>
          </a:p>
          <a:p/>
          <a:p>
            <a:r>
              <a:t>PASA A LA SIGUIENTE: ¿Por qué esto no es repetir Bases de Datos I? Por el vocabulario con que vamos a decidir.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En Bases de Datos I el objetivo era escribir la consulta que devuelve el resultado correcto. Aquí el objetivo es diseñar un esquema que siga siendo correcto cuando lo usen tres personas distintas, cuando tenga cien mil filas y cuando alguien meta datos malos. Para decidir eso hacen falta tres palabras precisas: tabla, fila y columna con su dominio.</a:t>
            </a:r>
          </a:p>
          <a:p/>
          <a:p>
            <a:r>
              <a:t>CÓMO DARLA (≈3 min):</a:t>
            </a:r>
          </a:p>
          <a:p>
            <a:r>
              <a:t>  • Al entrar: La tabla mascota con tres filas: «una tabla guarda cosas de un solo tipo; aquí no hay dueños ni citas, solo mascotas».</a:t>
            </a:r>
          </a:p>
          <a:p>
            <a:r>
              <a:t>  • Clic 1: Se marca la fila de Luna: «una fila es UNA mascota concreta; si la misma mascota apareciera en dos filas, ya no sabríamos cuál es la verdadera».</a:t>
            </a:r>
          </a:p>
          <a:p>
            <a:r>
              <a:t>  • Clic 2: Se marca la columna especie y aparece su dominio: «una columna no acepta cualquier cosa; especie solo admite cuatro valores, y eso lo puede vigilar el motor».</a:t>
            </a:r>
          </a:p>
          <a:p/>
          <a:p>
            <a:r>
              <a:t>EJEMPLO: Si alguien escribe especie = 'Perro' en vez de 'Canino', el dato parece correcto pero rompe el conteo de especies del mes. El dominio cerrado es lo que evita eso.</a:t>
            </a:r>
          </a:p>
          <a:p/>
          <a:p>
            <a:r>
              <a:t>SI PREGUNTAN:</a:t>
            </a:r>
          </a:p>
          <a:p>
            <a:r>
              <a:t>  • «¿Dominio no era el tema del proyecto?» → La palabra tiene dos usos: el dominio de un atributo (sus valores legales) y el dominio del problema (la clínica). Hoy se usan los dos; aclara cuál.</a:t>
            </a:r>
          </a:p>
          <a:p/>
          <a:p>
            <a:r>
              <a:t>CUIDADO: Sobre estas tres nociones se monta el semestre: los permisos de la Clase 2 se dan sobre tablas, las validaciones de la Clase 3 miran columnas y los índices de la Clase 7 se crean sobre columnas concretas.</a:t>
            </a:r>
          </a:p>
          <a:p/>
          <a:p>
            <a:r>
              <a:t>PASA A LA SIGUIENTE: El mismo modelo se puede mirar de dos maneras: como negocio y como tablas.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Hay dos niveles que se mezclan. El conceptual nombra entidades y relaciones con palabras del negocio, sin decir nada del motor. El físico convierte eso en tablas con columnas tipadas, restricciones y claves. No son dos modelos: es el mismo modelo visto de dos formas, y por eso hoy se producen dos artefactos que deben coincidir.</a:t>
            </a:r>
          </a:p>
          <a:p/>
          <a:p>
            <a:r>
              <a:t>CÓMO DARLA (≈3 min):</a:t>
            </a:r>
          </a:p>
          <a:p>
            <a:r>
              <a:t>  • Al entrar: Arriba, el nivel conceptual: dos cajas, dueño y mascota, y el verbo «posee». «Esto lo entiende la administradora de la clínica; no hay un solo tipo de dato».</a:t>
            </a:r>
          </a:p>
          <a:p>
            <a:r>
              <a:t>  • Clic 1: Abajo aparecen las tablas dueno y mascota con sus columnas: id_dueno SERIAL PK, telefono VARCHAR(30) NOT NULL, id_dueno INT FK → dueno. «Esto ya lo entiende el motor».</a:t>
            </a:r>
          </a:p>
          <a:p>
            <a:r>
              <a:t>  • Clic 2: Las flechas punteadas unen cada caja con su tabla: «dos vistas del MISMO modelo; el diagrama ER es la vista conceptual y el CREATE TABLE la física».</a:t>
            </a:r>
          </a:p>
          <a:p/>
          <a:p>
            <a:r>
              <a:t>EJEMPLO: «Dueño posee mascota» en el diagrama se convierte en la columna mascota.id_dueno con REFERENCES dueno(id_dueno) en el DDL.</a:t>
            </a:r>
          </a:p>
          <a:p/>
          <a:p>
            <a:r>
              <a:t>SI PREGUNTAN:</a:t>
            </a:r>
          </a:p>
          <a:p>
            <a:r>
              <a:t>  • «¿Por qué el diagrama debe llevar tipos y longitudes si es conceptual?» → Porque el criterio de completitud es que alguien pueda escribir el CREATE TABLE mirándolo sin preguntar. Sin tipos, el diagrama no se puede traducir.</a:t>
            </a:r>
          </a:p>
          <a:p/>
          <a:p>
            <a:r>
              <a:t>CUIDADO: No presentes el diagrama y el DDL como dos tareas separadas: si un nombre cambia entre los dos, ya no son el mismo modelo.</a:t>
            </a:r>
          </a:p>
          <a:p/>
          <a:p>
            <a:r>
              <a:t>PASA A LA SIGUIENTE: Veamos el modelo mínimo de la clínica en su vista conceptual.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Toda tabla necesita una clave primaria: la columna que identifica una fila sin ambigüedad. Eso no se discute; lo que se decide es cuál. La natural es un dato del mundo real; la sustituta es un número sin significado que genera la base. En la clínica gana la sustituta, y el dato natural se guarda aparte con UNIQUE.</a:t>
            </a:r>
          </a:p>
          <a:p/>
          <a:p>
            <a:r>
              <a:t>CÓMO DARLA (≈3 min):</a:t>
            </a:r>
          </a:p>
          <a:p>
            <a:r>
              <a:t>  • Al entrar: Arriba, la definición: no se repite y no admite nulos. «No es estilo: el motor lo revisa en cada INSERT y UPDATE». Pregunta: «¿cuál columna de dueño usarían?».</a:t>
            </a:r>
          </a:p>
          <a:p>
            <a:r>
              <a:t>  • Clic 1: La natural, cédula o microchip, y sus tres fallas en la clínica: el dueño llega sin la cédula a la mano, el microchip se digita mal y hay que corregirlo, y la mascota rescatada no tiene microchip.</a:t>
            </a:r>
          </a:p>
          <a:p>
            <a:r>
              <a:t>  • Clic 2: La sustituta: la genera la base, no significa nada y nunca se corrige. Lee la regla de abajo y aclara que es convención de oficio, no regla del motor.</a:t>
            </a:r>
          </a:p>
          <a:p/>
          <a:p>
            <a:r>
              <a:t>EJEMPLO: dueno(id_dueno SERIAL PRIMARY KEY, cedula VARCHAR(20) UNIQUE, ...): la cédula no se repite, puede quedar nula un rato y se corrige sin tocar las mascotas, que apuntan a id_dueno.</a:t>
            </a:r>
          </a:p>
          <a:p/>
          <a:p>
            <a:r>
              <a:t>SI PREGUNTAN:</a:t>
            </a:r>
          </a:p>
          <a:p>
            <a:r>
              <a:t>  • «¿La clave primaria tiene que ser la primera columna y autoincremental?» → No. El orden de las columnas no le importa al motor, y el autoincremento es solo una forma cómoda de generar valores sustitutos.</a:t>
            </a:r>
          </a:p>
          <a:p>
            <a:r>
              <a:t>  • «¿La natural no ahorra un JOIN?» → Sí, cuando se busca por ella. Pero si cambia, hay que corregirla en todas las tablas que la referencian; la sustituta nunca cambia.</a:t>
            </a:r>
          </a:p>
          <a:p/>
          <a:p>
            <a:r>
              <a:t>CUIDADO: No digas que la natural «está mal»: es válida cuando el dato es estable y lo controla la propia organización. La regla es sobre quién controla el valor.</a:t>
            </a:r>
          </a:p>
          <a:p/>
          <a:p>
            <a:r>
              <a:t>PASA A LA SIGUIENTE: Elegida la clave, el siguiente error clásico es repetir datos. Primero la enfermedad.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Normalizar se entiende mejor empezando por el problema. Si un dato se guarda repetido, la base puede contradecirse, no puede registrar cosas que existen y pierde datos al borrar otros. Las tres formas normales son la cura: cada dato vive una sola vez, en la tabla de la que depende.</a:t>
            </a:r>
          </a:p>
          <a:p/>
          <a:p>
            <a:r>
              <a:t>CÓMO DARLA (≈5 min):</a:t>
            </a:r>
          </a:p>
          <a:p>
            <a:r>
              <a:t>  • Al entrar: La tabla mal diseñada: cada cita guarda el nombre y el teléfono del dueño. «Ana Pérez aparece dos veces, con su teléfono dos veces».</a:t>
            </a:r>
          </a:p>
          <a:p>
            <a:r>
              <a:t>  • Clic 1: Actualización: Ana cambia de teléfono y solo se corrige una cita. «¿Cuál es su teléfono? La base guarda dos verdades».</a:t>
            </a:r>
          </a:p>
          <a:p>
            <a:r>
              <a:t>  • Clic 2: Inserción: un dueño nuevo que todavía no pide cita no se puede registrar, porque su teléfono solo vive en cita.</a:t>
            </a:r>
          </a:p>
          <a:p>
            <a:r>
              <a:t>  • Clic 3: Borrado: se borra la única cita de Luis Mora y su teléfono desaparece con ella.</a:t>
            </a:r>
          </a:p>
          <a:p>
            <a:r>
              <a:t>  • Clic 4: La cura: dueno(id_dueno, nombre, telefono) y cita con la referencia al dueño. El teléfono vive una vez.</a:t>
            </a:r>
          </a:p>
          <a:p/>
          <a:p>
            <a:r>
              <a:t>EJEMPLO: Las tres formas, con la clínica: 1FN, nada de listas en una celda (dos teléfonos juntos van a otra tabla); 2FN, en detalle_factura el nombre del insumo depende solo de id_insumo y sale a insumo, pero el precio unitario se queda porque es el precio del día de la venta; 3FN, la especialidad del veterinario no se guarda en cita: depende de id_veterinario.</a:t>
            </a:r>
          </a:p>
          <a:p/>
          <a:p>
            <a:r>
              <a:t>SI PREGUNTAN:</a:t>
            </a:r>
          </a:p>
          <a:p>
            <a:r>
              <a:t>  • «Si la pantalla muestra todo junto, ¿por qué no una sola tabla?» → Por costo: el teléfono de un dueño con veinte citas viviría veinte veces y bastaría una actualización parcial para que el sistema mienta.</a:t>
            </a:r>
          </a:p>
          <a:p>
            <a:r>
              <a:t>  • «¿El precio_unit de detalle_factura no es redundante?» → No: es el precio histórico. Si se recalculara con el precio actual, reimprimir una factura de hace seis meses daría otra cifra.</a:t>
            </a:r>
          </a:p>
          <a:p/>
          <a:p>
            <a:r>
              <a:t>CUIDADO: No dictes 1FN-2FN-3FN como una escalera de definiciones sin mostrar una anomalía concreta: el grupo termina normalizando por ritual y partiendo tablas que nunca se consultan por separado.</a:t>
            </a:r>
          </a:p>
          <a:p/>
          <a:p>
            <a:r>
              <a:t>PASA A LA SIGUIENTE: Al separar tablas, alguien tiene que garantizar que las referencias apunten a algo real: la clave foránea.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clave foránea hace que el motor se niegue a guardar una referencia inventada. Esa es la mitad que todos conocen. La otra mitad es qué pasa cuando se intenta borrar la fila a la que otros apuntan: eso se decide al declarar la FK, y si no se decide, el estándar impide el borrado.</a:t>
            </a:r>
          </a:p>
          <a:p/>
          <a:p>
            <a:r>
              <a:t>CÓMO DARLA (≈3 min):</a:t>
            </a:r>
          </a:p>
          <a:p>
            <a:r>
              <a:t>  • Al entrar: Dos tablas: las citas apuntan a mascotas que existen (1 y 2). «La flecha es la FK: cita.id_mascota debe existir en mascota».</a:t>
            </a:r>
          </a:p>
          <a:p>
            <a:r>
              <a:t>  • Clic 1: El INSERT con id_mascota 999: el motor lo rechaza y nombra la restricción violada, cita_id_mascota_fkey. Nada se insertó.</a:t>
            </a:r>
          </a:p>
          <a:p>
            <a:r>
              <a:t>  • Clic 2: El DELETE de la mascota 1, que tiene citas: rechazado. «Sin cláusula ON DELETE el comportamiento es restrictivo; eso es regla del estándar SQL, no una costumbre».</a:t>
            </a:r>
          </a:p>
          <a:p/>
          <a:p>
            <a:r>
              <a:t>EJEMPLO: Decisión por relación: mascota → dueño, restrictiva (borrar un dueño no puede borrar el historial); consulta → cita, restrictiva; detalle_factura → factura, CASCADE (una línea no significa nada sin su factura); detalle_factura → insumo, restrictiva (no se borra un insumo ya facturado).</a:t>
            </a:r>
          </a:p>
          <a:p/>
          <a:p>
            <a:r>
              <a:t>SI PREGUNTAN:</a:t>
            </a:r>
          </a:p>
          <a:p>
            <a:r>
              <a:t>  • «¿Qué diferencia hay entre RESTRICT y NO ACTION?» → Las dos impiden borrar el padre con hijos. NO ACTION, la opción por omisión, revisa al final de la sentencia y puede diferirse; RESTRICT revisa de inmediato. Para este curso se comportan igual.</a:t>
            </a:r>
          </a:p>
          <a:p/>
          <a:p>
            <a:r>
              <a:t>CUIDADO: CASCADE en mascota → dueño parece cómodo y es peligroso: un DELETE de un dueño se llevaría sus mascotas y, en cadena, sus citas y su historia clínica.</a:t>
            </a:r>
          </a:p>
          <a:p/>
          <a:p>
            <a:r>
              <a:t>PASA A LA SIGUIENTE: Veamos cómo se declara la FK con su comportamiento al borrar.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Una mascota que ya no viene no se borra: se marca como inactiva. Borrar falla por integridad, destruye el historial y es irreversible; marcar conserva todo y se puede deshacer. La consecuencia importante es que la regla «una mascota inactiva no agenda» ya no la defiende la FK.</a:t>
            </a:r>
          </a:p>
          <a:p/>
          <a:p>
            <a:r>
              <a:t>CÓMO DARLA (≈3 min):</a:t>
            </a:r>
          </a:p>
          <a:p>
            <a:r>
              <a:t>  • Al entrar: Izquierda, el borrado físico: Luna tiene citas, consultas y facturas colgando. Tres problemas: la integridad lo impide, se pierde la historia y es irreversible.</a:t>
            </a:r>
          </a:p>
          <a:p>
            <a:r>
              <a:t>  • Clic 1: Derecha, la baja lógica: UPDATE mascota SET activa = 'N'. Las referencias siguen válidas, el historial queda intacto y se revierte con activa = 'S'.</a:t>
            </a:r>
          </a:p>
          <a:p>
            <a:r>
              <a:t>  • Clic 2: Abajo, cómo se declara (activa CHAR(1) DEFAULT 'S' CHECK (activa IN ('S','N'))), que las consultas del día filtran WHERE activa = 'S', y el aviso: para la FK la mascota inactiva sigue existiendo.</a:t>
            </a:r>
          </a:p>
          <a:p/>
          <a:p>
            <a:r>
              <a:t>EJEMPLO: UPDATE mascota SET activa = 0 WHERE id_mascota = 2; falla con «violates check constraint "mascota_activa_check"»: los valores son 'S' y 'N', no 0 y 1.</a:t>
            </a:r>
          </a:p>
          <a:p/>
          <a:p>
            <a:r>
              <a:t>SI PREGUNTAN:</a:t>
            </a:r>
          </a:p>
          <a:p>
            <a:r>
              <a:t>  • «Entonces, ¿quién impide agendar a una mascota inactiva?» → Un CHECK no puede (mira solo su propia fila, y activa vive en otra tabla). Lo resuelve un procedimiento almacenado (Clase 3) o un trigger (Clase 4).</a:t>
            </a:r>
          </a:p>
          <a:p/>
          <a:p>
            <a:r>
              <a:t>CUIDADO: Si el grupo sale de hoy pensando en DELETE, en la Clase 3 no va a entender para qué se valida «mascota activa» antes de agendar.</a:t>
            </a:r>
          </a:p>
          <a:p/>
          <a:p>
            <a:r>
              <a:t>PASA A LA SIGUIENTE: Comprobémoslo con código: la FK acepta la cita de una mascota inactiva.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Es fácil dibujar cajas y creer que eso es un modelo. Un diagrama entidad-relación bien hecho cumple cinco condiciones que se pueden revisar una por una, y tiene una prueba de aceptación muy simple: alguien más debe poder escribir el CREATE TABLE con solo mirarlo.</a:t>
            </a:r>
          </a:p>
          <a:p/>
          <a:p>
            <a:r>
              <a:t>CÓMO DARLA (≈3 min):</a:t>
            </a:r>
          </a:p>
          <a:p>
            <a:r>
              <a:t>  • Al entrar: El dibujo: «Dueños» y «Mascotas» unidos por una línea. «¿Qué tipo tiene el teléfono? ¿Cuántas mascotas puede tener un dueño? El dibujo no lo dice».</a:t>
            </a:r>
          </a:p>
          <a:p>
            <a:r>
              <a:t>  • Clic 1: El mismo modelo como diagrama: dueno y mascota en singular, PK y FK marcadas, atributos con tipo, cardinalidad 1..1 y 0..N y el verbo «posee».</a:t>
            </a:r>
          </a:p>
          <a:p>
            <a:r>
              <a:t>  • Clic 2: Las cinco condiciones, una por una; detente en la 4: el mínimo dice si la relación es obligatoria (0..N: un dueño puede no tener mascotas aún).</a:t>
            </a:r>
          </a:p>
          <a:p>
            <a:r>
              <a:t>  • Clic 3: La prueba de aceptación: otra persona escribe el CREATE TABLE mirándolo, sin preguntar.</a:t>
            </a:r>
          </a:p>
          <a:p/>
          <a:p>
            <a:r>
              <a:t>EJEMPLO: Cita y consulta son 1 a 1 pero no simétricas: una cita programada aún no tiene consulta, y una consulta no existe sin su cita. Eso se materializa como consulta.id_cita NOT NULL UNIQUE.</a:t>
            </a:r>
          </a:p>
          <a:p/>
          <a:p>
            <a:r>
              <a:t>SI PREGUNTAN:</a:t>
            </a:r>
          </a:p>
          <a:p>
            <a:r>
              <a:t>  • «¿Cuánto debe ocupar el diagrama?» → El modelo completo tiene 8 entidades y 7 relaciones y cabe legible en una hoja. Si no cabe, se divide por subsistemas (convención, no norma).</a:t>
            </a:r>
          </a:p>
          <a:p/>
          <a:p>
            <a:r>
              <a:t>CUIDADO: No aceptes un diagrama sin cardinalidades ni tipos «porque se ve ordenado»: la decisión que falta (¿un veterinario puede tener dos citas en la misma franja?) reaparece cuando ya hay datos y procedimientos escritos encima.</a:t>
            </a:r>
          </a:p>
          <a:p/>
          <a:p>
            <a:r>
              <a:t>PASA A LA SIGUIENTE: La condición 2 pide tipos: elegirlos mal es donde se pagan las facturas más caras.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Elegir el tipo parece trivial y es donde se pagan los errores más caros, porque cambiarlo después obliga a convertir datos que ya existen. Hay tres casos clásicos: teléfono, fecha y dinero, y una tentación contraria, declarar todo como texto largo.</a:t>
            </a:r>
          </a:p>
          <a:p/>
          <a:p>
            <a:r>
              <a:t>CÓMO DARLA (≈3 min):</a:t>
            </a:r>
          </a:p>
          <a:p>
            <a:r>
              <a:t>  • Al entrar: Teléfono: como NUMERIC se pierden el 0 inicial, el + del prefijo y la extensión. Va VARCHAR(30).</a:t>
            </a:r>
          </a:p>
          <a:p>
            <a:r>
              <a:t>  • Clic 1: Fecha: como VARCHAR(20), ORDER BY ordena como palabras y no se pueden sumar 30 minutos para calcular el fin de la cita. Va TIMESTAMP.</a:t>
            </a:r>
          </a:p>
          <a:p>
            <a:r>
              <a:t>  • Clic 2: Dinero: FLOAT guarda decimales en binario; 0.1 + 0.2 no da exactamente 0.3 y el total deja de cuadrar con sus líneas. Va DECIMAL(12,2), que en PostgreSQL es lo mismo que NUMERIC(12,2).</a:t>
            </a:r>
          </a:p>
          <a:p>
            <a:r>
              <a:t>  • Clic 3: La tentación contraria: todo VARCHAR(4000). La base ya no valida nada y cada pantalla tiene que hacerlo por su cuenta.</a:t>
            </a:r>
          </a:p>
          <a:p/>
          <a:p>
            <a:r>
              <a:t>EJEMPLO: En PostgreSQL, SELECT 0.1::float8 + 0.2::float8 = 0.3::float8 devuelve false; con NUMERIC devuelve true. Y ordenar como texto las fechas '2026-10-02' y '2026-9-15' pone la de septiembre después de la de octubre.</a:t>
            </a:r>
          </a:p>
          <a:p/>
          <a:p>
            <a:r>
              <a:t>SI PREGUNTAN:</a:t>
            </a:r>
          </a:p>
          <a:p>
            <a:r>
              <a:t>  • «¿Por qué email VARCHAR(120) y no 50?» → Porque el estándar de correo admite direcciones de hasta 254 caracteres; 120 cubre los casos reales. Son números de convención del curso: nombre 80, teléfono 30, especie 40.</a:t>
            </a:r>
          </a:p>
          <a:p/>
          <a:p>
            <a:r>
              <a:t>CUIDADO: Si vienes de Oracle: allí el dinero es NUMBER(12,2); en PostgreSQL NUMBER no existe, se escribe NUMERIC o DECIMAL.</a:t>
            </a:r>
          </a:p>
          <a:p/>
          <a:p>
            <a:r>
              <a:t>PASA A LA SIGUIENTE: Además del tipo, el nombre: una mayúscula puede costar veinte minutos.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PostgreSQL convierte a minúsculas cualquier nombre escrito sin comillas. Por eso la regla del curso es simple: todo en minúsculas, singular, sin tildes y sin comillas dobles, y el mismo nombre en el diagrama, en el DDL y en el código Mermaid.</a:t>
            </a:r>
          </a:p>
          <a:p/>
          <a:p>
            <a:r>
              <a:t>CÓMO DARLA (≈3 min):</a:t>
            </a:r>
          </a:p>
          <a:p>
            <a:r>
              <a:t>  • Al entrar: CREATE TABLE Mascota crea una tabla llamada mascota: el motor pliega el nombre a minúscula.</a:t>
            </a:r>
          </a:p>
          <a:p>
            <a:r>
              <a:t>  • Clic 1: SELECT * FROM "Mascota" falla: con comillas el nombre se toma letra a letra y esa tabla no existe. Error real: relation "Mascota" does not exist.</a:t>
            </a:r>
          </a:p>
          <a:p>
            <a:r>
              <a:t>  • Clic 2: Las cuatro reglas con su ejemplo: mascota, dueno, detalle_factura, y la FK que se lee sola: cita.id_mascota apunta a mascota.id_mascota.</a:t>
            </a:r>
          </a:p>
          <a:p/>
          <a:p>
            <a:r>
              <a:t>EJEMPLO: El error al revés también existe: CREATE TABLE "Mascota" con comillas y luego SELECT * FROM mascota responde relation "mascota" does not exist.</a:t>
            </a:r>
          </a:p>
          <a:p/>
          <a:p>
            <a:r>
              <a:t>SI PREGUNTAN:</a:t>
            </a:r>
          </a:p>
          <a:p>
            <a:r>
              <a:t>  • «¿Por qué singular si la tabla guarda muchas mascotas?» → Porque se nombra por lo que guarda cada fila, y así la FK se lee sola: cita.id_mascota.</a:t>
            </a:r>
          </a:p>
          <a:p>
            <a:r>
              <a:t>  • «¿Por qué sin eñe?» → Funciona en PostgreSQL, pero complica escribirla en otros teclados, herramientas y motores. dueno se escribe igual en cualquier parte.</a:t>
            </a:r>
          </a:p>
          <a:p/>
          <a:p>
            <a:r>
              <a:t>CUIDADO: El patrón de identificadores es id_&lt;entidad&gt;, con el mismo nombre en la tabla propia y en la que la referencia: así el JOIN se escribe sin buscar cómo se llamó la columna.</a:t>
            </a:r>
          </a:p>
          <a:p/>
          <a:p>
            <a:r>
              <a:t>PASA A LA SIGUIENTE: Con qué herramientas se hace todo esto hoy, y qué demuestra cada una.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Tres herramientas gratuitas, cada una responde una pregunta: ¿cómo es el modelo? (draw.io o Excalidraw), ¿el DDL corre? (DB Fiddle, que es PostgreSQL real en el navegador) y ¿el diagrama se dibuja? (un visor Mermaid).</a:t>
            </a:r>
          </a:p>
          <a:p/>
          <a:p>
            <a:r>
              <a:t>CÓMO DARLA (≈2 min):</a:t>
            </a:r>
          </a:p>
          <a:p>
            <a:r>
              <a:t>  • Al entrar: Recorre las tres cajas de arriba abajo; en la del medio señala el ejemplo: la cita con la mascota 999 y el error de FK que se lee en vivo. Cierra con el recuadro: DB Fiddle recrea el esquema en cada ejecución, así que lo que vale es el archivo .sql guardado en la carpeta del proyecto.</a:t>
            </a:r>
          </a:p>
          <a:p/>
          <a:p>
            <a:r>
              <a:t>EJEMPLO: La prueba de que el .sql está completo: abrir DB Fiddle vacío, pegar el archivo y reconstruir el esquema con sus datos en menos de cinco minutos.</a:t>
            </a:r>
          </a:p>
          <a:p/>
          <a:p>
            <a:r>
              <a:t>SI PREGUNTAN:</a:t>
            </a:r>
          </a:p>
          <a:p>
            <a:r>
              <a:t>  • «¿Y Oracle Live SQL?» → Solo como contraste de sintaxis para quien encuentre Oracle en el trabajo. El motor del curso es PostgreSQL.</a:t>
            </a:r>
          </a:p>
          <a:p/>
          <a:p>
            <a:r>
              <a:t>CUIDADO: DB Fiddle no tiene usuarios ni roles reales; los permisos de la Clase 2 se practican en PostgreSQL en el navegador con SET ROLE.</a:t>
            </a:r>
          </a:p>
          <a:p/>
          <a:p>
            <a:r>
              <a:t>PASA A LA SIGUIENTE: La tercera herramienta merece su lámina: del ER dibujado al código Mermaid.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diagrama del curso se guarda como texto Mermaid, no como imagen. No hace falta dibujar escribiendo código: se piensa en un boceto, una IA traduce la sintaxis y uno revisa que el modelo sea el suyo. Al final se comprueba en un visor que se dibuje.</a:t>
            </a:r>
          </a:p>
          <a:p/>
          <a:p>
            <a:r>
              <a:t>CÓMO DARLA (≈3 min):</a:t>
            </a:r>
          </a:p>
          <a:p>
            <a:r>
              <a:t>  • Al entrar: El camino: boceto en draw.io o Excalidraw, la IA traduce, sale texto erDiagram.</a:t>
            </a:r>
          </a:p>
          <a:p>
            <a:r>
              <a:t>  • Clic 1: El texto: dueno ||--o{ mascota : posee se lee «un dueño posee cero o muchas mascotas»; dentro de dueno { } van los atributos con su tipo y PK.</a:t>
            </a:r>
          </a:p>
          <a:p>
            <a:r>
              <a:t>  • Clic 2: La revisión: entidades completas, cardinalidad en el sentido correcto, PK y FK marcadas. «La IA acierta la sintaxis, no tu modelo».</a:t>
            </a:r>
          </a:p>
          <a:p>
            <a:r>
              <a:t>  • Clic 3: El visor dibuja el diagrama. Si no renderiza, se corrige ahí mismo.</a:t>
            </a:r>
          </a:p>
          <a:p/>
          <a:p>
            <a:r>
              <a:t>EJEMPLO: En ||--o{ cada lado es un extremo: || es «exactamente uno» del lado de dueno y o{ es «cero o muchos» del lado de mascota.</a:t>
            </a:r>
          </a:p>
          <a:p/>
          <a:p>
            <a:r>
              <a:t>SI PREGUNTAN:</a:t>
            </a:r>
          </a:p>
          <a:p>
            <a:r>
              <a:t>  • «¿Puedo entregar el PNG en vez del texto?» → El PNG sirve para un informe, pero la fuente es el texto: es lo que se corrige, se versiona y se compara con el DDL.</a:t>
            </a:r>
          </a:p>
          <a:p/>
          <a:p>
            <a:r>
              <a:t>CUIDADO: Los nombres del erDiagram deben ser los del DDL: dueno y mascota en minúscula, no DUENO ni Dueños. Si difieren, ya no es el mismo modelo.</a:t>
            </a:r>
          </a:p>
          <a:p/>
          <a:p>
            <a:r>
              <a:t>PASA A LA SIGUIENTE: Vamos a la demo: todo esto en vivo.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Hoy no se repite Bases de Datos I: se arranca la base de datos de una clínica veterinaria que hoy trabaja en papel. Vamos a decidir qué tablas tiene, cómo se identifica cada fila y qué reglas defiende el motor por sí solo, y a dejar el modelo en dos formas que deben coincidir: el diagrama y el CREATE TABLE.</a:t>
            </a:r>
          </a:p>
          <a:p/>
          <a:p>
            <a:r>
              <a:t>CÓMO DARLA (≈4 min):</a:t>
            </a:r>
          </a:p>
          <a:p>
            <a:r>
              <a:t>  • Al entrar: Lee el tema y la herramienta. Pregunta de arranque: «¿qué pasa en una clínica cuando se pierde la ficha de un paciente?». Deja que respondan 1-2 personas.</a:t>
            </a:r>
          </a:p>
          <a:p>
            <a:r>
              <a:t>  • Cierre del encuadre: «Al final de hoy van a poder decir por qué una cita no puede apuntar a una mascota que no existe, y por qué eso todavía no basta».</a:t>
            </a:r>
          </a:p>
          <a:p/>
          <a:p>
            <a:r>
              <a:t>CUIDADO: Las herramientas son gratuitas y corren en el navegador: nadie tiene que instalar nada hoy. Si alguien no tiene cuenta en ningún lado, DB Fiddle funciona sin registrarse.</a:t>
            </a:r>
          </a:p>
          <a:p/>
          <a:p>
            <a:r>
              <a:t>PASA A LA SIGUIENTE: Este es el recorrido de las dos horas.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Las dos horas en cinco tramos: encuadre, teoría con una lámina por concepto, demo en vivo, práctica opcional y cierre.</a:t>
            </a:r>
          </a:p>
          <a:p/>
          <a:p>
            <a:r>
              <a:t>CÓMO DARLA (≈1 min):</a:t>
            </a:r>
          </a:p>
          <a:p>
            <a:r>
              <a:t>  • Al entrar: Señala solo los tramos; no te detengas. La práctica tiene su guía en la carpeta de la clase y es opcional.</a:t>
            </a:r>
          </a:p>
          <a:p/>
          <a:p>
            <a:r>
              <a:t>PASA A LA SIGUIENTE: Antes de dibujar una tabla, conozcamos para quién la dibujamos.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Este es el corazón del modelo: dueño, mascota, cita y veterinario, unidos por tres relaciones uno a muchos. La regla que se lee aquí es que la clave foránea vive siempre en la tabla del lado «muchos».</a:t>
            </a:r>
          </a:p>
          <a:p/>
          <a:p>
            <a:r>
              <a:t>CÓMO DARLA (≈2 min):</a:t>
            </a:r>
          </a:p>
          <a:p>
            <a:r>
              <a:t>  • Al entrar: Lee las relaciones en voz alta: un dueño tiene N mascotas, una mascota tiene N citas, un veterinario atiende N citas. Señala dónde quedó cada FK: mascota lleva id_dueno y cita lleva id_mascota (y también id_veterinario, que el diagrama abrevia).</a:t>
            </a:r>
          </a:p>
          <a:p>
            <a:r>
              <a:t>  • Después: Lee la nota de abajo: la PK identifica cada fila y la FK materializa la relación; el motor rechaza una cita con id_mascota 999 si esa mascota no existe.</a:t>
            </a:r>
          </a:p>
          <a:p/>
          <a:p>
            <a:r>
              <a:t>EJEMPLO: Luna (id_mascota 10) pertenece a Ana Pérez (id_dueno 1): la fila de Luna guarda id_dueno = 1. Ana no guarda nada de Luna.</a:t>
            </a:r>
          </a:p>
          <a:p/>
          <a:p>
            <a:r>
              <a:t>SI PREGUNTAN:</a:t>
            </a:r>
          </a:p>
          <a:p>
            <a:r>
              <a:t>  • «¿Por qué la FK no va en dueño, con la lista de sus mascotas?» → Porque una celda no guarda listas (primera forma normal) y porque un dueño puede tener cualquier número de mascotas. El lado N es el que tiene una sola referencia por fila.</a:t>
            </a:r>
          </a:p>
          <a:p/>
          <a:p>
            <a:r>
              <a:t>PASA A LA SIGUIENTE: Ese diagrama, escrito como DDL: la tabla que depende de cita.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misma información del diagrama, ahora en físico, sobre la tabla consulta. Muestra las tres piezas que toda tabla del curso tiene: clave primaria, clave foránea y una regla de negocio con CHECK.</a:t>
            </a:r>
          </a:p>
          <a:p/>
          <a:p>
            <a:r>
              <a:t>CÓMO DARLA (≈3 min):</a:t>
            </a:r>
          </a:p>
          <a:p>
            <a:r>
              <a:t>  • Línea 2: id_consulta SERIAL PRIMARY KEY: la base genera el número y ninguna consulta se repite.</a:t>
            </a:r>
          </a:p>
          <a:p>
            <a:r>
              <a:t>  • Líneas 3-4: id_cita INT NOT NULL UNIQUE REFERENCES cita: NOT NULL porque no hay consulta sin cita, REFERENCES porque la cita debe existir, y UNIQUE porque una cita tiene a lo sumo una consulta. Eso convierte la relación en 1:1.</a:t>
            </a:r>
          </a:p>
          <a:p>
            <a:r>
              <a:t>  • Líneas 5-7: diagnostico obligatorio y precio NUMERIC(12,2) con CHECK (precio &gt;= 0): la primera regla de negocio que defiende el motor.</a:t>
            </a:r>
          </a:p>
          <a:p/>
          <a:p>
            <a:r>
              <a:t>EJEMPLO: Una segunda consulta para la cita 2 falla con «duplicate key value violates unique constraint "consulta_id_cita_key"», y un precio de −5 con «violates check constraint "consulta_precio_check"».</a:t>
            </a:r>
          </a:p>
          <a:p/>
          <a:p>
            <a:r>
              <a:t>SI PREGUNTAN:</a:t>
            </a:r>
          </a:p>
          <a:p>
            <a:r>
              <a:t>  • «¿Por qué no pongo id_consulta dentro de cita?» → Porque una cita programada todavía no tiene consulta: la columna quedaría vacía en la mayoría de filas. La FK va en la tabla que depende.</a:t>
            </a:r>
          </a:p>
          <a:p/>
          <a:p>
            <a:r>
              <a:t>CUIDADO: La relación cita-consulta es 1:1 pero no simétrica: la cita existe sin consulta; la consulta no existe sin cita.</a:t>
            </a:r>
          </a:p>
          <a:p/>
          <a:p>
            <a:r>
              <a:t>PASA A LA SIGUIENTE: El mismo patrón, completo, sobre la tabla de veterinarios.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Este es el molde de cualquier tabla del curso, aplicado a veterinario: clave sustituta, dato natural con UNIQUE, columnas obligatorias, un dominio cerrado con CHECK y la baja lógica con DEFAULT.</a:t>
            </a:r>
          </a:p>
          <a:p/>
          <a:p>
            <a:r>
              <a:t>CÓMO DARLA (≈2 min):</a:t>
            </a:r>
          </a:p>
          <a:p>
            <a:r>
              <a:t>  • Líneas 3-4: id_veterinario SERIAL es la clave sustituta; tarjeta_prof es la natural: UNIQUE para que no se repita, pero puede faltar.</a:t>
            </a:r>
          </a:p>
          <a:p>
            <a:r>
              <a:t>  • Líneas 5-7: nombre y especialidad son NOT NULL; especialidad solo acepta 'GENERAL', 'CIRUGIA' o 'DERMATOLOGIA'.</a:t>
            </a:r>
          </a:p>
          <a:p>
            <a:r>
              <a:t>  • Líneas 8-9: activo CHAR(1) DEFAULT 'S' con CHECK: si no se dice nada, el veterinario nace activo, y nunca se borra: se marca 'N'.</a:t>
            </a:r>
          </a:p>
          <a:p/>
          <a:p>
            <a:r>
              <a:t>EJEMPLO: INSERT INTO veterinario (nombre, especialidad) VALUES ('Laura Restrepo', 'GENERAL'); crea el id 1, con activo = 'S' y tarjeta_prof nula.</a:t>
            </a:r>
          </a:p>
          <a:p/>
          <a:p>
            <a:r>
              <a:t>SI PREGUNTAN:</a:t>
            </a:r>
          </a:p>
          <a:p>
            <a:r>
              <a:t>  • «¿UNIQUE deja tener varios veterinarios sin tarjeta?» → Sí: en PostgreSQL dos NULL no se consideran iguales, así que UNIQUE admite varios nulos. Lo que no admite es la misma tarjeta dos veces.</a:t>
            </a:r>
          </a:p>
          <a:p/>
          <a:p>
            <a:r>
              <a:t>CUIDADO: El CHECK distingue mayúsculas: 'Cirugia' no es 'CIRUGIA' y se rechaza con «violates check constraint "veterinario_especialidad_check"». Decide el formato del dominio y úsalo igual en todos los INSERT.</a:t>
            </a:r>
          </a:p>
          <a:p/>
          <a:p>
            <a:r>
              <a:t>PASA A LA SIGUIENTE: Con las tablas unidas por FK, la consulta típica las recorre con JOIN.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consulta más común del sistema: la agenda con el nombre de la mascota y de su dueño. Cada JOIN sigue una clave foránea del diagrama: cita llega a mascota por id_mascota, y mascota llega a dueño por id_dueno.</a:t>
            </a:r>
          </a:p>
          <a:p/>
          <a:p>
            <a:r>
              <a:t>CÓMO DARLA (≈3 min):</a:t>
            </a:r>
          </a:p>
          <a:p>
            <a:r>
              <a:t>  • Líneas 1-4: Las columnas que se muestran, con alias: m.nombre AS mascota y d.nombre AS dueno, porque las dos tablas tienen una columna nombre.</a:t>
            </a:r>
          </a:p>
          <a:p>
            <a:r>
              <a:t>  • Líneas 5-7: FROM cita y dos JOIN, cada uno con su ON sobre la FK.</a:t>
            </a:r>
          </a:p>
          <a:p>
            <a:r>
              <a:t>  • Líneas 8-10: El WHERE filtra después de unir: citas desde el 1 de septiembre y solo mascotas activas; ORDER BY por fecha y hora.</a:t>
            </a:r>
          </a:p>
          <a:p/>
          <a:p>
            <a:r>
              <a:t>EJEMPLO: Con los datos de práctica (10 citas, ninguna de Rocky ni de Kiara, que están inactivas) devuelve 10 filas; la primera es Firulais, de Ana Gomez, el 1 de septiembre a las 08:00.</a:t>
            </a:r>
          </a:p>
          <a:p/>
          <a:p>
            <a:r>
              <a:t>SI PREGUNTAN:</a:t>
            </a:r>
          </a:p>
          <a:p>
            <a:r>
              <a:t>  • «¿Da lo mismo poner m.activa = 'S' en el WHERE o en el ON?» → Con JOIN interno, sí. Con LEFT JOIN no: en el ON conserva la cita con la mascota en nulo; en el WHERE la elimina.</a:t>
            </a:r>
          </a:p>
          <a:p/>
          <a:p>
            <a:r>
              <a:t>CUIDADO: Lee bien la leyenda: el producto cartesiano sale con la coma (FROM cita c, mascota m sin la condición da 10 × 8 = 80 filas) o con CROSS JOIN; con JOIN sin ON, PostgreSQL responde error de sintaxis. El riesgo real es un ON equivocado, que no da error y devuelve filas que no corresponden.</a:t>
            </a:r>
          </a:p>
          <a:p/>
          <a:p>
            <a:r>
              <a:t>PASA A LA SIGUIENTE: Cada JOIN se apoya en una clave primaria. ¿Cuál columna debe serlo?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Dos cosas en un mismo código: la tabla insumo con sus reglas, y una FK agregada después con ALTER TABLE, donde se declara explícitamente qué pasa al borrar el insumo referenciado.</a:t>
            </a:r>
          </a:p>
          <a:p/>
          <a:p>
            <a:r>
              <a:t>CÓMO DARLA (≈2 min):</a:t>
            </a:r>
          </a:p>
          <a:p>
            <a:r>
              <a:t>  • Líneas 1-6: insumo: stock entero, por defecto 0 y nunca negativo (CHECK stock &gt;= 0); precio_unit mayor que cero.</a:t>
            </a:r>
          </a:p>
          <a:p>
            <a:r>
              <a:t>  • Líneas 8-9: El comentario: si no se declara, PostgreSQL asume NO ACTION y se niega a borrar.</a:t>
            </a:r>
          </a:p>
          <a:p>
            <a:r>
              <a:t>  • Líneas 10-13: ALTER TABLE detalle_factura ADD CONSTRAINT fk_detalle_insumo ... ON DELETE RESTRICT: el nombre de la restricción lo elegimos nosotros y es el que aparecerá en el mensaje de error.</a:t>
            </a:r>
          </a:p>
          <a:p/>
          <a:p>
            <a:r>
              <a:t>EJEMPLO: Con un insumo ya facturado, DELETE FROM insumo WHERE id_insumo = 1 responde: «update or delete on table "insumo" violates RESTRICT setting of foreign key constraint "fk_detalle_insumo" on table "detalle_factura"».</a:t>
            </a:r>
          </a:p>
          <a:p/>
          <a:p>
            <a:r>
              <a:t>SI PREGUNTAN:</a:t>
            </a:r>
          </a:p>
          <a:p>
            <a:r>
              <a:t>  • «¿Por qué ponerle nombre a la restricción?» → Porque el nombre sale en el error: fk_detalle_insumo dice qué se violó; un nombre automático obliga a buscarlo en el catálogo.</a:t>
            </a:r>
          </a:p>
          <a:p/>
          <a:p>
            <a:r>
              <a:t>CUIDADO: El CHECK (stock &gt;= 0) de esta tabla es el que la Clase 4 retira a propósito en su demo; aquí queda como la primera defensa del stock.</a:t>
            </a:r>
          </a:p>
          <a:p/>
          <a:p>
            <a:r>
              <a:t>PASA A LA SIGUIENTE: Y así se ve, palabra por palabra, el error que devuelve el motor.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Integridad referencial en vivo: el mismo INSERT funciona con una mascota que existe y falla con una que no. Lo importante es aprender a leer el mensaje del motor.</a:t>
            </a:r>
          </a:p>
          <a:p/>
          <a:p>
            <a:r>
              <a:t>CÓMO DARLA (≈2 min):</a:t>
            </a:r>
          </a:p>
          <a:p>
            <a:r>
              <a:t>  • Líneas 2-4: Cita para la mascota 1, que existe: INSERT 0 1, una fila insertada.</a:t>
            </a:r>
          </a:p>
          <a:p>
            <a:r>
              <a:t>  • Líneas 6-10: Cita para la mascota 999: el error dice la tabla (cita), la restricción (cita_id_mascota_fkey) y, en DETAIL, la clave que falta: (id_mascota)=(999) no está en mascota.</a:t>
            </a:r>
          </a:p>
          <a:p/>
          <a:p>
            <a:r>
              <a:t>EJEMPLO: Después del error, SELECT COUNT(*) FROM cita muestra el mismo número que antes del segundo INSERT: la sentencia que falla no deja nada.</a:t>
            </a:r>
          </a:p>
          <a:p/>
          <a:p>
            <a:r>
              <a:t>SI PREGUNTAN:</a:t>
            </a:r>
          </a:p>
          <a:p>
            <a:r>
              <a:t>  • «¿De dónde sale el nombre cita_id_mascota_fkey?» → PostgreSQL lo arma solo cuando la FK no tiene nombre: tabla, columna y el sufijo fkey.</a:t>
            </a:r>
          </a:p>
          <a:p/>
          <a:p>
            <a:r>
              <a:t>PASA A LA SIGUIENTE: Ahora, por qué en un sistema real casi nunca se borra una mascota.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código demuestra el límite del DDL: después de dar de baja a la mascota 1, el motor acepta una cita nueva para ella. La FK garantiza que el identificador existe, no que el negocio lo quiera.</a:t>
            </a:r>
          </a:p>
          <a:p/>
          <a:p>
            <a:r>
              <a:t>CÓMO DARLA (≈3 min):</a:t>
            </a:r>
          </a:p>
          <a:p>
            <a:r>
              <a:t>  • Línea 2: UPDATE mascota SET activa = 'N' WHERE id_mascota = 1: la baja lógica.</a:t>
            </a:r>
          </a:p>
          <a:p>
            <a:r>
              <a:t>  • Líneas 4-6: El INSERT de una cita para la mascota 1: INSERT 0 1. El motor la acepta porque la mascota 1 existe.</a:t>
            </a:r>
          </a:p>
          <a:p>
            <a:r>
              <a:t>  • Líneas 8-10: Un CHECK tampoco sirve: solo mira columnas de su propia fila, y activa está en mascota, no en cita. Hace falta un procedimiento (Clase 3) o un trigger (Clase 4).</a:t>
            </a:r>
          </a:p>
          <a:p/>
          <a:p>
            <a:r>
              <a:t>EJEMPLO: Con los datos de práctica, el riesgo se mide con una consulta: citas no canceladas cuya mascota tiene activa = 'N'. Hoy da 0 filas; mañana puede no darlo.</a:t>
            </a:r>
          </a:p>
          <a:p/>
          <a:p>
            <a:r>
              <a:t>SI PREGUNTAN:</a:t>
            </a:r>
          </a:p>
          <a:p>
            <a:r>
              <a:t>  • «¿Y si pongo la columna activa también en cita?» → Sería un dato repetido: se desincroniza en cuanto cambie la mascota (la anomalía de actualización de hace un rato).</a:t>
            </a:r>
          </a:p>
          <a:p/>
          <a:p>
            <a:r>
              <a:t>CUIDADO: Las tres reglas del modelo se reparten así: «stock nunca negativo» sí cabe en un CHECK; «mascota inactiva no agenda» y «todo cambio de estado queda registrado» necesitan lógica programada.</a:t>
            </a:r>
          </a:p>
          <a:p/>
          <a:p>
            <a:r>
              <a:t>PASA A LA SIGUIENTE: Volvamos al diagrama: ¿qué lo hace un diagrama y no un dibujo?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demo junta lo de hoy: un boceto, el DDL que corre en PostgreSQL, el error de integridad leído en vivo y el mismo modelo pasado a Mermaid.</a:t>
            </a:r>
          </a:p>
          <a:p/>
          <a:p>
            <a:r>
              <a:t>CÓMO DARLA (≈15 min):</a:t>
            </a:r>
          </a:p>
          <a:p>
            <a:r>
              <a:t>  • Al entrar: 1) Boceto en draw.io: dueño, mascota y cita con sus claves (3 min). 2) En DB Fiddle, el DDL de las tres tablas con PK, FK y CHECK, y los INSERT de Ana Pérez, la perra Luna y su cita; corre el JOIN (5 min). 3) Inserta una cita con la mascota 999 y lee el error en voz alta: tabla, restricción y DETAIL (2 min). 4) Pide a una IA el erDiagram del boceto, pégalo en el visor y compara nombres con el DDL (5 min).</a:t>
            </a:r>
          </a:p>
          <a:p/>
          <a:p>
            <a:r>
              <a:t>CUIDADO: Lleva el script de la demo en un archivo .sql y pégalo: escribirlo en vivo consume el tiempo de la parte que importa, que es leer el error. Y si la IA devuelve DUENO en mayúsculas, corrígelo frente al grupo: es justo el punto de la lámina de convenciones.</a:t>
            </a:r>
          </a:p>
          <a:p/>
          <a:p>
            <a:r>
              <a:t>PASA A LA SIGUIENTE: Los cuatro pasos del boceto al código quedan proyectados para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Los cuatro pasos para pasar de un diagrama dibujado a uno en texto Mermaid. Quedan proyectados mientras el grupo trabaja.</a:t>
            </a:r>
          </a:p>
          <a:p/>
          <a:p>
            <a:r>
              <a:t>CÓMO DARLA (≈2 min):</a:t>
            </a:r>
          </a:p>
          <a:p>
            <a:r>
              <a:t>  • Al entrar: Léelos en orden y subraya dos: en el 2, la IA acierta la sintaxis pero el modelo lo revisa cada uno; en el 4, lo que se guarda es el texto Mermaid (la fuente), y el PNG es solo para el informe.</a:t>
            </a:r>
          </a:p>
          <a:p/>
          <a:p>
            <a:r>
              <a:t>CUIDADO: Si alguien pega el código y el visor marca error, casi siempre es un nombre con espacio o tilde, o un atributo sin tipo.</a:t>
            </a:r>
          </a:p>
          <a:p/>
          <a:p>
            <a:r>
              <a:t>PASA A LA SIGUIENTE: Cerramos.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Cierre: hoy la clínica pasó del papel a un modelo con claves, relaciones y reglas que el motor defiende solo, y vimos dónde termina esa defensa.</a:t>
            </a:r>
          </a:p>
          <a:p/>
          <a:p>
            <a:r>
              <a:t>CÓMO DARLA (≈3 min):</a:t>
            </a:r>
          </a:p>
          <a:p>
            <a:r>
              <a:t>  • Al entrar: Pregunta de salida: «nombren una regla de la clínica que el DDL sí defiende y una que no». Respuesta esperada: el stock negativo sí (CHECK); la mascota inactiva que agenda no (necesita un procedimiento, que es la Clase 3).</a:t>
            </a:r>
          </a:p>
          <a:p/>
          <a:p>
            <a:r>
              <a:t>PASA A LA SIGUIENTE: La próxima clase: quién puede hacer qué sobre estas tablas (roles y privilegios).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Revision BD I · Arranque de la base de datos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Diagnostico · el dominio y el primer modelo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 · Tema y objetivo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Revision BD I · Arranque de la base de datos</a:t>
            </a:r>
          </a:p>
          <a:p>
            <a:pPr>
              <a:spcAft>
                <a:spcPts val="800"/>
              </a:spcAft>
            </a:pPr>
            <a:r>
              <a:rPr sz="2000" b="0" i="0">
                <a:solidFill>
                  <a:srgbClr val="333333"/>
                </a:solidFill>
                <a:latin typeface="Calibri"/>
              </a:rPr>
              <a:t>–   Herramienta: </a:t>
            </a:r>
            <a:r>
              <a:rPr sz="2000" b="1" i="0">
                <a:solidFill>
                  <a:srgbClr val="333333"/>
                </a:solidFill>
                <a:latin typeface="Calibri"/>
              </a:rPr>
              <a:t>draw.io + DB Fiddle</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Gratis + navegador · free tier · sin software de pago obligatorio.</a:t>
            </a:r>
          </a:p>
          <a:p>
            <a:pPr>
              <a:spcAft>
                <a:spcPts val="800"/>
              </a:spcAft>
            </a:pPr>
            <a:r>
              <a:rPr sz="2000" b="0" i="0">
                <a:solidFill>
                  <a:srgbClr val="333333"/>
                </a:solidFill>
                <a:latin typeface="Calibri"/>
              </a:rPr>
              <a:t>–   Recorrido: teoría del tema, una lámina por concepto, y demo del docente sobre la base de la clínica.</a:t>
            </a:r>
          </a:p>
          <a:p>
            <a:pPr>
              <a:spcAft>
                <a:spcPts val="800"/>
              </a:spcAft>
            </a:pPr>
            <a:r>
              <a:rPr sz="2000" b="0" i="0">
                <a:solidFill>
                  <a:srgbClr val="333333"/>
                </a:solidFill>
                <a:latin typeface="Calibri"/>
              </a:rPr>
              <a:t>–   Cada lámina se sostiene sola: sirve para repasar aunque hayas faltado.</a:t>
            </a:r>
          </a:p>
          <a:p>
            <a:pPr>
              <a:spcAft>
                <a:spcPts val="800"/>
              </a:spcAft>
            </a:pPr>
            <a:r>
              <a:rPr sz="2000" b="0" i="0">
                <a:solidFill>
                  <a:srgbClr val="333333"/>
                </a:solidFill>
                <a:latin typeface="Calibri"/>
              </a:rPr>
              <a:t>–   </a:t>
            </a:r>
            <a:r>
              <a:rPr sz="2000" b="1" i="0">
                <a:solidFill>
                  <a:srgbClr val="333333"/>
                </a:solidFill>
                <a:latin typeface="Calibri"/>
              </a:rPr>
              <a:t>Conceptos de hoy:</a:t>
            </a:r>
            <a:r>
              <a:rPr sz="2000" b="0" i="0">
                <a:solidFill>
                  <a:srgbClr val="333333"/>
                </a:solidFill>
                <a:latin typeface="Calibri"/>
              </a:rPr>
              <a:t> Por que esto no es Bases de Datos I, y el vocabulario minimo · Nivel conceptual y nivel fisico · El patron de tabla · El JOIN de tres tablas.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 clase regular · la clínica</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10-35</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Teoría Core breve (al servicio del proyecto)</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35-55</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con la herramienta del día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55-105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Práctica (opcional, guía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Cierre conceptual · dudas</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El cliente: una clínica veterinaria en papel</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cliente es una clínica veterinaria; la base de datos que usted construye es para ella.</a:t>
            </a:r>
          </a:p>
        </p:txBody>
      </p:sp>
      <p:sp>
        <p:nvSpPr>
          <p:cNvPr id="6" name="Rounded Rectangle 5"/>
          <p:cNvSpPr/>
          <p:nvPr/>
        </p:nvSpPr>
        <p:spPr>
          <a:xfrm>
            <a:off x="5797149" y="1449082"/>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lus-cliente-paso1.png"/>
          <p:cNvPicPr>
            <a:picLocks noChangeAspect="1"/>
          </p:cNvPicPr>
          <p:nvPr/>
        </p:nvPicPr>
        <p:blipFill>
          <a:blip r:embed="rId2"/>
          <a:stretch>
            <a:fillRect/>
          </a:stretch>
        </p:blipFill>
        <p:spPr>
          <a:xfrm>
            <a:off x="5870301" y="1522234"/>
            <a:ext cx="5864193" cy="4691354"/>
          </a:xfrm>
          <a:prstGeom prst="rect">
            <a:avLst/>
          </a:prstGeom>
        </p:spPr>
      </p:pic>
      <p:sp>
        <p:nvSpPr>
          <p:cNvPr id="8" name="TextBox 7"/>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La clínica atiende unas </a:t>
            </a:r>
            <a:r>
              <a:rPr sz="2000" b="1" i="0">
                <a:solidFill>
                  <a:srgbClr val="333333"/>
                </a:solidFill>
                <a:latin typeface="Calibri"/>
              </a:rPr>
              <a:t>150 citas al día</a:t>
            </a:r>
            <a:r>
              <a:rPr sz="2000" b="0" i="0">
                <a:solidFill>
                  <a:srgbClr val="333333"/>
                </a:solidFill>
                <a:latin typeface="Calibri"/>
              </a:rPr>
              <a:t> con 16 veterinarios, y guarda todo en </a:t>
            </a:r>
            <a:r>
              <a:rPr sz="2000" b="1" i="0">
                <a:solidFill>
                  <a:srgbClr val="333333"/>
                </a:solidFill>
                <a:latin typeface="Calibri"/>
              </a:rPr>
              <a:t>carpetas de papel</a:t>
            </a:r>
            <a:r>
              <a:rPr sz="2000" b="0" i="0">
                <a:solidFill>
                  <a:srgbClr val="333333"/>
                </a:solidFill>
                <a:latin typeface="Calibri"/>
              </a:rPr>
              <a:t>.</a:t>
            </a:r>
          </a:p>
          <a:p>
            <a:pPr>
              <a:spcAft>
                <a:spcPts val="800"/>
              </a:spcAft>
            </a:pPr>
            <a:r>
              <a:rPr sz="2000" b="0" i="0">
                <a:solidFill>
                  <a:srgbClr val="333333"/>
                </a:solidFill>
                <a:latin typeface="Calibri"/>
              </a:rPr>
              <a:t>–   El papel duele en tres puntos: fichas que se </a:t>
            </a:r>
            <a:r>
              <a:rPr sz="2000" b="1" i="0">
                <a:solidFill>
                  <a:srgbClr val="333333"/>
                </a:solidFill>
                <a:latin typeface="Calibri"/>
              </a:rPr>
              <a:t>pierden</a:t>
            </a:r>
            <a:r>
              <a:rPr sz="2000" b="0" i="0">
                <a:solidFill>
                  <a:srgbClr val="333333"/>
                </a:solidFill>
                <a:latin typeface="Calibri"/>
              </a:rPr>
              <a:t>, </a:t>
            </a:r>
            <a:r>
              <a:rPr sz="2000" b="1" i="0">
                <a:solidFill>
                  <a:srgbClr val="333333"/>
                </a:solidFill>
                <a:latin typeface="Calibri"/>
              </a:rPr>
              <a:t>filas</a:t>
            </a:r>
            <a:r>
              <a:rPr sz="2000" b="0" i="0">
                <a:solidFill>
                  <a:srgbClr val="333333"/>
                </a:solidFill>
                <a:latin typeface="Calibri"/>
              </a:rPr>
              <a:t> para buscar un historial y </a:t>
            </a:r>
            <a:r>
              <a:rPr sz="2000" b="1" i="0">
                <a:solidFill>
                  <a:srgbClr val="333333"/>
                </a:solidFill>
                <a:latin typeface="Calibri"/>
              </a:rPr>
              <a:t>cero métricas</a:t>
            </a:r>
            <a:r>
              <a:rPr sz="2000" b="0" i="0">
                <a:solidFill>
                  <a:srgbClr val="333333"/>
                </a:solidFill>
                <a:latin typeface="Calibri"/>
              </a:rPr>
              <a:t>.</a:t>
            </a:r>
          </a:p>
          <a:p>
            <a:pPr>
              <a:spcAft>
                <a:spcPts val="800"/>
              </a:spcAft>
            </a:pPr>
            <a:r>
              <a:rPr sz="2000" b="0" i="0">
                <a:solidFill>
                  <a:srgbClr val="333333"/>
                </a:solidFill>
                <a:latin typeface="Calibri"/>
              </a:rPr>
              <a:t>–   Usarán la base el </a:t>
            </a:r>
            <a:r>
              <a:rPr sz="2000" b="1" i="0">
                <a:solidFill>
                  <a:srgbClr val="333333"/>
                </a:solidFill>
                <a:latin typeface="Calibri"/>
              </a:rPr>
              <a:t>dueño</a:t>
            </a:r>
            <a:r>
              <a:rPr sz="2000" b="0" i="0">
                <a:solidFill>
                  <a:srgbClr val="333333"/>
                </a:solidFill>
                <a:latin typeface="Calibri"/>
              </a:rPr>
              <a:t>, la </a:t>
            </a:r>
            <a:r>
              <a:rPr sz="2000" b="1" i="0">
                <a:solidFill>
                  <a:srgbClr val="333333"/>
                </a:solidFill>
                <a:latin typeface="Calibri"/>
              </a:rPr>
              <a:t>recepcionista</a:t>
            </a:r>
            <a:r>
              <a:rPr sz="2000" b="0" i="0">
                <a:solidFill>
                  <a:srgbClr val="333333"/>
                </a:solidFill>
                <a:latin typeface="Calibri"/>
              </a:rPr>
              <a:t> y el </a:t>
            </a:r>
            <a:r>
              <a:rPr sz="2000" b="1" i="0">
                <a:solidFill>
                  <a:srgbClr val="333333"/>
                </a:solidFill>
                <a:latin typeface="Calibri"/>
              </a:rPr>
              <a:t>veterinario</a:t>
            </a:r>
            <a:r>
              <a:rPr sz="2000" b="0" i="0">
                <a:solidFill>
                  <a:srgbClr val="333333"/>
                </a:solidFill>
                <a:latin typeface="Calibri"/>
              </a:rPr>
              <a:t>, y cada uno espera algo distinto.</a:t>
            </a:r>
          </a:p>
          <a:p>
            <a:pPr>
              <a:spcAft>
                <a:spcPts val="800"/>
              </a:spcAft>
            </a:pPr>
            <a:r>
              <a:rPr sz="2000" b="0" i="0">
                <a:solidFill>
                  <a:srgbClr val="333333"/>
                </a:solidFill>
                <a:latin typeface="Calibri"/>
              </a:rPr>
              <a:t>–   Sus intereses </a:t>
            </a:r>
            <a:r>
              <a:rPr sz="2000" b="1" i="0">
                <a:solidFill>
                  <a:srgbClr val="333333"/>
                </a:solidFill>
                <a:latin typeface="Calibri"/>
              </a:rPr>
              <a:t>chocan</a:t>
            </a:r>
            <a:r>
              <a:rPr sz="2000" b="0" i="0">
                <a:solidFill>
                  <a:srgbClr val="333333"/>
                </a:solidFill>
                <a:latin typeface="Calibri"/>
              </a:rPr>
              <a:t>: un dato de más ayuda a las métricas y le suma clics a quien agenda.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Por que esto no es Bases de Datos I, y el vocabulario minimo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la-fila-column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abla-fila-column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abla-fila-column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En BD I se pedía la consulta correcta; aquí, un </a:t>
            </a:r>
            <a:r>
              <a:rPr sz="2000" b="1" i="0">
                <a:solidFill>
                  <a:srgbClr val="333333"/>
                </a:solidFill>
                <a:latin typeface="Calibri"/>
              </a:rPr>
              <a:t>esquema</a:t>
            </a:r>
            <a:r>
              <a:rPr sz="2000" b="0" i="0">
                <a:solidFill>
                  <a:srgbClr val="333333"/>
                </a:solidFill>
                <a:latin typeface="Calibri"/>
              </a:rPr>
              <a:t> que siga correcto con tres usuarios y datos malos.</a:t>
            </a:r>
          </a:p>
          <a:p>
            <a:pPr>
              <a:spcAft>
                <a:spcPts val="800"/>
              </a:spcAft>
            </a:pPr>
            <a:r>
              <a:rPr sz="2000" b="0" i="0">
                <a:solidFill>
                  <a:srgbClr val="333333"/>
                </a:solidFill>
                <a:latin typeface="Calibri"/>
              </a:rPr>
              <a:t>–   Una </a:t>
            </a:r>
            <a:r>
              <a:rPr sz="2000" b="1" i="0">
                <a:solidFill>
                  <a:srgbClr val="333333"/>
                </a:solidFill>
                <a:latin typeface="Calibri"/>
              </a:rPr>
              <a:t>tabla</a:t>
            </a:r>
            <a:r>
              <a:rPr sz="2000" b="0" i="0">
                <a:solidFill>
                  <a:srgbClr val="333333"/>
                </a:solidFill>
                <a:latin typeface="Calibri"/>
              </a:rPr>
              <a:t> (relación) guarda entidades de un solo tipo: mascota guarda mascotas y nada más.</a:t>
            </a:r>
          </a:p>
          <a:p>
            <a:pPr>
              <a:spcAft>
                <a:spcPts val="800"/>
              </a:spcAft>
            </a:pPr>
            <a:r>
              <a:rPr sz="2000" b="0" i="0">
                <a:solidFill>
                  <a:srgbClr val="333333"/>
                </a:solidFill>
                <a:latin typeface="Calibri"/>
              </a:rPr>
              <a:t>–   Una </a:t>
            </a:r>
            <a:r>
              <a:rPr sz="2000" b="1" i="0">
                <a:solidFill>
                  <a:srgbClr val="333333"/>
                </a:solidFill>
                <a:latin typeface="Calibri"/>
              </a:rPr>
              <a:t>fila</a:t>
            </a:r>
            <a:r>
              <a:rPr sz="2000" b="0" i="0">
                <a:solidFill>
                  <a:srgbClr val="333333"/>
                </a:solidFill>
                <a:latin typeface="Calibri"/>
              </a:rPr>
              <a:t> es una instancia concreta e irrepetible: la perra Luna, y solo ella.</a:t>
            </a:r>
          </a:p>
          <a:p>
            <a:pPr>
              <a:spcAft>
                <a:spcPts val="800"/>
              </a:spcAft>
            </a:pPr>
            <a:r>
              <a:rPr sz="2000" b="0" i="0">
                <a:solidFill>
                  <a:srgbClr val="333333"/>
                </a:solidFill>
                <a:latin typeface="Calibri"/>
              </a:rPr>
              <a:t>–   Una </a:t>
            </a:r>
            <a:r>
              <a:rPr sz="2000" b="1" i="0">
                <a:solidFill>
                  <a:srgbClr val="333333"/>
                </a:solidFill>
                <a:latin typeface="Calibri"/>
              </a:rPr>
              <a:t>columna</a:t>
            </a:r>
            <a:r>
              <a:rPr sz="2000" b="0" i="0">
                <a:solidFill>
                  <a:srgbClr val="333333"/>
                </a:solidFill>
                <a:latin typeface="Calibri"/>
              </a:rPr>
              <a:t> es un atributo con su </a:t>
            </a:r>
            <a:r>
              <a:rPr sz="2000" b="1" i="0">
                <a:solidFill>
                  <a:srgbClr val="333333"/>
                </a:solidFill>
                <a:latin typeface="Calibri"/>
              </a:rPr>
              <a:t>dominio</a:t>
            </a:r>
            <a:r>
              <a:rPr sz="2000" b="0" i="0">
                <a:solidFill>
                  <a:srgbClr val="333333"/>
                </a:solidFill>
                <a:latin typeface="Calibri"/>
              </a:rPr>
              <a:t>: especie solo acepta Canino, Felino, Ave u Otro.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Nivel conceptual y nivel fisico: dos vistas del mismo modelo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nceptual-fisic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nceptual-fisic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nceptual-fisic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nivel </a:t>
            </a:r>
            <a:r>
              <a:rPr sz="2000" b="1" i="0">
                <a:solidFill>
                  <a:srgbClr val="333333"/>
                </a:solidFill>
                <a:latin typeface="Calibri"/>
              </a:rPr>
              <a:t>conceptual</a:t>
            </a:r>
            <a:r>
              <a:rPr sz="2000" b="0" i="0">
                <a:solidFill>
                  <a:srgbClr val="333333"/>
                </a:solidFill>
                <a:latin typeface="Calibri"/>
              </a:rPr>
              <a:t> habla el idioma del negocio: dueño posee mascota, sin tipos ni motor.</a:t>
            </a:r>
          </a:p>
          <a:p>
            <a:pPr>
              <a:spcAft>
                <a:spcPts val="800"/>
              </a:spcAft>
            </a:pPr>
            <a:r>
              <a:rPr sz="2000" b="0" i="0">
                <a:solidFill>
                  <a:srgbClr val="333333"/>
                </a:solidFill>
                <a:latin typeface="Calibri"/>
              </a:rPr>
              <a:t>–   El nivel </a:t>
            </a:r>
            <a:r>
              <a:rPr sz="2000" b="1" i="0">
                <a:solidFill>
                  <a:srgbClr val="333333"/>
                </a:solidFill>
                <a:latin typeface="Calibri"/>
              </a:rPr>
              <a:t>físico</a:t>
            </a:r>
            <a:r>
              <a:rPr sz="2000" b="0" i="0">
                <a:solidFill>
                  <a:srgbClr val="333333"/>
                </a:solidFill>
                <a:latin typeface="Calibri"/>
              </a:rPr>
              <a:t> lo vuelve tablas: columnas con tipo, restricciones y claves, como telefono VARCHAR(30).</a:t>
            </a:r>
          </a:p>
          <a:p>
            <a:pPr>
              <a:spcAft>
                <a:spcPts val="800"/>
              </a:spcAft>
            </a:pPr>
            <a:r>
              <a:rPr sz="2000" b="0" i="0">
                <a:solidFill>
                  <a:srgbClr val="333333"/>
                </a:solidFill>
                <a:latin typeface="Calibri"/>
              </a:rPr>
              <a:t>–   Son </a:t>
            </a:r>
            <a:r>
              <a:rPr sz="2000" b="1" i="0">
                <a:solidFill>
                  <a:srgbClr val="333333"/>
                </a:solidFill>
                <a:latin typeface="Calibri"/>
              </a:rPr>
              <a:t>dos vistas del mismo modelo</a:t>
            </a:r>
            <a:r>
              <a:rPr sz="2000" b="0" i="0">
                <a:solidFill>
                  <a:srgbClr val="333333"/>
                </a:solidFill>
                <a:latin typeface="Calibri"/>
              </a:rPr>
              <a:t>: el diagrama ER y el CREATE TABLE dicen lo mismo.</a:t>
            </a:r>
          </a:p>
          <a:p>
            <a:pPr>
              <a:spcAft>
                <a:spcPts val="800"/>
              </a:spcAft>
            </a:pPr>
            <a:r>
              <a:rPr sz="2000" b="0" i="0">
                <a:solidFill>
                  <a:srgbClr val="333333"/>
                </a:solidFill>
                <a:latin typeface="Calibri"/>
              </a:rPr>
              <a:t>–   El conceptual está completo cuando otra persona escribe el físico </a:t>
            </a:r>
            <a:r>
              <a:rPr sz="2000" b="1" i="0">
                <a:solidFill>
                  <a:srgbClr val="333333"/>
                </a:solidFill>
                <a:latin typeface="Calibri"/>
              </a:rPr>
              <a:t>sin preguntar</a:t>
            </a:r>
            <a:r>
              <a:rPr sz="2000" b="0" i="0">
                <a:solidFill>
                  <a:srgbClr val="333333"/>
                </a:solidFill>
                <a:latin typeface="Calibri"/>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ER minimo de la clinica (con cardinalidad)</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FK siempre vive en la tabla del lado “N” de la relacion</a:t>
            </a:r>
          </a:p>
        </p:txBody>
      </p:sp>
      <p:sp>
        <p:nvSpPr>
          <p:cNvPr id="6" name="Rounded Rectangle 5"/>
          <p:cNvSpPr/>
          <p:nvPr/>
        </p:nvSpPr>
        <p:spPr>
          <a:xfrm>
            <a:off x="548640" y="2011680"/>
            <a:ext cx="2468880" cy="1463040"/>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Dueño
id_dueno (PK)
nombre, telefono</a:t>
            </a:r>
          </a:p>
        </p:txBody>
      </p:sp>
      <p:sp>
        <p:nvSpPr>
          <p:cNvPr id="7" name="Rounded Rectangle 6"/>
          <p:cNvSpPr/>
          <p:nvPr/>
        </p:nvSpPr>
        <p:spPr>
          <a:xfrm>
            <a:off x="3749039" y="2011680"/>
            <a:ext cx="2468880" cy="146304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Mascota
id_mascota (PK)
id_dueno (FK)
activa</a:t>
            </a:r>
          </a:p>
        </p:txBody>
      </p:sp>
      <p:sp>
        <p:nvSpPr>
          <p:cNvPr id="8" name="Rounded Rectangle 7"/>
          <p:cNvSpPr/>
          <p:nvPr/>
        </p:nvSpPr>
        <p:spPr>
          <a:xfrm>
            <a:off x="6949440" y="2011680"/>
            <a:ext cx="2468880" cy="1463040"/>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Cita
id_cita (PK)
id_mascota (FK)
fecha_hora</a:t>
            </a:r>
          </a:p>
        </p:txBody>
      </p:sp>
      <p:sp>
        <p:nvSpPr>
          <p:cNvPr id="9" name="Rounded Rectangle 8"/>
          <p:cNvSpPr/>
          <p:nvPr/>
        </p:nvSpPr>
        <p:spPr>
          <a:xfrm>
            <a:off x="6949440" y="4023360"/>
            <a:ext cx="2468880" cy="100584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Veterinario
id_veterinario (PK)</a:t>
            </a:r>
          </a:p>
        </p:txBody>
      </p:sp>
      <p:cxnSp>
        <p:nvCxnSpPr>
          <p:cNvPr id="10" name="Connector 9"/>
          <p:cNvCxnSpPr/>
          <p:nvPr/>
        </p:nvCxnSpPr>
        <p:spPr>
          <a:xfrm>
            <a:off x="3017520" y="2743200"/>
            <a:ext cx="731519"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60320" y="2542032"/>
            <a:ext cx="1645920" cy="320040"/>
          </a:xfrm>
          <a:prstGeom prst="rect">
            <a:avLst/>
          </a:prstGeom>
          <a:noFill/>
        </p:spPr>
        <p:txBody>
          <a:bodyPr wrap="square">
            <a:spAutoFit/>
          </a:bodyPr>
          <a:lstStyle/>
          <a:p>
            <a:pPr algn="ctr"/>
            <a:r>
              <a:rPr sz="1000" b="0" i="1">
                <a:solidFill>
                  <a:srgbClr val="666666"/>
                </a:solidFill>
                <a:latin typeface="Calibri"/>
              </a:rPr>
              <a:t>1: N</a:t>
            </a:r>
          </a:p>
        </p:txBody>
      </p:sp>
      <p:cxnSp>
        <p:nvCxnSpPr>
          <p:cNvPr id="12" name="Connector 11"/>
          <p:cNvCxnSpPr/>
          <p:nvPr/>
        </p:nvCxnSpPr>
        <p:spPr>
          <a:xfrm>
            <a:off x="6217920" y="2743200"/>
            <a:ext cx="731520"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760719" y="2542032"/>
            <a:ext cx="1645920" cy="320040"/>
          </a:xfrm>
          <a:prstGeom prst="rect">
            <a:avLst/>
          </a:prstGeom>
          <a:noFill/>
        </p:spPr>
        <p:txBody>
          <a:bodyPr wrap="square">
            <a:spAutoFit/>
          </a:bodyPr>
          <a:lstStyle/>
          <a:p>
            <a:pPr algn="ctr"/>
            <a:r>
              <a:rPr sz="1000" b="0" i="1">
                <a:solidFill>
                  <a:srgbClr val="666666"/>
                </a:solidFill>
                <a:latin typeface="Calibri"/>
              </a:rPr>
              <a:t>1: N</a:t>
            </a:r>
          </a:p>
        </p:txBody>
      </p:sp>
      <p:cxnSp>
        <p:nvCxnSpPr>
          <p:cNvPr id="14" name="Connector 13"/>
          <p:cNvCxnSpPr/>
          <p:nvPr/>
        </p:nvCxnSpPr>
        <p:spPr>
          <a:xfrm flipV="1">
            <a:off x="8183879" y="3474720"/>
            <a:ext cx="0" cy="54864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93607" y="3547872"/>
            <a:ext cx="1645920" cy="320040"/>
          </a:xfrm>
          <a:prstGeom prst="rect">
            <a:avLst/>
          </a:prstGeom>
          <a:noFill/>
        </p:spPr>
        <p:txBody>
          <a:bodyPr wrap="square">
            <a:spAutoFit/>
          </a:bodyPr>
          <a:lstStyle/>
          <a:p>
            <a:pPr algn="l"/>
            <a:r>
              <a:rPr sz="1000" b="0" i="1">
                <a:solidFill>
                  <a:srgbClr val="666666"/>
                </a:solidFill>
                <a:latin typeface="Calibri"/>
              </a:rPr>
              <a:t>1: N</a:t>
            </a:r>
          </a:p>
        </p:txBody>
      </p:sp>
      <p:sp>
        <p:nvSpPr>
          <p:cNvPr id="16" name="TextBox 15"/>
          <p:cNvSpPr txBox="1"/>
          <p:nvPr/>
        </p:nvSpPr>
        <p:spPr>
          <a:xfrm>
            <a:off x="457200" y="6263640"/>
            <a:ext cx="11277295" cy="411480"/>
          </a:xfrm>
          <a:prstGeom prst="rect">
            <a:avLst/>
          </a:prstGeom>
          <a:noFill/>
        </p:spPr>
        <p:txBody>
          <a:bodyPr wrap="square">
            <a:spAutoFit/>
          </a:bodyPr>
          <a:lstStyle/>
          <a:p>
            <a:r>
              <a:rPr sz="1100" b="0" i="1">
                <a:solidFill>
                  <a:srgbClr val="666666"/>
                </a:solidFill>
                <a:latin typeface="Calibri"/>
              </a:rPr>
              <a:t>“Un dueño tiene N mascotas”, “una mascota tiene N citas”, “un veterinario atiende N citas”. La PK identifica cada fila; la FK materializa la relación y la BD la hace cumplir: una cita con id_mascota 999 que no existe se rechaza con violación de clave foránea.</a:t>
            </a:r>
          </a:p>
        </p:txBody>
      </p:sp>
      <p:sp>
        <p:nvSpPr>
          <p:cNvPr id="17" name="TextBox 1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DDL minimo que sostiene el ER</a:t>
            </a:r>
          </a:p>
        </p:txBody>
      </p:sp>
      <p:sp>
        <p:nvSpPr>
          <p:cNvPr id="5" name="Rounded Rectangle 4"/>
          <p:cNvSpPr/>
          <p:nvPr/>
        </p:nvSpPr>
        <p:spPr>
          <a:xfrm>
            <a:off x="457200" y="1261872"/>
            <a:ext cx="11277295" cy="35244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2930048"/>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p:txBody>
      </p:sp>
      <p:sp>
        <p:nvSpPr>
          <p:cNvPr id="12" name="TextBox 11"/>
          <p:cNvSpPr txBox="1"/>
          <p:nvPr/>
        </p:nvSpPr>
        <p:spPr>
          <a:xfrm>
            <a:off x="1188720" y="1719072"/>
            <a:ext cx="10271455" cy="2930048"/>
          </a:xfrm>
          <a:prstGeom prst="rect">
            <a:avLst/>
          </a:prstGeom>
          <a:noFill/>
        </p:spPr>
        <p:txBody>
          <a:bodyPr wrap="square">
            <a:spAutoFit/>
          </a:bodyPr>
          <a:lstStyle/>
          <a:p>
            <a:pPr>
              <a:spcAft>
                <a:spcPts val="428"/>
              </a:spcAft>
            </a:pPr>
            <a:r>
              <a:rPr sz="2000" i="0" b="0">
                <a:solidFill>
                  <a:srgbClr val="569CD6"/>
                </a:solidFill>
                <a:latin typeface="Consolas"/>
              </a:rPr>
              <a:t>CREATE</a:t>
            </a:r>
            <a:r>
              <a:rPr sz="2000" i="0" b="0">
                <a:solidFill>
                  <a:srgbClr val="D4D4D4"/>
                </a:solidFill>
                <a:latin typeface="Consolas"/>
              </a:rPr>
              <a:t> </a:t>
            </a:r>
            <a:r>
              <a:rPr sz="2000" i="0" b="0">
                <a:solidFill>
                  <a:srgbClr val="569CD6"/>
                </a:solidFill>
                <a:latin typeface="Consolas"/>
              </a:rPr>
              <a:t>TABLE</a:t>
            </a:r>
            <a:r>
              <a:rPr sz="2000" i="0" b="0">
                <a:solidFill>
                  <a:srgbClr val="D4D4D4"/>
                </a:solidFill>
                <a:latin typeface="Consolas"/>
              </a:rPr>
              <a:t> </a:t>
            </a:r>
            <a:r>
              <a:rPr sz="2000" i="0" b="0">
                <a:solidFill>
                  <a:srgbClr val="DCDCAA"/>
                </a:solidFill>
                <a:latin typeface="Consolas"/>
              </a:rPr>
              <a:t>consulta</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4D4D4"/>
                </a:solidFill>
                <a:latin typeface="Consolas"/>
              </a:rPr>
              <a:t>id_consulta</a:t>
            </a:r>
            <a:r>
              <a:rPr sz="2000" i="0" b="0">
                <a:solidFill>
                  <a:srgbClr val="D4D4D4"/>
                </a:solidFill>
                <a:latin typeface="Consolas"/>
              </a:rPr>
              <a:t> </a:t>
            </a:r>
            <a:r>
              <a:rPr sz="2000" i="0" b="0">
                <a:solidFill>
                  <a:srgbClr val="4EC9B0"/>
                </a:solidFill>
                <a:latin typeface="Consolas"/>
              </a:rPr>
              <a:t>SERIAL</a:t>
            </a:r>
            <a:r>
              <a:rPr sz="2000" i="0" b="0">
                <a:solidFill>
                  <a:srgbClr val="D4D4D4"/>
                </a:solidFill>
                <a:latin typeface="Consolas"/>
              </a:rPr>
              <a:t> </a:t>
            </a:r>
            <a:r>
              <a:rPr sz="2000" i="0" b="0">
                <a:solidFill>
                  <a:srgbClr val="569CD6"/>
                </a:solidFill>
                <a:latin typeface="Consolas"/>
              </a:rPr>
              <a:t>PRIMARY</a:t>
            </a:r>
            <a:r>
              <a:rPr sz="2000" i="0" b="0">
                <a:solidFill>
                  <a:srgbClr val="D4D4D4"/>
                </a:solidFill>
                <a:latin typeface="Consolas"/>
              </a:rPr>
              <a:t> </a:t>
            </a:r>
            <a:r>
              <a:rPr sz="2000" i="0" b="0">
                <a:solidFill>
                  <a:srgbClr val="569CD6"/>
                </a:solidFill>
                <a:latin typeface="Consolas"/>
              </a:rPr>
              <a:t>KEY</a:t>
            </a:r>
            <a:r>
              <a:rPr sz="2000" i="0" b="0">
                <a:solidFill>
                  <a:srgbClr val="D4D4D4"/>
                </a:solidFill>
                <a:latin typeface="Consolas"/>
              </a:rPr>
              <a:t>,           </a:t>
            </a:r>
            <a:r>
              <a:rPr sz="2000" i="1" b="0">
                <a:solidFill>
                  <a:srgbClr val="6A9955"/>
                </a:solidFill>
                <a:latin typeface="Consolas"/>
              </a:rPr>
              <a:t>-- PK: identifica la fila</a:t>
            </a:r>
          </a:p>
          <a:p>
            <a:pPr>
              <a:spcAft>
                <a:spcPts val="428"/>
              </a:spcAft>
            </a:pPr>
            <a:r>
              <a:rPr sz="2000" i="0" b="0">
                <a:solidFill>
                  <a:srgbClr val="D4D4D4"/>
                </a:solidFill>
                <a:latin typeface="Consolas"/>
              </a:rPr>
              <a:t>  </a:t>
            </a:r>
            <a:r>
              <a:rPr sz="2000" i="0" b="0">
                <a:solidFill>
                  <a:srgbClr val="D4D4D4"/>
                </a:solidFill>
                <a:latin typeface="Consolas"/>
              </a:rPr>
              <a:t>id_cita</a:t>
            </a:r>
            <a:r>
              <a:rPr sz="2000" i="0" b="0">
                <a:solidFill>
                  <a:srgbClr val="D4D4D4"/>
                </a:solidFill>
                <a:latin typeface="Consolas"/>
              </a:rPr>
              <a:t>     </a:t>
            </a:r>
            <a:r>
              <a:rPr sz="2000" i="0" b="0">
                <a:solidFill>
                  <a:srgbClr val="4EC9B0"/>
                </a:solidFill>
                <a:latin typeface="Consolas"/>
              </a:rPr>
              <a:t>INT</a:t>
            </a:r>
            <a:r>
              <a:rPr sz="2000" i="0" b="0">
                <a:solidFill>
                  <a:srgbClr val="D4D4D4"/>
                </a:solidFill>
                <a:latin typeface="Consolas"/>
              </a:rPr>
              <a:t> </a:t>
            </a:r>
            <a:r>
              <a:rPr sz="2000" i="0" b="0">
                <a:solidFill>
                  <a:srgbClr val="569CD6"/>
                </a:solidFill>
                <a:latin typeface="Consolas"/>
              </a:rPr>
              <a:t>NOT</a:t>
            </a:r>
            <a:r>
              <a:rPr sz="2000" i="0" b="0">
                <a:solidFill>
                  <a:srgbClr val="D4D4D4"/>
                </a:solidFill>
                <a:latin typeface="Consolas"/>
              </a:rPr>
              <a:t> </a:t>
            </a:r>
            <a:r>
              <a:rPr sz="2000" i="0" b="0">
                <a:solidFill>
                  <a:srgbClr val="569CD6"/>
                </a:solidFill>
                <a:latin typeface="Consolas"/>
              </a:rPr>
              <a:t>NULL</a:t>
            </a:r>
            <a:r>
              <a:rPr sz="2000" i="0" b="0">
                <a:solidFill>
                  <a:srgbClr val="D4D4D4"/>
                </a:solidFill>
                <a:latin typeface="Consolas"/>
              </a:rPr>
              <a:t> </a:t>
            </a:r>
            <a:r>
              <a:rPr sz="2000" i="0" b="0">
                <a:solidFill>
                  <a:srgbClr val="569CD6"/>
                </a:solidFill>
                <a:latin typeface="Consolas"/>
              </a:rPr>
              <a:t>UNIQUE</a:t>
            </a:r>
          </a:p>
          <a:p>
            <a:pPr>
              <a:spcAft>
                <a:spcPts val="428"/>
              </a:spcAft>
            </a:pPr>
            <a:r>
              <a:rPr sz="2000" i="0" b="0">
                <a:solidFill>
                  <a:srgbClr val="D4D4D4"/>
                </a:solidFill>
                <a:latin typeface="Consolas"/>
              </a:rPr>
              <a:t>              </a:t>
            </a:r>
            <a:r>
              <a:rPr sz="2000" i="0" b="0">
                <a:solidFill>
                  <a:srgbClr val="569CD6"/>
                </a:solidFill>
                <a:latin typeface="Consolas"/>
              </a:rPr>
              <a:t>REFERENCES</a:t>
            </a:r>
            <a:r>
              <a:rPr sz="2000" i="0" b="0">
                <a:solidFill>
                  <a:srgbClr val="D4D4D4"/>
                </a:solidFill>
                <a:latin typeface="Consolas"/>
              </a:rPr>
              <a:t> </a:t>
            </a:r>
            <a:r>
              <a:rPr sz="2000" i="0" b="0">
                <a:solidFill>
                  <a:srgbClr val="DCDCAA"/>
                </a:solidFill>
                <a:latin typeface="Consolas"/>
              </a:rPr>
              <a:t>cita</a:t>
            </a:r>
            <a:r>
              <a:rPr sz="2000" i="0" b="0">
                <a:solidFill>
                  <a:srgbClr val="D4D4D4"/>
                </a:solidFill>
                <a:latin typeface="Consolas"/>
              </a:rPr>
              <a:t>(</a:t>
            </a:r>
            <a:r>
              <a:rPr sz="2000" i="0" b="0">
                <a:solidFill>
                  <a:srgbClr val="D4D4D4"/>
                </a:solidFill>
                <a:latin typeface="Consolas"/>
              </a:rPr>
              <a:t>id_cita</a:t>
            </a:r>
            <a:r>
              <a:rPr sz="2000" i="0" b="0">
                <a:solidFill>
                  <a:srgbClr val="D4D4D4"/>
                </a:solidFill>
                <a:latin typeface="Consolas"/>
              </a:rPr>
              <a:t>),     </a:t>
            </a:r>
            <a:r>
              <a:rPr sz="2000" i="1" b="0">
                <a:solidFill>
                  <a:srgbClr val="6A9955"/>
                </a:solidFill>
                <a:latin typeface="Consolas"/>
              </a:rPr>
              <a:t>-- FK: materializa la relacion</a:t>
            </a:r>
          </a:p>
          <a:p>
            <a:pPr>
              <a:spcAft>
                <a:spcPts val="428"/>
              </a:spcAft>
            </a:pPr>
            <a:r>
              <a:rPr sz="2000" i="0" b="0">
                <a:solidFill>
                  <a:srgbClr val="D4D4D4"/>
                </a:solidFill>
                <a:latin typeface="Consolas"/>
              </a:rPr>
              <a:t>  </a:t>
            </a:r>
            <a:r>
              <a:rPr sz="2000" i="0" b="0">
                <a:solidFill>
                  <a:srgbClr val="D4D4D4"/>
                </a:solidFill>
                <a:latin typeface="Consolas"/>
              </a:rPr>
              <a:t>diagnostico</a:t>
            </a:r>
            <a:r>
              <a:rPr sz="2000" i="0" b="0">
                <a:solidFill>
                  <a:srgbClr val="D4D4D4"/>
                </a:solidFill>
                <a:latin typeface="Consolas"/>
              </a:rPr>
              <a:t> </a:t>
            </a:r>
            <a:r>
              <a:rPr sz="2000" i="0" b="0">
                <a:solidFill>
                  <a:srgbClr val="4EC9B0"/>
                </a:solidFill>
                <a:latin typeface="Consolas"/>
              </a:rPr>
              <a:t>TEXT</a:t>
            </a:r>
            <a:r>
              <a:rPr sz="2000" i="0" b="0">
                <a:solidFill>
                  <a:srgbClr val="D4D4D4"/>
                </a:solidFill>
                <a:latin typeface="Consolas"/>
              </a:rPr>
              <a:t> </a:t>
            </a:r>
            <a:r>
              <a:rPr sz="2000" i="0" b="0">
                <a:solidFill>
                  <a:srgbClr val="569CD6"/>
                </a:solidFill>
                <a:latin typeface="Consolas"/>
              </a:rPr>
              <a:t>NOT</a:t>
            </a:r>
            <a:r>
              <a:rPr sz="2000" i="0" b="0">
                <a:solidFill>
                  <a:srgbClr val="D4D4D4"/>
                </a:solidFill>
                <a:latin typeface="Consolas"/>
              </a:rPr>
              <a:t> </a:t>
            </a:r>
            <a:r>
              <a:rPr sz="2000" i="0" b="0">
                <a:solidFill>
                  <a:srgbClr val="569CD6"/>
                </a:solidFill>
                <a:latin typeface="Consolas"/>
              </a:rPr>
              <a:t>NULL</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D4D4D4"/>
                </a:solidFill>
                <a:latin typeface="Consolas"/>
              </a:rPr>
              <a:t>precio</a:t>
            </a:r>
            <a:r>
              <a:rPr sz="2000" i="0" b="0">
                <a:solidFill>
                  <a:srgbClr val="D4D4D4"/>
                </a:solidFill>
                <a:latin typeface="Consolas"/>
              </a:rPr>
              <a:t>      </a:t>
            </a:r>
            <a:r>
              <a:rPr sz="2000" i="0" b="0">
                <a:solidFill>
                  <a:srgbClr val="4EC9B0"/>
                </a:solidFill>
                <a:latin typeface="Consolas"/>
              </a:rPr>
              <a:t>NUMERIC</a:t>
            </a:r>
            <a:r>
              <a:rPr sz="2000" i="0" b="0">
                <a:solidFill>
                  <a:srgbClr val="D4D4D4"/>
                </a:solidFill>
                <a:latin typeface="Consolas"/>
              </a:rPr>
              <a:t>(</a:t>
            </a:r>
            <a:r>
              <a:rPr sz="2000" i="0" b="0">
                <a:solidFill>
                  <a:srgbClr val="B5CEA8"/>
                </a:solidFill>
                <a:latin typeface="Consolas"/>
              </a:rPr>
              <a:t>12</a:t>
            </a:r>
            <a:r>
              <a:rPr sz="2000" i="0" b="0">
                <a:solidFill>
                  <a:srgbClr val="D4D4D4"/>
                </a:solidFill>
                <a:latin typeface="Consolas"/>
              </a:rPr>
              <a:t>,</a:t>
            </a:r>
            <a:r>
              <a:rPr sz="2000" i="0" b="0">
                <a:solidFill>
                  <a:srgbClr val="B5CEA8"/>
                </a:solidFill>
                <a:latin typeface="Consolas"/>
              </a:rPr>
              <a:t>2</a:t>
            </a:r>
            <a:r>
              <a:rPr sz="2000" i="0" b="0">
                <a:solidFill>
                  <a:srgbClr val="D4D4D4"/>
                </a:solidFill>
                <a:latin typeface="Consolas"/>
              </a:rPr>
              <a:t>) </a:t>
            </a:r>
            <a:r>
              <a:rPr sz="2000" i="0" b="0">
                <a:solidFill>
                  <a:srgbClr val="569CD6"/>
                </a:solidFill>
                <a:latin typeface="Consolas"/>
              </a:rPr>
              <a:t>NOT</a:t>
            </a:r>
            <a:r>
              <a:rPr sz="2000" i="0" b="0">
                <a:solidFill>
                  <a:srgbClr val="D4D4D4"/>
                </a:solidFill>
                <a:latin typeface="Consolas"/>
              </a:rPr>
              <a:t> </a:t>
            </a:r>
            <a:r>
              <a:rPr sz="2000" i="0" b="0">
                <a:solidFill>
                  <a:srgbClr val="569CD6"/>
                </a:solidFill>
                <a:latin typeface="Consolas"/>
              </a:rPr>
              <a:t>NULL</a:t>
            </a:r>
          </a:p>
          <a:p>
            <a:pPr>
              <a:spcAft>
                <a:spcPts val="428"/>
              </a:spcAft>
            </a:pPr>
            <a:r>
              <a:rPr sz="2000" i="0" b="0">
                <a:solidFill>
                  <a:srgbClr val="D4D4D4"/>
                </a:solidFill>
                <a:latin typeface="Consolas"/>
              </a:rPr>
              <a:t>              </a:t>
            </a:r>
            <a:r>
              <a:rPr sz="2000" i="0" b="0">
                <a:solidFill>
                  <a:srgbClr val="569CD6"/>
                </a:solidFill>
                <a:latin typeface="Consolas"/>
              </a:rPr>
              <a:t>CHECK</a:t>
            </a:r>
            <a:r>
              <a:rPr sz="2000" i="0" b="0">
                <a:solidFill>
                  <a:srgbClr val="D4D4D4"/>
                </a:solidFill>
                <a:latin typeface="Consolas"/>
              </a:rPr>
              <a:t> (</a:t>
            </a:r>
            <a:r>
              <a:rPr sz="2000" i="0" b="0">
                <a:solidFill>
                  <a:srgbClr val="D4D4D4"/>
                </a:solidFill>
                <a:latin typeface="Consolas"/>
              </a:rPr>
              <a:t>precio</a:t>
            </a:r>
            <a:r>
              <a:rPr sz="2000" i="0" b="0">
                <a:solidFill>
                  <a:srgbClr val="D4D4D4"/>
                </a:solidFill>
                <a:latin typeface="Consolas"/>
              </a:rPr>
              <a:t> &gt;= </a:t>
            </a:r>
            <a:r>
              <a:rPr sz="2000" i="0" b="0">
                <a:solidFill>
                  <a:srgbClr val="B5CEA8"/>
                </a:solidFill>
                <a:latin typeface="Consolas"/>
              </a:rPr>
              <a:t>0</a:t>
            </a:r>
            <a:r>
              <a:rPr sz="2000" i="0" b="0">
                <a:solidFill>
                  <a:srgbClr val="D4D4D4"/>
                </a:solidFill>
                <a:latin typeface="Consolas"/>
              </a:rPr>
              <a:t>)           </a:t>
            </a:r>
            <a:r>
              <a:rPr sz="2000" i="1" b="0">
                <a:solidFill>
                  <a:srgbClr val="6A9955"/>
                </a:solidFill>
                <a:latin typeface="Consolas"/>
              </a:rPr>
              <a:t>-- regla de negocio en la BD</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La FK vive en la tabla que depende; con UNIQUE la relacion queda 1:1 (una consulta por cita). El CHECK ya es una regla de negocio.</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patron de tabla: PK, obligatorios y dominio cerrado</a:t>
            </a:r>
          </a:p>
        </p:txBody>
      </p:sp>
      <p:sp>
        <p:nvSpPr>
          <p:cNvPr id="5" name="Rounded Rectangle 4"/>
          <p:cNvSpPr/>
          <p:nvPr/>
        </p:nvSpPr>
        <p:spPr>
          <a:xfrm>
            <a:off x="457200" y="1261872"/>
            <a:ext cx="11277295" cy="4065696"/>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3471336"/>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p:txBody>
      </p:sp>
      <p:sp>
        <p:nvSpPr>
          <p:cNvPr id="12" name="TextBox 11"/>
          <p:cNvSpPr txBox="1"/>
          <p:nvPr/>
        </p:nvSpPr>
        <p:spPr>
          <a:xfrm>
            <a:off x="1188720" y="1719072"/>
            <a:ext cx="10271455" cy="3471336"/>
          </a:xfrm>
          <a:prstGeom prst="rect">
            <a:avLst/>
          </a:prstGeom>
          <a:noFill/>
        </p:spPr>
        <p:txBody>
          <a:bodyPr wrap="square">
            <a:spAutoFit/>
          </a:bodyPr>
          <a:lstStyle/>
          <a:p>
            <a:pPr>
              <a:spcAft>
                <a:spcPts val="407"/>
              </a:spcAft>
            </a:pPr>
            <a:r>
              <a:rPr sz="1900" i="1" b="0">
                <a:solidFill>
                  <a:srgbClr val="6A9955"/>
                </a:solidFill>
                <a:latin typeface="Consolas"/>
              </a:rPr>
              <a:t>-- Mismo patron que pedira su DDL, sobre otra tabla del modelo.</a:t>
            </a:r>
          </a:p>
          <a:p>
            <a:pPr>
              <a:spcAft>
                <a:spcPts val="407"/>
              </a:spcAft>
            </a:pPr>
            <a:r>
              <a:rPr sz="1900" i="0" b="0">
                <a:solidFill>
                  <a:srgbClr val="569CD6"/>
                </a:solidFill>
                <a:latin typeface="Consolas"/>
              </a:rPr>
              <a:t>CREATE</a:t>
            </a:r>
            <a:r>
              <a:rPr sz="1900" i="0" b="0">
                <a:solidFill>
                  <a:srgbClr val="D4D4D4"/>
                </a:solidFill>
                <a:latin typeface="Consolas"/>
              </a:rPr>
              <a:t> </a:t>
            </a:r>
            <a:r>
              <a:rPr sz="1900" i="0" b="0">
                <a:solidFill>
                  <a:srgbClr val="569CD6"/>
                </a:solidFill>
                <a:latin typeface="Consolas"/>
              </a:rPr>
              <a:t>TABLE</a:t>
            </a:r>
            <a:r>
              <a:rPr sz="1900" i="0" b="0">
                <a:solidFill>
                  <a:srgbClr val="D4D4D4"/>
                </a:solidFill>
                <a:latin typeface="Consolas"/>
              </a:rPr>
              <a:t> </a:t>
            </a:r>
            <a:r>
              <a:rPr sz="1900" i="0" b="0">
                <a:solidFill>
                  <a:srgbClr val="DCDCAA"/>
                </a:solidFill>
                <a:latin typeface="Consolas"/>
              </a:rPr>
              <a:t>veterinario</a:t>
            </a:r>
            <a:r>
              <a:rPr sz="1900" i="0" b="0">
                <a:solidFill>
                  <a:srgbClr val="D4D4D4"/>
                </a:solidFill>
                <a:latin typeface="Consolas"/>
              </a:rPr>
              <a:t> (</a:t>
            </a:r>
          </a:p>
          <a:p>
            <a:pPr>
              <a:spcAft>
                <a:spcPts val="407"/>
              </a:spcAft>
            </a:pPr>
            <a:r>
              <a:rPr sz="1900" i="0" b="0">
                <a:solidFill>
                  <a:srgbClr val="D4D4D4"/>
                </a:solidFill>
                <a:latin typeface="Consolas"/>
              </a:rPr>
              <a:t>  </a:t>
            </a:r>
            <a:r>
              <a:rPr sz="1900" i="0" b="0">
                <a:solidFill>
                  <a:srgbClr val="D4D4D4"/>
                </a:solidFill>
                <a:latin typeface="Consolas"/>
              </a:rPr>
              <a:t>id_veterinario</a:t>
            </a:r>
            <a:r>
              <a:rPr sz="1900" i="0" b="0">
                <a:solidFill>
                  <a:srgbClr val="D4D4D4"/>
                </a:solidFill>
                <a:latin typeface="Consolas"/>
              </a:rPr>
              <a:t> </a:t>
            </a:r>
            <a:r>
              <a:rPr sz="1900" i="0" b="0">
                <a:solidFill>
                  <a:srgbClr val="4EC9B0"/>
                </a:solidFill>
                <a:latin typeface="Consolas"/>
              </a:rPr>
              <a:t>SERIAL</a:t>
            </a:r>
            <a:r>
              <a:rPr sz="1900" i="0" b="0">
                <a:solidFill>
                  <a:srgbClr val="D4D4D4"/>
                </a:solidFill>
                <a:latin typeface="Consolas"/>
              </a:rPr>
              <a:t> </a:t>
            </a:r>
            <a:r>
              <a:rPr sz="1900" i="0" b="0">
                <a:solidFill>
                  <a:srgbClr val="569CD6"/>
                </a:solidFill>
                <a:latin typeface="Consolas"/>
              </a:rPr>
              <a:t>PRIMARY</a:t>
            </a:r>
            <a:r>
              <a:rPr sz="1900" i="0" b="0">
                <a:solidFill>
                  <a:srgbClr val="D4D4D4"/>
                </a:solidFill>
                <a:latin typeface="Consolas"/>
              </a:rPr>
              <a:t> </a:t>
            </a:r>
            <a:r>
              <a:rPr sz="1900" i="0" b="0">
                <a:solidFill>
                  <a:srgbClr val="569CD6"/>
                </a:solidFill>
                <a:latin typeface="Consolas"/>
              </a:rPr>
              <a:t>KEY</a:t>
            </a:r>
            <a:r>
              <a:rPr sz="1900" i="0" b="0">
                <a:solidFill>
                  <a:srgbClr val="D4D4D4"/>
                </a:solidFill>
                <a:latin typeface="Consolas"/>
              </a:rPr>
              <a:t>,      </a:t>
            </a:r>
            <a:r>
              <a:rPr sz="1900" i="1" b="0">
                <a:solidFill>
                  <a:srgbClr val="6A9955"/>
                </a:solidFill>
                <a:latin typeface="Consolas"/>
              </a:rPr>
              <a:t>-- sustituta: la genera la base</a:t>
            </a:r>
          </a:p>
          <a:p>
            <a:pPr>
              <a:spcAft>
                <a:spcPts val="407"/>
              </a:spcAft>
            </a:pPr>
            <a:r>
              <a:rPr sz="1900" i="0" b="0">
                <a:solidFill>
                  <a:srgbClr val="D4D4D4"/>
                </a:solidFill>
                <a:latin typeface="Consolas"/>
              </a:rPr>
              <a:t>  </a:t>
            </a:r>
            <a:r>
              <a:rPr sz="1900" i="0" b="0">
                <a:solidFill>
                  <a:srgbClr val="D4D4D4"/>
                </a:solidFill>
                <a:latin typeface="Consolas"/>
              </a:rPr>
              <a:t>tarjeta_prof</a:t>
            </a:r>
            <a:r>
              <a:rPr sz="1900" i="0" b="0">
                <a:solidFill>
                  <a:srgbClr val="D4D4D4"/>
                </a:solidFill>
                <a:latin typeface="Consolas"/>
              </a:rPr>
              <a:t>   </a:t>
            </a:r>
            <a:r>
              <a:rPr sz="1900" i="0" b="0">
                <a:solidFill>
                  <a:srgbClr val="4EC9B0"/>
                </a:solidFill>
                <a:latin typeface="Consolas"/>
              </a:rPr>
              <a:t>VARCHAR</a:t>
            </a:r>
            <a:r>
              <a:rPr sz="1900" i="0" b="0">
                <a:solidFill>
                  <a:srgbClr val="D4D4D4"/>
                </a:solidFill>
                <a:latin typeface="Consolas"/>
              </a:rPr>
              <a:t>(</a:t>
            </a:r>
            <a:r>
              <a:rPr sz="1900" i="0" b="0">
                <a:solidFill>
                  <a:srgbClr val="B5CEA8"/>
                </a:solidFill>
                <a:latin typeface="Consolas"/>
              </a:rPr>
              <a:t>30</a:t>
            </a:r>
            <a:r>
              <a:rPr sz="1900" i="0" b="0">
                <a:solidFill>
                  <a:srgbClr val="D4D4D4"/>
                </a:solidFill>
                <a:latin typeface="Consolas"/>
              </a:rPr>
              <a:t>) </a:t>
            </a:r>
            <a:r>
              <a:rPr sz="1900" i="0" b="0">
                <a:solidFill>
                  <a:srgbClr val="569CD6"/>
                </a:solidFill>
                <a:latin typeface="Consolas"/>
              </a:rPr>
              <a:t>UNIQUE</a:t>
            </a:r>
            <a:r>
              <a:rPr sz="1900" i="0" b="0">
                <a:solidFill>
                  <a:srgbClr val="D4D4D4"/>
                </a:solidFill>
                <a:latin typeface="Consolas"/>
              </a:rPr>
              <a:t>,      </a:t>
            </a:r>
            <a:r>
              <a:rPr sz="1900" i="1" b="0">
                <a:solidFill>
                  <a:srgbClr val="6A9955"/>
                </a:solidFill>
                <a:latin typeface="Consolas"/>
              </a:rPr>
              <a:t>-- natural: unica, pero puede faltar</a:t>
            </a:r>
          </a:p>
          <a:p>
            <a:pPr>
              <a:spcAft>
                <a:spcPts val="407"/>
              </a:spcAft>
            </a:pPr>
            <a:r>
              <a:rPr sz="1900" i="0" b="0">
                <a:solidFill>
                  <a:srgbClr val="D4D4D4"/>
                </a:solidFill>
                <a:latin typeface="Consolas"/>
              </a:rPr>
              <a:t>  </a:t>
            </a:r>
            <a:r>
              <a:rPr sz="1900" i="0" b="0">
                <a:solidFill>
                  <a:srgbClr val="D4D4D4"/>
                </a:solidFill>
                <a:latin typeface="Consolas"/>
              </a:rPr>
              <a:t>nombre</a:t>
            </a:r>
            <a:r>
              <a:rPr sz="1900" i="0" b="0">
                <a:solidFill>
                  <a:srgbClr val="D4D4D4"/>
                </a:solidFill>
                <a:latin typeface="Consolas"/>
              </a:rPr>
              <a:t>         </a:t>
            </a:r>
            <a:r>
              <a:rPr sz="1900" i="0" b="0">
                <a:solidFill>
                  <a:srgbClr val="4EC9B0"/>
                </a:solidFill>
                <a:latin typeface="Consolas"/>
              </a:rPr>
              <a:t>VARCHAR</a:t>
            </a:r>
            <a:r>
              <a:rPr sz="1900" i="0" b="0">
                <a:solidFill>
                  <a:srgbClr val="D4D4D4"/>
                </a:solidFill>
                <a:latin typeface="Consolas"/>
              </a:rPr>
              <a:t>(</a:t>
            </a:r>
            <a:r>
              <a:rPr sz="1900" i="0" b="0">
                <a:solidFill>
                  <a:srgbClr val="B5CEA8"/>
                </a:solidFill>
                <a:latin typeface="Consolas"/>
              </a:rPr>
              <a:t>80</a:t>
            </a:r>
            <a:r>
              <a:rPr sz="1900" i="0" b="0">
                <a:solidFill>
                  <a:srgbClr val="D4D4D4"/>
                </a:solidFill>
                <a:latin typeface="Consolas"/>
              </a:rPr>
              <a:t>) </a:t>
            </a:r>
            <a:r>
              <a:rPr sz="1900" i="0" b="0">
                <a:solidFill>
                  <a:srgbClr val="569CD6"/>
                </a:solidFill>
                <a:latin typeface="Consolas"/>
              </a:rPr>
              <a:t>NOT</a:t>
            </a:r>
            <a:r>
              <a:rPr sz="1900" i="0" b="0">
                <a:solidFill>
                  <a:srgbClr val="D4D4D4"/>
                </a:solidFill>
                <a:latin typeface="Consolas"/>
              </a:rPr>
              <a:t> </a:t>
            </a:r>
            <a:r>
              <a:rPr sz="1900" i="0" b="0">
                <a:solidFill>
                  <a:srgbClr val="569CD6"/>
                </a:solidFill>
                <a:latin typeface="Consolas"/>
              </a:rPr>
              <a:t>NULL</a:t>
            </a:r>
            <a:r>
              <a:rPr sz="1900" i="0" b="0">
                <a:solidFill>
                  <a:srgbClr val="D4D4D4"/>
                </a:solidFill>
                <a:latin typeface="Consolas"/>
              </a:rPr>
              <a:t>,    </a:t>
            </a:r>
            <a:r>
              <a:rPr sz="1900" i="1" b="0">
                <a:solidFill>
                  <a:srgbClr val="6A9955"/>
                </a:solidFill>
                <a:latin typeface="Consolas"/>
              </a:rPr>
              <a:t>-- obligatorio</a:t>
            </a:r>
          </a:p>
          <a:p>
            <a:pPr>
              <a:spcAft>
                <a:spcPts val="407"/>
              </a:spcAft>
            </a:pPr>
            <a:r>
              <a:rPr sz="1900" i="0" b="0">
                <a:solidFill>
                  <a:srgbClr val="D4D4D4"/>
                </a:solidFill>
                <a:latin typeface="Consolas"/>
              </a:rPr>
              <a:t>  </a:t>
            </a:r>
            <a:r>
              <a:rPr sz="1900" i="0" b="0">
                <a:solidFill>
                  <a:srgbClr val="D4D4D4"/>
                </a:solidFill>
                <a:latin typeface="Consolas"/>
              </a:rPr>
              <a:t>especialidad</a:t>
            </a:r>
            <a:r>
              <a:rPr sz="1900" i="0" b="0">
                <a:solidFill>
                  <a:srgbClr val="D4D4D4"/>
                </a:solidFill>
                <a:latin typeface="Consolas"/>
              </a:rPr>
              <a:t>   </a:t>
            </a:r>
            <a:r>
              <a:rPr sz="1900" i="0" b="0">
                <a:solidFill>
                  <a:srgbClr val="4EC9B0"/>
                </a:solidFill>
                <a:latin typeface="Consolas"/>
              </a:rPr>
              <a:t>VARCHAR</a:t>
            </a:r>
            <a:r>
              <a:rPr sz="1900" i="0" b="0">
                <a:solidFill>
                  <a:srgbClr val="D4D4D4"/>
                </a:solidFill>
                <a:latin typeface="Consolas"/>
              </a:rPr>
              <a:t>(</a:t>
            </a:r>
            <a:r>
              <a:rPr sz="1900" i="0" b="0">
                <a:solidFill>
                  <a:srgbClr val="B5CEA8"/>
                </a:solidFill>
                <a:latin typeface="Consolas"/>
              </a:rPr>
              <a:t>40</a:t>
            </a:r>
            <a:r>
              <a:rPr sz="1900" i="0" b="0">
                <a:solidFill>
                  <a:srgbClr val="D4D4D4"/>
                </a:solidFill>
                <a:latin typeface="Consolas"/>
              </a:rPr>
              <a:t>) </a:t>
            </a:r>
            <a:r>
              <a:rPr sz="1900" i="0" b="0">
                <a:solidFill>
                  <a:srgbClr val="569CD6"/>
                </a:solidFill>
                <a:latin typeface="Consolas"/>
              </a:rPr>
              <a:t>NOT</a:t>
            </a:r>
            <a:r>
              <a:rPr sz="1900" i="0" b="0">
                <a:solidFill>
                  <a:srgbClr val="D4D4D4"/>
                </a:solidFill>
                <a:latin typeface="Consolas"/>
              </a:rPr>
              <a:t> </a:t>
            </a:r>
            <a:r>
              <a:rPr sz="1900" i="0" b="0">
                <a:solidFill>
                  <a:srgbClr val="569CD6"/>
                </a:solidFill>
                <a:latin typeface="Consolas"/>
              </a:rPr>
              <a:t>NULL</a:t>
            </a:r>
          </a:p>
          <a:p>
            <a:pPr>
              <a:spcAft>
                <a:spcPts val="407"/>
              </a:spcAft>
            </a:pPr>
            <a:r>
              <a:rPr sz="1900" i="0" b="0">
                <a:solidFill>
                  <a:srgbClr val="D4D4D4"/>
                </a:solidFill>
                <a:latin typeface="Consolas"/>
              </a:rPr>
              <a:t>    </a:t>
            </a:r>
            <a:r>
              <a:rPr sz="1900" i="0" b="0">
                <a:solidFill>
                  <a:srgbClr val="569CD6"/>
                </a:solidFill>
                <a:latin typeface="Consolas"/>
              </a:rPr>
              <a:t>CHECK</a:t>
            </a:r>
            <a:r>
              <a:rPr sz="1900" i="0" b="0">
                <a:solidFill>
                  <a:srgbClr val="D4D4D4"/>
                </a:solidFill>
                <a:latin typeface="Consolas"/>
              </a:rPr>
              <a:t> (</a:t>
            </a:r>
            <a:r>
              <a:rPr sz="1900" i="0" b="0">
                <a:solidFill>
                  <a:srgbClr val="D4D4D4"/>
                </a:solidFill>
                <a:latin typeface="Consolas"/>
              </a:rPr>
              <a:t>especialidad</a:t>
            </a:r>
            <a:r>
              <a:rPr sz="1900" i="0" b="0">
                <a:solidFill>
                  <a:srgbClr val="D4D4D4"/>
                </a:solidFill>
                <a:latin typeface="Consolas"/>
              </a:rPr>
              <a:t> </a:t>
            </a:r>
            <a:r>
              <a:rPr sz="1900" i="0" b="0">
                <a:solidFill>
                  <a:srgbClr val="569CD6"/>
                </a:solidFill>
                <a:latin typeface="Consolas"/>
              </a:rPr>
              <a:t>IN</a:t>
            </a:r>
            <a:r>
              <a:rPr sz="1900" i="0" b="0">
                <a:solidFill>
                  <a:srgbClr val="D4D4D4"/>
                </a:solidFill>
                <a:latin typeface="Consolas"/>
              </a:rPr>
              <a:t> (</a:t>
            </a:r>
            <a:r>
              <a:rPr sz="1900" i="0" b="0">
                <a:solidFill>
                  <a:srgbClr val="CE9178"/>
                </a:solidFill>
                <a:latin typeface="Consolas"/>
              </a:rPr>
              <a:t>'GENERAL'</a:t>
            </a:r>
            <a:r>
              <a:rPr sz="1900" i="0" b="0">
                <a:solidFill>
                  <a:srgbClr val="D4D4D4"/>
                </a:solidFill>
                <a:latin typeface="Consolas"/>
              </a:rPr>
              <a:t>,</a:t>
            </a:r>
            <a:r>
              <a:rPr sz="1900" i="0" b="0">
                <a:solidFill>
                  <a:srgbClr val="CE9178"/>
                </a:solidFill>
                <a:latin typeface="Consolas"/>
              </a:rPr>
              <a:t>'CIRUGIA'</a:t>
            </a:r>
            <a:r>
              <a:rPr sz="1900" i="0" b="0">
                <a:solidFill>
                  <a:srgbClr val="D4D4D4"/>
                </a:solidFill>
                <a:latin typeface="Consolas"/>
              </a:rPr>
              <a:t>,</a:t>
            </a:r>
            <a:r>
              <a:rPr sz="1900" i="0" b="0">
                <a:solidFill>
                  <a:srgbClr val="CE9178"/>
                </a:solidFill>
                <a:latin typeface="Consolas"/>
              </a:rPr>
              <a:t>'DERMATOLOGIA'</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activo</a:t>
            </a:r>
            <a:r>
              <a:rPr sz="1900" i="0" b="0">
                <a:solidFill>
                  <a:srgbClr val="D4D4D4"/>
                </a:solidFill>
                <a:latin typeface="Consolas"/>
              </a:rPr>
              <a:t>         </a:t>
            </a:r>
            <a:r>
              <a:rPr sz="1900" i="0" b="0">
                <a:solidFill>
                  <a:srgbClr val="4EC9B0"/>
                </a:solidFill>
                <a:latin typeface="Consolas"/>
              </a:rPr>
              <a:t>CHAR</a:t>
            </a:r>
            <a:r>
              <a:rPr sz="1900" i="0" b="0">
                <a:solidFill>
                  <a:srgbClr val="D4D4D4"/>
                </a:solidFill>
                <a:latin typeface="Consolas"/>
              </a:rPr>
              <a:t>(</a:t>
            </a:r>
            <a:r>
              <a:rPr sz="1900" i="0" b="0">
                <a:solidFill>
                  <a:srgbClr val="B5CEA8"/>
                </a:solidFill>
                <a:latin typeface="Consolas"/>
              </a:rPr>
              <a:t>1</a:t>
            </a:r>
            <a:r>
              <a:rPr sz="1900" i="0" b="0">
                <a:solidFill>
                  <a:srgbClr val="D4D4D4"/>
                </a:solidFill>
                <a:latin typeface="Consolas"/>
              </a:rPr>
              <a:t>) </a:t>
            </a:r>
            <a:r>
              <a:rPr sz="1900" i="0" b="0">
                <a:solidFill>
                  <a:srgbClr val="569CD6"/>
                </a:solidFill>
                <a:latin typeface="Consolas"/>
              </a:rPr>
              <a:t>DEFAULT</a:t>
            </a:r>
            <a:r>
              <a:rPr sz="1900" i="0" b="0">
                <a:solidFill>
                  <a:srgbClr val="D4D4D4"/>
                </a:solidFill>
                <a:latin typeface="Consolas"/>
              </a:rPr>
              <a:t> </a:t>
            </a:r>
            <a:r>
              <a:rPr sz="1900" i="0" b="0">
                <a:solidFill>
                  <a:srgbClr val="CE9178"/>
                </a:solidFill>
                <a:latin typeface="Consolas"/>
              </a:rPr>
              <a:t>'S'</a:t>
            </a:r>
            <a:r>
              <a:rPr sz="1900" i="0" b="0">
                <a:solidFill>
                  <a:srgbClr val="D4D4D4"/>
                </a:solidFill>
                <a:latin typeface="Consolas"/>
              </a:rPr>
              <a:t>      </a:t>
            </a:r>
            <a:r>
              <a:rPr sz="1900" i="1" b="0">
                <a:solidFill>
                  <a:srgbClr val="6A9955"/>
                </a:solidFill>
                <a:latin typeface="Consolas"/>
              </a:rPr>
              <a:t>-- baja logica, no DELETE</a:t>
            </a:r>
          </a:p>
          <a:p>
            <a:pPr>
              <a:spcAft>
                <a:spcPts val="407"/>
              </a:spcAft>
            </a:pPr>
            <a:r>
              <a:rPr sz="1900" i="0" b="0">
                <a:solidFill>
                  <a:srgbClr val="D4D4D4"/>
                </a:solidFill>
                <a:latin typeface="Consolas"/>
              </a:rPr>
              <a:t>    </a:t>
            </a:r>
            <a:r>
              <a:rPr sz="1900" i="0" b="0">
                <a:solidFill>
                  <a:srgbClr val="569CD6"/>
                </a:solidFill>
                <a:latin typeface="Consolas"/>
              </a:rPr>
              <a:t>CHECK</a:t>
            </a:r>
            <a:r>
              <a:rPr sz="1900" i="0" b="0">
                <a:solidFill>
                  <a:srgbClr val="D4D4D4"/>
                </a:solidFill>
                <a:latin typeface="Consolas"/>
              </a:rPr>
              <a:t> (</a:t>
            </a:r>
            <a:r>
              <a:rPr sz="1900" i="0" b="0">
                <a:solidFill>
                  <a:srgbClr val="D4D4D4"/>
                </a:solidFill>
                <a:latin typeface="Consolas"/>
              </a:rPr>
              <a:t>activo</a:t>
            </a:r>
            <a:r>
              <a:rPr sz="1900" i="0" b="0">
                <a:solidFill>
                  <a:srgbClr val="D4D4D4"/>
                </a:solidFill>
                <a:latin typeface="Consolas"/>
              </a:rPr>
              <a:t> </a:t>
            </a:r>
            <a:r>
              <a:rPr sz="1900" i="0" b="0">
                <a:solidFill>
                  <a:srgbClr val="569CD6"/>
                </a:solidFill>
                <a:latin typeface="Consolas"/>
              </a:rPr>
              <a:t>IN</a:t>
            </a:r>
            <a:r>
              <a:rPr sz="1900" i="0" b="0">
                <a:solidFill>
                  <a:srgbClr val="D4D4D4"/>
                </a:solidFill>
                <a:latin typeface="Consolas"/>
              </a:rPr>
              <a:t> (</a:t>
            </a:r>
            <a:r>
              <a:rPr sz="1900" i="0" b="0">
                <a:solidFill>
                  <a:srgbClr val="CE9178"/>
                </a:solidFill>
                <a:latin typeface="Consolas"/>
              </a:rPr>
              <a:t>'S'</a:t>
            </a:r>
            <a:r>
              <a:rPr sz="1900" i="0" b="0">
                <a:solidFill>
                  <a:srgbClr val="D4D4D4"/>
                </a:solidFill>
                <a:latin typeface="Consolas"/>
              </a:rPr>
              <a:t>,</a:t>
            </a:r>
            <a:r>
              <a:rPr sz="1900" i="0" b="0">
                <a:solidFill>
                  <a:srgbClr val="CE9178"/>
                </a:solidFill>
                <a:latin typeface="Consolas"/>
              </a:rPr>
              <a:t>'N'</a:t>
            </a:r>
            <a:r>
              <a:rPr sz="1900" i="0" b="0">
                <a:solidFill>
                  <a:srgbClr val="D4D4D4"/>
                </a:solidFill>
                <a:latin typeface="Consolas"/>
              </a:rPr>
              <a:t>))</a:t>
            </a:r>
          </a:p>
          <a:p>
            <a:pPr>
              <a:spcAft>
                <a:spcPts val="407"/>
              </a:spcAft>
            </a:pPr>
            <a:r>
              <a:rPr sz="1900" i="0" b="0">
                <a:solidFill>
                  <a:srgbClr val="D4D4D4"/>
                </a:solidFill>
                <a:latin typeface="Consolas"/>
              </a:rPr>
              <a:t>);</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JOIN de tres tablas</a:t>
            </a:r>
          </a:p>
        </p:txBody>
      </p:sp>
      <p:sp>
        <p:nvSpPr>
          <p:cNvPr id="5" name="Rounded Rectangle 4"/>
          <p:cNvSpPr/>
          <p:nvPr/>
        </p:nvSpPr>
        <p:spPr>
          <a:xfrm>
            <a:off x="457200" y="1261872"/>
            <a:ext cx="11277295" cy="42207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3626365"/>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a:p>
            <a:pPr algn="r">
              <a:spcAft>
                <a:spcPts val="428"/>
              </a:spcAft>
            </a:pPr>
            <a:r>
              <a:rPr sz="2000" i="0" b="0">
                <a:solidFill>
                  <a:srgbClr val="858585"/>
                </a:solidFill>
                <a:latin typeface="Consolas"/>
              </a:rPr>
              <a:t>10</a:t>
            </a:r>
          </a:p>
        </p:txBody>
      </p:sp>
      <p:sp>
        <p:nvSpPr>
          <p:cNvPr id="12" name="TextBox 11"/>
          <p:cNvSpPr txBox="1"/>
          <p:nvPr/>
        </p:nvSpPr>
        <p:spPr>
          <a:xfrm>
            <a:off x="1188720" y="1719072"/>
            <a:ext cx="10271455" cy="3626365"/>
          </a:xfrm>
          <a:prstGeom prst="rect">
            <a:avLst/>
          </a:prstGeom>
          <a:noFill/>
        </p:spPr>
        <p:txBody>
          <a:bodyPr wrap="square">
            <a:spAutoFit/>
          </a:bodyPr>
          <a:lstStyle/>
          <a:p>
            <a:pPr>
              <a:spcAft>
                <a:spcPts val="428"/>
              </a:spcAft>
            </a:pPr>
            <a:r>
              <a:rPr sz="2000" i="0" b="0">
                <a:solidFill>
                  <a:srgbClr val="569CD6"/>
                </a:solidFill>
                <a:latin typeface="Consolas"/>
              </a:rPr>
              <a:t>SELECT</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a:t>
            </a:r>
            <a:r>
              <a:rPr sz="2000" i="0" b="0">
                <a:solidFill>
                  <a:srgbClr val="D4D4D4"/>
                </a:solidFill>
                <a:latin typeface="Consolas"/>
              </a:rPr>
              <a:t>nombre</a:t>
            </a:r>
            <a:r>
              <a:rPr sz="2000" i="0" b="0">
                <a:solidFill>
                  <a:srgbClr val="D4D4D4"/>
                </a:solidFill>
                <a:latin typeface="Consolas"/>
              </a:rPr>
              <a:t>    </a:t>
            </a:r>
            <a:r>
              <a:rPr sz="2000" i="0" b="0">
                <a:solidFill>
                  <a:srgbClr val="569CD6"/>
                </a:solidFill>
                <a:latin typeface="Consolas"/>
              </a:rPr>
              <a:t>AS</a:t>
            </a: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D4D4D4"/>
                </a:solidFill>
                <a:latin typeface="Consolas"/>
              </a:rPr>
              <a:t>d</a:t>
            </a:r>
            <a:r>
              <a:rPr sz="2000" i="0" b="0">
                <a:solidFill>
                  <a:srgbClr val="D4D4D4"/>
                </a:solidFill>
                <a:latin typeface="Consolas"/>
              </a:rPr>
              <a:t>.</a:t>
            </a:r>
            <a:r>
              <a:rPr sz="2000" i="0" b="0">
                <a:solidFill>
                  <a:srgbClr val="D4D4D4"/>
                </a:solidFill>
                <a:latin typeface="Consolas"/>
              </a:rPr>
              <a:t>nombre</a:t>
            </a:r>
            <a:r>
              <a:rPr sz="2000" i="0" b="0">
                <a:solidFill>
                  <a:srgbClr val="D4D4D4"/>
                </a:solidFill>
                <a:latin typeface="Consolas"/>
              </a:rPr>
              <a:t>    </a:t>
            </a:r>
            <a:r>
              <a:rPr sz="2000" i="0" b="0">
                <a:solidFill>
                  <a:srgbClr val="569CD6"/>
                </a:solidFill>
                <a:latin typeface="Consolas"/>
              </a:rPr>
              <a:t>AS</a:t>
            </a:r>
            <a:r>
              <a:rPr sz="2000" i="0" b="0">
                <a:solidFill>
                  <a:srgbClr val="D4D4D4"/>
                </a:solidFill>
                <a:latin typeface="Consolas"/>
              </a:rPr>
              <a:t> </a:t>
            </a:r>
            <a:r>
              <a:rPr sz="2000" i="0" b="0">
                <a:solidFill>
                  <a:srgbClr val="D4D4D4"/>
                </a:solidFill>
                <a:latin typeface="Consolas"/>
              </a:rPr>
              <a:t>dueno</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D4D4D4"/>
                </a:solidFill>
                <a:latin typeface="Consolas"/>
              </a:rPr>
              <a:t>c</a:t>
            </a:r>
            <a:r>
              <a:rPr sz="2000" i="0" b="0">
                <a:solidFill>
                  <a:srgbClr val="D4D4D4"/>
                </a:solidFill>
                <a:latin typeface="Consolas"/>
              </a:rPr>
              <a:t>.</a:t>
            </a:r>
            <a:r>
              <a:rPr sz="2000" i="0" b="0">
                <a:solidFill>
                  <a:srgbClr val="D4D4D4"/>
                </a:solidFill>
                <a:latin typeface="Consolas"/>
              </a:rPr>
              <a:t>fecha_hora</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D4D4D4"/>
                </a:solidFill>
                <a:latin typeface="Consolas"/>
              </a:rPr>
              <a:t>c</a:t>
            </a:r>
            <a:r>
              <a:rPr sz="2000" i="0" b="0">
                <a:solidFill>
                  <a:srgbClr val="D4D4D4"/>
                </a:solidFill>
                <a:latin typeface="Consolas"/>
              </a:rPr>
              <a:t>.</a:t>
            </a:r>
            <a:r>
              <a:rPr sz="2000" i="0" b="0">
                <a:solidFill>
                  <a:srgbClr val="D4D4D4"/>
                </a:solidFill>
                <a:latin typeface="Consolas"/>
              </a:rPr>
              <a:t>estado</a:t>
            </a:r>
          </a:p>
          <a:p>
            <a:pPr>
              <a:spcAft>
                <a:spcPts val="428"/>
              </a:spcAft>
            </a:pPr>
            <a:r>
              <a:rPr sz="2000" i="0" b="0">
                <a:solidFill>
                  <a:srgbClr val="569CD6"/>
                </a:solidFill>
                <a:latin typeface="Consolas"/>
              </a:rPr>
              <a:t>FROM</a:t>
            </a:r>
            <a:r>
              <a:rPr sz="2000" i="0" b="0">
                <a:solidFill>
                  <a:srgbClr val="D4D4D4"/>
                </a:solidFill>
                <a:latin typeface="Consolas"/>
              </a:rPr>
              <a:t> </a:t>
            </a:r>
            <a:r>
              <a:rPr sz="2000" i="0" b="0">
                <a:solidFill>
                  <a:srgbClr val="D4D4D4"/>
                </a:solidFill>
                <a:latin typeface="Consolas"/>
              </a:rPr>
              <a:t>cita</a:t>
            </a:r>
            <a:r>
              <a:rPr sz="2000" i="0" b="0">
                <a:solidFill>
                  <a:srgbClr val="D4D4D4"/>
                </a:solidFill>
                <a:latin typeface="Consolas"/>
              </a:rPr>
              <a:t> </a:t>
            </a:r>
            <a:r>
              <a:rPr sz="2000" i="0" b="0">
                <a:solidFill>
                  <a:srgbClr val="D4D4D4"/>
                </a:solidFill>
                <a:latin typeface="Consolas"/>
              </a:rPr>
              <a:t>c</a:t>
            </a:r>
          </a:p>
          <a:p>
            <a:pPr>
              <a:spcAft>
                <a:spcPts val="428"/>
              </a:spcAft>
            </a:pPr>
            <a:r>
              <a:rPr sz="2000" i="0" b="0">
                <a:solidFill>
                  <a:srgbClr val="569CD6"/>
                </a:solidFill>
                <a:latin typeface="Consolas"/>
              </a:rPr>
              <a:t>JOIN</a:t>
            </a: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 </a:t>
            </a:r>
            <a:r>
              <a:rPr sz="2000" i="0" b="0">
                <a:solidFill>
                  <a:srgbClr val="569CD6"/>
                </a:solidFill>
                <a:latin typeface="Consolas"/>
              </a:rPr>
              <a:t>ON</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a:t>
            </a:r>
            <a:r>
              <a:rPr sz="2000" i="0" b="0">
                <a:solidFill>
                  <a:srgbClr val="D4D4D4"/>
                </a:solidFill>
                <a:latin typeface="Consolas"/>
              </a:rPr>
              <a:t>id_mascota</a:t>
            </a:r>
            <a:r>
              <a:rPr sz="2000" i="0" b="0">
                <a:solidFill>
                  <a:srgbClr val="D4D4D4"/>
                </a:solidFill>
                <a:latin typeface="Consolas"/>
              </a:rPr>
              <a:t> = </a:t>
            </a:r>
            <a:r>
              <a:rPr sz="2000" i="0" b="0">
                <a:solidFill>
                  <a:srgbClr val="D4D4D4"/>
                </a:solidFill>
                <a:latin typeface="Consolas"/>
              </a:rPr>
              <a:t>c</a:t>
            </a:r>
            <a:r>
              <a:rPr sz="2000" i="0" b="0">
                <a:solidFill>
                  <a:srgbClr val="D4D4D4"/>
                </a:solidFill>
                <a:latin typeface="Consolas"/>
              </a:rPr>
              <a:t>.</a:t>
            </a:r>
            <a:r>
              <a:rPr sz="2000" i="0" b="0">
                <a:solidFill>
                  <a:srgbClr val="D4D4D4"/>
                </a:solidFill>
                <a:latin typeface="Consolas"/>
              </a:rPr>
              <a:t>id_mascota</a:t>
            </a:r>
          </a:p>
          <a:p>
            <a:pPr>
              <a:spcAft>
                <a:spcPts val="428"/>
              </a:spcAft>
            </a:pPr>
            <a:r>
              <a:rPr sz="2000" i="0" b="0">
                <a:solidFill>
                  <a:srgbClr val="569CD6"/>
                </a:solidFill>
                <a:latin typeface="Consolas"/>
              </a:rPr>
              <a:t>JOIN</a:t>
            </a:r>
            <a:r>
              <a:rPr sz="2000" i="0" b="0">
                <a:solidFill>
                  <a:srgbClr val="D4D4D4"/>
                </a:solidFill>
                <a:latin typeface="Consolas"/>
              </a:rPr>
              <a:t> </a:t>
            </a:r>
            <a:r>
              <a:rPr sz="2000" i="0" b="0">
                <a:solidFill>
                  <a:srgbClr val="D4D4D4"/>
                </a:solidFill>
                <a:latin typeface="Consolas"/>
              </a:rPr>
              <a:t>dueno</a:t>
            </a:r>
            <a:r>
              <a:rPr sz="2000" i="0" b="0">
                <a:solidFill>
                  <a:srgbClr val="D4D4D4"/>
                </a:solidFill>
                <a:latin typeface="Consolas"/>
              </a:rPr>
              <a:t>   </a:t>
            </a:r>
            <a:r>
              <a:rPr sz="2000" i="0" b="0">
                <a:solidFill>
                  <a:srgbClr val="D4D4D4"/>
                </a:solidFill>
                <a:latin typeface="Consolas"/>
              </a:rPr>
              <a:t>d</a:t>
            </a:r>
            <a:r>
              <a:rPr sz="2000" i="0" b="0">
                <a:solidFill>
                  <a:srgbClr val="D4D4D4"/>
                </a:solidFill>
                <a:latin typeface="Consolas"/>
              </a:rPr>
              <a:t> </a:t>
            </a:r>
            <a:r>
              <a:rPr sz="2000" i="0" b="0">
                <a:solidFill>
                  <a:srgbClr val="569CD6"/>
                </a:solidFill>
                <a:latin typeface="Consolas"/>
              </a:rPr>
              <a:t>ON</a:t>
            </a:r>
            <a:r>
              <a:rPr sz="2000" i="0" b="0">
                <a:solidFill>
                  <a:srgbClr val="D4D4D4"/>
                </a:solidFill>
                <a:latin typeface="Consolas"/>
              </a:rPr>
              <a:t> </a:t>
            </a:r>
            <a:r>
              <a:rPr sz="2000" i="0" b="0">
                <a:solidFill>
                  <a:srgbClr val="D4D4D4"/>
                </a:solidFill>
                <a:latin typeface="Consolas"/>
              </a:rPr>
              <a:t>d</a:t>
            </a:r>
            <a:r>
              <a:rPr sz="2000" i="0" b="0">
                <a:solidFill>
                  <a:srgbClr val="D4D4D4"/>
                </a:solidFill>
                <a:latin typeface="Consolas"/>
              </a:rPr>
              <a:t>.</a:t>
            </a:r>
            <a:r>
              <a:rPr sz="2000" i="0" b="0">
                <a:solidFill>
                  <a:srgbClr val="D4D4D4"/>
                </a:solidFill>
                <a:latin typeface="Consolas"/>
              </a:rPr>
              <a:t>id_dueno</a:t>
            </a:r>
            <a:r>
              <a:rPr sz="2000" i="0" b="0">
                <a:solidFill>
                  <a:srgbClr val="D4D4D4"/>
                </a:solidFill>
                <a:latin typeface="Consolas"/>
              </a:rPr>
              <a:t>   = </a:t>
            </a:r>
            <a:r>
              <a:rPr sz="2000" i="0" b="0">
                <a:solidFill>
                  <a:srgbClr val="D4D4D4"/>
                </a:solidFill>
                <a:latin typeface="Consolas"/>
              </a:rPr>
              <a:t>m</a:t>
            </a:r>
            <a:r>
              <a:rPr sz="2000" i="0" b="0">
                <a:solidFill>
                  <a:srgbClr val="D4D4D4"/>
                </a:solidFill>
                <a:latin typeface="Consolas"/>
              </a:rPr>
              <a:t>.</a:t>
            </a:r>
            <a:r>
              <a:rPr sz="2000" i="0" b="0">
                <a:solidFill>
                  <a:srgbClr val="D4D4D4"/>
                </a:solidFill>
                <a:latin typeface="Consolas"/>
              </a:rPr>
              <a:t>id_dueno</a:t>
            </a:r>
          </a:p>
          <a:p>
            <a:pPr>
              <a:spcAft>
                <a:spcPts val="428"/>
              </a:spcAft>
            </a:pPr>
            <a:r>
              <a:rPr sz="2000" i="0" b="0">
                <a:solidFill>
                  <a:srgbClr val="569CD6"/>
                </a:solidFill>
                <a:latin typeface="Consolas"/>
              </a:rPr>
              <a:t>WHERE</a:t>
            </a:r>
            <a:r>
              <a:rPr sz="2000" i="0" b="0">
                <a:solidFill>
                  <a:srgbClr val="D4D4D4"/>
                </a:solidFill>
                <a:latin typeface="Consolas"/>
              </a:rPr>
              <a:t> </a:t>
            </a:r>
            <a:r>
              <a:rPr sz="2000" i="0" b="0">
                <a:solidFill>
                  <a:srgbClr val="D4D4D4"/>
                </a:solidFill>
                <a:latin typeface="Consolas"/>
              </a:rPr>
              <a:t>c</a:t>
            </a:r>
            <a:r>
              <a:rPr sz="2000" i="0" b="0">
                <a:solidFill>
                  <a:srgbClr val="D4D4D4"/>
                </a:solidFill>
                <a:latin typeface="Consolas"/>
              </a:rPr>
              <a:t>.</a:t>
            </a:r>
            <a:r>
              <a:rPr sz="2000" i="0" b="0">
                <a:solidFill>
                  <a:srgbClr val="D4D4D4"/>
                </a:solidFill>
                <a:latin typeface="Consolas"/>
              </a:rPr>
              <a:t>fecha_hora</a:t>
            </a:r>
            <a:r>
              <a:rPr sz="2000" i="0" b="0">
                <a:solidFill>
                  <a:srgbClr val="D4D4D4"/>
                </a:solidFill>
                <a:latin typeface="Consolas"/>
              </a:rPr>
              <a:t> &gt;= </a:t>
            </a:r>
            <a:r>
              <a:rPr sz="2000" i="0" b="0">
                <a:solidFill>
                  <a:srgbClr val="4EC9B0"/>
                </a:solidFill>
                <a:latin typeface="Consolas"/>
              </a:rPr>
              <a:t>DATE</a:t>
            </a:r>
            <a:r>
              <a:rPr sz="2000" i="0" b="0">
                <a:solidFill>
                  <a:srgbClr val="D4D4D4"/>
                </a:solidFill>
                <a:latin typeface="Consolas"/>
              </a:rPr>
              <a:t> </a:t>
            </a:r>
            <a:r>
              <a:rPr sz="2000" i="0" b="0">
                <a:solidFill>
                  <a:srgbClr val="CE9178"/>
                </a:solidFill>
                <a:latin typeface="Consolas"/>
              </a:rPr>
              <a:t>'2026-09-01'</a:t>
            </a:r>
          </a:p>
          <a:p>
            <a:pPr>
              <a:spcAft>
                <a:spcPts val="428"/>
              </a:spcAft>
            </a:pPr>
            <a:r>
              <a:rPr sz="2000" i="0" b="0">
                <a:solidFill>
                  <a:srgbClr val="D4D4D4"/>
                </a:solidFill>
                <a:latin typeface="Consolas"/>
              </a:rPr>
              <a:t>  </a:t>
            </a:r>
            <a:r>
              <a:rPr sz="2000" i="0" b="0">
                <a:solidFill>
                  <a:srgbClr val="569CD6"/>
                </a:solidFill>
                <a:latin typeface="Consolas"/>
              </a:rPr>
              <a:t>AND</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a:t>
            </a:r>
            <a:r>
              <a:rPr sz="2000" i="0" b="0">
                <a:solidFill>
                  <a:srgbClr val="D4D4D4"/>
                </a:solidFill>
                <a:latin typeface="Consolas"/>
              </a:rPr>
              <a:t>activa</a:t>
            </a:r>
            <a:r>
              <a:rPr sz="2000" i="0" b="0">
                <a:solidFill>
                  <a:srgbClr val="D4D4D4"/>
                </a:solidFill>
                <a:latin typeface="Consolas"/>
              </a:rPr>
              <a:t> = </a:t>
            </a:r>
            <a:r>
              <a:rPr sz="2000" i="0" b="0">
                <a:solidFill>
                  <a:srgbClr val="CE9178"/>
                </a:solidFill>
                <a:latin typeface="Consolas"/>
              </a:rPr>
              <a:t>'S'</a:t>
            </a:r>
          </a:p>
          <a:p>
            <a:pPr>
              <a:spcAft>
                <a:spcPts val="428"/>
              </a:spcAft>
            </a:pPr>
            <a:r>
              <a:rPr sz="2000" i="0" b="0">
                <a:solidFill>
                  <a:srgbClr val="569CD6"/>
                </a:solidFill>
                <a:latin typeface="Consolas"/>
              </a:rPr>
              <a:t>ORDER</a:t>
            </a:r>
            <a:r>
              <a:rPr sz="2000" i="0" b="0">
                <a:solidFill>
                  <a:srgbClr val="D4D4D4"/>
                </a:solidFill>
                <a:latin typeface="Consolas"/>
              </a:rPr>
              <a:t> </a:t>
            </a:r>
            <a:r>
              <a:rPr sz="2000" i="0" b="0">
                <a:solidFill>
                  <a:srgbClr val="569CD6"/>
                </a:solidFill>
                <a:latin typeface="Consolas"/>
              </a:rPr>
              <a:t>BY</a:t>
            </a:r>
            <a:r>
              <a:rPr sz="2000" i="0" b="0">
                <a:solidFill>
                  <a:srgbClr val="D4D4D4"/>
                </a:solidFill>
                <a:latin typeface="Consolas"/>
              </a:rPr>
              <a:t> </a:t>
            </a:r>
            <a:r>
              <a:rPr sz="2000" i="0" b="0">
                <a:solidFill>
                  <a:srgbClr val="D4D4D4"/>
                </a:solidFill>
                <a:latin typeface="Consolas"/>
              </a:rPr>
              <a:t>c</a:t>
            </a:r>
            <a:r>
              <a:rPr sz="2000" i="0" b="0">
                <a:solidFill>
                  <a:srgbClr val="D4D4D4"/>
                </a:solidFill>
                <a:latin typeface="Consolas"/>
              </a:rPr>
              <a:t>.</a:t>
            </a:r>
            <a:r>
              <a:rPr sz="2000" i="0" b="0">
                <a:solidFill>
                  <a:srgbClr val="D4D4D4"/>
                </a:solidFill>
                <a:latin typeface="Consolas"/>
              </a:rPr>
              <a:t>fecha_hora</a:t>
            </a: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Cada JOIN sigue una FK: cita llega a mascota por id_mascota, y mascota a dueno por id_dueno. El WHERE filtra despues de unir. En PostgreSQL un JOIN sin ON es un error de sintaxis; el producto cartesiano sale con la coma (o CROSS JOIN) sin la condicion.</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Clave primaria: natural o sustituta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k-natural-sustitut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k-natural-sustitut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k-natural-sustitut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a:t>
            </a:r>
            <a:r>
              <a:rPr sz="2000" b="1" i="0">
                <a:solidFill>
                  <a:srgbClr val="333333"/>
                </a:solidFill>
                <a:latin typeface="Calibri"/>
              </a:rPr>
              <a:t>clave primaria</a:t>
            </a:r>
            <a:r>
              <a:rPr sz="2000" b="0" i="0">
                <a:solidFill>
                  <a:srgbClr val="333333"/>
                </a:solidFill>
                <a:latin typeface="Calibri"/>
              </a:rPr>
              <a:t> identifica cada fila: no se repite, no admite nulos y el motor lo verifica.</a:t>
            </a:r>
          </a:p>
          <a:p>
            <a:pPr>
              <a:spcAft>
                <a:spcPts val="800"/>
              </a:spcAft>
            </a:pPr>
            <a:r>
              <a:rPr sz="2000" b="0" i="0">
                <a:solidFill>
                  <a:srgbClr val="333333"/>
                </a:solidFill>
                <a:latin typeface="Calibri"/>
              </a:rPr>
              <a:t>–   Una clave </a:t>
            </a:r>
            <a:r>
              <a:rPr sz="2000" b="1" i="0">
                <a:solidFill>
                  <a:srgbClr val="333333"/>
                </a:solidFill>
                <a:latin typeface="Calibri"/>
              </a:rPr>
              <a:t>natural</a:t>
            </a:r>
            <a:r>
              <a:rPr sz="2000" b="0" i="0">
                <a:solidFill>
                  <a:srgbClr val="333333"/>
                </a:solidFill>
                <a:latin typeface="Calibri"/>
              </a:rPr>
              <a:t> viene del mundo real, como la cédula o el microchip, y la controla un tercero.</a:t>
            </a:r>
          </a:p>
          <a:p>
            <a:pPr>
              <a:spcAft>
                <a:spcPts val="800"/>
              </a:spcAft>
            </a:pPr>
            <a:r>
              <a:rPr sz="2000" b="0" i="0">
                <a:solidFill>
                  <a:srgbClr val="333333"/>
                </a:solidFill>
                <a:latin typeface="Calibri"/>
              </a:rPr>
              <a:t>–   Una clave </a:t>
            </a:r>
            <a:r>
              <a:rPr sz="2000" b="1" i="0">
                <a:solidFill>
                  <a:srgbClr val="333333"/>
                </a:solidFill>
                <a:latin typeface="Calibri"/>
              </a:rPr>
              <a:t>sustituta</a:t>
            </a:r>
            <a:r>
              <a:rPr sz="2000" b="0" i="0">
                <a:solidFill>
                  <a:srgbClr val="333333"/>
                </a:solidFill>
                <a:latin typeface="Calibri"/>
              </a:rPr>
              <a:t> la genera la base (1, 2, 3) y nunca hay que corregirla.</a:t>
            </a:r>
          </a:p>
          <a:p>
            <a:pPr>
              <a:spcAft>
                <a:spcPts val="800"/>
              </a:spcAft>
            </a:pPr>
            <a:r>
              <a:rPr sz="2000" b="0" i="0">
                <a:solidFill>
                  <a:srgbClr val="333333"/>
                </a:solidFill>
                <a:latin typeface="Calibri"/>
              </a:rPr>
              <a:t>–   Si el valor lo controla un tercero, se guarda con </a:t>
            </a:r>
            <a:r>
              <a:rPr sz="2000" b="1" i="0">
                <a:solidFill>
                  <a:srgbClr val="333333"/>
                </a:solidFill>
                <a:latin typeface="Calibri"/>
              </a:rPr>
              <a:t>UNIQUE</a:t>
            </a:r>
            <a:r>
              <a:rPr sz="2000" b="0" i="0">
                <a:solidFill>
                  <a:srgbClr val="333333"/>
                </a:solidFill>
                <a:latin typeface="Calibri"/>
              </a:rPr>
              <a:t>, no como clave primaria.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Normalizacion 1FN-3FN: primero la enfermedad</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nomali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nomali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nomalia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anomalias-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anomalias-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Si el teléfono del dueño se copia en cada cita, aparecen tres </a:t>
            </a:r>
            <a:r>
              <a:rPr sz="2000" b="1" i="0">
                <a:solidFill>
                  <a:srgbClr val="333333"/>
                </a:solidFill>
                <a:latin typeface="Calibri"/>
              </a:rPr>
              <a:t>anomalías</a:t>
            </a:r>
            <a:r>
              <a:rPr sz="2000" b="0" i="0">
                <a:solidFill>
                  <a:srgbClr val="333333"/>
                </a:solidFill>
                <a:latin typeface="Calibri"/>
              </a:rPr>
              <a:t>.</a:t>
            </a:r>
          </a:p>
          <a:p>
            <a:pPr>
              <a:spcAft>
                <a:spcPts val="800"/>
              </a:spcAft>
            </a:pPr>
            <a:r>
              <a:rPr sz="2000" b="0" i="0">
                <a:solidFill>
                  <a:srgbClr val="333333"/>
                </a:solidFill>
                <a:latin typeface="Calibri"/>
              </a:rPr>
              <a:t>–   Al </a:t>
            </a:r>
            <a:r>
              <a:rPr sz="2000" b="1" i="0">
                <a:solidFill>
                  <a:srgbClr val="333333"/>
                </a:solidFill>
                <a:latin typeface="Calibri"/>
              </a:rPr>
              <a:t>actualizar</a:t>
            </a:r>
            <a:r>
              <a:rPr sz="2000" b="0" i="0">
                <a:solidFill>
                  <a:srgbClr val="333333"/>
                </a:solidFill>
                <a:latin typeface="Calibri"/>
              </a:rPr>
              <a:t> quedan dos verdades; no se puede </a:t>
            </a:r>
            <a:r>
              <a:rPr sz="2000" b="1" i="0">
                <a:solidFill>
                  <a:srgbClr val="333333"/>
                </a:solidFill>
                <a:latin typeface="Calibri"/>
              </a:rPr>
              <a:t>insertar</a:t>
            </a:r>
            <a:r>
              <a:rPr sz="2000" b="0" i="0">
                <a:solidFill>
                  <a:srgbClr val="333333"/>
                </a:solidFill>
                <a:latin typeface="Calibri"/>
              </a:rPr>
              <a:t> un dueño sin cita; al </a:t>
            </a:r>
            <a:r>
              <a:rPr sz="2000" b="1" i="0">
                <a:solidFill>
                  <a:srgbClr val="333333"/>
                </a:solidFill>
                <a:latin typeface="Calibri"/>
              </a:rPr>
              <a:t>borrar</a:t>
            </a:r>
            <a:r>
              <a:rPr sz="2000" b="0" i="0">
                <a:solidFill>
                  <a:srgbClr val="333333"/>
                </a:solidFill>
                <a:latin typeface="Calibri"/>
              </a:rPr>
              <a:t> la cita se pierde el teléfono.</a:t>
            </a:r>
          </a:p>
          <a:p>
            <a:pPr>
              <a:spcAft>
                <a:spcPts val="800"/>
              </a:spcAft>
            </a:pPr>
            <a:r>
              <a:rPr sz="2000" b="0" i="0">
                <a:solidFill>
                  <a:srgbClr val="333333"/>
                </a:solidFill>
                <a:latin typeface="Calibri"/>
              </a:rPr>
              <a:t>–   Las formas normales son la </a:t>
            </a:r>
            <a:r>
              <a:rPr sz="2000" b="1" i="0">
                <a:solidFill>
                  <a:srgbClr val="333333"/>
                </a:solidFill>
                <a:latin typeface="Calibri"/>
              </a:rPr>
              <a:t>cura</a:t>
            </a:r>
            <a:r>
              <a:rPr sz="2000" b="0" i="0">
                <a:solidFill>
                  <a:srgbClr val="333333"/>
                </a:solidFill>
                <a:latin typeface="Calibri"/>
              </a:rPr>
              <a:t>: cada dato vive una sola vez, en la tabla de la que depende.</a:t>
            </a:r>
          </a:p>
          <a:p>
            <a:pPr>
              <a:spcAft>
                <a:spcPts val="800"/>
              </a:spcAft>
            </a:pPr>
            <a:r>
              <a:rPr sz="2000" b="0" i="0">
                <a:solidFill>
                  <a:srgbClr val="333333"/>
                </a:solidFill>
                <a:latin typeface="Calibri"/>
              </a:rPr>
              <a:t>–   La </a:t>
            </a:r>
            <a:r>
              <a:rPr sz="2000" b="1" i="0">
                <a:solidFill>
                  <a:srgbClr val="333333"/>
                </a:solidFill>
                <a:latin typeface="Calibri"/>
              </a:rPr>
              <a:t>3FN</a:t>
            </a:r>
            <a:r>
              <a:rPr sz="2000" b="0" i="0">
                <a:solidFill>
                  <a:srgbClr val="333333"/>
                </a:solidFill>
                <a:latin typeface="Calibri"/>
              </a:rPr>
              <a:t> es el punto de parada práctico; romperla exige una razón medible.</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Clave foranea, borrado y por que la FK no basta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k-restrictiv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fk-restrictiv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fk-restrictiv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a:t>
            </a:r>
            <a:r>
              <a:rPr sz="2000" b="1" i="0">
                <a:solidFill>
                  <a:srgbClr val="333333"/>
                </a:solidFill>
                <a:latin typeface="Calibri"/>
              </a:rPr>
              <a:t>clave foránea</a:t>
            </a:r>
            <a:r>
              <a:rPr sz="2000" b="0" i="0">
                <a:solidFill>
                  <a:srgbClr val="333333"/>
                </a:solidFill>
                <a:latin typeface="Calibri"/>
              </a:rPr>
              <a:t> obliga a que cada referencia apunte a una fila que existe: la mascota 999 se rechaza.</a:t>
            </a:r>
          </a:p>
          <a:p>
            <a:pPr>
              <a:spcAft>
                <a:spcPts val="800"/>
              </a:spcAft>
            </a:pPr>
            <a:r>
              <a:rPr sz="2000" b="0" i="0">
                <a:solidFill>
                  <a:srgbClr val="333333"/>
                </a:solidFill>
                <a:latin typeface="Calibri"/>
              </a:rPr>
              <a:t>–   Al borrar el padre, el comportamiento </a:t>
            </a:r>
            <a:r>
              <a:rPr sz="2000" b="1" i="0">
                <a:solidFill>
                  <a:srgbClr val="333333"/>
                </a:solidFill>
                <a:latin typeface="Calibri"/>
              </a:rPr>
              <a:t>se elige</a:t>
            </a:r>
            <a:r>
              <a:rPr sz="2000" b="0" i="0">
                <a:solidFill>
                  <a:srgbClr val="333333"/>
                </a:solidFill>
                <a:latin typeface="Calibri"/>
              </a:rPr>
              <a:t>: RESTRICT o NO ACTION, CASCADE o SET NULL.</a:t>
            </a:r>
          </a:p>
          <a:p>
            <a:pPr>
              <a:spcAft>
                <a:spcPts val="800"/>
              </a:spcAft>
            </a:pPr>
            <a:r>
              <a:rPr sz="2000" b="0" i="0">
                <a:solidFill>
                  <a:srgbClr val="333333"/>
                </a:solidFill>
                <a:latin typeface="Calibri"/>
              </a:rPr>
              <a:t>–   Si no se declara nada, el estándar es </a:t>
            </a:r>
            <a:r>
              <a:rPr sz="2000" b="1" i="0">
                <a:solidFill>
                  <a:srgbClr val="333333"/>
                </a:solidFill>
                <a:latin typeface="Calibri"/>
              </a:rPr>
              <a:t>restrictivo</a:t>
            </a:r>
            <a:r>
              <a:rPr sz="2000" b="0" i="0">
                <a:solidFill>
                  <a:srgbClr val="333333"/>
                </a:solidFill>
                <a:latin typeface="Calibri"/>
              </a:rPr>
              <a:t>: no se borra un padre con hijos.</a:t>
            </a:r>
          </a:p>
          <a:p>
            <a:pPr>
              <a:spcAft>
                <a:spcPts val="800"/>
              </a:spcAft>
            </a:pPr>
            <a:r>
              <a:rPr sz="2000" b="0" i="0">
                <a:solidFill>
                  <a:srgbClr val="333333"/>
                </a:solidFill>
                <a:latin typeface="Calibri"/>
              </a:rPr>
              <a:t>–   En la clínica casi nada se borra: </a:t>
            </a:r>
            <a:r>
              <a:rPr sz="2000" b="1" i="0">
                <a:solidFill>
                  <a:srgbClr val="333333"/>
                </a:solidFill>
                <a:latin typeface="Calibri"/>
              </a:rPr>
              <a:t>CASCADE</a:t>
            </a:r>
            <a:r>
              <a:rPr sz="2000" b="0" i="0">
                <a:solidFill>
                  <a:srgbClr val="333333"/>
                </a:solidFill>
                <a:latin typeface="Calibri"/>
              </a:rPr>
              <a:t> solo para las líneas de una factura.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clave foranea y que pasa al borrar el padre</a:t>
            </a:r>
          </a:p>
        </p:txBody>
      </p:sp>
      <p:sp>
        <p:nvSpPr>
          <p:cNvPr id="5" name="Rounded Rectangle 4"/>
          <p:cNvSpPr/>
          <p:nvPr/>
        </p:nvSpPr>
        <p:spPr>
          <a:xfrm>
            <a:off x="457200" y="1261872"/>
            <a:ext cx="11277295" cy="5063663"/>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4469303"/>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a:p>
            <a:pPr algn="r">
              <a:spcAft>
                <a:spcPts val="407"/>
              </a:spcAft>
            </a:pPr>
            <a:r>
              <a:rPr sz="1900" i="0" b="0">
                <a:solidFill>
                  <a:srgbClr val="858585"/>
                </a:solidFill>
                <a:latin typeface="Consolas"/>
              </a:rPr>
              <a:t>11</a:t>
            </a:r>
          </a:p>
          <a:p>
            <a:pPr algn="r">
              <a:spcAft>
                <a:spcPts val="407"/>
              </a:spcAft>
            </a:pPr>
            <a:r>
              <a:rPr sz="1900" i="0" b="0">
                <a:solidFill>
                  <a:srgbClr val="858585"/>
                </a:solidFill>
                <a:latin typeface="Consolas"/>
              </a:rPr>
              <a:t>12</a:t>
            </a:r>
          </a:p>
          <a:p>
            <a:pPr algn="r">
              <a:spcAft>
                <a:spcPts val="407"/>
              </a:spcAft>
            </a:pPr>
            <a:r>
              <a:rPr sz="1900" i="0" b="0">
                <a:solidFill>
                  <a:srgbClr val="858585"/>
                </a:solidFill>
                <a:latin typeface="Consolas"/>
              </a:rPr>
              <a:t>13</a:t>
            </a:r>
          </a:p>
        </p:txBody>
      </p:sp>
      <p:sp>
        <p:nvSpPr>
          <p:cNvPr id="12" name="TextBox 11"/>
          <p:cNvSpPr txBox="1"/>
          <p:nvPr/>
        </p:nvSpPr>
        <p:spPr>
          <a:xfrm>
            <a:off x="1188720" y="1719072"/>
            <a:ext cx="10271455" cy="4469303"/>
          </a:xfrm>
          <a:prstGeom prst="rect">
            <a:avLst/>
          </a:prstGeom>
          <a:noFill/>
        </p:spPr>
        <p:txBody>
          <a:bodyPr wrap="square">
            <a:spAutoFit/>
          </a:bodyPr>
          <a:lstStyle/>
          <a:p>
            <a:pPr>
              <a:spcAft>
                <a:spcPts val="407"/>
              </a:spcAft>
            </a:pPr>
            <a:r>
              <a:rPr sz="1900" i="0" b="0">
                <a:solidFill>
                  <a:srgbClr val="569CD6"/>
                </a:solidFill>
                <a:latin typeface="Consolas"/>
              </a:rPr>
              <a:t>CREATE</a:t>
            </a:r>
            <a:r>
              <a:rPr sz="1900" i="0" b="0">
                <a:solidFill>
                  <a:srgbClr val="D4D4D4"/>
                </a:solidFill>
                <a:latin typeface="Consolas"/>
              </a:rPr>
              <a:t> </a:t>
            </a:r>
            <a:r>
              <a:rPr sz="1900" i="0" b="0">
                <a:solidFill>
                  <a:srgbClr val="569CD6"/>
                </a:solidFill>
                <a:latin typeface="Consolas"/>
              </a:rPr>
              <a:t>TABLE</a:t>
            </a:r>
            <a:r>
              <a:rPr sz="1900" i="0" b="0">
                <a:solidFill>
                  <a:srgbClr val="D4D4D4"/>
                </a:solidFill>
                <a:latin typeface="Consolas"/>
              </a:rPr>
              <a:t> </a:t>
            </a:r>
            <a:r>
              <a:rPr sz="1900" i="0" b="0">
                <a:solidFill>
                  <a:srgbClr val="DCDCAA"/>
                </a:solidFill>
                <a:latin typeface="Consolas"/>
              </a:rPr>
              <a:t>insumo</a:t>
            </a:r>
            <a:r>
              <a:rPr sz="1900" i="0" b="0">
                <a:solidFill>
                  <a:srgbClr val="D4D4D4"/>
                </a:solidFill>
                <a:latin typeface="Consolas"/>
              </a:rPr>
              <a:t> (</a:t>
            </a:r>
          </a:p>
          <a:p>
            <a:pPr>
              <a:spcAft>
                <a:spcPts val="407"/>
              </a:spcAft>
            </a:pPr>
            <a:r>
              <a:rPr sz="1900" i="0" b="0">
                <a:solidFill>
                  <a:srgbClr val="D4D4D4"/>
                </a:solidFill>
                <a:latin typeface="Consolas"/>
              </a:rPr>
              <a:t>  </a:t>
            </a:r>
            <a:r>
              <a:rPr sz="1900" i="0" b="0">
                <a:solidFill>
                  <a:srgbClr val="D4D4D4"/>
                </a:solidFill>
                <a:latin typeface="Consolas"/>
              </a:rPr>
              <a:t>id_insumo</a:t>
            </a:r>
            <a:r>
              <a:rPr sz="1900" i="0" b="0">
                <a:solidFill>
                  <a:srgbClr val="D4D4D4"/>
                </a:solidFill>
                <a:latin typeface="Consolas"/>
              </a:rPr>
              <a:t>  </a:t>
            </a:r>
            <a:r>
              <a:rPr sz="1900" i="0" b="0">
                <a:solidFill>
                  <a:srgbClr val="4EC9B0"/>
                </a:solidFill>
                <a:latin typeface="Consolas"/>
              </a:rPr>
              <a:t>SERIAL</a:t>
            </a:r>
            <a:r>
              <a:rPr sz="1900" i="0" b="0">
                <a:solidFill>
                  <a:srgbClr val="D4D4D4"/>
                </a:solidFill>
                <a:latin typeface="Consolas"/>
              </a:rPr>
              <a:t> </a:t>
            </a:r>
            <a:r>
              <a:rPr sz="1900" i="0" b="0">
                <a:solidFill>
                  <a:srgbClr val="569CD6"/>
                </a:solidFill>
                <a:latin typeface="Consolas"/>
              </a:rPr>
              <a:t>PRIMARY</a:t>
            </a:r>
            <a:r>
              <a:rPr sz="1900" i="0" b="0">
                <a:solidFill>
                  <a:srgbClr val="D4D4D4"/>
                </a:solidFill>
                <a:latin typeface="Consolas"/>
              </a:rPr>
              <a:t> </a:t>
            </a:r>
            <a:r>
              <a:rPr sz="1900" i="0" b="0">
                <a:solidFill>
                  <a:srgbClr val="569CD6"/>
                </a:solidFill>
                <a:latin typeface="Consolas"/>
              </a:rPr>
              <a:t>KEY</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nombre</a:t>
            </a:r>
            <a:r>
              <a:rPr sz="1900" i="0" b="0">
                <a:solidFill>
                  <a:srgbClr val="D4D4D4"/>
                </a:solidFill>
                <a:latin typeface="Consolas"/>
              </a:rPr>
              <a:t>     </a:t>
            </a:r>
            <a:r>
              <a:rPr sz="1900" i="0" b="0">
                <a:solidFill>
                  <a:srgbClr val="4EC9B0"/>
                </a:solidFill>
                <a:latin typeface="Consolas"/>
              </a:rPr>
              <a:t>VARCHAR</a:t>
            </a:r>
            <a:r>
              <a:rPr sz="1900" i="0" b="0">
                <a:solidFill>
                  <a:srgbClr val="D4D4D4"/>
                </a:solidFill>
                <a:latin typeface="Consolas"/>
              </a:rPr>
              <a:t>(</a:t>
            </a:r>
            <a:r>
              <a:rPr sz="1900" i="0" b="0">
                <a:solidFill>
                  <a:srgbClr val="B5CEA8"/>
                </a:solidFill>
                <a:latin typeface="Consolas"/>
              </a:rPr>
              <a:t>80</a:t>
            </a:r>
            <a:r>
              <a:rPr sz="1900" i="0" b="0">
                <a:solidFill>
                  <a:srgbClr val="D4D4D4"/>
                </a:solidFill>
                <a:latin typeface="Consolas"/>
              </a:rPr>
              <a:t>) </a:t>
            </a:r>
            <a:r>
              <a:rPr sz="1900" i="0" b="0">
                <a:solidFill>
                  <a:srgbClr val="569CD6"/>
                </a:solidFill>
                <a:latin typeface="Consolas"/>
              </a:rPr>
              <a:t>NOT</a:t>
            </a:r>
            <a:r>
              <a:rPr sz="1900" i="0" b="0">
                <a:solidFill>
                  <a:srgbClr val="D4D4D4"/>
                </a:solidFill>
                <a:latin typeface="Consolas"/>
              </a:rPr>
              <a:t> </a:t>
            </a:r>
            <a:r>
              <a:rPr sz="1900" i="0" b="0">
                <a:solidFill>
                  <a:srgbClr val="569CD6"/>
                </a:solidFill>
                <a:latin typeface="Consolas"/>
              </a:rPr>
              <a:t>NULL</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stock</a:t>
            </a:r>
            <a:r>
              <a:rPr sz="1900" i="0" b="0">
                <a:solidFill>
                  <a:srgbClr val="D4D4D4"/>
                </a:solidFill>
                <a:latin typeface="Consolas"/>
              </a:rPr>
              <a:t>      </a:t>
            </a:r>
            <a:r>
              <a:rPr sz="1900" i="0" b="0">
                <a:solidFill>
                  <a:srgbClr val="4EC9B0"/>
                </a:solidFill>
                <a:latin typeface="Consolas"/>
              </a:rPr>
              <a:t>INT</a:t>
            </a:r>
            <a:r>
              <a:rPr sz="1900" i="0" b="0">
                <a:solidFill>
                  <a:srgbClr val="D4D4D4"/>
                </a:solidFill>
                <a:latin typeface="Consolas"/>
              </a:rPr>
              <a:t> </a:t>
            </a:r>
            <a:r>
              <a:rPr sz="1900" i="0" b="0">
                <a:solidFill>
                  <a:srgbClr val="569CD6"/>
                </a:solidFill>
                <a:latin typeface="Consolas"/>
              </a:rPr>
              <a:t>NOT</a:t>
            </a:r>
            <a:r>
              <a:rPr sz="1900" i="0" b="0">
                <a:solidFill>
                  <a:srgbClr val="D4D4D4"/>
                </a:solidFill>
                <a:latin typeface="Consolas"/>
              </a:rPr>
              <a:t> </a:t>
            </a:r>
            <a:r>
              <a:rPr sz="1900" i="0" b="0">
                <a:solidFill>
                  <a:srgbClr val="569CD6"/>
                </a:solidFill>
                <a:latin typeface="Consolas"/>
              </a:rPr>
              <a:t>NULL</a:t>
            </a:r>
            <a:r>
              <a:rPr sz="1900" i="0" b="0">
                <a:solidFill>
                  <a:srgbClr val="D4D4D4"/>
                </a:solidFill>
                <a:latin typeface="Consolas"/>
              </a:rPr>
              <a:t> </a:t>
            </a:r>
            <a:r>
              <a:rPr sz="1900" i="0" b="0">
                <a:solidFill>
                  <a:srgbClr val="569CD6"/>
                </a:solidFill>
                <a:latin typeface="Consolas"/>
              </a:rPr>
              <a:t>DEFAULT</a:t>
            </a:r>
            <a:r>
              <a:rPr sz="1900" i="0" b="0">
                <a:solidFill>
                  <a:srgbClr val="D4D4D4"/>
                </a:solidFill>
                <a:latin typeface="Consolas"/>
              </a:rPr>
              <a:t> </a:t>
            </a:r>
            <a:r>
              <a:rPr sz="1900" i="0" b="0">
                <a:solidFill>
                  <a:srgbClr val="B5CEA8"/>
                </a:solidFill>
                <a:latin typeface="Consolas"/>
              </a:rPr>
              <a:t>0</a:t>
            </a:r>
            <a:r>
              <a:rPr sz="1900" i="0" b="0">
                <a:solidFill>
                  <a:srgbClr val="D4D4D4"/>
                </a:solidFill>
                <a:latin typeface="Consolas"/>
              </a:rPr>
              <a:t> </a:t>
            </a:r>
            <a:r>
              <a:rPr sz="1900" i="0" b="0">
                <a:solidFill>
                  <a:srgbClr val="569CD6"/>
                </a:solidFill>
                <a:latin typeface="Consolas"/>
              </a:rPr>
              <a:t>CHECK</a:t>
            </a:r>
            <a:r>
              <a:rPr sz="1900" i="0" b="0">
                <a:solidFill>
                  <a:srgbClr val="D4D4D4"/>
                </a:solidFill>
                <a:latin typeface="Consolas"/>
              </a:rPr>
              <a:t> (</a:t>
            </a:r>
            <a:r>
              <a:rPr sz="1900" i="0" b="0">
                <a:solidFill>
                  <a:srgbClr val="D4D4D4"/>
                </a:solidFill>
                <a:latin typeface="Consolas"/>
              </a:rPr>
              <a:t>stock</a:t>
            </a:r>
            <a:r>
              <a:rPr sz="1900" i="0" b="0">
                <a:solidFill>
                  <a:srgbClr val="D4D4D4"/>
                </a:solidFill>
                <a:latin typeface="Consolas"/>
              </a:rPr>
              <a:t> &gt;= </a:t>
            </a:r>
            <a:r>
              <a:rPr sz="1900" i="0" b="0">
                <a:solidFill>
                  <a:srgbClr val="B5CEA8"/>
                </a:solidFill>
                <a:latin typeface="Consolas"/>
              </a:rPr>
              <a:t>0</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D4D4D4"/>
                </a:solidFill>
                <a:latin typeface="Consolas"/>
              </a:rPr>
              <a:t>precio_unit</a:t>
            </a:r>
            <a:r>
              <a:rPr sz="1900" i="0" b="0">
                <a:solidFill>
                  <a:srgbClr val="D4D4D4"/>
                </a:solidFill>
                <a:latin typeface="Consolas"/>
              </a:rPr>
              <a:t> </a:t>
            </a:r>
            <a:r>
              <a:rPr sz="1900" i="0" b="0">
                <a:solidFill>
                  <a:srgbClr val="4EC9B0"/>
                </a:solidFill>
                <a:latin typeface="Consolas"/>
              </a:rPr>
              <a:t>NUMERIC</a:t>
            </a:r>
            <a:r>
              <a:rPr sz="1900" i="0" b="0">
                <a:solidFill>
                  <a:srgbClr val="D4D4D4"/>
                </a:solidFill>
                <a:latin typeface="Consolas"/>
              </a:rPr>
              <a:t>(</a:t>
            </a:r>
            <a:r>
              <a:rPr sz="1900" i="0" b="0">
                <a:solidFill>
                  <a:srgbClr val="B5CEA8"/>
                </a:solidFill>
                <a:latin typeface="Consolas"/>
              </a:rPr>
              <a:t>12</a:t>
            </a:r>
            <a:r>
              <a:rPr sz="1900" i="0" b="0">
                <a:solidFill>
                  <a:srgbClr val="D4D4D4"/>
                </a:solidFill>
                <a:latin typeface="Consolas"/>
              </a:rPr>
              <a:t>,</a:t>
            </a:r>
            <a:r>
              <a:rPr sz="1900" i="0" b="0">
                <a:solidFill>
                  <a:srgbClr val="B5CEA8"/>
                </a:solidFill>
                <a:latin typeface="Consolas"/>
              </a:rPr>
              <a:t>2</a:t>
            </a:r>
            <a:r>
              <a:rPr sz="1900" i="0" b="0">
                <a:solidFill>
                  <a:srgbClr val="D4D4D4"/>
                </a:solidFill>
                <a:latin typeface="Consolas"/>
              </a:rPr>
              <a:t>) </a:t>
            </a:r>
            <a:r>
              <a:rPr sz="1900" i="0" b="0">
                <a:solidFill>
                  <a:srgbClr val="569CD6"/>
                </a:solidFill>
                <a:latin typeface="Consolas"/>
              </a:rPr>
              <a:t>NOT</a:t>
            </a:r>
            <a:r>
              <a:rPr sz="1900" i="0" b="0">
                <a:solidFill>
                  <a:srgbClr val="D4D4D4"/>
                </a:solidFill>
                <a:latin typeface="Consolas"/>
              </a:rPr>
              <a:t> </a:t>
            </a:r>
            <a:r>
              <a:rPr sz="1900" i="0" b="0">
                <a:solidFill>
                  <a:srgbClr val="569CD6"/>
                </a:solidFill>
                <a:latin typeface="Consolas"/>
              </a:rPr>
              <a:t>NULL</a:t>
            </a:r>
            <a:r>
              <a:rPr sz="1900" i="0" b="0">
                <a:solidFill>
                  <a:srgbClr val="D4D4D4"/>
                </a:solidFill>
                <a:latin typeface="Consolas"/>
              </a:rPr>
              <a:t> </a:t>
            </a:r>
            <a:r>
              <a:rPr sz="1900" i="0" b="0">
                <a:solidFill>
                  <a:srgbClr val="569CD6"/>
                </a:solidFill>
                <a:latin typeface="Consolas"/>
              </a:rPr>
              <a:t>CHECK</a:t>
            </a:r>
            <a:r>
              <a:rPr sz="1900" i="0" b="0">
                <a:solidFill>
                  <a:srgbClr val="D4D4D4"/>
                </a:solidFill>
                <a:latin typeface="Consolas"/>
              </a:rPr>
              <a:t> (</a:t>
            </a:r>
            <a:r>
              <a:rPr sz="1900" i="0" b="0">
                <a:solidFill>
                  <a:srgbClr val="D4D4D4"/>
                </a:solidFill>
                <a:latin typeface="Consolas"/>
              </a:rPr>
              <a:t>precio_unit</a:t>
            </a:r>
            <a:r>
              <a:rPr sz="1900" i="0" b="0">
                <a:solidFill>
                  <a:srgbClr val="D4D4D4"/>
                </a:solidFill>
                <a:latin typeface="Consolas"/>
              </a:rPr>
              <a:t> &gt; </a:t>
            </a:r>
            <a:r>
              <a:rPr sz="1900" i="0" b="0">
                <a:solidFill>
                  <a:srgbClr val="B5CEA8"/>
                </a:solidFill>
                <a:latin typeface="Consolas"/>
              </a:rPr>
              <a:t>0</a:t>
            </a:r>
            <a:r>
              <a:rPr sz="1900" i="0" b="0">
                <a:solidFill>
                  <a:srgbClr val="D4D4D4"/>
                </a:solidFill>
                <a:latin typeface="Consolas"/>
              </a:rPr>
              <a:t>)</a:t>
            </a:r>
          </a:p>
          <a:p>
            <a:pPr>
              <a:spcAft>
                <a:spcPts val="407"/>
              </a:spcAft>
            </a:pPr>
            <a:r>
              <a:rPr sz="1900" i="0" b="0">
                <a:solidFill>
                  <a:srgbClr val="D4D4D4"/>
                </a:solidFill>
                <a:latin typeface="Consolas"/>
              </a:rPr>
              <a:t>);</a:t>
            </a:r>
          </a:p>
          <a:p>
            <a:pPr>
              <a:spcAft>
                <a:spcPts val="407"/>
              </a:spcAft>
            </a:pPr>
            <a:r>
              <a:rPr sz="1900" i="0" b="0">
                <a:solidFill>
                  <a:srgbClr val="D4D4D4"/>
                </a:solidFill>
                <a:latin typeface="Consolas"/>
              </a:rPr>
              <a:t/>
            </a:r>
          </a:p>
          <a:p>
            <a:pPr>
              <a:spcAft>
                <a:spcPts val="407"/>
              </a:spcAft>
            </a:pPr>
            <a:r>
              <a:rPr sz="1900" i="1" b="0">
                <a:solidFill>
                  <a:srgbClr val="6A9955"/>
                </a:solidFill>
                <a:latin typeface="Consolas"/>
              </a:rPr>
              <a:t>-- El comportamiento al borrar el padre SE ELIGE. Si no se declara,</a:t>
            </a:r>
          </a:p>
          <a:p>
            <a:pPr>
              <a:spcAft>
                <a:spcPts val="407"/>
              </a:spcAft>
            </a:pPr>
            <a:r>
              <a:rPr sz="1900" i="1" b="0">
                <a:solidFill>
                  <a:srgbClr val="6A9955"/>
                </a:solidFill>
                <a:latin typeface="Consolas"/>
              </a:rPr>
              <a:t>-- PostgreSQL asume NO ACTION: se niega a borrar. Eso es del estandar.</a:t>
            </a:r>
          </a:p>
          <a:p>
            <a:pPr>
              <a:spcAft>
                <a:spcPts val="407"/>
              </a:spcAft>
            </a:pPr>
            <a:r>
              <a:rPr sz="1900" i="0" b="0">
                <a:solidFill>
                  <a:srgbClr val="569CD6"/>
                </a:solidFill>
                <a:latin typeface="Consolas"/>
              </a:rPr>
              <a:t>ALTER</a:t>
            </a:r>
            <a:r>
              <a:rPr sz="1900" i="0" b="0">
                <a:solidFill>
                  <a:srgbClr val="D4D4D4"/>
                </a:solidFill>
                <a:latin typeface="Consolas"/>
              </a:rPr>
              <a:t> </a:t>
            </a:r>
            <a:r>
              <a:rPr sz="1900" i="0" b="0">
                <a:solidFill>
                  <a:srgbClr val="569CD6"/>
                </a:solidFill>
                <a:latin typeface="Consolas"/>
              </a:rPr>
              <a:t>TABLE</a:t>
            </a:r>
            <a:r>
              <a:rPr sz="1900" i="0" b="0">
                <a:solidFill>
                  <a:srgbClr val="D4D4D4"/>
                </a:solidFill>
                <a:latin typeface="Consolas"/>
              </a:rPr>
              <a:t> </a:t>
            </a:r>
            <a:r>
              <a:rPr sz="1900" i="0" b="0">
                <a:solidFill>
                  <a:srgbClr val="D4D4D4"/>
                </a:solidFill>
                <a:latin typeface="Consolas"/>
              </a:rPr>
              <a:t>detalle_factura</a:t>
            </a:r>
          </a:p>
          <a:p>
            <a:pPr>
              <a:spcAft>
                <a:spcPts val="407"/>
              </a:spcAft>
            </a:pPr>
            <a:r>
              <a:rPr sz="1900" i="0" b="0">
                <a:solidFill>
                  <a:srgbClr val="D4D4D4"/>
                </a:solidFill>
                <a:latin typeface="Consolas"/>
              </a:rPr>
              <a:t>  </a:t>
            </a:r>
            <a:r>
              <a:rPr sz="1900" i="0" b="0">
                <a:solidFill>
                  <a:srgbClr val="569CD6"/>
                </a:solidFill>
                <a:latin typeface="Consolas"/>
              </a:rPr>
              <a:t>ADD</a:t>
            </a:r>
            <a:r>
              <a:rPr sz="1900" i="0" b="0">
                <a:solidFill>
                  <a:srgbClr val="D4D4D4"/>
                </a:solidFill>
                <a:latin typeface="Consolas"/>
              </a:rPr>
              <a:t> </a:t>
            </a:r>
            <a:r>
              <a:rPr sz="1900" i="0" b="0">
                <a:solidFill>
                  <a:srgbClr val="569CD6"/>
                </a:solidFill>
                <a:latin typeface="Consolas"/>
              </a:rPr>
              <a:t>CONSTRAINT</a:t>
            </a:r>
            <a:r>
              <a:rPr sz="1900" i="0" b="0">
                <a:solidFill>
                  <a:srgbClr val="D4D4D4"/>
                </a:solidFill>
                <a:latin typeface="Consolas"/>
              </a:rPr>
              <a:t> </a:t>
            </a:r>
            <a:r>
              <a:rPr sz="1900" i="0" b="0">
                <a:solidFill>
                  <a:srgbClr val="D4D4D4"/>
                </a:solidFill>
                <a:latin typeface="Consolas"/>
              </a:rPr>
              <a:t>fk_detalle_insumo</a:t>
            </a:r>
          </a:p>
          <a:p>
            <a:pPr>
              <a:spcAft>
                <a:spcPts val="407"/>
              </a:spcAft>
            </a:pPr>
            <a:r>
              <a:rPr sz="1900" i="0" b="0">
                <a:solidFill>
                  <a:srgbClr val="D4D4D4"/>
                </a:solidFill>
                <a:latin typeface="Consolas"/>
              </a:rPr>
              <a:t>  </a:t>
            </a:r>
            <a:r>
              <a:rPr sz="1900" i="0" b="0">
                <a:solidFill>
                  <a:srgbClr val="569CD6"/>
                </a:solidFill>
                <a:latin typeface="Consolas"/>
              </a:rPr>
              <a:t>FOREIGN</a:t>
            </a:r>
            <a:r>
              <a:rPr sz="1900" i="0" b="0">
                <a:solidFill>
                  <a:srgbClr val="D4D4D4"/>
                </a:solidFill>
                <a:latin typeface="Consolas"/>
              </a:rPr>
              <a:t> </a:t>
            </a:r>
            <a:r>
              <a:rPr sz="1900" i="0" b="0">
                <a:solidFill>
                  <a:srgbClr val="569CD6"/>
                </a:solidFill>
                <a:latin typeface="Consolas"/>
              </a:rPr>
              <a:t>KEY</a:t>
            </a:r>
            <a:r>
              <a:rPr sz="1900" i="0" b="0">
                <a:solidFill>
                  <a:srgbClr val="D4D4D4"/>
                </a:solidFill>
                <a:latin typeface="Consolas"/>
              </a:rPr>
              <a:t> (</a:t>
            </a:r>
            <a:r>
              <a:rPr sz="1900" i="0" b="0">
                <a:solidFill>
                  <a:srgbClr val="D4D4D4"/>
                </a:solidFill>
                <a:latin typeface="Consolas"/>
              </a:rPr>
              <a:t>id_insumo</a:t>
            </a:r>
            <a:r>
              <a:rPr sz="1900" i="0" b="0">
                <a:solidFill>
                  <a:srgbClr val="D4D4D4"/>
                </a:solidFill>
                <a:latin typeface="Consolas"/>
              </a:rPr>
              <a:t>) </a:t>
            </a:r>
            <a:r>
              <a:rPr sz="1900" i="0" b="0">
                <a:solidFill>
                  <a:srgbClr val="569CD6"/>
                </a:solidFill>
                <a:latin typeface="Consolas"/>
              </a:rPr>
              <a:t>REFERENCES</a:t>
            </a:r>
            <a:r>
              <a:rPr sz="1900" i="0" b="0">
                <a:solidFill>
                  <a:srgbClr val="D4D4D4"/>
                </a:solidFill>
                <a:latin typeface="Consolas"/>
              </a:rPr>
              <a:t> </a:t>
            </a:r>
            <a:r>
              <a:rPr sz="1900" i="0" b="0">
                <a:solidFill>
                  <a:srgbClr val="DCDCAA"/>
                </a:solidFill>
                <a:latin typeface="Consolas"/>
              </a:rPr>
              <a:t>insumo</a:t>
            </a:r>
            <a:r>
              <a:rPr sz="1900" i="0" b="0">
                <a:solidFill>
                  <a:srgbClr val="D4D4D4"/>
                </a:solidFill>
                <a:latin typeface="Consolas"/>
              </a:rPr>
              <a:t> (</a:t>
            </a:r>
            <a:r>
              <a:rPr sz="1900" i="0" b="0">
                <a:solidFill>
                  <a:srgbClr val="D4D4D4"/>
                </a:solidFill>
                <a:latin typeface="Consolas"/>
              </a:rPr>
              <a:t>id_insumo</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569CD6"/>
                </a:solidFill>
                <a:latin typeface="Consolas"/>
              </a:rPr>
              <a:t>ON</a:t>
            </a:r>
            <a:r>
              <a:rPr sz="1900" i="0" b="0">
                <a:solidFill>
                  <a:srgbClr val="D4D4D4"/>
                </a:solidFill>
                <a:latin typeface="Consolas"/>
              </a:rPr>
              <a:t> </a:t>
            </a:r>
            <a:r>
              <a:rPr sz="1900" i="0" b="0">
                <a:solidFill>
                  <a:srgbClr val="569CD6"/>
                </a:solidFill>
                <a:latin typeface="Consolas"/>
              </a:rPr>
              <a:t>DELETE</a:t>
            </a:r>
            <a:r>
              <a:rPr sz="1900" i="0" b="0">
                <a:solidFill>
                  <a:srgbClr val="D4D4D4"/>
                </a:solidFill>
                <a:latin typeface="Consolas"/>
              </a:rPr>
              <a:t> </a:t>
            </a:r>
            <a:r>
              <a:rPr sz="1900" i="0" b="0">
                <a:solidFill>
                  <a:srgbClr val="569CD6"/>
                </a:solidFill>
                <a:latin typeface="Consolas"/>
              </a:rPr>
              <a:t>RESTRICT</a:t>
            </a:r>
            <a:r>
              <a:rPr sz="1900" i="0" b="0">
                <a:solidFill>
                  <a:srgbClr val="D4D4D4"/>
                </a:solidFill>
                <a:latin typeface="Consolas"/>
              </a:rPr>
              <a:t>;   </a:t>
            </a:r>
            <a:r>
              <a:rPr sz="1900" i="1" b="0">
                <a:solidFill>
                  <a:srgbClr val="6A9955"/>
                </a:solidFill>
                <a:latin typeface="Consolas"/>
              </a:rPr>
              <a:t>-- no se borra un insumo ya facturado</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Integridad referencial: el error que devuelve el motor</a:t>
            </a:r>
          </a:p>
        </p:txBody>
      </p:sp>
      <p:sp>
        <p:nvSpPr>
          <p:cNvPr id="5" name="Rounded Rectangle 4"/>
          <p:cNvSpPr/>
          <p:nvPr/>
        </p:nvSpPr>
        <p:spPr>
          <a:xfrm>
            <a:off x="457200" y="1261872"/>
            <a:ext cx="11277295" cy="4065696"/>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3471336"/>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p:txBody>
      </p:sp>
      <p:sp>
        <p:nvSpPr>
          <p:cNvPr id="12" name="TextBox 11"/>
          <p:cNvSpPr txBox="1"/>
          <p:nvPr/>
        </p:nvSpPr>
        <p:spPr>
          <a:xfrm>
            <a:off x="1188720" y="1719072"/>
            <a:ext cx="10271455" cy="3471336"/>
          </a:xfrm>
          <a:prstGeom prst="rect">
            <a:avLst/>
          </a:prstGeom>
          <a:noFill/>
        </p:spPr>
        <p:txBody>
          <a:bodyPr wrap="square">
            <a:spAutoFit/>
          </a:bodyPr>
          <a:lstStyle/>
          <a:p>
            <a:pPr>
              <a:spcAft>
                <a:spcPts val="407"/>
              </a:spcAft>
            </a:pPr>
            <a:r>
              <a:rPr sz="1900" i="1" b="0">
                <a:solidFill>
                  <a:srgbClr val="6A9955"/>
                </a:solidFill>
                <a:latin typeface="Consolas"/>
              </a:rPr>
              <a:t>-- Existe la mascota 1, no existe la 999.</a:t>
            </a:r>
          </a:p>
          <a:p>
            <a:pPr>
              <a:spcAft>
                <a:spcPts val="407"/>
              </a:spcAft>
            </a:pPr>
            <a:r>
              <a:rPr sz="1900" i="0" b="0">
                <a:solidFill>
                  <a:srgbClr val="569CD6"/>
                </a:solidFill>
                <a:latin typeface="Consolas"/>
              </a:rPr>
              <a:t>INSERT</a:t>
            </a:r>
            <a:r>
              <a:rPr sz="1900" i="0" b="0">
                <a:solidFill>
                  <a:srgbClr val="D4D4D4"/>
                </a:solidFill>
                <a:latin typeface="Consolas"/>
              </a:rPr>
              <a:t> </a:t>
            </a:r>
            <a:r>
              <a:rPr sz="1900" i="0" b="0">
                <a:solidFill>
                  <a:srgbClr val="569CD6"/>
                </a:solidFill>
                <a:latin typeface="Consolas"/>
              </a:rPr>
              <a:t>INTO</a:t>
            </a:r>
            <a:r>
              <a:rPr sz="1900" i="0" b="0">
                <a:solidFill>
                  <a:srgbClr val="D4D4D4"/>
                </a:solidFill>
                <a:latin typeface="Consolas"/>
              </a:rPr>
              <a:t> </a:t>
            </a:r>
            <a:r>
              <a:rPr sz="1900" i="0" b="0">
                <a:solidFill>
                  <a:srgbClr val="DCDCAA"/>
                </a:solidFill>
                <a:latin typeface="Consolas"/>
              </a:rPr>
              <a:t>cita</a:t>
            </a:r>
            <a:r>
              <a:rPr sz="1900" i="0" b="0">
                <a:solidFill>
                  <a:srgbClr val="D4D4D4"/>
                </a:solidFill>
                <a:latin typeface="Consolas"/>
              </a:rPr>
              <a:t> (</a:t>
            </a:r>
            <a:r>
              <a:rPr sz="1900" i="0" b="0">
                <a:solidFill>
                  <a:srgbClr val="D4D4D4"/>
                </a:solidFill>
                <a:latin typeface="Consolas"/>
              </a:rPr>
              <a:t>id_mascota</a:t>
            </a:r>
            <a:r>
              <a:rPr sz="1900" i="0" b="0">
                <a:solidFill>
                  <a:srgbClr val="D4D4D4"/>
                </a:solidFill>
                <a:latin typeface="Consolas"/>
              </a:rPr>
              <a:t>, </a:t>
            </a:r>
            <a:r>
              <a:rPr sz="1900" i="0" b="0">
                <a:solidFill>
                  <a:srgbClr val="D4D4D4"/>
                </a:solidFill>
                <a:latin typeface="Consolas"/>
              </a:rPr>
              <a:t>id_veterinario</a:t>
            </a:r>
            <a:r>
              <a:rPr sz="1900" i="0" b="0">
                <a:solidFill>
                  <a:srgbClr val="D4D4D4"/>
                </a:solidFill>
                <a:latin typeface="Consolas"/>
              </a:rPr>
              <a:t>, </a:t>
            </a:r>
            <a:r>
              <a:rPr sz="1900" i="0" b="0">
                <a:solidFill>
                  <a:srgbClr val="D4D4D4"/>
                </a:solidFill>
                <a:latin typeface="Consolas"/>
              </a:rPr>
              <a:t>fecha_hora</a:t>
            </a:r>
            <a:r>
              <a:rPr sz="1900" i="0" b="0">
                <a:solidFill>
                  <a:srgbClr val="D4D4D4"/>
                </a:solidFill>
                <a:latin typeface="Consolas"/>
              </a:rPr>
              <a:t>, </a:t>
            </a:r>
            <a:r>
              <a:rPr sz="1900" i="0" b="0">
                <a:solidFill>
                  <a:srgbClr val="D4D4D4"/>
                </a:solidFill>
                <a:latin typeface="Consolas"/>
              </a:rPr>
              <a:t>estado</a:t>
            </a:r>
            <a:r>
              <a:rPr sz="1900" i="0" b="0">
                <a:solidFill>
                  <a:srgbClr val="D4D4D4"/>
                </a:solidFill>
                <a:latin typeface="Consolas"/>
              </a:rPr>
              <a:t>)</a:t>
            </a:r>
          </a:p>
          <a:p>
            <a:pPr>
              <a:spcAft>
                <a:spcPts val="407"/>
              </a:spcAft>
            </a:pPr>
            <a:r>
              <a:rPr sz="1900" i="0" b="0">
                <a:solidFill>
                  <a:srgbClr val="569CD6"/>
                </a:solidFill>
                <a:latin typeface="Consolas"/>
              </a:rPr>
              <a:t>VALUES</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4EC9B0"/>
                </a:solidFill>
                <a:latin typeface="Consolas"/>
              </a:rPr>
              <a:t>TIMESTAMP</a:t>
            </a:r>
            <a:r>
              <a:rPr sz="1900" i="0" b="0">
                <a:solidFill>
                  <a:srgbClr val="D4D4D4"/>
                </a:solidFill>
                <a:latin typeface="Consolas"/>
              </a:rPr>
              <a:t> </a:t>
            </a:r>
            <a:r>
              <a:rPr sz="1900" i="0" b="0">
                <a:solidFill>
                  <a:srgbClr val="CE9178"/>
                </a:solidFill>
                <a:latin typeface="Consolas"/>
              </a:rPr>
              <a:t>'2026-09-01 09:00:00'</a:t>
            </a:r>
            <a:r>
              <a:rPr sz="1900" i="0" b="0">
                <a:solidFill>
                  <a:srgbClr val="D4D4D4"/>
                </a:solidFill>
                <a:latin typeface="Consolas"/>
              </a:rPr>
              <a:t>, </a:t>
            </a:r>
            <a:r>
              <a:rPr sz="1900" i="0" b="0">
                <a:solidFill>
                  <a:srgbClr val="CE9178"/>
                </a:solidFill>
                <a:latin typeface="Consolas"/>
              </a:rPr>
              <a:t>'PROGRAMADA'</a:t>
            </a:r>
            <a:r>
              <a:rPr sz="1900" i="0" b="0">
                <a:solidFill>
                  <a:srgbClr val="D4D4D4"/>
                </a:solidFill>
                <a:latin typeface="Consolas"/>
              </a:rPr>
              <a:t>);</a:t>
            </a:r>
          </a:p>
          <a:p>
            <a:pPr>
              <a:spcAft>
                <a:spcPts val="407"/>
              </a:spcAft>
            </a:pPr>
            <a:r>
              <a:rPr sz="1900" i="1" b="0">
                <a:solidFill>
                  <a:srgbClr val="6A9955"/>
                </a:solidFill>
                <a:latin typeface="Consolas"/>
              </a:rPr>
              <a:t>-- INSERT 0 1</a:t>
            </a:r>
          </a:p>
          <a:p>
            <a:pPr>
              <a:spcAft>
                <a:spcPts val="407"/>
              </a:spcAft>
            </a:pPr>
            <a:r>
              <a:rPr sz="1900" i="0" b="0">
                <a:solidFill>
                  <a:srgbClr val="D4D4D4"/>
                </a:solidFill>
                <a:latin typeface="Consolas"/>
              </a:rPr>
              <a:t/>
            </a:r>
          </a:p>
          <a:p>
            <a:pPr>
              <a:spcAft>
                <a:spcPts val="407"/>
              </a:spcAft>
            </a:pPr>
            <a:r>
              <a:rPr sz="1900" i="0" b="0">
                <a:solidFill>
                  <a:srgbClr val="569CD6"/>
                </a:solidFill>
                <a:latin typeface="Consolas"/>
              </a:rPr>
              <a:t>INSERT</a:t>
            </a:r>
            <a:r>
              <a:rPr sz="1900" i="0" b="0">
                <a:solidFill>
                  <a:srgbClr val="D4D4D4"/>
                </a:solidFill>
                <a:latin typeface="Consolas"/>
              </a:rPr>
              <a:t> </a:t>
            </a:r>
            <a:r>
              <a:rPr sz="1900" i="0" b="0">
                <a:solidFill>
                  <a:srgbClr val="569CD6"/>
                </a:solidFill>
                <a:latin typeface="Consolas"/>
              </a:rPr>
              <a:t>INTO</a:t>
            </a:r>
            <a:r>
              <a:rPr sz="1900" i="0" b="0">
                <a:solidFill>
                  <a:srgbClr val="D4D4D4"/>
                </a:solidFill>
                <a:latin typeface="Consolas"/>
              </a:rPr>
              <a:t> </a:t>
            </a:r>
            <a:r>
              <a:rPr sz="1900" i="0" b="0">
                <a:solidFill>
                  <a:srgbClr val="DCDCAA"/>
                </a:solidFill>
                <a:latin typeface="Consolas"/>
              </a:rPr>
              <a:t>cita</a:t>
            </a:r>
            <a:r>
              <a:rPr sz="1900" i="0" b="0">
                <a:solidFill>
                  <a:srgbClr val="D4D4D4"/>
                </a:solidFill>
                <a:latin typeface="Consolas"/>
              </a:rPr>
              <a:t> (</a:t>
            </a:r>
            <a:r>
              <a:rPr sz="1900" i="0" b="0">
                <a:solidFill>
                  <a:srgbClr val="D4D4D4"/>
                </a:solidFill>
                <a:latin typeface="Consolas"/>
              </a:rPr>
              <a:t>id_mascota</a:t>
            </a:r>
            <a:r>
              <a:rPr sz="1900" i="0" b="0">
                <a:solidFill>
                  <a:srgbClr val="D4D4D4"/>
                </a:solidFill>
                <a:latin typeface="Consolas"/>
              </a:rPr>
              <a:t>, </a:t>
            </a:r>
            <a:r>
              <a:rPr sz="1900" i="0" b="0">
                <a:solidFill>
                  <a:srgbClr val="D4D4D4"/>
                </a:solidFill>
                <a:latin typeface="Consolas"/>
              </a:rPr>
              <a:t>id_veterinario</a:t>
            </a:r>
            <a:r>
              <a:rPr sz="1900" i="0" b="0">
                <a:solidFill>
                  <a:srgbClr val="D4D4D4"/>
                </a:solidFill>
                <a:latin typeface="Consolas"/>
              </a:rPr>
              <a:t>, </a:t>
            </a:r>
            <a:r>
              <a:rPr sz="1900" i="0" b="0">
                <a:solidFill>
                  <a:srgbClr val="D4D4D4"/>
                </a:solidFill>
                <a:latin typeface="Consolas"/>
              </a:rPr>
              <a:t>fecha_hora</a:t>
            </a:r>
            <a:r>
              <a:rPr sz="1900" i="0" b="0">
                <a:solidFill>
                  <a:srgbClr val="D4D4D4"/>
                </a:solidFill>
                <a:latin typeface="Consolas"/>
              </a:rPr>
              <a:t>, </a:t>
            </a:r>
            <a:r>
              <a:rPr sz="1900" i="0" b="0">
                <a:solidFill>
                  <a:srgbClr val="D4D4D4"/>
                </a:solidFill>
                <a:latin typeface="Consolas"/>
              </a:rPr>
              <a:t>estado</a:t>
            </a:r>
            <a:r>
              <a:rPr sz="1900" i="0" b="0">
                <a:solidFill>
                  <a:srgbClr val="D4D4D4"/>
                </a:solidFill>
                <a:latin typeface="Consolas"/>
              </a:rPr>
              <a:t>)</a:t>
            </a:r>
          </a:p>
          <a:p>
            <a:pPr>
              <a:spcAft>
                <a:spcPts val="407"/>
              </a:spcAft>
            </a:pPr>
            <a:r>
              <a:rPr sz="1900" i="0" b="0">
                <a:solidFill>
                  <a:srgbClr val="569CD6"/>
                </a:solidFill>
                <a:latin typeface="Consolas"/>
              </a:rPr>
              <a:t>VALUES</a:t>
            </a:r>
            <a:r>
              <a:rPr sz="1900" i="0" b="0">
                <a:solidFill>
                  <a:srgbClr val="D4D4D4"/>
                </a:solidFill>
                <a:latin typeface="Consolas"/>
              </a:rPr>
              <a:t> (</a:t>
            </a:r>
            <a:r>
              <a:rPr sz="1900" i="0" b="0">
                <a:solidFill>
                  <a:srgbClr val="B5CEA8"/>
                </a:solidFill>
                <a:latin typeface="Consolas"/>
              </a:rPr>
              <a:t>999</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4EC9B0"/>
                </a:solidFill>
                <a:latin typeface="Consolas"/>
              </a:rPr>
              <a:t>TIMESTAMP</a:t>
            </a:r>
            <a:r>
              <a:rPr sz="1900" i="0" b="0">
                <a:solidFill>
                  <a:srgbClr val="D4D4D4"/>
                </a:solidFill>
                <a:latin typeface="Consolas"/>
              </a:rPr>
              <a:t> </a:t>
            </a:r>
            <a:r>
              <a:rPr sz="1900" i="0" b="0">
                <a:solidFill>
                  <a:srgbClr val="CE9178"/>
                </a:solidFill>
                <a:latin typeface="Consolas"/>
              </a:rPr>
              <a:t>'2026-09-01 10:00:00'</a:t>
            </a:r>
            <a:r>
              <a:rPr sz="1900" i="0" b="0">
                <a:solidFill>
                  <a:srgbClr val="D4D4D4"/>
                </a:solidFill>
                <a:latin typeface="Consolas"/>
              </a:rPr>
              <a:t>, </a:t>
            </a:r>
            <a:r>
              <a:rPr sz="1900" i="0" b="0">
                <a:solidFill>
                  <a:srgbClr val="CE9178"/>
                </a:solidFill>
                <a:latin typeface="Consolas"/>
              </a:rPr>
              <a:t>'PROGRAMADA'</a:t>
            </a:r>
            <a:r>
              <a:rPr sz="1900" i="0" b="0">
                <a:solidFill>
                  <a:srgbClr val="D4D4D4"/>
                </a:solidFill>
                <a:latin typeface="Consolas"/>
              </a:rPr>
              <a:t>);</a:t>
            </a:r>
          </a:p>
          <a:p>
            <a:pPr>
              <a:spcAft>
                <a:spcPts val="407"/>
              </a:spcAft>
            </a:pPr>
            <a:r>
              <a:rPr sz="1900" i="1" b="0">
                <a:solidFill>
                  <a:srgbClr val="6A9955"/>
                </a:solidFill>
                <a:latin typeface="Consolas"/>
              </a:rPr>
              <a:t>-- ERROR:  insert or update on table "cita" violates foreign key</a:t>
            </a:r>
          </a:p>
          <a:p>
            <a:pPr>
              <a:spcAft>
                <a:spcPts val="407"/>
              </a:spcAft>
            </a:pPr>
            <a:r>
              <a:rPr sz="1900" i="1" b="0">
                <a:solidFill>
                  <a:srgbClr val="6A9955"/>
                </a:solidFill>
                <a:latin typeface="Consolas"/>
              </a:rPr>
              <a:t>--         constraint "cita_id_mascota_fkey"</a:t>
            </a:r>
          </a:p>
          <a:p>
            <a:pPr>
              <a:spcAft>
                <a:spcPts val="407"/>
              </a:spcAft>
            </a:pPr>
            <a:r>
              <a:rPr sz="1900" i="1" b="0">
                <a:solidFill>
                  <a:srgbClr val="6A9955"/>
                </a:solidFill>
                <a:latin typeface="Consolas"/>
              </a:rPr>
              <a:t>-- DETAIL:  Key (id_mascota)=(999) is not present in table "mascota".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Baja logica: activa CHAR(1) en vez de DELETE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ja-logic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baja-logic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baja-logic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En un sistema real no se hace </a:t>
            </a:r>
            <a:r>
              <a:rPr sz="2000" b="1" i="0">
                <a:solidFill>
                  <a:srgbClr val="333333"/>
                </a:solidFill>
                <a:latin typeface="Calibri"/>
              </a:rPr>
              <a:t>DELETE</a:t>
            </a:r>
            <a:r>
              <a:rPr sz="2000" b="0" i="0">
                <a:solidFill>
                  <a:srgbClr val="333333"/>
                </a:solidFill>
                <a:latin typeface="Calibri"/>
              </a:rPr>
              <a:t> de clientes ni pacientes: se marcan como inactivos.</a:t>
            </a:r>
          </a:p>
          <a:p>
            <a:pPr>
              <a:spcAft>
                <a:spcPts val="800"/>
              </a:spcAft>
            </a:pPr>
            <a:r>
              <a:rPr sz="2000" b="0" i="0">
                <a:solidFill>
                  <a:srgbClr val="333333"/>
                </a:solidFill>
                <a:latin typeface="Calibri"/>
              </a:rPr>
              <a:t>–   DELETE choca con las referencias, borra la historia clínica y no se puede deshacer.</a:t>
            </a:r>
          </a:p>
          <a:p>
            <a:pPr>
              <a:spcAft>
                <a:spcPts val="800"/>
              </a:spcAft>
            </a:pPr>
            <a:r>
              <a:rPr sz="2000" b="0" i="0">
                <a:solidFill>
                  <a:srgbClr val="333333"/>
                </a:solidFill>
                <a:latin typeface="Calibri"/>
              </a:rPr>
              <a:t>–   La </a:t>
            </a:r>
            <a:r>
              <a:rPr sz="2000" b="1" i="0">
                <a:solidFill>
                  <a:srgbClr val="333333"/>
                </a:solidFill>
                <a:latin typeface="Calibri"/>
              </a:rPr>
              <a:t>baja lógica</a:t>
            </a:r>
            <a:r>
              <a:rPr sz="2000" b="0" i="0">
                <a:solidFill>
                  <a:srgbClr val="333333"/>
                </a:solidFill>
                <a:latin typeface="Calibri"/>
              </a:rPr>
              <a:t> es un UPDATE: activa = 'N' conserva citas y facturas, y se revierte.</a:t>
            </a:r>
          </a:p>
          <a:p>
            <a:pPr>
              <a:spcAft>
                <a:spcPts val="800"/>
              </a:spcAft>
            </a:pPr>
            <a:r>
              <a:rPr sz="2000" b="0" i="0">
                <a:solidFill>
                  <a:srgbClr val="333333"/>
                </a:solidFill>
                <a:latin typeface="Calibri"/>
              </a:rPr>
              <a:t>–   Ojo: la </a:t>
            </a:r>
            <a:r>
              <a:rPr sz="2000" b="1" i="0">
                <a:solidFill>
                  <a:srgbClr val="333333"/>
                </a:solidFill>
                <a:latin typeface="Calibri"/>
              </a:rPr>
              <a:t>FK no defiende</a:t>
            </a:r>
            <a:r>
              <a:rPr sz="2000" b="0" i="0">
                <a:solidFill>
                  <a:srgbClr val="333333"/>
                </a:solidFill>
                <a:latin typeface="Calibri"/>
              </a:rPr>
              <a:t> esta regla; para el motor, la mascota inactiva sigue existiendo.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 que el DDL NO puede defender solo</a:t>
            </a:r>
          </a:p>
        </p:txBody>
      </p:sp>
      <p:sp>
        <p:nvSpPr>
          <p:cNvPr id="5" name="Rounded Rectangle 4"/>
          <p:cNvSpPr/>
          <p:nvPr/>
        </p:nvSpPr>
        <p:spPr>
          <a:xfrm>
            <a:off x="457200" y="1261872"/>
            <a:ext cx="11277295" cy="375563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3161278"/>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p:txBody>
      </p:sp>
      <p:sp>
        <p:nvSpPr>
          <p:cNvPr id="12" name="TextBox 11"/>
          <p:cNvSpPr txBox="1"/>
          <p:nvPr/>
        </p:nvSpPr>
        <p:spPr>
          <a:xfrm>
            <a:off x="1188720" y="1719072"/>
            <a:ext cx="10271455" cy="3161278"/>
          </a:xfrm>
          <a:prstGeom prst="rect">
            <a:avLst/>
          </a:prstGeom>
          <a:noFill/>
        </p:spPr>
        <p:txBody>
          <a:bodyPr wrap="square">
            <a:spAutoFit/>
          </a:bodyPr>
          <a:lstStyle/>
          <a:p>
            <a:pPr>
              <a:spcAft>
                <a:spcPts val="364"/>
              </a:spcAft>
            </a:pPr>
            <a:r>
              <a:rPr sz="1700" i="1" b="0">
                <a:solidFill>
                  <a:srgbClr val="6A9955"/>
                </a:solidFill>
                <a:latin typeface="Consolas"/>
              </a:rPr>
              <a:t>-- La FK garantiza que el identificador EXISTA. No que el negocio lo quiera.</a:t>
            </a:r>
          </a:p>
          <a:p>
            <a:pPr>
              <a:spcAft>
                <a:spcPts val="364"/>
              </a:spcAft>
            </a:pPr>
            <a:r>
              <a:rPr sz="1700" i="0" b="0">
                <a:solidFill>
                  <a:srgbClr val="569CD6"/>
                </a:solidFill>
                <a:latin typeface="Consolas"/>
              </a:rPr>
              <a:t>UPDATE</a:t>
            </a:r>
            <a:r>
              <a:rPr sz="1700" i="0" b="0">
                <a:solidFill>
                  <a:srgbClr val="D4D4D4"/>
                </a:solidFill>
                <a:latin typeface="Consolas"/>
              </a:rPr>
              <a:t> </a:t>
            </a:r>
            <a:r>
              <a:rPr sz="1700" i="0" b="0">
                <a:solidFill>
                  <a:srgbClr val="D4D4D4"/>
                </a:solidFill>
                <a:latin typeface="Consolas"/>
              </a:rPr>
              <a:t>mascota</a:t>
            </a:r>
            <a:r>
              <a:rPr sz="1700" i="0" b="0">
                <a:solidFill>
                  <a:srgbClr val="D4D4D4"/>
                </a:solidFill>
                <a:latin typeface="Consolas"/>
              </a:rPr>
              <a:t> </a:t>
            </a:r>
            <a:r>
              <a:rPr sz="1700" i="0" b="0">
                <a:solidFill>
                  <a:srgbClr val="569CD6"/>
                </a:solidFill>
                <a:latin typeface="Consolas"/>
              </a:rPr>
              <a:t>SET</a:t>
            </a:r>
            <a:r>
              <a:rPr sz="1700" i="0" b="0">
                <a:solidFill>
                  <a:srgbClr val="D4D4D4"/>
                </a:solidFill>
                <a:latin typeface="Consolas"/>
              </a:rPr>
              <a:t> </a:t>
            </a:r>
            <a:r>
              <a:rPr sz="1700" i="0" b="0">
                <a:solidFill>
                  <a:srgbClr val="D4D4D4"/>
                </a:solidFill>
                <a:latin typeface="Consolas"/>
              </a:rPr>
              <a:t>activa</a:t>
            </a:r>
            <a:r>
              <a:rPr sz="1700" i="0" b="0">
                <a:solidFill>
                  <a:srgbClr val="D4D4D4"/>
                </a:solidFill>
                <a:latin typeface="Consolas"/>
              </a:rPr>
              <a:t> = </a:t>
            </a:r>
            <a:r>
              <a:rPr sz="1700" i="0" b="0">
                <a:solidFill>
                  <a:srgbClr val="CE9178"/>
                </a:solidFill>
                <a:latin typeface="Consolas"/>
              </a:rPr>
              <a:t>'N'</a:t>
            </a:r>
            <a:r>
              <a:rPr sz="1700" i="0" b="0">
                <a:solidFill>
                  <a:srgbClr val="D4D4D4"/>
                </a:solidFill>
                <a:latin typeface="Consolas"/>
              </a:rPr>
              <a:t> </a:t>
            </a:r>
            <a:r>
              <a:rPr sz="1700" i="0" b="0">
                <a:solidFill>
                  <a:srgbClr val="569CD6"/>
                </a:solidFill>
                <a:latin typeface="Consolas"/>
              </a:rPr>
              <a:t>WHERE</a:t>
            </a:r>
            <a:r>
              <a:rPr sz="1700" i="0" b="0">
                <a:solidFill>
                  <a:srgbClr val="D4D4D4"/>
                </a:solidFill>
                <a:latin typeface="Consolas"/>
              </a:rPr>
              <a:t> </a:t>
            </a:r>
            <a:r>
              <a:rPr sz="1700" i="0" b="0">
                <a:solidFill>
                  <a:srgbClr val="D4D4D4"/>
                </a:solidFill>
                <a:latin typeface="Consolas"/>
              </a:rPr>
              <a:t>id_mascota</a:t>
            </a:r>
            <a:r>
              <a:rPr sz="1700" i="0" b="0">
                <a:solidFill>
                  <a:srgbClr val="D4D4D4"/>
                </a:solidFill>
                <a:latin typeface="Consolas"/>
              </a:rPr>
              <a:t> = </a:t>
            </a:r>
            <a:r>
              <a:rPr sz="1700" i="0" b="0">
                <a:solidFill>
                  <a:srgbClr val="B5CEA8"/>
                </a:solidFill>
                <a:latin typeface="Consolas"/>
              </a:rPr>
              <a:t>1</a:t>
            </a:r>
            <a:r>
              <a:rPr sz="1700" i="0" b="0">
                <a:solidFill>
                  <a:srgbClr val="D4D4D4"/>
                </a:solidFill>
                <a:latin typeface="Consolas"/>
              </a:rPr>
              <a:t>;   </a:t>
            </a:r>
            <a:r>
              <a:rPr sz="1700" i="1" b="0">
                <a:solidFill>
                  <a:srgbClr val="6A9955"/>
                </a:solidFill>
                <a:latin typeface="Consolas"/>
              </a:rPr>
              <a:t>-- baja logica</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INSERT</a:t>
            </a:r>
            <a:r>
              <a:rPr sz="1700" i="0" b="0">
                <a:solidFill>
                  <a:srgbClr val="D4D4D4"/>
                </a:solidFill>
                <a:latin typeface="Consolas"/>
              </a:rPr>
              <a:t> </a:t>
            </a:r>
            <a:r>
              <a:rPr sz="1700" i="0" b="0">
                <a:solidFill>
                  <a:srgbClr val="569CD6"/>
                </a:solidFill>
                <a:latin typeface="Consolas"/>
              </a:rPr>
              <a:t>INTO</a:t>
            </a:r>
            <a:r>
              <a:rPr sz="1700" i="0" b="0">
                <a:solidFill>
                  <a:srgbClr val="D4D4D4"/>
                </a:solidFill>
                <a:latin typeface="Consolas"/>
              </a:rPr>
              <a:t> </a:t>
            </a:r>
            <a:r>
              <a:rPr sz="1700" i="0" b="0">
                <a:solidFill>
                  <a:srgbClr val="DCDCAA"/>
                </a:solidFill>
                <a:latin typeface="Consolas"/>
              </a:rPr>
              <a:t>cita</a:t>
            </a:r>
            <a:r>
              <a:rPr sz="1700" i="0" b="0">
                <a:solidFill>
                  <a:srgbClr val="D4D4D4"/>
                </a:solidFill>
                <a:latin typeface="Consolas"/>
              </a:rPr>
              <a:t> (</a:t>
            </a:r>
            <a:r>
              <a:rPr sz="1700" i="0" b="0">
                <a:solidFill>
                  <a:srgbClr val="D4D4D4"/>
                </a:solidFill>
                <a:latin typeface="Consolas"/>
              </a:rPr>
              <a:t>id_mascota</a:t>
            </a:r>
            <a:r>
              <a:rPr sz="1700" i="0" b="0">
                <a:solidFill>
                  <a:srgbClr val="D4D4D4"/>
                </a:solidFill>
                <a:latin typeface="Consolas"/>
              </a:rPr>
              <a:t>, </a:t>
            </a:r>
            <a:r>
              <a:rPr sz="1700" i="0" b="0">
                <a:solidFill>
                  <a:srgbClr val="D4D4D4"/>
                </a:solidFill>
                <a:latin typeface="Consolas"/>
              </a:rPr>
              <a:t>id_veterinario</a:t>
            </a:r>
            <a:r>
              <a:rPr sz="1700" i="0" b="0">
                <a:solidFill>
                  <a:srgbClr val="D4D4D4"/>
                </a:solidFill>
                <a:latin typeface="Consolas"/>
              </a:rPr>
              <a:t>, </a:t>
            </a:r>
            <a:r>
              <a:rPr sz="1700" i="0" b="0">
                <a:solidFill>
                  <a:srgbClr val="D4D4D4"/>
                </a:solidFill>
                <a:latin typeface="Consolas"/>
              </a:rPr>
              <a:t>fecha_hora</a:t>
            </a:r>
            <a:r>
              <a:rPr sz="1700" i="0" b="0">
                <a:solidFill>
                  <a:srgbClr val="D4D4D4"/>
                </a:solidFill>
                <a:latin typeface="Consolas"/>
              </a:rPr>
              <a:t>, </a:t>
            </a:r>
            <a:r>
              <a:rPr sz="1700" i="0" b="0">
                <a:solidFill>
                  <a:srgbClr val="D4D4D4"/>
                </a:solidFill>
                <a:latin typeface="Consolas"/>
              </a:rPr>
              <a:t>estado</a:t>
            </a:r>
            <a:r>
              <a:rPr sz="1700" i="0" b="0">
                <a:solidFill>
                  <a:srgbClr val="D4D4D4"/>
                </a:solidFill>
                <a:latin typeface="Consolas"/>
              </a:rPr>
              <a:t>)</a:t>
            </a:r>
          </a:p>
          <a:p>
            <a:pPr>
              <a:spcAft>
                <a:spcPts val="364"/>
              </a:spcAft>
            </a:pPr>
            <a:r>
              <a:rPr sz="1700" i="0" b="0">
                <a:solidFill>
                  <a:srgbClr val="569CD6"/>
                </a:solidFill>
                <a:latin typeface="Consolas"/>
              </a:rPr>
              <a:t>VALUES</a:t>
            </a:r>
            <a:r>
              <a:rPr sz="1700" i="0" b="0">
                <a:solidFill>
                  <a:srgbClr val="D4D4D4"/>
                </a:solidFill>
                <a:latin typeface="Consolas"/>
              </a:rPr>
              <a:t> (</a:t>
            </a:r>
            <a:r>
              <a:rPr sz="1700" i="0" b="0">
                <a:solidFill>
                  <a:srgbClr val="B5CEA8"/>
                </a:solidFill>
                <a:latin typeface="Consolas"/>
              </a:rPr>
              <a:t>1</a:t>
            </a:r>
            <a:r>
              <a:rPr sz="1700" i="0" b="0">
                <a:solidFill>
                  <a:srgbClr val="D4D4D4"/>
                </a:solidFill>
                <a:latin typeface="Consolas"/>
              </a:rPr>
              <a:t>, </a:t>
            </a:r>
            <a:r>
              <a:rPr sz="1700" i="0" b="0">
                <a:solidFill>
                  <a:srgbClr val="B5CEA8"/>
                </a:solidFill>
                <a:latin typeface="Consolas"/>
              </a:rPr>
              <a:t>1</a:t>
            </a:r>
            <a:r>
              <a:rPr sz="1700" i="0" b="0">
                <a:solidFill>
                  <a:srgbClr val="D4D4D4"/>
                </a:solidFill>
                <a:latin typeface="Consolas"/>
              </a:rPr>
              <a:t>, </a:t>
            </a:r>
            <a:r>
              <a:rPr sz="1700" i="0" b="0">
                <a:solidFill>
                  <a:srgbClr val="4EC9B0"/>
                </a:solidFill>
                <a:latin typeface="Consolas"/>
              </a:rPr>
              <a:t>TIMESTAMP</a:t>
            </a:r>
            <a:r>
              <a:rPr sz="1700" i="0" b="0">
                <a:solidFill>
                  <a:srgbClr val="D4D4D4"/>
                </a:solidFill>
                <a:latin typeface="Consolas"/>
              </a:rPr>
              <a:t> </a:t>
            </a:r>
            <a:r>
              <a:rPr sz="1700" i="0" b="0">
                <a:solidFill>
                  <a:srgbClr val="CE9178"/>
                </a:solidFill>
                <a:latin typeface="Consolas"/>
              </a:rPr>
              <a:t>'2026-09-02 08:00:00'</a:t>
            </a:r>
            <a:r>
              <a:rPr sz="1700" i="0" b="0">
                <a:solidFill>
                  <a:srgbClr val="D4D4D4"/>
                </a:solidFill>
                <a:latin typeface="Consolas"/>
              </a:rPr>
              <a:t>, </a:t>
            </a:r>
            <a:r>
              <a:rPr sz="1700" i="0" b="0">
                <a:solidFill>
                  <a:srgbClr val="CE9178"/>
                </a:solidFill>
                <a:latin typeface="Consolas"/>
              </a:rPr>
              <a:t>'PROGRAMADA'</a:t>
            </a:r>
            <a:r>
              <a:rPr sz="1700" i="0" b="0">
                <a:solidFill>
                  <a:srgbClr val="D4D4D4"/>
                </a:solidFill>
                <a:latin typeface="Consolas"/>
              </a:rPr>
              <a:t>);</a:t>
            </a:r>
          </a:p>
          <a:p>
            <a:pPr>
              <a:spcAft>
                <a:spcPts val="364"/>
              </a:spcAft>
            </a:pPr>
            <a:r>
              <a:rPr sz="1700" i="1" b="0">
                <a:solidFill>
                  <a:srgbClr val="6A9955"/>
                </a:solidFill>
                <a:latin typeface="Consolas"/>
              </a:rPr>
              <a:t>-- INSERT 0 1   &lt;-- la acepta: para el motor la mascota 1 existe</a:t>
            </a:r>
          </a:p>
          <a:p>
            <a:pPr>
              <a:spcAft>
                <a:spcPts val="364"/>
              </a:spcAft>
            </a:pPr>
            <a:r>
              <a:rPr sz="1700" i="0" b="0">
                <a:solidFill>
                  <a:srgbClr val="D4D4D4"/>
                </a:solidFill>
                <a:latin typeface="Consolas"/>
              </a:rPr>
              <a:t/>
            </a:r>
          </a:p>
          <a:p>
            <a:pPr>
              <a:spcAft>
                <a:spcPts val="364"/>
              </a:spcAft>
            </a:pPr>
            <a:r>
              <a:rPr sz="1700" i="1" b="0">
                <a:solidFill>
                  <a:srgbClr val="6A9955"/>
                </a:solidFill>
                <a:latin typeface="Consolas"/>
              </a:rPr>
              <a:t>-- Un CHECK tampoco: solo mira columnas de SU propia fila.</a:t>
            </a:r>
          </a:p>
          <a:p>
            <a:pPr>
              <a:spcAft>
                <a:spcPts val="364"/>
              </a:spcAft>
            </a:pPr>
            <a:r>
              <a:rPr sz="1700" i="1" b="0">
                <a:solidFill>
                  <a:srgbClr val="6A9955"/>
                </a:solidFill>
                <a:latin typeface="Consolas"/>
              </a:rPr>
              <a:t>-- La regla «una mascota inactiva no agenda» necesita consultar OTRA tabla,</a:t>
            </a:r>
          </a:p>
          <a:p>
            <a:pPr>
              <a:spcAft>
                <a:spcPts val="364"/>
              </a:spcAft>
            </a:pPr>
            <a:r>
              <a:rPr sz="1700" i="1" b="0">
                <a:solidFill>
                  <a:srgbClr val="6A9955"/>
                </a:solidFill>
                <a:latin typeface="Consolas"/>
              </a:rPr>
              <a:t>-- y eso es un procedimiento (Clase 3) o un trigger (Clase 4).</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Que separa un diagrama ER de un dibujo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r-vs-dibuj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r-vs-dibuj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r-vs-dibujo-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er-vs-dibujo-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a:t>
            </a:r>
            <a:r>
              <a:rPr sz="2000" b="1" i="0">
                <a:solidFill>
                  <a:srgbClr val="333333"/>
                </a:solidFill>
                <a:latin typeface="Calibri"/>
              </a:rPr>
              <a:t>dibujo</a:t>
            </a:r>
            <a:r>
              <a:rPr sz="2000" b="0" i="0">
                <a:solidFill>
                  <a:srgbClr val="333333"/>
                </a:solidFill>
                <a:latin typeface="Calibri"/>
              </a:rPr>
              <a:t> son cajas unidas por líneas; un </a:t>
            </a:r>
            <a:r>
              <a:rPr sz="2000" b="1" i="0">
                <a:solidFill>
                  <a:srgbClr val="333333"/>
                </a:solidFill>
                <a:latin typeface="Calibri"/>
              </a:rPr>
              <a:t>diagrama ER</a:t>
            </a:r>
            <a:r>
              <a:rPr sz="2000" b="0" i="0">
                <a:solidFill>
                  <a:srgbClr val="333333"/>
                </a:solidFill>
                <a:latin typeface="Calibri"/>
              </a:rPr>
              <a:t> cumple cinco condiciones verificables.</a:t>
            </a:r>
          </a:p>
          <a:p>
            <a:pPr>
              <a:spcAft>
                <a:spcPts val="800"/>
              </a:spcAft>
            </a:pPr>
            <a:r>
              <a:rPr sz="2000" b="0" i="0">
                <a:solidFill>
                  <a:srgbClr val="333333"/>
                </a:solidFill>
                <a:latin typeface="Calibri"/>
              </a:rPr>
              <a:t>–   Entidades en singular con su PK, atributos con </a:t>
            </a:r>
            <a:r>
              <a:rPr sz="2000" b="1" i="0">
                <a:solidFill>
                  <a:srgbClr val="333333"/>
                </a:solidFill>
                <a:latin typeface="Calibri"/>
              </a:rPr>
              <a:t>tipo y longitud</a:t>
            </a:r>
            <a:r>
              <a:rPr sz="2000" b="0" i="0">
                <a:solidFill>
                  <a:srgbClr val="333333"/>
                </a:solidFill>
                <a:latin typeface="Calibri"/>
              </a:rPr>
              <a:t>, y cada FK señalada.</a:t>
            </a:r>
          </a:p>
          <a:p>
            <a:pPr>
              <a:spcAft>
                <a:spcPts val="800"/>
              </a:spcAft>
            </a:pPr>
            <a:r>
              <a:rPr sz="2000" b="0" i="0">
                <a:solidFill>
                  <a:srgbClr val="333333"/>
                </a:solidFill>
                <a:latin typeface="Calibri"/>
              </a:rPr>
              <a:t>–   Cada relación lleva </a:t>
            </a:r>
            <a:r>
              <a:rPr sz="2000" b="1" i="0">
                <a:solidFill>
                  <a:srgbClr val="333333"/>
                </a:solidFill>
                <a:latin typeface="Calibri"/>
              </a:rPr>
              <a:t>cardinalidad</a:t>
            </a:r>
            <a:r>
              <a:rPr sz="2000" b="0" i="0">
                <a:solidFill>
                  <a:srgbClr val="333333"/>
                </a:solidFill>
                <a:latin typeface="Calibri"/>
              </a:rPr>
              <a:t> en los dos extremos y un nombre verbal: dueno posee mascota.</a:t>
            </a:r>
          </a:p>
          <a:p>
            <a:pPr>
              <a:spcAft>
                <a:spcPts val="800"/>
              </a:spcAft>
            </a:pPr>
            <a:r>
              <a:rPr sz="2000" b="0" i="0">
                <a:solidFill>
                  <a:srgbClr val="333333"/>
                </a:solidFill>
                <a:latin typeface="Calibri"/>
              </a:rPr>
              <a:t>–   Prueba: otra persona escribe el </a:t>
            </a:r>
            <a:r>
              <a:rPr sz="2000" b="1" i="0">
                <a:solidFill>
                  <a:srgbClr val="333333"/>
                </a:solidFill>
                <a:latin typeface="Calibri"/>
              </a:rPr>
              <a:t>CREATE TABLE</a:t>
            </a:r>
            <a:r>
              <a:rPr sz="2000" b="0" i="0">
                <a:solidFill>
                  <a:srgbClr val="333333"/>
                </a:solidFill>
                <a:latin typeface="Calibri"/>
              </a:rPr>
              <a:t> mirándolo, sin preguntar nada.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Tipos de datos: donde se pagan las facturas mas caras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pos-de-dat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ipos-de-dat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ipos-de-dato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tipos-de-datos-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a:t>
            </a:r>
            <a:r>
              <a:rPr sz="2000" b="1" i="0">
                <a:solidFill>
                  <a:srgbClr val="333333"/>
                </a:solidFill>
                <a:latin typeface="Calibri"/>
              </a:rPr>
              <a:t>teléfono</a:t>
            </a:r>
            <a:r>
              <a:rPr sz="2000" b="0" i="0">
                <a:solidFill>
                  <a:srgbClr val="333333"/>
                </a:solidFill>
                <a:latin typeface="Calibri"/>
              </a:rPr>
              <a:t> no es un número: como NUMERIC pierde el 0 inicial y el +; va VARCHAR(30).</a:t>
            </a:r>
          </a:p>
          <a:p>
            <a:pPr>
              <a:spcAft>
                <a:spcPts val="800"/>
              </a:spcAft>
            </a:pPr>
            <a:r>
              <a:rPr sz="2000" b="0" i="0">
                <a:solidFill>
                  <a:srgbClr val="333333"/>
                </a:solidFill>
                <a:latin typeface="Calibri"/>
              </a:rPr>
              <a:t>–   Una </a:t>
            </a:r>
            <a:r>
              <a:rPr sz="2000" b="1" i="0">
                <a:solidFill>
                  <a:srgbClr val="333333"/>
                </a:solidFill>
                <a:latin typeface="Calibri"/>
              </a:rPr>
              <a:t>fecha</a:t>
            </a:r>
            <a:r>
              <a:rPr sz="2000" b="0" i="0">
                <a:solidFill>
                  <a:srgbClr val="333333"/>
                </a:solidFill>
                <a:latin typeface="Calibri"/>
              </a:rPr>
              <a:t> no es texto: como VARCHAR ordena alfabéticamente y no suma minutos; va TIMESTAMP.</a:t>
            </a:r>
          </a:p>
          <a:p>
            <a:pPr>
              <a:spcAft>
                <a:spcPts val="800"/>
              </a:spcAft>
            </a:pPr>
            <a:r>
              <a:rPr sz="2000" b="0" i="0">
                <a:solidFill>
                  <a:srgbClr val="333333"/>
                </a:solidFill>
                <a:latin typeface="Calibri"/>
              </a:rPr>
              <a:t>–   El </a:t>
            </a:r>
            <a:r>
              <a:rPr sz="2000" b="1" i="0">
                <a:solidFill>
                  <a:srgbClr val="333333"/>
                </a:solidFill>
                <a:latin typeface="Calibri"/>
              </a:rPr>
              <a:t>dinero</a:t>
            </a:r>
            <a:r>
              <a:rPr sz="2000" b="0" i="0">
                <a:solidFill>
                  <a:srgbClr val="333333"/>
                </a:solidFill>
                <a:latin typeface="Calibri"/>
              </a:rPr>
              <a:t> no es flotante: FLOAT acumula error al sumar; va DECIMAL(12,2).</a:t>
            </a:r>
          </a:p>
          <a:p>
            <a:pPr>
              <a:spcAft>
                <a:spcPts val="800"/>
              </a:spcAft>
            </a:pPr>
            <a:r>
              <a:rPr sz="2000" b="0" i="0">
                <a:solidFill>
                  <a:srgbClr val="333333"/>
                </a:solidFill>
                <a:latin typeface="Calibri"/>
              </a:rPr>
              <a:t>–   Todo VARCHAR(4000) por comodidad deja a la base </a:t>
            </a:r>
            <a:r>
              <a:rPr sz="2000" b="1" i="0">
                <a:solidFill>
                  <a:srgbClr val="333333"/>
                </a:solidFill>
                <a:latin typeface="Calibri"/>
              </a:rPr>
              <a:t>sin validar</a:t>
            </a:r>
            <a:r>
              <a:rPr sz="2000" b="0" i="0">
                <a:solidFill>
                  <a:srgbClr val="333333"/>
                </a:solidFill>
                <a:latin typeface="Calibri"/>
              </a:rPr>
              <a:t> nada.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Convenciones de nombres para que el DDL corra a la primera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mbres-minuscul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nombres-minuscul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nombres-minuscul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PostgreSQL pasa a </a:t>
            </a:r>
            <a:r>
              <a:rPr sz="2000" b="1" i="0">
                <a:solidFill>
                  <a:srgbClr val="333333"/>
                </a:solidFill>
                <a:latin typeface="Calibri"/>
              </a:rPr>
              <a:t>minúsculas</a:t>
            </a:r>
            <a:r>
              <a:rPr sz="2000" b="0" i="0">
                <a:solidFill>
                  <a:srgbClr val="333333"/>
                </a:solidFill>
                <a:latin typeface="Calibri"/>
              </a:rPr>
              <a:t> todo nombre sin comillas: CREATE TABLE Mascota crea mascota.</a:t>
            </a:r>
          </a:p>
          <a:p>
            <a:pPr>
              <a:spcAft>
                <a:spcPts val="800"/>
              </a:spcAft>
            </a:pPr>
            <a:r>
              <a:rPr sz="2000" b="0" i="0">
                <a:solidFill>
                  <a:srgbClr val="333333"/>
                </a:solidFill>
                <a:latin typeface="Calibri"/>
              </a:rPr>
              <a:t>–   Con </a:t>
            </a:r>
            <a:r>
              <a:rPr sz="2000" b="1" i="0">
                <a:solidFill>
                  <a:srgbClr val="333333"/>
                </a:solidFill>
                <a:latin typeface="Calibri"/>
              </a:rPr>
              <a:t>comillas dobles</a:t>
            </a:r>
            <a:r>
              <a:rPr sz="2000" b="0" i="0">
                <a:solidFill>
                  <a:srgbClr val="333333"/>
                </a:solidFill>
                <a:latin typeface="Calibri"/>
              </a:rPr>
              <a:t> el nombre se respeta letra a letra, y "Mascota" ya no es mascota.</a:t>
            </a:r>
          </a:p>
          <a:p>
            <a:pPr>
              <a:spcAft>
                <a:spcPts val="800"/>
              </a:spcAft>
            </a:pPr>
            <a:r>
              <a:rPr sz="2000" b="0" i="0">
                <a:solidFill>
                  <a:srgbClr val="333333"/>
                </a:solidFill>
                <a:latin typeface="Calibri"/>
              </a:rPr>
              <a:t>–   Regla: minúsculas, </a:t>
            </a:r>
            <a:r>
              <a:rPr sz="2000" b="1" i="0">
                <a:solidFill>
                  <a:srgbClr val="333333"/>
                </a:solidFill>
                <a:latin typeface="Calibri"/>
              </a:rPr>
              <a:t>singular</a:t>
            </a:r>
            <a:r>
              <a:rPr sz="2000" b="0" i="0">
                <a:solidFill>
                  <a:srgbClr val="333333"/>
                </a:solidFill>
                <a:latin typeface="Calibri"/>
              </a:rPr>
              <a:t>, sin tildes ni eñes, guion bajo y nunca comillas dobles.</a:t>
            </a:r>
          </a:p>
          <a:p>
            <a:pPr>
              <a:spcAft>
                <a:spcPts val="800"/>
              </a:spcAft>
            </a:pPr>
            <a:r>
              <a:rPr sz="2000" b="0" i="0">
                <a:solidFill>
                  <a:srgbClr val="333333"/>
                </a:solidFill>
                <a:latin typeface="Calibri"/>
              </a:rPr>
              <a:t>–   Mismo nombre en diagrama, DDL y Mermaid: cita.id_mascota </a:t>
            </a:r>
            <a:r>
              <a:rPr sz="2000" b="1" i="0">
                <a:solidFill>
                  <a:srgbClr val="333333"/>
                </a:solidFill>
                <a:latin typeface="Calibri"/>
              </a:rPr>
              <a:t>apunta</a:t>
            </a:r>
            <a:r>
              <a:rPr sz="2000" b="0" i="0">
                <a:solidFill>
                  <a:srgbClr val="333333"/>
                </a:solidFill>
                <a:latin typeface="Calibri"/>
              </a:rPr>
              <a:t> a mascota.id_mascota.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Herramientas del dia y que se puede demostrar con cada una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herramienta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Con </a:t>
            </a:r>
            <a:r>
              <a:rPr sz="2000" b="1" i="0">
                <a:solidFill>
                  <a:srgbClr val="333333"/>
                </a:solidFill>
                <a:latin typeface="Calibri"/>
              </a:rPr>
              <a:t>draw.io</a:t>
            </a:r>
            <a:r>
              <a:rPr sz="2000" b="0" i="0">
                <a:solidFill>
                  <a:srgbClr val="333333"/>
                </a:solidFill>
                <a:latin typeface="Calibri"/>
              </a:rPr>
              <a:t> o Excalidraw se piensa el modelo a mano alzada, sin instalar nada.</a:t>
            </a:r>
          </a:p>
          <a:p>
            <a:pPr>
              <a:spcAft>
                <a:spcPts val="800"/>
              </a:spcAft>
            </a:pPr>
            <a:r>
              <a:rPr sz="2000" b="0" i="0">
                <a:solidFill>
                  <a:srgbClr val="333333"/>
                </a:solidFill>
                <a:latin typeface="Calibri"/>
              </a:rPr>
              <a:t>–   En </a:t>
            </a:r>
            <a:r>
              <a:rPr sz="2000" b="1" i="0">
                <a:solidFill>
                  <a:srgbClr val="333333"/>
                </a:solidFill>
                <a:latin typeface="Calibri"/>
              </a:rPr>
              <a:t>DB Fiddle</a:t>
            </a:r>
            <a:r>
              <a:rPr sz="2000" b="0" i="0">
                <a:solidFill>
                  <a:srgbClr val="333333"/>
                </a:solidFill>
                <a:latin typeface="Calibri"/>
              </a:rPr>
              <a:t> (PostgreSQL en el navegador) corre el DDL y se ve el error real del motor.</a:t>
            </a:r>
          </a:p>
          <a:p>
            <a:pPr>
              <a:spcAft>
                <a:spcPts val="800"/>
              </a:spcAft>
            </a:pPr>
            <a:r>
              <a:rPr sz="2000" b="0" i="0">
                <a:solidFill>
                  <a:srgbClr val="333333"/>
                </a:solidFill>
                <a:latin typeface="Calibri"/>
              </a:rPr>
              <a:t>–   Un </a:t>
            </a:r>
            <a:r>
              <a:rPr sz="2000" b="1" i="0">
                <a:solidFill>
                  <a:srgbClr val="333333"/>
                </a:solidFill>
                <a:latin typeface="Calibri"/>
              </a:rPr>
              <a:t>visor Mermaid</a:t>
            </a:r>
            <a:r>
              <a:rPr sz="2000" b="0" i="0">
                <a:solidFill>
                  <a:srgbClr val="333333"/>
                </a:solidFill>
                <a:latin typeface="Calibri"/>
              </a:rPr>
              <a:t> dibuja el texto erDiagram, que se guarda junto al DDL.</a:t>
            </a:r>
          </a:p>
          <a:p>
            <a:pPr>
              <a:spcAft>
                <a:spcPts val="800"/>
              </a:spcAft>
            </a:pPr>
            <a:r>
              <a:rPr sz="2000" b="0" i="0">
                <a:solidFill>
                  <a:srgbClr val="333333"/>
                </a:solidFill>
                <a:latin typeface="Calibri"/>
              </a:rPr>
              <a:t>–   DB Fiddle no guarda nada: la </a:t>
            </a:r>
            <a:r>
              <a:rPr sz="2000" b="1" i="0">
                <a:solidFill>
                  <a:srgbClr val="333333"/>
                </a:solidFill>
                <a:latin typeface="Calibri"/>
              </a:rPr>
              <a:t>fuente de verdad</a:t>
            </a:r>
            <a:r>
              <a:rPr sz="2000" b="0" i="0">
                <a:solidFill>
                  <a:srgbClr val="333333"/>
                </a:solidFill>
                <a:latin typeface="Calibri"/>
              </a:rPr>
              <a:t> es el archivo .sql de la carpeta.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Del ER dibujado al codigo Mermaid</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r-a-mermaid-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r-a-mermaid-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r-a-mermaid-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er-a-mermaid-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ER en </a:t>
            </a:r>
            <a:r>
              <a:rPr sz="2000" b="1" i="0">
                <a:solidFill>
                  <a:srgbClr val="333333"/>
                </a:solidFill>
                <a:latin typeface="Calibri"/>
              </a:rPr>
              <a:t>Mermaid</a:t>
            </a:r>
            <a:r>
              <a:rPr sz="2000" b="0" i="0">
                <a:solidFill>
                  <a:srgbClr val="333333"/>
                </a:solidFill>
                <a:latin typeface="Calibri"/>
              </a:rPr>
              <a:t> no es una imagen: es texto erDiagram que un visor dibuja al instante.</a:t>
            </a:r>
          </a:p>
          <a:p>
            <a:pPr>
              <a:spcAft>
                <a:spcPts val="800"/>
              </a:spcAft>
            </a:pPr>
            <a:r>
              <a:rPr sz="2000" b="0" i="0">
                <a:solidFill>
                  <a:srgbClr val="333333"/>
                </a:solidFill>
                <a:latin typeface="Calibri"/>
              </a:rPr>
              <a:t>–   Se piensa en un boceto y una </a:t>
            </a:r>
            <a:r>
              <a:rPr sz="2000" b="1" i="0">
                <a:solidFill>
                  <a:srgbClr val="333333"/>
                </a:solidFill>
                <a:latin typeface="Calibri"/>
              </a:rPr>
              <a:t>IA</a:t>
            </a:r>
            <a:r>
              <a:rPr sz="2000" b="0" i="0">
                <a:solidFill>
                  <a:srgbClr val="333333"/>
                </a:solidFill>
                <a:latin typeface="Calibri"/>
              </a:rPr>
              <a:t> lo traduce; la sintaxis es de la IA, el modelo es tuyo.</a:t>
            </a:r>
          </a:p>
          <a:p>
            <a:pPr>
              <a:spcAft>
                <a:spcPts val="800"/>
              </a:spcAft>
            </a:pPr>
            <a:r>
              <a:rPr sz="2000" b="0" i="0">
                <a:solidFill>
                  <a:srgbClr val="333333"/>
                </a:solidFill>
                <a:latin typeface="Calibri"/>
              </a:rPr>
              <a:t>–   Se </a:t>
            </a:r>
            <a:r>
              <a:rPr sz="2000" b="1" i="0">
                <a:solidFill>
                  <a:srgbClr val="333333"/>
                </a:solidFill>
                <a:latin typeface="Calibri"/>
              </a:rPr>
              <a:t>revisa</a:t>
            </a:r>
            <a:r>
              <a:rPr sz="2000" b="0" i="0">
                <a:solidFill>
                  <a:srgbClr val="333333"/>
                </a:solidFill>
                <a:latin typeface="Calibri"/>
              </a:rPr>
              <a:t>: entidades completas, cardinalidad bien orientada, PK y FK marcadas.</a:t>
            </a:r>
          </a:p>
          <a:p>
            <a:pPr>
              <a:spcAft>
                <a:spcPts val="800"/>
              </a:spcAft>
            </a:pPr>
            <a:r>
              <a:rPr sz="2000" b="0" i="0">
                <a:solidFill>
                  <a:srgbClr val="333333"/>
                </a:solidFill>
                <a:latin typeface="Calibri"/>
              </a:rPr>
              <a:t>–   Siempre se pega en un </a:t>
            </a:r>
            <a:r>
              <a:rPr sz="2000" b="1" i="0">
                <a:solidFill>
                  <a:srgbClr val="333333"/>
                </a:solidFill>
                <a:latin typeface="Calibri"/>
              </a:rPr>
              <a:t>visor</a:t>
            </a:r>
            <a:r>
              <a:rPr sz="2000" b="0" i="0">
                <a:solidFill>
                  <a:srgbClr val="333333"/>
                </a:solidFill>
                <a:latin typeface="Calibri"/>
              </a:rPr>
              <a:t>: un diagrama que no renderiza no comunica nada.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Crear las tablas con su PK, FK y CHECK, e insertar un dueño, su mascota y una cita.</a:t>
            </a:r>
          </a:p>
          <a:p>
            <a:pPr>
              <a:spcAft>
                <a:spcPts val="800"/>
              </a:spcAft>
            </a:pPr>
            <a:r>
              <a:rPr sz="2000" b="0" i="0">
                <a:solidFill>
                  <a:srgbClr val="333333"/>
                </a:solidFill>
                <a:latin typeface="Calibri"/>
              </a:rPr>
              <a:t>–   Insertar una cita para la mascota </a:t>
            </a:r>
            <a:r>
              <a:rPr sz="2000" b="1" i="0">
                <a:solidFill>
                  <a:srgbClr val="333333"/>
                </a:solidFill>
                <a:latin typeface="Calibri"/>
              </a:rPr>
              <a:t>999</a:t>
            </a:r>
            <a:r>
              <a:rPr sz="2000" b="0" i="0">
                <a:solidFill>
                  <a:srgbClr val="333333"/>
                </a:solidFill>
                <a:latin typeface="Calibri"/>
              </a:rPr>
              <a:t> y leer el error de clave foránea del motor.</a:t>
            </a:r>
          </a:p>
          <a:p>
            <a:pPr>
              <a:spcAft>
                <a:spcPts val="800"/>
              </a:spcAft>
            </a:pPr>
            <a:r>
              <a:rPr sz="2000" b="0" i="0">
                <a:solidFill>
                  <a:srgbClr val="333333"/>
                </a:solidFill>
                <a:latin typeface="Calibri"/>
              </a:rPr>
              <a:t>–   Pasar el boceto a </a:t>
            </a:r>
            <a:r>
              <a:rPr sz="2000" b="1" i="0">
                <a:solidFill>
                  <a:srgbClr val="333333"/>
                </a:solidFill>
                <a:latin typeface="Calibri"/>
              </a:rPr>
              <a:t>erDiagram</a:t>
            </a:r>
            <a:r>
              <a:rPr sz="2000" b="0" i="0">
                <a:solidFill>
                  <a:srgbClr val="333333"/>
                </a:solidFill>
                <a:latin typeface="Calibri"/>
              </a:rPr>
              <a:t> y comprobar que los nombres coinciden con el DDL.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Del boceto al código Mermaid</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diagrama es texto Mermaid: la imagen sale del codigo, no al reves</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Disena visual</a:t>
            </a:r>
          </a:p>
          <a:p>
            <a:pPr>
              <a:spcBef>
                <a:spcPts val="200"/>
              </a:spcBef>
            </a:pPr>
            <a:r>
              <a:rPr sz="1300" b="0" i="0">
                <a:solidFill>
                  <a:srgbClr val="333333"/>
                </a:solidFill>
                <a:latin typeface="Calibri"/>
              </a:rPr>
              <a:t>Dibuja el diagrama como quieras en Excalidraw o draw.io: es mas rapido arrastrar cajas que escribir codigo, y ahi es donde piensas el modelo.</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Traduce con IA</a:t>
            </a:r>
          </a:p>
          <a:p>
            <a:pPr>
              <a:spcBef>
                <a:spcPts val="200"/>
              </a:spcBef>
            </a:pPr>
            <a:r>
              <a:rPr sz="1300" b="0" i="0">
                <a:solidFill>
                  <a:srgbClr val="333333"/>
                </a:solidFill>
                <a:latin typeface="Calibri"/>
              </a:rPr>
              <a:t>Copia o describe tu boceto a una IA y pidele el codigo Mermaid usando erDiagram. Revisa el resultado: la IA acierta la sintaxis, no tu modelo.</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Renderiza y corrige</a:t>
            </a:r>
          </a:p>
          <a:p>
            <a:pPr>
              <a:spcBef>
                <a:spcPts val="200"/>
              </a:spcBef>
            </a:pPr>
            <a:r>
              <a:rPr sz="1300" b="0" i="0">
                <a:solidFill>
                  <a:srgbClr val="333333"/>
                </a:solidFill>
                <a:latin typeface="Calibri"/>
              </a:rPr>
              <a:t>Pega el codigo en un visor Mermaid (por ejemplo mermaid.live) y mira como lo dibuja. Si no renderiza, corrige ahi mismo: un diagrama que no renderiza no comunica nada.</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Guarda codigo e imagen</a:t>
            </a:r>
          </a:p>
          <a:p>
            <a:pPr>
              <a:spcBef>
                <a:spcPts val="200"/>
              </a:spcBef>
            </a:pPr>
            <a:r>
              <a:rPr sz="1300" b="0" i="0">
                <a:solidFill>
                  <a:srgbClr val="333333"/>
                </a:solidFill>
                <a:latin typeface="Calibri"/>
              </a:rPr>
              <a:t>Conserva el texto Mermaid, que es la fuente, y exporta el PNG para tu informe.</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 · Revision BD I · Arranque de la base de datos</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Por que esto no es Bases de Datos I, y el vocabulario minimo</a:t>
            </a:r>
          </a:p>
          <a:p>
            <a:pPr algn="ctr">
              <a:spcAft>
                <a:spcPts val="600"/>
              </a:spcAft>
            </a:pPr>
            <a:r>
              <a:rPr sz="1600" b="0" i="0">
                <a:solidFill>
                  <a:srgbClr val="333333"/>
                </a:solidFill>
                <a:latin typeface="Calibri"/>
              </a:rPr>
              <a:t>Nivel conceptual y nivel fisico</a:t>
            </a:r>
          </a:p>
          <a:p>
            <a:pPr algn="ctr">
              <a:spcAft>
                <a:spcPts val="600"/>
              </a:spcAft>
            </a:pPr>
            <a:r>
              <a:rPr sz="1600" b="0" i="0">
                <a:solidFill>
                  <a:srgbClr val="333333"/>
                </a:solidFill>
                <a:latin typeface="Calibri"/>
              </a:rPr>
              <a:t>Clave primaria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Todo lo visto queda proyectado para repasar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