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Tema de hoy: Revision BD I · Arranque la base de la clínica</a:t>
            </a:r>
          </a:p>
          <a:p/>
          <a:p>
            <a:r>
              <a:t>Herramienta: draw.io + DB Fiddle · Bloque 120 min</a:t>
            </a:r>
          </a:p>
          <a:p/>
          <a:p>
            <a:r>
              <a:t>Gratis + navegador · free tier · sin software de pago obligatorio.</a:t>
            </a:r>
          </a:p>
          <a:p/>
          <a:p>
            <a:r>
              <a:t>Recorrido: teoría del tema, una lámina por concepto, y demo del docente sobre la base de la clínica.</a:t>
            </a:r>
          </a:p>
          <a:p/>
          <a:p>
            <a:r>
              <a:t>Cada lámina se sostiene sola: sirve para repasar aunque hayas faltado.</a:t>
            </a:r>
          </a:p>
          <a:p/>
          <a:p>
            <a:r>
              <a:t>Conceptos de hoy: Por que esto no es Bases de Datos I, y el vocabulario minimo · Nivel conceptual y nivel fisico · El patron de tabla · El JOIN de tres tablas.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clínica Veterinaria (Cali): unas 150 citas al día, 16 veterinarios, ~5.000 mascotas de ~2.000 dueños — y todo en carpetas de papel.</a:t>
            </a:r>
          </a:p>
          <a:p/>
          <a:p>
            <a:r>
              <a:t>Duele en tres puntos: se extravían fichas, buscar un historial genera filas en la sala de espera, y no hay métricas.</a:t>
            </a:r>
          </a:p>
          <a:p/>
          <a:p>
            <a:r>
              <a:t>Tres personas van a usar el sistema, y esperan cosas distintas: el dueño métricas, la recepcionista agendar rápido, el veterinario el historial a la mano.</a:t>
            </a:r>
          </a:p>
          <a:p/>
          <a:p>
            <a:r>
              <a:t>Sus intereses entran en conflicto: más datos dan mejores métricas, pero hacen más lento el agendamiento. Ahí están las decisiones de diseño del semestre.</a:t>
            </a:r>
          </a:p>
          <a:p/>
          <a:p>
            <a:r>
              <a:t>El modelo de la clínica tiene 8 entidades y 3 reglas de negocio: dueño, mascota, veterinario, cita, consulta, insumo, factura y detalle de factura.</a:t>
            </a:r>
          </a:p>
          <a:p/>
          <a:p>
            <a:r>
              <a:t>DESARROLLO (para explicarlo, no se proyecta):</a:t>
            </a:r>
          </a:p>
          <a:p>
            <a:r>
              <a:t>La administracion reporta tres problemas y conviene enunciarlos tal cual, porque cada uno se traduce despues en una decision de esquema: se extravian fichas de pacientes</a:t>
            </a:r>
          </a:p>
          <a:p>
            <a:r>
              <a:t>Y esa es la razon de que el expediente tenga que vivir en una fila con clave primaria y no en un papel; buscar un historial en el archivo fisico genera filas en la sala de espera</a:t>
            </a:r>
          </a:p>
          <a:p>
            <a:r>
              <a:t>Que es el motivo por el que en la Clase 7 se habla de indices y no como un tema abstracto de rendimiento; y no hay metricas, no saben cuantas especies atienden al mes.</a:t>
            </a:r>
          </a:p>
          <a:p>
            <a:r>
              <a:t>NOTAS:</a:t>
            </a:r>
          </a:p>
          <a:p>
            <a:r>
              <a:t>Antes de dibujar una sola tabla hay que decir para quien se dibuja.</a:t>
            </a:r>
          </a:p>
          <a:p>
            <a:r>
              <a:t>Hay que fijar la nomenclatura en voz alta porque el material la usa con precision y el estudiante la mezcla: la clínica es la CLINICA, es decir el cliente que tiene el problema; la clínica es el SISTEMA que se le construye, y la base de la clínica es concretamente la base de datos de ese sistema, que es lo que se hace en esta asignatura.</a:t>
            </a:r>
          </a:p>
          <a:p>
            <a:r>
              <a:t>Programacion II construye la aplicacion para el mismo cliente y Seminario disena sus planos, asi que un estudiante que curse dos de las tres materias trabaja el mismo caso desde dos angulos.</a:t>
            </a:r>
          </a:p>
          <a:p>
            <a:r>
              <a:t>La frontera de hoy conviene decirla de forma explicita para cortar la ansiedad: aqui no se pide la aplicacion ni la interfaz, se pide la capa de datos, y por eso el producto del semestre es un esquema con integridad, roles, procedimientos y un plan de ejecucion, no una pantalla.</a:t>
            </a:r>
          </a:p>
          <a:p>
            <a:r>
              <a:t>Los tres interesados son la herramienta de decision mas util que se le puede dar hoy al estudiante, y estan en la diapositiva por eso.</a:t>
            </a:r>
          </a:p>
          <a:p>
            <a:r>
              <a:t>El dueno de la clinica quiere metricas del negocio.</a:t>
            </a:r>
          </a:p>
          <a:p>
            <a:r>
              <a:t>La recepcionista quiere agendar rapido y con pocos clics.</a:t>
            </a:r>
          </a:p>
          <a:p>
            <a:r>
              <a:t>El veterinario quiere el historial del paciente a la mano durante la consulta.</a:t>
            </a:r>
          </a:p>
          <a:p>
            <a:r>
              <a:t>Lo importante, y hay que subrayarlo, es que esos intereses ENTRAN EN CONFLICTO: pedir mas datos en el formulario de la cita da mejores metricas al dueno y le hace mas lento el trabajo a la recepcionista.</a:t>
            </a:r>
          </a:p>
          <a:p>
            <a:r>
              <a:t>Ahi esta la diferencia entre un modelo copiado y uno decidido.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Alla el objetivo era escribir consultas que devolvieran el resultado correcto</a:t>
            </a:r>
          </a:p>
          <a:p>
            <a:r>
              <a:t>Aqui es disenar un esquema que siga siendo correcto cuando lo usen tres personas distintas, cuando tenga cien mil filas y cuando alguien meta datos malos, a veces por error y a veces a proposito.</a:t>
            </a:r>
          </a:p>
          <a:p>
            <a:r>
              <a:t>Una tabla, o relacion, es un conjunto de entidades del mismo tipo: mascota guarda mascotas y nada mas.</a:t>
            </a:r>
          </a:p>
          <a:p>
            <a:r>
              <a:t>Una fila es una instancia concreta e irrepetible: la perra Luna de la duena Ana Perez.</a:t>
            </a:r>
          </a:p>
          <a:p>
            <a:r>
              <a:t>Una columna es un atributo, y todo atributo tiene un dominio, el conjunto de valores que el motor considera legales: especie no acepta cualquier texto, acepta Canino, Felino, Ave u Otro.</a:t>
            </a:r>
          </a:p>
          <a:p>
            <a:r>
              <a:t>Sobre estas tres nociones se monta el semestre: los roles de la Clase 2 se otorgan sobre tablas, los procedimientos de la Clase 3 validan columnas y los indices de la Clase 7 se crean sobre columnas concretas.</a:t>
            </a:r>
          </a:p>
          <a:p>
            <a:r>
              <a:t>NOTAS:</a:t>
            </a:r>
          </a:p>
          <a:p>
            <a:r>
              <a:t>Esta clase parece repetir Bases de Datos I y no lo hace.</a:t>
            </a:r>
          </a:p>
          <a:p>
            <a:r>
              <a:t>Conviene fijar el vocabulario operativo antes de dibujar nada.</a:t>
            </a:r>
          </a:p>
          <a:p>
            <a:r>
              <a:t>Conviene desactivar una trampa de vocabulario: la palabra dominio se usara hoy con dos sentidos, el de un atributo y el del proyecto, que es la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nivel conceptual nombra entidades y relaciones con vocabulario de negocio y sin comprometerse con ningun motor: Dueno posee Mascota, Veterinario atiende Cita.</a:t>
            </a:r>
          </a:p>
          <a:p>
            <a:r>
              <a:t>El nivel fisico convierte esas entidades en tablas con columnas tipadas, longitudes, restricciones y claves: dueno.telefono VARCHAR(30) NOT NULL.</a:t>
            </a:r>
          </a:p>
          <a:p>
            <a:r>
              <a:t>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r>
              <a:t>El criterio operativo para saber si el conceptual esta completo es exactamente ese: si otra persona puede escribir el fisico mirandolo, sin preguntar nada, esta completo.</a:t>
            </a:r>
          </a:p>
          <a:p>
            <a:r>
              <a:t>NOTAS:</a:t>
            </a:r>
          </a:p>
          <a:p>
            <a:r>
              <a:t>Antes de cualquier otra cosa hay que separar dos niveles que el estudiante mezcla y que hoy se recorren los dos.</a:t>
            </a:r>
          </a:p>
          <a:p>
            <a:r>
              <a:t>Conviene decirlo en voz alta porque explica por que se exige tipo y longitud en el diagrama: no es decoracion, es lo que hace traducible el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clave primaria es la columna, o el conjunto de columnas, que identifica una fila sin ambiguedad: no se repite y no admite nulos.</a:t>
            </a:r>
          </a:p>
          <a:p>
            <a:r>
              <a:t>La pregunta de diseno real no es si poner clave primaria, sino cual.</a:t>
            </a:r>
          </a:p>
          <a:p>
            <a:r>
              <a:t>Una clave natural es un atributo del mundo real que ya identifica la entidad: la cedula del dueno, el microchip de la mascota.</a:t>
            </a:r>
          </a:p>
          <a:p>
            <a:r>
              <a:t>Una clave sustituta, o surrogate, es un numero sin significado de negocio que la base genera: id_dueno 1, 2, 3.</a:t>
            </a:r>
          </a:p>
          <a:p>
            <a:r>
              <a:t>En la clínica pasan las tres cosas: el dueno llega sin cedula a la mano, un microchip se digita mal y hay que corregirlo, y una mascota rescatada no tiene microchip.</a:t>
            </a:r>
          </a:p>
          <a:p>
            <a:r>
              <a:t>Regla citable, y es convencion de oficio, no regla dura: si el valor lo controla un tercero, el Estado o un fabricante, no lo use como clave primaria.</a:t>
            </a:r>
          </a:p>
          <a:p>
            <a:r>
              <a:t>NOTAS:</a:t>
            </a:r>
          </a:p>
          <a:p>
            <a:r>
              <a:t>Eso no es estilo, es una restriccion que el motor verifica en cada INSERT y UPDATE y que rechaza con error.</a:t>
            </a:r>
          </a:p>
          <a:p>
            <a:r>
              <a:t>La natural ahorra un JOIN cuando se busca por ella; la sustituta gana cuando el dato natural cambia, se repite o todavia no existe.</a:t>
            </a:r>
          </a:p>
          <a:p>
            <a:r>
              <a:t>Por eso el esquema usa identificadores sustitutos y guarda el dato natural aparte con unicidad:.</a:t>
            </a:r>
          </a:p>
          <a:p>
            <a:r>
              <a:t>UNIQUE impide dos duenos con la misma cedula, permite dejarla nula un rato y permite corregirla sin tocar las filas de mascota que apuntan al dueno.</a:t>
            </a:r>
          </a:p>
          <a:p>
            <a:r>
              <a:t>CÓDIGO CITADO (referencia):</a:t>
            </a:r>
          </a:p>
          <a:p>
            <a:r>
              <a:t>CREATE TABLE dueno (id_dueno INT PRIMARY KEY, cedula VARCHAR(20) UNIQUE, nombre VARCHAR(80) NOT NULL, telefono VARCHAR(30), email VARCHAR(120))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normalizacion se dicta mejor al reves de como se suele dictar: primero la enfermedad.</a:t>
            </a:r>
          </a:p>
          <a:p>
            <a:r>
              <a:t>De actualizacion: cuando Ana Perez cambia de telefono hay que actualizar todas sus citas, y si una queda sin actualizar la base contiene dos verdades contradictorias.</a:t>
            </a:r>
          </a:p>
          <a:p>
            <a:r>
              <a:t>De insercion: no se puede registrar un dueno nuevo hasta que tenga una cita, porque el dato solo vive en cita.</a:t>
            </a:r>
          </a:p>
          <a:p>
            <a:r>
              <a:t>De borrado: al eliminar la ultima cita desaparece el telefono.</a:t>
            </a:r>
          </a:p>
          <a:p>
            <a:r>
              <a:t>Primera: nada de listas en una celda; guardar 3001112233 y 3159998877 juntos obliga a buscar con SUBSTR, no se puede indexar y no se sabe cual esta vigente, luego se crea telefono_dueno.</a:t>
            </a:r>
          </a:p>
          <a:p>
            <a:r>
              <a:t>Segunda: en detalle_factura, con clave compuesta (id_factura, id_insumo), un atributo como nombre_insumo depende solo de id_insumo y sale hacia insumo; en cambio precio_unitario se queda</a:t>
            </a:r>
          </a:p>
          <a:p>
            <a:r>
              <a:t>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r>
              <a:t>Tercera: si cita guardara especialidad_veterinario, ese atributo depende de id_veterinario y no de id_cita, luego sale hacia veterinario.</a:t>
            </a:r>
          </a:p>
          <a:p>
            <a:r>
              <a:t>La tercera forma normal es el punto de parada practico en casi todo sistema transaccional</a:t>
            </a:r>
          </a:p>
          <a:p>
            <a:r>
              <a:t>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  <a:p>
            <a:r>
              <a:t>NOTAS:</a:t>
            </a:r>
          </a:p>
          <a:p>
            <a:r>
              <a:t>Supongamos que el estudiante guarda el telefono del dueno dentro de cada fila de cita.</a:t>
            </a:r>
          </a:p>
          <a:p>
            <a:r>
              <a:t>Aparecen tres anomalias.</a:t>
            </a:r>
          </a:p>
          <a:p>
            <a:r>
              <a:t>Leidas asi, las tres formas normales son tres vacunas.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clave foranea apunta a la clave primaria de otra tabla y su efecto practico es que el motor se niega a guardar una referencia inventada.</a:t>
            </a:r>
          </a:p>
          <a:p>
            <a:r>
              <a:t>Si se intenta y la mascota 999 no existe, la sentencia falla y nombra la restriccion violada: eso es integridad referencial.</a:t>
            </a:r>
          </a:p>
          <a:p>
            <a:r>
              <a:t>Si no se especifica nada, Oracle y PostgreSQL asumen el comportamiento restrictivo, y esa es regla dura del estandar, no convencion.</a:t>
            </a:r>
          </a:p>
          <a:p>
            <a:r>
              <a:t>En la clínica se decide entidad por entidad: mascota hacia dueno restrictivo, porque borrar un dueno no debe evaporar el historial clinico; consulta hacia cita restrictivo</a:t>
            </a:r>
          </a:p>
          <a:p>
            <a:r>
              <a:t>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r>
              <a:t>La conclusion honesta es que en produccion casi nada se borra: se marca inactivo con activa CHAR(1) DEFAULT 'S' CHECK (activa IN ('S','N')).</a:t>
            </a:r>
          </a:p>
          <a:p>
            <a:r>
              <a:t>La accion ante el borrado del padre se declara en la propia FK: ON DELETE RESTRICT, o NO ACTION, que es la opcion por omision, impide borrar un dueno con mascotas</a:t>
            </a:r>
          </a:p>
          <a:p>
            <a:r>
              <a:t>ON DELETE CASCADE borraria tambien sus mascotas y citas, que en una clinica es perder historia clinica</a:t>
            </a:r>
          </a:p>
          <a:p>
            <a:r>
              <a:t>En la clínica la eleccion razonable es RESTRICT mas baja logica.</a:t>
            </a:r>
          </a:p>
          <a:p>
            <a:r>
              <a:t>NOTAS:</a:t>
            </a:r>
          </a:p>
          <a:p>
            <a:r>
              <a:t>Lo que casi nunca se explica es la otra mitad: que pasa al borrar el padre.</a:t>
            </a:r>
          </a:p>
          <a:p>
            <a:r>
              <a:t>Al declarar la clave foranea se elige el comportamiento</a:t>
            </a:r>
          </a:p>
          <a:p>
            <a:r>
              <a:t>RESTRICT o NO ACTION impide borrar el dueno mientras tenga mascotas, CASCADE borra las filas hijas en cadena y SET NULL deja la referencia nula.</a:t>
            </a:r>
          </a:p>
          <a:p>
            <a:r>
              <a:t>Esa baja logica es la que obliga a validar en la Clase 3 que una mascota inactiva no agende, porque la clave foranea la sigue aceptando: el identificador existe, el negocio no lo quiere.</a:t>
            </a:r>
          </a:p>
          <a:p>
            <a:r>
              <a:t>ON DELETE SET NULL deja la fila huerfana con la columna en nulo.</a:t>
            </a:r>
          </a:p>
          <a:p>
            <a:r>
              <a:t>CÓDIGO CITADO (referencia):</a:t>
            </a:r>
          </a:p>
          <a:p>
            <a:r>
              <a:t>INSERT INTO cita (id_cita, id_mascota, fecha_hora, estado) VALUES (101, 999, TIMESTAMP '2026-09-01 09:00:00', 'PROGRAMADA')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En un sistema real no se borran clientes ni pacientes: no se hace DELETE FROM mascota.</a:t>
            </a:r>
          </a:p>
          <a:p>
            <a:r>
              <a:t>Primero por integridad, porque la fila esta referenciada por citas, consultas y facturas y el motor lo va a impedir; segundo por trazabilidad</a:t>
            </a:r>
          </a:p>
          <a:p>
            <a:r>
              <a:t>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r>
              <a:t>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  <a:p>
            <a:r>
              <a:t>NOTAS:</a:t>
            </a:r>
          </a:p>
          <a:p>
            <a:r>
              <a:t>Conviene detenerse en la baja logica porque es la decision que sostiene medio semestre y casi nunca se explica.</a:t>
            </a:r>
          </a:p>
          <a:p>
            <a:r>
              <a:t>Lo que se hace es marcar la fila como inactiva: activa CHAR(1) DEFAULT 'S' CHECK (activa IN ('S','N')), y las consultas del dia a dia filtran WHERE activa = 'S'.</a:t>
            </a:r>
          </a:p>
          <a:p>
            <a:r>
              <a:t>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r>
              <a:t>Si el estudiante sale hoy con DELETE en la cabeza, en la Clase 3 no va a entender por que hace falta sp_agendar_cita.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Hace falta distinguir un diagrama entidad-relacion de un dibujo, porque es facil hacer lo segundo creyendo que es lo primero.</a:t>
            </a:r>
          </a:p>
          <a:p>
            <a:r>
              <a:t>Un dibujo son cajas con nombres unidas por lineas.</a:t>
            </a:r>
          </a:p>
          <a:p>
            <a:r>
              <a:t>Un diagrama bien hecho cumple cinco condiciones verificables: entidades en singular con su clave primaria marcada; cada atributo con tipo y longitud, no solo nombre</a:t>
            </a:r>
          </a:p>
          <a:p>
            <a:r>
              <a:t>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r>
              <a:t>El criterio de aceptacion que conviene entregar es operativo: el diagrama esta bien si otra persona puede escribir el CREATE TABLE completo mirandolo, sin preguntar nada.</a:t>
            </a:r>
          </a:p>
          <a:p>
            <a:r>
              <a:t>La opcionalidad es la parte que siempre se omite y la que mas cuesta despues.</a:t>
            </a:r>
          </a:p>
          <a:p>
            <a:r>
              <a:t>En la clínica, Consulta y Cita estan en relacion uno a uno pero no simetrica: una cita programada aun no tiene consulta, y una consulta no existe sin su cita.</a:t>
            </a:r>
          </a:p>
          <a:p>
            <a:r>
              <a:t>Como referencia de tamano, el modelo tiene ocho entidades y siete relaciones y debe caber legible en una hoja; si no cabe, se divide en vistas por subsistema, y eso es convencion, no norma.</a:t>
            </a:r>
          </a:p>
          <a:p>
            <a:r>
              <a:t>NOTAS:</a:t>
            </a:r>
          </a:p>
          <a:p>
            <a:r>
              <a:t>Eso se materializa como consulta.id_cita NOT NULL UNIQUE, no como una clave foranea simple, y decidirlo hoy evita la pregunta que aparece en la Clase 3 cuando alguien intenta registrar la consulta antes de la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Elegir tipos parece trivial y es donde se pagan las facturas mas caras del semestre.</a:t>
            </a:r>
          </a:p>
          <a:p>
            <a:r>
              <a:t>Un telefono no es un numero: como NUMBER se pierden los ceros iniciales, no cabe el prefijo internacional ni una extension, asi que va VARCHAR(30).</a:t>
            </a:r>
          </a:p>
          <a:p>
            <a:r>
              <a:t>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r>
              <a:t>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  <a:p>
            <a:r>
              <a:t>La tentacion contraria, declarar todo VARCHAR(4000) por comodidad, renuncia a que la base valide algo y traslada la validacion entera a quien programe cada pantalla.</a:t>
            </a:r>
          </a:p>
          <a:p>
            <a:r>
              <a:t>Numeros de referencia como convencion del curso: nombre VARCHAR(80), email VARCHAR(120) porque el estandar de correo admite hasta 254 caracteres, telefono VARCHAR(30), especie VARCHAR(40).</a:t>
            </a:r>
          </a:p>
          <a:p>
            <a:r>
              <a:t>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Todo en minusculas: PostgreSQL pliega a minuscula cualquier identificador sin comillas</a:t>
            </a:r>
          </a:p>
          <a:p>
            <a:r>
              <a:t>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r>
              <a:t>Nombres de tabla en singular y sin tildes ni enes: dueno, mascota, cita, veterinario, consulta, insumo, factura, detalle_factura.</a:t>
            </a:r>
          </a:p>
          <a:p>
            <a:r>
              <a:t>Una tabla es un conjunto de entidades del mismo tipo, pero se nombra por lo que guarda cada fila, y el singular hace que la clave foranea se lea sola: cita.id_mascota apunta a mascota.id_mascota.</a:t>
            </a:r>
          </a:p>
          <a:p>
            <a:r>
              <a:t>Palabras compuestas con guion bajo (detalle_factura, fecha_hora), nunca camelCase.</a:t>
            </a:r>
          </a:p>
          <a:p>
            <a:r>
              <a:t>Y la convencion que mas tiempo ahorra en el semestre: el mismo nombre en el diagrama, en el DDL y en el codigo Mermaid; cuando los tres coinciden, el modelo se lee una sola vez.</a:t>
            </a:r>
          </a:p>
          <a:p>
            <a:r>
              <a:t>Ejemplo del error mas comun: CREATE TABLE "Mascota" con comillas crea un nombre sensible a mayusculas, y despues SELECT * FROM mascota responde relation "mascota" does not exist.</a:t>
            </a:r>
          </a:p>
          <a:p>
            <a:r>
              <a:t>Sin comillas, Mascota, MASCOTA y mascota son el mismo objeto.</a:t>
            </a:r>
          </a:p>
          <a:p>
            <a:r>
              <a:t>NOTAS:</a:t>
            </a:r>
          </a:p>
          <a:p>
            <a:r>
              <a:t>Convenciones de nombres del curso.</a:t>
            </a:r>
          </a:p>
          <a:p>
            <a:r>
              <a:t>Identificadores sustitutos uniformes con el patron id_&lt;entidad&gt;, el mismo nombre en la tabla propia y en la que la referencia, para que el JOIN se escriba sin buscar como se llamo la columna alla.</a:t>
            </a:r>
          </a:p>
          <a:p>
            <a:r>
              <a:t>Fuera de la lamina (habla de la practica): Convenciones de nombres del curso, y hay que exigirlas desde hoy porque el taller se corrige ejecutando el guion en el PostgreSQL que PostgreSQL en el navegador trae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Tambien se demuestra el borrado en cascada: DELETE FROM factura WHERE id_factura = 1 y verificar con SELECT COUNT(*) FROM detalle_factura que las lineas hijas desaparecieron.</a:t>
            </a:r>
          </a:p>
          <a:p>
            <a:r>
              <a:t>DB Fiddle: es un PostgreSQL real en el navegador que ejecuta el DDL y muestra el error exacto si algo no compila.</a:t>
            </a:r>
          </a:p>
          <a:p>
            <a:r>
              <a:t>Un visor Mermaid: convierte el texto erDiagram en el diagrama, y ese texto es la fuente que se versiona junto al DDL.</a:t>
            </a:r>
          </a:p>
          <a:p>
            <a:r>
              <a:t>NOTAS:</a:t>
            </a:r>
          </a:p>
          <a:p>
            <a:r>
              <a:t>Sobre lo que se puede demostrar con herramientas gratuitas conviene ser preciso.</a:t>
            </a:r>
          </a:p>
          <a:p>
            <a:r>
              <a:t>En DB Fiddle, sin cuenta y en menos de un minuto, se ejecuta el guion completo de CREATE TABLE con claves primarias, foraneas y CHECK, se insertan Ana Perez, Luna y su cita, se corre el JOIN de las tres tablas y, sobre todo, se provoca el error de integridad en vivo insertando una cita con id_mascota inexistente para que el grupo lea el mensaje real del motor.</a:t>
            </a:r>
          </a:p>
          <a:p>
            <a:r>
              <a:t>Lo que DB Fiddle no da es persistencia: cada ejecucion recrea el esquema desde cero y no hay usuarios ni roles reales, razon por la cual la Clase 2 trabaja con matriz documentada.</a:t>
            </a:r>
          </a:p>
          <a:p>
            <a:r>
              <a:t>Oracle Live SQL exige cuenta gratuita pero conserva esquema y guiones entre sesiones y admite bloques PL/SQL, que es lo que se necesitara desde la Clase 3; conviene que el estudiante la cree hoy y no el dia que la necesite. draw.io corre en el navegador, no pide cuenta y exporta PNG, el formato que pide PostgreSQL en el navegador.</a:t>
            </a:r>
          </a:p>
          <a:p>
            <a:r>
              <a:t>De ahi sale la regla operativa del curso: la fuente de verdad es el archivo sql en la carpeta del proyecto, nunca la pestana del navegador, y el estudiante va bien si reconstruye el esquema completo en menos de cinco minutos pegando su propio guion. draw.io y Excalidraw: son pizarras para pensar el modelo a mano alzada, sin instalar nada.</a:t>
            </a:r>
          </a:p>
          <a:p>
            <a:r>
              <a:t>Fuera de la lamina (habla de la practica): Sobre lo que se puede demostrar con herramientas gratuitas conviene ser preciso, porque de eso depende que el taller no se 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modelo ER en Mermaid NO es una imagen: es texto en sintaxis Mermaid (erDiagram) que un visor renderiza al instante.</a:t>
            </a:r>
          </a:p>
          <a:p>
            <a:r>
              <a:t>La IA acierta la sintaxis; el modelo sigue siendo del estudiante, y por eso hay que revisar lo que devuelve: entidades completas, cardinalidades en el sentido correcto, PK y FK marcadas.</a:t>
            </a:r>
          </a:p>
          <a:p>
            <a:r>
              <a:t>El paso que nadie se puede saltar es pegar el codigo en un visor Mermaid y mirarlo renderizado, porque un diagrama que no renderiza no comunica nada.</a:t>
            </a:r>
          </a:p>
          <a:p>
            <a:r>
              <a:t>NOTAS:</a:t>
            </a:r>
          </a:p>
          <a:p>
            <a:r>
              <a:t>Ultimo tramo.</a:t>
            </a:r>
          </a:p>
          <a:p>
            <a:r>
              <a:t>Eso no significa que haya que dibujar escribiendo codigo, y conviene decirlo asi para que nadie se bloquee: el camino corto es disenar visual en draw.io o Excalidraw, que es donde se piensa el modelo, y despues pedirle a una IA que traduzca ese boceto a Mermaid.</a:t>
            </a:r>
          </a:p>
          <a:p>
            <a:r>
              <a:t>El PNG exportado se conserva en la carpeta del proyecto para el informe, pero no reemplaza la respuesta en la plataforma.</a:t>
            </a:r>
          </a:p>
          <a:p>
            <a:r>
              <a:t>La demo debe terminar exactamente ahi, y deja los cuatro pasos proyectados mientras el grupo trabaja.</a:t>
            </a:r>
          </a:p>
          <a:p>
            <a:r>
              <a:t>PREGUNTAS FRECUENTES DEL GRUPO</a:t>
            </a:r>
          </a:p>
          <a:p>
            <a:r>
              <a:t>Primera: si la pantalla muestra todo junto, por que no una sola tabla con todo.</a:t>
            </a:r>
          </a:p>
          <a:p>
            <a:r>
              <a:t>Segunda: la clave primaria tiene que ser el primer campo y autoincremental.</a:t>
            </a:r>
          </a:p>
          <a:p>
            <a:r>
              <a:t>No: el orden fisico de las columnas es irrelevante para el motor, la clave primaria es una restriccion y no una posicion, y el autoincremento es solo una forma comoda de generar valores sustitutos.</a:t>
            </a:r>
          </a:p>
          <a:p>
            <a:r>
              <a:t>Tercera, la mas valiosa porque abre las clases siguientes: si pongo la clave foranea, ya no necesito validar en la aplicacion.</a:t>
            </a:r>
          </a:p>
          <a:p>
            <a:r>
              <a:t>La clave foranea garantiza que el identificador exista, no que la regla de negocio se cumpla; la mascota inactiva tiene un identificador valido y la clave foranea la acepta sin chistar.</a:t>
            </a:r>
          </a:p>
          <a:p>
            <a:r>
              <a:t>Tres preguntas aparecen casi siempre y conviene tener la respuesta lista.</a:t>
            </a:r>
          </a:p>
          <a:p>
            <a:r>
              <a:t>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r>
              <a:t>Esa regla necesita otra herramienta: un CHECK cuando mira solo columnas de la misma fila, un procedimiento almacenado cuando debe consultar otra tabla, que es el hito de la Clase 3, o un disparador cuando debe aplicarse aunque nadie llame al procedimiento, que es el hito de la Clase 4.</a:t>
            </a:r>
          </a:p>
          <a:p>
            <a:r>
              <a:t>Fuera de la lamina (habla de la practica): Ultimo tramo, y es el que decide si el taller se entrega o no: como pasa el estudiante del dibujo a lo que la plataforma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+ DB Fiddle</a:t>
            </a:r>
          </a:p>
          <a:p/>
          <a:p>
            <a:r>
              <a:t>Demo: Boceto ER en draw.io (Dueno-Mascota-Cita) + CREATE TABLE minimo en DB Fiddle, y cierre pasando el boceto a Mermaid con IA para pegarlo renderizado.</a:t>
            </a:r>
          </a:p>
          <a:p/>
          <a:p>
            <a:r>
              <a:t>Sigan el mismo dominio de la clínica (no inventen otro caso).</a:t>
            </a:r>
          </a:p>
          <a:p/>
          <a:p>
            <a:r>
              <a:t>Qué observar: la FK rechaza una cita para una mascota que no existe: el motor responde con violacion de clave foranea y no inserta nada.</a:t>
            </a:r>
          </a:p>
          <a:p/>
          <a:p>
            <a:r>
              <a:t>Qué observar: el mismo modelo en tres formas que deben coincidir: el boceto, el DDL que compila y el texto erDiagram.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Revision BD I · Arranque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proyecto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Revision BD I · Arranque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una clínica veterinaria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clínica es la clínica (el cliente); la base de la clínica es la base de datos que usted construye para ella.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7149" y="1678969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eterinary-clinic-paper-reco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752121"/>
            <a:ext cx="5864193" cy="39115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SHVETS production · Pexels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63624"/>
            <a:ext cx="5093061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clínica Veterinaria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la-fila-colum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abla-fila-colum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abla-fila-colum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ceptual-fisic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ceptual-fisic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ceptual-fisic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la clínica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citas”, “un veterinario atiende N citas”. La PK identifica cada fila; la FK materializa la relación y la BD la hace cumplir: una cita con id_mascota 999 que no existe se rechaza con violación de clave foránea.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52440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93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93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PK: identifica la fila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REFERENCES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),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FK: materializa la relacion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precio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precio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regla de negocio en la BD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FK vive en la tabla que depende; con UNIQUE la relacion queda 1:1 (una consulta por cita). El CHECK ya es una regla de negocio.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Mismo patron que pedira su DDL, sobre otra tabla del modelo.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sustituta: la genera la base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tarjeta_prof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natural: unica, pero puede faltar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80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obligatorio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'GENERAL'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'CIRUGIA'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'DERMATOLOGIA'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)),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baja logica, no DELETE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JOIN sigue una FK: cita llega a mascota por id_mascota, y mascota a dueno por id_dueno. El WHERE filtra despues de unir; si falta una condicion ON, el resultado no es un error sino un producto cartesiano.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k-natural-sustitu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k-natural-sustitu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k-natural-sustitu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omali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nomali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nomali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anomalia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k-restrictiv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k-restrictiv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k-restrictiv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precio_unit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precio_unit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El comportamiento al borrar el padre SE ELIGE. Si no se declara,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PostgreSQL asume NO ACTION: se niega a borrar. Eso es del estandar.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ALTER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detalle_factura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ADD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CONSTRAINT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fk_detalle_insumo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FOREIGN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REFERENCES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RESTRICT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-- no se borra un insumo ya facturado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Existe la mascota 1, no existe la 999.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09:00:00'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INSERT 0 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999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10:00:00'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ERROR:  insert or update on table "cita" violates foreign key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        constraint "cita_id_mascota_fkey"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DETAIL:  Key (id_mascota)=(999) is not present in table "mascota".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ja-logic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ja-logic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ja-logic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408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246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La FK garantiza que el identificador EXISTA. No que el negocio lo quiera.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baja logica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'2026-09-02 08:00:00'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INSERT 0 1   &lt;-- la acepta: para el motor la mascota 1 existe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Un CHECK tampoco: solo mira columnas de SU propia fila.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La regla «una mascota inactiva no agenda» necesita consultar OTRA tabla,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y eso es un procedimiento (Clase 3) o un trigger (Clase 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vs-dibuj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vs-dibuj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vs-dibuj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es facil hacer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de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de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de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mbres-minuscu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ombres-minuscu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ombres-minuscu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83170"/>
            <a:ext cx="6010497" cy="4039130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browser-database-code-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56322"/>
            <a:ext cx="5864193" cy="38928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luis gomes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DB Fiddle: es un PostgreSQL real en el navegador que ejecuta el DDL y muestra el error exacto si algo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visor Mermaid: convierte el texto erDiagram en el diagrama, y ese texto es la fuente que se versiona junto al DDL.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a-mermai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a-mermai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a-mermai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ER en Mermaid NO es una imagen: es texto en sintaxis Mermaid (erDiagram) que un visor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un visor Mermaid y mirarlo renderizado, porque un diagrama que no renderiza no comunica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FK rechaza una cita para una mascota que no existe: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Revision BD I · Arranque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Por que esto no es Bases de Datos I, y el vocabulario minimo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Nivel conceptual y nivel fisico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Clave primaria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