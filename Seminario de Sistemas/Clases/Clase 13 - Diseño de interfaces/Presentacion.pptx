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Un wireframe, un mockup y un prototipo no son tres nombres elegantes para lo mismo: son tres momentos distintos del diseño y cada uno responde una pregunta diferente.</a:t>
            </a:r>
          </a:p>
          <a:p/>
          <a:p>
            <a:r>
              <a:t>El wireframe es el esqueleto en gris, cajas, lineas y etiquetas, sin colores ni logos, y responde a la pregunta que informacion va en esta pantalla y en que orden la va a leer la persona.</a:t>
            </a:r>
          </a:p>
          <a:p/>
          <a:p>
            <a:r>
              <a:t>El mockup ya es la foto fija de como se vera: tipografia, color, iconos, el logo de la clinica, los espacios reales entre elementos; responde a la pregunta como se ve.</a:t>
            </a:r>
          </a:p>
          <a:p/>
          <a:p>
            <a:r>
              <a:t>El prototipo es el mockup con clic, es decir uno oprime Guardar y la herramienta lo lleva a otra pantalla; responde a la pregunta como se siente usarlo.</a:t>
            </a:r>
          </a:p>
          <a:p/>
          <a:p>
            <a:r>
              <a:t>En la clinica esto se traduce asi: el wireframe de Registrar mascota se hace en diez minutos en Excalidraw y solo dice que arriba va la busqueda del dueño, en el centro los datos de la mascota y abajo el boton Guardar</a:t>
            </a:r>
          </a:p>
          <a:p/>
          <a:p>
            <a:r>
              <a:t>El mockup de esa misma pantalla ya usa el verde de la clinica y una tipografia grande porque la recepcionista tiene el monitor lejos; y el prototipo permite que el docente, en la sustentacion, oprima Guardar y aterrice en la ficha del paciente recien creado.</a:t>
            </a:r>
          </a:p>
          <a:p/>
          <a:p>
            <a:r>
              <a:t>La razon de hacerlo en ese orden es puramente economica: mover una caja en un wireframe cuesta treinta segundos, mover esa misma caja cuando ya esta programada en Programacion II cuesta dos sesiones de trabajo.</a:t>
            </a:r>
          </a:p>
          <a:p/>
          <a:p>
            <a:r>
              <a:t>Diseñar es equivocarse barato.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Los principios de usabilidad no son gusto ni estetica, son reglas observables que se pueden verificar sobre el papel.</a:t>
            </a:r>
          </a:p>
          <a:p/>
          <a:p>
            <a:r>
              <a:t>Visibilidad del estado del sistema significa que la persona siempre sepa que esta pasando: si la recepcionista oprime Guardar y la pantalla no dice nada, ella va a oprimir Guardar otra vez y el sistema va a terminar con la mascota registrada dos veces</a:t>
            </a:r>
          </a:p>
          <a:p/>
          <a:p>
            <a:r>
              <a:t>Por eso el diseño debe incluir el mensaje concreto Ficha guardada, codigo M-0421, y el boton debe quedar deshabilitado mientras se guarda.</a:t>
            </a:r>
          </a:p>
          <a:p/>
          <a:p>
            <a:r>
              <a:t>Prevencion de errores significa que es mejor impedir el error que ponerle un mensaje bonito despues: la fecha de nacimiento se escoge en un calendario y no se teclea</a:t>
            </a:r>
          </a:p>
          <a:p/>
          <a:p>
            <a:r>
              <a:t>La especie se elige de una lista cerrada con Canino, Felino y Otro, y el sistema pide confirmacion antes de eliminar una historia clinica.</a:t>
            </a:r>
          </a:p>
          <a:p/>
          <a:p>
            <a:r>
              <a:t>Consistencia significa que la misma accion se llame igual y viva en el mismo lugar en todas las pantallas: si en Registrar mascota el boton principal se llama Guardar y esta abajo a la derecha</a:t>
            </a:r>
          </a:p>
          <a:p/>
          <a:p>
            <a:r>
              <a:t>En Registrar dueño no puede llamarse Aceptar ni estar arriba a la izquierda.</a:t>
            </a:r>
          </a:p>
          <a:p/>
          <a:p>
            <a:r>
              <a:t>Reconocer antes que recordar significa que la persona escoja de una lista en vez de acordarse de un codigo: la recepcionista no tiene por que memorizar que el codigo de raza mestiza es 07, se lo mostramos.</a:t>
            </a:r>
          </a:p>
          <a:p/>
          <a:p>
            <a:r>
              <a:t>Cada uno de estos cuatro principios se puede auditar sobre un wireframe impreso, sin una sola linea de codigo, y esa auditoria es exactamente lo que se evalua en esta asignatura.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Una pantalla suelta no sirve para nada; lo que se diseña es un flujo de tarea completo, es decir el recorrido que hace una persona real desde que tiene una intencion hasta que la cumple.</a:t>
            </a:r>
          </a:p>
          <a:p/>
          <a:p>
            <a:r>
              <a:t>El flujo tiene un camino feliz y tiene caminos alternos, y los caminos alternos son donde se cae el diseño de los principiantes.</a:t>
            </a:r>
          </a:p>
          <a:p/>
          <a:p>
            <a:r>
              <a:t>En la clinica el camino feliz de registrar una mascota es: llega el dueño, la recepcionista lo busca, lo encuentra, registra la mascota y el sistema devuelve el codigo.</a:t>
            </a:r>
          </a:p>
          <a:p/>
          <a:p>
            <a:r>
              <a:t>Pero los caminos alternos son igual de reales: el dueño no esta registrado y hay que crearlo sin perder lo que ya se habia escrito de la mascota</a:t>
            </a:r>
          </a:p>
          <a:p/>
          <a:p>
            <a:r>
              <a:t>La mascota ya existe porque otro turno la registro ayer y hay que avisarlo en vez de duplicarla; el dueño no trae documento y hay que permitir el registro con telefono como identificador temporal.</a:t>
            </a:r>
          </a:p>
          <a:p/>
          <a:p>
            <a:r>
              <a:t>En Buscar expediente pasa lo mismo: el camino feliz es buscar por documento del dueño y encontrar una sola ficha, pero hay que diseñar que ocurre cuando la busqueda por nombre devuelve doce mascotas llamadas Firulais</a:t>
            </a:r>
          </a:p>
          <a:p/>
          <a:p>
            <a:r>
              <a:t>Y ahi la respuesta de diseño es mostrar en la lista de resultados la especie, la edad y el nombre del dueño para poder distinguirlas de un vistazo.</a:t>
            </a:r>
          </a:p>
          <a:p/>
          <a:p>
            <a:r>
              <a:t>Un flujo que solo dibuja el camino feliz no es un diseño, es una postal.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La interfaz no se inventa: se deriva de los artefactos que el equipo ya construyo en las clases anteriores.</a:t>
            </a:r>
          </a:p>
          <a:p/>
          <a:p>
            <a:r>
              <a:t>Cada pantalla debe poder señalar el requisito funcional que la origina, cada campo debe existir en el diccionario de datos con su tipo y su longitud</a:t>
            </a:r>
          </a:p>
          <a:p/>
          <a:p>
            <a:r>
              <a:t>Y cada boton debe corresponder a una operacion que aparece en el diagrama de casos de uso o en el de secuencia.</a:t>
            </a:r>
          </a:p>
          <a:p/>
          <a:p>
            <a:r>
              <a:t>La trazabilidad no es burocracia, es el mecanismo que hace que los planos y la casa coincidan.</a:t>
            </a:r>
          </a:p>
          <a:p/>
          <a:p>
            <a:r>
              <a:t>NOTAS:</a:t>
            </a:r>
          </a:p>
          <a:p/>
          <a:p>
            <a:r>
              <a:t>Por eso los wireframes se entregan anotados: se ponen numeritos sobre el dibujo y al lado una tabla que dice, por ejemplo, el numero uno es el campo Nombre de la mascota que sale del atributo Mascota.nombre, texto de sesenta caracteres, obligatorio, exigido por RF-03; el numero cuatro es el mensaje de confirmacion que cumple el RNF-02 de respuesta menor a tres segundos.</a:t>
            </a:r>
          </a:p>
          <a:p/>
          <a:p>
            <a:r>
              <a:t>Esa anotacion tiene un efecto secundario muy util: si aparece un campo en la pantalla que no esta en el diccionario de datos, entonces o falta un requisito o sobra el campo, y ambas cosas hay que resolverlas hoy y no cuando el compañero de Programacion II ya escribio la tabla.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Una interfaz se puede evaluar sin programarla, y esa es una de las habilidades mas valiosas que se lleva un analista.</a:t>
            </a:r>
          </a:p>
          <a:p/>
          <a:p>
            <a:r>
              <a:t>El metodo mas barato es el recorrido cognitivo: se toma una tarea concreta, por ejemplo registrar la mascota Luna de la señora Perez</a:t>
            </a:r>
          </a:p>
          <a:p/>
          <a:p>
            <a:r>
              <a:t>Y una persona que no participo en el diseño intenta hacerla sobre el prototipo sin que nadie le explique nada, mientras usted cuenta cuantos clics necesito, donde dudo y donde se equivoco.</a:t>
            </a:r>
          </a:p>
          <a:p/>
          <a:p>
            <a:r>
              <a:t>La variante de bolsillo es la prueba de pasillo: se le pide a tres compañeros de otro grupo que lo intenten y se anota, sin defenderse ni explicar.</a:t>
            </a:r>
          </a:p>
          <a:p/>
          <a:p>
            <a:r>
              <a:t>Para la clinica hay que evaluar pensando en la usuaria real, que es la recepcionista de la clinica: no es experta en computadores, escribe lento, contesta el telefono mientras registra y tiene un perro ladrando al lado.</a:t>
            </a:r>
          </a:p>
          <a:p/>
          <a:p>
            <a:r>
              <a:t>NOTAS:</a:t>
            </a:r>
          </a:p>
          <a:p/>
          <a:p>
            <a:r>
              <a:t>Eso obliga a decisiones de diseño concretas: letra grande, pocos campos obligatorios, nada de scroll interminable, tolerancia a la interrupcion para que si la llaman y vuelve en tres minutos no haya perdido lo escrito, y mensajes en lenguaje de clinica y no de sistemas, es decir Esta mascota ya tiene ficha en la clinica y no Violacion de restriccion de unicidad.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Herramienta: Figma o Penpot · Excalidraw · Google Docs</a:t>
            </a:r>
          </a:p>
          <a:p/>
          <a:p>
            <a:r>
              <a:t>Demo: Se dibuja en vivo el wireframe de Registrar mascota en Penpot, le pone tres anotaciones numeradas y lo conecta con Buscar expediente para que la clase vea en la misma pantalla la diferencia entre wireframe, mockup y prototipo.</a:t>
            </a:r>
          </a:p>
          <a:p/>
          <a:p>
            <a:r>
              <a:t>Mismo dominio: la clinica veterinaria — no otro ejemplo. Aqui se diseña, no se programa.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Diseño de interfaces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Del boceto en gris al prototipo que se puede recorrer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Encuadre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Tema: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Diseño de interfaces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Del boceto en gris al prototipo que se puede recorrer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Herramienta del tema: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Figma o Penpot · Excalidraw · Google Docs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Bloque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120 min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Ejemplo de toda la clase: el sistema de una clinica veterinaria.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Mapa del bloque de hoy (120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76272"/>
            <a:ext cx="112772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38625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0-10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Encuadre y repaso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94084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2659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10-40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8379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Teoria Core del tema de hoy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9543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8118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40-60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3838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Demo en vivo sobre la clinica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5002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577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60-105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297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Practica (opcional, guia en la carpeta)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60461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9036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105-120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756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Sintesis y cierre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Solo el bloque de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esta</a:t>
            </a:r>
            <a:r>
              <a:rPr sz="1200" b="0" i="1">
                <a:solidFill>
                  <a:srgbClr val="666666"/>
                </a:solidFill>
                <a:latin typeface="Calibri"/>
              </a:rPr>
              <a:t> clase · 120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Wireframe, mockup y prototipo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ire-mock-prot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wire-mock-prot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wire-mock-proto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Wireframe: esqueleto en gris. ¿Qué información va y en qué orden se lee?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Mockup: la foto fija de cómo se verá: tipografía, color, iconos. ¿Cómo se ve?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Prototipo: el mockup con clic. ¿Cómo se siente usarlo?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Mover una caja en un wireframe cuesta treinta segundos; ya programada, dos sesiones.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Cuatro principios de usabilidad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bilidad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usabilidad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usabilidad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usabilidad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Visibilidad del estado: «Ficha guardada, código M-0421» y el botón deshabilitado mientras guarda.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Prevención de errores: calendario en vez de teclear, especie de una lista cerrada.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Consistencia: la misma acción con el mismo nombre y en el mismo lugar.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Reconocer antes que recordar: elegir de una lista, no memorizar códigos.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flujo de tarea y sus caminos alternos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lujo-tare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flujo-tare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flujo-tarea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diseña el recorrido completo, de la intención a la tarea cumplida.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Camino feliz: buscar al dueño, encontrarlo, registrar la mascota y recibir el código.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Alternos: dueño no registrado, mascota ya existente, dueño sin documento.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Doce mascotas llamadas Firulais: mostrar especie, edad y dueño para distinguirlas.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mapa de navegacion del prototipo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6991923" cy="3204626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6991923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5894643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Mermaid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2610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5986083" cy="2610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7"/>
              </a:spcAft>
            </a:pPr>
            <a:r>
              <a:rPr sz="1200" i="0" b="0">
                <a:solidFill>
                  <a:srgbClr val="D4D4D4"/>
                </a:solidFill>
                <a:latin typeface="Consolas"/>
              </a:rPr>
              <a:t>flowchart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LR</a:t>
            </a:r>
          </a:p>
          <a:p>
            <a:pPr>
              <a:spcAft>
                <a:spcPts val="257"/>
              </a:spcAft>
            </a:pPr>
            <a:r>
              <a:rPr sz="12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login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Ingreso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] --&gt;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menu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Menu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principal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257"/>
              </a:spcAft>
            </a:pPr>
            <a:r>
              <a:rPr sz="12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menu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regm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Registrar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257"/>
              </a:spcAft>
            </a:pPr>
            <a:r>
              <a:rPr sz="12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menu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busc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Buscar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expediente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257"/>
              </a:spcAft>
            </a:pPr>
            <a:r>
              <a:rPr sz="12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menu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agen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Agendar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cita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257"/>
              </a:spcAft>
            </a:pPr>
            <a:r>
              <a:rPr sz="12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57"/>
              </a:spcAft>
            </a:pPr>
            <a:r>
              <a:rPr sz="12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regm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--&gt;|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guardar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menu</a:t>
            </a:r>
          </a:p>
          <a:p>
            <a:pPr>
              <a:spcAft>
                <a:spcPts val="257"/>
              </a:spcAft>
            </a:pPr>
            <a:r>
              <a:rPr sz="12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regm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--&gt;|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cancelar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menu</a:t>
            </a:r>
          </a:p>
          <a:p>
            <a:pPr>
              <a:spcAft>
                <a:spcPts val="257"/>
              </a:spcAft>
            </a:pPr>
            <a:r>
              <a:rPr sz="12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busc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--&gt;|</a:t>
            </a:r>
            <a:r>
              <a:rPr sz="1200" i="0" b="0">
                <a:solidFill>
                  <a:srgbClr val="B5CEA8"/>
                </a:solidFill>
                <a:latin typeface="Consolas"/>
              </a:rPr>
              <a:t>1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resultado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det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Detalle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del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expediente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257"/>
              </a:spcAft>
            </a:pPr>
            <a:r>
              <a:rPr sz="12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busc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--&gt;|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varios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lista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Lista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resultados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] --&gt;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det</a:t>
            </a:r>
          </a:p>
          <a:p>
            <a:pPr>
              <a:spcAft>
                <a:spcPts val="257"/>
              </a:spcAft>
            </a:pPr>
            <a:r>
              <a:rPr sz="12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busc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--&gt;|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ninguno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vacio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Estado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vacio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&lt;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br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/&gt;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con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accion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sugerida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68579" y="1261872"/>
            <a:ext cx="4120780" cy="3318569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g-navegacion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443" y="1316736"/>
            <a:ext cx="4011052" cy="32088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23443" y="4580441"/>
            <a:ext cx="40110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Lo que dibuja este código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Calibri"/>
              </a:rPr>
              <a:t>Los tres caminos de una busqueda —uno, varios, ninguno— separan un wireframe de un dibujo.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Flujo de tarea con caminos alternos en Mermaid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6991923" cy="4333711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6991923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5894643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Mermaid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373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13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14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5986083" cy="373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flowchart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TD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Recepcion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llega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dueño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con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su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B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{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Dueño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ya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registrado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?}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B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--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No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Pantalla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Registrar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dueño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B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--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Si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D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Pantalla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Registrar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D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D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{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Campos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obligatorios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completos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?}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--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No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F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Guardar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deshabilitado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+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ayuda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en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campo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F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D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--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Si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G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Confirmacion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Ficha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guardada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codigo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300" i="0" b="0">
                <a:solidFill>
                  <a:srgbClr val="B5CEA8"/>
                </a:solidFill>
                <a:latin typeface="Consolas"/>
              </a:rPr>
              <a:t>0421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G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H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Pantalla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Buscar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expediente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H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I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{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Cuantos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resultados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?}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I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--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Cero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J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Sin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resultados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+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Buscar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por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otro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criterio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I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--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Varios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K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Lista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con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especie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edad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y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dueño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I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--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Uno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L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Ficha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del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paciente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68579" y="1261872"/>
            <a:ext cx="4120780" cy="3318569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g-flujo-tare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443" y="1316736"/>
            <a:ext cx="4011052" cy="32088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23443" y="4580441"/>
            <a:ext cx="40110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Lo que dibuja este código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Calibri"/>
              </a:rPr>
              <a:t>La interfaz no son pantallas sueltas: es un camino con desvios, y los desvios son los que hay que diseñar.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interfaz se deriva de los artefactos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ireframe-anotad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wireframe-anotad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wireframe-anotado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pantalla señala el RF que la origina.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campo existe en el diccionario de datos con su tipo y longitud.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botón corresponde a una operación del caso de uso o de la secuencia.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campo sin respaldo en el diccionario: o falta un requisito o sobra el campo.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tabla de anotaciones del wireframe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3755638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Tabla Markdown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316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316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Campo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la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pantalla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|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RF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que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lo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exige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|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Atributo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la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clase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 |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Validacion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       |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>|--------------------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--|-----------------|-----------------------|-------------------|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Nombre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              |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RF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700" i="0" b="0">
                <a:solidFill>
                  <a:srgbClr val="B5CEA8"/>
                </a:solidFill>
                <a:latin typeface="Consolas"/>
              </a:rPr>
              <a:t>01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          |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nombre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       |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obligatorio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      |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Especie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             |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RF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700" i="0" b="0">
                <a:solidFill>
                  <a:srgbClr val="B5CEA8"/>
                </a:solidFill>
                <a:latin typeface="Consolas"/>
              </a:rPr>
              <a:t>01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          |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especie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      |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lista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cerrada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    |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Fecha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nacimiento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 |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RF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700" i="0" b="0">
                <a:solidFill>
                  <a:srgbClr val="B5CEA8"/>
                </a:solidFill>
                <a:latin typeface="Consolas"/>
              </a:rPr>
              <a:t>02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          |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fechaNac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     |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no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futura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        |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Dueno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               |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RF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700" i="0" b="0">
                <a:solidFill>
                  <a:srgbClr val="B5CEA8"/>
                </a:solidFill>
                <a:latin typeface="Consolas"/>
              </a:rPr>
              <a:t>01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          | </a:t>
            </a:r>
            <a:r>
              <a:rPr sz="1700" i="0" b="0">
                <a:solidFill>
                  <a:srgbClr val="DCDCAA"/>
                </a:solidFill>
                <a:latin typeface="Consolas"/>
              </a:rPr>
              <a:t>Mascota.idDueno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FK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)  |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debe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existir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     |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>-- Un campo sin RF que lo exija es un campo que nadie pidio: se quita o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>-- se agrega el requisito. Un atributo de la clase sin campo en ninguna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>-- pantalla es un dato que nadie puede ingresar.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Evaluar una interfaz sin programarla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evaluar-interfaz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Recorrido cognitivo: alguien ajeno al diseño intenta una tarea concreta sin ayuda; se cuentan clics, dudas y errores.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Prueba de pasillo: tres personas de otro grupo, y se anota sin defenderse.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evalúa con la usuaria real: escribe lento, la interrumpen, el monitor está lejos.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Mensajes de la clínica: «Esta mascota ya tiene ficha», no «violación de unicidad».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Demo del 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dem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Herramienta: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Figma o Penpot · Excalidraw · Google Docs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Demo: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Se dibuja en vivo el wireframe de Registrar mascota en Penpot, le pone tres anotaciones numeradas y lo conecta con Buscar expediente para…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Mismo dominio: la clinica veterinaria — no otro ejemplo. Aqui se diseña, no se programa.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Clase 13 · Diseño de interfaces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Del boceto en gris al prototipo que se puede recorrer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Repasen las laminas de teoria: cada concepto esta completo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Siguiente clase: continuamos con el siguiente 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Teoria al servicio del diseño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