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qDrf9eEEvoSxVXmzf6VNUr5Y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Seminario de Sistemas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8D8EE"/>
                </a:solidFill>
                <a:latin typeface="Calibri"/>
                <a:ea typeface="Calibri"/>
                <a:cs typeface="Calibri"/>
                <a:sym typeface="Calibri"/>
              </a:rPr>
              <a:t>Proyecto integrador de software</a:t>
            </a:r>
            <a:endParaRPr/>
          </a:p>
        </p:txBody>
      </p:sp>
      <p:pic>
        <p:nvPicPr>
          <p:cNvPr descr="logo_uniajc_blanco.png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1920240" cy="83696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57200" y="3337560"/>
            <a:ext cx="1127729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Código: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FI303301</a:t>
            </a: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· Grupo: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341C</a:t>
            </a: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· Periodo: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2026-2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Programa: Ingeniería de Sistemas · Facultad de Ingeniería · UNIAJC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Horario: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Jueves 18:00 – 20:00</a:t>
            </a: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(120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Modalidad: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Virtual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(todas las sesiones virtual síncrona por Meet · festivos autónoma)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Docente: Julian Andres Castaño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457200" y="6199632"/>
            <a:ext cx="11277295" cy="18288"/>
          </a:xfrm>
          <a:prstGeom prst="rect">
            <a:avLst/>
          </a:prstGeom>
          <a:solidFill>
            <a:srgbClr val="269C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Inicio de clase: </a:t>
            </a:r>
            <a:r>
              <a:rPr b="1" i="0" lang="en-US" sz="1600" u="none" cap="none" strike="noStrike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18:10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Julian Andres Castaño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560320" y="2057400"/>
            <a:ext cx="9174175" cy="1856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Ingeniero de Sistemas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Candidato a MsC en Inteligencia Artificial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Líder Técnico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Speaker Tecnológico</a:t>
            </a:r>
            <a:endParaRPr/>
          </a:p>
        </p:txBody>
      </p:sp>
      <p:pic>
        <p:nvPicPr>
          <p:cNvPr descr="outlook_icon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4050791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3063239" y="4032504"/>
            <a:ext cx="86712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D7A8C"/>
                </a:solidFill>
                <a:latin typeface="Calibri"/>
                <a:ea typeface="Calibri"/>
                <a:cs typeface="Calibri"/>
                <a:sym typeface="Calibri"/>
              </a:rPr>
              <a:t>julianacastano@profesores.uniajc.edu.co</a:t>
            </a:r>
            <a:endParaRPr/>
          </a:p>
        </p:txBody>
      </p:sp>
      <p:pic>
        <p:nvPicPr>
          <p:cNvPr descr="logo_uniajc_color.png"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879592"/>
            <a:ext cx="1645920" cy="723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Rompe-hielo · Padlet del grupo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fmla="val 12000" name="adj"/>
            </a:avLst>
          </a:prstGeom>
          <a:solidFill>
            <a:srgbClr val="E8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Escanea el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QR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o abre el enlace del tablero colaborativo.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Deja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 nota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en cada columna: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¿Quién soy? (nombre + una habilidad o hobby)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Expectativa del curso (1 frase)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Pregunta al docente / al grupo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5–8 min · sin instalar · solo navegador.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Enlace: </a:t>
            </a:r>
            <a:r>
              <a:rPr b="1" i="0" lang="en-US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https://padlet.com/andres_dfx/uniaj-l77e9uu16trgdvcp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_padlet_uniajc.png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1787" y="155448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QR oficial Padlet UNIAJC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¿Para qué existe este curso?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Consolidar conocimientos de Programacion II mediante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análisis, diseño, desarrollo y exposición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 proyectos integradores.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Fortalecer patrones, documentación técnica, pruebas y comunicación efectiva.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Objeto de estudio: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integración de conocimientos para proyectos de software OO.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de aprendizaje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Objeto de estudio: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integración de conocimientos para el desarrollo y presentación de proyectos de software orientados a objetos.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desarrollar un proyecto de software aplicando técnicas avanzadas de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fortaleciendo la documentación, validación y comunicación efectiva de soluciones.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Consolida lo aprendido en Programación II mediante análisis, diseño, desarrollo y exposición de proyectos integradores.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Se fortalecen patrones de diseño, documentación técnica, pruebas funcionales y despliegue básico de aplicaciones.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de aprendizaje (RAA)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RAA1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— Aplica patrones de diseño y principios de modularidad en proyectos de software. Organiza el código para que sea reutilizable, mantenible y colaborativo.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RAA2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— Documenta y valida aplicaciones mediante pruebas básicas. Elabora documentación técnica y realiza pruebas/validaciones funcionales del producto.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RAA3</a:t>
            </a:r>
            <a:r>
              <a:rPr b="0" i="0" lang="en-US" sz="15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— Presenta y sustenta proyectos de software de manera clara y estructurada. Comunica la solución tecnológica con calidad y compromiso profesional.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trabajamos en clase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0 (hoy)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= logística + acuerdo pedagógico + evaluación + CONTENIDO +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socialización del Proyecto Integrador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1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(material «Clase 1», archivo aparte) = diagnóstico de conocimientos previos + arranque temático — mismo bloque de hoy.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Cada jueves (120 min):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Teoría Core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Taller / exposición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→ cierre.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13 sesiones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: sesión 1 y parciales (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 / 9 / 13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presencial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; resto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virtual síncrona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; dos sesiones son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dobles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(dos temas en un bloque).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Hilo conductor de todo el semestre: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Proyecto Integrador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con avances y sustentación final. Enfoque ABPr · aprendizaje invertido.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de evaluación (Acuerdo pedagógico)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Corte 1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269CCB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24/08 – 27/09/2026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Parcial 1</a:t>
            </a: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(24/09 · sesión 5) · 10%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Talleres o Quiz · 10%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Asistencia · 10%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Corte 2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FFD000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28/09 – 25/10/2026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Parcial 2</a:t>
            </a: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(22/10 · sesión 9) · 10%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Talleres o Quiz · 10%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Asistencia · 10%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Corte 3</a:t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26/10 – 22/11/2026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Parcial 3</a:t>
            </a: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(19/11 · sesión 13) · 15%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Proyecto Integrador</a:t>
            </a: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· 20%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Asistencia · 5%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Parciales presencial síncrono · nunca en festivo/autónoma. Día de parcial = solo evaluación.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13 sesiones · los 15 temas se conservan: dos sesiones son </a:t>
            </a:r>
            <a:r>
              <a:rPr b="1" i="0"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dobles</a:t>
            </a:r>
            <a:r>
              <a:rPr b="0" i="0"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(dos temas en un bloque). Día 1: Sesión 0 (archivo aparte) + Sesión 1 (diagnóstico · tema)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0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Presentación del curso (logística) + socialización del PI (27/08)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1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Diagnóstico · Conceptos iniciales (27/08)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2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Ciclos de vida del software (03/09)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3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Metodologías tradicionales (10/09)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4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Metodologías ágiles (17/09)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5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Parcial 1 (24/09) · presencial · solo evaluación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6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Requerimientos de software (01/10)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7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Historias de usuario (08/10)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8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Introducción a UML + Casos de uso (15/10) · sesión doble · Clases 8+9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9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Parcial 2 (22/10) · presencial · solo evaluación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10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Avance del proyecto integrador + Diagramas UML avanzados (29/10) · sesión doble · Clases 11+12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11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Diseño de interfaces (05/11) · material Clase 13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12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Preparación de la sustentación y cierre (12/11) · material Clase 14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Sesión 13 –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Parcial 3 (19/11) · presencial · solo evaluación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 Integrador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Socialización de hoy (Sesión 0):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presentamos el PI completo para que lo tengan claro desde la Clase 1.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Diseño, desarrollo y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sustentación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de un proyecto de software orientado a objetos.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Incluye documentación técnica, pruebas basicas y comunicación clara de la solucion.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Pesa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en el tercer corte (además del Parcial 3).</a:t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Bibliografía (microcurrículo): GoF · Head First Design Patterns · Sommerville · Java Docs.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ExamLab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(https://uniaj.examlab.workers.dev/): entrega de talleres + quices/parciales del curso.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–   Material: carpeta compartida `Clases/` (Presentación del Curso y Clase N).</a:t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Acuerdos importantes</a:t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457200" y="1261872"/>
            <a:ext cx="11277295" cy="1051560"/>
          </a:xfrm>
          <a:prstGeom prst="roundRect">
            <a:avLst>
              <a:gd fmla="val 12000" name="adj"/>
            </a:avLst>
          </a:prstGeom>
          <a:solidFill>
            <a:srgbClr val="E8F4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57200" y="1261872"/>
            <a:ext cx="128016" cy="1051560"/>
          </a:xfrm>
          <a:prstGeom prst="rect">
            <a:avLst/>
          </a:prstGeom>
          <a:solidFill>
            <a:srgbClr val="269C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777240" y="1399031"/>
            <a:ext cx="10774375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69CCB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Jueves 18:00-20:00 (120 min). Modalidad: Virtual (todas las sesiones por Meet, incluidos los parciales). Grupo: 341C.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457200" y="2478024"/>
            <a:ext cx="11277295" cy="1051560"/>
          </a:xfrm>
          <a:prstGeom prst="roundRect">
            <a:avLst>
              <a:gd fmla="val 12000" name="adj"/>
            </a:avLst>
          </a:prstGeom>
          <a:solidFill>
            <a:srgbClr val="FFF8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57200" y="2478024"/>
            <a:ext cx="128016" cy="1051560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777240" y="2615184"/>
            <a:ext cx="10774375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D000"/>
                </a:solidFill>
                <a:latin typeface="Calibri"/>
                <a:ea typeface="Calibri"/>
                <a:cs typeface="Calibri"/>
                <a:sym typeface="Calibri"/>
              </a:rPr>
              <a:t>Aclaración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Día 1: Sesión 0 (Presentación del curso, archivo aparte) + Clase 1 (diagnóstico + Conceptos iniciales). Material estudiante solo en carpeta Clases/. Talleres y quices/parciales en ExamLab (https://uniaj.examlab.workers.dev/).</a:t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457200" y="3694176"/>
            <a:ext cx="11277295" cy="1051560"/>
          </a:xfrm>
          <a:prstGeom prst="roundRect">
            <a:avLst>
              <a:gd fmla="val 12000" name="adj"/>
            </a:avLst>
          </a:prstGeom>
          <a:solidFill>
            <a:srgbClr val="FBE4E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57200" y="3694176"/>
            <a:ext cx="128016" cy="1051560"/>
          </a:xfrm>
          <a:prstGeom prst="rect">
            <a:avLst/>
          </a:prstGeom>
          <a:solidFill>
            <a:srgbClr val="A020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777240" y="3831336"/>
            <a:ext cx="10774375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A02030"/>
                </a:solidFill>
                <a:latin typeface="Calibri"/>
                <a:ea typeface="Calibri"/>
                <a:cs typeface="Calibri"/>
                <a:sym typeface="Calibri"/>
              </a:rPr>
              <a:t>Atención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Parciales NUNCA en autónoma: P1=sesión 5 (24/09), P2=sesión 9 (22/10), P3=sesión 13 (19/11, con sustentación final).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del curso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B8D8EE"/>
                </a:solidFill>
                <a:latin typeface="Calibri"/>
                <a:ea typeface="Calibri"/>
                <a:cs typeface="Calibri"/>
                <a:sym typeface="Calibri"/>
              </a:rPr>
              <a:t>Gratis en navegador · Draw.io / Mermaid</a:t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457200" y="1591056"/>
            <a:ext cx="3624986" cy="2299716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57200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57200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rawio.png"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913" y="1792224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/>
        </p:nvSpPr>
        <p:spPr>
          <a:xfrm>
            <a:off x="530352" y="2916936"/>
            <a:ext cx="347868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draw.io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Diagramas UML</a:t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4283354" y="1591056"/>
            <a:ext cx="3624986" cy="2299716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283354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283354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rmaid.png" id="242" name="Google Shape;24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0067" y="1792224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3"/>
          <p:cNvSpPr txBox="1"/>
          <p:nvPr/>
        </p:nvSpPr>
        <p:spPr>
          <a:xfrm>
            <a:off x="4356506" y="2916936"/>
            <a:ext cx="347868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Mermaid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Docs as Code</a:t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8109508" y="1591056"/>
            <a:ext cx="3624986" cy="2299716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8109508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8109508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dlet.png" id="247" name="Google Shape;2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6222" y="1792224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8182660" y="2916936"/>
            <a:ext cx="347868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Padlet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Rompe-hielo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57200" y="4055364"/>
            <a:ext cx="3624986" cy="2299716"/>
          </a:xfrm>
          <a:prstGeom prst="roundRect">
            <a:avLst>
              <a:gd fmla="val 12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57200" y="4055364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457200" y="4119372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xamlab.png" id="252" name="Google Shape;25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3913" y="425653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 txBox="1"/>
          <p:nvPr/>
        </p:nvSpPr>
        <p:spPr>
          <a:xfrm>
            <a:off x="530352" y="5381244"/>
            <a:ext cx="347868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ExamLab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Talleres + quices/parciales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uniajc_color.png" id="260" name="Google Shape;2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1455" y="5998464"/>
            <a:ext cx="1463040" cy="64323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4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095292"/>
                </a:solidFill>
                <a:latin typeface="Calibri"/>
                <a:ea typeface="Calibri"/>
                <a:cs typeface="Calibri"/>
                <a:sym typeface="Calibri"/>
              </a:rPr>
              <a:t>¡Empezamos!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Seminario de Sistemas · Grupo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341C</a:t>
            </a: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· 2026-2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Jueves </a:t>
            </a:r>
            <a:r>
              <a:rPr b="1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18:00 – 20:00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UNIAJC · Ingeniería de Sistemas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269CCB"/>
                </a:solidFill>
                <a:latin typeface="Calibri"/>
                <a:ea typeface="Calibri"/>
                <a:cs typeface="Calibri"/>
                <a:sym typeface="Calibri"/>
              </a:rPr>
              <a:t>Proyecto + documentación + sustentación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