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Merriweather"/>
      <p:regular r:id="rId16"/>
      <p:bold r:id="rId17"/>
      <p:italic r:id="rId18"/>
      <p:boldItalic r:id="rId19"/>
    </p:embeddedFont>
    <p:embeddedFont>
      <p:font typeface="DM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11" Type="http://schemas.openxmlformats.org/officeDocument/2006/relationships/slide" Target="slides/slide6.xml"/><Relationship Id="rId22" Type="http://schemas.openxmlformats.org/officeDocument/2006/relationships/font" Target="fonts/DMSans-italic.fntdata"/><Relationship Id="rId10" Type="http://schemas.openxmlformats.org/officeDocument/2006/relationships/slide" Target="slides/slide5.xml"/><Relationship Id="rId21" Type="http://schemas.openxmlformats.org/officeDocument/2006/relationships/font" Target="fonts/DM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DM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erriweather-bold.fntdata"/><Relationship Id="rId16" Type="http://schemas.openxmlformats.org/officeDocument/2006/relationships/font" Target="fonts/Merriweath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bold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9.png"/><Relationship Id="rId7" Type="http://schemas.openxmlformats.org/officeDocument/2006/relationships/image" Target="../media/image17.png"/><Relationship Id="rId8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595437" y="2103090"/>
            <a:ext cx="9001125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Ajustes Finales y Code Freeze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381625" y="3874740"/>
            <a:ext cx="14287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4198590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Estabilización, Resiliencia y Manejo de Crisis (Clase 14)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404169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2055494" y="2737544"/>
            <a:ext cx="808101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Estabilización del Software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642419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Llega un punto en todo proyecto donde un buen ingeniero deja de inventar código nuevo y se dedica a blindar, proteger y estabilizar lo que ya existe.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Día Después del UAT</a:t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Enfrentando la realidad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81025" y="254793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 la clase pasada, el equipo evaluador expuso todos los fallos de su sistema. Tienen un documento lleno de "Issues".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752475" y="33004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19150" y="330041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 hay tiempo para repararlo todo. Entramos en fase de Triage.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52475" y="40528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19150" y="4052887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Solo nos concentraremos en los bugs críticos (aquellos que impiden realizar el registro principal).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52475" y="48053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19150" y="480536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 la fase de mayor estrés en la industria, donde se requiere cabeza fría y metodologías ágiles.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Degradación Elegante</a:t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581025" y="2043112"/>
            <a:ext cx="554069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Resiliencia de Software (Graceful Degradation)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81025" y="290988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Sabemos que el sistema va a fallar eventualmente. La meta no es la perfección, sino la resiliencia.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581025" y="3662362"/>
            <a:ext cx="5276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Degradación Elegante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es diseñar el código para que, si un componente falla (Ej. Falla la conexión a internet), el sistema entero no colapse. Simplemente desactiva algunas funciones pero mantiene el núcleo vivo.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581025" y="5024437"/>
            <a:ext cx="52768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 Java, logramos esto encapsulando operaciones riesgosas en bloques try-catch.</a:t>
            </a:r>
            <a:endParaRPr/>
          </a:p>
        </p:txBody>
      </p:sp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Experiencia de Usuario en Errores (UX)</a:t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No asustes al cliente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581025" y="2547937"/>
            <a:ext cx="52768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Cuando un programa explota y escupe texto rojo críptico (Ej. java.lang.NullPointerException en linea 42), el usuario siente miedo o frustración.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752475" y="36147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819150" y="3614737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Mala Práctica: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Mostrar excepciones técnicas desnudas.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752475" y="40624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819150" y="4062412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Buena Práctica: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Interceptar el error en el Controlador y traducirlo: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"Aviso: Ocurrió un problema guardando el dato. Por favor, intente con un ID distinto."</a:t>
            </a:r>
            <a:endParaRPr/>
          </a:p>
        </p:txBody>
      </p:sp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124075"/>
            <a:ext cx="5276850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24075"/>
            <a:ext cx="5276850" cy="364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Manejo de Crisis</a:t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971550" y="2543175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Hotfix (Parche Urgente)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971550" y="3048000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 una modificación rápida en el código fuente diseñada para resolver de inmediato un error crítico o un agujero de seguridad severo. Requiere probar y desplegar a máxima velocidad.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6724650" y="2543175"/>
            <a:ext cx="472059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Workaround (Solución Temporal)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6724650" y="3409950"/>
            <a:ext cx="4495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 faltan 24 horas para la entrega y no pueden reparar el bug lógico, buscan un desvío o "Workaround". Si un botón de reporte causa el crasheo, simplemente ocultan ese botón por ahora para que el cliente pueda seguir usando lo principal.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38350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Hito del "Code Freeze"</a:t>
            </a:r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581025" y="2038350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Prohibido inventar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581025" y="2543175"/>
            <a:ext cx="5276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Congelamiento de Código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(Code Freeze) es el momento oficial en el ciclo de vida donde se prohíbe terminantemente agregar nuevos features (características) al software.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752475" y="39052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819150" y="3905250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Garantiza la estabilidad.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752475" y="43529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819150" y="4352925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Las únicas modificaciones permitidas a partir de hoy son reparaciones de bugs urgentes.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752475" y="51054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819150" y="5105400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Cualquier idea brillante o botón nuevo tendrá que esperar a la versión 2.0.</a:t>
            </a:r>
            <a:endParaRPr/>
          </a:p>
        </p:txBody>
      </p:sp>
      <p:pic>
        <p:nvPicPr>
          <p:cNvPr descr="image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28850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905000"/>
            <a:ext cx="3422600" cy="408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1905000"/>
            <a:ext cx="3422600" cy="408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1905000"/>
            <a:ext cx="3422600" cy="408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Release Candidate (RC)</a:t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1047095" y="3190875"/>
            <a:ext cx="249031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La Versión Candidata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876300" y="3629025"/>
            <a:ext cx="283205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Cuando congelamos el código, nuestra versión pasa de ser una Beta a ser un RC (Release Candidate). Por ejemplo: v1.0.0-RC1.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5465772" y="3190875"/>
            <a:ext cx="126015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Changelog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4679900" y="3629025"/>
            <a:ext cx="28320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Acompañamos el RC con un documento (Changelog) detallando qué bugs críticos logramos reparar y qué limitaciones conocidas (Workarounds) aún existen.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8764309" y="3190875"/>
            <a:ext cx="227028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Listo para Entregar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8483500" y="3629025"/>
            <a:ext cx="28320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 el RC no presenta colapsos fatales en los días previos a la presentación final, se aprueba como la Versión Final Definitiva para la sustentación.</a:t>
            </a:r>
            <a:endParaRPr/>
          </a:p>
        </p:txBody>
      </p:sp>
      <p:pic>
        <p:nvPicPr>
          <p:cNvPr descr="image.png" id="179" name="Google Shape;17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2700" y="2381250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14876" y="2381250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61326" y="2381250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/>
        </p:nvSpPr>
        <p:spPr>
          <a:xfrm>
            <a:off x="305276" y="1782216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Inicio del Taller</a:t>
            </a:r>
            <a:endParaRPr/>
          </a:p>
        </p:txBody>
      </p:sp>
      <p:sp>
        <p:nvSpPr>
          <p:cNvPr id="187" name="Google Shape;187;p21"/>
          <p:cNvSpPr/>
          <p:nvPr/>
        </p:nvSpPr>
        <p:spPr>
          <a:xfrm>
            <a:off x="5381625" y="3125241"/>
            <a:ext cx="142875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581025" y="3553866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Volvemos al Editor de Código.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581025" y="4140547"/>
            <a:ext cx="1102995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Repararemos los bugs críticos usando try-catch, blindaremos nuestro Controlador y declararemos el </a:t>
            </a:r>
            <a:r>
              <a:rPr b="1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Code Freeze</a:t>
            </a: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oficial en su repositorio de GitHub.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2219325" y="2383333"/>
            <a:ext cx="77533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2219325" y="3168104"/>
            <a:ext cx="77533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2219325" y="3952875"/>
            <a:ext cx="77533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2219325" y="3158579"/>
            <a:ext cx="77533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2219325" y="3158579"/>
            <a:ext cx="77533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2219325" y="3943350"/>
            <a:ext cx="77533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2219325" y="3943350"/>
            <a:ext cx="77533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2219325" y="4728120"/>
            <a:ext cx="77533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2219325" y="4728120"/>
            <a:ext cx="77533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5" name="Google Shape;2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9325" y="253275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3314700" y="2526208"/>
            <a:ext cx="66579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https://cdn.prod.website-files.com/5eb9845c0972c01cdaec8415/63b49f08939f2bfb9d56454e_Cost-of-Defects.gif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3314700" y="2771923"/>
            <a:ext cx="66579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www.functionize.com</a:t>
            </a:r>
            <a:endParaRPr/>
          </a:p>
        </p:txBody>
      </p:sp>
      <p:pic>
        <p:nvPicPr>
          <p:cNvPr descr="image.png" id="208" name="Google Shape;20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9325" y="331752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3314700" y="3310979"/>
            <a:ext cx="66579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https://miro.medium.com/v2/resize:fit:1400/1*hmhsnrMTE2y_nXn622uoKw.jpeg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3314700" y="3556694"/>
            <a:ext cx="66579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wolffkraft.medium.com</a:t>
            </a:r>
            <a:endParaRPr/>
          </a:p>
        </p:txBody>
      </p:sp>
      <p:pic>
        <p:nvPicPr>
          <p:cNvPr descr="image.png" id="211" name="Google Shape;21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19325" y="410229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3314700" y="4095750"/>
            <a:ext cx="66579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https://www.wowmakers.com/static/90ad0f203b54995bde212c08fee58ec4/08.jpg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3314700" y="4341465"/>
            <a:ext cx="66579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www.wowmakers.com</a:t>
            </a:r>
            <a:endParaRPr/>
          </a:p>
        </p:txBody>
      </p:sp>
      <p:pic>
        <p:nvPicPr>
          <p:cNvPr descr="image.png" id="214" name="Google Shape;21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19325" y="48870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3314700" y="4880520"/>
            <a:ext cx="66579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https://trollheaven.wordpress.com/wp-content/uploads/2020/05/codefreeze.png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3314700" y="5126235"/>
            <a:ext cx="66579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trollheaven.wordpress.com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