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diagramas se agrupan en dos grandes vistas.</a:t>
            </a:r>
          </a:p>
          <a:p/>
          <a:p>
            <a:r>
              <a:t>Un mismo sistema necesita las dos, igual que una casa necesita el plano de plantas y tambien el plano de instalaciones.</a:t>
            </a:r>
          </a:p>
          <a:p/>
          <a:p>
            <a:r>
              <a:t>En el sistema de la clinica vamos a usar clases hoy, casos de uso y secuencia mas adelante, y el resto se menciona para que sepan que existen.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Cita relaciona a Mascota y a Veterinario, cada cita con exactamente una mascota y un veterinario, y cada veterinario con muchas citas.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Por eso el diagrama debe estar limpio: nombres en singular, sin atributos repetidos en dos clases, sin lineas sueltas y sin cajas que no correspondan a ningun requisito.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8</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Introduccion a UML</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El idioma comun para dibujar los planos del sistema de la clinica</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a:t>
            </a:r>
            <a:r>
              <a:rPr sz="2000" b="0" i="0">
                <a:solidFill>
                  <a:srgbClr val="333333"/>
                </a:solidFill>
                <a:latin typeface="Calibri"/>
              </a:rPr>
              <a:t> Introduccion a UML</a:t>
            </a:r>
          </a:p>
          <a:p>
            <a:pPr>
              <a:spcAft>
                <a:spcPts val="800"/>
              </a:spcAft>
            </a:pPr>
            <a:r>
              <a:rPr sz="2000" b="0" i="0">
                <a:solidFill>
                  <a:srgbClr val="333333"/>
                </a:solidFill>
                <a:latin typeface="Calibri"/>
              </a:rPr>
              <a:t>–   El idioma comun para dibujar los planos del sistema de la clinica</a:t>
            </a:r>
          </a:p>
          <a:p>
            <a:pPr>
              <a:spcAft>
                <a:spcPts val="800"/>
              </a:spcAft>
            </a:pPr>
            <a:r>
              <a:rPr sz="2000" b="0" i="0">
                <a:solidFill>
                  <a:srgbClr val="333333"/>
                </a:solidFill>
                <a:latin typeface="Calibri"/>
              </a:rPr>
              <a:t>–   Herramienta del tema: </a:t>
            </a:r>
            <a:r>
              <a:rPr sz="2000" b="1" i="0">
                <a:solidFill>
                  <a:srgbClr val="333333"/>
                </a:solidFill>
                <a:latin typeface="Calibri"/>
              </a:rPr>
              <a:t>draw.io · Mermaid</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Ejemplo de toda la clase: el sistema de una clinica veterinaria.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la clinica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Practica (opcional, guia en la carpeta)</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Sintesis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UML significa Lenguaje Unificado de Modelado y nacio en los anos...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UML significa Lenguaje Unificado de Modelado y nacio en los anos noventa para resolver un problema muy concreto: tres personas leian la misma frase en espanol y entendian tres sistemas distintos.</a:t>
            </a:r>
          </a:p>
          <a:p>
            <a:pPr>
              <a:spcAft>
                <a:spcPts val="800"/>
              </a:spcAft>
            </a:pPr>
            <a:r>
              <a:rPr sz="2000" b="0" i="0">
                <a:solidFill>
                  <a:srgbClr val="333333"/>
                </a:solidFill>
                <a:latin typeface="Calibri"/>
              </a:rPr>
              <a:t>–   Es un lenguaje grafico estandarizado, no un lenguaje de programacion y no una herramienta; usted puede dibujar UML valido en draw.io, en Mermaid o en el tablero con marcador</a:t>
            </a:r>
          </a:p>
          <a:p>
            <a:pPr>
              <a:spcAft>
                <a:spcPts val="800"/>
              </a:spcAft>
            </a:pPr>
            <a:r>
              <a:rPr sz="2000" b="0" i="0">
                <a:solidFill>
                  <a:srgbClr val="333333"/>
                </a:solidFill>
                <a:latin typeface="Calibri"/>
              </a:rPr>
              <a:t>–   Porque lo que esta normalizado es el significado de las cajas, las lineas y los numeros, no el programa donde se pintan.</a:t>
            </a:r>
          </a:p>
          <a:p>
            <a:pPr>
              <a:spcAft>
                <a:spcPts val="800"/>
              </a:spcAft>
            </a:pPr>
            <a:r>
              <a:rPr sz="2000" b="0" i="0">
                <a:solidFill>
                  <a:srgbClr val="333333"/>
                </a:solidFill>
                <a:latin typeface="Calibri"/>
              </a:rPr>
              <a:t>–   La especificacion tiene catorce tipos de diagrama, pero en la vida real de un analista se usan cuatro o cinco de forma constante y los demas se consultan cuando se necesitan; querer aprender los catorce es la manera mas rapida de no aprender ninguno.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UML significa Lenguaje Unificado de Modelado y nacio en los anos...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En el sistema de la clinica, la frase un dueno puede tener varias mascotas parece clarisima hasta que alguien pregunta si una mascota puede tener dos duenos, si el dueno existe antes de registrar la mascota o si al borrar el dueno desaparece la mascota</a:t>
            </a:r>
          </a:p>
          <a:p>
            <a:pPr>
              <a:spcAft>
                <a:spcPts val="800"/>
              </a:spcAft>
            </a:pPr>
            <a:r>
              <a:rPr sz="2000" b="0" i="0">
                <a:solidFill>
                  <a:srgbClr val="333333"/>
                </a:solidFill>
                <a:latin typeface="Calibri"/>
              </a:rPr>
              <a:t>–   El diagrama contesta esas tres preguntas con dos numeros y una linea, y ahi es donde UML se gana el sueldo.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diagramas se agrupan en dos grandes vistas</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vista estructural muestra de que esta hecho el sistema y no cambia con el tiempo: diagrama de clases, de objetos, de componentes y de despliegue.</a:t>
            </a:r>
          </a:p>
          <a:p>
            <a:pPr>
              <a:spcAft>
                <a:spcPts val="800"/>
              </a:spcAft>
            </a:pPr>
            <a:r>
              <a:rPr sz="2000" b="0" i="0">
                <a:solidFill>
                  <a:srgbClr val="333333"/>
                </a:solidFill>
                <a:latin typeface="Calibri"/>
              </a:rPr>
              <a:t>–   La vista de comportamiento muestra que pasa y en que orden: casos de uso, actividades, secuencia y maquina de estados.</a:t>
            </a:r>
          </a:p>
          <a:p>
            <a:pPr>
              <a:spcAft>
                <a:spcPts val="800"/>
              </a:spcAft>
            </a:pPr>
            <a:r>
              <a:rPr sz="2000" b="0" i="0">
                <a:solidFill>
                  <a:srgbClr val="333333"/>
                </a:solidFill>
                <a:latin typeface="Calibri"/>
              </a:rPr>
              <a:t>–   En la practica profesional los que sobreviven son cinco: casos de uso para acordar el alcance con el cliente, clases para el modelo del dominio</a:t>
            </a:r>
          </a:p>
          <a:p>
            <a:pPr>
              <a:spcAft>
                <a:spcPts val="800"/>
              </a:spcAft>
            </a:pPr>
            <a:r>
              <a:rPr sz="2000" b="0" i="0">
                <a:solidFill>
                  <a:srgbClr val="333333"/>
                </a:solidFill>
                <a:latin typeface="Calibri"/>
              </a:rPr>
              <a:t>–   Secuencia para entender un flujo complicado paso a paso, actividades para procesos de negocio con decisiones, y despliegue cuando hay que explicar donde vive cada cosa.</a:t>
            </a:r>
          </a:p>
          <a:p>
            <a:pPr>
              <a:spcAft>
                <a:spcPts val="800"/>
              </a:spcAft>
            </a:pPr>
            <a:r>
              <a:rPr sz="2000" b="0" i="0">
                <a:solidFill>
                  <a:srgbClr val="333333"/>
                </a:solidFill>
                <a:latin typeface="Calibri"/>
              </a:rPr>
              <a:t>–   Aclaracion importante: los diagramas no reemplazan el documento de requisitos, lo dibujan; cada clase que aparezca hoy debe poder rastrearse a un RF o a una historia del backlog.</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diagrama de clases se dibuja con una caja de tres compartimentos:...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diagrama de clases se dibuja con una caja de tres compartimentos: arriba el nombre de la clase en singular y con mayuscula inicial (Mascota, no mascotas), en el medio los atributos y abajo los metodos.</a:t>
            </a:r>
          </a:p>
          <a:p>
            <a:pPr>
              <a:spcAft>
                <a:spcPts val="800"/>
              </a:spcAft>
            </a:pPr>
            <a:r>
              <a:rPr sz="2000" b="0" i="0">
                <a:solidFill>
                  <a:srgbClr val="333333"/>
                </a:solidFill>
                <a:latin typeface="Calibri"/>
              </a:rPr>
              <a:t>–   Un atributo se escribe con visibilidad, nombre y tipo, por ejemplo -nombre: String o -fechaNacimiento: Date, donde el guion significa privado y el mas significa publico.</a:t>
            </a:r>
          </a:p>
          <a:p>
            <a:pPr>
              <a:spcAft>
                <a:spcPts val="800"/>
              </a:spcAft>
            </a:pPr>
            <a:r>
              <a:rPr sz="2000" b="0" i="0">
                <a:solidFill>
                  <a:srgbClr val="333333"/>
                </a:solidFill>
                <a:latin typeface="Calibri"/>
              </a:rPr>
              <a:t>–   Un metodo se escribe con su firma y su tipo de retorno, por ejemplo +calcularEdad(): int.</a:t>
            </a:r>
          </a:p>
          <a:p>
            <a:pPr>
              <a:spcAft>
                <a:spcPts val="800"/>
              </a:spcAft>
            </a:pPr>
            <a:r>
              <a:rPr sz="2000" b="0" i="0">
                <a:solidFill>
                  <a:srgbClr val="333333"/>
                </a:solidFill>
                <a:latin typeface="Calibri"/>
              </a:rPr>
              <a:t>–   Aqui hay que distinguir dos cosas que los estudiantes mezclan: el modelo de dominio, que solo tiene los conceptos del negocio y sus datos, y el modelo de diseno, que ya incluye clases tecnicas como controladores o repositorios.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diagrama de clases se dibuja con una caja de tres compartimentos:...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Hoy hacemos modelo de dominio, asi que en el sistema de la clinica no aparece ninguna clase llamada MascotaDAO ni ConexionBD: aparecen Dueno, Mascota, Cita, Veterinario y Atencion</a:t>
            </a:r>
          </a:p>
          <a:p>
            <a:pPr>
              <a:spcAft>
                <a:spcPts val="800"/>
              </a:spcAft>
            </a:pPr>
            <a:r>
              <a:rPr sz="2000" b="0" i="0">
                <a:solidFill>
                  <a:srgbClr val="333333"/>
                </a:solidFill>
                <a:latin typeface="Calibri"/>
              </a:rPr>
              <a:t>–   Que son las cosas de las que habla el Dr. Ramirez cuando cuenta como funciona la clinica.</a:t>
            </a:r>
          </a:p>
          <a:p>
            <a:pPr>
              <a:spcAft>
                <a:spcPts val="800"/>
              </a:spcAft>
            </a:pPr>
            <a:r>
              <a:rPr sz="2000" b="0" i="0">
                <a:solidFill>
                  <a:srgbClr val="333333"/>
                </a:solidFill>
                <a:latin typeface="Calibri"/>
              </a:rPr>
              <a:t>–   Los metodos, en el modelo de dominio, son solo los que pertenecen naturalmente al concepto, como calcularEdad en Mascota.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lineas entre clases son la mitad del valor del diagrama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Las lineas entre clases son la mitad del valor del diagrama.</a:t>
            </a:r>
          </a:p>
          <a:p>
            <a:pPr>
              <a:spcAft>
                <a:spcPts val="800"/>
              </a:spcAft>
            </a:pPr>
            <a:r>
              <a:rPr sz="2000" b="0" i="0">
                <a:solidFill>
                  <a:srgbClr val="333333"/>
                </a:solidFill>
                <a:latin typeface="Calibri"/>
              </a:rPr>
              <a:t>–   Una asociacion es una relacion estable entre dos conceptos y se dibuja con una linea recta, un nombre que se lee como frase (Dueno tiene Mascota) y</a:t>
            </a:r>
          </a:p>
          <a:p>
            <a:pPr>
              <a:spcAft>
                <a:spcPts val="800"/>
              </a:spcAft>
            </a:pPr>
            <a:r>
              <a:rPr sz="2000" b="0" i="0">
                <a:solidFill>
                  <a:srgbClr val="333333"/>
                </a:solidFill>
                <a:latin typeface="Calibri"/>
              </a:rPr>
              <a:t>–   En cada extremo, una multiplicidad que responde cuantos: 1 exactamente uno, 0..1 opcional, 1..* uno o mas, 0..* cero o mas.</a:t>
            </a:r>
          </a:p>
          <a:p>
            <a:pPr>
              <a:spcAft>
                <a:spcPts val="800"/>
              </a:spcAft>
            </a:pPr>
            <a:r>
              <a:rPr sz="2000" b="0" i="0">
                <a:solidFill>
                  <a:srgbClr val="333333"/>
                </a:solidFill>
                <a:latin typeface="Calibri"/>
              </a:rPr>
              <a:t>–   En el sistema de la clinica, Dueno 1 --- 0..* Mascota se lee un dueno puede tener cero o mas mascotas y una mascota pertenece a exactamente un dueno; ese 1 del lado del dueno es una decision de negocio que hay que confirmar con el cliente, no una suposicion.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lineas entre clases son la mitad del valor del diagrama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composicion (rombo relleno) se usa cuando la parte no vive sin el todo: en el sistema de la clinica las Atenciones de una Mascota son parte de su historia clinica y no tienen sentido si se elimina la ficha de la mascota.</a:t>
            </a:r>
          </a:p>
          <a:p>
            <a:pPr>
              <a:spcAft>
                <a:spcPts val="800"/>
              </a:spcAft>
            </a:pPr>
            <a:r>
              <a:rPr sz="2000" b="0" i="0">
                <a:solidFill>
                  <a:srgbClr val="333333"/>
                </a:solidFill>
                <a:latin typeface="Calibri"/>
              </a:rPr>
              <a:t>–   La agregacion (rombo vacio) se usa cuando la parte sobrevive por su cuenta, como un Veterinario que pertenece a una Sede pero sigue existiendo si la sede cierra.</a:t>
            </a:r>
          </a:p>
          <a:p>
            <a:pPr>
              <a:spcAft>
                <a:spcPts val="800"/>
              </a:spcAft>
            </a:pPr>
            <a:r>
              <a:rPr sz="2000" b="0" i="0">
                <a:solidFill>
                  <a:srgbClr val="333333"/>
                </a:solidFill>
                <a:latin typeface="Calibri"/>
              </a:rPr>
              <a:t>–   La herencia (triangulo) solo cuando hay un es-un verdadero, por ejemplo Persona con Dueno y Veterinario como especializaciones, decision que solo vale la pena si comparten varios atributos.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diagrama que dibujamos hoy no se queda en la clase: es la pieza que...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diagrama que dibujamos hoy no se queda en la clase: es la pieza que viaja mas lejos del proyecto.</a:t>
            </a:r>
          </a:p>
          <a:p>
            <a:pPr>
              <a:spcAft>
                <a:spcPts val="800"/>
              </a:spcAft>
            </a:pPr>
            <a:r>
              <a:rPr sz="2000" b="0" i="0">
                <a:solidFill>
                  <a:srgbClr val="333333"/>
                </a:solidFill>
                <a:latin typeface="Calibri"/>
              </a:rPr>
              <a:t>–   De cada clase salen los campos del diccionario de datos y, mas adelante, las tablas de la base de datos: la clase Mascota con sus atributos se convierte en la tabla mascota, la asociacion 1 a 0..* se convierte en una llave foranea</a:t>
            </a:r>
          </a:p>
          <a:p>
            <a:pPr>
              <a:spcAft>
                <a:spcPts val="800"/>
              </a:spcAft>
            </a:pPr>
            <a:r>
              <a:rPr sz="2000" b="0" i="0">
                <a:solidFill>
                  <a:srgbClr val="333333"/>
                </a:solidFill>
                <a:latin typeface="Calibri"/>
              </a:rPr>
              <a:t>–   Y las multiplicidades muchos a muchos se convierten en una tabla intermedia.</a:t>
            </a:r>
          </a:p>
          <a:p>
            <a:pPr>
              <a:spcAft>
                <a:spcPts val="800"/>
              </a:spcAft>
            </a:pPr>
            <a:r>
              <a:rPr sz="2000" b="0" i="0">
                <a:solidFill>
                  <a:srgbClr val="333333"/>
                </a:solidFill>
                <a:latin typeface="Calibri"/>
              </a:rPr>
              <a:t>–   Para quien cursa tambien Programacion II, este diagrama es el mapa que le dice que clases crear y que atributos poner; para quien solo cursa Programacion II, es lo que recibe ya hecho y debe respetar</a:t>
            </a:r>
          </a:p>
          <a:p>
            <a:pPr>
              <a:spcAft>
                <a:spcPts val="800"/>
              </a:spcAft>
            </a:pPr>
            <a:r>
              <a:rPr sz="2000" b="0" i="0">
                <a:solidFill>
                  <a:srgbClr val="333333"/>
                </a:solidFill>
                <a:latin typeface="Calibri"/>
              </a:rPr>
              <a:t>–   Y para quien solo cursa Seminario, es el corazon del documento de diseno que se entrega al final junto con el prototipo navegable, una ruta completa y perfectamente valida donde el producto profesional es el plano, no el ladrillo.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diagrama de clases en Mermaid: la sintaxis completa</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314"/>
              </a:spcAft>
            </a:pPr>
            <a:r>
              <a:rPr sz="1100" b="0" i="0">
                <a:solidFill>
                  <a:srgbClr val="FFFFFF"/>
                </a:solidFill>
                <a:latin typeface="Calibri"/>
              </a:rPr>
              <a:t>classDiagram</a:t>
            </a:r>
          </a:p>
          <a:p>
            <a:pPr>
              <a:spcAft>
                <a:spcPts val="314"/>
              </a:spcAft>
            </a:pPr>
            <a:r>
              <a:rPr sz="1100" b="0" i="0">
                <a:solidFill>
                  <a:srgbClr val="FFFFFF"/>
                </a:solidFill>
                <a:latin typeface="Calibri"/>
              </a:rPr>
              <a:t>  class Dueno {</a:t>
            </a:r>
          </a:p>
          <a:p>
            <a:pPr>
              <a:spcAft>
                <a:spcPts val="314"/>
              </a:spcAft>
            </a:pPr>
            <a:r>
              <a:rPr sz="1100" b="0" i="0">
                <a:solidFill>
                  <a:srgbClr val="FFFFFF"/>
                </a:solidFill>
                <a:latin typeface="Calibri"/>
              </a:rPr>
              <a:t>    -int idDueno</a:t>
            </a:r>
          </a:p>
          <a:p>
            <a:pPr>
              <a:spcAft>
                <a:spcPts val="314"/>
              </a:spcAft>
            </a:pPr>
            <a:r>
              <a:rPr sz="1100" b="0" i="0">
                <a:solidFill>
                  <a:srgbClr val="FFFFFF"/>
                </a:solidFill>
                <a:latin typeface="Calibri"/>
              </a:rPr>
              <a:t>    -String nombre</a:t>
            </a:r>
          </a:p>
          <a:p>
            <a:pPr>
              <a:spcAft>
                <a:spcPts val="314"/>
              </a:spcAft>
            </a:pPr>
            <a:r>
              <a:rPr sz="1100" b="0" i="0">
                <a:solidFill>
                  <a:srgbClr val="FFFFFF"/>
                </a:solidFill>
                <a:latin typeface="Calibri"/>
              </a:rPr>
              <a:t>    -String telefono</a:t>
            </a:r>
          </a:p>
          <a:p>
            <a:pPr>
              <a:spcAft>
                <a:spcPts val="314"/>
              </a:spcAft>
            </a:pPr>
            <a:r>
              <a:rPr sz="1100" b="0" i="0">
                <a:solidFill>
                  <a:srgbClr val="FFFFFF"/>
                </a:solidFill>
                <a:latin typeface="Calibri"/>
              </a:rPr>
              <a:t>    +registrar()</a:t>
            </a:r>
          </a:p>
          <a:p>
            <a:pPr>
              <a:spcAft>
                <a:spcPts val="314"/>
              </a:spcAft>
            </a:pPr>
            <a:r>
              <a:rPr sz="1100" b="0" i="0">
                <a:solidFill>
                  <a:srgbClr val="FFFFFF"/>
                </a:solidFill>
                <a:latin typeface="Calibri"/>
              </a:rPr>
              <a:t>  }</a:t>
            </a:r>
          </a:p>
          <a:p>
            <a:pPr>
              <a:spcAft>
                <a:spcPts val="314"/>
              </a:spcAft>
            </a:pPr>
            <a:r>
              <a:rPr sz="1100" b="0" i="0">
                <a:solidFill>
                  <a:srgbClr val="FFFFFF"/>
                </a:solidFill>
                <a:latin typeface="Calibri"/>
              </a:rPr>
              <a:t>  class Mascota {</a:t>
            </a:r>
          </a:p>
          <a:p>
            <a:pPr>
              <a:spcAft>
                <a:spcPts val="314"/>
              </a:spcAft>
            </a:pPr>
            <a:r>
              <a:rPr sz="1100" b="0" i="0">
                <a:solidFill>
                  <a:srgbClr val="FFFFFF"/>
                </a:solidFill>
                <a:latin typeface="Calibri"/>
              </a:rPr>
              <a:t>    -int idMascota</a:t>
            </a:r>
          </a:p>
          <a:p>
            <a:pPr>
              <a:spcAft>
                <a:spcPts val="314"/>
              </a:spcAft>
            </a:pPr>
            <a:r>
              <a:rPr sz="1100" b="0" i="0">
                <a:solidFill>
                  <a:srgbClr val="FFFFFF"/>
                </a:solidFill>
                <a:latin typeface="Calibri"/>
              </a:rPr>
              <a:t>    -String nombre</a:t>
            </a:r>
          </a:p>
          <a:p>
            <a:pPr>
              <a:spcAft>
                <a:spcPts val="314"/>
              </a:spcAft>
            </a:pPr>
            <a:r>
              <a:rPr sz="1100" b="0" i="0">
                <a:solidFill>
                  <a:srgbClr val="FFFFFF"/>
                </a:solidFill>
                <a:latin typeface="Calibri"/>
              </a:rPr>
              <a:t>    -String especie</a:t>
            </a:r>
          </a:p>
          <a:p>
            <a:pPr>
              <a:spcAft>
                <a:spcPts val="314"/>
              </a:spcAft>
            </a:pPr>
            <a:r>
              <a:rPr sz="1100" b="0" i="0">
                <a:solidFill>
                  <a:srgbClr val="FFFFFF"/>
                </a:solidFill>
                <a:latin typeface="Calibri"/>
              </a:rPr>
              <a:t>    -char activa</a:t>
            </a:r>
          </a:p>
          <a:p>
            <a:pPr>
              <a:spcAft>
                <a:spcPts val="314"/>
              </a:spcAft>
            </a:pPr>
            <a:r>
              <a:rPr sz="1100" b="0" i="0">
                <a:solidFill>
                  <a:srgbClr val="FFFFFF"/>
                </a:solidFill>
                <a:latin typeface="Calibri"/>
              </a:rPr>
              <a:t>    +abrirExpediente()</a:t>
            </a:r>
          </a:p>
          <a:p>
            <a:pPr>
              <a:spcAft>
                <a:spcPts val="314"/>
              </a:spcAft>
            </a:pPr>
            <a:r>
              <a:rPr sz="1100" b="0" i="0">
                <a:solidFill>
                  <a:srgbClr val="FFFFFF"/>
                </a:solidFill>
                <a:latin typeface="Calibri"/>
              </a:rPr>
              <a:t>  }</a:t>
            </a:r>
          </a:p>
          <a:p>
            <a:pPr>
              <a:spcAft>
                <a:spcPts val="314"/>
              </a:spcAft>
            </a:pPr>
            <a:r>
              <a:rPr sz="1100" b="0" i="0">
                <a:solidFill>
                  <a:srgbClr val="FFFFFF"/>
                </a:solidFill>
                <a:latin typeface="Calibri"/>
              </a:rPr>
              <a:t/>
            </a:r>
          </a:p>
          <a:p>
            <a:pPr>
              <a:spcAft>
                <a:spcPts val="314"/>
              </a:spcAft>
            </a:pPr>
            <a:r>
              <a:rPr sz="1100" b="0" i="0">
                <a:solidFill>
                  <a:srgbClr val="FFFFFF"/>
                </a:solidFill>
                <a:latin typeface="Calibri"/>
              </a:rPr>
              <a:t>  Dueno "1" --&gt; "0..*" Mascota: posee</a:t>
            </a:r>
          </a:p>
          <a:p>
            <a:pPr>
              <a:spcAft>
                <a:spcPts val="314"/>
              </a:spcAft>
            </a:pPr>
            <a:r>
              <a:rPr sz="1100" b="0" i="0">
                <a:solidFill>
                  <a:srgbClr val="FFFFFF"/>
                </a:solidFill>
                <a:latin typeface="Calibri"/>
              </a:rPr>
              <a:t/>
            </a:r>
          </a:p>
          <a:p>
            <a:pPr>
              <a:spcAft>
                <a:spcPts val="314"/>
              </a:spcAft>
            </a:pPr>
            <a:r>
              <a:rPr sz="1100" b="0" i="0">
                <a:solidFill>
                  <a:srgbClr val="FFFFFF"/>
                </a:solidFill>
                <a:latin typeface="Calibri"/>
              </a:rPr>
              <a:t>%% Complete con SUS clases. Lo que importa: visibilidad (- privado,</a:t>
            </a:r>
          </a:p>
          <a:p>
            <a:pPr>
              <a:spcAft>
                <a:spcPts val="314"/>
              </a:spcAft>
            </a:pPr>
            <a:r>
              <a:rPr sz="1100" b="0" i="0">
                <a:solidFill>
                  <a:srgbClr val="FFFFFF"/>
                </a:solidFill>
                <a:latin typeface="Calibri"/>
              </a:rPr>
              <a:t>%% + publico), TIPO de cada atributo, y multiplicidad en LOS DOS extremos.</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 que NO es una clase del dominio</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NO son clases del dominio, y es el error mas comun:</a:t>
            </a:r>
          </a:p>
          <a:p>
            <a:pPr>
              <a:spcAft>
                <a:spcPts val="400"/>
              </a:spcAft>
            </a:pPr>
            <a:r>
              <a:rPr sz="1400" b="0" i="0">
                <a:solidFill>
                  <a:srgbClr val="FFFFFF"/>
                </a:solidFill>
                <a:latin typeface="Calibri"/>
              </a:rPr>
              <a:t>%%   FormularioRegistroMascota   -&gt; es una PANTALLA (Clase 13)</a:t>
            </a:r>
          </a:p>
          <a:p>
            <a:pPr>
              <a:spcAft>
                <a:spcPts val="400"/>
              </a:spcAft>
            </a:pPr>
            <a:r>
              <a:rPr sz="1400" b="0" i="0">
                <a:solidFill>
                  <a:srgbClr val="FFFFFF"/>
                </a:solidFill>
                <a:latin typeface="Calibri"/>
              </a:rPr>
              <a:t>%%   ConexionBaseDatos           -&gt; es INFRAESTRUCTURA</a:t>
            </a:r>
          </a:p>
          <a:p>
            <a:pPr>
              <a:spcAft>
                <a:spcPts val="400"/>
              </a:spcAft>
            </a:pPr>
            <a:r>
              <a:rPr sz="1400" b="0" i="0">
                <a:solidFill>
                  <a:srgbClr val="FFFFFF"/>
                </a:solidFill>
                <a:latin typeface="Calibri"/>
              </a:rPr>
              <a:t>%%   GestorDeMascotas            -&gt; es un «gestor» que solo mueve datos</a:t>
            </a:r>
          </a:p>
          <a:p>
            <a:pPr>
              <a:spcAft>
                <a:spcPts val="400"/>
              </a:spcAft>
            </a:pPr>
            <a:r>
              <a:rPr sz="1400" b="0" i="0">
                <a:solidFill>
                  <a:srgbClr val="FFFFFF"/>
                </a:solidFill>
                <a:latin typeface="Calibri"/>
              </a:rPr>
              <a:t>%%   BotonGuardar                -&gt; es un control de interfaz</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SI son clases del dominio: los sustantivos que el CLIENTE nombra y</a:t>
            </a:r>
          </a:p>
          <a:p>
            <a:pPr>
              <a:spcAft>
                <a:spcPts val="400"/>
              </a:spcAft>
            </a:pPr>
            <a:r>
              <a:rPr sz="1400" b="0" i="0">
                <a:solidFill>
                  <a:srgbClr val="FFFFFF"/>
                </a:solidFill>
                <a:latin typeface="Calibri"/>
              </a:rPr>
              <a:t>%% que tienen estado propio y reglas propias.</a:t>
            </a:r>
          </a:p>
          <a:p>
            <a:pPr>
              <a:spcAft>
                <a:spcPts val="400"/>
              </a:spcAft>
            </a:pPr>
            <a:r>
              <a:rPr sz="1400" b="0" i="0">
                <a:solidFill>
                  <a:srgbClr val="FFFFFF"/>
                </a:solidFill>
                <a:latin typeface="Calibri"/>
              </a:rPr>
              <a:t>%%   Dueno, Mascota, Cita, Veterinario, Consulta, Factura</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La prueba: si el sistema no existiera, la clinica seguiria hablando</a:t>
            </a:r>
          </a:p>
          <a:p>
            <a:pPr>
              <a:spcAft>
                <a:spcPts val="400"/>
              </a:spcAft>
            </a:pPr>
            <a:r>
              <a:rPr sz="1400" b="0" i="0">
                <a:solidFill>
                  <a:srgbClr val="FFFFFF"/>
                </a:solidFill>
                <a:latin typeface="Calibri"/>
              </a:rPr>
              <a:t>%% de «la mascota» y «la cita». De «GestorDeMascotas» no.</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Modelo de dominio del sistema de la clinica en sintaxis Mermaid (diagrama, no codigo)</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5181447" cy="4133087"/>
          </a:xfrm>
          <a:prstGeom prst="rect">
            <a:avLst/>
          </a:prstGeom>
          <a:noFill/>
        </p:spPr>
        <p:txBody>
          <a:bodyPr wrap="square">
            <a:spAutoFit/>
          </a:bodyPr>
          <a:lstStyle/>
          <a:p>
            <a:pPr>
              <a:spcAft>
                <a:spcPts val="371"/>
              </a:spcAft>
            </a:pPr>
            <a:r>
              <a:rPr sz="1300" b="0" i="0">
                <a:solidFill>
                  <a:srgbClr val="FFFFFF"/>
                </a:solidFill>
                <a:latin typeface="Calibri"/>
              </a:rPr>
              <a:t>classDiagram</a:t>
            </a:r>
          </a:p>
          <a:p>
            <a:pPr>
              <a:spcAft>
                <a:spcPts val="371"/>
              </a:spcAft>
            </a:pPr>
            <a:r>
              <a:rPr sz="1300" b="0" i="0">
                <a:solidFill>
                  <a:srgbClr val="FFFFFF"/>
                </a:solidFill>
                <a:latin typeface="Calibri"/>
              </a:rPr>
              <a:t>  class Dueno {</a:t>
            </a:r>
          </a:p>
          <a:p>
            <a:pPr>
              <a:spcAft>
                <a:spcPts val="371"/>
              </a:spcAft>
            </a:pPr>
            <a:r>
              <a:rPr sz="1300" b="0" i="0">
                <a:solidFill>
                  <a:srgbClr val="FFFFFF"/>
                </a:solidFill>
                <a:latin typeface="Calibri"/>
              </a:rPr>
              <a:t>    -documento: String</a:t>
            </a:r>
          </a:p>
          <a:p>
            <a:pPr>
              <a:spcAft>
                <a:spcPts val="371"/>
              </a:spcAft>
            </a:pPr>
            <a:r>
              <a:rPr sz="1300" b="0" i="0">
                <a:solidFill>
                  <a:srgbClr val="FFFFFF"/>
                </a:solidFill>
                <a:latin typeface="Calibri"/>
              </a:rPr>
              <a:t>    -nombre: String</a:t>
            </a:r>
          </a:p>
          <a:p>
            <a:pPr>
              <a:spcAft>
                <a:spcPts val="371"/>
              </a:spcAft>
            </a:pPr>
            <a:r>
              <a:rPr sz="1300" b="0" i="0">
                <a:solidFill>
                  <a:srgbClr val="FFFFFF"/>
                </a:solidFill>
                <a:latin typeface="Calibri"/>
              </a:rPr>
              <a:t>    +registrarMascota(m: Mascota): void</a:t>
            </a:r>
          </a:p>
          <a:p>
            <a:pPr>
              <a:spcAft>
                <a:spcPts val="371"/>
              </a:spcAft>
            </a:pPr>
            <a:r>
              <a:rPr sz="1300" b="0" i="0">
                <a:solidFill>
                  <a:srgbClr val="FFFFFF"/>
                </a:solidFill>
                <a:latin typeface="Calibri"/>
              </a:rPr>
              <a:t>  }</a:t>
            </a:r>
          </a:p>
          <a:p>
            <a:pPr>
              <a:spcAft>
                <a:spcPts val="371"/>
              </a:spcAft>
            </a:pPr>
            <a:r>
              <a:rPr sz="1300" b="0" i="0">
                <a:solidFill>
                  <a:srgbClr val="FFFFFF"/>
                </a:solidFill>
                <a:latin typeface="Calibri"/>
              </a:rPr>
              <a:t>  class Mascota {</a:t>
            </a:r>
          </a:p>
          <a:p>
            <a:pPr>
              <a:spcAft>
                <a:spcPts val="371"/>
              </a:spcAft>
            </a:pPr>
            <a:r>
              <a:rPr sz="1300" b="0" i="0">
                <a:solidFill>
                  <a:srgbClr val="FFFFFF"/>
                </a:solidFill>
                <a:latin typeface="Calibri"/>
              </a:rPr>
              <a:t>    -codigo: String</a:t>
            </a:r>
          </a:p>
          <a:p>
            <a:pPr>
              <a:spcAft>
                <a:spcPts val="371"/>
              </a:spcAft>
            </a:pPr>
            <a:r>
              <a:rPr sz="1300" b="0" i="0">
                <a:solidFill>
                  <a:srgbClr val="FFFFFF"/>
                </a:solidFill>
                <a:latin typeface="Calibri"/>
              </a:rPr>
              <a:t>    -especie: String</a:t>
            </a:r>
          </a:p>
          <a:p>
            <a:pPr>
              <a:spcAft>
                <a:spcPts val="371"/>
              </a:spcAft>
            </a:pPr>
            <a:r>
              <a:rPr sz="1300" b="0" i="0">
                <a:solidFill>
                  <a:srgbClr val="FFFFFF"/>
                </a:solidFill>
                <a:latin typeface="Calibri"/>
              </a:rPr>
              <a:t>    -fechaNacimiento: Date</a:t>
            </a:r>
          </a:p>
          <a:p>
            <a:pPr>
              <a:spcAft>
                <a:spcPts val="371"/>
              </a:spcAft>
            </a:pPr>
            <a:r>
              <a:rPr sz="1300" b="0" i="0">
                <a:solidFill>
                  <a:srgbClr val="FFFFFF"/>
                </a:solidFill>
                <a:latin typeface="Calibri"/>
              </a:rPr>
              <a:t>    +calcularEdad(): int</a:t>
            </a:r>
          </a:p>
          <a:p>
            <a:pPr>
              <a:spcAft>
                <a:spcPts val="371"/>
              </a:spcAft>
            </a:pPr>
            <a:r>
              <a:rPr sz="1300" b="0" i="0">
                <a:solidFill>
                  <a:srgbClr val="FFFFFF"/>
                </a:solidFill>
                <a:latin typeface="Calibri"/>
              </a:rPr>
              <a:t>  }</a:t>
            </a:r>
          </a:p>
          <a:p>
            <a:pPr>
              <a:spcAft>
                <a:spcPts val="371"/>
              </a:spcAft>
            </a:pPr>
            <a:r>
              <a:rPr sz="1300" b="0" i="0">
                <a:solidFill>
                  <a:srgbClr val="FFFFFF"/>
                </a:solidFill>
                <a:latin typeface="Calibri"/>
              </a:rPr>
              <a:t>  class Veterinario {</a:t>
            </a:r>
          </a:p>
          <a:p>
            <a:pPr>
              <a:spcAft>
                <a:spcPts val="371"/>
              </a:spcAft>
            </a:pPr>
            <a:r>
              <a:rPr sz="1300" b="0" i="0">
                <a:solidFill>
                  <a:srgbClr val="FFFFFF"/>
                </a:solidFill>
                <a:latin typeface="Calibri"/>
              </a:rPr>
              <a:t>    -tarjetaProfesional: String</a:t>
            </a:r>
          </a:p>
          <a:p>
            <a:pPr>
              <a:spcAft>
                <a:spcPts val="371"/>
              </a:spcAft>
            </a:pPr>
            <a:r>
              <a:rPr sz="1300" b="0" i="0">
                <a:solidFill>
                  <a:srgbClr val="FFFFFF"/>
                </a:solidFill>
                <a:latin typeface="Calibri"/>
              </a:rPr>
              <a:t>    -especialidad: String</a:t>
            </a:r>
          </a:p>
          <a:p>
            <a:pPr>
              <a:spcAft>
                <a:spcPts val="371"/>
              </a:spcAft>
            </a:pPr>
            <a:r>
              <a:rPr sz="1300" b="0" i="0">
                <a:solidFill>
                  <a:srgbClr val="FFFFFF"/>
                </a:solidFill>
                <a:latin typeface="Calibri"/>
              </a:rPr>
              <a:t>  }</a:t>
            </a:r>
          </a:p>
        </p:txBody>
      </p:sp>
      <p:sp>
        <p:nvSpPr>
          <p:cNvPr id="9" name="TextBox 8"/>
          <p:cNvSpPr txBox="1"/>
          <p:nvPr/>
        </p:nvSpPr>
        <p:spPr>
          <a:xfrm>
            <a:off x="6233007" y="1719072"/>
            <a:ext cx="5181447" cy="4133087"/>
          </a:xfrm>
          <a:prstGeom prst="rect">
            <a:avLst/>
          </a:prstGeom>
          <a:noFill/>
        </p:spPr>
        <p:txBody>
          <a:bodyPr wrap="square">
            <a:spAutoFit/>
          </a:bodyPr>
          <a:lstStyle/>
          <a:p>
            <a:pPr>
              <a:spcAft>
                <a:spcPts val="371"/>
              </a:spcAft>
            </a:pPr>
            <a:r>
              <a:rPr sz="1300" b="0" i="0">
                <a:solidFill>
                  <a:srgbClr val="FFFFFF"/>
                </a:solidFill>
                <a:latin typeface="Calibri"/>
              </a:rPr>
              <a:t>  class Cita {</a:t>
            </a:r>
          </a:p>
          <a:p>
            <a:pPr>
              <a:spcAft>
                <a:spcPts val="371"/>
              </a:spcAft>
            </a:pPr>
            <a:r>
              <a:rPr sz="1300" b="0" i="0">
                <a:solidFill>
                  <a:srgbClr val="FFFFFF"/>
                </a:solidFill>
                <a:latin typeface="Calibri"/>
              </a:rPr>
              <a:t>    -fechaHora: DateTime</a:t>
            </a:r>
          </a:p>
          <a:p>
            <a:pPr>
              <a:spcAft>
                <a:spcPts val="371"/>
              </a:spcAft>
            </a:pPr>
            <a:r>
              <a:rPr sz="1300" b="0" i="0">
                <a:solidFill>
                  <a:srgbClr val="FFFFFF"/>
                </a:solidFill>
                <a:latin typeface="Calibri"/>
              </a:rPr>
              <a:t>    -estado: String</a:t>
            </a:r>
          </a:p>
          <a:p>
            <a:pPr>
              <a:spcAft>
                <a:spcPts val="371"/>
              </a:spcAft>
            </a:pPr>
            <a:r>
              <a:rPr sz="1300" b="0" i="0">
                <a:solidFill>
                  <a:srgbClr val="FFFFFF"/>
                </a:solidFill>
                <a:latin typeface="Calibri"/>
              </a:rPr>
              <a:t>    +reprogramar(nuevaFecha: DateTime): void</a:t>
            </a:r>
          </a:p>
          <a:p>
            <a:pPr>
              <a:spcAft>
                <a:spcPts val="371"/>
              </a:spcAft>
            </a:pPr>
            <a:r>
              <a:rPr sz="1300" b="0" i="0">
                <a:solidFill>
                  <a:srgbClr val="FFFFFF"/>
                </a:solidFill>
                <a:latin typeface="Calibri"/>
              </a:rPr>
              <a:t>  }</a:t>
            </a:r>
          </a:p>
          <a:p>
            <a:pPr>
              <a:spcAft>
                <a:spcPts val="371"/>
              </a:spcAft>
            </a:pPr>
            <a:r>
              <a:rPr sz="1300" b="0" i="0">
                <a:solidFill>
                  <a:srgbClr val="FFFFFF"/>
                </a:solidFill>
                <a:latin typeface="Calibri"/>
              </a:rPr>
              <a:t>  class Atencion {</a:t>
            </a:r>
          </a:p>
          <a:p>
            <a:pPr>
              <a:spcAft>
                <a:spcPts val="371"/>
              </a:spcAft>
            </a:pPr>
            <a:r>
              <a:rPr sz="1300" b="0" i="0">
                <a:solidFill>
                  <a:srgbClr val="FFFFFF"/>
                </a:solidFill>
                <a:latin typeface="Calibri"/>
              </a:rPr>
              <a:t>    -diagnostico: String</a:t>
            </a:r>
          </a:p>
          <a:p>
            <a:pPr>
              <a:spcAft>
                <a:spcPts val="371"/>
              </a:spcAft>
            </a:pPr>
            <a:r>
              <a:rPr sz="1300" b="0" i="0">
                <a:solidFill>
                  <a:srgbClr val="FFFFFF"/>
                </a:solidFill>
                <a:latin typeface="Calibri"/>
              </a:rPr>
              <a:t>    -tratamiento: String</a:t>
            </a:r>
          </a:p>
          <a:p>
            <a:pPr>
              <a:spcAft>
                <a:spcPts val="371"/>
              </a:spcAft>
            </a:pPr>
            <a:r>
              <a:rPr sz="1300" b="0" i="0">
                <a:solidFill>
                  <a:srgbClr val="FFFFFF"/>
                </a:solidFill>
                <a:latin typeface="Calibri"/>
              </a:rPr>
              <a:t>  }</a:t>
            </a:r>
          </a:p>
          <a:p>
            <a:pPr>
              <a:spcAft>
                <a:spcPts val="371"/>
              </a:spcAft>
            </a:pPr>
            <a:r>
              <a:rPr sz="1300" b="0" i="0">
                <a:solidFill>
                  <a:srgbClr val="FFFFFF"/>
                </a:solidFill>
                <a:latin typeface="Calibri"/>
              </a:rPr>
              <a:t>  Dueno "1" --&gt; "0..*" Mascota: es dueno de</a:t>
            </a:r>
          </a:p>
          <a:p>
            <a:pPr>
              <a:spcAft>
                <a:spcPts val="371"/>
              </a:spcAft>
            </a:pPr>
            <a:r>
              <a:rPr sz="1300" b="0" i="0">
                <a:solidFill>
                  <a:srgbClr val="FFFFFF"/>
                </a:solidFill>
                <a:latin typeface="Calibri"/>
              </a:rPr>
              <a:t>  Mascota "1" --&gt; "0..*" Cita: tiene agendada</a:t>
            </a:r>
          </a:p>
          <a:p>
            <a:pPr>
              <a:spcAft>
                <a:spcPts val="371"/>
              </a:spcAft>
            </a:pPr>
            <a:r>
              <a:rPr sz="1300" b="0" i="0">
                <a:solidFill>
                  <a:srgbClr val="FFFFFF"/>
                </a:solidFill>
                <a:latin typeface="Calibri"/>
              </a:rPr>
              <a:t>  Veterinario "1" --&gt; "0..*" Cita: atiende</a:t>
            </a:r>
          </a:p>
          <a:p>
            <a:pPr>
              <a:spcAft>
                <a:spcPts val="371"/>
              </a:spcAft>
            </a:pPr>
            <a:r>
              <a:rPr sz="1300" b="0" i="0">
                <a:solidFill>
                  <a:srgbClr val="FFFFFF"/>
                </a:solidFill>
                <a:latin typeface="Calibri"/>
              </a:rPr>
              <a:t>  Cita "1" --&gt; "0..1" Atencion: genera</a:t>
            </a:r>
          </a:p>
        </p:txBody>
      </p:sp>
      <p:sp>
        <p:nvSpPr>
          <p:cNvPr id="10" name="TextBox 9"/>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Las multiplicidades son las que contestan las preguntas que el espanol deja abiertas: un dueno, muchas mascotas.</a:t>
            </a:r>
          </a:p>
        </p:txBody>
      </p:sp>
      <p:sp>
        <p:nvSpPr>
          <p:cNvPr id="11" name="TextBox 1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draw.io · Mermaid</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El docente dibuja en vivo Dueno, Mascota y Cita en draw.io y borra tres atributos mal ubicados explicando a que clase pertenecen de verdad.</a:t>
            </a:r>
          </a:p>
          <a:p>
            <a:pPr>
              <a:spcAft>
                <a:spcPts val="800"/>
              </a:spcAft>
            </a:pPr>
            <a:r>
              <a:rPr sz="2000" b="0" i="0">
                <a:solidFill>
                  <a:srgbClr val="333333"/>
                </a:solidFill>
                <a:latin typeface="Calibri"/>
              </a:rPr>
              <a:t>–   Mismo dominio: la clinica veterinaria — no otro ejemplo. Aqui se diseña, no se programa.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8 · Introduccion a UML</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El idioma comun para dibujar los planos del sistema de la clinica</a:t>
            </a:r>
          </a:p>
          <a:p>
            <a:pPr algn="ctr">
              <a:spcAft>
                <a:spcPts val="600"/>
              </a:spcAft>
            </a:pPr>
            <a:r>
              <a:rPr sz="1600" b="0" i="0">
                <a:solidFill>
                  <a:srgbClr val="333333"/>
                </a:solidFill>
                <a:latin typeface="Calibri"/>
              </a:rPr>
              <a:t>Repasen las laminas de teoria: cada concepto esta completo</a:t>
            </a:r>
          </a:p>
          <a:p>
            <a:pPr algn="ctr">
              <a:spcAft>
                <a:spcPts val="600"/>
              </a:spcAft>
            </a:pPr>
            <a:r>
              <a:rPr sz="1600" b="0" i="0">
                <a:solidFill>
                  <a:srgbClr val="333333"/>
                </a:solidFill>
                <a:latin typeface="Calibri"/>
              </a:rPr>
              <a:t>Siguiente clase: continuamos con el siguiente tema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diseño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