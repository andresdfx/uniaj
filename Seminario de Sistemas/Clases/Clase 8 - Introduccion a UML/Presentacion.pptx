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diagramas se agrupan en dos grandes vistas.</a:t>
            </a:r>
          </a:p>
          <a:p/>
          <a:p>
            <a:r>
              <a:t>Un mismo sistema necesita las dos, igual que una casa necesita el plano de plantas y tambien el plano de instalaciones.</a:t>
            </a:r>
          </a:p>
          <a:p/>
          <a:p>
            <a:r>
              <a:t>En VetCare vamos a usar clases hoy, casos de uso y secuencia mas adelante, y el resto se menciona para que sepan que existen.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Cita relaciona a Mascota y a Veterinario, cada cita con exactamente una mascota y un veterinario, y cada veterinario con muchas citas.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eso el diagrama debe estar limpio: nombres en singular, sin atributos repetidos en dos clases, sin lineas sueltas y sin cajas que no correspondan a ningun requisito.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91695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uniajc_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2011680" cy="87681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42855" y="384048"/>
            <a:ext cx="1691640" cy="38404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42855" y="384048"/>
            <a:ext cx="1691640" cy="384048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Clase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728655" cy="18288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Calibri"/>
              </a:rPr>
              <a:t>Introduccion a UML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2807" y="4206240"/>
            <a:ext cx="2926080" cy="50292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361688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8D8EE"/>
                </a:solidFill>
                <a:latin typeface="Calibri"/>
              </a:rPr>
              <a:t>El idioma comun para dibujar los planos de VetCare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7EB8D4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Encuadre de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Tema: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Introduccion a UML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idioma comun para dibujar los planos de VetCare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Herramienta del tema: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draw.io · Mermaid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· Bloque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120 min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Ejemplo de toda la clase: VetCare, el sistema de la clinica «Huellitas».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Mapa del bloque de hoy (120 min)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76272"/>
            <a:ext cx="11277295" cy="7315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38625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0-10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Encuadre y repaso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94084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2659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10-40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8379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Teoria Core del tema de 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9543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8118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40-60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3838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Demo en vivo sobre VetCare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05002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577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60-105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297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Practica (opcional, guia en la carpeta)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60461" y="2066543"/>
            <a:ext cx="292608" cy="292608"/>
          </a:xfrm>
          <a:prstGeom prst="roundRect">
            <a:avLst>
              <a:gd name="adj" fmla="val 12000"/>
            </a:avLst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79036" y="1353312"/>
            <a:ext cx="225545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5292"/>
                </a:solidFill>
                <a:latin typeface="Calibri"/>
              </a:rPr>
              <a:t>105-120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56" y="2587752"/>
            <a:ext cx="2164019" cy="3310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Sintesis y cierre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0644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Solo el bloque de </a:t>
            </a:r>
            <a:r>
              <a:rPr sz="1200" b="1" i="1">
                <a:solidFill>
                  <a:srgbClr val="666666"/>
                </a:solidFill>
                <a:latin typeface="Calibri"/>
              </a:rPr>
              <a:t>esta</a:t>
            </a:r>
            <a:r>
              <a:rPr sz="1200" b="0" i="1">
                <a:solidFill>
                  <a:srgbClr val="666666"/>
                </a:solidFill>
                <a:latin typeface="Calibri"/>
              </a:rPr>
              <a:t> clase · 120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UML significa Lenguaje Unificado de Modelado y nacio en los anos...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UML significa Lenguaje Unificado de Modelado y nacio en los anos noventa para resolver un problema muy concreto: tres personas leian la misma frase en espanol y entendian tres sistemas distintos.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Es un lenguaje grafico estandarizado, no un lenguaje de programacion y no una herramienta; usted puede dibujar UML valido en draw.io, en Mermaid o en el tablero con marcador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Porque lo que esta normalizado es el significado de las cajas, las lineas y los numeros, no el programa donde se pintan.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especificacion tiene catorce tipos de diagrama, pero en la vida real de un analista se usan cuatro o cinco de forma constante y los demas se consultan cuando se necesitan; querer aprender los catorce es la manera mas rapida de no aprender ninguno.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UML significa Lenguaje Unificado de Modelado y nacio en los anos...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VetCare, la frase un dueno puede tener varias mascotas parece clarisima hasta que alguien pregunta si una mascota puede tener dos duenos, si el dueno existe antes de registrar la mascota o si al borrar el dueno desaparece la mascota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diagrama contesta esas tres preguntas con dos numeros y una linea, y ahi es donde UML se gana el sueldo.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Los diagramas se agrupan en dos grandes vistas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vista estructural muestra de que esta hecho el sistema y no cambia con el tiempo: diagrama de clases, de objetos, de componentes y de despliegue.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vista de comportamiento muestra que pasa y en que orden: casos de uso, actividades, secuencia y maquina de estados.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la practica profesional los que sobreviven son cinco: casos de uso para acordar el alcance con el cliente, clases para el modelo del dominio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Secuencia para entender un flujo complicado paso a paso, actividades para procesos de negocio con decisiones, y despliegue cuando hay que explicar donde vive cada cosa.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Aclaracion importante: los diagramas no reemplazan el documento de requisitos, lo dibujan; cada clase que aparezca hoy debe poder rastrearse a un RF o a una historia del backlog.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diagrama de clases se dibuja con una caja de tres compartimentos:...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diagrama de clases se dibuja con una caja de tres compartimentos: arriba el nombre de la clase en singular y con mayuscula inicial (Mascota, no mascotas), en el medio los atributos y abajo los metodos.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atributo se escribe con visibilidad, nombre y tipo, por ejemplo -nombre: String o -fechaNacimiento: Date, donde el guion significa privado y el mas significa publico.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 metodo se escribe con su firma y su tipo de retorno, por ejemplo +calcularEdad(): int.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Aqui hay que distinguir dos cosas que los estudiantes mezclan: el modelo de dominio, que solo tiene los conceptos del negocio y sus datos, y el modelo de diseno, que ya incluye clases tecnicas como controladores o repositorios.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diagrama de clases se dibuja con una caja de tres compartimentos:...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Hoy hacemos modelo de dominio, asi que en VetCare no aparece ninguna clase llamada MascotaDAO ni ConexionBD: aparecen Dueno, Mascota, Cita, Veterinario y Atencion, que son las cosas de las que habla el Dr. Ramirez cuando cuenta como funciona la clinica.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Los metodos, en el modelo de dominio, son solo los que pertenecen naturalmente al concepto, como calcularEdad en Mascota.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Las lineas entre clases son la mitad del valor del diagrama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Las lineas entre clases son la mitad del valor del diagrama.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Una asociacion es una relacion estable entre dos conceptos y se dibuja con una linea recta, un nombre que se lee como frase (Dueno tiene Mascota) y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cada extremo, una multiplicidad que responde cuantos: 1 exactamente uno, 0..1 opcional, 1..* uno o mas, 0..* cero o mas.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En VetCare, Dueno 1 --- 0..* Mascota se lee un dueno puede tener cero o mas mascotas y una mascota pertenece a exactamente un dueno; ese 1 del lado del dueno es una decision de negocio que hay que confirmar con el cliente, no una suposicion.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Las lineas entre clases son la mitad del valor del diagrama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composicion (rombo relleno) se usa cuando la parte no vive sin el todo: en VetCare las Atenciones de una Mascota son parte de su historia clinica y no tienen sentido si se elimina la ficha de la mascota.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agregacion (rombo vacio) se usa cuando la parte sobrevive por su cuenta, como un Veterinario que pertenece a una Sede pero sigue existiendo si la sede cierra.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La herencia (triangulo) solo cuando hay un es-un verdadero, por ejemplo Persona con Dueno y Veterinario como especializaciones, decision que solo vale la pena si comparten varios atributos.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diagrama que dibujamos hoy no se queda en la clase: es la pieza que...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El diagrama que dibujamos hoy no se queda en la clase: es la pieza que viaja mas lejos del Proyecto Integrador.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De cada clase salen los campos del diccionario de datos y, mas adelante, las tablas de la base de datos: la clase Mascota con sus atributos se convierte en la tabla mascota, la asociacion 1 a 0..* se convierte en una llave foranea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las multiplicidades muchos a muchos se convierten en una tabla intermedia.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Para quien cursa tambien Programacion II, este diagrama es el mapa que le dice que clases crear y que atributos poner; para quien solo cursa Programacion II, es lo que recibe ya hecho y debe respetar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Y para quien solo cursa Seminario, es el corazon del documento de diseno que se entrega al final junto con el prototipo navegable, una ruta completa y perfectamente valida donde el entregable profesional es el plano, no el ladrillo.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El diagrama de clases en Mermaid: la sintaxis completa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classDiagram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class Dueno {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-int idDueno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-String nombre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-String telefono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+registrar()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}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class Mascota {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-int idMascota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-String nombre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-String especie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-char activa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  +abrirExpediente()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}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  Dueno "1" --&gt; "0..*" Mascota: posee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%% Complete con SUS clases. Lo que se califica: visibilidad (- privado,</a:t>
            </a:r>
          </a:p>
          <a:p>
            <a:pPr>
              <a:spcAft>
                <a:spcPts val="314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%% + publico), TIPO de cada atributo, y multiplicidad en LOS DOS extremos.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Lo que NO es una clase del dominio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509320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10637215" cy="4453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%% NO son clases del dominio, y es el error mas comun: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%%   FormularioRegistroMascota   -&gt; es una PANTALLA (Clase 13)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%%   ConexionBaseDatos           -&gt; es INFRAESTRUCTURA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%%   GestorDeMascotas            -&gt; es un «gestor» que solo mueve datos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%%   BotonGuardar                -&gt; es un control de interfaz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%% SI son clases del dominio: los sustantivos que el CLIENTE nombra 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%% que tienen estado propio y reglas propias.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%%   Dueno, Mascota, Cita, Veterinario, Consulta, Factura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%% La prueba: si el sistema no existiera, la clinica seguiria hablando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%% de «la mascota» y «la cita». De «GestorDeMascotas» 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Modelo de dominio de VetCare en sintaxis Mermaid (diagrama, no codigo)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61872"/>
            <a:ext cx="11277295" cy="4773168"/>
          </a:xfrm>
          <a:prstGeom prst="roundRect">
            <a:avLst>
              <a:gd name="adj" fmla="val 12000"/>
            </a:avLst>
          </a:prstGeom>
          <a:solidFill>
            <a:srgbClr val="1E2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61872"/>
            <a:ext cx="11277295" cy="32004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07592"/>
            <a:ext cx="10820095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r>
              <a:rPr sz="1000" b="1" i="0">
                <a:solidFill>
                  <a:srgbClr val="269CCB"/>
                </a:solidFill>
                <a:latin typeface="Calibri"/>
              </a:rPr>
              <a:t>● ● 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5181447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classDiagram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class Dueno {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-documento: String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-nombre: String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+registrarMascota(m: Mascota): void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}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class Mascota {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-codigo: String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-especie: String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-fechaNacimiento: Date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+calcularEdad(): int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}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class Veterinario {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-tarjetaProfesional: String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-especialidad: String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3007" y="1719072"/>
            <a:ext cx="5181447" cy="4133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class Cita {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-fechaHora: DateTime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-estado: String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+reprogramar(nuevaFecha: DateTime): void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}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class Atencion {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-diagnostico: String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  -tratamiento: String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}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Dueno "1" --&gt; "0..*" Mascota: es dueno de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Mascota "1" --&gt; "0..*" Cita: tiene agendada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Veterinario "1" --&gt; "0..*" Cita: atiende</a:t>
            </a:r>
          </a:p>
          <a:p>
            <a:pPr>
              <a:spcAft>
                <a:spcPts val="371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  Cita "1" --&gt; "0..1" Atencion: genera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8076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Las multiplicidades son las que contestan las preguntas que el espanol deja abiertas: un dueno, muchas mascotas.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952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FF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729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Calibri"/>
              </a:rPr>
              <a:t>Demo del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70432"/>
            <a:ext cx="11277295" cy="523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Herramienta: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draw.io · Mermaid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</a:t>
            </a:r>
            <a:r>
              <a:rPr sz="2000" b="1" i="0">
                <a:solidFill>
                  <a:srgbClr val="333333"/>
                </a:solidFill>
                <a:latin typeface="Calibri"/>
              </a:rPr>
              <a:t>Demo:</a:t>
            </a:r>
            <a:r>
              <a:rPr sz="2000" b="0" i="0">
                <a:solidFill>
                  <a:srgbClr val="333333"/>
                </a:solidFill>
                <a:latin typeface="Calibri"/>
              </a:rPr>
              <a:t> El docente dibuja en vivo Dueno, Mascota y Cita en draw.io y borra tres atributos mal ubicados explicando a que clase pertenecen de verdad.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–   Mismo dominio VetCare — no otro ejemplo. Aqui se diseña, no se programa.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6666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69C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uniajc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455" y="5998464"/>
            <a:ext cx="1463040" cy="643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737360"/>
            <a:ext cx="11277295" cy="10972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3400" b="1" i="0">
                <a:solidFill>
                  <a:srgbClr val="095292"/>
                </a:solidFill>
                <a:latin typeface="Calibri"/>
              </a:rPr>
              <a:t>Clase 8 · Introduccion a UML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772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El idioma comun para dibujar los planos de VetCare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Repasen las laminas de teoria: cada concepto esta completo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Siguiente clase: continuamos con el siguiente 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69CCB"/>
                </a:solidFill>
                <a:latin typeface="Calibri"/>
              </a:rPr>
              <a:t>Teoria al servicio del diseño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