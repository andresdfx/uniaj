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UML significa Lenguaje Unificado de Modelado y nacio en los anos noventa para resolver un problema muy concreto: tres personas leian la misma frase en espanol y entendian tres sistemas distintos.</a:t>
            </a:r>
          </a:p>
          <a:p/>
          <a:p>
            <a:r>
              <a:t>La especificacion tiene catorce tipos de diagrama, pero en la vida real de un analista se usan cuatro o cinco de forma constante y los demas se consultan cuando se necesitan; querer aprender los catorce es la manera mas rapida de no aprender ninguno.</a:t>
            </a:r>
          </a:p>
          <a:p/>
          <a:p>
            <a:r>
              <a:t>En la clinica, la frase un dueno puede tener varias mascotas parece clarisima hasta que alguien pregunta si una mascota puede tener dos duenos, si el dueno existe antes de registrar la mascota o si al borrar el dueno desaparece la mascota</a:t>
            </a:r>
          </a:p>
          <a:p/>
          <a:p>
            <a:r>
              <a:t>El diagrama contesta esas tres preguntas con dos numeros y una linea, y ahi es donde UML se gana el sueldo.</a:t>
            </a:r>
          </a:p>
          <a:p/>
          <a:p>
            <a:r>
              <a:t>NOTAS:</a:t>
            </a:r>
          </a:p>
          <a:p/>
          <a:p>
            <a:r>
              <a:t>Es un lenguaje grafico estandarizado, no un lenguaje de programacion y no una herramienta; usted puede dibujar UML valido en draw.io, en Mermaid o en el tablero con marcador, porque lo que esta normalizado es el significado de las cajas, las lineas y los numeros, no el programa donde se pintan.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vista estructural muestra de que esta hecho el sistema y no cambia con el tiempo: diagrama de clases, de objetos, de componentes y de despliegue.</a:t>
            </a:r>
          </a:p>
          <a:p/>
          <a:p>
            <a:r>
              <a:t>La vista de comportamiento muestra que pasa y en que orden: casos de uso, actividades, secuencia y maquina de estados.</a:t>
            </a:r>
          </a:p>
          <a:p/>
          <a:p>
            <a:r>
              <a:t>Aclaracion importante: los diagramas no reemplazan el documento de requisitos, lo dibujan; cada clase que aparezca hoy debe poder rastrearse a un RF o a una historia del backlog.</a:t>
            </a:r>
          </a:p>
          <a:p/>
          <a:p>
            <a:r>
              <a:t>NOTAS:</a:t>
            </a:r>
          </a:p>
          <a:p/>
          <a:p>
            <a:r>
              <a:t>Los diagramas se agrupan en dos grandes vistas.</a:t>
            </a:r>
          </a:p>
          <a:p/>
          <a:p>
            <a:r>
              <a:t>Un mismo sistema necesita las dos, igual que una casa necesita el plano de plantas y tambien el plano de instalaciones.</a:t>
            </a:r>
          </a:p>
          <a:p/>
          <a:p>
            <a:r>
              <a:t>En la practica profesional los que sobreviven son cinco: casos de uso para acordar el alcance con el cliente, clases para el modelo del dominio, secuencia para entender un flujo complicado paso a paso, actividades para procesos de negocio con decisiones, y despliegue cuando hay que explicar donde vive cada cosa.</a:t>
            </a:r>
          </a:p>
          <a:p/>
          <a:p>
            <a:r>
              <a:t>En la clinica vamos a usar clases hoy, casos de uso y secuencia mas adelante, y el resto se menciona para que sepan que existen.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diagrama de clases se dibuja con una caja de tres compartimentos: arriba el nombre de la clase en singular y con mayuscula inicial (Mascota, no mascotas), en el medio los atributos y abajo los metodos.</a:t>
            </a:r>
          </a:p>
          <a:p/>
          <a:p>
            <a:r>
              <a:t>Un atributo se escribe con visibilidad, nombre y tipo, por ejemplo -nombre: String o -fechaNacimiento: Date, donde el guion significa privado y el mas significa publico.</a:t>
            </a:r>
          </a:p>
          <a:p/>
          <a:p>
            <a:r>
              <a:t>Un metodo se escribe con su firma y su tipo de retorno, por ejemplo +calcularEdad(): int.</a:t>
            </a:r>
          </a:p>
          <a:p/>
          <a:p>
            <a:r>
              <a:t>Aqui hay que distinguir dos cosas que los estudiantes mezclan: el modelo de dominio, que solo tiene los conceptos del negocio y sus datos, y el modelo de diseno, que ya incluye clases tecnicas como controladores o repositorios.</a:t>
            </a:r>
          </a:p>
          <a:p/>
          <a:p>
            <a:r>
              <a:t>Hoy hacemos modelo de dominio, asi que en la clinica no aparece ninguna clase llamada MascotaDAO ni ConexionBD: aparecen Dueno, Mascota, Cita, Veterinario y Atencion, que son las cosas de las que habla el Dr. Ramirez cuando cuenta como funciona la clinica.</a:t>
            </a:r>
          </a:p>
          <a:p/>
          <a:p>
            <a:r>
              <a:t>Los metodos, en el modelo de dominio, son solo los que pertenecen naturalmente al concepto, como calcularEdad en Mascota.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Las lineas entre clases son la mitad del valor del diagrama.</a:t>
            </a:r>
          </a:p>
          <a:p/>
          <a:p>
            <a:r>
              <a:t>Una asociacion es una relacion estable entre dos conceptos y se dibuja con una linea recta, un nombre que se lee como frase (Dueno tiene Mascota) y</a:t>
            </a:r>
          </a:p>
          <a:p/>
          <a:p>
            <a:r>
              <a:t>En cada extremo, una multiplicidad que responde cuantos: 1 exactamente uno, 0..1 opcional, 1..* uno o mas, 0..* cero o mas.</a:t>
            </a:r>
          </a:p>
          <a:p/>
          <a:p>
            <a:r>
              <a:t>En la clinica, Dueno 1 --- 0..* Mascota se lee un dueno puede tener cero o mas mascotas y una mascota pertenece a exactamente un dueno; ese 1 del lado del dueno es una decision de negocio que hay que confirmar con el cliente, no una suposicion.</a:t>
            </a:r>
          </a:p>
          <a:p/>
          <a:p>
            <a:r>
              <a:t>La composicion (rombo relleno) se usa cuando la parte no vive sin el todo: en la clinica las Atenciones de una Mascota son parte de su historia clinica y no tienen sentido si se elimina la ficha de la mascota.</a:t>
            </a:r>
          </a:p>
          <a:p/>
          <a:p>
            <a:r>
              <a:t>La agregacion (rombo vacio) se usa cuando la parte sobrevive por su cuenta, como un Veterinario que pertenece a una Sede pero sigue existiendo si la sede cierra.</a:t>
            </a:r>
          </a:p>
          <a:p/>
          <a:p>
            <a:r>
              <a:t>La herencia (triangulo) solo cuando hay un es-un verdadero, por ejemplo Persona con Dueno y Veterinario como especializaciones, decision que solo vale la pena si comparten varios atributos.</a:t>
            </a:r>
          </a:p>
          <a:p/>
          <a:p>
            <a:r>
              <a:t>NOTAS:</a:t>
            </a:r>
          </a:p>
          <a:p/>
          <a:p>
            <a:r>
              <a:t>Cita relaciona a Mascota y a Veterinario, cada cita con exactamente una mascota y un veterinario, y cada veterinario con muchas citas.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diagrama que dibujamos hoy no se queda en la clase: es la pieza que viaja mas lejos del proyecto.</a:t>
            </a:r>
          </a:p>
          <a:p/>
          <a:p>
            <a:r>
              <a:t>De cada clase salen los campos del diccionario de datos y, mas adelante, las tablas de la base de datos: la clase Mascota con sus atributos se convierte en la tabla mascota, la asociacion 1 a 0..* se convierte en una llave foranea</a:t>
            </a:r>
          </a:p>
          <a:p/>
          <a:p>
            <a:r>
              <a:t>Y las multiplicidades muchos a muchos se convierten en una tabla intermedia.</a:t>
            </a:r>
          </a:p>
          <a:p/>
          <a:p>
            <a:r>
              <a:t>Para quien cursa tambien Programacion II, este diagrama es el mapa que le dice que clases crear y que atributos poner; para quien solo cursa Programacion II, es lo que recibe ya hecho y debe respetar</a:t>
            </a:r>
          </a:p>
          <a:p/>
          <a:p>
            <a:r>
              <a:t>Y para quien solo cursa Seminario, es el corazon del documento de diseno que se entrega al final junto con el prototipo navegable, una ruta completa y perfectamente valida donde el producto profesional es el plano, no el ladrillo.</a:t>
            </a:r>
          </a:p>
          <a:p/>
          <a:p>
            <a:r>
              <a:t>NOTAS:</a:t>
            </a:r>
          </a:p>
          <a:p/>
          <a:p>
            <a:r>
              <a:t>Por eso el diagrama debe estar limpio: nombres en singular, sin atributos repetidos en dos clases, sin lineas sueltas y sin cajas que no correspondan a ningun requisito.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Introduccion a UML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idioma comun para dibujar los planos de la clinica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otebook-planning-desk-coff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Cup of  Couple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Introduccion a UML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idioma comun para dibujar los planos de la clinica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Mermaid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l-pregun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ml-pregun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uml-pregun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Lenguaje Unificado de Modelado: gráfico y estandarizado, ni de programación ni una herramienta.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normalizado es el significado de cajas, líneas y números, no el programa donde se pintan.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Tiene catorce diagramas; un analista usa cuatro o cinco.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dueño puede tener varias mascotas» deja preguntas que el diagrama contesta con dos números y una línea.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Vista estructural y vista de comportamiento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os-vist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os-vist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dos-vist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Estructural: de qué está hecho el sistema (clases, objetos, componentes, despliegue).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Comportamiento: qué pasa y en qué orden (casos de uso, actividades, secuencia, estados).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necesita las dos, como una casa el plano de plantas y el de instalaciones.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diagramas no reemplazan los requisitos: los dibujan.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clase: tres compartimentos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e-compartiment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lase-compartiment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lase-compartiment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Arriba el nombre en singular (Mascota), en medio los atributos, abajo los métodos.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Atributo: visibilidad, nombre y tipo: -nombre: String (- privado, + público).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Método: firma y retorno: +calcularEdad(): int.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Modelo de dominio: solo conceptos del negocio; nada de MascotaDAO ni ConexionBD.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clases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9770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03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03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classDiagram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4EC9B0"/>
                </a:solidFill>
                <a:latin typeface="Consolas"/>
              </a:rPr>
              <a:t>Dueno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{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int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idDueno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String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nombre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String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telefono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+</a:t>
            </a:r>
            <a:r>
              <a:rPr sz="1200" i="0" b="0">
                <a:solidFill>
                  <a:srgbClr val="DCDCAA"/>
                </a:solidFill>
                <a:latin typeface="Consolas"/>
              </a:rPr>
              <a:t>registrar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()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4EC9B0"/>
                </a:solidFill>
                <a:latin typeface="Consolas"/>
              </a:rPr>
              <a:t>Mascota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{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int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idMascota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String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nombre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String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especie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char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activa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+</a:t>
            </a:r>
            <a:r>
              <a:rPr sz="1200" i="0" b="0">
                <a:solidFill>
                  <a:srgbClr val="DCDCAA"/>
                </a:solidFill>
                <a:latin typeface="Consolas"/>
              </a:rPr>
              <a:t>abrirExpediente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()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2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posee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57"/>
              </a:spcAft>
            </a:pPr>
            <a:r>
              <a:rPr sz="1200" i="1" b="0">
                <a:solidFill>
                  <a:srgbClr val="6A9955"/>
                </a:solidFill>
                <a:latin typeface="Consolas"/>
              </a:rPr>
              <a:t>%% Complete con SUS clases. Lo que importa: visibilidad (- privado,</a:t>
            </a:r>
          </a:p>
          <a:p>
            <a:pPr>
              <a:spcAft>
                <a:spcPts val="257"/>
              </a:spcAft>
            </a:pPr>
            <a:r>
              <a:rPr sz="1200" i="1" b="0">
                <a:solidFill>
                  <a:srgbClr val="6A9955"/>
                </a:solidFill>
                <a:latin typeface="Consolas"/>
              </a:rPr>
              <a:t>%% + publico), TIPO de cada atributo, y multiplicidad en LOS DOS extremos.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 una clase del dominio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313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classDiagram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4EC9B0"/>
                </a:solidFill>
                <a:latin typeface="Consolas"/>
              </a:rPr>
              <a:t>Dueno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4EC9B0"/>
                </a:solidFill>
                <a:latin typeface="Consolas"/>
              </a:rPr>
              <a:t>Mascota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4EC9B0"/>
                </a:solidFill>
                <a:latin typeface="Consolas"/>
              </a:rPr>
              <a:t>Cita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posee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tiene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for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"Del dominio: el cliente la nombra\ny tiene estado y reglas propias"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NO van en el modelo de dominio, y es el error mas comun: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  FormularioRegistroMascota -&gt; una PANTALLA (Clase 13)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  ConexionBaseDatos         -&gt; INFRAESTRUCTURA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  GestorDeMascotas          -&gt; un «gestor» que solo mueve datos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  BotonGuardar              -&gt; un control de interfaz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La prueba: sin sistema, la clinica seguiria hablando de «la mascota»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y de «la cita». De «GestorDeMascotas», 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Modelo de dominio completo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2744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474710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classDiagram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Dueno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{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documento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+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registrarMascota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void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{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codigo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fechaNacimiento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Date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+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calcularEdad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()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int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Veterinario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{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tarjetaProfesional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especialidad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3067" y="1719072"/>
            <a:ext cx="474710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{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fechaHora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DateTime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+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reprogramar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nuevaFecha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DateTime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void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Atencion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{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diagnostico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tratamiento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tiene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agendada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atiende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"0..1"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Atencion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genera</a:t>
            </a:r>
          </a:p>
          <a:p>
            <a:pPr>
              <a:spcAft>
                <a:spcPts val="278"/>
              </a:spcAft>
            </a:pPr>
            <a:r>
              <a:rPr sz="1300" i="1" b="0">
                <a:solidFill>
                  <a:srgbClr val="6A9955"/>
                </a:solidFill>
                <a:latin typeface="Consolas"/>
              </a:rPr>
              <a:t>%% En Mermaid el retorno va tras el parentesis y sin dos puntos:</a:t>
            </a:r>
          </a:p>
          <a:p>
            <a:pPr>
              <a:spcAft>
                <a:spcPts val="278"/>
              </a:spcAft>
            </a:pPr>
            <a:r>
              <a:rPr sz="1300" i="1" b="0">
                <a:solidFill>
                  <a:srgbClr val="6A9955"/>
                </a:solidFill>
                <a:latin typeface="Consolas"/>
              </a:rPr>
              <a:t>%% +calcularEdad() int  se dibuja como el UML  +calcularEdad(): 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Las multiplicidades son las que contestan las preguntas que el espanol deja abiertas: un dueno, muchas mascotas.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Asociaciones y multiplicidades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laciones-um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laciones-um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laciones-uml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relaciones-uml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Asociación: línea con un nombre que se lee como frase y una multiplicidad en cada extremo.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 exactamente uno · 0..1 opcional · 1..* uno o más · 0..* cero o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Dueño 1 — 0..* Mascota: el 1 es una decisión de negocio que se confirma con 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Composición (rombo relleno), agregación (rombo vacío) y herencia (triángulo), solo si hay un es-un.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diagrama de clases a la base de datos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e-a-tabl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lase-a-tabl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lase-a-tabl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cada clase salen los campos del diccionario de datos y después las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Mascota → la tabla mascota; la asociación 1 a 0..* → una llave foránea.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Muchos a muchos → una tabla intermedia.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va limpio: nombres en singular, sin atributos repetidos, sin cajas sin requisito.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ptop-code-live-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olia danilevich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Mermaid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dibuja en vivo Dueno, Mascota y Cita en draw.io y borra tres atributos mal ubicados explicando a que clase pertenecen de verdad.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Introduccion a UML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idioma comun para dibujar los planos de la clinica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