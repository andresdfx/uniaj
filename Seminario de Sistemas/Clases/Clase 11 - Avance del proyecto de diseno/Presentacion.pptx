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notesMaster" Target="notesMasters/notesMaster1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DESARROLLO (para explicarlo, no se proyecta):</a:t>
            </a:r>
          </a:p>
          <a:p/>
          <a:p>
            <a:r>
              <a:t>Un paquete de diseño no es una carpeta de archivos sueltos: es un sistema de documentos que deben decir lo mismo con las mismas palabras.</a:t>
            </a:r>
          </a:p>
          <a:p/>
          <a:p>
            <a:r>
              <a:t>El problema es que esos documentos se escribieron en semanas distintas, muchas veces por personas distintas del equipo, y cada semana el entendimiento del dominio cambio un poquito.</a:t>
            </a:r>
          </a:p>
          <a:p/>
          <a:p>
            <a:r>
              <a:t>Ninguno de los tres documentos esta mal por si solo; lo que esta mal es el conjunto.</a:t>
            </a:r>
          </a:p>
          <a:p/>
          <a:p>
            <a:r>
              <a:t>NOTAS:</a:t>
            </a:r>
          </a:p>
          <a:p/>
          <a:p>
            <a:r>
              <a:t>Asi es como en la clinica aparece un requisito RF-07 que promete recordatorio de cita por mensajeria, un diagrama de casos de uso donde no existe ningun caso de uso de recordatorio, y un diagrama de clases donde no hay nada parecido a una clase Notificacion.</a:t>
            </a:r>
          </a:p>
          <a:p/>
          <a:p>
            <a:r>
              <a:t>Un defecto de consistencia cuesta poco corregirlo hoy, en una hoja, y cuesta carisimo corregirlo cuando ya se construyo sobre el, porque para entonces hay pantallas, tablas y codigo apoyados en la contradiccion.</a:t>
            </a:r>
          </a:p>
          <a:p/>
          <a:p>
            <a:r>
              <a:t>Por eso esta sesion no agrega tema nuevo: agrega confianza en lo que ya existe, que es un trabajo de arquitecto tan legitimo como dibujar.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DESARROLLO (para explicarlo, no se proyecta):</a:t>
            </a:r>
          </a:p>
          <a:p/>
          <a:p>
            <a:r>
              <a:t>La herramienta central para eso es la trazabilidad, y se verifica en dos direcciones.</a:t>
            </a:r>
          </a:p>
          <a:p/>
          <a:p>
            <a:r>
              <a:t>Hacia adelante se pregunta si todo requisito funcional llega a algun caso de uso y si ese caso de uso llega a alguna clase, atributo u operacion que lo soporte</a:t>
            </a:r>
          </a:p>
          <a:p/>
          <a:p>
            <a:r>
              <a:t>Si un RF no llega a nada, es un requisito huerfano y significa que el equipo prometio algo que el diseño no cumple.</a:t>
            </a:r>
          </a:p>
          <a:p/>
          <a:p>
            <a:r>
              <a:t>Hacia atras se pregunta si todo elemento del diseño nace de algun requisito</a:t>
            </a:r>
          </a:p>
          <a:p/>
          <a:p>
            <a:r>
              <a:t>Si un caso de uso o una clase no viene de ningun RF, es un elemento viudo y casi siempre significa que alguien agrego funcionalidad por gusto propio o que la fila de la matriz quedo sin diligenciar.</a:t>
            </a:r>
          </a:p>
          <a:p/>
          <a:p>
            <a:r>
              <a:t>En la clinica esto se vuelve concreto rapidisimo: RF-05, consultar el expediente de una mascota, junto con el RNF-02 que exige que el resultado aparezca en menos de tres segundos</a:t>
            </a:r>
          </a:p>
          <a:p/>
          <a:p>
            <a:r>
              <a:t>Debe llegar a CU-02 Buscar expediente y de ahi a las clases Mascota y Consulta, con una operacion de busqueda por codigo o por nombre</a:t>
            </a:r>
          </a:p>
          <a:p/>
          <a:p>
            <a:r>
              <a:t>Si ese camino se rompe en cualquier punto, el problema numero dos de la clinica sigue sin resolverse aunque el equipo tenga veinte paginas escritas.</a:t>
            </a:r>
          </a:p>
          <a:p/>
          <a:p>
            <a:r>
              <a:t>La matriz de trazabilidad es apenas una tabla de cuatro columnas, pero es la unica prueba objetiva de que el paquete es coherente.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DESARROLLO (para explicarlo, no se proyecta):</a:t>
            </a:r>
          </a:p>
          <a:p/>
          <a:p>
            <a:r>
              <a:t>El segundo eje de la auditoria es el lenguaje.</a:t>
            </a:r>
          </a:p>
          <a:p/>
          <a:p>
            <a:r>
              <a:t>Cuando en un documento se lee Dueño, en otro Propietario, en otro Cliente y en el mockup Responsable, no hay cuatro sinonimos: hay cuatro oportunidades de que alguien crea que son cuatro cosas distintas y termine con cuatro tablas.</a:t>
            </a:r>
          </a:p>
          <a:p/>
          <a:p>
            <a:r>
              <a:t>La solucion es un glosario canonico donde cada concepto del dominio tiene un nombre unico, una definicion de una linea y una lista explicita de sinonimos prohibidos.</a:t>
            </a:r>
          </a:p>
          <a:p/>
          <a:p>
            <a:r>
              <a:t>Ese glosario manda sobre todos los artefactos: si el nombre canonico es Propietario, entonces el requisito, el caso de uso, el mockup, el diccionario de datos y la clase se llaman Propietario, sin excepciones y sin diminutivos.</a:t>
            </a:r>
          </a:p>
          <a:p/>
          <a:p>
            <a:r>
              <a:t>El glosario tambien separa parejas peligrosas: en la clinica, Cita es la reserva de un horario futuro y Consulta es el registro de una atencion ya realizada, y confundirlas produce un modelo donde nadie sabe si se esta agendando o atendiendo.</a:t>
            </a:r>
          </a:p>
          <a:p/>
          <a:p>
            <a:r>
              <a:t>La ganancia es inmediata para el compañero que solo cursa Programacion II, porque puede buscar una palabra en el documento y encontrarla en todos lados; y tambien para el que solo cursa Seminario</a:t>
            </a:r>
          </a:p>
          <a:p/>
          <a:p>
            <a:r>
              <a:t>Porque su documento de diseño se lee como un texto y no como un rompecabezas.</a:t>
            </a:r>
          </a:p>
          <a:p/>
          <a:p>
            <a:r>
              <a:t>NOTAS:</a:t>
            </a:r>
          </a:p>
          <a:p/>
          <a:p>
            <a:r>
              <a:t>Un sistema se diseña bien cuando existe un solo nombre para cada concepto y todos lo usan, desde la entrevista con la clinica hasta el nombre de la clase.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DESARROLLO (para explicarlo, no se proyecta):</a:t>
            </a:r>
          </a:p>
          <a:p/>
          <a:p>
            <a:r>
              <a:t>La revision entre pares se hace con reglas o no sirve.</a:t>
            </a:r>
          </a:p>
          <a:p/>
          <a:p>
            <a:r>
              <a:t>Se revisa el artefacto, nunca a la persona, y para eso se asignan tres roles: el autor, que entrega su paquete y permanece en silencio mientras lo revisan; el revisor</a:t>
            </a:r>
          </a:p>
          <a:p/>
          <a:p>
            <a:r>
              <a:t>Que recorre la lista de verificacion punto por punto y solo reporta hechos observables; y el moderador, que controla el tiempo y escribe los hallazgos.</a:t>
            </a:r>
          </a:p>
          <a:p/>
          <a:p>
            <a:r>
              <a:t>Cada hallazgo se anota con ubicacion exacta, descripcion de la inconsistencia y severidad: bloqueante cuando impide construir el sistema, mayor cuando obliga a rehacer un artefacto completo, menor cuando es cosmetico.</a:t>
            </a:r>
          </a:p>
          <a:p/>
          <a:p>
            <a:r>
              <a:t>Prohibido discutir la solucion durante la revision, porque ahi es donde se van los cuarenta minutos y no se revisa nada.</a:t>
            </a:r>
          </a:p>
          <a:p/>
          <a:p>
            <a:r>
              <a:t>En la clinica, un hallazgo bien escrito se ve asi: en el diagrama de clases, la clase Consulta no tiene relacion con Veterinario, pero el flujo principal de CU-03 dice que toda consulta queda a nombre del veterinario que atendio; severidad mayor.</a:t>
            </a:r>
          </a:p>
          <a:p/>
          <a:p>
            <a:r>
              <a:t>En cambio esta mal hecho, no me gusta o le falta orden no es un hallazgo, es una opinion.</a:t>
            </a:r>
          </a:p>
          <a:p/>
          <a:p>
            <a:r>
              <a:t>NOTAS:</a:t>
            </a:r>
          </a:p>
          <a:p/>
          <a:p>
            <a:r>
              <a:t>Eso es util.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DESARROLLO (para explicarlo, no se proyecta):</a:t>
            </a:r>
          </a:p>
          <a:p/>
          <a:p>
            <a:r>
              <a:t>Cada hallazgo pasa a ser un item con responsable, severidad, criterio de cierre verificable y un estado que puede ser aceptado, rechazado con justificacion escrita o aplazado por acuerdo.</a:t>
            </a:r>
          </a:p>
          <a:p/>
          <a:p>
            <a:r>
              <a:t>Rechazar un hallazgo es legitimo si se argumenta, y aprender a hacerlo es parte del oficio del analista.</a:t>
            </a:r>
          </a:p>
          <a:p/>
          <a:p>
            <a:r>
              <a:t>Sobre ese backlog se define lo que en la industria se llama definicion de terminado del paquete de diseño de la clinica: catalogo de RF y RNF numerado y sin huerfanos</a:t>
            </a:r>
          </a:p>
          <a:p/>
          <a:p>
            <a:r>
              <a:t>Diagrama y especificaciones de casos de uso, diagrama de clases con multiplicidades, mockups de las pantallas criticas y diccionario de datos.</a:t>
            </a:r>
          </a:p>
          <a:p/>
          <a:p>
            <a:r>
              <a:t>Aqui se hacen visibles los tres casos de matricula: el que cursa las dos materias entrega estos planos aca y el codigo alla; el que solo cursa Programacion II recibe este paquete y todo lo que hoy quede ambiguo lo va a pagar en horas de reproceso</a:t>
            </a:r>
          </a:p>
          <a:p/>
          <a:p>
            <a:r>
              <a:t>Y el que solo cursa Seminario cierra con este mismo documento mas el prototipo navegable, que es una ruta completa y valida, no una version reducida del curso.</a:t>
            </a:r>
          </a:p>
          <a:p/>
          <a:p>
            <a:r>
              <a:t>NOTAS:</a:t>
            </a:r>
          </a:p>
          <a:p/>
          <a:p>
            <a:r>
              <a:t>Todo lo que se encuentra se convierte en backlog de deuda de diseño, no en angustia.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TEXTO COMPLETO DE LA LÁMINA (se proyecta resumido):</a:t>
            </a:r>
          </a:p>
          <a:p/>
          <a:p>
            <a:r>
              <a:t>Herramienta: Google Docs · draw.io</a:t>
            </a:r>
          </a:p>
          <a:p/>
          <a:p>
            <a:r>
              <a:t>Demo: Se proyecta el paquete de un equipo ficticio de la clinica y encuentra en vivo tres inconsistencias: un RF sin caso de uso, una clase llamada Dueño que en el catalogo de requisitos se llama Propietario, y un caso de uso que ninguna clase puede soportar.</a:t>
            </a:r>
          </a:p>
          <a:p/>
          <a:p>
            <a:r>
              <a:t>Mismo dominio: la clinica veterinaria — no otro ejemplo. Aqui se diseña, no se programa.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notesSlide" Target="../notesSlides/notesSlide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Relationship Id="rId4" Type="http://schemas.openxmlformats.org/officeDocument/2006/relationships/image" Target="../media/image7.png"/><Relationship Id="rId5" Type="http://schemas.openxmlformats.org/officeDocument/2006/relationships/notesSlide" Target="../notesSlides/notesSlide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image" Target="../media/image9.png"/><Relationship Id="rId4" Type="http://schemas.openxmlformats.org/officeDocument/2006/relationships/image" Target="../media/image10.png"/><Relationship Id="rId5" Type="http://schemas.openxmlformats.org/officeDocument/2006/relationships/notesSlide" Target="../notesSlides/notesSlide3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image" Target="../media/image12.png"/><Relationship Id="rId4" Type="http://schemas.openxmlformats.org/officeDocument/2006/relationships/image" Target="../media/image13.png"/><Relationship Id="rId5" Type="http://schemas.openxmlformats.org/officeDocument/2006/relationships/notesSlide" Target="../notesSlides/notesSlide4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Relationship Id="rId3" Type="http://schemas.openxmlformats.org/officeDocument/2006/relationships/image" Target="../media/image15.png"/><Relationship Id="rId4" Type="http://schemas.openxmlformats.org/officeDocument/2006/relationships/image" Target="../media/image16.png"/><Relationship Id="rId5" Type="http://schemas.openxmlformats.org/officeDocument/2006/relationships/notesSlide" Target="../notesSlides/notesSlide5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Relationship Id="rId3" Type="http://schemas.openxmlformats.org/officeDocument/2006/relationships/notesSlide" Target="../notesSlides/notesSlide6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1440"/>
            <a:ext cx="12191695" cy="5029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_uniajc_bl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384048"/>
            <a:ext cx="2011680" cy="876815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10042855" y="384048"/>
            <a:ext cx="1691640" cy="38404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42855" y="384048"/>
            <a:ext cx="1691640" cy="38404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Clase 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331720"/>
            <a:ext cx="10728655" cy="18288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4000" b="1" i="0">
                <a:solidFill>
                  <a:srgbClr val="FFFFFF"/>
                </a:solidFill>
                <a:latin typeface="Calibri"/>
              </a:rPr>
              <a:t>Avance del proyecto de diseño</a:t>
            </a:r>
          </a:p>
        </p:txBody>
      </p:sp>
      <p:sp>
        <p:nvSpPr>
          <p:cNvPr id="9" name="Rectangle 8"/>
          <p:cNvSpPr/>
          <p:nvPr/>
        </p:nvSpPr>
        <p:spPr>
          <a:xfrm>
            <a:off x="4632807" y="4206240"/>
            <a:ext cx="2926080" cy="5029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4361688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0">
                <a:solidFill>
                  <a:srgbClr val="B8D8EE"/>
                </a:solidFill>
                <a:latin typeface="Calibri"/>
              </a:rPr>
              <a:t>Hoy no se agrega nada nuevo: se verifica que todos los documentos hablen del mismo sistema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94415" y="6419088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 i="0">
                <a:solidFill>
                  <a:srgbClr val="7EB8D4"/>
                </a:solidFill>
                <a:latin typeface="Calibri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Encuadre de hoy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Tema: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Avance del proyecto de diseño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Hoy no se agrega nada nuevo: se verifica que todos los documentos hablen del mismo sistema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Herramienta del tema: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Google Docs · draw.io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· Bloque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120 min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Ejemplo de toda la clase: el sistema de una clinica veterinaria.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Mapa del bloque de hoy (120 min)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2176272"/>
            <a:ext cx="11277295" cy="7315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438625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0-10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2587752"/>
            <a:ext cx="2164019" cy="3310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Encuadre y repaso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94084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712659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10-40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758379" y="2587752"/>
            <a:ext cx="2164019" cy="3310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Teoria Core del tema de hoy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949543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968118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40-60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13838" y="2587752"/>
            <a:ext cx="2164019" cy="3310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Demo en vivo sobre la clinica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05002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223577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60-105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269297" y="2587752"/>
            <a:ext cx="2164019" cy="3310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Practica (opcional, guia en la carpeta)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0460461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79036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105-120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524756" y="2587752"/>
            <a:ext cx="2164019" cy="3310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Sintesis y cierre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580644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666666"/>
                </a:solidFill>
                <a:latin typeface="Calibri"/>
              </a:rPr>
              <a:t>Solo el bloque de </a:t>
            </a:r>
            <a:r>
              <a:rPr sz="1200" b="1" i="1">
                <a:solidFill>
                  <a:srgbClr val="666666"/>
                </a:solidFill>
                <a:latin typeface="Calibri"/>
              </a:rPr>
              <a:t>esta</a:t>
            </a:r>
            <a:r>
              <a:rPr sz="1200" b="0" i="1">
                <a:solidFill>
                  <a:srgbClr val="666666"/>
                </a:solidFill>
                <a:latin typeface="Calibri"/>
              </a:rPr>
              <a:t> clase · 120 min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El paquete de diseño es un sistema de documentos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803166" y="1188719"/>
            <a:ext cx="5998464" cy="4828032"/>
          </a:xfrm>
          <a:prstGeom prst="roundRect">
            <a:avLst>
              <a:gd name="adj" fmla="val 4000"/>
            </a:avLst>
          </a:prstGeom>
          <a:solidFill>
            <a:srgbClr val="E8E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paquete-inconsistente-paso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76318" y="1261872"/>
            <a:ext cx="5852160" cy="4681728"/>
          </a:xfrm>
          <a:prstGeom prst="rect">
            <a:avLst/>
          </a:prstGeom>
        </p:spPr>
      </p:pic>
      <p:pic>
        <p:nvPicPr>
          <p:cNvPr id="7" name="Picture 6" descr="paquete-inconsistente-paso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76318" y="1261872"/>
            <a:ext cx="5852160" cy="4681728"/>
          </a:xfrm>
          <a:prstGeom prst="rect">
            <a:avLst/>
          </a:prstGeom>
        </p:spPr>
      </p:pic>
      <p:pic>
        <p:nvPicPr>
          <p:cNvPr id="8" name="Picture 7" descr="paquete-inconsistente-paso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6318" y="1261872"/>
            <a:ext cx="5852160" cy="468172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5870301" y="5961888"/>
            <a:ext cx="5864193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1">
                <a:solidFill>
                  <a:srgbClr val="666666"/>
                </a:solidFill>
                <a:latin typeface="Calibri"/>
              </a:rPr>
              <a:t>Clic para avanzar la animación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1353312"/>
            <a:ext cx="5093061" cy="5047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Todos deben decir lo mismo con las mismas palabras, aunque se escribieron en semanas distintas.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RF-07 promete recordatorios; ningún caso de uso los tiene; ninguna clase los soporta.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Ninguno está mal por sí solo: lo que está mal es el conjunto.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Corregirlo hoy cuesta una hoja; cuando ya hay pantallas y código, carísimo.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Requisitos huérfanos y elementos viudos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803166" y="1188719"/>
            <a:ext cx="5998464" cy="4828032"/>
          </a:xfrm>
          <a:prstGeom prst="roundRect">
            <a:avLst>
              <a:gd name="adj" fmla="val 4000"/>
            </a:avLst>
          </a:prstGeom>
          <a:solidFill>
            <a:srgbClr val="E8E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huerfano-viudo-paso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76318" y="1261872"/>
            <a:ext cx="5852160" cy="4681728"/>
          </a:xfrm>
          <a:prstGeom prst="rect">
            <a:avLst/>
          </a:prstGeom>
        </p:spPr>
      </p:pic>
      <p:pic>
        <p:nvPicPr>
          <p:cNvPr id="7" name="Picture 6" descr="huerfano-viudo-paso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76318" y="1261872"/>
            <a:ext cx="5852160" cy="4681728"/>
          </a:xfrm>
          <a:prstGeom prst="rect">
            <a:avLst/>
          </a:prstGeom>
        </p:spPr>
      </p:pic>
      <p:pic>
        <p:nvPicPr>
          <p:cNvPr id="8" name="Picture 7" descr="huerfano-viudo-paso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6318" y="1261872"/>
            <a:ext cx="5852160" cy="468172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5870301" y="5961888"/>
            <a:ext cx="5864193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1">
                <a:solidFill>
                  <a:srgbClr val="666666"/>
                </a:solidFill>
                <a:latin typeface="Calibri"/>
              </a:rPr>
              <a:t>Clic para avanzar la animación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1353312"/>
            <a:ext cx="5093061" cy="5047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Hacia adelante: ¿todo RF llega a un caso de uso y a una clase que lo soporte?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Un RF que no llega a nada es huérfano: se prometió algo que el diseño no cumple.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Hacia atrás: ¿todo elemento del diseño nace de un requisito? Si no, es viudo.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matriz de trazabilidad es la única prueba objetiva de que el paquete es coherente.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Auditoria cruzada: la matriz que delata contradicciones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4094073"/>
          </a:xfrm>
          <a:prstGeom prst="roundRect">
            <a:avLst>
              <a:gd name="adj" fmla="val 4000"/>
            </a:avLst>
          </a:prstGeom>
          <a:solidFill>
            <a:srgbClr val="1E1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65760"/>
          </a:xfrm>
          <a:prstGeom prst="rect">
            <a:avLst/>
          </a:prstGeom>
          <a:solidFill>
            <a:srgbClr val="2D2D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658368" y="1380743"/>
            <a:ext cx="128016" cy="128016"/>
          </a:xfrm>
          <a:prstGeom prst="ellipse">
            <a:avLst/>
          </a:prstGeom>
          <a:solidFill>
            <a:srgbClr val="FF5F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877824" y="1380743"/>
            <a:ext cx="128016" cy="128016"/>
          </a:xfrm>
          <a:prstGeom prst="ellipse">
            <a:avLst/>
          </a:prstGeom>
          <a:solidFill>
            <a:srgbClr val="FFB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97280" y="1380743"/>
            <a:ext cx="128016" cy="128016"/>
          </a:xfrm>
          <a:prstGeom prst="ellipse">
            <a:avLst/>
          </a:prstGeom>
          <a:solidFill>
            <a:srgbClr val="27C9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71600" y="1298448"/>
            <a:ext cx="10180015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r"/>
            <a:r>
              <a:rPr sz="1100" b="1" i="0">
                <a:solidFill>
                  <a:srgbClr val="BBBBBB"/>
                </a:solidFill>
                <a:latin typeface="Calibri"/>
              </a:rPr>
              <a:t>Tabla Markdown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1719072"/>
            <a:ext cx="502920" cy="349971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278"/>
              </a:spcAft>
            </a:pPr>
            <a:r>
              <a:rPr sz="1300" i="0" b="0">
                <a:solidFill>
                  <a:srgbClr val="858585"/>
                </a:solidFill>
                <a:latin typeface="Consolas"/>
              </a:rPr>
              <a:t>1</a:t>
            </a:r>
          </a:p>
          <a:p>
            <a:pPr algn="r">
              <a:spcAft>
                <a:spcPts val="278"/>
              </a:spcAft>
            </a:pPr>
            <a:r>
              <a:rPr sz="1300" i="0" b="0">
                <a:solidFill>
                  <a:srgbClr val="858585"/>
                </a:solidFill>
                <a:latin typeface="Consolas"/>
              </a:rPr>
              <a:t>2</a:t>
            </a:r>
          </a:p>
          <a:p>
            <a:pPr algn="r">
              <a:spcAft>
                <a:spcPts val="278"/>
              </a:spcAft>
            </a:pPr>
            <a:r>
              <a:rPr sz="1300" i="0" b="0">
                <a:solidFill>
                  <a:srgbClr val="858585"/>
                </a:solidFill>
                <a:latin typeface="Consolas"/>
              </a:rPr>
              <a:t>3</a:t>
            </a:r>
          </a:p>
          <a:p>
            <a:pPr algn="r">
              <a:spcAft>
                <a:spcPts val="278"/>
              </a:spcAft>
            </a:pPr>
            <a:r>
              <a:rPr sz="1300" i="0" b="0">
                <a:solidFill>
                  <a:srgbClr val="858585"/>
                </a:solidFill>
                <a:latin typeface="Consolas"/>
              </a:rPr>
              <a:t>4</a:t>
            </a:r>
          </a:p>
          <a:p>
            <a:pPr algn="r">
              <a:spcAft>
                <a:spcPts val="278"/>
              </a:spcAft>
            </a:pPr>
            <a:r>
              <a:rPr sz="1300" i="0" b="0">
                <a:solidFill>
                  <a:srgbClr val="858585"/>
                </a:solidFill>
                <a:latin typeface="Consolas"/>
              </a:rPr>
              <a:t>5</a:t>
            </a:r>
          </a:p>
          <a:p>
            <a:pPr algn="r">
              <a:spcAft>
                <a:spcPts val="278"/>
              </a:spcAft>
            </a:pPr>
            <a:r>
              <a:rPr sz="1300" i="0" b="0">
                <a:solidFill>
                  <a:srgbClr val="858585"/>
                </a:solidFill>
                <a:latin typeface="Consolas"/>
              </a:rPr>
              <a:t>6</a:t>
            </a:r>
          </a:p>
          <a:p>
            <a:pPr algn="r">
              <a:spcAft>
                <a:spcPts val="278"/>
              </a:spcAft>
            </a:pPr>
            <a:r>
              <a:rPr sz="1300" i="0" b="0">
                <a:solidFill>
                  <a:srgbClr val="858585"/>
                </a:solidFill>
                <a:latin typeface="Consolas"/>
              </a:rPr>
              <a:t>7</a:t>
            </a:r>
          </a:p>
          <a:p>
            <a:pPr algn="r">
              <a:spcAft>
                <a:spcPts val="278"/>
              </a:spcAft>
            </a:pPr>
            <a:r>
              <a:rPr sz="1300" i="0" b="0">
                <a:solidFill>
                  <a:srgbClr val="858585"/>
                </a:solidFill>
                <a:latin typeface="Consolas"/>
              </a:rPr>
              <a:t>8</a:t>
            </a:r>
          </a:p>
          <a:p>
            <a:pPr algn="r">
              <a:spcAft>
                <a:spcPts val="278"/>
              </a:spcAft>
            </a:pPr>
            <a:r>
              <a:rPr sz="1300" i="0" b="0">
                <a:solidFill>
                  <a:srgbClr val="858585"/>
                </a:solidFill>
                <a:latin typeface="Consolas"/>
              </a:rPr>
              <a:t>9</a:t>
            </a:r>
          </a:p>
          <a:p>
            <a:pPr algn="r">
              <a:spcAft>
                <a:spcPts val="278"/>
              </a:spcAft>
            </a:pPr>
            <a:r>
              <a:rPr sz="1300" i="0" b="0">
                <a:solidFill>
                  <a:srgbClr val="858585"/>
                </a:solidFill>
                <a:latin typeface="Consolas"/>
              </a:rPr>
              <a:t>10</a:t>
            </a:r>
          </a:p>
          <a:p>
            <a:pPr algn="r">
              <a:spcAft>
                <a:spcPts val="278"/>
              </a:spcAft>
            </a:pPr>
            <a:r>
              <a:rPr sz="1300" i="0" b="0">
                <a:solidFill>
                  <a:srgbClr val="858585"/>
                </a:solidFill>
                <a:latin typeface="Consolas"/>
              </a:rPr>
              <a:t>11</a:t>
            </a:r>
          </a:p>
          <a:p>
            <a:pPr algn="r">
              <a:spcAft>
                <a:spcPts val="278"/>
              </a:spcAft>
            </a:pPr>
            <a:r>
              <a:rPr sz="1300" i="0" b="0">
                <a:solidFill>
                  <a:srgbClr val="858585"/>
                </a:solidFill>
                <a:latin typeface="Consolas"/>
              </a:rPr>
              <a:t>12</a:t>
            </a:r>
          </a:p>
          <a:p>
            <a:pPr algn="r">
              <a:spcAft>
                <a:spcPts val="278"/>
              </a:spcAft>
            </a:pPr>
            <a:r>
              <a:rPr sz="1300" i="0" b="0">
                <a:solidFill>
                  <a:srgbClr val="858585"/>
                </a:solidFill>
                <a:latin typeface="Consolas"/>
              </a:rPr>
              <a:t>13</a:t>
            </a:r>
          </a:p>
          <a:p>
            <a:pPr algn="r">
              <a:spcAft>
                <a:spcPts val="278"/>
              </a:spcAft>
            </a:pPr>
            <a:r>
              <a:rPr sz="1300" i="0" b="0">
                <a:solidFill>
                  <a:srgbClr val="858585"/>
                </a:solidFill>
                <a:latin typeface="Consolas"/>
              </a:rPr>
              <a:t>14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88720" y="1719072"/>
            <a:ext cx="10271455" cy="349971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78"/>
              </a:spcAft>
            </a:pPr>
            <a:r>
              <a:rPr sz="1300" i="0" b="0">
                <a:solidFill>
                  <a:srgbClr val="D4D4D4"/>
                </a:solidFill>
                <a:latin typeface="Consolas"/>
              </a:rPr>
              <a:t>| 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RF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     | 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Caso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de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uso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                  | 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Clases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implicadas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      | 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Mockup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 | 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Estado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      |</a:t>
            </a:r>
          </a:p>
          <a:p>
            <a:pPr>
              <a:spcAft>
                <a:spcPts val="278"/>
              </a:spcAft>
            </a:pPr>
            <a:r>
              <a:rPr sz="1300" i="0" b="0">
                <a:solidFill>
                  <a:srgbClr val="D4D4D4"/>
                </a:solidFill>
                <a:latin typeface="Consolas"/>
              </a:rPr>
              <a:t>|------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--|------------------------------|------------------------|--------|-------------|</a:t>
            </a:r>
          </a:p>
          <a:p>
            <a:pPr>
              <a:spcAft>
                <a:spcPts val="278"/>
              </a:spcAft>
            </a:pPr>
            <a:r>
              <a:rPr sz="1300" i="0" b="0">
                <a:solidFill>
                  <a:srgbClr val="D4D4D4"/>
                </a:solidFill>
                <a:latin typeface="Consolas"/>
              </a:rPr>
              <a:t>| 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RF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-</a:t>
            </a:r>
            <a:r>
              <a:rPr sz="1300" i="0" b="0">
                <a:solidFill>
                  <a:srgbClr val="B5CEA8"/>
                </a:solidFill>
                <a:latin typeface="Consolas"/>
              </a:rPr>
              <a:t>02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  | 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CU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-</a:t>
            </a:r>
            <a:r>
              <a:rPr sz="1300" i="0" b="0">
                <a:solidFill>
                  <a:srgbClr val="B5CEA8"/>
                </a:solidFill>
                <a:latin typeface="Consolas"/>
              </a:rPr>
              <a:t>00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Registrar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propietario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  | 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Propietario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            | 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M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-</a:t>
            </a:r>
            <a:r>
              <a:rPr sz="1300" i="0" b="0">
                <a:solidFill>
                  <a:srgbClr val="B5CEA8"/>
                </a:solidFill>
                <a:latin typeface="Consolas"/>
              </a:rPr>
              <a:t>01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   | 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OK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          |</a:t>
            </a:r>
          </a:p>
          <a:p>
            <a:pPr>
              <a:spcAft>
                <a:spcPts val="278"/>
              </a:spcAft>
            </a:pPr>
            <a:r>
              <a:rPr sz="1300" i="0" b="0">
                <a:solidFill>
                  <a:srgbClr val="D4D4D4"/>
                </a:solidFill>
                <a:latin typeface="Consolas"/>
              </a:rPr>
              <a:t>| 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RF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-</a:t>
            </a:r>
            <a:r>
              <a:rPr sz="1300" i="0" b="0">
                <a:solidFill>
                  <a:srgbClr val="B5CEA8"/>
                </a:solidFill>
                <a:latin typeface="Consolas"/>
              </a:rPr>
              <a:t>03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  | 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CU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-</a:t>
            </a:r>
            <a:r>
              <a:rPr sz="1300" i="0" b="0">
                <a:solidFill>
                  <a:srgbClr val="B5CEA8"/>
                </a:solidFill>
                <a:latin typeface="Consolas"/>
              </a:rPr>
              <a:t>01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Registrar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mascota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      | 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Mascota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, 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Propietario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   | 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M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-</a:t>
            </a:r>
            <a:r>
              <a:rPr sz="1300" i="0" b="0">
                <a:solidFill>
                  <a:srgbClr val="B5CEA8"/>
                </a:solidFill>
                <a:latin typeface="Consolas"/>
              </a:rPr>
              <a:t>02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   | 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OK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          |</a:t>
            </a:r>
          </a:p>
          <a:p>
            <a:pPr>
              <a:spcAft>
                <a:spcPts val="278"/>
              </a:spcAft>
            </a:pPr>
            <a:r>
              <a:rPr sz="1300" i="0" b="0">
                <a:solidFill>
                  <a:srgbClr val="D4D4D4"/>
                </a:solidFill>
                <a:latin typeface="Consolas"/>
              </a:rPr>
              <a:t>| 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RF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-</a:t>
            </a:r>
            <a:r>
              <a:rPr sz="1300" i="0" b="0">
                <a:solidFill>
                  <a:srgbClr val="B5CEA8"/>
                </a:solidFill>
                <a:latin typeface="Consolas"/>
              </a:rPr>
              <a:t>05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  | 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CU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-</a:t>
            </a:r>
            <a:r>
              <a:rPr sz="1300" i="0" b="0">
                <a:solidFill>
                  <a:srgbClr val="B5CEA8"/>
                </a:solidFill>
                <a:latin typeface="Consolas"/>
              </a:rPr>
              <a:t>02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Buscar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expediente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      | 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Mascota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, 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Consulta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      | 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M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-</a:t>
            </a:r>
            <a:r>
              <a:rPr sz="1300" i="0" b="0">
                <a:solidFill>
                  <a:srgbClr val="B5CEA8"/>
                </a:solidFill>
                <a:latin typeface="Consolas"/>
              </a:rPr>
              <a:t>03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   | 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OK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          |</a:t>
            </a:r>
          </a:p>
          <a:p>
            <a:pPr>
              <a:spcAft>
                <a:spcPts val="278"/>
              </a:spcAft>
            </a:pPr>
            <a:r>
              <a:rPr sz="1300" i="0" b="0">
                <a:solidFill>
                  <a:srgbClr val="D4D4D4"/>
                </a:solidFill>
                <a:latin typeface="Consolas"/>
              </a:rPr>
              <a:t>| 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RF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-</a:t>
            </a:r>
            <a:r>
              <a:rPr sz="1300" i="0" b="0">
                <a:solidFill>
                  <a:srgbClr val="B5CEA8"/>
                </a:solidFill>
                <a:latin typeface="Consolas"/>
              </a:rPr>
              <a:t>06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  | 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CU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-</a:t>
            </a:r>
            <a:r>
              <a:rPr sz="1300" i="0" b="0">
                <a:solidFill>
                  <a:srgbClr val="B5CEA8"/>
                </a:solidFill>
                <a:latin typeface="Consolas"/>
              </a:rPr>
              <a:t>03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Registrar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consulta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     | 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Consulta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, ???          | 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M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-</a:t>
            </a:r>
            <a:r>
              <a:rPr sz="1300" i="0" b="0">
                <a:solidFill>
                  <a:srgbClr val="B5CEA8"/>
                </a:solidFill>
                <a:latin typeface="Consolas"/>
              </a:rPr>
              <a:t>05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   | 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HALLAZGO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    |</a:t>
            </a:r>
          </a:p>
          <a:p>
            <a:pPr>
              <a:spcAft>
                <a:spcPts val="278"/>
              </a:spcAft>
            </a:pPr>
            <a:r>
              <a:rPr sz="1300" i="0" b="0">
                <a:solidFill>
                  <a:srgbClr val="D4D4D4"/>
                </a:solidFill>
                <a:latin typeface="Consolas"/>
              </a:rPr>
              <a:t>| 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RF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-</a:t>
            </a:r>
            <a:r>
              <a:rPr sz="1300" i="0" b="0">
                <a:solidFill>
                  <a:srgbClr val="B5CEA8"/>
                </a:solidFill>
                <a:latin typeface="Consolas"/>
              </a:rPr>
              <a:t>07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  | (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no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existe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)                  | (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no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existe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)            | 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--     | HUERFANO    |</a:t>
            </a:r>
          </a:p>
          <a:p>
            <a:pPr>
              <a:spcAft>
                <a:spcPts val="278"/>
              </a:spcAft>
            </a:pPr>
            <a:r>
              <a:rPr sz="1300" i="0" b="0">
                <a:solidFill>
                  <a:srgbClr val="D4D4D4"/>
                </a:solidFill>
                <a:latin typeface="Consolas"/>
              </a:rPr>
              <a:t>| (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sin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)  | 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CU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-</a:t>
            </a:r>
            <a:r>
              <a:rPr sz="1300" i="0" b="0">
                <a:solidFill>
                  <a:srgbClr val="B5CEA8"/>
                </a:solidFill>
                <a:latin typeface="Consolas"/>
              </a:rPr>
              <a:t>04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Agendar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cita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           | 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Cita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, 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Veterinario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      | 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M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-</a:t>
            </a:r>
            <a:r>
              <a:rPr sz="1300" i="0" b="0">
                <a:solidFill>
                  <a:srgbClr val="B5CEA8"/>
                </a:solidFill>
                <a:latin typeface="Consolas"/>
              </a:rPr>
              <a:t>04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   | 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SIN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ORIGEN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  |</a:t>
            </a:r>
          </a:p>
          <a:p>
            <a:pPr>
              <a:spcAft>
                <a:spcPts val="278"/>
              </a:spcAft>
            </a:pPr>
            <a:r>
              <a:rPr sz="1300" i="0" b="0">
                <a:solidFill>
                  <a:srgbClr val="D4D4D4"/>
                </a:solidFill>
                <a:latin typeface="Consolas"/>
              </a:rPr>
              <a:t/>
            </a:r>
          </a:p>
          <a:p>
            <a:pPr>
              <a:spcAft>
                <a:spcPts val="278"/>
              </a:spcAft>
            </a:pPr>
            <a:r>
              <a:rPr sz="1300" i="0" b="0">
                <a:solidFill>
                  <a:srgbClr val="D4D4D4"/>
                </a:solidFill>
                <a:latin typeface="Consolas"/>
              </a:rPr>
              <a:t>H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-</a:t>
            </a:r>
            <a:r>
              <a:rPr sz="1300" i="0" b="0">
                <a:solidFill>
                  <a:srgbClr val="B5CEA8"/>
                </a:solidFill>
                <a:latin typeface="Consolas"/>
              </a:rPr>
              <a:t>01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 (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mayor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)     : 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CU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-</a:t>
            </a:r>
            <a:r>
              <a:rPr sz="1300" i="0" b="0">
                <a:solidFill>
                  <a:srgbClr val="B5CEA8"/>
                </a:solidFill>
                <a:latin typeface="Consolas"/>
              </a:rPr>
              <a:t>03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exige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registrar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quien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atendio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, 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pero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Consulta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no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se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relaciona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con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Veterinario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.</a:t>
            </a:r>
          </a:p>
          <a:p>
            <a:pPr>
              <a:spcAft>
                <a:spcPts val="278"/>
              </a:spcAft>
            </a:pPr>
            <a:r>
              <a:rPr sz="1300" i="0" b="0">
                <a:solidFill>
                  <a:srgbClr val="D4D4D4"/>
                </a:solidFill>
                <a:latin typeface="Consolas"/>
              </a:rPr>
              <a:t>H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-</a:t>
            </a:r>
            <a:r>
              <a:rPr sz="1300" i="0" b="0">
                <a:solidFill>
                  <a:srgbClr val="B5CEA8"/>
                </a:solidFill>
                <a:latin typeface="Consolas"/>
              </a:rPr>
              <a:t>02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 (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mayor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)     : 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la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fila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de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CU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-</a:t>
            </a:r>
            <a:r>
              <a:rPr sz="1300" i="0" b="0">
                <a:solidFill>
                  <a:srgbClr val="B5CEA8"/>
                </a:solidFill>
                <a:latin typeface="Consolas"/>
              </a:rPr>
              <a:t>04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quedo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sin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RF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; 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debe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ligarse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a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RF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-</a:t>
            </a:r>
            <a:r>
              <a:rPr sz="1300" i="0" b="0">
                <a:solidFill>
                  <a:srgbClr val="B5CEA8"/>
                </a:solidFill>
                <a:latin typeface="Consolas"/>
              </a:rPr>
              <a:t>08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Agendar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cita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o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eliminarse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el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CU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.</a:t>
            </a:r>
          </a:p>
          <a:p>
            <a:pPr>
              <a:spcAft>
                <a:spcPts val="278"/>
              </a:spcAft>
            </a:pPr>
            <a:r>
              <a:rPr sz="1300" i="0" b="0">
                <a:solidFill>
                  <a:srgbClr val="D4D4D4"/>
                </a:solidFill>
                <a:latin typeface="Consolas"/>
              </a:rPr>
              <a:t>H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-</a:t>
            </a:r>
            <a:r>
              <a:rPr sz="1300" i="0" b="0">
                <a:solidFill>
                  <a:srgbClr val="B5CEA8"/>
                </a:solidFill>
                <a:latin typeface="Consolas"/>
              </a:rPr>
              <a:t>03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 (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bloqueante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): 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la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clase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Mascota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guarda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dueño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como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texto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en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lugar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de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asociarse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a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Propietario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.</a:t>
            </a:r>
          </a:p>
          <a:p>
            <a:pPr>
              <a:spcAft>
                <a:spcPts val="278"/>
              </a:spcAft>
            </a:pPr>
            <a:r>
              <a:rPr sz="1300" i="0" b="0">
                <a:solidFill>
                  <a:srgbClr val="D4D4D4"/>
                </a:solidFill>
                <a:latin typeface="Consolas"/>
              </a:rPr>
              <a:t>H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-</a:t>
            </a:r>
            <a:r>
              <a:rPr sz="1300" i="0" b="0">
                <a:solidFill>
                  <a:srgbClr val="B5CEA8"/>
                </a:solidFill>
                <a:latin typeface="Consolas"/>
              </a:rPr>
              <a:t>04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 (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menor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)     : 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el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RNF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-</a:t>
            </a:r>
            <a:r>
              <a:rPr sz="1300" i="0" b="0">
                <a:solidFill>
                  <a:srgbClr val="B5CEA8"/>
                </a:solidFill>
                <a:latin typeface="Consolas"/>
              </a:rPr>
              <a:t>02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de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300" i="0" b="0">
                <a:solidFill>
                  <a:srgbClr val="B5CEA8"/>
                </a:solidFill>
                <a:latin typeface="Consolas"/>
              </a:rPr>
              <a:t>3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segundos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no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aparece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en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ninguna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postcondicion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de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CU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-</a:t>
            </a:r>
            <a:r>
              <a:rPr sz="1300" i="0" b="0">
                <a:solidFill>
                  <a:srgbClr val="B5CEA8"/>
                </a:solidFill>
                <a:latin typeface="Consolas"/>
              </a:rPr>
              <a:t>02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.</a:t>
            </a:r>
          </a:p>
          <a:p>
            <a:pPr>
              <a:spcAft>
                <a:spcPts val="278"/>
              </a:spcAft>
            </a:pPr>
            <a:r>
              <a:rPr sz="1300" i="0" b="0">
                <a:solidFill>
                  <a:srgbClr val="D4D4D4"/>
                </a:solidFill>
                <a:latin typeface="Consolas"/>
              </a:rPr>
              <a:t>Glosario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canonico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: </a:t>
            </a:r>
            <a:r>
              <a:rPr sz="1300" i="0" b="0">
                <a:solidFill>
                  <a:srgbClr val="DCDCAA"/>
                </a:solidFill>
                <a:latin typeface="Consolas"/>
              </a:rPr>
              <a:t>Propietario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 (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prohibido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Dueño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, 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Cliente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, 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Responsable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) | 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Cita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 != 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Consulta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035040"/>
            <a:ext cx="112772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1">
                <a:solidFill>
                  <a:srgbClr val="666666"/>
                </a:solidFill>
                <a:latin typeface="Calibri"/>
              </a:rPr>
              <a:t>Una tabla de cuatro columnas encuentra en veinte minutos las contradicciones que un equipo no ve en tres semanas.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El glosario canónico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803166" y="1188719"/>
            <a:ext cx="5998464" cy="4828032"/>
          </a:xfrm>
          <a:prstGeom prst="roundRect">
            <a:avLst>
              <a:gd name="adj" fmla="val 4000"/>
            </a:avLst>
          </a:prstGeom>
          <a:solidFill>
            <a:srgbClr val="E8E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glosario-paso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76318" y="1261872"/>
            <a:ext cx="5852160" cy="4681728"/>
          </a:xfrm>
          <a:prstGeom prst="rect">
            <a:avLst/>
          </a:prstGeom>
        </p:spPr>
      </p:pic>
      <p:pic>
        <p:nvPicPr>
          <p:cNvPr id="7" name="Picture 6" descr="glosario-paso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76318" y="1261872"/>
            <a:ext cx="5852160" cy="4681728"/>
          </a:xfrm>
          <a:prstGeom prst="rect">
            <a:avLst/>
          </a:prstGeom>
        </p:spPr>
      </p:pic>
      <p:pic>
        <p:nvPicPr>
          <p:cNvPr id="8" name="Picture 7" descr="glosario-paso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6318" y="1261872"/>
            <a:ext cx="5852160" cy="468172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5870301" y="5961888"/>
            <a:ext cx="5864193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1">
                <a:solidFill>
                  <a:srgbClr val="666666"/>
                </a:solidFill>
                <a:latin typeface="Calibri"/>
              </a:rPr>
              <a:t>Clic para avanzar la animación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1353312"/>
            <a:ext cx="5093061" cy="5047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Dueño, Propietario, Cliente y Responsable no son cuatro sinónimos: son cuatro tablas en potencia.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Cada concepto: un nombre único, una definición de una línea y sus sinónimos prohibidos.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glosario manda sobre todos los artefactos, sin excepciones.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Separa parejas peligrosas: Cita es la reserva futura; Consulta, la atención ya realizada.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El glosario de nombres canonicos: el hueco mas comun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4227820"/>
          </a:xfrm>
          <a:prstGeom prst="roundRect">
            <a:avLst>
              <a:gd name="adj" fmla="val 4000"/>
            </a:avLst>
          </a:prstGeom>
          <a:solidFill>
            <a:srgbClr val="1E1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65760"/>
          </a:xfrm>
          <a:prstGeom prst="rect">
            <a:avLst/>
          </a:prstGeom>
          <a:solidFill>
            <a:srgbClr val="2D2D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658368" y="1380743"/>
            <a:ext cx="128016" cy="128016"/>
          </a:xfrm>
          <a:prstGeom prst="ellipse">
            <a:avLst/>
          </a:prstGeom>
          <a:solidFill>
            <a:srgbClr val="FF5F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877824" y="1380743"/>
            <a:ext cx="128016" cy="128016"/>
          </a:xfrm>
          <a:prstGeom prst="ellipse">
            <a:avLst/>
          </a:prstGeom>
          <a:solidFill>
            <a:srgbClr val="FFB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97280" y="1380743"/>
            <a:ext cx="128016" cy="128016"/>
          </a:xfrm>
          <a:prstGeom prst="ellipse">
            <a:avLst/>
          </a:prstGeom>
          <a:solidFill>
            <a:srgbClr val="27C9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71600" y="1298448"/>
            <a:ext cx="10180015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r"/>
            <a:r>
              <a:rPr sz="1100" b="1" i="0">
                <a:solidFill>
                  <a:srgbClr val="BBBBBB"/>
                </a:solidFill>
                <a:latin typeface="Calibri"/>
              </a:rPr>
              <a:t>Tabla Markdown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1719072"/>
            <a:ext cx="502920" cy="36334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385"/>
              </a:spcAft>
            </a:pPr>
            <a:r>
              <a:rPr sz="1800" i="0" b="0">
                <a:solidFill>
                  <a:srgbClr val="858585"/>
                </a:solidFill>
                <a:latin typeface="Consolas"/>
              </a:rPr>
              <a:t>1</a:t>
            </a:r>
          </a:p>
          <a:p>
            <a:pPr algn="r">
              <a:spcAft>
                <a:spcPts val="385"/>
              </a:spcAft>
            </a:pPr>
            <a:r>
              <a:rPr sz="1800" i="0" b="0">
                <a:solidFill>
                  <a:srgbClr val="858585"/>
                </a:solidFill>
                <a:latin typeface="Consolas"/>
              </a:rPr>
              <a:t>2</a:t>
            </a:r>
          </a:p>
          <a:p>
            <a:pPr algn="r">
              <a:spcAft>
                <a:spcPts val="385"/>
              </a:spcAft>
            </a:pPr>
            <a:r>
              <a:rPr sz="1800" i="0" b="0">
                <a:solidFill>
                  <a:srgbClr val="858585"/>
                </a:solidFill>
                <a:latin typeface="Consolas"/>
              </a:rPr>
              <a:t>3</a:t>
            </a:r>
          </a:p>
          <a:p>
            <a:pPr algn="r">
              <a:spcAft>
                <a:spcPts val="385"/>
              </a:spcAft>
            </a:pPr>
            <a:r>
              <a:rPr sz="1800" i="0" b="0">
                <a:solidFill>
                  <a:srgbClr val="858585"/>
                </a:solidFill>
                <a:latin typeface="Consolas"/>
              </a:rPr>
              <a:t>4</a:t>
            </a:r>
          </a:p>
          <a:p>
            <a:pPr algn="r">
              <a:spcAft>
                <a:spcPts val="385"/>
              </a:spcAft>
            </a:pPr>
            <a:r>
              <a:rPr sz="1800" i="0" b="0">
                <a:solidFill>
                  <a:srgbClr val="858585"/>
                </a:solidFill>
                <a:latin typeface="Consolas"/>
              </a:rPr>
              <a:t>5</a:t>
            </a:r>
          </a:p>
          <a:p>
            <a:pPr algn="r">
              <a:spcAft>
                <a:spcPts val="385"/>
              </a:spcAft>
            </a:pPr>
            <a:r>
              <a:rPr sz="1800" i="0" b="0">
                <a:solidFill>
                  <a:srgbClr val="858585"/>
                </a:solidFill>
                <a:latin typeface="Consolas"/>
              </a:rPr>
              <a:t>6</a:t>
            </a:r>
          </a:p>
          <a:p>
            <a:pPr algn="r">
              <a:spcAft>
                <a:spcPts val="385"/>
              </a:spcAft>
            </a:pPr>
            <a:r>
              <a:rPr sz="1800" i="0" b="0">
                <a:solidFill>
                  <a:srgbClr val="858585"/>
                </a:solidFill>
                <a:latin typeface="Consolas"/>
              </a:rPr>
              <a:t>7</a:t>
            </a:r>
          </a:p>
          <a:p>
            <a:pPr algn="r">
              <a:spcAft>
                <a:spcPts val="385"/>
              </a:spcAft>
            </a:pPr>
            <a:r>
              <a:rPr sz="1800" i="0" b="0">
                <a:solidFill>
                  <a:srgbClr val="858585"/>
                </a:solidFill>
                <a:latin typeface="Consolas"/>
              </a:rPr>
              <a:t>8</a:t>
            </a:r>
          </a:p>
          <a:p>
            <a:pPr algn="r">
              <a:spcAft>
                <a:spcPts val="385"/>
              </a:spcAft>
            </a:pPr>
            <a:r>
              <a:rPr sz="1800" i="0" b="0">
                <a:solidFill>
                  <a:srgbClr val="858585"/>
                </a:solidFill>
                <a:latin typeface="Consolas"/>
              </a:rPr>
              <a:t>9</a:t>
            </a:r>
          </a:p>
          <a:p>
            <a:pPr algn="r">
              <a:spcAft>
                <a:spcPts val="385"/>
              </a:spcAft>
            </a:pPr>
            <a:r>
              <a:rPr sz="1800" i="0" b="0">
                <a:solidFill>
                  <a:srgbClr val="858585"/>
                </a:solidFill>
                <a:latin typeface="Consolas"/>
              </a:rPr>
              <a:t>10</a:t>
            </a:r>
          </a:p>
          <a:p>
            <a:pPr algn="r">
              <a:spcAft>
                <a:spcPts val="385"/>
              </a:spcAft>
            </a:pPr>
            <a:r>
              <a:rPr sz="1800" i="0" b="0">
                <a:solidFill>
                  <a:srgbClr val="858585"/>
                </a:solidFill>
                <a:latin typeface="Consolas"/>
              </a:rPr>
              <a:t>11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88720" y="1719072"/>
            <a:ext cx="10271455" cy="36334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85"/>
              </a:spcAft>
            </a:pPr>
            <a:r>
              <a:rPr sz="1800" i="0" b="0">
                <a:solidFill>
                  <a:srgbClr val="D4D4D4"/>
                </a:solidFill>
                <a:latin typeface="Consolas"/>
              </a:rPr>
              <a:t>| </a:t>
            </a:r>
            <a:r>
              <a:rPr sz="1800" i="0" b="0">
                <a:solidFill>
                  <a:srgbClr val="D4D4D4"/>
                </a:solidFill>
                <a:latin typeface="Consolas"/>
              </a:rPr>
              <a:t>Concepto</a:t>
            </a:r>
            <a:r>
              <a:rPr sz="1800" i="0" b="0">
                <a:solidFill>
                  <a:srgbClr val="D4D4D4"/>
                </a:solidFill>
                <a:latin typeface="Consolas"/>
              </a:rPr>
              <a:t>      | </a:t>
            </a:r>
            <a:r>
              <a:rPr sz="1800" i="0" b="0">
                <a:solidFill>
                  <a:srgbClr val="D4D4D4"/>
                </a:solidFill>
                <a:latin typeface="Consolas"/>
              </a:rPr>
              <a:t>Nombre</a:t>
            </a:r>
            <a:r>
              <a:rPr sz="18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800" i="0" b="0">
                <a:solidFill>
                  <a:srgbClr val="D4D4D4"/>
                </a:solidFill>
                <a:latin typeface="Consolas"/>
              </a:rPr>
              <a:t>canonico</a:t>
            </a:r>
            <a:r>
              <a:rPr sz="1800" i="0" b="0">
                <a:solidFill>
                  <a:srgbClr val="D4D4D4"/>
                </a:solidFill>
                <a:latin typeface="Consolas"/>
              </a:rPr>
              <a:t> | </a:t>
            </a:r>
            <a:r>
              <a:rPr sz="1800" i="0" b="0">
                <a:solidFill>
                  <a:srgbClr val="D4D4D4"/>
                </a:solidFill>
                <a:latin typeface="Consolas"/>
              </a:rPr>
              <a:t>Como</a:t>
            </a:r>
            <a:r>
              <a:rPr sz="18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800" i="0" b="0">
                <a:solidFill>
                  <a:srgbClr val="D4D4D4"/>
                </a:solidFill>
                <a:latin typeface="Consolas"/>
              </a:rPr>
              <a:t>aparece</a:t>
            </a:r>
            <a:r>
              <a:rPr sz="18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800" i="0" b="0">
                <a:solidFill>
                  <a:srgbClr val="D4D4D4"/>
                </a:solidFill>
                <a:latin typeface="Consolas"/>
              </a:rPr>
              <a:t>mal</a:t>
            </a:r>
            <a:r>
              <a:rPr sz="18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800" i="0" b="0">
                <a:solidFill>
                  <a:srgbClr val="D4D4D4"/>
                </a:solidFill>
                <a:latin typeface="Consolas"/>
              </a:rPr>
              <a:t>en</a:t>
            </a:r>
            <a:r>
              <a:rPr sz="18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800" i="0" b="0">
                <a:solidFill>
                  <a:srgbClr val="D4D4D4"/>
                </a:solidFill>
                <a:latin typeface="Consolas"/>
              </a:rPr>
              <a:t>el</a:t>
            </a:r>
            <a:r>
              <a:rPr sz="18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800" i="0" b="0">
                <a:solidFill>
                  <a:srgbClr val="D4D4D4"/>
                </a:solidFill>
                <a:latin typeface="Consolas"/>
              </a:rPr>
              <a:t>paquete</a:t>
            </a:r>
            <a:r>
              <a:rPr sz="1800" i="0" b="0">
                <a:solidFill>
                  <a:srgbClr val="D4D4D4"/>
                </a:solidFill>
                <a:latin typeface="Consolas"/>
              </a:rPr>
              <a:t>     |</a:t>
            </a:r>
          </a:p>
          <a:p>
            <a:pPr>
              <a:spcAft>
                <a:spcPts val="385"/>
              </a:spcAft>
            </a:pPr>
            <a:r>
              <a:rPr sz="1800" i="0" b="0">
                <a:solidFill>
                  <a:srgbClr val="D4D4D4"/>
                </a:solidFill>
                <a:latin typeface="Consolas"/>
              </a:rPr>
              <a:t>|-------------</a:t>
            </a:r>
            <a:r>
              <a:rPr sz="1800" i="0" b="0">
                <a:solidFill>
                  <a:srgbClr val="D4D4D4"/>
                </a:solidFill>
                <a:latin typeface="Consolas"/>
              </a:rPr>
              <a:t>--|-----------------|------------------------------------|</a:t>
            </a:r>
          </a:p>
          <a:p>
            <a:pPr>
              <a:spcAft>
                <a:spcPts val="385"/>
              </a:spcAft>
            </a:pPr>
            <a:r>
              <a:rPr sz="1800" i="0" b="0">
                <a:solidFill>
                  <a:srgbClr val="D4D4D4"/>
                </a:solidFill>
                <a:latin typeface="Consolas"/>
              </a:rPr>
              <a:t>| </a:t>
            </a:r>
            <a:r>
              <a:rPr sz="1800" i="0" b="0">
                <a:solidFill>
                  <a:srgbClr val="D4D4D4"/>
                </a:solidFill>
                <a:latin typeface="Consolas"/>
              </a:rPr>
              <a:t>el</a:t>
            </a:r>
            <a:r>
              <a:rPr sz="18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800" i="0" b="0">
                <a:solidFill>
                  <a:srgbClr val="D4D4D4"/>
                </a:solidFill>
                <a:latin typeface="Consolas"/>
              </a:rPr>
              <a:t>animal</a:t>
            </a:r>
            <a:r>
              <a:rPr sz="1800" i="0" b="0">
                <a:solidFill>
                  <a:srgbClr val="D4D4D4"/>
                </a:solidFill>
                <a:latin typeface="Consolas"/>
              </a:rPr>
              <a:t>     | </a:t>
            </a:r>
            <a:r>
              <a:rPr sz="1800" i="0" b="0">
                <a:solidFill>
                  <a:srgbClr val="D4D4D4"/>
                </a:solidFill>
                <a:latin typeface="Consolas"/>
              </a:rPr>
              <a:t>Mascota</a:t>
            </a:r>
            <a:r>
              <a:rPr sz="1800" i="0" b="0">
                <a:solidFill>
                  <a:srgbClr val="D4D4D4"/>
                </a:solidFill>
                <a:latin typeface="Consolas"/>
              </a:rPr>
              <a:t>         | </a:t>
            </a:r>
            <a:r>
              <a:rPr sz="1800" i="0" b="0">
                <a:solidFill>
                  <a:srgbClr val="D4D4D4"/>
                </a:solidFill>
                <a:latin typeface="Consolas"/>
              </a:rPr>
              <a:t>Paciente</a:t>
            </a:r>
            <a:r>
              <a:rPr sz="1800" i="0" b="0">
                <a:solidFill>
                  <a:srgbClr val="D4D4D4"/>
                </a:solidFill>
                <a:latin typeface="Consolas"/>
              </a:rPr>
              <a:t>, </a:t>
            </a:r>
            <a:r>
              <a:rPr sz="1800" i="0" b="0">
                <a:solidFill>
                  <a:srgbClr val="D4D4D4"/>
                </a:solidFill>
                <a:latin typeface="Consolas"/>
              </a:rPr>
              <a:t>Animal</a:t>
            </a:r>
            <a:r>
              <a:rPr sz="1800" i="0" b="0">
                <a:solidFill>
                  <a:srgbClr val="D4D4D4"/>
                </a:solidFill>
                <a:latin typeface="Consolas"/>
              </a:rPr>
              <a:t>, </a:t>
            </a:r>
            <a:r>
              <a:rPr sz="1800" i="0" b="0">
                <a:solidFill>
                  <a:srgbClr val="D4D4D4"/>
                </a:solidFill>
                <a:latin typeface="Consolas"/>
              </a:rPr>
              <a:t>mascotas</a:t>
            </a:r>
            <a:r>
              <a:rPr sz="1800" i="0" b="0">
                <a:solidFill>
                  <a:srgbClr val="D4D4D4"/>
                </a:solidFill>
                <a:latin typeface="Consolas"/>
              </a:rPr>
              <a:t>         |</a:t>
            </a:r>
          </a:p>
          <a:p>
            <a:pPr>
              <a:spcAft>
                <a:spcPts val="385"/>
              </a:spcAft>
            </a:pPr>
            <a:r>
              <a:rPr sz="1800" i="0" b="0">
                <a:solidFill>
                  <a:srgbClr val="D4D4D4"/>
                </a:solidFill>
                <a:latin typeface="Consolas"/>
              </a:rPr>
              <a:t>| </a:t>
            </a:r>
            <a:r>
              <a:rPr sz="1800" i="0" b="0">
                <a:solidFill>
                  <a:srgbClr val="D4D4D4"/>
                </a:solidFill>
                <a:latin typeface="Consolas"/>
              </a:rPr>
              <a:t>quien</a:t>
            </a:r>
            <a:r>
              <a:rPr sz="18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800" i="0" b="0">
                <a:solidFill>
                  <a:srgbClr val="D4D4D4"/>
                </a:solidFill>
                <a:latin typeface="Consolas"/>
              </a:rPr>
              <a:t>lo</a:t>
            </a:r>
            <a:r>
              <a:rPr sz="18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800" i="0" b="0">
                <a:solidFill>
                  <a:srgbClr val="D4D4D4"/>
                </a:solidFill>
                <a:latin typeface="Consolas"/>
              </a:rPr>
              <a:t>trae</a:t>
            </a:r>
            <a:r>
              <a:rPr sz="1800" i="0" b="0">
                <a:solidFill>
                  <a:srgbClr val="D4D4D4"/>
                </a:solidFill>
                <a:latin typeface="Consolas"/>
              </a:rPr>
              <a:t> | </a:t>
            </a:r>
            <a:r>
              <a:rPr sz="1800" i="0" b="0">
                <a:solidFill>
                  <a:srgbClr val="D4D4D4"/>
                </a:solidFill>
                <a:latin typeface="Consolas"/>
              </a:rPr>
              <a:t>Propietario</a:t>
            </a:r>
            <a:r>
              <a:rPr sz="1800" i="0" b="0">
                <a:solidFill>
                  <a:srgbClr val="D4D4D4"/>
                </a:solidFill>
                <a:latin typeface="Consolas"/>
              </a:rPr>
              <a:t>     | </a:t>
            </a:r>
            <a:r>
              <a:rPr sz="1800" i="0" b="0">
                <a:solidFill>
                  <a:srgbClr val="D4D4D4"/>
                </a:solidFill>
                <a:latin typeface="Consolas"/>
              </a:rPr>
              <a:t>Dueno</a:t>
            </a:r>
            <a:r>
              <a:rPr sz="1800" i="0" b="0">
                <a:solidFill>
                  <a:srgbClr val="D4D4D4"/>
                </a:solidFill>
                <a:latin typeface="Consolas"/>
              </a:rPr>
              <a:t>, </a:t>
            </a:r>
            <a:r>
              <a:rPr sz="1800" i="0" b="0">
                <a:solidFill>
                  <a:srgbClr val="D4D4D4"/>
                </a:solidFill>
                <a:latin typeface="Consolas"/>
              </a:rPr>
              <a:t>Cliente</a:t>
            </a:r>
            <a:r>
              <a:rPr sz="1800" i="0" b="0">
                <a:solidFill>
                  <a:srgbClr val="D4D4D4"/>
                </a:solidFill>
                <a:latin typeface="Consolas"/>
              </a:rPr>
              <a:t>, </a:t>
            </a:r>
            <a:r>
              <a:rPr sz="1800" i="0" b="0">
                <a:solidFill>
                  <a:srgbClr val="D4D4D4"/>
                </a:solidFill>
                <a:latin typeface="Consolas"/>
              </a:rPr>
              <a:t>Responsable</a:t>
            </a:r>
            <a:r>
              <a:rPr sz="1800" i="0" b="0">
                <a:solidFill>
                  <a:srgbClr val="D4D4D4"/>
                </a:solidFill>
                <a:latin typeface="Consolas"/>
              </a:rPr>
              <a:t>        |</a:t>
            </a:r>
          </a:p>
          <a:p>
            <a:pPr>
              <a:spcAft>
                <a:spcPts val="385"/>
              </a:spcAft>
            </a:pPr>
            <a:r>
              <a:rPr sz="1800" i="0" b="0">
                <a:solidFill>
                  <a:srgbClr val="D4D4D4"/>
                </a:solidFill>
                <a:latin typeface="Consolas"/>
              </a:rPr>
              <a:t>| </a:t>
            </a:r>
            <a:r>
              <a:rPr sz="1800" i="0" b="0">
                <a:solidFill>
                  <a:srgbClr val="D4D4D4"/>
                </a:solidFill>
                <a:latin typeface="Consolas"/>
              </a:rPr>
              <a:t>el</a:t>
            </a:r>
            <a:r>
              <a:rPr sz="18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800" i="0" b="0">
                <a:solidFill>
                  <a:srgbClr val="D4D4D4"/>
                </a:solidFill>
                <a:latin typeface="Consolas"/>
              </a:rPr>
              <a:t>encuentro</a:t>
            </a:r>
            <a:r>
              <a:rPr sz="1800" i="0" b="0">
                <a:solidFill>
                  <a:srgbClr val="D4D4D4"/>
                </a:solidFill>
                <a:latin typeface="Consolas"/>
              </a:rPr>
              <a:t>  | </a:t>
            </a:r>
            <a:r>
              <a:rPr sz="1800" i="0" b="0">
                <a:solidFill>
                  <a:srgbClr val="D4D4D4"/>
                </a:solidFill>
                <a:latin typeface="Consolas"/>
              </a:rPr>
              <a:t>Cita</a:t>
            </a:r>
            <a:r>
              <a:rPr sz="1800" i="0" b="0">
                <a:solidFill>
                  <a:srgbClr val="D4D4D4"/>
                </a:solidFill>
                <a:latin typeface="Consolas"/>
              </a:rPr>
              <a:t>            | </a:t>
            </a:r>
            <a:r>
              <a:rPr sz="1800" i="0" b="0">
                <a:solidFill>
                  <a:srgbClr val="D4D4D4"/>
                </a:solidFill>
                <a:latin typeface="Consolas"/>
              </a:rPr>
              <a:t>Turno</a:t>
            </a:r>
            <a:r>
              <a:rPr sz="1800" i="0" b="0">
                <a:solidFill>
                  <a:srgbClr val="D4D4D4"/>
                </a:solidFill>
                <a:latin typeface="Consolas"/>
              </a:rPr>
              <a:t>, </a:t>
            </a:r>
            <a:r>
              <a:rPr sz="1800" i="0" b="0">
                <a:solidFill>
                  <a:srgbClr val="D4D4D4"/>
                </a:solidFill>
                <a:latin typeface="Consolas"/>
              </a:rPr>
              <a:t>Agendamiento</a:t>
            </a:r>
            <a:r>
              <a:rPr sz="1800" i="0" b="0">
                <a:solidFill>
                  <a:srgbClr val="D4D4D4"/>
                </a:solidFill>
                <a:latin typeface="Consolas"/>
              </a:rPr>
              <a:t>, </a:t>
            </a:r>
            <a:r>
              <a:rPr sz="1800" i="0" b="0">
                <a:solidFill>
                  <a:srgbClr val="D4D4D4"/>
                </a:solidFill>
                <a:latin typeface="Consolas"/>
              </a:rPr>
              <a:t>Reserva</a:t>
            </a:r>
            <a:r>
              <a:rPr sz="1800" i="0" b="0">
                <a:solidFill>
                  <a:srgbClr val="D4D4D4"/>
                </a:solidFill>
                <a:latin typeface="Consolas"/>
              </a:rPr>
              <a:t>       |</a:t>
            </a:r>
          </a:p>
          <a:p>
            <a:pPr>
              <a:spcAft>
                <a:spcPts val="385"/>
              </a:spcAft>
            </a:pPr>
            <a:r>
              <a:rPr sz="1800" i="0" b="0">
                <a:solidFill>
                  <a:srgbClr val="D4D4D4"/>
                </a:solidFill>
                <a:latin typeface="Consolas"/>
              </a:rPr>
              <a:t>| </a:t>
            </a:r>
            <a:r>
              <a:rPr sz="1800" i="0" b="0">
                <a:solidFill>
                  <a:srgbClr val="D4D4D4"/>
                </a:solidFill>
                <a:latin typeface="Consolas"/>
              </a:rPr>
              <a:t>el</a:t>
            </a:r>
            <a:r>
              <a:rPr sz="18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800" i="0" b="0">
                <a:solidFill>
                  <a:srgbClr val="D4D4D4"/>
                </a:solidFill>
                <a:latin typeface="Consolas"/>
              </a:rPr>
              <a:t>registro</a:t>
            </a:r>
            <a:r>
              <a:rPr sz="1800" i="0" b="0">
                <a:solidFill>
                  <a:srgbClr val="D4D4D4"/>
                </a:solidFill>
                <a:latin typeface="Consolas"/>
              </a:rPr>
              <a:t>   | </a:t>
            </a:r>
            <a:r>
              <a:rPr sz="1800" i="0" b="0">
                <a:solidFill>
                  <a:srgbClr val="D4D4D4"/>
                </a:solidFill>
                <a:latin typeface="Consolas"/>
              </a:rPr>
              <a:t>Consulta</a:t>
            </a:r>
            <a:r>
              <a:rPr sz="1800" i="0" b="0">
                <a:solidFill>
                  <a:srgbClr val="D4D4D4"/>
                </a:solidFill>
                <a:latin typeface="Consolas"/>
              </a:rPr>
              <a:t>        | </a:t>
            </a:r>
            <a:r>
              <a:rPr sz="1800" i="0" b="0">
                <a:solidFill>
                  <a:srgbClr val="D4D4D4"/>
                </a:solidFill>
                <a:latin typeface="Consolas"/>
              </a:rPr>
              <a:t>Atencion</a:t>
            </a:r>
            <a:r>
              <a:rPr sz="1800" i="0" b="0">
                <a:solidFill>
                  <a:srgbClr val="D4D4D4"/>
                </a:solidFill>
                <a:latin typeface="Consolas"/>
              </a:rPr>
              <a:t>, </a:t>
            </a:r>
            <a:r>
              <a:rPr sz="1800" i="0" b="0">
                <a:solidFill>
                  <a:srgbClr val="D4D4D4"/>
                </a:solidFill>
                <a:latin typeface="Consolas"/>
              </a:rPr>
              <a:t>HistoriaClinica</a:t>
            </a:r>
            <a:r>
              <a:rPr sz="1800" i="0" b="0">
                <a:solidFill>
                  <a:srgbClr val="D4D4D4"/>
                </a:solidFill>
                <a:latin typeface="Consolas"/>
              </a:rPr>
              <a:t>          |</a:t>
            </a:r>
          </a:p>
          <a:p>
            <a:pPr>
              <a:spcAft>
                <a:spcPts val="385"/>
              </a:spcAft>
            </a:pPr>
            <a:r>
              <a:rPr sz="1800" i="0" b="0">
                <a:solidFill>
                  <a:srgbClr val="D4D4D4"/>
                </a:solidFill>
                <a:latin typeface="Consolas"/>
              </a:rPr>
              <a:t/>
            </a:r>
          </a:p>
          <a:p>
            <a:pPr>
              <a:spcAft>
                <a:spcPts val="385"/>
              </a:spcAft>
            </a:pPr>
            <a:r>
              <a:rPr sz="1800" i="0" b="0">
                <a:solidFill>
                  <a:srgbClr val="D4D4D4"/>
                </a:solidFill>
                <a:latin typeface="Consolas"/>
              </a:rPr>
              <a:t>-- El diagrama de clases dice Mascota, el caso de uso dice Paciente y el</a:t>
            </a:r>
          </a:p>
          <a:p>
            <a:pPr>
              <a:spcAft>
                <a:spcPts val="385"/>
              </a:spcAft>
            </a:pPr>
            <a:r>
              <a:rPr sz="1800" i="0" b="0">
                <a:solidFill>
                  <a:srgbClr val="D4D4D4"/>
                </a:solidFill>
                <a:latin typeface="Consolas"/>
              </a:rPr>
              <a:t>-- wireframe dice Animal: son tres artefactos que hablan de cosas</a:t>
            </a:r>
          </a:p>
          <a:p>
            <a:pPr>
              <a:spcAft>
                <a:spcPts val="385"/>
              </a:spcAft>
            </a:pPr>
            <a:r>
              <a:rPr sz="1800" i="0" b="0">
                <a:solidFill>
                  <a:srgbClr val="D4D4D4"/>
                </a:solidFill>
                <a:latin typeface="Consolas"/>
              </a:rPr>
              <a:t>-- distintas para quien los lee. Un solo nombre por concepto, y el mismo</a:t>
            </a:r>
          </a:p>
          <a:p>
            <a:pPr>
              <a:spcAft>
                <a:spcPts val="385"/>
              </a:spcAft>
            </a:pPr>
            <a:r>
              <a:rPr sz="1800" i="0" b="0">
                <a:solidFill>
                  <a:srgbClr val="D4D4D4"/>
                </a:solidFill>
                <a:latin typeface="Consolas"/>
              </a:rPr>
              <a:t>-- en TODOS los artefactos.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Revisión entre pares con reglas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803166" y="1188719"/>
            <a:ext cx="5998464" cy="4828032"/>
          </a:xfrm>
          <a:prstGeom prst="roundRect">
            <a:avLst>
              <a:gd name="adj" fmla="val 4000"/>
            </a:avLst>
          </a:prstGeom>
          <a:solidFill>
            <a:srgbClr val="E8E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revision-roles-paso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76318" y="1261872"/>
            <a:ext cx="5852160" cy="4681728"/>
          </a:xfrm>
          <a:prstGeom prst="rect">
            <a:avLst/>
          </a:prstGeom>
        </p:spPr>
      </p:pic>
      <p:pic>
        <p:nvPicPr>
          <p:cNvPr id="7" name="Picture 6" descr="revision-roles-paso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76318" y="1261872"/>
            <a:ext cx="5852160" cy="4681728"/>
          </a:xfrm>
          <a:prstGeom prst="rect">
            <a:avLst/>
          </a:prstGeom>
        </p:spPr>
      </p:pic>
      <p:pic>
        <p:nvPicPr>
          <p:cNvPr id="8" name="Picture 7" descr="revision-roles-paso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6318" y="1261872"/>
            <a:ext cx="5852160" cy="468172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5870301" y="5961888"/>
            <a:ext cx="5864193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1">
                <a:solidFill>
                  <a:srgbClr val="666666"/>
                </a:solidFill>
                <a:latin typeface="Calibri"/>
              </a:rPr>
              <a:t>Clic para avanzar la animación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1353312"/>
            <a:ext cx="5093061" cy="5047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Se revisa el artefacto, nunca a la persona.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Roles: autor (en silencio), revisor (hechos observables) y moderador (tiempo y registro).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Cada hallazgo: ubicación exacta, inconsistencia y severidad: bloqueante, mayor o menor.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«No me gusta» no es un hallazgo: es una opinión.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Del hallazgo al backlog de deuda de diseño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803166" y="1188719"/>
            <a:ext cx="5998464" cy="4828032"/>
          </a:xfrm>
          <a:prstGeom prst="roundRect">
            <a:avLst>
              <a:gd name="adj" fmla="val 4000"/>
            </a:avLst>
          </a:prstGeom>
          <a:solidFill>
            <a:srgbClr val="E8E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backlog-deuda-paso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76318" y="1261872"/>
            <a:ext cx="5852160" cy="4681728"/>
          </a:xfrm>
          <a:prstGeom prst="rect">
            <a:avLst/>
          </a:prstGeom>
        </p:spPr>
      </p:pic>
      <p:pic>
        <p:nvPicPr>
          <p:cNvPr id="7" name="Picture 6" descr="backlog-deuda-paso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76318" y="1261872"/>
            <a:ext cx="5852160" cy="4681728"/>
          </a:xfrm>
          <a:prstGeom prst="rect">
            <a:avLst/>
          </a:prstGeom>
        </p:spPr>
      </p:pic>
      <p:pic>
        <p:nvPicPr>
          <p:cNvPr id="8" name="Picture 7" descr="backlog-deuda-paso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6318" y="1261872"/>
            <a:ext cx="5852160" cy="468172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5870301" y="5961888"/>
            <a:ext cx="5864193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1">
                <a:solidFill>
                  <a:srgbClr val="666666"/>
                </a:solidFill>
                <a:latin typeface="Calibri"/>
              </a:rPr>
              <a:t>Clic para avanzar la animación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1353312"/>
            <a:ext cx="5093061" cy="5047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Cada hallazgo es un ítem con responsable, severidad, criterio de cierre y estado.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Estados: aceptado, rechazado con justificación escrita, o aplazado por acuerdo.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Rechazar un hallazgo es legítimo si se argumenta.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Definición de terminado: RF y RNF sin huérfanos, casos de uso, clases con multiplicidades, mockups y diccionario de datos.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Demo del dia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797149" y="1343926"/>
            <a:ext cx="6010497" cy="4837658"/>
          </a:xfrm>
          <a:prstGeom prst="roundRect">
            <a:avLst>
              <a:gd name="adj" fmla="val 4000"/>
            </a:avLst>
          </a:prstGeom>
          <a:solidFill>
            <a:srgbClr val="E8E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ilus-demo-paso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70301" y="1417078"/>
            <a:ext cx="5864193" cy="4691354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57200" y="1353312"/>
            <a:ext cx="5093061" cy="5047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Herramienta: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Google Docs · draw.io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Demo: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Se proyecta el paquete de un equipo ficticio de la clinica y encuentra en vivo tres inconsistencias: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Mismo dominio: la clinica veterinaria — no otro ejemplo. Aqui se diseña, no se programa.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uniajc_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71455" y="5998464"/>
            <a:ext cx="1463040" cy="64323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1737360"/>
            <a:ext cx="11277295" cy="10972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3400" b="1" i="0">
                <a:solidFill>
                  <a:srgbClr val="095292"/>
                </a:solidFill>
                <a:latin typeface="Calibri"/>
              </a:rPr>
              <a:t>Clase 11 · Avance del proyecto de diseño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017520"/>
            <a:ext cx="11277295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Hoy no se agrega nada nuevo: se verifica que todos los documentos hablen del mismo sistema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Repasen las laminas de teoria: cada concepto esta completo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Siguiente clase: continuamos con el siguiente tema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75488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269CCB"/>
                </a:solidFill>
                <a:latin typeface="Calibri"/>
              </a:rPr>
              <a:t>Teoria al servicio del diseño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