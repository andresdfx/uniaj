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Un paquete de diseño no es una carpeta de archivos sueltos: es un sistema de documentos que deben decir lo mismo con las mismas palabras.</a:t>
            </a:r>
          </a:p>
          <a:p/>
          <a:p>
            <a:r>
              <a:t>El problema es que esos documentos se escribieron en semanas distintas, muchas veces por personas distintas del equipo, y cada semana el entendimiento del dominio cambio un poquito.</a:t>
            </a:r>
          </a:p>
          <a:p/>
          <a:p>
            <a:r>
              <a:t>Ninguno de los tres documentos esta mal por si solo; lo que esta mal es el conjunto.</a:t>
            </a:r>
          </a:p>
          <a:p/>
          <a:p>
            <a:r>
              <a:t>NOTAS:</a:t>
            </a:r>
          </a:p>
          <a:p/>
          <a:p>
            <a:r>
              <a:t>Asi es como en la clinica aparece un requisito RF-07 que promete recordatorio de cita por mensajeria, un diagrama de casos de uso donde no existe ningun caso de uso de recordatorio, y un diagrama de clases donde no hay nada parecido a una clase Notificacion.</a:t>
            </a:r>
          </a:p>
          <a:p/>
          <a:p>
            <a:r>
              <a:t>Un defecto de consistencia cuesta poco corregirlo hoy, en una hoja, y cuesta carisimo corregirlo cuando ya se construyo sobre el, porque para entonces hay pantallas, tablas y codigo apoyados en la contradiccion.</a:t>
            </a:r>
          </a:p>
          <a:p/>
          <a:p>
            <a:r>
              <a:t>Por eso esta sesion no agrega tema nuevo: agrega confianza en lo que ya existe, que es un trabajo de arquitecto tan legitimo como dibujar.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herramienta central para eso es la trazabilidad, y se verifica en dos direcciones.</a:t>
            </a:r>
          </a:p>
          <a:p/>
          <a:p>
            <a:r>
              <a:t>Hacia adelante se pregunta si todo requisito funcional llega a algun caso de uso y si ese caso de uso llega a alguna clase, atributo u operacion que lo soporte</a:t>
            </a:r>
          </a:p>
          <a:p/>
          <a:p>
            <a:r>
              <a:t>Si un RF no llega a nada, es un requisito huerfano y significa que el equipo prometio algo que el diseño no cumple.</a:t>
            </a:r>
          </a:p>
          <a:p/>
          <a:p>
            <a:r>
              <a:t>Hacia atras se pregunta si todo elemento del diseño nace de algun requisito</a:t>
            </a:r>
          </a:p>
          <a:p/>
          <a:p>
            <a:r>
              <a:t>Si un caso de uso o una clase no viene de ningun RF, es un elemento viudo y casi siempre significa que alguien agrego funcionalidad por gusto propio o que la fila de la matriz quedo sin diligenciar.</a:t>
            </a:r>
          </a:p>
          <a:p/>
          <a:p>
            <a:r>
              <a:t>En la clinica esto se vuelve concreto rapidisimo: RF-05, consultar el expediente de una mascota, junto con el RNF-02 que exige que el resultado aparezca en menos de tres segundos</a:t>
            </a:r>
          </a:p>
          <a:p/>
          <a:p>
            <a:r>
              <a:t>Debe llegar a CU-02 Buscar expediente y de ahi a las clases Mascota y Consulta, con una operacion de busqueda por codigo o por nombre</a:t>
            </a:r>
          </a:p>
          <a:p/>
          <a:p>
            <a:r>
              <a:t>Si ese camino se rompe en cualquier punto, el problema numero dos de la clinica sigue sin resolverse aunque el equipo tenga veinte paginas escritas.</a:t>
            </a:r>
          </a:p>
          <a:p/>
          <a:p>
            <a:r>
              <a:t>La matriz de trazabilidad es apenas una tabla de cuatro columnas, pero es la unica prueba objetiva de que el paquete es coherente.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El segundo eje de la auditoria es el lenguaje.</a:t>
            </a:r>
          </a:p>
          <a:p/>
          <a:p>
            <a:r>
              <a:t>Cuando en un documento se lee Dueño, en otro Propietario, en otro Cliente y en el mockup Responsable, no hay cuatro sinonimos: hay cuatro oportunidades de que alguien crea que son cuatro cosas distintas y termine con cuatro tablas.</a:t>
            </a:r>
          </a:p>
          <a:p/>
          <a:p>
            <a:r>
              <a:t>La solucion es un glosario canonico donde cada concepto del dominio tiene un nombre unico, una definicion de una linea y una lista explicita de sinonimos prohibidos.</a:t>
            </a:r>
          </a:p>
          <a:p/>
          <a:p>
            <a:r>
              <a:t>Ese glosario manda sobre todos los artefactos: si el nombre canonico es Propietario, entonces el requisito, el caso de uso, el mockup, el diccionario de datos y la clase se llaman Propietario, sin excepciones y sin diminutivos.</a:t>
            </a:r>
          </a:p>
          <a:p/>
          <a:p>
            <a:r>
              <a:t>El glosario tambien separa parejas peligrosas: en la clinica, Cita es la reserva de un horario futuro y Consulta es el registro de una atencion ya realizada, y confundirlas produce un modelo donde nadie sabe si se esta agendando o atendiendo.</a:t>
            </a:r>
          </a:p>
          <a:p/>
          <a:p>
            <a:r>
              <a:t>La ganancia es inmediata para el compañero que solo cursa Programacion II, porque puede buscar una palabra en el documento y encontrarla en todos lados; y tambien para el que solo cursa Seminario</a:t>
            </a:r>
          </a:p>
          <a:p/>
          <a:p>
            <a:r>
              <a:t>Porque su documento de diseño se lee como un texto y no como un rompecabezas.</a:t>
            </a:r>
          </a:p>
          <a:p/>
          <a:p>
            <a:r>
              <a:t>NOTAS:</a:t>
            </a:r>
          </a:p>
          <a:p/>
          <a:p>
            <a:r>
              <a:t>Un sistema se diseña bien cuando existe un solo nombre para cada concepto y todos lo usan, desde la entrevista con la clinica hasta el nombre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La revision entre pares se hace con reglas o no sirve.</a:t>
            </a:r>
          </a:p>
          <a:p/>
          <a:p>
            <a:r>
              <a:t>Se revisa el artefacto, nunca a la persona, y para eso se asignan tres roles: el autor, que entrega su paquete y permanece en silencio mientras lo revisan; el revisor</a:t>
            </a:r>
          </a:p>
          <a:p/>
          <a:p>
            <a:r>
              <a:t>Que recorre la lista de verificacion punto por punto y solo reporta hechos observables; y el moderador, que controla el tiempo y escribe los hallazgos.</a:t>
            </a:r>
          </a:p>
          <a:p/>
          <a:p>
            <a:r>
              <a:t>Cada hallazgo se anota con ubicacion exacta, descripcion de la inconsistencia y severidad: bloqueante cuando impide construir el sistema, mayor cuando obliga a rehacer un artefacto completo, menor cuando es de forma.</a:t>
            </a:r>
          </a:p>
          <a:p/>
          <a:p>
            <a:r>
              <a:t>Prohibido discutir la solucion durante la revision, porque ahi es donde se van los cuarenta minutos y no se revisa nada.</a:t>
            </a:r>
          </a:p>
          <a:p/>
          <a:p>
            <a:r>
              <a:t>En la clinica, un hallazgo bien escrito se ve asi: en el diagrama de clases, la clase Consulta no tiene relacion con Veterinario, pero el flujo principal de CU-03 dice que toda consulta queda a nombre del veterinario que atendio; severidad mayor.</a:t>
            </a:r>
          </a:p>
          <a:p/>
          <a:p>
            <a:r>
              <a:t>En cambio esta mal hecho, no me gusta o le falta orden no es un hallazgo, es una opinion.</a:t>
            </a:r>
          </a:p>
          <a:p/>
          <a:p>
            <a:r>
              <a:t>NOTAS:</a:t>
            </a:r>
          </a:p>
          <a:p/>
          <a:p>
            <a:r>
              <a:t>Eso es util.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(para explicarlo, no se proyecta):</a:t>
            </a:r>
          </a:p>
          <a:p/>
          <a:p>
            <a:r>
              <a:t>Cada hallazgo pasa a ser un item con responsable, severidad, criterio de cierre verificable y un estado que puede ser aceptado, rechazado con justificacion escrita o aplazado por acuerdo.</a:t>
            </a:r>
          </a:p>
          <a:p/>
          <a:p>
            <a:r>
              <a:t>Rechazar un hallazgo es legitimo si se argumenta, y aprender a hacerlo es parte del oficio del analista.</a:t>
            </a:r>
          </a:p>
          <a:p/>
          <a:p>
            <a:r>
              <a:t>Sobre ese backlog se define lo que en la industria se llama definicion de terminado del paquete de diseño de la clinica: catalogo de RF y RNF numerado y sin huerfanos</a:t>
            </a:r>
          </a:p>
          <a:p/>
          <a:p>
            <a:r>
              <a:t>Diagrama y especificaciones de casos de uso, diagrama de clases con multiplicidades, mockups de las pantallas criticas y diccionario de datos.</a:t>
            </a:r>
          </a:p>
          <a:p/>
          <a:p>
            <a:r>
              <a:t>Aqui se hacen visibles los tres casos de matricula: el que cursa las dos materias entrega estos planos aca y el codigo alla; el que solo cursa Programacion II recibe este paquete y todo lo que hoy quede ambiguo lo va a pagar en horas de reproceso</a:t>
            </a:r>
          </a:p>
          <a:p/>
          <a:p>
            <a:r>
              <a:t>Y el que solo cursa Seminario cierra con este mismo documento mas el prototipo navegable, que es una ruta completa y valida, no una version reducida del curso.</a:t>
            </a:r>
          </a:p>
          <a:p/>
          <a:p>
            <a:r>
              <a:t>NOTAS:</a:t>
            </a:r>
          </a:p>
          <a:p/>
          <a:p>
            <a:r>
              <a:t>Todo lo que se encuentra se convierte en backlog de deuda de diseño, no en angustia.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TEXTO COMPLETO DE LA LÁMINA (se proyecta resumido):</a:t>
            </a:r>
          </a:p>
          <a:p/>
          <a:p>
            <a:r>
              <a:t>Herramienta: Google Docs · draw.io</a:t>
            </a:r>
          </a:p>
          <a:p/>
          <a:p>
            <a:r>
              <a:t>Demo: Se proyecta el paquete de un equipo ficticio de la clinica y encuentra en vivo tres inconsistencias: un RF sin caso de uso, una clase llamada Dueño que en el catalogo de requisitos se llama Propietario, y un caso de uso que ninguna clase puede soportar.</a:t>
            </a:r>
          </a:p>
          <a:p/>
          <a:p>
            <a:r>
              <a:t>Mismo dominio: la clinica veterinaria — no otro ejemplo. Aqui se diseña, no se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Avance del proyecto de diseño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Hoy no se agrega nada nuevo: se verifica que todos los documentos hablen del mismo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Avance del proyecto de diseño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no se agrega nada nuevo: se verifica que todos los documentos hablen del mismo sistema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Google Docs · draw.io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el sistema de una clinica veterinaria.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la clinica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paquete de diseño es un sistema de documentos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quete-inconsistent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aquete-inconsistent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aquete-inconsistent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Todos deben decir lo mismo con las mismas palabras, aunque se escribieron en semanas distintas.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RF-07 promete recordatorios; ningún caso de uso los tiene; ninguna clase los soporta.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Ninguno está mal por sí solo: lo que está mal es el conjunto.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Corregirlo hoy cuesta una hoja; cuando ya hay pantallas y código, carísimo.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Requisitos huérfanos y elementos viudos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uerfano-viu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huerfano-viud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huerfano-viud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Hacia adelante: ¿todo RF llega a un caso de uso y a una clase que lo soporte?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RF que no llega a nada es huérfano: se prometió algo que el diseño no cumple.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Hacia atrás: ¿todo elemento del diseño nace de un requisito? Si no, es viudo.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matriz de trazabilidad es la única prueba objetiva de que el paquete es coherente.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Auditoria cruzada: la matriz que delata contradicciones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09407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Tabla 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49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49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Caso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uso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      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Clases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implicadas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Mockup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Estado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|------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--|------------------------------|------------------------|--------|-------------|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00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propietario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Propietario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OK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    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Propietario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OK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    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05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Buscar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expediente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OK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    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06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???    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05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HALLAZGO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07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|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existe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                 |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existe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     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--     | HUERFANO    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|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04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Agendar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04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ORIGEN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 |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H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01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mayor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    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exige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registrar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quien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atendio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pero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relaciona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Veterinario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H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mayor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    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fila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04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quedo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sin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debe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ligarse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08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Agendar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eliminarse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H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03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bloqueante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la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clase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guarda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dueño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como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texto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lugar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asociarse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Propietario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H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04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menor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    :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RNF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3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segundos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aparece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ninguna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postcondicion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CU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-</a:t>
            </a:r>
            <a:r>
              <a:rPr sz="1300" i="0" b="0">
                <a:solidFill>
                  <a:srgbClr val="B5CEA8"/>
                </a:solidFill>
                <a:latin typeface="Consolas"/>
              </a:rPr>
              <a:t>02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Glosario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canonico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: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Propietario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prohibido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Dueño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Cliente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Responsable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!=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66666"/>
                </a:solidFill>
                <a:latin typeface="Calibri"/>
              </a:rPr>
              <a:t>Una tabla de cuatro columnas encuentra en veinte minutos las contradicciones que un equipo no ve en tres semanas.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glosario canónico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losari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glosari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glosari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Dueño, Propietario, Cliente y Responsable no son cuatro sinónimos: son cuatro tablas en potencia.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concepto: un nombre único, una definición de una línea y sus sinónimos prohibidos.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glosario manda sobre todos los artefactos, sin excepciones.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Separa parejas peligrosas: Cita es la reserva futura; Consulta, la atención ya realizada.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glosario de nombres canonicos: el hueco mas comun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22782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Tabla Markdown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363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385"/>
              </a:spcAft>
            </a:pPr>
            <a:r>
              <a:rPr sz="1800" i="0" b="0">
                <a:solidFill>
                  <a:srgbClr val="858585"/>
                </a:solidFill>
                <a:latin typeface="Consolas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3633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Concepto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canonico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Como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aparece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mal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en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paquete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|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|-------------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--|-----------------|------------------------------------|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animal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 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Paciente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Animal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mascotas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   |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quien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lo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trae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Propietario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Cliente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Responsable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  |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encuentro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    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Turno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Agendamiento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Reserva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 |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el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registro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Consulta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  |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Atencion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HistoriaClinica</a:t>
            </a:r>
            <a:r>
              <a:rPr sz="1800" i="0" b="0">
                <a:solidFill>
                  <a:srgbClr val="D4D4D4"/>
                </a:solidFill>
                <a:latin typeface="Consolas"/>
              </a:rPr>
              <a:t>          |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-- El diagrama de clases dice Mascota, el caso de uso dice Paciente y el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-- wireframe dice Animal: son tres artefactos que hablan de cosas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-- distintas para quien los lee. Un solo nombre por concepto, y el mismo</a:t>
            </a:r>
          </a:p>
          <a:p>
            <a:pPr>
              <a:spcAft>
                <a:spcPts val="385"/>
              </a:spcAft>
            </a:pPr>
            <a:r>
              <a:rPr sz="1800" i="0" b="0">
                <a:solidFill>
                  <a:srgbClr val="D4D4D4"/>
                </a:solidFill>
                <a:latin typeface="Consolas"/>
              </a:rPr>
              <a:t>-- en TODOS los artefactos.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Revisión entre pares con reglas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vision-roles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revision-roles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revision-roles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revisa el artefacto, nunca a la persona.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Roles: autor (en silencio), revisor (hechos observables) y moderador (tiempo y registro).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hallazgo: ubicación exacta, inconsistencia y severidad: bloqueante, mayor o menor.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«No me gusta» no es un hallazgo: es una opinión.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hallazgo al backlog de deuda de diseño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acklog-deud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backlog-deud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backlog-deud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hallazgo es un ítem con responsable, severidad, criterio de cierre y estado.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Estados: aceptado, rechazado con justificación escrita, o aplazado por acuerdo.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Rechazar un hallazgo es legítimo si se argumenta.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Definición de terminado: RF y RNF sin huérfanos, casos de uso, clases con multiplicidades, mockups y diccionario de datos.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Google Docs · draw.io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Se proyecta el paquete de un equipo ficticio de la clinica y encuentra en vivo tres inconsistencias: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dominio: la clinica veterinaria — no otro ejemplo. Aqui se diseña, no se programa.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11 · Avance del proyecto de diseño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Hoy no se agrega nada nuevo: se verifica que todos los documentos hablen del mismo sistema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