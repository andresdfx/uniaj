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Diagramas UML avanzados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Secuencia: quien le habla a quien. Actividad: en que orden ocurre el trabajo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modelada la dinamica de VetCare: el diagrama de secuencia del caso de uso Agendar cita y el diagrama de actividad del proceso de atencion en el consultorio.</a:t>
            </a:r>
          </a:p>
          <a:p>
            <a:pPr>
              <a:spcAft>
                <a:spcPts val="800"/>
              </a:spcAft>
            </a:pPr>
            <a:r>
              <a:rPr sz="2000" b="0" i="0">
                <a:solidFill>
                  <a:srgbClr val="333333"/>
                </a:solidFill>
                <a:latin typeface="Calibri"/>
              </a:rPr>
              <a:t>–   Herramienta: </a:t>
            </a:r>
            <a:r>
              <a:rPr sz="2000" b="1" i="0">
                <a:solidFill>
                  <a:srgbClr val="333333"/>
                </a:solidFill>
                <a:latin typeface="Calibri"/>
              </a:rPr>
              <a:t>draw.io · Mermaid Live Editor</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Hasta ahora todos los modelos de VetCare han sido estaticos: el...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Hasta ahora todos los modelos de VetCare han sido estaticos: el diagrama de clases dice que existe una clase Cita con sus atributos, y la especificacion de caso de uso dice que la recepcionista agenda.</a:t>
            </a:r>
          </a:p>
          <a:p>
            <a:pPr>
              <a:spcAft>
                <a:spcPts val="800"/>
              </a:spcAft>
            </a:pPr>
            <a:r>
              <a:rPr sz="2000" b="0" i="0">
                <a:solidFill>
                  <a:srgbClr val="333333"/>
                </a:solidFill>
                <a:latin typeface="Calibri"/>
              </a:rPr>
              <a:t>–   Lo que ninguno de los dos muestra es la conversacion interna del sistema en el momento exacto en que eso ocurre.</a:t>
            </a:r>
          </a:p>
          <a:p>
            <a:pPr>
              <a:spcAft>
                <a:spcPts val="800"/>
              </a:spcAft>
            </a:pPr>
            <a:r>
              <a:rPr sz="2000" b="0" i="0">
                <a:solidFill>
                  <a:srgbClr val="333333"/>
                </a:solidFill>
                <a:latin typeface="Calibri"/>
              </a:rPr>
              <a:t>–   Para eso existe el diagrama de secuencia, que es un modelo del tiempo: arriba se dibujan los participantes, de cada uno baja una linea de vida y el tiempo transcurre hacia abajo, de modo que el orden vertical de las flechas es el orden real de los eventos.</a:t>
            </a:r>
          </a:p>
          <a:p>
            <a:pPr>
              <a:spcAft>
                <a:spcPts val="800"/>
              </a:spcAft>
            </a:pPr>
            <a:r>
              <a:rPr sz="2000" b="0" i="0">
                <a:solidFill>
                  <a:srgbClr val="333333"/>
                </a:solidFill>
                <a:latin typeface="Calibri"/>
              </a:rPr>
              <a:t>–   Cada flecha es un mensaje, es decir, la peticion de un objeto a otro para que haga algo; la flecha llena representa una llamada sincrona, donde quien pide se queda esperando la respuesta, y la flecha punteada representa el retorno con el resultado.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Hasta ahora todos los modelos de VetCare han sido estaticos: el...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Sobre la linea de vida se dibujan barras de activacion que muestran durante cuanto tiempo ese objeto esta trabajando.</a:t>
            </a:r>
          </a:p>
          <a:p>
            <a:pPr>
              <a:spcAft>
                <a:spcPts val="800"/>
              </a:spcAft>
            </a:pPr>
            <a:r>
              <a:rPr sz="2000" b="0" i="0">
                <a:solidFill>
                  <a:srgbClr val="333333"/>
                </a:solidFill>
                <a:latin typeface="Calibri"/>
              </a:rPr>
              <a:t>–   En VetCare, agendar una cita se ve como una cadena corta y clara: la recepcionista le habla a la pantalla de agenda, la pantalla le habla al control de agenda</a:t>
            </a:r>
          </a:p>
          <a:p>
            <a:pPr>
              <a:spcAft>
                <a:spcPts val="800"/>
              </a:spcAft>
            </a:pPr>
            <a:r>
              <a:rPr sz="2000" b="0" i="0">
                <a:solidFill>
                  <a:srgbClr val="333333"/>
                </a:solidFill>
                <a:latin typeface="Calibri"/>
              </a:rPr>
              <a:t>–   El control verifica la mascota, le pregunta al repositorio de citas por la disponibilidad y devuelve una confirmacion con el identificador de la cita.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actividad responde a otra pregunta completamente...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actividad responde a otra pregunta completamente distinta: no quien le habla a quien, sino en que orden ocurre el trabajo y quien es responsable de cada paso, incluyendo pasos que suceden fuera del computador.</a:t>
            </a:r>
          </a:p>
          <a:p>
            <a:pPr>
              <a:spcAft>
                <a:spcPts val="800"/>
              </a:spcAft>
            </a:pPr>
            <a:r>
              <a:rPr sz="2000" b="0" i="0">
                <a:solidFill>
                  <a:srgbClr val="333333"/>
                </a:solidFill>
                <a:latin typeface="Calibri"/>
              </a:rPr>
              <a:t>–   Sus elementos son nodo inicial, acciones, nodos de decision con condiciones escritas entre corchetes, nodos de union, barras de bifurcacion y sincronizacion para el trabajo que ocurre en paralelo, y nodo final.</a:t>
            </a:r>
          </a:p>
          <a:p>
            <a:pPr>
              <a:spcAft>
                <a:spcPts val="800"/>
              </a:spcAft>
            </a:pPr>
            <a:r>
              <a:rPr sz="2000" b="0" i="0">
                <a:solidFill>
                  <a:srgbClr val="333333"/>
                </a:solidFill>
                <a:latin typeface="Calibri"/>
              </a:rPr>
              <a:t>–   La herramienta que lo vuelve realmente util en un proyecto como VetCare son las particiones o calles: una franja por cada rol, de modo que al mirar el dibujo se sabe de un vistazo que hace el Propietario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actividad responde a otra pregunta completamente...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hace la Recepcionista, que hace el Veterinario y que hace el sistema.</a:t>
            </a:r>
          </a:p>
          <a:p>
            <a:pPr>
              <a:spcAft>
                <a:spcPts val="800"/>
              </a:spcAft>
            </a:pPr>
            <a:r>
              <a:rPr sz="2000" b="0" i="0">
                <a:solidFill>
                  <a:srgbClr val="333333"/>
                </a:solidFill>
                <a:latin typeface="Calibri"/>
              </a:rPr>
              <a:t>–   Eso permite modelar el proceso completo de atencion en Huellitas: el propietario llega y pregunta, la recepcionista verifica la cita, si no la tiene se decide entre esperar o reagendar</a:t>
            </a:r>
          </a:p>
          <a:p>
            <a:pPr>
              <a:spcAft>
                <a:spcPts val="800"/>
              </a:spcAft>
            </a:pPr>
            <a:r>
              <a:rPr sz="2000" b="0" i="0">
                <a:solidFill>
                  <a:srgbClr val="333333"/>
                </a:solidFill>
                <a:latin typeface="Calibri"/>
              </a:rPr>
              <a:t>–   El veterinario atiende, registra la consulta y si formula medicamentos el flujo se abre en dos ramas paralelas, una de facturacion y otra de programacion del control.</a:t>
            </a:r>
          </a:p>
          <a:p>
            <a:pPr>
              <a:spcAft>
                <a:spcPts val="800"/>
              </a:spcAft>
            </a:pPr>
            <a:r>
              <a:rPr sz="2000" b="0" i="0">
                <a:solidFill>
                  <a:srgbClr val="333333"/>
                </a:solidFill>
                <a:latin typeface="Calibri"/>
              </a:rPr>
              <a:t>–   Ese dibujo revela algo que ni los casos de uso ni las clases muestran: donde estan los cuellos de botella del proceso real de la clinica.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pregunta practica es cuando usar cada uno, y la respuesta se decide...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La pregunta practica es cuando usar cada uno, y la respuesta se decide por el tipo de duda que se quiere resolver.</a:t>
            </a:r>
          </a:p>
          <a:p>
            <a:pPr>
              <a:spcAft>
                <a:spcPts val="800"/>
              </a:spcAft>
            </a:pPr>
            <a:r>
              <a:rPr sz="1900" b="0" i="0">
                <a:solidFill>
                  <a:srgbClr val="333333"/>
                </a:solidFill>
                <a:latin typeface="Calibri"/>
              </a:rPr>
              <a:t>–   Si la duda es de responsabilidades, es decir, cual objeto deberia encargarse de esto y con quien tiene que hablar para lograrlo, el diagrama correcto es el de secuencia</a:t>
            </a:r>
          </a:p>
          <a:p>
            <a:pPr>
              <a:spcAft>
                <a:spcPts val="800"/>
              </a:spcAft>
            </a:pPr>
            <a:r>
              <a:rPr sz="1900" b="0" i="0">
                <a:solidFill>
                  <a:srgbClr val="333333"/>
                </a:solidFill>
                <a:latin typeface="Calibri"/>
              </a:rPr>
              <a:t>–   Porque obliga a que cada mensaje tenga un destinatario concreto y por lo tanto una clase que lo sepa atender.</a:t>
            </a:r>
          </a:p>
          <a:p>
            <a:pPr>
              <a:spcAft>
                <a:spcPts val="800"/>
              </a:spcAft>
            </a:pPr>
            <a:r>
              <a:rPr sz="1900" b="0" i="0">
                <a:solidFill>
                  <a:srgbClr val="333333"/>
                </a:solidFill>
                <a:latin typeface="Calibri"/>
              </a:rPr>
              <a:t>–   Si la duda es de proceso, es decir, en que orden hace la gente las cosas, donde se decide algo y que pasa en paralelo, el diagrama correcto es el de actividad</a:t>
            </a:r>
          </a:p>
          <a:p>
            <a:pPr>
              <a:spcAft>
                <a:spcPts val="800"/>
              </a:spcAft>
            </a:pPr>
            <a:r>
              <a:rPr sz="1900" b="0" i="0">
                <a:solidFill>
                  <a:srgbClr val="333333"/>
                </a:solidFill>
                <a:latin typeface="Calibri"/>
              </a:rPr>
              <a:t>–   Porque admite pasos manuales, decisiones del negocio y actores humanos que no son objetos de software.</a:t>
            </a:r>
          </a:p>
          <a:p>
            <a:pPr>
              <a:spcAft>
                <a:spcPts val="800"/>
              </a:spcAft>
            </a:pPr>
            <a:r>
              <a:rPr sz="1900" b="0" i="0">
                <a:solidFill>
                  <a:srgbClr val="333333"/>
                </a:solidFill>
                <a:latin typeface="Calibri"/>
              </a:rPr>
              <a:t>–   Una regla practica para el aula: el diagrama de secuencia se dibuja para un caso de uso y suele cubrir su flujo principal; el diagrama de actividad se dibuja para un proceso de negocio que puede atravesar varios casos de uso.</a:t>
            </a:r>
          </a:p>
          <a:p>
            <a:pPr>
              <a:spcAft>
                <a:spcPts val="800"/>
              </a:spcAft>
            </a:pPr>
            <a:r>
              <a:rPr sz="1900" b="0" i="0">
                <a:solidFill>
                  <a:srgbClr val="333333"/>
                </a:solidFill>
                <a:latin typeface="Calibri"/>
              </a:rPr>
              <a:t>–   En VetCare, CU-04 Agendar cita se modela con secuencia; la atencion completa desde que el propietario entra por la puerta hasta que sale con la factura se modela con actividad, porque incluye conversaciones y esperas que ningun objeto del sistema ejecuta.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Estos diagramas no se inventan desde cero: se derivan de lo que ya esta...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Estos diagramas no se inventan desde cero: se derivan de lo que ya esta escrito, y ahi esta la parte que separa a un estudiante que entendio de uno que solo dibujo.</a:t>
            </a:r>
          </a:p>
          <a:p>
            <a:pPr>
              <a:spcAft>
                <a:spcPts val="800"/>
              </a:spcAft>
            </a:pPr>
            <a:r>
              <a:rPr sz="2000" b="0" i="0">
                <a:solidFill>
                  <a:srgbClr val="333333"/>
                </a:solidFill>
                <a:latin typeface="Calibri"/>
              </a:rPr>
              <a:t>–   Cada paso del flujo principal del caso de uso se convierte en uno o varios mensajes del diagrama de secuencia, en el mismo orden y con los mismos nombres del glosario canonico que se fijo en la auditoria de la clase once.</a:t>
            </a:r>
          </a:p>
          <a:p>
            <a:pPr>
              <a:spcAft>
                <a:spcPts val="800"/>
              </a:spcAft>
            </a:pPr>
            <a:r>
              <a:rPr sz="2000" b="0" i="0">
                <a:solidFill>
                  <a:srgbClr val="333333"/>
                </a:solidFill>
                <a:latin typeface="Calibri"/>
              </a:rPr>
              <a:t>–   Si el paso 2 de CU-04 dice que el sistema verifica la disponibilidad del veterinario para esa fecha, entonces debe existir un mensaje llamado consultarDisponibilidad dirigido a algun participante</a:t>
            </a:r>
          </a:p>
          <a:p>
            <a:pPr>
              <a:spcAft>
                <a:spcPts val="800"/>
              </a:spcAft>
            </a:pPr>
            <a:r>
              <a:rPr sz="2000" b="0" i="0">
                <a:solidFill>
                  <a:srgbClr val="333333"/>
                </a:solidFill>
                <a:latin typeface="Calibri"/>
              </a:rPr>
              <a:t>–   Y ese participante debe ser una clase que exista en el diagrama de clases.</a:t>
            </a:r>
          </a:p>
          <a:p>
            <a:pPr>
              <a:spcAft>
                <a:spcPts val="800"/>
              </a:spcAft>
            </a:pPr>
            <a:r>
              <a:rPr sz="2000" b="0" i="0">
                <a:solidFill>
                  <a:srgbClr val="333333"/>
                </a:solidFill>
                <a:latin typeface="Calibri"/>
              </a:rPr>
              <a:t>–   Aqui aparece el hallazgo tipico y valiosisimo: al dibujar la secuencia el equipo descubre que envio un mensaje a una clase que no tiene esa operacion, o peor, a una clase que no existe.</a:t>
            </a:r>
          </a:p>
          <a:p>
            <a:pPr>
              <a:spcAft>
                <a:spcPts val="800"/>
              </a:spcAft>
            </a:pPr>
            <a:r>
              <a:rPr sz="2000" b="0" i="0">
                <a:solidFill>
                  <a:srgbClr val="333333"/>
                </a:solidFill>
                <a:latin typeface="Calibri"/>
              </a:rPr>
              <a:t>–   Eso no es un fracaso del diagrama de secuencia, es su mayor utilidad, porque es la unica manera barata de detectar que el modelo estatico estaba incompleto.</a:t>
            </a:r>
          </a:p>
          <a:p>
            <a:pPr>
              <a:spcAft>
                <a:spcPts val="800"/>
              </a:spcAft>
            </a:pPr>
            <a:r>
              <a:rPr sz="2000" b="0" i="0">
                <a:solidFill>
                  <a:srgbClr val="333333"/>
                </a:solidFill>
                <a:latin typeface="Calibri"/>
              </a:rPr>
              <a:t>–   Por eso el entregable de hoy incluye la tabla de mapeo mensaje a operacion: obliga a cerrar el circulo entre lo dinamico y lo estatico.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flujos alternos tambien se modelan, y para eso existen los...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flujos alternos tambien se modelan, y para eso existen los fragmentos combinados, que son esos recuadros con una etiqueta en la esquina.</a:t>
            </a:r>
          </a:p>
          <a:p>
            <a:pPr>
              <a:spcAft>
                <a:spcPts val="800"/>
              </a:spcAft>
            </a:pPr>
            <a:r>
              <a:rPr sz="2000" b="0" i="0">
                <a:solidFill>
                  <a:srgbClr val="333333"/>
                </a:solidFill>
                <a:latin typeface="Calibri"/>
              </a:rPr>
              <a:t>–   El fragmento alt representa caminos excluyentes con sus condiciones de guarda escritas entre corchetes</a:t>
            </a:r>
          </a:p>
          <a:p>
            <a:pPr>
              <a:spcAft>
                <a:spcPts val="800"/>
              </a:spcAft>
            </a:pPr>
            <a:r>
              <a:rPr sz="2000" b="0" i="0">
                <a:solidFill>
                  <a:srgbClr val="333333"/>
                </a:solidFill>
                <a:latin typeface="Calibri"/>
              </a:rPr>
              <a:t>–   Y es el que usamos en VetCare para el horario ocupado: si hay disponibilidad se guarda la cita y se confirma, si no la hay el sistema ofrece alternativas del dia siguiente.</a:t>
            </a:r>
          </a:p>
          <a:p>
            <a:pPr>
              <a:spcAft>
                <a:spcPts val="800"/>
              </a:spcAft>
            </a:pPr>
            <a:r>
              <a:rPr sz="2000" b="0" i="0">
                <a:solidFill>
                  <a:srgbClr val="333333"/>
                </a:solidFill>
                <a:latin typeface="Calibri"/>
              </a:rPr>
              <a:t>–   El fragmento opt es un camino opcional que puede ocurrir o no, como enviar el recordatorio si el propietario autorizo mensajeria.</a:t>
            </a:r>
          </a:p>
          <a:p>
            <a:pPr>
              <a:spcAft>
                <a:spcPts val="800"/>
              </a:spcAft>
            </a:pPr>
            <a:r>
              <a:rPr sz="2000" b="0" i="0">
                <a:solidFill>
                  <a:srgbClr val="333333"/>
                </a:solidFill>
                <a:latin typeface="Calibri"/>
              </a:rPr>
              <a:t>–   El fragmento loop repite un bloque, por ejemplo mientras el veterinario agrega varias vacunas al expediente.</a:t>
            </a:r>
          </a:p>
          <a:p>
            <a:pPr>
              <a:spcAft>
                <a:spcPts val="800"/>
              </a:spcAft>
            </a:pPr>
            <a:r>
              <a:rPr sz="2000" b="0" i="0">
                <a:solidFill>
                  <a:srgbClr val="333333"/>
                </a:solidFill>
                <a:latin typeface="Calibri"/>
              </a:rPr>
              <a:t>–   La disciplina que hay que enseñar aqui es de alcance: un diagrama de secuencia no debe intentar mostrar los quince alternos posibles, porque se vuelve ilegible y nadie lo lee.</a:t>
            </a:r>
          </a:p>
          <a:p>
            <a:pPr>
              <a:spcAft>
                <a:spcPts val="800"/>
              </a:spcAft>
            </a:pPr>
            <a:r>
              <a:rPr sz="2000" b="0" i="0">
                <a:solidFill>
                  <a:srgbClr val="333333"/>
                </a:solidFill>
                <a:latin typeface="Calibri"/>
              </a:rPr>
              <a:t>–   La practica sana es dibujar el camino feliz completo mas uno o dos fragmentos que representen las decisiones criticas del negocio, y dejar el resto documentado en el texto de la especificacion, que para eso existe.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Secuencia de CU-04 Agendar cita en sintaxis Mermaid</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133087"/>
          </a:xfrm>
          <a:prstGeom prst="rect">
            <a:avLst/>
          </a:prstGeom>
          <a:noFill/>
        </p:spPr>
        <p:txBody>
          <a:bodyPr wrap="square">
            <a:spAutoFit/>
          </a:bodyPr>
          <a:lstStyle/>
          <a:p>
            <a:pPr>
              <a:spcAft>
                <a:spcPts val="400"/>
              </a:spcAft>
            </a:pPr>
            <a:r>
              <a:rPr sz="1400" b="0" i="0">
                <a:solidFill>
                  <a:srgbClr val="FFFFFF"/>
                </a:solidFill>
                <a:latin typeface="Calibri"/>
              </a:rPr>
              <a:t>sequenceDiagram</a:t>
            </a:r>
          </a:p>
          <a:p>
            <a:pPr>
              <a:spcAft>
                <a:spcPts val="400"/>
              </a:spcAft>
            </a:pPr>
            <a:r>
              <a:rPr sz="1400" b="0" i="0">
                <a:solidFill>
                  <a:srgbClr val="FFFFFF"/>
                </a:solidFill>
                <a:latin typeface="Calibri"/>
              </a:rPr>
              <a:t>    actor Recepcionista</a:t>
            </a:r>
          </a:p>
          <a:p>
            <a:pPr>
              <a:spcAft>
                <a:spcPts val="400"/>
              </a:spcAft>
            </a:pPr>
            <a:r>
              <a:rPr sz="1400" b="0" i="0">
                <a:solidFill>
                  <a:srgbClr val="FFFFFF"/>
                </a:solidFill>
                <a:latin typeface="Calibri"/>
              </a:rPr>
              <a:t>    participant UI as :PantallaAgenda</a:t>
            </a:r>
          </a:p>
          <a:p>
            <a:pPr>
              <a:spcAft>
                <a:spcPts val="400"/>
              </a:spcAft>
            </a:pPr>
            <a:r>
              <a:rPr sz="1400" b="0" i="0">
                <a:solidFill>
                  <a:srgbClr val="FFFFFF"/>
                </a:solidFill>
                <a:latin typeface="Calibri"/>
              </a:rPr>
              <a:t>    participant CTRL as :ControlAgenda</a:t>
            </a:r>
          </a:p>
          <a:p>
            <a:pPr>
              <a:spcAft>
                <a:spcPts val="400"/>
              </a:spcAft>
            </a:pPr>
            <a:r>
              <a:rPr sz="1400" b="0" i="0">
                <a:solidFill>
                  <a:srgbClr val="FFFFFF"/>
                </a:solidFill>
                <a:latin typeface="Calibri"/>
              </a:rPr>
              <a:t>    participant REPM as :RepositorioMascotas</a:t>
            </a:r>
          </a:p>
          <a:p>
            <a:pPr>
              <a:spcAft>
                <a:spcPts val="400"/>
              </a:spcAft>
            </a:pPr>
            <a:r>
              <a:rPr sz="1400" b="0" i="0">
                <a:solidFill>
                  <a:srgbClr val="FFFFFF"/>
                </a:solidFill>
                <a:latin typeface="Calibri"/>
              </a:rPr>
              <a:t>    participant REPC as :RepositorioCitas</a:t>
            </a:r>
          </a:p>
          <a:p>
            <a:pPr>
              <a:spcAft>
                <a:spcPts val="400"/>
              </a:spcAft>
            </a:pPr>
            <a:r>
              <a:rPr sz="1400" b="0" i="0">
                <a:solidFill>
                  <a:srgbClr val="FFFFFF"/>
                </a:solidFill>
                <a:latin typeface="Calibri"/>
              </a:rPr>
              <a:t>    Recepcionista-&gt;&gt;UI: solicitarAgendamiento(codigoMascota, fecha)</a:t>
            </a:r>
          </a:p>
          <a:p>
            <a:pPr>
              <a:spcAft>
                <a:spcPts val="400"/>
              </a:spcAft>
            </a:pPr>
            <a:r>
              <a:rPr sz="1400" b="0" i="0">
                <a:solidFill>
                  <a:srgbClr val="FFFFFF"/>
                </a:solidFill>
                <a:latin typeface="Calibri"/>
              </a:rPr>
              <a:t>    UI-&gt;&gt;CTRL: agendarCita(codigoMascota, fecha, idVeterinario)</a:t>
            </a:r>
          </a:p>
          <a:p>
            <a:pPr>
              <a:spcAft>
                <a:spcPts val="400"/>
              </a:spcAft>
            </a:pPr>
            <a:r>
              <a:rPr sz="1400" b="0" i="0">
                <a:solidFill>
                  <a:srgbClr val="FFFFFF"/>
                </a:solidFill>
                <a:latin typeface="Calibri"/>
              </a:rPr>
              <a:t>    CTRL-&gt;&gt;REPM: existePorCodigo(codigoMascota)</a:t>
            </a:r>
          </a:p>
          <a:p>
            <a:pPr>
              <a:spcAft>
                <a:spcPts val="400"/>
              </a:spcAft>
            </a:pPr>
            <a:r>
              <a:rPr sz="1400" b="0" i="0">
                <a:solidFill>
                  <a:srgbClr val="FFFFFF"/>
                </a:solidFill>
                <a:latin typeface="Calibri"/>
              </a:rPr>
              <a:t>    REPM--&gt;&gt;CTRL: mascota</a:t>
            </a:r>
          </a:p>
        </p:txBody>
      </p:sp>
      <p:sp>
        <p:nvSpPr>
          <p:cNvPr id="9" name="TextBox 8"/>
          <p:cNvSpPr txBox="1"/>
          <p:nvPr/>
        </p:nvSpPr>
        <p:spPr>
          <a:xfrm>
            <a:off x="6233007" y="1719072"/>
            <a:ext cx="5181447" cy="4133087"/>
          </a:xfrm>
          <a:prstGeom prst="rect">
            <a:avLst/>
          </a:prstGeom>
          <a:noFill/>
        </p:spPr>
        <p:txBody>
          <a:bodyPr wrap="square">
            <a:spAutoFit/>
          </a:bodyPr>
          <a:lstStyle/>
          <a:p>
            <a:pPr>
              <a:spcAft>
                <a:spcPts val="400"/>
              </a:spcAft>
            </a:pPr>
            <a:r>
              <a:rPr sz="1400" b="0" i="0">
                <a:solidFill>
                  <a:srgbClr val="FFFFFF"/>
                </a:solidFill>
                <a:latin typeface="Calibri"/>
              </a:rPr>
              <a:t>    CTRL-&gt;&gt;REPC: consultarDisponibilidad(idVeterinario, fecha)</a:t>
            </a:r>
          </a:p>
          <a:p>
            <a:pPr>
              <a:spcAft>
                <a:spcPts val="400"/>
              </a:spcAft>
            </a:pPr>
            <a:r>
              <a:rPr sz="1400" b="0" i="0">
                <a:solidFill>
                  <a:srgbClr val="FFFFFF"/>
                </a:solidFill>
                <a:latin typeface="Calibri"/>
              </a:rPr>
              <a:t>    REPC--&gt;&gt;CTRL: horariosLibres</a:t>
            </a:r>
          </a:p>
          <a:p>
            <a:pPr>
              <a:spcAft>
                <a:spcPts val="400"/>
              </a:spcAft>
            </a:pPr>
            <a:r>
              <a:rPr sz="1400" b="0" i="0">
                <a:solidFill>
                  <a:srgbClr val="FFFFFF"/>
                </a:solidFill>
                <a:latin typeface="Calibri"/>
              </a:rPr>
              <a:t>    alt hay horario libre</a:t>
            </a:r>
          </a:p>
          <a:p>
            <a:pPr>
              <a:spcAft>
                <a:spcPts val="400"/>
              </a:spcAft>
            </a:pPr>
            <a:r>
              <a:rPr sz="1400" b="0" i="0">
                <a:solidFill>
                  <a:srgbClr val="FFFFFF"/>
                </a:solidFill>
                <a:latin typeface="Calibri"/>
              </a:rPr>
              <a:t>        CTRL-&gt;&gt;REPC: guardarCita(cita)</a:t>
            </a:r>
          </a:p>
          <a:p>
            <a:pPr>
              <a:spcAft>
                <a:spcPts val="400"/>
              </a:spcAft>
            </a:pPr>
            <a:r>
              <a:rPr sz="1400" b="0" i="0">
                <a:solidFill>
                  <a:srgbClr val="FFFFFF"/>
                </a:solidFill>
                <a:latin typeface="Calibri"/>
              </a:rPr>
              <a:t>        REPC--&gt;&gt;CTRL: idCita</a:t>
            </a:r>
          </a:p>
          <a:p>
            <a:pPr>
              <a:spcAft>
                <a:spcPts val="400"/>
              </a:spcAft>
            </a:pPr>
            <a:r>
              <a:rPr sz="1400" b="0" i="0">
                <a:solidFill>
                  <a:srgbClr val="FFFFFF"/>
                </a:solidFill>
                <a:latin typeface="Calibri"/>
              </a:rPr>
              <a:t>        CTRL--&gt;&gt;UI: confirmacion(idCita)</a:t>
            </a:r>
          </a:p>
          <a:p>
            <a:pPr>
              <a:spcAft>
                <a:spcPts val="400"/>
              </a:spcAft>
            </a:pPr>
            <a:r>
              <a:rPr sz="1400" b="0" i="0">
                <a:solidFill>
                  <a:srgbClr val="FFFFFF"/>
                </a:solidFill>
                <a:latin typeface="Calibri"/>
              </a:rPr>
              <a:t>    else no hay horario libre</a:t>
            </a:r>
          </a:p>
          <a:p>
            <a:pPr>
              <a:spcAft>
                <a:spcPts val="400"/>
              </a:spcAft>
            </a:pPr>
            <a:r>
              <a:rPr sz="1400" b="0" i="0">
                <a:solidFill>
                  <a:srgbClr val="FFFFFF"/>
                </a:solidFill>
                <a:latin typeface="Calibri"/>
              </a:rPr>
              <a:t>        CTRL--&gt;&gt;UI: alternativas(dia siguiente)</a:t>
            </a:r>
          </a:p>
          <a:p>
            <a:pPr>
              <a:spcAft>
                <a:spcPts val="400"/>
              </a:spcAft>
            </a:pPr>
            <a:r>
              <a:rPr sz="1400" b="0" i="0">
                <a:solidFill>
                  <a:srgbClr val="FFFFFF"/>
                </a:solidFill>
                <a:latin typeface="Calibri"/>
              </a:rPr>
              <a:t>    end</a:t>
            </a:r>
          </a:p>
        </p:txBody>
      </p:sp>
      <p:sp>
        <p:nvSpPr>
          <p:cNvPr id="10" name="TextBox 9"/>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flecha tiene que corresponder a una operacion existente en el diagrama de clases: si no existe, o falta la operacion o sobra la flecha.</a:t>
            </a:r>
          </a:p>
        </p:txBody>
      </p:sp>
      <p:sp>
        <p:nvSpPr>
          <p:cNvPr id="11" name="TextBox 1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Mermaid Live Editor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toma el flujo principal ya escrito de CU-04 Agendar cita y lo convierte linea por linea en mensajes de un diagrama de secuencia en Mermaid, mostrando en vivo que cada mensaje necesita una clase dueña que lo pueda responder.</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rmaid.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Diagramas como texto versionable</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los casos de uso dicen que hace VetCare y el diagrama de clases dice de que esta hecho, pero solo los diagramas de secuencia y actividad muestran como colaboran las piezas en el tiempo, que es lo que necesita quien vaya a construirlo.</a:t>
            </a:r>
          </a:p>
          <a:p>
            <a:pPr>
              <a:spcAft>
                <a:spcPts val="800"/>
              </a:spcAft>
            </a:pPr>
            <a:r>
              <a:rPr sz="2000" b="0" i="0">
                <a:solidFill>
                  <a:srgbClr val="333333"/>
                </a:solidFill>
                <a:latin typeface="Calibri"/>
              </a:rPr>
              <a:t>–   Dibujar la secuencia es la forma mas barata de descubrir que al diagrama de clases le faltan operaciones, porque cada flecha exige un dueño que la pueda responder.</a:t>
            </a:r>
          </a:p>
          <a:p>
            <a:pPr>
              <a:spcAft>
                <a:spcPts val="800"/>
              </a:spcAft>
            </a:pPr>
            <a:r>
              <a:rPr sz="2000" b="0" i="0">
                <a:solidFill>
                  <a:srgbClr val="333333"/>
                </a:solidFill>
                <a:latin typeface="Calibri"/>
              </a:rPr>
              <a:t>–   El diagrama de actividad es el unico artefacto del paquete que muestra el trabajo humano de la clinica Huellitas, incluidas las esperas y las decisiones que ocurren fuera del computador.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VetCare ya tiene casos de uso especificados y un diagrama de clases con multiplicidades, pero ningun documento explica el orden en que los objetos se comunican para cumplir un caso de uso.</a:t>
            </a:r>
          </a:p>
          <a:p>
            <a:pPr>
              <a:spcAft>
                <a:spcPts val="800"/>
              </a:spcAft>
            </a:pPr>
            <a:r>
              <a:rPr sz="2000" b="0" i="0">
                <a:solidFill>
                  <a:srgbClr val="333333"/>
                </a:solidFill>
                <a:latin typeface="Calibri"/>
              </a:rPr>
              <a:t>–   En Huellitas, agendar una cita depende de la disponibilidad del veterinario y hoy eso se resuelve preguntando en voz alta al fondo del consultorio, sin ninguna regla escrita.</a:t>
            </a:r>
          </a:p>
          <a:p>
            <a:pPr>
              <a:spcAft>
                <a:spcPts val="800"/>
              </a:spcAft>
            </a:pPr>
            <a:r>
              <a:rPr sz="2000" b="0" i="0">
                <a:solidFill>
                  <a:srgbClr val="333333"/>
                </a:solidFill>
                <a:latin typeface="Calibri"/>
              </a:rPr>
              <a:t>–   El equipo tiende a dibujar cajas y flechas por intuicion, sin volver a mirar el flujo principal que ya habia escrito hace tres sesiones.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Tomar el flujo principal escrito de CU-04 Agendar cita, y si todavia no esta especificado diligenciar primero la plantilla de la clase nueve, para luego numerar en el documento cual paso genera cual mensaje, de manera que quede una lista de entre seis y ocho mensajes antes de dibujar cualquier cosa.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Dibujar el diagrama de secuencia en Mermaid Live Editor o draw.io con la recepcionista como actor y minimo tres participantes que correspondan a clases reales del diagrama de clases de VetCare, incluyendo las flechas de retorno con el dato que devuelven.</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Agregar un fragmento alt que modele el horario ocupado con sus dos condiciones de guarda escritas, y verificar que el camino del else corresponda a un flujo alterno documentado en la especificacion del caso de uso.</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Construir la tabla de mapeo mensaje a operacion con tres columnas, mensaje, clase destinataria y operacion que debe existir, y agregar al diagrama de clases toda operacion que hoy falte; ninguna fila puede quedar con la clase en blanco.</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Dibujar el diagrama de actividad del proceso de atencion en el consultorio con cuatro calles (Propietario, Recepcionista, Veterinario y Sistema VetCare), con minimo dos nodos de decision y una bifurcacion en paralelo, y exportar todo a PDF para subirlo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sigue las flechas de su diagrama de arriba hacia abajo, obtiene exactamente el mismo relato que ya escribio en el flujo principal del caso de uso?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Cada participante de su diagrama existe como clase en el modelo, o dibujo cajas como Base de datos y Sistema que nadie puede implementar?</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En su diagrama de actividad se puede saber, mirando solo la calle, quien es responsable de cada paso y cual de esos pasos ocurre sin tocar el computador?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diagrama de secuencia reproduce el orden exacto del flujo principal de CU-04 y no inventa pasos que no esten en la especificacion.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Todos los participantes del diagrama corresponden a actores legitimos o a clases existentes en el diagrama de clases, y aparecen las flechas de retorno con el dato que devuelven.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Existe al menos un fragmento alt con sus dos condiciones de guarda escritas, coherente con un flujo alterno ya documentado.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diagrama de actividad tiene calles por rol, minimo dos decisiones con condiciones entre corchetes y una bifurcacion en paralelo, y la tabla de mapeo mensaje a operacion no tiene filas incompletas.</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modelada la dinamica de VetCare: el diagrama de secuencia del caso de uso Agendar cita y el diagrama de actividad del proceso de atencion en el consultorio.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modelada la dinamica de VetCare: el diagrama de secuencia del caso de uso Agendar cita y el diagrama de actividad del proceso de atencion en el consultorio.</a:t>
            </a:r>
          </a:p>
          <a:p>
            <a:pPr algn="ctr">
              <a:spcAft>
                <a:spcPts val="600"/>
              </a:spcAft>
            </a:pPr>
            <a:r>
              <a:rPr sz="1600" b="0" i="0">
                <a:solidFill>
                  <a:srgbClr val="333333"/>
                </a:solidFill>
                <a:latin typeface="Calibri"/>
              </a:rPr>
              <a:t>Entregable: Un PDF con el diagrama de secuencia de Agendar cita incluyendo el fragmento alt para horario ocupado, el diagrama de actividad del proceso de atencion con calles por rol, y la tabla que mapea cada mensaje del diagrama de secuencia a una operacion del diagrama de clases,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