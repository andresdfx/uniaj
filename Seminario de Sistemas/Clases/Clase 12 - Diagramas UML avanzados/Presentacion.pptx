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Diagramas UML avanzados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Secuencia: quien le habla a quien. Actividad: en que orden ocurre el trabajo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modelada la dinamica de VetCare: el diagrama de secuencia del caso de uso Agendar cita y el diagrama de actividad del proceso de atencion en el consultorio.</a:t>
            </a:r>
          </a:p>
          <a:p>
            <a:pPr>
              <a:spcAft>
                <a:spcPts val="800"/>
              </a:spcAft>
            </a:pPr>
            <a:r>
              <a:rPr sz="2000" b="0" i="0">
                <a:solidFill>
                  <a:srgbClr val="333333"/>
                </a:solidFill>
                <a:latin typeface="Calibri"/>
              </a:rPr>
              <a:t>–   Herramienta: </a:t>
            </a:r>
            <a:r>
              <a:rPr sz="2000" b="1" i="0">
                <a:solidFill>
                  <a:srgbClr val="333333"/>
                </a:solidFill>
                <a:latin typeface="Calibri"/>
              </a:rPr>
              <a:t>draw.io · Mermaid Live Editor</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Hasta ahora todos los modelos de VetCare han sido estaticos: el diagrama de clases dice que existe una clase Cita…</a:t>
            </a:r>
          </a:p>
          <a:p>
            <a:pPr>
              <a:spcAft>
                <a:spcPts val="800"/>
              </a:spcAft>
            </a:pPr>
            <a:r>
              <a:rPr sz="2000" b="0" i="0">
                <a:solidFill>
                  <a:srgbClr val="333333"/>
                </a:solidFill>
                <a:latin typeface="Calibri"/>
              </a:rPr>
              <a:t>–   El diagrama de actividad responde a otra pregunta completamente distinta: no quien le habla a quien, sino en que…</a:t>
            </a:r>
          </a:p>
          <a:p>
            <a:pPr>
              <a:spcAft>
                <a:spcPts val="800"/>
              </a:spcAft>
            </a:pPr>
            <a:r>
              <a:rPr sz="2000" b="0" i="0">
                <a:solidFill>
                  <a:srgbClr val="333333"/>
                </a:solidFill>
                <a:latin typeface="Calibri"/>
              </a:rPr>
              <a:t>–   La pregunta practica es cuando usar cada uno, y la respuesta se decide por el tipo de duda que se quiere resolver</a:t>
            </a:r>
          </a:p>
          <a:p>
            <a:pPr>
              <a:spcAft>
                <a:spcPts val="800"/>
              </a:spcAft>
            </a:pPr>
            <a:r>
              <a:rPr sz="2000" b="0" i="0">
                <a:solidFill>
                  <a:srgbClr val="333333"/>
                </a:solidFill>
                <a:latin typeface="Calibri"/>
              </a:rPr>
              <a:t>–   Estos diagramas no se inventan desde cero: se derivan de lo que ya esta escrito, y ahi esta la parte que separa a…</a:t>
            </a:r>
          </a:p>
          <a:p>
            <a:pPr>
              <a:spcAft>
                <a:spcPts val="800"/>
              </a:spcAft>
            </a:pPr>
            <a:r>
              <a:rPr sz="2000" b="0" i="0">
                <a:solidFill>
                  <a:srgbClr val="333333"/>
                </a:solidFill>
                <a:latin typeface="Calibri"/>
              </a:rPr>
              <a:t>–   Los flujos alternos tambien se modelan, y para eso existen los fragmentos combinados, que son esos recuadros con…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Secuencia de CU-04 Agendar cita en sintaxis Mermaid</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133087"/>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actor Recepcionista</a:t>
            </a:r>
          </a:p>
          <a:p>
            <a:pPr>
              <a:spcAft>
                <a:spcPts val="400"/>
              </a:spcAft>
            </a:pPr>
            <a:r>
              <a:rPr sz="1400" b="0" i="0">
                <a:solidFill>
                  <a:srgbClr val="FFFFFF"/>
                </a:solidFill>
                <a:latin typeface="Calibri"/>
              </a:rPr>
              <a:t>    participant UI as :PantallaAgenda</a:t>
            </a:r>
          </a:p>
          <a:p>
            <a:pPr>
              <a:spcAft>
                <a:spcPts val="400"/>
              </a:spcAft>
            </a:pPr>
            <a:r>
              <a:rPr sz="1400" b="0" i="0">
                <a:solidFill>
                  <a:srgbClr val="FFFFFF"/>
                </a:solidFill>
                <a:latin typeface="Calibri"/>
              </a:rPr>
              <a:t>    participant CTRL as :ControlAgenda</a:t>
            </a:r>
          </a:p>
          <a:p>
            <a:pPr>
              <a:spcAft>
                <a:spcPts val="400"/>
              </a:spcAft>
            </a:pPr>
            <a:r>
              <a:rPr sz="1400" b="0" i="0">
                <a:solidFill>
                  <a:srgbClr val="FFFFFF"/>
                </a:solidFill>
                <a:latin typeface="Calibri"/>
              </a:rPr>
              <a:t>    participant REPM as :RepositorioMascotas</a:t>
            </a:r>
          </a:p>
          <a:p>
            <a:pPr>
              <a:spcAft>
                <a:spcPts val="400"/>
              </a:spcAft>
            </a:pPr>
            <a:r>
              <a:rPr sz="1400" b="0" i="0">
                <a:solidFill>
                  <a:srgbClr val="FFFFFF"/>
                </a:solidFill>
                <a:latin typeface="Calibri"/>
              </a:rPr>
              <a:t>    participant REPC as :RepositorioCitas</a:t>
            </a:r>
          </a:p>
          <a:p>
            <a:pPr>
              <a:spcAft>
                <a:spcPts val="400"/>
              </a:spcAft>
            </a:pPr>
            <a:r>
              <a:rPr sz="1400" b="0" i="0">
                <a:solidFill>
                  <a:srgbClr val="FFFFFF"/>
                </a:solidFill>
                <a:latin typeface="Calibri"/>
              </a:rPr>
              <a:t>    Recepcionista-&gt;&gt;UI: solicitarAgendamiento(codigoMascota, fecha)</a:t>
            </a:r>
          </a:p>
          <a:p>
            <a:pPr>
              <a:spcAft>
                <a:spcPts val="400"/>
              </a:spcAft>
            </a:pPr>
            <a:r>
              <a:rPr sz="1400" b="0" i="0">
                <a:solidFill>
                  <a:srgbClr val="FFFFFF"/>
                </a:solidFill>
                <a:latin typeface="Calibri"/>
              </a:rPr>
              <a:t>    UI-&gt;&gt;CTRL: agendarCita(codigoMascota, fecha, idVeterinario)</a:t>
            </a:r>
          </a:p>
          <a:p>
            <a:pPr>
              <a:spcAft>
                <a:spcPts val="400"/>
              </a:spcAft>
            </a:pPr>
            <a:r>
              <a:rPr sz="1400" b="0" i="0">
                <a:solidFill>
                  <a:srgbClr val="FFFFFF"/>
                </a:solidFill>
                <a:latin typeface="Calibri"/>
              </a:rPr>
              <a:t>    CTRL-&gt;&gt;REPM: existePorCodigo(codigoMascota)</a:t>
            </a:r>
          </a:p>
          <a:p>
            <a:pPr>
              <a:spcAft>
                <a:spcPts val="400"/>
              </a:spcAft>
            </a:pPr>
            <a:r>
              <a:rPr sz="1400" b="0" i="0">
                <a:solidFill>
                  <a:srgbClr val="FFFFFF"/>
                </a:solidFill>
                <a:latin typeface="Calibri"/>
              </a:rPr>
              <a:t>    REPM--&gt;&gt;CTRL: mascota</a:t>
            </a:r>
          </a:p>
        </p:txBody>
      </p:sp>
      <p:sp>
        <p:nvSpPr>
          <p:cNvPr id="9" name="TextBox 8"/>
          <p:cNvSpPr txBox="1"/>
          <p:nvPr/>
        </p:nvSpPr>
        <p:spPr>
          <a:xfrm>
            <a:off x="6233007" y="1719072"/>
            <a:ext cx="5181447" cy="4133087"/>
          </a:xfrm>
          <a:prstGeom prst="rect">
            <a:avLst/>
          </a:prstGeom>
          <a:noFill/>
        </p:spPr>
        <p:txBody>
          <a:bodyPr wrap="square">
            <a:spAutoFit/>
          </a:bodyPr>
          <a:lstStyle/>
          <a:p>
            <a:pPr>
              <a:spcAft>
                <a:spcPts val="400"/>
              </a:spcAft>
            </a:pPr>
            <a:r>
              <a:rPr sz="1400" b="0" i="0">
                <a:solidFill>
                  <a:srgbClr val="FFFFFF"/>
                </a:solidFill>
                <a:latin typeface="Calibri"/>
              </a:rPr>
              <a:t>    CTRL-&gt;&gt;REPC: consultarDisponibilidad(idVeterinario, fecha)</a:t>
            </a:r>
          </a:p>
          <a:p>
            <a:pPr>
              <a:spcAft>
                <a:spcPts val="400"/>
              </a:spcAft>
            </a:pPr>
            <a:r>
              <a:rPr sz="1400" b="0" i="0">
                <a:solidFill>
                  <a:srgbClr val="FFFFFF"/>
                </a:solidFill>
                <a:latin typeface="Calibri"/>
              </a:rPr>
              <a:t>    REPC--&gt;&gt;CTRL: horariosLibres</a:t>
            </a:r>
          </a:p>
          <a:p>
            <a:pPr>
              <a:spcAft>
                <a:spcPts val="400"/>
              </a:spcAft>
            </a:pPr>
            <a:r>
              <a:rPr sz="1400" b="0" i="0">
                <a:solidFill>
                  <a:srgbClr val="FFFFFF"/>
                </a:solidFill>
                <a:latin typeface="Calibri"/>
              </a:rPr>
              <a:t>    alt hay horario libre</a:t>
            </a:r>
          </a:p>
          <a:p>
            <a:pPr>
              <a:spcAft>
                <a:spcPts val="400"/>
              </a:spcAft>
            </a:pPr>
            <a:r>
              <a:rPr sz="1400" b="0" i="0">
                <a:solidFill>
                  <a:srgbClr val="FFFFFF"/>
                </a:solidFill>
                <a:latin typeface="Calibri"/>
              </a:rPr>
              <a:t>        CTRL-&gt;&gt;REPC: guardarCita(cita)</a:t>
            </a:r>
          </a:p>
          <a:p>
            <a:pPr>
              <a:spcAft>
                <a:spcPts val="400"/>
              </a:spcAft>
            </a:pPr>
            <a:r>
              <a:rPr sz="1400" b="0" i="0">
                <a:solidFill>
                  <a:srgbClr val="FFFFFF"/>
                </a:solidFill>
                <a:latin typeface="Calibri"/>
              </a:rPr>
              <a:t>        REPC--&gt;&gt;CTRL: idCita</a:t>
            </a:r>
          </a:p>
          <a:p>
            <a:pPr>
              <a:spcAft>
                <a:spcPts val="400"/>
              </a:spcAft>
            </a:pPr>
            <a:r>
              <a:rPr sz="1400" b="0" i="0">
                <a:solidFill>
                  <a:srgbClr val="FFFFFF"/>
                </a:solidFill>
                <a:latin typeface="Calibri"/>
              </a:rPr>
              <a:t>        CTRL--&gt;&gt;UI: confirmacion(idCita)</a:t>
            </a:r>
          </a:p>
          <a:p>
            <a:pPr>
              <a:spcAft>
                <a:spcPts val="400"/>
              </a:spcAft>
            </a:pPr>
            <a:r>
              <a:rPr sz="1400" b="0" i="0">
                <a:solidFill>
                  <a:srgbClr val="FFFFFF"/>
                </a:solidFill>
                <a:latin typeface="Calibri"/>
              </a:rPr>
              <a:t>    else no hay horario libre</a:t>
            </a:r>
          </a:p>
          <a:p>
            <a:pPr>
              <a:spcAft>
                <a:spcPts val="400"/>
              </a:spcAft>
            </a:pPr>
            <a:r>
              <a:rPr sz="1400" b="0" i="0">
                <a:solidFill>
                  <a:srgbClr val="FFFFFF"/>
                </a:solidFill>
                <a:latin typeface="Calibri"/>
              </a:rPr>
              <a:t>        CTRL--&gt;&gt;UI: alternativas(dia siguiente)</a:t>
            </a:r>
          </a:p>
          <a:p>
            <a:pPr>
              <a:spcAft>
                <a:spcPts val="400"/>
              </a:spcAft>
            </a:pPr>
            <a:r>
              <a:rPr sz="1400" b="0" i="0">
                <a:solidFill>
                  <a:srgbClr val="FFFFFF"/>
                </a:solidFill>
                <a:latin typeface="Calibri"/>
              </a:rPr>
              <a:t>    end</a:t>
            </a:r>
          </a:p>
        </p:txBody>
      </p:sp>
      <p:sp>
        <p:nvSpPr>
          <p:cNvPr id="10" name="TextBox 9"/>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flecha tiene que corresponder a una operacion existente en el diagrama de clases: si no existe, o falta la operacion o sobra la flecha.</a:t>
            </a:r>
          </a:p>
        </p:txBody>
      </p:sp>
      <p:sp>
        <p:nvSpPr>
          <p:cNvPr id="11" name="TextBox 1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Mermaid Live Editor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toma el flujo principal ya escrito de CU-04 Agendar cita y lo convierte linea por linea en mensajes de un diagrama de secuencia en Mermaid, mostrando en vivo que cada mensaje necesita una clase dueña que lo pueda responder.</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rmaid.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Diagramas como texto versionable</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los casos de uso dicen que hace VetCare y el diagrama de clases dice de que esta hecho, pero solo los diagramas de secuencia y actividad muestran como colaboran las piezas en el tiempo, que es lo que necesita quien vaya a construirlo.</a:t>
            </a:r>
          </a:p>
          <a:p>
            <a:pPr>
              <a:spcAft>
                <a:spcPts val="800"/>
              </a:spcAft>
            </a:pPr>
            <a:r>
              <a:rPr sz="2000" b="0" i="0">
                <a:solidFill>
                  <a:srgbClr val="333333"/>
                </a:solidFill>
                <a:latin typeface="Calibri"/>
              </a:rPr>
              <a:t>–   Dibujar la secuencia es la forma mas barata de descubrir que al diagrama de clases le faltan operaciones, porque cada flecha exige un dueño que la pueda responder.</a:t>
            </a:r>
          </a:p>
          <a:p>
            <a:pPr>
              <a:spcAft>
                <a:spcPts val="800"/>
              </a:spcAft>
            </a:pPr>
            <a:r>
              <a:rPr sz="2000" b="0" i="0">
                <a:solidFill>
                  <a:srgbClr val="333333"/>
                </a:solidFill>
                <a:latin typeface="Calibri"/>
              </a:rPr>
              <a:t>–   El diagrama de actividad es el unico artefacto del paquete que muestra el trabajo humano de la clinica Huellitas, incluidas las esperas y las decisiones que ocurren fuera del computador.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VetCare ya tiene casos de uso especificados y un diagrama de clases con multiplicidades, pero ningun documento explica el orden en que los objetos se comunican para cumplir un caso de uso.</a:t>
            </a:r>
          </a:p>
          <a:p>
            <a:pPr>
              <a:spcAft>
                <a:spcPts val="800"/>
              </a:spcAft>
            </a:pPr>
            <a:r>
              <a:rPr sz="2000" b="0" i="0">
                <a:solidFill>
                  <a:srgbClr val="333333"/>
                </a:solidFill>
                <a:latin typeface="Calibri"/>
              </a:rPr>
              <a:t>–   En Huellitas, agendar una cita depende de la disponibilidad del veterinario y hoy eso se resuelve preguntando en voz alta al fondo del consultorio, sin ninguna regla escrita.</a:t>
            </a:r>
          </a:p>
          <a:p>
            <a:pPr>
              <a:spcAft>
                <a:spcPts val="800"/>
              </a:spcAft>
            </a:pPr>
            <a:r>
              <a:rPr sz="2000" b="0" i="0">
                <a:solidFill>
                  <a:srgbClr val="333333"/>
                </a:solidFill>
                <a:latin typeface="Calibri"/>
              </a:rPr>
              <a:t>–   El equipo tiende a dibujar cajas y flechas por intuicion, sin volver a mirar el flujo principal que ya habia escrito hace tres sesiones.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Tomar el flujo principal escrito de CU-04 Agendar cita, y si todavia no esta especificado diligenciar primero la plantilla de la clase nueve, para luego numerar en el documento cual paso genera cual mensaje, de manera que quede una lista de entre seis y ocho mensajes antes de dibujar cualquier cosa.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Dibujar el diagrama de secuencia en Mermaid Live Editor o draw.io con la recepcionista como actor y minimo tres participantes que correspondan a clases reales del diagrama de clases de VetCare, incluyendo las flechas de retorno con el dato que devuelven.</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Agregar un fragmento alt que modele el horario ocupado con sus dos condiciones de guarda escritas, y verificar que el camino del else corresponda a un flujo alterno documentado en la especificacion del caso de uso.</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Construir la tabla de mapeo mensaje a operacion con tres columnas, mensaje, clase destinataria y operacion que debe existir, y agregar al diagrama de clases toda operacion que hoy falte; ninguna fila puede quedar con la clase en blanco.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Dibujar el diagrama de actividad del proceso de atencion en el consultorio con cuatro calles (Propietario, Recepcionista, Veterinario y Sistema VetCare), con minimo dos nodos de decision y una bifurcacion en paralelo, y exportar todo a PDF para subirlo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sigue las flechas de su diagrama de arriba hacia abajo, obtiene exactamente el mismo relato que ya escribio en el flujo principal del caso de uso?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Cada participante de su diagrama existe como clase en el modelo, o dibujo cajas como Base de datos y Sistema que nadie puede implementar?</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En su diagrama de actividad se puede saber, mirando solo la calle, quien es responsable de cada paso y cual de esos pasos ocurre sin tocar el computador?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diagrama de secuencia reproduce el orden exacto del flujo principal de CU-04 y no inventa pasos que no esten en la especificacion.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Todos los participantes del diagrama corresponden a actores legitimos o a clases existentes en el diagrama de clases, y aparecen las flechas de retorno con el dato que devuelven.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Existe al menos un fragmento alt con sus dos condiciones de guarda escritas, coherente con un flujo alterno ya documentado.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diagrama de actividad tiene calles por rol, minimo dos decisiones con condiciones entre corchetes y una bifurcacion en paralelo, y la tabla de mapeo mensaje a operacion no tiene filas incompletas.</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modelada la dinamica de VetCare: el diagrama de secuencia del caso de uso Agendar cita y el diagrama de actividad del proceso de atencion en el consultorio.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modelada la dinamica de VetCare: el diagrama de secuencia del caso de uso Agendar cita y el diagrama de actividad del proceso de atencion en el consultorio.</a:t>
            </a:r>
          </a:p>
          <a:p>
            <a:pPr algn="ctr">
              <a:spcAft>
                <a:spcPts val="600"/>
              </a:spcAft>
            </a:pPr>
            <a:r>
              <a:rPr sz="1600" b="0" i="0">
                <a:solidFill>
                  <a:srgbClr val="333333"/>
                </a:solidFill>
                <a:latin typeface="Calibri"/>
              </a:rPr>
              <a:t>Entregable: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