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Hasta ahora todos los modelos de la clinica han sido estaticos: el diagrama de clases dice que existe una clase Cita con sus atributos, y la especificacion de caso de uso dice que la recepcionista agenda.</a:t>
            </a:r>
          </a:p>
          <a:p/>
          <a:p>
            <a:r>
              <a:t>Para eso existe el diagrama de secuencia, que es un modelo del tiempo: arriba se dibujan los participantes, de cada uno baja una linea de vida y el tiempo transcurre hacia abajo, de modo que el orden vertical de las flechas es el orden real de los eventos.</a:t>
            </a:r>
          </a:p>
          <a:p/>
          <a:p>
            <a:r>
              <a:t>Cada flecha es un mensaje, es decir, la peticion de un objeto a otro para que haga algo; la flecha llena representa una llamada sincrona, donde quien pide se queda esperando la respuesta, y la flecha punteada representa el retorno con el resultado.</a:t>
            </a:r>
          </a:p>
          <a:p/>
          <a:p>
            <a:r>
              <a:t>En la clinica, agendar una cita se ve como una cadena corta y clara: la recepcionista le habla a la pantalla de agenda, la pantalla le habla al control de agenda</a:t>
            </a:r>
          </a:p>
          <a:p/>
          <a:p>
            <a:r>
              <a:t>El control verifica la mascota, le pregunta al repositorio de citas por la disponibilidad y devuelve una confirmacion con el identificador de la cita.</a:t>
            </a:r>
          </a:p>
          <a:p/>
          <a:p>
            <a:r>
              <a:t>NOTAS:</a:t>
            </a:r>
          </a:p>
          <a:p/>
          <a:p>
            <a:r>
              <a:t>Lo que ninguno de los dos muestra es la conversacion interna del sistema en el momento exacto en que eso ocurre.</a:t>
            </a:r>
          </a:p>
          <a:p/>
          <a:p>
            <a:r>
              <a:t>Sobre la linea de vida se dibujan barras de activacion que muestran durante cuanto tiempo ese objeto esta trabajando.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El diagrama de actividad responde a otra pregunta completamente distinta: no quien le habla a quien, sino en que orden ocurre el trabajo y quien es responsable de cada paso, incluyendo pasos que suceden fuera del computador.</a:t>
            </a:r>
          </a:p>
          <a:p/>
          <a:p>
            <a:r>
              <a:t>Sus elementos son nodo inicial, acciones, nodos de decision con condiciones escritas entre corchetes, nodos de union, barras de bifurcacion y sincronizacion para el trabajo que ocurre en paralelo, y nodo final.</a:t>
            </a:r>
          </a:p>
          <a:p/>
          <a:p>
            <a:r>
              <a:t>La herramienta que lo vuelve realmente util en un proyecto como el de la clinica son las particiones o calles: una franja por cada rol, de modo que al mirar el dibujo se sabe de un vistazo que hace el Propietario</a:t>
            </a:r>
          </a:p>
          <a:p/>
          <a:p>
            <a:r>
              <a:t>Que hace la Recepcionista, que hace el Veterinario y que hace el sistema.</a:t>
            </a:r>
          </a:p>
          <a:p/>
          <a:p>
            <a:r>
              <a:t>Ese dibujo revela algo que ni los casos de uso ni las clases muestran: donde estan los cuellos de botella del proceso real de la clinica.</a:t>
            </a:r>
          </a:p>
          <a:p/>
          <a:p>
            <a:r>
              <a:t>NOTAS:</a:t>
            </a:r>
          </a:p>
          <a:p/>
          <a:p>
            <a:r>
              <a:t>Eso permite modelar el proceso completo de atencion en la clinica: el propietario llega y pregunta, la recepcionista verifica la cita, si no la tiene se decide entre esperar o reagendar, el veterinario atiende, registra la consulta y si formula medicamentos el flujo se abre en dos ramas paralelas, una de facturacion y otra de programacion del control.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La pregunta practica es cuando usar cada uno, y la respuesta se decide por el tipo de duda que se quiere resolver.</a:t>
            </a:r>
          </a:p>
          <a:p/>
          <a:p>
            <a:r>
              <a:t>Si la duda es de responsabilidades, es decir, cual objeto deberia encargarse de esto y con quien tiene que hablar para lograrlo, el diagrama correcto es el de secuencia</a:t>
            </a:r>
          </a:p>
          <a:p/>
          <a:p>
            <a:r>
              <a:t>Porque obliga a que cada mensaje tenga un destinatario concreto y por lo tanto una clase que lo sepa atender.</a:t>
            </a:r>
          </a:p>
          <a:p/>
          <a:p>
            <a:r>
              <a:t>Si la duda es de proceso, es decir, en que orden hace la gente las cosas, donde se decide algo y que pasa en paralelo, el diagrama correcto es el de actividad</a:t>
            </a:r>
          </a:p>
          <a:p/>
          <a:p>
            <a:r>
              <a:t>Porque admite pasos manuales, decisiones del negocio y actores humanos que no son objetos de software.</a:t>
            </a:r>
          </a:p>
          <a:p/>
          <a:p>
            <a:r>
              <a:t>Una regla practica para el aula: el diagrama de secuencia se dibuja para un caso de uso y suele cubrir su flujo principal; el diagrama de actividad se dibuja para un proceso de negocio que puede atravesar varios casos de uso.</a:t>
            </a:r>
          </a:p>
          <a:p/>
          <a:p>
            <a:r>
              <a:t>En la clinica, CU-04 Agendar cita se modela con secuencia; la atencion completa desde que el propietario entra por la puerta hasta que sale con la factura se modela con actividad, porque incluye conversaciones y esperas que ningun objeto del sistema ejecuta.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Estos diagramas no se inventan desde cero: se derivan de lo que ya esta escrito, y ahi esta la parte que separa a un estudiante que entendio de uno que solo dibujo.</a:t>
            </a:r>
          </a:p>
          <a:p/>
          <a:p>
            <a:r>
              <a:t>Si el paso 2 de CU-04 dice que el sistema verifica la disponibilidad del veterinario para esa fecha, entonces debe existir un mensaje llamado consultarDisponibilidad dirigido a algun participante</a:t>
            </a:r>
          </a:p>
          <a:p/>
          <a:p>
            <a:r>
              <a:t>Y ese participante debe ser una clase que exista en el diagrama de clases.</a:t>
            </a:r>
          </a:p>
          <a:p/>
          <a:p>
            <a:r>
              <a:t>Aqui aparece el hallazgo tipico y valiosisimo: al dibujar la secuencia el equipo descubre que envio un mensaje a una clase que no tiene esa operacion, o peor, a una clase que no existe.</a:t>
            </a:r>
          </a:p>
          <a:p/>
          <a:p>
            <a:r>
              <a:t>NOTAS:</a:t>
            </a:r>
          </a:p>
          <a:p/>
          <a:p>
            <a:r>
              <a:t>Cada paso del flujo principal del caso de uso se convierte en uno o varios mensajes del diagrama de secuencia, en el mismo orden y con los mismos nombres del glosario canonico que se fijo en la auditoria de la clase once.</a:t>
            </a:r>
          </a:p>
          <a:p/>
          <a:p>
            <a:r>
              <a:t>Eso no es un fracaso del diagrama de secuencia, es su mayor utilidad, porque es la unica manera barata de detectar que el modelo estatico estaba incompleto.</a:t>
            </a:r>
          </a:p>
          <a:p/>
          <a:p>
            <a:r>
              <a:t>Por eso el artefacto de hoy incluye la tabla de mapeo mensaje a operacion: obliga a cerrar el circulo entre lo dinamico y lo estatico.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Los flujos alternos tambien se modelan, y para eso existen los fragmentos combinados, que son esos recuadros con una etiqueta en la esquina.</a:t>
            </a:r>
          </a:p>
          <a:p/>
          <a:p>
            <a:r>
              <a:t>El fragmento alt representa caminos excluyentes con sus condiciones de guarda escritas entre corchetes</a:t>
            </a:r>
          </a:p>
          <a:p/>
          <a:p>
            <a:r>
              <a:t>Y es el que usamos en la clinica para el horario ocupado: si hay disponibilidad se guarda la cita y se confirma, si no la hay el sistema ofrece alternativas del dia siguiente.</a:t>
            </a:r>
          </a:p>
          <a:p/>
          <a:p>
            <a:r>
              <a:t>El fragmento opt es un camino opcional que puede ocurrir o no, como enviar el recordatorio si el propietario autorizo mensajeria.</a:t>
            </a:r>
          </a:p>
          <a:p/>
          <a:p>
            <a:r>
              <a:t>El fragmento loop repite un bloque, por ejemplo mientras el veterinario agrega varias vacunas al expediente.</a:t>
            </a:r>
          </a:p>
          <a:p/>
          <a:p>
            <a:r>
              <a:t>La disciplina que hay que enseñar aqui es de alcance: un diagrama de secuencia no debe intentar mostrar los quince alternos posibles, porque se vuelve ilegible y nadie lo lee.</a:t>
            </a:r>
          </a:p>
          <a:p/>
          <a:p>
            <a:r>
              <a:t>La practica sana es dibujar el camino feliz completo mas uno o dos fragmentos que representen las decisiones criticas del negocio, y dejar el resto documentado en el texto de la especificacion, que para eso existe.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TEXTO COMPLETO DE LA LÁMINA (se proyecta resumido):</a:t>
            </a:r>
          </a:p>
          <a:p/>
          <a:p>
            <a:r>
              <a:t>Herramienta: draw.io · Mermaid Live Editor</a:t>
            </a:r>
          </a:p>
          <a:p/>
          <a:p>
            <a:r>
              <a:t>Demo: Se toma el flujo principal ya escrito de CU-04 Agendar cita y lo convierte linea por linea en mensajes de un diagrama de secuencia en Mermaid, mostrando en vivo que cada mensaje necesita una clase dueña que lo pueda responder.</a:t>
            </a:r>
          </a:p>
          <a:p/>
          <a:p>
            <a:r>
              <a:t>Mismo dominio: la clinica veterinaria — no otro ejemplo. Aqui se diseña, no se programa.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notesSlide" Target="../notesSlides/notes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notesSlide" Target="../notesSlides/notesSlide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notesSlide" Target="../notesSlides/notesSlide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notesSlide" Target="../notesSlides/notesSlide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notesSlide" Target="../notesSlides/notesSlide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Diagramas UML avanzados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Secuencia: quien le habla a quien. Actividad: en que orden ocurre el trabajo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97149" y="1573813"/>
            <a:ext cx="6010497" cy="4057845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notebook-planning-desk-coffe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0301" y="1646965"/>
            <a:ext cx="5864193" cy="391154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Foto: Cup of  Couple · Pexels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Tema: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Diagramas UML avanzados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Secuencia: quien le habla a quien. Actividad: en que orden ocurre el trabajo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 del tema: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draw.io · Mermaid Live Editor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Ejemplo de toda la clase: el sistema de una clinica veterinaria.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la clinica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Practica (opcional, guia en la carpeta)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Sintesis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diagrama de secuencia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ecuencia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secuencia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secuencia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Clases y casos de uso son estáticos; la secuencia es un modelo del tiempo.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Participantes arriba, una línea de vida por cada uno, y el tiempo corre hacia abajo.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Flecha llena: mensaje síncrono. Punteada: el retorno. Barra: el objeto está trabajando.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Agendar: recepcionista → pantalla → control → repositorio, y vuelve la confirmación.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diagrama de secuencia en Mermaid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52625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65760"/>
          </a:xfrm>
          <a:prstGeom prst="rect">
            <a:avLst/>
          </a:prstGeom>
          <a:solidFill>
            <a:srgbClr val="2D2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58368" y="1380743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380743"/>
            <a:ext cx="128016" cy="12801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" y="1380743"/>
            <a:ext cx="128016" cy="12801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1298448"/>
            <a:ext cx="10180015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1" i="0">
                <a:solidFill>
                  <a:srgbClr val="BBBBBB"/>
                </a:solidFill>
                <a:latin typeface="Calibri"/>
              </a:rPr>
              <a:t>Mermaid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19072"/>
            <a:ext cx="502920" cy="44582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1</a:t>
            </a:r>
          </a:p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2</a:t>
            </a:r>
          </a:p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3</a:t>
            </a:r>
          </a:p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4</a:t>
            </a:r>
          </a:p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5</a:t>
            </a:r>
          </a:p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6</a:t>
            </a:r>
          </a:p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7</a:t>
            </a:r>
          </a:p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8</a:t>
            </a:r>
          </a:p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9</a:t>
            </a:r>
          </a:p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10</a:t>
            </a:r>
          </a:p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11</a:t>
            </a:r>
          </a:p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12</a:t>
            </a:r>
          </a:p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13</a:t>
            </a:r>
          </a:p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14</a:t>
            </a:r>
          </a:p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15</a:t>
            </a:r>
          </a:p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16</a:t>
            </a:r>
          </a:p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17</a:t>
            </a:r>
          </a:p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1719072"/>
            <a:ext cx="10271455" cy="44582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sequenceDiagram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autonumber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actor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R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as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Recepcionista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participant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UI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as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Pantalla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Agendar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participant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S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as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ServicioCita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participant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M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as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RepositorioMascota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participant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C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as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RepositorioCita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/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R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-&gt;&gt;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UI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solicita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agendar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UI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-&gt;&gt;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S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300" i="0" b="0">
                <a:solidFill>
                  <a:srgbClr val="DCDCAA"/>
                </a:solidFill>
                <a:latin typeface="Consolas"/>
              </a:rPr>
              <a:t>agendar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(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idMascota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fechaHora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S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-&gt;&gt;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M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300" i="0" b="0">
                <a:solidFill>
                  <a:srgbClr val="DCDCAA"/>
                </a:solidFill>
                <a:latin typeface="Consolas"/>
              </a:rPr>
              <a:t>estaActiva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(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idMascota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M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--&gt;&gt;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S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true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S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-&gt;&gt;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C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300" i="0" b="0">
                <a:solidFill>
                  <a:srgbClr val="DCDCAA"/>
                </a:solidFill>
                <a:latin typeface="Consolas"/>
              </a:rPr>
              <a:t>existeEnFranja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(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idVet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fechaHora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C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--&gt;&gt;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S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false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S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-&gt;&gt;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C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300" i="0" b="0">
                <a:solidFill>
                  <a:srgbClr val="DCDCAA"/>
                </a:solidFill>
                <a:latin typeface="Consolas"/>
              </a:rPr>
              <a:t>guardar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(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cita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C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--&gt;&gt;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S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idCita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S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--&gt;&gt;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UI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300" i="0" b="0">
                <a:solidFill>
                  <a:srgbClr val="DCDCAA"/>
                </a:solidFill>
                <a:latin typeface="Consolas"/>
              </a:rPr>
              <a:t>PROGRAMADA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(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idCita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UI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--&gt;&gt;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R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confirmacion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Secuencia de CU-04 Agendar cita en sintaxis Mermaid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03152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65760"/>
          </a:xfrm>
          <a:prstGeom prst="rect">
            <a:avLst/>
          </a:prstGeom>
          <a:solidFill>
            <a:srgbClr val="2D2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58368" y="1380743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380743"/>
            <a:ext cx="128016" cy="12801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" y="1380743"/>
            <a:ext cx="128016" cy="12801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1298448"/>
            <a:ext cx="10180015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1" i="0">
                <a:solidFill>
                  <a:srgbClr val="BBBBBB"/>
                </a:solidFill>
                <a:latin typeface="Calibri"/>
              </a:rPr>
              <a:t>Mermaid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19072"/>
            <a:ext cx="502920" cy="4108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1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2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3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4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5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6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7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8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9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10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11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12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13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14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15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16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17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18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19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1719072"/>
            <a:ext cx="10271455" cy="4108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sequenceDiagram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   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actor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Recepcionista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   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participant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UI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as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: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PantallaAgenda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   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participant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CTRL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as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: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ControlAgenda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   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participant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REPM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as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: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RepositorioMascotas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   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participant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REPC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as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: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RepositorioCitas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   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Recepcionista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-&gt;&gt;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UI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100" i="0" b="0">
                <a:solidFill>
                  <a:srgbClr val="DCDCAA"/>
                </a:solidFill>
                <a:latin typeface="Consolas"/>
              </a:rPr>
              <a:t>solicitarAgendamiento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(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codigoMascota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fecha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   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UI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-&gt;&gt;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CTRL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100" i="0" b="0">
                <a:solidFill>
                  <a:srgbClr val="DCDCAA"/>
                </a:solidFill>
                <a:latin typeface="Consolas"/>
              </a:rPr>
              <a:t>agendarCita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(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codigoMascota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fecha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idVeterinario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   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CTRL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-&gt;&gt;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REPM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100" i="0" b="0">
                <a:solidFill>
                  <a:srgbClr val="DCDCAA"/>
                </a:solidFill>
                <a:latin typeface="Consolas"/>
              </a:rPr>
              <a:t>existePorCodigo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(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codigoMascota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   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REPM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--&gt;&gt;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CTRL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mascota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   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CTRL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-&gt;&gt;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REPC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100" i="0" b="0">
                <a:solidFill>
                  <a:srgbClr val="DCDCAA"/>
                </a:solidFill>
                <a:latin typeface="Consolas"/>
              </a:rPr>
              <a:t>consultarDisponibilidad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(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idVeterinario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fecha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   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REPC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--&gt;&gt;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CTRL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horariosLibres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   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alt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hay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horario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libre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       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CTRL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-&gt;&gt;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REPC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100" i="0" b="0">
                <a:solidFill>
                  <a:srgbClr val="DCDCAA"/>
                </a:solidFill>
                <a:latin typeface="Consolas"/>
              </a:rPr>
              <a:t>guardarCita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(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cita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       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REPC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--&gt;&gt;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CTRL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idCita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       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CTRL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--&gt;&gt;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UI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100" i="0" b="0">
                <a:solidFill>
                  <a:srgbClr val="DCDCAA"/>
                </a:solidFill>
                <a:latin typeface="Consolas"/>
              </a:rPr>
              <a:t>confirmacion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(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idCita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   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else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no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hay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horario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libre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       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CTRL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--&gt;&gt;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UI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100" i="0" b="0">
                <a:solidFill>
                  <a:srgbClr val="DCDCAA"/>
                </a:solidFill>
                <a:latin typeface="Consolas"/>
              </a:rPr>
              <a:t>alternativas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(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dia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siguiente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   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end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03504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666666"/>
                </a:solidFill>
                <a:latin typeface="Calibri"/>
              </a:rPr>
              <a:t>Cada flecha tiene que corresponder a una operacion existente en el diagrama de clases: si no existe, o falta la operacion o sobra la flecha.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diagrama de actividad y sus calles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ctividad-calles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actividad-calles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actividad-calles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Responde en qué orden ocurre el trabajo y quién hace cada paso, también fuera del computador.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Inicio, acciones, decisiones con condición entre corchetes, bifurcación y unión, final.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calles: una franja por rol, para ver de un vistazo quién hace qué.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Revela lo que ni casos de uso ni clases muestran: los cuellos de botella.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diagrama de actividad con decisiones en Mermaid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917043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65760"/>
          </a:xfrm>
          <a:prstGeom prst="rect">
            <a:avLst/>
          </a:prstGeom>
          <a:solidFill>
            <a:srgbClr val="2D2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58368" y="1380743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380743"/>
            <a:ext cx="128016" cy="12801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" y="1380743"/>
            <a:ext cx="128016" cy="12801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1298448"/>
            <a:ext cx="10180015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1" i="0">
                <a:solidFill>
                  <a:srgbClr val="BBBBBB"/>
                </a:solidFill>
                <a:latin typeface="Calibri"/>
              </a:rPr>
              <a:t>Mermaid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19072"/>
            <a:ext cx="502920" cy="43226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1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2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3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4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5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6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7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8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9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10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11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1719072"/>
            <a:ext cx="10271455" cy="43226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flowchart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TB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2000" i="0" b="0">
                <a:solidFill>
                  <a:srgbClr val="DCDCAA"/>
                </a:solidFill>
                <a:latin typeface="Consolas"/>
              </a:rPr>
              <a:t>ini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([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Inicio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]) --&gt;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llega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[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La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mascota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llega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consulta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]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llega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--&gt;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tiene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{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Tiene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cita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&lt;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br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/&gt;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programada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?}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tiene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--&gt;|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Si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|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atiende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[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Registrar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consulta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]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tiene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--&gt;|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No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|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urg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{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Es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urgencia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?}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urg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--&gt;|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Si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|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crear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[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Crear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cita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de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urgencia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] --&gt;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atiende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urg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--&gt;|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No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|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agendar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[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Agendar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para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otro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dia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] --&gt; </a:t>
            </a:r>
            <a:r>
              <a:rPr sz="2000" i="0" b="0">
                <a:solidFill>
                  <a:srgbClr val="DCDCAA"/>
                </a:solidFill>
                <a:latin typeface="Consolas"/>
              </a:rPr>
              <a:t>fin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([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Fin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])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atiende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--&gt;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receta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[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Emitir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receta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e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insumos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]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receta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--&gt;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fin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/>
            </a:r>
          </a:p>
          <a:p>
            <a:pPr>
              <a:spcAft>
                <a:spcPts val="428"/>
              </a:spcAft>
            </a:pPr>
            <a:r>
              <a:rPr sz="2000" i="1" b="0">
                <a:solidFill>
                  <a:srgbClr val="6A9955"/>
                </a:solidFill>
                <a:latin typeface="Consolas"/>
              </a:rPr>
              <a:t>%% Cada rombo tiene que tener TODAS sus salidas rotuladas. Un rombo con</a:t>
            </a:r>
          </a:p>
          <a:p>
            <a:pPr>
              <a:spcAft>
                <a:spcPts val="428"/>
              </a:spcAft>
            </a:pPr>
            <a:r>
              <a:rPr sz="2000" i="1" b="0">
                <a:solidFill>
                  <a:srgbClr val="6A9955"/>
                </a:solidFill>
                <a:latin typeface="Consolas"/>
              </a:rPr>
              <a:t>%% una sola flecha de salida no es una decision: es un paso.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¿Secuencia o actividad?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ecuencia-o-actividad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secuencia-o-actividad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secuencia-o-actividad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Duda de responsabilidades (¿quién se encarga y con quién habla?): secuencia.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Duda de proceso (¿en qué orden, dónde se decide, qué va en paralelo?): actividad.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secuencia se dibuja para un caso de uso; la actividad, para un proceso que cruza varios.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Agendar cita: secuencia. La atención completa, de la puerta a la factura: actividad.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Del paso del caso de uso al mensaje y la operación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aso-mensaje-operacion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paso-mensaje-operacion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paso-mensaje-operacion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paso del flujo principal se vuelve uno o más mensajes, en el mismo orden y con los nombres del glosario.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«Verifica la disponibilidad» → mensaje consultarDisponibilidad a un participante.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Ese participante es una clase del diagrama de clases, con esa operación.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la clase o la operación no existen, el modelo estático estaba incompleto: el hallazgo más valioso.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tabla de mapeo mensaje a operacion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182625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65760"/>
          </a:xfrm>
          <a:prstGeom prst="rect">
            <a:avLst/>
          </a:prstGeom>
          <a:solidFill>
            <a:srgbClr val="2D2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58368" y="1380743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380743"/>
            <a:ext cx="128016" cy="12801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" y="1380743"/>
            <a:ext cx="128016" cy="12801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1298448"/>
            <a:ext cx="10180015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1" i="0">
                <a:solidFill>
                  <a:srgbClr val="BBBBBB"/>
                </a:solidFill>
                <a:latin typeface="Calibri"/>
              </a:rPr>
              <a:t>Tabla Markdown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1719072"/>
            <a:ext cx="10271455" cy="35882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|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Mensaje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          |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Clase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receptora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  |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Operacion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          |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|------------------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--|--------------------|----------------------|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| </a:t>
            </a:r>
            <a:r>
              <a:rPr sz="2000" i="0" b="0">
                <a:solidFill>
                  <a:srgbClr val="DCDCAA"/>
                </a:solidFill>
                <a:latin typeface="Consolas"/>
              </a:rPr>
              <a:t>agendar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(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m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f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)      |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ServicioCita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     | +</a:t>
            </a:r>
            <a:r>
              <a:rPr sz="2000" i="0" b="0">
                <a:solidFill>
                  <a:srgbClr val="DCDCAA"/>
                </a:solidFill>
                <a:latin typeface="Consolas"/>
              </a:rPr>
              <a:t>agendar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(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int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Date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)  |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| </a:t>
            </a:r>
            <a:r>
              <a:rPr sz="2000" i="0" b="0">
                <a:solidFill>
                  <a:srgbClr val="DCDCAA"/>
                </a:solidFill>
                <a:latin typeface="Consolas"/>
              </a:rPr>
              <a:t>estaActiva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(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m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)      |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RepositorioMascota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| +</a:t>
            </a:r>
            <a:r>
              <a:rPr sz="2000" i="0" b="0">
                <a:solidFill>
                  <a:srgbClr val="DCDCAA"/>
                </a:solidFill>
                <a:latin typeface="Consolas"/>
              </a:rPr>
              <a:t>estaActiva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(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int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)     |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| </a:t>
            </a:r>
            <a:r>
              <a:rPr sz="2000" i="0" b="0">
                <a:solidFill>
                  <a:srgbClr val="DCDCAA"/>
                </a:solidFill>
                <a:latin typeface="Consolas"/>
              </a:rPr>
              <a:t>existeEnFranja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(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v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,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f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)|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RepositorioCita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  | +</a:t>
            </a:r>
            <a:r>
              <a:rPr sz="2000" i="0" b="0">
                <a:solidFill>
                  <a:srgbClr val="DCDCAA"/>
                </a:solidFill>
                <a:latin typeface="Consolas"/>
              </a:rPr>
              <a:t>existeEnFranja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(...) |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| </a:t>
            </a:r>
            <a:r>
              <a:rPr sz="2000" i="0" b="0">
                <a:solidFill>
                  <a:srgbClr val="DCDCAA"/>
                </a:solidFill>
                <a:latin typeface="Consolas"/>
              </a:rPr>
              <a:t>guardar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(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cita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)      |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RepositorioCita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   | +</a:t>
            </a:r>
            <a:r>
              <a:rPr sz="2000" i="0" b="0">
                <a:solidFill>
                  <a:srgbClr val="DCDCAA"/>
                </a:solidFill>
                <a:latin typeface="Consolas"/>
              </a:rPr>
              <a:t>guardar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(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Cita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)       |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/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-- Cada mensaje TIENE que existir como operacion en el diagrama de clases: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-- si no esta, o falta la operacion o sobra el mensaje.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Fragmentos combinados: alt, opt y loop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ragmentos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fragmentos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fragmentos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alt: caminos excluyentes con su condición entre corchetes (hay horario / no hay).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opt: un camino que puede ocurrir o no (recordatorio si el propietario lo autorizó).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loop: un bloque que se repite (agregar varias vacunas).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camino feliz completo y una o dos decisiones críticas; el resto, en la especificación.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97149" y="1573813"/>
            <a:ext cx="6010497" cy="4057845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aptop-code-live-dem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0301" y="1646965"/>
            <a:ext cx="5864193" cy="391154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Foto: olia danilevich · Pexels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draw.io · Mermaid Live Editor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Demo: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Mismo dominio: la clinica veterinaria — no otro ejemplo. Aqui se diseña, no se programa.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12 · Diagramas UML avanzados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Secuencia: quien le habla a quien. Actividad: en que orden ocurre el trabajo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Repasen las laminas de teoria: cada concepto esta completo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con el siguiente tema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diseño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