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144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1440"/>
            <a:ext cx="12191695"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ogo_uniajc_blanco.png"/>
          <p:cNvPicPr>
            <a:picLocks noChangeAspect="1"/>
          </p:cNvPicPr>
          <p:nvPr/>
        </p:nvPicPr>
        <p:blipFill>
          <a:blip r:embed="rId2"/>
          <a:stretch>
            <a:fillRect/>
          </a:stretch>
        </p:blipFill>
        <p:spPr>
          <a:xfrm>
            <a:off x="502920" y="384048"/>
            <a:ext cx="2011680" cy="876815"/>
          </a:xfrm>
          <a:prstGeom prst="rect">
            <a:avLst/>
          </a:prstGeom>
        </p:spPr>
      </p:pic>
      <p:sp>
        <p:nvSpPr>
          <p:cNvPr id="6" name="Rounded Rectangle 5"/>
          <p:cNvSpPr/>
          <p:nvPr/>
        </p:nvSpPr>
        <p:spPr>
          <a:xfrm>
            <a:off x="10042855" y="384048"/>
            <a:ext cx="1691640" cy="38404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42855" y="384048"/>
            <a:ext cx="1691640" cy="384048"/>
          </a:xfrm>
          <a:prstGeom prst="rect">
            <a:avLst/>
          </a:prstGeom>
          <a:noFill/>
        </p:spPr>
        <p:txBody>
          <a:bodyPr wrap="square" anchor="ctr"/>
          <a:lstStyle/>
          <a:p>
            <a:pPr algn="ctr"/>
            <a:r>
              <a:rPr sz="1400" b="1" i="0">
                <a:solidFill>
                  <a:srgbClr val="FFFFFF"/>
                </a:solidFill>
                <a:latin typeface="Calibri"/>
              </a:rPr>
              <a:t>Clase 12</a:t>
            </a:r>
          </a:p>
        </p:txBody>
      </p:sp>
      <p:sp>
        <p:nvSpPr>
          <p:cNvPr id="8" name="TextBox 7"/>
          <p:cNvSpPr txBox="1"/>
          <p:nvPr/>
        </p:nvSpPr>
        <p:spPr>
          <a:xfrm>
            <a:off x="731520" y="2331720"/>
            <a:ext cx="10728655" cy="1828800"/>
          </a:xfrm>
          <a:prstGeom prst="rect">
            <a:avLst/>
          </a:prstGeom>
          <a:noFill/>
        </p:spPr>
        <p:txBody>
          <a:bodyPr wrap="square" anchor="ctr"/>
          <a:lstStyle/>
          <a:p>
            <a:pPr algn="ctr"/>
            <a:r>
              <a:rPr sz="4000" b="1" i="0">
                <a:solidFill>
                  <a:srgbClr val="FFFFFF"/>
                </a:solidFill>
                <a:latin typeface="Calibri"/>
              </a:rPr>
              <a:t>Diagramas UML avanzados</a:t>
            </a:r>
          </a:p>
        </p:txBody>
      </p:sp>
      <p:sp>
        <p:nvSpPr>
          <p:cNvPr id="9" name="Rectangle 8"/>
          <p:cNvSpPr/>
          <p:nvPr/>
        </p:nvSpPr>
        <p:spPr>
          <a:xfrm>
            <a:off x="4632807" y="4206240"/>
            <a:ext cx="2926080" cy="5029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4361688"/>
            <a:ext cx="10728655" cy="640080"/>
          </a:xfrm>
          <a:prstGeom prst="rect">
            <a:avLst/>
          </a:prstGeom>
          <a:noFill/>
        </p:spPr>
        <p:txBody>
          <a:bodyPr wrap="square">
            <a:spAutoFit/>
          </a:bodyPr>
          <a:lstStyle/>
          <a:p>
            <a:pPr algn="ctr"/>
            <a:r>
              <a:rPr sz="1800" b="0" i="0">
                <a:solidFill>
                  <a:srgbClr val="B8D8EE"/>
                </a:solidFill>
                <a:latin typeface="Calibri"/>
              </a:rPr>
              <a:t>Secuencia: quien le habla a quien. Actividad: en que orden ocurre el trabajo</a:t>
            </a:r>
          </a:p>
        </p:txBody>
      </p:sp>
      <p:sp>
        <p:nvSpPr>
          <p:cNvPr id="11" name="TextBox 10"/>
          <p:cNvSpPr txBox="1"/>
          <p:nvPr/>
        </p:nvSpPr>
        <p:spPr>
          <a:xfrm>
            <a:off x="11094415" y="6419088"/>
            <a:ext cx="548640" cy="274320"/>
          </a:xfrm>
          <a:prstGeom prst="rect">
            <a:avLst/>
          </a:prstGeom>
          <a:noFill/>
        </p:spPr>
        <p:txBody>
          <a:bodyPr wrap="square">
            <a:spAutoFit/>
          </a:bodyPr>
          <a:lstStyle/>
          <a:p>
            <a:pPr algn="r"/>
            <a:r>
              <a:rPr sz="1100" b="1" i="0">
                <a:solidFill>
                  <a:srgbClr val="7EB8D4"/>
                </a:solidFill>
                <a:latin typeface="Calibri"/>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Encuadre de hoy · Objetivo del PI</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Hoy avanzamos VetCare en:</a:t>
            </a:r>
            <a:r>
              <a:rPr sz="2000" b="0" i="0">
                <a:solidFill>
                  <a:srgbClr val="333333"/>
                </a:solidFill>
                <a:latin typeface="Calibri"/>
              </a:rPr>
              <a:t> Queda modelada la dinamica de VetCare: el diagrama de secuencia del caso de uso Agendar cita y el diagrama de actividad del proceso de atencion en el consultorio.</a:t>
            </a:r>
          </a:p>
          <a:p>
            <a:pPr>
              <a:spcAft>
                <a:spcPts val="800"/>
              </a:spcAft>
            </a:pPr>
            <a:r>
              <a:rPr sz="2000" b="0" i="0">
                <a:solidFill>
                  <a:srgbClr val="333333"/>
                </a:solidFill>
                <a:latin typeface="Calibri"/>
              </a:rPr>
              <a:t>–   Herramienta: </a:t>
            </a:r>
            <a:r>
              <a:rPr sz="2000" b="1" i="0">
                <a:solidFill>
                  <a:srgbClr val="333333"/>
                </a:solidFill>
                <a:latin typeface="Calibri"/>
              </a:rPr>
              <a:t>draw.io · Mermaid Live Editor</a:t>
            </a:r>
            <a:r>
              <a:rPr sz="2000" b="0" i="0">
                <a:solidFill>
                  <a:srgbClr val="333333"/>
                </a:solidFill>
                <a:latin typeface="Calibri"/>
              </a:rPr>
              <a:t> · Bloque </a:t>
            </a:r>
            <a:r>
              <a:rPr sz="2000" b="1" i="0">
                <a:solidFill>
                  <a:srgbClr val="333333"/>
                </a:solidFill>
                <a:latin typeface="Calibri"/>
              </a:rPr>
              <a:t>120 min</a:t>
            </a:r>
          </a:p>
          <a:p>
            <a:pPr>
              <a:spcAft>
                <a:spcPts val="800"/>
              </a:spcAft>
            </a:pPr>
            <a:r>
              <a:rPr sz="2000" b="0" i="0">
                <a:solidFill>
                  <a:srgbClr val="333333"/>
                </a:solidFill>
                <a:latin typeface="Calibri"/>
              </a:rPr>
              <a:t>–   </a:t>
            </a:r>
            <a:r>
              <a:rPr sz="2000" b="1" i="0">
                <a:solidFill>
                  <a:srgbClr val="333333"/>
                </a:solidFill>
                <a:latin typeface="Calibri"/>
              </a:rPr>
              <a:t>Entregable de hoy:</a:t>
            </a:r>
            <a:r>
              <a:rPr sz="2000" b="0" i="0">
                <a:solidFill>
                  <a:srgbClr val="333333"/>
                </a:solidFill>
                <a:latin typeface="Calibri"/>
              </a:rPr>
              <a:t> Un PDF con el diagrama de secuencia de Agendar cita incluyendo el fragmento alt para horario ocupado, el diagrama de actividad del proceso de atencion con calles por rol, y la tabla que mapea cada mensaje del diagrama de secuencia a una operacion del diagrama de clases, subido a la plataforma del curso.</a:t>
            </a:r>
          </a:p>
          <a:p>
            <a:pPr>
              <a:spcAft>
                <a:spcPts val="800"/>
              </a:spcAft>
            </a:pPr>
            <a:r>
              <a:rPr sz="2000" b="0" i="0">
                <a:solidFill>
                  <a:srgbClr val="333333"/>
                </a:solidFill>
                <a:latin typeface="Calibri"/>
              </a:rPr>
              <a:t>–   La teoria esta al servicio del producto: al salir, VetCare avanzo.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Mapa del bloque de hoy (120 min)</a:t>
            </a:r>
          </a:p>
        </p:txBody>
      </p:sp>
      <p:sp>
        <p:nvSpPr>
          <p:cNvPr id="5" name="Rectangle 4"/>
          <p:cNvSpPr/>
          <p:nvPr/>
        </p:nvSpPr>
        <p:spPr>
          <a:xfrm>
            <a:off x="457200" y="2176272"/>
            <a:ext cx="11277295" cy="7315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1438625"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57200" y="1353312"/>
            <a:ext cx="2255459" cy="502920"/>
          </a:xfrm>
          <a:prstGeom prst="rect">
            <a:avLst/>
          </a:prstGeom>
          <a:noFill/>
        </p:spPr>
        <p:txBody>
          <a:bodyPr wrap="square">
            <a:spAutoFit/>
          </a:bodyPr>
          <a:lstStyle/>
          <a:p>
            <a:pPr algn="ctr"/>
            <a:r>
              <a:rPr sz="1300" b="1" i="0">
                <a:solidFill>
                  <a:srgbClr val="095292"/>
                </a:solidFill>
                <a:latin typeface="Calibri"/>
              </a:rPr>
              <a:t>0-10</a:t>
            </a:r>
          </a:p>
        </p:txBody>
      </p:sp>
      <p:sp>
        <p:nvSpPr>
          <p:cNvPr id="8" name="TextBox 7"/>
          <p:cNvSpPr txBox="1"/>
          <p:nvPr/>
        </p:nvSpPr>
        <p:spPr>
          <a:xfrm>
            <a:off x="502920" y="2587752"/>
            <a:ext cx="2164019" cy="3310128"/>
          </a:xfrm>
          <a:prstGeom prst="rect">
            <a:avLst/>
          </a:prstGeom>
          <a:noFill/>
        </p:spPr>
        <p:txBody>
          <a:bodyPr wrap="square">
            <a:spAutoFit/>
          </a:bodyPr>
          <a:lstStyle/>
          <a:p>
            <a:pPr algn="ctr"/>
            <a:r>
              <a:rPr sz="1300" b="0" i="0">
                <a:solidFill>
                  <a:srgbClr val="333333"/>
                </a:solidFill>
                <a:latin typeface="Calibri"/>
              </a:rPr>
              <a:t>Encuadre y repaso del avance</a:t>
            </a:r>
          </a:p>
        </p:txBody>
      </p:sp>
      <p:sp>
        <p:nvSpPr>
          <p:cNvPr id="9" name="Rounded Rectangle 8"/>
          <p:cNvSpPr/>
          <p:nvPr/>
        </p:nvSpPr>
        <p:spPr>
          <a:xfrm>
            <a:off x="3694084"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712659" y="1353312"/>
            <a:ext cx="2255459" cy="502920"/>
          </a:xfrm>
          <a:prstGeom prst="rect">
            <a:avLst/>
          </a:prstGeom>
          <a:noFill/>
        </p:spPr>
        <p:txBody>
          <a:bodyPr wrap="square">
            <a:spAutoFit/>
          </a:bodyPr>
          <a:lstStyle/>
          <a:p>
            <a:pPr algn="ctr"/>
            <a:r>
              <a:rPr sz="1300" b="1" i="0">
                <a:solidFill>
                  <a:srgbClr val="095292"/>
                </a:solidFill>
                <a:latin typeface="Calibri"/>
              </a:rPr>
              <a:t>10-40</a:t>
            </a:r>
          </a:p>
        </p:txBody>
      </p:sp>
      <p:sp>
        <p:nvSpPr>
          <p:cNvPr id="11" name="TextBox 10"/>
          <p:cNvSpPr txBox="1"/>
          <p:nvPr/>
        </p:nvSpPr>
        <p:spPr>
          <a:xfrm>
            <a:off x="2758379" y="2587752"/>
            <a:ext cx="2164019" cy="3310128"/>
          </a:xfrm>
          <a:prstGeom prst="rect">
            <a:avLst/>
          </a:prstGeom>
          <a:noFill/>
        </p:spPr>
        <p:txBody>
          <a:bodyPr wrap="square">
            <a:spAutoFit/>
          </a:bodyPr>
          <a:lstStyle/>
          <a:p>
            <a:pPr algn="ctr"/>
            <a:r>
              <a:rPr sz="1300" b="0" i="0">
                <a:solidFill>
                  <a:srgbClr val="333333"/>
                </a:solidFill>
                <a:latin typeface="Calibri"/>
              </a:rPr>
              <a:t>Teoria Core del tema de hoy</a:t>
            </a:r>
          </a:p>
        </p:txBody>
      </p:sp>
      <p:sp>
        <p:nvSpPr>
          <p:cNvPr id="12" name="Rounded Rectangle 11"/>
          <p:cNvSpPr/>
          <p:nvPr/>
        </p:nvSpPr>
        <p:spPr>
          <a:xfrm>
            <a:off x="5949543"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968118" y="1353312"/>
            <a:ext cx="2255459" cy="502920"/>
          </a:xfrm>
          <a:prstGeom prst="rect">
            <a:avLst/>
          </a:prstGeom>
          <a:noFill/>
        </p:spPr>
        <p:txBody>
          <a:bodyPr wrap="square">
            <a:spAutoFit/>
          </a:bodyPr>
          <a:lstStyle/>
          <a:p>
            <a:pPr algn="ctr"/>
            <a:r>
              <a:rPr sz="1300" b="1" i="0">
                <a:solidFill>
                  <a:srgbClr val="095292"/>
                </a:solidFill>
                <a:latin typeface="Calibri"/>
              </a:rPr>
              <a:t>40-60</a:t>
            </a:r>
          </a:p>
        </p:txBody>
      </p:sp>
      <p:sp>
        <p:nvSpPr>
          <p:cNvPr id="14" name="TextBox 13"/>
          <p:cNvSpPr txBox="1"/>
          <p:nvPr/>
        </p:nvSpPr>
        <p:spPr>
          <a:xfrm>
            <a:off x="5013838" y="2587752"/>
            <a:ext cx="2164019" cy="3310128"/>
          </a:xfrm>
          <a:prstGeom prst="rect">
            <a:avLst/>
          </a:prstGeom>
          <a:noFill/>
        </p:spPr>
        <p:txBody>
          <a:bodyPr wrap="square">
            <a:spAutoFit/>
          </a:bodyPr>
          <a:lstStyle/>
          <a:p>
            <a:pPr algn="ctr"/>
            <a:r>
              <a:rPr sz="1300" b="0" i="0">
                <a:solidFill>
                  <a:srgbClr val="333333"/>
                </a:solidFill>
                <a:latin typeface="Calibri"/>
              </a:rPr>
              <a:t>Demo en vivo sobre VetCare</a:t>
            </a:r>
          </a:p>
        </p:txBody>
      </p:sp>
      <p:sp>
        <p:nvSpPr>
          <p:cNvPr id="15" name="Rounded Rectangle 14"/>
          <p:cNvSpPr/>
          <p:nvPr/>
        </p:nvSpPr>
        <p:spPr>
          <a:xfrm>
            <a:off x="8205002" y="2066543"/>
            <a:ext cx="292608" cy="292608"/>
          </a:xfrm>
          <a:prstGeom prst="roundRect">
            <a:avLst>
              <a:gd name="adj" fmla="val 12000"/>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223577" y="1353312"/>
            <a:ext cx="2255459" cy="502920"/>
          </a:xfrm>
          <a:prstGeom prst="rect">
            <a:avLst/>
          </a:prstGeom>
          <a:noFill/>
        </p:spPr>
        <p:txBody>
          <a:bodyPr wrap="square">
            <a:spAutoFit/>
          </a:bodyPr>
          <a:lstStyle/>
          <a:p>
            <a:pPr algn="ctr"/>
            <a:r>
              <a:rPr sz="1300" b="1" i="0">
                <a:solidFill>
                  <a:srgbClr val="095292"/>
                </a:solidFill>
                <a:latin typeface="Calibri"/>
              </a:rPr>
              <a:t>60-105</a:t>
            </a:r>
          </a:p>
        </p:txBody>
      </p:sp>
      <p:sp>
        <p:nvSpPr>
          <p:cNvPr id="17" name="TextBox 16"/>
          <p:cNvSpPr txBox="1"/>
          <p:nvPr/>
        </p:nvSpPr>
        <p:spPr>
          <a:xfrm>
            <a:off x="7269297" y="2587752"/>
            <a:ext cx="2164019" cy="3310128"/>
          </a:xfrm>
          <a:prstGeom prst="rect">
            <a:avLst/>
          </a:prstGeom>
          <a:noFill/>
        </p:spPr>
        <p:txBody>
          <a:bodyPr wrap="square">
            <a:spAutoFit/>
          </a:bodyPr>
          <a:lstStyle/>
          <a:p>
            <a:pPr algn="ctr"/>
            <a:r>
              <a:rPr sz="1300" b="0" i="0">
                <a:solidFill>
                  <a:srgbClr val="333333"/>
                </a:solidFill>
                <a:latin typeface="Calibri"/>
              </a:rPr>
              <a:t>Taller guiado = avance del PI</a:t>
            </a:r>
          </a:p>
        </p:txBody>
      </p:sp>
      <p:sp>
        <p:nvSpPr>
          <p:cNvPr id="18" name="Rounded Rectangle 17"/>
          <p:cNvSpPr/>
          <p:nvPr/>
        </p:nvSpPr>
        <p:spPr>
          <a:xfrm>
            <a:off x="10460461" y="2066543"/>
            <a:ext cx="292608" cy="292608"/>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479036" y="1353312"/>
            <a:ext cx="2255459" cy="502920"/>
          </a:xfrm>
          <a:prstGeom prst="rect">
            <a:avLst/>
          </a:prstGeom>
          <a:noFill/>
        </p:spPr>
        <p:txBody>
          <a:bodyPr wrap="square">
            <a:spAutoFit/>
          </a:bodyPr>
          <a:lstStyle/>
          <a:p>
            <a:pPr algn="ctr"/>
            <a:r>
              <a:rPr sz="1300" b="1" i="0">
                <a:solidFill>
                  <a:srgbClr val="095292"/>
                </a:solidFill>
                <a:latin typeface="Calibri"/>
              </a:rPr>
              <a:t>105-120</a:t>
            </a:r>
          </a:p>
        </p:txBody>
      </p:sp>
      <p:sp>
        <p:nvSpPr>
          <p:cNvPr id="20" name="TextBox 19"/>
          <p:cNvSpPr txBox="1"/>
          <p:nvPr/>
        </p:nvSpPr>
        <p:spPr>
          <a:xfrm>
            <a:off x="9524756" y="2587752"/>
            <a:ext cx="2164019" cy="3310128"/>
          </a:xfrm>
          <a:prstGeom prst="rect">
            <a:avLst/>
          </a:prstGeom>
          <a:noFill/>
        </p:spPr>
        <p:txBody>
          <a:bodyPr wrap="square">
            <a:spAutoFit/>
          </a:bodyPr>
          <a:lstStyle/>
          <a:p>
            <a:pPr algn="ctr"/>
            <a:r>
              <a:rPr sz="1300" b="0" i="0">
                <a:solidFill>
                  <a:srgbClr val="333333"/>
                </a:solidFill>
                <a:latin typeface="Calibri"/>
              </a:rPr>
              <a:t>Criterios de exito y cierre</a:t>
            </a:r>
          </a:p>
        </p:txBody>
      </p:sp>
      <p:sp>
        <p:nvSpPr>
          <p:cNvPr id="21" name="TextBox 20"/>
          <p:cNvSpPr txBox="1"/>
          <p:nvPr/>
        </p:nvSpPr>
        <p:spPr>
          <a:xfrm>
            <a:off x="457200" y="5806440"/>
            <a:ext cx="11277295" cy="640080"/>
          </a:xfrm>
          <a:prstGeom prst="rect">
            <a:avLst/>
          </a:prstGeom>
          <a:noFill/>
        </p:spPr>
        <p:txBody>
          <a:bodyPr wrap="square">
            <a:spAutoFit/>
          </a:bodyPr>
          <a:lstStyle/>
          <a:p>
            <a:pPr algn="ctr"/>
            <a:r>
              <a:rPr sz="1200" b="0" i="1">
                <a:solidFill>
                  <a:srgbClr val="666666"/>
                </a:solidFill>
                <a:latin typeface="Calibri"/>
              </a:rPr>
              <a:t>Solo el bloque de </a:t>
            </a:r>
            <a:r>
              <a:rPr sz="1200" b="1" i="1">
                <a:solidFill>
                  <a:srgbClr val="666666"/>
                </a:solidFill>
                <a:latin typeface="Calibri"/>
              </a:rPr>
              <a:t>esta</a:t>
            </a:r>
            <a:r>
              <a:rPr sz="1200" b="0" i="1">
                <a:solidFill>
                  <a:srgbClr val="666666"/>
                </a:solidFill>
                <a:latin typeface="Calibri"/>
              </a:rPr>
              <a:t> clase · 120 min</a:t>
            </a:r>
          </a:p>
        </p:txBody>
      </p:sp>
      <p:sp>
        <p:nvSpPr>
          <p:cNvPr id="22" name="TextBox 21"/>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Hasta ahora todos los modelos de VetCare han sido estaticos: el...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Hasta ahora todos los modelos de VetCare han sido estaticos: el diagrama de clases dice que existe una clase Cita con sus atributos, y la especificacion de caso de uso dice que la recepcionista agenda.</a:t>
            </a:r>
          </a:p>
          <a:p>
            <a:pPr>
              <a:spcAft>
                <a:spcPts val="800"/>
              </a:spcAft>
            </a:pPr>
            <a:r>
              <a:rPr sz="2000" b="0" i="0">
                <a:solidFill>
                  <a:srgbClr val="333333"/>
                </a:solidFill>
                <a:latin typeface="Calibri"/>
              </a:rPr>
              <a:t>–   Para eso existe el diagrama de secuencia, que es un modelo del tiempo: arriba se dibujan los participantes, de cada uno baja una linea de vida y el tiempo transcurre hacia abajo, de modo que el orden vertical de las flechas es el orden real de los eventos.</a:t>
            </a:r>
          </a:p>
          <a:p>
            <a:pPr>
              <a:spcAft>
                <a:spcPts val="800"/>
              </a:spcAft>
            </a:pPr>
            <a:r>
              <a:rPr sz="2000" b="0" i="0">
                <a:solidFill>
                  <a:srgbClr val="333333"/>
                </a:solidFill>
                <a:latin typeface="Calibri"/>
              </a:rPr>
              <a:t>–   Cada flecha es un mensaje, es decir, la peticion de un objeto a otro para que haga algo; la flecha llena representa una llamada sincrona, donde quien pide se queda esperando la respuesta, y la flecha punteada representa el retorno con el resultado.</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Hasta ahora todos los modelos de VetCare han sido estaticos: el...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En VetCare, agendar una cita se ve como una cadena corta y clara: la recepcionista le habla a la pantalla de agenda, la pantalla le habla al control de agenda</a:t>
            </a:r>
          </a:p>
          <a:p>
            <a:pPr>
              <a:spcAft>
                <a:spcPts val="800"/>
              </a:spcAft>
            </a:pPr>
            <a:r>
              <a:rPr sz="2000" b="0" i="0">
                <a:solidFill>
                  <a:srgbClr val="333333"/>
                </a:solidFill>
                <a:latin typeface="Calibri"/>
              </a:rPr>
              <a:t>–   El control verifica la mascota, le pregunta al repositorio de citas por la disponibilidad y devuelve una confirmacion con el identificador de la cita.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diagrama de actividad responde a otra pregunta completamente...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diagrama de actividad responde a otra pregunta completamente distinta: no quien le habla a quien, sino en que orden ocurre el trabajo y quien es responsable de cada paso, incluyendo pasos que suceden fuera del computador.</a:t>
            </a:r>
          </a:p>
          <a:p>
            <a:pPr>
              <a:spcAft>
                <a:spcPts val="800"/>
              </a:spcAft>
            </a:pPr>
            <a:r>
              <a:rPr sz="2000" b="0" i="0">
                <a:solidFill>
                  <a:srgbClr val="333333"/>
                </a:solidFill>
                <a:latin typeface="Calibri"/>
              </a:rPr>
              <a:t>–   Sus elementos son nodo inicial, acciones, nodos de decision con condiciones escritas entre corchetes, nodos de union, barras de bifurcacion y sincronizacion para el trabajo que ocurre en paralelo, y nodo final.</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diagrama de actividad responde a otra pregunta completamente...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herramienta que lo vuelve realmente util en un proyecto como VetCare son las particiones o calles: una franja por cada rol, de modo que al mirar el dibujo se sabe de un vistazo que hace el Propietario</a:t>
            </a:r>
          </a:p>
          <a:p>
            <a:pPr>
              <a:spcAft>
                <a:spcPts val="800"/>
              </a:spcAft>
            </a:pPr>
            <a:r>
              <a:rPr sz="2000" b="0" i="0">
                <a:solidFill>
                  <a:srgbClr val="333333"/>
                </a:solidFill>
                <a:latin typeface="Calibri"/>
              </a:rPr>
              <a:t>–   Que hace la Recepcionista, que hace el Veterinario y que hace el sistema.</a:t>
            </a:r>
          </a:p>
          <a:p>
            <a:pPr>
              <a:spcAft>
                <a:spcPts val="800"/>
              </a:spcAft>
            </a:pPr>
            <a:r>
              <a:rPr sz="2000" b="0" i="0">
                <a:solidFill>
                  <a:srgbClr val="333333"/>
                </a:solidFill>
                <a:latin typeface="Calibri"/>
              </a:rPr>
              <a:t>–   Ese dibujo revela algo que ni los casos de uso ni las clases muestran: donde estan los cuellos de botella del proceso real de la clinica.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pregunta practica es cuando usar cada uno, y la respuesta se decide...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La pregunta practica es cuando usar cada uno, y la respuesta se decide por el tipo de duda que se quiere resolver.</a:t>
            </a:r>
          </a:p>
          <a:p>
            <a:pPr>
              <a:spcAft>
                <a:spcPts val="800"/>
              </a:spcAft>
            </a:pPr>
            <a:r>
              <a:rPr sz="2000" b="0" i="0">
                <a:solidFill>
                  <a:srgbClr val="333333"/>
                </a:solidFill>
                <a:latin typeface="Calibri"/>
              </a:rPr>
              <a:t>–   Si la duda es de responsabilidades, es decir, cual objeto deberia encargarse de esto y con quien tiene que hablar para lograrlo, el diagrama correcto es el de secuencia</a:t>
            </a:r>
          </a:p>
          <a:p>
            <a:pPr>
              <a:spcAft>
                <a:spcPts val="800"/>
              </a:spcAft>
            </a:pPr>
            <a:r>
              <a:rPr sz="2000" b="0" i="0">
                <a:solidFill>
                  <a:srgbClr val="333333"/>
                </a:solidFill>
                <a:latin typeface="Calibri"/>
              </a:rPr>
              <a:t>–   Porque obliga a que cada mensaje tenga un destinatario concreto y por lo tanto una clase que lo sepa atender.</a:t>
            </a:r>
          </a:p>
          <a:p>
            <a:pPr>
              <a:spcAft>
                <a:spcPts val="800"/>
              </a:spcAft>
            </a:pPr>
            <a:r>
              <a:rPr sz="2000" b="0" i="0">
                <a:solidFill>
                  <a:srgbClr val="333333"/>
                </a:solidFill>
                <a:latin typeface="Calibri"/>
              </a:rPr>
              <a:t>–   Si la duda es de proceso, es decir, en que orden hace la gente las cosas, donde se decide algo y que pasa en paralelo, el diagrama correcto es el de actividad</a:t>
            </a:r>
          </a:p>
          <a:p>
            <a:pPr>
              <a:spcAft>
                <a:spcPts val="800"/>
              </a:spcAft>
            </a:pPr>
            <a:r>
              <a:rPr sz="2000" b="0" i="0">
                <a:solidFill>
                  <a:srgbClr val="333333"/>
                </a:solidFill>
                <a:latin typeface="Calibri"/>
              </a:rPr>
              <a:t>–   Porque admite pasos manuales, decisiones del negocio y actores humanos que no son objetos de software.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pregunta practica es cuando usar cada uno, y la respuesta se decide...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Una regla practica para el aula: el diagrama de secuencia se dibuja para un caso de uso y suele cubrir su flujo principal; el diagrama de actividad se dibuja para un proceso de negocio que puede atravesar varios casos de uso.</a:t>
            </a:r>
          </a:p>
          <a:p>
            <a:pPr>
              <a:spcAft>
                <a:spcPts val="800"/>
              </a:spcAft>
            </a:pPr>
            <a:r>
              <a:rPr sz="2000" b="0" i="0">
                <a:solidFill>
                  <a:srgbClr val="333333"/>
                </a:solidFill>
                <a:latin typeface="Calibri"/>
              </a:rPr>
              <a:t>–   En VetCare, CU-04 Agendar cita se modela con secuencia; la atencion completa desde que el propietario entra por la puerta hasta que sale con la factura se modela con actividad, porque incluye conversaciones y esperas que ningun objeto del sistema ejecuta.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Estos diagramas no se inventan desde cero: se derivan de lo que ya esta...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Estos diagramas no se inventan desde cero: se derivan de lo que ya esta escrito, y ahi esta la parte que separa a un estudiante que entendio de uno que solo dibujo.</a:t>
            </a:r>
          </a:p>
          <a:p>
            <a:pPr>
              <a:spcAft>
                <a:spcPts val="800"/>
              </a:spcAft>
            </a:pPr>
            <a:r>
              <a:rPr sz="2000" b="0" i="0">
                <a:solidFill>
                  <a:srgbClr val="333333"/>
                </a:solidFill>
                <a:latin typeface="Calibri"/>
              </a:rPr>
              <a:t>–   Si el paso 2 de CU-04 dice que el sistema verifica la disponibilidad del veterinario para esa fecha, entonces debe existir un mensaje llamado consultarDisponibilidad dirigido a algun participante</a:t>
            </a:r>
          </a:p>
          <a:p>
            <a:pPr>
              <a:spcAft>
                <a:spcPts val="800"/>
              </a:spcAft>
            </a:pPr>
            <a:r>
              <a:rPr sz="2000" b="0" i="0">
                <a:solidFill>
                  <a:srgbClr val="333333"/>
                </a:solidFill>
                <a:latin typeface="Calibri"/>
              </a:rPr>
              <a:t>–   Y ese participante debe ser una clase que exista en el diagrama de clases.</a:t>
            </a:r>
          </a:p>
          <a:p>
            <a:pPr>
              <a:spcAft>
                <a:spcPts val="800"/>
              </a:spcAft>
            </a:pPr>
            <a:r>
              <a:rPr sz="2000" b="0" i="0">
                <a:solidFill>
                  <a:srgbClr val="333333"/>
                </a:solidFill>
                <a:latin typeface="Calibri"/>
              </a:rPr>
              <a:t>–   Aqui aparece el hallazgo tipico y valiosisimo: al dibujar la secuencia el equipo descubre que envio un mensaje a una clase que no tiene esa operacion, o peor, a una clase que no existe.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flujos alternos tambien se modelan, y para eso existen los... (1/2)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Los flujos alternos tambien se modelan, y para eso existen los fragmentos combinados, que son esos recuadros con una etiqueta en la esquina.</a:t>
            </a:r>
          </a:p>
          <a:p>
            <a:pPr>
              <a:spcAft>
                <a:spcPts val="800"/>
              </a:spcAft>
            </a:pPr>
            <a:r>
              <a:rPr sz="2000" b="0" i="0">
                <a:solidFill>
                  <a:srgbClr val="333333"/>
                </a:solidFill>
                <a:latin typeface="Calibri"/>
              </a:rPr>
              <a:t>–   El fragmento alt representa caminos excluyentes con sus condiciones de guarda escritas entre corchetes</a:t>
            </a:r>
          </a:p>
          <a:p>
            <a:pPr>
              <a:spcAft>
                <a:spcPts val="800"/>
              </a:spcAft>
            </a:pPr>
            <a:r>
              <a:rPr sz="2000" b="0" i="0">
                <a:solidFill>
                  <a:srgbClr val="333333"/>
                </a:solidFill>
                <a:latin typeface="Calibri"/>
              </a:rPr>
              <a:t>–   Y es el que usamos en VetCare para el horario ocupado: si hay disponibilidad se guarda la cita y se confirma, si no la hay el sistema ofrece alternativas del dia siguiente.</a:t>
            </a:r>
          </a:p>
          <a:p>
            <a:pPr>
              <a:spcAft>
                <a:spcPts val="800"/>
              </a:spcAft>
            </a:pPr>
            <a:r>
              <a:rPr sz="2000" b="0" i="0">
                <a:solidFill>
                  <a:srgbClr val="333333"/>
                </a:solidFill>
                <a:latin typeface="Calibri"/>
              </a:rPr>
              <a:t>–   El fragmento opt es un camino opcional que puede ocurrir o no, como enviar el recordatorio si el propietario autorizo mensajeria.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Los flujos alternos tambien se modelan, y para eso existen los... (2/2)</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El fragmento loop repite un bloque, por ejemplo mientras el veterinario agrega varias vacunas al expediente.</a:t>
            </a:r>
          </a:p>
          <a:p>
            <a:pPr>
              <a:spcAft>
                <a:spcPts val="800"/>
              </a:spcAft>
            </a:pPr>
            <a:r>
              <a:rPr sz="2000" b="0" i="0">
                <a:solidFill>
                  <a:srgbClr val="333333"/>
                </a:solidFill>
                <a:latin typeface="Calibri"/>
              </a:rPr>
              <a:t>–   La disciplina que hay que enseñar aqui es de alcance: un diagrama de secuencia no debe intentar mostrar los quince alternos posibles, porque se vuelve ilegible y nadie lo lee.</a:t>
            </a:r>
          </a:p>
          <a:p>
            <a:pPr>
              <a:spcAft>
                <a:spcPts val="800"/>
              </a:spcAft>
            </a:pPr>
            <a:r>
              <a:rPr sz="2000" b="0" i="0">
                <a:solidFill>
                  <a:srgbClr val="333333"/>
                </a:solidFill>
                <a:latin typeface="Calibri"/>
              </a:rPr>
              <a:t>–   La practica sana es dibujar el camino feliz completo mas uno o dos fragmentos que representen las decisiones criticas del negocio, y dejar el resto documentado en el texto de la especificacion, que para eso existe.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diagrama de secuencia en Mermaid</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342"/>
              </a:spcAft>
            </a:pPr>
            <a:r>
              <a:rPr sz="1200" b="0" i="0">
                <a:solidFill>
                  <a:srgbClr val="FFFFFF"/>
                </a:solidFill>
                <a:latin typeface="Calibri"/>
              </a:rPr>
              <a:t>sequenceDiagram</a:t>
            </a:r>
          </a:p>
          <a:p>
            <a:pPr>
              <a:spcAft>
                <a:spcPts val="342"/>
              </a:spcAft>
            </a:pPr>
            <a:r>
              <a:rPr sz="1200" b="0" i="0">
                <a:solidFill>
                  <a:srgbClr val="FFFFFF"/>
                </a:solidFill>
                <a:latin typeface="Calibri"/>
              </a:rPr>
              <a:t>  autonumber</a:t>
            </a:r>
          </a:p>
          <a:p>
            <a:pPr>
              <a:spcAft>
                <a:spcPts val="342"/>
              </a:spcAft>
            </a:pPr>
            <a:r>
              <a:rPr sz="1200" b="0" i="0">
                <a:solidFill>
                  <a:srgbClr val="FFFFFF"/>
                </a:solidFill>
                <a:latin typeface="Calibri"/>
              </a:rPr>
              <a:t>  actor R as Recepcionista</a:t>
            </a:r>
          </a:p>
          <a:p>
            <a:pPr>
              <a:spcAft>
                <a:spcPts val="342"/>
              </a:spcAft>
            </a:pPr>
            <a:r>
              <a:rPr sz="1200" b="0" i="0">
                <a:solidFill>
                  <a:srgbClr val="FFFFFF"/>
                </a:solidFill>
                <a:latin typeface="Calibri"/>
              </a:rPr>
              <a:t>  participant UI as Pantalla Agendar</a:t>
            </a:r>
          </a:p>
          <a:p>
            <a:pPr>
              <a:spcAft>
                <a:spcPts val="342"/>
              </a:spcAft>
            </a:pPr>
            <a:r>
              <a:rPr sz="1200" b="0" i="0">
                <a:solidFill>
                  <a:srgbClr val="FFFFFF"/>
                </a:solidFill>
                <a:latin typeface="Calibri"/>
              </a:rPr>
              <a:t>  participant S as ServicioCita</a:t>
            </a:r>
          </a:p>
          <a:p>
            <a:pPr>
              <a:spcAft>
                <a:spcPts val="342"/>
              </a:spcAft>
            </a:pPr>
            <a:r>
              <a:rPr sz="1200" b="0" i="0">
                <a:solidFill>
                  <a:srgbClr val="FFFFFF"/>
                </a:solidFill>
                <a:latin typeface="Calibri"/>
              </a:rPr>
              <a:t>  participant M as RepositorioMascota</a:t>
            </a:r>
          </a:p>
          <a:p>
            <a:pPr>
              <a:spcAft>
                <a:spcPts val="342"/>
              </a:spcAft>
            </a:pPr>
            <a:r>
              <a:rPr sz="1200" b="0" i="0">
                <a:solidFill>
                  <a:srgbClr val="FFFFFF"/>
                </a:solidFill>
                <a:latin typeface="Calibri"/>
              </a:rPr>
              <a:t>  participant C as RepositorioCita</a:t>
            </a:r>
          </a:p>
          <a:p>
            <a:pPr>
              <a:spcAft>
                <a:spcPts val="342"/>
              </a:spcAft>
            </a:pPr>
            <a:r>
              <a:rPr sz="1200" b="0" i="0">
                <a:solidFill>
                  <a:srgbClr val="FFFFFF"/>
                </a:solidFill>
                <a:latin typeface="Calibri"/>
              </a:rPr>
              <a:t/>
            </a:r>
          </a:p>
          <a:p>
            <a:pPr>
              <a:spcAft>
                <a:spcPts val="342"/>
              </a:spcAft>
            </a:pPr>
            <a:r>
              <a:rPr sz="1200" b="0" i="0">
                <a:solidFill>
                  <a:srgbClr val="FFFFFF"/>
                </a:solidFill>
                <a:latin typeface="Calibri"/>
              </a:rPr>
              <a:t>  R-&gt;&gt;UI: solicita agendar</a:t>
            </a:r>
          </a:p>
          <a:p>
            <a:pPr>
              <a:spcAft>
                <a:spcPts val="342"/>
              </a:spcAft>
            </a:pPr>
            <a:r>
              <a:rPr sz="1200" b="0" i="0">
                <a:solidFill>
                  <a:srgbClr val="FFFFFF"/>
                </a:solidFill>
                <a:latin typeface="Calibri"/>
              </a:rPr>
              <a:t>  UI-&gt;&gt;S: agendar(idMascota, fechaHora)</a:t>
            </a:r>
          </a:p>
          <a:p>
            <a:pPr>
              <a:spcAft>
                <a:spcPts val="342"/>
              </a:spcAft>
            </a:pPr>
            <a:r>
              <a:rPr sz="1200" b="0" i="0">
                <a:solidFill>
                  <a:srgbClr val="FFFFFF"/>
                </a:solidFill>
                <a:latin typeface="Calibri"/>
              </a:rPr>
              <a:t>  S-&gt;&gt;M: estaActiva(idMascota)</a:t>
            </a:r>
          </a:p>
          <a:p>
            <a:pPr>
              <a:spcAft>
                <a:spcPts val="342"/>
              </a:spcAft>
            </a:pPr>
            <a:r>
              <a:rPr sz="1200" b="0" i="0">
                <a:solidFill>
                  <a:srgbClr val="FFFFFF"/>
                </a:solidFill>
                <a:latin typeface="Calibri"/>
              </a:rPr>
              <a:t>  M--&gt;&gt;S: true</a:t>
            </a:r>
          </a:p>
          <a:p>
            <a:pPr>
              <a:spcAft>
                <a:spcPts val="342"/>
              </a:spcAft>
            </a:pPr>
            <a:r>
              <a:rPr sz="1200" b="0" i="0">
                <a:solidFill>
                  <a:srgbClr val="FFFFFF"/>
                </a:solidFill>
                <a:latin typeface="Calibri"/>
              </a:rPr>
              <a:t>  S-&gt;&gt;C: existeEnFranja(idVet, fechaHora)</a:t>
            </a:r>
          </a:p>
          <a:p>
            <a:pPr>
              <a:spcAft>
                <a:spcPts val="342"/>
              </a:spcAft>
            </a:pPr>
            <a:r>
              <a:rPr sz="1200" b="0" i="0">
                <a:solidFill>
                  <a:srgbClr val="FFFFFF"/>
                </a:solidFill>
                <a:latin typeface="Calibri"/>
              </a:rPr>
              <a:t>  C--&gt;&gt;S: false</a:t>
            </a:r>
          </a:p>
          <a:p>
            <a:pPr>
              <a:spcAft>
                <a:spcPts val="342"/>
              </a:spcAft>
            </a:pPr>
            <a:r>
              <a:rPr sz="1200" b="0" i="0">
                <a:solidFill>
                  <a:srgbClr val="FFFFFF"/>
                </a:solidFill>
                <a:latin typeface="Calibri"/>
              </a:rPr>
              <a:t>  S-&gt;&gt;C: guardar(cita)</a:t>
            </a:r>
          </a:p>
          <a:p>
            <a:pPr>
              <a:spcAft>
                <a:spcPts val="342"/>
              </a:spcAft>
            </a:pPr>
            <a:r>
              <a:rPr sz="1200" b="0" i="0">
                <a:solidFill>
                  <a:srgbClr val="FFFFFF"/>
                </a:solidFill>
                <a:latin typeface="Calibri"/>
              </a:rPr>
              <a:t>  C--&gt;&gt;S: idCita</a:t>
            </a:r>
          </a:p>
          <a:p>
            <a:pPr>
              <a:spcAft>
                <a:spcPts val="342"/>
              </a:spcAft>
            </a:pPr>
            <a:r>
              <a:rPr sz="1200" b="0" i="0">
                <a:solidFill>
                  <a:srgbClr val="FFFFFF"/>
                </a:solidFill>
                <a:latin typeface="Calibri"/>
              </a:rPr>
              <a:t>  S--&gt;&gt;UI: PROGRAMADA (idCita)</a:t>
            </a:r>
          </a:p>
          <a:p>
            <a:pPr>
              <a:spcAft>
                <a:spcPts val="342"/>
              </a:spcAft>
            </a:pPr>
            <a:r>
              <a:rPr sz="1200" b="0" i="0">
                <a:solidFill>
                  <a:srgbClr val="FFFFFF"/>
                </a:solidFill>
                <a:latin typeface="Calibri"/>
              </a:rPr>
              <a:t>  UI--&gt;&gt;R: confirmacion</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El diagrama de actividad, con decision y carriles</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flowchart TB</a:t>
            </a:r>
          </a:p>
          <a:p>
            <a:pPr>
              <a:spcAft>
                <a:spcPts val="400"/>
              </a:spcAft>
            </a:pPr>
            <a:r>
              <a:rPr sz="1400" b="0" i="0">
                <a:solidFill>
                  <a:srgbClr val="FFFFFF"/>
                </a:solidFill>
                <a:latin typeface="Calibri"/>
              </a:rPr>
              <a:t>  ini([Inicio]) --&gt; llega[La mascota llega a consulta]</a:t>
            </a:r>
          </a:p>
          <a:p>
            <a:pPr>
              <a:spcAft>
                <a:spcPts val="400"/>
              </a:spcAft>
            </a:pPr>
            <a:r>
              <a:rPr sz="1400" b="0" i="0">
                <a:solidFill>
                  <a:srgbClr val="FFFFFF"/>
                </a:solidFill>
                <a:latin typeface="Calibri"/>
              </a:rPr>
              <a:t>  llega --&gt; tiene{Tiene cita&lt;br/&gt;programada?}</a:t>
            </a:r>
          </a:p>
          <a:p>
            <a:pPr>
              <a:spcAft>
                <a:spcPts val="400"/>
              </a:spcAft>
            </a:pPr>
            <a:r>
              <a:rPr sz="1400" b="0" i="0">
                <a:solidFill>
                  <a:srgbClr val="FFFFFF"/>
                </a:solidFill>
                <a:latin typeface="Calibri"/>
              </a:rPr>
              <a:t>  tiene --&gt;|Si| atiende[Registrar consulta]</a:t>
            </a:r>
          </a:p>
          <a:p>
            <a:pPr>
              <a:spcAft>
                <a:spcPts val="400"/>
              </a:spcAft>
            </a:pPr>
            <a:r>
              <a:rPr sz="1400" b="0" i="0">
                <a:solidFill>
                  <a:srgbClr val="FFFFFF"/>
                </a:solidFill>
                <a:latin typeface="Calibri"/>
              </a:rPr>
              <a:t>  tiene --&gt;|No| urg{Es urgencia?}</a:t>
            </a:r>
          </a:p>
          <a:p>
            <a:pPr>
              <a:spcAft>
                <a:spcPts val="400"/>
              </a:spcAft>
            </a:pPr>
            <a:r>
              <a:rPr sz="1400" b="0" i="0">
                <a:solidFill>
                  <a:srgbClr val="FFFFFF"/>
                </a:solidFill>
                <a:latin typeface="Calibri"/>
              </a:rPr>
              <a:t>  urg --&gt;|Si| crear[Crear cita de urgencia] --&gt; atiende</a:t>
            </a:r>
          </a:p>
          <a:p>
            <a:pPr>
              <a:spcAft>
                <a:spcPts val="400"/>
              </a:spcAft>
            </a:pPr>
            <a:r>
              <a:rPr sz="1400" b="0" i="0">
                <a:solidFill>
                  <a:srgbClr val="FFFFFF"/>
                </a:solidFill>
                <a:latin typeface="Calibri"/>
              </a:rPr>
              <a:t>  urg --&gt;|No| agendar[Agendar para otro dia] --&gt; fin([Fin])</a:t>
            </a:r>
          </a:p>
          <a:p>
            <a:pPr>
              <a:spcAft>
                <a:spcPts val="400"/>
              </a:spcAft>
            </a:pPr>
            <a:r>
              <a:rPr sz="1400" b="0" i="0">
                <a:solidFill>
                  <a:srgbClr val="FFFFFF"/>
                </a:solidFill>
                <a:latin typeface="Calibri"/>
              </a:rPr>
              <a:t>  atiende --&gt; receta[Emitir receta e insumos]</a:t>
            </a:r>
          </a:p>
          <a:p>
            <a:pPr>
              <a:spcAft>
                <a:spcPts val="400"/>
              </a:spcAft>
            </a:pPr>
            <a:r>
              <a:rPr sz="1400" b="0" i="0">
                <a:solidFill>
                  <a:srgbClr val="FFFFFF"/>
                </a:solidFill>
                <a:latin typeface="Calibri"/>
              </a:rPr>
              <a:t>  receta --&gt; fin</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Cada rombo tiene que tener TODAS sus salidas rotuladas. Un rombo con</a:t>
            </a:r>
          </a:p>
          <a:p>
            <a:pPr>
              <a:spcAft>
                <a:spcPts val="400"/>
              </a:spcAft>
            </a:pPr>
            <a:r>
              <a:rPr sz="1400" b="0" i="0">
                <a:solidFill>
                  <a:srgbClr val="FFFFFF"/>
                </a:solidFill>
                <a:latin typeface="Calibri"/>
              </a:rPr>
              <a:t>%% una sola flecha de salida no es una decision: es un paso.</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La tabla de mapeo mensaje a operacion</a:t>
            </a:r>
          </a:p>
        </p:txBody>
      </p:sp>
      <p:sp>
        <p:nvSpPr>
          <p:cNvPr id="5" name="Rounded Rectangle 4"/>
          <p:cNvSpPr/>
          <p:nvPr/>
        </p:nvSpPr>
        <p:spPr>
          <a:xfrm>
            <a:off x="457200" y="1261872"/>
            <a:ext cx="11277295" cy="509320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10637215" cy="4453128"/>
          </a:xfrm>
          <a:prstGeom prst="rect">
            <a:avLst/>
          </a:prstGeom>
          <a:noFill/>
        </p:spPr>
        <p:txBody>
          <a:bodyPr wrap="square">
            <a:spAutoFit/>
          </a:bodyPr>
          <a:lstStyle/>
          <a:p>
            <a:pPr>
              <a:spcAft>
                <a:spcPts val="400"/>
              </a:spcAft>
            </a:pPr>
            <a:r>
              <a:rPr sz="1400" b="0" i="0">
                <a:solidFill>
                  <a:srgbClr val="FFFFFF"/>
                </a:solidFill>
                <a:latin typeface="Calibri"/>
              </a:rPr>
              <a:t>| Mensaje del diagrama        | Clase receptora      | Operacion              |</a:t>
            </a:r>
          </a:p>
          <a:p>
            <a:pPr>
              <a:spcAft>
                <a:spcPts val="400"/>
              </a:spcAft>
            </a:pPr>
            <a:r>
              <a:rPr sz="1400" b="0" i="0">
                <a:solidFill>
                  <a:srgbClr val="FFFFFF"/>
                </a:solidFill>
                <a:latin typeface="Calibri"/>
              </a:rPr>
              <a:t>|-----------------------------|----------------------|------------------------|</a:t>
            </a:r>
          </a:p>
          <a:p>
            <a:pPr>
              <a:spcAft>
                <a:spcPts val="400"/>
              </a:spcAft>
            </a:pPr>
            <a:r>
              <a:rPr sz="1400" b="0" i="0">
                <a:solidFill>
                  <a:srgbClr val="FFFFFF"/>
                </a:solidFill>
                <a:latin typeface="Calibri"/>
              </a:rPr>
              <a:t>| agendar(idMascota, fecha)   | ServicioCita         | +agendar(int, Date)    |</a:t>
            </a:r>
          </a:p>
          <a:p>
            <a:pPr>
              <a:spcAft>
                <a:spcPts val="400"/>
              </a:spcAft>
            </a:pPr>
            <a:r>
              <a:rPr sz="1400" b="0" i="0">
                <a:solidFill>
                  <a:srgbClr val="FFFFFF"/>
                </a:solidFill>
                <a:latin typeface="Calibri"/>
              </a:rPr>
              <a:t>| estaActiva(idMascota)       | RepositorioMascota   | +estaActiva(int): bool |</a:t>
            </a:r>
          </a:p>
          <a:p>
            <a:pPr>
              <a:spcAft>
                <a:spcPts val="400"/>
              </a:spcAft>
            </a:pPr>
            <a:r>
              <a:rPr sz="1400" b="0" i="0">
                <a:solidFill>
                  <a:srgbClr val="FFFFFF"/>
                </a:solidFill>
                <a:latin typeface="Calibri"/>
              </a:rPr>
              <a:t>| existeEnFranja(idVet, f)    | RepositorioCita      | +existeEnFranja(...)   |</a:t>
            </a:r>
          </a:p>
          <a:p>
            <a:pPr>
              <a:spcAft>
                <a:spcPts val="400"/>
              </a:spcAft>
            </a:pPr>
            <a:r>
              <a:rPr sz="1400" b="0" i="0">
                <a:solidFill>
                  <a:srgbClr val="FFFFFF"/>
                </a:solidFill>
                <a:latin typeface="Calibri"/>
              </a:rPr>
              <a:t>| guardar(cita)               | RepositorioCita      | +guardar(Cita): int    |</a:t>
            </a:r>
          </a:p>
          <a:p>
            <a:pPr>
              <a:spcAft>
                <a:spcPts val="400"/>
              </a:spcAft>
            </a:pPr>
            <a:r>
              <a:rPr sz="1400" b="0" i="0">
                <a:solidFill>
                  <a:srgbClr val="FFFFFF"/>
                </a:solidFill>
                <a:latin typeface="Calibri"/>
              </a:rPr>
              <a:t/>
            </a:r>
          </a:p>
          <a:p>
            <a:pPr>
              <a:spcAft>
                <a:spcPts val="400"/>
              </a:spcAft>
            </a:pPr>
            <a:r>
              <a:rPr sz="1400" b="0" i="0">
                <a:solidFill>
                  <a:srgbClr val="FFFFFF"/>
                </a:solidFill>
                <a:latin typeface="Calibri"/>
              </a:rPr>
              <a:t>-- Cada mensaje de la secuencia TIENE que existir como operacion en el</a:t>
            </a:r>
          </a:p>
          <a:p>
            <a:pPr>
              <a:spcAft>
                <a:spcPts val="400"/>
              </a:spcAft>
            </a:pPr>
            <a:r>
              <a:rPr sz="1400" b="0" i="0">
                <a:solidFill>
                  <a:srgbClr val="FFFFFF"/>
                </a:solidFill>
                <a:latin typeface="Calibri"/>
              </a:rPr>
              <a:t>-- diagrama de clases de la Clase 8. Si no esta, o falta la operacion o</a:t>
            </a:r>
          </a:p>
          <a:p>
            <a:pPr>
              <a:spcAft>
                <a:spcPts val="400"/>
              </a:spcAft>
            </a:pPr>
            <a:r>
              <a:rPr sz="1400" b="0" i="0">
                <a:solidFill>
                  <a:srgbClr val="FFFFFF"/>
                </a:solidFill>
                <a:latin typeface="Calibri"/>
              </a:rPr>
              <a:t>-- el mensaje esta de mas: los dos diagramas describen el mismo sistema.</a:t>
            </a:r>
          </a:p>
        </p:txBody>
      </p:sp>
      <p:sp>
        <p:nvSpPr>
          <p:cNvPr id="9" name="TextBox 8"/>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Secuencia de CU-04 Agendar cita en sintaxis Mermaid</a:t>
            </a:r>
          </a:p>
        </p:txBody>
      </p:sp>
      <p:sp>
        <p:nvSpPr>
          <p:cNvPr id="5" name="Rounded Rectangle 4"/>
          <p:cNvSpPr/>
          <p:nvPr/>
        </p:nvSpPr>
        <p:spPr>
          <a:xfrm>
            <a:off x="457200" y="1261872"/>
            <a:ext cx="11277295" cy="4773168"/>
          </a:xfrm>
          <a:prstGeom prst="roundRect">
            <a:avLst>
              <a:gd name="adj" fmla="val 12000"/>
            </a:avLst>
          </a:prstGeom>
          <a:solidFill>
            <a:srgbClr val="1E2A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1277295" cy="32004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307592"/>
            <a:ext cx="10820095" cy="256032"/>
          </a:xfrm>
          <a:prstGeom prst="rect">
            <a:avLst/>
          </a:prstGeom>
          <a:noFill/>
        </p:spPr>
        <p:txBody>
          <a:bodyPr wrap="square" anchor="ctr"/>
          <a:lstStyle/>
          <a:p>
            <a:r>
              <a:rPr sz="1000" b="1" i="0">
                <a:solidFill>
                  <a:srgbClr val="269CCB"/>
                </a:solidFill>
                <a:latin typeface="Calibri"/>
              </a:rPr>
              <a:t>● ● ●</a:t>
            </a:r>
          </a:p>
        </p:txBody>
      </p:sp>
      <p:sp>
        <p:nvSpPr>
          <p:cNvPr id="8" name="TextBox 7"/>
          <p:cNvSpPr txBox="1"/>
          <p:nvPr/>
        </p:nvSpPr>
        <p:spPr>
          <a:xfrm>
            <a:off x="777240" y="1719072"/>
            <a:ext cx="5181447" cy="4133087"/>
          </a:xfrm>
          <a:prstGeom prst="rect">
            <a:avLst/>
          </a:prstGeom>
          <a:noFill/>
        </p:spPr>
        <p:txBody>
          <a:bodyPr wrap="square">
            <a:spAutoFit/>
          </a:bodyPr>
          <a:lstStyle/>
          <a:p>
            <a:pPr>
              <a:spcAft>
                <a:spcPts val="400"/>
              </a:spcAft>
            </a:pPr>
            <a:r>
              <a:rPr sz="1400" b="0" i="0">
                <a:solidFill>
                  <a:srgbClr val="FFFFFF"/>
                </a:solidFill>
                <a:latin typeface="Calibri"/>
              </a:rPr>
              <a:t>sequenceDiagram</a:t>
            </a:r>
          </a:p>
          <a:p>
            <a:pPr>
              <a:spcAft>
                <a:spcPts val="400"/>
              </a:spcAft>
            </a:pPr>
            <a:r>
              <a:rPr sz="1400" b="0" i="0">
                <a:solidFill>
                  <a:srgbClr val="FFFFFF"/>
                </a:solidFill>
                <a:latin typeface="Calibri"/>
              </a:rPr>
              <a:t>    actor Recepcionista</a:t>
            </a:r>
          </a:p>
          <a:p>
            <a:pPr>
              <a:spcAft>
                <a:spcPts val="400"/>
              </a:spcAft>
            </a:pPr>
            <a:r>
              <a:rPr sz="1400" b="0" i="0">
                <a:solidFill>
                  <a:srgbClr val="FFFFFF"/>
                </a:solidFill>
                <a:latin typeface="Calibri"/>
              </a:rPr>
              <a:t>    participant UI as :PantallaAgenda</a:t>
            </a:r>
          </a:p>
          <a:p>
            <a:pPr>
              <a:spcAft>
                <a:spcPts val="400"/>
              </a:spcAft>
            </a:pPr>
            <a:r>
              <a:rPr sz="1400" b="0" i="0">
                <a:solidFill>
                  <a:srgbClr val="FFFFFF"/>
                </a:solidFill>
                <a:latin typeface="Calibri"/>
              </a:rPr>
              <a:t>    participant CTRL as :ControlAgenda</a:t>
            </a:r>
          </a:p>
          <a:p>
            <a:pPr>
              <a:spcAft>
                <a:spcPts val="400"/>
              </a:spcAft>
            </a:pPr>
            <a:r>
              <a:rPr sz="1400" b="0" i="0">
                <a:solidFill>
                  <a:srgbClr val="FFFFFF"/>
                </a:solidFill>
                <a:latin typeface="Calibri"/>
              </a:rPr>
              <a:t>    participant REPM as :RepositorioMascotas</a:t>
            </a:r>
          </a:p>
          <a:p>
            <a:pPr>
              <a:spcAft>
                <a:spcPts val="400"/>
              </a:spcAft>
            </a:pPr>
            <a:r>
              <a:rPr sz="1400" b="0" i="0">
                <a:solidFill>
                  <a:srgbClr val="FFFFFF"/>
                </a:solidFill>
                <a:latin typeface="Calibri"/>
              </a:rPr>
              <a:t>    participant REPC as :RepositorioCitas</a:t>
            </a:r>
          </a:p>
          <a:p>
            <a:pPr>
              <a:spcAft>
                <a:spcPts val="400"/>
              </a:spcAft>
            </a:pPr>
            <a:r>
              <a:rPr sz="1400" b="0" i="0">
                <a:solidFill>
                  <a:srgbClr val="FFFFFF"/>
                </a:solidFill>
                <a:latin typeface="Calibri"/>
              </a:rPr>
              <a:t>    Recepcionista-&gt;&gt;UI: solicitarAgendamiento(codigoMascota, fecha)</a:t>
            </a:r>
          </a:p>
          <a:p>
            <a:pPr>
              <a:spcAft>
                <a:spcPts val="400"/>
              </a:spcAft>
            </a:pPr>
            <a:r>
              <a:rPr sz="1400" b="0" i="0">
                <a:solidFill>
                  <a:srgbClr val="FFFFFF"/>
                </a:solidFill>
                <a:latin typeface="Calibri"/>
              </a:rPr>
              <a:t>    UI-&gt;&gt;CTRL: agendarCita(codigoMascota, fecha, idVeterinario)</a:t>
            </a:r>
          </a:p>
          <a:p>
            <a:pPr>
              <a:spcAft>
                <a:spcPts val="400"/>
              </a:spcAft>
            </a:pPr>
            <a:r>
              <a:rPr sz="1400" b="0" i="0">
                <a:solidFill>
                  <a:srgbClr val="FFFFFF"/>
                </a:solidFill>
                <a:latin typeface="Calibri"/>
              </a:rPr>
              <a:t>    CTRL-&gt;&gt;REPM: existePorCodigo(codigoMascota)</a:t>
            </a:r>
          </a:p>
          <a:p>
            <a:pPr>
              <a:spcAft>
                <a:spcPts val="400"/>
              </a:spcAft>
            </a:pPr>
            <a:r>
              <a:rPr sz="1400" b="0" i="0">
                <a:solidFill>
                  <a:srgbClr val="FFFFFF"/>
                </a:solidFill>
                <a:latin typeface="Calibri"/>
              </a:rPr>
              <a:t>    REPM--&gt;&gt;CTRL: mascota</a:t>
            </a:r>
          </a:p>
        </p:txBody>
      </p:sp>
      <p:sp>
        <p:nvSpPr>
          <p:cNvPr id="9" name="TextBox 8"/>
          <p:cNvSpPr txBox="1"/>
          <p:nvPr/>
        </p:nvSpPr>
        <p:spPr>
          <a:xfrm>
            <a:off x="6233007" y="1719072"/>
            <a:ext cx="5181447" cy="4133087"/>
          </a:xfrm>
          <a:prstGeom prst="rect">
            <a:avLst/>
          </a:prstGeom>
          <a:noFill/>
        </p:spPr>
        <p:txBody>
          <a:bodyPr wrap="square">
            <a:spAutoFit/>
          </a:bodyPr>
          <a:lstStyle/>
          <a:p>
            <a:pPr>
              <a:spcAft>
                <a:spcPts val="400"/>
              </a:spcAft>
            </a:pPr>
            <a:r>
              <a:rPr sz="1400" b="0" i="0">
                <a:solidFill>
                  <a:srgbClr val="FFFFFF"/>
                </a:solidFill>
                <a:latin typeface="Calibri"/>
              </a:rPr>
              <a:t>    CTRL-&gt;&gt;REPC: consultarDisponibilidad(idVeterinario, fecha)</a:t>
            </a:r>
          </a:p>
          <a:p>
            <a:pPr>
              <a:spcAft>
                <a:spcPts val="400"/>
              </a:spcAft>
            </a:pPr>
            <a:r>
              <a:rPr sz="1400" b="0" i="0">
                <a:solidFill>
                  <a:srgbClr val="FFFFFF"/>
                </a:solidFill>
                <a:latin typeface="Calibri"/>
              </a:rPr>
              <a:t>    REPC--&gt;&gt;CTRL: horariosLibres</a:t>
            </a:r>
          </a:p>
          <a:p>
            <a:pPr>
              <a:spcAft>
                <a:spcPts val="400"/>
              </a:spcAft>
            </a:pPr>
            <a:r>
              <a:rPr sz="1400" b="0" i="0">
                <a:solidFill>
                  <a:srgbClr val="FFFFFF"/>
                </a:solidFill>
                <a:latin typeface="Calibri"/>
              </a:rPr>
              <a:t>    alt hay horario libre</a:t>
            </a:r>
          </a:p>
          <a:p>
            <a:pPr>
              <a:spcAft>
                <a:spcPts val="400"/>
              </a:spcAft>
            </a:pPr>
            <a:r>
              <a:rPr sz="1400" b="0" i="0">
                <a:solidFill>
                  <a:srgbClr val="FFFFFF"/>
                </a:solidFill>
                <a:latin typeface="Calibri"/>
              </a:rPr>
              <a:t>        CTRL-&gt;&gt;REPC: guardarCita(cita)</a:t>
            </a:r>
          </a:p>
          <a:p>
            <a:pPr>
              <a:spcAft>
                <a:spcPts val="400"/>
              </a:spcAft>
            </a:pPr>
            <a:r>
              <a:rPr sz="1400" b="0" i="0">
                <a:solidFill>
                  <a:srgbClr val="FFFFFF"/>
                </a:solidFill>
                <a:latin typeface="Calibri"/>
              </a:rPr>
              <a:t>        REPC--&gt;&gt;CTRL: idCita</a:t>
            </a:r>
          </a:p>
          <a:p>
            <a:pPr>
              <a:spcAft>
                <a:spcPts val="400"/>
              </a:spcAft>
            </a:pPr>
            <a:r>
              <a:rPr sz="1400" b="0" i="0">
                <a:solidFill>
                  <a:srgbClr val="FFFFFF"/>
                </a:solidFill>
                <a:latin typeface="Calibri"/>
              </a:rPr>
              <a:t>        CTRL--&gt;&gt;UI: confirmacion(idCita)</a:t>
            </a:r>
          </a:p>
          <a:p>
            <a:pPr>
              <a:spcAft>
                <a:spcPts val="400"/>
              </a:spcAft>
            </a:pPr>
            <a:r>
              <a:rPr sz="1400" b="0" i="0">
                <a:solidFill>
                  <a:srgbClr val="FFFFFF"/>
                </a:solidFill>
                <a:latin typeface="Calibri"/>
              </a:rPr>
              <a:t>    else no hay horario libre</a:t>
            </a:r>
          </a:p>
          <a:p>
            <a:pPr>
              <a:spcAft>
                <a:spcPts val="400"/>
              </a:spcAft>
            </a:pPr>
            <a:r>
              <a:rPr sz="1400" b="0" i="0">
                <a:solidFill>
                  <a:srgbClr val="FFFFFF"/>
                </a:solidFill>
                <a:latin typeface="Calibri"/>
              </a:rPr>
              <a:t>        CTRL--&gt;&gt;UI: alternativas(dia siguiente)</a:t>
            </a:r>
          </a:p>
          <a:p>
            <a:pPr>
              <a:spcAft>
                <a:spcPts val="400"/>
              </a:spcAft>
            </a:pPr>
            <a:r>
              <a:rPr sz="1400" b="0" i="0">
                <a:solidFill>
                  <a:srgbClr val="FFFFFF"/>
                </a:solidFill>
                <a:latin typeface="Calibri"/>
              </a:rPr>
              <a:t>    end</a:t>
            </a:r>
          </a:p>
        </p:txBody>
      </p:sp>
      <p:sp>
        <p:nvSpPr>
          <p:cNvPr id="10" name="TextBox 9"/>
          <p:cNvSpPr txBox="1"/>
          <p:nvPr/>
        </p:nvSpPr>
        <p:spPr>
          <a:xfrm>
            <a:off x="457200" y="6080760"/>
            <a:ext cx="11277295" cy="320040"/>
          </a:xfrm>
          <a:prstGeom prst="rect">
            <a:avLst/>
          </a:prstGeom>
          <a:noFill/>
        </p:spPr>
        <p:txBody>
          <a:bodyPr wrap="square">
            <a:spAutoFit/>
          </a:bodyPr>
          <a:lstStyle/>
          <a:p>
            <a:pPr algn="ctr"/>
            <a:r>
              <a:rPr sz="1200" b="0" i="1">
                <a:solidFill>
                  <a:srgbClr val="666666"/>
                </a:solidFill>
                <a:latin typeface="Calibri"/>
              </a:rPr>
              <a:t>Cada flecha tiene que corresponder a una operacion existente en el diagrama de clases: si no existe, o falta la operacion o sobra la flecha.</a:t>
            </a:r>
          </a:p>
        </p:txBody>
      </p:sp>
      <p:sp>
        <p:nvSpPr>
          <p:cNvPr id="11" name="TextBox 1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Demo del dia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Herramienta:</a:t>
            </a:r>
            <a:r>
              <a:rPr sz="2000" b="0" i="0">
                <a:solidFill>
                  <a:srgbClr val="333333"/>
                </a:solidFill>
                <a:latin typeface="Calibri"/>
              </a:rPr>
              <a:t> draw.io · Mermaid Live Editor</a:t>
            </a:r>
          </a:p>
          <a:p>
            <a:pPr>
              <a:spcAft>
                <a:spcPts val="800"/>
              </a:spcAft>
            </a:pPr>
            <a:r>
              <a:rPr sz="2000" b="0" i="0">
                <a:solidFill>
                  <a:srgbClr val="333333"/>
                </a:solidFill>
                <a:latin typeface="Calibri"/>
              </a:rPr>
              <a:t>–   </a:t>
            </a:r>
            <a:r>
              <a:rPr sz="2000" b="1" i="0">
                <a:solidFill>
                  <a:srgbClr val="333333"/>
                </a:solidFill>
                <a:latin typeface="Calibri"/>
              </a:rPr>
              <a:t>Demo:</a:t>
            </a:r>
            <a:r>
              <a:rPr sz="2000" b="0" i="0">
                <a:solidFill>
                  <a:srgbClr val="333333"/>
                </a:solidFill>
                <a:latin typeface="Calibri"/>
              </a:rPr>
              <a:t> El docente toma el flujo principal ya escrito de CU-04 Agendar cita y lo convierte linea por linea en mensajes de un diagrama de secuencia en Mermaid, mostrando en vivo que cada mensaje necesita una clase dueña que lo pueda responder.</a:t>
            </a:r>
          </a:p>
          <a:p>
            <a:pPr>
              <a:spcAft>
                <a:spcPts val="800"/>
              </a:spcAft>
            </a:pPr>
            <a:r>
              <a:rPr sz="2000" b="0" i="0">
                <a:solidFill>
                  <a:srgbClr val="333333"/>
                </a:solidFill>
                <a:latin typeface="Calibri"/>
              </a:rPr>
              <a:t>–   Mismo dominio VetCare — no otro ejemplo. Aqui se diseña, no se programa.</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170432"/>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170432"/>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384048"/>
          </a:xfrm>
          <a:prstGeom prst="rect">
            <a:avLst/>
          </a:prstGeom>
          <a:noFill/>
        </p:spPr>
        <p:txBody>
          <a:bodyPr wrap="square">
            <a:spAutoFit/>
          </a:bodyPr>
          <a:lstStyle/>
          <a:p>
            <a:r>
              <a:rPr sz="2600" b="1" i="0">
                <a:solidFill>
                  <a:srgbClr val="FFFFFF"/>
                </a:solidFill>
                <a:latin typeface="Calibri"/>
              </a:rPr>
              <a:t>Herramientas de hoy</a:t>
            </a:r>
          </a:p>
        </p:txBody>
      </p:sp>
      <p:sp>
        <p:nvSpPr>
          <p:cNvPr id="5" name="TextBox 4"/>
          <p:cNvSpPr txBox="1"/>
          <p:nvPr/>
        </p:nvSpPr>
        <p:spPr>
          <a:xfrm>
            <a:off x="457200" y="566928"/>
            <a:ext cx="11277295" cy="411480"/>
          </a:xfrm>
          <a:prstGeom prst="rect">
            <a:avLst/>
          </a:prstGeom>
          <a:noFill/>
        </p:spPr>
        <p:txBody>
          <a:bodyPr wrap="square">
            <a:spAutoFit/>
          </a:bodyPr>
          <a:lstStyle/>
          <a:p>
            <a:r>
              <a:rPr sz="1400" b="0" i="0">
                <a:solidFill>
                  <a:srgbClr val="B8D8EE"/>
                </a:solidFill>
                <a:latin typeface="Calibri"/>
              </a:rPr>
              <a:t>Gratis · funcionan en el navegador</a:t>
            </a:r>
          </a:p>
        </p:txBody>
      </p:sp>
      <p:sp>
        <p:nvSpPr>
          <p:cNvPr id="6" name="Rounded Rectangle 5"/>
          <p:cNvSpPr/>
          <p:nvPr/>
        </p:nvSpPr>
        <p:spPr>
          <a:xfrm>
            <a:off x="457200"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457200"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457200"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drawio.png"/>
          <p:cNvPicPr>
            <a:picLocks noChangeAspect="1"/>
          </p:cNvPicPr>
          <p:nvPr/>
        </p:nvPicPr>
        <p:blipFill>
          <a:blip r:embed="rId2"/>
          <a:stretch>
            <a:fillRect/>
          </a:stretch>
        </p:blipFill>
        <p:spPr>
          <a:xfrm>
            <a:off x="1643329" y="1847087"/>
            <a:ext cx="1252728" cy="1252728"/>
          </a:xfrm>
          <a:prstGeom prst="rect">
            <a:avLst/>
          </a:prstGeom>
        </p:spPr>
      </p:pic>
      <p:sp>
        <p:nvSpPr>
          <p:cNvPr id="10" name="TextBox 9"/>
          <p:cNvSpPr txBox="1"/>
          <p:nvPr/>
        </p:nvSpPr>
        <p:spPr>
          <a:xfrm>
            <a:off x="530352" y="3191256"/>
            <a:ext cx="3478682" cy="621792"/>
          </a:xfrm>
          <a:prstGeom prst="rect">
            <a:avLst/>
          </a:prstGeom>
          <a:noFill/>
        </p:spPr>
        <p:txBody>
          <a:bodyPr wrap="square" anchor="t"/>
          <a:lstStyle/>
          <a:p>
            <a:pPr algn="ctr"/>
            <a:r>
              <a:rPr sz="1300" b="1" i="0">
                <a:solidFill>
                  <a:srgbClr val="095292"/>
                </a:solidFill>
                <a:latin typeface="Calibri"/>
              </a:rPr>
              <a:t>Draw.Io</a:t>
            </a:r>
          </a:p>
          <a:p>
            <a:pPr algn="ctr">
              <a:spcBef>
                <a:spcPts val="200"/>
              </a:spcBef>
            </a:pPr>
            <a:r>
              <a:rPr sz="1000" b="0" i="0">
                <a:solidFill>
                  <a:srgbClr val="666666"/>
                </a:solidFill>
                <a:latin typeface="Calibri"/>
              </a:rPr>
              <a:t>Diagramas UML y de contexto</a:t>
            </a:r>
          </a:p>
        </p:txBody>
      </p:sp>
      <p:sp>
        <p:nvSpPr>
          <p:cNvPr id="11" name="Rounded Rectangle 10"/>
          <p:cNvSpPr/>
          <p:nvPr/>
        </p:nvSpPr>
        <p:spPr>
          <a:xfrm>
            <a:off x="4283354"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283354"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283354"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4" name="Picture 13" descr="mermaid.png"/>
          <p:cNvPicPr>
            <a:picLocks noChangeAspect="1"/>
          </p:cNvPicPr>
          <p:nvPr/>
        </p:nvPicPr>
        <p:blipFill>
          <a:blip r:embed="rId3"/>
          <a:stretch>
            <a:fillRect/>
          </a:stretch>
        </p:blipFill>
        <p:spPr>
          <a:xfrm>
            <a:off x="5469483" y="1847087"/>
            <a:ext cx="1252728" cy="1252728"/>
          </a:xfrm>
          <a:prstGeom prst="rect">
            <a:avLst/>
          </a:prstGeom>
        </p:spPr>
      </p:pic>
      <p:sp>
        <p:nvSpPr>
          <p:cNvPr id="15" name="TextBox 14"/>
          <p:cNvSpPr txBox="1"/>
          <p:nvPr/>
        </p:nvSpPr>
        <p:spPr>
          <a:xfrm>
            <a:off x="4356506" y="3191256"/>
            <a:ext cx="3478682" cy="621792"/>
          </a:xfrm>
          <a:prstGeom prst="rect">
            <a:avLst/>
          </a:prstGeom>
          <a:noFill/>
        </p:spPr>
        <p:txBody>
          <a:bodyPr wrap="square" anchor="t"/>
          <a:lstStyle/>
          <a:p>
            <a:pPr algn="ctr"/>
            <a:r>
              <a:rPr sz="1300" b="1" i="0">
                <a:solidFill>
                  <a:srgbClr val="095292"/>
                </a:solidFill>
                <a:latin typeface="Calibri"/>
              </a:rPr>
              <a:t>Mermaid</a:t>
            </a:r>
          </a:p>
          <a:p>
            <a:pPr algn="ctr">
              <a:spcBef>
                <a:spcPts val="200"/>
              </a:spcBef>
            </a:pPr>
            <a:r>
              <a:rPr sz="1000" b="0" i="0">
                <a:solidFill>
                  <a:srgbClr val="666666"/>
                </a:solidFill>
                <a:latin typeface="Calibri"/>
              </a:rPr>
              <a:t>Diagramas como texto versionable</a:t>
            </a:r>
          </a:p>
        </p:txBody>
      </p:sp>
      <p:sp>
        <p:nvSpPr>
          <p:cNvPr id="16" name="Rounded Rectangle 15"/>
          <p:cNvSpPr/>
          <p:nvPr/>
        </p:nvSpPr>
        <p:spPr>
          <a:xfrm>
            <a:off x="8109508" y="1591056"/>
            <a:ext cx="3624986" cy="2331720"/>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109508" y="1591056"/>
            <a:ext cx="3624986" cy="64008"/>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109508" y="1655064"/>
            <a:ext cx="3624986" cy="27432"/>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examlab.png"/>
          <p:cNvPicPr>
            <a:picLocks noChangeAspect="1"/>
          </p:cNvPicPr>
          <p:nvPr/>
        </p:nvPicPr>
        <p:blipFill>
          <a:blip r:embed="rId4"/>
          <a:stretch>
            <a:fillRect/>
          </a:stretch>
        </p:blipFill>
        <p:spPr>
          <a:xfrm>
            <a:off x="9295638" y="1847087"/>
            <a:ext cx="1252728" cy="1252728"/>
          </a:xfrm>
          <a:prstGeom prst="rect">
            <a:avLst/>
          </a:prstGeom>
        </p:spPr>
      </p:pic>
      <p:sp>
        <p:nvSpPr>
          <p:cNvPr id="20" name="TextBox 19"/>
          <p:cNvSpPr txBox="1"/>
          <p:nvPr/>
        </p:nvSpPr>
        <p:spPr>
          <a:xfrm>
            <a:off x="8182660" y="3191256"/>
            <a:ext cx="3478682" cy="621792"/>
          </a:xfrm>
          <a:prstGeom prst="rect">
            <a:avLst/>
          </a:prstGeom>
          <a:noFill/>
        </p:spPr>
        <p:txBody>
          <a:bodyPr wrap="square" anchor="t"/>
          <a:lstStyle/>
          <a:p>
            <a:pPr algn="ctr"/>
            <a:r>
              <a:rPr sz="1300" b="1" i="0">
                <a:solidFill>
                  <a:srgbClr val="095292"/>
                </a:solidFill>
                <a:latin typeface="Calibri"/>
              </a:rPr>
              <a:t>la plataforma del curso</a:t>
            </a:r>
          </a:p>
          <a:p>
            <a:pPr algn="ctr">
              <a:spcBef>
                <a:spcPts val="200"/>
              </a:spcBef>
            </a:pPr>
            <a:r>
              <a:rPr sz="1000" b="0" i="0">
                <a:solidFill>
                  <a:srgbClr val="666666"/>
                </a:solidFill>
                <a:latin typeface="Calibri"/>
              </a:rPr>
              <a:t>Entrega del taller · en la fecha que indique el docente</a:t>
            </a:r>
          </a:p>
        </p:txBody>
      </p:sp>
      <p:sp>
        <p:nvSpPr>
          <p:cNvPr id="21" name="TextBox 20"/>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por que importa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Por que importa al PI:</a:t>
            </a:r>
            <a:r>
              <a:rPr sz="2000" b="0" i="0">
                <a:solidFill>
                  <a:srgbClr val="333333"/>
                </a:solidFill>
                <a:latin typeface="Calibri"/>
              </a:rPr>
              <a:t> los casos de uso dicen que hace VetCare y el diagrama de clases dice de que esta hecho, pero solo los diagramas de secuencia y actividad muestran como colaboran las piezas en el tiempo, que es lo que necesita quien vaya a construirlo.</a:t>
            </a:r>
          </a:p>
          <a:p>
            <a:pPr>
              <a:spcAft>
                <a:spcPts val="800"/>
              </a:spcAft>
            </a:pPr>
            <a:r>
              <a:rPr sz="2000" b="0" i="0">
                <a:solidFill>
                  <a:srgbClr val="333333"/>
                </a:solidFill>
                <a:latin typeface="Calibri"/>
              </a:rPr>
              <a:t>–   Dibujar la secuencia es la forma mas barata de descubrir que al diagrama de clases le faltan operaciones, porque cada flecha exige un dueño que la pueda responder.</a:t>
            </a:r>
          </a:p>
          <a:p>
            <a:pPr>
              <a:spcAft>
                <a:spcPts val="800"/>
              </a:spcAft>
            </a:pPr>
            <a:r>
              <a:rPr sz="2000" b="0" i="0">
                <a:solidFill>
                  <a:srgbClr val="333333"/>
                </a:solidFill>
                <a:latin typeface="Calibri"/>
              </a:rPr>
              <a:t>–   El diagrama de actividad es el unico artefacto del paquete que muestra el trabajo humano de la clinica Huellitas, incluidas las esperas y las decisiones que ocurren fuera del computador.</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punto de partida</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VetCare ya tiene casos de uso especificados y un diagrama de clases con multiplicidades, pero ningun documento explica el orden en que los objetos se comunican para cumplir un caso de uso.</a:t>
            </a:r>
          </a:p>
          <a:p>
            <a:pPr>
              <a:spcAft>
                <a:spcPts val="800"/>
              </a:spcAft>
            </a:pPr>
            <a:r>
              <a:rPr sz="2000" b="0" i="0">
                <a:solidFill>
                  <a:srgbClr val="333333"/>
                </a:solidFill>
                <a:latin typeface="Calibri"/>
              </a:rPr>
              <a:t>–   En Huellitas, agendar una cita depende de la disponibilidad del veterinario y hoy eso se resuelve preguntando en voz alta al fondo del consultorio, sin ninguna regla escrita.</a:t>
            </a:r>
          </a:p>
          <a:p>
            <a:pPr>
              <a:spcAft>
                <a:spcPts val="800"/>
              </a:spcAft>
            </a:pPr>
            <a:r>
              <a:rPr sz="2000" b="0" i="0">
                <a:solidFill>
                  <a:srgbClr val="333333"/>
                </a:solidFill>
                <a:latin typeface="Calibri"/>
              </a:rPr>
              <a:t>–   El equipo tiende a dibujar cajas y flechas por intuicion, sin volver a mirar el flujo principal que ya habia escrito hace tres sesiones.</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Taller PI — pasos guiados</a:t>
            </a:r>
          </a:p>
        </p:txBody>
      </p:sp>
      <p:sp>
        <p:nvSpPr>
          <p:cNvPr id="5" name="Rounded Rectangle 4"/>
          <p:cNvSpPr/>
          <p:nvPr/>
        </p:nvSpPr>
        <p:spPr>
          <a:xfrm>
            <a:off x="457200" y="1234440"/>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594360" y="1490472"/>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1490472"/>
            <a:ext cx="438912" cy="438912"/>
          </a:xfrm>
          <a:prstGeom prst="rect">
            <a:avLst/>
          </a:prstGeom>
          <a:noFill/>
        </p:spPr>
        <p:txBody>
          <a:bodyPr wrap="square" anchor="ctr"/>
          <a:lstStyle/>
          <a:p>
            <a:pPr algn="ctr"/>
            <a:r>
              <a:rPr sz="1600" b="1" i="0">
                <a:solidFill>
                  <a:srgbClr val="FFFFFF"/>
                </a:solidFill>
                <a:latin typeface="Calibri"/>
              </a:rPr>
              <a:t>1</a:t>
            </a:r>
          </a:p>
        </p:txBody>
      </p:sp>
      <p:sp>
        <p:nvSpPr>
          <p:cNvPr id="8" name="TextBox 7"/>
          <p:cNvSpPr txBox="1"/>
          <p:nvPr/>
        </p:nvSpPr>
        <p:spPr>
          <a:xfrm>
            <a:off x="1188720" y="1325880"/>
            <a:ext cx="10271455" cy="786384"/>
          </a:xfrm>
          <a:prstGeom prst="rect">
            <a:avLst/>
          </a:prstGeom>
          <a:noFill/>
        </p:spPr>
        <p:txBody>
          <a:bodyPr wrap="square" anchor="ctr"/>
          <a:lstStyle/>
          <a:p>
            <a:r>
              <a:rPr sz="1400" b="1" i="0">
                <a:solidFill>
                  <a:srgbClr val="095292"/>
                </a:solidFill>
                <a:latin typeface="Calibri"/>
              </a:rPr>
              <a:t>Tomar el flujo principal escrito de CU-04 Agendar cita, y si todavia no esta especificado diligenciar primero la plantilla de la clase nueve, para luego numerar en el documento cual paso genera cual mensaje, de manera que quede una lista de entre seis y ocho mensajes antes de dibujar cualquier cosa.</a:t>
            </a:r>
          </a:p>
        </p:txBody>
      </p:sp>
      <p:sp>
        <p:nvSpPr>
          <p:cNvPr id="9" name="Rounded Rectangle 8"/>
          <p:cNvSpPr/>
          <p:nvPr/>
        </p:nvSpPr>
        <p:spPr>
          <a:xfrm>
            <a:off x="457200" y="2276856"/>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2532888"/>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532888"/>
            <a:ext cx="438912" cy="438912"/>
          </a:xfrm>
          <a:prstGeom prst="rect">
            <a:avLst/>
          </a:prstGeom>
          <a:noFill/>
        </p:spPr>
        <p:txBody>
          <a:bodyPr wrap="square" anchor="ctr"/>
          <a:lstStyle/>
          <a:p>
            <a:pPr algn="ctr"/>
            <a:r>
              <a:rPr sz="1600" b="1" i="0">
                <a:solidFill>
                  <a:srgbClr val="FFFFFF"/>
                </a:solidFill>
                <a:latin typeface="Calibri"/>
              </a:rPr>
              <a:t>2</a:t>
            </a:r>
          </a:p>
        </p:txBody>
      </p:sp>
      <p:sp>
        <p:nvSpPr>
          <p:cNvPr id="12" name="TextBox 11"/>
          <p:cNvSpPr txBox="1"/>
          <p:nvPr/>
        </p:nvSpPr>
        <p:spPr>
          <a:xfrm>
            <a:off x="1188720" y="2368296"/>
            <a:ext cx="10271455" cy="786384"/>
          </a:xfrm>
          <a:prstGeom prst="rect">
            <a:avLst/>
          </a:prstGeom>
          <a:noFill/>
        </p:spPr>
        <p:txBody>
          <a:bodyPr wrap="square" anchor="ctr"/>
          <a:lstStyle/>
          <a:p>
            <a:r>
              <a:rPr sz="1400" b="1" i="0">
                <a:solidFill>
                  <a:srgbClr val="095292"/>
                </a:solidFill>
                <a:latin typeface="Calibri"/>
              </a:rPr>
              <a:t>Dibujar el diagrama de secuencia en Mermaid Live Editor o draw.io con la recepcionista como actor y minimo tres participantes que correspondan a clases reales del diagrama de clases de VetCare, incluyendo las flechas de retorno con el dato que devuelven.</a:t>
            </a:r>
          </a:p>
        </p:txBody>
      </p:sp>
      <p:sp>
        <p:nvSpPr>
          <p:cNvPr id="13" name="Rounded Rectangle 12"/>
          <p:cNvSpPr/>
          <p:nvPr/>
        </p:nvSpPr>
        <p:spPr>
          <a:xfrm>
            <a:off x="457200" y="3319272"/>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594360" y="3575304"/>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575304"/>
            <a:ext cx="438912" cy="438912"/>
          </a:xfrm>
          <a:prstGeom prst="rect">
            <a:avLst/>
          </a:prstGeom>
          <a:noFill/>
        </p:spPr>
        <p:txBody>
          <a:bodyPr wrap="square" anchor="ctr"/>
          <a:lstStyle/>
          <a:p>
            <a:pPr algn="ctr"/>
            <a:r>
              <a:rPr sz="1600" b="1" i="0">
                <a:solidFill>
                  <a:srgbClr val="FFFFFF"/>
                </a:solidFill>
                <a:latin typeface="Calibri"/>
              </a:rPr>
              <a:t>3</a:t>
            </a:r>
          </a:p>
        </p:txBody>
      </p:sp>
      <p:sp>
        <p:nvSpPr>
          <p:cNvPr id="16" name="TextBox 15"/>
          <p:cNvSpPr txBox="1"/>
          <p:nvPr/>
        </p:nvSpPr>
        <p:spPr>
          <a:xfrm>
            <a:off x="1188720" y="3410712"/>
            <a:ext cx="10271455" cy="786384"/>
          </a:xfrm>
          <a:prstGeom prst="rect">
            <a:avLst/>
          </a:prstGeom>
          <a:noFill/>
        </p:spPr>
        <p:txBody>
          <a:bodyPr wrap="square" anchor="ctr"/>
          <a:lstStyle/>
          <a:p>
            <a:r>
              <a:rPr sz="1500" b="1" i="0">
                <a:solidFill>
                  <a:srgbClr val="095292"/>
                </a:solidFill>
                <a:latin typeface="Calibri"/>
              </a:rPr>
              <a:t>Agregar un fragmento alt que modele el horario ocupado con sus dos condiciones de guarda escritas, y verificar que el camino del else corresponda a un flujo alterno documentado en la especificacion del caso de uso.</a:t>
            </a:r>
          </a:p>
        </p:txBody>
      </p:sp>
      <p:sp>
        <p:nvSpPr>
          <p:cNvPr id="17" name="Rounded Rectangle 16"/>
          <p:cNvSpPr/>
          <p:nvPr/>
        </p:nvSpPr>
        <p:spPr>
          <a:xfrm>
            <a:off x="457200" y="4361688"/>
            <a:ext cx="11277295" cy="950976"/>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94360" y="4617720"/>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 y="4617720"/>
            <a:ext cx="438912" cy="438912"/>
          </a:xfrm>
          <a:prstGeom prst="rect">
            <a:avLst/>
          </a:prstGeom>
          <a:noFill/>
        </p:spPr>
        <p:txBody>
          <a:bodyPr wrap="square" anchor="ctr"/>
          <a:lstStyle/>
          <a:p>
            <a:pPr algn="ctr"/>
            <a:r>
              <a:rPr sz="1600" b="1" i="0">
                <a:solidFill>
                  <a:srgbClr val="FFFFFF"/>
                </a:solidFill>
                <a:latin typeface="Calibri"/>
              </a:rPr>
              <a:t>4</a:t>
            </a:r>
          </a:p>
        </p:txBody>
      </p:sp>
      <p:sp>
        <p:nvSpPr>
          <p:cNvPr id="20" name="TextBox 19"/>
          <p:cNvSpPr txBox="1"/>
          <p:nvPr/>
        </p:nvSpPr>
        <p:spPr>
          <a:xfrm>
            <a:off x="1188720" y="4453128"/>
            <a:ext cx="10271455" cy="786384"/>
          </a:xfrm>
          <a:prstGeom prst="rect">
            <a:avLst/>
          </a:prstGeom>
          <a:noFill/>
        </p:spPr>
        <p:txBody>
          <a:bodyPr wrap="square" anchor="ctr"/>
          <a:lstStyle/>
          <a:p>
            <a:r>
              <a:rPr sz="1500" b="1" i="0">
                <a:solidFill>
                  <a:srgbClr val="095292"/>
                </a:solidFill>
                <a:latin typeface="Calibri"/>
              </a:rPr>
              <a:t>Construir la tabla de mapeo mensaje a operacion con tres columnas, mensaje, clase destinataria y operacion que debe existir, y agregar al diagrama de clases toda operacion que hoy falte; ninguna fila puede quedar con la clase en blanco.</a:t>
            </a:r>
          </a:p>
        </p:txBody>
      </p:sp>
      <p:sp>
        <p:nvSpPr>
          <p:cNvPr id="21" name="Rounded Rectangle 20"/>
          <p:cNvSpPr/>
          <p:nvPr/>
        </p:nvSpPr>
        <p:spPr>
          <a:xfrm>
            <a:off x="457200" y="5404104"/>
            <a:ext cx="11277295" cy="950976"/>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94360" y="5660136"/>
            <a:ext cx="438912" cy="438912"/>
          </a:xfrm>
          <a:prstGeom prst="roundRect">
            <a:avLst>
              <a:gd name="adj" fmla="val 12000"/>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 y="5660136"/>
            <a:ext cx="438912" cy="438912"/>
          </a:xfrm>
          <a:prstGeom prst="rect">
            <a:avLst/>
          </a:prstGeom>
          <a:noFill/>
        </p:spPr>
        <p:txBody>
          <a:bodyPr wrap="square" anchor="ctr"/>
          <a:lstStyle/>
          <a:p>
            <a:pPr algn="ctr"/>
            <a:r>
              <a:rPr sz="1600" b="1" i="0">
                <a:solidFill>
                  <a:srgbClr val="FFFFFF"/>
                </a:solidFill>
                <a:latin typeface="Calibri"/>
              </a:rPr>
              <a:t>5</a:t>
            </a:r>
          </a:p>
        </p:txBody>
      </p:sp>
      <p:sp>
        <p:nvSpPr>
          <p:cNvPr id="24" name="TextBox 23"/>
          <p:cNvSpPr txBox="1"/>
          <p:nvPr/>
        </p:nvSpPr>
        <p:spPr>
          <a:xfrm>
            <a:off x="1188720" y="5495544"/>
            <a:ext cx="10271455" cy="786384"/>
          </a:xfrm>
          <a:prstGeom prst="rect">
            <a:avLst/>
          </a:prstGeom>
          <a:noFill/>
        </p:spPr>
        <p:txBody>
          <a:bodyPr wrap="square" anchor="ctr"/>
          <a:lstStyle/>
          <a:p>
            <a:r>
              <a:rPr sz="1400" b="1" i="0">
                <a:solidFill>
                  <a:srgbClr val="095292"/>
                </a:solidFill>
                <a:latin typeface="Calibri"/>
              </a:rPr>
              <a:t>Dibujar el diagrama de actividad del proceso de atencion en el consultorio con cuatro calles (Propietario, Recepcionista, Veterinario y Sistema VetCare), con minimo dos nodos de decision y una bifurcacion en paralelo, y exportar todo a PDF para subirlo a la plataforma del curso.</a:t>
            </a:r>
          </a:p>
        </p:txBody>
      </p:sp>
      <p:sp>
        <p:nvSpPr>
          <p:cNvPr id="25" name="TextBox 24"/>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Antes de entregar — autochequeo</a:t>
            </a:r>
          </a:p>
        </p:txBody>
      </p:sp>
      <p:sp>
        <p:nvSpPr>
          <p:cNvPr id="5" name="Rounded Rectangle 4"/>
          <p:cNvSpPr/>
          <p:nvPr/>
        </p:nvSpPr>
        <p:spPr>
          <a:xfrm>
            <a:off x="457200" y="1261872"/>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40080" y="1408175"/>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640080" y="1408175"/>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097280" y="1353312"/>
            <a:ext cx="10362895" cy="402336"/>
          </a:xfrm>
          <a:prstGeom prst="rect">
            <a:avLst/>
          </a:prstGeom>
          <a:noFill/>
        </p:spPr>
        <p:txBody>
          <a:bodyPr wrap="square" anchor="ctr"/>
          <a:lstStyle/>
          <a:p>
            <a:r>
              <a:rPr sz="1500" b="0" i="0">
                <a:solidFill>
                  <a:srgbClr val="333333"/>
                </a:solidFill>
                <a:latin typeface="Calibri"/>
              </a:rPr>
              <a:t>Si sigue las flechas de su diagrama de arriba hacia abajo, obtiene exactamente el mismo relato que ya escribio en el flujo principal del caso de uso?</a:t>
            </a:r>
          </a:p>
        </p:txBody>
      </p:sp>
      <p:sp>
        <p:nvSpPr>
          <p:cNvPr id="9" name="Rounded Rectangle 8"/>
          <p:cNvSpPr/>
          <p:nvPr/>
        </p:nvSpPr>
        <p:spPr>
          <a:xfrm>
            <a:off x="457200" y="1938528"/>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40080" y="2084832"/>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40080" y="2084832"/>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2029968"/>
            <a:ext cx="10362895" cy="402336"/>
          </a:xfrm>
          <a:prstGeom prst="rect">
            <a:avLst/>
          </a:prstGeom>
          <a:noFill/>
        </p:spPr>
        <p:txBody>
          <a:bodyPr wrap="square" anchor="ctr"/>
          <a:lstStyle/>
          <a:p>
            <a:r>
              <a:rPr sz="1500" b="0" i="0">
                <a:solidFill>
                  <a:srgbClr val="333333"/>
                </a:solidFill>
                <a:latin typeface="Calibri"/>
              </a:rPr>
              <a:t>Cada participante de su diagrama existe como clase en el modelo, o dibujo cajas como Base de datos y Sistema que nadie puede implementar?</a:t>
            </a:r>
          </a:p>
        </p:txBody>
      </p:sp>
      <p:sp>
        <p:nvSpPr>
          <p:cNvPr id="13" name="Rounded Rectangle 12"/>
          <p:cNvSpPr/>
          <p:nvPr/>
        </p:nvSpPr>
        <p:spPr>
          <a:xfrm>
            <a:off x="457200" y="2615184"/>
            <a:ext cx="11277295" cy="566928"/>
          </a:xfrm>
          <a:prstGeom prst="roundRect">
            <a:avLst>
              <a:gd name="adj" fmla="val 12000"/>
            </a:avLst>
          </a:prstGeom>
          <a:solidFill>
            <a:srgbClr val="F2F2F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40080" y="2761488"/>
            <a:ext cx="274320" cy="274320"/>
          </a:xfrm>
          <a:prstGeom prst="rect">
            <a:avLst/>
          </a:prstGeom>
          <a:solidFill>
            <a:srgbClr val="FFFFFF"/>
          </a:solidFill>
          <a:ln>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40080" y="2761488"/>
            <a:ext cx="73152" cy="27432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2706624"/>
            <a:ext cx="10362895" cy="402336"/>
          </a:xfrm>
          <a:prstGeom prst="rect">
            <a:avLst/>
          </a:prstGeom>
          <a:noFill/>
        </p:spPr>
        <p:txBody>
          <a:bodyPr wrap="square" anchor="ctr"/>
          <a:lstStyle/>
          <a:p>
            <a:r>
              <a:rPr sz="1500" b="0" i="0">
                <a:solidFill>
                  <a:srgbClr val="333333"/>
                </a:solidFill>
                <a:latin typeface="Calibri"/>
              </a:rPr>
              <a:t>En su diagrama de actividad se puede saber, mirando solo la calle, quien es responsable de cada paso y cual de esos pasos ocurre sin tocar el computador?</a:t>
            </a:r>
          </a:p>
        </p:txBody>
      </p:sp>
      <p:sp>
        <p:nvSpPr>
          <p:cNvPr id="17" name="TextBox 16"/>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Criterios de exito / entregable</a:t>
            </a:r>
          </a:p>
        </p:txBody>
      </p:sp>
      <p:sp>
        <p:nvSpPr>
          <p:cNvPr id="5" name="TextBox 4"/>
          <p:cNvSpPr txBox="1"/>
          <p:nvPr/>
        </p:nvSpPr>
        <p:spPr>
          <a:xfrm>
            <a:off x="457200" y="1170432"/>
            <a:ext cx="11277295" cy="5230368"/>
          </a:xfrm>
          <a:prstGeom prst="rect">
            <a:avLst/>
          </a:prstGeom>
          <a:noFill/>
        </p:spPr>
        <p:txBody>
          <a:bodyPr wrap="square">
            <a:spAutoFit/>
          </a:bodyPr>
          <a:lstStyle/>
          <a:p>
            <a:pPr>
              <a:spcAft>
                <a:spcPts val="800"/>
              </a:spcAft>
            </a:pPr>
            <a:r>
              <a:rPr sz="2000" b="0" i="0">
                <a:solidFill>
                  <a:srgbClr val="333333"/>
                </a:solidFill>
                <a:latin typeface="Calibri"/>
              </a:rPr>
              <a:t>–   </a:t>
            </a:r>
            <a:r>
              <a:rPr sz="2000" b="1" i="0">
                <a:solidFill>
                  <a:srgbClr val="333333"/>
                </a:solidFill>
                <a:latin typeface="Calibri"/>
              </a:rPr>
              <a:t>Entregable:</a:t>
            </a:r>
            <a:r>
              <a:rPr sz="2000" b="0" i="0">
                <a:solidFill>
                  <a:srgbClr val="333333"/>
                </a:solidFill>
                <a:latin typeface="Calibri"/>
              </a:rPr>
              <a:t> Un PDF con el diagrama de secuencia de Agendar cita incluyendo el fragmento alt para horario ocupado, el diagrama de actividad del proceso de atencion con calles por rol, y la tabla que mapea cada mensaje del diagrama de secuencia a una operacion del diagrama de clases, subido a la plataforma del curso.</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El diagrama de secuencia reproduce el orden exacto del flujo principal de CU-04 y no inventa pasos que no esten en la especificacion.</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Todos los participantes del diagrama corresponden a actores legitimos o a clases existentes en el diagrama de clases, y aparecen las flechas de retorno con el dato que devuelven.</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Existe al menos un fragmento alt con sus dos condiciones de guarda escritas, coherente con un flujo alterno ya documentado.</a:t>
            </a:r>
          </a:p>
          <a:p>
            <a:pPr>
              <a:spcAft>
                <a:spcPts val="800"/>
              </a:spcAft>
            </a:pPr>
            <a:r>
              <a:rPr sz="2000" b="0" i="0">
                <a:solidFill>
                  <a:srgbClr val="333333"/>
                </a:solidFill>
                <a:latin typeface="Calibri"/>
              </a:rPr>
              <a:t>–   </a:t>
            </a:r>
            <a:r>
              <a:rPr sz="2000" b="1" i="0">
                <a:solidFill>
                  <a:srgbClr val="333333"/>
                </a:solidFill>
                <a:latin typeface="Calibri"/>
              </a:rPr>
              <a:t>Exito:</a:t>
            </a:r>
            <a:r>
              <a:rPr sz="2000" b="0" i="0">
                <a:solidFill>
                  <a:srgbClr val="333333"/>
                </a:solidFill>
                <a:latin typeface="Calibri"/>
              </a:rPr>
              <a:t> El diagrama de actividad tiene calles por rol, minimo dos decisiones con condiciones entre corchetes y una bifurcacion en paralelo, y la tabla de mapeo mensaje a operacion no tiene filas incompletas.</a:t>
            </a:r>
          </a:p>
          <a:p>
            <a:pPr>
              <a:spcAft>
                <a:spcPts val="800"/>
              </a:spcAft>
            </a:pPr>
            <a:r>
              <a:rPr sz="2000" b="0" i="0">
                <a:solidFill>
                  <a:srgbClr val="333333"/>
                </a:solidFill>
                <a:latin typeface="Calibri"/>
              </a:rPr>
              <a:t>–   </a:t>
            </a:r>
            <a:r>
              <a:rPr sz="2000" b="1" i="0">
                <a:solidFill>
                  <a:srgbClr val="333333"/>
                </a:solidFill>
                <a:latin typeface="Calibri"/>
              </a:rPr>
              <a:t>Entrega en la plataforma del curso</a:t>
            </a:r>
            <a:r>
              <a:rPr sz="2000" b="0" i="0">
                <a:solidFill>
                  <a:srgbClr val="333333"/>
                </a:solidFill>
                <a:latin typeface="Calibri"/>
              </a:rPr>
              <a:t> — en la fecha que indique el docente.</a:t>
            </a:r>
          </a:p>
        </p:txBody>
      </p:sp>
      <p:sp>
        <p:nvSpPr>
          <p:cNvPr id="6" name="TextBox 5"/>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960120"/>
          </a:xfrm>
          <a:prstGeom prst="rect">
            <a:avLst/>
          </a:prstGeom>
          <a:solidFill>
            <a:srgbClr val="09529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960120"/>
            <a:ext cx="12191695" cy="41148"/>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64592"/>
            <a:ext cx="11277295" cy="502920"/>
          </a:xfrm>
          <a:prstGeom prst="rect">
            <a:avLst/>
          </a:prstGeom>
          <a:noFill/>
        </p:spPr>
        <p:txBody>
          <a:bodyPr wrap="square">
            <a:spAutoFit/>
          </a:bodyPr>
          <a:lstStyle/>
          <a:p>
            <a:r>
              <a:rPr sz="2600" b="1" i="0">
                <a:solidFill>
                  <a:srgbClr val="FFFFFF"/>
                </a:solidFill>
                <a:latin typeface="Calibri"/>
              </a:rPr>
              <a:t>Para el PI esta semana</a:t>
            </a:r>
          </a:p>
        </p:txBody>
      </p:sp>
      <p:sp>
        <p:nvSpPr>
          <p:cNvPr id="5" name="Rounded Rectangle 4"/>
          <p:cNvSpPr/>
          <p:nvPr/>
        </p:nvSpPr>
        <p:spPr>
          <a:xfrm>
            <a:off x="457200" y="1261872"/>
            <a:ext cx="11277295" cy="1051560"/>
          </a:xfrm>
          <a:prstGeom prst="roundRect">
            <a:avLst>
              <a:gd name="adj" fmla="val 12000"/>
            </a:avLst>
          </a:prstGeom>
          <a:solidFill>
            <a:srgbClr val="E8F4F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457200" y="1261872"/>
            <a:ext cx="128016" cy="1051560"/>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399031"/>
            <a:ext cx="10774375" cy="822959"/>
          </a:xfrm>
          <a:prstGeom prst="rect">
            <a:avLst/>
          </a:prstGeom>
          <a:noFill/>
        </p:spPr>
        <p:txBody>
          <a:bodyPr wrap="square">
            <a:spAutoFit/>
          </a:bodyPr>
          <a:lstStyle/>
          <a:p>
            <a:r>
              <a:rPr sz="1200" b="1" i="0">
                <a:solidFill>
                  <a:srgbClr val="269CCB"/>
                </a:solidFill>
                <a:latin typeface="Calibri"/>
              </a:rPr>
              <a:t>Info</a:t>
            </a:r>
          </a:p>
          <a:p>
            <a:pPr>
              <a:spcBef>
                <a:spcPts val="400"/>
              </a:spcBef>
            </a:pPr>
            <a:r>
              <a:rPr sz="1400" b="0" i="0">
                <a:solidFill>
                  <a:srgbClr val="333333"/>
                </a:solidFill>
                <a:latin typeface="Calibri"/>
              </a:rPr>
              <a:t>Hito: Queda modelada la dinamica de VetCare: el diagrama de secuencia del caso de uso Agendar cita y el diagrama de actividad del proceso de atencion en el consultorio.</a:t>
            </a:r>
          </a:p>
        </p:txBody>
      </p:sp>
      <p:sp>
        <p:nvSpPr>
          <p:cNvPr id="8" name="Rounded Rectangle 7"/>
          <p:cNvSpPr/>
          <p:nvPr/>
        </p:nvSpPr>
        <p:spPr>
          <a:xfrm>
            <a:off x="457200" y="2478024"/>
            <a:ext cx="11277295" cy="1051560"/>
          </a:xfrm>
          <a:prstGeom prst="roundRect">
            <a:avLst>
              <a:gd name="adj" fmla="val 12000"/>
            </a:avLst>
          </a:prstGeom>
          <a:solidFill>
            <a:srgbClr val="FFF8E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2478024"/>
            <a:ext cx="128016" cy="1051560"/>
          </a:xfrm>
          <a:prstGeom prst="rect">
            <a:avLst/>
          </a:prstGeom>
          <a:solidFill>
            <a:srgbClr val="FFD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615184"/>
            <a:ext cx="10774375" cy="822959"/>
          </a:xfrm>
          <a:prstGeom prst="rect">
            <a:avLst/>
          </a:prstGeom>
          <a:noFill/>
        </p:spPr>
        <p:txBody>
          <a:bodyPr wrap="square">
            <a:spAutoFit/>
          </a:bodyPr>
          <a:lstStyle/>
          <a:p>
            <a:r>
              <a:rPr sz="1200" b="1" i="0">
                <a:solidFill>
                  <a:srgbClr val="FFD000"/>
                </a:solidFill>
                <a:latin typeface="Calibri"/>
              </a:rPr>
              <a:t>Aclaración</a:t>
            </a:r>
          </a:p>
          <a:p>
            <a:pPr>
              <a:spcBef>
                <a:spcPts val="400"/>
              </a:spcBef>
            </a:pPr>
            <a:r>
              <a:rPr sz="1400" b="0" i="0">
                <a:solidFill>
                  <a:srgbClr val="333333"/>
                </a:solidFill>
                <a:latin typeface="Calibri"/>
              </a:rPr>
              <a:t>Enunciado completo: Clases/Proyecto Integrador/ (VetCare).</a:t>
            </a:r>
          </a:p>
        </p:txBody>
      </p:sp>
      <p:sp>
        <p:nvSpPr>
          <p:cNvPr id="11" name="Rounded Rectangle 10"/>
          <p:cNvSpPr/>
          <p:nvPr/>
        </p:nvSpPr>
        <p:spPr>
          <a:xfrm>
            <a:off x="457200" y="3694176"/>
            <a:ext cx="11277295" cy="1051560"/>
          </a:xfrm>
          <a:prstGeom prst="roundRect">
            <a:avLst>
              <a:gd name="adj" fmla="val 12000"/>
            </a:avLst>
          </a:prstGeom>
          <a:solidFill>
            <a:srgbClr val="FBE4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57200" y="3694176"/>
            <a:ext cx="128016" cy="1051560"/>
          </a:xfrm>
          <a:prstGeom prst="rect">
            <a:avLst/>
          </a:prstGeom>
          <a:solidFill>
            <a:srgbClr val="A0203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3831336"/>
            <a:ext cx="10774375" cy="822959"/>
          </a:xfrm>
          <a:prstGeom prst="rect">
            <a:avLst/>
          </a:prstGeom>
          <a:noFill/>
        </p:spPr>
        <p:txBody>
          <a:bodyPr wrap="square">
            <a:spAutoFit/>
          </a:bodyPr>
          <a:lstStyle/>
          <a:p>
            <a:r>
              <a:rPr sz="1200" b="1" i="0">
                <a:solidFill>
                  <a:srgbClr val="A02030"/>
                </a:solidFill>
                <a:latin typeface="Calibri"/>
              </a:rPr>
              <a:t>Atención</a:t>
            </a:r>
          </a:p>
          <a:p>
            <a:pPr>
              <a:spcBef>
                <a:spcPts val="400"/>
              </a:spcBef>
            </a:pPr>
            <a:r>
              <a:rPr sz="1400" b="0" i="0">
                <a:solidFill>
                  <a:srgbClr val="333333"/>
                </a:solidFill>
                <a:latin typeface="Calibri"/>
              </a:rPr>
              <a:t>Entrega del taller, si el docente lo asigna · en la fecha que indique el docente.</a:t>
            </a:r>
          </a:p>
        </p:txBody>
      </p:sp>
      <p:sp>
        <p:nvSpPr>
          <p:cNvPr id="14" name="TextBox 13"/>
          <p:cNvSpPr txBox="1"/>
          <p:nvPr/>
        </p:nvSpPr>
        <p:spPr>
          <a:xfrm>
            <a:off x="11185855" y="6473952"/>
            <a:ext cx="640080" cy="274320"/>
          </a:xfrm>
          <a:prstGeom prst="rect">
            <a:avLst/>
          </a:prstGeom>
          <a:noFill/>
        </p:spPr>
        <p:txBody>
          <a:bodyPr wrap="square">
            <a:spAutoFit/>
          </a:bodyPr>
          <a:lstStyle/>
          <a:p>
            <a:pPr algn="r"/>
            <a:r>
              <a:rPr sz="1100" b="0" i="0">
                <a:solidFill>
                  <a:srgbClr val="666666"/>
                </a:solidFill>
                <a:latin typeface="Calibri"/>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64592"/>
          </a:xfrm>
          <a:prstGeom prst="rect">
            <a:avLst/>
          </a:prstGeom>
          <a:solidFill>
            <a:srgbClr val="269CC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logo_uniajc_color.png"/>
          <p:cNvPicPr>
            <a:picLocks noChangeAspect="1"/>
          </p:cNvPicPr>
          <p:nvPr/>
        </p:nvPicPr>
        <p:blipFill>
          <a:blip r:embed="rId2"/>
          <a:stretch>
            <a:fillRect/>
          </a:stretch>
        </p:blipFill>
        <p:spPr>
          <a:xfrm>
            <a:off x="10271455" y="5998464"/>
            <a:ext cx="1463040" cy="643233"/>
          </a:xfrm>
          <a:prstGeom prst="rect">
            <a:avLst/>
          </a:prstGeom>
        </p:spPr>
      </p:pic>
      <p:sp>
        <p:nvSpPr>
          <p:cNvPr id="4" name="TextBox 3"/>
          <p:cNvSpPr txBox="1"/>
          <p:nvPr/>
        </p:nvSpPr>
        <p:spPr>
          <a:xfrm>
            <a:off x="457200" y="1737360"/>
            <a:ext cx="11277295" cy="1097280"/>
          </a:xfrm>
          <a:prstGeom prst="rect">
            <a:avLst/>
          </a:prstGeom>
          <a:noFill/>
        </p:spPr>
        <p:txBody>
          <a:bodyPr wrap="square" anchor="ctr"/>
          <a:lstStyle/>
          <a:p>
            <a:pPr algn="ctr"/>
            <a:r>
              <a:rPr sz="3400" b="1" i="0">
                <a:solidFill>
                  <a:srgbClr val="095292"/>
                </a:solidFill>
                <a:latin typeface="Calibri"/>
              </a:rPr>
              <a:t>Clase 12 · VetCare avanza</a:t>
            </a:r>
          </a:p>
        </p:txBody>
      </p:sp>
      <p:sp>
        <p:nvSpPr>
          <p:cNvPr id="5" name="TextBox 4"/>
          <p:cNvSpPr txBox="1"/>
          <p:nvPr/>
        </p:nvSpPr>
        <p:spPr>
          <a:xfrm>
            <a:off x="457200" y="3017520"/>
            <a:ext cx="11277295" cy="1645920"/>
          </a:xfrm>
          <a:prstGeom prst="rect">
            <a:avLst/>
          </a:prstGeom>
          <a:noFill/>
        </p:spPr>
        <p:txBody>
          <a:bodyPr wrap="square">
            <a:spAutoFit/>
          </a:bodyPr>
          <a:lstStyle/>
          <a:p>
            <a:pPr algn="ctr">
              <a:spcAft>
                <a:spcPts val="600"/>
              </a:spcAft>
            </a:pPr>
            <a:r>
              <a:rPr sz="1600" b="0" i="0">
                <a:solidFill>
                  <a:srgbClr val="333333"/>
                </a:solidFill>
                <a:latin typeface="Calibri"/>
              </a:rPr>
              <a:t>Queda modelada la dinamica de VetCare: el diagrama de secuencia del caso de uso Agendar cita y el diagrama de actividad del proceso de atencion en el consultorio.</a:t>
            </a:r>
          </a:p>
          <a:p>
            <a:pPr algn="ctr">
              <a:spcAft>
                <a:spcPts val="600"/>
              </a:spcAft>
            </a:pPr>
            <a:r>
              <a:rPr sz="1600" b="0" i="0">
                <a:solidFill>
                  <a:srgbClr val="333333"/>
                </a:solidFill>
                <a:latin typeface="Calibri"/>
              </a:rPr>
              <a:t>Entregable: Un PDF con el diagrama de secuencia de Agendar cita incluyendo el fragmento alt para horario ocupado, el diagrama de actividad del proceso de atencion con calles por rol, y la tabla que mapea cada mensaje del diagrama de secuencia a una operacion del diagrama de clases, subido a la plataforma del curso.</a:t>
            </a:r>
          </a:p>
          <a:p>
            <a:pPr algn="ctr">
              <a:spcAft>
                <a:spcPts val="600"/>
              </a:spcAft>
            </a:pPr>
            <a:r>
              <a:rPr sz="1600" b="0" i="0">
                <a:solidFill>
                  <a:srgbClr val="333333"/>
                </a:solidFill>
                <a:latin typeface="Calibri"/>
              </a:rPr>
              <a:t>Siguiente clase: continuamos el hilo del PI</a:t>
            </a:r>
          </a:p>
        </p:txBody>
      </p:sp>
      <p:sp>
        <p:nvSpPr>
          <p:cNvPr id="6" name="TextBox 5"/>
          <p:cNvSpPr txBox="1"/>
          <p:nvPr/>
        </p:nvSpPr>
        <p:spPr>
          <a:xfrm>
            <a:off x="457200" y="4754880"/>
            <a:ext cx="11277295" cy="640080"/>
          </a:xfrm>
          <a:prstGeom prst="rect">
            <a:avLst/>
          </a:prstGeom>
          <a:noFill/>
        </p:spPr>
        <p:txBody>
          <a:bodyPr wrap="square">
            <a:spAutoFit/>
          </a:bodyPr>
          <a:lstStyle/>
          <a:p>
            <a:pPr algn="ctr"/>
            <a:r>
              <a:rPr sz="2000" b="1" i="0">
                <a:solidFill>
                  <a:srgbClr val="269CCB"/>
                </a:solidFill>
                <a:latin typeface="Calibri"/>
              </a:rPr>
              <a:t>Teoria al servicio del proyecto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