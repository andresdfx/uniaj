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2000" b="0" i="0">
                <a:solidFill>
                  <a:srgbClr val="333333"/>
                </a:solidFill>
                <a:latin typeface="Calibri"/>
              </a:rPr>
              <a:t>–   Herramienta: </a:t>
            </a:r>
            <a:r>
              <a:rPr sz="2000" b="1" i="0">
                <a:solidFill>
                  <a:srgbClr val="333333"/>
                </a:solidFill>
                <a:latin typeface="Calibri"/>
              </a:rPr>
              <a:t>draw.io · Mermaid Live Editor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Hasta ahora todos los modelos de VetCare han sido estaticos: el...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Hasta ahora todos los modelos de VetCare han sido estaticos: el diagrama de clases dice que existe una clase Cita con sus atributos, y la especificacion de caso de uso dice que la recepcionista agenda.</a:t>
            </a:r>
          </a:p>
          <a:p>
            <a:pPr>
              <a:spcAft>
                <a:spcPts val="800"/>
              </a:spcAft>
            </a:pPr>
            <a:r>
              <a:rPr sz="2000" b="0" i="0">
                <a:solidFill>
                  <a:srgbClr val="333333"/>
                </a:solidFill>
                <a:latin typeface="Calibri"/>
              </a:rPr>
              <a:t>–   Para eso existe el diagrama de secuencia, que es un modelo del tiempo: arriba se dibujan los participantes, de cada uno baja una linea de vida y el tiempo transcurre hacia abajo, de modo que el orden vertical de las flechas es el orden real de los eventos.</a:t>
            </a:r>
          </a:p>
          <a:p>
            <a:pPr>
              <a:spcAft>
                <a:spcPts val="800"/>
              </a:spcAft>
            </a:pPr>
            <a:r>
              <a:rPr sz="2000" b="0" i="0">
                <a:solidFill>
                  <a:srgbClr val="333333"/>
                </a:solidFill>
                <a:latin typeface="Calibri"/>
              </a:rPr>
              <a:t>–   Cada flecha es un mensaje, es decir, la peticion de un objeto a otro para que haga algo; la flecha llena representa una llamada sincrona, donde quien pide se queda esperando la respuesta, y la flecha punteada representa el retorno con el resultado.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Hasta ahora todos los modelos de VetCare han sido estaticos: el...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agendar una cita se ve como una cadena corta y clara: la recepcionista le habla a la pantalla de agenda, la pantalla le habla al control de agenda</a:t>
            </a:r>
          </a:p>
          <a:p>
            <a:pPr>
              <a:spcAft>
                <a:spcPts val="800"/>
              </a:spcAft>
            </a:pPr>
            <a:r>
              <a:rPr sz="2000" b="0" i="0">
                <a:solidFill>
                  <a:srgbClr val="333333"/>
                </a:solidFill>
                <a:latin typeface="Calibri"/>
              </a:rPr>
              <a:t>–   El control verifica la mascota, le pregunta al repositorio de citas por la disponibilidad y devuelve una confirmacion con el identificador de la cita.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actividad responde a otra pregunta completamente...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actividad responde a otra pregunta completamente distinta: no quien le habla a quien, sino en que orden ocurre el trabajo y quien es responsable de cada paso, incluyendo pasos que suceden fuera del computador.</a:t>
            </a:r>
          </a:p>
          <a:p>
            <a:pPr>
              <a:spcAft>
                <a:spcPts val="800"/>
              </a:spcAft>
            </a:pPr>
            <a:r>
              <a:rPr sz="2000" b="0" i="0">
                <a:solidFill>
                  <a:srgbClr val="333333"/>
                </a:solidFill>
                <a:latin typeface="Calibri"/>
              </a:rPr>
              <a:t>–   Sus elementos son nodo inicial, acciones, nodos de decision con condiciones escritas entre corchetes, nodos de union, barras de bifurcacion y sincronizacion para el trabajo que ocurre en paralelo, y nodo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actividad responde a otra pregunta completamente...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que lo vuelve realmente util en un proyecto como VetCare son las particiones o calles: una franja por cada rol, de modo que al mirar el dibujo se sabe de un vistazo que hace el Propietario</a:t>
            </a:r>
          </a:p>
          <a:p>
            <a:pPr>
              <a:spcAft>
                <a:spcPts val="800"/>
              </a:spcAft>
            </a:pPr>
            <a:r>
              <a:rPr sz="2000" b="0" i="0">
                <a:solidFill>
                  <a:srgbClr val="333333"/>
                </a:solidFill>
                <a:latin typeface="Calibri"/>
              </a:rPr>
              <a:t>–   Que hace la Recepcionista, que hace el Veterinario y que hace el sistema.</a:t>
            </a:r>
          </a:p>
          <a:p>
            <a:pPr>
              <a:spcAft>
                <a:spcPts val="800"/>
              </a:spcAft>
            </a:pPr>
            <a:r>
              <a:rPr sz="2000" b="0" i="0">
                <a:solidFill>
                  <a:srgbClr val="333333"/>
                </a:solidFill>
                <a:latin typeface="Calibri"/>
              </a:rPr>
              <a:t>–   Ese dibujo revela algo que ni los casos de uso ni las clases muestran: donde estan los cuellos de botella del proceso real de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pregunta practica es cuando usar cada uno, y la respuesta se decide...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practica es cuando usar cada uno, y la respuesta se decide por el tipo de duda que se quiere resolver.</a:t>
            </a:r>
          </a:p>
          <a:p>
            <a:pPr>
              <a:spcAft>
                <a:spcPts val="800"/>
              </a:spcAft>
            </a:pPr>
            <a:r>
              <a:rPr sz="2000" b="0" i="0">
                <a:solidFill>
                  <a:srgbClr val="333333"/>
                </a:solidFill>
                <a:latin typeface="Calibri"/>
              </a:rPr>
              <a:t>–   Si la duda es de responsabilidades, es decir, cual objeto deberia encargarse de esto y con quien tiene que hablar para lograrlo, el diagrama correcto es el de secuencia</a:t>
            </a:r>
          </a:p>
          <a:p>
            <a:pPr>
              <a:spcAft>
                <a:spcPts val="800"/>
              </a:spcAft>
            </a:pPr>
            <a:r>
              <a:rPr sz="2000" b="0" i="0">
                <a:solidFill>
                  <a:srgbClr val="333333"/>
                </a:solidFill>
                <a:latin typeface="Calibri"/>
              </a:rPr>
              <a:t>–   Porque obliga a que cada mensaje tenga un destinatario concreto y por lo tanto una clase que lo sepa atender.</a:t>
            </a:r>
          </a:p>
          <a:p>
            <a:pPr>
              <a:spcAft>
                <a:spcPts val="800"/>
              </a:spcAft>
            </a:pPr>
            <a:r>
              <a:rPr sz="2000" b="0" i="0">
                <a:solidFill>
                  <a:srgbClr val="333333"/>
                </a:solidFill>
                <a:latin typeface="Calibri"/>
              </a:rPr>
              <a:t>–   Si la duda es de proceso, es decir, en que orden hace la gente las cosas, donde se decide algo y que pasa en paralelo, el diagrama correcto es el de actividad</a:t>
            </a:r>
          </a:p>
          <a:p>
            <a:pPr>
              <a:spcAft>
                <a:spcPts val="800"/>
              </a:spcAft>
            </a:pPr>
            <a:r>
              <a:rPr sz="2000" b="0" i="0">
                <a:solidFill>
                  <a:srgbClr val="333333"/>
                </a:solidFill>
                <a:latin typeface="Calibri"/>
              </a:rPr>
              <a:t>–   Porque admite pasos manuales, decisiones del negocio y actores humanos que no son objetos de software.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pregunta practica es cuando usar cada uno, y la respuesta se decide...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regla practica para el aula: el diagrama de secuencia se dibuja para un caso de uso y suele cubrir su flujo principal; el diagrama de actividad se dibuja para un proceso de negocio que puede atravesar varios casos de uso.</a:t>
            </a:r>
          </a:p>
          <a:p>
            <a:pPr>
              <a:spcAft>
                <a:spcPts val="800"/>
              </a:spcAft>
            </a:pPr>
            <a:r>
              <a:rPr sz="2000" b="0" i="0">
                <a:solidFill>
                  <a:srgbClr val="333333"/>
                </a:solidFill>
                <a:latin typeface="Calibri"/>
              </a:rPr>
              <a:t>–   En VetCare, CU-04 Agendar cita se modela con secuencia; la atencion completa desde que el propietario entra por la puerta hasta que sale con la factura se modela con actividad, porque incluye conversaciones y esperas que ningun objeto del sistema ejecuta.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Estos diagramas no se inventan desde cero: se derivan de lo que ya esta...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Estos diagramas no se inventan desde cero: se derivan de lo que ya esta escrito, y ahi esta la parte que separa a un estudiante que entendio de uno que solo dibujo.</a:t>
            </a:r>
          </a:p>
          <a:p>
            <a:pPr>
              <a:spcAft>
                <a:spcPts val="800"/>
              </a:spcAft>
            </a:pPr>
            <a:r>
              <a:rPr sz="2000" b="0" i="0">
                <a:solidFill>
                  <a:srgbClr val="333333"/>
                </a:solidFill>
                <a:latin typeface="Calibri"/>
              </a:rPr>
              <a:t>–   Si el paso 2 de CU-04 dice que el sistema verifica la disponibilidad del veterinario para esa fecha, entonces debe existir un mensaje llamado consultarDisponibilidad dirigido a algun participante</a:t>
            </a:r>
          </a:p>
          <a:p>
            <a:pPr>
              <a:spcAft>
                <a:spcPts val="800"/>
              </a:spcAft>
            </a:pPr>
            <a:r>
              <a:rPr sz="2000" b="0" i="0">
                <a:solidFill>
                  <a:srgbClr val="333333"/>
                </a:solidFill>
                <a:latin typeface="Calibri"/>
              </a:rPr>
              <a:t>–   Y ese participante debe ser una clase que exista en el diagrama de clases.</a:t>
            </a:r>
          </a:p>
          <a:p>
            <a:pPr>
              <a:spcAft>
                <a:spcPts val="800"/>
              </a:spcAft>
            </a:pPr>
            <a:r>
              <a:rPr sz="2000" b="0" i="0">
                <a:solidFill>
                  <a:srgbClr val="333333"/>
                </a:solidFill>
                <a:latin typeface="Calibri"/>
              </a:rPr>
              <a:t>–   Aqui aparece el hallazgo tipico y valiosisimo: al dibujar la secuencia el equipo descubre que envio un mensaje a una clase que no tiene esa operacion, o peor, a una clase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flujos alternos tambien se modelan, y para eso existen 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flujos alternos tambien se modelan, y para eso existen los fragmentos combinados, que son esos recuadros con una etiqueta en la esquina.</a:t>
            </a:r>
          </a:p>
          <a:p>
            <a:pPr>
              <a:spcAft>
                <a:spcPts val="800"/>
              </a:spcAft>
            </a:pPr>
            <a:r>
              <a:rPr sz="2000" b="0" i="0">
                <a:solidFill>
                  <a:srgbClr val="333333"/>
                </a:solidFill>
                <a:latin typeface="Calibri"/>
              </a:rPr>
              <a:t>–   El fragmento alt representa caminos excluyentes con sus condiciones de guarda escritas entre corchetes</a:t>
            </a:r>
          </a:p>
          <a:p>
            <a:pPr>
              <a:spcAft>
                <a:spcPts val="800"/>
              </a:spcAft>
            </a:pPr>
            <a:r>
              <a:rPr sz="2000" b="0" i="0">
                <a:solidFill>
                  <a:srgbClr val="333333"/>
                </a:solidFill>
                <a:latin typeface="Calibri"/>
              </a:rPr>
              <a:t>–   Y es el que usamos en VetCare para el horario ocupado: si hay disponibilidad se guarda la cita y se confirma, si no la hay el sistema ofrece alternativas del dia siguiente.</a:t>
            </a:r>
          </a:p>
          <a:p>
            <a:pPr>
              <a:spcAft>
                <a:spcPts val="800"/>
              </a:spcAft>
            </a:pPr>
            <a:r>
              <a:rPr sz="2000" b="0" i="0">
                <a:solidFill>
                  <a:srgbClr val="333333"/>
                </a:solidFill>
                <a:latin typeface="Calibri"/>
              </a:rPr>
              <a:t>–   El fragmento opt es un camino opcional que puede ocurrir o no, como enviar el recordatorio si el propietario autorizo mensajeria.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flujos alternos tambien se modelan, y para eso existen 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fragmento loop repite un bloque, por ejemplo mientras el veterinario agrega varias vacunas al expediente.</a:t>
            </a:r>
          </a:p>
          <a:p>
            <a:pPr>
              <a:spcAft>
                <a:spcPts val="800"/>
              </a:spcAft>
            </a:pPr>
            <a:r>
              <a:rPr sz="2000" b="0" i="0">
                <a:solidFill>
                  <a:srgbClr val="333333"/>
                </a:solidFill>
                <a:latin typeface="Calibri"/>
              </a:rPr>
              <a:t>–   La disciplina que hay que enseñar aqui es de alcance: un diagrama de secuencia no debe intentar mostrar los quince alternos posibles, porque se vuelve ilegible y nadie lo lee.</a:t>
            </a:r>
          </a:p>
          <a:p>
            <a:pPr>
              <a:spcAft>
                <a:spcPts val="800"/>
              </a:spcAft>
            </a:pPr>
            <a:r>
              <a:rPr sz="2000" b="0" i="0">
                <a:solidFill>
                  <a:srgbClr val="333333"/>
                </a:solidFill>
                <a:latin typeface="Calibri"/>
              </a:rPr>
              <a:t>–   La practica sana es dibujar el camino feliz completo mas uno o dos fragmentos que representen las decisiones criticas del negocio, y dejar el resto documentado en el texto de la especificacion, que para eso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p:txBody>
      </p:sp>
      <p:sp>
        <p:nvSpPr>
          <p:cNvPr id="9" name="TextBox 8"/>
          <p:cNvSpPr txBox="1"/>
          <p:nvPr/>
        </p:nvSpPr>
        <p:spPr>
          <a:xfrm>
            <a:off x="6233007"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10" name="TextBox 9"/>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1" name="TextBox 1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Mermaid Live Editor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20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20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20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20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secuencia reproduce el orden exacto del flujo principal de CU-04 y no inventa pasos que no esten en la especificacion.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al menos un fragmento alt con sus dos condiciones de guarda escritas, coherente con un flujo alterno ya documentado.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