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cascada es el recorrido lineal llevado a su version formal: las fases van una detras de otra y cada una termina con un documento que alguien firma.</a:t>
            </a:r>
          </a:p>
          <a:p>
            <a:pPr>
              <a:spcAft>
                <a:spcPts val="800"/>
              </a:spcAft>
            </a:pPr>
            <a:r>
              <a:rPr sz="2000" b="0" i="0">
                <a:solidFill>
                  <a:srgbClr val="333333"/>
                </a:solidFill>
                <a:latin typeface="Calibri"/>
              </a:rPr>
              <a:t>–   Ese documento es la puerta de entrada a la siguiente fase; si no esta aprobado, no se avanza.</a:t>
            </a:r>
          </a:p>
          <a:p>
            <a:pPr>
              <a:spcAft>
                <a:spcPts val="800"/>
              </a:spcAft>
            </a:pPr>
            <a:r>
              <a:rPr sz="2000" b="0" i="0">
                <a:solidFill>
                  <a:srgbClr val="333333"/>
                </a:solidFill>
                <a:latin typeface="Calibri"/>
              </a:rPr>
              <a:t>–   Cuando el documento de requisitos se aprueba, se convierte en linea base, es decir, la version oficial contra la cual se va a medir todo lo demas.</a:t>
            </a:r>
          </a:p>
          <a:p>
            <a:pPr>
              <a:spcAft>
                <a:spcPts val="800"/>
              </a:spcAft>
            </a:pPr>
            <a:r>
              <a:rPr sz="2000" b="0" i="0">
                <a:solidFill>
                  <a:srgbClr val="333333"/>
                </a:solidFill>
                <a:latin typeface="Calibri"/>
              </a:rPr>
              <a:t>–   La idea de fondo es sencilla y muy usada en ingenieria civil: corregir un plano cuesta una borrada, corregir un muro construido cuesta demoler.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cascada es el recorrido lineal llevado a su version...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Trasladado a la clinica: si la clinica aprueba que la busqueda se hace por nombre de la mascota y por documento del propietario, ese acuerdo queda escrito, fechado y versionado</a:t>
            </a:r>
          </a:p>
          <a:p>
            <a:pPr>
              <a:spcAft>
                <a:spcPts val="800"/>
              </a:spcAft>
            </a:pPr>
            <a:r>
              <a:rPr sz="2000" b="0" i="0">
                <a:solidFill>
                  <a:srgbClr val="333333"/>
                </a:solidFill>
                <a:latin typeface="Calibri"/>
              </a:rPr>
              <a:t>–   Y a partir de ahi el equipo diseña con la tranquilidad de que el piso no se le va a mover.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toma la cascada y la dobla en forma de letra V para...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modelo en V toma la cascada y la dobla en forma de letra V para dejar visible algo que la cascada esconde: cada fase de la izquierda tiene su prueba correspondiente a la derecha.</a:t>
            </a:r>
          </a:p>
          <a:p>
            <a:pPr>
              <a:spcAft>
                <a:spcPts val="800"/>
              </a:spcAft>
            </a:pPr>
            <a:r>
              <a:rPr sz="2000" b="0" i="0">
                <a:solidFill>
                  <a:srgbClr val="333333"/>
                </a:solidFill>
                <a:latin typeface="Calibri"/>
              </a:rPr>
              <a:t>–   La consecuencia practica es enorme: la prueba se diseña al mismo tiempo que el requisito, no al final.</a:t>
            </a:r>
          </a:p>
          <a:p>
            <a:pPr>
              <a:spcAft>
                <a:spcPts val="800"/>
              </a:spcAft>
            </a:pPr>
            <a:r>
              <a:rPr sz="2000" b="0" i="0">
                <a:solidFill>
                  <a:srgbClr val="333333"/>
                </a:solidFill>
                <a:latin typeface="Calibri"/>
              </a:rPr>
              <a:t>–   En el sistema de la clinica, cuando se escribe el requisito RF-03 'la veterinaria busca la historia clinica por nombre o por documento'</a:t>
            </a:r>
          </a:p>
          <a:p>
            <a:pPr>
              <a:spcAft>
                <a:spcPts val="800"/>
              </a:spcAft>
            </a:pPr>
            <a:r>
              <a:rPr sz="2000" b="0" i="0">
                <a:solidFill>
                  <a:srgbClr val="333333"/>
                </a:solidFill>
                <a:latin typeface="Calibri"/>
              </a:rPr>
              <a:t>–   En ese mismo momento se escribe el caso de prueba CP-ACEP-07: con 5.000 fichas cargadas, escribir Rocky y obtener la ficha en menos de tres segundos y en maximo tres clics.</a:t>
            </a:r>
          </a:p>
          <a:p>
            <a:pPr>
              <a:spcAft>
                <a:spcPts val="800"/>
              </a:spcAft>
            </a:pPr>
            <a:r>
              <a:rPr sz="2000" b="0" i="0">
                <a:solidFill>
                  <a:srgbClr val="333333"/>
                </a:solidFill>
                <a:latin typeface="Calibri"/>
              </a:rPr>
              <a:t>–   Aqui aparecen dos palabras que hay que distinguir: verificar es preguntarse si construimos el sistema correctamente segun el documento; validar es preguntarse si construimos el sistema correcto para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SI tienen sentido estos modelos?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los requisitos son estables y se conocen desde el principio, cuando el contrato es a precio fijo o viene de una licitacion publica y el alcance debe estar cerrado para poder cotizar</a:t>
            </a:r>
          </a:p>
          <a:p>
            <a:pPr>
              <a:spcAft>
                <a:spcPts val="800"/>
              </a:spcAft>
            </a:pPr>
            <a:r>
              <a:rPr sz="2000" b="0" i="0">
                <a:solidFill>
                  <a:srgbClr val="333333"/>
                </a:solidFill>
                <a:latin typeface="Calibri"/>
              </a:rPr>
              <a:t>–   Cuando el sistema es critico o esta regulado (equipos medicos, aviacion, banca, manejo de historia clinica con normativa de proteccion de datos) y cuando hay varios proveedores que necesitan un documento comun para poder trabajar en paralelo.</a:t>
            </a:r>
          </a:p>
          <a:p>
            <a:pPr>
              <a:spcAft>
                <a:spcPts val="800"/>
              </a:spcAft>
            </a:pPr>
            <a:r>
              <a:rPr sz="2000" b="0" i="0">
                <a:solidFill>
                  <a:srgbClr val="333333"/>
                </a:solidFill>
                <a:latin typeface="Calibri"/>
              </a:rPr>
              <a:t>–   En el sistema de la clinica hay partes que caben perfecto en este enfoque: los datos basicos de un paciente casi no cambian</a:t>
            </a:r>
          </a:p>
          <a:p>
            <a:pPr>
              <a:spcAft>
                <a:spcPts val="800"/>
              </a:spcAft>
            </a:pPr>
            <a:r>
              <a:rPr sz="2000" b="0" i="0">
                <a:solidFill>
                  <a:srgbClr val="333333"/>
                </a:solidFill>
                <a:latin typeface="Calibri"/>
              </a:rPr>
              <a:t>–   Y si mañana la clinica conecta facturacion electronica, las reglas de esa parte vienen impuestas por la norma y no se negocian con el cliente.</a:t>
            </a:r>
          </a:p>
          <a:p>
            <a:pPr>
              <a:spcAft>
                <a:spcPts val="800"/>
              </a:spcAft>
            </a:pPr>
            <a:r>
              <a:rPr sz="2000" b="0" i="0">
                <a:solidFill>
                  <a:srgbClr val="333333"/>
                </a:solidFill>
                <a:latin typeface="Calibri"/>
              </a:rPr>
              <a:t>–   En esos casos escribir todo el detalle antes no es burocracia, es la unica forma de estimar y de cumplir.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tienen sentido?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cuando el dominio es nuevo para el equipo, cuando el tiempo hasta la primera entrega visible es tan largo que el negocio cambia antes de recibir nada</a:t>
            </a:r>
          </a:p>
          <a:p>
            <a:pPr>
              <a:spcAft>
                <a:spcPts val="800"/>
              </a:spcAft>
            </a:pPr>
            <a:r>
              <a:rPr sz="2000" b="0" i="0">
                <a:solidFill>
                  <a:srgbClr val="333333"/>
                </a:solidFill>
                <a:latin typeface="Calibri"/>
              </a:rPr>
              <a:t>–   Y cuando integrar todo de un solo golpe al final concentra el riesgo en el peor momento.</a:t>
            </a:r>
          </a:p>
          <a:p>
            <a:pPr>
              <a:spcAft>
                <a:spcPts val="800"/>
              </a:spcAft>
            </a:pPr>
            <a:r>
              <a:rPr sz="2000" b="0" i="0">
                <a:solidFill>
                  <a:srgbClr val="333333"/>
                </a:solidFill>
                <a:latin typeface="Calibri"/>
              </a:rPr>
              <a:t>–   El costo de corregir crece de forma brutal a medida que se avanza: cambiar una frase en el documento de requisitos vale casi nada; cambiar la misma idea cuando ya hay diseño, codigo y datos migrados puede costar semanas.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tienen sentido?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sistema de la clinica esto se ve clarito con el tablero de metricas: la administradora dice 'quiero ver cuantos pacientes atendemos', pero cuando vea el primer grafico va a pedir por especie, por veterinario y por mes.</a:t>
            </a:r>
          </a:p>
          <a:p>
            <a:pPr>
              <a:spcAft>
                <a:spcPts val="800"/>
              </a:spcAft>
            </a:pPr>
            <a:r>
              <a:rPr sz="2000" b="0" i="0">
                <a:solidFill>
                  <a:srgbClr val="333333"/>
                </a:solidFill>
                <a:latin typeface="Calibri"/>
              </a:rPr>
              <a:t>–   Congelar ese requisito en la semana dos es congelar una suposicion.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el mundo tradicional la documentacion no acompaña al producto: en...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el mundo tradicional la documentacion no acompaña al producto: en buena parte ES el producto contratado.</a:t>
            </a:r>
          </a:p>
          <a:p>
            <a:pPr>
              <a:spcAft>
                <a:spcPts val="800"/>
              </a:spcAft>
            </a:pPr>
            <a:r>
              <a:rPr sz="2000" b="0" i="0">
                <a:solidFill>
                  <a:srgbClr val="333333"/>
                </a:solidFill>
                <a:latin typeface="Calibri"/>
              </a:rPr>
              <a:t>–   Los artefactos tipicos son la Especificacion de Requisitos de Software (ERS o SRS, con estructura tipo IEEE 830 / ISO 29148), el Documento de Diseño (SDD), la matriz de trazabilidad que muestra que cada requisito tiene diseño y prueba, y el acta de aprobacion.</a:t>
            </a:r>
          </a:p>
          <a:p>
            <a:pPr>
              <a:spcAft>
                <a:spcPts val="800"/>
              </a:spcAft>
            </a:pPr>
            <a:r>
              <a:rPr sz="2000" b="0" i="0">
                <a:solidFill>
                  <a:srgbClr val="333333"/>
                </a:solidFill>
                <a:latin typeface="Calibri"/>
              </a:rPr>
              <a:t>–   Para el estudiante que solo cursa Seminario de Sistemas esto es una gran noticia: su producto final -documento de diseño mas prototipo navegable- es exactamente el tipo de producto que se factura en un proyecto tradicional, y por eso su ruta es completa y no una version reducida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R[Requisitos] --&gt; AF[Analisis funcional]</a:t>
            </a:r>
          </a:p>
          <a:p>
            <a:pPr>
              <a:spcAft>
                <a:spcPts val="371"/>
              </a:spcAft>
            </a:pPr>
            <a:r>
              <a:rPr sz="1300" b="0" i="0">
                <a:solidFill>
                  <a:srgbClr val="FFFFFF"/>
                </a:solidFill>
                <a:latin typeface="Calibri"/>
              </a:rPr>
              <a:t>  AF --&gt; DA[Diseno de arquitectura]</a:t>
            </a:r>
          </a:p>
          <a:p>
            <a:pPr>
              <a:spcAft>
                <a:spcPts val="371"/>
              </a:spcAft>
            </a:pPr>
            <a:r>
              <a:rPr sz="1300" b="0" i="0">
                <a:solidFill>
                  <a:srgbClr val="FFFFFF"/>
                </a:solidFill>
                <a:latin typeface="Calibri"/>
              </a:rPr>
              <a:t>  DA --&gt; DD[Diseno detallado]</a:t>
            </a:r>
          </a:p>
          <a:p>
            <a:pPr>
              <a:spcAft>
                <a:spcPts val="371"/>
              </a:spcAft>
            </a:pPr>
            <a:r>
              <a:rPr sz="1300" b="0" i="0">
                <a:solidFill>
                  <a:srgbClr val="FFFFFF"/>
                </a:solidFill>
                <a:latin typeface="Calibri"/>
              </a:rPr>
              <a:t>  DD --&gt; COD[Codificacion]</a:t>
            </a:r>
          </a:p>
          <a:p>
            <a:pPr>
              <a:spcAft>
                <a:spcPts val="371"/>
              </a:spcAft>
            </a:pPr>
            <a:r>
              <a:rPr sz="1300" b="0" i="0">
                <a:solidFill>
                  <a:srgbClr val="FFFFFF"/>
                </a:solidFill>
                <a:latin typeface="Calibri"/>
              </a:rPr>
              <a:t>  COD --&gt; PU[Pruebas unitarias]</a:t>
            </a:r>
          </a:p>
          <a:p>
            <a:pPr>
              <a:spcAft>
                <a:spcPts val="371"/>
              </a:spcAft>
            </a:pPr>
            <a:r>
              <a:rPr sz="1300" b="0" i="0">
                <a:solidFill>
                  <a:srgbClr val="FFFFFF"/>
                </a:solidFill>
                <a:latin typeface="Calibri"/>
              </a:rPr>
              <a:t>  PU --&gt; PIN[Pruebas de integracion]</a:t>
            </a:r>
          </a:p>
          <a:p>
            <a:pPr>
              <a:spcAft>
                <a:spcPts val="371"/>
              </a:spcAft>
            </a:pPr>
            <a:r>
              <a:rPr sz="1300" b="0" i="0">
                <a:solidFill>
                  <a:srgbClr val="FFFFFF"/>
                </a:solidFill>
                <a:latin typeface="Calibri"/>
              </a:rPr>
              <a:t>  PIN --&gt; PS[Pruebas de sistema]</a:t>
            </a:r>
          </a:p>
          <a:p>
            <a:pPr>
              <a:spcAft>
                <a:spcPts val="371"/>
              </a:spcAft>
            </a:pPr>
            <a:r>
              <a:rPr sz="1300" b="0" i="0">
                <a:solidFill>
                  <a:srgbClr val="FFFFFF"/>
                </a:solidFill>
                <a:latin typeface="Calibri"/>
              </a:rPr>
              <a:t>  PS --&gt; PA[Pruebas de aceptacion]</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R  -.verifica.-&gt; PA</a:t>
            </a:r>
          </a:p>
          <a:p>
            <a:pPr>
              <a:spcAft>
                <a:spcPts val="371"/>
              </a:spcAft>
            </a:pPr>
            <a:r>
              <a:rPr sz="1300" b="0" i="0">
                <a:solidFill>
                  <a:srgbClr val="FFFFFF"/>
                </a:solidFill>
                <a:latin typeface="Calibri"/>
              </a:rPr>
              <a:t>  AF -.verifica.-&gt; PS</a:t>
            </a:r>
          </a:p>
          <a:p>
            <a:pPr>
              <a:spcAft>
                <a:spcPts val="371"/>
              </a:spcAft>
            </a:pPr>
            <a:r>
              <a:rPr sz="1300" b="0" i="0">
                <a:solidFill>
                  <a:srgbClr val="FFFFFF"/>
                </a:solidFill>
                <a:latin typeface="Calibri"/>
              </a:rPr>
              <a:t>  DA -.verifica.-&gt; PIN</a:t>
            </a:r>
          </a:p>
          <a:p>
            <a:pPr>
              <a:spcAft>
                <a:spcPts val="371"/>
              </a:spcAft>
            </a:pPr>
            <a:r>
              <a:rPr sz="1300" b="0" i="0">
                <a:solidFill>
                  <a:srgbClr val="FFFFFF"/>
                </a:solidFill>
                <a:latin typeface="Calibri"/>
              </a:rPr>
              <a:t>  DD -.verifica.-&gt; PU</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Las lineas punteadas SON el modelo en V: cada nivel de diseno tiene</a:t>
            </a:r>
          </a:p>
          <a:p>
            <a:pPr>
              <a:spcAft>
                <a:spcPts val="371"/>
              </a:spcAft>
            </a:pPr>
            <a:r>
              <a:rPr sz="1300" b="0" i="0">
                <a:solidFill>
                  <a:srgbClr val="FFFFFF"/>
                </a:solidFill>
                <a:latin typeface="Calibri"/>
              </a:rPr>
              <a:t>%% su nivel de prueba. Sin ellas es una U y no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SC-001  Solicitud de cambio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Documento afectado: ERS Clinica v1.0 (linea base aprobada 20/08/2026)</a:t>
            </a:r>
          </a:p>
          <a:p>
            <a:pPr>
              <a:spcAft>
                <a:spcPts val="400"/>
              </a:spcAft>
            </a:pPr>
            <a:r>
              <a:rPr sz="1400" b="0" i="0">
                <a:solidFill>
                  <a:srgbClr val="FFFFFF"/>
                </a:solidFill>
                <a:latin typeface="Calibri"/>
              </a:rPr>
              <a:t>Solicita:           Dr. Ramirez</a:t>
            </a:r>
          </a:p>
          <a:p>
            <a:pPr>
              <a:spcAft>
                <a:spcPts val="400"/>
              </a:spcAft>
            </a:pPr>
            <a:r>
              <a:rPr sz="1400" b="0" i="0">
                <a:solidFill>
                  <a:srgbClr val="FFFFFF"/>
                </a:solidFill>
                <a:latin typeface="Calibri"/>
              </a:rPr>
              <a:t>Cambio pedido:      agregar recordatorio por WhatsApp al agendar</a:t>
            </a:r>
          </a:p>
          <a:p>
            <a:pPr>
              <a:spcAft>
                <a:spcPts val="400"/>
              </a:spcAft>
            </a:pPr>
            <a:r>
              <a:rPr sz="1400" b="0" i="0">
                <a:solidFill>
                  <a:srgbClr val="FFFFFF"/>
                </a:solidFill>
                <a:latin typeface="Calibri"/>
              </a:rPr>
              <a:t>Requisitos tocados: RF-03 (agendar cita), RNF-02 (disponibilidad)</a:t>
            </a:r>
          </a:p>
          <a:p>
            <a:pPr>
              <a:spcAft>
                <a:spcPts val="400"/>
              </a:spcAft>
            </a:pPr>
            <a:r>
              <a:rPr sz="1400" b="0" i="0">
                <a:solidFill>
                  <a:srgbClr val="FFFFFF"/>
                </a:solidFill>
                <a:latin typeface="Calibri"/>
              </a:rPr>
              <a:t>Impacto en alcance: +1 RF nuevo, +1 integracion externa</a:t>
            </a:r>
          </a:p>
          <a:p>
            <a:pPr>
              <a:spcAft>
                <a:spcPts val="400"/>
              </a:spcAft>
            </a:pPr>
            <a:r>
              <a:rPr sz="1400" b="0" i="0">
                <a:solidFill>
                  <a:srgbClr val="FFFFFF"/>
                </a:solidFill>
                <a:latin typeface="Calibri"/>
              </a:rPr>
              <a:t>Impacto en plan:    +1 sprint de diseno</a:t>
            </a:r>
          </a:p>
          <a:p>
            <a:pPr>
              <a:spcAft>
                <a:spcPts val="400"/>
              </a:spcAft>
            </a:pPr>
            <a:r>
              <a:rPr sz="1400" b="0" i="0">
                <a:solidFill>
                  <a:srgbClr val="FFFFFF"/>
                </a:solidFill>
                <a:latin typeface="Calibri"/>
              </a:rPr>
              <a:t>Decision:           &lt;aprobada | rechazada | diferida&gt;  por &lt;quien&gt;</a:t>
            </a:r>
          </a:p>
          <a:p>
            <a:pPr>
              <a:spcAft>
                <a:spcPts val="400"/>
              </a:spcAft>
            </a:pPr>
            <a:r>
              <a:rPr sz="1400" b="0" i="0">
                <a:solidFill>
                  <a:srgbClr val="FFFFFF"/>
                </a:solidFill>
                <a:latin typeface="Calibri"/>
              </a:rPr>
              <a:t>Nueva version:      ERS Clinica v1.1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Tener linea base no significa que no se pueda cambiar: significa que</a:t>
            </a:r>
          </a:p>
          <a:p>
            <a:pPr>
              <a:spcAft>
                <a:spcPts val="400"/>
              </a:spcAft>
            </a:pPr>
            <a:r>
              <a:rPr sz="1400" b="0" i="0">
                <a:solidFill>
                  <a:srgbClr val="FFFFFF"/>
                </a:solidFill>
                <a:latin typeface="Calibri"/>
              </a:rPr>
              <a:t>-- el cambio deja RASTRO y sube la version. Editar el v1.0 en silencio</a:t>
            </a:r>
          </a:p>
          <a:p>
            <a:pPr>
              <a:spcAft>
                <a:spcPts val="400"/>
              </a:spcAft>
            </a:pPr>
            <a:r>
              <a:rPr sz="1400" b="0" i="0">
                <a:solidFill>
                  <a:srgbClr val="FFFFFF"/>
                </a:solidFill>
                <a:latin typeface="Calibri"/>
              </a:rPr>
              <a:t>-- es lo que rompe la trazabilidad.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requisito del sistema de la clinica (asi se ve un requisito con linea base)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ID: RF-03            Version: 1.2      Estado: Aprobado (linea base 27/08)</a:t>
            </a:r>
          </a:p>
          <a:p>
            <a:pPr>
              <a:spcAft>
                <a:spcPts val="400"/>
              </a:spcAft>
            </a:pPr>
            <a:r>
              <a:rPr sz="1400" b="0" i="0">
                <a:solidFill>
                  <a:srgbClr val="FFFFFF"/>
                </a:solidFill>
                <a:latin typeface="Calibri"/>
              </a:rPr>
              <a:t>Nombre: Buscar la historia clinica de un paciente</a:t>
            </a:r>
          </a:p>
          <a:p>
            <a:pPr>
              <a:spcAft>
                <a:spcPts val="400"/>
              </a:spcAft>
            </a:pPr>
            <a:r>
              <a:rPr sz="1400" b="0" i="0">
                <a:solidFill>
                  <a:srgbClr val="FFFFFF"/>
                </a:solidFill>
                <a:latin typeface="Calibri"/>
              </a:rPr>
              <a:t>Fuente: Dra. Marcela Rios, medica veterinaria de la clinica</a:t>
            </a:r>
          </a:p>
          <a:p>
            <a:pPr>
              <a:spcAft>
                <a:spcPts val="400"/>
              </a:spcAft>
            </a:pPr>
            <a:r>
              <a:rPr sz="1400" b="0" i="0">
                <a:solidFill>
                  <a:srgbClr val="FFFFFF"/>
                </a:solidFill>
                <a:latin typeface="Calibri"/>
              </a:rPr>
              <a:t>Prioridad: Alta      Estabilidad: Alta      Modulo: Historia clinica</a:t>
            </a:r>
          </a:p>
          <a:p>
            <a:pPr>
              <a:spcAft>
                <a:spcPts val="400"/>
              </a:spcAft>
            </a:pPr>
            <a:r>
              <a:rPr sz="1400" b="0" i="0">
                <a:solidFill>
                  <a:srgbClr val="FFFFFF"/>
                </a:solidFill>
                <a:latin typeface="Calibri"/>
              </a:rPr>
              <a:t>Descripcion: El sistema debe permitir buscar la historia clinica de un</a:t>
            </a:r>
          </a:p>
          <a:p>
            <a:pPr>
              <a:spcAft>
                <a:spcPts val="400"/>
              </a:spcAft>
            </a:pPr>
            <a:r>
              <a:rPr sz="1400" b="0" i="0">
                <a:solidFill>
                  <a:srgbClr val="FFFFFF"/>
                </a:solidFill>
                <a:latin typeface="Calibri"/>
              </a:rPr>
              <a:t>  paciente por nombre de la mascota, por documento del propietario o por</a:t>
            </a:r>
          </a:p>
          <a:p>
            <a:pPr>
              <a:spcAft>
                <a:spcPts val="400"/>
              </a:spcAft>
            </a:pPr>
            <a:r>
              <a:rPr sz="1400" b="0" i="0">
                <a:solidFill>
                  <a:srgbClr val="FFFFFF"/>
                </a:solidFill>
                <a:latin typeface="Calibri"/>
              </a:rPr>
              <a:t>  codigo de ficha, mostrando las ultimas tres consultas registradas.</a:t>
            </a:r>
          </a:p>
          <a:p>
            <a:pPr>
              <a:spcAft>
                <a:spcPts val="400"/>
              </a:spcAft>
            </a:pPr>
            <a:r>
              <a:rPr sz="1400" b="0" i="0">
                <a:solidFill>
                  <a:srgbClr val="FFFFFF"/>
                </a:solidFill>
                <a:latin typeface="Calibri"/>
              </a:rPr>
              <a:t>Precondicion: el paciente esta registrado y el usuario tiene rol Veterinario.</a:t>
            </a:r>
          </a:p>
          <a:p>
            <a:pPr>
              <a:spcAft>
                <a:spcPts val="400"/>
              </a:spcAft>
            </a:pPr>
            <a:r>
              <a:rPr sz="1400" b="0" i="0">
                <a:solidFill>
                  <a:srgbClr val="FFFFFF"/>
                </a:solidFill>
                <a:latin typeface="Calibri"/>
              </a:rPr>
              <a:t>Criterio de aceptacion: con 5.000 fichas cargadas el resultado se muestra</a:t>
            </a:r>
          </a:p>
          <a:p>
            <a:pPr>
              <a:spcAft>
                <a:spcPts val="400"/>
              </a:spcAft>
            </a:pPr>
            <a:r>
              <a:rPr sz="1400" b="0" i="0">
                <a:solidFill>
                  <a:srgbClr val="FFFFFF"/>
                </a:solidFill>
                <a:latin typeface="Calibri"/>
              </a:rPr>
              <a:t>  en menos de 3 segundos y en maximo 3 clics desde el tablero principal.</a:t>
            </a:r>
          </a:p>
          <a:p>
            <a:pPr>
              <a:spcAft>
                <a:spcPts val="400"/>
              </a:spcAft>
            </a:pPr>
            <a:r>
              <a:rPr sz="1400" b="0" i="0">
                <a:solidFill>
                  <a:srgbClr val="FFFFFF"/>
                </a:solidFill>
                <a:latin typeface="Calibri"/>
              </a:rPr>
              <a:t>Depende de: RF-01 (registrar paciente), RNF-02 (tiempo de respuesta)</a:t>
            </a:r>
          </a:p>
          <a:p>
            <a:pPr>
              <a:spcAft>
                <a:spcPts val="400"/>
              </a:spcAft>
            </a:pPr>
            <a:r>
              <a:rPr sz="1400" b="0" i="0">
                <a:solidFill>
                  <a:srgbClr val="FFFFFF"/>
                </a:solidFill>
                <a:latin typeface="Calibri"/>
              </a:rPr>
              <a:t>Verificado por: CP-ACEP-07 (prueba de aceptacion)</a:t>
            </a:r>
          </a:p>
          <a:p>
            <a:pPr>
              <a:spcAft>
                <a:spcPts val="400"/>
              </a:spcAft>
            </a:pPr>
            <a:r>
              <a:rPr sz="1400" b="0" i="0">
                <a:solidFill>
                  <a:srgbClr val="FFFFFF"/>
                </a:solidFill>
                <a:latin typeface="Calibri"/>
              </a:rPr>
              <a:t>Historial: v1.1 se agrega busqueda por documento (SC-002)</a:t>
            </a:r>
          </a:p>
          <a:p>
            <a:pPr>
              <a:spcAft>
                <a:spcPts val="400"/>
              </a:spcAft>
            </a:pPr>
            <a:r>
              <a:rPr sz="1400" b="0" i="0">
                <a:solidFill>
                  <a:srgbClr val="FFFFFF"/>
                </a:solidFill>
                <a:latin typeface="Calibri"/>
              </a:rPr>
              <a:t>           v1.2 se agrega busqueda por microchip (SC-004, aprobada)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En el enfoque tradicional un requisito no es una frase suelta: es una ficha con ID, version, criterio medible y la prueba que lo verifica.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dibuja en draw.io el modelo en V del sistema de la clinica y traza en vivo la linea punteada que conecta el requisito RF-03 'buscar historial' con su prueba de aceptacion CP-ACEP-07.</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