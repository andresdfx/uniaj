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requisitos se emparejan con las pruebas de aceptacion, el diseño de la arquitectura con las pruebas de integracion y el diseño detallado con las pruebas unitarias.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SI tienen sentido estos modelos?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NO tienen sentido?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documento tiene numero de version, fecha, autor y aprobador, y todo cambio entra por una solicitud formal donde se evalua impacto en alcance, tiempo y costo antes de aceptarla.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3</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Metodologias tradicionales</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Cascada y modelo en V: cuando el plano se firma antes de levantar el muro</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a:t>
            </a:r>
            <a:r>
              <a:rPr sz="2000" b="0" i="0">
                <a:solidFill>
                  <a:srgbClr val="333333"/>
                </a:solidFill>
                <a:latin typeface="Calibri"/>
              </a:rPr>
              <a:t> Metodologias tradicionales</a:t>
            </a:r>
          </a:p>
          <a:p>
            <a:pPr>
              <a:spcAft>
                <a:spcPts val="800"/>
              </a:spcAft>
            </a:pPr>
            <a:r>
              <a:rPr sz="2000" b="0" i="0">
                <a:solidFill>
                  <a:srgbClr val="333333"/>
                </a:solidFill>
                <a:latin typeface="Calibri"/>
              </a:rPr>
              <a:t>–   Cascada y modelo en V: cuando el plano se firma antes de levantar el muro</a:t>
            </a:r>
          </a:p>
          <a:p>
            <a:pPr>
              <a:spcAft>
                <a:spcPts val="800"/>
              </a:spcAft>
            </a:pPr>
            <a:r>
              <a:rPr sz="2000" b="0" i="0">
                <a:solidFill>
                  <a:srgbClr val="333333"/>
                </a:solidFill>
                <a:latin typeface="Calibri"/>
              </a:rPr>
              <a:t>–   Herramienta del tema: </a:t>
            </a:r>
            <a:r>
              <a:rPr sz="2000" b="1" i="0">
                <a:solidFill>
                  <a:srgbClr val="333333"/>
                </a:solidFill>
                <a:latin typeface="Calibri"/>
              </a:rPr>
              <a:t>draw.io · Google Docs</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Ejemplo de toda la clase: el sistema de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la clinica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(opcional, guia en la carpeta)</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Sintesis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modelo en cascada es el recorrido lineal llevado a su version...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modelo en cascada es el recorrido lineal llevado a su version formal: las fases van una detras de otra y cada una termina con un documento que alguien firma.</a:t>
            </a:r>
          </a:p>
          <a:p>
            <a:pPr>
              <a:spcAft>
                <a:spcPts val="800"/>
              </a:spcAft>
            </a:pPr>
            <a:r>
              <a:rPr sz="2000" b="0" i="0">
                <a:solidFill>
                  <a:srgbClr val="333333"/>
                </a:solidFill>
                <a:latin typeface="Calibri"/>
              </a:rPr>
              <a:t>–   Ese documento es la puerta de entrada a la siguiente fase; si no esta aprobado, no se avanza.</a:t>
            </a:r>
          </a:p>
          <a:p>
            <a:pPr>
              <a:spcAft>
                <a:spcPts val="800"/>
              </a:spcAft>
            </a:pPr>
            <a:r>
              <a:rPr sz="2000" b="0" i="0">
                <a:solidFill>
                  <a:srgbClr val="333333"/>
                </a:solidFill>
                <a:latin typeface="Calibri"/>
              </a:rPr>
              <a:t>–   Cuando el documento de requisitos se aprueba, se convierte en linea base, es decir, la version oficial contra la cual se va a medir todo lo demas.</a:t>
            </a:r>
          </a:p>
          <a:p>
            <a:pPr>
              <a:spcAft>
                <a:spcPts val="800"/>
              </a:spcAft>
            </a:pPr>
            <a:r>
              <a:rPr sz="2000" b="0" i="0">
                <a:solidFill>
                  <a:srgbClr val="333333"/>
                </a:solidFill>
                <a:latin typeface="Calibri"/>
              </a:rPr>
              <a:t>–   La idea de fondo es sencilla y muy usada en ingenieria civil: corregir un plano cuesta una borrada, corregir un muro construido cuesta demoler.</a:t>
            </a:r>
          </a:p>
          <a:p>
            <a:pPr>
              <a:spcAft>
                <a:spcPts val="800"/>
              </a:spcAft>
            </a:pPr>
            <a:r>
              <a:rPr sz="2000" b="0" i="0">
                <a:solidFill>
                  <a:srgbClr val="333333"/>
                </a:solidFill>
                <a:latin typeface="Calibri"/>
              </a:rPr>
              <a:t>–   Trasladado a la clinica: si la clinica aprueba que la busqueda se hace por nombre de la mascota y por documento del propietario, ese acuerdo queda escrito, fechado y versionado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modelo en cascada es el recorrido lineal llevado a su version...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Y a partir de ahi el equipo diseña con la tranquilidad de que el piso no se le va a mover.</a:t>
            </a:r>
          </a:p>
          <a:p>
            <a:pPr>
              <a:spcAft>
                <a:spcPts val="800"/>
              </a:spcAft>
            </a:pPr>
            <a:r>
              <a:rPr sz="2000" b="0" i="0">
                <a:solidFill>
                  <a:srgbClr val="333333"/>
                </a:solidFill>
                <a:latin typeface="Calibri"/>
              </a:rPr>
              <a:t>–   Ese documento aprobado se llama linea base: cualquier cambio posterior pasa por una solicitud formal que evalua su impacto en costo y tiempo antes de aceptarse.</a:t>
            </a:r>
          </a:p>
          <a:p>
            <a:pPr>
              <a:spcAft>
                <a:spcPts val="800"/>
              </a:spcAft>
            </a:pPr>
            <a:r>
              <a:rPr sz="2000" b="0" i="0">
                <a:solidFill>
                  <a:srgbClr val="333333"/>
                </a:solidFill>
                <a:latin typeface="Calibri"/>
              </a:rPr>
              <a:t>–   Si a mitad del diseño la clinica pide buscar tambien por numero de microchip, el cambio no se improvisa: se registra, se estima y, si se aprueba, se publica una nueva version del documento.</a:t>
            </a:r>
          </a:p>
          <a:p>
            <a:pPr>
              <a:spcAft>
                <a:spcPts val="800"/>
              </a:spcAft>
            </a:pPr>
            <a:r>
              <a:rPr sz="2000" b="0" i="0">
                <a:solidFill>
                  <a:srgbClr val="333333"/>
                </a:solidFill>
                <a:latin typeface="Calibri"/>
              </a:rPr>
              <a:t>–   El error comun es confundir rigidez con disciplina: cascada si admite cambios, pero con trazabilidad.</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modelo en V toma la cascada y la dobla en forma de letra V para...</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modelo en V toma la cascada y la dobla en forma de letra V para dejar visible algo que la cascada esconde: cada fase de la izquierda tiene su prueba correspondiente a la derecha.</a:t>
            </a:r>
          </a:p>
          <a:p>
            <a:pPr>
              <a:spcAft>
                <a:spcPts val="800"/>
              </a:spcAft>
            </a:pPr>
            <a:r>
              <a:rPr sz="2000" b="0" i="0">
                <a:solidFill>
                  <a:srgbClr val="333333"/>
                </a:solidFill>
                <a:latin typeface="Calibri"/>
              </a:rPr>
              <a:t>–   La consecuencia practica es enorme: la prueba se diseña al mismo tiempo que el requisito, no al final.</a:t>
            </a:r>
          </a:p>
          <a:p>
            <a:pPr>
              <a:spcAft>
                <a:spcPts val="800"/>
              </a:spcAft>
            </a:pPr>
            <a:r>
              <a:rPr sz="2000" b="0" i="0">
                <a:solidFill>
                  <a:srgbClr val="333333"/>
                </a:solidFill>
                <a:latin typeface="Calibri"/>
              </a:rPr>
              <a:t>–   En la clinica, cuando se escribe el requisito RF-03 'la veterinaria busca la historia clinica por nombre o por documento'</a:t>
            </a:r>
          </a:p>
          <a:p>
            <a:pPr>
              <a:spcAft>
                <a:spcPts val="800"/>
              </a:spcAft>
            </a:pPr>
            <a:r>
              <a:rPr sz="2000" b="0" i="0">
                <a:solidFill>
                  <a:srgbClr val="333333"/>
                </a:solidFill>
                <a:latin typeface="Calibri"/>
              </a:rPr>
              <a:t>–   En ese mismo momento se escribe el caso de prueba CP-ACEP-07: con 5.000 fichas cargadas, escribir Rocky y obtener la ficha en menos de tres segundos y en maximo tres clics.</a:t>
            </a:r>
          </a:p>
          <a:p>
            <a:pPr>
              <a:spcAft>
                <a:spcPts val="800"/>
              </a:spcAft>
            </a:pPr>
            <a:r>
              <a:rPr sz="2000" b="0" i="0">
                <a:solidFill>
                  <a:srgbClr val="333333"/>
                </a:solidFill>
                <a:latin typeface="Calibri"/>
              </a:rPr>
              <a:t>–   Aqui aparecen dos palabras que hay que distinguir: verificar es preguntarse si construimos el sistema correctamente segun el documento; validar es preguntarse si construimos el sistema correcto para la clinica.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Cuando SI tienen sentido estos modelos?</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Cuando los requisitos son estables y se conocen desde el principio, cuando el contrato es a precio fijo o viene de una licitacion publica y el alcance debe estar cerrado para poder cotizar</a:t>
            </a:r>
          </a:p>
          <a:p>
            <a:pPr>
              <a:spcAft>
                <a:spcPts val="800"/>
              </a:spcAft>
            </a:pPr>
            <a:r>
              <a:rPr sz="2000" b="0" i="0">
                <a:solidFill>
                  <a:srgbClr val="333333"/>
                </a:solidFill>
                <a:latin typeface="Calibri"/>
              </a:rPr>
              <a:t>–   Cuando el sistema es critico o esta regulado (equipos medicos, aviacion, banca, manejo de historia clinica con normativa de proteccion de datos) y cuando hay varios proveedores que necesitan un documento comun para poder trabajar en paralelo.</a:t>
            </a:r>
          </a:p>
          <a:p>
            <a:pPr>
              <a:spcAft>
                <a:spcPts val="800"/>
              </a:spcAft>
            </a:pPr>
            <a:r>
              <a:rPr sz="2000" b="0" i="0">
                <a:solidFill>
                  <a:srgbClr val="333333"/>
                </a:solidFill>
                <a:latin typeface="Calibri"/>
              </a:rPr>
              <a:t>–   En la clinica hay partes que caben perfecto en este enfoque: los datos basicos de un paciente casi no cambian, y si mañana la clinica conecta facturacion electronica, las reglas de esa parte vienen impuestas por la norma y no se negocian con el cliente.</a:t>
            </a:r>
          </a:p>
          <a:p>
            <a:pPr>
              <a:spcAft>
                <a:spcPts val="800"/>
              </a:spcAft>
            </a:pPr>
            <a:r>
              <a:rPr sz="2000" b="0" i="0">
                <a:solidFill>
                  <a:srgbClr val="333333"/>
                </a:solidFill>
                <a:latin typeface="Calibri"/>
              </a:rPr>
              <a:t>–   En esos casos escribir todo el detalle antes no es burocracia, es la unica forma de estimar y de cumplir.</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Cuando NO tienen sentido?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Cuando el cliente no sabe lo que quiere hasta que lo ve, cuando el dominio es nuevo para el equipo, cuando el tiempo hasta la primera entrega visible es tan largo que el negocio cambia antes de recibir nada</a:t>
            </a:r>
          </a:p>
          <a:p>
            <a:pPr>
              <a:spcAft>
                <a:spcPts val="800"/>
              </a:spcAft>
            </a:pPr>
            <a:r>
              <a:rPr sz="2000" b="0" i="0">
                <a:solidFill>
                  <a:srgbClr val="333333"/>
                </a:solidFill>
                <a:latin typeface="Calibri"/>
              </a:rPr>
              <a:t>–   Y cuando integrar todo de un solo golpe al final concentra el riesgo en el peor momento.</a:t>
            </a:r>
          </a:p>
          <a:p>
            <a:pPr>
              <a:spcAft>
                <a:spcPts val="800"/>
              </a:spcAft>
            </a:pPr>
            <a:r>
              <a:rPr sz="2000" b="0" i="0">
                <a:solidFill>
                  <a:srgbClr val="333333"/>
                </a:solidFill>
                <a:latin typeface="Calibri"/>
              </a:rPr>
              <a:t>–   El costo de corregir crece de forma brutal a medida que se avanza: cambiar una frase en el documento de requisitos vale casi nada; cambiar la misma idea cuando ya hay diseño, codigo y datos migrados puede costar semanas.</a:t>
            </a:r>
          </a:p>
          <a:p>
            <a:pPr>
              <a:spcAft>
                <a:spcPts val="800"/>
              </a:spcAft>
            </a:pPr>
            <a:r>
              <a:rPr sz="2000" b="0" i="0">
                <a:solidFill>
                  <a:srgbClr val="333333"/>
                </a:solidFill>
                <a:latin typeface="Calibri"/>
              </a:rPr>
              <a:t>–   En la clinica esto se ve clarito con el tablero de metricas: la administradora dice 'quiero ver cuantos pacientes atendemos', pero cuando vea el primer grafico va a pedir por especie, por veterinario y por mes.</a:t>
            </a:r>
          </a:p>
          <a:p>
            <a:pPr>
              <a:spcAft>
                <a:spcPts val="800"/>
              </a:spcAft>
            </a:pPr>
            <a:r>
              <a:rPr sz="2000" b="0" i="0">
                <a:solidFill>
                  <a:srgbClr val="333333"/>
                </a:solidFill>
                <a:latin typeface="Calibri"/>
              </a:rPr>
              <a:t>–   Congelar ese requisito en la semana dos es congelar una suposicion.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 el mundo tradicional la documentacion no acompaña al producto: en...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En el mundo tradicional la documentacion no acompaña al producto: en buena parte ES el producto contratado.</a:t>
            </a:r>
          </a:p>
          <a:p>
            <a:pPr>
              <a:spcAft>
                <a:spcPts val="800"/>
              </a:spcAft>
            </a:pPr>
            <a:r>
              <a:rPr sz="2000" b="0" i="0">
                <a:solidFill>
                  <a:srgbClr val="333333"/>
                </a:solidFill>
                <a:latin typeface="Calibri"/>
              </a:rPr>
              <a:t>–   Los artefactos tipicos son la Especificacion de Requisitos de Software (ERS o SRS, con estructura tipo IEEE 830 / ISO 29148), el Documento de Diseño (SDD), la matriz de trazabilidad que muestra que cada requisito tiene diseño y prueba, y el acta de aprobacion.</a:t>
            </a:r>
          </a:p>
          <a:p>
            <a:pPr>
              <a:spcAft>
                <a:spcPts val="800"/>
              </a:spcAft>
            </a:pPr>
            <a:r>
              <a:rPr sz="2000" b="0" i="0">
                <a:solidFill>
                  <a:srgbClr val="333333"/>
                </a:solidFill>
                <a:latin typeface="Calibri"/>
              </a:rPr>
              <a:t>–   Para el estudiante que solo cursa Seminario de Sistemas esto es una gran noticia: su producto final -documento de diseño mas prototipo navegable- es exactamente el tipo de producto que se factura en un proyecto tradicional, y por eso su ruta es completa y no una version reducida del curso.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modelo en V con trazabilidad</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371"/>
              </a:spcAft>
            </a:pPr>
            <a:r>
              <a:rPr sz="1300" b="0" i="0">
                <a:solidFill>
                  <a:srgbClr val="FFFFFF"/>
                </a:solidFill>
                <a:latin typeface="Calibri"/>
              </a:rPr>
              <a:t>flowchart TB</a:t>
            </a:r>
          </a:p>
          <a:p>
            <a:pPr>
              <a:spcAft>
                <a:spcPts val="371"/>
              </a:spcAft>
            </a:pPr>
            <a:r>
              <a:rPr sz="1300" b="0" i="0">
                <a:solidFill>
                  <a:srgbClr val="FFFFFF"/>
                </a:solidFill>
                <a:latin typeface="Calibri"/>
              </a:rPr>
              <a:t>  R[Requisitos] --&gt; AF[Analisis funcional]</a:t>
            </a:r>
          </a:p>
          <a:p>
            <a:pPr>
              <a:spcAft>
                <a:spcPts val="371"/>
              </a:spcAft>
            </a:pPr>
            <a:r>
              <a:rPr sz="1300" b="0" i="0">
                <a:solidFill>
                  <a:srgbClr val="FFFFFF"/>
                </a:solidFill>
                <a:latin typeface="Calibri"/>
              </a:rPr>
              <a:t>  AF --&gt; DA[Diseno de arquitectura]</a:t>
            </a:r>
          </a:p>
          <a:p>
            <a:pPr>
              <a:spcAft>
                <a:spcPts val="371"/>
              </a:spcAft>
            </a:pPr>
            <a:r>
              <a:rPr sz="1300" b="0" i="0">
                <a:solidFill>
                  <a:srgbClr val="FFFFFF"/>
                </a:solidFill>
                <a:latin typeface="Calibri"/>
              </a:rPr>
              <a:t>  DA --&gt; DD[Diseno detallado]</a:t>
            </a:r>
          </a:p>
          <a:p>
            <a:pPr>
              <a:spcAft>
                <a:spcPts val="371"/>
              </a:spcAft>
            </a:pPr>
            <a:r>
              <a:rPr sz="1300" b="0" i="0">
                <a:solidFill>
                  <a:srgbClr val="FFFFFF"/>
                </a:solidFill>
                <a:latin typeface="Calibri"/>
              </a:rPr>
              <a:t>  DD --&gt; COD[Codificacion]</a:t>
            </a:r>
          </a:p>
          <a:p>
            <a:pPr>
              <a:spcAft>
                <a:spcPts val="371"/>
              </a:spcAft>
            </a:pPr>
            <a:r>
              <a:rPr sz="1300" b="0" i="0">
                <a:solidFill>
                  <a:srgbClr val="FFFFFF"/>
                </a:solidFill>
                <a:latin typeface="Calibri"/>
              </a:rPr>
              <a:t>  COD --&gt; PU[Pruebas unitarias]</a:t>
            </a:r>
          </a:p>
          <a:p>
            <a:pPr>
              <a:spcAft>
                <a:spcPts val="371"/>
              </a:spcAft>
            </a:pPr>
            <a:r>
              <a:rPr sz="1300" b="0" i="0">
                <a:solidFill>
                  <a:srgbClr val="FFFFFF"/>
                </a:solidFill>
                <a:latin typeface="Calibri"/>
              </a:rPr>
              <a:t>  PU --&gt; PIN[Pruebas de integracion]</a:t>
            </a:r>
          </a:p>
          <a:p>
            <a:pPr>
              <a:spcAft>
                <a:spcPts val="371"/>
              </a:spcAft>
            </a:pPr>
            <a:r>
              <a:rPr sz="1300" b="0" i="0">
                <a:solidFill>
                  <a:srgbClr val="FFFFFF"/>
                </a:solidFill>
                <a:latin typeface="Calibri"/>
              </a:rPr>
              <a:t>  PIN --&gt; PS[Pruebas de sistema]</a:t>
            </a:r>
          </a:p>
          <a:p>
            <a:pPr>
              <a:spcAft>
                <a:spcPts val="371"/>
              </a:spcAft>
            </a:pPr>
            <a:r>
              <a:rPr sz="1300" b="0" i="0">
                <a:solidFill>
                  <a:srgbClr val="FFFFFF"/>
                </a:solidFill>
                <a:latin typeface="Calibri"/>
              </a:rPr>
              <a:t>  PS --&gt; PA[Pruebas de aceptacion]</a:t>
            </a:r>
          </a:p>
          <a:p>
            <a:pPr>
              <a:spcAft>
                <a:spcPts val="371"/>
              </a:spcAft>
            </a:pPr>
            <a:r>
              <a:rPr sz="1300" b="0" i="0">
                <a:solidFill>
                  <a:srgbClr val="FFFFFF"/>
                </a:solidFill>
                <a:latin typeface="Calibri"/>
              </a:rPr>
              <a:t/>
            </a:r>
          </a:p>
          <a:p>
            <a:pPr>
              <a:spcAft>
                <a:spcPts val="371"/>
              </a:spcAft>
            </a:pPr>
            <a:r>
              <a:rPr sz="1300" b="0" i="0">
                <a:solidFill>
                  <a:srgbClr val="FFFFFF"/>
                </a:solidFill>
                <a:latin typeface="Calibri"/>
              </a:rPr>
              <a:t>  R  -.verifica.-&gt; PA</a:t>
            </a:r>
          </a:p>
          <a:p>
            <a:pPr>
              <a:spcAft>
                <a:spcPts val="371"/>
              </a:spcAft>
            </a:pPr>
            <a:r>
              <a:rPr sz="1300" b="0" i="0">
                <a:solidFill>
                  <a:srgbClr val="FFFFFF"/>
                </a:solidFill>
                <a:latin typeface="Calibri"/>
              </a:rPr>
              <a:t>  AF -.verifica.-&gt; PS</a:t>
            </a:r>
          </a:p>
          <a:p>
            <a:pPr>
              <a:spcAft>
                <a:spcPts val="371"/>
              </a:spcAft>
            </a:pPr>
            <a:r>
              <a:rPr sz="1300" b="0" i="0">
                <a:solidFill>
                  <a:srgbClr val="FFFFFF"/>
                </a:solidFill>
                <a:latin typeface="Calibri"/>
              </a:rPr>
              <a:t>  DA -.verifica.-&gt; PIN</a:t>
            </a:r>
          </a:p>
          <a:p>
            <a:pPr>
              <a:spcAft>
                <a:spcPts val="371"/>
              </a:spcAft>
            </a:pPr>
            <a:r>
              <a:rPr sz="1300" b="0" i="0">
                <a:solidFill>
                  <a:srgbClr val="FFFFFF"/>
                </a:solidFill>
                <a:latin typeface="Calibri"/>
              </a:rPr>
              <a:t>  DD -.verifica.-&gt; PU</a:t>
            </a:r>
          </a:p>
          <a:p>
            <a:pPr>
              <a:spcAft>
                <a:spcPts val="371"/>
              </a:spcAft>
            </a:pPr>
            <a:r>
              <a:rPr sz="1300" b="0" i="0">
                <a:solidFill>
                  <a:srgbClr val="FFFFFF"/>
                </a:solidFill>
                <a:latin typeface="Calibri"/>
              </a:rPr>
              <a:t/>
            </a:r>
          </a:p>
          <a:p>
            <a:pPr>
              <a:spcAft>
                <a:spcPts val="371"/>
              </a:spcAft>
            </a:pPr>
            <a:r>
              <a:rPr sz="1300" b="0" i="0">
                <a:solidFill>
                  <a:srgbClr val="FFFFFF"/>
                </a:solidFill>
                <a:latin typeface="Calibri"/>
              </a:rPr>
              <a:t>%% Las lineas punteadas SON el modelo en V: cada nivel de diseno tiene</a:t>
            </a:r>
          </a:p>
          <a:p>
            <a:pPr>
              <a:spcAft>
                <a:spcPts val="371"/>
              </a:spcAft>
            </a:pPr>
            <a:r>
              <a:rPr sz="1300" b="0" i="0">
                <a:solidFill>
                  <a:srgbClr val="FFFFFF"/>
                </a:solidFill>
                <a:latin typeface="Calibri"/>
              </a:rPr>
              <a:t>%% su nivel de prueba. Sin ellas es una U y no trazabilidad.</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solicitud de cambio sobre linea base</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SC-001  Solicitud de cambio</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Documento afectado: ERS Clinica v1.0 (linea base aprobada 20/08/2026)</a:t>
            </a:r>
          </a:p>
          <a:p>
            <a:pPr>
              <a:spcAft>
                <a:spcPts val="400"/>
              </a:spcAft>
            </a:pPr>
            <a:r>
              <a:rPr sz="1400" b="0" i="0">
                <a:solidFill>
                  <a:srgbClr val="FFFFFF"/>
                </a:solidFill>
                <a:latin typeface="Calibri"/>
              </a:rPr>
              <a:t>Solicita:           Dr. Ramirez</a:t>
            </a:r>
          </a:p>
          <a:p>
            <a:pPr>
              <a:spcAft>
                <a:spcPts val="400"/>
              </a:spcAft>
            </a:pPr>
            <a:r>
              <a:rPr sz="1400" b="0" i="0">
                <a:solidFill>
                  <a:srgbClr val="FFFFFF"/>
                </a:solidFill>
                <a:latin typeface="Calibri"/>
              </a:rPr>
              <a:t>Cambio pedido:      agregar recordatorio por WhatsApp al agendar</a:t>
            </a:r>
          </a:p>
          <a:p>
            <a:pPr>
              <a:spcAft>
                <a:spcPts val="400"/>
              </a:spcAft>
            </a:pPr>
            <a:r>
              <a:rPr sz="1400" b="0" i="0">
                <a:solidFill>
                  <a:srgbClr val="FFFFFF"/>
                </a:solidFill>
                <a:latin typeface="Calibri"/>
              </a:rPr>
              <a:t>Requisitos tocados: RF-03 (agendar cita), RNF-02 (disponibilidad)</a:t>
            </a:r>
          </a:p>
          <a:p>
            <a:pPr>
              <a:spcAft>
                <a:spcPts val="400"/>
              </a:spcAft>
            </a:pPr>
            <a:r>
              <a:rPr sz="1400" b="0" i="0">
                <a:solidFill>
                  <a:srgbClr val="FFFFFF"/>
                </a:solidFill>
                <a:latin typeface="Calibri"/>
              </a:rPr>
              <a:t>Impacto en alcance: +1 RF nuevo, +1 integracion externa</a:t>
            </a:r>
          </a:p>
          <a:p>
            <a:pPr>
              <a:spcAft>
                <a:spcPts val="400"/>
              </a:spcAft>
            </a:pPr>
            <a:r>
              <a:rPr sz="1400" b="0" i="0">
                <a:solidFill>
                  <a:srgbClr val="FFFFFF"/>
                </a:solidFill>
                <a:latin typeface="Calibri"/>
              </a:rPr>
              <a:t>Impacto en plan:    +1 sprint de diseno</a:t>
            </a:r>
          </a:p>
          <a:p>
            <a:pPr>
              <a:spcAft>
                <a:spcPts val="400"/>
              </a:spcAft>
            </a:pPr>
            <a:r>
              <a:rPr sz="1400" b="0" i="0">
                <a:solidFill>
                  <a:srgbClr val="FFFFFF"/>
                </a:solidFill>
                <a:latin typeface="Calibri"/>
              </a:rPr>
              <a:t>Decision:           &lt;aprobada | rechazada | diferida&gt;  por &lt;quien&gt;</a:t>
            </a:r>
          </a:p>
          <a:p>
            <a:pPr>
              <a:spcAft>
                <a:spcPts val="400"/>
              </a:spcAft>
            </a:pPr>
            <a:r>
              <a:rPr sz="1400" b="0" i="0">
                <a:solidFill>
                  <a:srgbClr val="FFFFFF"/>
                </a:solidFill>
                <a:latin typeface="Calibri"/>
              </a:rPr>
              <a:t>Nueva version:      ERS Clinica v1.1</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Tener linea base no significa que no se pueda cambiar: significa que</a:t>
            </a:r>
          </a:p>
          <a:p>
            <a:pPr>
              <a:spcAft>
                <a:spcPts val="400"/>
              </a:spcAft>
            </a:pPr>
            <a:r>
              <a:rPr sz="1400" b="0" i="0">
                <a:solidFill>
                  <a:srgbClr val="FFFFFF"/>
                </a:solidFill>
                <a:latin typeface="Calibri"/>
              </a:rPr>
              <a:t>-- el cambio deja RASTRO y sube la version. Editar el v1.0 en silencio</a:t>
            </a:r>
          </a:p>
          <a:p>
            <a:pPr>
              <a:spcAft>
                <a:spcPts val="400"/>
              </a:spcAft>
            </a:pPr>
            <a:r>
              <a:rPr sz="1400" b="0" i="0">
                <a:solidFill>
                  <a:srgbClr val="FFFFFF"/>
                </a:solidFill>
                <a:latin typeface="Calibri"/>
              </a:rPr>
              <a:t>-- es lo que rompe la trazabilidad.</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Ficha formal de requisito de la clinica (asi se ve un requisito con linea base)</a:t>
            </a:r>
          </a:p>
        </p:txBody>
      </p:sp>
      <p:sp>
        <p:nvSpPr>
          <p:cNvPr id="5" name="Rounded Rectangle 4"/>
          <p:cNvSpPr/>
          <p:nvPr/>
        </p:nvSpPr>
        <p:spPr>
          <a:xfrm>
            <a:off x="457200" y="1261872"/>
            <a:ext cx="11277295" cy="477316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133087"/>
          </a:xfrm>
          <a:prstGeom prst="rect">
            <a:avLst/>
          </a:prstGeom>
          <a:noFill/>
        </p:spPr>
        <p:txBody>
          <a:bodyPr wrap="square">
            <a:spAutoFit/>
          </a:bodyPr>
          <a:lstStyle/>
          <a:p>
            <a:pPr>
              <a:spcAft>
                <a:spcPts val="400"/>
              </a:spcAft>
            </a:pPr>
            <a:r>
              <a:rPr sz="1400" b="0" i="0">
                <a:solidFill>
                  <a:srgbClr val="FFFFFF"/>
                </a:solidFill>
                <a:latin typeface="Calibri"/>
              </a:rPr>
              <a:t>ID: RF-03            Version: 1.2      Estado: Aprobado (linea base 27/08)</a:t>
            </a:r>
          </a:p>
          <a:p>
            <a:pPr>
              <a:spcAft>
                <a:spcPts val="400"/>
              </a:spcAft>
            </a:pPr>
            <a:r>
              <a:rPr sz="1400" b="0" i="0">
                <a:solidFill>
                  <a:srgbClr val="FFFFFF"/>
                </a:solidFill>
                <a:latin typeface="Calibri"/>
              </a:rPr>
              <a:t>Nombre: Buscar la historia clinica de un paciente</a:t>
            </a:r>
          </a:p>
          <a:p>
            <a:pPr>
              <a:spcAft>
                <a:spcPts val="400"/>
              </a:spcAft>
            </a:pPr>
            <a:r>
              <a:rPr sz="1400" b="0" i="0">
                <a:solidFill>
                  <a:srgbClr val="FFFFFF"/>
                </a:solidFill>
                <a:latin typeface="Calibri"/>
              </a:rPr>
              <a:t>Fuente: Dra. Marcela Rios, medica veterinaria de la clinica</a:t>
            </a:r>
          </a:p>
          <a:p>
            <a:pPr>
              <a:spcAft>
                <a:spcPts val="400"/>
              </a:spcAft>
            </a:pPr>
            <a:r>
              <a:rPr sz="1400" b="0" i="0">
                <a:solidFill>
                  <a:srgbClr val="FFFFFF"/>
                </a:solidFill>
                <a:latin typeface="Calibri"/>
              </a:rPr>
              <a:t>Prioridad: Alta      Estabilidad: Alta      Modulo: Historia clinica</a:t>
            </a:r>
          </a:p>
          <a:p>
            <a:pPr>
              <a:spcAft>
                <a:spcPts val="400"/>
              </a:spcAft>
            </a:pPr>
            <a:r>
              <a:rPr sz="1400" b="0" i="0">
                <a:solidFill>
                  <a:srgbClr val="FFFFFF"/>
                </a:solidFill>
                <a:latin typeface="Calibri"/>
              </a:rPr>
              <a:t>Descripcion: El sistema debe permitir buscar la historia clinica de un</a:t>
            </a:r>
          </a:p>
          <a:p>
            <a:pPr>
              <a:spcAft>
                <a:spcPts val="400"/>
              </a:spcAft>
            </a:pPr>
            <a:r>
              <a:rPr sz="1400" b="0" i="0">
                <a:solidFill>
                  <a:srgbClr val="FFFFFF"/>
                </a:solidFill>
                <a:latin typeface="Calibri"/>
              </a:rPr>
              <a:t>  paciente por nombre de la mascota, por documento del propietario o por</a:t>
            </a:r>
          </a:p>
          <a:p>
            <a:pPr>
              <a:spcAft>
                <a:spcPts val="400"/>
              </a:spcAft>
            </a:pPr>
            <a:r>
              <a:rPr sz="1400" b="0" i="0">
                <a:solidFill>
                  <a:srgbClr val="FFFFFF"/>
                </a:solidFill>
                <a:latin typeface="Calibri"/>
              </a:rPr>
              <a:t>  codigo de ficha, mostrando las ultimas tres consultas registradas.</a:t>
            </a:r>
          </a:p>
          <a:p>
            <a:pPr>
              <a:spcAft>
                <a:spcPts val="400"/>
              </a:spcAft>
            </a:pPr>
            <a:r>
              <a:rPr sz="1400" b="0" i="0">
                <a:solidFill>
                  <a:srgbClr val="FFFFFF"/>
                </a:solidFill>
                <a:latin typeface="Calibri"/>
              </a:rPr>
              <a:t>Precondicion: el paciente esta registrado y el usuario tiene rol Veterinario.</a:t>
            </a:r>
          </a:p>
          <a:p>
            <a:pPr>
              <a:spcAft>
                <a:spcPts val="400"/>
              </a:spcAft>
            </a:pPr>
            <a:r>
              <a:rPr sz="1400" b="0" i="0">
                <a:solidFill>
                  <a:srgbClr val="FFFFFF"/>
                </a:solidFill>
                <a:latin typeface="Calibri"/>
              </a:rPr>
              <a:t>Criterio de aceptacion: con 5.000 fichas cargadas el resultado se muestra</a:t>
            </a:r>
          </a:p>
          <a:p>
            <a:pPr>
              <a:spcAft>
                <a:spcPts val="400"/>
              </a:spcAft>
            </a:pPr>
            <a:r>
              <a:rPr sz="1400" b="0" i="0">
                <a:solidFill>
                  <a:srgbClr val="FFFFFF"/>
                </a:solidFill>
                <a:latin typeface="Calibri"/>
              </a:rPr>
              <a:t>  en menos de 3 segundos y en maximo 3 clics desde el tablero principal.</a:t>
            </a:r>
          </a:p>
          <a:p>
            <a:pPr>
              <a:spcAft>
                <a:spcPts val="400"/>
              </a:spcAft>
            </a:pPr>
            <a:r>
              <a:rPr sz="1400" b="0" i="0">
                <a:solidFill>
                  <a:srgbClr val="FFFFFF"/>
                </a:solidFill>
                <a:latin typeface="Calibri"/>
              </a:rPr>
              <a:t>Depende de: RF-01 (registrar paciente), RNF-02 (tiempo de respuesta)</a:t>
            </a:r>
          </a:p>
          <a:p>
            <a:pPr>
              <a:spcAft>
                <a:spcPts val="400"/>
              </a:spcAft>
            </a:pPr>
            <a:r>
              <a:rPr sz="1400" b="0" i="0">
                <a:solidFill>
                  <a:srgbClr val="FFFFFF"/>
                </a:solidFill>
                <a:latin typeface="Calibri"/>
              </a:rPr>
              <a:t>Verificado por: CP-ACEP-07 (prueba de aceptacion)</a:t>
            </a:r>
          </a:p>
          <a:p>
            <a:pPr>
              <a:spcAft>
                <a:spcPts val="400"/>
              </a:spcAft>
            </a:pPr>
            <a:r>
              <a:rPr sz="1400" b="0" i="0">
                <a:solidFill>
                  <a:srgbClr val="FFFFFF"/>
                </a:solidFill>
                <a:latin typeface="Calibri"/>
              </a:rPr>
              <a:t>Historial: v1.1 se agrega busqueda por documento (SC-002)</a:t>
            </a:r>
          </a:p>
          <a:p>
            <a:pPr>
              <a:spcAft>
                <a:spcPts val="400"/>
              </a:spcAft>
            </a:pPr>
            <a:r>
              <a:rPr sz="1400" b="0" i="0">
                <a:solidFill>
                  <a:srgbClr val="FFFFFF"/>
                </a:solidFill>
                <a:latin typeface="Calibri"/>
              </a:rPr>
              <a:t>           v1.2 se agrega busqueda por microchip (SC-004, aprobada)</a:t>
            </a:r>
          </a:p>
        </p:txBody>
      </p:sp>
      <p:sp>
        <p:nvSpPr>
          <p:cNvPr id="9" name="TextBox 8"/>
          <p:cNvSpPr txBox="1"/>
          <p:nvPr/>
        </p:nvSpPr>
        <p:spPr>
          <a:xfrm>
            <a:off x="457200" y="6080760"/>
            <a:ext cx="11277295" cy="320040"/>
          </a:xfrm>
          <a:prstGeom prst="rect">
            <a:avLst/>
          </a:prstGeom>
          <a:noFill/>
        </p:spPr>
        <p:txBody>
          <a:bodyPr wrap="square">
            <a:spAutoFit/>
          </a:bodyPr>
          <a:lstStyle/>
          <a:p>
            <a:pPr algn="ctr"/>
            <a:r>
              <a:rPr sz="1200" b="0" i="1">
                <a:solidFill>
                  <a:srgbClr val="666666"/>
                </a:solidFill>
                <a:latin typeface="Calibri"/>
              </a:rPr>
              <a:t>En el enfoque tradicional un requisito no es una frase suelta: es una ficha con ID, version, criterio medible y la prueba que lo verifica.</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draw.io · Google Docs</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Se dibuja en draw.io el modelo en V de la clinica y traza en vivo la linea punteada que conecta el requisito RF-03 'buscar historial' con su prueba de aceptacion CP-ACEP-07.</a:t>
            </a:r>
          </a:p>
          <a:p>
            <a:pPr>
              <a:spcAft>
                <a:spcPts val="800"/>
              </a:spcAft>
            </a:pPr>
            <a:r>
              <a:rPr sz="2000" b="0" i="0">
                <a:solidFill>
                  <a:srgbClr val="333333"/>
                </a:solidFill>
                <a:latin typeface="Calibri"/>
              </a:rPr>
              <a:t>–   Mismo dominio: la clinica veterinaria — no otro ejemplo. Aqui se diseña, no se programa.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3 · Metodologias tradicionales</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Cascada y modelo en V: cuando el plano se firma antes de levantar el muro</a:t>
            </a:r>
          </a:p>
          <a:p>
            <a:pPr algn="ctr">
              <a:spcAft>
                <a:spcPts val="600"/>
              </a:spcAft>
            </a:pPr>
            <a:r>
              <a:rPr sz="1600" b="0" i="0">
                <a:solidFill>
                  <a:srgbClr val="333333"/>
                </a:solidFill>
                <a:latin typeface="Calibri"/>
              </a:rPr>
              <a:t>Repasen las laminas de teoria: cada concepto esta completo</a:t>
            </a:r>
          </a:p>
          <a:p>
            <a:pPr algn="ctr">
              <a:spcAft>
                <a:spcPts val="600"/>
              </a:spcAft>
            </a:pPr>
            <a:r>
              <a:rPr sz="1600" b="0" i="0">
                <a:solidFill>
                  <a:srgbClr val="333333"/>
                </a:solidFill>
                <a:latin typeface="Calibri"/>
              </a:rPr>
              <a:t>Siguiente clase: continuamos con el siguiente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diseño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