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modelo en cascada es el recorrido lineal llevado a su version formal: las fases van una detras de otra y cada una termina con un documento que alguien firma.</a:t>
            </a:r>
          </a:p>
          <a:p/>
          <a:p>
            <a:r>
              <a:t>Ese documento es la puerta de entrada a la siguiente fase; si no esta aprobado, no se avanza.</a:t>
            </a:r>
          </a:p>
          <a:p/>
          <a:p>
            <a:r>
              <a:t>Cuando el documento de requisitos se aprueba, se convierte en linea base, es decir, la version oficial contra la cual se va a medir todo lo demas.</a:t>
            </a:r>
          </a:p>
          <a:p/>
          <a:p>
            <a:r>
              <a:t>La idea de fondo es sencilla y muy usada en ingenieria civil: corregir un plano cuesta una borrada, corregir un muro construido cuesta demoler.</a:t>
            </a:r>
          </a:p>
          <a:p/>
          <a:p>
            <a:r>
              <a:t>Trasladado a la clinica: si la clinica aprueba que la busqueda se hace por nombre de la mascota y por documento del propietario, ese acuerdo queda escrito, fechado y versionado</a:t>
            </a:r>
          </a:p>
          <a:p/>
          <a:p>
            <a:r>
              <a:t>Y a partir de ahi el equipo diseña con la tranquilidad de que el piso no se le va a mover.</a:t>
            </a:r>
          </a:p>
          <a:p/>
          <a:p>
            <a:r>
              <a:t>Ese documento aprobado se llama linea base: cualquier cambio posterior pasa por una solicitud formal que evalua su impacto en costo y tiempo antes de aceptarse.</a:t>
            </a:r>
          </a:p>
          <a:p/>
          <a:p>
            <a:r>
              <a:t>Si a mitad del diseño la clinica pide buscar tambien por numero de microchip, el cambio no se improvisa: se registra, se estima y, si se aprueba, se publica una nueva version del documento.</a:t>
            </a:r>
          </a:p>
          <a:p/>
          <a:p>
            <a:r>
              <a:t>El error comun es confundir rigidez con disciplina: cascada si admite cambios, pero con trazabilidad.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modelo en V toma la cascada y la dobla en forma de letra V para dejar visible algo que la cascada esconde: cada fase de la izquierda tiene su prueba correspondiente a la derecha.</a:t>
            </a:r>
          </a:p>
          <a:p/>
          <a:p>
            <a:r>
              <a:t>La consecuencia practica es enorme: la prueba se diseña al mismo tiempo que el requisito, no al final.</a:t>
            </a:r>
          </a:p>
          <a:p/>
          <a:p>
            <a:r>
              <a:t>En la clinica, cuando se escribe el requisito RF-03 'la veterinaria busca la historia clinica por nombre o por documento'</a:t>
            </a:r>
          </a:p>
          <a:p/>
          <a:p>
            <a:r>
              <a:t>En ese mismo momento se escribe el caso de prueba CP-ACEP-07: con 5.000 fichas cargadas, escribir Rocky y obtener la ficha en menos de tres segundos y en maximo tres clics.</a:t>
            </a:r>
          </a:p>
          <a:p/>
          <a:p>
            <a:r>
              <a:t>Aqui aparecen dos palabras que hay que distinguir: verificar es preguntarse si construimos el sistema correctamente segun el documento; validar es preguntarse si construimos el sistema correcto para la clinica.</a:t>
            </a:r>
          </a:p>
          <a:p/>
          <a:p>
            <a:r>
              <a:t>NOTAS:</a:t>
            </a:r>
          </a:p>
          <a:p/>
          <a:p>
            <a:r>
              <a:t>Los requisitos se emparejan con las pruebas de aceptacion, el diseño de la arquitectura con las pruebas de integracion y el diseño detallado con las pruebas unitarias.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Cuando los requisitos son estables y se conocen desde el principio, cuando el contrato es a precio fijo o viene de una licitacion publica y el alcance debe estar cerrado para poder cotizar</a:t>
            </a:r>
          </a:p>
          <a:p/>
          <a:p>
            <a:r>
              <a:t>Cuando el sistema es critico o esta regulado (equipos medicos, aviacion, banca, manejo de historia clinica con normativa de proteccion de datos) y cuando hay varios proveedores que necesitan un documento comun para poder trabajar en paralelo.</a:t>
            </a:r>
          </a:p>
          <a:p/>
          <a:p>
            <a:r>
              <a:t>En la clinica hay partes que caben perfecto en este enfoque: los datos basicos de un paciente casi no cambian, y si mañana la clinica conecta facturacion electronica, las reglas de esa parte vienen impuestas por la norma y no se negocian con el cliente.</a:t>
            </a:r>
          </a:p>
          <a:p/>
          <a:p>
            <a:r>
              <a:t>En esos casos escribir todo el detalle antes no es burocracia, es la unica forma de estimar y de cumplir.</a:t>
            </a:r>
          </a:p>
          <a:p/>
          <a:p>
            <a:r>
              <a:t>NOTAS:</a:t>
            </a:r>
          </a:p>
          <a:p/>
          <a:p>
            <a:r>
              <a:t>Cuando SI tienen sentido estos modelos?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Cuando el cliente no sabe lo que quiere hasta que lo ve, cuando el dominio es nuevo para el equipo, cuando el tiempo hasta la primera entrega visible es tan largo que el negocio cambia antes de recibir nada</a:t>
            </a:r>
          </a:p>
          <a:p/>
          <a:p>
            <a:r>
              <a:t>Y cuando integrar todo de un solo golpe al final concentra el riesgo en el peor momento.</a:t>
            </a:r>
          </a:p>
          <a:p/>
          <a:p>
            <a:r>
              <a:t>El costo de corregir crece de forma brutal a medida que se avanza: cambiar una frase en el documento de requisitos vale casi nada; cambiar la misma idea cuando ya hay diseño, codigo y datos migrados puede costar semanas.</a:t>
            </a:r>
          </a:p>
          <a:p/>
          <a:p>
            <a:r>
              <a:t>En la clinica esto se ve clarito con el tablero de metricas: la administradora dice 'quiero ver cuantos pacientes atendemos', pero cuando vea el primer grafico va a pedir por especie, por veterinario y por mes.</a:t>
            </a:r>
          </a:p>
          <a:p/>
          <a:p>
            <a:r>
              <a:t>Congelar ese requisito en la semana dos es congelar una suposicion.</a:t>
            </a:r>
          </a:p>
          <a:p/>
          <a:p>
            <a:r>
              <a:t>NOTAS:</a:t>
            </a:r>
          </a:p>
          <a:p/>
          <a:p>
            <a:r>
              <a:t>Cuando NO tienen sentido?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el mundo tradicional la documentacion no acompaña al producto: en buena parte ES el producto contratado.</a:t>
            </a:r>
          </a:p>
          <a:p/>
          <a:p>
            <a:r>
              <a:t>Los artefactos tipicos son la Especificacion de Requisitos de Software (ERS o SRS, con estructura tipo IEEE 830 / ISO 29148), el Documento de Diseño (SDD), la matriz de trazabilidad que muestra que cada requisito tiene diseño y prueba, y el acta de aprobacion.</a:t>
            </a:r>
          </a:p>
          <a:p/>
          <a:p>
            <a:r>
              <a:t>Para el estudiante que solo cursa Seminario de Sistemas esto es una gran noticia: su producto final -documento de diseño mas prototipo navegable- es exactamente el tipo de producto que se factura en un proyecto tradicional, y por eso su ruta es completa y no una version reducida del curso.</a:t>
            </a:r>
          </a:p>
          <a:p/>
          <a:p>
            <a:r>
              <a:t>NOTAS:</a:t>
            </a:r>
          </a:p>
          <a:p/>
          <a:p>
            <a:r>
              <a:t>Cada documento tiene numero de version, fecha, autor y aprobador, y todo cambio entra por una solicitud formal donde se evalua impacto en alcance, tiempo y costo antes de aceptarla.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draw.io · Google Docs</a:t>
            </a:r>
          </a:p>
          <a:p/>
          <a:p>
            <a:r>
              <a:t>Demo: Se dibuja en draw.io el modelo en V de la clinica y traza en vivo la linea punteada que conecta el requisito RF-03 'buscar historial' con su prueba de aceptacion CP-ACEP-07.</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tradicionales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Cascada y modelo en V: cuando el plano se firma antes de levantar el muro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tradicionales</a:t>
            </a:r>
          </a:p>
          <a:p>
            <a:pPr>
              <a:spcAft>
                <a:spcPts val="800"/>
              </a:spcAft>
            </a:pPr>
            <a:r>
              <a:rPr sz="2000" b="0" i="0">
                <a:solidFill>
                  <a:srgbClr val="333333"/>
                </a:solidFill>
                <a:latin typeface="Calibri"/>
              </a:rPr>
              <a:t>–   Cascada y modelo en V: cuando el plano se firma antes de levantar el muro</a:t>
            </a:r>
          </a:p>
          <a:p>
            <a:pPr>
              <a:spcAft>
                <a:spcPts val="800"/>
              </a:spcAft>
            </a:pPr>
            <a:r>
              <a:rPr sz="2000" b="0" i="0">
                <a:solidFill>
                  <a:srgbClr val="333333"/>
                </a:solidFill>
                <a:latin typeface="Calibri"/>
              </a:rPr>
              <a:t>–   Herramienta del tema: </a:t>
            </a:r>
            <a:r>
              <a:rPr sz="2000" b="1" i="0">
                <a:solidFill>
                  <a:srgbClr val="333333"/>
                </a:solidFill>
                <a:latin typeface="Calibri"/>
              </a:rPr>
              <a:t>draw.io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cascada y la línea base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scada-linea-ba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scada-linea-ba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scada-linea-ba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 fases van una detrás de otra y cada una termina con un documento que alguien firma.</a:t>
            </a:r>
          </a:p>
          <a:p>
            <a:pPr>
              <a:spcAft>
                <a:spcPts val="800"/>
              </a:spcAft>
            </a:pPr>
            <a:r>
              <a:rPr sz="2000" b="0" i="0">
                <a:solidFill>
                  <a:srgbClr val="333333"/>
                </a:solidFill>
                <a:latin typeface="Calibri"/>
              </a:rPr>
              <a:t>–   Sin documento aprobado no se avanza: corregir un plano cuesta una borrada; un muro, demoler.</a:t>
            </a:r>
          </a:p>
          <a:p>
            <a:pPr>
              <a:spcAft>
                <a:spcPts val="800"/>
              </a:spcAft>
            </a:pPr>
            <a:r>
              <a:rPr sz="2000" b="0" i="0">
                <a:solidFill>
                  <a:srgbClr val="333333"/>
                </a:solidFill>
                <a:latin typeface="Calibri"/>
              </a:rPr>
              <a:t>–   El documento de requisitos aprobado es la línea base: la versión oficial contra la que se mide todo.</a:t>
            </a:r>
          </a:p>
          <a:p>
            <a:pPr>
              <a:spcAft>
                <a:spcPts val="800"/>
              </a:spcAft>
            </a:pPr>
            <a:r>
              <a:rPr sz="2000" b="0" i="0">
                <a:solidFill>
                  <a:srgbClr val="333333"/>
                </a:solidFill>
                <a:latin typeface="Calibri"/>
              </a:rPr>
              <a:t>–   La cascada sí admite cambios: entran por una solicitud que estima costo y tiempo, y suben la versión.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solicitud de cambio sobre linea base</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0" b="0">
                <a:solidFill>
                  <a:srgbClr val="D4D4D4"/>
                </a:solidFill>
                <a:latin typeface="Consolas"/>
              </a:rPr>
              <a:t>SC</a:t>
            </a:r>
            <a:r>
              <a:rPr sz="1800" i="0" b="0">
                <a:solidFill>
                  <a:srgbClr val="D4D4D4"/>
                </a:solidFill>
                <a:latin typeface="Consolas"/>
              </a:rPr>
              <a:t>-</a:t>
            </a:r>
            <a:r>
              <a:rPr sz="1800" i="0" b="0">
                <a:solidFill>
                  <a:srgbClr val="B5CEA8"/>
                </a:solidFill>
                <a:latin typeface="Consolas"/>
              </a:rPr>
              <a:t>001</a:t>
            </a:r>
            <a:r>
              <a:rPr sz="1800" i="0" b="0">
                <a:solidFill>
                  <a:srgbClr val="D4D4D4"/>
                </a:solidFill>
                <a:latin typeface="Consolas"/>
              </a:rPr>
              <a:t>  </a:t>
            </a:r>
            <a:r>
              <a:rPr sz="1800" i="0" b="0">
                <a:solidFill>
                  <a:srgbClr val="D4D4D4"/>
                </a:solidFill>
                <a:latin typeface="Consolas"/>
              </a:rPr>
              <a:t>Solicitud</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cambio</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Documento</a:t>
            </a:r>
            <a:r>
              <a:rPr sz="1800" i="0" b="0">
                <a:solidFill>
                  <a:srgbClr val="D4D4D4"/>
                </a:solidFill>
                <a:latin typeface="Consolas"/>
              </a:rPr>
              <a:t> </a:t>
            </a:r>
            <a:r>
              <a:rPr sz="1800" i="0" b="0">
                <a:solidFill>
                  <a:srgbClr val="D4D4D4"/>
                </a:solidFill>
                <a:latin typeface="Consolas"/>
              </a:rPr>
              <a:t>afectado</a:t>
            </a:r>
            <a:r>
              <a:rPr sz="1800" i="0" b="0">
                <a:solidFill>
                  <a:srgbClr val="D4D4D4"/>
                </a:solidFill>
                <a:latin typeface="Consolas"/>
              </a:rPr>
              <a:t>: </a:t>
            </a:r>
            <a:r>
              <a:rPr sz="1800" i="0" b="0">
                <a:solidFill>
                  <a:srgbClr val="D4D4D4"/>
                </a:solidFill>
                <a:latin typeface="Consolas"/>
              </a:rPr>
              <a:t>ERS</a:t>
            </a:r>
            <a:r>
              <a:rPr sz="1800" i="0" b="0">
                <a:solidFill>
                  <a:srgbClr val="D4D4D4"/>
                </a:solidFill>
                <a:latin typeface="Consolas"/>
              </a:rPr>
              <a:t> </a:t>
            </a:r>
            <a:r>
              <a:rPr sz="1800" i="0" b="0">
                <a:solidFill>
                  <a:srgbClr val="D4D4D4"/>
                </a:solidFill>
                <a:latin typeface="Consolas"/>
              </a:rPr>
              <a:t>Clinica</a:t>
            </a:r>
            <a:r>
              <a:rPr sz="1800" i="0" b="0">
                <a:solidFill>
                  <a:srgbClr val="D4D4D4"/>
                </a:solidFill>
                <a:latin typeface="Consolas"/>
              </a:rPr>
              <a:t> </a:t>
            </a:r>
            <a:r>
              <a:rPr sz="1800" i="0" b="0">
                <a:solidFill>
                  <a:srgbClr val="DCDCAA"/>
                </a:solidFill>
                <a:latin typeface="Consolas"/>
              </a:rPr>
              <a:t>v1.0</a:t>
            </a:r>
            <a:r>
              <a:rPr sz="1800" i="0" b="0">
                <a:solidFill>
                  <a:srgbClr val="D4D4D4"/>
                </a:solidFill>
                <a:latin typeface="Consolas"/>
              </a:rPr>
              <a:t> (</a:t>
            </a:r>
            <a:r>
              <a:rPr sz="1800" i="0" b="0">
                <a:solidFill>
                  <a:srgbClr val="D4D4D4"/>
                </a:solidFill>
                <a:latin typeface="Consolas"/>
              </a:rPr>
              <a:t>linea</a:t>
            </a:r>
            <a:r>
              <a:rPr sz="1800" i="0" b="0">
                <a:solidFill>
                  <a:srgbClr val="D4D4D4"/>
                </a:solidFill>
                <a:latin typeface="Consolas"/>
              </a:rPr>
              <a:t> </a:t>
            </a:r>
            <a:r>
              <a:rPr sz="1800" i="0" b="0">
                <a:solidFill>
                  <a:srgbClr val="D4D4D4"/>
                </a:solidFill>
                <a:latin typeface="Consolas"/>
              </a:rPr>
              <a:t>base</a:t>
            </a:r>
            <a:r>
              <a:rPr sz="1800" i="0" b="0">
                <a:solidFill>
                  <a:srgbClr val="D4D4D4"/>
                </a:solidFill>
                <a:latin typeface="Consolas"/>
              </a:rPr>
              <a:t> </a:t>
            </a:r>
            <a:r>
              <a:rPr sz="1800" i="0" b="0">
                <a:solidFill>
                  <a:srgbClr val="D4D4D4"/>
                </a:solidFill>
                <a:latin typeface="Consolas"/>
              </a:rPr>
              <a:t>aprobada</a:t>
            </a:r>
            <a:r>
              <a:rPr sz="1800" i="0" b="0">
                <a:solidFill>
                  <a:srgbClr val="D4D4D4"/>
                </a:solidFill>
                <a:latin typeface="Consolas"/>
              </a:rPr>
              <a:t> </a:t>
            </a:r>
            <a:r>
              <a:rPr sz="1800" i="0" b="0">
                <a:solidFill>
                  <a:srgbClr val="B5CEA8"/>
                </a:solidFill>
                <a:latin typeface="Consolas"/>
              </a:rPr>
              <a:t>20</a:t>
            </a:r>
            <a:r>
              <a:rPr sz="1800" i="0" b="0">
                <a:solidFill>
                  <a:srgbClr val="D4D4D4"/>
                </a:solidFill>
                <a:latin typeface="Consolas"/>
              </a:rPr>
              <a:t>/</a:t>
            </a:r>
            <a:r>
              <a:rPr sz="1800" i="0" b="0">
                <a:solidFill>
                  <a:srgbClr val="B5CEA8"/>
                </a:solidFill>
                <a:latin typeface="Consolas"/>
              </a:rPr>
              <a:t>08</a:t>
            </a:r>
            <a:r>
              <a:rPr sz="1800" i="0" b="0">
                <a:solidFill>
                  <a:srgbClr val="D4D4D4"/>
                </a:solidFill>
                <a:latin typeface="Consolas"/>
              </a:rPr>
              <a:t>/</a:t>
            </a:r>
            <a:r>
              <a:rPr sz="1800" i="0" b="0">
                <a:solidFill>
                  <a:srgbClr val="B5CEA8"/>
                </a:solidFill>
                <a:latin typeface="Consolas"/>
              </a:rPr>
              <a:t>2026</a:t>
            </a:r>
            <a:r>
              <a:rPr sz="1800" i="0" b="0">
                <a:solidFill>
                  <a:srgbClr val="D4D4D4"/>
                </a:solidFill>
                <a:latin typeface="Consolas"/>
              </a:rPr>
              <a:t>)</a:t>
            </a:r>
          </a:p>
          <a:p>
            <a:pPr>
              <a:spcAft>
                <a:spcPts val="385"/>
              </a:spcAft>
            </a:pPr>
            <a:r>
              <a:rPr sz="1800" i="0" b="0">
                <a:solidFill>
                  <a:srgbClr val="D4D4D4"/>
                </a:solidFill>
                <a:latin typeface="Consolas"/>
              </a:rPr>
              <a:t>Solicita</a:t>
            </a:r>
            <a:r>
              <a:rPr sz="1800" i="0" b="0">
                <a:solidFill>
                  <a:srgbClr val="D4D4D4"/>
                </a:solidFill>
                <a:latin typeface="Consolas"/>
              </a:rPr>
              <a:t>:           </a:t>
            </a:r>
            <a:r>
              <a:rPr sz="1800" i="0" b="0">
                <a:solidFill>
                  <a:srgbClr val="D4D4D4"/>
                </a:solidFill>
                <a:latin typeface="Consolas"/>
              </a:rPr>
              <a:t>Dr</a:t>
            </a:r>
            <a:r>
              <a:rPr sz="1800" i="0" b="0">
                <a:solidFill>
                  <a:srgbClr val="D4D4D4"/>
                </a:solidFill>
                <a:latin typeface="Consolas"/>
              </a:rPr>
              <a:t>. </a:t>
            </a:r>
            <a:r>
              <a:rPr sz="1800" i="0" b="0">
                <a:solidFill>
                  <a:srgbClr val="D4D4D4"/>
                </a:solidFill>
                <a:latin typeface="Consolas"/>
              </a:rPr>
              <a:t>Ramirez</a:t>
            </a:r>
          </a:p>
          <a:p>
            <a:pPr>
              <a:spcAft>
                <a:spcPts val="385"/>
              </a:spcAft>
            </a:pPr>
            <a:r>
              <a:rPr sz="1800" i="0" b="0">
                <a:solidFill>
                  <a:srgbClr val="D4D4D4"/>
                </a:solidFill>
                <a:latin typeface="Consolas"/>
              </a:rPr>
              <a:t>Cambio</a:t>
            </a:r>
            <a:r>
              <a:rPr sz="1800" i="0" b="0">
                <a:solidFill>
                  <a:srgbClr val="D4D4D4"/>
                </a:solidFill>
                <a:latin typeface="Consolas"/>
              </a:rPr>
              <a:t> </a:t>
            </a:r>
            <a:r>
              <a:rPr sz="1800" i="0" b="0">
                <a:solidFill>
                  <a:srgbClr val="D4D4D4"/>
                </a:solidFill>
                <a:latin typeface="Consolas"/>
              </a:rPr>
              <a:t>pedido</a:t>
            </a:r>
            <a:r>
              <a:rPr sz="1800" i="0" b="0">
                <a:solidFill>
                  <a:srgbClr val="D4D4D4"/>
                </a:solidFill>
                <a:latin typeface="Consolas"/>
              </a:rPr>
              <a:t>:      </a:t>
            </a:r>
            <a:r>
              <a:rPr sz="1800" i="0" b="0">
                <a:solidFill>
                  <a:srgbClr val="D4D4D4"/>
                </a:solidFill>
                <a:latin typeface="Consolas"/>
              </a:rPr>
              <a:t>agregar</a:t>
            </a:r>
            <a:r>
              <a:rPr sz="1800" i="0" b="0">
                <a:solidFill>
                  <a:srgbClr val="D4D4D4"/>
                </a:solidFill>
                <a:latin typeface="Consolas"/>
              </a:rPr>
              <a:t> </a:t>
            </a:r>
            <a:r>
              <a:rPr sz="1800" i="0" b="0">
                <a:solidFill>
                  <a:srgbClr val="D4D4D4"/>
                </a:solidFill>
                <a:latin typeface="Consolas"/>
              </a:rPr>
              <a:t>recordatorio</a:t>
            </a:r>
            <a:r>
              <a:rPr sz="1800" i="0" b="0">
                <a:solidFill>
                  <a:srgbClr val="D4D4D4"/>
                </a:solidFill>
                <a:latin typeface="Consolas"/>
              </a:rPr>
              <a:t> </a:t>
            </a:r>
            <a:r>
              <a:rPr sz="1800" i="0" b="0">
                <a:solidFill>
                  <a:srgbClr val="D4D4D4"/>
                </a:solidFill>
                <a:latin typeface="Consolas"/>
              </a:rPr>
              <a:t>por</a:t>
            </a:r>
            <a:r>
              <a:rPr sz="1800" i="0" b="0">
                <a:solidFill>
                  <a:srgbClr val="D4D4D4"/>
                </a:solidFill>
                <a:latin typeface="Consolas"/>
              </a:rPr>
              <a:t> </a:t>
            </a:r>
            <a:r>
              <a:rPr sz="1800" i="0" b="0">
                <a:solidFill>
                  <a:srgbClr val="D4D4D4"/>
                </a:solidFill>
                <a:latin typeface="Consolas"/>
              </a:rPr>
              <a:t>WhatsApp</a:t>
            </a:r>
            <a:r>
              <a:rPr sz="1800" i="0" b="0">
                <a:solidFill>
                  <a:srgbClr val="D4D4D4"/>
                </a:solidFill>
                <a:latin typeface="Consolas"/>
              </a:rPr>
              <a:t> </a:t>
            </a:r>
            <a:r>
              <a:rPr sz="1800" i="0" b="0">
                <a:solidFill>
                  <a:srgbClr val="D4D4D4"/>
                </a:solidFill>
                <a:latin typeface="Consolas"/>
              </a:rPr>
              <a:t>al</a:t>
            </a:r>
            <a:r>
              <a:rPr sz="1800" i="0" b="0">
                <a:solidFill>
                  <a:srgbClr val="D4D4D4"/>
                </a:solidFill>
                <a:latin typeface="Consolas"/>
              </a:rPr>
              <a:t> </a:t>
            </a:r>
            <a:r>
              <a:rPr sz="1800" i="0" b="0">
                <a:solidFill>
                  <a:srgbClr val="D4D4D4"/>
                </a:solidFill>
                <a:latin typeface="Consolas"/>
              </a:rPr>
              <a:t>agendar</a:t>
            </a:r>
          </a:p>
          <a:p>
            <a:pPr>
              <a:spcAft>
                <a:spcPts val="385"/>
              </a:spcAft>
            </a:pPr>
            <a:r>
              <a:rPr sz="1800" i="0" b="0">
                <a:solidFill>
                  <a:srgbClr val="D4D4D4"/>
                </a:solidFill>
                <a:latin typeface="Consolas"/>
              </a:rPr>
              <a:t>Requisitos</a:t>
            </a:r>
            <a:r>
              <a:rPr sz="1800" i="0" b="0">
                <a:solidFill>
                  <a:srgbClr val="D4D4D4"/>
                </a:solidFill>
                <a:latin typeface="Consolas"/>
              </a:rPr>
              <a:t> </a:t>
            </a:r>
            <a:r>
              <a:rPr sz="1800" i="0" b="0">
                <a:solidFill>
                  <a:srgbClr val="D4D4D4"/>
                </a:solidFill>
                <a:latin typeface="Consolas"/>
              </a:rPr>
              <a:t>tocados</a:t>
            </a:r>
            <a:r>
              <a:rPr sz="1800" i="0" b="0">
                <a:solidFill>
                  <a:srgbClr val="D4D4D4"/>
                </a:solidFill>
                <a:latin typeface="Consolas"/>
              </a:rPr>
              <a:t>: </a:t>
            </a:r>
            <a:r>
              <a:rPr sz="1800" i="0" b="0">
                <a:solidFill>
                  <a:srgbClr val="D4D4D4"/>
                </a:solidFill>
                <a:latin typeface="Consolas"/>
              </a:rPr>
              <a:t>RF</a:t>
            </a:r>
            <a:r>
              <a:rPr sz="1800" i="0" b="0">
                <a:solidFill>
                  <a:srgbClr val="D4D4D4"/>
                </a:solidFill>
                <a:latin typeface="Consolas"/>
              </a:rPr>
              <a:t>-</a:t>
            </a:r>
            <a:r>
              <a:rPr sz="1800" i="0" b="0">
                <a:solidFill>
                  <a:srgbClr val="B5CEA8"/>
                </a:solidFill>
                <a:latin typeface="Consolas"/>
              </a:rPr>
              <a:t>03</a:t>
            </a:r>
            <a:r>
              <a:rPr sz="1800" i="0" b="0">
                <a:solidFill>
                  <a:srgbClr val="D4D4D4"/>
                </a:solidFill>
                <a:latin typeface="Consolas"/>
              </a:rPr>
              <a:t> (</a:t>
            </a:r>
            <a:r>
              <a:rPr sz="1800" i="0" b="0">
                <a:solidFill>
                  <a:srgbClr val="D4D4D4"/>
                </a:solidFill>
                <a:latin typeface="Consolas"/>
              </a:rPr>
              <a:t>agendar</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RNF</a:t>
            </a:r>
            <a:r>
              <a:rPr sz="1800" i="0" b="0">
                <a:solidFill>
                  <a:srgbClr val="D4D4D4"/>
                </a:solidFill>
                <a:latin typeface="Consolas"/>
              </a:rPr>
              <a:t>-</a:t>
            </a:r>
            <a:r>
              <a:rPr sz="1800" i="0" b="0">
                <a:solidFill>
                  <a:srgbClr val="B5CEA8"/>
                </a:solidFill>
                <a:latin typeface="Consolas"/>
              </a:rPr>
              <a:t>02</a:t>
            </a:r>
            <a:r>
              <a:rPr sz="1800" i="0" b="0">
                <a:solidFill>
                  <a:srgbClr val="D4D4D4"/>
                </a:solidFill>
                <a:latin typeface="Consolas"/>
              </a:rPr>
              <a:t> (</a:t>
            </a:r>
            <a:r>
              <a:rPr sz="1800" i="0" b="0">
                <a:solidFill>
                  <a:srgbClr val="D4D4D4"/>
                </a:solidFill>
                <a:latin typeface="Consolas"/>
              </a:rPr>
              <a:t>disponibilidad</a:t>
            </a:r>
            <a:r>
              <a:rPr sz="1800" i="0" b="0">
                <a:solidFill>
                  <a:srgbClr val="D4D4D4"/>
                </a:solidFill>
                <a:latin typeface="Consolas"/>
              </a:rPr>
              <a:t>)</a:t>
            </a:r>
          </a:p>
          <a:p>
            <a:pPr>
              <a:spcAft>
                <a:spcPts val="385"/>
              </a:spcAft>
            </a:pPr>
            <a:r>
              <a:rPr sz="1800" i="0" b="0">
                <a:solidFill>
                  <a:srgbClr val="D4D4D4"/>
                </a:solidFill>
                <a:latin typeface="Consolas"/>
              </a:rPr>
              <a:t>Impacto</a:t>
            </a:r>
            <a:r>
              <a:rPr sz="1800" i="0" b="0">
                <a:solidFill>
                  <a:srgbClr val="D4D4D4"/>
                </a:solidFill>
                <a:latin typeface="Consolas"/>
              </a:rPr>
              <a:t> </a:t>
            </a:r>
            <a:r>
              <a:rPr sz="1800" i="0" b="0">
                <a:solidFill>
                  <a:srgbClr val="D4D4D4"/>
                </a:solidFill>
                <a:latin typeface="Consolas"/>
              </a:rPr>
              <a:t>en</a:t>
            </a:r>
            <a:r>
              <a:rPr sz="1800" i="0" b="0">
                <a:solidFill>
                  <a:srgbClr val="D4D4D4"/>
                </a:solidFill>
                <a:latin typeface="Consolas"/>
              </a:rPr>
              <a:t> </a:t>
            </a:r>
            <a:r>
              <a:rPr sz="1800" i="0" b="0">
                <a:solidFill>
                  <a:srgbClr val="D4D4D4"/>
                </a:solidFill>
                <a:latin typeface="Consolas"/>
              </a:rPr>
              <a:t>alcance</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RF</a:t>
            </a:r>
            <a:r>
              <a:rPr sz="1800" i="0" b="0">
                <a:solidFill>
                  <a:srgbClr val="D4D4D4"/>
                </a:solidFill>
                <a:latin typeface="Consolas"/>
              </a:rPr>
              <a:t> </a:t>
            </a:r>
            <a:r>
              <a:rPr sz="1800" i="0" b="0">
                <a:solidFill>
                  <a:srgbClr val="D4D4D4"/>
                </a:solidFill>
                <a:latin typeface="Consolas"/>
              </a:rPr>
              <a:t>nuevo</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integracion</a:t>
            </a:r>
            <a:r>
              <a:rPr sz="1800" i="0" b="0">
                <a:solidFill>
                  <a:srgbClr val="D4D4D4"/>
                </a:solidFill>
                <a:latin typeface="Consolas"/>
              </a:rPr>
              <a:t> </a:t>
            </a:r>
            <a:r>
              <a:rPr sz="1800" i="0" b="0">
                <a:solidFill>
                  <a:srgbClr val="D4D4D4"/>
                </a:solidFill>
                <a:latin typeface="Consolas"/>
              </a:rPr>
              <a:t>externa</a:t>
            </a:r>
          </a:p>
          <a:p>
            <a:pPr>
              <a:spcAft>
                <a:spcPts val="385"/>
              </a:spcAft>
            </a:pPr>
            <a:r>
              <a:rPr sz="1800" i="0" b="0">
                <a:solidFill>
                  <a:srgbClr val="D4D4D4"/>
                </a:solidFill>
                <a:latin typeface="Consolas"/>
              </a:rPr>
              <a:t>Impacto</a:t>
            </a:r>
            <a:r>
              <a:rPr sz="1800" i="0" b="0">
                <a:solidFill>
                  <a:srgbClr val="D4D4D4"/>
                </a:solidFill>
                <a:latin typeface="Consolas"/>
              </a:rPr>
              <a:t> </a:t>
            </a:r>
            <a:r>
              <a:rPr sz="1800" i="0" b="0">
                <a:solidFill>
                  <a:srgbClr val="D4D4D4"/>
                </a:solidFill>
                <a:latin typeface="Consolas"/>
              </a:rPr>
              <a:t>en</a:t>
            </a:r>
            <a:r>
              <a:rPr sz="1800" i="0" b="0">
                <a:solidFill>
                  <a:srgbClr val="D4D4D4"/>
                </a:solidFill>
                <a:latin typeface="Consolas"/>
              </a:rPr>
              <a:t> </a:t>
            </a:r>
            <a:r>
              <a:rPr sz="1800" i="0" b="0">
                <a:solidFill>
                  <a:srgbClr val="D4D4D4"/>
                </a:solidFill>
                <a:latin typeface="Consolas"/>
              </a:rPr>
              <a:t>plan</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sprint</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diseno</a:t>
            </a:r>
          </a:p>
          <a:p>
            <a:pPr>
              <a:spcAft>
                <a:spcPts val="385"/>
              </a:spcAft>
            </a:pPr>
            <a:r>
              <a:rPr sz="1800" i="0" b="0">
                <a:solidFill>
                  <a:srgbClr val="D4D4D4"/>
                </a:solidFill>
                <a:latin typeface="Consolas"/>
              </a:rPr>
              <a:t>Decision</a:t>
            </a:r>
            <a:r>
              <a:rPr sz="1800" i="0" b="0">
                <a:solidFill>
                  <a:srgbClr val="D4D4D4"/>
                </a:solidFill>
                <a:latin typeface="Consolas"/>
              </a:rPr>
              <a:t>:           &lt;</a:t>
            </a:r>
            <a:r>
              <a:rPr sz="1800" i="0" b="0">
                <a:solidFill>
                  <a:srgbClr val="D4D4D4"/>
                </a:solidFill>
                <a:latin typeface="Consolas"/>
              </a:rPr>
              <a:t>aprobada</a:t>
            </a:r>
            <a:r>
              <a:rPr sz="1800" i="0" b="0">
                <a:solidFill>
                  <a:srgbClr val="D4D4D4"/>
                </a:solidFill>
                <a:latin typeface="Consolas"/>
              </a:rPr>
              <a:t> | </a:t>
            </a:r>
            <a:r>
              <a:rPr sz="1800" i="0" b="0">
                <a:solidFill>
                  <a:srgbClr val="D4D4D4"/>
                </a:solidFill>
                <a:latin typeface="Consolas"/>
              </a:rPr>
              <a:t>rechazada</a:t>
            </a:r>
            <a:r>
              <a:rPr sz="1800" i="0" b="0">
                <a:solidFill>
                  <a:srgbClr val="D4D4D4"/>
                </a:solidFill>
                <a:latin typeface="Consolas"/>
              </a:rPr>
              <a:t> | </a:t>
            </a:r>
            <a:r>
              <a:rPr sz="1800" i="0" b="0">
                <a:solidFill>
                  <a:srgbClr val="D4D4D4"/>
                </a:solidFill>
                <a:latin typeface="Consolas"/>
              </a:rPr>
              <a:t>diferida</a:t>
            </a:r>
            <a:r>
              <a:rPr sz="1800" i="0" b="0">
                <a:solidFill>
                  <a:srgbClr val="D4D4D4"/>
                </a:solidFill>
                <a:latin typeface="Consolas"/>
              </a:rPr>
              <a:t>&gt;  </a:t>
            </a:r>
            <a:r>
              <a:rPr sz="1800" i="0" b="0">
                <a:solidFill>
                  <a:srgbClr val="D4D4D4"/>
                </a:solidFill>
                <a:latin typeface="Consolas"/>
              </a:rPr>
              <a:t>por</a:t>
            </a:r>
            <a:r>
              <a:rPr sz="1800" i="0" b="0">
                <a:solidFill>
                  <a:srgbClr val="D4D4D4"/>
                </a:solidFill>
                <a:latin typeface="Consolas"/>
              </a:rPr>
              <a:t> &lt;</a:t>
            </a:r>
            <a:r>
              <a:rPr sz="1800" i="0" b="0">
                <a:solidFill>
                  <a:srgbClr val="D4D4D4"/>
                </a:solidFill>
                <a:latin typeface="Consolas"/>
              </a:rPr>
              <a:t>quien</a:t>
            </a:r>
            <a:r>
              <a:rPr sz="1800" i="0" b="0">
                <a:solidFill>
                  <a:srgbClr val="D4D4D4"/>
                </a:solidFill>
                <a:latin typeface="Consolas"/>
              </a:rPr>
              <a:t>&gt;</a:t>
            </a:r>
          </a:p>
          <a:p>
            <a:pPr>
              <a:spcAft>
                <a:spcPts val="385"/>
              </a:spcAft>
            </a:pPr>
            <a:r>
              <a:rPr sz="1800" i="0" b="0">
                <a:solidFill>
                  <a:srgbClr val="D4D4D4"/>
                </a:solidFill>
                <a:latin typeface="Consolas"/>
              </a:rPr>
              <a:t>Nueva</a:t>
            </a:r>
            <a:r>
              <a:rPr sz="1800" i="0" b="0">
                <a:solidFill>
                  <a:srgbClr val="D4D4D4"/>
                </a:solidFill>
                <a:latin typeface="Consolas"/>
              </a:rPr>
              <a:t> </a:t>
            </a:r>
            <a:r>
              <a:rPr sz="1800" i="0" b="0">
                <a:solidFill>
                  <a:srgbClr val="D4D4D4"/>
                </a:solidFill>
                <a:latin typeface="Consolas"/>
              </a:rPr>
              <a:t>version</a:t>
            </a:r>
            <a:r>
              <a:rPr sz="1800" i="0" b="0">
                <a:solidFill>
                  <a:srgbClr val="D4D4D4"/>
                </a:solidFill>
                <a:latin typeface="Consolas"/>
              </a:rPr>
              <a:t>:      </a:t>
            </a:r>
            <a:r>
              <a:rPr sz="1800" i="0" b="0">
                <a:solidFill>
                  <a:srgbClr val="D4D4D4"/>
                </a:solidFill>
                <a:latin typeface="Consolas"/>
              </a:rPr>
              <a:t>ERS</a:t>
            </a:r>
            <a:r>
              <a:rPr sz="1800" i="0" b="0">
                <a:solidFill>
                  <a:srgbClr val="D4D4D4"/>
                </a:solidFill>
                <a:latin typeface="Consolas"/>
              </a:rPr>
              <a:t> </a:t>
            </a:r>
            <a:r>
              <a:rPr sz="1800" i="0" b="0">
                <a:solidFill>
                  <a:srgbClr val="D4D4D4"/>
                </a:solidFill>
                <a:latin typeface="Consolas"/>
              </a:rPr>
              <a:t>Clinica</a:t>
            </a:r>
            <a:r>
              <a:rPr sz="1800" i="0" b="0">
                <a:solidFill>
                  <a:srgbClr val="D4D4D4"/>
                </a:solidFill>
                <a:latin typeface="Consolas"/>
              </a:rPr>
              <a:t> </a:t>
            </a:r>
            <a:r>
              <a:rPr sz="1800" i="0" b="0">
                <a:solidFill>
                  <a:srgbClr val="D4D4D4"/>
                </a:solidFill>
                <a:latin typeface="Consolas"/>
              </a:rPr>
              <a:t>v1</a:t>
            </a:r>
            <a:r>
              <a:rPr sz="1800" i="0" b="0">
                <a:solidFill>
                  <a:srgbClr val="D4D4D4"/>
                </a:solidFill>
                <a:latin typeface="Consolas"/>
              </a:rPr>
              <a:t>.</a:t>
            </a:r>
            <a:r>
              <a:rPr sz="1800" i="0" b="0">
                <a:solidFill>
                  <a:srgbClr val="B5CEA8"/>
                </a:solidFill>
                <a:latin typeface="Consolas"/>
              </a:rPr>
              <a:t>1</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 Tener linea base no significa que no se pueda cambiar: significa que</a:t>
            </a:r>
          </a:p>
          <a:p>
            <a:pPr>
              <a:spcAft>
                <a:spcPts val="385"/>
              </a:spcAft>
            </a:pPr>
            <a:r>
              <a:rPr sz="1800" i="0" b="0">
                <a:solidFill>
                  <a:srgbClr val="D4D4D4"/>
                </a:solidFill>
                <a:latin typeface="Consolas"/>
              </a:rPr>
              <a:t>-- el cambio deja RASTRO y sube la version. Editar el v1.0 en silencio</a:t>
            </a:r>
          </a:p>
          <a:p>
            <a:pPr>
              <a:spcAft>
                <a:spcPts val="385"/>
              </a:spcAft>
            </a:pPr>
            <a:r>
              <a:rPr sz="1800" i="0" b="0">
                <a:solidFill>
                  <a:srgbClr val="D4D4D4"/>
                </a:solidFill>
                <a:latin typeface="Consolas"/>
              </a:rPr>
              <a:t>-- es lo que rompe la trazabilidad.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Ficha formal de un requisito con linea base</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ID</a:t>
            </a:r>
            <a:r>
              <a:rPr sz="1600" i="0" b="0">
                <a:solidFill>
                  <a:srgbClr val="D4D4D4"/>
                </a:solidFill>
                <a:latin typeface="Consolas"/>
              </a:rPr>
              <a:t>: </a:t>
            </a:r>
            <a:r>
              <a:rPr sz="1600" i="0" b="0">
                <a:solidFill>
                  <a:srgbClr val="D4D4D4"/>
                </a:solidFill>
                <a:latin typeface="Consolas"/>
              </a:rPr>
              <a:t>RF</a:t>
            </a:r>
            <a:r>
              <a:rPr sz="1600" i="0" b="0">
                <a:solidFill>
                  <a:srgbClr val="D4D4D4"/>
                </a:solidFill>
                <a:latin typeface="Consolas"/>
              </a:rPr>
              <a:t>-</a:t>
            </a:r>
            <a:r>
              <a:rPr sz="1600" i="0" b="0">
                <a:solidFill>
                  <a:srgbClr val="B5CEA8"/>
                </a:solidFill>
                <a:latin typeface="Consolas"/>
              </a:rPr>
              <a:t>03</a:t>
            </a:r>
            <a:r>
              <a:rPr sz="1600" i="0" b="0">
                <a:solidFill>
                  <a:srgbClr val="D4D4D4"/>
                </a:solidFill>
                <a:latin typeface="Consolas"/>
              </a:rPr>
              <a:t>            </a:t>
            </a:r>
            <a:r>
              <a:rPr sz="1600" i="0" b="0">
                <a:solidFill>
                  <a:srgbClr val="D4D4D4"/>
                </a:solidFill>
                <a:latin typeface="Consolas"/>
              </a:rPr>
              <a:t>Version</a:t>
            </a:r>
            <a:r>
              <a:rPr sz="1600" i="0" b="0">
                <a:solidFill>
                  <a:srgbClr val="D4D4D4"/>
                </a:solidFill>
                <a:latin typeface="Consolas"/>
              </a:rPr>
              <a:t>: </a:t>
            </a:r>
            <a:r>
              <a:rPr sz="1600" i="0" b="0">
                <a:solidFill>
                  <a:srgbClr val="B5CEA8"/>
                </a:solidFill>
                <a:latin typeface="Consolas"/>
              </a:rPr>
              <a:t>1.2</a:t>
            </a:r>
            <a:r>
              <a:rPr sz="1600" i="0" b="0">
                <a:solidFill>
                  <a:srgbClr val="D4D4D4"/>
                </a:solidFill>
                <a:latin typeface="Consolas"/>
              </a:rPr>
              <a:t>      </a:t>
            </a:r>
            <a:r>
              <a:rPr sz="1600" i="0" b="0">
                <a:solidFill>
                  <a:srgbClr val="D4D4D4"/>
                </a:solidFill>
                <a:latin typeface="Consolas"/>
              </a:rPr>
              <a:t>Estado</a:t>
            </a:r>
            <a:r>
              <a:rPr sz="1600" i="0" b="0">
                <a:solidFill>
                  <a:srgbClr val="D4D4D4"/>
                </a:solidFill>
                <a:latin typeface="Consolas"/>
              </a:rPr>
              <a:t>: </a:t>
            </a:r>
            <a:r>
              <a:rPr sz="1600" i="0" b="0">
                <a:solidFill>
                  <a:srgbClr val="DCDCAA"/>
                </a:solidFill>
                <a:latin typeface="Consolas"/>
              </a:rPr>
              <a:t>Aprobado</a:t>
            </a:r>
            <a:r>
              <a:rPr sz="1600" i="0" b="0">
                <a:solidFill>
                  <a:srgbClr val="D4D4D4"/>
                </a:solidFill>
                <a:latin typeface="Consolas"/>
              </a:rPr>
              <a:t> (</a:t>
            </a:r>
            <a:r>
              <a:rPr sz="1600" i="0" b="0">
                <a:solidFill>
                  <a:srgbClr val="D4D4D4"/>
                </a:solidFill>
                <a:latin typeface="Consolas"/>
              </a:rPr>
              <a:t>linea</a:t>
            </a:r>
            <a:r>
              <a:rPr sz="1600" i="0" b="0">
                <a:solidFill>
                  <a:srgbClr val="D4D4D4"/>
                </a:solidFill>
                <a:latin typeface="Consolas"/>
              </a:rPr>
              <a:t> </a:t>
            </a:r>
            <a:r>
              <a:rPr sz="1600" i="0" b="0">
                <a:solidFill>
                  <a:srgbClr val="D4D4D4"/>
                </a:solidFill>
                <a:latin typeface="Consolas"/>
              </a:rPr>
              <a:t>base</a:t>
            </a:r>
            <a:r>
              <a:rPr sz="1600" i="0" b="0">
                <a:solidFill>
                  <a:srgbClr val="D4D4D4"/>
                </a:solidFill>
                <a:latin typeface="Consolas"/>
              </a:rPr>
              <a:t> </a:t>
            </a:r>
            <a:r>
              <a:rPr sz="1600" i="0" b="0">
                <a:solidFill>
                  <a:srgbClr val="B5CEA8"/>
                </a:solidFill>
                <a:latin typeface="Consolas"/>
              </a:rPr>
              <a:t>27</a:t>
            </a:r>
            <a:r>
              <a:rPr sz="1600" i="0" b="0">
                <a:solidFill>
                  <a:srgbClr val="D4D4D4"/>
                </a:solidFill>
                <a:latin typeface="Consolas"/>
              </a:rPr>
              <a:t>/</a:t>
            </a:r>
            <a:r>
              <a:rPr sz="1600" i="0" b="0">
                <a:solidFill>
                  <a:srgbClr val="B5CEA8"/>
                </a:solidFill>
                <a:latin typeface="Consolas"/>
              </a:rPr>
              <a:t>08</a:t>
            </a:r>
            <a:r>
              <a:rPr sz="1600" i="0" b="0">
                <a:solidFill>
                  <a:srgbClr val="D4D4D4"/>
                </a:solidFill>
                <a:latin typeface="Consolas"/>
              </a:rPr>
              <a:t>)</a:t>
            </a:r>
          </a:p>
          <a:p>
            <a:pPr>
              <a:spcAft>
                <a:spcPts val="342"/>
              </a:spcAft>
            </a:pP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paciente</a:t>
            </a:r>
          </a:p>
          <a:p>
            <a:pPr>
              <a:spcAft>
                <a:spcPts val="342"/>
              </a:spcAft>
            </a:pPr>
            <a:r>
              <a:rPr sz="1600" i="0" b="0">
                <a:solidFill>
                  <a:srgbClr val="D4D4D4"/>
                </a:solidFill>
                <a:latin typeface="Consolas"/>
              </a:rPr>
              <a:t>Fuente</a:t>
            </a:r>
            <a:r>
              <a:rPr sz="1600" i="0" b="0">
                <a:solidFill>
                  <a:srgbClr val="D4D4D4"/>
                </a:solidFill>
                <a:latin typeface="Consolas"/>
              </a:rPr>
              <a:t>: </a:t>
            </a:r>
            <a:r>
              <a:rPr sz="1600" i="0" b="0">
                <a:solidFill>
                  <a:srgbClr val="D4D4D4"/>
                </a:solidFill>
                <a:latin typeface="Consolas"/>
              </a:rPr>
              <a:t>Dra</a:t>
            </a:r>
            <a:r>
              <a:rPr sz="1600" i="0" b="0">
                <a:solidFill>
                  <a:srgbClr val="D4D4D4"/>
                </a:solidFill>
                <a:latin typeface="Consolas"/>
              </a:rPr>
              <a:t>. </a:t>
            </a:r>
            <a:r>
              <a:rPr sz="1600" i="0" b="0">
                <a:solidFill>
                  <a:srgbClr val="D4D4D4"/>
                </a:solidFill>
                <a:latin typeface="Consolas"/>
              </a:rPr>
              <a:t>Marcela</a:t>
            </a:r>
            <a:r>
              <a:rPr sz="1600" i="0" b="0">
                <a:solidFill>
                  <a:srgbClr val="D4D4D4"/>
                </a:solidFill>
                <a:latin typeface="Consolas"/>
              </a:rPr>
              <a:t> </a:t>
            </a:r>
            <a:r>
              <a:rPr sz="1600" i="0" b="0">
                <a:solidFill>
                  <a:srgbClr val="D4D4D4"/>
                </a:solidFill>
                <a:latin typeface="Consolas"/>
              </a:rPr>
              <a:t>Rios</a:t>
            </a:r>
            <a:r>
              <a:rPr sz="1600" i="0" b="0">
                <a:solidFill>
                  <a:srgbClr val="D4D4D4"/>
                </a:solidFill>
                <a:latin typeface="Consolas"/>
              </a:rPr>
              <a:t>, </a:t>
            </a:r>
            <a:r>
              <a:rPr sz="1600" i="0" b="0">
                <a:solidFill>
                  <a:srgbClr val="D4D4D4"/>
                </a:solidFill>
                <a:latin typeface="Consolas"/>
              </a:rPr>
              <a:t>medica</a:t>
            </a:r>
            <a:r>
              <a:rPr sz="1600" i="0" b="0">
                <a:solidFill>
                  <a:srgbClr val="D4D4D4"/>
                </a:solidFill>
                <a:latin typeface="Consolas"/>
              </a:rPr>
              <a:t> </a:t>
            </a:r>
            <a:r>
              <a:rPr sz="1600" i="0" b="0">
                <a:solidFill>
                  <a:srgbClr val="D4D4D4"/>
                </a:solidFill>
                <a:latin typeface="Consolas"/>
              </a:rPr>
              <a:t>veterinaria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Prioridad</a:t>
            </a:r>
            <a:r>
              <a:rPr sz="1600" i="0" b="0">
                <a:solidFill>
                  <a:srgbClr val="D4D4D4"/>
                </a:solidFill>
                <a:latin typeface="Consolas"/>
              </a:rPr>
              <a:t>: </a:t>
            </a:r>
            <a:r>
              <a:rPr sz="1600" i="0" b="0">
                <a:solidFill>
                  <a:srgbClr val="D4D4D4"/>
                </a:solidFill>
                <a:latin typeface="Consolas"/>
              </a:rPr>
              <a:t>Alta</a:t>
            </a:r>
            <a:r>
              <a:rPr sz="1600" i="0" b="0">
                <a:solidFill>
                  <a:srgbClr val="D4D4D4"/>
                </a:solidFill>
                <a:latin typeface="Consolas"/>
              </a:rPr>
              <a:t>      </a:t>
            </a:r>
            <a:r>
              <a:rPr sz="1600" i="0" b="0">
                <a:solidFill>
                  <a:srgbClr val="D4D4D4"/>
                </a:solidFill>
                <a:latin typeface="Consolas"/>
              </a:rPr>
              <a:t>Estabilidad</a:t>
            </a:r>
            <a:r>
              <a:rPr sz="1600" i="0" b="0">
                <a:solidFill>
                  <a:srgbClr val="D4D4D4"/>
                </a:solidFill>
                <a:latin typeface="Consolas"/>
              </a:rPr>
              <a:t>: </a:t>
            </a:r>
            <a:r>
              <a:rPr sz="1600" i="0" b="0">
                <a:solidFill>
                  <a:srgbClr val="D4D4D4"/>
                </a:solidFill>
                <a:latin typeface="Consolas"/>
              </a:rPr>
              <a:t>Alta</a:t>
            </a:r>
            <a:r>
              <a:rPr sz="1600" i="0" b="0">
                <a:solidFill>
                  <a:srgbClr val="D4D4D4"/>
                </a:solidFill>
                <a:latin typeface="Consolas"/>
              </a:rPr>
              <a:t>      </a:t>
            </a:r>
            <a:r>
              <a:rPr sz="1600" i="0" b="0">
                <a:solidFill>
                  <a:srgbClr val="D4D4D4"/>
                </a:solidFill>
                <a:latin typeface="Consolas"/>
              </a:rPr>
              <a:t>Modulo</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Descripcion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sistema</a:t>
            </a:r>
            <a:r>
              <a:rPr sz="1600" i="0" b="0">
                <a:solidFill>
                  <a:srgbClr val="D4D4D4"/>
                </a:solidFill>
                <a:latin typeface="Consolas"/>
              </a:rPr>
              <a:t> </a:t>
            </a:r>
            <a:r>
              <a:rPr sz="1600" i="0" b="0">
                <a:solidFill>
                  <a:srgbClr val="D4D4D4"/>
                </a:solidFill>
                <a:latin typeface="Consolas"/>
              </a:rPr>
              <a:t>debe</a:t>
            </a:r>
            <a:r>
              <a:rPr sz="1600" i="0" b="0">
                <a:solidFill>
                  <a:srgbClr val="D4D4D4"/>
                </a:solidFill>
                <a:latin typeface="Consolas"/>
              </a:rPr>
              <a:t> </a:t>
            </a:r>
            <a:r>
              <a:rPr sz="1600" i="0" b="0">
                <a:solidFill>
                  <a:srgbClr val="D4D4D4"/>
                </a:solidFill>
                <a:latin typeface="Consolas"/>
              </a:rPr>
              <a:t>permitir</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p>
          <a:p>
            <a:pPr>
              <a:spcAft>
                <a:spcPts val="342"/>
              </a:spcAft>
            </a:pP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documento</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propietario</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por</a:t>
            </a:r>
          </a:p>
          <a:p>
            <a:pPr>
              <a:spcAft>
                <a:spcPts val="342"/>
              </a:spcAft>
            </a:pPr>
            <a:r>
              <a:rPr sz="1600" i="0" b="0">
                <a:solidFill>
                  <a:srgbClr val="D4D4D4"/>
                </a:solidFill>
                <a:latin typeface="Consolas"/>
              </a:rPr>
              <a:t>  </a:t>
            </a:r>
            <a:r>
              <a:rPr sz="1600" i="0" b="0">
                <a:solidFill>
                  <a:srgbClr val="D4D4D4"/>
                </a:solidFill>
                <a:latin typeface="Consolas"/>
              </a:rPr>
              <a:t>codigo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ficha</a:t>
            </a:r>
            <a:r>
              <a:rPr sz="1600" i="0" b="0">
                <a:solidFill>
                  <a:srgbClr val="D4D4D4"/>
                </a:solidFill>
                <a:latin typeface="Consolas"/>
              </a:rPr>
              <a:t>, </a:t>
            </a:r>
            <a:r>
              <a:rPr sz="1600" i="0" b="0">
                <a:solidFill>
                  <a:srgbClr val="D4D4D4"/>
                </a:solidFill>
                <a:latin typeface="Consolas"/>
              </a:rPr>
              <a:t>mostrando</a:t>
            </a:r>
            <a:r>
              <a:rPr sz="1600" i="0" b="0">
                <a:solidFill>
                  <a:srgbClr val="D4D4D4"/>
                </a:solidFill>
                <a:latin typeface="Consolas"/>
              </a:rPr>
              <a:t> </a:t>
            </a:r>
            <a:r>
              <a:rPr sz="1600" i="0" b="0">
                <a:solidFill>
                  <a:srgbClr val="D4D4D4"/>
                </a:solidFill>
                <a:latin typeface="Consolas"/>
              </a:rPr>
              <a:t>las</a:t>
            </a:r>
            <a:r>
              <a:rPr sz="1600" i="0" b="0">
                <a:solidFill>
                  <a:srgbClr val="D4D4D4"/>
                </a:solidFill>
                <a:latin typeface="Consolas"/>
              </a:rPr>
              <a:t> </a:t>
            </a:r>
            <a:r>
              <a:rPr sz="1600" i="0" b="0">
                <a:solidFill>
                  <a:srgbClr val="D4D4D4"/>
                </a:solidFill>
                <a:latin typeface="Consolas"/>
              </a:rPr>
              <a:t>ultimas</a:t>
            </a:r>
            <a:r>
              <a:rPr sz="1600" i="0" b="0">
                <a:solidFill>
                  <a:srgbClr val="D4D4D4"/>
                </a:solidFill>
                <a:latin typeface="Consolas"/>
              </a:rPr>
              <a:t> </a:t>
            </a:r>
            <a:r>
              <a:rPr sz="1600" i="0" b="0">
                <a:solidFill>
                  <a:srgbClr val="D4D4D4"/>
                </a:solidFill>
                <a:latin typeface="Consolas"/>
              </a:rPr>
              <a:t>tres</a:t>
            </a:r>
            <a:r>
              <a:rPr sz="1600" i="0" b="0">
                <a:solidFill>
                  <a:srgbClr val="D4D4D4"/>
                </a:solidFill>
                <a:latin typeface="Consolas"/>
              </a:rPr>
              <a:t> </a:t>
            </a:r>
            <a:r>
              <a:rPr sz="1600" i="0" b="0">
                <a:solidFill>
                  <a:srgbClr val="D4D4D4"/>
                </a:solidFill>
                <a:latin typeface="Consolas"/>
              </a:rPr>
              <a:t>consultas</a:t>
            </a:r>
            <a:r>
              <a:rPr sz="1600" i="0" b="0">
                <a:solidFill>
                  <a:srgbClr val="D4D4D4"/>
                </a:solidFill>
                <a:latin typeface="Consolas"/>
              </a:rPr>
              <a:t> </a:t>
            </a:r>
            <a:r>
              <a:rPr sz="1600" i="0" b="0">
                <a:solidFill>
                  <a:srgbClr val="D4D4D4"/>
                </a:solidFill>
                <a:latin typeface="Consolas"/>
              </a:rPr>
              <a:t>registradas</a:t>
            </a:r>
            <a:r>
              <a:rPr sz="1600" i="0" b="0">
                <a:solidFill>
                  <a:srgbClr val="D4D4D4"/>
                </a:solidFill>
                <a:latin typeface="Consolas"/>
              </a:rPr>
              <a:t>.</a:t>
            </a:r>
          </a:p>
          <a:p>
            <a:pPr>
              <a:spcAft>
                <a:spcPts val="342"/>
              </a:spcAft>
            </a:pPr>
            <a:r>
              <a:rPr sz="1600" i="0" b="0">
                <a:solidFill>
                  <a:srgbClr val="D4D4D4"/>
                </a:solidFill>
                <a:latin typeface="Consolas"/>
              </a:rPr>
              <a:t>Precondicion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registrado</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usuario</a:t>
            </a:r>
            <a:r>
              <a:rPr sz="1600" i="0" b="0">
                <a:solidFill>
                  <a:srgbClr val="D4D4D4"/>
                </a:solidFill>
                <a:latin typeface="Consolas"/>
              </a:rPr>
              <a:t> </a:t>
            </a:r>
            <a:r>
              <a:rPr sz="1600" i="0" b="0">
                <a:solidFill>
                  <a:srgbClr val="D4D4D4"/>
                </a:solidFill>
                <a:latin typeface="Consolas"/>
              </a:rPr>
              <a:t>tiene</a:t>
            </a:r>
            <a:r>
              <a:rPr sz="1600" i="0" b="0">
                <a:solidFill>
                  <a:srgbClr val="D4D4D4"/>
                </a:solidFill>
                <a:latin typeface="Consolas"/>
              </a:rPr>
              <a:t> </a:t>
            </a:r>
            <a:r>
              <a:rPr sz="1600" i="0" b="0">
                <a:solidFill>
                  <a:srgbClr val="D4D4D4"/>
                </a:solidFill>
                <a:latin typeface="Consolas"/>
              </a:rPr>
              <a:t>rol</a:t>
            </a:r>
            <a:r>
              <a:rPr sz="1600" i="0" b="0">
                <a:solidFill>
                  <a:srgbClr val="D4D4D4"/>
                </a:solidFill>
                <a:latin typeface="Consolas"/>
              </a:rPr>
              <a:t> </a:t>
            </a:r>
            <a:r>
              <a:rPr sz="1600" i="0" b="0">
                <a:solidFill>
                  <a:srgbClr val="D4D4D4"/>
                </a:solidFill>
                <a:latin typeface="Consolas"/>
              </a:rPr>
              <a:t>Veterinario</a:t>
            </a:r>
            <a:r>
              <a:rPr sz="1600" i="0" b="0">
                <a:solidFill>
                  <a:srgbClr val="D4D4D4"/>
                </a:solidFill>
                <a:latin typeface="Consolas"/>
              </a:rPr>
              <a:t>.</a:t>
            </a:r>
          </a:p>
          <a:p>
            <a:pPr>
              <a:spcAft>
                <a:spcPts val="342"/>
              </a:spcAft>
            </a:pPr>
            <a:r>
              <a:rPr sz="1600" i="0" b="0">
                <a:solidFill>
                  <a:srgbClr val="D4D4D4"/>
                </a:solidFill>
                <a:latin typeface="Consolas"/>
              </a:rPr>
              <a:t>Criterio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B5CEA8"/>
                </a:solidFill>
                <a:latin typeface="Consolas"/>
              </a:rPr>
              <a:t>5.000</a:t>
            </a:r>
            <a:r>
              <a:rPr sz="1600" i="0" b="0">
                <a:solidFill>
                  <a:srgbClr val="D4D4D4"/>
                </a:solidFill>
                <a:latin typeface="Consolas"/>
              </a:rPr>
              <a:t> </a:t>
            </a:r>
            <a:r>
              <a:rPr sz="1600" i="0" b="0">
                <a:solidFill>
                  <a:srgbClr val="D4D4D4"/>
                </a:solidFill>
                <a:latin typeface="Consolas"/>
              </a:rPr>
              <a:t>fichas</a:t>
            </a:r>
            <a:r>
              <a:rPr sz="1600" i="0" b="0">
                <a:solidFill>
                  <a:srgbClr val="D4D4D4"/>
                </a:solidFill>
                <a:latin typeface="Consolas"/>
              </a:rPr>
              <a:t> </a:t>
            </a:r>
            <a:r>
              <a:rPr sz="1600" i="0" b="0">
                <a:solidFill>
                  <a:srgbClr val="D4D4D4"/>
                </a:solidFill>
                <a:latin typeface="Consolas"/>
              </a:rPr>
              <a:t>cargadas</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resultado</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muestra</a:t>
            </a:r>
          </a:p>
          <a:p>
            <a:pPr>
              <a:spcAft>
                <a:spcPts val="342"/>
              </a:spcAft>
            </a:pP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menos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segundos</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maximo</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clics</a:t>
            </a:r>
            <a:r>
              <a:rPr sz="1600" i="0" b="0">
                <a:solidFill>
                  <a:srgbClr val="D4D4D4"/>
                </a:solidFill>
                <a:latin typeface="Consolas"/>
              </a:rPr>
              <a:t> </a:t>
            </a:r>
            <a:r>
              <a:rPr sz="1600" i="0" b="0">
                <a:solidFill>
                  <a:srgbClr val="D4D4D4"/>
                </a:solidFill>
                <a:latin typeface="Consolas"/>
              </a:rPr>
              <a:t>desde</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tablero</a:t>
            </a:r>
            <a:r>
              <a:rPr sz="1600" i="0" b="0">
                <a:solidFill>
                  <a:srgbClr val="D4D4D4"/>
                </a:solidFill>
                <a:latin typeface="Consolas"/>
              </a:rPr>
              <a:t> </a:t>
            </a:r>
            <a:r>
              <a:rPr sz="1600" i="0" b="0">
                <a:solidFill>
                  <a:srgbClr val="D4D4D4"/>
                </a:solidFill>
                <a:latin typeface="Consolas"/>
              </a:rPr>
              <a:t>principal</a:t>
            </a:r>
            <a:r>
              <a:rPr sz="1600" i="0" b="0">
                <a:solidFill>
                  <a:srgbClr val="D4D4D4"/>
                </a:solidFill>
                <a:latin typeface="Consolas"/>
              </a:rPr>
              <a:t>.</a:t>
            </a:r>
          </a:p>
          <a:p>
            <a:pPr>
              <a:spcAft>
                <a:spcPts val="342"/>
              </a:spcAft>
            </a:pPr>
            <a:r>
              <a:rPr sz="1600" i="0" b="0">
                <a:solidFill>
                  <a:srgbClr val="D4D4D4"/>
                </a:solidFill>
                <a:latin typeface="Consolas"/>
              </a:rPr>
              <a:t>Depende</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RF</a:t>
            </a:r>
            <a:r>
              <a:rPr sz="1600" i="0" b="0">
                <a:solidFill>
                  <a:srgbClr val="D4D4D4"/>
                </a:solidFill>
                <a:latin typeface="Consolas"/>
              </a:rPr>
              <a:t>-</a:t>
            </a:r>
            <a:r>
              <a:rPr sz="1600" i="0" b="0">
                <a:solidFill>
                  <a:srgbClr val="B5CEA8"/>
                </a:solidFill>
                <a:latin typeface="Consolas"/>
              </a:rPr>
              <a:t>01</a:t>
            </a:r>
            <a:r>
              <a:rPr sz="1600" i="0" b="0">
                <a:solidFill>
                  <a:srgbClr val="D4D4D4"/>
                </a:solidFill>
                <a:latin typeface="Consolas"/>
              </a:rPr>
              <a:t> (</a:t>
            </a:r>
            <a:r>
              <a:rPr sz="1600" i="0" b="0">
                <a:solidFill>
                  <a:srgbClr val="D4D4D4"/>
                </a:solidFill>
                <a:latin typeface="Consolas"/>
              </a:rPr>
              <a:t>registrar</a:t>
            </a: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RNF</a:t>
            </a:r>
            <a:r>
              <a:rPr sz="1600" i="0" b="0">
                <a:solidFill>
                  <a:srgbClr val="D4D4D4"/>
                </a:solidFill>
                <a:latin typeface="Consolas"/>
              </a:rPr>
              <a:t>-</a:t>
            </a:r>
            <a:r>
              <a:rPr sz="1600" i="0" b="0">
                <a:solidFill>
                  <a:srgbClr val="B5CEA8"/>
                </a:solidFill>
                <a:latin typeface="Consolas"/>
              </a:rPr>
              <a:t>02</a:t>
            </a:r>
            <a:r>
              <a:rPr sz="1600" i="0" b="0">
                <a:solidFill>
                  <a:srgbClr val="D4D4D4"/>
                </a:solidFill>
                <a:latin typeface="Consolas"/>
              </a:rPr>
              <a:t> (</a:t>
            </a:r>
            <a:r>
              <a:rPr sz="1600" i="0" b="0">
                <a:solidFill>
                  <a:srgbClr val="D4D4D4"/>
                </a:solidFill>
                <a:latin typeface="Consolas"/>
              </a:rPr>
              <a:t>tiempo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respuesta</a:t>
            </a:r>
            <a:r>
              <a:rPr sz="1600" i="0" b="0">
                <a:solidFill>
                  <a:srgbClr val="D4D4D4"/>
                </a:solidFill>
                <a:latin typeface="Consolas"/>
              </a:rPr>
              <a:t>)</a:t>
            </a:r>
          </a:p>
          <a:p>
            <a:pPr>
              <a:spcAft>
                <a:spcPts val="342"/>
              </a:spcAft>
            </a:pPr>
            <a:r>
              <a:rPr sz="1600" i="0" b="0">
                <a:solidFill>
                  <a:srgbClr val="D4D4D4"/>
                </a:solidFill>
                <a:latin typeface="Consolas"/>
              </a:rPr>
              <a:t>Verificado</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CP</a:t>
            </a:r>
            <a:r>
              <a:rPr sz="1600" i="0" b="0">
                <a:solidFill>
                  <a:srgbClr val="D4D4D4"/>
                </a:solidFill>
                <a:latin typeface="Consolas"/>
              </a:rPr>
              <a:t>-</a:t>
            </a:r>
            <a:r>
              <a:rPr sz="1600" i="0" b="0">
                <a:solidFill>
                  <a:srgbClr val="D4D4D4"/>
                </a:solidFill>
                <a:latin typeface="Consolas"/>
              </a:rPr>
              <a:t>ACEP</a:t>
            </a:r>
            <a:r>
              <a:rPr sz="1600" i="0" b="0">
                <a:solidFill>
                  <a:srgbClr val="D4D4D4"/>
                </a:solidFill>
                <a:latin typeface="Consolas"/>
              </a:rPr>
              <a:t>-</a:t>
            </a:r>
            <a:r>
              <a:rPr sz="1600" i="0" b="0">
                <a:solidFill>
                  <a:srgbClr val="B5CEA8"/>
                </a:solidFill>
                <a:latin typeface="Consolas"/>
              </a:rPr>
              <a:t>07</a:t>
            </a:r>
            <a:r>
              <a:rPr sz="1600" i="0" b="0">
                <a:solidFill>
                  <a:srgbClr val="D4D4D4"/>
                </a:solidFill>
                <a:latin typeface="Consolas"/>
              </a:rPr>
              <a:t> (</a:t>
            </a:r>
            <a:r>
              <a:rPr sz="1600" i="0" b="0">
                <a:solidFill>
                  <a:srgbClr val="D4D4D4"/>
                </a:solidFill>
                <a:latin typeface="Consolas"/>
              </a:rPr>
              <a:t>prueba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a:t>
            </a:r>
          </a:p>
          <a:p>
            <a:pPr>
              <a:spcAft>
                <a:spcPts val="342"/>
              </a:spcAft>
            </a:pPr>
            <a:r>
              <a:rPr sz="1600" i="0" b="0">
                <a:solidFill>
                  <a:srgbClr val="D4D4D4"/>
                </a:solidFill>
                <a:latin typeface="Consolas"/>
              </a:rPr>
              <a:t>Historial</a:t>
            </a:r>
            <a:r>
              <a:rPr sz="1600" i="0" b="0">
                <a:solidFill>
                  <a:srgbClr val="D4D4D4"/>
                </a:solidFill>
                <a:latin typeface="Consolas"/>
              </a:rPr>
              <a:t>: </a:t>
            </a:r>
            <a:r>
              <a:rPr sz="1600" i="0" b="0">
                <a:solidFill>
                  <a:srgbClr val="D4D4D4"/>
                </a:solidFill>
                <a:latin typeface="Consolas"/>
              </a:rPr>
              <a:t>v1</a:t>
            </a:r>
            <a:r>
              <a:rPr sz="1600" i="0" b="0">
                <a:solidFill>
                  <a:srgbClr val="D4D4D4"/>
                </a:solidFill>
                <a:latin typeface="Consolas"/>
              </a:rPr>
              <a:t>.</a:t>
            </a:r>
            <a:r>
              <a:rPr sz="1600" i="0" b="0">
                <a:solidFill>
                  <a:srgbClr val="B5CEA8"/>
                </a:solidFill>
                <a:latin typeface="Consolas"/>
              </a:rPr>
              <a:t>1</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agrega</a:t>
            </a:r>
            <a:r>
              <a:rPr sz="1600" i="0" b="0">
                <a:solidFill>
                  <a:srgbClr val="D4D4D4"/>
                </a:solidFill>
                <a:latin typeface="Consolas"/>
              </a:rPr>
              <a:t> </a:t>
            </a:r>
            <a:r>
              <a:rPr sz="1600" i="0" b="0">
                <a:solidFill>
                  <a:srgbClr val="D4D4D4"/>
                </a:solidFill>
                <a:latin typeface="Consolas"/>
              </a:rPr>
              <a:t>busqueda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CDCAA"/>
                </a:solidFill>
                <a:latin typeface="Consolas"/>
              </a:rPr>
              <a:t>documento</a:t>
            </a:r>
            <a:r>
              <a:rPr sz="1600" i="0" b="0">
                <a:solidFill>
                  <a:srgbClr val="D4D4D4"/>
                </a:solidFill>
                <a:latin typeface="Consolas"/>
              </a:rPr>
              <a:t> (</a:t>
            </a:r>
            <a:r>
              <a:rPr sz="1600" i="0" b="0">
                <a:solidFill>
                  <a:srgbClr val="D4D4D4"/>
                </a:solidFill>
                <a:latin typeface="Consolas"/>
              </a:rPr>
              <a:t>SC</a:t>
            </a:r>
            <a:r>
              <a:rPr sz="1600" i="0" b="0">
                <a:solidFill>
                  <a:srgbClr val="D4D4D4"/>
                </a:solidFill>
                <a:latin typeface="Consolas"/>
              </a:rPr>
              <a:t>-</a:t>
            </a:r>
            <a:r>
              <a:rPr sz="1600" i="0" b="0">
                <a:solidFill>
                  <a:srgbClr val="B5CEA8"/>
                </a:solidFill>
                <a:latin typeface="Consolas"/>
              </a:rPr>
              <a:t>002</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v1</a:t>
            </a:r>
            <a:r>
              <a:rPr sz="1600" i="0" b="0">
                <a:solidFill>
                  <a:srgbClr val="D4D4D4"/>
                </a:solidFill>
                <a:latin typeface="Consolas"/>
              </a:rPr>
              <a:t>.</a:t>
            </a:r>
            <a:r>
              <a:rPr sz="1600" i="0" b="0">
                <a:solidFill>
                  <a:srgbClr val="B5CEA8"/>
                </a:solidFill>
                <a:latin typeface="Consolas"/>
              </a:rPr>
              <a:t>2</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agrega</a:t>
            </a:r>
            <a:r>
              <a:rPr sz="1600" i="0" b="0">
                <a:solidFill>
                  <a:srgbClr val="D4D4D4"/>
                </a:solidFill>
                <a:latin typeface="Consolas"/>
              </a:rPr>
              <a:t> </a:t>
            </a:r>
            <a:r>
              <a:rPr sz="1600" i="0" b="0">
                <a:solidFill>
                  <a:srgbClr val="D4D4D4"/>
                </a:solidFill>
                <a:latin typeface="Consolas"/>
              </a:rPr>
              <a:t>busqueda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CDCAA"/>
                </a:solidFill>
                <a:latin typeface="Consolas"/>
              </a:rPr>
              <a:t>microchip</a:t>
            </a:r>
            <a:r>
              <a:rPr sz="1600" i="0" b="0">
                <a:solidFill>
                  <a:srgbClr val="D4D4D4"/>
                </a:solidFill>
                <a:latin typeface="Consolas"/>
              </a:rPr>
              <a:t> (</a:t>
            </a:r>
            <a:r>
              <a:rPr sz="1600" i="0" b="0">
                <a:solidFill>
                  <a:srgbClr val="D4D4D4"/>
                </a:solidFill>
                <a:latin typeface="Consolas"/>
              </a:rPr>
              <a:t>SC</a:t>
            </a:r>
            <a:r>
              <a:rPr sz="1600" i="0" b="0">
                <a:solidFill>
                  <a:srgbClr val="D4D4D4"/>
                </a:solidFill>
                <a:latin typeface="Consolas"/>
              </a:rPr>
              <a:t>-</a:t>
            </a:r>
            <a:r>
              <a:rPr sz="1600" i="0" b="0">
                <a:solidFill>
                  <a:srgbClr val="B5CEA8"/>
                </a:solidFill>
                <a:latin typeface="Consolas"/>
              </a:rPr>
              <a:t>004</a:t>
            </a:r>
            <a:r>
              <a:rPr sz="1600" i="0" b="0">
                <a:solidFill>
                  <a:srgbClr val="D4D4D4"/>
                </a:solidFill>
                <a:latin typeface="Consolas"/>
              </a:rPr>
              <a:t>, </a:t>
            </a:r>
            <a:r>
              <a:rPr sz="1600" i="0" b="0">
                <a:solidFill>
                  <a:srgbClr val="D4D4D4"/>
                </a:solidFill>
                <a:latin typeface="Consolas"/>
              </a:rPr>
              <a:t>aprobada</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En el enfoque tradicional un requisito no es una frase suelta: es una ficha con ID, version, criterio medible y la prueba que lo verifica.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elo-v-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elo-v-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elo-v-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Dobla la cascada en una V: cada fase de diseño tiene enfrente su nivel de prueba.</a:t>
            </a:r>
          </a:p>
          <a:p>
            <a:pPr>
              <a:spcAft>
                <a:spcPts val="800"/>
              </a:spcAft>
            </a:pPr>
            <a:r>
              <a:rPr sz="2000" b="0" i="0">
                <a:solidFill>
                  <a:srgbClr val="333333"/>
                </a:solidFill>
                <a:latin typeface="Calibri"/>
              </a:rPr>
              <a:t>–   Requisitos ↔ aceptación · arquitectura ↔ integración · diseño detallado ↔ unitarias.</a:t>
            </a:r>
          </a:p>
          <a:p>
            <a:pPr>
              <a:spcAft>
                <a:spcPts val="800"/>
              </a:spcAft>
            </a:pPr>
            <a:r>
              <a:rPr sz="2000" b="0" i="0">
                <a:solidFill>
                  <a:srgbClr val="333333"/>
                </a:solidFill>
                <a:latin typeface="Calibri"/>
              </a:rPr>
              <a:t>–   La prueba se diseña al mismo tiempo que el requisito: con RF-03 nace CP-ACEP-07.</a:t>
            </a:r>
          </a:p>
          <a:p>
            <a:pPr>
              <a:spcAft>
                <a:spcPts val="800"/>
              </a:spcAft>
            </a:pPr>
            <a:r>
              <a:rPr sz="2000" b="0" i="0">
                <a:solidFill>
                  <a:srgbClr val="333333"/>
                </a:solidFill>
                <a:latin typeface="Calibri"/>
              </a:rPr>
              <a:t>–   Verificar: ¿se construyó bien según el documento? Validar: ¿se construyó lo correcto?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con trazabilidad</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D4D4D4"/>
                </a:solidFill>
                <a:latin typeface="Consolas"/>
              </a:rPr>
              <a:t>flowchart</a:t>
            </a:r>
            <a:r>
              <a:rPr sz="1400" i="0" b="0">
                <a:solidFill>
                  <a:srgbClr val="D4D4D4"/>
                </a:solidFill>
                <a:latin typeface="Consolas"/>
              </a:rPr>
              <a:t> </a:t>
            </a:r>
            <a:r>
              <a:rPr sz="1400" i="0" b="0">
                <a:solidFill>
                  <a:srgbClr val="D4D4D4"/>
                </a:solidFill>
                <a:latin typeface="Consolas"/>
              </a:rPr>
              <a:t>TB</a:t>
            </a:r>
          </a:p>
          <a:p>
            <a:pPr>
              <a:spcAft>
                <a:spcPts val="300"/>
              </a:spcAft>
            </a:pPr>
            <a:r>
              <a:rPr sz="1400" i="0" b="0">
                <a:solidFill>
                  <a:srgbClr val="D4D4D4"/>
                </a:solidFill>
                <a:latin typeface="Consolas"/>
              </a:rPr>
              <a:t>  </a:t>
            </a:r>
            <a:r>
              <a:rPr sz="1400" i="0" b="0">
                <a:solidFill>
                  <a:srgbClr val="D4D4D4"/>
                </a:solidFill>
                <a:latin typeface="Consolas"/>
              </a:rPr>
              <a:t>R</a:t>
            </a:r>
            <a:r>
              <a:rPr sz="1400" i="0" b="0">
                <a:solidFill>
                  <a:srgbClr val="D4D4D4"/>
                </a:solidFill>
                <a:latin typeface="Consolas"/>
              </a:rPr>
              <a:t>[</a:t>
            </a:r>
            <a:r>
              <a:rPr sz="1400" i="0" b="0">
                <a:solidFill>
                  <a:srgbClr val="D4D4D4"/>
                </a:solidFill>
                <a:latin typeface="Consolas"/>
              </a:rPr>
              <a:t>Requisitos</a:t>
            </a:r>
            <a:r>
              <a:rPr sz="1400" i="0" b="0">
                <a:solidFill>
                  <a:srgbClr val="D4D4D4"/>
                </a:solidFill>
                <a:latin typeface="Consolas"/>
              </a:rPr>
              <a:t>] --&gt; </a:t>
            </a:r>
            <a:r>
              <a:rPr sz="1400" i="0" b="0">
                <a:solidFill>
                  <a:srgbClr val="D4D4D4"/>
                </a:solidFill>
                <a:latin typeface="Consolas"/>
              </a:rPr>
              <a:t>AF</a:t>
            </a:r>
            <a:r>
              <a:rPr sz="1400" i="0" b="0">
                <a:solidFill>
                  <a:srgbClr val="D4D4D4"/>
                </a:solidFill>
                <a:latin typeface="Consolas"/>
              </a:rPr>
              <a:t>[</a:t>
            </a:r>
            <a:r>
              <a:rPr sz="1400" i="0" b="0">
                <a:solidFill>
                  <a:srgbClr val="D4D4D4"/>
                </a:solidFill>
                <a:latin typeface="Consolas"/>
              </a:rPr>
              <a:t>Analisis</a:t>
            </a:r>
            <a:r>
              <a:rPr sz="1400" i="0" b="0">
                <a:solidFill>
                  <a:srgbClr val="D4D4D4"/>
                </a:solidFill>
                <a:latin typeface="Consolas"/>
              </a:rPr>
              <a:t> </a:t>
            </a:r>
            <a:r>
              <a:rPr sz="1400" i="0" b="0">
                <a:solidFill>
                  <a:srgbClr val="D4D4D4"/>
                </a:solidFill>
                <a:latin typeface="Consolas"/>
              </a:rPr>
              <a:t>funcional</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AF</a:t>
            </a:r>
            <a:r>
              <a:rPr sz="1400" i="0" b="0">
                <a:solidFill>
                  <a:srgbClr val="D4D4D4"/>
                </a:solidFill>
                <a:latin typeface="Consolas"/>
              </a:rPr>
              <a:t> --&gt; </a:t>
            </a:r>
            <a:r>
              <a:rPr sz="1400" i="0" b="0">
                <a:solidFill>
                  <a:srgbClr val="D4D4D4"/>
                </a:solidFill>
                <a:latin typeface="Consolas"/>
              </a:rPr>
              <a:t>DA</a:t>
            </a:r>
            <a:r>
              <a:rPr sz="1400" i="0" b="0">
                <a:solidFill>
                  <a:srgbClr val="D4D4D4"/>
                </a:solidFill>
                <a:latin typeface="Consolas"/>
              </a:rPr>
              <a:t>[</a:t>
            </a:r>
            <a:r>
              <a:rPr sz="1400" i="0" b="0">
                <a:solidFill>
                  <a:srgbClr val="D4D4D4"/>
                </a:solidFill>
                <a:latin typeface="Consolas"/>
              </a:rPr>
              <a:t>Diseno</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arquitectura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DA</a:t>
            </a:r>
            <a:r>
              <a:rPr sz="1400" i="0" b="0">
                <a:solidFill>
                  <a:srgbClr val="D4D4D4"/>
                </a:solidFill>
                <a:latin typeface="Consolas"/>
              </a:rPr>
              <a:t> --&gt; </a:t>
            </a:r>
            <a:r>
              <a:rPr sz="1400" i="0" b="0">
                <a:solidFill>
                  <a:srgbClr val="D4D4D4"/>
                </a:solidFill>
                <a:latin typeface="Consolas"/>
              </a:rPr>
              <a:t>DD</a:t>
            </a:r>
            <a:r>
              <a:rPr sz="1400" i="0" b="0">
                <a:solidFill>
                  <a:srgbClr val="D4D4D4"/>
                </a:solidFill>
                <a:latin typeface="Consolas"/>
              </a:rPr>
              <a:t>[</a:t>
            </a:r>
            <a:r>
              <a:rPr sz="1400" i="0" b="0">
                <a:solidFill>
                  <a:srgbClr val="D4D4D4"/>
                </a:solidFill>
                <a:latin typeface="Consolas"/>
              </a:rPr>
              <a:t>Diseno</a:t>
            </a:r>
            <a:r>
              <a:rPr sz="1400" i="0" b="0">
                <a:solidFill>
                  <a:srgbClr val="D4D4D4"/>
                </a:solidFill>
                <a:latin typeface="Consolas"/>
              </a:rPr>
              <a:t> </a:t>
            </a:r>
            <a:r>
              <a:rPr sz="1400" i="0" b="0">
                <a:solidFill>
                  <a:srgbClr val="D4D4D4"/>
                </a:solidFill>
                <a:latin typeface="Consolas"/>
              </a:rPr>
              <a:t>detallado</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DD</a:t>
            </a:r>
            <a:r>
              <a:rPr sz="1400" i="0" b="0">
                <a:solidFill>
                  <a:srgbClr val="D4D4D4"/>
                </a:solidFill>
                <a:latin typeface="Consolas"/>
              </a:rPr>
              <a:t> --&gt; </a:t>
            </a:r>
            <a:r>
              <a:rPr sz="1400" i="0" b="0">
                <a:solidFill>
                  <a:srgbClr val="D4D4D4"/>
                </a:solidFill>
                <a:latin typeface="Consolas"/>
              </a:rPr>
              <a:t>COD</a:t>
            </a:r>
            <a:r>
              <a:rPr sz="1400" i="0" b="0">
                <a:solidFill>
                  <a:srgbClr val="D4D4D4"/>
                </a:solidFill>
                <a:latin typeface="Consolas"/>
              </a:rPr>
              <a:t>[</a:t>
            </a:r>
            <a:r>
              <a:rPr sz="1400" i="0" b="0">
                <a:solidFill>
                  <a:srgbClr val="D4D4D4"/>
                </a:solidFill>
                <a:latin typeface="Consolas"/>
              </a:rPr>
              <a:t>Codificacion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COD</a:t>
            </a:r>
            <a:r>
              <a:rPr sz="1400" i="0" b="0">
                <a:solidFill>
                  <a:srgbClr val="D4D4D4"/>
                </a:solidFill>
                <a:latin typeface="Consolas"/>
              </a:rPr>
              <a:t> --&gt; </a:t>
            </a:r>
            <a:r>
              <a:rPr sz="1400" i="0" b="0">
                <a:solidFill>
                  <a:srgbClr val="D4D4D4"/>
                </a:solidFill>
                <a:latin typeface="Consolas"/>
              </a:rPr>
              <a:t>PU</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unitarias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PU</a:t>
            </a:r>
            <a:r>
              <a:rPr sz="1400" i="0" b="0">
                <a:solidFill>
                  <a:srgbClr val="D4D4D4"/>
                </a:solidFill>
                <a:latin typeface="Consolas"/>
              </a:rPr>
              <a:t> --&gt; </a:t>
            </a:r>
            <a:r>
              <a:rPr sz="1400" i="0" b="0">
                <a:solidFill>
                  <a:srgbClr val="D4D4D4"/>
                </a:solidFill>
                <a:latin typeface="Consolas"/>
              </a:rPr>
              <a:t>PIN</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integracion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PIN</a:t>
            </a:r>
            <a:r>
              <a:rPr sz="1400" i="0" b="0">
                <a:solidFill>
                  <a:srgbClr val="D4D4D4"/>
                </a:solidFill>
                <a:latin typeface="Consolas"/>
              </a:rPr>
              <a:t> --&gt; </a:t>
            </a:r>
            <a:r>
              <a:rPr sz="1400" i="0" b="0">
                <a:solidFill>
                  <a:srgbClr val="D4D4D4"/>
                </a:solidFill>
                <a:latin typeface="Consolas"/>
              </a:rPr>
              <a:t>PS</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sistema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PS</a:t>
            </a:r>
            <a:r>
              <a:rPr sz="1400" i="0" b="0">
                <a:solidFill>
                  <a:srgbClr val="D4D4D4"/>
                </a:solidFill>
                <a:latin typeface="Consolas"/>
              </a:rPr>
              <a:t> --&gt; </a:t>
            </a:r>
            <a:r>
              <a:rPr sz="1400" i="0" b="0">
                <a:solidFill>
                  <a:srgbClr val="D4D4D4"/>
                </a:solidFill>
                <a:latin typeface="Consolas"/>
              </a:rPr>
              <a:t>PA</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aceptacion</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  </a:t>
            </a:r>
            <a:r>
              <a:rPr sz="1400" i="0" b="0">
                <a:solidFill>
                  <a:srgbClr val="D4D4D4"/>
                </a:solidFill>
                <a:latin typeface="Consolas"/>
              </a:rPr>
              <a:t>R</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PA</a:t>
            </a:r>
          </a:p>
          <a:p>
            <a:pPr>
              <a:spcAft>
                <a:spcPts val="300"/>
              </a:spcAft>
            </a:pPr>
            <a:r>
              <a:rPr sz="1400" i="0" b="0">
                <a:solidFill>
                  <a:srgbClr val="D4D4D4"/>
                </a:solidFill>
                <a:latin typeface="Consolas"/>
              </a:rPr>
              <a:t>  </a:t>
            </a:r>
            <a:r>
              <a:rPr sz="1400" i="0" b="0">
                <a:solidFill>
                  <a:srgbClr val="D4D4D4"/>
                </a:solidFill>
                <a:latin typeface="Consolas"/>
              </a:rPr>
              <a:t>AF</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PS</a:t>
            </a:r>
          </a:p>
          <a:p>
            <a:pPr>
              <a:spcAft>
                <a:spcPts val="300"/>
              </a:spcAft>
            </a:pPr>
            <a:r>
              <a:rPr sz="1400" i="0" b="0">
                <a:solidFill>
                  <a:srgbClr val="D4D4D4"/>
                </a:solidFill>
                <a:latin typeface="Consolas"/>
              </a:rPr>
              <a:t>  </a:t>
            </a:r>
            <a:r>
              <a:rPr sz="1400" i="0" b="0">
                <a:solidFill>
                  <a:srgbClr val="D4D4D4"/>
                </a:solidFill>
                <a:latin typeface="Consolas"/>
              </a:rPr>
              <a:t>DA</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PIN</a:t>
            </a:r>
          </a:p>
          <a:p>
            <a:pPr>
              <a:spcAft>
                <a:spcPts val="300"/>
              </a:spcAft>
            </a:pPr>
            <a:r>
              <a:rPr sz="1400" i="0" b="0">
                <a:solidFill>
                  <a:srgbClr val="D4D4D4"/>
                </a:solidFill>
                <a:latin typeface="Consolas"/>
              </a:rPr>
              <a:t>  </a:t>
            </a:r>
            <a:r>
              <a:rPr sz="1400" i="0" b="0">
                <a:solidFill>
                  <a:srgbClr val="D4D4D4"/>
                </a:solidFill>
                <a:latin typeface="Consolas"/>
              </a:rPr>
              <a:t>DD</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PU</a:t>
            </a:r>
          </a:p>
          <a:p>
            <a:pPr>
              <a:spcAft>
                <a:spcPts val="300"/>
              </a:spcAft>
            </a:pPr>
            <a:r>
              <a:rPr sz="1400" i="0" b="0">
                <a:solidFill>
                  <a:srgbClr val="D4D4D4"/>
                </a:solidFill>
                <a:latin typeface="Consolas"/>
              </a:rPr>
              <a:t/>
            </a:r>
          </a:p>
          <a:p>
            <a:pPr>
              <a:spcAft>
                <a:spcPts val="300"/>
              </a:spcAft>
            </a:pPr>
            <a:r>
              <a:rPr sz="1400" i="1" b="0">
                <a:solidFill>
                  <a:srgbClr val="6A9955"/>
                </a:solidFill>
                <a:latin typeface="Consolas"/>
              </a:rPr>
              <a:t>%% Las lineas punteadas SON el modelo en V: cada nivel de diseno tiene</a:t>
            </a:r>
          </a:p>
          <a:p>
            <a:pPr>
              <a:spcAft>
                <a:spcPts val="300"/>
              </a:spcAft>
            </a:pPr>
            <a:r>
              <a:rPr sz="1400" i="1" b="0">
                <a:solidFill>
                  <a:srgbClr val="6A9955"/>
                </a:solidFill>
                <a:latin typeface="Consolas"/>
              </a:rPr>
              <a:t>%% su nivel de prueba. Sin ellas es una U y no trazabilidad.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sí conviene el enfoque tradicional</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uando-tradicional-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Requisitos estables y conocidos desde el principio.</a:t>
            </a:r>
          </a:p>
          <a:p>
            <a:pPr>
              <a:spcAft>
                <a:spcPts val="800"/>
              </a:spcAft>
            </a:pPr>
            <a:r>
              <a:rPr sz="2000" b="0" i="0">
                <a:solidFill>
                  <a:srgbClr val="333333"/>
                </a:solidFill>
                <a:latin typeface="Calibri"/>
              </a:rPr>
              <a:t>–   Contrato a precio fijo o licitación pública: el alcance debe estar cerrado para cotizar.</a:t>
            </a:r>
          </a:p>
          <a:p>
            <a:pPr>
              <a:spcAft>
                <a:spcPts val="800"/>
              </a:spcAft>
            </a:pPr>
            <a:r>
              <a:rPr sz="2000" b="0" i="0">
                <a:solidFill>
                  <a:srgbClr val="333333"/>
                </a:solidFill>
                <a:latin typeface="Calibri"/>
              </a:rPr>
              <a:t>–   Sistemas críticos o regulados: equipos médicos, aviación, banca, datos personales.</a:t>
            </a:r>
          </a:p>
          <a:p>
            <a:pPr>
              <a:spcAft>
                <a:spcPts val="800"/>
              </a:spcAft>
            </a:pPr>
            <a:r>
              <a:rPr sz="2000" b="0" i="0">
                <a:solidFill>
                  <a:srgbClr val="333333"/>
                </a:solidFill>
                <a:latin typeface="Calibri"/>
              </a:rPr>
              <a:t>–   Varios proveedores que necesitan un documento común. Ahí el detalle previo no es burocracia: es la única forma de estimar.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no conviene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sto-del-camb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sto-del-camb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sto-del-camb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Cuando el cliente no sabe lo que quiere hasta que lo ve, o el dominio es nuevo para el equipo.</a:t>
            </a:r>
          </a:p>
          <a:p>
            <a:pPr>
              <a:spcAft>
                <a:spcPts val="800"/>
              </a:spcAft>
            </a:pPr>
            <a:r>
              <a:rPr sz="2000" b="0" i="0">
                <a:solidFill>
                  <a:srgbClr val="333333"/>
                </a:solidFill>
                <a:latin typeface="Calibri"/>
              </a:rPr>
              <a:t>–   Cuando la primera entrega visible tarda tanto que el negocio cambia antes.</a:t>
            </a:r>
          </a:p>
          <a:p>
            <a:pPr>
              <a:spcAft>
                <a:spcPts val="800"/>
              </a:spcAft>
            </a:pPr>
            <a:r>
              <a:rPr sz="2000" b="0" i="0">
                <a:solidFill>
                  <a:srgbClr val="333333"/>
                </a:solidFill>
                <a:latin typeface="Calibri"/>
              </a:rPr>
              <a:t>–   Integrar todo al final concentra el riesgo en el peor momento.</a:t>
            </a:r>
          </a:p>
          <a:p>
            <a:pPr>
              <a:spcAft>
                <a:spcPts val="800"/>
              </a:spcAft>
            </a:pPr>
            <a:r>
              <a:rPr sz="2000" b="0" i="0">
                <a:solidFill>
                  <a:srgbClr val="333333"/>
                </a:solidFill>
                <a:latin typeface="Calibri"/>
              </a:rPr>
              <a:t>–   Cambiar una frase en requisitos cuesta casi nada; con diseño, código y datos, semanas.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documentación como producto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quete-tradicion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quete-tradicion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quete-tradicion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el enfoque tradicional la documentación es buena parte del producto contratado.</a:t>
            </a:r>
          </a:p>
          <a:p>
            <a:pPr>
              <a:spcAft>
                <a:spcPts val="800"/>
              </a:spcAft>
            </a:pPr>
            <a:r>
              <a:rPr sz="2000" b="0" i="0">
                <a:solidFill>
                  <a:srgbClr val="333333"/>
                </a:solidFill>
                <a:latin typeface="Calibri"/>
              </a:rPr>
              <a:t>–   Artefactos típicos: ERS (IEEE 830 / ISO 29148), documento de diseño, matriz de trazabilidad y acta de aprobación.</a:t>
            </a:r>
          </a:p>
          <a:p>
            <a:pPr>
              <a:spcAft>
                <a:spcPts val="800"/>
              </a:spcAft>
            </a:pPr>
            <a:r>
              <a:rPr sz="2000" b="0" i="0">
                <a:solidFill>
                  <a:srgbClr val="333333"/>
                </a:solidFill>
                <a:latin typeface="Calibri"/>
              </a:rPr>
              <a:t>–   Cada documento lleva versión, fecha, autor y aprobador; todo cambio entra por solicitud formal.</a:t>
            </a:r>
          </a:p>
          <a:p>
            <a:pPr>
              <a:spcAft>
                <a:spcPts val="800"/>
              </a:spcAft>
            </a:pPr>
            <a:r>
              <a:rPr sz="2000" b="0" i="0">
                <a:solidFill>
                  <a:srgbClr val="333333"/>
                </a:solidFill>
                <a:latin typeface="Calibri"/>
              </a:rPr>
              <a:t>–   Un documento de diseño con prototipo navegable es justo el tipo de producto que se factura.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dibuja en draw.io el modelo en V de la clinica y traza en vivo la linea punteada que conecta el requisito RF-03 'buscar historial' con su…</a:t>
            </a:r>
          </a:p>
          <a:p>
            <a:pPr>
              <a:spcAft>
                <a:spcPts val="800"/>
              </a:spcAft>
            </a:pPr>
            <a:r>
              <a:rPr sz="2000" b="0" i="0">
                <a:solidFill>
                  <a:srgbClr val="333333"/>
                </a:solidFill>
                <a:latin typeface="Calibri"/>
              </a:rPr>
              <a:t>–   Mismo dominio: la clinica veterinaria — no otro ejemplo. Aqui se diseña, no se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Metodologias tradicionales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Cascada y modelo en V: cuando el plano se firma antes de levantar el muro</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