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3</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Metodologias tradicionales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Cascada y modelo en V: cuando el plano se firma antes de levantar el muro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del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Hoy avanzamos VetCare en:</a:t>
            </a:r>
            <a:r>
              <a:rPr sz="2000" b="0" i="0">
                <a:solidFill>
                  <a:srgbClr val="333333"/>
                </a:solidFill>
                <a:latin typeface="Calibri"/>
              </a:rPr>
              <a:t> Queda listo el indice del documento formal de diseño de VetCare y la matriz en V que amarra cada requisito con la prueba que lo va a verificar.</a:t>
            </a:r>
          </a:p>
          <a:p>
            <a:pPr>
              <a:spcAft>
                <a:spcPts val="800"/>
              </a:spcAft>
            </a:pPr>
            <a:r>
              <a:rPr sz="2000" b="0" i="0">
                <a:solidFill>
                  <a:srgbClr val="333333"/>
                </a:solidFill>
                <a:latin typeface="Calibri"/>
              </a:rPr>
              <a:t>–   Herramienta: </a:t>
            </a:r>
            <a:r>
              <a:rPr sz="2000" b="1" i="0">
                <a:solidFill>
                  <a:srgbClr val="333333"/>
                </a:solidFill>
                <a:latin typeface="Calibri"/>
              </a:rPr>
              <a:t>draw.io · Google Docs</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a:t>
            </a:r>
            <a:r>
              <a:rPr sz="2000" b="1" i="0">
                <a:solidFill>
                  <a:srgbClr val="333333"/>
                </a:solidFill>
                <a:latin typeface="Calibri"/>
              </a:rPr>
              <a:t>Entregable de hoy:</a:t>
            </a:r>
            <a:r>
              <a:rPr sz="2000" b="0" i="0">
                <a:solidFill>
                  <a:srgbClr val="333333"/>
                </a:solidFill>
                <a:latin typeface="Calibri"/>
              </a:rPr>
              <a:t> Un documento en Google Docs con el indice del ERS de VetCare, cuatro requisitos escritos en formato de ficha con version y linea base, la matriz en V (requisito - nivel de prueba - criterio de aceptacion) y un formato de solicitud de cambio diligenciado; mas el diagrama en V dibujado en draw.io y subido a la plataforma del curso.</a:t>
            </a:r>
          </a:p>
          <a:p>
            <a:pPr>
              <a:spcAft>
                <a:spcPts val="800"/>
              </a:spcAft>
            </a:pPr>
            <a:r>
              <a:rPr sz="2000" b="0" i="0">
                <a:solidFill>
                  <a:srgbClr val="333333"/>
                </a:solidFill>
                <a:latin typeface="Calibri"/>
              </a:rPr>
              <a:t>–   La teoria esta al servicio del producto: al salir, VetCare avanzo.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del avance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VetCare</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Taller guiado = avance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Criterios de exito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modelo en cascada es el recorrido lineal llevado a su version...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modelo en cascada es el recorrido lineal llevado a su version formal: las fases van una detras de otra y cada una termina con un documento que alguien firma.</a:t>
            </a:r>
          </a:p>
          <a:p>
            <a:pPr>
              <a:spcAft>
                <a:spcPts val="800"/>
              </a:spcAft>
            </a:pPr>
            <a:r>
              <a:rPr sz="2000" b="0" i="0">
                <a:solidFill>
                  <a:srgbClr val="333333"/>
                </a:solidFill>
                <a:latin typeface="Calibri"/>
              </a:rPr>
              <a:t>–   Ese documento es la puerta de entrada a la siguiente fase; si no esta aprobado, no se avanza.</a:t>
            </a:r>
          </a:p>
          <a:p>
            <a:pPr>
              <a:spcAft>
                <a:spcPts val="800"/>
              </a:spcAft>
            </a:pPr>
            <a:r>
              <a:rPr sz="2000" b="0" i="0">
                <a:solidFill>
                  <a:srgbClr val="333333"/>
                </a:solidFill>
                <a:latin typeface="Calibri"/>
              </a:rPr>
              <a:t>–   Cuando el documento de requisitos se aprueba, se convierte en linea base, es decir, la version oficial contra la cual se va a medir todo lo demas.</a:t>
            </a:r>
          </a:p>
          <a:p>
            <a:pPr>
              <a:spcAft>
                <a:spcPts val="800"/>
              </a:spcAft>
            </a:pPr>
            <a:r>
              <a:rPr sz="2000" b="0" i="0">
                <a:solidFill>
                  <a:srgbClr val="333333"/>
                </a:solidFill>
                <a:latin typeface="Calibri"/>
              </a:rPr>
              <a:t>–   La idea de fondo es sencilla y muy usada en ingenieria civil: corregir un plano cuesta una borrada, corregir un muro construido cuesta demoler.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modelo en cascada es el recorrido lineal llevado a su version...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Trasladado a VetCare: si Huellitas aprueba que la busqueda se hace por nombre de la mascota y por documento del propietario, ese acuerdo queda escrito, fechado y versionado</a:t>
            </a:r>
          </a:p>
          <a:p>
            <a:pPr>
              <a:spcAft>
                <a:spcPts val="800"/>
              </a:spcAft>
            </a:pPr>
            <a:r>
              <a:rPr sz="2000" b="0" i="0">
                <a:solidFill>
                  <a:srgbClr val="333333"/>
                </a:solidFill>
                <a:latin typeface="Calibri"/>
              </a:rPr>
              <a:t>–   Y a partir de ahi el equipo diseña con la tranquilidad de que el piso no se le va a mover.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modelo en V toma la cascada y la dobla en forma de letra V para...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modelo en V toma la cascada y la dobla en forma de letra V para dejar visible algo que la cascada esconde: cada fase de la izquierda tiene su prueba correspondiente a la derecha.</a:t>
            </a:r>
          </a:p>
          <a:p>
            <a:pPr>
              <a:spcAft>
                <a:spcPts val="800"/>
              </a:spcAft>
            </a:pPr>
            <a:r>
              <a:rPr sz="2000" b="0" i="0">
                <a:solidFill>
                  <a:srgbClr val="333333"/>
                </a:solidFill>
                <a:latin typeface="Calibri"/>
              </a:rPr>
              <a:t>–   La consecuencia practica es enorme: la prueba se diseña al mismo tiempo que el requisito, no al final.</a:t>
            </a:r>
          </a:p>
          <a:p>
            <a:pPr>
              <a:spcAft>
                <a:spcPts val="800"/>
              </a:spcAft>
            </a:pPr>
            <a:r>
              <a:rPr sz="2000" b="0" i="0">
                <a:solidFill>
                  <a:srgbClr val="333333"/>
                </a:solidFill>
                <a:latin typeface="Calibri"/>
              </a:rPr>
              <a:t>–   En VetCare, cuando se escribe el requisito RF-03 'la veterinaria busca la historia clinica por nombre o por documento'</a:t>
            </a:r>
          </a:p>
          <a:p>
            <a:pPr>
              <a:spcAft>
                <a:spcPts val="800"/>
              </a:spcAft>
            </a:pPr>
            <a:r>
              <a:rPr sz="2000" b="0" i="0">
                <a:solidFill>
                  <a:srgbClr val="333333"/>
                </a:solidFill>
                <a:latin typeface="Calibri"/>
              </a:rPr>
              <a:t>–   En ese mismo momento se escribe el caso de prueba CP-ACEP-07: con 5.000 fichas cargadas, escribir Rocky y obtener la ficha en menos de tres segundos y en maximo tres clics.</a:t>
            </a:r>
          </a:p>
          <a:p>
            <a:pPr>
              <a:spcAft>
                <a:spcPts val="800"/>
              </a:spcAft>
            </a:pPr>
            <a:r>
              <a:rPr sz="2000" b="0" i="0">
                <a:solidFill>
                  <a:srgbClr val="333333"/>
                </a:solidFill>
                <a:latin typeface="Calibri"/>
              </a:rPr>
              <a:t>–   Aqui aparecen dos palabras que hay que distinguir: verificar es preguntarse si construimos el sistema correctamente segun el documento; validar es preguntarse si construimos el sistema correcto para la clinica.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SI tienen sentido estos modelos?</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Cuando los requisitos son estables y se conocen desde el principio, cuando el contrato es a precio fijo o viene de una licitacion publica y el alcance debe estar cerrado para poder cotizar</a:t>
            </a:r>
          </a:p>
          <a:p>
            <a:pPr>
              <a:spcAft>
                <a:spcPts val="800"/>
              </a:spcAft>
            </a:pPr>
            <a:r>
              <a:rPr sz="2000" b="0" i="0">
                <a:solidFill>
                  <a:srgbClr val="333333"/>
                </a:solidFill>
                <a:latin typeface="Calibri"/>
              </a:rPr>
              <a:t>–   Cuando el sistema es critico o esta regulado (equipos medicos, aviacion, banca, manejo de historia clinica con normativa de proteccion de datos) y cuando hay varios proveedores que necesitan un documento comun para poder trabajar en paralelo.</a:t>
            </a:r>
          </a:p>
          <a:p>
            <a:pPr>
              <a:spcAft>
                <a:spcPts val="800"/>
              </a:spcAft>
            </a:pPr>
            <a:r>
              <a:rPr sz="2000" b="0" i="0">
                <a:solidFill>
                  <a:srgbClr val="333333"/>
                </a:solidFill>
                <a:latin typeface="Calibri"/>
              </a:rPr>
              <a:t>–   En VetCare hay partes que caben perfecto en este enfoque: los datos basicos de un paciente casi no cambian, y si mañana la clinica conecta facturacion electronica, las reglas de esa parte vienen impuestas por la norma y no se negocian con el cliente.</a:t>
            </a:r>
          </a:p>
          <a:p>
            <a:pPr>
              <a:spcAft>
                <a:spcPts val="800"/>
              </a:spcAft>
            </a:pPr>
            <a:r>
              <a:rPr sz="2000" b="0" i="0">
                <a:solidFill>
                  <a:srgbClr val="333333"/>
                </a:solidFill>
                <a:latin typeface="Calibri"/>
              </a:rPr>
              <a:t>–   En esos casos escribir todo el detalle antes no es burocracia, es la unica forma de estimar y de cumplir.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NO tienen sentido?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Cuando el cliente no sabe lo que quiere hasta que lo ve, cuando el dominio es nuevo para el equipo, cuando el tiempo hasta la primera entrega visible es tan largo que el negocio cambia antes de recibir nada</a:t>
            </a:r>
          </a:p>
          <a:p>
            <a:pPr>
              <a:spcAft>
                <a:spcPts val="800"/>
              </a:spcAft>
            </a:pPr>
            <a:r>
              <a:rPr sz="2000" b="0" i="0">
                <a:solidFill>
                  <a:srgbClr val="333333"/>
                </a:solidFill>
                <a:latin typeface="Calibri"/>
              </a:rPr>
              <a:t>–   Y cuando integrar todo de un solo golpe al final concentra el riesgo en el peor momento.</a:t>
            </a:r>
          </a:p>
          <a:p>
            <a:pPr>
              <a:spcAft>
                <a:spcPts val="800"/>
              </a:spcAft>
            </a:pPr>
            <a:r>
              <a:rPr sz="2000" b="0" i="0">
                <a:solidFill>
                  <a:srgbClr val="333333"/>
                </a:solidFill>
                <a:latin typeface="Calibri"/>
              </a:rPr>
              <a:t>–   El costo de corregir crece de forma brutal a medida que se avanza: cambiar una frase en el documento de requisitos vale casi nada; cambiar la misma idea cuando ya hay diseño, codigo y datos migrados puede costar semanas.</a:t>
            </a:r>
          </a:p>
          <a:p>
            <a:pPr>
              <a:spcAft>
                <a:spcPts val="800"/>
              </a:spcAft>
            </a:pPr>
            <a:r>
              <a:rPr sz="2000" b="0" i="0">
                <a:solidFill>
                  <a:srgbClr val="333333"/>
                </a:solidFill>
                <a:latin typeface="Calibri"/>
              </a:rPr>
              <a:t>–   En VetCare esto se ve clarito con el tablero de metricas: la administradora dice 'quiero ver cuantos pacientes atendemos', pero cuando vea el primer grafico va a pedir por especie, por veterinario y por mes.</a:t>
            </a:r>
          </a:p>
          <a:p>
            <a:pPr>
              <a:spcAft>
                <a:spcPts val="800"/>
              </a:spcAft>
            </a:pPr>
            <a:r>
              <a:rPr sz="2000" b="0" i="0">
                <a:solidFill>
                  <a:srgbClr val="333333"/>
                </a:solidFill>
                <a:latin typeface="Calibri"/>
              </a:rPr>
              <a:t>–   Congelar ese requisito en la semana dos es congelar una suposicion.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 el mundo tradicional la documentacion no acompaña al producto: en...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En el mundo tradicional la documentacion no acompaña al producto: en buena parte ES el producto contratado.</a:t>
            </a:r>
          </a:p>
          <a:p>
            <a:pPr>
              <a:spcAft>
                <a:spcPts val="800"/>
              </a:spcAft>
            </a:pPr>
            <a:r>
              <a:rPr sz="2000" b="0" i="0">
                <a:solidFill>
                  <a:srgbClr val="333333"/>
                </a:solidFill>
                <a:latin typeface="Calibri"/>
              </a:rPr>
              <a:t>–   Los entregables tipicos son la Especificacion de Requisitos de Software (ERS o SRS, con estructura tipo IEEE 830 / ISO 29148)</a:t>
            </a:r>
          </a:p>
          <a:p>
            <a:pPr>
              <a:spcAft>
                <a:spcPts val="800"/>
              </a:spcAft>
            </a:pPr>
            <a:r>
              <a:rPr sz="2000" b="0" i="0">
                <a:solidFill>
                  <a:srgbClr val="333333"/>
                </a:solidFill>
                <a:latin typeface="Calibri"/>
              </a:rPr>
              <a:t>–   El Documento de Diseño (SDD), la matriz de trazabilidad que muestra que cada requisito tiene diseño y prueba, y el acta de aprobacion.</a:t>
            </a:r>
          </a:p>
          <a:p>
            <a:pPr>
              <a:spcAft>
                <a:spcPts val="800"/>
              </a:spcAft>
            </a:pPr>
            <a:r>
              <a:rPr sz="2000" b="0" i="0">
                <a:solidFill>
                  <a:srgbClr val="333333"/>
                </a:solidFill>
                <a:latin typeface="Calibri"/>
              </a:rPr>
              <a:t>–   Para el estudiante que solo cursa Seminario de Sistemas esto es una gran noticia: su entregable final -documento de diseño mas prototipo navegable- es exactamente el tipo de producto que se factura en un proyecto tradicional, y por eso su ruta es completa y no una version reducida del curso.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modelo en V con trazabilidad</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371"/>
              </a:spcAft>
            </a:pPr>
            <a:r>
              <a:rPr sz="1300" b="0" i="0">
                <a:solidFill>
                  <a:srgbClr val="FFFFFF"/>
                </a:solidFill>
                <a:latin typeface="Calibri"/>
              </a:rPr>
              <a:t>flowchart TB</a:t>
            </a:r>
          </a:p>
          <a:p>
            <a:pPr>
              <a:spcAft>
                <a:spcPts val="371"/>
              </a:spcAft>
            </a:pPr>
            <a:r>
              <a:rPr sz="1300" b="0" i="0">
                <a:solidFill>
                  <a:srgbClr val="FFFFFF"/>
                </a:solidFill>
                <a:latin typeface="Calibri"/>
              </a:rPr>
              <a:t>  R[Requisitos] --&gt; AF[Analisis funcional]</a:t>
            </a:r>
          </a:p>
          <a:p>
            <a:pPr>
              <a:spcAft>
                <a:spcPts val="371"/>
              </a:spcAft>
            </a:pPr>
            <a:r>
              <a:rPr sz="1300" b="0" i="0">
                <a:solidFill>
                  <a:srgbClr val="FFFFFF"/>
                </a:solidFill>
                <a:latin typeface="Calibri"/>
              </a:rPr>
              <a:t>  AF --&gt; DA[Diseno de arquitectura]</a:t>
            </a:r>
          </a:p>
          <a:p>
            <a:pPr>
              <a:spcAft>
                <a:spcPts val="371"/>
              </a:spcAft>
            </a:pPr>
            <a:r>
              <a:rPr sz="1300" b="0" i="0">
                <a:solidFill>
                  <a:srgbClr val="FFFFFF"/>
                </a:solidFill>
                <a:latin typeface="Calibri"/>
              </a:rPr>
              <a:t>  DA --&gt; DD[Diseno detallado]</a:t>
            </a:r>
          </a:p>
          <a:p>
            <a:pPr>
              <a:spcAft>
                <a:spcPts val="371"/>
              </a:spcAft>
            </a:pPr>
            <a:r>
              <a:rPr sz="1300" b="0" i="0">
                <a:solidFill>
                  <a:srgbClr val="FFFFFF"/>
                </a:solidFill>
                <a:latin typeface="Calibri"/>
              </a:rPr>
              <a:t>  DD --&gt; COD[Codificacion]</a:t>
            </a:r>
          </a:p>
          <a:p>
            <a:pPr>
              <a:spcAft>
                <a:spcPts val="371"/>
              </a:spcAft>
            </a:pPr>
            <a:r>
              <a:rPr sz="1300" b="0" i="0">
                <a:solidFill>
                  <a:srgbClr val="FFFFFF"/>
                </a:solidFill>
                <a:latin typeface="Calibri"/>
              </a:rPr>
              <a:t>  COD --&gt; PU[Pruebas unitarias]</a:t>
            </a:r>
          </a:p>
          <a:p>
            <a:pPr>
              <a:spcAft>
                <a:spcPts val="371"/>
              </a:spcAft>
            </a:pPr>
            <a:r>
              <a:rPr sz="1300" b="0" i="0">
                <a:solidFill>
                  <a:srgbClr val="FFFFFF"/>
                </a:solidFill>
                <a:latin typeface="Calibri"/>
              </a:rPr>
              <a:t>  PU --&gt; PI[Pruebas de integracion]</a:t>
            </a:r>
          </a:p>
          <a:p>
            <a:pPr>
              <a:spcAft>
                <a:spcPts val="371"/>
              </a:spcAft>
            </a:pPr>
            <a:r>
              <a:rPr sz="1300" b="0" i="0">
                <a:solidFill>
                  <a:srgbClr val="FFFFFF"/>
                </a:solidFill>
                <a:latin typeface="Calibri"/>
              </a:rPr>
              <a:t>  PI --&gt; PS[Pruebas de sistema]</a:t>
            </a:r>
          </a:p>
          <a:p>
            <a:pPr>
              <a:spcAft>
                <a:spcPts val="371"/>
              </a:spcAft>
            </a:pPr>
            <a:r>
              <a:rPr sz="1300" b="0" i="0">
                <a:solidFill>
                  <a:srgbClr val="FFFFFF"/>
                </a:solidFill>
                <a:latin typeface="Calibri"/>
              </a:rPr>
              <a:t>  PS --&gt; PA[Pruebas de aceptacion]</a:t>
            </a:r>
          </a:p>
          <a:p>
            <a:pPr>
              <a:spcAft>
                <a:spcPts val="371"/>
              </a:spcAft>
            </a:pPr>
            <a:r>
              <a:rPr sz="1300" b="0" i="0">
                <a:solidFill>
                  <a:srgbClr val="FFFFFF"/>
                </a:solidFill>
                <a:latin typeface="Calibri"/>
              </a:rPr>
              <a:t/>
            </a:r>
          </a:p>
          <a:p>
            <a:pPr>
              <a:spcAft>
                <a:spcPts val="371"/>
              </a:spcAft>
            </a:pPr>
            <a:r>
              <a:rPr sz="1300" b="0" i="0">
                <a:solidFill>
                  <a:srgbClr val="FFFFFF"/>
                </a:solidFill>
                <a:latin typeface="Calibri"/>
              </a:rPr>
              <a:t>  R  -.verifica.-&gt; PA</a:t>
            </a:r>
          </a:p>
          <a:p>
            <a:pPr>
              <a:spcAft>
                <a:spcPts val="371"/>
              </a:spcAft>
            </a:pPr>
            <a:r>
              <a:rPr sz="1300" b="0" i="0">
                <a:solidFill>
                  <a:srgbClr val="FFFFFF"/>
                </a:solidFill>
                <a:latin typeface="Calibri"/>
              </a:rPr>
              <a:t>  AF -.verifica.-&gt; PS</a:t>
            </a:r>
          </a:p>
          <a:p>
            <a:pPr>
              <a:spcAft>
                <a:spcPts val="371"/>
              </a:spcAft>
            </a:pPr>
            <a:r>
              <a:rPr sz="1300" b="0" i="0">
                <a:solidFill>
                  <a:srgbClr val="FFFFFF"/>
                </a:solidFill>
                <a:latin typeface="Calibri"/>
              </a:rPr>
              <a:t>  DA -.verifica.-&gt; PI</a:t>
            </a:r>
          </a:p>
          <a:p>
            <a:pPr>
              <a:spcAft>
                <a:spcPts val="371"/>
              </a:spcAft>
            </a:pPr>
            <a:r>
              <a:rPr sz="1300" b="0" i="0">
                <a:solidFill>
                  <a:srgbClr val="FFFFFF"/>
                </a:solidFill>
                <a:latin typeface="Calibri"/>
              </a:rPr>
              <a:t>  DD -.verifica.-&gt; PU</a:t>
            </a:r>
          </a:p>
          <a:p>
            <a:pPr>
              <a:spcAft>
                <a:spcPts val="371"/>
              </a:spcAft>
            </a:pPr>
            <a:r>
              <a:rPr sz="1300" b="0" i="0">
                <a:solidFill>
                  <a:srgbClr val="FFFFFF"/>
                </a:solidFill>
                <a:latin typeface="Calibri"/>
              </a:rPr>
              <a:t/>
            </a:r>
          </a:p>
          <a:p>
            <a:pPr>
              <a:spcAft>
                <a:spcPts val="371"/>
              </a:spcAft>
            </a:pPr>
            <a:r>
              <a:rPr sz="1300" b="0" i="0">
                <a:solidFill>
                  <a:srgbClr val="FFFFFF"/>
                </a:solidFill>
                <a:latin typeface="Calibri"/>
              </a:rPr>
              <a:t>%% Las lineas punteadas SON el modelo en V: cada nivel de diseno tiene</a:t>
            </a:r>
          </a:p>
          <a:p>
            <a:pPr>
              <a:spcAft>
                <a:spcPts val="371"/>
              </a:spcAft>
            </a:pPr>
            <a:r>
              <a:rPr sz="1300" b="0" i="0">
                <a:solidFill>
                  <a:srgbClr val="FFFFFF"/>
                </a:solidFill>
                <a:latin typeface="Calibri"/>
              </a:rPr>
              <a:t>%% su nivel de prueba. Sin ellas es una U y no trazabilidad.</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solicitud de cambio sobre linea base</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SC-001  Solicitud de cambio</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Documento afectado: ERS VetCare v1.0 (linea base aprobada 20/08/2026)</a:t>
            </a:r>
          </a:p>
          <a:p>
            <a:pPr>
              <a:spcAft>
                <a:spcPts val="400"/>
              </a:spcAft>
            </a:pPr>
            <a:r>
              <a:rPr sz="1400" b="0" i="0">
                <a:solidFill>
                  <a:srgbClr val="FFFFFF"/>
                </a:solidFill>
                <a:latin typeface="Calibri"/>
              </a:rPr>
              <a:t>Solicita:           Dr. Ramirez</a:t>
            </a:r>
          </a:p>
          <a:p>
            <a:pPr>
              <a:spcAft>
                <a:spcPts val="400"/>
              </a:spcAft>
            </a:pPr>
            <a:r>
              <a:rPr sz="1400" b="0" i="0">
                <a:solidFill>
                  <a:srgbClr val="FFFFFF"/>
                </a:solidFill>
                <a:latin typeface="Calibri"/>
              </a:rPr>
              <a:t>Cambio pedido:      agregar recordatorio por WhatsApp al agendar</a:t>
            </a:r>
          </a:p>
          <a:p>
            <a:pPr>
              <a:spcAft>
                <a:spcPts val="400"/>
              </a:spcAft>
            </a:pPr>
            <a:r>
              <a:rPr sz="1400" b="0" i="0">
                <a:solidFill>
                  <a:srgbClr val="FFFFFF"/>
                </a:solidFill>
                <a:latin typeface="Calibri"/>
              </a:rPr>
              <a:t>Requisitos tocados: RF-03 (agendar cita), RNF-02 (disponibilidad)</a:t>
            </a:r>
          </a:p>
          <a:p>
            <a:pPr>
              <a:spcAft>
                <a:spcPts val="400"/>
              </a:spcAft>
            </a:pPr>
            <a:r>
              <a:rPr sz="1400" b="0" i="0">
                <a:solidFill>
                  <a:srgbClr val="FFFFFF"/>
                </a:solidFill>
                <a:latin typeface="Calibri"/>
              </a:rPr>
              <a:t>Impacto en alcance: +1 RF nuevo, +1 integracion externa</a:t>
            </a:r>
          </a:p>
          <a:p>
            <a:pPr>
              <a:spcAft>
                <a:spcPts val="400"/>
              </a:spcAft>
            </a:pPr>
            <a:r>
              <a:rPr sz="1400" b="0" i="0">
                <a:solidFill>
                  <a:srgbClr val="FFFFFF"/>
                </a:solidFill>
                <a:latin typeface="Calibri"/>
              </a:rPr>
              <a:t>Impacto en plan:    +1 sprint de diseno</a:t>
            </a:r>
          </a:p>
          <a:p>
            <a:pPr>
              <a:spcAft>
                <a:spcPts val="400"/>
              </a:spcAft>
            </a:pPr>
            <a:r>
              <a:rPr sz="1400" b="0" i="0">
                <a:solidFill>
                  <a:srgbClr val="FFFFFF"/>
                </a:solidFill>
                <a:latin typeface="Calibri"/>
              </a:rPr>
              <a:t>Decision:           &lt;aprobada | rechazada | diferida&gt;  por &lt;quien&gt;</a:t>
            </a:r>
          </a:p>
          <a:p>
            <a:pPr>
              <a:spcAft>
                <a:spcPts val="400"/>
              </a:spcAft>
            </a:pPr>
            <a:r>
              <a:rPr sz="1400" b="0" i="0">
                <a:solidFill>
                  <a:srgbClr val="FFFFFF"/>
                </a:solidFill>
                <a:latin typeface="Calibri"/>
              </a:rPr>
              <a:t>Nueva version:      ERS VetCare v1.1</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Tener linea base no significa que no se pueda cambiar: significa que</a:t>
            </a:r>
          </a:p>
          <a:p>
            <a:pPr>
              <a:spcAft>
                <a:spcPts val="400"/>
              </a:spcAft>
            </a:pPr>
            <a:r>
              <a:rPr sz="1400" b="0" i="0">
                <a:solidFill>
                  <a:srgbClr val="FFFFFF"/>
                </a:solidFill>
                <a:latin typeface="Calibri"/>
              </a:rPr>
              <a:t>-- el cambio deja RASTRO y sube la version. Editar el v1.0 en silencio</a:t>
            </a:r>
          </a:p>
          <a:p>
            <a:pPr>
              <a:spcAft>
                <a:spcPts val="400"/>
              </a:spcAft>
            </a:pPr>
            <a:r>
              <a:rPr sz="1400" b="0" i="0">
                <a:solidFill>
                  <a:srgbClr val="FFFFFF"/>
                </a:solidFill>
                <a:latin typeface="Calibri"/>
              </a:rPr>
              <a:t>-- es lo que rompe la trazabilidad.</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Ficha formal de requisito de VetCare (asi se ve un requisito con linea base)</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ID: RF-03            Version: 1.2      Estado: Aprobado (linea base 27/08)</a:t>
            </a:r>
          </a:p>
          <a:p>
            <a:pPr>
              <a:spcAft>
                <a:spcPts val="400"/>
              </a:spcAft>
            </a:pPr>
            <a:r>
              <a:rPr sz="1400" b="0" i="0">
                <a:solidFill>
                  <a:srgbClr val="FFFFFF"/>
                </a:solidFill>
                <a:latin typeface="Calibri"/>
              </a:rPr>
              <a:t>Nombre: Buscar la historia clinica de un paciente</a:t>
            </a:r>
          </a:p>
          <a:p>
            <a:pPr>
              <a:spcAft>
                <a:spcPts val="400"/>
              </a:spcAft>
            </a:pPr>
            <a:r>
              <a:rPr sz="1400" b="0" i="0">
                <a:solidFill>
                  <a:srgbClr val="FFFFFF"/>
                </a:solidFill>
                <a:latin typeface="Calibri"/>
              </a:rPr>
              <a:t>Fuente: Dra. Marcela Rios, medica veterinaria de Huellitas</a:t>
            </a:r>
          </a:p>
          <a:p>
            <a:pPr>
              <a:spcAft>
                <a:spcPts val="400"/>
              </a:spcAft>
            </a:pPr>
            <a:r>
              <a:rPr sz="1400" b="0" i="0">
                <a:solidFill>
                  <a:srgbClr val="FFFFFF"/>
                </a:solidFill>
                <a:latin typeface="Calibri"/>
              </a:rPr>
              <a:t>Prioridad: Alta      Estabilidad: Alta      Modulo: Historia clinica</a:t>
            </a:r>
          </a:p>
          <a:p>
            <a:pPr>
              <a:spcAft>
                <a:spcPts val="400"/>
              </a:spcAft>
            </a:pPr>
            <a:r>
              <a:rPr sz="1400" b="0" i="0">
                <a:solidFill>
                  <a:srgbClr val="FFFFFF"/>
                </a:solidFill>
                <a:latin typeface="Calibri"/>
              </a:rPr>
              <a:t>Descripcion: El sistema debe permitir buscar la historia clinica de un</a:t>
            </a:r>
          </a:p>
          <a:p>
            <a:pPr>
              <a:spcAft>
                <a:spcPts val="400"/>
              </a:spcAft>
            </a:pPr>
            <a:r>
              <a:rPr sz="1400" b="0" i="0">
                <a:solidFill>
                  <a:srgbClr val="FFFFFF"/>
                </a:solidFill>
                <a:latin typeface="Calibri"/>
              </a:rPr>
              <a:t>  paciente por nombre de la mascota, por documento del propietario o por</a:t>
            </a:r>
          </a:p>
          <a:p>
            <a:pPr>
              <a:spcAft>
                <a:spcPts val="400"/>
              </a:spcAft>
            </a:pPr>
            <a:r>
              <a:rPr sz="1400" b="0" i="0">
                <a:solidFill>
                  <a:srgbClr val="FFFFFF"/>
                </a:solidFill>
                <a:latin typeface="Calibri"/>
              </a:rPr>
              <a:t>  codigo de ficha, mostrando las ultimas tres consultas registradas.</a:t>
            </a:r>
          </a:p>
          <a:p>
            <a:pPr>
              <a:spcAft>
                <a:spcPts val="400"/>
              </a:spcAft>
            </a:pPr>
            <a:r>
              <a:rPr sz="1400" b="0" i="0">
                <a:solidFill>
                  <a:srgbClr val="FFFFFF"/>
                </a:solidFill>
                <a:latin typeface="Calibri"/>
              </a:rPr>
              <a:t>Precondicion: el paciente esta registrado y el usuario tiene rol Veterinario.</a:t>
            </a:r>
          </a:p>
          <a:p>
            <a:pPr>
              <a:spcAft>
                <a:spcPts val="400"/>
              </a:spcAft>
            </a:pPr>
            <a:r>
              <a:rPr sz="1400" b="0" i="0">
                <a:solidFill>
                  <a:srgbClr val="FFFFFF"/>
                </a:solidFill>
                <a:latin typeface="Calibri"/>
              </a:rPr>
              <a:t>Criterio de aceptacion: con 5.000 fichas cargadas el resultado se muestra</a:t>
            </a:r>
          </a:p>
          <a:p>
            <a:pPr>
              <a:spcAft>
                <a:spcPts val="400"/>
              </a:spcAft>
            </a:pPr>
            <a:r>
              <a:rPr sz="1400" b="0" i="0">
                <a:solidFill>
                  <a:srgbClr val="FFFFFF"/>
                </a:solidFill>
                <a:latin typeface="Calibri"/>
              </a:rPr>
              <a:t>  en menos de 3 segundos y en maximo 3 clics desde el tablero principal.</a:t>
            </a:r>
          </a:p>
          <a:p>
            <a:pPr>
              <a:spcAft>
                <a:spcPts val="400"/>
              </a:spcAft>
            </a:pPr>
            <a:r>
              <a:rPr sz="1400" b="0" i="0">
                <a:solidFill>
                  <a:srgbClr val="FFFFFF"/>
                </a:solidFill>
                <a:latin typeface="Calibri"/>
              </a:rPr>
              <a:t>Depende de: RF-01 (registrar paciente), RNF-02 (tiempo de respuesta)</a:t>
            </a:r>
          </a:p>
          <a:p>
            <a:pPr>
              <a:spcAft>
                <a:spcPts val="400"/>
              </a:spcAft>
            </a:pPr>
            <a:r>
              <a:rPr sz="1400" b="0" i="0">
                <a:solidFill>
                  <a:srgbClr val="FFFFFF"/>
                </a:solidFill>
                <a:latin typeface="Calibri"/>
              </a:rPr>
              <a:t>Verificado por: CP-ACEP-07 (prueba de aceptacion)</a:t>
            </a:r>
          </a:p>
          <a:p>
            <a:pPr>
              <a:spcAft>
                <a:spcPts val="400"/>
              </a:spcAft>
            </a:pPr>
            <a:r>
              <a:rPr sz="1400" b="0" i="0">
                <a:solidFill>
                  <a:srgbClr val="FFFFFF"/>
                </a:solidFill>
                <a:latin typeface="Calibri"/>
              </a:rPr>
              <a:t>Historial: v1.1 se agrega busqueda por documento (SC-002)</a:t>
            </a:r>
          </a:p>
          <a:p>
            <a:pPr>
              <a:spcAft>
                <a:spcPts val="400"/>
              </a:spcAft>
            </a:pPr>
            <a:r>
              <a:rPr sz="1400" b="0" i="0">
                <a:solidFill>
                  <a:srgbClr val="FFFFFF"/>
                </a:solidFill>
                <a:latin typeface="Calibri"/>
              </a:rPr>
              <a:t>           v1.2 se agrega busqueda por microchip (SC-004, aprobada)</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En el enfoque tradicional un requisito no es una frase suelta: es una ficha con ID, version, criterio medible y la prueba que lo verifica.</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draw.io · Google Docs</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dibuja en draw.io el modelo en V de VetCare y traza en vivo la linea punteada que conecta el requisito RF-03 'buscar historial' con su prueba de aceptacion CP-ACEP-07.</a:t>
            </a:r>
          </a:p>
          <a:p>
            <a:pPr>
              <a:spcAft>
                <a:spcPts val="800"/>
              </a:spcAft>
            </a:pPr>
            <a:r>
              <a:rPr sz="2000" b="0" i="0">
                <a:solidFill>
                  <a:srgbClr val="333333"/>
                </a:solidFill>
                <a:latin typeface="Calibri"/>
              </a:rPr>
              <a:t>–   Mismo dominio VetCare — no otro ejemplo. Aqui se diseña, no se programa.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funcionan en el navegador</a:t>
            </a:r>
          </a:p>
        </p:txBody>
      </p:sp>
      <p:sp>
        <p:nvSpPr>
          <p:cNvPr id="6" name="Rounded Rectangle 5"/>
          <p:cNvSpPr/>
          <p:nvPr/>
        </p:nvSpPr>
        <p:spPr>
          <a:xfrm>
            <a:off x="457200"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rawio.png"/>
          <p:cNvPicPr>
            <a:picLocks noChangeAspect="1"/>
          </p:cNvPicPr>
          <p:nvPr/>
        </p:nvPicPr>
        <p:blipFill>
          <a:blip r:embed="rId2"/>
          <a:stretch>
            <a:fillRect/>
          </a:stretch>
        </p:blipFill>
        <p:spPr>
          <a:xfrm>
            <a:off x="1643329" y="1847087"/>
            <a:ext cx="1252728" cy="1252728"/>
          </a:xfrm>
          <a:prstGeom prst="rect">
            <a:avLst/>
          </a:prstGeom>
        </p:spPr>
      </p:pic>
      <p:sp>
        <p:nvSpPr>
          <p:cNvPr id="10" name="TextBox 9"/>
          <p:cNvSpPr txBox="1"/>
          <p:nvPr/>
        </p:nvSpPr>
        <p:spPr>
          <a:xfrm>
            <a:off x="530352" y="3191256"/>
            <a:ext cx="3478682" cy="621792"/>
          </a:xfrm>
          <a:prstGeom prst="rect">
            <a:avLst/>
          </a:prstGeom>
          <a:noFill/>
        </p:spPr>
        <p:txBody>
          <a:bodyPr wrap="square" anchor="t"/>
          <a:lstStyle/>
          <a:p>
            <a:pPr algn="ctr"/>
            <a:r>
              <a:rPr sz="1300" b="1" i="0">
                <a:solidFill>
                  <a:srgbClr val="095292"/>
                </a:solidFill>
                <a:latin typeface="Calibri"/>
              </a:rPr>
              <a:t>Draw.Io</a:t>
            </a:r>
          </a:p>
          <a:p>
            <a:pPr algn="ctr">
              <a:spcBef>
                <a:spcPts val="200"/>
              </a:spcBef>
            </a:pPr>
            <a:r>
              <a:rPr sz="1000" b="0" i="0">
                <a:solidFill>
                  <a:srgbClr val="666666"/>
                </a:solidFill>
                <a:latin typeface="Calibri"/>
              </a:rPr>
              <a:t>Diagramas UML y de contexto</a:t>
            </a:r>
          </a:p>
        </p:txBody>
      </p:sp>
      <p:sp>
        <p:nvSpPr>
          <p:cNvPr id="11" name="Rounded Rectangle 10"/>
          <p:cNvSpPr/>
          <p:nvPr/>
        </p:nvSpPr>
        <p:spPr>
          <a:xfrm>
            <a:off x="4283354"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google_docs.png"/>
          <p:cNvPicPr>
            <a:picLocks noChangeAspect="1"/>
          </p:cNvPicPr>
          <p:nvPr/>
        </p:nvPicPr>
        <p:blipFill>
          <a:blip r:embed="rId3"/>
          <a:stretch>
            <a:fillRect/>
          </a:stretch>
        </p:blipFill>
        <p:spPr>
          <a:xfrm>
            <a:off x="5469483" y="1847087"/>
            <a:ext cx="1252728" cy="1252728"/>
          </a:xfrm>
          <a:prstGeom prst="rect">
            <a:avLst/>
          </a:prstGeom>
        </p:spPr>
      </p:pic>
      <p:sp>
        <p:nvSpPr>
          <p:cNvPr id="15" name="TextBox 14"/>
          <p:cNvSpPr txBox="1"/>
          <p:nvPr/>
        </p:nvSpPr>
        <p:spPr>
          <a:xfrm>
            <a:off x="4356506" y="3191256"/>
            <a:ext cx="3478682" cy="621792"/>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Documentos del paquete de diseño</a:t>
            </a:r>
          </a:p>
        </p:txBody>
      </p:sp>
      <p:sp>
        <p:nvSpPr>
          <p:cNvPr id="16" name="Rounded Rectangle 15"/>
          <p:cNvSpPr/>
          <p:nvPr/>
        </p:nvSpPr>
        <p:spPr>
          <a:xfrm>
            <a:off x="8109508"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examlab.png"/>
          <p:cNvPicPr>
            <a:picLocks noChangeAspect="1"/>
          </p:cNvPicPr>
          <p:nvPr/>
        </p:nvPicPr>
        <p:blipFill>
          <a:blip r:embed="rId4"/>
          <a:stretch>
            <a:fillRect/>
          </a:stretch>
        </p:blipFill>
        <p:spPr>
          <a:xfrm>
            <a:off x="9295638" y="1847087"/>
            <a:ext cx="1252728" cy="1252728"/>
          </a:xfrm>
          <a:prstGeom prst="rect">
            <a:avLst/>
          </a:prstGeom>
        </p:spPr>
      </p:pic>
      <p:sp>
        <p:nvSpPr>
          <p:cNvPr id="20" name="TextBox 19"/>
          <p:cNvSpPr txBox="1"/>
          <p:nvPr/>
        </p:nvSpPr>
        <p:spPr>
          <a:xfrm>
            <a:off x="8182660" y="3191256"/>
            <a:ext cx="3478682" cy="621792"/>
          </a:xfrm>
          <a:prstGeom prst="rect">
            <a:avLst/>
          </a:prstGeom>
          <a:noFill/>
        </p:spPr>
        <p:txBody>
          <a:bodyPr wrap="square" anchor="t"/>
          <a:lstStyle/>
          <a:p>
            <a:pPr algn="ctr"/>
            <a:r>
              <a:rPr sz="1300" b="1" i="0">
                <a:solidFill>
                  <a:srgbClr val="095292"/>
                </a:solidFill>
                <a:latin typeface="Calibri"/>
              </a:rPr>
              <a:t>la plataforma del curso</a:t>
            </a:r>
          </a:p>
          <a:p>
            <a:pPr algn="ctr">
              <a:spcBef>
                <a:spcPts val="200"/>
              </a:spcBef>
            </a:pPr>
            <a:r>
              <a:rPr sz="1000" b="0" i="0">
                <a:solidFill>
                  <a:srgbClr val="666666"/>
                </a:solidFill>
                <a:latin typeface="Calibri"/>
              </a:rPr>
              <a:t>Entrega del taller · en la fecha que indique el docente</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Por que importa al PI:</a:t>
            </a:r>
            <a:r>
              <a:rPr sz="2000" b="0" i="0">
                <a:solidFill>
                  <a:srgbClr val="333333"/>
                </a:solidFill>
                <a:latin typeface="Calibri"/>
              </a:rPr>
              <a:t> si Huellitas exige aprobar todo el diseño antes de que Programacion II escriba una linea, este es exactamente el paquete de documentos que el equipo tendria que entregar y defender.</a:t>
            </a:r>
          </a:p>
          <a:p>
            <a:pPr>
              <a:spcAft>
                <a:spcPts val="800"/>
              </a:spcAft>
            </a:pPr>
            <a:r>
              <a:rPr sz="2000" b="0" i="0">
                <a:solidFill>
                  <a:srgbClr val="333333"/>
                </a:solidFill>
                <a:latin typeface="Calibri"/>
              </a:rPr>
              <a:t>–   La clase pasada quedo el mapa de fases; hoy se aprende a cerrar una fase de manera formal, con version, aprobacion y trazabilidad hacia las pruebas.</a:t>
            </a:r>
          </a:p>
          <a:p>
            <a:pPr>
              <a:spcAft>
                <a:spcPts val="800"/>
              </a:spcAft>
            </a:pPr>
            <a:r>
              <a:rPr sz="2000" b="0" i="0">
                <a:solidFill>
                  <a:srgbClr val="333333"/>
                </a:solidFill>
                <a:latin typeface="Calibri"/>
              </a:rPr>
              <a:t>–   Este es el enfoque que sostiene la ruta del estudiante que solo cursa Seminario: su producto final es un documento de diseño formal, que es lo que en la industria se contrata y se factura.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punto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equipo ya tiene una lista cruda de necesidades de Huellitas, pero escrita en frases sueltas tipo 'que sea rapido' y 'que no se pierdan las fichas', sin ID, sin version y sin quien lo pidio.</a:t>
            </a:r>
          </a:p>
          <a:p>
            <a:pPr>
              <a:spcAft>
                <a:spcPts val="800"/>
              </a:spcAft>
            </a:pPr>
            <a:r>
              <a:rPr sz="2000" b="0" i="0">
                <a:solidFill>
                  <a:srgbClr val="333333"/>
                </a:solidFill>
                <a:latin typeface="Calibri"/>
              </a:rPr>
              <a:t>–   La administradora de la clinica avisa que solo dispone de dos reuniones en todo el semestre, asi que no habra a quien preguntarle cada semana.</a:t>
            </a:r>
          </a:p>
          <a:p>
            <a:pPr>
              <a:spcAft>
                <a:spcPts val="800"/>
              </a:spcAft>
            </a:pPr>
            <a:r>
              <a:rPr sz="2000" b="0" i="0">
                <a:solidFill>
                  <a:srgbClr val="333333"/>
                </a:solidFill>
                <a:latin typeface="Calibri"/>
              </a:rPr>
              <a:t>–   Nadie ha escrito todavia una sola prueba, y la idea instalada en el grupo es que las pruebas se piensan al final, cuando ya haya algo que probar.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pasos guiados</a:t>
            </a:r>
          </a:p>
        </p:txBody>
      </p:sp>
      <p:sp>
        <p:nvSpPr>
          <p:cNvPr id="5" name="Rounded Rectangle 4"/>
          <p:cNvSpPr/>
          <p:nvPr/>
        </p:nvSpPr>
        <p:spPr>
          <a:xfrm>
            <a:off x="457200" y="1234440"/>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9047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90472"/>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786384"/>
          </a:xfrm>
          <a:prstGeom prst="rect">
            <a:avLst/>
          </a:prstGeom>
          <a:noFill/>
        </p:spPr>
        <p:txBody>
          <a:bodyPr wrap="square" anchor="ctr"/>
          <a:lstStyle/>
          <a:p>
            <a:r>
              <a:rPr sz="1400" b="1" i="0">
                <a:solidFill>
                  <a:srgbClr val="095292"/>
                </a:solidFill>
                <a:latin typeface="Calibri"/>
              </a:rPr>
              <a:t>En Google Docs escriba el indice del ERS de VetCare con al menos estas secciones numeradas: 1. Proposito y alcance, 2. Glosario del dominio veterinario, 3. Requisitos funcionales, 4. Requisitos no funcionales, 5. Reglas de negocio, 6. Matriz de trazabilidad, 7. Control de versiones y aprobaciones.</a:t>
            </a:r>
          </a:p>
        </p:txBody>
      </p:sp>
      <p:sp>
        <p:nvSpPr>
          <p:cNvPr id="9" name="Rounded Rectangle 8"/>
          <p:cNvSpPr/>
          <p:nvPr/>
        </p:nvSpPr>
        <p:spPr>
          <a:xfrm>
            <a:off x="457200" y="2276856"/>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53288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532888"/>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368296"/>
            <a:ext cx="10271455" cy="786384"/>
          </a:xfrm>
          <a:prstGeom prst="rect">
            <a:avLst/>
          </a:prstGeom>
          <a:noFill/>
        </p:spPr>
        <p:txBody>
          <a:bodyPr wrap="square" anchor="ctr"/>
          <a:lstStyle/>
          <a:p>
            <a:r>
              <a:rPr sz="1400" b="1" i="0">
                <a:solidFill>
                  <a:srgbClr val="095292"/>
                </a:solidFill>
                <a:latin typeface="Calibri"/>
              </a:rPr>
              <a:t>Escriba cuatro requisitos de VetCare en formato de ficha completa (ID, nombre, fuente, prioridad, estabilidad, descripcion, precondicion, criterio de aceptacion, version y estado); al menos uno debe ser no funcional y al menos uno debe declarar dependencia de otro.</a:t>
            </a:r>
          </a:p>
        </p:txBody>
      </p:sp>
      <p:sp>
        <p:nvSpPr>
          <p:cNvPr id="13" name="Rounded Rectangle 12"/>
          <p:cNvSpPr/>
          <p:nvPr/>
        </p:nvSpPr>
        <p:spPr>
          <a:xfrm>
            <a:off x="457200" y="3319272"/>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5753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57530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410712"/>
            <a:ext cx="10271455" cy="786384"/>
          </a:xfrm>
          <a:prstGeom prst="rect">
            <a:avLst/>
          </a:prstGeom>
          <a:noFill/>
        </p:spPr>
        <p:txBody>
          <a:bodyPr wrap="square" anchor="ctr"/>
          <a:lstStyle/>
          <a:p>
            <a:r>
              <a:rPr sz="1400" b="1" i="0">
                <a:solidFill>
                  <a:srgbClr val="095292"/>
                </a:solidFill>
                <a:latin typeface="Calibri"/>
              </a:rPr>
              <a:t>Construya la matriz en V en una tabla de cuatro columnas: Fase de la izquierda / Artefacto / Nivel de prueba emparejado / Caso de prueba de VetCare que lo verifica, y asegurese de que cada uno de sus cuatro requisitos aparezca con su codigo de prueba.</a:t>
            </a:r>
          </a:p>
        </p:txBody>
      </p:sp>
      <p:sp>
        <p:nvSpPr>
          <p:cNvPr id="17" name="Rounded Rectangle 16"/>
          <p:cNvSpPr/>
          <p:nvPr/>
        </p:nvSpPr>
        <p:spPr>
          <a:xfrm>
            <a:off x="457200" y="4361688"/>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61772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61772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4453128"/>
            <a:ext cx="10271455" cy="786384"/>
          </a:xfrm>
          <a:prstGeom prst="rect">
            <a:avLst/>
          </a:prstGeom>
          <a:noFill/>
        </p:spPr>
        <p:txBody>
          <a:bodyPr wrap="square" anchor="ctr"/>
          <a:lstStyle/>
          <a:p>
            <a:r>
              <a:rPr sz="1500" b="1" i="0">
                <a:solidFill>
                  <a:srgbClr val="095292"/>
                </a:solidFill>
                <a:latin typeface="Calibri"/>
              </a:rPr>
              <a:t>En draw.io dibuje el modelo en V de VetCare con las fases de bajada y de subida, y trace lineas punteadas horizontales que unan cada fase con su nivel de prueba; rotule al menos dos de esas lineas con el ID del requisito y el ID del caso de prueba.</a:t>
            </a:r>
          </a:p>
        </p:txBody>
      </p:sp>
      <p:sp>
        <p:nvSpPr>
          <p:cNvPr id="21" name="Rounded Rectangle 20"/>
          <p:cNvSpPr/>
          <p:nvPr/>
        </p:nvSpPr>
        <p:spPr>
          <a:xfrm>
            <a:off x="457200" y="5404104"/>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566013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5660136"/>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5495544"/>
            <a:ext cx="10271455" cy="786384"/>
          </a:xfrm>
          <a:prstGeom prst="rect">
            <a:avLst/>
          </a:prstGeom>
          <a:noFill/>
        </p:spPr>
        <p:txBody>
          <a:bodyPr wrap="square" anchor="ctr"/>
          <a:lstStyle/>
          <a:p>
            <a:r>
              <a:rPr sz="1400" b="1" i="0">
                <a:solidFill>
                  <a:srgbClr val="095292"/>
                </a:solidFill>
                <a:latin typeface="Calibri"/>
              </a:rPr>
              <a:t>Diligencie el formato de solicitud de cambio con este caso real: la clinica pide, ya aprobada la linea base, que la busqueda tambien funcione por numero de microchip; describa el requisito afectado, el impacto en diseño y pruebas, y la decision (aprobar, aplazar o rechazar) con su justificacion. Exporte todo a PDF y suba a la plataforma del curso.</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Antes de entregar — autochequeo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Su criterio de aceptacion se puede medir con un cronometro, un contador o un si/no, o depende de que la veterinaria este de buen genio ese dia?</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Si mañana entra un estudiante nuevo al equipo, podria saber solo leyendo el documento quien pidio cada requisito y en que version se aprobo?</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Hay algun requisito en su lista que no tenga ninguna prueba asociada? Si lo hay, como pensaba demostrarle a la clinica que ese requisito quedo cumplido?</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Un documento en Google Docs con el indice del ERS de VetCare, cuatro requisitos escritos en formato de ficha con version y linea base, la matriz en V (requisito - nivel de prueba - criterio de aceptacion) y un formato de solicitud de cambio diligenciado; mas el diagrama en V dibujado en draw.io y subido a la plataforma del curso.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Cada requisito tiene ID unico, fuente identificada, version, estado y un criterio de aceptacion medible (con numero, tiempo o cantidad), no una opinion.</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La matriz en V empareja cada fase de la izquierda con su nivel de prueba a la derecha y no deja ningun requisito sin su caso de prueba asociado.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El diagrama en draw.io muestra las dos ramas de la V y al menos dos lineas de trazabilidad rotuladas con IDs reales de VetCare.</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La solicitud de cambio identifica el requisito afectado, el impacto en diseño y pruebas y una decision justificada, no un simple 'si, se agrega'.</a:t>
            </a:r>
          </a:p>
          <a:p>
            <a:pPr>
              <a:spcAft>
                <a:spcPts val="800"/>
              </a:spcAft>
            </a:pPr>
            <a:r>
              <a:rPr sz="2000" b="0" i="0">
                <a:solidFill>
                  <a:srgbClr val="333333"/>
                </a:solidFill>
                <a:latin typeface="Calibri"/>
              </a:rPr>
              <a:t>–   </a:t>
            </a:r>
            <a:r>
              <a:rPr sz="2000" b="1" i="0">
                <a:solidFill>
                  <a:srgbClr val="333333"/>
                </a:solidFill>
                <a:latin typeface="Calibri"/>
              </a:rPr>
              <a:t>Entrega en la plataforma del curso</a:t>
            </a:r>
            <a:r>
              <a:rPr sz="2000" b="0" i="0">
                <a:solidFill>
                  <a:srgbClr val="333333"/>
                </a:solidFill>
                <a:latin typeface="Calibri"/>
              </a:rPr>
              <a:t> —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Queda listo el indice del documento formal de diseño de VetCare y la matriz en V que amarra cada requisito con la prueba que lo va a verificar.</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Entrega del taller, si el docente lo asigna · en la fecha que indique el docente.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3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Queda listo el indice del documento formal de diseño de VetCare y la matriz en V que amarra cada requisito con la prueba que lo va a verificar.</a:t>
            </a:r>
          </a:p>
          <a:p>
            <a:pPr algn="ctr">
              <a:spcAft>
                <a:spcPts val="600"/>
              </a:spcAft>
            </a:pPr>
            <a:r>
              <a:rPr sz="1600" b="0" i="0">
                <a:solidFill>
                  <a:srgbClr val="333333"/>
                </a:solidFill>
                <a:latin typeface="Calibri"/>
              </a:rPr>
              <a:t>Entregable: Un documento en Google Docs con el indice del ERS de VetCare, cuatro requisitos escritos en formato de ficha con version y linea base, la matriz en V (requisito - nivel de prueba - criterio de aceptacion) y un formato de solicitud de cambio diligenciado; mas el diagrama en V dibujado en draw.io y subido a la plataforma del curso.</a:t>
            </a:r>
          </a:p>
          <a:p>
            <a:pPr algn="ctr">
              <a:spcAft>
                <a:spcPts val="600"/>
              </a:spcAft>
            </a:pPr>
            <a:r>
              <a:rPr sz="1600" b="0" i="0">
                <a:solidFill>
                  <a:srgbClr val="333333"/>
                </a:solidFill>
                <a:latin typeface="Calibri"/>
              </a:rPr>
              <a:t>Siguiente clase: continuamos el hilo del PI</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