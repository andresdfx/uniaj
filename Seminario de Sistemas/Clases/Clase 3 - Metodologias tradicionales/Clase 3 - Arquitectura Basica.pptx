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7" Type="http://schemas.openxmlformats.org/officeDocument/2006/relationships/font" Target="fonts/DMSans-regular.fntdata"/><Relationship Id="rId16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03090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Básica del Proyecto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Diseño de Diagramas de Clases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930479" y="2920454"/>
            <a:ext cx="833104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Del Concepto a la Estructura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Pasaremos de ver al sistema como una "caja negra" funcional, a diseñar sus engranajes internos y estructuras de datos.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Diagrama de Clases (UML)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Plano de la Programación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el diagrama fundamental de la Programación Orientada a Objetos.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3209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3209925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Representa la estructura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estática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del sistema.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657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6576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Muestra el molde de los objetos, sus datos internos y cómo interactúan entre sí.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410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41007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el plano arquitectónico exacto que los desarrolladores usarán directamente para escribir código Java.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125" y="2057400"/>
            <a:ext cx="5276850" cy="36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581025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de una Clase en UML</a:t>
            </a:r>
            <a:endParaRPr b="1" sz="3000">
              <a:solidFill>
                <a:srgbClr val="0050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50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Los 3 Compartimentos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Toda clase en UML se representa como un rectángulo dividido en tres secciones esenciales: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52475" y="3209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19150" y="3209925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Superior (Nombre):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sustantivo en singular e inicial mayúscula (Ej. Mascota).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3971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3971925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Medio (Atributos):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Las variables o características. (Ej. edad: int).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52475" y="4733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4733925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Inferior (Métodos):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Las funciones o acciones. (Ej. +calcularDieta(): String).</a:t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175" y="1952625"/>
            <a:ext cx="5276851" cy="415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62087"/>
            <a:ext cx="5276850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62087"/>
            <a:ext cx="527685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Encapsulamiento y Visibilidad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71550" y="18811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Símbolos de UML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71550" y="23860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Indicamos el nivel de protección de los datos usando símbolos justo antes del nombre del atributo/método: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724650" y="18811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Traducción al Código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24650" y="238601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Arquitecto diseña en UML, el Programador lo traduce a Java: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1384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UML (Diseño):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3586162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- id: int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724650" y="4043362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+ getNombre(): String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45005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Java (Implementación):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4948237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private int id;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5405437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public String getNombre() { ... }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43000" y="3443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09675" y="344328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Privado (Private):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Solo la propia clase puede verlo. Se usa para casi todos los atributos.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143000" y="4205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09675" y="420528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+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Público (Public):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Cualquiera puede usarlo. Se usa para Getters, Setters y métodos.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143000" y="4967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209675" y="496728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#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Protegido (Protected):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Visible para la clase y sus "hijas" en la Herencia.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14475"/>
            <a:ext cx="2471737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3762" y="1514475"/>
            <a:ext cx="2471737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14475"/>
            <a:ext cx="2471737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9237" y="1514475"/>
            <a:ext cx="2471737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Relaciones Principales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29270" y="2800350"/>
            <a:ext cx="197524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Asociación ( --- )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76300" y="3533775"/>
            <a:ext cx="188118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relación simple. "El Veterinario atiende a la Mascota". Se dibuja con una línea recta.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682007" y="2800350"/>
            <a:ext cx="197524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Herencia ( &lt;|-- )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3729037" y="3533775"/>
            <a:ext cx="188118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clase hereda de otra. "Un Perro ES UNA Mascota". Se dibuja con una flecha de punta hueca.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286500" y="2800350"/>
            <a:ext cx="23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Composición ( *-- )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581775" y="3533775"/>
            <a:ext cx="188118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Dependencia de vida o muerte. Si el Paciente se borra, su Historia Clínica también. (Rombo relleno).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387474" y="2800350"/>
            <a:ext cx="22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Agregación ( o-- )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434512" y="3533775"/>
            <a:ext cx="1881187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Relación débil. "Una Clínica tiene Empleados". Si la Clínica cierra, los empleados siguen existiendo. (Rombo vacío).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6856" y="199072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2931" y="19907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4243" y="19907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36981" y="1990725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Traduciremos nuestros requerimientos de VetCare a un Diagrama de Clases profesional utilizando la sintaxis de Mermaid JS.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