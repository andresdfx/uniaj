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inicial de VetCare: dos epicas descompuestas en ocho historias priorizadas, con criterios de aceptacion y talla en puntos.</a:t>
            </a:r>
          </a:p>
          <a:p>
            <a:pPr>
              <a:spcAft>
                <a:spcPts val="800"/>
              </a:spcAft>
            </a:pPr>
            <a:r>
              <a:rPr sz="2000" b="0" i="0">
                <a:solidFill>
                  <a:srgbClr val="333333"/>
                </a:solidFill>
                <a:latin typeface="Calibri"/>
              </a:rPr>
              <a:t>–   Herramienta: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Como auxiliar quiero buscar la ficha de una mascota por el documento del dueno para no revolver la carpeta fisica mientras el paciente espera en el meson se entiende sin traduccion</a:t>
            </a:r>
          </a:p>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criterios de aceptacion son la parte que convierte una historia bonita en una historia entregable, y se escriben en el patron Dado &lt;contexto inicial&gt; Cuando &lt;accion del usuario&gt; Entonces &lt;resultado observable&gt;.</a:t>
            </a:r>
          </a:p>
          <a:p>
            <a:pPr>
              <a:spcAft>
                <a:spcPts val="800"/>
              </a:spcAft>
            </a:pPr>
            <a:r>
              <a:rPr sz="2000" b="0" i="0">
                <a:solidFill>
                  <a:srgbClr val="333333"/>
                </a:solidFill>
                <a:latin typeface="Calibri"/>
              </a:rPr>
              <a:t>–   Cada criterio debe poder responderse con un si o un no mirando la pantalla, nunca con un depende.</a:t>
            </a:r>
          </a:p>
          <a:p>
            <a:pPr>
              <a:spcAft>
                <a:spcPts val="800"/>
              </a:spcAft>
            </a:pPr>
            <a:r>
              <a:rPr sz="2000" b="0" i="0">
                <a:solidFill>
                  <a:srgbClr val="333333"/>
                </a:solidFill>
                <a:latin typeface="Calibri"/>
              </a:rPr>
              <a:t>–   Para la historia de buscar el historial en VetCare los criterios serian: Dado un dueno con tres mascotas registradas, cuando busco por su documento, entonces el sistema lista las tres mascotas con nombre y especie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Fijense que el tercer criterio es el que casi siempre falta: el camino alterno, el caso feo, el error.</a:t>
            </a:r>
          </a:p>
          <a:p>
            <a:pPr>
              <a:spcAft>
                <a:spcPts val="800"/>
              </a:spcAft>
            </a:pPr>
            <a:r>
              <a:rPr sz="2000" b="0" i="0">
                <a:solidFill>
                  <a:srgbClr val="333333"/>
                </a:solidFill>
                <a:latin typeface="Calibri"/>
              </a:rPr>
              <a:t>–   Una historia con solo criterios felices es una historia a medio pensar.</a:t>
            </a:r>
          </a:p>
          <a:p>
            <a:pPr>
              <a:spcAft>
                <a:spcPts val="800"/>
              </a:spcAft>
            </a:pPr>
            <a:r>
              <a:rPr sz="20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VetCare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Huellitas nota la diferencia, no es historia sino tarea interna.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la epica Historial clinico se parte en: consultar historial por documento del dueno, registrar una atencion nueva, adjuntar resultados de laboratorio y filtrar el historial por rango de fechas; cada una entregable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a:p>
            <a:pPr>
              <a:spcAft>
                <a:spcPts val="800"/>
              </a:spcAft>
            </a:pPr>
            <a:r>
              <a:rPr sz="2000" b="0" i="0">
                <a:solidFill>
                  <a:srgbClr val="333333"/>
                </a:solidFill>
                <a:latin typeface="Calibri"/>
              </a:rPr>
              <a:t>–   En el Proyecto Integrador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HU-03  Agendar una cita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Como recepcionista</a:t>
            </a:r>
          </a:p>
          <a:p>
            <a:pPr>
              <a:spcAft>
                <a:spcPts val="371"/>
              </a:spcAft>
            </a:pPr>
            <a:r>
              <a:rPr sz="1300" b="0" i="0">
                <a:solidFill>
                  <a:srgbClr val="FFFFFF"/>
                </a:solidFill>
                <a:latin typeface="Calibri"/>
              </a:rPr>
              <a:t>quiero agendar una cita para una mascota registrada</a:t>
            </a:r>
          </a:p>
          <a:p>
            <a:pPr>
              <a:spcAft>
                <a:spcPts val="371"/>
              </a:spcAft>
            </a:pPr>
            <a:r>
              <a:rPr sz="1300" b="0" i="0">
                <a:solidFill>
                  <a:srgbClr val="FFFFFF"/>
                </a:solidFill>
                <a:latin typeface="Calibri"/>
              </a:rPr>
              <a:t>para que el veterinario tenga su agenda del dia ordenada.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Criterios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CA-1  Dado que la mascota esta activa</a:t>
            </a:r>
          </a:p>
          <a:p>
            <a:pPr>
              <a:spcAft>
                <a:spcPts val="371"/>
              </a:spcAft>
            </a:pPr>
            <a:r>
              <a:rPr sz="1300" b="0" i="0">
                <a:solidFill>
                  <a:srgbClr val="FFFFFF"/>
                </a:solidFill>
                <a:latin typeface="Calibri"/>
              </a:rPr>
              <a:t>      Cuando selecciono fecha y hora libres</a:t>
            </a:r>
          </a:p>
          <a:p>
            <a:pPr>
              <a:spcAft>
                <a:spcPts val="371"/>
              </a:spcAft>
            </a:pPr>
            <a:r>
              <a:rPr sz="1300" b="0" i="0">
                <a:solidFill>
                  <a:srgbClr val="FFFFFF"/>
                </a:solidFill>
                <a:latin typeface="Calibri"/>
              </a:rPr>
              <a:t>      Entonces la cita queda en estado PROGRAMADA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CA-2  Dado que la mascota esta inactiva</a:t>
            </a:r>
          </a:p>
          <a:p>
            <a:pPr>
              <a:spcAft>
                <a:spcPts val="371"/>
              </a:spcAft>
            </a:pPr>
            <a:r>
              <a:rPr sz="1300" b="0" i="0">
                <a:solidFill>
                  <a:srgbClr val="FFFFFF"/>
                </a:solidFill>
                <a:latin typeface="Calibri"/>
              </a:rPr>
              <a:t>      Cuando intento agendar</a:t>
            </a:r>
          </a:p>
          <a:p>
            <a:pPr>
              <a:spcAft>
                <a:spcPts val="371"/>
              </a:spcAft>
            </a:pPr>
            <a:r>
              <a:rPr sz="1300" b="0" i="0">
                <a:solidFill>
                  <a:srgbClr val="FFFFFF"/>
                </a:solidFill>
                <a:latin typeface="Calibri"/>
              </a:rPr>
              <a:t>      Entonces el sistema lo rechaza y explica por que</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Un criterio sin «Dado» no se puede probar: falta el estado inicial.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E1[EPICA 1 - Agenda]</a:t>
            </a:r>
          </a:p>
          <a:p>
            <a:pPr>
              <a:spcAft>
                <a:spcPts val="400"/>
              </a:spcAft>
            </a:pPr>
            <a:r>
              <a:rPr sz="1400" b="0" i="0">
                <a:solidFill>
                  <a:srgbClr val="FFFFFF"/>
                </a:solidFill>
                <a:latin typeface="Calibri"/>
              </a:rPr>
              <a:t>  E2[EPICA 2 - Expediente]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E1 --&gt; H1[HU-01 Registrar dueno&lt;br/&gt;3 pts]</a:t>
            </a:r>
          </a:p>
          <a:p>
            <a:pPr>
              <a:spcAft>
                <a:spcPts val="400"/>
              </a:spcAft>
            </a:pPr>
            <a:r>
              <a:rPr sz="1400" b="0" i="0">
                <a:solidFill>
                  <a:srgbClr val="FFFFFF"/>
                </a:solidFill>
                <a:latin typeface="Calibri"/>
              </a:rPr>
              <a:t>  E1 --&gt; H2[HU-02 Registrar mascota&lt;br/&gt;5 pts]</a:t>
            </a:r>
          </a:p>
          <a:p>
            <a:pPr>
              <a:spcAft>
                <a:spcPts val="400"/>
              </a:spcAft>
            </a:pPr>
            <a:r>
              <a:rPr sz="1400" b="0" i="0">
                <a:solidFill>
                  <a:srgbClr val="FFFFFF"/>
                </a:solidFill>
                <a:latin typeface="Calibri"/>
              </a:rPr>
              <a:t>  E1 --&gt; H3[HU-03 Agendar cita&lt;br/&gt;8 pts]</a:t>
            </a:r>
          </a:p>
          <a:p>
            <a:pPr>
              <a:spcAft>
                <a:spcPts val="400"/>
              </a:spcAft>
            </a:pPr>
            <a:r>
              <a:rPr sz="1400" b="0" i="0">
                <a:solidFill>
                  <a:srgbClr val="FFFFFF"/>
                </a:solidFill>
                <a:latin typeface="Calibri"/>
              </a:rPr>
              <a:t>  E2 --&gt; H4[HU-04 Abrir expediente&lt;br/&gt;5 pts]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Los puntos son RELATIVOS, no horas: HU-03 es «como HU-02 pero mas»,</a:t>
            </a:r>
          </a:p>
          <a:p>
            <a:pPr>
              <a:spcAft>
                <a:spcPts val="400"/>
              </a:spcAft>
            </a:pPr>
            <a:r>
              <a:rPr sz="1400" b="0" i="0">
                <a:solidFill>
                  <a:srgbClr val="FFFFFF"/>
                </a:solidFill>
                <a:latin typeface="Calibri"/>
              </a:rPr>
              <a:t>%% y esa comparacion es toda la estimacion que se pide hoy.</a:t>
            </a:r>
          </a:p>
          <a:p>
            <a:pPr>
              <a:spcAft>
                <a:spcPts val="400"/>
              </a:spcAft>
            </a:pPr>
            <a:r>
              <a:rPr sz="1400" b="0" i="0">
                <a:solidFill>
                  <a:srgbClr val="FFFFFF"/>
                </a:solidFill>
                <a:latin typeface="Calibri"/>
              </a:rPr>
              <a:t>%% El orden del backlog sale del valor, no del numero de puntos.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 Huellitas</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calidraw.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backlog es la version ejecutable del catalogo de requisitos; es la lista con la que se decide que se disena primero y, en Programacion II, que se codifica primero.</a:t>
            </a:r>
          </a:p>
          <a:p>
            <a:pPr>
              <a:spcAft>
                <a:spcPts val="800"/>
              </a:spcAft>
            </a:pPr>
            <a:r>
              <a:rPr sz="2000" b="0" i="0">
                <a:solidFill>
                  <a:srgbClr val="333333"/>
                </a:solidFill>
                <a:latin typeface="Calibri"/>
              </a:rPr>
              <a:t>–   Los criterios de aceptacion que escriba hoy se vuelven literalmente el guion de revision del prototipo navegable y de las pruebas del sistema.</a:t>
            </a:r>
          </a:p>
          <a:p>
            <a:pPr>
              <a:spcAft>
                <a:spcPts val="800"/>
              </a:spcAft>
            </a:pPr>
            <a:r>
              <a:rPr sz="2000" b="0" i="0">
                <a:solidFill>
                  <a:srgbClr val="333333"/>
                </a:solidFill>
                <a:latin typeface="Calibri"/>
              </a:rPr>
              <a:t>–   Una historia sin beneficio claro es una funcionalidad que nadie va a extranar si no se hace: aqui es donde se justifica cada pantalla de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Ya existe el catalogo de requisitos de VetCare con RF, RNF, prioridades MoSCoW y matriz de trazabilidad aprobados en la clase anterior.</a:t>
            </a:r>
          </a:p>
          <a:p>
            <a:pPr>
              <a:spcAft>
                <a:spcPts val="800"/>
              </a:spcAft>
            </a:pPr>
            <a:r>
              <a:rPr sz="2000" b="0" i="0">
                <a:solidFill>
                  <a:srgbClr val="333333"/>
                </a:solidFill>
                <a:latin typeface="Calibri"/>
              </a:rPr>
              <a:t>–   Ese catalogo esta escrito en lenguaje formal de analista y todavia no permite decidir por donde arrancar ni cuanto pesa cada pieza.</a:t>
            </a:r>
          </a:p>
          <a:p>
            <a:pPr>
              <a:spcAft>
                <a:spcPts val="800"/>
              </a:spcAft>
            </a:pPr>
            <a:r>
              <a:rPr sz="2000" b="0" i="0">
                <a:solidFill>
                  <a:srgbClr val="333333"/>
                </a:solidFill>
                <a:latin typeface="Calibri"/>
              </a:rPr>
              <a:t>–   El equipo del Proyecto Integrador necesita una lista ordenada de trabajo para poder repartirse las siguientes semanas entre diseno y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Paso 1: agrupe los RF del catalogo de la clase 6 en dos epicas de VetCare (por ejemplo Gestion de pacientes e Historial y agenda) y escriba el nombre y el objetivo de cada epica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descomponga las dos epicas en 8 historias con el formato Como &lt;rol de la clinica Huellitas&gt; quiero &lt;accion&gt; para &lt;beneficio&gt;, usando roles concretos (auxiliar, veterinario, administrador) y nunca la palabra usuario.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Paso 3: escriba 2 o 3 criterios de aceptacion por historia en Dado-Cuando-Entonces, e incluya obligatoriamente un criterio de camino alterno o de error en al menos cuatro de las ocho historias.</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Paso 4: revise cada historia contra INVEST marcando las seis letras con si o no; toda historia que falle dos o mas letras debe reescribirse o partirse antes de continuar.</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Paso 5: estime en puntos con la escala 1, 2, 3, 5, 8 tomando 'registrar un dueno = 3' como referencia, ordene el backlog de mayor a menor prioridad, agregue la columna de trazabilidad al RF de origen y suba el tablero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le leo esta historia al Dr. Ramirez sin explicarle nada, entiende quien gana algo y que gana, o solo entiende que hay una pantalla nueva?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El 'para' de mi historia esta repitiendo la accion con otras palabras, o dice de verdad el beneficio para la clinica?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esta historia se entregara sola, sin ninguna otra, el usuario podria hacer algo completo de principio a fin?</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8 historias usan roles concretos de la clinica Huellitas y ninguna emplea el rol generico usuario.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tiene minimo 2 criterios de aceptacion en Dado-Cuando-Entonces y al menos cuatro incluyen un camino alterno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Todas las historias pasan INVEST con al menos cinco de las seis letras en si, y ninguna esta cortada por capas tecnicas.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trae estimacion en puntos, prioridad y el RF de origen; ninguna historia supera los 8 puntos sin partirse.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inicial de VetCare: dos epicas descompuestas en ocho historias priorizadas, con criterios de aceptacion y talla en puntos.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inicial de VetCare: dos epicas descompuestas en ocho historias priorizadas, con criterios de aceptacion y talla en puntos.</a:t>
            </a:r>
          </a:p>
          <a:p>
            <a:pPr algn="ctr">
              <a:spcAft>
                <a:spcPts val="600"/>
              </a:spcAft>
            </a:pPr>
            <a:r>
              <a:rPr sz="1600" b="0" i="0">
                <a:solidFill>
                  <a:srgbClr val="333333"/>
                </a:solidFill>
                <a:latin typeface="Calibri"/>
              </a:rPr>
              <a:t>Entregable: Tablero de backlog con 8 historias en formato Como/quiero/para, cada una con 2 o 3 criterios de aceptacion en Dado-Cuando-Entonces, estimacion en puntos y trazabilidad al RF de la clase 6,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