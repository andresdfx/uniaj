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7</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Historias de usuario</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El requisito contado por quien lo necesita y con criterios que se pueden cobrar</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 · Objetivo del PI</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Hoy avanzamos VetCare en:</a:t>
            </a:r>
            <a:r>
              <a:rPr sz="2000" b="0" i="0">
                <a:solidFill>
                  <a:srgbClr val="333333"/>
                </a:solidFill>
                <a:latin typeface="Calibri"/>
              </a:rPr>
              <a:t> Queda listo el backlog inicial de VetCare: dos epicas descompuestas en ocho historias priorizadas, con criterios de aceptacion y talla en puntos.</a:t>
            </a:r>
          </a:p>
          <a:p>
            <a:pPr>
              <a:spcAft>
                <a:spcPts val="800"/>
              </a:spcAft>
            </a:pPr>
            <a:r>
              <a:rPr sz="2000" b="0" i="0">
                <a:solidFill>
                  <a:srgbClr val="333333"/>
                </a:solidFill>
                <a:latin typeface="Calibri"/>
              </a:rPr>
              <a:t>–   Herramienta: </a:t>
            </a:r>
            <a:r>
              <a:rPr sz="2000" b="1" i="0">
                <a:solidFill>
                  <a:srgbClr val="333333"/>
                </a:solidFill>
                <a:latin typeface="Calibri"/>
              </a:rPr>
              <a:t>Google Docs · Excalidraw</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a:t>
            </a:r>
            <a:r>
              <a:rPr sz="2000" b="1" i="0">
                <a:solidFill>
                  <a:srgbClr val="333333"/>
                </a:solidFill>
                <a:latin typeface="Calibri"/>
              </a:rPr>
              <a:t>Entregable de hoy:</a:t>
            </a:r>
            <a:r>
              <a:rPr sz="2000" b="0" i="0">
                <a:solidFill>
                  <a:srgbClr val="333333"/>
                </a:solidFill>
                <a:latin typeface="Calibri"/>
              </a:rPr>
              <a:t> Tablero de backlog con 8 historias en formato Como/quiero/para, cada una con 2 o 3 criterios de aceptacion en Dado-Cuando-Entonces, estimacion en puntos y trazabilidad al RF de la clase 6, subido a la plataforma del curso.</a:t>
            </a:r>
          </a:p>
          <a:p>
            <a:pPr>
              <a:spcAft>
                <a:spcPts val="800"/>
              </a:spcAft>
            </a:pPr>
            <a:r>
              <a:rPr sz="2000" b="0" i="0">
                <a:solidFill>
                  <a:srgbClr val="333333"/>
                </a:solidFill>
                <a:latin typeface="Calibri"/>
              </a:rPr>
              <a:t>–   La teoria esta al servicio del producto: al salir, VetCare avanzo.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 del avance</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VetCare</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Taller guiado = avance del PI</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Criterios de exito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Una historia de usuario no es un requisito abreviado ni una moda de las...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Una historia de usuario no es un requisito abreviado ni una moda de las metodologias agiles: es el recordatorio corto de una conversacion pendiente entre quien necesita el sistema y quien lo va a construir.</a:t>
            </a:r>
          </a:p>
          <a:p>
            <a:pPr>
              <a:spcAft>
                <a:spcPts val="800"/>
              </a:spcAft>
            </a:pPr>
            <a:r>
              <a:rPr sz="2000" b="0" i="0">
                <a:solidFill>
                  <a:srgbClr val="333333"/>
                </a:solidFill>
                <a:latin typeface="Calibri"/>
              </a:rPr>
              <a:t>–   Su formato canonico tiene tres partes: Como &lt;rol&gt; quiero &lt;accion&gt; para &lt;beneficio&gt;.</a:t>
            </a:r>
          </a:p>
          <a:p>
            <a:pPr>
              <a:spcAft>
                <a:spcPts val="800"/>
              </a:spcAft>
            </a:pPr>
            <a:r>
              <a:rPr sz="2000" b="0" i="0">
                <a:solidFill>
                  <a:srgbClr val="333333"/>
                </a:solidFill>
                <a:latin typeface="Calibri"/>
              </a:rPr>
              <a:t>–   El rol obliga a nombrar a alguien concreto (la auxiliar Marcela, el veterinario de turno, el dueno de la mascota) y no al generico usuario</a:t>
            </a:r>
          </a:p>
          <a:p>
            <a:pPr>
              <a:spcAft>
                <a:spcPts val="800"/>
              </a:spcAft>
            </a:pPr>
            <a:r>
              <a:rPr sz="2000" b="0" i="0">
                <a:solidFill>
                  <a:srgbClr val="333333"/>
                </a:solidFill>
                <a:latin typeface="Calibri"/>
              </a:rPr>
              <a:t>–   Que no existe en ninguna clinica del mundo; la accion describe algo que esa persona hace, no algo que hace la base de datos por dentro; y el para es la parte que casi todo el mundo borra por afan y es la mas valiosa</a:t>
            </a:r>
          </a:p>
          <a:p>
            <a:pPr>
              <a:spcAft>
                <a:spcPts val="800"/>
              </a:spcAft>
            </a:pPr>
            <a:r>
              <a:rPr sz="2000" b="0" i="0">
                <a:solidFill>
                  <a:srgbClr val="333333"/>
                </a:solidFill>
                <a:latin typeface="Calibri"/>
              </a:rPr>
              <a:t>–   Porque es la unica que explica por que vale la pena gastar tiempo y plata en eso.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Una historia de usuario no es un requisito abreviado ni una moda de las...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En VetCare, Como auxiliar quiero buscar la ficha de una mascota por el documento del dueno para no revolver la carpeta fisica mientras el paciente espera en el meson se entiende sin traduccion</a:t>
            </a:r>
          </a:p>
          <a:p>
            <a:pPr>
              <a:spcAft>
                <a:spcPts val="800"/>
              </a:spcAft>
            </a:pPr>
            <a:r>
              <a:rPr sz="2000" b="0" i="0">
                <a:solidFill>
                  <a:srgbClr val="333333"/>
                </a:solidFill>
                <a:latin typeface="Calibri"/>
              </a:rPr>
              <a:t>–   En cambio El sistema debe tener un buscador no dice a quien le sirve ni que dolor cura.</a:t>
            </a:r>
          </a:p>
          <a:p>
            <a:pPr>
              <a:spcAft>
                <a:spcPts val="800"/>
              </a:spcAft>
            </a:pPr>
            <a:r>
              <a:rPr sz="2000" b="0" i="0">
                <a:solidFill>
                  <a:srgbClr val="333333"/>
                </a:solidFill>
                <a:latin typeface="Calibri"/>
              </a:rPr>
              <a:t>–   Ron Jeffries lo resumio en tres C: Card, la tarjeta corta</a:t>
            </a:r>
          </a:p>
          <a:p>
            <a:pPr>
              <a:spcAft>
                <a:spcPts val="800"/>
              </a:spcAft>
            </a:pPr>
            <a:r>
              <a:rPr sz="2000" b="0" i="0">
                <a:solidFill>
                  <a:srgbClr val="333333"/>
                </a:solidFill>
                <a:latin typeface="Calibri"/>
              </a:rPr>
              <a:t>–   La tarjeta sin conversacion es un titulo huerfano, y la conversacion sin criterios es un acuerdo que nadie puede cobrar.</a:t>
            </a:r>
          </a:p>
          <a:p>
            <a:pPr>
              <a:spcAft>
                <a:spcPts val="800"/>
              </a:spcAft>
            </a:pPr>
            <a:r>
              <a:rPr sz="2000" b="0" i="0">
                <a:solidFill>
                  <a:srgbClr val="333333"/>
                </a:solidFill>
                <a:latin typeface="Calibri"/>
              </a:rPr>
              <a:t>–   Frente al requisito tradicional de la clase pasada, la historia no lo reemplaza: el requisito es el contrato formal y la historia es la unidad de trabajo con la que se planea la entrega.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criterios de aceptacion son la parte que convierte una historia...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Los criterios de aceptacion son la parte que convierte una historia bonita en una historia entregable, y se escriben en el patron Dado &lt;contexto inicial&gt; Cuando &lt;accion del usuario&gt; Entonces &lt;resultado observable&gt;.</a:t>
            </a:r>
          </a:p>
          <a:p>
            <a:pPr>
              <a:spcAft>
                <a:spcPts val="800"/>
              </a:spcAft>
            </a:pPr>
            <a:r>
              <a:rPr sz="2000" b="0" i="0">
                <a:solidFill>
                  <a:srgbClr val="333333"/>
                </a:solidFill>
                <a:latin typeface="Calibri"/>
              </a:rPr>
              <a:t>–   Cada criterio debe poder responderse con un si o un no mirando la pantalla, nunca con un depende.</a:t>
            </a:r>
          </a:p>
          <a:p>
            <a:pPr>
              <a:spcAft>
                <a:spcPts val="800"/>
              </a:spcAft>
            </a:pPr>
            <a:r>
              <a:rPr sz="2000" b="0" i="0">
                <a:solidFill>
                  <a:srgbClr val="333333"/>
                </a:solidFill>
                <a:latin typeface="Calibri"/>
              </a:rPr>
              <a:t>–   Para la historia de buscar el historial en VetCare los criterios serian: Dado un dueno con tres mascotas registradas, cuando busco por su documento, entonces el sistema lista las tres mascotas con nombre y especie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criterios de aceptacion son la parte que convierte una historia...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Fijense que el tercer criterio es el que casi siempre falta: el camino alterno, el caso feo, el error.</a:t>
            </a:r>
          </a:p>
          <a:p>
            <a:pPr>
              <a:spcAft>
                <a:spcPts val="800"/>
              </a:spcAft>
            </a:pPr>
            <a:r>
              <a:rPr sz="2000" b="0" i="0">
                <a:solidFill>
                  <a:srgbClr val="333333"/>
                </a:solidFill>
                <a:latin typeface="Calibri"/>
              </a:rPr>
              <a:t>–   Una historia con solo criterios felices es una historia a medio pensar.</a:t>
            </a:r>
          </a:p>
          <a:p>
            <a:pPr>
              <a:spcAft>
                <a:spcPts val="800"/>
              </a:spcAft>
            </a:pPr>
            <a:r>
              <a:rPr sz="2000" b="0" i="0">
                <a:solidFill>
                  <a:srgbClr val="333333"/>
                </a:solidFill>
                <a:latin typeface="Calibri"/>
              </a:rPr>
              <a:t>–   Ademas, los criterios de aceptacion son el puente directo con el prototipo navegable y con las pruebas que hara el companero de Programacion II, porque son literalmente el guion de lo que se va a revisar.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INVEST es la lista de chequeo para saber si una historia esta bien...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INVEST es la lista de chequeo para saber si una historia esta bien cortada, y conviene revisarla letra por letra con VetCare en la mano.</a:t>
            </a:r>
          </a:p>
          <a:p>
            <a:pPr>
              <a:spcAft>
                <a:spcPts val="800"/>
              </a:spcAft>
            </a:pPr>
            <a:r>
              <a:rPr sz="2000" b="0" i="0">
                <a:solidFill>
                  <a:srgbClr val="333333"/>
                </a:solidFill>
                <a:latin typeface="Calibri"/>
              </a:rPr>
              <a:t>–   Independiente: se puede hacer sin esperar a otra; si la historia de agendar cita necesita obligatoriamente que exista la de registrar mascota, hay dependencia y toca ordenarlas.</a:t>
            </a:r>
          </a:p>
          <a:p>
            <a:pPr>
              <a:spcAft>
                <a:spcPts val="800"/>
              </a:spcAft>
            </a:pPr>
            <a:r>
              <a:rPr sz="2000" b="0" i="0">
                <a:solidFill>
                  <a:srgbClr val="333333"/>
                </a:solidFill>
                <a:latin typeface="Calibri"/>
              </a:rPr>
              <a:t>–   Negociable: la historia describe la necesidad, no la solucion tecnica; decir quiero un combo desplegable con autocompletar en JavaScript ya no es historia, es diseno impuesto.</a:t>
            </a:r>
          </a:p>
          <a:p>
            <a:pPr>
              <a:spcAft>
                <a:spcPts val="800"/>
              </a:spcAft>
            </a:pPr>
            <a:r>
              <a:rPr sz="2000" b="0" i="0">
                <a:solidFill>
                  <a:srgbClr val="333333"/>
                </a:solidFill>
                <a:latin typeface="Calibri"/>
              </a:rPr>
              <a:t>–   Valiosa: alguien de la clinica gana algo real; si nadie de Huellitas nota la diferencia, no es historia sino tarea interna.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INVEST es la lista de chequeo para saber si una historia esta bien...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Estimable: el equipo entiende lo suficiente para tallarla; si nadie sabe cuanto pesa, falta conversacion o hace falta investigar aparte.</a:t>
            </a:r>
          </a:p>
          <a:p>
            <a:pPr>
              <a:spcAft>
                <a:spcPts val="800"/>
              </a:spcAft>
            </a:pPr>
            <a:r>
              <a:rPr sz="2000" b="0" i="0">
                <a:solidFill>
                  <a:srgbClr val="333333"/>
                </a:solidFill>
                <a:latin typeface="Calibri"/>
              </a:rPr>
              <a:t>–   Small o pequena: cabe en una iteracion; si toma tres semanas es una epica disfrazada.</a:t>
            </a:r>
          </a:p>
          <a:p>
            <a:pPr>
              <a:spcAft>
                <a:spcPts val="800"/>
              </a:spcAft>
            </a:pPr>
            <a:r>
              <a:rPr sz="2000" b="0" i="0">
                <a:solidFill>
                  <a:srgbClr val="333333"/>
                </a:solidFill>
                <a:latin typeface="Calibri"/>
              </a:rPr>
              <a:t>–   Testeable: tiene criterios verificables, que es exactamente la misma regla de oro de la clase pasada aplicada en formato agil.</a:t>
            </a:r>
          </a:p>
          <a:p>
            <a:pPr>
              <a:spcAft>
                <a:spcPts val="800"/>
              </a:spcAft>
            </a:pPr>
            <a:r>
              <a:rPr sz="2000" b="0" i="0">
                <a:solidFill>
                  <a:srgbClr val="333333"/>
                </a:solidFill>
                <a:latin typeface="Calibri"/>
              </a:rPr>
              <a:t>–   Una historia que falla dos letras de INVEST no se planea todavia, se vuelve a partir.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Una epica es una historia grande que todavia no cabe en una iteracion...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Una epica es una historia grande que todavia no cabe en una iteracion, y descomponerla es una habilidad que se aprende cortando mal varias veces.</a:t>
            </a:r>
          </a:p>
          <a:p>
            <a:pPr>
              <a:spcAft>
                <a:spcPts val="800"/>
              </a:spcAft>
            </a:pPr>
            <a:r>
              <a:rPr sz="2000" b="0" i="0">
                <a:solidFill>
                  <a:srgbClr val="333333"/>
                </a:solidFill>
                <a:latin typeface="Calibri"/>
              </a:rPr>
              <a:t>–   El corte correcto es vertical, como una rebanada de pastel que trae bizcocho, crema y cubierta: cada historia atraviesa pantalla, logica y datos y deja algo que el usuario puede usar.</a:t>
            </a:r>
          </a:p>
          <a:p>
            <a:pPr>
              <a:spcAft>
                <a:spcPts val="800"/>
              </a:spcAft>
            </a:pPr>
            <a:r>
              <a:rPr sz="2000" b="0" i="0">
                <a:solidFill>
                  <a:srgbClr val="333333"/>
                </a:solidFill>
                <a:latin typeface="Calibri"/>
              </a:rPr>
              <a:t>–   El corte equivocado es horizontal, por capas: una historia para la pantalla, otra para la logica y otra para la base de datos; asi ninguna de las tres sirve sola y el cliente no ve nada hasta que estan las tres.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Una epica es una historia grande que todavia no cabe en una iteracion...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En VetCare la epica Historial clinico se parte en: consultar historial por documento del dueno, registrar una atencion nueva, adjuntar resultados de laboratorio y filtrar el historial por rango de fechas; cada una entregable y demostrable por separado.</a:t>
            </a:r>
          </a:p>
          <a:p>
            <a:pPr>
              <a:spcAft>
                <a:spcPts val="800"/>
              </a:spcAft>
            </a:pPr>
            <a:r>
              <a:rPr sz="2000" b="0" i="0">
                <a:solidFill>
                  <a:srgbClr val="333333"/>
                </a:solidFill>
                <a:latin typeface="Calibri"/>
              </a:rPr>
              <a:t>–   Otros ejes utiles para cortar son por tipo de dato (primero solo perros y gatos, despues otras especies), por regla de negocio (primero sin control de acceso, luego con perfiles) y por camino (primero el flujo feliz, luego los errores).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Estimar en agil no es adivinar horas sino comparar tamanos, y esa es la...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Estimar en agil no es adivinar horas sino comparar tamanos, y esa es la razon de los puntos de historia: son una medida relativa que mezcla esfuerzo, complejidad e incertidumbre.</a:t>
            </a:r>
          </a:p>
          <a:p>
            <a:pPr>
              <a:spcAft>
                <a:spcPts val="800"/>
              </a:spcAft>
            </a:pPr>
            <a:r>
              <a:rPr sz="2000" b="0" i="0">
                <a:solidFill>
                  <a:srgbClr val="333333"/>
                </a:solidFill>
                <a:latin typeface="Calibri"/>
              </a:rPr>
              <a:t>–   Se toma una historia mediana y conocida como referencia (por ejemplo registrar un dueno vale 3 puntos) y todas las demas se comparan contra ella usando una escala tipo Fibonacci 1, 2, 3, 5</a:t>
            </a:r>
          </a:p>
          <a:p>
            <a:pPr>
              <a:spcAft>
                <a:spcPts val="800"/>
              </a:spcAft>
            </a:pPr>
            <a:r>
              <a:rPr sz="2000" b="0" i="0">
                <a:solidFill>
                  <a:srgbClr val="333333"/>
                </a:solidFill>
                <a:latin typeface="Calibri"/>
              </a:rPr>
              <a:t>–   8, 13, donde el salto grande refleja que entre mas grande la historia, menos confiable la estimacion; si algo llega a 13 o mas, la senal no es de dificultad sino de que hay que partirla.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Estimar en agil no es adivinar horas sino comparar tamanos, y esa es la...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tecnica de sala es el planning poker: todos muestran su carta al tiempo y lo importante no es el numero sino la discusion cuando alguien dice 2 y otro dice 8, porque ahi aparece el requisito que unos entendieron y otros no.</a:t>
            </a:r>
          </a:p>
          <a:p>
            <a:pPr>
              <a:spcAft>
                <a:spcPts val="800"/>
              </a:spcAft>
            </a:pPr>
            <a:r>
              <a:rPr sz="2000" b="0" i="0">
                <a:solidFill>
                  <a:srgbClr val="333333"/>
                </a:solidFill>
                <a:latin typeface="Calibri"/>
              </a:rPr>
              <a:t>–   En el Proyecto Integrador este backlog es la lista de trabajo que se le entrega al companero de Programacion II para que sepa por donde empezar</a:t>
            </a:r>
          </a:p>
          <a:p>
            <a:pPr>
              <a:spcAft>
                <a:spcPts val="800"/>
              </a:spcAft>
            </a:pPr>
            <a:r>
              <a:rPr sz="2000" b="0" i="0">
                <a:solidFill>
                  <a:srgbClr val="333333"/>
                </a:solidFill>
                <a:latin typeface="Calibri"/>
              </a:rPr>
              <a:t>–   Y quien solo cursa Seminario usa el mismo backlog para ordenar las pantallas de su prototipo navegable, en el mismo orden de prioridad.</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Historia HU-04 con criterios de aceptacion (artefacto proyectable)</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HU-04  [Epica: E-02 Historial y agenda]</a:t>
            </a:r>
          </a:p>
          <a:p>
            <a:pPr>
              <a:spcAft>
                <a:spcPts val="400"/>
              </a:spcAft>
            </a:pPr>
            <a:r>
              <a:rPr sz="1400" b="0" i="0">
                <a:solidFill>
                  <a:srgbClr val="FFFFFF"/>
                </a:solidFill>
                <a:latin typeface="Calibri"/>
              </a:rPr>
              <a:t>Como veterinario de la clinica Huellitas</a:t>
            </a:r>
          </a:p>
          <a:p>
            <a:pPr>
              <a:spcAft>
                <a:spcPts val="400"/>
              </a:spcAft>
            </a:pPr>
            <a:r>
              <a:rPr sz="1400" b="0" i="0">
                <a:solidFill>
                  <a:srgbClr val="FFFFFF"/>
                </a:solidFill>
                <a:latin typeface="Calibri"/>
              </a:rPr>
              <a:t>quiero consultar el historial de atenciones de una mascota por el documento del dueno</a:t>
            </a:r>
          </a:p>
          <a:p>
            <a:pPr>
              <a:spcAft>
                <a:spcPts val="400"/>
              </a:spcAft>
            </a:pPr>
            <a:r>
              <a:rPr sz="1400" b="0" i="0">
                <a:solidFill>
                  <a:srgbClr val="FFFFFF"/>
                </a:solidFill>
                <a:latin typeface="Calibri"/>
              </a:rPr>
              <a:t>para decidir el tratamiento sin depender de la carpeta fisica.</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Criterios de aceptacion</a:t>
            </a:r>
          </a:p>
          <a:p>
            <a:pPr>
              <a:spcAft>
                <a:spcPts val="400"/>
              </a:spcAft>
            </a:pPr>
            <a:r>
              <a:rPr sz="1400" b="0" i="0">
                <a:solidFill>
                  <a:srgbClr val="FFFFFF"/>
                </a:solidFill>
                <a:latin typeface="Calibri"/>
              </a:rPr>
              <a:t>CA-1  Dado un dueno con 3 mascotas registradas, cuando busco por su documento, entonces el sistema lista las 3 mascotas con nombre y especie.</a:t>
            </a:r>
          </a:p>
          <a:p>
            <a:pPr>
              <a:spcAft>
                <a:spcPts val="400"/>
              </a:spcAft>
            </a:pPr>
            <a:r>
              <a:rPr sz="1400" b="0" i="0">
                <a:solidFill>
                  <a:srgbClr val="FFFFFF"/>
                </a:solidFill>
                <a:latin typeface="Calibri"/>
              </a:rPr>
              <a:t>CA-2  Dado que selecciono la mascota Rocky, cuando abro su historial, entonces veo sus atenciones de la mas reciente a la mas antigua.</a:t>
            </a:r>
          </a:p>
          <a:p>
            <a:pPr>
              <a:spcAft>
                <a:spcPts val="400"/>
              </a:spcAft>
            </a:pPr>
            <a:r>
              <a:rPr sz="1400" b="0" i="0">
                <a:solidFill>
                  <a:srgbClr val="FFFFFF"/>
                </a:solidFill>
                <a:latin typeface="Calibri"/>
              </a:rPr>
              <a:t>CA-3  Dado un documento no registrado, cuando busco, entonces el sistema muestra 'No hay duenos con ese documento' y ofrece crear uno.</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Estimacion: 5 puntos   |   Prioridad: Must   |   Origen: RF-03 / NEC-02</a:t>
            </a:r>
          </a:p>
          <a:p>
            <a:pPr>
              <a:spcAft>
                <a:spcPts val="400"/>
              </a:spcAft>
            </a:pPr>
            <a:r>
              <a:rPr sz="1400" b="0" i="0">
                <a:solidFill>
                  <a:srgbClr val="FFFFFF"/>
                </a:solidFill>
                <a:latin typeface="Calibri"/>
              </a:rPr>
              <a:t>Definicion de terminado: mockup aprobado + los 3 criterios verificados en el prototipo navegable</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La historia dice a quien le sirve y para que; los criterios de aceptacion son la unica parte que se puede cobrar.</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Google Docs · Excalidraw</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El docente toma el RF-03 del catalogo, lo convierte en vivo en historia con criterios y luego muestra una historia partida por capas para tumbarla con INVEST.</a:t>
            </a:r>
          </a:p>
          <a:p>
            <a:pPr>
              <a:spcAft>
                <a:spcPts val="800"/>
              </a:spcAft>
            </a:pPr>
            <a:r>
              <a:rPr sz="2000" b="0" i="0">
                <a:solidFill>
                  <a:srgbClr val="333333"/>
                </a:solidFill>
                <a:latin typeface="Calibri"/>
              </a:rPr>
              <a:t>–   Mismo dominio VetCare — no otro ejemplo. Aqui se diseña, no se programa.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Herramientas de hoy</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Gratis · funcionan en el navegador</a:t>
            </a:r>
          </a:p>
        </p:txBody>
      </p:sp>
      <p:sp>
        <p:nvSpPr>
          <p:cNvPr id="6" name="Rounded Rectangle 5"/>
          <p:cNvSpPr/>
          <p:nvPr/>
        </p:nvSpPr>
        <p:spPr>
          <a:xfrm>
            <a:off x="457200" y="1591056"/>
            <a:ext cx="3624986" cy="233172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excalidraw.png"/>
          <p:cNvPicPr>
            <a:picLocks noChangeAspect="1"/>
          </p:cNvPicPr>
          <p:nvPr/>
        </p:nvPicPr>
        <p:blipFill>
          <a:blip r:embed="rId2"/>
          <a:stretch>
            <a:fillRect/>
          </a:stretch>
        </p:blipFill>
        <p:spPr>
          <a:xfrm>
            <a:off x="1643329" y="1847087"/>
            <a:ext cx="1252728" cy="1252728"/>
          </a:xfrm>
          <a:prstGeom prst="rect">
            <a:avLst/>
          </a:prstGeom>
        </p:spPr>
      </p:pic>
      <p:sp>
        <p:nvSpPr>
          <p:cNvPr id="10" name="TextBox 9"/>
          <p:cNvSpPr txBox="1"/>
          <p:nvPr/>
        </p:nvSpPr>
        <p:spPr>
          <a:xfrm>
            <a:off x="530352" y="3191256"/>
            <a:ext cx="3478682" cy="621792"/>
          </a:xfrm>
          <a:prstGeom prst="rect">
            <a:avLst/>
          </a:prstGeom>
          <a:noFill/>
        </p:spPr>
        <p:txBody>
          <a:bodyPr wrap="square" anchor="t"/>
          <a:lstStyle/>
          <a:p>
            <a:pPr algn="ctr"/>
            <a:r>
              <a:rPr sz="1300" b="1" i="0">
                <a:solidFill>
                  <a:srgbClr val="095292"/>
                </a:solidFill>
                <a:latin typeface="Calibri"/>
              </a:rPr>
              <a:t>Excalidraw</a:t>
            </a:r>
          </a:p>
          <a:p>
            <a:pPr algn="ctr">
              <a:spcBef>
                <a:spcPts val="200"/>
              </a:spcBef>
            </a:pPr>
            <a:r>
              <a:rPr sz="1000" b="0" i="0">
                <a:solidFill>
                  <a:srgbClr val="666666"/>
                </a:solidFill>
                <a:latin typeface="Calibri"/>
              </a:rPr>
              <a:t>Bocetos rapidos a mano alzada</a:t>
            </a:r>
          </a:p>
        </p:txBody>
      </p:sp>
      <p:sp>
        <p:nvSpPr>
          <p:cNvPr id="11" name="Rounded Rectangle 10"/>
          <p:cNvSpPr/>
          <p:nvPr/>
        </p:nvSpPr>
        <p:spPr>
          <a:xfrm>
            <a:off x="4283354" y="1591056"/>
            <a:ext cx="3624986" cy="233172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83354"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83354"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google_docs.png"/>
          <p:cNvPicPr>
            <a:picLocks noChangeAspect="1"/>
          </p:cNvPicPr>
          <p:nvPr/>
        </p:nvPicPr>
        <p:blipFill>
          <a:blip r:embed="rId3"/>
          <a:stretch>
            <a:fillRect/>
          </a:stretch>
        </p:blipFill>
        <p:spPr>
          <a:xfrm>
            <a:off x="5469483" y="1847087"/>
            <a:ext cx="1252728" cy="1252728"/>
          </a:xfrm>
          <a:prstGeom prst="rect">
            <a:avLst/>
          </a:prstGeom>
        </p:spPr>
      </p:pic>
      <p:sp>
        <p:nvSpPr>
          <p:cNvPr id="15" name="TextBox 14"/>
          <p:cNvSpPr txBox="1"/>
          <p:nvPr/>
        </p:nvSpPr>
        <p:spPr>
          <a:xfrm>
            <a:off x="4356506" y="3191256"/>
            <a:ext cx="3478682" cy="621792"/>
          </a:xfrm>
          <a:prstGeom prst="rect">
            <a:avLst/>
          </a:prstGeom>
          <a:noFill/>
        </p:spPr>
        <p:txBody>
          <a:bodyPr wrap="square" anchor="t"/>
          <a:lstStyle/>
          <a:p>
            <a:pPr algn="ctr"/>
            <a:r>
              <a:rPr sz="1300" b="1" i="0">
                <a:solidFill>
                  <a:srgbClr val="095292"/>
                </a:solidFill>
                <a:latin typeface="Calibri"/>
              </a:rPr>
              <a:t>google docs</a:t>
            </a:r>
          </a:p>
          <a:p>
            <a:pPr algn="ctr">
              <a:spcBef>
                <a:spcPts val="200"/>
              </a:spcBef>
            </a:pPr>
            <a:r>
              <a:rPr sz="1000" b="0" i="0">
                <a:solidFill>
                  <a:srgbClr val="666666"/>
                </a:solidFill>
                <a:latin typeface="Calibri"/>
              </a:rPr>
              <a:t>Documentos del paquete de diseño</a:t>
            </a:r>
          </a:p>
        </p:txBody>
      </p:sp>
      <p:sp>
        <p:nvSpPr>
          <p:cNvPr id="16" name="Rounded Rectangle 15"/>
          <p:cNvSpPr/>
          <p:nvPr/>
        </p:nvSpPr>
        <p:spPr>
          <a:xfrm>
            <a:off x="8109508" y="1591056"/>
            <a:ext cx="3624986" cy="233172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09508"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09508"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examlab.png"/>
          <p:cNvPicPr>
            <a:picLocks noChangeAspect="1"/>
          </p:cNvPicPr>
          <p:nvPr/>
        </p:nvPicPr>
        <p:blipFill>
          <a:blip r:embed="rId4"/>
          <a:stretch>
            <a:fillRect/>
          </a:stretch>
        </p:blipFill>
        <p:spPr>
          <a:xfrm>
            <a:off x="9295638" y="1847087"/>
            <a:ext cx="1252728" cy="1252728"/>
          </a:xfrm>
          <a:prstGeom prst="rect">
            <a:avLst/>
          </a:prstGeom>
        </p:spPr>
      </p:pic>
      <p:sp>
        <p:nvSpPr>
          <p:cNvPr id="20" name="TextBox 19"/>
          <p:cNvSpPr txBox="1"/>
          <p:nvPr/>
        </p:nvSpPr>
        <p:spPr>
          <a:xfrm>
            <a:off x="8182660" y="3191256"/>
            <a:ext cx="3478682" cy="621792"/>
          </a:xfrm>
          <a:prstGeom prst="rect">
            <a:avLst/>
          </a:prstGeom>
          <a:noFill/>
        </p:spPr>
        <p:txBody>
          <a:bodyPr wrap="square" anchor="t"/>
          <a:lstStyle/>
          <a:p>
            <a:pPr algn="ctr"/>
            <a:r>
              <a:rPr sz="1300" b="1" i="0">
                <a:solidFill>
                  <a:srgbClr val="095292"/>
                </a:solidFill>
                <a:latin typeface="Calibri"/>
              </a:rPr>
              <a:t>la plataforma del curso</a:t>
            </a:r>
          </a:p>
          <a:p>
            <a:pPr algn="ctr">
              <a:spcBef>
                <a:spcPts val="200"/>
              </a:spcBef>
            </a:pPr>
            <a:r>
              <a:rPr sz="1000" b="0" i="0">
                <a:solidFill>
                  <a:srgbClr val="666666"/>
                </a:solidFill>
                <a:latin typeface="Calibri"/>
              </a:rPr>
              <a:t>Entrega del taller · en la fecha que indique el docente</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por que importa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Por que importa al PI:</a:t>
            </a:r>
            <a:r>
              <a:rPr sz="2000" b="0" i="0">
                <a:solidFill>
                  <a:srgbClr val="333333"/>
                </a:solidFill>
                <a:latin typeface="Calibri"/>
              </a:rPr>
              <a:t> el backlog es la version ejecutable del catalogo de requisitos; es la lista con la que se decide que se disena primero y, en Programacion II, que se codifica primero.</a:t>
            </a:r>
          </a:p>
          <a:p>
            <a:pPr>
              <a:spcAft>
                <a:spcPts val="800"/>
              </a:spcAft>
            </a:pPr>
            <a:r>
              <a:rPr sz="2000" b="0" i="0">
                <a:solidFill>
                  <a:srgbClr val="333333"/>
                </a:solidFill>
                <a:latin typeface="Calibri"/>
              </a:rPr>
              <a:t>–   Los criterios de aceptacion que escriba hoy se vuelven literalmente el guion de revision del prototipo navegable y de las pruebas del sistema.</a:t>
            </a:r>
          </a:p>
          <a:p>
            <a:pPr>
              <a:spcAft>
                <a:spcPts val="800"/>
              </a:spcAft>
            </a:pPr>
            <a:r>
              <a:rPr sz="2000" b="0" i="0">
                <a:solidFill>
                  <a:srgbClr val="333333"/>
                </a:solidFill>
                <a:latin typeface="Calibri"/>
              </a:rPr>
              <a:t>–   Una historia sin beneficio claro es una funcionalidad que nadie va a extranar si no se hace: aqui es donde se justifica cada pantalla de VetCare.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punto de partida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Ya existe el catalogo de requisitos de VetCare con RF, RNF, prioridades MoSCoW y matriz de trazabilidad aprobados en la clase anterior.</a:t>
            </a:r>
          </a:p>
          <a:p>
            <a:pPr>
              <a:spcAft>
                <a:spcPts val="800"/>
              </a:spcAft>
            </a:pPr>
            <a:r>
              <a:rPr sz="2000" b="0" i="0">
                <a:solidFill>
                  <a:srgbClr val="333333"/>
                </a:solidFill>
                <a:latin typeface="Calibri"/>
              </a:rPr>
              <a:t>–   Ese catalogo esta escrito en lenguaje formal de analista y todavia no permite decidir por donde arrancar ni cuanto pesa cada pieza.</a:t>
            </a:r>
          </a:p>
          <a:p>
            <a:pPr>
              <a:spcAft>
                <a:spcPts val="800"/>
              </a:spcAft>
            </a:pPr>
            <a:r>
              <a:rPr sz="2000" b="0" i="0">
                <a:solidFill>
                  <a:srgbClr val="333333"/>
                </a:solidFill>
                <a:latin typeface="Calibri"/>
              </a:rPr>
              <a:t>–   El equipo del Proyecto Integrador necesita una lista ordenada de trabajo para poder repartirse las siguientes semanas entre diseno y construccion.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pasos guiados</a:t>
            </a:r>
          </a:p>
        </p:txBody>
      </p:sp>
      <p:sp>
        <p:nvSpPr>
          <p:cNvPr id="5" name="Rounded Rectangle 4"/>
          <p:cNvSpPr/>
          <p:nvPr/>
        </p:nvSpPr>
        <p:spPr>
          <a:xfrm>
            <a:off x="457200" y="1234440"/>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94360" y="149047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490472"/>
            <a:ext cx="438912" cy="438912"/>
          </a:xfrm>
          <a:prstGeom prst="rect">
            <a:avLst/>
          </a:prstGeom>
          <a:noFill/>
        </p:spPr>
        <p:txBody>
          <a:bodyPr wrap="square" anchor="ctr"/>
          <a:lstStyle/>
          <a:p>
            <a:pPr algn="ctr"/>
            <a:r>
              <a:rPr sz="1600" b="1" i="0">
                <a:solidFill>
                  <a:srgbClr val="FFFFFF"/>
                </a:solidFill>
                <a:latin typeface="Calibri"/>
              </a:rPr>
              <a:t>1</a:t>
            </a:r>
          </a:p>
        </p:txBody>
      </p:sp>
      <p:sp>
        <p:nvSpPr>
          <p:cNvPr id="8" name="TextBox 7"/>
          <p:cNvSpPr txBox="1"/>
          <p:nvPr/>
        </p:nvSpPr>
        <p:spPr>
          <a:xfrm>
            <a:off x="1188720" y="1325880"/>
            <a:ext cx="10271455" cy="786384"/>
          </a:xfrm>
          <a:prstGeom prst="rect">
            <a:avLst/>
          </a:prstGeom>
          <a:noFill/>
        </p:spPr>
        <p:txBody>
          <a:bodyPr wrap="square" anchor="ctr"/>
          <a:lstStyle/>
          <a:p>
            <a:r>
              <a:rPr sz="1500" b="1" i="0">
                <a:solidFill>
                  <a:srgbClr val="095292"/>
                </a:solidFill>
                <a:latin typeface="Calibri"/>
              </a:rPr>
              <a:t>Paso 1: agrupe los RF del catalogo de la clase 6 en dos epicas de VetCare (por ejemplo Gestion de pacientes e Historial y agenda) y escriba el nombre y el objetivo de cada epica en una linea.</a:t>
            </a:r>
          </a:p>
        </p:txBody>
      </p:sp>
      <p:sp>
        <p:nvSpPr>
          <p:cNvPr id="9" name="Rounded Rectangle 8"/>
          <p:cNvSpPr/>
          <p:nvPr/>
        </p:nvSpPr>
        <p:spPr>
          <a:xfrm>
            <a:off x="457200" y="2276856"/>
            <a:ext cx="11277295" cy="95097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94360" y="2532888"/>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2532888"/>
            <a:ext cx="438912" cy="438912"/>
          </a:xfrm>
          <a:prstGeom prst="rect">
            <a:avLst/>
          </a:prstGeom>
          <a:noFill/>
        </p:spPr>
        <p:txBody>
          <a:bodyPr wrap="square" anchor="ctr"/>
          <a:lstStyle/>
          <a:p>
            <a:pPr algn="ctr"/>
            <a:r>
              <a:rPr sz="1600" b="1" i="0">
                <a:solidFill>
                  <a:srgbClr val="FFFFFF"/>
                </a:solidFill>
                <a:latin typeface="Calibri"/>
              </a:rPr>
              <a:t>2</a:t>
            </a:r>
          </a:p>
        </p:txBody>
      </p:sp>
      <p:sp>
        <p:nvSpPr>
          <p:cNvPr id="12" name="TextBox 11"/>
          <p:cNvSpPr txBox="1"/>
          <p:nvPr/>
        </p:nvSpPr>
        <p:spPr>
          <a:xfrm>
            <a:off x="1188720" y="2368296"/>
            <a:ext cx="10271455" cy="786384"/>
          </a:xfrm>
          <a:prstGeom prst="rect">
            <a:avLst/>
          </a:prstGeom>
          <a:noFill/>
        </p:spPr>
        <p:txBody>
          <a:bodyPr wrap="square" anchor="ctr"/>
          <a:lstStyle/>
          <a:p>
            <a:r>
              <a:rPr sz="1500" b="1" i="0">
                <a:solidFill>
                  <a:srgbClr val="095292"/>
                </a:solidFill>
                <a:latin typeface="Calibri"/>
              </a:rPr>
              <a:t>Paso 2: descomponga las dos epicas en 8 historias con el formato Como &lt;rol de la clinica Huellitas&gt; quiero &lt;accion&gt; para &lt;beneficio&gt;, usando roles concretos (auxiliar, veterinario, administrador) y nunca la palabra usuario.</a:t>
            </a:r>
          </a:p>
        </p:txBody>
      </p:sp>
      <p:sp>
        <p:nvSpPr>
          <p:cNvPr id="13" name="Rounded Rectangle 12"/>
          <p:cNvSpPr/>
          <p:nvPr/>
        </p:nvSpPr>
        <p:spPr>
          <a:xfrm>
            <a:off x="457200" y="3319272"/>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94360" y="357530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3575304"/>
            <a:ext cx="438912" cy="438912"/>
          </a:xfrm>
          <a:prstGeom prst="rect">
            <a:avLst/>
          </a:prstGeom>
          <a:noFill/>
        </p:spPr>
        <p:txBody>
          <a:bodyPr wrap="square" anchor="ctr"/>
          <a:lstStyle/>
          <a:p>
            <a:pPr algn="ctr"/>
            <a:r>
              <a:rPr sz="1600" b="1" i="0">
                <a:solidFill>
                  <a:srgbClr val="FFFFFF"/>
                </a:solidFill>
                <a:latin typeface="Calibri"/>
              </a:rPr>
              <a:t>3</a:t>
            </a:r>
          </a:p>
        </p:txBody>
      </p:sp>
      <p:sp>
        <p:nvSpPr>
          <p:cNvPr id="16" name="TextBox 15"/>
          <p:cNvSpPr txBox="1"/>
          <p:nvPr/>
        </p:nvSpPr>
        <p:spPr>
          <a:xfrm>
            <a:off x="1188720" y="3410712"/>
            <a:ext cx="10271455" cy="786384"/>
          </a:xfrm>
          <a:prstGeom prst="rect">
            <a:avLst/>
          </a:prstGeom>
          <a:noFill/>
        </p:spPr>
        <p:txBody>
          <a:bodyPr wrap="square" anchor="ctr"/>
          <a:lstStyle/>
          <a:p>
            <a:r>
              <a:rPr sz="1500" b="1" i="0">
                <a:solidFill>
                  <a:srgbClr val="095292"/>
                </a:solidFill>
                <a:latin typeface="Calibri"/>
              </a:rPr>
              <a:t>Paso 3: escriba 2 o 3 criterios de aceptacion por historia en Dado-Cuando-Entonces, e incluya obligatoriamente un criterio de camino alterno o de error en al menos cuatro de las ocho historias.</a:t>
            </a:r>
          </a:p>
        </p:txBody>
      </p:sp>
      <p:sp>
        <p:nvSpPr>
          <p:cNvPr id="17" name="Rounded Rectangle 16"/>
          <p:cNvSpPr/>
          <p:nvPr/>
        </p:nvSpPr>
        <p:spPr>
          <a:xfrm>
            <a:off x="457200" y="4361688"/>
            <a:ext cx="11277295" cy="95097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94360" y="461772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461772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0" name="TextBox 19"/>
          <p:cNvSpPr txBox="1"/>
          <p:nvPr/>
        </p:nvSpPr>
        <p:spPr>
          <a:xfrm>
            <a:off x="1188720" y="4453128"/>
            <a:ext cx="10271455" cy="786384"/>
          </a:xfrm>
          <a:prstGeom prst="rect">
            <a:avLst/>
          </a:prstGeom>
          <a:noFill/>
        </p:spPr>
        <p:txBody>
          <a:bodyPr wrap="square" anchor="ctr"/>
          <a:lstStyle/>
          <a:p>
            <a:r>
              <a:rPr sz="1500" b="1" i="0">
                <a:solidFill>
                  <a:srgbClr val="095292"/>
                </a:solidFill>
                <a:latin typeface="Calibri"/>
              </a:rPr>
              <a:t>Paso 4: revise cada historia contra INVEST marcando las seis letras con si o no; toda historia que falle dos o mas letras debe reescribirse o partirse antes de continuar.</a:t>
            </a:r>
          </a:p>
        </p:txBody>
      </p:sp>
      <p:sp>
        <p:nvSpPr>
          <p:cNvPr id="21" name="Rounded Rectangle 20"/>
          <p:cNvSpPr/>
          <p:nvPr/>
        </p:nvSpPr>
        <p:spPr>
          <a:xfrm>
            <a:off x="457200" y="5404104"/>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94360" y="566013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4360" y="5660136"/>
            <a:ext cx="438912" cy="438912"/>
          </a:xfrm>
          <a:prstGeom prst="rect">
            <a:avLst/>
          </a:prstGeom>
          <a:noFill/>
        </p:spPr>
        <p:txBody>
          <a:bodyPr wrap="square" anchor="ctr"/>
          <a:lstStyle/>
          <a:p>
            <a:pPr algn="ctr"/>
            <a:r>
              <a:rPr sz="1600" b="1" i="0">
                <a:solidFill>
                  <a:srgbClr val="FFFFFF"/>
                </a:solidFill>
                <a:latin typeface="Calibri"/>
              </a:rPr>
              <a:t>5</a:t>
            </a:r>
          </a:p>
        </p:txBody>
      </p:sp>
      <p:sp>
        <p:nvSpPr>
          <p:cNvPr id="24" name="TextBox 23"/>
          <p:cNvSpPr txBox="1"/>
          <p:nvPr/>
        </p:nvSpPr>
        <p:spPr>
          <a:xfrm>
            <a:off x="1188720" y="5495544"/>
            <a:ext cx="10271455" cy="786384"/>
          </a:xfrm>
          <a:prstGeom prst="rect">
            <a:avLst/>
          </a:prstGeom>
          <a:noFill/>
        </p:spPr>
        <p:txBody>
          <a:bodyPr wrap="square" anchor="ctr"/>
          <a:lstStyle/>
          <a:p>
            <a:r>
              <a:rPr sz="1500" b="1" i="0">
                <a:solidFill>
                  <a:srgbClr val="095292"/>
                </a:solidFill>
                <a:latin typeface="Calibri"/>
              </a:rPr>
              <a:t>Paso 5: estime en puntos con la escala 1, 2, 3, 5, 8 tomando 'registrar un dueno = 3' como referencia, ordene el backlog de mayor a menor prioridad, agregue la columna de trazabilidad al RF de origen y suba el tablero a la plataforma del curso.</a:t>
            </a:r>
          </a:p>
        </p:txBody>
      </p:sp>
      <p:sp>
        <p:nvSpPr>
          <p:cNvPr id="25" name="TextBox 2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Antes de entregar — autochequeo</a:t>
            </a:r>
          </a:p>
        </p:txBody>
      </p:sp>
      <p:sp>
        <p:nvSpPr>
          <p:cNvPr id="5" name="Rounded Rectangle 4"/>
          <p:cNvSpPr/>
          <p:nvPr/>
        </p:nvSpPr>
        <p:spPr>
          <a:xfrm>
            <a:off x="457200" y="1261872"/>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08175"/>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408175"/>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353312"/>
            <a:ext cx="10362895" cy="402336"/>
          </a:xfrm>
          <a:prstGeom prst="rect">
            <a:avLst/>
          </a:prstGeom>
          <a:noFill/>
        </p:spPr>
        <p:txBody>
          <a:bodyPr wrap="square" anchor="ctr"/>
          <a:lstStyle/>
          <a:p>
            <a:r>
              <a:rPr sz="1500" b="0" i="0">
                <a:solidFill>
                  <a:srgbClr val="333333"/>
                </a:solidFill>
                <a:latin typeface="Calibri"/>
              </a:rPr>
              <a:t>Si le leo esta historia al Dr. Ramirez sin explicarle nada, entiende quien gana algo y que gana, o solo entiende que hay una pantalla nueva?</a:t>
            </a:r>
          </a:p>
        </p:txBody>
      </p:sp>
      <p:sp>
        <p:nvSpPr>
          <p:cNvPr id="9" name="Rounded Rectangle 8"/>
          <p:cNvSpPr/>
          <p:nvPr/>
        </p:nvSpPr>
        <p:spPr>
          <a:xfrm>
            <a:off x="457200" y="1938528"/>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2084832"/>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084832"/>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2029968"/>
            <a:ext cx="10362895" cy="402336"/>
          </a:xfrm>
          <a:prstGeom prst="rect">
            <a:avLst/>
          </a:prstGeom>
          <a:noFill/>
        </p:spPr>
        <p:txBody>
          <a:bodyPr wrap="square" anchor="ctr"/>
          <a:lstStyle/>
          <a:p>
            <a:r>
              <a:rPr sz="1500" b="0" i="0">
                <a:solidFill>
                  <a:srgbClr val="333333"/>
                </a:solidFill>
                <a:latin typeface="Calibri"/>
              </a:rPr>
              <a:t>El 'para' de mi historia esta repitiendo la accion con otras palabras, o dice de verdad el beneficio para la clinica?</a:t>
            </a:r>
          </a:p>
        </p:txBody>
      </p:sp>
      <p:sp>
        <p:nvSpPr>
          <p:cNvPr id="13" name="Rounded Rectangle 12"/>
          <p:cNvSpPr/>
          <p:nvPr/>
        </p:nvSpPr>
        <p:spPr>
          <a:xfrm>
            <a:off x="457200" y="2615184"/>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2761488"/>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2761488"/>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2706624"/>
            <a:ext cx="10362895" cy="402336"/>
          </a:xfrm>
          <a:prstGeom prst="rect">
            <a:avLst/>
          </a:prstGeom>
          <a:noFill/>
        </p:spPr>
        <p:txBody>
          <a:bodyPr wrap="square" anchor="ctr"/>
          <a:lstStyle/>
          <a:p>
            <a:r>
              <a:rPr sz="1500" b="0" i="0">
                <a:solidFill>
                  <a:srgbClr val="333333"/>
                </a:solidFill>
                <a:latin typeface="Calibri"/>
              </a:rPr>
              <a:t>Si esta historia se entregara sola, sin ninguna otra, el usuario podria hacer algo completo de principio a fin?</a:t>
            </a:r>
          </a:p>
        </p:txBody>
      </p:sp>
      <p:sp>
        <p:nvSpPr>
          <p:cNvPr id="17" name="TextBox 1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Criterios de exito / entregable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Entregable:</a:t>
            </a:r>
            <a:r>
              <a:rPr sz="2000" b="0" i="0">
                <a:solidFill>
                  <a:srgbClr val="333333"/>
                </a:solidFill>
                <a:latin typeface="Calibri"/>
              </a:rPr>
              <a:t> Tablero de backlog con 8 historias en formato Como/quiero/para, cada una con 2 o 3 criterios de aceptacion en Dado-Cuando-Entonces, estimacion en puntos y trazabilidad al RF de la clase 6, subido a la plataforma del curso.</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Las 8 historias usan roles concretos de la clinica Huellitas y ninguna emplea el rol generico usuario.</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Cada historia tiene minimo 2 criterios de aceptacion en Dado-Cuando-Entonces y al menos cuatro incluyen un camino alterno o de error.</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Todas las historias pasan INVEST con al menos cinco de las seis letras en si, y ninguna esta cortada por capas tecnicas.</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Cada historia trae estimacion en puntos, prioridad y el RF de origen; ninguna historia supera los 8 puntos sin partirse.</a:t>
            </a:r>
          </a:p>
          <a:p>
            <a:pPr>
              <a:spcAft>
                <a:spcPts val="800"/>
              </a:spcAft>
            </a:pPr>
            <a:r>
              <a:rPr sz="2000" b="0" i="0">
                <a:solidFill>
                  <a:srgbClr val="333333"/>
                </a:solidFill>
                <a:latin typeface="Calibri"/>
              </a:rPr>
              <a:t>–   </a:t>
            </a:r>
            <a:r>
              <a:rPr sz="2000" b="1" i="0">
                <a:solidFill>
                  <a:srgbClr val="333333"/>
                </a:solidFill>
                <a:latin typeface="Calibri"/>
              </a:rPr>
              <a:t>Entrega en la plataforma del curso</a:t>
            </a:r>
            <a:r>
              <a:rPr sz="2000" b="0" i="0">
                <a:solidFill>
                  <a:srgbClr val="333333"/>
                </a:solidFill>
                <a:latin typeface="Calibri"/>
              </a:rPr>
              <a:t> — en la fecha que indique el docente.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el PI esta semana</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0" i="0">
                <a:solidFill>
                  <a:srgbClr val="333333"/>
                </a:solidFill>
                <a:latin typeface="Calibri"/>
              </a:rPr>
              <a:t>Hito: Queda listo el backlog inicial de VetCare: dos epicas descompuestas en ocho historias priorizadas, con criterios de aceptacion y talla en puntos.</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0" i="0">
                <a:solidFill>
                  <a:srgbClr val="333333"/>
                </a:solidFill>
                <a:latin typeface="Calibri"/>
              </a:rPr>
              <a:t>Enunciado completo: Clases/Proyecto Integrador/ (VetCare).</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0" i="0">
                <a:solidFill>
                  <a:srgbClr val="333333"/>
                </a:solidFill>
                <a:latin typeface="Calibri"/>
              </a:rPr>
              <a:t>Entrega del taller, si el docente lo asigna · en la fecha que indique el docente.</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7 · VetCare avanza</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Queda listo el backlog inicial de VetCare: dos epicas descompuestas en ocho historias priorizadas, con criterios de aceptacion y talla en puntos.</a:t>
            </a:r>
          </a:p>
          <a:p>
            <a:pPr algn="ctr">
              <a:spcAft>
                <a:spcPts val="600"/>
              </a:spcAft>
            </a:pPr>
            <a:r>
              <a:rPr sz="1600" b="0" i="0">
                <a:solidFill>
                  <a:srgbClr val="333333"/>
                </a:solidFill>
                <a:latin typeface="Calibri"/>
              </a:rPr>
              <a:t>Entregable: Tablero de backlog con 8 historias en formato Como/quiero/para, cada una con 2 o 3 criterios de aceptacion en Dado-Cuando-Entonces, estimacion en puntos y trazabilidad al RF de la clase 6, subido a la plataforma del curso.</a:t>
            </a:r>
          </a:p>
          <a:p>
            <a:pPr algn="ctr">
              <a:spcAft>
                <a:spcPts val="600"/>
              </a:spcAft>
            </a:pPr>
            <a:r>
              <a:rPr sz="1600" b="0" i="0">
                <a:solidFill>
                  <a:srgbClr val="333333"/>
                </a:solidFill>
                <a:latin typeface="Calibri"/>
              </a:rPr>
              <a:t>Siguiente clase: continuamos el hilo del PI</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