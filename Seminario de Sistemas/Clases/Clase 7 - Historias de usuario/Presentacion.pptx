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Conversation, la charla que aclara los detalles; y Confirmation, los criterios de aceptacion.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Dado que selecciono la mascota Rocky, cuando abro su historial, entonces veo sus atenciones de la mas reciente a la mas antigua</a:t>
            </a:r>
          </a:p>
          <a:p/>
          <a:p>
            <a:r>
              <a:t>Dado un documento que no existe, cuando busco, entonces el sistema muestra un mensaje claro y ofrece crear el dueno.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nombre de la epica se conserva como etiqueta en cada historia para no perder el hilo.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dos o tres iteraciones se conoce la velocidad del equipo y recien ahi se puede prometer fechas.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7</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Historias de usuario</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El requisito contado por quien lo necesita y con criterios que se pueden cobrar</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a:t>
            </a:r>
            <a:r>
              <a:rPr sz="2000" b="0" i="0">
                <a:solidFill>
                  <a:srgbClr val="333333"/>
                </a:solidFill>
                <a:latin typeface="Calibri"/>
              </a:rPr>
              <a:t> Historias de usuario</a:t>
            </a:r>
          </a:p>
          <a:p>
            <a:pPr>
              <a:spcAft>
                <a:spcPts val="800"/>
              </a:spcAft>
            </a:pPr>
            <a:r>
              <a:rPr sz="2000" b="0" i="0">
                <a:solidFill>
                  <a:srgbClr val="333333"/>
                </a:solidFill>
                <a:latin typeface="Calibri"/>
              </a:rPr>
              <a:t>–   El requisito contado por quien lo necesita y con criterios que se pueden cobrar</a:t>
            </a:r>
          </a:p>
          <a:p>
            <a:pPr>
              <a:spcAft>
                <a:spcPts val="800"/>
              </a:spcAft>
            </a:pPr>
            <a:r>
              <a:rPr sz="2000" b="0" i="0">
                <a:solidFill>
                  <a:srgbClr val="333333"/>
                </a:solidFill>
                <a:latin typeface="Calibri"/>
              </a:rPr>
              <a:t>–   Herramienta del tema: </a:t>
            </a:r>
            <a:r>
              <a:rPr sz="2000" b="1" i="0">
                <a:solidFill>
                  <a:srgbClr val="333333"/>
                </a:solidFill>
                <a:latin typeface="Calibri"/>
              </a:rPr>
              <a:t>Google Docs · Excalidraw</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Ejemplo de toda la clase: el sistema de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la clinica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(opcional, guia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Sintesis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Una historia de usuario no es un requisito abreviado ni una moda de las...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Una historia de usuario no es un requisito abreviado ni una moda de las metodologias agiles: es el recordatorio corto de una conversacion pendiente entre quien necesita el sistema y quien lo va a construir.</a:t>
            </a:r>
          </a:p>
          <a:p>
            <a:pPr>
              <a:spcAft>
                <a:spcPts val="800"/>
              </a:spcAft>
            </a:pPr>
            <a:r>
              <a:rPr sz="2000" b="0" i="0">
                <a:solidFill>
                  <a:srgbClr val="333333"/>
                </a:solidFill>
                <a:latin typeface="Calibri"/>
              </a:rPr>
              <a:t>–   Su formato canonico tiene tres partes: Como &lt;rol&gt; quiero &lt;accion&gt; para &lt;beneficio&gt;.</a:t>
            </a:r>
          </a:p>
          <a:p>
            <a:pPr>
              <a:spcAft>
                <a:spcPts val="800"/>
              </a:spcAft>
            </a:pPr>
            <a:r>
              <a:rPr sz="2000" b="0" i="0">
                <a:solidFill>
                  <a:srgbClr val="333333"/>
                </a:solidFill>
                <a:latin typeface="Calibri"/>
              </a:rPr>
              <a:t>–   El rol obliga a nombrar a alguien concreto (la auxiliar Marcela, el veterinario de turno, el dueno de la mascota) y no al generico usuario</a:t>
            </a:r>
          </a:p>
          <a:p>
            <a:pPr>
              <a:spcAft>
                <a:spcPts val="800"/>
              </a:spcAft>
            </a:pPr>
            <a:r>
              <a:rPr sz="2000" b="0" i="0">
                <a:solidFill>
                  <a:srgbClr val="333333"/>
                </a:solidFill>
                <a:latin typeface="Calibri"/>
              </a:rPr>
              <a:t>–   Que no existe en ninguna clinica del mundo; la accion describe algo que esa persona hace, no algo que hace la base de datos por dentro; y el para es la parte que casi todo el mundo borra por afan y es la mas valiosa</a:t>
            </a:r>
          </a:p>
          <a:p>
            <a:pPr>
              <a:spcAft>
                <a:spcPts val="800"/>
              </a:spcAft>
            </a:pPr>
            <a:r>
              <a:rPr sz="2000" b="0" i="0">
                <a:solidFill>
                  <a:srgbClr val="333333"/>
                </a:solidFill>
                <a:latin typeface="Calibri"/>
              </a:rPr>
              <a:t>–   Porque es la unica que explica por que vale la pena gastar tiempo y plata en eso.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Una historia de usuario no es un requisito abreviado ni una moda de las...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En la clinica, Como auxiliar quiero buscar la ficha de una mascota por el documento del dueno para no revolver la carpeta fisica mientras el paciente espera en el meson se entiende sin traduccion</a:t>
            </a:r>
          </a:p>
          <a:p>
            <a:pPr>
              <a:spcAft>
                <a:spcPts val="800"/>
              </a:spcAft>
            </a:pPr>
            <a:r>
              <a:rPr sz="2000" b="0" i="0">
                <a:solidFill>
                  <a:srgbClr val="333333"/>
                </a:solidFill>
                <a:latin typeface="Calibri"/>
              </a:rPr>
              <a:t>–   En cambio El sistema debe tener un buscador no dice a quien le sirve ni que dolor cura.</a:t>
            </a:r>
          </a:p>
          <a:p>
            <a:pPr>
              <a:spcAft>
                <a:spcPts val="800"/>
              </a:spcAft>
            </a:pPr>
            <a:r>
              <a:rPr sz="2000" b="0" i="0">
                <a:solidFill>
                  <a:srgbClr val="333333"/>
                </a:solidFill>
                <a:latin typeface="Calibri"/>
              </a:rPr>
              <a:t>–   Ron Jeffries lo resumio en tres C: Card, la tarjeta corta</a:t>
            </a:r>
          </a:p>
          <a:p>
            <a:pPr>
              <a:spcAft>
                <a:spcPts val="800"/>
              </a:spcAft>
            </a:pPr>
            <a:r>
              <a:rPr sz="2000" b="0" i="0">
                <a:solidFill>
                  <a:srgbClr val="333333"/>
                </a:solidFill>
                <a:latin typeface="Calibri"/>
              </a:rPr>
              <a:t>–   La tarjeta sin conversacion es un titulo huerfano, y la conversacion sin criterios es un acuerdo que nadie puede cobrar.</a:t>
            </a:r>
          </a:p>
          <a:p>
            <a:pPr>
              <a:spcAft>
                <a:spcPts val="800"/>
              </a:spcAft>
            </a:pPr>
            <a:r>
              <a:rPr sz="2000" b="0" i="0">
                <a:solidFill>
                  <a:srgbClr val="333333"/>
                </a:solidFill>
                <a:latin typeface="Calibri"/>
              </a:rPr>
              <a:t>–   Frente al requisito tradicional de la clase pasada, la historia no lo reemplaza: el requisito es el contrato formal y la historia es la unidad de trabajo con la que se planea la entrega.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criterios de aceptacion son la parte que convierte una historia...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Los criterios de aceptacion son la parte que convierte una historia bonita en una historia verificable, y se escriben en el patron Dado &lt;contexto inicial&gt; Cuando &lt;accion del usuario&gt; Entonces &lt;resultado observable&gt;.</a:t>
            </a:r>
          </a:p>
          <a:p>
            <a:pPr>
              <a:spcAft>
                <a:spcPts val="800"/>
              </a:spcAft>
            </a:pPr>
            <a:r>
              <a:rPr sz="2000" b="0" i="0">
                <a:solidFill>
                  <a:srgbClr val="333333"/>
                </a:solidFill>
                <a:latin typeface="Calibri"/>
              </a:rPr>
              <a:t>–   Cada criterio debe poder responderse con un si o un no mirando la pantalla, nunca con un depende.</a:t>
            </a:r>
          </a:p>
          <a:p>
            <a:pPr>
              <a:spcAft>
                <a:spcPts val="800"/>
              </a:spcAft>
            </a:pPr>
            <a:r>
              <a:rPr sz="2000" b="0" i="0">
                <a:solidFill>
                  <a:srgbClr val="333333"/>
                </a:solidFill>
                <a:latin typeface="Calibri"/>
              </a:rPr>
              <a:t>–   Para la historia de buscar el historial en la clinica los criterios serian: Dado un dueno con tres mascotas registradas, cuando busco por su documento, entonces el sistema lista las tres mascotas con nombre y especie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criterios de aceptacion son la parte que convierte una historia...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Fijense que el tercer criterio es el que casi siempre falta: el camino alterno, el caso feo, el error.</a:t>
            </a:r>
          </a:p>
          <a:p>
            <a:pPr>
              <a:spcAft>
                <a:spcPts val="800"/>
              </a:spcAft>
            </a:pPr>
            <a:r>
              <a:rPr sz="2000" b="0" i="0">
                <a:solidFill>
                  <a:srgbClr val="333333"/>
                </a:solidFill>
                <a:latin typeface="Calibri"/>
              </a:rPr>
              <a:t>–   Una historia con solo criterios felices es una historia a medio pensar.</a:t>
            </a:r>
          </a:p>
          <a:p>
            <a:pPr>
              <a:spcAft>
                <a:spcPts val="800"/>
              </a:spcAft>
            </a:pPr>
            <a:r>
              <a:rPr sz="2000" b="0" i="0">
                <a:solidFill>
                  <a:srgbClr val="333333"/>
                </a:solidFill>
                <a:latin typeface="Calibri"/>
              </a:rPr>
              <a:t>–   Ademas, los criterios de aceptacion son el puente directo con el prototipo navegable y con las pruebas que hara el companero de Programacion II, porque son literalmente el guion de lo que se va a revisar.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INVEST es la lista de chequeo para saber si una historia esta bien...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INVEST es la lista de chequeo para saber si una historia esta bien cortada, y conviene revisarla letra por letra con el caso de la clinica en la mano.</a:t>
            </a:r>
          </a:p>
          <a:p>
            <a:pPr>
              <a:spcAft>
                <a:spcPts val="800"/>
              </a:spcAft>
            </a:pPr>
            <a:r>
              <a:rPr sz="2000" b="0" i="0">
                <a:solidFill>
                  <a:srgbClr val="333333"/>
                </a:solidFill>
                <a:latin typeface="Calibri"/>
              </a:rPr>
              <a:t>–   Independiente: se puede hacer sin esperar a otra; si la historia de agendar cita necesita obligatoriamente que exista la de registrar mascota, hay dependencia y toca ordenarlas.</a:t>
            </a:r>
          </a:p>
          <a:p>
            <a:pPr>
              <a:spcAft>
                <a:spcPts val="800"/>
              </a:spcAft>
            </a:pPr>
            <a:r>
              <a:rPr sz="2000" b="0" i="0">
                <a:solidFill>
                  <a:srgbClr val="333333"/>
                </a:solidFill>
                <a:latin typeface="Calibri"/>
              </a:rPr>
              <a:t>–   Negociable: la historia describe la necesidad, no la solucion tecnica; decir quiero un combo desplegable con autocompletar en JavaScript ya no es historia, es diseno impuesto.</a:t>
            </a:r>
          </a:p>
          <a:p>
            <a:pPr>
              <a:spcAft>
                <a:spcPts val="800"/>
              </a:spcAft>
            </a:pPr>
            <a:r>
              <a:rPr sz="2000" b="0" i="0">
                <a:solidFill>
                  <a:srgbClr val="333333"/>
                </a:solidFill>
                <a:latin typeface="Calibri"/>
              </a:rPr>
              <a:t>–   Valiosa: alguien de la clinica gana algo real; si nadie de la clinica nota la diferencia, no es historia sino tarea interna.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INVEST es la lista de chequeo para saber si una historia esta bien...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Estimable: el equipo entiende lo suficiente para tallarla; si nadie sabe cuanto pesa, falta conversacion o hace falta investigar aparte.</a:t>
            </a:r>
          </a:p>
          <a:p>
            <a:pPr>
              <a:spcAft>
                <a:spcPts val="800"/>
              </a:spcAft>
            </a:pPr>
            <a:r>
              <a:rPr sz="2000" b="0" i="0">
                <a:solidFill>
                  <a:srgbClr val="333333"/>
                </a:solidFill>
                <a:latin typeface="Calibri"/>
              </a:rPr>
              <a:t>–   Small o pequena: cabe en una iteracion; si toma tres semanas es una epica disfrazada.</a:t>
            </a:r>
          </a:p>
          <a:p>
            <a:pPr>
              <a:spcAft>
                <a:spcPts val="800"/>
              </a:spcAft>
            </a:pPr>
            <a:r>
              <a:rPr sz="2000" b="0" i="0">
                <a:solidFill>
                  <a:srgbClr val="333333"/>
                </a:solidFill>
                <a:latin typeface="Calibri"/>
              </a:rPr>
              <a:t>–   Testeable: tiene criterios verificables, que es exactamente la misma regla de oro de la clase pasada aplicada en formato agil.</a:t>
            </a:r>
          </a:p>
          <a:p>
            <a:pPr>
              <a:spcAft>
                <a:spcPts val="800"/>
              </a:spcAft>
            </a:pPr>
            <a:r>
              <a:rPr sz="2000" b="0" i="0">
                <a:solidFill>
                  <a:srgbClr val="333333"/>
                </a:solidFill>
                <a:latin typeface="Calibri"/>
              </a:rPr>
              <a:t>–   Una historia que falla dos letras de INVEST no se planea todavia, se vuelve a partir.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Una epica es una historia grande que todavia no cabe en una iteracion...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Una epica es una historia grande que todavia no cabe en una iteracion, y descomponerla es una habilidad que se aprende cortando mal varias veces.</a:t>
            </a:r>
          </a:p>
          <a:p>
            <a:pPr>
              <a:spcAft>
                <a:spcPts val="800"/>
              </a:spcAft>
            </a:pPr>
            <a:r>
              <a:rPr sz="2000" b="0" i="0">
                <a:solidFill>
                  <a:srgbClr val="333333"/>
                </a:solidFill>
                <a:latin typeface="Calibri"/>
              </a:rPr>
              <a:t>–   El corte correcto es vertical, como una rebanada de pastel que trae bizcocho, crema y cubierta: cada historia atraviesa pantalla, logica y datos y deja algo que el usuario puede usar.</a:t>
            </a:r>
          </a:p>
          <a:p>
            <a:pPr>
              <a:spcAft>
                <a:spcPts val="800"/>
              </a:spcAft>
            </a:pPr>
            <a:r>
              <a:rPr sz="2000" b="0" i="0">
                <a:solidFill>
                  <a:srgbClr val="333333"/>
                </a:solidFill>
                <a:latin typeface="Calibri"/>
              </a:rPr>
              <a:t>–   El corte equivocado es horizontal, por capas: una historia para la pantalla, otra para la logica y otra para la base de datos; asi ninguna de las tres sirve sola y el cliente no ve nada hasta que estan las tres.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Una epica es una historia grande que todavia no cabe en una iteracion...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En la clinica la epica Historial clinico se parte en: consultar historial por documento del dueno, registrar una atencion nueva, adjuntar resultados de laboratorio y filtrar el historial por rango de fechas; cada una terminable y demostrable por separado.</a:t>
            </a:r>
          </a:p>
          <a:p>
            <a:pPr>
              <a:spcAft>
                <a:spcPts val="800"/>
              </a:spcAft>
            </a:pPr>
            <a:r>
              <a:rPr sz="2000" b="0" i="0">
                <a:solidFill>
                  <a:srgbClr val="333333"/>
                </a:solidFill>
                <a:latin typeface="Calibri"/>
              </a:rPr>
              <a:t>–   Otros ejes utiles para cortar son por tipo de dato (primero solo perros y gatos, despues otras especies), por regla de negocio (primero sin control de acceso, luego con perfiles) y por camino (primero el flujo feliz, luego los errores).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Estimar en agil no es adivinar horas sino comparar tamanos, y esa es la...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Estimar en agil no es adivinar horas sino comparar tamanos, y esa es la razon de los puntos de historia: son una medida relativa que mezcla esfuerzo, complejidad e incertidumbre.</a:t>
            </a:r>
          </a:p>
          <a:p>
            <a:pPr>
              <a:spcAft>
                <a:spcPts val="800"/>
              </a:spcAft>
            </a:pPr>
            <a:r>
              <a:rPr sz="2000" b="0" i="0">
                <a:solidFill>
                  <a:srgbClr val="333333"/>
                </a:solidFill>
                <a:latin typeface="Calibri"/>
              </a:rPr>
              <a:t>–   Se toma una historia mediana y conocida como referencia (por ejemplo registrar un dueno vale 3 puntos) y todas las demas se comparan contra ella usando una escala tipo Fibonacci 1, 2, 3, 5</a:t>
            </a:r>
          </a:p>
          <a:p>
            <a:pPr>
              <a:spcAft>
                <a:spcPts val="800"/>
              </a:spcAft>
            </a:pPr>
            <a:r>
              <a:rPr sz="2000" b="0" i="0">
                <a:solidFill>
                  <a:srgbClr val="333333"/>
                </a:solidFill>
                <a:latin typeface="Calibri"/>
              </a:rPr>
              <a:t>–   8, 13, donde el salto grande refleja que entre mas grande la historia, menos confiable la estimacion; si algo llega a 13 o mas, la senal no es de dificultad sino de que hay que partirla.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Estimar en agil no es adivinar horas sino comparar tamanos, y esa es la...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tecnica de sala es el planning poker: todos muestran su carta al tiempo y lo importante no es el numero sino la discusion cuando alguien dice 2 y otro dice 8, porque ahi aparece el requisito que unos entendieron y otros no.</a:t>
            </a:r>
          </a:p>
          <a:p>
            <a:pPr>
              <a:spcAft>
                <a:spcPts val="800"/>
              </a:spcAft>
            </a:pPr>
            <a:r>
              <a:rPr sz="2000" b="0" i="0">
                <a:solidFill>
                  <a:srgbClr val="333333"/>
                </a:solidFill>
                <a:latin typeface="Calibri"/>
              </a:rPr>
              <a:t>–   En un proyecto real este backlog es la lista de trabajo que se le entrega al companero de Programacion II para que sepa por donde empezar</a:t>
            </a:r>
          </a:p>
          <a:p>
            <a:pPr>
              <a:spcAft>
                <a:spcPts val="800"/>
              </a:spcAft>
            </a:pPr>
            <a:r>
              <a:rPr sz="2000" b="0" i="0">
                <a:solidFill>
                  <a:srgbClr val="333333"/>
                </a:solidFill>
                <a:latin typeface="Calibri"/>
              </a:rPr>
              <a:t>–   Y quien solo cursa Seminario usa el mismo backlog para ordenar las pantallas de su prototipo navegable, en el mismo orden de prioridad.</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historia y sus criterios en Dado-Cuando-Entonces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371"/>
              </a:spcAft>
            </a:pPr>
            <a:r>
              <a:rPr sz="1300" b="0" i="0">
                <a:solidFill>
                  <a:srgbClr val="FFFFFF"/>
                </a:solidFill>
                <a:latin typeface="Calibri"/>
              </a:rPr>
              <a:t>HU-03  Agendar una cita</a:t>
            </a:r>
          </a:p>
          <a:p>
            <a:pPr>
              <a:spcAft>
                <a:spcPts val="371"/>
              </a:spcAft>
            </a:pPr>
            <a:r>
              <a:rPr sz="1300" b="0" i="0">
                <a:solidFill>
                  <a:srgbClr val="FFFFFF"/>
                </a:solidFill>
                <a:latin typeface="Calibri"/>
              </a:rPr>
              <a:t/>
            </a:r>
          </a:p>
          <a:p>
            <a:pPr>
              <a:spcAft>
                <a:spcPts val="371"/>
              </a:spcAft>
            </a:pPr>
            <a:r>
              <a:rPr sz="1300" b="0" i="0">
                <a:solidFill>
                  <a:srgbClr val="FFFFFF"/>
                </a:solidFill>
                <a:latin typeface="Calibri"/>
              </a:rPr>
              <a:t>Como recepcionista</a:t>
            </a:r>
          </a:p>
          <a:p>
            <a:pPr>
              <a:spcAft>
                <a:spcPts val="371"/>
              </a:spcAft>
            </a:pPr>
            <a:r>
              <a:rPr sz="1300" b="0" i="0">
                <a:solidFill>
                  <a:srgbClr val="FFFFFF"/>
                </a:solidFill>
                <a:latin typeface="Calibri"/>
              </a:rPr>
              <a:t>quiero agendar una cita para una mascota registrada</a:t>
            </a:r>
          </a:p>
          <a:p>
            <a:pPr>
              <a:spcAft>
                <a:spcPts val="371"/>
              </a:spcAft>
            </a:pPr>
            <a:r>
              <a:rPr sz="1300" b="0" i="0">
                <a:solidFill>
                  <a:srgbClr val="FFFFFF"/>
                </a:solidFill>
                <a:latin typeface="Calibri"/>
              </a:rPr>
              <a:t>para que el veterinario tenga su agenda del dia ordenada.</a:t>
            </a:r>
          </a:p>
          <a:p>
            <a:pPr>
              <a:spcAft>
                <a:spcPts val="371"/>
              </a:spcAft>
            </a:pPr>
            <a:r>
              <a:rPr sz="1300" b="0" i="0">
                <a:solidFill>
                  <a:srgbClr val="FFFFFF"/>
                </a:solidFill>
                <a:latin typeface="Calibri"/>
              </a:rPr>
              <a:t/>
            </a:r>
          </a:p>
          <a:p>
            <a:pPr>
              <a:spcAft>
                <a:spcPts val="371"/>
              </a:spcAft>
            </a:pPr>
            <a:r>
              <a:rPr sz="1300" b="0" i="0">
                <a:solidFill>
                  <a:srgbClr val="FFFFFF"/>
                </a:solidFill>
                <a:latin typeface="Calibri"/>
              </a:rPr>
              <a:t>Criterios de aceptacion</a:t>
            </a:r>
          </a:p>
          <a:p>
            <a:pPr>
              <a:spcAft>
                <a:spcPts val="371"/>
              </a:spcAft>
            </a:pPr>
            <a:r>
              <a:rPr sz="1300" b="0" i="0">
                <a:solidFill>
                  <a:srgbClr val="FFFFFF"/>
                </a:solidFill>
                <a:latin typeface="Calibri"/>
              </a:rPr>
              <a:t/>
            </a:r>
          </a:p>
          <a:p>
            <a:pPr>
              <a:spcAft>
                <a:spcPts val="371"/>
              </a:spcAft>
            </a:pPr>
            <a:r>
              <a:rPr sz="1300" b="0" i="0">
                <a:solidFill>
                  <a:srgbClr val="FFFFFF"/>
                </a:solidFill>
                <a:latin typeface="Calibri"/>
              </a:rPr>
              <a:t>CA-1  Dado que la mascota esta activa</a:t>
            </a:r>
          </a:p>
          <a:p>
            <a:pPr>
              <a:spcAft>
                <a:spcPts val="371"/>
              </a:spcAft>
            </a:pPr>
            <a:r>
              <a:rPr sz="1300" b="0" i="0">
                <a:solidFill>
                  <a:srgbClr val="FFFFFF"/>
                </a:solidFill>
                <a:latin typeface="Calibri"/>
              </a:rPr>
              <a:t>      Cuando selecciono fecha y hora libres</a:t>
            </a:r>
          </a:p>
          <a:p>
            <a:pPr>
              <a:spcAft>
                <a:spcPts val="371"/>
              </a:spcAft>
            </a:pPr>
            <a:r>
              <a:rPr sz="1300" b="0" i="0">
                <a:solidFill>
                  <a:srgbClr val="FFFFFF"/>
                </a:solidFill>
                <a:latin typeface="Calibri"/>
              </a:rPr>
              <a:t>      Entonces la cita queda en estado PROGRAMADA</a:t>
            </a:r>
          </a:p>
          <a:p>
            <a:pPr>
              <a:spcAft>
                <a:spcPts val="371"/>
              </a:spcAft>
            </a:pPr>
            <a:r>
              <a:rPr sz="1300" b="0" i="0">
                <a:solidFill>
                  <a:srgbClr val="FFFFFF"/>
                </a:solidFill>
                <a:latin typeface="Calibri"/>
              </a:rPr>
              <a:t/>
            </a:r>
          </a:p>
          <a:p>
            <a:pPr>
              <a:spcAft>
                <a:spcPts val="371"/>
              </a:spcAft>
            </a:pPr>
            <a:r>
              <a:rPr sz="1300" b="0" i="0">
                <a:solidFill>
                  <a:srgbClr val="FFFFFF"/>
                </a:solidFill>
                <a:latin typeface="Calibri"/>
              </a:rPr>
              <a:t>CA-2  Dado que la mascota esta inactiva</a:t>
            </a:r>
          </a:p>
          <a:p>
            <a:pPr>
              <a:spcAft>
                <a:spcPts val="371"/>
              </a:spcAft>
            </a:pPr>
            <a:r>
              <a:rPr sz="1300" b="0" i="0">
                <a:solidFill>
                  <a:srgbClr val="FFFFFF"/>
                </a:solidFill>
                <a:latin typeface="Calibri"/>
              </a:rPr>
              <a:t>      Cuando intento agendar</a:t>
            </a:r>
          </a:p>
          <a:p>
            <a:pPr>
              <a:spcAft>
                <a:spcPts val="371"/>
              </a:spcAft>
            </a:pPr>
            <a:r>
              <a:rPr sz="1300" b="0" i="0">
                <a:solidFill>
                  <a:srgbClr val="FFFFFF"/>
                </a:solidFill>
                <a:latin typeface="Calibri"/>
              </a:rPr>
              <a:t>      Entonces el sistema lo rechaza y explica por que</a:t>
            </a:r>
          </a:p>
          <a:p>
            <a:pPr>
              <a:spcAft>
                <a:spcPts val="371"/>
              </a:spcAft>
            </a:pPr>
            <a:r>
              <a:rPr sz="1300" b="0" i="0">
                <a:solidFill>
                  <a:srgbClr val="FFFFFF"/>
                </a:solidFill>
                <a:latin typeface="Calibri"/>
              </a:rPr>
              <a:t/>
            </a:r>
          </a:p>
          <a:p>
            <a:pPr>
              <a:spcAft>
                <a:spcPts val="371"/>
              </a:spcAft>
            </a:pPr>
            <a:r>
              <a:rPr sz="1300" b="0" i="0">
                <a:solidFill>
                  <a:srgbClr val="FFFFFF"/>
                </a:solidFill>
                <a:latin typeface="Calibri"/>
              </a:rPr>
              <a:t>-- Un criterio sin «Dado» no se puede probar: falta el estado inicial.</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mapa del backlog: epicas, historias y orden</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flowchart TB</a:t>
            </a:r>
          </a:p>
          <a:p>
            <a:pPr>
              <a:spcAft>
                <a:spcPts val="400"/>
              </a:spcAft>
            </a:pPr>
            <a:r>
              <a:rPr sz="1400" b="0" i="0">
                <a:solidFill>
                  <a:srgbClr val="FFFFFF"/>
                </a:solidFill>
                <a:latin typeface="Calibri"/>
              </a:rPr>
              <a:t>  E1[EPICA 1 - Agenda]</a:t>
            </a:r>
          </a:p>
          <a:p>
            <a:pPr>
              <a:spcAft>
                <a:spcPts val="400"/>
              </a:spcAft>
            </a:pPr>
            <a:r>
              <a:rPr sz="1400" b="0" i="0">
                <a:solidFill>
                  <a:srgbClr val="FFFFFF"/>
                </a:solidFill>
                <a:latin typeface="Calibri"/>
              </a:rPr>
              <a:t>  E2[EPICA 2 - Expediente]</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E1 --&gt; H1[HU-01 Registrar dueno&lt;br/&gt;3 pts]</a:t>
            </a:r>
          </a:p>
          <a:p>
            <a:pPr>
              <a:spcAft>
                <a:spcPts val="400"/>
              </a:spcAft>
            </a:pPr>
            <a:r>
              <a:rPr sz="1400" b="0" i="0">
                <a:solidFill>
                  <a:srgbClr val="FFFFFF"/>
                </a:solidFill>
                <a:latin typeface="Calibri"/>
              </a:rPr>
              <a:t>  E1 --&gt; H2[HU-02 Registrar mascota&lt;br/&gt;5 pts]</a:t>
            </a:r>
          </a:p>
          <a:p>
            <a:pPr>
              <a:spcAft>
                <a:spcPts val="400"/>
              </a:spcAft>
            </a:pPr>
            <a:r>
              <a:rPr sz="1400" b="0" i="0">
                <a:solidFill>
                  <a:srgbClr val="FFFFFF"/>
                </a:solidFill>
                <a:latin typeface="Calibri"/>
              </a:rPr>
              <a:t>  E1 --&gt; H3[HU-03 Agendar cita&lt;br/&gt;8 pts]</a:t>
            </a:r>
          </a:p>
          <a:p>
            <a:pPr>
              <a:spcAft>
                <a:spcPts val="400"/>
              </a:spcAft>
            </a:pPr>
            <a:r>
              <a:rPr sz="1400" b="0" i="0">
                <a:solidFill>
                  <a:srgbClr val="FFFFFF"/>
                </a:solidFill>
                <a:latin typeface="Calibri"/>
              </a:rPr>
              <a:t>  E2 --&gt; H4[HU-04 Abrir expediente&lt;br/&gt;5 pts]</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Los puntos son RELATIVOS, no horas: HU-03 es «como HU-02 pero mas»,</a:t>
            </a:r>
          </a:p>
          <a:p>
            <a:pPr>
              <a:spcAft>
                <a:spcPts val="400"/>
              </a:spcAft>
            </a:pPr>
            <a:r>
              <a:rPr sz="1400" b="0" i="0">
                <a:solidFill>
                  <a:srgbClr val="FFFFFF"/>
                </a:solidFill>
                <a:latin typeface="Calibri"/>
              </a:rPr>
              <a:t>%% y esa comparacion es toda la estimacion que se pide hoy.</a:t>
            </a:r>
          </a:p>
          <a:p>
            <a:pPr>
              <a:spcAft>
                <a:spcPts val="400"/>
              </a:spcAft>
            </a:pPr>
            <a:r>
              <a:rPr sz="1400" b="0" i="0">
                <a:solidFill>
                  <a:srgbClr val="FFFFFF"/>
                </a:solidFill>
                <a:latin typeface="Calibri"/>
              </a:rPr>
              <a:t>%% El orden del backlog sale del valor, no del numero de puntos.</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Historia HU-04 con criterios de aceptacion (artefacto proyectable)</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HU-04  [Epica: E-02 Historial y agenda]</a:t>
            </a:r>
          </a:p>
          <a:p>
            <a:pPr>
              <a:spcAft>
                <a:spcPts val="400"/>
              </a:spcAft>
            </a:pPr>
            <a:r>
              <a:rPr sz="1400" b="0" i="0">
                <a:solidFill>
                  <a:srgbClr val="FFFFFF"/>
                </a:solidFill>
                <a:latin typeface="Calibri"/>
              </a:rPr>
              <a:t>Como veterinario de la clinica</a:t>
            </a:r>
          </a:p>
          <a:p>
            <a:pPr>
              <a:spcAft>
                <a:spcPts val="400"/>
              </a:spcAft>
            </a:pPr>
            <a:r>
              <a:rPr sz="1400" b="0" i="0">
                <a:solidFill>
                  <a:srgbClr val="FFFFFF"/>
                </a:solidFill>
                <a:latin typeface="Calibri"/>
              </a:rPr>
              <a:t>quiero consultar el historial de atenciones de una mascota por el documento del dueno</a:t>
            </a:r>
          </a:p>
          <a:p>
            <a:pPr>
              <a:spcAft>
                <a:spcPts val="400"/>
              </a:spcAft>
            </a:pPr>
            <a:r>
              <a:rPr sz="1400" b="0" i="0">
                <a:solidFill>
                  <a:srgbClr val="FFFFFF"/>
                </a:solidFill>
                <a:latin typeface="Calibri"/>
              </a:rPr>
              <a:t>para decidir el tratamiento sin depender de la carpeta fisica.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Criterios de aceptacion</a:t>
            </a:r>
          </a:p>
          <a:p>
            <a:pPr>
              <a:spcAft>
                <a:spcPts val="400"/>
              </a:spcAft>
            </a:pPr>
            <a:r>
              <a:rPr sz="1400" b="0" i="0">
                <a:solidFill>
                  <a:srgbClr val="FFFFFF"/>
                </a:solidFill>
                <a:latin typeface="Calibri"/>
              </a:rPr>
              <a:t>CA-1  Dado un dueno con 3 mascotas registradas, cuando busco por su documento, entonces el sistema lista las 3 mascotas con nombre y especie.</a:t>
            </a:r>
          </a:p>
          <a:p>
            <a:pPr>
              <a:spcAft>
                <a:spcPts val="400"/>
              </a:spcAft>
            </a:pPr>
            <a:r>
              <a:rPr sz="1400" b="0" i="0">
                <a:solidFill>
                  <a:srgbClr val="FFFFFF"/>
                </a:solidFill>
                <a:latin typeface="Calibri"/>
              </a:rPr>
              <a:t>CA-2  Dado que selecciono la mascota Rocky, cuando abro su historial, entonces veo sus atenciones de la mas reciente a la mas antigua.</a:t>
            </a:r>
          </a:p>
          <a:p>
            <a:pPr>
              <a:spcAft>
                <a:spcPts val="400"/>
              </a:spcAft>
            </a:pPr>
            <a:r>
              <a:rPr sz="1400" b="0" i="0">
                <a:solidFill>
                  <a:srgbClr val="FFFFFF"/>
                </a:solidFill>
                <a:latin typeface="Calibri"/>
              </a:rPr>
              <a:t>CA-3  Dado un documento no registrado, cuando busco, entonces el sistema muestra 'No hay duenos con ese documento' y ofrece crear uno.</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Estimacion: 5 puntos   |   Prioridad: Must   |   Origen: RF-03 / NEC-02</a:t>
            </a:r>
          </a:p>
          <a:p>
            <a:pPr>
              <a:spcAft>
                <a:spcPts val="400"/>
              </a:spcAft>
            </a:pPr>
            <a:r>
              <a:rPr sz="1400" b="0" i="0">
                <a:solidFill>
                  <a:srgbClr val="FFFFFF"/>
                </a:solidFill>
                <a:latin typeface="Calibri"/>
              </a:rPr>
              <a:t>Definicion de terminado: mockup aprobado + los 3 criterios verificados en el prototipo navegable</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La historia dice a quien le sirve y para que; los criterios de aceptacion son la unica parte que se puede cobrar.</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Google Docs · Excalidraw</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Se toma el RF-03 del catalogo, lo convierte en vivo en historia con criterios y luego muestra una historia partida por capas para tumbarla con INVEST.</a:t>
            </a:r>
          </a:p>
          <a:p>
            <a:pPr>
              <a:spcAft>
                <a:spcPts val="800"/>
              </a:spcAft>
            </a:pPr>
            <a:r>
              <a:rPr sz="2000" b="0" i="0">
                <a:solidFill>
                  <a:srgbClr val="333333"/>
                </a:solidFill>
                <a:latin typeface="Calibri"/>
              </a:rPr>
              <a:t>–   Mismo dominio: la clinica veterinaria — no otro ejemplo. Aqui se diseña, no se programa.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7 · Historias de usuario</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El requisito contado por quien lo necesita y con criterios que se pueden cobrar</a:t>
            </a:r>
          </a:p>
          <a:p>
            <a:pPr algn="ctr">
              <a:spcAft>
                <a:spcPts val="600"/>
              </a:spcAft>
            </a:pPr>
            <a:r>
              <a:rPr sz="1600" b="0" i="0">
                <a:solidFill>
                  <a:srgbClr val="333333"/>
                </a:solidFill>
                <a:latin typeface="Calibri"/>
              </a:rPr>
              <a:t>Repasen las laminas de teoria: cada concepto esta completo</a:t>
            </a:r>
          </a:p>
          <a:p>
            <a:pPr algn="ctr">
              <a:spcAft>
                <a:spcPts val="600"/>
              </a:spcAft>
            </a:pPr>
            <a:r>
              <a:rPr sz="1600" b="0" i="0">
                <a:solidFill>
                  <a:srgbClr val="333333"/>
                </a:solidFill>
                <a:latin typeface="Calibri"/>
              </a:rPr>
              <a:t>Siguiente clase: continuamos con el siguiente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