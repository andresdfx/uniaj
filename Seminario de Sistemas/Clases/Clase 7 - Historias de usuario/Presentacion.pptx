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Una historia de usuario no es un requisito abreviado ni una moda de las metodologias agiles: es el recordatorio corto de una conversacion pendiente entre quien necesita el sistema y quien lo va a construir.</a:t>
            </a:r>
          </a:p>
          <a:p/>
          <a:p>
            <a:r>
              <a:t>Su formato canonico tiene tres partes: Como &lt;rol&gt; quiero &lt;accion&gt; para &lt;beneficio&gt;.</a:t>
            </a:r>
          </a:p>
          <a:p/>
          <a:p>
            <a:r>
              <a:t>El rol obliga a nombrar a alguien concreto (la auxiliar Marcela, el veterinario de turno, el dueno de la mascota) y no al generico usuario</a:t>
            </a:r>
          </a:p>
          <a:p/>
          <a:p>
            <a:r>
              <a:t>Que no existe en ninguna clinica del mundo; la accion describe algo que esa persona hace, no algo que hace la base de datos por dentro; y el para es la parte que casi todo el mundo borra por afan y es la mas valiosa</a:t>
            </a:r>
          </a:p>
          <a:p/>
          <a:p>
            <a:r>
              <a:t>Porque es la unica que explica por que vale la pena gastar tiempo y plata en eso.</a:t>
            </a:r>
          </a:p>
          <a:p/>
          <a:p>
            <a:r>
              <a:t>En la clinica, Como auxiliar quiero buscar la ficha de una mascota por el documento del dueno para no revolver la carpeta fisica mientras el paciente espera en el meson se entiende sin traduccion</a:t>
            </a:r>
          </a:p>
          <a:p/>
          <a:p>
            <a:r>
              <a:t>En cambio El sistema debe tener un buscador no dice a quien le sirve ni que dolor cura.</a:t>
            </a:r>
          </a:p>
          <a:p/>
          <a:p>
            <a:r>
              <a:t>Ron Jeffries lo resumio en tres C: Card, la tarjeta corta</a:t>
            </a:r>
          </a:p>
          <a:p/>
          <a:p>
            <a:r>
              <a:t>La tarjeta sin conversacion es un titulo huerfano, y la conversacion sin criterios es un acuerdo que nadie puede cobrar.</a:t>
            </a:r>
          </a:p>
          <a:p/>
          <a:p>
            <a:r>
              <a:t>Frente al requisito tradicional de la clase pasada, la historia no lo reemplaza: el requisito es el contrato formal y la historia es la unidad de trabajo con la que se planea la entrega.</a:t>
            </a:r>
          </a:p>
          <a:p/>
          <a:p>
            <a:r>
              <a:t>NOTAS:</a:t>
            </a:r>
          </a:p>
          <a:p/>
          <a:p>
            <a:r>
              <a:t>Conversation, la charla que aclara los detalles; y Confirmation, los criterios de aceptacion.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Los criterios de aceptacion son la parte que convierte una historia bonita en una historia verificable, y se escriben en el patron Dado &lt;contexto inicial&gt; Cuando &lt;accion del usuario&gt; Entonces &lt;resultado observable&gt;.</a:t>
            </a:r>
          </a:p>
          <a:p/>
          <a:p>
            <a:r>
              <a:t>Cada criterio debe poder responderse con un si o un no mirando la pantalla, nunca con un depende.</a:t>
            </a:r>
          </a:p>
          <a:p/>
          <a:p>
            <a:r>
              <a:t>Para la historia de buscar el historial en la clinica los criterios serian: Dado un dueno con tres mascotas registradas, cuando busco por su documento, entonces el sistema lista las tres mascotas con nombre y especie</a:t>
            </a:r>
          </a:p>
          <a:p/>
          <a:p>
            <a:r>
              <a:t>Fijense que el tercer criterio es el que casi siempre falta: el camino alterno, el caso feo, el error.</a:t>
            </a:r>
          </a:p>
          <a:p/>
          <a:p>
            <a:r>
              <a:t>Una historia con solo criterios felices es una historia a medio pensar.</a:t>
            </a:r>
          </a:p>
          <a:p/>
          <a:p>
            <a:r>
              <a:t>Ademas, los criterios de aceptacion son el puente directo con el prototipo navegable y con las pruebas que hara el companero de Programacion II, porque son literalmente el guion de lo que se va a revisar.</a:t>
            </a:r>
          </a:p>
          <a:p/>
          <a:p>
            <a:r>
              <a:t>NOTAS:</a:t>
            </a:r>
          </a:p>
          <a:p/>
          <a:p>
            <a:r>
              <a:t>Dado que selecciono la mascota Rocky, cuando abro su historial, entonces veo sus atenciones de la mas reciente a la mas antigua</a:t>
            </a:r>
          </a:p>
          <a:p/>
          <a:p>
            <a:r>
              <a:t>Dado un documento que no existe, cuando busco, entonces el sistema muestra un mensaje claro y ofrece crear el dueno.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INVEST es la lista de chequeo para saber si una historia esta bien cortada, y conviene revisarla letra por letra con el caso de la clinica en la mano.</a:t>
            </a:r>
          </a:p>
          <a:p/>
          <a:p>
            <a:r>
              <a:t>Independiente: se puede hacer sin esperar a otra; si la historia de agendar cita necesita obligatoriamente que exista la de registrar mascota, hay dependencia y toca ordenarlas.</a:t>
            </a:r>
          </a:p>
          <a:p/>
          <a:p>
            <a:r>
              <a:t>Negociable: la historia describe la necesidad, no la solucion tecnica; decir quiero un combo desplegable con autocompletar en JavaScript ya no es historia, es diseno impuesto.</a:t>
            </a:r>
          </a:p>
          <a:p/>
          <a:p>
            <a:r>
              <a:t>Valiosa: alguien de la clinica gana algo real; si nadie de la clinica nota la diferencia, no es historia sino tarea interna.</a:t>
            </a:r>
          </a:p>
          <a:p/>
          <a:p>
            <a:r>
              <a:t>Estimable: el equipo entiende lo suficiente para estimarla; si nadie sabe cuanto pesa, falta conversacion o hace falta investigar aparte.</a:t>
            </a:r>
          </a:p>
          <a:p/>
          <a:p>
            <a:r>
              <a:t>Small o pequena: cabe en una iteracion; si toma tres semanas es una epica disfrazada.</a:t>
            </a:r>
          </a:p>
          <a:p/>
          <a:p>
            <a:r>
              <a:t>Testeable: tiene criterios verificables, que es exactamente la misma regla de oro de la clase pasada aplicada en formato agil.</a:t>
            </a:r>
          </a:p>
          <a:p/>
          <a:p>
            <a:r>
              <a:t>Una historia que falla dos letras de INVEST no se planea todavia, se vuelve a partir.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Una epica es una historia grande que todavia no cabe en una iteracion, y descomponerla es una habilidad que se aprende cortando mal varias veces.</a:t>
            </a:r>
          </a:p>
          <a:p/>
          <a:p>
            <a:r>
              <a:t>El corte correcto es vertical, como una rebanada de pastel que trae bizcocho, crema y cubierta: cada historia atraviesa pantalla, logica y datos y deja algo que el usuario puede usar.</a:t>
            </a:r>
          </a:p>
          <a:p/>
          <a:p>
            <a:r>
              <a:t>El corte equivocado es horizontal, por capas: una historia para la pantalla, otra para la logica y otra para la base de datos; asi ninguna de las tres sirve sola y el cliente no ve nada hasta que estan las tres.</a:t>
            </a:r>
          </a:p>
          <a:p/>
          <a:p>
            <a:r>
              <a:t>En la clinica la epica Historial clinico se parte en: consultar historial por documento del dueno, registrar una atencion nueva, adjuntar resultados de laboratorio y filtrar el historial por rango de fechas; cada una terminable y demostrable por separado.</a:t>
            </a:r>
          </a:p>
          <a:p/>
          <a:p>
            <a:r>
              <a:t>Otros ejes utiles para cortar son por tipo de dato (primero solo perros y gatos, despues otras especies), por regla de negocio (primero sin control de acceso, luego con perfiles) y por camino (primero el flujo feliz, luego los errores).</a:t>
            </a:r>
          </a:p>
          <a:p/>
          <a:p>
            <a:r>
              <a:t>NOTAS:</a:t>
            </a:r>
          </a:p>
          <a:p/>
          <a:p>
            <a:r>
              <a:t>El nombre de la epica se conserva como etiqueta en cada historia para no perder el hilo.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(para explicarlo, no se proyecta):</a:t>
            </a:r>
          </a:p>
          <a:p/>
          <a:p>
            <a:r>
              <a:t>Estimar en agil no es adivinar horas sino comparar tamanos, y esa es la razon de los puntos de historia: son una medida relativa que mezcla esfuerzo, complejidad e incertidumbre.</a:t>
            </a:r>
          </a:p>
          <a:p/>
          <a:p>
            <a:r>
              <a:t>La tecnica de sala es el planning poker: todos muestran su carta al tiempo y lo importante no es el numero sino la discusion cuando alguien dice 2 y otro dice 8, porque ahi aparece el requisito que unos entendieron y otros no.</a:t>
            </a:r>
          </a:p>
          <a:p/>
          <a:p>
            <a:r>
              <a:t>En un proyecto real este backlog es la lista de trabajo que se le entrega al companero de Programacion II para que sepa por donde empezar</a:t>
            </a:r>
          </a:p>
          <a:p/>
          <a:p>
            <a:r>
              <a:t>Y quien solo cursa Seminario usa el mismo backlog para ordenar las pantallas de su prototipo navegable, en el mismo orden de prioridad.</a:t>
            </a:r>
          </a:p>
          <a:p/>
          <a:p>
            <a:r>
              <a:t>NOTAS:</a:t>
            </a:r>
          </a:p>
          <a:p/>
          <a:p>
            <a:r>
              <a:t>Se toma una historia mediana y conocida como referencia (por ejemplo registrar un dueno vale 3 puntos) y todas las demas se comparan contra ella usando una escala tipo Fibonacci 1, 2, 3, 5, 8, 13, donde el salto grande refleja que entre mas grande la historia, menos confiable la estimacion; si algo llega a 13 o mas, la senal no es de dificultad sino de que hay que partirla.</a:t>
            </a:r>
          </a:p>
          <a:p/>
          <a:p>
            <a:r>
              <a:t>Con dos o tres iteraciones se conoce la velocidad del equipo y recien ahi se puede prometer fechas.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COMPLETO DE LA LÁMINA (se proyecta resumido):</a:t>
            </a:r>
          </a:p>
          <a:p/>
          <a:p>
            <a:r>
              <a:t>Herramienta: Google Docs · Excalidraw</a:t>
            </a:r>
          </a:p>
          <a:p/>
          <a:p>
            <a:r>
              <a:t>Demo: Se toma el RF-03 del catalogo, lo convierte en vivo en historia con criterios y luego muestra una historia partida por capas para tumbarla con INVEST.</a:t>
            </a:r>
          </a:p>
          <a:p/>
          <a:p>
            <a:r>
              <a:t>Mismo dominio: la clinica veterinaria — no otro ejemplo. Aqui se diseña, no se programa.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7</a:t>
            </a:r>
          </a:p>
        </p:txBody>
      </p:sp>
      <p:sp>
        <p:nvSpPr>
          <p:cNvPr id="8" name="TextBox 7"/>
          <p:cNvSpPr txBox="1"/>
          <p:nvPr/>
        </p:nvSpPr>
        <p:spPr>
          <a:xfrm>
            <a:off x="731520" y="2331720"/>
            <a:ext cx="10728655" cy="1828800"/>
          </a:xfrm>
          <a:prstGeom prst="rect">
            <a:avLst/>
          </a:prstGeom>
          <a:noFill/>
        </p:spPr>
        <p:txBody>
          <a:bodyPr wrap="square" anchor="ctr"/>
          <a:lstStyle/>
          <a:p>
            <a:pPr algn="ctr"/>
            <a:r>
              <a:rPr sz="4000" b="1" i="0">
                <a:solidFill>
                  <a:srgbClr val="FFFFFF"/>
                </a:solidFill>
                <a:latin typeface="Calibri"/>
              </a:rPr>
              <a:t>Historias de usuario</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El requisito contado por quien lo necesita y con criterios que se pueden cobrar</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Encuadre de hoy</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Tema:</a:t>
            </a:r>
            <a:r>
              <a:rPr sz="2000" b="0" i="0">
                <a:solidFill>
                  <a:srgbClr val="333333"/>
                </a:solidFill>
                <a:latin typeface="Calibri"/>
              </a:rPr>
              <a:t> Historias de usuario</a:t>
            </a:r>
          </a:p>
          <a:p>
            <a:pPr>
              <a:spcAft>
                <a:spcPts val="800"/>
              </a:spcAft>
            </a:pPr>
            <a:r>
              <a:rPr sz="2000" b="0" i="0">
                <a:solidFill>
                  <a:srgbClr val="333333"/>
                </a:solidFill>
                <a:latin typeface="Calibri"/>
              </a:rPr>
              <a:t>–   El requisito contado por quien lo necesita y con criterios que se pueden cobrar</a:t>
            </a:r>
          </a:p>
          <a:p>
            <a:pPr>
              <a:spcAft>
                <a:spcPts val="800"/>
              </a:spcAft>
            </a:pPr>
            <a:r>
              <a:rPr sz="2000" b="0" i="0">
                <a:solidFill>
                  <a:srgbClr val="333333"/>
                </a:solidFill>
                <a:latin typeface="Calibri"/>
              </a:rPr>
              <a:t>–   Herramienta del tema: </a:t>
            </a:r>
            <a:r>
              <a:rPr sz="2000" b="1" i="0">
                <a:solidFill>
                  <a:srgbClr val="333333"/>
                </a:solidFill>
                <a:latin typeface="Calibri"/>
              </a:rPr>
              <a:t>Google Docs · Excalidraw</a:t>
            </a:r>
            <a:r>
              <a:rPr sz="2000" b="0" i="0">
                <a:solidFill>
                  <a:srgbClr val="333333"/>
                </a:solidFill>
                <a:latin typeface="Calibri"/>
              </a:rPr>
              <a:t> · Bloque </a:t>
            </a:r>
            <a:r>
              <a:rPr sz="2000" b="1" i="0">
                <a:solidFill>
                  <a:srgbClr val="333333"/>
                </a:solidFill>
                <a:latin typeface="Calibri"/>
              </a:rPr>
              <a:t>120 min</a:t>
            </a:r>
          </a:p>
          <a:p>
            <a:pPr>
              <a:spcAft>
                <a:spcPts val="800"/>
              </a:spcAft>
            </a:pPr>
            <a:r>
              <a:rPr sz="2000" b="0" i="0">
                <a:solidFill>
                  <a:srgbClr val="333333"/>
                </a:solidFill>
                <a:latin typeface="Calibri"/>
              </a:rPr>
              <a:t>–   Ejemplo de toda la clase: el sistema de una clinica veterinaria.</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Mapa del bloque de hoy (120 min)</a:t>
            </a:r>
          </a:p>
        </p:txBody>
      </p:sp>
      <p:sp>
        <p:nvSpPr>
          <p:cNvPr id="5" name="Rectangle 4"/>
          <p:cNvSpPr/>
          <p:nvPr/>
        </p:nvSpPr>
        <p:spPr>
          <a:xfrm>
            <a:off x="457200" y="2176272"/>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438625"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53312"/>
            <a:ext cx="2255459" cy="502920"/>
          </a:xfrm>
          <a:prstGeom prst="rect">
            <a:avLst/>
          </a:prstGeom>
          <a:noFill/>
        </p:spPr>
        <p:txBody>
          <a:bodyPr wrap="square">
            <a:spAutoFit/>
          </a:bodyPr>
          <a:lstStyle/>
          <a:p>
            <a:pPr algn="ctr"/>
            <a:r>
              <a:rPr sz="1300" b="1" i="0">
                <a:solidFill>
                  <a:srgbClr val="095292"/>
                </a:solidFill>
                <a:latin typeface="Calibri"/>
              </a:rPr>
              <a:t>0-10</a:t>
            </a:r>
          </a:p>
        </p:txBody>
      </p:sp>
      <p:sp>
        <p:nvSpPr>
          <p:cNvPr id="8" name="TextBox 7"/>
          <p:cNvSpPr txBox="1"/>
          <p:nvPr/>
        </p:nvSpPr>
        <p:spPr>
          <a:xfrm>
            <a:off x="502920" y="2587752"/>
            <a:ext cx="2164019" cy="3310128"/>
          </a:xfrm>
          <a:prstGeom prst="rect">
            <a:avLst/>
          </a:prstGeom>
          <a:noFill/>
        </p:spPr>
        <p:txBody>
          <a:bodyPr wrap="square">
            <a:spAutoFit/>
          </a:bodyPr>
          <a:lstStyle/>
          <a:p>
            <a:pPr algn="ctr"/>
            <a:r>
              <a:rPr sz="1300" b="0" i="0">
                <a:solidFill>
                  <a:srgbClr val="333333"/>
                </a:solidFill>
                <a:latin typeface="Calibri"/>
              </a:rPr>
              <a:t>Encuadre y repaso</a:t>
            </a:r>
          </a:p>
        </p:txBody>
      </p:sp>
      <p:sp>
        <p:nvSpPr>
          <p:cNvPr id="9" name="Rounded Rectangle 8"/>
          <p:cNvSpPr/>
          <p:nvPr/>
        </p:nvSpPr>
        <p:spPr>
          <a:xfrm>
            <a:off x="3694084"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12659" y="1353312"/>
            <a:ext cx="2255459" cy="502920"/>
          </a:xfrm>
          <a:prstGeom prst="rect">
            <a:avLst/>
          </a:prstGeom>
          <a:noFill/>
        </p:spPr>
        <p:txBody>
          <a:bodyPr wrap="square">
            <a:spAutoFit/>
          </a:bodyPr>
          <a:lstStyle/>
          <a:p>
            <a:pPr algn="ctr"/>
            <a:r>
              <a:rPr sz="1300" b="1" i="0">
                <a:solidFill>
                  <a:srgbClr val="095292"/>
                </a:solidFill>
                <a:latin typeface="Calibri"/>
              </a:rPr>
              <a:t>10-40</a:t>
            </a:r>
          </a:p>
        </p:txBody>
      </p:sp>
      <p:sp>
        <p:nvSpPr>
          <p:cNvPr id="11" name="TextBox 10"/>
          <p:cNvSpPr txBox="1"/>
          <p:nvPr/>
        </p:nvSpPr>
        <p:spPr>
          <a:xfrm>
            <a:off x="2758379" y="2587752"/>
            <a:ext cx="2164019" cy="3310128"/>
          </a:xfrm>
          <a:prstGeom prst="rect">
            <a:avLst/>
          </a:prstGeom>
          <a:noFill/>
        </p:spPr>
        <p:txBody>
          <a:bodyPr wrap="square">
            <a:spAutoFit/>
          </a:bodyPr>
          <a:lstStyle/>
          <a:p>
            <a:pPr algn="ctr"/>
            <a:r>
              <a:rPr sz="1300" b="0" i="0">
                <a:solidFill>
                  <a:srgbClr val="333333"/>
                </a:solidFill>
                <a:latin typeface="Calibri"/>
              </a:rPr>
              <a:t>Teoria Core del tema de hoy</a:t>
            </a:r>
          </a:p>
        </p:txBody>
      </p:sp>
      <p:sp>
        <p:nvSpPr>
          <p:cNvPr id="12" name="Rounded Rectangle 11"/>
          <p:cNvSpPr/>
          <p:nvPr/>
        </p:nvSpPr>
        <p:spPr>
          <a:xfrm>
            <a:off x="5949543"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68118" y="1353312"/>
            <a:ext cx="2255459" cy="502920"/>
          </a:xfrm>
          <a:prstGeom prst="rect">
            <a:avLst/>
          </a:prstGeom>
          <a:noFill/>
        </p:spPr>
        <p:txBody>
          <a:bodyPr wrap="square">
            <a:spAutoFit/>
          </a:bodyPr>
          <a:lstStyle/>
          <a:p>
            <a:pPr algn="ctr"/>
            <a:r>
              <a:rPr sz="1300" b="1" i="0">
                <a:solidFill>
                  <a:srgbClr val="095292"/>
                </a:solidFill>
                <a:latin typeface="Calibri"/>
              </a:rPr>
              <a:t>40-60</a:t>
            </a:r>
          </a:p>
        </p:txBody>
      </p:sp>
      <p:sp>
        <p:nvSpPr>
          <p:cNvPr id="14" name="TextBox 13"/>
          <p:cNvSpPr txBox="1"/>
          <p:nvPr/>
        </p:nvSpPr>
        <p:spPr>
          <a:xfrm>
            <a:off x="5013838" y="2587752"/>
            <a:ext cx="2164019" cy="3310128"/>
          </a:xfrm>
          <a:prstGeom prst="rect">
            <a:avLst/>
          </a:prstGeom>
          <a:noFill/>
        </p:spPr>
        <p:txBody>
          <a:bodyPr wrap="square">
            <a:spAutoFit/>
          </a:bodyPr>
          <a:lstStyle/>
          <a:p>
            <a:pPr algn="ctr"/>
            <a:r>
              <a:rPr sz="1300" b="0" i="0">
                <a:solidFill>
                  <a:srgbClr val="333333"/>
                </a:solidFill>
                <a:latin typeface="Calibri"/>
              </a:rPr>
              <a:t>Demo en vivo sobre la clinica</a:t>
            </a:r>
          </a:p>
        </p:txBody>
      </p:sp>
      <p:sp>
        <p:nvSpPr>
          <p:cNvPr id="15" name="Rounded Rectangle 14"/>
          <p:cNvSpPr/>
          <p:nvPr/>
        </p:nvSpPr>
        <p:spPr>
          <a:xfrm>
            <a:off x="8205002" y="2066543"/>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577" y="1353312"/>
            <a:ext cx="2255459" cy="502920"/>
          </a:xfrm>
          <a:prstGeom prst="rect">
            <a:avLst/>
          </a:prstGeom>
          <a:noFill/>
        </p:spPr>
        <p:txBody>
          <a:bodyPr wrap="square">
            <a:spAutoFit/>
          </a:bodyPr>
          <a:lstStyle/>
          <a:p>
            <a:pPr algn="ctr"/>
            <a:r>
              <a:rPr sz="1300" b="1" i="0">
                <a:solidFill>
                  <a:srgbClr val="095292"/>
                </a:solidFill>
                <a:latin typeface="Calibri"/>
              </a:rPr>
              <a:t>60-105</a:t>
            </a:r>
          </a:p>
        </p:txBody>
      </p:sp>
      <p:sp>
        <p:nvSpPr>
          <p:cNvPr id="17" name="TextBox 16"/>
          <p:cNvSpPr txBox="1"/>
          <p:nvPr/>
        </p:nvSpPr>
        <p:spPr>
          <a:xfrm>
            <a:off x="7269297" y="2587752"/>
            <a:ext cx="2164019" cy="3310128"/>
          </a:xfrm>
          <a:prstGeom prst="rect">
            <a:avLst/>
          </a:prstGeom>
          <a:noFill/>
        </p:spPr>
        <p:txBody>
          <a:bodyPr wrap="square">
            <a:spAutoFit/>
          </a:bodyPr>
          <a:lstStyle/>
          <a:p>
            <a:pPr algn="ctr"/>
            <a:r>
              <a:rPr sz="1300" b="0" i="0">
                <a:solidFill>
                  <a:srgbClr val="333333"/>
                </a:solidFill>
                <a:latin typeface="Calibri"/>
              </a:rPr>
              <a:t>Practica (opcional, guia en la carpeta)</a:t>
            </a:r>
          </a:p>
        </p:txBody>
      </p:sp>
      <p:sp>
        <p:nvSpPr>
          <p:cNvPr id="18" name="Rounded Rectangle 17"/>
          <p:cNvSpPr/>
          <p:nvPr/>
        </p:nvSpPr>
        <p:spPr>
          <a:xfrm>
            <a:off x="10460461" y="2066543"/>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9036" y="1353312"/>
            <a:ext cx="2255459" cy="502920"/>
          </a:xfrm>
          <a:prstGeom prst="rect">
            <a:avLst/>
          </a:prstGeom>
          <a:noFill/>
        </p:spPr>
        <p:txBody>
          <a:bodyPr wrap="square">
            <a:spAutoFit/>
          </a:bodyPr>
          <a:lstStyle/>
          <a:p>
            <a:pPr algn="ctr"/>
            <a:r>
              <a:rPr sz="1300" b="1" i="0">
                <a:solidFill>
                  <a:srgbClr val="095292"/>
                </a:solidFill>
                <a:latin typeface="Calibri"/>
              </a:rPr>
              <a:t>105-120</a:t>
            </a:r>
          </a:p>
        </p:txBody>
      </p:sp>
      <p:sp>
        <p:nvSpPr>
          <p:cNvPr id="20" name="TextBox 19"/>
          <p:cNvSpPr txBox="1"/>
          <p:nvPr/>
        </p:nvSpPr>
        <p:spPr>
          <a:xfrm>
            <a:off x="9524756" y="2587752"/>
            <a:ext cx="2164019" cy="3310128"/>
          </a:xfrm>
          <a:prstGeom prst="rect">
            <a:avLst/>
          </a:prstGeom>
          <a:noFill/>
        </p:spPr>
        <p:txBody>
          <a:bodyPr wrap="square">
            <a:spAutoFit/>
          </a:bodyPr>
          <a:lstStyle/>
          <a:p>
            <a:pPr algn="ctr"/>
            <a:r>
              <a:rPr sz="1300" b="0" i="0">
                <a:solidFill>
                  <a:srgbClr val="333333"/>
                </a:solidFill>
                <a:latin typeface="Calibri"/>
              </a:rPr>
              <a:t>Sintesis y cierre</a:t>
            </a:r>
          </a:p>
        </p:txBody>
      </p:sp>
      <p:sp>
        <p:nvSpPr>
          <p:cNvPr id="21" name="TextBox 20"/>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2" name="TextBox 21"/>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historia de usuario</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s-c-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tres-c-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tres-c-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El recordatorio corto de una conversación pendiente entre quien necesita y quien construye.</a:t>
            </a:r>
          </a:p>
          <a:p>
            <a:pPr>
              <a:spcAft>
                <a:spcPts val="800"/>
              </a:spcAft>
            </a:pPr>
            <a:r>
              <a:rPr sz="2000" b="0" i="0">
                <a:solidFill>
                  <a:srgbClr val="333333"/>
                </a:solidFill>
                <a:latin typeface="Calibri"/>
              </a:rPr>
              <a:t>–   Como &lt;rol&gt; quiero &lt;acción&gt; para &lt;beneficio&gt;: un rol concreto, no «el usuario».</a:t>
            </a:r>
          </a:p>
          <a:p>
            <a:pPr>
              <a:spcAft>
                <a:spcPts val="800"/>
              </a:spcAft>
            </a:pPr>
            <a:r>
              <a:rPr sz="2000" b="0" i="0">
                <a:solidFill>
                  <a:srgbClr val="333333"/>
                </a:solidFill>
                <a:latin typeface="Calibri"/>
              </a:rPr>
              <a:t>–   El «para» es lo que más se borra y lo más valioso: dice por qué vale la pena.</a:t>
            </a:r>
          </a:p>
          <a:p>
            <a:pPr>
              <a:spcAft>
                <a:spcPts val="800"/>
              </a:spcAft>
            </a:pPr>
            <a:r>
              <a:rPr sz="2000" b="0" i="0">
                <a:solidFill>
                  <a:srgbClr val="333333"/>
                </a:solidFill>
                <a:latin typeface="Calibri"/>
              </a:rPr>
              <a:t>–   Las tres C: Card (la tarjeta), Conversation (la charla) y Confirmation (los criterios).</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Criterios de aceptación: Dado, Cuando, Entonces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do-cuando-entonces-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dado-cuando-entonces-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dado-cuando-entonces-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Convierten una historia bonita en una verificable.</a:t>
            </a:r>
          </a:p>
          <a:p>
            <a:pPr>
              <a:spcAft>
                <a:spcPts val="800"/>
              </a:spcAft>
            </a:pPr>
            <a:r>
              <a:rPr sz="2000" b="0" i="0">
                <a:solidFill>
                  <a:srgbClr val="333333"/>
                </a:solidFill>
                <a:latin typeface="Calibri"/>
              </a:rPr>
              <a:t>–   Dado &lt;contexto&gt; Cuando &lt;acción&gt; Entonces &lt;resultado observable&gt;.</a:t>
            </a:r>
          </a:p>
          <a:p>
            <a:pPr>
              <a:spcAft>
                <a:spcPts val="800"/>
              </a:spcAft>
            </a:pPr>
            <a:r>
              <a:rPr sz="2000" b="0" i="0">
                <a:solidFill>
                  <a:srgbClr val="333333"/>
                </a:solidFill>
                <a:latin typeface="Calibri"/>
              </a:rPr>
              <a:t>–   Cada criterio se responde con sí o no mirando la pantalla, nunca con «depende».</a:t>
            </a:r>
          </a:p>
          <a:p>
            <a:pPr>
              <a:spcAft>
                <a:spcPts val="800"/>
              </a:spcAft>
            </a:pPr>
            <a:r>
              <a:rPr sz="2000" b="0" i="0">
                <a:solidFill>
                  <a:srgbClr val="333333"/>
                </a:solidFill>
                <a:latin typeface="Calibri"/>
              </a:rPr>
              <a:t>–   El que siempre falta es el camino alterno: el caso feo, el error.</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historia y sus criterios en Dado-Cuando-Entonces</a:t>
            </a:r>
          </a:p>
        </p:txBody>
      </p:sp>
      <p:sp>
        <p:nvSpPr>
          <p:cNvPr id="5" name="Rounded Rectangle 4"/>
          <p:cNvSpPr/>
          <p:nvPr/>
        </p:nvSpPr>
        <p:spPr>
          <a:xfrm>
            <a:off x="457200" y="1261872"/>
            <a:ext cx="11277295" cy="5076537"/>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Plantilla</a:t>
            </a:r>
          </a:p>
        </p:txBody>
      </p:sp>
      <p:sp>
        <p:nvSpPr>
          <p:cNvPr id="11" name="TextBox 10"/>
          <p:cNvSpPr txBox="1"/>
          <p:nvPr/>
        </p:nvSpPr>
        <p:spPr>
          <a:xfrm>
            <a:off x="685800" y="1719072"/>
            <a:ext cx="502920" cy="4482177"/>
          </a:xfrm>
          <a:prstGeom prst="rect">
            <a:avLst/>
          </a:prstGeom>
          <a:noFill/>
        </p:spPr>
        <p:txBody>
          <a:bodyPr wrap="square">
            <a:spAutoFit/>
          </a:bodyPr>
          <a:lstStyle/>
          <a:p>
            <a:pPr algn="r">
              <a:spcAft>
                <a:spcPts val="300"/>
              </a:spcAft>
            </a:pPr>
            <a:r>
              <a:rPr sz="1400" i="0" b="0">
                <a:solidFill>
                  <a:srgbClr val="858585"/>
                </a:solidFill>
                <a:latin typeface="Consolas"/>
              </a:rPr>
              <a:t>1</a:t>
            </a:r>
          </a:p>
          <a:p>
            <a:pPr algn="r">
              <a:spcAft>
                <a:spcPts val="300"/>
              </a:spcAft>
            </a:pPr>
            <a:r>
              <a:rPr sz="1400" i="0" b="0">
                <a:solidFill>
                  <a:srgbClr val="858585"/>
                </a:solidFill>
                <a:latin typeface="Consolas"/>
              </a:rPr>
              <a:t>2</a:t>
            </a:r>
          </a:p>
          <a:p>
            <a:pPr algn="r">
              <a:spcAft>
                <a:spcPts val="300"/>
              </a:spcAft>
            </a:pPr>
            <a:r>
              <a:rPr sz="1400" i="0" b="0">
                <a:solidFill>
                  <a:srgbClr val="858585"/>
                </a:solidFill>
                <a:latin typeface="Consolas"/>
              </a:rPr>
              <a:t>3</a:t>
            </a:r>
          </a:p>
          <a:p>
            <a:pPr algn="r">
              <a:spcAft>
                <a:spcPts val="300"/>
              </a:spcAft>
            </a:pPr>
            <a:r>
              <a:rPr sz="1400" i="0" b="0">
                <a:solidFill>
                  <a:srgbClr val="858585"/>
                </a:solidFill>
                <a:latin typeface="Consolas"/>
              </a:rPr>
              <a:t>4</a:t>
            </a:r>
          </a:p>
          <a:p>
            <a:pPr algn="r">
              <a:spcAft>
                <a:spcPts val="300"/>
              </a:spcAft>
            </a:pPr>
            <a:r>
              <a:rPr sz="1400" i="0" b="0">
                <a:solidFill>
                  <a:srgbClr val="858585"/>
                </a:solidFill>
                <a:latin typeface="Consolas"/>
              </a:rPr>
              <a:t>5</a:t>
            </a:r>
          </a:p>
          <a:p>
            <a:pPr algn="r">
              <a:spcAft>
                <a:spcPts val="300"/>
              </a:spcAft>
            </a:pPr>
            <a:r>
              <a:rPr sz="1400" i="0" b="0">
                <a:solidFill>
                  <a:srgbClr val="858585"/>
                </a:solidFill>
                <a:latin typeface="Consolas"/>
              </a:rPr>
              <a:t>6</a:t>
            </a:r>
          </a:p>
          <a:p>
            <a:pPr algn="r">
              <a:spcAft>
                <a:spcPts val="300"/>
              </a:spcAft>
            </a:pPr>
            <a:r>
              <a:rPr sz="1400" i="0" b="0">
                <a:solidFill>
                  <a:srgbClr val="858585"/>
                </a:solidFill>
                <a:latin typeface="Consolas"/>
              </a:rPr>
              <a:t>7</a:t>
            </a:r>
          </a:p>
          <a:p>
            <a:pPr algn="r">
              <a:spcAft>
                <a:spcPts val="300"/>
              </a:spcAft>
            </a:pPr>
            <a:r>
              <a:rPr sz="1400" i="0" b="0">
                <a:solidFill>
                  <a:srgbClr val="858585"/>
                </a:solidFill>
                <a:latin typeface="Consolas"/>
              </a:rPr>
              <a:t>8</a:t>
            </a:r>
          </a:p>
          <a:p>
            <a:pPr algn="r">
              <a:spcAft>
                <a:spcPts val="300"/>
              </a:spcAft>
            </a:pPr>
            <a:r>
              <a:rPr sz="1400" i="0" b="0">
                <a:solidFill>
                  <a:srgbClr val="858585"/>
                </a:solidFill>
                <a:latin typeface="Consolas"/>
              </a:rPr>
              <a:t>9</a:t>
            </a:r>
          </a:p>
          <a:p>
            <a:pPr algn="r">
              <a:spcAft>
                <a:spcPts val="300"/>
              </a:spcAft>
            </a:pPr>
            <a:r>
              <a:rPr sz="1400" i="0" b="0">
                <a:solidFill>
                  <a:srgbClr val="858585"/>
                </a:solidFill>
                <a:latin typeface="Consolas"/>
              </a:rPr>
              <a:t>10</a:t>
            </a:r>
          </a:p>
          <a:p>
            <a:pPr algn="r">
              <a:spcAft>
                <a:spcPts val="300"/>
              </a:spcAft>
            </a:pPr>
            <a:r>
              <a:rPr sz="1400" i="0" b="0">
                <a:solidFill>
                  <a:srgbClr val="858585"/>
                </a:solidFill>
                <a:latin typeface="Consolas"/>
              </a:rPr>
              <a:t>11</a:t>
            </a:r>
          </a:p>
          <a:p>
            <a:pPr algn="r">
              <a:spcAft>
                <a:spcPts val="300"/>
              </a:spcAft>
            </a:pPr>
            <a:r>
              <a:rPr sz="1400" i="0" b="0">
                <a:solidFill>
                  <a:srgbClr val="858585"/>
                </a:solidFill>
                <a:latin typeface="Consolas"/>
              </a:rPr>
              <a:t>12</a:t>
            </a:r>
          </a:p>
          <a:p>
            <a:pPr algn="r">
              <a:spcAft>
                <a:spcPts val="300"/>
              </a:spcAft>
            </a:pPr>
            <a:r>
              <a:rPr sz="1400" i="0" b="0">
                <a:solidFill>
                  <a:srgbClr val="858585"/>
                </a:solidFill>
                <a:latin typeface="Consolas"/>
              </a:rPr>
              <a:t>13</a:t>
            </a:r>
          </a:p>
          <a:p>
            <a:pPr algn="r">
              <a:spcAft>
                <a:spcPts val="300"/>
              </a:spcAft>
            </a:pPr>
            <a:r>
              <a:rPr sz="1400" i="0" b="0">
                <a:solidFill>
                  <a:srgbClr val="858585"/>
                </a:solidFill>
                <a:latin typeface="Consolas"/>
              </a:rPr>
              <a:t>14</a:t>
            </a:r>
          </a:p>
          <a:p>
            <a:pPr algn="r">
              <a:spcAft>
                <a:spcPts val="300"/>
              </a:spcAft>
            </a:pPr>
            <a:r>
              <a:rPr sz="1400" i="0" b="0">
                <a:solidFill>
                  <a:srgbClr val="858585"/>
                </a:solidFill>
                <a:latin typeface="Consolas"/>
              </a:rPr>
              <a:t>15</a:t>
            </a:r>
          </a:p>
          <a:p>
            <a:pPr algn="r">
              <a:spcAft>
                <a:spcPts val="300"/>
              </a:spcAft>
            </a:pPr>
            <a:r>
              <a:rPr sz="1400" i="0" b="0">
                <a:solidFill>
                  <a:srgbClr val="858585"/>
                </a:solidFill>
                <a:latin typeface="Consolas"/>
              </a:rPr>
              <a:t>16</a:t>
            </a:r>
          </a:p>
          <a:p>
            <a:pPr algn="r">
              <a:spcAft>
                <a:spcPts val="300"/>
              </a:spcAft>
            </a:pPr>
            <a:r>
              <a:rPr sz="1400" i="0" b="0">
                <a:solidFill>
                  <a:srgbClr val="858585"/>
                </a:solidFill>
                <a:latin typeface="Consolas"/>
              </a:rPr>
              <a:t>17</a:t>
            </a:r>
          </a:p>
        </p:txBody>
      </p:sp>
      <p:sp>
        <p:nvSpPr>
          <p:cNvPr id="12" name="TextBox 11"/>
          <p:cNvSpPr txBox="1"/>
          <p:nvPr/>
        </p:nvSpPr>
        <p:spPr>
          <a:xfrm>
            <a:off x="1188720" y="1719072"/>
            <a:ext cx="10271455" cy="4482177"/>
          </a:xfrm>
          <a:prstGeom prst="rect">
            <a:avLst/>
          </a:prstGeom>
          <a:noFill/>
        </p:spPr>
        <p:txBody>
          <a:bodyPr wrap="square">
            <a:spAutoFit/>
          </a:bodyPr>
          <a:lstStyle/>
          <a:p>
            <a:pPr>
              <a:spcAft>
                <a:spcPts val="300"/>
              </a:spcAft>
            </a:pPr>
            <a:r>
              <a:rPr sz="1400" i="0" b="0">
                <a:solidFill>
                  <a:srgbClr val="D4D4D4"/>
                </a:solidFill>
                <a:latin typeface="Consolas"/>
              </a:rPr>
              <a:t>HU</a:t>
            </a:r>
            <a:r>
              <a:rPr sz="1400" i="0" b="0">
                <a:solidFill>
                  <a:srgbClr val="D4D4D4"/>
                </a:solidFill>
                <a:latin typeface="Consolas"/>
              </a:rPr>
              <a:t>-</a:t>
            </a:r>
            <a:r>
              <a:rPr sz="1400" i="0" b="0">
                <a:solidFill>
                  <a:srgbClr val="B5CEA8"/>
                </a:solidFill>
                <a:latin typeface="Consolas"/>
              </a:rPr>
              <a:t>03</a:t>
            </a:r>
            <a:r>
              <a:rPr sz="1400" i="0" b="0">
                <a:solidFill>
                  <a:srgbClr val="D4D4D4"/>
                </a:solidFill>
                <a:latin typeface="Consolas"/>
              </a:rPr>
              <a:t>  </a:t>
            </a:r>
            <a:r>
              <a:rPr sz="1400" i="0" b="0">
                <a:solidFill>
                  <a:srgbClr val="D4D4D4"/>
                </a:solidFill>
                <a:latin typeface="Consolas"/>
              </a:rPr>
              <a:t>Agendar</a:t>
            </a:r>
            <a:r>
              <a:rPr sz="1400" i="0" b="0">
                <a:solidFill>
                  <a:srgbClr val="D4D4D4"/>
                </a:solidFill>
                <a:latin typeface="Consolas"/>
              </a:rPr>
              <a:t> </a:t>
            </a:r>
            <a:r>
              <a:rPr sz="1400" i="0" b="0">
                <a:solidFill>
                  <a:srgbClr val="D4D4D4"/>
                </a:solidFill>
                <a:latin typeface="Consolas"/>
              </a:rPr>
              <a:t>una</a:t>
            </a:r>
            <a:r>
              <a:rPr sz="1400" i="0" b="0">
                <a:solidFill>
                  <a:srgbClr val="D4D4D4"/>
                </a:solidFill>
                <a:latin typeface="Consolas"/>
              </a:rPr>
              <a:t> </a:t>
            </a:r>
            <a:r>
              <a:rPr sz="1400" i="0" b="0">
                <a:solidFill>
                  <a:srgbClr val="D4D4D4"/>
                </a:solidFill>
                <a:latin typeface="Consolas"/>
              </a:rPr>
              <a:t>cita</a:t>
            </a:r>
          </a:p>
          <a:p>
            <a:pPr>
              <a:spcAft>
                <a:spcPts val="300"/>
              </a:spcAft>
            </a:pPr>
            <a:r>
              <a:rPr sz="1400" i="0" b="0">
                <a:solidFill>
                  <a:srgbClr val="D4D4D4"/>
                </a:solidFill>
                <a:latin typeface="Consolas"/>
              </a:rPr>
              <a:t/>
            </a:r>
          </a:p>
          <a:p>
            <a:pPr>
              <a:spcAft>
                <a:spcPts val="300"/>
              </a:spcAft>
            </a:pPr>
            <a:r>
              <a:rPr sz="1400" i="0" b="0">
                <a:solidFill>
                  <a:srgbClr val="D4D4D4"/>
                </a:solidFill>
                <a:latin typeface="Consolas"/>
              </a:rPr>
              <a:t>Como</a:t>
            </a:r>
            <a:r>
              <a:rPr sz="1400" i="0" b="0">
                <a:solidFill>
                  <a:srgbClr val="D4D4D4"/>
                </a:solidFill>
                <a:latin typeface="Consolas"/>
              </a:rPr>
              <a:t> </a:t>
            </a:r>
            <a:r>
              <a:rPr sz="1400" i="0" b="0">
                <a:solidFill>
                  <a:srgbClr val="D4D4D4"/>
                </a:solidFill>
                <a:latin typeface="Consolas"/>
              </a:rPr>
              <a:t>recepcionista</a:t>
            </a:r>
          </a:p>
          <a:p>
            <a:pPr>
              <a:spcAft>
                <a:spcPts val="300"/>
              </a:spcAft>
            </a:pPr>
            <a:r>
              <a:rPr sz="1400" i="0" b="0">
                <a:solidFill>
                  <a:srgbClr val="D4D4D4"/>
                </a:solidFill>
                <a:latin typeface="Consolas"/>
              </a:rPr>
              <a:t>quiero</a:t>
            </a:r>
            <a:r>
              <a:rPr sz="1400" i="0" b="0">
                <a:solidFill>
                  <a:srgbClr val="D4D4D4"/>
                </a:solidFill>
                <a:latin typeface="Consolas"/>
              </a:rPr>
              <a:t> </a:t>
            </a:r>
            <a:r>
              <a:rPr sz="1400" i="0" b="0">
                <a:solidFill>
                  <a:srgbClr val="D4D4D4"/>
                </a:solidFill>
                <a:latin typeface="Consolas"/>
              </a:rPr>
              <a:t>agendar</a:t>
            </a:r>
            <a:r>
              <a:rPr sz="1400" i="0" b="0">
                <a:solidFill>
                  <a:srgbClr val="D4D4D4"/>
                </a:solidFill>
                <a:latin typeface="Consolas"/>
              </a:rPr>
              <a:t> </a:t>
            </a:r>
            <a:r>
              <a:rPr sz="1400" i="0" b="0">
                <a:solidFill>
                  <a:srgbClr val="D4D4D4"/>
                </a:solidFill>
                <a:latin typeface="Consolas"/>
              </a:rPr>
              <a:t>una</a:t>
            </a:r>
            <a:r>
              <a:rPr sz="1400" i="0" b="0">
                <a:solidFill>
                  <a:srgbClr val="D4D4D4"/>
                </a:solidFill>
                <a:latin typeface="Consolas"/>
              </a:rPr>
              <a:t> </a:t>
            </a:r>
            <a:r>
              <a:rPr sz="1400" i="0" b="0">
                <a:solidFill>
                  <a:srgbClr val="D4D4D4"/>
                </a:solidFill>
                <a:latin typeface="Consolas"/>
              </a:rPr>
              <a:t>cita</a:t>
            </a:r>
            <a:r>
              <a:rPr sz="1400" i="0" b="0">
                <a:solidFill>
                  <a:srgbClr val="D4D4D4"/>
                </a:solidFill>
                <a:latin typeface="Consolas"/>
              </a:rPr>
              <a:t> </a:t>
            </a:r>
            <a:r>
              <a:rPr sz="1400" i="0" b="0">
                <a:solidFill>
                  <a:srgbClr val="D4D4D4"/>
                </a:solidFill>
                <a:latin typeface="Consolas"/>
              </a:rPr>
              <a:t>para</a:t>
            </a:r>
            <a:r>
              <a:rPr sz="1400" i="0" b="0">
                <a:solidFill>
                  <a:srgbClr val="D4D4D4"/>
                </a:solidFill>
                <a:latin typeface="Consolas"/>
              </a:rPr>
              <a:t> </a:t>
            </a:r>
            <a:r>
              <a:rPr sz="1400" i="0" b="0">
                <a:solidFill>
                  <a:srgbClr val="D4D4D4"/>
                </a:solidFill>
                <a:latin typeface="Consolas"/>
              </a:rPr>
              <a:t>una</a:t>
            </a:r>
            <a:r>
              <a:rPr sz="1400" i="0" b="0">
                <a:solidFill>
                  <a:srgbClr val="D4D4D4"/>
                </a:solidFill>
                <a:latin typeface="Consolas"/>
              </a:rPr>
              <a:t> </a:t>
            </a:r>
            <a:r>
              <a:rPr sz="1400" i="0" b="0">
                <a:solidFill>
                  <a:srgbClr val="D4D4D4"/>
                </a:solidFill>
                <a:latin typeface="Consolas"/>
              </a:rPr>
              <a:t>mascota</a:t>
            </a:r>
            <a:r>
              <a:rPr sz="1400" i="0" b="0">
                <a:solidFill>
                  <a:srgbClr val="D4D4D4"/>
                </a:solidFill>
                <a:latin typeface="Consolas"/>
              </a:rPr>
              <a:t> </a:t>
            </a:r>
            <a:r>
              <a:rPr sz="1400" i="0" b="0">
                <a:solidFill>
                  <a:srgbClr val="D4D4D4"/>
                </a:solidFill>
                <a:latin typeface="Consolas"/>
              </a:rPr>
              <a:t>registrada</a:t>
            </a:r>
          </a:p>
          <a:p>
            <a:pPr>
              <a:spcAft>
                <a:spcPts val="300"/>
              </a:spcAft>
            </a:pPr>
            <a:r>
              <a:rPr sz="1400" i="0" b="0">
                <a:solidFill>
                  <a:srgbClr val="D4D4D4"/>
                </a:solidFill>
                <a:latin typeface="Consolas"/>
              </a:rPr>
              <a:t>para</a:t>
            </a:r>
            <a:r>
              <a:rPr sz="1400" i="0" b="0">
                <a:solidFill>
                  <a:srgbClr val="D4D4D4"/>
                </a:solidFill>
                <a:latin typeface="Consolas"/>
              </a:rPr>
              <a:t> </a:t>
            </a:r>
            <a:r>
              <a:rPr sz="1400" i="0" b="0">
                <a:solidFill>
                  <a:srgbClr val="D4D4D4"/>
                </a:solidFill>
                <a:latin typeface="Consolas"/>
              </a:rPr>
              <a:t>que</a:t>
            </a:r>
            <a:r>
              <a:rPr sz="1400" i="0" b="0">
                <a:solidFill>
                  <a:srgbClr val="D4D4D4"/>
                </a:solidFill>
                <a:latin typeface="Consolas"/>
              </a:rPr>
              <a:t> </a:t>
            </a:r>
            <a:r>
              <a:rPr sz="1400" i="0" b="0">
                <a:solidFill>
                  <a:srgbClr val="D4D4D4"/>
                </a:solidFill>
                <a:latin typeface="Consolas"/>
              </a:rPr>
              <a:t>el</a:t>
            </a:r>
            <a:r>
              <a:rPr sz="1400" i="0" b="0">
                <a:solidFill>
                  <a:srgbClr val="D4D4D4"/>
                </a:solidFill>
                <a:latin typeface="Consolas"/>
              </a:rPr>
              <a:t> </a:t>
            </a:r>
            <a:r>
              <a:rPr sz="1400" i="0" b="0">
                <a:solidFill>
                  <a:srgbClr val="D4D4D4"/>
                </a:solidFill>
                <a:latin typeface="Consolas"/>
              </a:rPr>
              <a:t>veterinario</a:t>
            </a:r>
            <a:r>
              <a:rPr sz="1400" i="0" b="0">
                <a:solidFill>
                  <a:srgbClr val="D4D4D4"/>
                </a:solidFill>
                <a:latin typeface="Consolas"/>
              </a:rPr>
              <a:t> </a:t>
            </a:r>
            <a:r>
              <a:rPr sz="1400" i="0" b="0">
                <a:solidFill>
                  <a:srgbClr val="D4D4D4"/>
                </a:solidFill>
                <a:latin typeface="Consolas"/>
              </a:rPr>
              <a:t>tenga</a:t>
            </a:r>
            <a:r>
              <a:rPr sz="1400" i="0" b="0">
                <a:solidFill>
                  <a:srgbClr val="D4D4D4"/>
                </a:solidFill>
                <a:latin typeface="Consolas"/>
              </a:rPr>
              <a:t> </a:t>
            </a:r>
            <a:r>
              <a:rPr sz="1400" i="0" b="0">
                <a:solidFill>
                  <a:srgbClr val="D4D4D4"/>
                </a:solidFill>
                <a:latin typeface="Consolas"/>
              </a:rPr>
              <a:t>su</a:t>
            </a:r>
            <a:r>
              <a:rPr sz="1400" i="0" b="0">
                <a:solidFill>
                  <a:srgbClr val="D4D4D4"/>
                </a:solidFill>
                <a:latin typeface="Consolas"/>
              </a:rPr>
              <a:t> </a:t>
            </a:r>
            <a:r>
              <a:rPr sz="1400" i="0" b="0">
                <a:solidFill>
                  <a:srgbClr val="D4D4D4"/>
                </a:solidFill>
                <a:latin typeface="Consolas"/>
              </a:rPr>
              <a:t>agenda</a:t>
            </a:r>
            <a:r>
              <a:rPr sz="1400" i="0" b="0">
                <a:solidFill>
                  <a:srgbClr val="D4D4D4"/>
                </a:solidFill>
                <a:latin typeface="Consolas"/>
              </a:rPr>
              <a:t> </a:t>
            </a:r>
            <a:r>
              <a:rPr sz="1400" i="0" b="0">
                <a:solidFill>
                  <a:srgbClr val="D4D4D4"/>
                </a:solidFill>
                <a:latin typeface="Consolas"/>
              </a:rPr>
              <a:t>del</a:t>
            </a:r>
            <a:r>
              <a:rPr sz="1400" i="0" b="0">
                <a:solidFill>
                  <a:srgbClr val="D4D4D4"/>
                </a:solidFill>
                <a:latin typeface="Consolas"/>
              </a:rPr>
              <a:t> </a:t>
            </a:r>
            <a:r>
              <a:rPr sz="1400" i="0" b="0">
                <a:solidFill>
                  <a:srgbClr val="D4D4D4"/>
                </a:solidFill>
                <a:latin typeface="Consolas"/>
              </a:rPr>
              <a:t>dia</a:t>
            </a:r>
            <a:r>
              <a:rPr sz="1400" i="0" b="0">
                <a:solidFill>
                  <a:srgbClr val="D4D4D4"/>
                </a:solidFill>
                <a:latin typeface="Consolas"/>
              </a:rPr>
              <a:t> </a:t>
            </a:r>
            <a:r>
              <a:rPr sz="1400" i="0" b="0">
                <a:solidFill>
                  <a:srgbClr val="D4D4D4"/>
                </a:solidFill>
                <a:latin typeface="Consolas"/>
              </a:rPr>
              <a:t>ordenada</a:t>
            </a:r>
            <a:r>
              <a:rPr sz="1400" i="0" b="0">
                <a:solidFill>
                  <a:srgbClr val="D4D4D4"/>
                </a:solidFill>
                <a:latin typeface="Consolas"/>
              </a:rPr>
              <a:t>.</a:t>
            </a:r>
          </a:p>
          <a:p>
            <a:pPr>
              <a:spcAft>
                <a:spcPts val="300"/>
              </a:spcAft>
            </a:pPr>
            <a:r>
              <a:rPr sz="1400" i="0" b="0">
                <a:solidFill>
                  <a:srgbClr val="D4D4D4"/>
                </a:solidFill>
                <a:latin typeface="Consolas"/>
              </a:rPr>
              <a:t/>
            </a:r>
          </a:p>
          <a:p>
            <a:pPr>
              <a:spcAft>
                <a:spcPts val="300"/>
              </a:spcAft>
            </a:pPr>
            <a:r>
              <a:rPr sz="1400" i="0" b="0">
                <a:solidFill>
                  <a:srgbClr val="D4D4D4"/>
                </a:solidFill>
                <a:latin typeface="Consolas"/>
              </a:rPr>
              <a:t>Criterios</a:t>
            </a:r>
            <a:r>
              <a:rPr sz="1400" i="0" b="0">
                <a:solidFill>
                  <a:srgbClr val="D4D4D4"/>
                </a:solidFill>
                <a:latin typeface="Consolas"/>
              </a:rPr>
              <a:t> </a:t>
            </a:r>
            <a:r>
              <a:rPr sz="1400" i="0" b="0">
                <a:solidFill>
                  <a:srgbClr val="D4D4D4"/>
                </a:solidFill>
                <a:latin typeface="Consolas"/>
              </a:rPr>
              <a:t>de</a:t>
            </a:r>
            <a:r>
              <a:rPr sz="1400" i="0" b="0">
                <a:solidFill>
                  <a:srgbClr val="D4D4D4"/>
                </a:solidFill>
                <a:latin typeface="Consolas"/>
              </a:rPr>
              <a:t> </a:t>
            </a:r>
            <a:r>
              <a:rPr sz="1400" i="0" b="0">
                <a:solidFill>
                  <a:srgbClr val="D4D4D4"/>
                </a:solidFill>
                <a:latin typeface="Consolas"/>
              </a:rPr>
              <a:t>aceptacion</a:t>
            </a:r>
          </a:p>
          <a:p>
            <a:pPr>
              <a:spcAft>
                <a:spcPts val="300"/>
              </a:spcAft>
            </a:pPr>
            <a:r>
              <a:rPr sz="1400" i="0" b="0">
                <a:solidFill>
                  <a:srgbClr val="D4D4D4"/>
                </a:solidFill>
                <a:latin typeface="Consolas"/>
              </a:rPr>
              <a:t/>
            </a:r>
          </a:p>
          <a:p>
            <a:pPr>
              <a:spcAft>
                <a:spcPts val="300"/>
              </a:spcAft>
            </a:pPr>
            <a:r>
              <a:rPr sz="1400" i="0" b="0">
                <a:solidFill>
                  <a:srgbClr val="D4D4D4"/>
                </a:solidFill>
                <a:latin typeface="Consolas"/>
              </a:rPr>
              <a:t>CA</a:t>
            </a:r>
            <a:r>
              <a:rPr sz="1400" i="0" b="0">
                <a:solidFill>
                  <a:srgbClr val="D4D4D4"/>
                </a:solidFill>
                <a:latin typeface="Consolas"/>
              </a:rPr>
              <a:t>-</a:t>
            </a:r>
            <a:r>
              <a:rPr sz="1400" i="0" b="0">
                <a:solidFill>
                  <a:srgbClr val="B5CEA8"/>
                </a:solidFill>
                <a:latin typeface="Consolas"/>
              </a:rPr>
              <a:t>1</a:t>
            </a:r>
            <a:r>
              <a:rPr sz="1400" i="0" b="0">
                <a:solidFill>
                  <a:srgbClr val="D4D4D4"/>
                </a:solidFill>
                <a:latin typeface="Consolas"/>
              </a:rPr>
              <a:t>  </a:t>
            </a:r>
            <a:r>
              <a:rPr sz="1400" i="0" b="0">
                <a:solidFill>
                  <a:srgbClr val="D4D4D4"/>
                </a:solidFill>
                <a:latin typeface="Consolas"/>
              </a:rPr>
              <a:t>Dado</a:t>
            </a:r>
            <a:r>
              <a:rPr sz="1400" i="0" b="0">
                <a:solidFill>
                  <a:srgbClr val="D4D4D4"/>
                </a:solidFill>
                <a:latin typeface="Consolas"/>
              </a:rPr>
              <a:t> </a:t>
            </a:r>
            <a:r>
              <a:rPr sz="1400" i="0" b="0">
                <a:solidFill>
                  <a:srgbClr val="D4D4D4"/>
                </a:solidFill>
                <a:latin typeface="Consolas"/>
              </a:rPr>
              <a:t>que</a:t>
            </a:r>
            <a:r>
              <a:rPr sz="1400" i="0" b="0">
                <a:solidFill>
                  <a:srgbClr val="D4D4D4"/>
                </a:solidFill>
                <a:latin typeface="Consolas"/>
              </a:rPr>
              <a:t> </a:t>
            </a:r>
            <a:r>
              <a:rPr sz="1400" i="0" b="0">
                <a:solidFill>
                  <a:srgbClr val="D4D4D4"/>
                </a:solidFill>
                <a:latin typeface="Consolas"/>
              </a:rPr>
              <a:t>la</a:t>
            </a:r>
            <a:r>
              <a:rPr sz="1400" i="0" b="0">
                <a:solidFill>
                  <a:srgbClr val="D4D4D4"/>
                </a:solidFill>
                <a:latin typeface="Consolas"/>
              </a:rPr>
              <a:t> </a:t>
            </a:r>
            <a:r>
              <a:rPr sz="1400" i="0" b="0">
                <a:solidFill>
                  <a:srgbClr val="D4D4D4"/>
                </a:solidFill>
                <a:latin typeface="Consolas"/>
              </a:rPr>
              <a:t>mascota</a:t>
            </a:r>
            <a:r>
              <a:rPr sz="1400" i="0" b="0">
                <a:solidFill>
                  <a:srgbClr val="D4D4D4"/>
                </a:solidFill>
                <a:latin typeface="Consolas"/>
              </a:rPr>
              <a:t> </a:t>
            </a:r>
            <a:r>
              <a:rPr sz="1400" i="0" b="0">
                <a:solidFill>
                  <a:srgbClr val="D4D4D4"/>
                </a:solidFill>
                <a:latin typeface="Consolas"/>
              </a:rPr>
              <a:t>esta</a:t>
            </a:r>
            <a:r>
              <a:rPr sz="1400" i="0" b="0">
                <a:solidFill>
                  <a:srgbClr val="D4D4D4"/>
                </a:solidFill>
                <a:latin typeface="Consolas"/>
              </a:rPr>
              <a:t> </a:t>
            </a:r>
            <a:r>
              <a:rPr sz="1400" i="0" b="0">
                <a:solidFill>
                  <a:srgbClr val="D4D4D4"/>
                </a:solidFill>
                <a:latin typeface="Consolas"/>
              </a:rPr>
              <a:t>activa</a:t>
            </a:r>
          </a:p>
          <a:p>
            <a:pPr>
              <a:spcAft>
                <a:spcPts val="300"/>
              </a:spcAft>
            </a:pPr>
            <a:r>
              <a:rPr sz="1400" i="0" b="0">
                <a:solidFill>
                  <a:srgbClr val="D4D4D4"/>
                </a:solidFill>
                <a:latin typeface="Consolas"/>
              </a:rPr>
              <a:t>      </a:t>
            </a:r>
            <a:r>
              <a:rPr sz="1400" i="0" b="0">
                <a:solidFill>
                  <a:srgbClr val="D4D4D4"/>
                </a:solidFill>
                <a:latin typeface="Consolas"/>
              </a:rPr>
              <a:t>Cuando</a:t>
            </a:r>
            <a:r>
              <a:rPr sz="1400" i="0" b="0">
                <a:solidFill>
                  <a:srgbClr val="D4D4D4"/>
                </a:solidFill>
                <a:latin typeface="Consolas"/>
              </a:rPr>
              <a:t> </a:t>
            </a:r>
            <a:r>
              <a:rPr sz="1400" i="0" b="0">
                <a:solidFill>
                  <a:srgbClr val="D4D4D4"/>
                </a:solidFill>
                <a:latin typeface="Consolas"/>
              </a:rPr>
              <a:t>selecciono</a:t>
            </a:r>
            <a:r>
              <a:rPr sz="1400" i="0" b="0">
                <a:solidFill>
                  <a:srgbClr val="D4D4D4"/>
                </a:solidFill>
                <a:latin typeface="Consolas"/>
              </a:rPr>
              <a:t> </a:t>
            </a:r>
            <a:r>
              <a:rPr sz="1400" i="0" b="0">
                <a:solidFill>
                  <a:srgbClr val="D4D4D4"/>
                </a:solidFill>
                <a:latin typeface="Consolas"/>
              </a:rPr>
              <a:t>fecha</a:t>
            </a:r>
            <a:r>
              <a:rPr sz="1400" i="0" b="0">
                <a:solidFill>
                  <a:srgbClr val="D4D4D4"/>
                </a:solidFill>
                <a:latin typeface="Consolas"/>
              </a:rPr>
              <a:t> </a:t>
            </a:r>
            <a:r>
              <a:rPr sz="1400" i="0" b="0">
                <a:solidFill>
                  <a:srgbClr val="D4D4D4"/>
                </a:solidFill>
                <a:latin typeface="Consolas"/>
              </a:rPr>
              <a:t>y</a:t>
            </a:r>
            <a:r>
              <a:rPr sz="1400" i="0" b="0">
                <a:solidFill>
                  <a:srgbClr val="D4D4D4"/>
                </a:solidFill>
                <a:latin typeface="Consolas"/>
              </a:rPr>
              <a:t> </a:t>
            </a:r>
            <a:r>
              <a:rPr sz="1400" i="0" b="0">
                <a:solidFill>
                  <a:srgbClr val="D4D4D4"/>
                </a:solidFill>
                <a:latin typeface="Consolas"/>
              </a:rPr>
              <a:t>hora</a:t>
            </a:r>
            <a:r>
              <a:rPr sz="1400" i="0" b="0">
                <a:solidFill>
                  <a:srgbClr val="D4D4D4"/>
                </a:solidFill>
                <a:latin typeface="Consolas"/>
              </a:rPr>
              <a:t> </a:t>
            </a:r>
            <a:r>
              <a:rPr sz="1400" i="0" b="0">
                <a:solidFill>
                  <a:srgbClr val="D4D4D4"/>
                </a:solidFill>
                <a:latin typeface="Consolas"/>
              </a:rPr>
              <a:t>libres</a:t>
            </a:r>
          </a:p>
          <a:p>
            <a:pPr>
              <a:spcAft>
                <a:spcPts val="300"/>
              </a:spcAft>
            </a:pPr>
            <a:r>
              <a:rPr sz="1400" i="0" b="0">
                <a:solidFill>
                  <a:srgbClr val="D4D4D4"/>
                </a:solidFill>
                <a:latin typeface="Consolas"/>
              </a:rPr>
              <a:t>      </a:t>
            </a:r>
            <a:r>
              <a:rPr sz="1400" i="0" b="0">
                <a:solidFill>
                  <a:srgbClr val="D4D4D4"/>
                </a:solidFill>
                <a:latin typeface="Consolas"/>
              </a:rPr>
              <a:t>Entonces</a:t>
            </a:r>
            <a:r>
              <a:rPr sz="1400" i="0" b="0">
                <a:solidFill>
                  <a:srgbClr val="D4D4D4"/>
                </a:solidFill>
                <a:latin typeface="Consolas"/>
              </a:rPr>
              <a:t> </a:t>
            </a:r>
            <a:r>
              <a:rPr sz="1400" i="0" b="0">
                <a:solidFill>
                  <a:srgbClr val="D4D4D4"/>
                </a:solidFill>
                <a:latin typeface="Consolas"/>
              </a:rPr>
              <a:t>la</a:t>
            </a:r>
            <a:r>
              <a:rPr sz="1400" i="0" b="0">
                <a:solidFill>
                  <a:srgbClr val="D4D4D4"/>
                </a:solidFill>
                <a:latin typeface="Consolas"/>
              </a:rPr>
              <a:t> </a:t>
            </a:r>
            <a:r>
              <a:rPr sz="1400" i="0" b="0">
                <a:solidFill>
                  <a:srgbClr val="D4D4D4"/>
                </a:solidFill>
                <a:latin typeface="Consolas"/>
              </a:rPr>
              <a:t>cita</a:t>
            </a:r>
            <a:r>
              <a:rPr sz="1400" i="0" b="0">
                <a:solidFill>
                  <a:srgbClr val="D4D4D4"/>
                </a:solidFill>
                <a:latin typeface="Consolas"/>
              </a:rPr>
              <a:t> </a:t>
            </a:r>
            <a:r>
              <a:rPr sz="1400" i="0" b="0">
                <a:solidFill>
                  <a:srgbClr val="D4D4D4"/>
                </a:solidFill>
                <a:latin typeface="Consolas"/>
              </a:rPr>
              <a:t>queda</a:t>
            </a:r>
            <a:r>
              <a:rPr sz="1400" i="0" b="0">
                <a:solidFill>
                  <a:srgbClr val="D4D4D4"/>
                </a:solidFill>
                <a:latin typeface="Consolas"/>
              </a:rPr>
              <a:t> </a:t>
            </a:r>
            <a:r>
              <a:rPr sz="1400" i="0" b="0">
                <a:solidFill>
                  <a:srgbClr val="D4D4D4"/>
                </a:solidFill>
                <a:latin typeface="Consolas"/>
              </a:rPr>
              <a:t>en</a:t>
            </a:r>
            <a:r>
              <a:rPr sz="1400" i="0" b="0">
                <a:solidFill>
                  <a:srgbClr val="D4D4D4"/>
                </a:solidFill>
                <a:latin typeface="Consolas"/>
              </a:rPr>
              <a:t> </a:t>
            </a:r>
            <a:r>
              <a:rPr sz="1400" i="0" b="0">
                <a:solidFill>
                  <a:srgbClr val="D4D4D4"/>
                </a:solidFill>
                <a:latin typeface="Consolas"/>
              </a:rPr>
              <a:t>estado</a:t>
            </a:r>
            <a:r>
              <a:rPr sz="1400" i="0" b="0">
                <a:solidFill>
                  <a:srgbClr val="D4D4D4"/>
                </a:solidFill>
                <a:latin typeface="Consolas"/>
              </a:rPr>
              <a:t> </a:t>
            </a:r>
            <a:r>
              <a:rPr sz="1400" i="0" b="0">
                <a:solidFill>
                  <a:srgbClr val="D4D4D4"/>
                </a:solidFill>
                <a:latin typeface="Consolas"/>
              </a:rPr>
              <a:t>PROGRAMADA</a:t>
            </a:r>
          </a:p>
          <a:p>
            <a:pPr>
              <a:spcAft>
                <a:spcPts val="300"/>
              </a:spcAft>
            </a:pPr>
            <a:r>
              <a:rPr sz="1400" i="0" b="0">
                <a:solidFill>
                  <a:srgbClr val="D4D4D4"/>
                </a:solidFill>
                <a:latin typeface="Consolas"/>
              </a:rPr>
              <a:t/>
            </a:r>
          </a:p>
          <a:p>
            <a:pPr>
              <a:spcAft>
                <a:spcPts val="300"/>
              </a:spcAft>
            </a:pPr>
            <a:r>
              <a:rPr sz="1400" i="0" b="0">
                <a:solidFill>
                  <a:srgbClr val="D4D4D4"/>
                </a:solidFill>
                <a:latin typeface="Consolas"/>
              </a:rPr>
              <a:t>CA</a:t>
            </a:r>
            <a:r>
              <a:rPr sz="1400" i="0" b="0">
                <a:solidFill>
                  <a:srgbClr val="D4D4D4"/>
                </a:solidFill>
                <a:latin typeface="Consolas"/>
              </a:rPr>
              <a:t>-</a:t>
            </a:r>
            <a:r>
              <a:rPr sz="1400" i="0" b="0">
                <a:solidFill>
                  <a:srgbClr val="B5CEA8"/>
                </a:solidFill>
                <a:latin typeface="Consolas"/>
              </a:rPr>
              <a:t>2</a:t>
            </a:r>
            <a:r>
              <a:rPr sz="1400" i="0" b="0">
                <a:solidFill>
                  <a:srgbClr val="D4D4D4"/>
                </a:solidFill>
                <a:latin typeface="Consolas"/>
              </a:rPr>
              <a:t>  </a:t>
            </a:r>
            <a:r>
              <a:rPr sz="1400" i="0" b="0">
                <a:solidFill>
                  <a:srgbClr val="D4D4D4"/>
                </a:solidFill>
                <a:latin typeface="Consolas"/>
              </a:rPr>
              <a:t>Dado</a:t>
            </a:r>
            <a:r>
              <a:rPr sz="1400" i="0" b="0">
                <a:solidFill>
                  <a:srgbClr val="D4D4D4"/>
                </a:solidFill>
                <a:latin typeface="Consolas"/>
              </a:rPr>
              <a:t> </a:t>
            </a:r>
            <a:r>
              <a:rPr sz="1400" i="0" b="0">
                <a:solidFill>
                  <a:srgbClr val="D4D4D4"/>
                </a:solidFill>
                <a:latin typeface="Consolas"/>
              </a:rPr>
              <a:t>que</a:t>
            </a:r>
            <a:r>
              <a:rPr sz="1400" i="0" b="0">
                <a:solidFill>
                  <a:srgbClr val="D4D4D4"/>
                </a:solidFill>
                <a:latin typeface="Consolas"/>
              </a:rPr>
              <a:t> </a:t>
            </a:r>
            <a:r>
              <a:rPr sz="1400" i="0" b="0">
                <a:solidFill>
                  <a:srgbClr val="D4D4D4"/>
                </a:solidFill>
                <a:latin typeface="Consolas"/>
              </a:rPr>
              <a:t>la</a:t>
            </a:r>
            <a:r>
              <a:rPr sz="1400" i="0" b="0">
                <a:solidFill>
                  <a:srgbClr val="D4D4D4"/>
                </a:solidFill>
                <a:latin typeface="Consolas"/>
              </a:rPr>
              <a:t> </a:t>
            </a:r>
            <a:r>
              <a:rPr sz="1400" i="0" b="0">
                <a:solidFill>
                  <a:srgbClr val="D4D4D4"/>
                </a:solidFill>
                <a:latin typeface="Consolas"/>
              </a:rPr>
              <a:t>mascota</a:t>
            </a:r>
            <a:r>
              <a:rPr sz="1400" i="0" b="0">
                <a:solidFill>
                  <a:srgbClr val="D4D4D4"/>
                </a:solidFill>
                <a:latin typeface="Consolas"/>
              </a:rPr>
              <a:t> </a:t>
            </a:r>
            <a:r>
              <a:rPr sz="1400" i="0" b="0">
                <a:solidFill>
                  <a:srgbClr val="D4D4D4"/>
                </a:solidFill>
                <a:latin typeface="Consolas"/>
              </a:rPr>
              <a:t>esta</a:t>
            </a:r>
            <a:r>
              <a:rPr sz="1400" i="0" b="0">
                <a:solidFill>
                  <a:srgbClr val="D4D4D4"/>
                </a:solidFill>
                <a:latin typeface="Consolas"/>
              </a:rPr>
              <a:t> </a:t>
            </a:r>
            <a:r>
              <a:rPr sz="1400" i="0" b="0">
                <a:solidFill>
                  <a:srgbClr val="D4D4D4"/>
                </a:solidFill>
                <a:latin typeface="Consolas"/>
              </a:rPr>
              <a:t>inactiva</a:t>
            </a:r>
          </a:p>
          <a:p>
            <a:pPr>
              <a:spcAft>
                <a:spcPts val="300"/>
              </a:spcAft>
            </a:pPr>
            <a:r>
              <a:rPr sz="1400" i="0" b="0">
                <a:solidFill>
                  <a:srgbClr val="D4D4D4"/>
                </a:solidFill>
                <a:latin typeface="Consolas"/>
              </a:rPr>
              <a:t>      </a:t>
            </a:r>
            <a:r>
              <a:rPr sz="1400" i="0" b="0">
                <a:solidFill>
                  <a:srgbClr val="D4D4D4"/>
                </a:solidFill>
                <a:latin typeface="Consolas"/>
              </a:rPr>
              <a:t>Cuando</a:t>
            </a:r>
            <a:r>
              <a:rPr sz="1400" i="0" b="0">
                <a:solidFill>
                  <a:srgbClr val="D4D4D4"/>
                </a:solidFill>
                <a:latin typeface="Consolas"/>
              </a:rPr>
              <a:t> </a:t>
            </a:r>
            <a:r>
              <a:rPr sz="1400" i="0" b="0">
                <a:solidFill>
                  <a:srgbClr val="D4D4D4"/>
                </a:solidFill>
                <a:latin typeface="Consolas"/>
              </a:rPr>
              <a:t>intento</a:t>
            </a:r>
            <a:r>
              <a:rPr sz="1400" i="0" b="0">
                <a:solidFill>
                  <a:srgbClr val="D4D4D4"/>
                </a:solidFill>
                <a:latin typeface="Consolas"/>
              </a:rPr>
              <a:t> </a:t>
            </a:r>
            <a:r>
              <a:rPr sz="1400" i="0" b="0">
                <a:solidFill>
                  <a:srgbClr val="D4D4D4"/>
                </a:solidFill>
                <a:latin typeface="Consolas"/>
              </a:rPr>
              <a:t>agendar</a:t>
            </a:r>
          </a:p>
          <a:p>
            <a:pPr>
              <a:spcAft>
                <a:spcPts val="300"/>
              </a:spcAft>
            </a:pPr>
            <a:r>
              <a:rPr sz="1400" i="0" b="0">
                <a:solidFill>
                  <a:srgbClr val="D4D4D4"/>
                </a:solidFill>
                <a:latin typeface="Consolas"/>
              </a:rPr>
              <a:t>      </a:t>
            </a:r>
            <a:r>
              <a:rPr sz="1400" i="0" b="0">
                <a:solidFill>
                  <a:srgbClr val="D4D4D4"/>
                </a:solidFill>
                <a:latin typeface="Consolas"/>
              </a:rPr>
              <a:t>Entonces</a:t>
            </a:r>
            <a:r>
              <a:rPr sz="1400" i="0" b="0">
                <a:solidFill>
                  <a:srgbClr val="D4D4D4"/>
                </a:solidFill>
                <a:latin typeface="Consolas"/>
              </a:rPr>
              <a:t> </a:t>
            </a:r>
            <a:r>
              <a:rPr sz="1400" i="0" b="0">
                <a:solidFill>
                  <a:srgbClr val="D4D4D4"/>
                </a:solidFill>
                <a:latin typeface="Consolas"/>
              </a:rPr>
              <a:t>el</a:t>
            </a:r>
            <a:r>
              <a:rPr sz="1400" i="0" b="0">
                <a:solidFill>
                  <a:srgbClr val="D4D4D4"/>
                </a:solidFill>
                <a:latin typeface="Consolas"/>
              </a:rPr>
              <a:t> </a:t>
            </a:r>
            <a:r>
              <a:rPr sz="1400" i="0" b="0">
                <a:solidFill>
                  <a:srgbClr val="D4D4D4"/>
                </a:solidFill>
                <a:latin typeface="Consolas"/>
              </a:rPr>
              <a:t>sistema</a:t>
            </a:r>
            <a:r>
              <a:rPr sz="1400" i="0" b="0">
                <a:solidFill>
                  <a:srgbClr val="D4D4D4"/>
                </a:solidFill>
                <a:latin typeface="Consolas"/>
              </a:rPr>
              <a:t> </a:t>
            </a:r>
            <a:r>
              <a:rPr sz="1400" i="0" b="0">
                <a:solidFill>
                  <a:srgbClr val="D4D4D4"/>
                </a:solidFill>
                <a:latin typeface="Consolas"/>
              </a:rPr>
              <a:t>lo</a:t>
            </a:r>
            <a:r>
              <a:rPr sz="1400" i="0" b="0">
                <a:solidFill>
                  <a:srgbClr val="D4D4D4"/>
                </a:solidFill>
                <a:latin typeface="Consolas"/>
              </a:rPr>
              <a:t> </a:t>
            </a:r>
            <a:r>
              <a:rPr sz="1400" i="0" b="0">
                <a:solidFill>
                  <a:srgbClr val="D4D4D4"/>
                </a:solidFill>
                <a:latin typeface="Consolas"/>
              </a:rPr>
              <a:t>rechaza</a:t>
            </a:r>
            <a:r>
              <a:rPr sz="1400" i="0" b="0">
                <a:solidFill>
                  <a:srgbClr val="D4D4D4"/>
                </a:solidFill>
                <a:latin typeface="Consolas"/>
              </a:rPr>
              <a:t> </a:t>
            </a:r>
            <a:r>
              <a:rPr sz="1400" i="0" b="0">
                <a:solidFill>
                  <a:srgbClr val="D4D4D4"/>
                </a:solidFill>
                <a:latin typeface="Consolas"/>
              </a:rPr>
              <a:t>y</a:t>
            </a:r>
            <a:r>
              <a:rPr sz="1400" i="0" b="0">
                <a:solidFill>
                  <a:srgbClr val="D4D4D4"/>
                </a:solidFill>
                <a:latin typeface="Consolas"/>
              </a:rPr>
              <a:t> </a:t>
            </a:r>
            <a:r>
              <a:rPr sz="1400" i="0" b="0">
                <a:solidFill>
                  <a:srgbClr val="D4D4D4"/>
                </a:solidFill>
                <a:latin typeface="Consolas"/>
              </a:rPr>
              <a:t>explica</a:t>
            </a:r>
            <a:r>
              <a:rPr sz="1400" i="0" b="0">
                <a:solidFill>
                  <a:srgbClr val="D4D4D4"/>
                </a:solidFill>
                <a:latin typeface="Consolas"/>
              </a:rPr>
              <a:t> </a:t>
            </a:r>
            <a:r>
              <a:rPr sz="1400" i="0" b="0">
                <a:solidFill>
                  <a:srgbClr val="D4D4D4"/>
                </a:solidFill>
                <a:latin typeface="Consolas"/>
              </a:rPr>
              <a:t>por</a:t>
            </a:r>
            <a:r>
              <a:rPr sz="1400" i="0" b="0">
                <a:solidFill>
                  <a:srgbClr val="D4D4D4"/>
                </a:solidFill>
                <a:latin typeface="Consolas"/>
              </a:rPr>
              <a:t> </a:t>
            </a:r>
            <a:r>
              <a:rPr sz="1400" i="0" b="0">
                <a:solidFill>
                  <a:srgbClr val="D4D4D4"/>
                </a:solidFill>
                <a:latin typeface="Consolas"/>
              </a:rPr>
              <a:t>que</a:t>
            </a:r>
          </a:p>
          <a:p>
            <a:pPr>
              <a:spcAft>
                <a:spcPts val="300"/>
              </a:spcAft>
            </a:pPr>
            <a:r>
              <a:rPr sz="1400" i="0" b="0">
                <a:solidFill>
                  <a:srgbClr val="D4D4D4"/>
                </a:solidFill>
                <a:latin typeface="Consolas"/>
              </a:rPr>
              <a:t/>
            </a:r>
          </a:p>
          <a:p>
            <a:pPr>
              <a:spcAft>
                <a:spcPts val="300"/>
              </a:spcAft>
            </a:pPr>
            <a:r>
              <a:rPr sz="1400" i="0" b="0">
                <a:solidFill>
                  <a:srgbClr val="D4D4D4"/>
                </a:solidFill>
                <a:latin typeface="Consolas"/>
              </a:rPr>
              <a:t>-- Un criterio sin «Dado» no se puede probar: falta el estado inicial.</a:t>
            </a:r>
          </a:p>
        </p:txBody>
      </p:sp>
      <p:sp>
        <p:nvSpPr>
          <p:cNvPr id="13" name="TextBox 1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Historia HU-04 con sus tres criterios</a:t>
            </a:r>
          </a:p>
        </p:txBody>
      </p:sp>
      <p:sp>
        <p:nvSpPr>
          <p:cNvPr id="5" name="Rounded Rectangle 4"/>
          <p:cNvSpPr/>
          <p:nvPr/>
        </p:nvSpPr>
        <p:spPr>
          <a:xfrm>
            <a:off x="457200" y="1261872"/>
            <a:ext cx="11277295" cy="4798799"/>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1277295"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10180015" cy="292608"/>
          </a:xfrm>
          <a:prstGeom prst="rect">
            <a:avLst/>
          </a:prstGeom>
          <a:noFill/>
        </p:spPr>
        <p:txBody>
          <a:bodyPr wrap="square" anchor="ctr"/>
          <a:lstStyle/>
          <a:p>
            <a:pPr algn="r"/>
            <a:r>
              <a:rPr sz="1100" b="1" i="0">
                <a:solidFill>
                  <a:srgbClr val="BBBBBB"/>
                </a:solidFill>
                <a:latin typeface="Calibri"/>
              </a:rPr>
              <a:t>Plantilla</a:t>
            </a:r>
          </a:p>
        </p:txBody>
      </p:sp>
      <p:sp>
        <p:nvSpPr>
          <p:cNvPr id="11" name="TextBox 10"/>
          <p:cNvSpPr txBox="1"/>
          <p:nvPr/>
        </p:nvSpPr>
        <p:spPr>
          <a:xfrm>
            <a:off x="685800" y="1719072"/>
            <a:ext cx="502920" cy="4204439"/>
          </a:xfrm>
          <a:prstGeom prst="rect">
            <a:avLst/>
          </a:prstGeom>
          <a:noFill/>
        </p:spPr>
        <p:txBody>
          <a:bodyPr wrap="square">
            <a:spAutoFit/>
          </a:bodyPr>
          <a:lstStyle/>
          <a:p>
            <a:pPr algn="r">
              <a:spcAft>
                <a:spcPts val="321"/>
              </a:spcAft>
            </a:pPr>
            <a:r>
              <a:rPr sz="1500" i="0" b="0">
                <a:solidFill>
                  <a:srgbClr val="858585"/>
                </a:solidFill>
                <a:latin typeface="Consolas"/>
              </a:rPr>
              <a:t>1</a:t>
            </a:r>
          </a:p>
          <a:p>
            <a:pPr algn="r">
              <a:spcAft>
                <a:spcPts val="321"/>
              </a:spcAft>
            </a:pPr>
            <a:r>
              <a:rPr sz="1500" i="0" b="0">
                <a:solidFill>
                  <a:srgbClr val="858585"/>
                </a:solidFill>
                <a:latin typeface="Consolas"/>
              </a:rPr>
              <a:t>2</a:t>
            </a:r>
          </a:p>
          <a:p>
            <a:pPr algn="r">
              <a:spcAft>
                <a:spcPts val="321"/>
              </a:spcAft>
            </a:pPr>
            <a:r>
              <a:rPr sz="1500" i="0" b="0">
                <a:solidFill>
                  <a:srgbClr val="858585"/>
                </a:solidFill>
                <a:latin typeface="Consolas"/>
              </a:rPr>
              <a:t>3</a:t>
            </a:r>
          </a:p>
          <a:p>
            <a:pPr algn="r">
              <a:spcAft>
                <a:spcPts val="321"/>
              </a:spcAft>
            </a:pPr>
            <a:r>
              <a:rPr sz="1500" i="0" b="0">
                <a:solidFill>
                  <a:srgbClr val="858585"/>
                </a:solidFill>
                <a:latin typeface="Consolas"/>
              </a:rPr>
              <a:t>4</a:t>
            </a:r>
          </a:p>
          <a:p>
            <a:pPr algn="r">
              <a:spcAft>
                <a:spcPts val="321"/>
              </a:spcAft>
            </a:pPr>
            <a:r>
              <a:rPr sz="1500" i="0" b="0">
                <a:solidFill>
                  <a:srgbClr val="858585"/>
                </a:solidFill>
                <a:latin typeface="Consolas"/>
              </a:rPr>
              <a:t>5</a:t>
            </a:r>
          </a:p>
          <a:p>
            <a:pPr algn="r">
              <a:spcAft>
                <a:spcPts val="321"/>
              </a:spcAft>
            </a:pPr>
            <a:r>
              <a:rPr sz="1500" i="0" b="0">
                <a:solidFill>
                  <a:srgbClr val="858585"/>
                </a:solidFill>
                <a:latin typeface="Consolas"/>
              </a:rPr>
              <a:t>6</a:t>
            </a:r>
          </a:p>
          <a:p>
            <a:pPr algn="r">
              <a:spcAft>
                <a:spcPts val="321"/>
              </a:spcAft>
            </a:pPr>
            <a:r>
              <a:rPr sz="1500" i="0" b="0">
                <a:solidFill>
                  <a:srgbClr val="858585"/>
                </a:solidFill>
                <a:latin typeface="Consolas"/>
              </a:rPr>
              <a:t>7</a:t>
            </a:r>
          </a:p>
          <a:p>
            <a:pPr algn="r">
              <a:spcAft>
                <a:spcPts val="321"/>
              </a:spcAft>
            </a:pPr>
            <a:r>
              <a:rPr sz="1500" i="0" b="0">
                <a:solidFill>
                  <a:srgbClr val="858585"/>
                </a:solidFill>
                <a:latin typeface="Consolas"/>
              </a:rPr>
              <a:t>8</a:t>
            </a:r>
          </a:p>
          <a:p>
            <a:pPr algn="r">
              <a:spcAft>
                <a:spcPts val="321"/>
              </a:spcAft>
            </a:pPr>
            <a:r>
              <a:rPr sz="1500" i="0" b="0">
                <a:solidFill>
                  <a:srgbClr val="858585"/>
                </a:solidFill>
                <a:latin typeface="Consolas"/>
              </a:rPr>
              <a:t>9</a:t>
            </a:r>
          </a:p>
          <a:p>
            <a:pPr algn="r">
              <a:spcAft>
                <a:spcPts val="321"/>
              </a:spcAft>
            </a:pPr>
            <a:r>
              <a:rPr sz="1500" i="0" b="0">
                <a:solidFill>
                  <a:srgbClr val="858585"/>
                </a:solidFill>
                <a:latin typeface="Consolas"/>
              </a:rPr>
              <a:t>10</a:t>
            </a:r>
          </a:p>
          <a:p>
            <a:pPr algn="r">
              <a:spcAft>
                <a:spcPts val="321"/>
              </a:spcAft>
            </a:pPr>
            <a:r>
              <a:rPr sz="1500" i="0" b="0">
                <a:solidFill>
                  <a:srgbClr val="858585"/>
                </a:solidFill>
                <a:latin typeface="Consolas"/>
              </a:rPr>
              <a:t>11</a:t>
            </a:r>
          </a:p>
          <a:p>
            <a:pPr algn="r">
              <a:spcAft>
                <a:spcPts val="321"/>
              </a:spcAft>
            </a:pPr>
            <a:r>
              <a:rPr sz="1500" i="0" b="0">
                <a:solidFill>
                  <a:srgbClr val="858585"/>
                </a:solidFill>
                <a:latin typeface="Consolas"/>
              </a:rPr>
              <a:t>12</a:t>
            </a:r>
          </a:p>
          <a:p>
            <a:pPr algn="r">
              <a:spcAft>
                <a:spcPts val="321"/>
              </a:spcAft>
            </a:pPr>
            <a:r>
              <a:rPr sz="1500" i="0" b="0">
                <a:solidFill>
                  <a:srgbClr val="858585"/>
                </a:solidFill>
                <a:latin typeface="Consolas"/>
              </a:rPr>
              <a:t>13</a:t>
            </a:r>
          </a:p>
          <a:p>
            <a:pPr algn="r">
              <a:spcAft>
                <a:spcPts val="321"/>
              </a:spcAft>
            </a:pPr>
            <a:r>
              <a:rPr sz="1500" i="0" b="0">
                <a:solidFill>
                  <a:srgbClr val="858585"/>
                </a:solidFill>
                <a:latin typeface="Consolas"/>
              </a:rPr>
              <a:t>14</a:t>
            </a:r>
          </a:p>
          <a:p>
            <a:pPr algn="r">
              <a:spcAft>
                <a:spcPts val="321"/>
              </a:spcAft>
            </a:pPr>
            <a:r>
              <a:rPr sz="1500" i="0" b="0">
                <a:solidFill>
                  <a:srgbClr val="858585"/>
                </a:solidFill>
                <a:latin typeface="Consolas"/>
              </a:rPr>
              <a:t>15</a:t>
            </a:r>
          </a:p>
        </p:txBody>
      </p:sp>
      <p:sp>
        <p:nvSpPr>
          <p:cNvPr id="12" name="TextBox 11"/>
          <p:cNvSpPr txBox="1"/>
          <p:nvPr/>
        </p:nvSpPr>
        <p:spPr>
          <a:xfrm>
            <a:off x="1188720" y="1719072"/>
            <a:ext cx="10271455" cy="4204439"/>
          </a:xfrm>
          <a:prstGeom prst="rect">
            <a:avLst/>
          </a:prstGeom>
          <a:noFill/>
        </p:spPr>
        <p:txBody>
          <a:bodyPr wrap="square">
            <a:spAutoFit/>
          </a:bodyPr>
          <a:lstStyle/>
          <a:p>
            <a:pPr>
              <a:spcAft>
                <a:spcPts val="321"/>
              </a:spcAft>
            </a:pPr>
            <a:r>
              <a:rPr sz="1500" i="0" b="0">
                <a:solidFill>
                  <a:srgbClr val="D4D4D4"/>
                </a:solidFill>
                <a:latin typeface="Consolas"/>
              </a:rPr>
              <a:t>HU</a:t>
            </a:r>
            <a:r>
              <a:rPr sz="1500" i="0" b="0">
                <a:solidFill>
                  <a:srgbClr val="D4D4D4"/>
                </a:solidFill>
                <a:latin typeface="Consolas"/>
              </a:rPr>
              <a:t>-</a:t>
            </a:r>
            <a:r>
              <a:rPr sz="1500" i="0" b="0">
                <a:solidFill>
                  <a:srgbClr val="B5CEA8"/>
                </a:solidFill>
                <a:latin typeface="Consolas"/>
              </a:rPr>
              <a:t>04</a:t>
            </a:r>
            <a:r>
              <a:rPr sz="1500" i="0" b="0">
                <a:solidFill>
                  <a:srgbClr val="D4D4D4"/>
                </a:solidFill>
                <a:latin typeface="Consolas"/>
              </a:rPr>
              <a:t>  [</a:t>
            </a:r>
            <a:r>
              <a:rPr sz="1500" i="0" b="0">
                <a:solidFill>
                  <a:srgbClr val="D4D4D4"/>
                </a:solidFill>
                <a:latin typeface="Consolas"/>
              </a:rPr>
              <a:t>Epica</a:t>
            </a:r>
            <a:r>
              <a:rPr sz="1500" i="0" b="0">
                <a:solidFill>
                  <a:srgbClr val="D4D4D4"/>
                </a:solidFill>
                <a:latin typeface="Consolas"/>
              </a:rPr>
              <a:t>: </a:t>
            </a:r>
            <a:r>
              <a:rPr sz="1500" i="0" b="0">
                <a:solidFill>
                  <a:srgbClr val="D4D4D4"/>
                </a:solidFill>
                <a:latin typeface="Consolas"/>
              </a:rPr>
              <a:t>E</a:t>
            </a:r>
            <a:r>
              <a:rPr sz="1500" i="0" b="0">
                <a:solidFill>
                  <a:srgbClr val="D4D4D4"/>
                </a:solidFill>
                <a:latin typeface="Consolas"/>
              </a:rPr>
              <a:t>-</a:t>
            </a:r>
            <a:r>
              <a:rPr sz="1500" i="0" b="0">
                <a:solidFill>
                  <a:srgbClr val="B5CEA8"/>
                </a:solidFill>
                <a:latin typeface="Consolas"/>
              </a:rPr>
              <a:t>02</a:t>
            </a:r>
            <a:r>
              <a:rPr sz="1500" i="0" b="0">
                <a:solidFill>
                  <a:srgbClr val="D4D4D4"/>
                </a:solidFill>
                <a:latin typeface="Consolas"/>
              </a:rPr>
              <a:t> </a:t>
            </a:r>
            <a:r>
              <a:rPr sz="1500" i="0" b="0">
                <a:solidFill>
                  <a:srgbClr val="D4D4D4"/>
                </a:solidFill>
                <a:latin typeface="Consolas"/>
              </a:rPr>
              <a:t>Historial</a:t>
            </a:r>
            <a:r>
              <a:rPr sz="1500" i="0" b="0">
                <a:solidFill>
                  <a:srgbClr val="D4D4D4"/>
                </a:solidFill>
                <a:latin typeface="Consolas"/>
              </a:rPr>
              <a:t> </a:t>
            </a:r>
            <a:r>
              <a:rPr sz="1500" i="0" b="0">
                <a:solidFill>
                  <a:srgbClr val="D4D4D4"/>
                </a:solidFill>
                <a:latin typeface="Consolas"/>
              </a:rPr>
              <a:t>y</a:t>
            </a:r>
            <a:r>
              <a:rPr sz="1500" i="0" b="0">
                <a:solidFill>
                  <a:srgbClr val="D4D4D4"/>
                </a:solidFill>
                <a:latin typeface="Consolas"/>
              </a:rPr>
              <a:t> </a:t>
            </a:r>
            <a:r>
              <a:rPr sz="1500" i="0" b="0">
                <a:solidFill>
                  <a:srgbClr val="D4D4D4"/>
                </a:solidFill>
                <a:latin typeface="Consolas"/>
              </a:rPr>
              <a:t>agenda</a:t>
            </a:r>
            <a:r>
              <a:rPr sz="1500" i="0" b="0">
                <a:solidFill>
                  <a:srgbClr val="D4D4D4"/>
                </a:solidFill>
                <a:latin typeface="Consolas"/>
              </a:rPr>
              <a:t>]</a:t>
            </a:r>
          </a:p>
          <a:p>
            <a:pPr>
              <a:spcAft>
                <a:spcPts val="321"/>
              </a:spcAft>
            </a:pPr>
            <a:r>
              <a:rPr sz="1500" i="0" b="0">
                <a:solidFill>
                  <a:srgbClr val="D4D4D4"/>
                </a:solidFill>
                <a:latin typeface="Consolas"/>
              </a:rPr>
              <a:t>Como</a:t>
            </a:r>
            <a:r>
              <a:rPr sz="1500" i="0" b="0">
                <a:solidFill>
                  <a:srgbClr val="D4D4D4"/>
                </a:solidFill>
                <a:latin typeface="Consolas"/>
              </a:rPr>
              <a:t> </a:t>
            </a:r>
            <a:r>
              <a:rPr sz="1500" i="0" b="0">
                <a:solidFill>
                  <a:srgbClr val="D4D4D4"/>
                </a:solidFill>
                <a:latin typeface="Consolas"/>
              </a:rPr>
              <a:t>veterinario</a:t>
            </a:r>
            <a:r>
              <a:rPr sz="1500" i="0" b="0">
                <a:solidFill>
                  <a:srgbClr val="D4D4D4"/>
                </a:solidFill>
                <a:latin typeface="Consolas"/>
              </a:rPr>
              <a:t> </a:t>
            </a:r>
            <a:r>
              <a:rPr sz="1500" i="0" b="0">
                <a:solidFill>
                  <a:srgbClr val="D4D4D4"/>
                </a:solidFill>
                <a:latin typeface="Consolas"/>
              </a:rPr>
              <a:t>de</a:t>
            </a:r>
            <a:r>
              <a:rPr sz="1500" i="0" b="0">
                <a:solidFill>
                  <a:srgbClr val="D4D4D4"/>
                </a:solidFill>
                <a:latin typeface="Consolas"/>
              </a:rPr>
              <a:t> </a:t>
            </a:r>
            <a:r>
              <a:rPr sz="1500" i="0" b="0">
                <a:solidFill>
                  <a:srgbClr val="D4D4D4"/>
                </a:solidFill>
                <a:latin typeface="Consolas"/>
              </a:rPr>
              <a:t>la</a:t>
            </a:r>
            <a:r>
              <a:rPr sz="1500" i="0" b="0">
                <a:solidFill>
                  <a:srgbClr val="D4D4D4"/>
                </a:solidFill>
                <a:latin typeface="Consolas"/>
              </a:rPr>
              <a:t> </a:t>
            </a:r>
            <a:r>
              <a:rPr sz="1500" i="0" b="0">
                <a:solidFill>
                  <a:srgbClr val="D4D4D4"/>
                </a:solidFill>
                <a:latin typeface="Consolas"/>
              </a:rPr>
              <a:t>clinica</a:t>
            </a:r>
          </a:p>
          <a:p>
            <a:pPr>
              <a:spcAft>
                <a:spcPts val="321"/>
              </a:spcAft>
            </a:pPr>
            <a:r>
              <a:rPr sz="1500" i="0" b="0">
                <a:solidFill>
                  <a:srgbClr val="D4D4D4"/>
                </a:solidFill>
                <a:latin typeface="Consolas"/>
              </a:rPr>
              <a:t>quiero</a:t>
            </a:r>
            <a:r>
              <a:rPr sz="1500" i="0" b="0">
                <a:solidFill>
                  <a:srgbClr val="D4D4D4"/>
                </a:solidFill>
                <a:latin typeface="Consolas"/>
              </a:rPr>
              <a:t> </a:t>
            </a:r>
            <a:r>
              <a:rPr sz="1500" i="0" b="0">
                <a:solidFill>
                  <a:srgbClr val="D4D4D4"/>
                </a:solidFill>
                <a:latin typeface="Consolas"/>
              </a:rPr>
              <a:t>consultar</a:t>
            </a:r>
            <a:r>
              <a:rPr sz="1500" i="0" b="0">
                <a:solidFill>
                  <a:srgbClr val="D4D4D4"/>
                </a:solidFill>
                <a:latin typeface="Consolas"/>
              </a:rPr>
              <a:t> </a:t>
            </a:r>
            <a:r>
              <a:rPr sz="1500" i="0" b="0">
                <a:solidFill>
                  <a:srgbClr val="D4D4D4"/>
                </a:solidFill>
                <a:latin typeface="Consolas"/>
              </a:rPr>
              <a:t>el</a:t>
            </a:r>
            <a:r>
              <a:rPr sz="1500" i="0" b="0">
                <a:solidFill>
                  <a:srgbClr val="D4D4D4"/>
                </a:solidFill>
                <a:latin typeface="Consolas"/>
              </a:rPr>
              <a:t> </a:t>
            </a:r>
            <a:r>
              <a:rPr sz="1500" i="0" b="0">
                <a:solidFill>
                  <a:srgbClr val="D4D4D4"/>
                </a:solidFill>
                <a:latin typeface="Consolas"/>
              </a:rPr>
              <a:t>historial</a:t>
            </a:r>
            <a:r>
              <a:rPr sz="1500" i="0" b="0">
                <a:solidFill>
                  <a:srgbClr val="D4D4D4"/>
                </a:solidFill>
                <a:latin typeface="Consolas"/>
              </a:rPr>
              <a:t> </a:t>
            </a:r>
            <a:r>
              <a:rPr sz="1500" i="0" b="0">
                <a:solidFill>
                  <a:srgbClr val="D4D4D4"/>
                </a:solidFill>
                <a:latin typeface="Consolas"/>
              </a:rPr>
              <a:t>de</a:t>
            </a:r>
            <a:r>
              <a:rPr sz="1500" i="0" b="0">
                <a:solidFill>
                  <a:srgbClr val="D4D4D4"/>
                </a:solidFill>
                <a:latin typeface="Consolas"/>
              </a:rPr>
              <a:t> </a:t>
            </a:r>
            <a:r>
              <a:rPr sz="1500" i="0" b="0">
                <a:solidFill>
                  <a:srgbClr val="D4D4D4"/>
                </a:solidFill>
                <a:latin typeface="Consolas"/>
              </a:rPr>
              <a:t>atenciones</a:t>
            </a:r>
            <a:r>
              <a:rPr sz="1500" i="0" b="0">
                <a:solidFill>
                  <a:srgbClr val="D4D4D4"/>
                </a:solidFill>
                <a:latin typeface="Consolas"/>
              </a:rPr>
              <a:t> </a:t>
            </a:r>
            <a:r>
              <a:rPr sz="1500" i="0" b="0">
                <a:solidFill>
                  <a:srgbClr val="D4D4D4"/>
                </a:solidFill>
                <a:latin typeface="Consolas"/>
              </a:rPr>
              <a:t>de</a:t>
            </a:r>
            <a:r>
              <a:rPr sz="1500" i="0" b="0">
                <a:solidFill>
                  <a:srgbClr val="D4D4D4"/>
                </a:solidFill>
                <a:latin typeface="Consolas"/>
              </a:rPr>
              <a:t> </a:t>
            </a:r>
            <a:r>
              <a:rPr sz="1500" i="0" b="0">
                <a:solidFill>
                  <a:srgbClr val="D4D4D4"/>
                </a:solidFill>
                <a:latin typeface="Consolas"/>
              </a:rPr>
              <a:t>una</a:t>
            </a:r>
            <a:r>
              <a:rPr sz="1500" i="0" b="0">
                <a:solidFill>
                  <a:srgbClr val="D4D4D4"/>
                </a:solidFill>
                <a:latin typeface="Consolas"/>
              </a:rPr>
              <a:t> </a:t>
            </a:r>
            <a:r>
              <a:rPr sz="1500" i="0" b="0">
                <a:solidFill>
                  <a:srgbClr val="D4D4D4"/>
                </a:solidFill>
                <a:latin typeface="Consolas"/>
              </a:rPr>
              <a:t>mascota</a:t>
            </a:r>
            <a:r>
              <a:rPr sz="1500" i="0" b="0">
                <a:solidFill>
                  <a:srgbClr val="D4D4D4"/>
                </a:solidFill>
                <a:latin typeface="Consolas"/>
              </a:rPr>
              <a:t> </a:t>
            </a:r>
            <a:r>
              <a:rPr sz="1500" i="0" b="0">
                <a:solidFill>
                  <a:srgbClr val="D4D4D4"/>
                </a:solidFill>
                <a:latin typeface="Consolas"/>
              </a:rPr>
              <a:t>por</a:t>
            </a:r>
            <a:r>
              <a:rPr sz="1500" i="0" b="0">
                <a:solidFill>
                  <a:srgbClr val="D4D4D4"/>
                </a:solidFill>
                <a:latin typeface="Consolas"/>
              </a:rPr>
              <a:t> </a:t>
            </a:r>
            <a:r>
              <a:rPr sz="1500" i="0" b="0">
                <a:solidFill>
                  <a:srgbClr val="D4D4D4"/>
                </a:solidFill>
                <a:latin typeface="Consolas"/>
              </a:rPr>
              <a:t>el</a:t>
            </a:r>
            <a:r>
              <a:rPr sz="1500" i="0" b="0">
                <a:solidFill>
                  <a:srgbClr val="D4D4D4"/>
                </a:solidFill>
                <a:latin typeface="Consolas"/>
              </a:rPr>
              <a:t> </a:t>
            </a:r>
            <a:r>
              <a:rPr sz="1500" i="0" b="0">
                <a:solidFill>
                  <a:srgbClr val="D4D4D4"/>
                </a:solidFill>
                <a:latin typeface="Consolas"/>
              </a:rPr>
              <a:t>documento</a:t>
            </a:r>
            <a:r>
              <a:rPr sz="1500" i="0" b="0">
                <a:solidFill>
                  <a:srgbClr val="D4D4D4"/>
                </a:solidFill>
                <a:latin typeface="Consolas"/>
              </a:rPr>
              <a:t> </a:t>
            </a:r>
            <a:r>
              <a:rPr sz="1500" i="0" b="0">
                <a:solidFill>
                  <a:srgbClr val="D4D4D4"/>
                </a:solidFill>
                <a:latin typeface="Consolas"/>
              </a:rPr>
              <a:t>del</a:t>
            </a:r>
            <a:r>
              <a:rPr sz="1500" i="0" b="0">
                <a:solidFill>
                  <a:srgbClr val="D4D4D4"/>
                </a:solidFill>
                <a:latin typeface="Consolas"/>
              </a:rPr>
              <a:t> </a:t>
            </a:r>
            <a:r>
              <a:rPr sz="1500" i="0" b="0">
                <a:solidFill>
                  <a:srgbClr val="D4D4D4"/>
                </a:solidFill>
                <a:latin typeface="Consolas"/>
              </a:rPr>
              <a:t>dueno</a:t>
            </a:r>
          </a:p>
          <a:p>
            <a:pPr>
              <a:spcAft>
                <a:spcPts val="321"/>
              </a:spcAft>
            </a:pPr>
            <a:r>
              <a:rPr sz="1500" i="0" b="0">
                <a:solidFill>
                  <a:srgbClr val="D4D4D4"/>
                </a:solidFill>
                <a:latin typeface="Consolas"/>
              </a:rPr>
              <a:t>para</a:t>
            </a:r>
            <a:r>
              <a:rPr sz="1500" i="0" b="0">
                <a:solidFill>
                  <a:srgbClr val="D4D4D4"/>
                </a:solidFill>
                <a:latin typeface="Consolas"/>
              </a:rPr>
              <a:t> </a:t>
            </a:r>
            <a:r>
              <a:rPr sz="1500" i="0" b="0">
                <a:solidFill>
                  <a:srgbClr val="D4D4D4"/>
                </a:solidFill>
                <a:latin typeface="Consolas"/>
              </a:rPr>
              <a:t>decidir</a:t>
            </a:r>
            <a:r>
              <a:rPr sz="1500" i="0" b="0">
                <a:solidFill>
                  <a:srgbClr val="D4D4D4"/>
                </a:solidFill>
                <a:latin typeface="Consolas"/>
              </a:rPr>
              <a:t> </a:t>
            </a:r>
            <a:r>
              <a:rPr sz="1500" i="0" b="0">
                <a:solidFill>
                  <a:srgbClr val="D4D4D4"/>
                </a:solidFill>
                <a:latin typeface="Consolas"/>
              </a:rPr>
              <a:t>el</a:t>
            </a:r>
            <a:r>
              <a:rPr sz="1500" i="0" b="0">
                <a:solidFill>
                  <a:srgbClr val="D4D4D4"/>
                </a:solidFill>
                <a:latin typeface="Consolas"/>
              </a:rPr>
              <a:t> </a:t>
            </a:r>
            <a:r>
              <a:rPr sz="1500" i="0" b="0">
                <a:solidFill>
                  <a:srgbClr val="D4D4D4"/>
                </a:solidFill>
                <a:latin typeface="Consolas"/>
              </a:rPr>
              <a:t>tratamiento</a:t>
            </a:r>
            <a:r>
              <a:rPr sz="1500" i="0" b="0">
                <a:solidFill>
                  <a:srgbClr val="D4D4D4"/>
                </a:solidFill>
                <a:latin typeface="Consolas"/>
              </a:rPr>
              <a:t> </a:t>
            </a:r>
            <a:r>
              <a:rPr sz="1500" i="0" b="0">
                <a:solidFill>
                  <a:srgbClr val="D4D4D4"/>
                </a:solidFill>
                <a:latin typeface="Consolas"/>
              </a:rPr>
              <a:t>sin</a:t>
            </a:r>
            <a:r>
              <a:rPr sz="1500" i="0" b="0">
                <a:solidFill>
                  <a:srgbClr val="D4D4D4"/>
                </a:solidFill>
                <a:latin typeface="Consolas"/>
              </a:rPr>
              <a:t> </a:t>
            </a:r>
            <a:r>
              <a:rPr sz="1500" i="0" b="0">
                <a:solidFill>
                  <a:srgbClr val="D4D4D4"/>
                </a:solidFill>
                <a:latin typeface="Consolas"/>
              </a:rPr>
              <a:t>depender</a:t>
            </a:r>
            <a:r>
              <a:rPr sz="1500" i="0" b="0">
                <a:solidFill>
                  <a:srgbClr val="D4D4D4"/>
                </a:solidFill>
                <a:latin typeface="Consolas"/>
              </a:rPr>
              <a:t> </a:t>
            </a:r>
            <a:r>
              <a:rPr sz="1500" i="0" b="0">
                <a:solidFill>
                  <a:srgbClr val="D4D4D4"/>
                </a:solidFill>
                <a:latin typeface="Consolas"/>
              </a:rPr>
              <a:t>de</a:t>
            </a:r>
            <a:r>
              <a:rPr sz="1500" i="0" b="0">
                <a:solidFill>
                  <a:srgbClr val="D4D4D4"/>
                </a:solidFill>
                <a:latin typeface="Consolas"/>
              </a:rPr>
              <a:t> </a:t>
            </a:r>
            <a:r>
              <a:rPr sz="1500" i="0" b="0">
                <a:solidFill>
                  <a:srgbClr val="D4D4D4"/>
                </a:solidFill>
                <a:latin typeface="Consolas"/>
              </a:rPr>
              <a:t>la</a:t>
            </a:r>
            <a:r>
              <a:rPr sz="1500" i="0" b="0">
                <a:solidFill>
                  <a:srgbClr val="D4D4D4"/>
                </a:solidFill>
                <a:latin typeface="Consolas"/>
              </a:rPr>
              <a:t> </a:t>
            </a:r>
            <a:r>
              <a:rPr sz="1500" i="0" b="0">
                <a:solidFill>
                  <a:srgbClr val="D4D4D4"/>
                </a:solidFill>
                <a:latin typeface="Consolas"/>
              </a:rPr>
              <a:t>carpeta</a:t>
            </a:r>
            <a:r>
              <a:rPr sz="1500" i="0" b="0">
                <a:solidFill>
                  <a:srgbClr val="D4D4D4"/>
                </a:solidFill>
                <a:latin typeface="Consolas"/>
              </a:rPr>
              <a:t> </a:t>
            </a:r>
            <a:r>
              <a:rPr sz="1500" i="0" b="0">
                <a:solidFill>
                  <a:srgbClr val="D4D4D4"/>
                </a:solidFill>
                <a:latin typeface="Consolas"/>
              </a:rPr>
              <a:t>fisica</a:t>
            </a:r>
            <a:r>
              <a:rPr sz="1500" i="0" b="0">
                <a:solidFill>
                  <a:srgbClr val="D4D4D4"/>
                </a:solidFill>
                <a:latin typeface="Consolas"/>
              </a:rPr>
              <a:t>.</a:t>
            </a:r>
          </a:p>
          <a:p>
            <a:pPr>
              <a:spcAft>
                <a:spcPts val="321"/>
              </a:spcAft>
            </a:pPr>
            <a:r>
              <a:rPr sz="1500" i="0" b="0">
                <a:solidFill>
                  <a:srgbClr val="D4D4D4"/>
                </a:solidFill>
                <a:latin typeface="Consolas"/>
              </a:rPr>
              <a:t/>
            </a:r>
          </a:p>
          <a:p>
            <a:pPr>
              <a:spcAft>
                <a:spcPts val="321"/>
              </a:spcAft>
            </a:pPr>
            <a:r>
              <a:rPr sz="1500" i="0" b="0">
                <a:solidFill>
                  <a:srgbClr val="D4D4D4"/>
                </a:solidFill>
                <a:latin typeface="Consolas"/>
              </a:rPr>
              <a:t>Criterios</a:t>
            </a:r>
            <a:r>
              <a:rPr sz="1500" i="0" b="0">
                <a:solidFill>
                  <a:srgbClr val="D4D4D4"/>
                </a:solidFill>
                <a:latin typeface="Consolas"/>
              </a:rPr>
              <a:t> </a:t>
            </a:r>
            <a:r>
              <a:rPr sz="1500" i="0" b="0">
                <a:solidFill>
                  <a:srgbClr val="D4D4D4"/>
                </a:solidFill>
                <a:latin typeface="Consolas"/>
              </a:rPr>
              <a:t>de</a:t>
            </a:r>
            <a:r>
              <a:rPr sz="1500" i="0" b="0">
                <a:solidFill>
                  <a:srgbClr val="D4D4D4"/>
                </a:solidFill>
                <a:latin typeface="Consolas"/>
              </a:rPr>
              <a:t> </a:t>
            </a:r>
            <a:r>
              <a:rPr sz="1500" i="0" b="0">
                <a:solidFill>
                  <a:srgbClr val="D4D4D4"/>
                </a:solidFill>
                <a:latin typeface="Consolas"/>
              </a:rPr>
              <a:t>aceptacion</a:t>
            </a:r>
          </a:p>
          <a:p>
            <a:pPr>
              <a:spcAft>
                <a:spcPts val="321"/>
              </a:spcAft>
            </a:pPr>
            <a:r>
              <a:rPr sz="1500" i="0" b="0">
                <a:solidFill>
                  <a:srgbClr val="D4D4D4"/>
                </a:solidFill>
                <a:latin typeface="Consolas"/>
              </a:rPr>
              <a:t>CA</a:t>
            </a:r>
            <a:r>
              <a:rPr sz="1500" i="0" b="0">
                <a:solidFill>
                  <a:srgbClr val="D4D4D4"/>
                </a:solidFill>
                <a:latin typeface="Consolas"/>
              </a:rPr>
              <a:t>-</a:t>
            </a:r>
            <a:r>
              <a:rPr sz="1500" i="0" b="0">
                <a:solidFill>
                  <a:srgbClr val="B5CEA8"/>
                </a:solidFill>
                <a:latin typeface="Consolas"/>
              </a:rPr>
              <a:t>1</a:t>
            </a:r>
            <a:r>
              <a:rPr sz="1500" i="0" b="0">
                <a:solidFill>
                  <a:srgbClr val="D4D4D4"/>
                </a:solidFill>
                <a:latin typeface="Consolas"/>
              </a:rPr>
              <a:t>  </a:t>
            </a:r>
            <a:r>
              <a:rPr sz="1500" i="0" b="0">
                <a:solidFill>
                  <a:srgbClr val="D4D4D4"/>
                </a:solidFill>
                <a:latin typeface="Consolas"/>
              </a:rPr>
              <a:t>Dado</a:t>
            </a:r>
            <a:r>
              <a:rPr sz="1500" i="0" b="0">
                <a:solidFill>
                  <a:srgbClr val="D4D4D4"/>
                </a:solidFill>
                <a:latin typeface="Consolas"/>
              </a:rPr>
              <a:t> </a:t>
            </a:r>
            <a:r>
              <a:rPr sz="1500" i="0" b="0">
                <a:solidFill>
                  <a:srgbClr val="D4D4D4"/>
                </a:solidFill>
                <a:latin typeface="Consolas"/>
              </a:rPr>
              <a:t>un</a:t>
            </a:r>
            <a:r>
              <a:rPr sz="1500" i="0" b="0">
                <a:solidFill>
                  <a:srgbClr val="D4D4D4"/>
                </a:solidFill>
                <a:latin typeface="Consolas"/>
              </a:rPr>
              <a:t> </a:t>
            </a:r>
            <a:r>
              <a:rPr sz="1500" i="0" b="0">
                <a:solidFill>
                  <a:srgbClr val="D4D4D4"/>
                </a:solidFill>
                <a:latin typeface="Consolas"/>
              </a:rPr>
              <a:t>dueno</a:t>
            </a:r>
            <a:r>
              <a:rPr sz="1500" i="0" b="0">
                <a:solidFill>
                  <a:srgbClr val="D4D4D4"/>
                </a:solidFill>
                <a:latin typeface="Consolas"/>
              </a:rPr>
              <a:t> </a:t>
            </a:r>
            <a:r>
              <a:rPr sz="1500" i="0" b="0">
                <a:solidFill>
                  <a:srgbClr val="D4D4D4"/>
                </a:solidFill>
                <a:latin typeface="Consolas"/>
              </a:rPr>
              <a:t>con</a:t>
            </a:r>
            <a:r>
              <a:rPr sz="1500" i="0" b="0">
                <a:solidFill>
                  <a:srgbClr val="D4D4D4"/>
                </a:solidFill>
                <a:latin typeface="Consolas"/>
              </a:rPr>
              <a:t> </a:t>
            </a:r>
            <a:r>
              <a:rPr sz="1500" i="0" b="0">
                <a:solidFill>
                  <a:srgbClr val="B5CEA8"/>
                </a:solidFill>
                <a:latin typeface="Consolas"/>
              </a:rPr>
              <a:t>3</a:t>
            </a:r>
            <a:r>
              <a:rPr sz="1500" i="0" b="0">
                <a:solidFill>
                  <a:srgbClr val="D4D4D4"/>
                </a:solidFill>
                <a:latin typeface="Consolas"/>
              </a:rPr>
              <a:t> </a:t>
            </a:r>
            <a:r>
              <a:rPr sz="1500" i="0" b="0">
                <a:solidFill>
                  <a:srgbClr val="D4D4D4"/>
                </a:solidFill>
                <a:latin typeface="Consolas"/>
              </a:rPr>
              <a:t>mascotas</a:t>
            </a:r>
            <a:r>
              <a:rPr sz="1500" i="0" b="0">
                <a:solidFill>
                  <a:srgbClr val="D4D4D4"/>
                </a:solidFill>
                <a:latin typeface="Consolas"/>
              </a:rPr>
              <a:t> </a:t>
            </a:r>
            <a:r>
              <a:rPr sz="1500" i="0" b="0">
                <a:solidFill>
                  <a:srgbClr val="D4D4D4"/>
                </a:solidFill>
                <a:latin typeface="Consolas"/>
              </a:rPr>
              <a:t>registradas</a:t>
            </a:r>
            <a:r>
              <a:rPr sz="1500" i="0" b="0">
                <a:solidFill>
                  <a:srgbClr val="D4D4D4"/>
                </a:solidFill>
                <a:latin typeface="Consolas"/>
              </a:rPr>
              <a:t>, </a:t>
            </a:r>
            <a:r>
              <a:rPr sz="1500" i="0" b="0">
                <a:solidFill>
                  <a:srgbClr val="D4D4D4"/>
                </a:solidFill>
                <a:latin typeface="Consolas"/>
              </a:rPr>
              <a:t>cuando</a:t>
            </a:r>
            <a:r>
              <a:rPr sz="1500" i="0" b="0">
                <a:solidFill>
                  <a:srgbClr val="D4D4D4"/>
                </a:solidFill>
                <a:latin typeface="Consolas"/>
              </a:rPr>
              <a:t> </a:t>
            </a:r>
            <a:r>
              <a:rPr sz="1500" i="0" b="0">
                <a:solidFill>
                  <a:srgbClr val="D4D4D4"/>
                </a:solidFill>
                <a:latin typeface="Consolas"/>
              </a:rPr>
              <a:t>busco</a:t>
            </a:r>
            <a:r>
              <a:rPr sz="1500" i="0" b="0">
                <a:solidFill>
                  <a:srgbClr val="D4D4D4"/>
                </a:solidFill>
                <a:latin typeface="Consolas"/>
              </a:rPr>
              <a:t> </a:t>
            </a:r>
            <a:r>
              <a:rPr sz="1500" i="0" b="0">
                <a:solidFill>
                  <a:srgbClr val="D4D4D4"/>
                </a:solidFill>
                <a:latin typeface="Consolas"/>
              </a:rPr>
              <a:t>por</a:t>
            </a:r>
            <a:r>
              <a:rPr sz="1500" i="0" b="0">
                <a:solidFill>
                  <a:srgbClr val="D4D4D4"/>
                </a:solidFill>
                <a:latin typeface="Consolas"/>
              </a:rPr>
              <a:t> </a:t>
            </a:r>
            <a:r>
              <a:rPr sz="1500" i="0" b="0">
                <a:solidFill>
                  <a:srgbClr val="D4D4D4"/>
                </a:solidFill>
                <a:latin typeface="Consolas"/>
              </a:rPr>
              <a:t>su</a:t>
            </a:r>
            <a:r>
              <a:rPr sz="1500" i="0" b="0">
                <a:solidFill>
                  <a:srgbClr val="D4D4D4"/>
                </a:solidFill>
                <a:latin typeface="Consolas"/>
              </a:rPr>
              <a:t> </a:t>
            </a:r>
            <a:r>
              <a:rPr sz="1500" i="0" b="0">
                <a:solidFill>
                  <a:srgbClr val="D4D4D4"/>
                </a:solidFill>
                <a:latin typeface="Consolas"/>
              </a:rPr>
              <a:t>documento</a:t>
            </a:r>
            <a:r>
              <a:rPr sz="1500" i="0" b="0">
                <a:solidFill>
                  <a:srgbClr val="D4D4D4"/>
                </a:solidFill>
                <a:latin typeface="Consolas"/>
              </a:rPr>
              <a:t>,</a:t>
            </a:r>
          </a:p>
          <a:p>
            <a:pPr>
              <a:spcAft>
                <a:spcPts val="321"/>
              </a:spcAft>
            </a:pPr>
            <a:r>
              <a:rPr sz="1500" i="0" b="0">
                <a:solidFill>
                  <a:srgbClr val="D4D4D4"/>
                </a:solidFill>
                <a:latin typeface="Consolas"/>
              </a:rPr>
              <a:t>      </a:t>
            </a:r>
            <a:r>
              <a:rPr sz="1500" i="0" b="0">
                <a:solidFill>
                  <a:srgbClr val="D4D4D4"/>
                </a:solidFill>
                <a:latin typeface="Consolas"/>
              </a:rPr>
              <a:t>entonces</a:t>
            </a:r>
            <a:r>
              <a:rPr sz="1500" i="0" b="0">
                <a:solidFill>
                  <a:srgbClr val="D4D4D4"/>
                </a:solidFill>
                <a:latin typeface="Consolas"/>
              </a:rPr>
              <a:t> </a:t>
            </a:r>
            <a:r>
              <a:rPr sz="1500" i="0" b="0">
                <a:solidFill>
                  <a:srgbClr val="D4D4D4"/>
                </a:solidFill>
                <a:latin typeface="Consolas"/>
              </a:rPr>
              <a:t>el</a:t>
            </a:r>
            <a:r>
              <a:rPr sz="1500" i="0" b="0">
                <a:solidFill>
                  <a:srgbClr val="D4D4D4"/>
                </a:solidFill>
                <a:latin typeface="Consolas"/>
              </a:rPr>
              <a:t> </a:t>
            </a:r>
            <a:r>
              <a:rPr sz="1500" i="0" b="0">
                <a:solidFill>
                  <a:srgbClr val="D4D4D4"/>
                </a:solidFill>
                <a:latin typeface="Consolas"/>
              </a:rPr>
              <a:t>sistema</a:t>
            </a:r>
            <a:r>
              <a:rPr sz="1500" i="0" b="0">
                <a:solidFill>
                  <a:srgbClr val="D4D4D4"/>
                </a:solidFill>
                <a:latin typeface="Consolas"/>
              </a:rPr>
              <a:t> </a:t>
            </a:r>
            <a:r>
              <a:rPr sz="1500" i="0" b="0">
                <a:solidFill>
                  <a:srgbClr val="D4D4D4"/>
                </a:solidFill>
                <a:latin typeface="Consolas"/>
              </a:rPr>
              <a:t>lista</a:t>
            </a:r>
            <a:r>
              <a:rPr sz="1500" i="0" b="0">
                <a:solidFill>
                  <a:srgbClr val="D4D4D4"/>
                </a:solidFill>
                <a:latin typeface="Consolas"/>
              </a:rPr>
              <a:t> </a:t>
            </a:r>
            <a:r>
              <a:rPr sz="1500" i="0" b="0">
                <a:solidFill>
                  <a:srgbClr val="D4D4D4"/>
                </a:solidFill>
                <a:latin typeface="Consolas"/>
              </a:rPr>
              <a:t>las</a:t>
            </a:r>
            <a:r>
              <a:rPr sz="1500" i="0" b="0">
                <a:solidFill>
                  <a:srgbClr val="D4D4D4"/>
                </a:solidFill>
                <a:latin typeface="Consolas"/>
              </a:rPr>
              <a:t> </a:t>
            </a:r>
            <a:r>
              <a:rPr sz="1500" i="0" b="0">
                <a:solidFill>
                  <a:srgbClr val="B5CEA8"/>
                </a:solidFill>
                <a:latin typeface="Consolas"/>
              </a:rPr>
              <a:t>3</a:t>
            </a:r>
            <a:r>
              <a:rPr sz="1500" i="0" b="0">
                <a:solidFill>
                  <a:srgbClr val="D4D4D4"/>
                </a:solidFill>
                <a:latin typeface="Consolas"/>
              </a:rPr>
              <a:t> </a:t>
            </a:r>
            <a:r>
              <a:rPr sz="1500" i="0" b="0">
                <a:solidFill>
                  <a:srgbClr val="D4D4D4"/>
                </a:solidFill>
                <a:latin typeface="Consolas"/>
              </a:rPr>
              <a:t>mascotas</a:t>
            </a:r>
            <a:r>
              <a:rPr sz="1500" i="0" b="0">
                <a:solidFill>
                  <a:srgbClr val="D4D4D4"/>
                </a:solidFill>
                <a:latin typeface="Consolas"/>
              </a:rPr>
              <a:t> </a:t>
            </a:r>
            <a:r>
              <a:rPr sz="1500" i="0" b="0">
                <a:solidFill>
                  <a:srgbClr val="D4D4D4"/>
                </a:solidFill>
                <a:latin typeface="Consolas"/>
              </a:rPr>
              <a:t>con</a:t>
            </a:r>
            <a:r>
              <a:rPr sz="1500" i="0" b="0">
                <a:solidFill>
                  <a:srgbClr val="D4D4D4"/>
                </a:solidFill>
                <a:latin typeface="Consolas"/>
              </a:rPr>
              <a:t> </a:t>
            </a:r>
            <a:r>
              <a:rPr sz="1500" i="0" b="0">
                <a:solidFill>
                  <a:srgbClr val="D4D4D4"/>
                </a:solidFill>
                <a:latin typeface="Consolas"/>
              </a:rPr>
              <a:t>nombre</a:t>
            </a:r>
            <a:r>
              <a:rPr sz="1500" i="0" b="0">
                <a:solidFill>
                  <a:srgbClr val="D4D4D4"/>
                </a:solidFill>
                <a:latin typeface="Consolas"/>
              </a:rPr>
              <a:t> </a:t>
            </a:r>
            <a:r>
              <a:rPr sz="1500" i="0" b="0">
                <a:solidFill>
                  <a:srgbClr val="D4D4D4"/>
                </a:solidFill>
                <a:latin typeface="Consolas"/>
              </a:rPr>
              <a:t>y</a:t>
            </a:r>
            <a:r>
              <a:rPr sz="1500" i="0" b="0">
                <a:solidFill>
                  <a:srgbClr val="D4D4D4"/>
                </a:solidFill>
                <a:latin typeface="Consolas"/>
              </a:rPr>
              <a:t> </a:t>
            </a:r>
            <a:r>
              <a:rPr sz="1500" i="0" b="0">
                <a:solidFill>
                  <a:srgbClr val="D4D4D4"/>
                </a:solidFill>
                <a:latin typeface="Consolas"/>
              </a:rPr>
              <a:t>especie</a:t>
            </a:r>
            <a:r>
              <a:rPr sz="1500" i="0" b="0">
                <a:solidFill>
                  <a:srgbClr val="D4D4D4"/>
                </a:solidFill>
                <a:latin typeface="Consolas"/>
              </a:rPr>
              <a:t>.</a:t>
            </a:r>
          </a:p>
          <a:p>
            <a:pPr>
              <a:spcAft>
                <a:spcPts val="321"/>
              </a:spcAft>
            </a:pPr>
            <a:r>
              <a:rPr sz="1500" i="0" b="0">
                <a:solidFill>
                  <a:srgbClr val="D4D4D4"/>
                </a:solidFill>
                <a:latin typeface="Consolas"/>
              </a:rPr>
              <a:t>CA</a:t>
            </a:r>
            <a:r>
              <a:rPr sz="1500" i="0" b="0">
                <a:solidFill>
                  <a:srgbClr val="D4D4D4"/>
                </a:solidFill>
                <a:latin typeface="Consolas"/>
              </a:rPr>
              <a:t>-</a:t>
            </a:r>
            <a:r>
              <a:rPr sz="1500" i="0" b="0">
                <a:solidFill>
                  <a:srgbClr val="B5CEA8"/>
                </a:solidFill>
                <a:latin typeface="Consolas"/>
              </a:rPr>
              <a:t>2</a:t>
            </a:r>
            <a:r>
              <a:rPr sz="1500" i="0" b="0">
                <a:solidFill>
                  <a:srgbClr val="D4D4D4"/>
                </a:solidFill>
                <a:latin typeface="Consolas"/>
              </a:rPr>
              <a:t>  </a:t>
            </a:r>
            <a:r>
              <a:rPr sz="1500" i="0" b="0">
                <a:solidFill>
                  <a:srgbClr val="D4D4D4"/>
                </a:solidFill>
                <a:latin typeface="Consolas"/>
              </a:rPr>
              <a:t>Dado</a:t>
            </a:r>
            <a:r>
              <a:rPr sz="1500" i="0" b="0">
                <a:solidFill>
                  <a:srgbClr val="D4D4D4"/>
                </a:solidFill>
                <a:latin typeface="Consolas"/>
              </a:rPr>
              <a:t> </a:t>
            </a:r>
            <a:r>
              <a:rPr sz="1500" i="0" b="0">
                <a:solidFill>
                  <a:srgbClr val="D4D4D4"/>
                </a:solidFill>
                <a:latin typeface="Consolas"/>
              </a:rPr>
              <a:t>que</a:t>
            </a:r>
            <a:r>
              <a:rPr sz="1500" i="0" b="0">
                <a:solidFill>
                  <a:srgbClr val="D4D4D4"/>
                </a:solidFill>
                <a:latin typeface="Consolas"/>
              </a:rPr>
              <a:t> </a:t>
            </a:r>
            <a:r>
              <a:rPr sz="1500" i="0" b="0">
                <a:solidFill>
                  <a:srgbClr val="D4D4D4"/>
                </a:solidFill>
                <a:latin typeface="Consolas"/>
              </a:rPr>
              <a:t>selecciono</a:t>
            </a:r>
            <a:r>
              <a:rPr sz="1500" i="0" b="0">
                <a:solidFill>
                  <a:srgbClr val="D4D4D4"/>
                </a:solidFill>
                <a:latin typeface="Consolas"/>
              </a:rPr>
              <a:t> </a:t>
            </a:r>
            <a:r>
              <a:rPr sz="1500" i="0" b="0">
                <a:solidFill>
                  <a:srgbClr val="D4D4D4"/>
                </a:solidFill>
                <a:latin typeface="Consolas"/>
              </a:rPr>
              <a:t>la</a:t>
            </a:r>
            <a:r>
              <a:rPr sz="1500" i="0" b="0">
                <a:solidFill>
                  <a:srgbClr val="D4D4D4"/>
                </a:solidFill>
                <a:latin typeface="Consolas"/>
              </a:rPr>
              <a:t> </a:t>
            </a:r>
            <a:r>
              <a:rPr sz="1500" i="0" b="0">
                <a:solidFill>
                  <a:srgbClr val="D4D4D4"/>
                </a:solidFill>
                <a:latin typeface="Consolas"/>
              </a:rPr>
              <a:t>mascota</a:t>
            </a:r>
            <a:r>
              <a:rPr sz="1500" i="0" b="0">
                <a:solidFill>
                  <a:srgbClr val="D4D4D4"/>
                </a:solidFill>
                <a:latin typeface="Consolas"/>
              </a:rPr>
              <a:t> </a:t>
            </a:r>
            <a:r>
              <a:rPr sz="1500" i="0" b="0">
                <a:solidFill>
                  <a:srgbClr val="D4D4D4"/>
                </a:solidFill>
                <a:latin typeface="Consolas"/>
              </a:rPr>
              <a:t>Rocky</a:t>
            </a:r>
            <a:r>
              <a:rPr sz="1500" i="0" b="0">
                <a:solidFill>
                  <a:srgbClr val="D4D4D4"/>
                </a:solidFill>
                <a:latin typeface="Consolas"/>
              </a:rPr>
              <a:t>, </a:t>
            </a:r>
            <a:r>
              <a:rPr sz="1500" i="0" b="0">
                <a:solidFill>
                  <a:srgbClr val="D4D4D4"/>
                </a:solidFill>
                <a:latin typeface="Consolas"/>
              </a:rPr>
              <a:t>cuando</a:t>
            </a:r>
            <a:r>
              <a:rPr sz="1500" i="0" b="0">
                <a:solidFill>
                  <a:srgbClr val="D4D4D4"/>
                </a:solidFill>
                <a:latin typeface="Consolas"/>
              </a:rPr>
              <a:t> </a:t>
            </a:r>
            <a:r>
              <a:rPr sz="1500" i="0" b="0">
                <a:solidFill>
                  <a:srgbClr val="D4D4D4"/>
                </a:solidFill>
                <a:latin typeface="Consolas"/>
              </a:rPr>
              <a:t>abro</a:t>
            </a:r>
            <a:r>
              <a:rPr sz="1500" i="0" b="0">
                <a:solidFill>
                  <a:srgbClr val="D4D4D4"/>
                </a:solidFill>
                <a:latin typeface="Consolas"/>
              </a:rPr>
              <a:t> </a:t>
            </a:r>
            <a:r>
              <a:rPr sz="1500" i="0" b="0">
                <a:solidFill>
                  <a:srgbClr val="D4D4D4"/>
                </a:solidFill>
                <a:latin typeface="Consolas"/>
              </a:rPr>
              <a:t>su</a:t>
            </a:r>
            <a:r>
              <a:rPr sz="1500" i="0" b="0">
                <a:solidFill>
                  <a:srgbClr val="D4D4D4"/>
                </a:solidFill>
                <a:latin typeface="Consolas"/>
              </a:rPr>
              <a:t> </a:t>
            </a:r>
            <a:r>
              <a:rPr sz="1500" i="0" b="0">
                <a:solidFill>
                  <a:srgbClr val="D4D4D4"/>
                </a:solidFill>
                <a:latin typeface="Consolas"/>
              </a:rPr>
              <a:t>historial</a:t>
            </a:r>
            <a:r>
              <a:rPr sz="1500" i="0" b="0">
                <a:solidFill>
                  <a:srgbClr val="D4D4D4"/>
                </a:solidFill>
                <a:latin typeface="Consolas"/>
              </a:rPr>
              <a:t>,</a:t>
            </a:r>
          </a:p>
          <a:p>
            <a:pPr>
              <a:spcAft>
                <a:spcPts val="321"/>
              </a:spcAft>
            </a:pPr>
            <a:r>
              <a:rPr sz="1500" i="0" b="0">
                <a:solidFill>
                  <a:srgbClr val="D4D4D4"/>
                </a:solidFill>
                <a:latin typeface="Consolas"/>
              </a:rPr>
              <a:t>      </a:t>
            </a:r>
            <a:r>
              <a:rPr sz="1500" i="0" b="0">
                <a:solidFill>
                  <a:srgbClr val="D4D4D4"/>
                </a:solidFill>
                <a:latin typeface="Consolas"/>
              </a:rPr>
              <a:t>entonces</a:t>
            </a:r>
            <a:r>
              <a:rPr sz="1500" i="0" b="0">
                <a:solidFill>
                  <a:srgbClr val="D4D4D4"/>
                </a:solidFill>
                <a:latin typeface="Consolas"/>
              </a:rPr>
              <a:t> </a:t>
            </a:r>
            <a:r>
              <a:rPr sz="1500" i="0" b="0">
                <a:solidFill>
                  <a:srgbClr val="D4D4D4"/>
                </a:solidFill>
                <a:latin typeface="Consolas"/>
              </a:rPr>
              <a:t>veo</a:t>
            </a:r>
            <a:r>
              <a:rPr sz="1500" i="0" b="0">
                <a:solidFill>
                  <a:srgbClr val="D4D4D4"/>
                </a:solidFill>
                <a:latin typeface="Consolas"/>
              </a:rPr>
              <a:t> </a:t>
            </a:r>
            <a:r>
              <a:rPr sz="1500" i="0" b="0">
                <a:solidFill>
                  <a:srgbClr val="D4D4D4"/>
                </a:solidFill>
                <a:latin typeface="Consolas"/>
              </a:rPr>
              <a:t>sus</a:t>
            </a:r>
            <a:r>
              <a:rPr sz="1500" i="0" b="0">
                <a:solidFill>
                  <a:srgbClr val="D4D4D4"/>
                </a:solidFill>
                <a:latin typeface="Consolas"/>
              </a:rPr>
              <a:t> </a:t>
            </a:r>
            <a:r>
              <a:rPr sz="1500" i="0" b="0">
                <a:solidFill>
                  <a:srgbClr val="D4D4D4"/>
                </a:solidFill>
                <a:latin typeface="Consolas"/>
              </a:rPr>
              <a:t>atenciones</a:t>
            </a:r>
            <a:r>
              <a:rPr sz="1500" i="0" b="0">
                <a:solidFill>
                  <a:srgbClr val="D4D4D4"/>
                </a:solidFill>
                <a:latin typeface="Consolas"/>
              </a:rPr>
              <a:t> </a:t>
            </a:r>
            <a:r>
              <a:rPr sz="1500" i="0" b="0">
                <a:solidFill>
                  <a:srgbClr val="D4D4D4"/>
                </a:solidFill>
                <a:latin typeface="Consolas"/>
              </a:rPr>
              <a:t>de</a:t>
            </a:r>
            <a:r>
              <a:rPr sz="1500" i="0" b="0">
                <a:solidFill>
                  <a:srgbClr val="D4D4D4"/>
                </a:solidFill>
                <a:latin typeface="Consolas"/>
              </a:rPr>
              <a:t> </a:t>
            </a:r>
            <a:r>
              <a:rPr sz="1500" i="0" b="0">
                <a:solidFill>
                  <a:srgbClr val="D4D4D4"/>
                </a:solidFill>
                <a:latin typeface="Consolas"/>
              </a:rPr>
              <a:t>la</a:t>
            </a:r>
            <a:r>
              <a:rPr sz="1500" i="0" b="0">
                <a:solidFill>
                  <a:srgbClr val="D4D4D4"/>
                </a:solidFill>
                <a:latin typeface="Consolas"/>
              </a:rPr>
              <a:t> </a:t>
            </a:r>
            <a:r>
              <a:rPr sz="1500" i="0" b="0">
                <a:solidFill>
                  <a:srgbClr val="D4D4D4"/>
                </a:solidFill>
                <a:latin typeface="Consolas"/>
              </a:rPr>
              <a:t>mas</a:t>
            </a:r>
            <a:r>
              <a:rPr sz="1500" i="0" b="0">
                <a:solidFill>
                  <a:srgbClr val="D4D4D4"/>
                </a:solidFill>
                <a:latin typeface="Consolas"/>
              </a:rPr>
              <a:t> </a:t>
            </a:r>
            <a:r>
              <a:rPr sz="1500" i="0" b="0">
                <a:solidFill>
                  <a:srgbClr val="D4D4D4"/>
                </a:solidFill>
                <a:latin typeface="Consolas"/>
              </a:rPr>
              <a:t>reciente</a:t>
            </a:r>
            <a:r>
              <a:rPr sz="1500" i="0" b="0">
                <a:solidFill>
                  <a:srgbClr val="D4D4D4"/>
                </a:solidFill>
                <a:latin typeface="Consolas"/>
              </a:rPr>
              <a:t> </a:t>
            </a:r>
            <a:r>
              <a:rPr sz="1500" i="0" b="0">
                <a:solidFill>
                  <a:srgbClr val="D4D4D4"/>
                </a:solidFill>
                <a:latin typeface="Consolas"/>
              </a:rPr>
              <a:t>a</a:t>
            </a:r>
            <a:r>
              <a:rPr sz="1500" i="0" b="0">
                <a:solidFill>
                  <a:srgbClr val="D4D4D4"/>
                </a:solidFill>
                <a:latin typeface="Consolas"/>
              </a:rPr>
              <a:t> </a:t>
            </a:r>
            <a:r>
              <a:rPr sz="1500" i="0" b="0">
                <a:solidFill>
                  <a:srgbClr val="D4D4D4"/>
                </a:solidFill>
                <a:latin typeface="Consolas"/>
              </a:rPr>
              <a:t>la</a:t>
            </a:r>
            <a:r>
              <a:rPr sz="1500" i="0" b="0">
                <a:solidFill>
                  <a:srgbClr val="D4D4D4"/>
                </a:solidFill>
                <a:latin typeface="Consolas"/>
              </a:rPr>
              <a:t> </a:t>
            </a:r>
            <a:r>
              <a:rPr sz="1500" i="0" b="0">
                <a:solidFill>
                  <a:srgbClr val="D4D4D4"/>
                </a:solidFill>
                <a:latin typeface="Consolas"/>
              </a:rPr>
              <a:t>mas</a:t>
            </a:r>
            <a:r>
              <a:rPr sz="1500" i="0" b="0">
                <a:solidFill>
                  <a:srgbClr val="D4D4D4"/>
                </a:solidFill>
                <a:latin typeface="Consolas"/>
              </a:rPr>
              <a:t> </a:t>
            </a:r>
            <a:r>
              <a:rPr sz="1500" i="0" b="0">
                <a:solidFill>
                  <a:srgbClr val="D4D4D4"/>
                </a:solidFill>
                <a:latin typeface="Consolas"/>
              </a:rPr>
              <a:t>antigua</a:t>
            </a:r>
            <a:r>
              <a:rPr sz="1500" i="0" b="0">
                <a:solidFill>
                  <a:srgbClr val="D4D4D4"/>
                </a:solidFill>
                <a:latin typeface="Consolas"/>
              </a:rPr>
              <a:t>.</a:t>
            </a:r>
          </a:p>
          <a:p>
            <a:pPr>
              <a:spcAft>
                <a:spcPts val="321"/>
              </a:spcAft>
            </a:pPr>
            <a:r>
              <a:rPr sz="1500" i="0" b="0">
                <a:solidFill>
                  <a:srgbClr val="D4D4D4"/>
                </a:solidFill>
                <a:latin typeface="Consolas"/>
              </a:rPr>
              <a:t>CA</a:t>
            </a:r>
            <a:r>
              <a:rPr sz="1500" i="0" b="0">
                <a:solidFill>
                  <a:srgbClr val="D4D4D4"/>
                </a:solidFill>
                <a:latin typeface="Consolas"/>
              </a:rPr>
              <a:t>-</a:t>
            </a:r>
            <a:r>
              <a:rPr sz="1500" i="0" b="0">
                <a:solidFill>
                  <a:srgbClr val="B5CEA8"/>
                </a:solidFill>
                <a:latin typeface="Consolas"/>
              </a:rPr>
              <a:t>3</a:t>
            </a:r>
            <a:r>
              <a:rPr sz="1500" i="0" b="0">
                <a:solidFill>
                  <a:srgbClr val="D4D4D4"/>
                </a:solidFill>
                <a:latin typeface="Consolas"/>
              </a:rPr>
              <a:t>  </a:t>
            </a:r>
            <a:r>
              <a:rPr sz="1500" i="0" b="0">
                <a:solidFill>
                  <a:srgbClr val="D4D4D4"/>
                </a:solidFill>
                <a:latin typeface="Consolas"/>
              </a:rPr>
              <a:t>Dado</a:t>
            </a:r>
            <a:r>
              <a:rPr sz="1500" i="0" b="0">
                <a:solidFill>
                  <a:srgbClr val="D4D4D4"/>
                </a:solidFill>
                <a:latin typeface="Consolas"/>
              </a:rPr>
              <a:t> </a:t>
            </a:r>
            <a:r>
              <a:rPr sz="1500" i="0" b="0">
                <a:solidFill>
                  <a:srgbClr val="D4D4D4"/>
                </a:solidFill>
                <a:latin typeface="Consolas"/>
              </a:rPr>
              <a:t>un</a:t>
            </a:r>
            <a:r>
              <a:rPr sz="1500" i="0" b="0">
                <a:solidFill>
                  <a:srgbClr val="D4D4D4"/>
                </a:solidFill>
                <a:latin typeface="Consolas"/>
              </a:rPr>
              <a:t> </a:t>
            </a:r>
            <a:r>
              <a:rPr sz="1500" i="0" b="0">
                <a:solidFill>
                  <a:srgbClr val="D4D4D4"/>
                </a:solidFill>
                <a:latin typeface="Consolas"/>
              </a:rPr>
              <a:t>documento</a:t>
            </a:r>
            <a:r>
              <a:rPr sz="1500" i="0" b="0">
                <a:solidFill>
                  <a:srgbClr val="D4D4D4"/>
                </a:solidFill>
                <a:latin typeface="Consolas"/>
              </a:rPr>
              <a:t> </a:t>
            </a:r>
            <a:r>
              <a:rPr sz="1500" i="0" b="0">
                <a:solidFill>
                  <a:srgbClr val="D4D4D4"/>
                </a:solidFill>
                <a:latin typeface="Consolas"/>
              </a:rPr>
              <a:t>no</a:t>
            </a:r>
            <a:r>
              <a:rPr sz="1500" i="0" b="0">
                <a:solidFill>
                  <a:srgbClr val="D4D4D4"/>
                </a:solidFill>
                <a:latin typeface="Consolas"/>
              </a:rPr>
              <a:t> </a:t>
            </a:r>
            <a:r>
              <a:rPr sz="1500" i="0" b="0">
                <a:solidFill>
                  <a:srgbClr val="D4D4D4"/>
                </a:solidFill>
                <a:latin typeface="Consolas"/>
              </a:rPr>
              <a:t>registrado</a:t>
            </a:r>
            <a:r>
              <a:rPr sz="1500" i="0" b="0">
                <a:solidFill>
                  <a:srgbClr val="D4D4D4"/>
                </a:solidFill>
                <a:latin typeface="Consolas"/>
              </a:rPr>
              <a:t>, </a:t>
            </a:r>
            <a:r>
              <a:rPr sz="1500" i="0" b="0">
                <a:solidFill>
                  <a:srgbClr val="D4D4D4"/>
                </a:solidFill>
                <a:latin typeface="Consolas"/>
              </a:rPr>
              <a:t>cuando</a:t>
            </a:r>
            <a:r>
              <a:rPr sz="1500" i="0" b="0">
                <a:solidFill>
                  <a:srgbClr val="D4D4D4"/>
                </a:solidFill>
                <a:latin typeface="Consolas"/>
              </a:rPr>
              <a:t> </a:t>
            </a:r>
            <a:r>
              <a:rPr sz="1500" i="0" b="0">
                <a:solidFill>
                  <a:srgbClr val="D4D4D4"/>
                </a:solidFill>
                <a:latin typeface="Consolas"/>
              </a:rPr>
              <a:t>busco</a:t>
            </a:r>
            <a:r>
              <a:rPr sz="1500" i="0" b="0">
                <a:solidFill>
                  <a:srgbClr val="D4D4D4"/>
                </a:solidFill>
                <a:latin typeface="Consolas"/>
              </a:rPr>
              <a:t>, </a:t>
            </a:r>
            <a:r>
              <a:rPr sz="1500" i="0" b="0">
                <a:solidFill>
                  <a:srgbClr val="D4D4D4"/>
                </a:solidFill>
                <a:latin typeface="Consolas"/>
              </a:rPr>
              <a:t>entonces</a:t>
            </a:r>
            <a:r>
              <a:rPr sz="1500" i="0" b="0">
                <a:solidFill>
                  <a:srgbClr val="D4D4D4"/>
                </a:solidFill>
                <a:latin typeface="Consolas"/>
              </a:rPr>
              <a:t> </a:t>
            </a:r>
            <a:r>
              <a:rPr sz="1500" i="0" b="0">
                <a:solidFill>
                  <a:srgbClr val="D4D4D4"/>
                </a:solidFill>
                <a:latin typeface="Consolas"/>
              </a:rPr>
              <a:t>el</a:t>
            </a:r>
            <a:r>
              <a:rPr sz="1500" i="0" b="0">
                <a:solidFill>
                  <a:srgbClr val="D4D4D4"/>
                </a:solidFill>
                <a:latin typeface="Consolas"/>
              </a:rPr>
              <a:t> </a:t>
            </a:r>
            <a:r>
              <a:rPr sz="1500" i="0" b="0">
                <a:solidFill>
                  <a:srgbClr val="D4D4D4"/>
                </a:solidFill>
                <a:latin typeface="Consolas"/>
              </a:rPr>
              <a:t>sistema</a:t>
            </a:r>
          </a:p>
          <a:p>
            <a:pPr>
              <a:spcAft>
                <a:spcPts val="321"/>
              </a:spcAft>
            </a:pPr>
            <a:r>
              <a:rPr sz="1500" i="0" b="0">
                <a:solidFill>
                  <a:srgbClr val="D4D4D4"/>
                </a:solidFill>
                <a:latin typeface="Consolas"/>
              </a:rPr>
              <a:t>      </a:t>
            </a:r>
            <a:r>
              <a:rPr sz="1500" i="0" b="0">
                <a:solidFill>
                  <a:srgbClr val="D4D4D4"/>
                </a:solidFill>
                <a:latin typeface="Consolas"/>
              </a:rPr>
              <a:t>muestra</a:t>
            </a:r>
            <a:r>
              <a:rPr sz="1500" i="0" b="0">
                <a:solidFill>
                  <a:srgbClr val="D4D4D4"/>
                </a:solidFill>
                <a:latin typeface="Consolas"/>
              </a:rPr>
              <a:t> </a:t>
            </a:r>
            <a:r>
              <a:rPr sz="1500" i="0" b="0">
                <a:solidFill>
                  <a:srgbClr val="CE9178"/>
                </a:solidFill>
                <a:latin typeface="Consolas"/>
              </a:rPr>
              <a:t>'No hay duenos con ese documento'</a:t>
            </a:r>
            <a:r>
              <a:rPr sz="1500" i="0" b="0">
                <a:solidFill>
                  <a:srgbClr val="D4D4D4"/>
                </a:solidFill>
                <a:latin typeface="Consolas"/>
              </a:rPr>
              <a:t> </a:t>
            </a:r>
            <a:r>
              <a:rPr sz="1500" i="0" b="0">
                <a:solidFill>
                  <a:srgbClr val="D4D4D4"/>
                </a:solidFill>
                <a:latin typeface="Consolas"/>
              </a:rPr>
              <a:t>y</a:t>
            </a:r>
            <a:r>
              <a:rPr sz="1500" i="0" b="0">
                <a:solidFill>
                  <a:srgbClr val="D4D4D4"/>
                </a:solidFill>
                <a:latin typeface="Consolas"/>
              </a:rPr>
              <a:t> </a:t>
            </a:r>
            <a:r>
              <a:rPr sz="1500" i="0" b="0">
                <a:solidFill>
                  <a:srgbClr val="D4D4D4"/>
                </a:solidFill>
                <a:latin typeface="Consolas"/>
              </a:rPr>
              <a:t>ofrece</a:t>
            </a:r>
            <a:r>
              <a:rPr sz="1500" i="0" b="0">
                <a:solidFill>
                  <a:srgbClr val="D4D4D4"/>
                </a:solidFill>
                <a:latin typeface="Consolas"/>
              </a:rPr>
              <a:t> </a:t>
            </a:r>
            <a:r>
              <a:rPr sz="1500" i="0" b="0">
                <a:solidFill>
                  <a:srgbClr val="D4D4D4"/>
                </a:solidFill>
                <a:latin typeface="Consolas"/>
              </a:rPr>
              <a:t>crear</a:t>
            </a:r>
            <a:r>
              <a:rPr sz="1500" i="0" b="0">
                <a:solidFill>
                  <a:srgbClr val="D4D4D4"/>
                </a:solidFill>
                <a:latin typeface="Consolas"/>
              </a:rPr>
              <a:t> </a:t>
            </a:r>
            <a:r>
              <a:rPr sz="1500" i="0" b="0">
                <a:solidFill>
                  <a:srgbClr val="D4D4D4"/>
                </a:solidFill>
                <a:latin typeface="Consolas"/>
              </a:rPr>
              <a:t>uno</a:t>
            </a:r>
            <a:r>
              <a:rPr sz="1500" i="0" b="0">
                <a:solidFill>
                  <a:srgbClr val="D4D4D4"/>
                </a:solidFill>
                <a:latin typeface="Consolas"/>
              </a:rPr>
              <a:t>.</a:t>
            </a:r>
          </a:p>
          <a:p>
            <a:pPr>
              <a:spcAft>
                <a:spcPts val="321"/>
              </a:spcAft>
            </a:pPr>
            <a:r>
              <a:rPr sz="1500" i="0" b="0">
                <a:solidFill>
                  <a:srgbClr val="D4D4D4"/>
                </a:solidFill>
                <a:latin typeface="Consolas"/>
              </a:rPr>
              <a:t/>
            </a:r>
          </a:p>
          <a:p>
            <a:pPr>
              <a:spcAft>
                <a:spcPts val="321"/>
              </a:spcAft>
            </a:pPr>
            <a:r>
              <a:rPr sz="1500" i="0" b="0">
                <a:solidFill>
                  <a:srgbClr val="D4D4D4"/>
                </a:solidFill>
                <a:latin typeface="Consolas"/>
              </a:rPr>
              <a:t>Estimacion</a:t>
            </a:r>
            <a:r>
              <a:rPr sz="1500" i="0" b="0">
                <a:solidFill>
                  <a:srgbClr val="D4D4D4"/>
                </a:solidFill>
                <a:latin typeface="Consolas"/>
              </a:rPr>
              <a:t>: </a:t>
            </a:r>
            <a:r>
              <a:rPr sz="1500" i="0" b="0">
                <a:solidFill>
                  <a:srgbClr val="B5CEA8"/>
                </a:solidFill>
                <a:latin typeface="Consolas"/>
              </a:rPr>
              <a:t>5</a:t>
            </a:r>
            <a:r>
              <a:rPr sz="1500" i="0" b="0">
                <a:solidFill>
                  <a:srgbClr val="D4D4D4"/>
                </a:solidFill>
                <a:latin typeface="Consolas"/>
              </a:rPr>
              <a:t> </a:t>
            </a:r>
            <a:r>
              <a:rPr sz="1500" i="0" b="0">
                <a:solidFill>
                  <a:srgbClr val="D4D4D4"/>
                </a:solidFill>
                <a:latin typeface="Consolas"/>
              </a:rPr>
              <a:t>puntos</a:t>
            </a:r>
            <a:r>
              <a:rPr sz="1500" i="0" b="0">
                <a:solidFill>
                  <a:srgbClr val="D4D4D4"/>
                </a:solidFill>
                <a:latin typeface="Consolas"/>
              </a:rPr>
              <a:t>   |   </a:t>
            </a:r>
            <a:r>
              <a:rPr sz="1500" i="0" b="0">
                <a:solidFill>
                  <a:srgbClr val="D4D4D4"/>
                </a:solidFill>
                <a:latin typeface="Consolas"/>
              </a:rPr>
              <a:t>Prioridad</a:t>
            </a:r>
            <a:r>
              <a:rPr sz="1500" i="0" b="0">
                <a:solidFill>
                  <a:srgbClr val="D4D4D4"/>
                </a:solidFill>
                <a:latin typeface="Consolas"/>
              </a:rPr>
              <a:t>: </a:t>
            </a:r>
            <a:r>
              <a:rPr sz="1500" i="0" b="0">
                <a:solidFill>
                  <a:srgbClr val="D4D4D4"/>
                </a:solidFill>
                <a:latin typeface="Consolas"/>
              </a:rPr>
              <a:t>Must</a:t>
            </a:r>
            <a:r>
              <a:rPr sz="1500" i="0" b="0">
                <a:solidFill>
                  <a:srgbClr val="D4D4D4"/>
                </a:solidFill>
                <a:latin typeface="Consolas"/>
              </a:rPr>
              <a:t>   |   </a:t>
            </a:r>
            <a:r>
              <a:rPr sz="1500" i="0" b="0">
                <a:solidFill>
                  <a:srgbClr val="D4D4D4"/>
                </a:solidFill>
                <a:latin typeface="Consolas"/>
              </a:rPr>
              <a:t>Origen</a:t>
            </a:r>
            <a:r>
              <a:rPr sz="1500" i="0" b="0">
                <a:solidFill>
                  <a:srgbClr val="D4D4D4"/>
                </a:solidFill>
                <a:latin typeface="Consolas"/>
              </a:rPr>
              <a:t>: </a:t>
            </a:r>
            <a:r>
              <a:rPr sz="1500" i="0" b="0">
                <a:solidFill>
                  <a:srgbClr val="D4D4D4"/>
                </a:solidFill>
                <a:latin typeface="Consolas"/>
              </a:rPr>
              <a:t>RF</a:t>
            </a:r>
            <a:r>
              <a:rPr sz="1500" i="0" b="0">
                <a:solidFill>
                  <a:srgbClr val="D4D4D4"/>
                </a:solidFill>
                <a:latin typeface="Consolas"/>
              </a:rPr>
              <a:t>-</a:t>
            </a:r>
            <a:r>
              <a:rPr sz="1500" i="0" b="0">
                <a:solidFill>
                  <a:srgbClr val="B5CEA8"/>
                </a:solidFill>
                <a:latin typeface="Consolas"/>
              </a:rPr>
              <a:t>03</a:t>
            </a:r>
            <a:r>
              <a:rPr sz="1500" i="0" b="0">
                <a:solidFill>
                  <a:srgbClr val="D4D4D4"/>
                </a:solidFill>
                <a:latin typeface="Consolas"/>
              </a:rPr>
              <a:t> / </a:t>
            </a:r>
            <a:r>
              <a:rPr sz="1500" i="0" b="0">
                <a:solidFill>
                  <a:srgbClr val="D4D4D4"/>
                </a:solidFill>
                <a:latin typeface="Consolas"/>
              </a:rPr>
              <a:t>NEC</a:t>
            </a:r>
            <a:r>
              <a:rPr sz="1500" i="0" b="0">
                <a:solidFill>
                  <a:srgbClr val="D4D4D4"/>
                </a:solidFill>
                <a:latin typeface="Consolas"/>
              </a:rPr>
              <a:t>-</a:t>
            </a:r>
            <a:r>
              <a:rPr sz="1500" i="0" b="0">
                <a:solidFill>
                  <a:srgbClr val="B5CEA8"/>
                </a:solidFill>
                <a:latin typeface="Consolas"/>
              </a:rPr>
              <a:t>02</a:t>
            </a:r>
          </a:p>
          <a:p>
            <a:pPr>
              <a:spcAft>
                <a:spcPts val="321"/>
              </a:spcAft>
            </a:pPr>
            <a:r>
              <a:rPr sz="1500" i="0" b="0">
                <a:solidFill>
                  <a:srgbClr val="D4D4D4"/>
                </a:solidFill>
                <a:latin typeface="Consolas"/>
              </a:rPr>
              <a:t>Terminado</a:t>
            </a:r>
            <a:r>
              <a:rPr sz="1500" i="0" b="0">
                <a:solidFill>
                  <a:srgbClr val="D4D4D4"/>
                </a:solidFill>
                <a:latin typeface="Consolas"/>
              </a:rPr>
              <a:t>: </a:t>
            </a:r>
            <a:r>
              <a:rPr sz="1500" i="0" b="0">
                <a:solidFill>
                  <a:srgbClr val="D4D4D4"/>
                </a:solidFill>
                <a:latin typeface="Consolas"/>
              </a:rPr>
              <a:t>mockup</a:t>
            </a:r>
            <a:r>
              <a:rPr sz="1500" i="0" b="0">
                <a:solidFill>
                  <a:srgbClr val="D4D4D4"/>
                </a:solidFill>
                <a:latin typeface="Consolas"/>
              </a:rPr>
              <a:t> </a:t>
            </a:r>
            <a:r>
              <a:rPr sz="1500" i="0" b="0">
                <a:solidFill>
                  <a:srgbClr val="D4D4D4"/>
                </a:solidFill>
                <a:latin typeface="Consolas"/>
              </a:rPr>
              <a:t>aprobado</a:t>
            </a:r>
            <a:r>
              <a:rPr sz="1500" i="0" b="0">
                <a:solidFill>
                  <a:srgbClr val="D4D4D4"/>
                </a:solidFill>
                <a:latin typeface="Consolas"/>
              </a:rPr>
              <a:t> + </a:t>
            </a:r>
            <a:r>
              <a:rPr sz="1500" i="0" b="0">
                <a:solidFill>
                  <a:srgbClr val="D4D4D4"/>
                </a:solidFill>
                <a:latin typeface="Consolas"/>
              </a:rPr>
              <a:t>los</a:t>
            </a:r>
            <a:r>
              <a:rPr sz="1500" i="0" b="0">
                <a:solidFill>
                  <a:srgbClr val="D4D4D4"/>
                </a:solidFill>
                <a:latin typeface="Consolas"/>
              </a:rPr>
              <a:t> </a:t>
            </a:r>
            <a:r>
              <a:rPr sz="1500" i="0" b="0">
                <a:solidFill>
                  <a:srgbClr val="B5CEA8"/>
                </a:solidFill>
                <a:latin typeface="Consolas"/>
              </a:rPr>
              <a:t>3</a:t>
            </a:r>
            <a:r>
              <a:rPr sz="1500" i="0" b="0">
                <a:solidFill>
                  <a:srgbClr val="D4D4D4"/>
                </a:solidFill>
                <a:latin typeface="Consolas"/>
              </a:rPr>
              <a:t> </a:t>
            </a:r>
            <a:r>
              <a:rPr sz="1500" i="0" b="0">
                <a:solidFill>
                  <a:srgbClr val="D4D4D4"/>
                </a:solidFill>
                <a:latin typeface="Consolas"/>
              </a:rPr>
              <a:t>criterios</a:t>
            </a:r>
            <a:r>
              <a:rPr sz="1500" i="0" b="0">
                <a:solidFill>
                  <a:srgbClr val="D4D4D4"/>
                </a:solidFill>
                <a:latin typeface="Consolas"/>
              </a:rPr>
              <a:t> </a:t>
            </a:r>
            <a:r>
              <a:rPr sz="1500" i="0" b="0">
                <a:solidFill>
                  <a:srgbClr val="D4D4D4"/>
                </a:solidFill>
                <a:latin typeface="Consolas"/>
              </a:rPr>
              <a:t>verificados</a:t>
            </a:r>
            <a:r>
              <a:rPr sz="1500" i="0" b="0">
                <a:solidFill>
                  <a:srgbClr val="D4D4D4"/>
                </a:solidFill>
                <a:latin typeface="Consolas"/>
              </a:rPr>
              <a:t> </a:t>
            </a:r>
            <a:r>
              <a:rPr sz="1500" i="0" b="0">
                <a:solidFill>
                  <a:srgbClr val="D4D4D4"/>
                </a:solidFill>
                <a:latin typeface="Consolas"/>
              </a:rPr>
              <a:t>en</a:t>
            </a:r>
            <a:r>
              <a:rPr sz="1500" i="0" b="0">
                <a:solidFill>
                  <a:srgbClr val="D4D4D4"/>
                </a:solidFill>
                <a:latin typeface="Consolas"/>
              </a:rPr>
              <a:t> </a:t>
            </a:r>
            <a:r>
              <a:rPr sz="1500" i="0" b="0">
                <a:solidFill>
                  <a:srgbClr val="D4D4D4"/>
                </a:solidFill>
                <a:latin typeface="Consolas"/>
              </a:rPr>
              <a:t>el</a:t>
            </a:r>
            <a:r>
              <a:rPr sz="1500" i="0" b="0">
                <a:solidFill>
                  <a:srgbClr val="D4D4D4"/>
                </a:solidFill>
                <a:latin typeface="Consolas"/>
              </a:rPr>
              <a:t> </a:t>
            </a:r>
            <a:r>
              <a:rPr sz="1500" i="0" b="0">
                <a:solidFill>
                  <a:srgbClr val="D4D4D4"/>
                </a:solidFill>
                <a:latin typeface="Consolas"/>
              </a:rPr>
              <a:t>prototipo</a:t>
            </a:r>
          </a:p>
        </p:txBody>
      </p:sp>
      <p:sp>
        <p:nvSpPr>
          <p:cNvPr id="13" name="TextBox 12"/>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La historia dice a quien le sirve y para que; los criterios de aceptacion son la unica parte que se puede cobrar.</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INVEST: una historia bien cortada</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nvest-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invest-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invest-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invest-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Independiente · Negociable · Valiosa · Estimable · Small (pequeña) · Testeable.</a:t>
            </a:r>
          </a:p>
          <a:p>
            <a:pPr>
              <a:spcAft>
                <a:spcPts val="800"/>
              </a:spcAft>
            </a:pPr>
            <a:r>
              <a:rPr sz="2000" b="0" i="0">
                <a:solidFill>
                  <a:srgbClr val="333333"/>
                </a:solidFill>
                <a:latin typeface="Calibri"/>
              </a:rPr>
              <a:t>–   Negociable: describe la necesidad, no la solución técnica.</a:t>
            </a:r>
          </a:p>
          <a:p>
            <a:pPr>
              <a:spcAft>
                <a:spcPts val="800"/>
              </a:spcAft>
            </a:pPr>
            <a:r>
              <a:rPr sz="2000" b="0" i="0">
                <a:solidFill>
                  <a:srgbClr val="333333"/>
                </a:solidFill>
                <a:latin typeface="Calibri"/>
              </a:rPr>
              <a:t>–   Small: cabe en una iteración; si toma tres semanas es una épica disfrazada.</a:t>
            </a:r>
          </a:p>
          <a:p>
            <a:pPr>
              <a:spcAft>
                <a:spcPts val="800"/>
              </a:spcAft>
            </a:pPr>
            <a:r>
              <a:rPr sz="2000" b="0" i="0">
                <a:solidFill>
                  <a:srgbClr val="333333"/>
                </a:solidFill>
                <a:latin typeface="Calibri"/>
              </a:rPr>
              <a:t>–   Si falla dos letras, no se planea: se vuelve a partir.</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Épicas y corte vertical</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rte-vertical-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corte-vertical-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corte-vertical-paso3.png"/>
          <p:cNvPicPr>
            <a:picLocks noChangeAspect="1"/>
          </p:cNvPicPr>
          <p:nvPr/>
        </p:nvPicPr>
        <p:blipFill>
          <a:blip r:embed="rId4"/>
          <a:stretch>
            <a:fillRect/>
          </a:stretch>
        </p:blipFill>
        <p:spPr>
          <a:xfrm>
            <a:off x="5876318" y="1261872"/>
            <a:ext cx="5852160" cy="4681728"/>
          </a:xfrm>
          <a:prstGeom prst="rect">
            <a:avLst/>
          </a:prstGeom>
        </p:spPr>
      </p:pic>
      <p:sp>
        <p:nvSpPr>
          <p:cNvPr id="13" name="TextBox 1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4" name="TextBox 1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Una épica es una historia que todavía no cabe en una iteración.</a:t>
            </a:r>
          </a:p>
          <a:p>
            <a:pPr>
              <a:spcAft>
                <a:spcPts val="800"/>
              </a:spcAft>
            </a:pPr>
            <a:r>
              <a:rPr sz="2000" b="0" i="0">
                <a:solidFill>
                  <a:srgbClr val="333333"/>
                </a:solidFill>
                <a:latin typeface="Calibri"/>
              </a:rPr>
              <a:t>–   Corte vertical, como una rebanada de pastel: cada historia atraviesa pantalla, lógica y datos, y deja algo usable.</a:t>
            </a:r>
          </a:p>
          <a:p>
            <a:pPr>
              <a:spcAft>
                <a:spcPts val="800"/>
              </a:spcAft>
            </a:pPr>
            <a:r>
              <a:rPr sz="2000" b="0" i="0">
                <a:solidFill>
                  <a:srgbClr val="333333"/>
                </a:solidFill>
                <a:latin typeface="Calibri"/>
              </a:rPr>
              <a:t>–   Corte horizontal por capas: ninguna sirve sola y el cliente no ve nada.</a:t>
            </a:r>
          </a:p>
          <a:p>
            <a:pPr>
              <a:spcAft>
                <a:spcPts val="800"/>
              </a:spcAft>
            </a:pPr>
            <a:r>
              <a:rPr sz="2000" b="0" i="0">
                <a:solidFill>
                  <a:srgbClr val="333333"/>
                </a:solidFill>
                <a:latin typeface="Calibri"/>
              </a:rPr>
              <a:t>–   Otros ejes: por tipo de dato, por regla de negocio, por camino (primero el feliz).</a:t>
            </a:r>
          </a:p>
        </p:txBody>
      </p:sp>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Puntos de historia y planning poker</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lanning-poker-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planning-poker-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planning-poker-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planning-poker-paso4.png"/>
          <p:cNvPicPr>
            <a:picLocks noChangeAspect="1"/>
          </p:cNvPicPr>
          <p:nvPr/>
        </p:nvPicPr>
        <p:blipFill>
          <a:blip r:embed="rId5"/>
          <a:stretch>
            <a:fillRect/>
          </a:stretch>
        </p:blipFill>
        <p:spPr>
          <a:xfrm>
            <a:off x="5876318" y="1261872"/>
            <a:ext cx="5852160" cy="4681728"/>
          </a:xfrm>
          <a:prstGeom prst="rect">
            <a:avLst/>
          </a:prstGeom>
        </p:spPr>
      </p:pic>
      <p:sp>
        <p:nvSpPr>
          <p:cNvPr id="18" name="TextBox 17"/>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19" name="TextBox 18"/>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Estimar es comparar tamaños, no adivinar horas: los puntos mezclan esfuerzo, complejidad e incertidumbre.</a:t>
            </a:r>
          </a:p>
          <a:p>
            <a:pPr>
              <a:spcAft>
                <a:spcPts val="800"/>
              </a:spcAft>
            </a:pPr>
            <a:r>
              <a:rPr sz="2000" b="0" i="0">
                <a:solidFill>
                  <a:srgbClr val="333333"/>
                </a:solidFill>
                <a:latin typeface="Calibri"/>
              </a:rPr>
              <a:t>–   Una historia de referencia (registrar un dueño = 3) y la escala 1, 2, 3, 5, 8, 13.</a:t>
            </a:r>
          </a:p>
          <a:p>
            <a:pPr>
              <a:spcAft>
                <a:spcPts val="800"/>
              </a:spcAft>
            </a:pPr>
            <a:r>
              <a:rPr sz="2000" b="0" i="0">
                <a:solidFill>
                  <a:srgbClr val="333333"/>
                </a:solidFill>
                <a:latin typeface="Calibri"/>
              </a:rPr>
              <a:t>–   Con 13 o más, la señal es partirla.</a:t>
            </a:r>
          </a:p>
          <a:p>
            <a:pPr>
              <a:spcAft>
                <a:spcPts val="800"/>
              </a:spcAft>
            </a:pPr>
            <a:r>
              <a:rPr sz="2000" b="0" i="0">
                <a:solidFill>
                  <a:srgbClr val="333333"/>
                </a:solidFill>
                <a:latin typeface="Calibri"/>
              </a:rPr>
              <a:t>–   Planning poker: todos muestran a la vez; lo que vale es la discusión cuando uno dice 2 y otro 8.</a:t>
            </a:r>
          </a:p>
        </p:txBody>
      </p:sp>
      <p:sp>
        <p:nvSpPr>
          <p:cNvPr id="20" name="TextBox 19"/>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El mapa del backlog: epicas, historias y orden</a:t>
            </a:r>
          </a:p>
        </p:txBody>
      </p:sp>
      <p:sp>
        <p:nvSpPr>
          <p:cNvPr id="5" name="Rounded Rectangle 4"/>
          <p:cNvSpPr/>
          <p:nvPr/>
        </p:nvSpPr>
        <p:spPr>
          <a:xfrm>
            <a:off x="457200" y="1261872"/>
            <a:ext cx="6991923" cy="3152338"/>
          </a:xfrm>
          <a:prstGeom prst="roundRect">
            <a:avLst>
              <a:gd name="adj" fmla="val 4000"/>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6991923" cy="365760"/>
          </a:xfrm>
          <a:prstGeom prst="rect">
            <a:avLst/>
          </a:prstGeom>
          <a:solidFill>
            <a:srgbClr val="2D2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380743"/>
            <a:ext cx="128016" cy="12801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77824" y="1380743"/>
            <a:ext cx="128016" cy="12801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97280" y="1380743"/>
            <a:ext cx="128016" cy="12801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1298448"/>
            <a:ext cx="5894643" cy="292608"/>
          </a:xfrm>
          <a:prstGeom prst="rect">
            <a:avLst/>
          </a:prstGeom>
          <a:noFill/>
        </p:spPr>
        <p:txBody>
          <a:bodyPr wrap="square" anchor="ctr"/>
          <a:lstStyle/>
          <a:p>
            <a:pPr algn="r"/>
            <a:r>
              <a:rPr sz="1100" b="1" i="0">
                <a:solidFill>
                  <a:srgbClr val="BBBBBB"/>
                </a:solidFill>
                <a:latin typeface="Calibri"/>
              </a:rPr>
              <a:t>Mermaid</a:t>
            </a:r>
          </a:p>
        </p:txBody>
      </p:sp>
      <p:sp>
        <p:nvSpPr>
          <p:cNvPr id="11" name="TextBox 10"/>
          <p:cNvSpPr txBox="1"/>
          <p:nvPr/>
        </p:nvSpPr>
        <p:spPr>
          <a:xfrm>
            <a:off x="685800" y="1719072"/>
            <a:ext cx="502920" cy="2557978"/>
          </a:xfrm>
          <a:prstGeom prst="rect">
            <a:avLst/>
          </a:prstGeom>
          <a:noFill/>
        </p:spPr>
        <p:txBody>
          <a:bodyPr wrap="square">
            <a:spAutoFit/>
          </a:bodyPr>
          <a:lstStyle/>
          <a:p>
            <a:pPr algn="r">
              <a:spcAft>
                <a:spcPts val="364"/>
              </a:spcAft>
            </a:pPr>
            <a:r>
              <a:rPr sz="1700" i="0" b="0">
                <a:solidFill>
                  <a:srgbClr val="858585"/>
                </a:solidFill>
                <a:latin typeface="Consolas"/>
              </a:rPr>
              <a:t>1</a:t>
            </a:r>
          </a:p>
          <a:p>
            <a:pPr algn="r">
              <a:spcAft>
                <a:spcPts val="364"/>
              </a:spcAft>
            </a:pPr>
            <a:r>
              <a:rPr sz="1700" i="0" b="0">
                <a:solidFill>
                  <a:srgbClr val="858585"/>
                </a:solidFill>
                <a:latin typeface="Consolas"/>
              </a:rPr>
              <a:t>2</a:t>
            </a:r>
          </a:p>
          <a:p>
            <a:pPr algn="r">
              <a:spcAft>
                <a:spcPts val="364"/>
              </a:spcAft>
            </a:pPr>
            <a:r>
              <a:rPr sz="1700" i="0" b="0">
                <a:solidFill>
                  <a:srgbClr val="858585"/>
                </a:solidFill>
                <a:latin typeface="Consolas"/>
              </a:rPr>
              <a:t>3</a:t>
            </a:r>
          </a:p>
          <a:p>
            <a:pPr algn="r">
              <a:spcAft>
                <a:spcPts val="364"/>
              </a:spcAft>
            </a:pPr>
            <a:r>
              <a:rPr sz="1700" i="0" b="0">
                <a:solidFill>
                  <a:srgbClr val="858585"/>
                </a:solidFill>
                <a:latin typeface="Consolas"/>
              </a:rPr>
              <a:t>4</a:t>
            </a:r>
          </a:p>
          <a:p>
            <a:pPr algn="r">
              <a:spcAft>
                <a:spcPts val="364"/>
              </a:spcAft>
            </a:pPr>
            <a:r>
              <a:rPr sz="1700" i="0" b="0">
                <a:solidFill>
                  <a:srgbClr val="858585"/>
                </a:solidFill>
                <a:latin typeface="Consolas"/>
              </a:rPr>
              <a:t>5</a:t>
            </a:r>
          </a:p>
          <a:p>
            <a:pPr algn="r">
              <a:spcAft>
                <a:spcPts val="364"/>
              </a:spcAft>
            </a:pPr>
            <a:r>
              <a:rPr sz="1700" i="0" b="0">
                <a:solidFill>
                  <a:srgbClr val="858585"/>
                </a:solidFill>
                <a:latin typeface="Consolas"/>
              </a:rPr>
              <a:t>6</a:t>
            </a:r>
          </a:p>
          <a:p>
            <a:pPr algn="r">
              <a:spcAft>
                <a:spcPts val="364"/>
              </a:spcAft>
            </a:pPr>
            <a:r>
              <a:rPr sz="1700" i="0" b="0">
                <a:solidFill>
                  <a:srgbClr val="858585"/>
                </a:solidFill>
                <a:latin typeface="Consolas"/>
              </a:rPr>
              <a:t>7</a:t>
            </a:r>
          </a:p>
          <a:p>
            <a:pPr algn="r">
              <a:spcAft>
                <a:spcPts val="364"/>
              </a:spcAft>
            </a:pPr>
            <a:r>
              <a:rPr sz="1700" i="0" b="0">
                <a:solidFill>
                  <a:srgbClr val="858585"/>
                </a:solidFill>
                <a:latin typeface="Consolas"/>
              </a:rPr>
              <a:t>8</a:t>
            </a:r>
          </a:p>
        </p:txBody>
      </p:sp>
      <p:sp>
        <p:nvSpPr>
          <p:cNvPr id="12" name="TextBox 11"/>
          <p:cNvSpPr txBox="1"/>
          <p:nvPr/>
        </p:nvSpPr>
        <p:spPr>
          <a:xfrm>
            <a:off x="1188720" y="1719072"/>
            <a:ext cx="5986083" cy="2557978"/>
          </a:xfrm>
          <a:prstGeom prst="rect">
            <a:avLst/>
          </a:prstGeom>
          <a:noFill/>
        </p:spPr>
        <p:txBody>
          <a:bodyPr wrap="square">
            <a:spAutoFit/>
          </a:bodyPr>
          <a:lstStyle/>
          <a:p>
            <a:pPr>
              <a:spcAft>
                <a:spcPts val="364"/>
              </a:spcAft>
            </a:pPr>
            <a:r>
              <a:rPr sz="1700" i="0" b="0">
                <a:solidFill>
                  <a:srgbClr val="D4D4D4"/>
                </a:solidFill>
                <a:latin typeface="Consolas"/>
              </a:rPr>
              <a:t>flowchart</a:t>
            </a:r>
            <a:r>
              <a:rPr sz="1700" i="0" b="0">
                <a:solidFill>
                  <a:srgbClr val="D4D4D4"/>
                </a:solidFill>
                <a:latin typeface="Consolas"/>
              </a:rPr>
              <a:t> </a:t>
            </a:r>
            <a:r>
              <a:rPr sz="1700" i="0" b="0">
                <a:solidFill>
                  <a:srgbClr val="D4D4D4"/>
                </a:solidFill>
                <a:latin typeface="Consolas"/>
              </a:rPr>
              <a:t>TB</a:t>
            </a:r>
          </a:p>
          <a:p>
            <a:pPr>
              <a:spcAft>
                <a:spcPts val="364"/>
              </a:spcAft>
            </a:pPr>
            <a:r>
              <a:rPr sz="1700" i="0" b="0">
                <a:solidFill>
                  <a:srgbClr val="D4D4D4"/>
                </a:solidFill>
                <a:latin typeface="Consolas"/>
              </a:rPr>
              <a:t>  </a:t>
            </a:r>
            <a:r>
              <a:rPr sz="1700" i="0" b="0">
                <a:solidFill>
                  <a:srgbClr val="D4D4D4"/>
                </a:solidFill>
                <a:latin typeface="Consolas"/>
              </a:rPr>
              <a:t>E1</a:t>
            </a:r>
            <a:r>
              <a:rPr sz="1700" i="0" b="0">
                <a:solidFill>
                  <a:srgbClr val="D4D4D4"/>
                </a:solidFill>
                <a:latin typeface="Consolas"/>
              </a:rPr>
              <a:t>[</a:t>
            </a:r>
            <a:r>
              <a:rPr sz="1700" i="0" b="0">
                <a:solidFill>
                  <a:srgbClr val="D4D4D4"/>
                </a:solidFill>
                <a:latin typeface="Consolas"/>
              </a:rPr>
              <a:t>EPICA</a:t>
            </a:r>
            <a:r>
              <a:rPr sz="1700" i="0" b="0">
                <a:solidFill>
                  <a:srgbClr val="D4D4D4"/>
                </a:solidFill>
                <a:latin typeface="Consolas"/>
              </a:rPr>
              <a:t> </a:t>
            </a:r>
            <a:r>
              <a:rPr sz="1700" i="0" b="0">
                <a:solidFill>
                  <a:srgbClr val="B5CEA8"/>
                </a:solidFill>
                <a:latin typeface="Consolas"/>
              </a:rPr>
              <a:t>1</a:t>
            </a:r>
            <a:r>
              <a:rPr sz="1700" i="0" b="0">
                <a:solidFill>
                  <a:srgbClr val="D4D4D4"/>
                </a:solidFill>
                <a:latin typeface="Consolas"/>
              </a:rPr>
              <a:t> - </a:t>
            </a:r>
            <a:r>
              <a:rPr sz="1700" i="0" b="0">
                <a:solidFill>
                  <a:srgbClr val="D4D4D4"/>
                </a:solidFill>
                <a:latin typeface="Consolas"/>
              </a:rPr>
              <a:t>Agenda</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4D4D4"/>
                </a:solidFill>
                <a:latin typeface="Consolas"/>
              </a:rPr>
              <a:t>E2</a:t>
            </a:r>
            <a:r>
              <a:rPr sz="1700" i="0" b="0">
                <a:solidFill>
                  <a:srgbClr val="D4D4D4"/>
                </a:solidFill>
                <a:latin typeface="Consolas"/>
              </a:rPr>
              <a:t>[</a:t>
            </a:r>
            <a:r>
              <a:rPr sz="1700" i="0" b="0">
                <a:solidFill>
                  <a:srgbClr val="D4D4D4"/>
                </a:solidFill>
                <a:latin typeface="Consolas"/>
              </a:rPr>
              <a:t>EPICA</a:t>
            </a:r>
            <a:r>
              <a:rPr sz="1700" i="0" b="0">
                <a:solidFill>
                  <a:srgbClr val="D4D4D4"/>
                </a:solidFill>
                <a:latin typeface="Consolas"/>
              </a:rPr>
              <a:t> </a:t>
            </a:r>
            <a:r>
              <a:rPr sz="1700" i="0" b="0">
                <a:solidFill>
                  <a:srgbClr val="B5CEA8"/>
                </a:solidFill>
                <a:latin typeface="Consolas"/>
              </a:rPr>
              <a:t>2</a:t>
            </a:r>
            <a:r>
              <a:rPr sz="1700" i="0" b="0">
                <a:solidFill>
                  <a:srgbClr val="D4D4D4"/>
                </a:solidFill>
                <a:latin typeface="Consolas"/>
              </a:rPr>
              <a:t> - </a:t>
            </a:r>
            <a:r>
              <a:rPr sz="1700" i="0" b="0">
                <a:solidFill>
                  <a:srgbClr val="D4D4D4"/>
                </a:solidFill>
                <a:latin typeface="Consolas"/>
              </a:rPr>
              <a:t>Expediente</a:t>
            </a:r>
            <a:r>
              <a:rPr sz="1700" i="0" b="0">
                <a:solidFill>
                  <a:srgbClr val="D4D4D4"/>
                </a:solidFill>
                <a:latin typeface="Consolas"/>
              </a:rPr>
              <a:t>]</a:t>
            </a:r>
          </a:p>
          <a:p>
            <a:pPr>
              <a:spcAft>
                <a:spcPts val="364"/>
              </a:spcAft>
            </a:pPr>
            <a:r>
              <a:rPr sz="1700" i="0" b="0">
                <a:solidFill>
                  <a:srgbClr val="D4D4D4"/>
                </a:solidFill>
                <a:latin typeface="Consolas"/>
              </a:rPr>
              <a:t/>
            </a:r>
          </a:p>
          <a:p>
            <a:pPr>
              <a:spcAft>
                <a:spcPts val="364"/>
              </a:spcAft>
            </a:pPr>
            <a:r>
              <a:rPr sz="1700" i="0" b="0">
                <a:solidFill>
                  <a:srgbClr val="D4D4D4"/>
                </a:solidFill>
                <a:latin typeface="Consolas"/>
              </a:rPr>
              <a:t>  </a:t>
            </a:r>
            <a:r>
              <a:rPr sz="1700" i="0" b="0">
                <a:solidFill>
                  <a:srgbClr val="D4D4D4"/>
                </a:solidFill>
                <a:latin typeface="Consolas"/>
              </a:rPr>
              <a:t>E1</a:t>
            </a:r>
            <a:r>
              <a:rPr sz="1700" i="0" b="0">
                <a:solidFill>
                  <a:srgbClr val="D4D4D4"/>
                </a:solidFill>
                <a:latin typeface="Consolas"/>
              </a:rPr>
              <a:t> --&gt; </a:t>
            </a:r>
            <a:r>
              <a:rPr sz="1700" i="0" b="0">
                <a:solidFill>
                  <a:srgbClr val="D4D4D4"/>
                </a:solidFill>
                <a:latin typeface="Consolas"/>
              </a:rPr>
              <a:t>H1</a:t>
            </a:r>
            <a:r>
              <a:rPr sz="1700" i="0" b="0">
                <a:solidFill>
                  <a:srgbClr val="D4D4D4"/>
                </a:solidFill>
                <a:latin typeface="Consolas"/>
              </a:rPr>
              <a:t>[</a:t>
            </a:r>
            <a:r>
              <a:rPr sz="1700" i="0" b="0">
                <a:solidFill>
                  <a:srgbClr val="D4D4D4"/>
                </a:solidFill>
                <a:latin typeface="Consolas"/>
              </a:rPr>
              <a:t>HU</a:t>
            </a:r>
            <a:r>
              <a:rPr sz="1700" i="0" b="0">
                <a:solidFill>
                  <a:srgbClr val="D4D4D4"/>
                </a:solidFill>
                <a:latin typeface="Consolas"/>
              </a:rPr>
              <a:t>-</a:t>
            </a:r>
            <a:r>
              <a:rPr sz="1700" i="0" b="0">
                <a:solidFill>
                  <a:srgbClr val="B5CEA8"/>
                </a:solidFill>
                <a:latin typeface="Consolas"/>
              </a:rPr>
              <a:t>01</a:t>
            </a:r>
            <a:r>
              <a:rPr sz="1700" i="0" b="0">
                <a:solidFill>
                  <a:srgbClr val="D4D4D4"/>
                </a:solidFill>
                <a:latin typeface="Consolas"/>
              </a:rPr>
              <a:t> </a:t>
            </a:r>
            <a:r>
              <a:rPr sz="1700" i="0" b="0">
                <a:solidFill>
                  <a:srgbClr val="D4D4D4"/>
                </a:solidFill>
                <a:latin typeface="Consolas"/>
              </a:rPr>
              <a:t>Registrar</a:t>
            </a:r>
            <a:r>
              <a:rPr sz="1700" i="0" b="0">
                <a:solidFill>
                  <a:srgbClr val="D4D4D4"/>
                </a:solidFill>
                <a:latin typeface="Consolas"/>
              </a:rPr>
              <a:t> </a:t>
            </a:r>
            <a:r>
              <a:rPr sz="1700" i="0" b="0">
                <a:solidFill>
                  <a:srgbClr val="D4D4D4"/>
                </a:solidFill>
                <a:latin typeface="Consolas"/>
              </a:rPr>
              <a:t>dueno</a:t>
            </a:r>
            <a:r>
              <a:rPr sz="1700" i="0" b="0">
                <a:solidFill>
                  <a:srgbClr val="D4D4D4"/>
                </a:solidFill>
                <a:latin typeface="Consolas"/>
              </a:rPr>
              <a:t>&lt;</a:t>
            </a:r>
            <a:r>
              <a:rPr sz="1700" i="0" b="0">
                <a:solidFill>
                  <a:srgbClr val="D4D4D4"/>
                </a:solidFill>
                <a:latin typeface="Consolas"/>
              </a:rPr>
              <a:t>br</a:t>
            </a:r>
            <a:r>
              <a:rPr sz="1700" i="0" b="0">
                <a:solidFill>
                  <a:srgbClr val="D4D4D4"/>
                </a:solidFill>
                <a:latin typeface="Consolas"/>
              </a:rPr>
              <a:t>/&gt;</a:t>
            </a:r>
            <a:r>
              <a:rPr sz="1700" i="0" b="0">
                <a:solidFill>
                  <a:srgbClr val="B5CEA8"/>
                </a:solidFill>
                <a:latin typeface="Consolas"/>
              </a:rPr>
              <a:t>3</a:t>
            </a:r>
            <a:r>
              <a:rPr sz="1700" i="0" b="0">
                <a:solidFill>
                  <a:srgbClr val="D4D4D4"/>
                </a:solidFill>
                <a:latin typeface="Consolas"/>
              </a:rPr>
              <a:t> </a:t>
            </a:r>
            <a:r>
              <a:rPr sz="1700" i="0" b="0">
                <a:solidFill>
                  <a:srgbClr val="D4D4D4"/>
                </a:solidFill>
                <a:latin typeface="Consolas"/>
              </a:rPr>
              <a:t>pts</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4D4D4"/>
                </a:solidFill>
                <a:latin typeface="Consolas"/>
              </a:rPr>
              <a:t>E1</a:t>
            </a:r>
            <a:r>
              <a:rPr sz="1700" i="0" b="0">
                <a:solidFill>
                  <a:srgbClr val="D4D4D4"/>
                </a:solidFill>
                <a:latin typeface="Consolas"/>
              </a:rPr>
              <a:t> --&gt; </a:t>
            </a:r>
            <a:r>
              <a:rPr sz="1700" i="0" b="0">
                <a:solidFill>
                  <a:srgbClr val="D4D4D4"/>
                </a:solidFill>
                <a:latin typeface="Consolas"/>
              </a:rPr>
              <a:t>H2</a:t>
            </a:r>
            <a:r>
              <a:rPr sz="1700" i="0" b="0">
                <a:solidFill>
                  <a:srgbClr val="D4D4D4"/>
                </a:solidFill>
                <a:latin typeface="Consolas"/>
              </a:rPr>
              <a:t>[</a:t>
            </a:r>
            <a:r>
              <a:rPr sz="1700" i="0" b="0">
                <a:solidFill>
                  <a:srgbClr val="D4D4D4"/>
                </a:solidFill>
                <a:latin typeface="Consolas"/>
              </a:rPr>
              <a:t>HU</a:t>
            </a:r>
            <a:r>
              <a:rPr sz="1700" i="0" b="0">
                <a:solidFill>
                  <a:srgbClr val="D4D4D4"/>
                </a:solidFill>
                <a:latin typeface="Consolas"/>
              </a:rPr>
              <a:t>-</a:t>
            </a:r>
            <a:r>
              <a:rPr sz="1700" i="0" b="0">
                <a:solidFill>
                  <a:srgbClr val="B5CEA8"/>
                </a:solidFill>
                <a:latin typeface="Consolas"/>
              </a:rPr>
              <a:t>02</a:t>
            </a:r>
            <a:r>
              <a:rPr sz="1700" i="0" b="0">
                <a:solidFill>
                  <a:srgbClr val="D4D4D4"/>
                </a:solidFill>
                <a:latin typeface="Consolas"/>
              </a:rPr>
              <a:t> </a:t>
            </a:r>
            <a:r>
              <a:rPr sz="1700" i="0" b="0">
                <a:solidFill>
                  <a:srgbClr val="D4D4D4"/>
                </a:solidFill>
                <a:latin typeface="Consolas"/>
              </a:rPr>
              <a:t>Registrar</a:t>
            </a:r>
            <a:r>
              <a:rPr sz="1700" i="0" b="0">
                <a:solidFill>
                  <a:srgbClr val="D4D4D4"/>
                </a:solidFill>
                <a:latin typeface="Consolas"/>
              </a:rPr>
              <a:t> </a:t>
            </a:r>
            <a:r>
              <a:rPr sz="1700" i="0" b="0">
                <a:solidFill>
                  <a:srgbClr val="D4D4D4"/>
                </a:solidFill>
                <a:latin typeface="Consolas"/>
              </a:rPr>
              <a:t>mascota</a:t>
            </a:r>
            <a:r>
              <a:rPr sz="1700" i="0" b="0">
                <a:solidFill>
                  <a:srgbClr val="D4D4D4"/>
                </a:solidFill>
                <a:latin typeface="Consolas"/>
              </a:rPr>
              <a:t>&lt;</a:t>
            </a:r>
            <a:r>
              <a:rPr sz="1700" i="0" b="0">
                <a:solidFill>
                  <a:srgbClr val="D4D4D4"/>
                </a:solidFill>
                <a:latin typeface="Consolas"/>
              </a:rPr>
              <a:t>br</a:t>
            </a:r>
            <a:r>
              <a:rPr sz="1700" i="0" b="0">
                <a:solidFill>
                  <a:srgbClr val="D4D4D4"/>
                </a:solidFill>
                <a:latin typeface="Consolas"/>
              </a:rPr>
              <a:t>/&gt;</a:t>
            </a:r>
            <a:r>
              <a:rPr sz="1700" i="0" b="0">
                <a:solidFill>
                  <a:srgbClr val="B5CEA8"/>
                </a:solidFill>
                <a:latin typeface="Consolas"/>
              </a:rPr>
              <a:t>5</a:t>
            </a:r>
            <a:r>
              <a:rPr sz="1700" i="0" b="0">
                <a:solidFill>
                  <a:srgbClr val="D4D4D4"/>
                </a:solidFill>
                <a:latin typeface="Consolas"/>
              </a:rPr>
              <a:t> </a:t>
            </a:r>
            <a:r>
              <a:rPr sz="1700" i="0" b="0">
                <a:solidFill>
                  <a:srgbClr val="D4D4D4"/>
                </a:solidFill>
                <a:latin typeface="Consolas"/>
              </a:rPr>
              <a:t>pts</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4D4D4"/>
                </a:solidFill>
                <a:latin typeface="Consolas"/>
              </a:rPr>
              <a:t>E1</a:t>
            </a:r>
            <a:r>
              <a:rPr sz="1700" i="0" b="0">
                <a:solidFill>
                  <a:srgbClr val="D4D4D4"/>
                </a:solidFill>
                <a:latin typeface="Consolas"/>
              </a:rPr>
              <a:t> --&gt; </a:t>
            </a:r>
            <a:r>
              <a:rPr sz="1700" i="0" b="0">
                <a:solidFill>
                  <a:srgbClr val="D4D4D4"/>
                </a:solidFill>
                <a:latin typeface="Consolas"/>
              </a:rPr>
              <a:t>H3</a:t>
            </a:r>
            <a:r>
              <a:rPr sz="1700" i="0" b="0">
                <a:solidFill>
                  <a:srgbClr val="D4D4D4"/>
                </a:solidFill>
                <a:latin typeface="Consolas"/>
              </a:rPr>
              <a:t>[</a:t>
            </a:r>
            <a:r>
              <a:rPr sz="1700" i="0" b="0">
                <a:solidFill>
                  <a:srgbClr val="D4D4D4"/>
                </a:solidFill>
                <a:latin typeface="Consolas"/>
              </a:rPr>
              <a:t>HU</a:t>
            </a:r>
            <a:r>
              <a:rPr sz="1700" i="0" b="0">
                <a:solidFill>
                  <a:srgbClr val="D4D4D4"/>
                </a:solidFill>
                <a:latin typeface="Consolas"/>
              </a:rPr>
              <a:t>-</a:t>
            </a:r>
            <a:r>
              <a:rPr sz="1700" i="0" b="0">
                <a:solidFill>
                  <a:srgbClr val="B5CEA8"/>
                </a:solidFill>
                <a:latin typeface="Consolas"/>
              </a:rPr>
              <a:t>03</a:t>
            </a:r>
            <a:r>
              <a:rPr sz="1700" i="0" b="0">
                <a:solidFill>
                  <a:srgbClr val="D4D4D4"/>
                </a:solidFill>
                <a:latin typeface="Consolas"/>
              </a:rPr>
              <a:t> </a:t>
            </a:r>
            <a:r>
              <a:rPr sz="1700" i="0" b="0">
                <a:solidFill>
                  <a:srgbClr val="D4D4D4"/>
                </a:solidFill>
                <a:latin typeface="Consolas"/>
              </a:rPr>
              <a:t>Agendar</a:t>
            </a:r>
            <a:r>
              <a:rPr sz="1700" i="0" b="0">
                <a:solidFill>
                  <a:srgbClr val="D4D4D4"/>
                </a:solidFill>
                <a:latin typeface="Consolas"/>
              </a:rPr>
              <a:t> </a:t>
            </a:r>
            <a:r>
              <a:rPr sz="1700" i="0" b="0">
                <a:solidFill>
                  <a:srgbClr val="D4D4D4"/>
                </a:solidFill>
                <a:latin typeface="Consolas"/>
              </a:rPr>
              <a:t>cita</a:t>
            </a:r>
            <a:r>
              <a:rPr sz="1700" i="0" b="0">
                <a:solidFill>
                  <a:srgbClr val="D4D4D4"/>
                </a:solidFill>
                <a:latin typeface="Consolas"/>
              </a:rPr>
              <a:t>&lt;</a:t>
            </a:r>
            <a:r>
              <a:rPr sz="1700" i="0" b="0">
                <a:solidFill>
                  <a:srgbClr val="D4D4D4"/>
                </a:solidFill>
                <a:latin typeface="Consolas"/>
              </a:rPr>
              <a:t>br</a:t>
            </a:r>
            <a:r>
              <a:rPr sz="1700" i="0" b="0">
                <a:solidFill>
                  <a:srgbClr val="D4D4D4"/>
                </a:solidFill>
                <a:latin typeface="Consolas"/>
              </a:rPr>
              <a:t>/&gt;</a:t>
            </a:r>
            <a:r>
              <a:rPr sz="1700" i="0" b="0">
                <a:solidFill>
                  <a:srgbClr val="B5CEA8"/>
                </a:solidFill>
                <a:latin typeface="Consolas"/>
              </a:rPr>
              <a:t>8</a:t>
            </a:r>
            <a:r>
              <a:rPr sz="1700" i="0" b="0">
                <a:solidFill>
                  <a:srgbClr val="D4D4D4"/>
                </a:solidFill>
                <a:latin typeface="Consolas"/>
              </a:rPr>
              <a:t> </a:t>
            </a:r>
            <a:r>
              <a:rPr sz="1700" i="0" b="0">
                <a:solidFill>
                  <a:srgbClr val="D4D4D4"/>
                </a:solidFill>
                <a:latin typeface="Consolas"/>
              </a:rPr>
              <a:t>pts</a:t>
            </a:r>
            <a:r>
              <a:rPr sz="1700" i="0" b="0">
                <a:solidFill>
                  <a:srgbClr val="D4D4D4"/>
                </a:solidFill>
                <a:latin typeface="Consolas"/>
              </a:rPr>
              <a:t>]</a:t>
            </a:r>
          </a:p>
          <a:p>
            <a:pPr>
              <a:spcAft>
                <a:spcPts val="364"/>
              </a:spcAft>
            </a:pPr>
            <a:r>
              <a:rPr sz="1700" i="0" b="0">
                <a:solidFill>
                  <a:srgbClr val="D4D4D4"/>
                </a:solidFill>
                <a:latin typeface="Consolas"/>
              </a:rPr>
              <a:t>  </a:t>
            </a:r>
            <a:r>
              <a:rPr sz="1700" i="0" b="0">
                <a:solidFill>
                  <a:srgbClr val="D4D4D4"/>
                </a:solidFill>
                <a:latin typeface="Consolas"/>
              </a:rPr>
              <a:t>E2</a:t>
            </a:r>
            <a:r>
              <a:rPr sz="1700" i="0" b="0">
                <a:solidFill>
                  <a:srgbClr val="D4D4D4"/>
                </a:solidFill>
                <a:latin typeface="Consolas"/>
              </a:rPr>
              <a:t> --&gt; </a:t>
            </a:r>
            <a:r>
              <a:rPr sz="1700" i="0" b="0">
                <a:solidFill>
                  <a:srgbClr val="D4D4D4"/>
                </a:solidFill>
                <a:latin typeface="Consolas"/>
              </a:rPr>
              <a:t>H4</a:t>
            </a:r>
            <a:r>
              <a:rPr sz="1700" i="0" b="0">
                <a:solidFill>
                  <a:srgbClr val="D4D4D4"/>
                </a:solidFill>
                <a:latin typeface="Consolas"/>
              </a:rPr>
              <a:t>[</a:t>
            </a:r>
            <a:r>
              <a:rPr sz="1700" i="0" b="0">
                <a:solidFill>
                  <a:srgbClr val="D4D4D4"/>
                </a:solidFill>
                <a:latin typeface="Consolas"/>
              </a:rPr>
              <a:t>HU</a:t>
            </a:r>
            <a:r>
              <a:rPr sz="1700" i="0" b="0">
                <a:solidFill>
                  <a:srgbClr val="D4D4D4"/>
                </a:solidFill>
                <a:latin typeface="Consolas"/>
              </a:rPr>
              <a:t>-</a:t>
            </a:r>
            <a:r>
              <a:rPr sz="1700" i="0" b="0">
                <a:solidFill>
                  <a:srgbClr val="B5CEA8"/>
                </a:solidFill>
                <a:latin typeface="Consolas"/>
              </a:rPr>
              <a:t>04</a:t>
            </a:r>
            <a:r>
              <a:rPr sz="1700" i="0" b="0">
                <a:solidFill>
                  <a:srgbClr val="D4D4D4"/>
                </a:solidFill>
                <a:latin typeface="Consolas"/>
              </a:rPr>
              <a:t> </a:t>
            </a:r>
            <a:r>
              <a:rPr sz="1700" i="0" b="0">
                <a:solidFill>
                  <a:srgbClr val="D4D4D4"/>
                </a:solidFill>
                <a:latin typeface="Consolas"/>
              </a:rPr>
              <a:t>Abrir</a:t>
            </a:r>
            <a:r>
              <a:rPr sz="1700" i="0" b="0">
                <a:solidFill>
                  <a:srgbClr val="D4D4D4"/>
                </a:solidFill>
                <a:latin typeface="Consolas"/>
              </a:rPr>
              <a:t> </a:t>
            </a:r>
            <a:r>
              <a:rPr sz="1700" i="0" b="0">
                <a:solidFill>
                  <a:srgbClr val="D4D4D4"/>
                </a:solidFill>
                <a:latin typeface="Consolas"/>
              </a:rPr>
              <a:t>expediente</a:t>
            </a:r>
            <a:r>
              <a:rPr sz="1700" i="0" b="0">
                <a:solidFill>
                  <a:srgbClr val="D4D4D4"/>
                </a:solidFill>
                <a:latin typeface="Consolas"/>
              </a:rPr>
              <a:t>&lt;</a:t>
            </a:r>
            <a:r>
              <a:rPr sz="1700" i="0" b="0">
                <a:solidFill>
                  <a:srgbClr val="D4D4D4"/>
                </a:solidFill>
                <a:latin typeface="Consolas"/>
              </a:rPr>
              <a:t>br</a:t>
            </a:r>
            <a:r>
              <a:rPr sz="1700" i="0" b="0">
                <a:solidFill>
                  <a:srgbClr val="D4D4D4"/>
                </a:solidFill>
                <a:latin typeface="Consolas"/>
              </a:rPr>
              <a:t>/&gt;</a:t>
            </a:r>
            <a:r>
              <a:rPr sz="1700" i="0" b="0">
                <a:solidFill>
                  <a:srgbClr val="B5CEA8"/>
                </a:solidFill>
                <a:latin typeface="Consolas"/>
              </a:rPr>
              <a:t>5</a:t>
            </a:r>
            <a:r>
              <a:rPr sz="1700" i="0" b="0">
                <a:solidFill>
                  <a:srgbClr val="D4D4D4"/>
                </a:solidFill>
                <a:latin typeface="Consolas"/>
              </a:rPr>
              <a:t> </a:t>
            </a:r>
            <a:r>
              <a:rPr sz="1700" i="0" b="0">
                <a:solidFill>
                  <a:srgbClr val="D4D4D4"/>
                </a:solidFill>
                <a:latin typeface="Consolas"/>
              </a:rPr>
              <a:t>pts</a:t>
            </a:r>
            <a:r>
              <a:rPr sz="1700" i="0" b="0">
                <a:solidFill>
                  <a:srgbClr val="D4D4D4"/>
                </a:solidFill>
                <a:latin typeface="Consolas"/>
              </a:rPr>
              <a:t>]</a:t>
            </a:r>
          </a:p>
        </p:txBody>
      </p:sp>
      <p:sp>
        <p:nvSpPr>
          <p:cNvPr id="13" name="Rounded Rectangle 12"/>
          <p:cNvSpPr/>
          <p:nvPr/>
        </p:nvSpPr>
        <p:spPr>
          <a:xfrm>
            <a:off x="7668579" y="1261872"/>
            <a:ext cx="4120780" cy="3318569"/>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g-backlog-paso1.png"/>
          <p:cNvPicPr>
            <a:picLocks noChangeAspect="1"/>
          </p:cNvPicPr>
          <p:nvPr/>
        </p:nvPicPr>
        <p:blipFill>
          <a:blip r:embed="rId2"/>
          <a:stretch>
            <a:fillRect/>
          </a:stretch>
        </p:blipFill>
        <p:spPr>
          <a:xfrm>
            <a:off x="7723443" y="1316736"/>
            <a:ext cx="4011052" cy="3208841"/>
          </a:xfrm>
          <a:prstGeom prst="rect">
            <a:avLst/>
          </a:prstGeom>
        </p:spPr>
      </p:pic>
      <p:sp>
        <p:nvSpPr>
          <p:cNvPr id="15" name="TextBox 14"/>
          <p:cNvSpPr txBox="1"/>
          <p:nvPr/>
        </p:nvSpPr>
        <p:spPr>
          <a:xfrm>
            <a:off x="7723443" y="4580441"/>
            <a:ext cx="4011052" cy="320040"/>
          </a:xfrm>
          <a:prstGeom prst="rect">
            <a:avLst/>
          </a:prstGeom>
          <a:noFill/>
        </p:spPr>
        <p:txBody>
          <a:bodyPr wrap="square">
            <a:spAutoFit/>
          </a:bodyPr>
          <a:lstStyle/>
          <a:p>
            <a:pPr algn="ctr"/>
            <a:r>
              <a:rPr sz="1200" b="0" i="1">
                <a:solidFill>
                  <a:srgbClr val="666666"/>
                </a:solidFill>
                <a:latin typeface="Calibri"/>
              </a:rPr>
              <a:t>Lo que dibuja este código</a:t>
            </a:r>
          </a:p>
        </p:txBody>
      </p:sp>
      <p:sp>
        <p:nvSpPr>
          <p:cNvPr id="16" name="TextBox 15"/>
          <p:cNvSpPr txBox="1"/>
          <p:nvPr/>
        </p:nvSpPr>
        <p:spPr>
          <a:xfrm>
            <a:off x="457200" y="6035040"/>
            <a:ext cx="11277295" cy="365760"/>
          </a:xfrm>
          <a:prstGeom prst="rect">
            <a:avLst/>
          </a:prstGeom>
          <a:noFill/>
        </p:spPr>
        <p:txBody>
          <a:bodyPr wrap="square">
            <a:spAutoFit/>
          </a:bodyPr>
          <a:lstStyle/>
          <a:p>
            <a:pPr algn="ctr"/>
            <a:r>
              <a:rPr sz="1300" b="0" i="1">
                <a:solidFill>
                  <a:srgbClr val="666666"/>
                </a:solidFill>
                <a:latin typeface="Calibri"/>
              </a:rPr>
              <a:t>Los puntos son relativos, no horas; el orden del backlog sale del valor, no de los puntos.</a:t>
            </a:r>
          </a:p>
        </p:txBody>
      </p:sp>
      <p:sp>
        <p:nvSpPr>
          <p:cNvPr id="17" name="TextBox 1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Demo del dia</a:t>
            </a:r>
          </a:p>
        </p:txBody>
      </p:sp>
      <p:sp>
        <p:nvSpPr>
          <p:cNvPr id="5" name="Rounded Rectangle 4"/>
          <p:cNvSpPr/>
          <p:nvPr/>
        </p:nvSpPr>
        <p:spPr>
          <a:xfrm>
            <a:off x="5797149" y="1343926"/>
            <a:ext cx="6010497" cy="4837658"/>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lus-demo-paso1.png"/>
          <p:cNvPicPr>
            <a:picLocks noChangeAspect="1"/>
          </p:cNvPicPr>
          <p:nvPr/>
        </p:nvPicPr>
        <p:blipFill>
          <a:blip r:embed="rId2"/>
          <a:stretch>
            <a:fillRect/>
          </a:stretch>
        </p:blipFill>
        <p:spPr>
          <a:xfrm>
            <a:off x="5870301" y="1417078"/>
            <a:ext cx="5864193" cy="4691354"/>
          </a:xfrm>
          <a:prstGeom prst="rect">
            <a:avLst/>
          </a:prstGeom>
        </p:spPr>
      </p:pic>
      <p:sp>
        <p:nvSpPr>
          <p:cNvPr id="7" name="TextBox 6"/>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Herramienta:</a:t>
            </a:r>
            <a:r>
              <a:rPr sz="2000" b="0" i="0">
                <a:solidFill>
                  <a:srgbClr val="333333"/>
                </a:solidFill>
                <a:latin typeface="Calibri"/>
              </a:rPr>
              <a:t> Google Docs · Excalidraw</a:t>
            </a:r>
          </a:p>
          <a:p>
            <a:pPr>
              <a:spcAft>
                <a:spcPts val="800"/>
              </a:spcAft>
            </a:pPr>
            <a:r>
              <a:rPr sz="2000" b="0" i="0">
                <a:solidFill>
                  <a:srgbClr val="333333"/>
                </a:solidFill>
                <a:latin typeface="Calibri"/>
              </a:rPr>
              <a:t>–   </a:t>
            </a:r>
            <a:r>
              <a:rPr sz="2000" b="1" i="0">
                <a:solidFill>
                  <a:srgbClr val="333333"/>
                </a:solidFill>
                <a:latin typeface="Calibri"/>
              </a:rPr>
              <a:t>Demo:</a:t>
            </a:r>
            <a:r>
              <a:rPr sz="2000" b="0" i="0">
                <a:solidFill>
                  <a:srgbClr val="333333"/>
                </a:solidFill>
                <a:latin typeface="Calibri"/>
              </a:rPr>
              <a:t> Se toma el RF-03 del catalogo, lo convierte en vivo en historia con criterios y luego muestra una historia partida por capas para tumbarla…</a:t>
            </a:r>
          </a:p>
          <a:p>
            <a:pPr>
              <a:spcAft>
                <a:spcPts val="800"/>
              </a:spcAft>
            </a:pPr>
            <a:r>
              <a:rPr sz="2000" b="0" i="0">
                <a:solidFill>
                  <a:srgbClr val="333333"/>
                </a:solidFill>
                <a:latin typeface="Calibri"/>
              </a:rPr>
              <a:t>–   Mismo dominio: la clinica veterinaria — no otro ejemplo. Aqui se diseña, no se programa.</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Clase 7 · Historias de usuario</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El requisito contado por quien lo necesita y con criterios que se pueden cobrar</a:t>
            </a:r>
          </a:p>
          <a:p>
            <a:pPr algn="ctr">
              <a:spcAft>
                <a:spcPts val="600"/>
              </a:spcAft>
            </a:pPr>
            <a:r>
              <a:rPr sz="1600" b="0" i="0">
                <a:solidFill>
                  <a:srgbClr val="333333"/>
                </a:solidFill>
                <a:latin typeface="Calibri"/>
              </a:rPr>
              <a:t>Repasen las laminas de teoria: cada concepto esta completo</a:t>
            </a:r>
          </a:p>
          <a:p>
            <a:pPr algn="ctr">
              <a:spcAft>
                <a:spcPts val="600"/>
              </a:spcAft>
            </a:pPr>
            <a:r>
              <a:rPr sz="1600" b="0" i="0">
                <a:solidFill>
                  <a:srgbClr val="333333"/>
                </a:solidFill>
                <a:latin typeface="Calibri"/>
              </a:rPr>
              <a:t>Siguiente clase: continuamos con el siguiente tema</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Teoria al servicio del diseño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