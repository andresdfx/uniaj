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Preparacion de la sustentacion y cierre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Como se defiende un paquete de planos frente a un jurado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Hoy avanzamos VetCare en:</a:t>
            </a:r>
            <a:r>
              <a:rPr sz="1600" b="0" i="0">
                <a:solidFill>
                  <a:srgbClr val="333333"/>
                </a:solidFill>
                <a:latin typeface="Calibri"/>
              </a:rPr>
              <a:t> Queda armado el guion cronometrado de sustentacion de VetCare y consolidado el documento final de diseño en una sola pieza coherente.</a:t>
            </a:r>
          </a:p>
          <a:p>
            <a:pPr>
              <a:spcAft>
                <a:spcPts val="800"/>
              </a:spcAft>
            </a:pPr>
            <a:r>
              <a:rPr sz="1600" b="0" i="0">
                <a:solidFill>
                  <a:srgbClr val="333333"/>
                </a:solidFill>
                <a:latin typeface="Calibri"/>
              </a:rPr>
              <a:t>–   Herramienta: </a:t>
            </a:r>
            <a:r>
              <a:rPr sz="1600" b="1" i="0">
                <a:solidFill>
                  <a:srgbClr val="333333"/>
                </a:solidFill>
                <a:latin typeface="Calibri"/>
              </a:rPr>
              <a:t>Google Docs · draw.io · Figma o Penpot</a:t>
            </a:r>
            <a:r>
              <a:rPr sz="1600" b="0" i="0">
                <a:solidFill>
                  <a:srgbClr val="333333"/>
                </a:solidFill>
                <a:latin typeface="Calibri"/>
              </a:rPr>
              <a:t> · Bloque </a:t>
            </a:r>
            <a:r>
              <a:rPr sz="1600" b="1" i="0">
                <a:solidFill>
                  <a:srgbClr val="333333"/>
                </a:solidFill>
                <a:latin typeface="Calibri"/>
              </a:rPr>
              <a:t>120 min</a:t>
            </a:r>
          </a:p>
          <a:p>
            <a:pPr>
              <a:spcAft>
                <a:spcPts val="800"/>
              </a:spcAft>
            </a:pPr>
            <a:r>
              <a:rPr sz="1600" b="0" i="0">
                <a:solidFill>
                  <a:srgbClr val="333333"/>
                </a:solidFill>
                <a:latin typeface="Calibri"/>
              </a:rPr>
              <a:t>–   </a:t>
            </a:r>
            <a:r>
              <a:rPr sz="1600" b="1" i="0">
                <a:solidFill>
                  <a:srgbClr val="333333"/>
                </a:solidFill>
                <a:latin typeface="Calibri"/>
              </a:rPr>
              <a:t>Entregable de hoy:</a:t>
            </a:r>
            <a:r>
              <a:rPr sz="1600" b="0" i="0">
                <a:solidFill>
                  <a:srgbClr val="333333"/>
                </a:solidFill>
                <a:latin typeface="Calibri"/>
              </a:rPr>
              <a:t> Un documento en Google Docs con el guion minuto a minuto, el reparto nominal por integrante, la tabla de tres decisiones de diseño defendidas y el banco de diez preguntas con su respuesta, mas el indice del documento final consolidado, subido a ExamLab.</a:t>
            </a:r>
          </a:p>
          <a:p>
            <a:pPr>
              <a:spcAft>
                <a:spcPts val="800"/>
              </a:spcAft>
            </a:pPr>
            <a:r>
              <a:rPr sz="16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2560320"/>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2560320"/>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2560320"/>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2560320"/>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2560320"/>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943600"/>
            <a:ext cx="11277295" cy="36576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500" b="0" i="0">
                <a:solidFill>
                  <a:srgbClr val="333333"/>
                </a:solidFill>
                <a:latin typeface="Calibri"/>
              </a:rPr>
              <a:t>–   Sustentar un paquete de diseño no es leer diapositivas ni narrar lo que el equipo hizo cada semana: es demostrar…</a:t>
            </a:r>
          </a:p>
          <a:p>
            <a:pPr>
              <a:spcAft>
                <a:spcPts val="800"/>
              </a:spcAft>
            </a:pPr>
            <a:r>
              <a:rPr sz="1500" b="0" i="0">
                <a:solidFill>
                  <a:srgbClr val="333333"/>
                </a:solidFill>
                <a:latin typeface="Calibri"/>
              </a:rPr>
              <a:t>–   El orden de la sustentacion no es libre, es un embudo y tiene una razon logica</a:t>
            </a:r>
          </a:p>
          <a:p>
            <a:pPr>
              <a:spcAft>
                <a:spcPts val="800"/>
              </a:spcAft>
            </a:pPr>
            <a:r>
              <a:rPr sz="1500" b="0" i="0">
                <a:solidFill>
                  <a:srgbClr val="333333"/>
                </a:solidFill>
                <a:latin typeface="Calibri"/>
              </a:rPr>
              <a:t>–   Defender una decision de diseño tiene una estructura fija que conviene memorizar: decision, alternativas…</a:t>
            </a:r>
          </a:p>
          <a:p>
            <a:pPr>
              <a:spcAft>
                <a:spcPts val="800"/>
              </a:spcAft>
            </a:pPr>
            <a:r>
              <a:rPr sz="1500" b="0" i="0">
                <a:solidFill>
                  <a:srgbClr val="333333"/>
                </a:solidFill>
                <a:latin typeface="Calibri"/>
              </a:rPr>
              <a:t>–   Las preguntas del jurado son bastante predecibles y por eso se preparan</a:t>
            </a:r>
          </a:p>
          <a:p>
            <a:pPr>
              <a:spcAft>
                <a:spcPts val="800"/>
              </a:spcAft>
            </a:pPr>
            <a:r>
              <a:rPr sz="1500" b="0" i="0">
                <a:solidFill>
                  <a:srgbClr val="333333"/>
                </a:solidFill>
                <a:latin typeface="Calibri"/>
              </a:rPr>
              <a:t>–   El reparto entre el equipo es criterio de evaluacion, no un detalle logistico</a:t>
            </a:r>
          </a:p>
          <a:p>
            <a:pPr>
              <a:spcAft>
                <a:spcPts val="800"/>
              </a:spcAft>
            </a:pPr>
            <a:r>
              <a:rPr sz="1500" b="0" i="0">
                <a:solidFill>
                  <a:srgbClr val="333333"/>
                </a:solidFill>
                <a:latin typeface="Calibri"/>
              </a:rPr>
              <a:t>–   Error tipico del docente que no domina el tema: tratar la sustentacion como un tramite y evaluarla por la calidad…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Guion de sustentacion VetCare: doce minutos cronometrados y quien dice que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00:00-01:30 | PROBLEMA    | Huellitas: fichas extraviadas, 8 min por historial, cero metricas</a:t>
            </a:r>
          </a:p>
          <a:p>
            <a:pPr>
              <a:spcAft>
                <a:spcPts val="400"/>
              </a:spcAft>
            </a:pPr>
            <a:r>
              <a:rPr sz="1400" b="0" i="0">
                <a:solidFill>
                  <a:srgbClr val="FFFFFF"/>
                </a:solidFill>
                <a:latin typeface="Calibri"/>
              </a:rPr>
              <a:t>01:30-03:00 | ALCANCE     | Lo que si entra y lo que quedo por fuera, con la razon</a:t>
            </a:r>
          </a:p>
          <a:p>
            <a:pPr>
              <a:spcAft>
                <a:spcPts val="400"/>
              </a:spcAft>
            </a:pPr>
            <a:r>
              <a:rPr sz="1400" b="0" i="0">
                <a:solidFill>
                  <a:srgbClr val="FFFFFF"/>
                </a:solidFill>
                <a:latin typeface="Calibri"/>
              </a:rPr>
              <a:t>03:00-05:00 | REQUISITOS  | Solo los 3 RF criticos y 2 RNF medibles; el resto en el documento</a:t>
            </a:r>
          </a:p>
          <a:p>
            <a:pPr>
              <a:spcAft>
                <a:spcPts val="400"/>
              </a:spcAft>
            </a:pPr>
            <a:r>
              <a:rPr sz="1400" b="0" i="0">
                <a:solidFill>
                  <a:srgbClr val="FFFFFF"/>
                </a:solidFill>
                <a:latin typeface="Calibri"/>
              </a:rPr>
              <a:t>05:00-07:00 | MODELO      | Casos de uso y clases: Mascota, Dueño, Historia_Clinica, Cita</a:t>
            </a:r>
          </a:p>
          <a:p>
            <a:pPr>
              <a:spcAft>
                <a:spcPts val="400"/>
              </a:spcAft>
            </a:pPr>
            <a:r>
              <a:rPr sz="1400" b="0" i="0">
                <a:solidFill>
                  <a:srgbClr val="FFFFFF"/>
                </a:solidFill>
                <a:latin typeface="Calibri"/>
              </a:rPr>
              <a:t>07:00-09:00 | INTERFAZ    | Prototipo en vivo: registrar mascota -&gt; confirmacion -&gt; buscar</a:t>
            </a:r>
          </a:p>
          <a:p>
            <a:pPr>
              <a:spcAft>
                <a:spcPts val="400"/>
              </a:spcAft>
            </a:pPr>
            <a:r>
              <a:rPr sz="1400" b="0" i="0">
                <a:solidFill>
                  <a:srgbClr val="FFFFFF"/>
                </a:solidFill>
                <a:latin typeface="Calibri"/>
              </a:rPr>
              <a:t>09:00-11:00 | DECISIONES  | 3 decisiones con alternativa descartada, criterio y consecuencia</a:t>
            </a:r>
          </a:p>
          <a:p>
            <a:pPr>
              <a:spcAft>
                <a:spcPts val="400"/>
              </a:spcAft>
            </a:pPr>
            <a:r>
              <a:rPr sz="1400" b="0" i="0">
                <a:solidFill>
                  <a:srgbClr val="FFFFFF"/>
                </a:solidFill>
                <a:latin typeface="Calibri"/>
              </a:rPr>
              <a:t>11:00-11:30 | RIESGOS     | Que queda abierto y que recibe Programacion II</a:t>
            </a:r>
          </a:p>
          <a:p>
            <a:pPr>
              <a:spcAft>
                <a:spcPts val="400"/>
              </a:spcAft>
            </a:pPr>
            <a:r>
              <a:rPr sz="1400" b="0" i="0">
                <a:solidFill>
                  <a:srgbClr val="FFFFFF"/>
                </a:solidFill>
                <a:latin typeface="Calibri"/>
              </a:rPr>
              <a:t>11:30-12:00 | CIERRE      | Una frase de valor para la clinica, no un resumen</a:t>
            </a:r>
          </a:p>
          <a:p>
            <a:pPr>
              <a:spcAft>
                <a:spcPts val="400"/>
              </a:spcAft>
            </a:pPr>
            <a:r>
              <a:rPr sz="1400" b="0" i="0">
                <a:solidFill>
                  <a:srgbClr val="FFFFFF"/>
                </a:solidFill>
                <a:latin typeface="Calibri"/>
              </a:rPr>
              <a:t>--- Reparto: todos hablan minimo 2 minutos y todos responden minimo 1 pregunta</a:t>
            </a:r>
          </a:p>
          <a:p>
            <a:pPr>
              <a:spcAft>
                <a:spcPts val="400"/>
              </a:spcAft>
            </a:pPr>
            <a:r>
              <a:rPr sz="1400" b="0" i="0">
                <a:solidFill>
                  <a:srgbClr val="FFFFFF"/>
                </a:solidFill>
                <a:latin typeface="Calibri"/>
              </a:rPr>
              <a:t>--- Regla: nadie lee la diapositiva; la diapositiva es el plano, la voz es el argumento</a:t>
            </a:r>
          </a:p>
          <a:p>
            <a:pPr>
              <a:spcAft>
                <a:spcPts val="400"/>
              </a:spcAft>
            </a:pPr>
            <a:r>
              <a:rPr sz="1400" b="0" i="0">
                <a:solidFill>
                  <a:srgbClr val="FFFFFF"/>
                </a:solidFill>
                <a:latin typeface="Calibri"/>
              </a:rPr>
              <a:t>--- Cada pantalla proyectada debe poder señalar el RF que la origina</a:t>
            </a:r>
          </a:p>
          <a:p>
            <a:pPr>
              <a:spcAft>
                <a:spcPts val="400"/>
              </a:spcAft>
            </a:pPr>
            <a:r>
              <a:rPr sz="1400" b="0" i="0">
                <a:solidFill>
                  <a:srgbClr val="FFFFFF"/>
                </a:solidFill>
                <a:latin typeface="Calibri"/>
              </a:rPr>
              <a:t>--- Plan B: capturas del prototipo, PDF descargado y diagramas exportados a imagen</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 paquete de diseño no se narra en orden cronologico: se defiende en orden de embudo, del dolor a la decision.</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Herramienta:</a:t>
            </a:r>
            <a:r>
              <a:rPr sz="1600" b="0" i="0">
                <a:solidFill>
                  <a:srgbClr val="333333"/>
                </a:solidFill>
                <a:latin typeface="Calibri"/>
              </a:rPr>
              <a:t> Google Docs · draw.io · Figma o Penpot</a:t>
            </a:r>
          </a:p>
          <a:p>
            <a:pPr>
              <a:spcAft>
                <a:spcPts val="800"/>
              </a:spcAft>
            </a:pPr>
            <a:r>
              <a:rPr sz="1600" b="0" i="0">
                <a:solidFill>
                  <a:srgbClr val="333333"/>
                </a:solidFill>
                <a:latin typeface="Calibri"/>
              </a:rPr>
              <a:t>–   </a:t>
            </a:r>
            <a:r>
              <a:rPr sz="1600" b="1" i="0">
                <a:solidFill>
                  <a:srgbClr val="333333"/>
                </a:solidFill>
                <a:latin typeface="Calibri"/>
              </a:rPr>
              <a:t>Demo:</a:t>
            </a:r>
            <a:r>
              <a:rPr sz="1600" b="0" i="0">
                <a:solidFill>
                  <a:srgbClr val="333333"/>
                </a:solidFill>
                <a:latin typeface="Calibri"/>
              </a:rPr>
              <a:t> El docente proyecta una sustentacion mal hecha y una bien hecha del mismo paquete VetCare, y luego arma en vivo la tabla de decisiones para justificar por que Historia_Clinica es una clase aparte de Mascota.</a:t>
            </a:r>
          </a:p>
          <a:p>
            <a:pPr>
              <a:spcAft>
                <a:spcPts val="800"/>
              </a:spcAft>
            </a:pPr>
            <a:r>
              <a:rPr sz="16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743913" y="1792224"/>
            <a:ext cx="1051560" cy="1051560"/>
          </a:xfrm>
          <a:prstGeom prst="rect">
            <a:avLst/>
          </a:prstGeom>
        </p:spPr>
      </p:pic>
      <p:sp>
        <p:nvSpPr>
          <p:cNvPr id="10" name="TextBox 9"/>
          <p:cNvSpPr txBox="1"/>
          <p:nvPr/>
        </p:nvSpPr>
        <p:spPr>
          <a:xfrm>
            <a:off x="530352" y="2916936"/>
            <a:ext cx="3478682" cy="502920"/>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570067" y="1792224"/>
            <a:ext cx="1051560" cy="1051560"/>
          </a:xfrm>
          <a:prstGeom prst="rect">
            <a:avLst/>
          </a:prstGeom>
        </p:spPr>
      </p:pic>
      <p:sp>
        <p:nvSpPr>
          <p:cNvPr id="15" name="TextBox 14"/>
          <p:cNvSpPr txBox="1"/>
          <p:nvPr/>
        </p:nvSpPr>
        <p:spPr>
          <a:xfrm>
            <a:off x="4356506" y="2916936"/>
            <a:ext cx="3478682" cy="502920"/>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Documentos del paquete de diseño</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96222" y="1792224"/>
            <a:ext cx="1051560"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96222" y="1792224"/>
            <a:ext cx="1051560" cy="1051560"/>
          </a:xfrm>
          <a:prstGeom prst="rect">
            <a:avLst/>
          </a:prstGeom>
          <a:noFill/>
        </p:spPr>
        <p:txBody>
          <a:bodyPr wrap="square" anchor="ctr"/>
          <a:lstStyle/>
          <a:p>
            <a:pPr algn="ctr"/>
            <a:r>
              <a:rPr sz="1600" b="1" i="0">
                <a:solidFill>
                  <a:srgbClr val="095292"/>
                </a:solidFill>
                <a:latin typeface="Calibri"/>
              </a:rPr>
              <a:t>F</a:t>
            </a:r>
          </a:p>
        </p:txBody>
      </p:sp>
      <p:sp>
        <p:nvSpPr>
          <p:cNvPr id="21" name="TextBox 20"/>
          <p:cNvSpPr txBox="1"/>
          <p:nvPr/>
        </p:nvSpPr>
        <p:spPr>
          <a:xfrm>
            <a:off x="8182660" y="2916936"/>
            <a:ext cx="3478682" cy="502920"/>
          </a:xfrm>
          <a:prstGeom prst="rect">
            <a:avLst/>
          </a:prstGeom>
          <a:noFill/>
        </p:spPr>
        <p:txBody>
          <a:bodyPr wrap="square" anchor="t"/>
          <a:lstStyle/>
          <a:p>
            <a:pPr algn="ctr"/>
            <a:r>
              <a:rPr sz="1300" b="1" i="0">
                <a:solidFill>
                  <a:srgbClr val="095292"/>
                </a:solidFill>
                <a:latin typeface="Calibri"/>
              </a:rPr>
              <a:t>Figma</a:t>
            </a:r>
          </a:p>
          <a:p>
            <a:pPr algn="ctr">
              <a:spcBef>
                <a:spcPts val="200"/>
              </a:spcBef>
            </a:pPr>
            <a:r>
              <a:rPr sz="1000" b="0" i="0">
                <a:solidFill>
                  <a:srgbClr val="666666"/>
                </a:solidFill>
                <a:latin typeface="Calibri"/>
              </a:rPr>
              <a:t>Wireframes y prototipo navegable</a:t>
            </a:r>
          </a:p>
        </p:txBody>
      </p:sp>
      <p:sp>
        <p:nvSpPr>
          <p:cNvPr id="22" name="Rounded Rectangle 21"/>
          <p:cNvSpPr/>
          <p:nvPr/>
        </p:nvSpPr>
        <p:spPr>
          <a:xfrm>
            <a:off x="457200"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743913" y="4256532"/>
            <a:ext cx="1051560"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743913" y="4256532"/>
            <a:ext cx="1051560" cy="1051560"/>
          </a:xfrm>
          <a:prstGeom prst="rect">
            <a:avLst/>
          </a:prstGeom>
          <a:noFill/>
        </p:spPr>
        <p:txBody>
          <a:bodyPr wrap="square" anchor="ctr"/>
          <a:lstStyle/>
          <a:p>
            <a:pPr algn="ctr"/>
            <a:r>
              <a:rPr sz="1600" b="1" i="0">
                <a:solidFill>
                  <a:srgbClr val="095292"/>
                </a:solidFill>
                <a:latin typeface="Calibri"/>
              </a:rPr>
              <a:t>P</a:t>
            </a:r>
          </a:p>
        </p:txBody>
      </p:sp>
      <p:sp>
        <p:nvSpPr>
          <p:cNvPr id="27" name="TextBox 26"/>
          <p:cNvSpPr txBox="1"/>
          <p:nvPr/>
        </p:nvSpPr>
        <p:spPr>
          <a:xfrm>
            <a:off x="530352" y="5381244"/>
            <a:ext cx="3478682" cy="502920"/>
          </a:xfrm>
          <a:prstGeom prst="rect">
            <a:avLst/>
          </a:prstGeom>
          <a:noFill/>
        </p:spPr>
        <p:txBody>
          <a:bodyPr wrap="square" anchor="t"/>
          <a:lstStyle/>
          <a:p>
            <a:pPr algn="ctr"/>
            <a:r>
              <a:rPr sz="1300" b="1" i="0">
                <a:solidFill>
                  <a:srgbClr val="095292"/>
                </a:solidFill>
                <a:latin typeface="Calibri"/>
              </a:rPr>
              <a:t>Penpot</a:t>
            </a:r>
          </a:p>
          <a:p>
            <a:pPr algn="ctr">
              <a:spcBef>
                <a:spcPts val="200"/>
              </a:spcBef>
            </a:pPr>
            <a:r>
              <a:rPr sz="1000" b="0" i="0">
                <a:solidFill>
                  <a:srgbClr val="666666"/>
                </a:solidFill>
                <a:latin typeface="Calibri"/>
              </a:rPr>
              <a:t>Alternativa libre a Figma</a:t>
            </a:r>
          </a:p>
        </p:txBody>
      </p:sp>
      <p:sp>
        <p:nvSpPr>
          <p:cNvPr id="28" name="Rounded Rectangle 27"/>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examlab.png"/>
          <p:cNvPicPr>
            <a:picLocks noChangeAspect="1"/>
          </p:cNvPicPr>
          <p:nvPr/>
        </p:nvPicPr>
        <p:blipFill>
          <a:blip r:embed="rId4"/>
          <a:stretch>
            <a:fillRect/>
          </a:stretch>
        </p:blipFill>
        <p:spPr>
          <a:xfrm>
            <a:off x="5570067" y="4256532"/>
            <a:ext cx="1051560" cy="1051560"/>
          </a:xfrm>
          <a:prstGeom prst="rect">
            <a:avLst/>
          </a:prstGeom>
        </p:spPr>
      </p:pic>
      <p:sp>
        <p:nvSpPr>
          <p:cNvPr id="32" name="TextBox 31"/>
          <p:cNvSpPr txBox="1"/>
          <p:nvPr/>
        </p:nvSpPr>
        <p:spPr>
          <a:xfrm>
            <a:off x="4356506" y="5381244"/>
            <a:ext cx="3478682" cy="502920"/>
          </a:xfrm>
          <a:prstGeom prst="rect">
            <a:avLst/>
          </a:prstGeom>
          <a:noFill/>
        </p:spPr>
        <p:txBody>
          <a:bodyPr wrap="square" anchor="t"/>
          <a:lstStyle/>
          <a:p>
            <a:pPr algn="ctr"/>
            <a:r>
              <a:rPr sz="1300" b="1" i="0">
                <a:solidFill>
                  <a:srgbClr val="095292"/>
                </a:solidFill>
                <a:latin typeface="Calibri"/>
              </a:rPr>
              <a:t>ExamLab</a:t>
            </a:r>
          </a:p>
          <a:p>
            <a:pPr algn="ctr">
              <a:spcBef>
                <a:spcPts val="200"/>
              </a:spcBef>
            </a:pPr>
            <a:r>
              <a:rPr sz="1000" b="0" i="0">
                <a:solidFill>
                  <a:srgbClr val="666666"/>
                </a:solidFill>
                <a:latin typeface="Calibri"/>
              </a:rPr>
              <a:t>Entrega del taller · domingo 23:59</a:t>
            </a:r>
          </a:p>
        </p:txBody>
      </p:sp>
      <p:sp>
        <p:nvSpPr>
          <p:cNvPr id="33" name="TextBox 3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Por que importa al PI:</a:t>
            </a:r>
            <a:r>
              <a:rPr sz="1600" b="0" i="0">
                <a:solidFill>
                  <a:srgbClr val="333333"/>
                </a:solidFill>
                <a:latin typeface="Calibri"/>
              </a:rPr>
              <a:t> hoy se convierte el monton de artefactos de VetCare en un solo paquete defendible, y se ensaya la unica ocasion en que el equipo tiene que demostrar que entiende lo que entrego.</a:t>
            </a:r>
          </a:p>
          <a:p>
            <a:pPr>
              <a:spcAft>
                <a:spcPts val="800"/>
              </a:spcAft>
            </a:pPr>
            <a:r>
              <a:rPr sz="1600" b="0" i="0">
                <a:solidFill>
                  <a:srgbClr val="333333"/>
                </a:solidFill>
                <a:latin typeface="Calibri"/>
              </a:rPr>
              <a:t>–   No hay tema nuevo: todo el trabajo es de consolidacion, coherencia y argumentacion sobre lo ya producido.</a:t>
            </a:r>
          </a:p>
          <a:p>
            <a:pPr>
              <a:spcAft>
                <a:spcPts val="800"/>
              </a:spcAft>
            </a:pPr>
            <a:r>
              <a:rPr sz="1600" b="0" i="0">
                <a:solidFill>
                  <a:srgbClr val="333333"/>
                </a:solidFill>
                <a:latin typeface="Calibri"/>
              </a:rPr>
              <a:t>–   Las inconsistencias que se detecten hoy son baratas de arreglar; las mismas inconsistencias detectadas por el jurado o por el equipo de Programacion II salen carisimas.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El equipo tiene todos los artefactos de VetCare producidos, pero dispersos en varios archivos y con pequeñas contradicciones entre ellos.</a:t>
            </a:r>
          </a:p>
          <a:p>
            <a:pPr>
              <a:spcAft>
                <a:spcPts val="800"/>
              </a:spcAft>
            </a:pPr>
            <a:r>
              <a:rPr sz="1600" b="0" i="0">
                <a:solidFill>
                  <a:srgbClr val="333333"/>
                </a:solidFill>
                <a:latin typeface="Calibri"/>
              </a:rPr>
              <a:t>–   Nadie ha dicho todavia en voz alta la historia completa del proyecto de principio a fin, y el reparto de quien expone que no esta definido.</a:t>
            </a:r>
          </a:p>
          <a:p>
            <a:pPr>
              <a:spcAft>
                <a:spcPts val="800"/>
              </a:spcAft>
            </a:pPr>
            <a:r>
              <a:rPr sz="1600" b="0" i="0">
                <a:solidFill>
                  <a:srgbClr val="333333"/>
                </a:solidFill>
                <a:latin typeface="Calibri"/>
              </a:rPr>
              <a:t>–   El prototipo navegable existe y funciona, pero solo lo ha manejado la persona que lo dibujo.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036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03604"/>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612647"/>
          </a:xfrm>
          <a:prstGeom prst="rect">
            <a:avLst/>
          </a:prstGeom>
          <a:noFill/>
        </p:spPr>
        <p:txBody>
          <a:bodyPr wrap="square" anchor="ctr"/>
          <a:lstStyle/>
          <a:p>
            <a:r>
              <a:rPr sz="1500" b="1" i="0">
                <a:solidFill>
                  <a:srgbClr val="095292"/>
                </a:solidFill>
                <a:latin typeface="Calibri"/>
              </a:rPr>
              <a:t>Paso 1. Armen en Google Docs el guion cronometrado de doce minutos con las cinco secciones obligatorias en orden problema, requisitos, modelo, interfaz y decisiones, asignando a cada bloque su rango de minutos y el nombre del integrante responsable; ningun integrante puede tener menos de dos minutos.</a:t>
            </a:r>
          </a:p>
        </p:txBody>
      </p:sp>
      <p:sp>
        <p:nvSpPr>
          <p:cNvPr id="9" name="Rounded Rectangle 8"/>
          <p:cNvSpPr/>
          <p:nvPr/>
        </p:nvSpPr>
        <p:spPr>
          <a:xfrm>
            <a:off x="457200" y="2103120"/>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27228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272284"/>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194560"/>
            <a:ext cx="10271455" cy="612647"/>
          </a:xfrm>
          <a:prstGeom prst="rect">
            <a:avLst/>
          </a:prstGeom>
          <a:noFill/>
        </p:spPr>
        <p:txBody>
          <a:bodyPr wrap="square" anchor="ctr"/>
          <a:lstStyle/>
          <a:p>
            <a:r>
              <a:rPr sz="1500" b="1" i="0">
                <a:solidFill>
                  <a:srgbClr val="095292"/>
                </a:solidFill>
                <a:latin typeface="Calibri"/>
              </a:rPr>
              <a:t>Paso 2. Llenen la tabla de tres decisiones de diseño de VetCare con las cuatro columnas decision, alternativa descartada, criterio y consecuencia asumida; una de las tres decisiones debe ser sobre el modelo de clases y otra sobre un requisito no funcional.</a:t>
            </a:r>
          </a:p>
        </p:txBody>
      </p:sp>
      <p:sp>
        <p:nvSpPr>
          <p:cNvPr id="13" name="Rounded Rectangle 12"/>
          <p:cNvSpPr/>
          <p:nvPr/>
        </p:nvSpPr>
        <p:spPr>
          <a:xfrm>
            <a:off x="457200" y="297180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14096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14096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063240"/>
            <a:ext cx="10271455" cy="612647"/>
          </a:xfrm>
          <a:prstGeom prst="rect">
            <a:avLst/>
          </a:prstGeom>
          <a:noFill/>
        </p:spPr>
        <p:txBody>
          <a:bodyPr wrap="square" anchor="ctr"/>
          <a:lstStyle/>
          <a:p>
            <a:r>
              <a:rPr sz="1500" b="1" i="0">
                <a:solidFill>
                  <a:srgbClr val="095292"/>
                </a:solidFill>
                <a:latin typeface="Calibri"/>
              </a:rPr>
              <a:t>Paso 3. Construyan el banco de diez preguntas del jurado con su respuesta en maximo dos frases, incluyendo obligatoriamente que pasa si dos recepcionistas registran la misma mascota, como se mide su RNF de tiempo de respuesta y que quedo fuera del alcance.</a:t>
            </a:r>
          </a:p>
        </p:txBody>
      </p:sp>
      <p:sp>
        <p:nvSpPr>
          <p:cNvPr id="17" name="Rounded Rectangle 16"/>
          <p:cNvSpPr/>
          <p:nvPr/>
        </p:nvSpPr>
        <p:spPr>
          <a:xfrm>
            <a:off x="457200" y="3840479"/>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00964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00964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3931919"/>
            <a:ext cx="10271455" cy="612647"/>
          </a:xfrm>
          <a:prstGeom prst="rect">
            <a:avLst/>
          </a:prstGeom>
          <a:noFill/>
        </p:spPr>
        <p:txBody>
          <a:bodyPr wrap="square" anchor="ctr"/>
          <a:lstStyle/>
          <a:p>
            <a:r>
              <a:rPr sz="1500" b="1" i="0">
                <a:solidFill>
                  <a:srgbClr val="095292"/>
                </a:solidFill>
                <a:latin typeface="Calibri"/>
              </a:rPr>
              <a:t>Paso 4. Hagan un ensayo cronometrado de pie, con el prototipo abierto, y registren el tiempo real de cada bloque; recorten lo que se paso y anoten los dos puntos donde el equipo se enredo al hablar.</a:t>
            </a:r>
          </a:p>
        </p:txBody>
      </p:sp>
      <p:sp>
        <p:nvSpPr>
          <p:cNvPr id="21" name="Rounded Rectangle 20"/>
          <p:cNvSpPr/>
          <p:nvPr/>
        </p:nvSpPr>
        <p:spPr>
          <a:xfrm>
            <a:off x="457200" y="470916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487832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878324"/>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4800600"/>
            <a:ext cx="10271455" cy="612647"/>
          </a:xfrm>
          <a:prstGeom prst="rect">
            <a:avLst/>
          </a:prstGeom>
          <a:noFill/>
        </p:spPr>
        <p:txBody>
          <a:bodyPr wrap="square" anchor="ctr"/>
          <a:lstStyle/>
          <a:p>
            <a:r>
              <a:rPr sz="1500" b="1" i="0">
                <a:solidFill>
                  <a:srgbClr val="095292"/>
                </a:solidFill>
                <a:latin typeface="Calibri"/>
              </a:rPr>
              <a:t>Paso 5. Consoliden el documento final armando el indice completo desde problema hasta trazabilidad, verifiquen que los nombres de las clases, los campos del diccionario y los campos de las pantallas coinciden exactamente, y corrijan al menos una inconsistencia encontrada dejando constancia de cual era.</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jurado le pregunta a un integrante sobre una parte que no expuso, esa persona puede responder sin mirar a los demas.</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De sus tres decisiones de diseño, cual podria haberse tomado al reves sin que el proyecto se cayera, y que perderia la clinica si se hubiera tomado asi.</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el internet falla justo antes de mostrar el prototipo, que hace el equipo en los siguientes quince segundos para no perder el bloque de interfaz.</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Un documento en Google Docs con el guion minuto a minuto, el reparto nominal por integrante, la tabla de tres decisiones de diseño defendidas y el banco de diez preguntas con su respuesta, mas el indice del documento final consolidado, subido a ExamLab.</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guion tiene las cinco secciones en el orden problema, requisitos, modelo, interfaz y decisiones, con minutos asignados que suman doce y con todos los integrantes hablando al menos dos minutos.</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Las tres decisiones de diseño estan escritas con las cuatro columnas completas, incluida la consecuencia asumida, y ninguna se justifica por gusto o por costumbre.</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banco tiene diez preguntas con respuesta de maximo dos frases y contempla al menos un caso de concurrencia, uno de medicion de RNF y uno de alcance excluido.</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documento final consolidado tiene indice, version y al menos una inconsistencia entre artefactos detectada y corregida, dejando registro de cual era.</a:t>
            </a:r>
          </a:p>
          <a:p>
            <a:pPr>
              <a:spcAft>
                <a:spcPts val="800"/>
              </a:spcAft>
            </a:pPr>
            <a:r>
              <a:rPr sz="1600" b="0" i="0">
                <a:solidFill>
                  <a:srgbClr val="333333"/>
                </a:solidFill>
                <a:latin typeface="Calibri"/>
              </a:rPr>
              <a:t>–   </a:t>
            </a:r>
            <a:r>
              <a:rPr sz="1600" b="1" i="0">
                <a:solidFill>
                  <a:srgbClr val="333333"/>
                </a:solidFill>
                <a:latin typeface="Calibri"/>
              </a:rPr>
              <a:t>Entrega en ExamLab (examlab.lovable.app/app)</a:t>
            </a:r>
            <a:r>
              <a:rPr sz="1600" b="0" i="0">
                <a:solidFill>
                  <a:srgbClr val="333333"/>
                </a:solidFill>
                <a:latin typeface="Calibri"/>
              </a:rPr>
              <a:t> —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armado el guion cronometrado de sustentacion de VetCare y consolidado el documento final de diseño en una sola pieza coherente.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en ExamLab (examlab.lovable.app/app) · domingo 23:59.</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armado el guion cronometrado de sustentacion de VetCare y consolidado el documento final de diseño en una sola pieza coherente.</a:t>
            </a:r>
          </a:p>
          <a:p>
            <a:pPr algn="ctr">
              <a:spcAft>
                <a:spcPts val="600"/>
              </a:spcAft>
            </a:pPr>
            <a:r>
              <a:rPr sz="1600" b="0" i="0">
                <a:solidFill>
                  <a:srgbClr val="333333"/>
                </a:solidFill>
                <a:latin typeface="Calibri"/>
              </a:rPr>
              <a:t>Entregable: Un documento en Google Docs con el guion minuto a minuto, el reparto nominal por integrante, la tabla de tres decisiones de diseño defendidas y el banco de diez preguntas con su respuesta, mas el indice del documento final consolidado, subido a ExamLab.</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