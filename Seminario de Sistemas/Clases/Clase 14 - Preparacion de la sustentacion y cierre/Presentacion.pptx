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armado el guion cronometrado de sustentacion de VetCare y consolidado el documento final de diseño en una sola pieza coherente.</a:t>
            </a:r>
          </a:p>
          <a:p>
            <a:pPr>
              <a:spcAft>
                <a:spcPts val="800"/>
              </a:spcAft>
            </a:pPr>
            <a:r>
              <a:rPr sz="2000" b="0" i="0">
                <a:solidFill>
                  <a:srgbClr val="333333"/>
                </a:solidFill>
                <a:latin typeface="Calibri"/>
              </a:rPr>
              <a:t>–   Herramienta: </a:t>
            </a:r>
            <a:r>
              <a:rPr sz="2000" b="1" i="0">
                <a:solidFill>
                  <a:srgbClr val="333333"/>
                </a:solidFill>
                <a:latin typeface="Calibri"/>
              </a:rPr>
              <a:t>Google Docs · draw.io · Figma o Penpot</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paquete de diseño no es leer diapositivas ni narrar lo que...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paquete de diseño no es leer diapositivas ni narrar lo que el equipo hizo cada semana: es demostrar que las decisiones tomadas son defendibles.</a:t>
            </a:r>
          </a:p>
          <a:p>
            <a:pPr>
              <a:spcAft>
                <a:spcPts val="800"/>
              </a:spcAft>
            </a:pPr>
            <a:r>
              <a:rPr sz="2000" b="0" i="0">
                <a:solidFill>
                  <a:srgbClr val="333333"/>
                </a:solidFill>
                <a:latin typeface="Calibri"/>
              </a:rPr>
              <a:t>–   El jurado, sea el docente o un cliente simulado de la clinica Huellitas, no esta evaluando cuanto trabajaron sino tres cosas concretas: si el diseño resuelve el problema declarado, si las piezas son coherentes entre si y si el equipo entiende lo que entrego.</a:t>
            </a:r>
          </a:p>
          <a:p>
            <a:pPr>
              <a:spcAft>
                <a:spcPts val="800"/>
              </a:spcAft>
            </a:pPr>
            <a:r>
              <a:rPr sz="2000" b="0" i="0">
                <a:solidFill>
                  <a:srgbClr val="333333"/>
                </a:solidFill>
                <a:latin typeface="Calibri"/>
              </a:rPr>
              <a:t>–   Por eso una sustentacion es un argumento con evidencia, no un recuento cronologico.</a:t>
            </a:r>
          </a:p>
          <a:p>
            <a:pPr>
              <a:spcAft>
                <a:spcPts val="800"/>
              </a:spcAft>
            </a:pPr>
            <a:r>
              <a:rPr sz="2000" b="0" i="0">
                <a:solidFill>
                  <a:srgbClr val="333333"/>
                </a:solidFill>
                <a:latin typeface="Calibri"/>
              </a:rPr>
              <a:t>–   La diferencia se nota en la primera frase: quien dice hicimos casos de uso, luego clases, luego pantallas, esta narrando; quien dice Huellitas pierde fichas y tarda ocho minutos en encontrar un historial</a:t>
            </a:r>
          </a:p>
          <a:p>
            <a:pPr>
              <a:spcAft>
                <a:spcPts val="800"/>
              </a:spcAft>
            </a:pPr>
            <a:r>
              <a:rPr sz="2000" b="0" i="0">
                <a:solidFill>
                  <a:srgbClr val="333333"/>
                </a:solidFill>
                <a:latin typeface="Calibri"/>
              </a:rPr>
              <a:t>–   Y este paquete de diseño ataca esos tres problemas asi, esta sustentando.</a:t>
            </a:r>
          </a:p>
          <a:p>
            <a:pPr>
              <a:spcAft>
                <a:spcPts val="800"/>
              </a:spcAft>
            </a:pPr>
            <a:r>
              <a:rPr sz="2000" b="0" i="0">
                <a:solidFill>
                  <a:srgbClr val="333333"/>
                </a:solidFill>
                <a:latin typeface="Calibri"/>
              </a:rPr>
              <a:t>–   En VetCare la evidencia esta toda disponible: la tabla de RF y RNF, los diagramas UML, el diccionario de datos y el prototipo navegable.</a:t>
            </a:r>
          </a:p>
          <a:p>
            <a:pPr>
              <a:spcAft>
                <a:spcPts val="800"/>
              </a:spcAft>
            </a:pPr>
            <a:r>
              <a:rPr sz="2000" b="0" i="0">
                <a:solidFill>
                  <a:srgbClr val="333333"/>
                </a:solidFill>
                <a:latin typeface="Calibri"/>
              </a:rPr>
              <a:t>–   El trabajo de hoy es ordenar esa evidencia para que cuente una sola historia.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orden de la sustentacion no es libre, es un embudo y tiene una razon...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orden de la sustentacion no es libre, es un embudo y tiene una razon logica.</a:t>
            </a:r>
          </a:p>
          <a:p>
            <a:pPr>
              <a:spcAft>
                <a:spcPts val="800"/>
              </a:spcAft>
            </a:pPr>
            <a:r>
              <a:rPr sz="2000" b="0" i="0">
                <a:solidFill>
                  <a:srgbClr val="333333"/>
                </a:solidFill>
                <a:latin typeface="Calibri"/>
              </a:rPr>
              <a:t>–   Primero el problema, porque nada de lo que sigue tiene sentido si el jurado no sabe que duele en Huellitas.</a:t>
            </a:r>
          </a:p>
          <a:p>
            <a:pPr>
              <a:spcAft>
                <a:spcPts val="800"/>
              </a:spcAft>
            </a:pPr>
            <a:r>
              <a:rPr sz="2000" b="0" i="0">
                <a:solidFill>
                  <a:srgbClr val="333333"/>
                </a:solidFill>
                <a:latin typeface="Calibri"/>
              </a:rPr>
              <a:t>–   Segundo los requisitos, porque son la promesa concreta: que va a hacer el sistema y con que restricciones.</a:t>
            </a:r>
          </a:p>
          <a:p>
            <a:pPr>
              <a:spcAft>
                <a:spcPts val="800"/>
              </a:spcAft>
            </a:pPr>
            <a:r>
              <a:rPr sz="2000" b="0" i="0">
                <a:solidFill>
                  <a:srgbClr val="333333"/>
                </a:solidFill>
                <a:latin typeface="Calibri"/>
              </a:rPr>
              <a:t>–   Tercero el modelo, casos de uso y clases, porque muestra como se organiza la solucion.</a:t>
            </a:r>
          </a:p>
          <a:p>
            <a:pPr>
              <a:spcAft>
                <a:spcPts val="800"/>
              </a:spcAft>
            </a:pPr>
            <a:r>
              <a:rPr sz="2000" b="0" i="0">
                <a:solidFill>
                  <a:srgbClr val="333333"/>
                </a:solidFill>
                <a:latin typeface="Calibri"/>
              </a:rPr>
              <a:t>–   Cuarto la interfaz, porque es donde el jurado por fin ve y toca.</a:t>
            </a:r>
          </a:p>
          <a:p>
            <a:pPr>
              <a:spcAft>
                <a:spcPts val="800"/>
              </a:spcAft>
            </a:pPr>
            <a:r>
              <a:rPr sz="2000" b="0" i="0">
                <a:solidFill>
                  <a:srgbClr val="333333"/>
                </a:solidFill>
                <a:latin typeface="Calibri"/>
              </a:rPr>
              <a:t>–   Y quinto las decisiones, que es la parte que separa a un equipo que entendio de uno que copio plantillas.</a:t>
            </a:r>
          </a:p>
          <a:p>
            <a:pPr>
              <a:spcAft>
                <a:spcPts val="800"/>
              </a:spcAft>
            </a:pPr>
            <a:r>
              <a:rPr sz="2000" b="0" i="0">
                <a:solidFill>
                  <a:srgbClr val="333333"/>
                </a:solidFill>
                <a:latin typeface="Calibri"/>
              </a:rPr>
              <a:t>–   Invertir ese orden es el error mas comun: los equipos empiezan mostrando pantallas bonitas, el jurado pregunta que problema resuelve eso y ahi la sustentacion se desarma.</a:t>
            </a:r>
          </a:p>
          <a:p>
            <a:pPr>
              <a:spcAft>
                <a:spcPts val="800"/>
              </a:spcAft>
            </a:pPr>
            <a:r>
              <a:rPr sz="2000" b="0" i="0">
                <a:solidFill>
                  <a:srgbClr val="333333"/>
                </a:solidFill>
                <a:latin typeface="Calibri"/>
              </a:rPr>
              <a:t>–   Para VetCare doce minutos alcanzan de sobra si se respetan las proporciones: uno y medio para el problema, tres para requisitos, dos para modelo, dos para interfaz en vivo, dos para decisiones y el resto para riesgos y cierre.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Defender una decision de diseño tiene una estructura fija que conviene...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Defender una decision de diseño tiene una estructura fija que conviene memorizar: decision, alternativas consideradas, criterio de eleccion y consecuencia asumida.</a:t>
            </a:r>
          </a:p>
          <a:p>
            <a:pPr>
              <a:spcAft>
                <a:spcPts val="800"/>
              </a:spcAft>
            </a:pPr>
            <a:r>
              <a:rPr sz="2000" b="0" i="0">
                <a:solidFill>
                  <a:srgbClr val="333333"/>
                </a:solidFill>
                <a:latin typeface="Calibri"/>
              </a:rPr>
              <a:t>–   No basta decir que se hizo, hay que decir contra que se comparo y por que gano.</a:t>
            </a:r>
          </a:p>
          <a:p>
            <a:pPr>
              <a:spcAft>
                <a:spcPts val="800"/>
              </a:spcAft>
            </a:pPr>
            <a:r>
              <a:rPr sz="2000" b="0" i="0">
                <a:solidFill>
                  <a:srgbClr val="333333"/>
                </a:solidFill>
                <a:latin typeface="Calibri"/>
              </a:rPr>
              <a:t>–   Ejemplo concreto de VetCare: decidimos separar Historia_Clinica de Mascota como clases distintas; la alternativa era guardar diagnosticos y tratamientos como campos dentro de Mascota</a:t>
            </a:r>
          </a:p>
          <a:p>
            <a:pPr>
              <a:spcAft>
                <a:spcPts val="800"/>
              </a:spcAft>
            </a:pPr>
            <a:r>
              <a:rPr sz="2000" b="0" i="0">
                <a:solidFill>
                  <a:srgbClr val="333333"/>
                </a:solidFill>
                <a:latin typeface="Calibri"/>
              </a:rPr>
              <a:t>–   El criterio fue que una mascota tiene muchas consultas a lo largo de su vida y una relacion uno a muchos no cabe en campos fijos</a:t>
            </a:r>
          </a:p>
          <a:p>
            <a:pPr>
              <a:spcAft>
                <a:spcPts val="800"/>
              </a:spcAft>
            </a:pPr>
            <a:r>
              <a:rPr sz="2000" b="0" i="0">
                <a:solidFill>
                  <a:srgbClr val="333333"/>
                </a:solidFill>
                <a:latin typeface="Calibri"/>
              </a:rPr>
              <a:t>–   La consecuencia es que hay una entidad mas y una consulta adicional al mostrar la ficha, lo cual se acepta porque el RNF de busqueda menor a tres segundos se sostiene con un indice.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Defender una decision de diseño tiene una estructura fija que conviene...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Otro ejemplo: decidimos que la fecha de nacimiento sea opcional; la alternativa era hacerla obligatoria</a:t>
            </a:r>
          </a:p>
          <a:p>
            <a:pPr>
              <a:spcAft>
                <a:spcPts val="800"/>
              </a:spcAft>
            </a:pPr>
            <a:r>
              <a:rPr sz="2000" b="0" i="0">
                <a:solidFill>
                  <a:srgbClr val="333333"/>
                </a:solidFill>
                <a:latin typeface="Calibri"/>
              </a:rPr>
              <a:t>–   El criterio fue que en Huellitas muchos dueños de mascotas rescatadas no la conocen y un campo obligatorio los llevaria a inventar datos; la consecuencia es que la edad se muestra como aproximada cuando el dato falta.</a:t>
            </a:r>
          </a:p>
          <a:p>
            <a:pPr>
              <a:spcAft>
                <a:spcPts val="800"/>
              </a:spcAft>
            </a:pPr>
            <a:r>
              <a:rPr sz="2000" b="0" i="0">
                <a:solidFill>
                  <a:srgbClr val="333333"/>
                </a:solidFill>
                <a:latin typeface="Calibri"/>
              </a:rPr>
              <a:t>–   Una decision defendida asi resiste cualquier pregunta, porque el jurado ya sabe que el equipo penso en la alternativa.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bastante predecibles y por eso se preparan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del jurado son bastante predecibles y por eso se preparan.</a:t>
            </a:r>
          </a:p>
          <a:p>
            <a:pPr>
              <a:spcAft>
                <a:spcPts val="800"/>
              </a:spcAft>
            </a:pPr>
            <a:r>
              <a:rPr sz="2000" b="0" i="0">
                <a:solidFill>
                  <a:srgbClr val="333333"/>
                </a:solidFill>
                <a:latin typeface="Calibri"/>
              </a:rPr>
              <a:t>–   Las mas frecuentes en un proyecto como VetCare son: como sabe usted que este requisito es realmente necesario; que pasa si dos recepcionistas registran la misma mascota al mismo tiempo; por que esta clase existe y no es un atributo de otra</a:t>
            </a:r>
          </a:p>
          <a:p>
            <a:pPr>
              <a:spcAft>
                <a:spcPts val="800"/>
              </a:spcAft>
            </a:pPr>
            <a:r>
              <a:rPr sz="2000" b="0" i="0">
                <a:solidFill>
                  <a:srgbClr val="333333"/>
                </a:solidFill>
                <a:latin typeface="Calibri"/>
              </a:rPr>
              <a:t>–   Como se cumple el requisito no funcional que usted escribio y como se mediria; que pasa si el sistema se cae a mitad de un registro; que dejaron por fuera del alcance y por que; y quien de ustedes hizo esta parte.</a:t>
            </a:r>
          </a:p>
          <a:p>
            <a:pPr>
              <a:spcAft>
                <a:spcPts val="800"/>
              </a:spcAft>
            </a:pPr>
            <a:r>
              <a:rPr sz="2000" b="0" i="0">
                <a:solidFill>
                  <a:srgbClr val="333333"/>
                </a:solidFill>
                <a:latin typeface="Calibri"/>
              </a:rPr>
              <a:t>–   Hay que preparar la respuesta de cada una en dos frases, sin discursos.</a:t>
            </a:r>
          </a:p>
          <a:p>
            <a:pPr>
              <a:spcAft>
                <a:spcPts val="800"/>
              </a:spcAft>
            </a:pPr>
            <a:r>
              <a:rPr sz="2000" b="0" i="0">
                <a:solidFill>
                  <a:srgbClr val="333333"/>
                </a:solidFill>
                <a:latin typeface="Calibri"/>
              </a:rPr>
              <a:t>–   Y hay una regla de oro para cuando no se sabe: no se inventa.</a:t>
            </a:r>
          </a:p>
          <a:p>
            <a:pPr>
              <a:spcAft>
                <a:spcPts val="800"/>
              </a:spcAft>
            </a:pPr>
            <a:r>
              <a:rPr sz="2000" b="0" i="0">
                <a:solidFill>
                  <a:srgbClr val="333333"/>
                </a:solidFill>
                <a:latin typeface="Calibri"/>
              </a:rPr>
              <a:t>–   La respuesta correcta es reconocer el vacio y proponer como se resolveria, por ejemplo no lo modelamos, lo registramos como riesgo abierto y se resolveria agregando una validacion de unicidad por dueño mas nombre en el diccionario de datos.</a:t>
            </a:r>
          </a:p>
          <a:p>
            <a:pPr>
              <a:spcAft>
                <a:spcPts val="800"/>
              </a:spcAft>
            </a:pPr>
            <a:r>
              <a:rPr sz="2000" b="0" i="0">
                <a:solidFill>
                  <a:srgbClr val="333333"/>
                </a:solidFill>
                <a:latin typeface="Calibri"/>
              </a:rPr>
              <a:t>–   Un jurado castiga mucho mas la improvisacion detectada que la honestidad tecnica.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del guion en bloques con tiempos es criterio de evaluacion...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reparto del guion en bloques con tiempos es criterio de evaluacion, no un detalle logistico.</a:t>
            </a:r>
          </a:p>
          <a:p>
            <a:pPr>
              <a:spcAft>
                <a:spcPts val="800"/>
              </a:spcAft>
            </a:pPr>
            <a:r>
              <a:rPr sz="2000" b="0" i="0">
                <a:solidFill>
                  <a:srgbClr val="333333"/>
                </a:solidFill>
                <a:latin typeface="Calibri"/>
              </a:rPr>
              <a:t>–   La sustentacion es individual por defecto: el estudiante expone los cinco bloques y responde por todos, y lo que se califica es que cada bloque tenga su rango de minutos y su evidencia en pantalla, no quien lo dice.</a:t>
            </a:r>
          </a:p>
          <a:p>
            <a:pPr>
              <a:spcAft>
                <a:spcPts val="800"/>
              </a:spcAft>
            </a:pPr>
            <a:r>
              <a:rPr sz="2000" b="0" i="0">
                <a:solidFill>
                  <a:srgbClr val="333333"/>
                </a:solidFill>
                <a:latin typeface="Calibri"/>
              </a:rPr>
              <a:t>–   El orden que funciona para VetCare es: abrir con problema y alcance, seguir con requisitos y trazabilidad, luego los modelos UML, despues el prototipo en vivo y cerrar con decisiones, riesgos y siguiente paso hacia Programacion II.</a:t>
            </a:r>
          </a:p>
          <a:p>
            <a:pPr>
              <a:spcAft>
                <a:spcPts val="800"/>
              </a:spcAft>
            </a:pPr>
            <a:r>
              <a:rPr sz="2000" b="0" i="0">
                <a:solidFill>
                  <a:srgbClr val="333333"/>
                </a:solidFill>
                <a:latin typeface="Calibri"/>
              </a:rPr>
              <a:t>–   Si el docente autorizo equipo de 2 o 3, se agrega el nombre del responsable a cada bloque, todos los integrantes deben hablar al menos dos minutos y ninguno puede hablar solo de lo suyo: cada persona domina una pieza pero debe conocer el todo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del guion en bloques con tiempos es criterio de evaluacion...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el jurado tiene derecho a preguntarle a cualquiera sobre cualquier parte.</a:t>
            </a:r>
          </a:p>
          <a:p>
            <a:pPr>
              <a:spcAft>
                <a:spcPts val="800"/>
              </a:spcAft>
            </a:pPr>
            <a:r>
              <a:rPr sz="2000" b="0" i="0">
                <a:solidFill>
                  <a:srgbClr val="333333"/>
                </a:solidFill>
                <a:latin typeface="Calibri"/>
              </a:rPr>
              <a:t>–   Se ensaya cronometrado al menos dos veces, en voz alta y de pie, porque el tiempo estimado leyendo en silencio siempre es la mitad del real.</a:t>
            </a:r>
          </a:p>
          <a:p>
            <a:pPr>
              <a:spcAft>
                <a:spcPts val="800"/>
              </a:spcAft>
            </a:pPr>
            <a:r>
              <a:rPr sz="2000" b="0" i="0">
                <a:solidFill>
                  <a:srgbClr val="333333"/>
                </a:solidFill>
                <a:latin typeface="Calibri"/>
              </a:rPr>
              <a:t>–   Ademas se prepara el plan B tecnico: capturas del prototipo por si falla el internet, el documento en PDF descargado y los diagramas exportados a imagen.</a:t>
            </a:r>
          </a:p>
          <a:p>
            <a:pPr>
              <a:spcAft>
                <a:spcPts val="800"/>
              </a:spcAft>
            </a:pPr>
            <a:r>
              <a:rPr sz="2000" b="0" i="0">
                <a:solidFill>
                  <a:srgbClr val="333333"/>
                </a:solidFill>
                <a:latin typeface="Calibri"/>
              </a:rPr>
              <a:t>–   Y algo que parece obvio pero se olvida siempre: quien maneja el prototipo debe haberlo recorrido antes haciendo clic en cosas que no estaban en el guion, porque el jurado va a hacer exactamente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 · Figma o Penpot</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11640" y="1847087"/>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11640" y="1847087"/>
            <a:ext cx="1220724" cy="1220724"/>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572408" y="4311396"/>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72408" y="4311396"/>
            <a:ext cx="1220724" cy="1220724"/>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7398562" y="4311396"/>
            <a:ext cx="1220724" cy="1220724"/>
          </a:xfrm>
          <a:prstGeom prst="rect">
            <a:avLst/>
          </a:prstGeom>
        </p:spPr>
      </p:pic>
      <p:sp>
        <p:nvSpPr>
          <p:cNvPr id="32" name="TextBox 31"/>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2000" b="0" i="0">
                <a:solidFill>
                  <a:srgbClr val="333333"/>
                </a:solidFill>
                <a:latin typeface="Calibri"/>
              </a:rPr>
              <a:t>–   No hay tema nuevo: todo el trabajo es de consolidacion, coherencia y argumentacion sobre lo ya producido.</a:t>
            </a:r>
          </a:p>
          <a:p>
            <a:pPr>
              <a:spcAft>
                <a:spcPts val="800"/>
              </a:spcAft>
            </a:pPr>
            <a:r>
              <a:rPr sz="20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20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20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100" b="1" i="0">
                <a:solidFill>
                  <a:srgbClr val="095292"/>
                </a:solidFill>
                <a:latin typeface="Calibri"/>
              </a:rPr>
              <a:t>Paso 1. Arme en Google Docs el guion cronometrado de doce minutos con las cinco secciones obligatorias en orden problema, requisitos, modelo, interfaz y decisiones, asignando a cada bloque su rango de minutos exacto y la evidencia que se muestra en pantalla en ese bloque; ningun bloque puede quedar sin rango de minutos ni sin evidencia asociada. Si el docente autorizo equipo, escriba ademas el nombre del responsable de cada bloque y reparta de modo que ningun integrante quede con menos de dos minutos.</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Paso 4. Haga un ensayo cronometrado de pie, con el prototipo abierto, y registre el tiempo real de cada bloque; recorte lo que se paso y anote los dos puntos donde se enredo al hablar (si trabaja en equipo, donde se enredo la transicion entre un expositor y el siguiente).</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por una parte que no alcanzo a mostrar, puede responderla sin buscar ayuda (y si hay equipo autorizado, cualquier integrante puede responder por cualquier bloque).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guion tiene las cinco secciones en el orden problema, requisitos, modelo, interfaz y decisiones, con minutos asignados que suman doce, cada bloque con su evidencia en pantalla y, si el docente autorizo equipo, todos los integrantes hablando al menos dos minutos.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