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/>
          <a:p>
            <a:r>
              <a:t>Sustentar un paquete de diseño no es leer diapositivas ni narrar lo que el equipo hizo cada semana: es demostrar que las decisiones tomadas son defendibles.</a:t>
            </a:r>
          </a:p>
          <a:p/>
          <a:p>
            <a:r>
              <a:t>El jurado, sea el docente o un cliente simulado de la clinica, no esta evaluando cuanto trabajaron sino tres cosas concretas: si el diseño resuelve el problema declarado, si las piezas son coherentes entre si y si el equipo entiende lo que entrego.</a:t>
            </a:r>
          </a:p>
          <a:p/>
          <a:p>
            <a:r>
              <a:t>La diferencia se nota en la primera frase: quien dice hicimos casos de uso, luego clases, luego pantallas, esta narrando; quien dice la clinica pierde fichas y tarda ocho minutos en encontrar un historial</a:t>
            </a:r>
          </a:p>
          <a:p/>
          <a:p>
            <a:r>
              <a:t>Y este paquete de diseño ataca esos tres problemas asi, esta sustentando.</a:t>
            </a:r>
          </a:p>
          <a:p/>
          <a:p>
            <a:r>
              <a:t>En la clinica la evidencia esta toda disponible: la tabla de RF y RNF, los diagramas UML, el diccionario de datos y el prototipo navegable.</a:t>
            </a:r>
          </a:p>
          <a:p/>
          <a:p>
            <a:r>
              <a:t>El trabajo de hoy es ordenar esa evidencia para que cuente una sola historia.</a:t>
            </a:r>
          </a:p>
          <a:p/>
          <a:p>
            <a:r>
              <a:t>Una sustentacion es, por definicion, la defensa oral de un conjunto de decisiones frente a quien las va a evaluar o a usar.</a:t>
            </a:r>
          </a:p>
          <a:p/>
          <a:p>
            <a:r>
              <a:t>El error comun es ordenar la exposicion por documento, primero requisitos y luego diagramas, en lugar de ordenarla por problema resuelto.</a:t>
            </a:r>
          </a:p>
          <a:p/>
          <a:p>
            <a:r>
              <a:t>NOTAS:</a:t>
            </a:r>
          </a:p>
          <a:p/>
          <a:p>
            <a:r>
              <a:t>Por eso una sustentacion es un argumento con evidencia, no un recuento cronologico.</a:t>
            </a:r>
          </a:p>
          <a:p/>
          <a:p>
            <a:r>
              <a:t>En la clinica esa historia empieza por el problema, las fichas de papel que se pierden y los ocho minutos para encontrar un historial, y termina mostrando en el prototipo como cada requisito queda resuelto.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/>
          <a:p>
            <a:r>
              <a:t>El orden de la sustentacion no es libre, es un embudo y tiene una razon logica.</a:t>
            </a:r>
          </a:p>
          <a:p/>
          <a:p>
            <a:r>
              <a:t>Segundo los requisitos, porque son la promesa concreta: que va a hacer el sistema y con que restricciones.</a:t>
            </a:r>
          </a:p>
          <a:p/>
          <a:p>
            <a:r>
              <a:t>Cuarto la interfaz, porque es donde el jurado por fin ve y toca.</a:t>
            </a:r>
          </a:p>
          <a:p/>
          <a:p>
            <a:r>
              <a:t>Y quinto las decisiones, que es la parte que separa a un equipo que entendio de uno que copio plantillas.</a:t>
            </a:r>
          </a:p>
          <a:p/>
          <a:p>
            <a:r>
              <a:t>Invertir ese orden es el error mas comun: los equipos empiezan mostrando pantallas bonitas, el jurado pregunta que problema resuelve eso y ahi la sustentacion se desarma.</a:t>
            </a:r>
          </a:p>
          <a:p/>
          <a:p>
            <a:r>
              <a:t>Para la clinica doce minutos alcanzan de sobra si se respetan las proporciones: uno y medio para el problema, uno y medio para el alcance</a:t>
            </a:r>
          </a:p>
          <a:p/>
          <a:p>
            <a:r>
              <a:t>Dos para requisitos, dos para modelo, dos para interfaz en vivo, dos para decisiones y el ultimo minuto para riesgos y cierre.</a:t>
            </a:r>
          </a:p>
          <a:p/>
          <a:p>
            <a:r>
              <a:t>NOTAS:</a:t>
            </a:r>
          </a:p>
          <a:p/>
          <a:p>
            <a:r>
              <a:t>Primero el problema, porque nada de lo que sigue tiene sentido si el jurado no sabe que duele en la clinica.</a:t>
            </a:r>
          </a:p>
          <a:p/>
          <a:p>
            <a:r>
              <a:t>Tercero el modelo, casos de uso y clases, porque muestra como se organiza la solucion.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/>
          <a:p>
            <a:r>
              <a:t>Defender una decision de diseño tiene una estructura fija que conviene memorizar: decision, alternativas consideradas, criterio de eleccion y consecuencia asumida.</a:t>
            </a:r>
          </a:p>
          <a:p/>
          <a:p>
            <a:r>
              <a:t>Ejemplo concreto de la clinica: decidimos separar Historia_Clinica de Mascota como clases distintas; la alternativa era guardar diagnosticos y tratamientos como campos dentro de Mascota</a:t>
            </a:r>
          </a:p>
          <a:p/>
          <a:p>
            <a:r>
              <a:t>El criterio fue que una mascota tiene muchas consultas a lo largo de su vida y una relacion uno a muchos no cabe en campos fijos</a:t>
            </a:r>
          </a:p>
          <a:p/>
          <a:p>
            <a:r>
              <a:t>La consecuencia es que hay una entidad mas y una consulta adicional al mostrar la ficha, lo cual se acepta porque el RNF de busqueda menor a tres segundos se sostiene con un indice.</a:t>
            </a:r>
          </a:p>
          <a:p/>
          <a:p>
            <a:r>
              <a:t>Otro ejemplo: decidimos que la fecha de nacimiento sea opcional; la alternativa era hacerla obligatoria</a:t>
            </a:r>
          </a:p>
          <a:p/>
          <a:p>
            <a:r>
              <a:t>El criterio fue que en la clinica muchos dueños de mascotas rescatadas no la conocen y un campo obligatorio los llevaria a inventar datos; la consecuencia es que la edad se muestra como aproximada cuando el dato falta.</a:t>
            </a:r>
          </a:p>
          <a:p/>
          <a:p>
            <a:r>
              <a:t>NOTAS:</a:t>
            </a:r>
          </a:p>
          <a:p/>
          <a:p>
            <a:r>
              <a:t>No basta decir que se hizo, hay que decir contra que se comparo y por que gano.</a:t>
            </a:r>
          </a:p>
          <a:p/>
          <a:p>
            <a:r>
              <a:t>Una decision defendida asi resiste cualquier pregunta, porque el jurado ya sabe que el equipo penso en la alternativa.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/>
          <a:p>
            <a:r>
              <a:t>Las preguntas del jurado son bastante predecibles y por eso se preparan.</a:t>
            </a:r>
          </a:p>
          <a:p/>
          <a:p>
            <a:r>
              <a:t>Las mas frecuentes en un proyecto como el de la clinica son: como sabe usted que este requisito es realmente necesario; que pasa si dos recepcionistas registran la misma mascota al mismo tiempo; por que esta clase existe y no es un atributo de otra</a:t>
            </a:r>
          </a:p>
          <a:p/>
          <a:p>
            <a:r>
              <a:t>Como se cumple el requisito no funcional que usted escribio y como se mediria; que pasa si el sistema se cae a mitad de un registro; que dejaron por fuera del alcance y por que; y quien de ustedes hizo esta parte.</a:t>
            </a:r>
          </a:p>
          <a:p/>
          <a:p>
            <a:r>
              <a:t>Hay que preparar la respuesta de cada una en dos frases, sin discursos.</a:t>
            </a:r>
          </a:p>
          <a:p/>
          <a:p>
            <a:r>
              <a:t>Y hay una regla de oro para cuando no se sabe: no se inventa.</a:t>
            </a:r>
          </a:p>
          <a:p/>
          <a:p>
            <a:r>
              <a:t>NOTAS:</a:t>
            </a:r>
          </a:p>
          <a:p/>
          <a:p>
            <a:r>
              <a:t>La respuesta correcta es reconocer el vacio y proponer como se resolveria, por ejemplo no lo modelamos, lo registramos como riesgo abierto y se resolveria agregando una validacion de unicidad por dueño mas nombre en el diccionario de datos.</a:t>
            </a:r>
          </a:p>
          <a:p/>
          <a:p>
            <a:r>
              <a:t>Un jurado castiga mucho mas la improvisacion detectada que la honestidad tecnica.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/>
          <a:p>
            <a:r>
              <a:t>El reparto del guion en bloques con tiempos es lo que sostiene una sustentacion, no un detalle logistico.</a:t>
            </a:r>
          </a:p>
          <a:p/>
          <a:p>
            <a:r>
              <a:t>La sustentacion es individual por defecto: el estudiante expone los cinco bloques y responde por todos, y lo que importa es que cada bloque tenga su rango de minutos y su evidencia en pantalla, no quien lo dice.</a:t>
            </a:r>
          </a:p>
          <a:p/>
          <a:p>
            <a:r>
              <a:t>El orden que funciona para la clinica es: abrir con problema y alcance, seguir con requisitos y trazabilidad, luego los modelos UML, despues el prototipo en vivo y cerrar con decisiones, riesgos y siguiente paso hacia Programacion II.</a:t>
            </a:r>
          </a:p>
          <a:p/>
          <a:p>
            <a:r>
              <a:t>Si el docente autorizo equipo de 2 o 3, se agrega el nombre del responsable a cada bloque, todos los integrantes deben hablar al menos dos minutos y ninguno puede hablar solo de lo suyo: cada persona domina una pieza pero debe conocer el todo</a:t>
            </a:r>
          </a:p>
          <a:p/>
          <a:p>
            <a:r>
              <a:t>Porque el jurado tiene derecho a preguntarle a cualquiera sobre cualquier parte.</a:t>
            </a:r>
          </a:p>
          <a:p/>
          <a:p>
            <a:r>
              <a:t>Ademas se prepara el plan B tecnico: capturas del prototipo por si falla el internet, el documento en PDF descargado y los diagramas exportados a imagen.</a:t>
            </a:r>
          </a:p>
          <a:p/>
          <a:p>
            <a:r>
              <a:t>Y algo que parece obvio pero se olvida siempre: quien maneja el prototipo debe haberlo recorrido antes haciendo clic en cosas que no estaban en el guion, porque el jurado va a hacer exactamente eso.</a:t>
            </a:r>
          </a:p>
          <a:p/>
          <a:p>
            <a:r>
              <a:t>NOTAS:</a:t>
            </a:r>
          </a:p>
          <a:p/>
          <a:p>
            <a:r>
              <a:t>Se ensaya cronometrado al menos dos veces, en voz alta y de pie, porque el tiempo estimado leyendo en silencio siempre es la mitad del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TEXTO COMPLETO DE LA LÁMINA (se proyecta resumido):</a:t>
            </a:r>
          </a:p>
          <a:p/>
          <a:p>
            <a:r>
              <a:t>Herramienta: Google Docs · draw.io · Figma o Penpot</a:t>
            </a:r>
          </a:p>
          <a:p/>
          <a:p>
            <a:r>
              <a:t>Demo: Se proyecta una sustentacion mal hecha y una bien hecha del mismo paquete, y luego arma en vivo la tabla de decisiones para justificar por que Historia_Clinica es una clase aparte de Mascota.</a:t>
            </a:r>
          </a:p>
          <a:p/>
          <a:p>
            <a:r>
              <a:t>Mismo dominio: la clinica veterinaria — no otro ejemplo. Aqui se diseña, no se programa.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12191695" cy="5029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uniajc_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2011680" cy="87681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042855" y="384048"/>
            <a:ext cx="1691640" cy="384048"/>
          </a:xfrm>
          <a:prstGeom prst="roundRect">
            <a:avLst>
              <a:gd name="adj" fmla="val 12000"/>
            </a:avLst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384048"/>
            <a:ext cx="169164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Clase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10728655" cy="1828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Preparacion de la sustentacion y cierre</a:t>
            </a:r>
          </a:p>
        </p:txBody>
      </p:sp>
      <p:sp>
        <p:nvSpPr>
          <p:cNvPr id="9" name="Rectangle 8"/>
          <p:cNvSpPr/>
          <p:nvPr/>
        </p:nvSpPr>
        <p:spPr>
          <a:xfrm>
            <a:off x="4632807" y="4206240"/>
            <a:ext cx="2926080" cy="5029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361688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8D8EE"/>
                </a:solidFill>
                <a:latin typeface="Calibri"/>
              </a:rPr>
              <a:t>Como se defiende un paquete de planos frente a un jurado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7EB8D4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Encuadre de hoy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Tema: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Preparacion de la sustentacion y cierre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Como se defiende un paquete de planos frente a un jurado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Herramienta del tema: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Google Docs · draw.io · Figma o Penpot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· Bloque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120 min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Ejemplo de toda la clase: el sistema de una clinica veterinaria.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Mapa del bloque de hoy (120 min)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76272"/>
            <a:ext cx="11277295" cy="73152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438625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0-10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Encuadre y repaso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94084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12659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10-40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58379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Teoria Core del tema de hoy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9543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68118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40-60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13838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Demo en vivo sobre la clinica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5002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577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60-105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297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Practica (opcional, guia en la carpeta)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60461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79036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105-120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4756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Sintesis y cierre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8064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66666"/>
                </a:solidFill>
                <a:latin typeface="Calibri"/>
              </a:rPr>
              <a:t>Solo el bloque de </a:t>
            </a:r>
            <a:r>
              <a:rPr sz="1200" b="1" i="1">
                <a:solidFill>
                  <a:srgbClr val="666666"/>
                </a:solidFill>
                <a:latin typeface="Calibri"/>
              </a:rPr>
              <a:t>esta</a:t>
            </a:r>
            <a:r>
              <a:rPr sz="1200" b="0" i="1">
                <a:solidFill>
                  <a:srgbClr val="666666"/>
                </a:solidFill>
                <a:latin typeface="Calibri"/>
              </a:rPr>
              <a:t> clase · 120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Sustentar es defender decisiones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arrar-sustentar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narrar-sustentar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narrar-sustentar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No es leer diapositivas ni narrar lo hecho cada semana.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jurado mira tres cosas: si el diseño resuelve el problema, si las piezas son coherentes y si el autor entiende lo que entregó.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Narrar: «hicimos casos de uso, luego clases». Sustentar: «la clínica pierde fichas, y esto lo resuelve así».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Se ordena por problema resuelto, no por documento.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El orden en embudo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mbudo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embudo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embudo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1 Problema · 2 Requisitos · 3 Modelo · 4 Interfaz · 5 Decisiones.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problema primero: sin saber qué duele, nada de lo que sigue tiene sentido.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Empezar por las pantallas bonitas es el error más común.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En doce minutos: problema y alcance 3, requisitos 2, modelo 2, interfaz 2, decisiones 2, riesgos y cierre 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Cómo se defiende una decisión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efender-decision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defender-decision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defender-decision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9" name="Picture 8" descr="defender-decision-paso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Decisión · alternativas consideradas · criterio de elección · consecuencia asumida.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Decisión: separar Historia_Clinica de Mascota. Alternativa: campos dentro de Mascota.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Criterio: una mascota tiene muchas consultas en su vida. Consecuencia: una entidad más, aceptada porque el RNF de 3 s se sostiene.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Así el jurado ya sabe que se pensó en la alternativa.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Las preguntas previsibles del jurado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97149" y="1343926"/>
            <a:ext cx="6010497" cy="4837658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lus-preguntas-jurado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301" y="1417078"/>
            <a:ext cx="5864193" cy="46913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¿Por qué es necesario este requisito? ¿Qué pasa si dos registran la misma mascota a la vez?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¿Por qué esto es una clase y no un atributo? ¿Cómo se mide el RNF? ¿Qué quedó fuera?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Cada respuesta en dos frases, sin discursos.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Si no se sabe, no se inventa: se reconoce el vacío y se propone cómo se resolvería.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El guion en bloques con tiempos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97149" y="1343926"/>
            <a:ext cx="6010497" cy="4837658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lus-guion-bloques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301" y="1417078"/>
            <a:ext cx="5864193" cy="46913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Cada bloque con su rango de minutos y su evidencia en pantalla.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Problema y alcance → requisitos y trazabilidad → modelos UML → prototipo en vivo → decisiones y riesgos.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Se ensaya cronometrado dos veces, en voz alta: leído en silencio dura la mitad.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Plan B: capturas del prototipo, PDF descargado y diagramas en imagen.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El guion cronometrado de la sustentacion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6991923" cy="4660587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6991923" cy="36576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1380743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380743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1380743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298448"/>
            <a:ext cx="5894643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1" i="0">
                <a:solidFill>
                  <a:srgbClr val="BBBBBB"/>
                </a:solidFill>
                <a:latin typeface="Calibri"/>
              </a:rPr>
              <a:t>Mermaid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19072"/>
            <a:ext cx="502920" cy="40662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64"/>
              </a:spcAft>
            </a:pPr>
            <a:r>
              <a:rPr sz="1700" i="0" b="0">
                <a:solidFill>
                  <a:srgbClr val="858585"/>
                </a:solidFill>
                <a:latin typeface="Consolas"/>
              </a:rPr>
              <a:t>1</a:t>
            </a:r>
          </a:p>
          <a:p>
            <a:pPr algn="r">
              <a:spcAft>
                <a:spcPts val="364"/>
              </a:spcAft>
            </a:pPr>
            <a:r>
              <a:rPr sz="1700" i="0" b="0">
                <a:solidFill>
                  <a:srgbClr val="858585"/>
                </a:solidFill>
                <a:latin typeface="Consolas"/>
              </a:rPr>
              <a:t>2</a:t>
            </a:r>
          </a:p>
          <a:p>
            <a:pPr algn="r">
              <a:spcAft>
                <a:spcPts val="364"/>
              </a:spcAft>
            </a:pPr>
            <a:r>
              <a:rPr sz="1700" i="0" b="0">
                <a:solidFill>
                  <a:srgbClr val="858585"/>
                </a:solidFill>
                <a:latin typeface="Consolas"/>
              </a:rPr>
              <a:t>3</a:t>
            </a:r>
          </a:p>
          <a:p>
            <a:pPr algn="r">
              <a:spcAft>
                <a:spcPts val="364"/>
              </a:spcAft>
            </a:pPr>
            <a:r>
              <a:rPr sz="1700" i="0" b="0">
                <a:solidFill>
                  <a:srgbClr val="858585"/>
                </a:solidFill>
                <a:latin typeface="Consolas"/>
              </a:rPr>
              <a:t>4</a:t>
            </a:r>
          </a:p>
          <a:p>
            <a:pPr algn="r">
              <a:spcAft>
                <a:spcPts val="364"/>
              </a:spcAft>
            </a:pPr>
            <a:r>
              <a:rPr sz="1700" i="0" b="0">
                <a:solidFill>
                  <a:srgbClr val="858585"/>
                </a:solidFill>
                <a:latin typeface="Consolas"/>
              </a:rPr>
              <a:t>5</a:t>
            </a:r>
          </a:p>
          <a:p>
            <a:pPr algn="r">
              <a:spcAft>
                <a:spcPts val="364"/>
              </a:spcAft>
            </a:pPr>
            <a:r>
              <a:rPr sz="1700" i="0" b="0">
                <a:solidFill>
                  <a:srgbClr val="858585"/>
                </a:solidFill>
                <a:latin typeface="Consolas"/>
              </a:rPr>
              <a:t>6</a:t>
            </a:r>
          </a:p>
          <a:p>
            <a:pPr algn="r">
              <a:spcAft>
                <a:spcPts val="364"/>
              </a:spcAft>
            </a:pPr>
            <a:r>
              <a:rPr sz="1700" i="0" b="0">
                <a:solidFill>
                  <a:srgbClr val="858585"/>
                </a:solidFill>
                <a:latin typeface="Consolas"/>
              </a:rPr>
              <a:t>7</a:t>
            </a:r>
          </a:p>
          <a:p>
            <a:pPr algn="r">
              <a:spcAft>
                <a:spcPts val="364"/>
              </a:spcAft>
            </a:pPr>
            <a:r>
              <a:rPr sz="1700" i="0" b="0">
                <a:solidFill>
                  <a:srgbClr val="858585"/>
                </a:solidFill>
                <a:latin typeface="Consolas"/>
              </a:rPr>
              <a:t>8</a:t>
            </a:r>
          </a:p>
          <a:p>
            <a:pPr algn="r">
              <a:spcAft>
                <a:spcPts val="364"/>
              </a:spcAft>
            </a:pPr>
            <a:r>
              <a:rPr sz="1700" i="0" b="0">
                <a:solidFill>
                  <a:srgbClr val="858585"/>
                </a:solidFill>
                <a:latin typeface="Consolas"/>
              </a:rPr>
              <a:t>9</a:t>
            </a:r>
          </a:p>
          <a:p>
            <a:pPr algn="r">
              <a:spcAft>
                <a:spcPts val="364"/>
              </a:spcAft>
            </a:pPr>
            <a:r>
              <a:rPr sz="1700" i="0" b="0">
                <a:solidFill>
                  <a:srgbClr val="858585"/>
                </a:solidFill>
                <a:latin typeface="Consolas"/>
              </a:rPr>
              <a:t>10</a:t>
            </a:r>
          </a:p>
          <a:p>
            <a:pPr algn="r">
              <a:spcAft>
                <a:spcPts val="364"/>
              </a:spcAft>
            </a:pPr>
            <a:r>
              <a:rPr sz="1700" i="0" b="0">
                <a:solidFill>
                  <a:srgbClr val="858585"/>
                </a:solidFill>
                <a:latin typeface="Consolas"/>
              </a:rPr>
              <a:t>11</a:t>
            </a:r>
          </a:p>
          <a:p>
            <a:pPr algn="r">
              <a:spcAft>
                <a:spcPts val="364"/>
              </a:spcAft>
            </a:pPr>
            <a:r>
              <a:rPr sz="1700" i="0" b="0">
                <a:solidFill>
                  <a:srgbClr val="858585"/>
                </a:solidFill>
                <a:latin typeface="Consolas"/>
              </a:rPr>
              <a:t>12</a:t>
            </a:r>
          </a:p>
          <a:p>
            <a:pPr algn="r">
              <a:spcAft>
                <a:spcPts val="364"/>
              </a:spcAft>
            </a:pPr>
            <a:r>
              <a:rPr sz="1700" i="0" b="0">
                <a:solidFill>
                  <a:srgbClr val="858585"/>
                </a:solidFill>
                <a:latin typeface="Consolas"/>
              </a:rPr>
              <a:t>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719072"/>
            <a:ext cx="5986083" cy="40662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64"/>
              </a:spcAft>
            </a:pPr>
            <a:r>
              <a:rPr sz="1700" i="0" b="0">
                <a:solidFill>
                  <a:srgbClr val="D4D4D4"/>
                </a:solidFill>
                <a:latin typeface="Consolas"/>
              </a:rPr>
              <a:t>gantt</a:t>
            </a:r>
          </a:p>
          <a:p>
            <a:pPr>
              <a:spcAft>
                <a:spcPts val="364"/>
              </a:spcAft>
            </a:pPr>
            <a:r>
              <a:rPr sz="17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title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Sustentacion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- </a:t>
            </a:r>
            <a:r>
              <a:rPr sz="1700" i="0" b="0">
                <a:solidFill>
                  <a:srgbClr val="B5CEA8"/>
                </a:solidFill>
                <a:latin typeface="Consolas"/>
              </a:rPr>
              <a:t>12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minutos</a:t>
            </a:r>
          </a:p>
          <a:p>
            <a:pPr>
              <a:spcAft>
                <a:spcPts val="364"/>
              </a:spcAft>
            </a:pPr>
            <a:r>
              <a:rPr sz="17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dateFormat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mm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: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ss</a:t>
            </a:r>
          </a:p>
          <a:p>
            <a:pPr>
              <a:spcAft>
                <a:spcPts val="364"/>
              </a:spcAft>
            </a:pPr>
            <a:r>
              <a:rPr sz="17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axisFormat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%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M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:%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S</a:t>
            </a:r>
          </a:p>
          <a:p>
            <a:pPr>
              <a:spcAft>
                <a:spcPts val="364"/>
              </a:spcAft>
            </a:pPr>
            <a:r>
              <a:rPr sz="1700" i="0" b="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364"/>
              </a:spcAft>
            </a:pPr>
            <a:r>
              <a:rPr sz="17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section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Guion</a:t>
            </a:r>
          </a:p>
          <a:p>
            <a:pPr>
              <a:spcAft>
                <a:spcPts val="364"/>
              </a:spcAft>
            </a:pPr>
            <a:r>
              <a:rPr sz="17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Problema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              :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g1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700" i="0" b="0">
                <a:solidFill>
                  <a:srgbClr val="B5CEA8"/>
                </a:solidFill>
                <a:latin typeface="Consolas"/>
              </a:rPr>
              <a:t>00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:</a:t>
            </a:r>
            <a:r>
              <a:rPr sz="1700" i="0" b="0">
                <a:solidFill>
                  <a:srgbClr val="B5CEA8"/>
                </a:solidFill>
                <a:latin typeface="Consolas"/>
              </a:rPr>
              <a:t>00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, 90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s</a:t>
            </a:r>
          </a:p>
          <a:p>
            <a:pPr>
              <a:spcAft>
                <a:spcPts val="364"/>
              </a:spcAft>
            </a:pPr>
            <a:r>
              <a:rPr sz="17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Alcance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               :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g2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after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g1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, 90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s</a:t>
            </a:r>
          </a:p>
          <a:p>
            <a:pPr>
              <a:spcAft>
                <a:spcPts val="364"/>
              </a:spcAft>
            </a:pPr>
            <a:r>
              <a:rPr sz="17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Requisitos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            :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g3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after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g2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, 2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m</a:t>
            </a:r>
          </a:p>
          <a:p>
            <a:pPr>
              <a:spcAft>
                <a:spcPts val="364"/>
              </a:spcAft>
            </a:pPr>
            <a:r>
              <a:rPr sz="17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Modelo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UML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            :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g4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after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g3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, 2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m</a:t>
            </a:r>
          </a:p>
          <a:p>
            <a:pPr>
              <a:spcAft>
                <a:spcPts val="364"/>
              </a:spcAft>
            </a:pPr>
            <a:r>
              <a:rPr sz="17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Prototipo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en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vivo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     :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g5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after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g4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, 2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m</a:t>
            </a:r>
          </a:p>
          <a:p>
            <a:pPr>
              <a:spcAft>
                <a:spcPts val="364"/>
              </a:spcAft>
            </a:pPr>
            <a:r>
              <a:rPr sz="17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Decisiones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defendidas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 :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g6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after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g5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, 2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m</a:t>
            </a:r>
          </a:p>
          <a:p>
            <a:pPr>
              <a:spcAft>
                <a:spcPts val="364"/>
              </a:spcAft>
            </a:pPr>
            <a:r>
              <a:rPr sz="17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Riesgos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y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cierre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      :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g7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after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g6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, 1</a:t>
            </a:r>
            <a:r>
              <a:rPr sz="1700" i="0" b="0">
                <a:solidFill>
                  <a:srgbClr val="D4D4D4"/>
                </a:solidFill>
                <a:latin typeface="Consolas"/>
              </a:rPr>
              <a:t>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68579" y="1261872"/>
            <a:ext cx="4120780" cy="3318569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dg-guion-gantt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3443" y="1316736"/>
            <a:ext cx="4011052" cy="320884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23443" y="4580441"/>
            <a:ext cx="40110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66666"/>
                </a:solidFill>
                <a:latin typeface="Calibri"/>
              </a:rPr>
              <a:t>Lo que dibuja este código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0350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66666"/>
                </a:solidFill>
                <a:latin typeface="Calibri"/>
              </a:rPr>
              <a:t>Sin cronometro, el bloque de decisiones —el que mas pesa ante el jurado— se queda sin tiempo.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Guion de sustentacion: doce minutos cronometrados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3800832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6576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1380743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380743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1380743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298448"/>
            <a:ext cx="10180015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1" i="0">
                <a:solidFill>
                  <a:srgbClr val="BBBBBB"/>
                </a:solidFill>
                <a:latin typeface="Calibri"/>
              </a:rPr>
              <a:t>Plantilla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19072"/>
            <a:ext cx="502920" cy="3206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400" i="0" b="0">
                <a:solidFill>
                  <a:srgbClr val="858585"/>
                </a:solidFill>
                <a:latin typeface="Consolas"/>
              </a:rPr>
              <a:t>1</a:t>
            </a:r>
          </a:p>
          <a:p>
            <a:pPr algn="r">
              <a:spcAft>
                <a:spcPts val="300"/>
              </a:spcAft>
            </a:pPr>
            <a:r>
              <a:rPr sz="1400" i="0" b="0">
                <a:solidFill>
                  <a:srgbClr val="858585"/>
                </a:solidFill>
                <a:latin typeface="Consolas"/>
              </a:rPr>
              <a:t>2</a:t>
            </a:r>
          </a:p>
          <a:p>
            <a:pPr algn="r">
              <a:spcAft>
                <a:spcPts val="300"/>
              </a:spcAft>
            </a:pPr>
            <a:r>
              <a:rPr sz="1400" i="0" b="0">
                <a:solidFill>
                  <a:srgbClr val="858585"/>
                </a:solidFill>
                <a:latin typeface="Consolas"/>
              </a:rPr>
              <a:t>3</a:t>
            </a:r>
          </a:p>
          <a:p>
            <a:pPr algn="r">
              <a:spcAft>
                <a:spcPts val="300"/>
              </a:spcAft>
            </a:pPr>
            <a:r>
              <a:rPr sz="1400" i="0" b="0">
                <a:solidFill>
                  <a:srgbClr val="858585"/>
                </a:solidFill>
                <a:latin typeface="Consolas"/>
              </a:rPr>
              <a:t>4</a:t>
            </a:r>
          </a:p>
          <a:p>
            <a:pPr algn="r">
              <a:spcAft>
                <a:spcPts val="300"/>
              </a:spcAft>
            </a:pPr>
            <a:r>
              <a:rPr sz="1400" i="0" b="0">
                <a:solidFill>
                  <a:srgbClr val="858585"/>
                </a:solidFill>
                <a:latin typeface="Consolas"/>
              </a:rPr>
              <a:t>5</a:t>
            </a:r>
          </a:p>
          <a:p>
            <a:pPr algn="r">
              <a:spcAft>
                <a:spcPts val="300"/>
              </a:spcAft>
            </a:pPr>
            <a:r>
              <a:rPr sz="1400" i="0" b="0">
                <a:solidFill>
                  <a:srgbClr val="858585"/>
                </a:solidFill>
                <a:latin typeface="Consolas"/>
              </a:rPr>
              <a:t>6</a:t>
            </a:r>
          </a:p>
          <a:p>
            <a:pPr algn="r">
              <a:spcAft>
                <a:spcPts val="300"/>
              </a:spcAft>
            </a:pPr>
            <a:r>
              <a:rPr sz="1400" i="0" b="0">
                <a:solidFill>
                  <a:srgbClr val="858585"/>
                </a:solidFill>
                <a:latin typeface="Consolas"/>
              </a:rPr>
              <a:t>7</a:t>
            </a:r>
          </a:p>
          <a:p>
            <a:pPr algn="r">
              <a:spcAft>
                <a:spcPts val="300"/>
              </a:spcAft>
            </a:pPr>
            <a:r>
              <a:rPr sz="1400" i="0" b="0">
                <a:solidFill>
                  <a:srgbClr val="858585"/>
                </a:solidFill>
                <a:latin typeface="Consolas"/>
              </a:rPr>
              <a:t>8</a:t>
            </a:r>
          </a:p>
          <a:p>
            <a:pPr algn="r">
              <a:spcAft>
                <a:spcPts val="300"/>
              </a:spcAft>
            </a:pPr>
            <a:r>
              <a:rPr sz="1400" i="0" b="0">
                <a:solidFill>
                  <a:srgbClr val="858585"/>
                </a:solidFill>
                <a:latin typeface="Consolas"/>
              </a:rPr>
              <a:t>9</a:t>
            </a:r>
          </a:p>
          <a:p>
            <a:pPr algn="r">
              <a:spcAft>
                <a:spcPts val="300"/>
              </a:spcAft>
            </a:pPr>
            <a:r>
              <a:rPr sz="1400" i="0" b="0">
                <a:solidFill>
                  <a:srgbClr val="858585"/>
                </a:solidFill>
                <a:latin typeface="Consolas"/>
              </a:rPr>
              <a:t>10</a:t>
            </a:r>
          </a:p>
          <a:p>
            <a:pPr algn="r">
              <a:spcAft>
                <a:spcPts val="300"/>
              </a:spcAft>
            </a:pPr>
            <a:r>
              <a:rPr sz="1400" i="0" b="0">
                <a:solidFill>
                  <a:srgbClr val="858585"/>
                </a:solidFill>
                <a:latin typeface="Consolas"/>
              </a:rPr>
              <a:t>11</a:t>
            </a:r>
          </a:p>
          <a:p>
            <a:pPr algn="r">
              <a:spcAft>
                <a:spcPts val="300"/>
              </a:spcAft>
            </a:pPr>
            <a:r>
              <a:rPr sz="1400" i="0" b="0">
                <a:solidFill>
                  <a:srgbClr val="858585"/>
                </a:solidFill>
                <a:latin typeface="Consolas"/>
              </a:rP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719072"/>
            <a:ext cx="10271455" cy="3206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i="0" b="0">
                <a:solidFill>
                  <a:srgbClr val="B5CEA8"/>
                </a:solidFill>
                <a:latin typeface="Consolas"/>
              </a:rPr>
              <a:t>00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:</a:t>
            </a:r>
            <a:r>
              <a:rPr sz="1400" i="0" b="0">
                <a:solidFill>
                  <a:srgbClr val="B5CEA8"/>
                </a:solidFill>
                <a:latin typeface="Consolas"/>
              </a:rPr>
              <a:t>00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-</a:t>
            </a:r>
            <a:r>
              <a:rPr sz="1400" i="0" b="0">
                <a:solidFill>
                  <a:srgbClr val="B5CEA8"/>
                </a:solidFill>
                <a:latin typeface="Consolas"/>
              </a:rPr>
              <a:t>01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:</a:t>
            </a:r>
            <a:r>
              <a:rPr sz="1400" i="0" b="0">
                <a:solidFill>
                  <a:srgbClr val="B5CEA8"/>
                </a:solidFill>
                <a:latin typeface="Consolas"/>
              </a:rPr>
              <a:t>30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|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PROBLEMA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   |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La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clinica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: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fichas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extraviadas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400" i="0" b="0">
                <a:solidFill>
                  <a:srgbClr val="B5CEA8"/>
                </a:solidFill>
                <a:latin typeface="Consolas"/>
              </a:rPr>
              <a:t>8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min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por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historial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cero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metricas</a:t>
            </a:r>
          </a:p>
          <a:p>
            <a:pPr>
              <a:spcAft>
                <a:spcPts val="300"/>
              </a:spcAft>
            </a:pPr>
            <a:r>
              <a:rPr sz="1400" i="0" b="0">
                <a:solidFill>
                  <a:srgbClr val="B5CEA8"/>
                </a:solidFill>
                <a:latin typeface="Consolas"/>
              </a:rPr>
              <a:t>01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:</a:t>
            </a:r>
            <a:r>
              <a:rPr sz="1400" i="0" b="0">
                <a:solidFill>
                  <a:srgbClr val="B5CEA8"/>
                </a:solidFill>
                <a:latin typeface="Consolas"/>
              </a:rPr>
              <a:t>30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-</a:t>
            </a:r>
            <a:r>
              <a:rPr sz="1400" i="0" b="0">
                <a:solidFill>
                  <a:srgbClr val="B5CEA8"/>
                </a:solidFill>
                <a:latin typeface="Consolas"/>
              </a:rPr>
              <a:t>03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:</a:t>
            </a:r>
            <a:r>
              <a:rPr sz="1400" i="0" b="0">
                <a:solidFill>
                  <a:srgbClr val="B5CEA8"/>
                </a:solidFill>
                <a:latin typeface="Consolas"/>
              </a:rPr>
              <a:t>00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|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ALCANCE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    |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Lo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que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si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entra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y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lo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que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quedo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por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fuera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con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la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razon</a:t>
            </a:r>
          </a:p>
          <a:p>
            <a:pPr>
              <a:spcAft>
                <a:spcPts val="300"/>
              </a:spcAft>
            </a:pPr>
            <a:r>
              <a:rPr sz="1400" i="0" b="0">
                <a:solidFill>
                  <a:srgbClr val="B5CEA8"/>
                </a:solidFill>
                <a:latin typeface="Consolas"/>
              </a:rPr>
              <a:t>03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:</a:t>
            </a:r>
            <a:r>
              <a:rPr sz="1400" i="0" b="0">
                <a:solidFill>
                  <a:srgbClr val="B5CEA8"/>
                </a:solidFill>
                <a:latin typeface="Consolas"/>
              </a:rPr>
              <a:t>00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-</a:t>
            </a:r>
            <a:r>
              <a:rPr sz="1400" i="0" b="0">
                <a:solidFill>
                  <a:srgbClr val="B5CEA8"/>
                </a:solidFill>
                <a:latin typeface="Consolas"/>
              </a:rPr>
              <a:t>05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:</a:t>
            </a:r>
            <a:r>
              <a:rPr sz="1400" i="0" b="0">
                <a:solidFill>
                  <a:srgbClr val="B5CEA8"/>
                </a:solidFill>
                <a:latin typeface="Consolas"/>
              </a:rPr>
              <a:t>00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|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REQUISITOS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 |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Solo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los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B5CEA8"/>
                </a:solidFill>
                <a:latin typeface="Consolas"/>
              </a:rPr>
              <a:t>3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RF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criticos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y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B5CEA8"/>
                </a:solidFill>
                <a:latin typeface="Consolas"/>
              </a:rPr>
              <a:t>2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RNF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medibles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;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el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resto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en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el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documento</a:t>
            </a:r>
          </a:p>
          <a:p>
            <a:pPr>
              <a:spcAft>
                <a:spcPts val="300"/>
              </a:spcAft>
            </a:pPr>
            <a:r>
              <a:rPr sz="1400" i="0" b="0">
                <a:solidFill>
                  <a:srgbClr val="B5CEA8"/>
                </a:solidFill>
                <a:latin typeface="Consolas"/>
              </a:rPr>
              <a:t>05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:</a:t>
            </a:r>
            <a:r>
              <a:rPr sz="1400" i="0" b="0">
                <a:solidFill>
                  <a:srgbClr val="B5CEA8"/>
                </a:solidFill>
                <a:latin typeface="Consolas"/>
              </a:rPr>
              <a:t>00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-</a:t>
            </a:r>
            <a:r>
              <a:rPr sz="1400" i="0" b="0">
                <a:solidFill>
                  <a:srgbClr val="B5CEA8"/>
                </a:solidFill>
                <a:latin typeface="Consolas"/>
              </a:rPr>
              <a:t>07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:</a:t>
            </a:r>
            <a:r>
              <a:rPr sz="1400" i="0" b="0">
                <a:solidFill>
                  <a:srgbClr val="B5CEA8"/>
                </a:solidFill>
                <a:latin typeface="Consolas"/>
              </a:rPr>
              <a:t>00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|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MODELO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     |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Casos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de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uso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y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clases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: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Mascota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Dueño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Historia_Clinica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Cita</a:t>
            </a:r>
          </a:p>
          <a:p>
            <a:pPr>
              <a:spcAft>
                <a:spcPts val="300"/>
              </a:spcAft>
            </a:pPr>
            <a:r>
              <a:rPr sz="1400" i="0" b="0">
                <a:solidFill>
                  <a:srgbClr val="B5CEA8"/>
                </a:solidFill>
                <a:latin typeface="Consolas"/>
              </a:rPr>
              <a:t>07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:</a:t>
            </a:r>
            <a:r>
              <a:rPr sz="1400" i="0" b="0">
                <a:solidFill>
                  <a:srgbClr val="B5CEA8"/>
                </a:solidFill>
                <a:latin typeface="Consolas"/>
              </a:rPr>
              <a:t>00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-</a:t>
            </a:r>
            <a:r>
              <a:rPr sz="1400" i="0" b="0">
                <a:solidFill>
                  <a:srgbClr val="B5CEA8"/>
                </a:solidFill>
                <a:latin typeface="Consolas"/>
              </a:rPr>
              <a:t>09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:</a:t>
            </a:r>
            <a:r>
              <a:rPr sz="1400" i="0" b="0">
                <a:solidFill>
                  <a:srgbClr val="B5CEA8"/>
                </a:solidFill>
                <a:latin typeface="Consolas"/>
              </a:rPr>
              <a:t>00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|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INTERFAZ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   |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Prototipo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en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vivo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: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registrar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mascota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-&gt;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confirmacion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-&gt;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buscar</a:t>
            </a:r>
          </a:p>
          <a:p>
            <a:pPr>
              <a:spcAft>
                <a:spcPts val="300"/>
              </a:spcAft>
            </a:pPr>
            <a:r>
              <a:rPr sz="1400" i="0" b="0">
                <a:solidFill>
                  <a:srgbClr val="B5CEA8"/>
                </a:solidFill>
                <a:latin typeface="Consolas"/>
              </a:rPr>
              <a:t>09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:</a:t>
            </a:r>
            <a:r>
              <a:rPr sz="1400" i="0" b="0">
                <a:solidFill>
                  <a:srgbClr val="B5CEA8"/>
                </a:solidFill>
                <a:latin typeface="Consolas"/>
              </a:rPr>
              <a:t>00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-</a:t>
            </a:r>
            <a:r>
              <a:rPr sz="1400" i="0" b="0">
                <a:solidFill>
                  <a:srgbClr val="B5CEA8"/>
                </a:solidFill>
                <a:latin typeface="Consolas"/>
              </a:rPr>
              <a:t>11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:</a:t>
            </a:r>
            <a:r>
              <a:rPr sz="1400" i="0" b="0">
                <a:solidFill>
                  <a:srgbClr val="B5CEA8"/>
                </a:solidFill>
                <a:latin typeface="Consolas"/>
              </a:rPr>
              <a:t>00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|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DECISIONES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 | </a:t>
            </a:r>
            <a:r>
              <a:rPr sz="1400" i="0" b="0">
                <a:solidFill>
                  <a:srgbClr val="B5CEA8"/>
                </a:solidFill>
                <a:latin typeface="Consolas"/>
              </a:rPr>
              <a:t>3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decisiones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con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alternativa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descartada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criterio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y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consecuencia</a:t>
            </a:r>
          </a:p>
          <a:p>
            <a:pPr>
              <a:spcAft>
                <a:spcPts val="300"/>
              </a:spcAft>
            </a:pPr>
            <a:r>
              <a:rPr sz="1400" i="0" b="0">
                <a:solidFill>
                  <a:srgbClr val="B5CEA8"/>
                </a:solidFill>
                <a:latin typeface="Consolas"/>
              </a:rPr>
              <a:t>11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:</a:t>
            </a:r>
            <a:r>
              <a:rPr sz="1400" i="0" b="0">
                <a:solidFill>
                  <a:srgbClr val="B5CEA8"/>
                </a:solidFill>
                <a:latin typeface="Consolas"/>
              </a:rPr>
              <a:t>00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-</a:t>
            </a:r>
            <a:r>
              <a:rPr sz="1400" i="0" b="0">
                <a:solidFill>
                  <a:srgbClr val="B5CEA8"/>
                </a:solidFill>
                <a:latin typeface="Consolas"/>
              </a:rPr>
              <a:t>11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:</a:t>
            </a:r>
            <a:r>
              <a:rPr sz="1400" i="0" b="0">
                <a:solidFill>
                  <a:srgbClr val="B5CEA8"/>
                </a:solidFill>
                <a:latin typeface="Consolas"/>
              </a:rPr>
              <a:t>30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|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RIESGOS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    |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Que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queda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abierto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y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que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recibe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Programacion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II</a:t>
            </a:r>
          </a:p>
          <a:p>
            <a:pPr>
              <a:spcAft>
                <a:spcPts val="300"/>
              </a:spcAft>
            </a:pPr>
            <a:r>
              <a:rPr sz="1400" i="0" b="0">
                <a:solidFill>
                  <a:srgbClr val="B5CEA8"/>
                </a:solidFill>
                <a:latin typeface="Consolas"/>
              </a:rPr>
              <a:t>11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:</a:t>
            </a:r>
            <a:r>
              <a:rPr sz="1400" i="0" b="0">
                <a:solidFill>
                  <a:srgbClr val="B5CEA8"/>
                </a:solidFill>
                <a:latin typeface="Consolas"/>
              </a:rPr>
              <a:t>30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-</a:t>
            </a:r>
            <a:r>
              <a:rPr sz="1400" i="0" b="0">
                <a:solidFill>
                  <a:srgbClr val="B5CEA8"/>
                </a:solidFill>
                <a:latin typeface="Consolas"/>
              </a:rPr>
              <a:t>12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:</a:t>
            </a:r>
            <a:r>
              <a:rPr sz="1400" i="0" b="0">
                <a:solidFill>
                  <a:srgbClr val="B5CEA8"/>
                </a:solidFill>
                <a:latin typeface="Consolas"/>
              </a:rPr>
              <a:t>00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|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CIERRE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     |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Una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frase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de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valor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para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la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clinica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no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un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resumen</a:t>
            </a:r>
          </a:p>
          <a:p>
            <a:pPr>
              <a:spcAft>
                <a:spcPts val="300"/>
              </a:spcAft>
            </a:pPr>
            <a:r>
              <a:rPr sz="1400" i="0" b="0">
                <a:solidFill>
                  <a:srgbClr val="D4D4D4"/>
                </a:solidFill>
                <a:latin typeface="Consolas"/>
              </a:rPr>
              <a:t>-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-- Individual por defecto: quien sustenta responde por los cinco bloques</a:t>
            </a:r>
          </a:p>
          <a:p>
            <a:pPr>
              <a:spcAft>
                <a:spcPts val="300"/>
              </a:spcAft>
            </a:pPr>
            <a:r>
              <a:rPr sz="1400" i="0" b="0">
                <a:solidFill>
                  <a:srgbClr val="D4D4D4"/>
                </a:solidFill>
                <a:latin typeface="Consolas"/>
              </a:rPr>
              <a:t>-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-- Regla: nadie lee la diapositiva; la diapositiva es el plano, la voz es el argumento</a:t>
            </a:r>
          </a:p>
          <a:p>
            <a:pPr>
              <a:spcAft>
                <a:spcPts val="300"/>
              </a:spcAft>
            </a:pPr>
            <a:r>
              <a:rPr sz="1400" i="0" b="0">
                <a:solidFill>
                  <a:srgbClr val="D4D4D4"/>
                </a:solidFill>
                <a:latin typeface="Consolas"/>
              </a:rPr>
              <a:t>-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-- Cada pantalla proyectada debe poder señalar el RF que la origina</a:t>
            </a:r>
          </a:p>
          <a:p>
            <a:pPr>
              <a:spcAft>
                <a:spcPts val="300"/>
              </a:spcAft>
            </a:pPr>
            <a:r>
              <a:rPr sz="1400" i="0" b="0">
                <a:solidFill>
                  <a:srgbClr val="D4D4D4"/>
                </a:solidFill>
                <a:latin typeface="Consolas"/>
              </a:rPr>
              <a:t>-</a:t>
            </a:r>
            <a:r>
              <a:rPr sz="1400" i="0" b="0">
                <a:solidFill>
                  <a:srgbClr val="D4D4D4"/>
                </a:solidFill>
                <a:latin typeface="Consolas"/>
              </a:rPr>
              <a:t>-- Plan B: capturas del prototipo, PDF descargado y diagramas exportados a imagen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350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66666"/>
                </a:solidFill>
                <a:latin typeface="Calibri"/>
              </a:rPr>
              <a:t>Un paquete de diseño no se narra en orden cronologico: se defiende en orden de embudo, del dolor a la decision.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Demo del dia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97149" y="1343926"/>
            <a:ext cx="6010497" cy="4837658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lus-demo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301" y="1417078"/>
            <a:ext cx="5864193" cy="46913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Herramienta: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Google Docs · draw.io · Figma o Penpot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Demo: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Se proyecta una sustentacion mal hecha y una bien hecha del mismo paquete, y luego arma en vivo la tabla de decisiones para justificar por…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Mismo dominio: la clinica veterinaria — no otro ejemplo. Aqui se diseña, no se programa.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uniajc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5998464"/>
            <a:ext cx="1463040" cy="6432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737360"/>
            <a:ext cx="11277295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400" b="1" i="0">
                <a:solidFill>
                  <a:srgbClr val="095292"/>
                </a:solidFill>
                <a:latin typeface="Calibri"/>
              </a:rPr>
              <a:t>Clase 14 · Preparacion de la sustentacion y 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12772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Como se defiende un paquete de planos frente a un jurado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Repasen las laminas de teoria: cada concepto esta completo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Siguiente clase: continuamos con el siguiente tema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69CCB"/>
                </a:solidFill>
                <a:latin typeface="Calibri"/>
              </a:rPr>
              <a:t>Teoria al servicio del diseño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