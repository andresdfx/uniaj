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Urbanist SemiBold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  <p:embeddedFont>
      <p:font typeface="Urbanist ExtraBold"/>
      <p:bold r:id="rId31"/>
      <p:boldItalic r:id="rId32"/>
    </p:embeddedFont>
    <p:embeddedFont>
      <p:font typeface="Barlow"/>
      <p:regular r:id="rId33"/>
      <p:bold r:id="rId34"/>
      <p:italic r:id="rId35"/>
      <p:boldItalic r:id="rId36"/>
    </p:embeddedFont>
    <p:embeddedFont>
      <p:font typeface="Merriweather"/>
      <p:regular r:id="rId37"/>
      <p:bold r:id="rId38"/>
      <p:italic r:id="rId39"/>
      <p:boldItalic r:id="rId40"/>
    </p:embeddedFont>
    <p:embeddedFont>
      <p:font typeface="DM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26A89F-6D30-4D34-9376-716B9C2D7BBB}">
  <a:tblStyle styleId="{8926A89F-6D30-4D34-9376-716B9C2D7B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boldItalic.fntdata"/><Relationship Id="rId20" Type="http://schemas.openxmlformats.org/officeDocument/2006/relationships/font" Target="fonts/UrbanistMedium-bold.fntdata"/><Relationship Id="rId42" Type="http://schemas.openxmlformats.org/officeDocument/2006/relationships/font" Target="fonts/DMSans-bold.fntdata"/><Relationship Id="rId41" Type="http://schemas.openxmlformats.org/officeDocument/2006/relationships/font" Target="fonts/DMSans-regular.fntdata"/><Relationship Id="rId22" Type="http://schemas.openxmlformats.org/officeDocument/2006/relationships/font" Target="fonts/UrbanistMedium-boldItalic.fntdata"/><Relationship Id="rId44" Type="http://schemas.openxmlformats.org/officeDocument/2006/relationships/font" Target="fonts/DMSans-boldItalic.fntdata"/><Relationship Id="rId21" Type="http://schemas.openxmlformats.org/officeDocument/2006/relationships/font" Target="fonts/UrbanistMedium-italic.fntdata"/><Relationship Id="rId43" Type="http://schemas.openxmlformats.org/officeDocument/2006/relationships/font" Target="fonts/DMSans-italic.fntdata"/><Relationship Id="rId24" Type="http://schemas.openxmlformats.org/officeDocument/2006/relationships/font" Target="fonts/UrbanistSemiBold-bold.fntdata"/><Relationship Id="rId23" Type="http://schemas.openxmlformats.org/officeDocument/2006/relationships/font" Target="fonts/Urbanist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boldItalic.fntdata"/><Relationship Id="rId25" Type="http://schemas.openxmlformats.org/officeDocument/2006/relationships/font" Target="fonts/UrbanistSemiBold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ExtraBold-bold.fntdata"/><Relationship Id="rId3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33" Type="http://schemas.openxmlformats.org/officeDocument/2006/relationships/font" Target="fonts/Barlow-regular.fntdata"/><Relationship Id="rId10" Type="http://schemas.openxmlformats.org/officeDocument/2006/relationships/slide" Target="slides/slide4.xml"/><Relationship Id="rId32" Type="http://schemas.openxmlformats.org/officeDocument/2006/relationships/font" Target="fonts/UrbanistExtraBold-boldItalic.fntdata"/><Relationship Id="rId13" Type="http://schemas.openxmlformats.org/officeDocument/2006/relationships/slide" Target="slides/slide7.xml"/><Relationship Id="rId35" Type="http://schemas.openxmlformats.org/officeDocument/2006/relationships/font" Target="fonts/Barlow-italic.fntdata"/><Relationship Id="rId12" Type="http://schemas.openxmlformats.org/officeDocument/2006/relationships/slide" Target="slides/slide6.xml"/><Relationship Id="rId34" Type="http://schemas.openxmlformats.org/officeDocument/2006/relationships/font" Target="fonts/Barlow-bold.fntdata"/><Relationship Id="rId15" Type="http://schemas.openxmlformats.org/officeDocument/2006/relationships/slide" Target="slides/slide9.xml"/><Relationship Id="rId37" Type="http://schemas.openxmlformats.org/officeDocument/2006/relationships/font" Target="fonts/Merriweather-regular.fntdata"/><Relationship Id="rId14" Type="http://schemas.openxmlformats.org/officeDocument/2006/relationships/slide" Target="slides/slide8.xml"/><Relationship Id="rId36" Type="http://schemas.openxmlformats.org/officeDocument/2006/relationships/font" Target="fonts/Barlow-boldItalic.fntdata"/><Relationship Id="rId17" Type="http://schemas.openxmlformats.org/officeDocument/2006/relationships/slide" Target="slides/slide11.xml"/><Relationship Id="rId39" Type="http://schemas.openxmlformats.org/officeDocument/2006/relationships/font" Target="fonts/Merriweather-italic.fntdata"/><Relationship Id="rId16" Type="http://schemas.openxmlformats.org/officeDocument/2006/relationships/slide" Target="slides/slide10.xml"/><Relationship Id="rId38" Type="http://schemas.openxmlformats.org/officeDocument/2006/relationships/font" Target="fonts/Merriweather-bold.fntdata"/><Relationship Id="rId19" Type="http://schemas.openxmlformats.org/officeDocument/2006/relationships/font" Target="fonts/Urbanist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57c0152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957c0152d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aa36d8c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caa36d8cd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59ce3fe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959ce3fe2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cc5aea541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ccc5aea541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59ce3fe2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959ce3fe2c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58d04f1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958d04f11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58a52fb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958a52fb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6.jp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Relationship Id="rId10" Type="http://schemas.openxmlformats.org/officeDocument/2006/relationships/image" Target="../media/image37.png"/><Relationship Id="rId9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10" Type="http://schemas.openxmlformats.org/officeDocument/2006/relationships/image" Target="../media/image44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3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28.png"/><Relationship Id="rId13" Type="http://schemas.openxmlformats.org/officeDocument/2006/relationships/image" Target="../media/image50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43.png"/><Relationship Id="rId9" Type="http://schemas.openxmlformats.org/officeDocument/2006/relationships/image" Target="../media/image39.png"/><Relationship Id="rId15" Type="http://schemas.openxmlformats.org/officeDocument/2006/relationships/image" Target="../media/image42.png"/><Relationship Id="rId14" Type="http://schemas.openxmlformats.org/officeDocument/2006/relationships/image" Target="../media/image34.png"/><Relationship Id="rId16" Type="http://schemas.openxmlformats.org/officeDocument/2006/relationships/image" Target="../media/image35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4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54.png"/><Relationship Id="rId9" Type="http://schemas.openxmlformats.org/officeDocument/2006/relationships/image" Target="../media/image49.png"/><Relationship Id="rId5" Type="http://schemas.openxmlformats.org/officeDocument/2006/relationships/image" Target="../media/image36.png"/><Relationship Id="rId6" Type="http://schemas.openxmlformats.org/officeDocument/2006/relationships/hyperlink" Target="https://app-sorteos.com/wheel/1888DG" TargetMode="External"/><Relationship Id="rId7" Type="http://schemas.openxmlformats.org/officeDocument/2006/relationships/image" Target="../media/image53.png"/><Relationship Id="rId8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Relationship Id="rId5" Type="http://schemas.openxmlformats.org/officeDocument/2006/relationships/image" Target="../media/image46.png"/><Relationship Id="rId6" Type="http://schemas.openxmlformats.org/officeDocument/2006/relationships/image" Target="../media/image52.png"/><Relationship Id="rId7" Type="http://schemas.openxmlformats.org/officeDocument/2006/relationships/image" Target="../media/image56.png"/><Relationship Id="rId8" Type="http://schemas.openxmlformats.org/officeDocument/2006/relationships/image" Target="../media/image4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4131175"/>
            <a:ext cx="123336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75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Seminario de Sistemas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5411325"/>
            <a:ext cx="10320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Ingeniería</a:t>
            </a:r>
            <a:r>
              <a:rPr lang="en-US" sz="195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de Requisitos y Diagramas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75625" y="5791175"/>
            <a:ext cx="11625300" cy="92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500">
                <a:highlight>
                  <a:srgbClr val="FFFFFF"/>
                </a:highlight>
                <a:latin typeface="Barlow"/>
                <a:ea typeface="Barlow"/>
                <a:cs typeface="Barlow"/>
                <a:sym typeface="Barlow"/>
              </a:rPr>
              <a:t>Empezamos a las 06:40 PM…</a:t>
            </a:r>
            <a:endParaRPr sz="2500">
              <a:highlight>
                <a:srgbClr val="FFFFFF"/>
              </a:highlight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23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6129475" y="1146300"/>
            <a:ext cx="55008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Julian Castaño</a:t>
            </a:r>
            <a:endParaRPr sz="4125">
              <a:solidFill>
                <a:srgbClr val="1E293B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129475" y="1870200"/>
            <a:ext cx="523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Ingeniero de Sistemas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319975" y="2527425"/>
            <a:ext cx="504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Lider Tecnico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319975" y="3051300"/>
            <a:ext cx="504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Docente Universitario</a:t>
            </a:r>
            <a:r>
              <a:rPr lang="en-US" sz="165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19975" y="3575175"/>
            <a:ext cx="504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AWS Solutions Architect Associate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081850" y="2413125"/>
            <a:ext cx="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081850" y="2937000"/>
            <a:ext cx="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081850" y="3460875"/>
            <a:ext cx="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25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¿Quién soy?</a:t>
            </a:r>
            <a:endParaRPr/>
          </a:p>
        </p:txBody>
      </p:sp>
      <p:pic>
        <p:nvPicPr>
          <p:cNvPr descr="esta bien, pero con fondo blanco" id="101" name="Google Shape;10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5875" y="1747100"/>
            <a:ext cx="3957700" cy="39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319963" y="4099050"/>
            <a:ext cx="504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Candidato a Maestría en IA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105663" y="3967500"/>
            <a:ext cx="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77238" y="4750012"/>
            <a:ext cx="4762500" cy="2772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julianacastano@profesores.uniajc.edu.co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605863" y="5257062"/>
            <a:ext cx="476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linkedin.com/in/andresdfx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613" y="47309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613" y="5211975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677225" y="5689737"/>
            <a:ext cx="476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andres</a:t>
            </a:r>
            <a:r>
              <a:rPr b="1" lang="en-US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_dfx@hotmail.com</a:t>
            </a:r>
            <a:endParaRPr b="1" sz="1800">
              <a:solidFill>
                <a:schemeClr val="dk1"/>
              </a:solidFill>
              <a:highlight>
                <a:srgbClr val="F5D42E"/>
              </a:highlight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7">
            <a:alphaModFix/>
          </a:blip>
          <a:srcRect b="2272" l="0" r="0" t="2272"/>
          <a:stretch/>
        </p:blipFill>
        <p:spPr>
          <a:xfrm>
            <a:off x="6248600" y="5670675"/>
            <a:ext cx="266700" cy="26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99692"/>
            <a:ext cx="5381625" cy="1011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299692"/>
            <a:ext cx="5381625" cy="1011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96878"/>
            <a:ext cx="5381625" cy="1011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3596878"/>
            <a:ext cx="5381625" cy="1011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94064"/>
            <a:ext cx="5381625" cy="1011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4894064"/>
            <a:ext cx="5381625" cy="1011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" y="259109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504950" y="2537817"/>
            <a:ext cx="421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Metodología y Re</a:t>
            </a:r>
            <a:r>
              <a:rPr b="1" lang="en-US" sz="18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glas de Juego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504950" y="2882503"/>
            <a:ext cx="4210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Dinámica Teórico-Práctica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3200" y="259109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172325" y="2537817"/>
            <a:ext cx="421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Aspectos de Evaluación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172325" y="2882503"/>
            <a:ext cx="4210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Fechas, cortes e hitos de entregas</a:t>
            </a:r>
            <a:endParaRPr sz="1275">
              <a:solidFill>
                <a:srgbClr val="64748B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3888283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504950" y="3835003"/>
            <a:ext cx="421005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Aspectos de Evaluación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504950" y="4179689"/>
            <a:ext cx="4210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Fechas, cortes e hitos de entregas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3200" y="3888283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172325" y="3835003"/>
            <a:ext cx="421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Conociéndonos </a:t>
            </a:r>
            <a:r>
              <a:rPr b="1" lang="en-US" sz="18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y </a:t>
            </a:r>
            <a:r>
              <a:rPr b="1" lang="en-US" sz="18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Elección del Vocero (a)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172325" y="4179689"/>
            <a:ext cx="4210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Dinámica</a:t>
            </a:r>
            <a:r>
              <a:rPr lang="en-US" sz="1275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5825" y="5185469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1504950" y="5132189"/>
            <a:ext cx="421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Listado de Sesiones y Recursos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504950" y="5476875"/>
            <a:ext cx="4210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Herramientas técnicas necesarias 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53200" y="5185469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7172325" y="5132200"/>
            <a:ext cx="462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Acuerdo, Prueba Diagnóstica y Proyecto 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7172325" y="5476875"/>
            <a:ext cx="4210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75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Documentos</a:t>
            </a:r>
            <a:r>
              <a:rPr lang="en-US" sz="1275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externos</a:t>
            </a:r>
            <a:r>
              <a:rPr lang="en-US" sz="1275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571500" y="1342429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Agenda</a:t>
            </a:r>
            <a:r>
              <a:rPr b="1" lang="en-US" sz="4125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de la Sesión</a:t>
            </a:r>
            <a:endParaRPr b="1" sz="4125">
              <a:solidFill>
                <a:srgbClr val="0050A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619250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66875"/>
            <a:ext cx="523875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143000" y="2247900"/>
            <a:ext cx="46672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6:30 PM - 6:40 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1425" u="none" cap="none" strike="noStrike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Dudas antes de inicio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143000" y="2738437"/>
            <a:ext cx="46672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6:40 PM - 8:00 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1425" u="none" cap="none" strike="noStrike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Teoría Core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143000" y="3228975"/>
            <a:ext cx="46672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8:00 PM - 8:15 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1425" u="none" cap="none" strike="noStrike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Descanso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143000" y="3719512"/>
            <a:ext cx="46672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8:15 PM - 9:00 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1425" u="none" cap="none" strike="noStrike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Taller Guiado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1" lang="en-US" sz="1425" u="none" cap="none" strike="noStrike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* Calificable: Entrega máxima el domingo a las 11:59 PM.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143000" y="4486275"/>
            <a:ext cx="46672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9:00 PM - 9:05 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1425" u="none" cap="none" strike="noStrike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Quiz Corto de Comprobación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143000" y="4976812"/>
            <a:ext cx="46672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9:05 PM - 9:10 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1425" u="none" cap="none" strike="noStrike">
                <a:solidFill>
                  <a:srgbClr val="1E293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Cierre y Asistencia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63" y="2286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3367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24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71475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48151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972050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571500" y="661987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Metodología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229350"/>
            <a:ext cx="46672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571500"/>
            <a:ext cx="55008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5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Reglas de Juego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1143000" y="2097881"/>
            <a:ext cx="466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Modalidad</a:t>
            </a: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Presencialidad asistida: Dos semanas en el mes la clase será virtual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1143000" y="3279793"/>
            <a:ext cx="4667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Participación Activa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La </a:t>
            </a: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asignatura 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 aprende haciendo, no solo mirando.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143000" y="5530131"/>
            <a:ext cx="4667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Metodología Dual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Miércoles (Código en Java) + Jueves (Diseño en Seminario).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93118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75031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525368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1143000" y="4456944"/>
            <a:ext cx="4667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Acuerdo Pedagogico</a:t>
            </a:r>
            <a:r>
              <a:rPr b="0" i="0" lang="en-US" sz="1650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Acuerdo de clase que permite definir las reglas de juego</a:t>
            </a:r>
            <a:endParaRPr/>
          </a:p>
        </p:txBody>
      </p:sp>
      <p:pic>
        <p:nvPicPr>
          <p:cNvPr descr="image.png" id="172" name="Google Shape;17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2925" y="4527050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76425"/>
            <a:ext cx="352425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1876425"/>
            <a:ext cx="352425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1876425"/>
            <a:ext cx="352425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5162550"/>
            <a:ext cx="30289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525" y="5162550"/>
            <a:ext cx="30289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5162550"/>
            <a:ext cx="302895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819150" y="2238375"/>
            <a:ext cx="302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1° CORTE</a:t>
            </a:r>
            <a:endParaRPr/>
          </a:p>
        </p:txBody>
      </p:sp>
      <p:pic>
        <p:nvPicPr>
          <p:cNvPr descr="image.png" id="184" name="Google Shape;18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2752725"/>
            <a:ext cx="302895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" name="Google Shape;185;p18"/>
          <p:cNvGraphicFramePr/>
          <p:nvPr/>
        </p:nvGraphicFramePr>
        <p:xfrm>
          <a:off x="819150" y="3629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{8926A89F-6D30-4D34-9376-716B9C2D7BBB}</a:tableStyleId>
              </a:tblPr>
              <a:tblGrid>
                <a:gridCol w="2398650"/>
                <a:gridCol w="630275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Parcial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Talleres y Quiz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Asistencia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18"/>
          <p:cNvSpPr txBox="1"/>
          <p:nvPr/>
        </p:nvSpPr>
        <p:spPr>
          <a:xfrm>
            <a:off x="4581525" y="2238375"/>
            <a:ext cx="302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2° CORTE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81525" y="2752725"/>
            <a:ext cx="302895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p18"/>
          <p:cNvGraphicFramePr/>
          <p:nvPr/>
        </p:nvGraphicFramePr>
        <p:xfrm>
          <a:off x="4581525" y="3629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{8926A89F-6D30-4D34-9376-716B9C2D7BBB}</a:tableStyleId>
              </a:tblPr>
              <a:tblGrid>
                <a:gridCol w="2398650"/>
                <a:gridCol w="630275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Parcial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Talleres y Quiz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Asistencia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18"/>
          <p:cNvSpPr txBox="1"/>
          <p:nvPr/>
        </p:nvSpPr>
        <p:spPr>
          <a:xfrm>
            <a:off x="8343900" y="2238375"/>
            <a:ext cx="302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3° CORTE</a:t>
            </a:r>
            <a:endParaRPr/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43900" y="2752725"/>
            <a:ext cx="302895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18"/>
          <p:cNvGraphicFramePr/>
          <p:nvPr/>
        </p:nvGraphicFramePr>
        <p:xfrm>
          <a:off x="8343900" y="3629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{8926A89F-6D30-4D34-9376-716B9C2D7BBB}</a:tableStyleId>
              </a:tblPr>
              <a:tblGrid>
                <a:gridCol w="2485275"/>
                <a:gridCol w="543675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Parcial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15%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Proyecto Integrador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20%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Asistencia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50A0"/>
                          </a:solidFill>
                          <a:latin typeface="Urbanist ExtraBold"/>
                          <a:ea typeface="Urbanist ExtraBold"/>
                          <a:cs typeface="Urbanist ExtraBold"/>
                          <a:sym typeface="Urbanist ExtraBold"/>
                        </a:rPr>
                        <a:t>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18"/>
          <p:cNvSpPr txBox="1"/>
          <p:nvPr/>
        </p:nvSpPr>
        <p:spPr>
          <a:xfrm>
            <a:off x="942975" y="2876550"/>
            <a:ext cx="27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Inicio: [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05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942975" y="3095625"/>
            <a:ext cx="27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Fin: [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09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04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819150" y="4062412"/>
            <a:ext cx="2398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3217812" y="4062412"/>
            <a:ext cx="63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4705350" y="2876550"/>
            <a:ext cx="27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Inicio: [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16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04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4705350" y="3095625"/>
            <a:ext cx="27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Fin: [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14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05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4581525" y="4062412"/>
            <a:ext cx="2398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980187" y="4062412"/>
            <a:ext cx="63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8467725" y="2876550"/>
            <a:ext cx="27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Inicio: [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21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05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467725" y="3095625"/>
            <a:ext cx="27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Fin: [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18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06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/ </a:t>
            </a:r>
            <a:r>
              <a:rPr b="1" lang="en-US" sz="12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r>
              <a:rPr b="1" i="0" lang="en-US" sz="12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8343900" y="4062412"/>
            <a:ext cx="248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10829180" y="4062412"/>
            <a:ext cx="54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4" name="Google Shape;204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23975" y="28860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04937" y="31051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/>
          <p:nvPr/>
        </p:nvSpPr>
        <p:spPr>
          <a:xfrm>
            <a:off x="819150" y="4510087"/>
            <a:ext cx="2398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217812" y="4510087"/>
            <a:ext cx="63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19150" y="4957762"/>
            <a:ext cx="2398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3217812" y="4957762"/>
            <a:ext cx="63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86350" y="28860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67312" y="31051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/>
          <p:nvPr/>
        </p:nvSpPr>
        <p:spPr>
          <a:xfrm>
            <a:off x="4581525" y="4510087"/>
            <a:ext cx="2398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6980187" y="4510087"/>
            <a:ext cx="63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4581525" y="4957762"/>
            <a:ext cx="2398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980187" y="4957762"/>
            <a:ext cx="63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6" name="Google Shape;216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848725" y="28860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929687" y="31051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/>
          <p:nvPr/>
        </p:nvSpPr>
        <p:spPr>
          <a:xfrm>
            <a:off x="8343900" y="4510087"/>
            <a:ext cx="248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10829180" y="4510087"/>
            <a:ext cx="54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8343900" y="4957762"/>
            <a:ext cx="2485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10829180" y="4957762"/>
            <a:ext cx="543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571500" y="919162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050A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Aspectos de Evaluación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/>
        </p:nvSpPr>
        <p:spPr>
          <a:xfrm>
            <a:off x="571500" y="919162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25">
                <a:solidFill>
                  <a:srgbClr val="0050A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Conociendonos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descr="image.png" id="228" name="Google Shape;2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229350"/>
            <a:ext cx="46672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1143000" y="2097872"/>
            <a:ext cx="4799100" cy="3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Tu nombre</a:t>
            </a:r>
            <a:endParaRPr sz="165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65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Edad</a:t>
            </a:r>
            <a:endParaRPr sz="165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¿Actualmente trabajas? (¿En qué o qué te gustaría hacer?)</a:t>
            </a:r>
            <a:endParaRPr sz="165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Comparte una imagen, o meme que te represente o te guste mucho</a:t>
            </a:r>
            <a:endParaRPr sz="165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pic>
        <p:nvPicPr>
          <p:cNvPr id="230" name="Google Shape;2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9849" y="1167813"/>
            <a:ext cx="4522375" cy="452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862137"/>
            <a:ext cx="34226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1862137"/>
            <a:ext cx="34226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862137"/>
            <a:ext cx="3422600" cy="4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305276" y="581025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000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Elección</a:t>
            </a:r>
            <a:r>
              <a:rPr b="1" lang="en-US" sz="3000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 del Vocero(a)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581025" y="1200150"/>
            <a:ext cx="1103010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1797188" y="3214687"/>
            <a:ext cx="99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1. El Rol</a:t>
            </a:r>
            <a:endParaRPr sz="210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876300" y="3671887"/>
            <a:ext cx="28320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Ser el puente de comunicación directo entre el docente y el grupo. Ayudará a canalizar dudas generales, gestionar fechas y comunicar novedades importantes del curso.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5135731" y="3214687"/>
            <a:ext cx="192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2. La Dinámica</a:t>
            </a:r>
            <a:endParaRPr sz="210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4679900" y="3671887"/>
            <a:ext cx="28320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Escribiremos los nombres de todos los presentes en una</a:t>
            </a:r>
            <a:r>
              <a:rPr b="1" lang="en-US" sz="135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Ruleta Virtual Gratuita</a:t>
            </a:r>
            <a:r>
              <a:rPr lang="en-US" sz="1350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en pantalla. Giraremos la ruleta en vivo y ¡la suerte decidirá!</a:t>
            </a:r>
            <a:endParaRPr sz="1350">
              <a:solidFill>
                <a:srgbClr val="33415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34155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  <a:hlinkClick r:id="rId6"/>
              </a:rPr>
              <a:t>LINK</a:t>
            </a:r>
            <a:endParaRPr sz="1500">
              <a:solidFill>
                <a:srgbClr val="333333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8994338" y="3214687"/>
            <a:ext cx="181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50A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3. La Sorpresa</a:t>
            </a:r>
            <a:endParaRPr sz="210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8483500" y="3671887"/>
            <a:ext cx="2832000" cy="15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El estudiante elegido es libre de </a:t>
            </a:r>
            <a:r>
              <a:rPr b="1" lang="en-US" sz="135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aceptar </a:t>
            </a:r>
            <a:r>
              <a:rPr lang="en-US" sz="1350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 </a:t>
            </a:r>
            <a:r>
              <a:rPr b="1" lang="en-US" sz="135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rechazar</a:t>
            </a:r>
            <a:r>
              <a:rPr lang="en-US" sz="1350">
                <a:solidFill>
                  <a:srgbClr val="33415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el cargo. Quien acepte el reto y nos acompañe hasta el final... ¡Recibirá una sorpresa especial en la última clase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!</a:t>
            </a:r>
            <a:endParaRPr/>
          </a:p>
        </p:txBody>
      </p:sp>
      <p:pic>
        <p:nvPicPr>
          <p:cNvPr descr="image.png" id="246" name="Google Shape;24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0313" y="235743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3913" y="235743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7514" y="2357437"/>
            <a:ext cx="52387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/>
          <p:nvPr/>
        </p:nvSpPr>
        <p:spPr>
          <a:xfrm>
            <a:off x="590400" y="2851800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Listado de Sesiones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 txBox="1"/>
          <p:nvPr/>
        </p:nvSpPr>
        <p:spPr>
          <a:xfrm>
            <a:off x="1091839" y="482975"/>
            <a:ext cx="10008300" cy="7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1 - Lectura sobre metodologías de desarrollo.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2 - Identificación de actores y casos de uso.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3 - Especificación de módulos y responsabilidades.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4 - Implementación de patrones básicos.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5 - Redacción de documentos base.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6 - Codificación y pruebas iniciales.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7 - Conexión entre módulos.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8 - Definición de casos de prueba.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9 - Corrección de errores detectados.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10 - Manual de usuario y técnico.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11 - Revisión de avances y retroalimentación.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12 - Diseño de la exposición y material de apoyo.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13 - Retroalimentación cruzada.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14 - Revisión final de documentación.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15 - Sustentación y evaluación del proyecto.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A0"/>
              </a:buClr>
              <a:buSzPts val="1400"/>
              <a:buFont typeface="Urbanist ExtraBold"/>
              <a:buChar char="●"/>
            </a:pPr>
            <a:r>
              <a:rPr lang="en-US" sz="1650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Clase 16 - Reflexión grupal y retroalimentación final.</a:t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33415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0050A0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00275"/>
            <a:ext cx="3492549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200275"/>
            <a:ext cx="3492549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200275"/>
            <a:ext cx="3492549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1637615" y="3971925"/>
            <a:ext cx="13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Mermaid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866775" y="4391025"/>
            <a:ext cx="290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 una herramienta basada en JavaScript que convierte texto plano en diagramas y visualizaciones gráficas</a:t>
            </a:r>
            <a:endParaRPr sz="1350">
              <a:solidFill>
                <a:srgbClr val="475569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4960858" y="3971925"/>
            <a:ext cx="227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Draw.io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4645074" y="4391025"/>
            <a:ext cx="290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 un software de diagramación y dibujo vectorial muy versátil y gratuito (para uso personal y muchos usos profesionales)</a:t>
            </a:r>
            <a:endParaRPr sz="1350">
              <a:solidFill>
                <a:srgbClr val="475569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9023268" y="4067925"/>
            <a:ext cx="170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Markdown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8423374" y="4391025"/>
            <a:ext cx="290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</a:t>
            </a:r>
            <a:r>
              <a:rPr lang="en-US" sz="135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enguaje de marcado ligero con una sintaxis de texto plano. Fue diseñado para ser fácil de leer y fácil de escribir.</a:t>
            </a:r>
            <a:endParaRPr sz="1350">
              <a:solidFill>
                <a:srgbClr val="475569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descr="image.png" id="272" name="Google Shape;27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7387" y="2947987"/>
            <a:ext cx="65722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571500" y="1394037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Recursos y Software</a:t>
            </a:r>
            <a:endParaRPr/>
          </a:p>
        </p:txBody>
      </p:sp>
      <p:pic>
        <p:nvPicPr>
          <p:cNvPr descr="image.png" id="274" name="Google Shape;27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93975" y="2686054"/>
            <a:ext cx="10477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72200" y="2828176"/>
            <a:ext cx="10477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64751" y="2400312"/>
            <a:ext cx="161925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/>
          <p:nvPr/>
        </p:nvSpPr>
        <p:spPr>
          <a:xfrm>
            <a:off x="590400" y="2851800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50A0"/>
                </a:solidFill>
                <a:latin typeface="Urbanist"/>
                <a:ea typeface="Urbanist"/>
                <a:cs typeface="Urbanist"/>
                <a:sym typeface="Urbanist"/>
              </a:rPr>
              <a:t>¿Alguna Pregunta?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