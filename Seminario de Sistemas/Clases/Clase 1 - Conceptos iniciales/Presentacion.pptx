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Programar es escribir codigo que funcione hoy.</a:t>
            </a:r>
          </a:p>
          <a:p/>
          <a:p>
            <a:r>
              <a:t>La ingenieria de software es el conjunto de practicas que hacen que ese codigo siga funcionando cuando el sistema crece, cuando lo mantiene otra persona y cuando los requisitos cambian.</a:t>
            </a:r>
          </a:p>
          <a:p/>
          <a:p>
            <a:r>
              <a:t>La diferencia no es filosofica sino economica: un error detectado al analizar requisitos cuesta corregirlo una fraccion de lo que cuesta corregirlo en produccion, cuando ya hay usuarios reales dependiendo del sistema.</a:t>
            </a:r>
          </a:p>
          <a:p/>
          <a:p>
            <a:r>
              <a:t>NOTAS:</a:t>
            </a:r>
          </a:p>
          <a:p/>
          <a:p>
            <a:r>
              <a:t>Esa curva de costo es la justificacion de todo lo que se vera en este curso; sin ella, las metodologias suenan a burocracia arbitraria.</a:t>
            </a:r>
          </a:p>
          <a:p/>
          <a:p>
            <a:r>
              <a:t>PARA EL DOCENTE</a:t>
            </a:r>
          </a:p>
          <a:p/>
          <a:p>
            <a:r>
              <a:t>Hay un asunto de organizacion que el docente debe resolver el primer dia porque afecta la calificacion: los estudiantes llegan en tres situaciones de matricula distintas y cada una cierra su entregable de manera diferente. Primera situacion, quien cursa Seminario y Programacion II al mismo tiempo. Este es el caso ideal y hay que aprovecharlo: se acota el dominio de VetCare una sola vez y el entregable de diseno de este curso se convierte en el insumo real del codigo del otro. El riesgo es conocido, y consiste en que el estudiante se entusiasme programando y descuide el documento; la regla de cierre es que aqui se califica el plano y no la demostracion, y que si el codigo se desvio del plano lo correcto es actualizar el plano y anotar por que, nunca esconder la diferencia. Segunda situacion, quien cursa solo Programacion II: no entrega en este curso, pero importa porque los equipos son mixtos y puede haber companeros de proyecto que no esten en esta aula. De ahi sale una exigencia concreta para el documento: debe ser autosuficiente, entendible por alguien que no estuvo en las conversaciones del equipo; si el artefacto solo se entiende cuando su autor lo explica de viva voz, no sirve para ese companero y por lo tanto no sirve. Tercera situacion, quien cursa solo Seminario: cierra el semestre con el juego completo de planos y la sustentacion, y no se le exige ni una linea de codigo ni una demostracion funcionando; su nota no depende de que exista implementacion. Su prueba de calidad es otra y hay que decirsela en estos terminos: que un tercero pueda construir el producto leyendo su documento. En su caso el wireframe de la Clase 13 cumple el papel que en el otro curso cumple la pantalla.</a:t>
            </a:r>
          </a:p>
          <a:p/>
          <a:p>
            <a:r>
              <a:t>Queda la trampa pedagogica de este primer dia, y es la mas seria del curso: el estudiante que se matriculo esperando programar y descubre que va a escribir documentos. Si no se encuadra hoy, ese estudiante pasa quince semanas convencido de que el curso es trabajo administrativo, y el sintoma aparece en la primera entrega en forma de documentos hechos en la ultima hora. El encuadre tiene cuatro movimientos y conviene hacerlos en este orden. Primero, reconocerlo en voz alta, porque negarlo lo confirma: aqui varios querian programar, y programar es legitimo y necesario. Segundo, dar el argumento del costo con numeros aunque sean gruesos: borrar una caja de un diagrama toma diez segundos, mientras que eliminar un modulo ya programado, probado e integrado toma dias y arrastra todo lo que dependia de el; ese es el orden de magnitud que justifica dibujar antes. Tercero, mostrar que las decisiones que el programador ya no podra cambiar se toman aqui, con ejemplos que se sienten reales: si una Mascota puede existir sin Dueno, o si reagendar una cita es modificarla o es cancelarla y crear otra, que es una decision de diseno con consecuencias en el historial clinico durante anos. Cuarto, dar salidas legitimas al deseo de construir: en la Clase 13 hay trabajo visual concreto con interfaces, en la Clase 11 se compara el diseno con lo que se esta construyendo, y en la Clase 12 los diagramas avanzados exigen precision tecnica. Conviene tambien nombrar el perfil profesional, porque el estudiante rara vez lo tiene claro: analista, arquitecto y product owner son cargos que existen y que se pagan bien precisamente por traducir entre el negocio y la tecnica. Y hay que anticipar la pregunta textual, porque va a llegar: profesor, para que dibujo esto si lo voy a cambiar cuando programe. La respuesta es que el diagrama es justamente lo que hace barato ese cambio, y que cuando cambie, se actualiza y se anota el motivo, y ese registro es parte de lo que se evalua.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Proyecto y producto son dos palabras que se usan como sinonimos y no lo son.</a:t>
            </a:r>
          </a:p>
          <a:p/>
          <a:p>
            <a:r>
              <a:t>El producto es el software y su documentacion: lo que queda cuando todos se van.</a:t>
            </a:r>
          </a:p>
          <a:p/>
          <a:p>
            <a:r>
              <a:t>El proyecto es el esfuerzo acotado en tiempo y recursos para construirlo.</a:t>
            </a:r>
          </a:p>
          <a:p/>
          <a:p>
            <a:r>
              <a:t>En la clinica, el proyecto es el semestre; el producto es el sistema que la clinica usaria todos los dias.</a:t>
            </a:r>
          </a:p>
          <a:p/>
          <a:p>
            <a:r>
              <a:t>NOTAS:</a:t>
            </a:r>
          </a:p>
          <a:p/>
          <a:p>
            <a:r>
              <a:t>Un proyecto termina; un producto puede seguir vivo diez años.</a:t>
            </a:r>
          </a:p>
          <a:p/>
          <a:p>
            <a:r>
              <a:t>Confundirlos lleva al equipo a pensar «ya entregamos, ya terminamos» y a no dejar nada escrito para quien venga despues.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requisito funcional dice QUE debe hacer el sistema: «registrar una mascota con ID, nombre y especie».</a:t>
            </a:r>
          </a:p>
          <a:p/>
          <a:p>
            <a:r>
              <a:t>Un requisito no funcional dice COMO debe comportarse: «la busqueda de un expediente responde en menos de dos segundos», «la informacion no se pierde ante un corte de energia».</a:t>
            </a:r>
          </a:p>
          <a:p/>
          <a:p>
            <a:r>
              <a:t>Los no funcionales son los que mas se olvidan y, curiosamente, los que mas condicionan la arquitectura.</a:t>
            </a:r>
          </a:p>
          <a:p/>
          <a:p>
            <a:r>
              <a:t>La regla practica que el estudiante debe tener clara desde hoy es: si no se puede verificar, no es un requisito, es un deseo.</a:t>
            </a:r>
          </a:p>
          <a:p/>
          <a:p>
            <a:r>
              <a:t>«El sistema debe ser rapido» no sirve</a:t>
            </a:r>
          </a:p>
          <a:p/>
          <a:p>
            <a:r>
              <a:t>«responde en menos de 2 s con 50 usuarios simultaneos» si, porque alguien puede sentarse a comprobarlo.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Los interesados no son solo quien paga.</a:t>
            </a:r>
          </a:p>
          <a:p/>
          <a:p>
            <a:r>
              <a:t>En la clinica hay al menos tres con intereses distintos: el dueño de la clinica quiere metricas del negocio, la recepcionista quiere agendar rapido y con pocos clics, y el veterinario quiere el historial del paciente a la mano durante la consulta.</a:t>
            </a:r>
          </a:p>
          <a:p/>
          <a:p>
            <a:r>
              <a:t>Esos intereses entran en conflicto: pedir mas datos da mejores metricas al dueño pero vuelve mas lento el registro para la recepcionista.</a:t>
            </a:r>
          </a:p>
          <a:p/>
          <a:p>
            <a:r>
              <a:t>Resolver ese conflicto, decidiendo que se prioriza y documentando por que, es trabajo de analisis, no de programacion.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Todo desarrollo pasa por las mismas fases —requisitos, diseño, construccion, pruebas</a:t>
            </a:r>
          </a:p>
          <a:p/>
          <a:p>
            <a:r>
              <a:t>Mantenimiento— y lo que cambia entre metodologias no son las fases sino COMO se recorren: una sola vez y en orden (cascada) o en ciclos cortos que repiten todas las fases (iterativo y agil).</a:t>
            </a:r>
          </a:p>
          <a:p/>
          <a:p>
            <a:r>
              <a:t>Hoy solo se nombran; se comparan a fondo en las Clases 2, 3 y 4.</a:t>
            </a:r>
          </a:p>
          <a:p/>
          <a:p>
            <a:r>
              <a:t>NOTAS:</a:t>
            </a:r>
          </a:p>
          <a:p/>
          <a:p>
            <a:r>
              <a:t>Lo importante del primer dia es que el estudiante entienda su rol en esta asignatura: aqui no se construye la casa, se dibujan los planos para que cualquier equipo pueda construirla.</a:t>
            </a:r>
          </a:p>
          <a:p/>
          <a:p>
            <a:r>
              <a:t>Decirlo explicitamente evita que quien esperaba programar se frustre a mitad de semestre.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Para que sirve documentar si al final lo que se usa es el codigo: depende de quien lee.</a:t>
            </a:r>
          </a:p>
          <a:p/>
          <a:p>
            <a:r>
              <a:t>El codigo lo lee la maquina y quien ya conoce el sistema; los planos los lee quien todavia no lo conoce: el companero que entra a mitad de semestre, quien revisa el diseño, el equipo de Programacion II que va a construir el sistema a partir de estos documentos</a:t>
            </a:r>
          </a:p>
          <a:p/>
          <a:p>
            <a:r>
              <a:t>Y usted mismo dentro de seis semanas cuando ya no recuerde por que decidio lo que decidio.</a:t>
            </a:r>
          </a:p>
          <a:p/>
          <a:p>
            <a:r>
              <a:t>Documentar no es escribir bonito ni llenar plantillas: es dejar por escrito las decisiones y su justificacion, de modo que otro pueda continuar sin volver a entrevistar al cliente.</a:t>
            </a:r>
          </a:p>
          <a:p/>
          <a:p>
            <a:r>
              <a:t>NOTAS:</a:t>
            </a:r>
          </a:p>
          <a:p/>
          <a:p>
            <a:r>
              <a:t>La respuesta esta en quien lee.</a:t>
            </a:r>
          </a:p>
          <a:p/>
          <a:p>
            <a:r>
              <a:t>Por eso en este curso cada artefacto tiene un lector concreto, y la pregunta que se hace al calificar no es cuantas paginas tiene sino si ese lector podria trabajar con el sin preguntarle nada al autor.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Las primeras cuatro clases responden como se organiza el trabajo (ciclos de vida, metodologias tradicionales y agiles); de la sexta a la novena</a:t>
            </a:r>
          </a:p>
          <a:p/>
          <a:p>
            <a:r>
              <a:t>Que debe hacer el sistema (requisitos, historias de usuario, UML y casos de uso); de la once a la catorce, como se ve y como se sustenta (auditoria del avance, diagramas dinamicos, interfaces y sustentacion).</a:t>
            </a:r>
          </a:p>
          <a:p/>
          <a:p>
            <a:r>
              <a:t>Las clases 5, 10 y 15 son de parcial.</a:t>
            </a:r>
          </a:p>
          <a:p/>
          <a:p>
            <a:r>
              <a:t>Todo lo que se produzca en el camino se acumula en un unico paquete de diseno del proyecto, que es el producto real de la asignatura; no hay trabajos sueltos que se boten al terminar la clase.</a:t>
            </a:r>
          </a:p>
          <a:p/>
          <a:p>
            <a:r>
              <a:t>NOTAS:</a:t>
            </a:r>
          </a:p>
          <a:p/>
          <a:p>
            <a:r>
              <a:t>El mapa del semestre cabe en una sola frase, y de el depende saber donde se esta parado en cada clase.</a:t>
            </a:r>
          </a:p>
          <a:p/>
          <a:p>
            <a:r>
              <a:t>Decir esto el primer dia evita la sensacion de estar haciendo tareas desconectadas.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Hay un concepto que explica por que este curso existe: la deuda tecnica.</a:t>
            </a:r>
          </a:p>
          <a:p/>
          <a:p>
            <a:r>
              <a:t>La metafora la propuso Ward Cunningham en 1992 hablando de codigo, y funciona igual de bien para el diseno, que es lo que se hace aqui.</a:t>
            </a:r>
          </a:p>
          <a:p/>
          <a:p>
            <a:r>
              <a:t>Un caso tipico que ocurre todos los semestres: el equipo no decide si una Mascota puede existir sin un Dueno registrado, porque en la primera semana parece un detalle.</a:t>
            </a:r>
          </a:p>
          <a:p/>
          <a:p>
            <a:r>
              <a:t>Ahora hay que decidir, ajustar dos documentos, avisar al equipo y probablemente rehacer un wireframe.</a:t>
            </a:r>
          </a:p>
          <a:p/>
          <a:p>
            <a:r>
              <a:t>El trabajo extra es el interes de una decision que costaba dos minutos en la Clase 1.</a:t>
            </a:r>
          </a:p>
          <a:p/>
          <a:p>
            <a:r>
              <a:t>Como convencion practica, los equipos maduros reservan entre el diez y el veinte por ciento de cada iteracion para pagar deuda; no es una regla dura, es una forma de reconocer que la deuda no desaparece sola.</a:t>
            </a:r>
          </a:p>
          <a:p/>
          <a:p>
            <a:r>
              <a:t>Y hay una deuda que nunca conviene tomar: la que se contrae por no saber que se estaba decidiendo algo.</a:t>
            </a:r>
          </a:p>
          <a:p/>
          <a:p>
            <a:r>
              <a:t>NOTAS:</a:t>
            </a:r>
          </a:p>
          <a:p/>
          <a:p>
            <a:r>
              <a:t>Cada vez que un equipo elige la salida rapida en lugar de la correcta, esta pidiendo prestado tiempo al futuro.</a:t>
            </a:r>
          </a:p>
          <a:p/>
          <a:p>
            <a:r>
              <a:t>El prestamo puede ser razonable, igual que un credito, pero se paga con intereses, y los intereses se cobran en forma de tiempo adicional en cada cambio posterior.</a:t>
            </a:r>
          </a:p>
          <a:p/>
          <a:p>
            <a:r>
              <a:t>Tres semanas despues, dos integrantes han asumido cosas distintas; uno diseno la pantalla de registro pidiendo el dueno primero y el otro escribio un caso de uso donde la mascota se registra sola y el dueno se asocia despues.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En un curso de diseno la deuda toma una forma particular y peligrosa: el artefacto desactualizado.</a:t>
            </a:r>
          </a:p>
          <a:p/>
          <a:p>
            <a:r>
              <a:t>Un diagrama que ya no corresponde a la decision vigente es peor que no tener diagrama, porque un documento que no existe obliga a preguntar, mientras que un documento equivocado convence.</a:t>
            </a:r>
          </a:p>
          <a:p/>
          <a:p>
            <a:r>
              <a:t>La primera: cada artefacto lleva fecha y version visibles, de modo que cualquiera pueda saber si esta mirando lo ultimo.</a:t>
            </a:r>
          </a:p>
          <a:p/>
          <a:p>
            <a:r>
              <a:t>La segunda: si una decision cambia, el artefacto se actualiza en la misma semana y el cambio queda anotado en una linea, con la fecha y el motivo</a:t>
            </a:r>
          </a:p>
          <a:p/>
          <a:p>
            <a:r>
              <a:t>Ese registro es lo que en la sustentacion de la Clase 14 distingue a un equipo que diseno de un equipo que improviso y despues escribio el documento hacia atras.</a:t>
            </a:r>
          </a:p>
          <a:p/>
          <a:p>
            <a:r>
              <a:t>Vale decirlo explicitamente porque contradice el habito escolar: aqui no se penaliza cambiar de opinion, se penaliza tener dos verdades circulando al mismo tiempo.</a:t>
            </a:r>
          </a:p>
          <a:p/>
          <a:p>
            <a:r>
              <a:t>NOTAS:</a:t>
            </a:r>
          </a:p>
          <a:p/>
          <a:p>
            <a:r>
              <a:t>Quien lo lea tomara decisiones a partir de informacion falsa y descubrira el problema tarde.</a:t>
            </a:r>
          </a:p>
          <a:p/>
          <a:p>
            <a:r>
              <a:t>De ahi salen dos reglas que este curso aplica a todos los artefactos.</a:t>
            </a:r>
          </a:p>
          <a:p/>
          <a:p>
            <a:r>
              <a:t>Un equipo que cambio tres veces el alcance y lo registro esta mejor evaluado que uno que entrega un documento perfecto que nadie uso.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segundo concepto de fondo es la palabra modelo, que se usa todo el semestre sin definirla.</a:t>
            </a:r>
          </a:p>
          <a:p/>
          <a:p>
            <a:r>
              <a:t>Un modelo es una representacion simplificada de algo real, construida para responder un conjunto acotado de preguntas.</a:t>
            </a:r>
          </a:p>
          <a:p/>
          <a:p>
            <a:r>
              <a:t>La parte que sorprende al estudiante es que un modelo util es necesariamente incompleto</a:t>
            </a:r>
          </a:p>
          <a:p/>
          <a:p>
            <a:r>
              <a:t>Y la razon es aritmetica y no filosofica: un modelo que incluyera todo seria del tamano del territorio que representa y por lo tanto no serviria para nada, porque un mapa a escala uno a uno pesa lo mismo que la ciudad y no cabe en el bolsillo.</a:t>
            </a:r>
          </a:p>
          <a:p/>
          <a:p>
            <a:r>
              <a:t>La formula que se cita habitualmente es que el mapa no es el territorio.</a:t>
            </a:r>
          </a:p>
          <a:p/>
          <a:p>
            <a:r>
              <a:t>Consecuencia operativa, y este es el criterio que el estudiante debe llevarse: para cada diagrama que va a dibujar hay que poder nombrar dos cosas, cual pregunta responde y quien es la persona que la hace.</a:t>
            </a:r>
          </a:p>
          <a:p/>
          <a:p>
            <a:r>
              <a:t>Si no se pueden nombrar, el diagrama no va.</a:t>
            </a:r>
          </a:p>
          <a:p/>
          <a:p>
            <a:r>
              <a:t>Esas otras preguntas tienen sus propios modelos, y el curso los introduce en las Clases 8, 9 y 12.</a:t>
            </a:r>
          </a:p>
          <a:p/>
          <a:p>
            <a:r>
              <a:t>Reconocer que cada diagrama es parcial es lo que permite tener varios sin contradecirse.</a:t>
            </a:r>
          </a:p>
          <a:p/>
          <a:p>
            <a:r>
              <a:t>NOTAS:</a:t>
            </a:r>
          </a:p>
          <a:p/>
          <a:p>
            <a:r>
              <a:t>En la clinica, un diagrama de casos de uso responde quien hace que y con que finalidad, y le sirve al dueno de la clinica para confirmar que no falta ningun tramite; no responde en cuanto tiempo se busca un expediente ni como se guardan los datos, y quien busque eso ahi va a leer mal.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Puede omitir algo que si importaba para la pregunta que promete responder, y entonces es incompleto donde no debia.</a:t>
            </a:r>
          </a:p>
          <a:p/>
          <a:p>
            <a:r>
              <a:t>O puede incluir tanto detalle que nadie lo lee, y entonces es ruido con apariencia de rigor.</a:t>
            </a:r>
          </a:p>
          <a:p/>
          <a:p>
            <a:r>
              <a:t>La segunda falla es la mas comun en trabajos de curso, porque el estudiante asume que mas paginas equivalen a mas nota.</a:t>
            </a:r>
          </a:p>
          <a:p/>
          <a:p>
            <a:r>
              <a:t>Sirven algunas magnitudes de referencia, todas convenciones de este curso y no reglas del lenguaje: un diagrama de casos de uso legible rara vez pasa de quince o veinte casos</a:t>
            </a:r>
          </a:p>
          <a:p/>
          <a:p>
            <a:r>
              <a:t>Un diagrama con cuarenta elementos ya no se puede discutir en una reunion; una historia de usuario cabe en dos o tres lineas.</a:t>
            </a:r>
          </a:p>
          <a:p/>
          <a:p>
            <a:r>
              <a:t>Y hay una prueba empirica que reemplaza cualquier lista de verificacion: entregue el artefacto a un compañero que no haya trabajado en su documento, sin explicarle nada, y pidale que lo explique en tres minutos.</a:t>
            </a:r>
          </a:p>
          <a:p/>
          <a:p>
            <a:r>
              <a:t>La pregunta previsible aqui es cuantos diagramas hay que hacer entonces, y la respuesta que hay que sostener todo el semestre es que se hacen los que responden preguntas que alguien tiene, y que un diagrama sin lector es trabajo perdido aunque este perfecto.</a:t>
            </a:r>
          </a:p>
          <a:p/>
          <a:p>
            <a:r>
              <a:t>NOTAS:</a:t>
            </a:r>
          </a:p>
          <a:p/>
          <a:p>
            <a:r>
              <a:t>De ahi se sigue que un modelo puede estar mal de dos maneras opuestas, y conviene decirlas juntas porque los equipos suelen corregir una cayendo en la otra.</a:t>
            </a:r>
          </a:p>
          <a:p/>
          <a:p>
            <a:r>
              <a:t>Lo que no pueda explicar, no comunica, y hay que arreglarlo.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Lo anterior conduce al criterio que gobierna todas las entregas de este curso: la diferencia entre un documento que alguien puede usar y uno que solo existe para la nota.</a:t>
            </a:r>
          </a:p>
          <a:p/>
          <a:p>
            <a:r>
              <a:t>Son cinco rasgos y todos son verificables desde afuera.</a:t>
            </a:r>
          </a:p>
          <a:p/>
          <a:p>
            <a:r>
              <a:t>Dos, es verificable: sus afirmaciones se pueden confirmar o refutar, lo que en requisitos significa criterios de aceptacion.</a:t>
            </a:r>
          </a:p>
          <a:p/>
          <a:p>
            <a:r>
              <a:t>Tres, es trazable: cada requisito tiene identificador y se puede seguir hasta el artefacto donde se resuelve.</a:t>
            </a:r>
          </a:p>
          <a:p/>
          <a:p>
            <a:r>
              <a:t>Cinco, sirve para actuar: alguien puede tomar una decision o construir algo con el.</a:t>
            </a:r>
          </a:p>
          <a:p/>
          <a:p>
            <a:r>
              <a:t>Version para la nota: el sistema debe ser amigable e intuitivo y permitir gestionar la informacion de las mascotas de manera eficiente.</a:t>
            </a:r>
          </a:p>
          <a:p/>
          <a:p>
            <a:r>
              <a:t>Version usable: RF-012, el sistema permite registrar una mascota con identificador, nombre, especie, fecha de nacimiento y dueno asociado</a:t>
            </a:r>
          </a:p>
          <a:p/>
          <a:p>
            <a:r>
              <a:t>Criterio de aceptacion, dado un dueno ya registrado, cuando la recepcionista guarda la mascota con esos cinco datos, entonces la mascota aparece en el listado de ese dueno</a:t>
            </a:r>
          </a:p>
          <a:p/>
          <a:p>
            <a:r>
              <a:t>Y si el dueno no existe el registro se rechaza con un mensaje; origen, entrevista con la recepcionista; prioridad, alta.</a:t>
            </a:r>
          </a:p>
          <a:p/>
          <a:p>
            <a:r>
              <a:t>Los tres rellenos que hay que prohibir desde hoy son la definicion copiada de un libro, la historia del origen de la ingenieria de software y las promesas sin sujeto del tipo se garantizara la calidad.</a:t>
            </a:r>
          </a:p>
          <a:p/>
          <a:p>
            <a:r>
              <a:t>NOTAS:</a:t>
            </a:r>
          </a:p>
          <a:p/>
          <a:p>
            <a:r>
              <a:t>Uno, tiene un lector nombrado y una pregunta que responde.</a:t>
            </a:r>
          </a:p>
          <a:p/>
          <a:p>
            <a:r>
              <a:t>Cuatro, esta fechado y versionado.</a:t>
            </a:r>
          </a:p>
          <a:p/>
          <a:p>
            <a:r>
              <a:t>Comparemos en la clinica.</a:t>
            </a:r>
          </a:p>
          <a:p/>
          <a:p>
            <a:r>
              <a:t>Nadie puede construir eso ni puede decir si se cumplio.</a:t>
            </a:r>
          </a:p>
          <a:p/>
          <a:p>
            <a:r>
              <a:t>La segunda version se puede programar, se puede probar y se puede discutir con el dueno de la clinica.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rasgo tres merece su propio parrafo porque es el hilo que amarra el semestre: la trazabilidad.</a:t>
            </a:r>
          </a:p>
          <a:p/>
          <a:p>
            <a:r>
              <a:t>Trazabilidad es poder seguir un requisito desde su origen, es decir quien lo pidio, hasta el artefacto que lo resuelve y el criterio que lo verifica.</a:t>
            </a:r>
          </a:p>
          <a:p/>
          <a:p>
            <a:r>
              <a:t>En este curso la cadena es concreta y siempre la misma: un interesado dice algo en una entrevista, eso se convierte en un requisito con identificador en la Clase 6</a:t>
            </a:r>
          </a:p>
          <a:p/>
          <a:p>
            <a:r>
              <a:t>Se expresa como historia de usuario en la Clase 7, aparece como caso de uso en la Clase 9, se dibuja como pantalla en la Clase 13 y se cierra con un criterio de aceptacion que permite decir si quedo hecho.</a:t>
            </a:r>
          </a:p>
          <a:p/>
          <a:p>
            <a:r>
              <a:t>Dos controles simples permiten auditar esa cadena sin herramientas: todo requisito funcional debe aparecer al menos una vez en algun caso de uso, y todo caso de uso debe poder senalar el requisito que lo origina.</a:t>
            </a:r>
          </a:p>
          <a:p/>
          <a:p>
            <a:r>
              <a:t>Un requisito huerfano, que no aparece en ningun sitio, es una de dos cosas: algo que nadie necesita y hay que eliminar, o un hueco de diseno que nadie noto</a:t>
            </a:r>
          </a:p>
          <a:p/>
          <a:p>
            <a:r>
              <a:t>Ambas conclusiones son valiosas y ambas se pierden si el equipo escribe cada documento como si fuera independiente.</a:t>
            </a:r>
          </a:p>
          <a:p/>
          <a:p>
            <a:r>
              <a:t>Esta es tambien la razon por la que en la Clase 11 se revisa el avance mirando la coherencia entre artefactos y no la cantidad de paginas.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Google Docs · draw.io</a:t>
            </a:r>
          </a:p>
          <a:p/>
          <a:p>
            <a:r>
              <a:t>Demo: Convertir en vivo la frase cruda «necesito buscar rapido el expediente de un animal» en un requisito funcional y uno no funcional bien escritos</a:t>
            </a:r>
          </a:p>
          <a:p/>
          <a:p>
            <a:r>
              <a:t>Mismo dominio: la clinica veterinaria — no otro ejemplo. Aqui se diseña, no se programa.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Conceptos iniciales de ingenieria de software</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Que es diseñar software y por que no es programar</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a:t>
            </a:r>
            <a:r>
              <a:rPr sz="2000" b="0" i="0">
                <a:solidFill>
                  <a:srgbClr val="333333"/>
                </a:solidFill>
                <a:latin typeface="Calibri"/>
              </a:rPr>
              <a:t> Conceptos iniciales de ingenieria de software</a:t>
            </a:r>
          </a:p>
          <a:p>
            <a:pPr>
              <a:spcAft>
                <a:spcPts val="800"/>
              </a:spcAft>
            </a:pPr>
            <a:r>
              <a:rPr sz="2000" b="0" i="0">
                <a:solidFill>
                  <a:srgbClr val="333333"/>
                </a:solidFill>
                <a:latin typeface="Calibri"/>
              </a:rPr>
              <a:t>–   Que es diseñar software y por que no es programar</a:t>
            </a:r>
          </a:p>
          <a:p>
            <a:pPr>
              <a:spcAft>
                <a:spcPts val="800"/>
              </a:spcAft>
            </a:pPr>
            <a:r>
              <a:rPr sz="2000" b="0" i="0">
                <a:solidFill>
                  <a:srgbClr val="333333"/>
                </a:solidFill>
                <a:latin typeface="Calibri"/>
              </a:rPr>
              <a:t>–   Herramienta del tema: </a:t>
            </a:r>
            <a:r>
              <a:rPr sz="2000" b="1" i="0">
                <a:solidFill>
                  <a:srgbClr val="333333"/>
                </a:solidFill>
                <a:latin typeface="Calibri"/>
              </a:rPr>
              <a:t>Google Docs · draw.io</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Ejemplo de toda la clase: el sistema de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la clinica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(opcional, guia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Sintesis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Programar no es lo mismo que hacer ingeniería de software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sto-del-error-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osto-del-error-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osto-del-error-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Programar es escribir código que funcione hoy.</a:t>
            </a:r>
          </a:p>
          <a:p>
            <a:pPr>
              <a:spcAft>
                <a:spcPts val="800"/>
              </a:spcAft>
            </a:pPr>
            <a:r>
              <a:rPr sz="2000" b="0" i="0">
                <a:solidFill>
                  <a:srgbClr val="333333"/>
                </a:solidFill>
                <a:latin typeface="Calibri"/>
              </a:rPr>
              <a:t>–   La ingeniería de software son las prácticas que lo mantienen funcionando cuando el sistema crece, cambia de manos o cambian los requisitos.</a:t>
            </a:r>
          </a:p>
          <a:p>
            <a:pPr>
              <a:spcAft>
                <a:spcPts val="800"/>
              </a:spcAft>
            </a:pPr>
            <a:r>
              <a:rPr sz="2000" b="0" i="0">
                <a:solidFill>
                  <a:srgbClr val="333333"/>
                </a:solidFill>
                <a:latin typeface="Calibri"/>
              </a:rPr>
              <a:t>–   La razón es económica: un error hallado al analizar requisitos cuesta una fracción de lo que cuesta en producción, con usuarios reales encima.</a:t>
            </a:r>
          </a:p>
          <a:p>
            <a:pPr>
              <a:spcAft>
                <a:spcPts val="800"/>
              </a:spcAft>
            </a:pPr>
            <a:r>
              <a:rPr sz="2000" b="0" i="0">
                <a:solidFill>
                  <a:srgbClr val="333333"/>
                </a:solidFill>
                <a:latin typeface="Calibri"/>
              </a:rPr>
              <a:t>–   Esa curva de costo es la que justifica todas las metodologías del curso.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Proyecto y producto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oyecto-product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royecto-product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royecto-product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producto es el software y su documentación: lo que queda cuando todos se van.</a:t>
            </a:r>
          </a:p>
          <a:p>
            <a:pPr>
              <a:spcAft>
                <a:spcPts val="800"/>
              </a:spcAft>
            </a:pPr>
            <a:r>
              <a:rPr sz="2000" b="0" i="0">
                <a:solidFill>
                  <a:srgbClr val="333333"/>
                </a:solidFill>
                <a:latin typeface="Calibri"/>
              </a:rPr>
              <a:t>–   El proyecto es el esfuerzo acotado en tiempo y recursos para construirlo.</a:t>
            </a:r>
          </a:p>
          <a:p>
            <a:pPr>
              <a:spcAft>
                <a:spcPts val="800"/>
              </a:spcAft>
            </a:pPr>
            <a:r>
              <a:rPr sz="2000" b="0" i="0">
                <a:solidFill>
                  <a:srgbClr val="333333"/>
                </a:solidFill>
                <a:latin typeface="Calibri"/>
              </a:rPr>
              <a:t>–   Un proyecto termina; un producto puede seguir vivo diez años.</a:t>
            </a:r>
          </a:p>
          <a:p>
            <a:pPr>
              <a:spcAft>
                <a:spcPts val="800"/>
              </a:spcAft>
            </a:pPr>
            <a:r>
              <a:rPr sz="2000" b="0" i="0">
                <a:solidFill>
                  <a:srgbClr val="333333"/>
                </a:solidFill>
                <a:latin typeface="Calibri"/>
              </a:rPr>
              <a:t>–   En la clínica, el proyecto es el semestre; el producto es el sistema que usaría todos los días.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Requisito funcional y no funcional</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seo-o-requisit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deseo-o-requisit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deseo-o-requisit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Funcional: QUÉ hace el sistema. «Registrar una mascota con ID, nombre y especie».</a:t>
            </a:r>
          </a:p>
          <a:p>
            <a:pPr>
              <a:spcAft>
                <a:spcPts val="800"/>
              </a:spcAft>
            </a:pPr>
            <a:r>
              <a:rPr sz="2000" b="0" i="0">
                <a:solidFill>
                  <a:srgbClr val="333333"/>
                </a:solidFill>
                <a:latin typeface="Calibri"/>
              </a:rPr>
              <a:t>–   No funcional: CÓMO se comporta. «La búsqueda responde en menos de 2 s».</a:t>
            </a:r>
          </a:p>
          <a:p>
            <a:pPr>
              <a:spcAft>
                <a:spcPts val="800"/>
              </a:spcAft>
            </a:pPr>
            <a:r>
              <a:rPr sz="2000" b="0" i="0">
                <a:solidFill>
                  <a:srgbClr val="333333"/>
                </a:solidFill>
                <a:latin typeface="Calibri"/>
              </a:rPr>
              <a:t>–   Los no funcionales son los que más se olvidan y los que más condicionan la arquitectura.</a:t>
            </a:r>
          </a:p>
          <a:p>
            <a:pPr>
              <a:spcAft>
                <a:spcPts val="800"/>
              </a:spcAft>
            </a:pPr>
            <a:r>
              <a:rPr sz="2000" b="0" i="0">
                <a:solidFill>
                  <a:srgbClr val="333333"/>
                </a:solidFill>
                <a:latin typeface="Calibri"/>
              </a:rPr>
              <a:t>–   Si no se puede verificar, no es un requisito: es un deseo.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ficha de requisito bien escrito, campo por campo</a:t>
            </a:r>
          </a:p>
        </p:txBody>
      </p:sp>
      <p:sp>
        <p:nvSpPr>
          <p:cNvPr id="5" name="Rounded Rectangle 4"/>
          <p:cNvSpPr/>
          <p:nvPr/>
        </p:nvSpPr>
        <p:spPr>
          <a:xfrm>
            <a:off x="457200" y="1261872"/>
            <a:ext cx="11277295" cy="486212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Plantilla</a:t>
            </a:r>
          </a:p>
        </p:txBody>
      </p:sp>
      <p:sp>
        <p:nvSpPr>
          <p:cNvPr id="11" name="TextBox 10"/>
          <p:cNvSpPr txBox="1"/>
          <p:nvPr/>
        </p:nvSpPr>
        <p:spPr>
          <a:xfrm>
            <a:off x="685800" y="1719072"/>
            <a:ext cx="502920" cy="4267765"/>
          </a:xfrm>
          <a:prstGeom prst="rect">
            <a:avLst/>
          </a:prstGeom>
          <a:noFill/>
        </p:spPr>
        <p:txBody>
          <a:bodyPr wrap="square">
            <a:spAutoFit/>
          </a:bodyPr>
          <a:lstStyle/>
          <a:p>
            <a:pPr algn="r">
              <a:spcAft>
                <a:spcPts val="385"/>
              </a:spcAft>
            </a:pPr>
            <a:r>
              <a:rPr sz="1800" i="0" b="0">
                <a:solidFill>
                  <a:srgbClr val="858585"/>
                </a:solidFill>
                <a:latin typeface="Consolas"/>
              </a:rPr>
              <a:t>1</a:t>
            </a:r>
          </a:p>
          <a:p>
            <a:pPr algn="r">
              <a:spcAft>
                <a:spcPts val="385"/>
              </a:spcAft>
            </a:pPr>
            <a:r>
              <a:rPr sz="1800" i="0" b="0">
                <a:solidFill>
                  <a:srgbClr val="858585"/>
                </a:solidFill>
                <a:latin typeface="Consolas"/>
              </a:rPr>
              <a:t>2</a:t>
            </a:r>
          </a:p>
          <a:p>
            <a:pPr algn="r">
              <a:spcAft>
                <a:spcPts val="385"/>
              </a:spcAft>
            </a:pPr>
            <a:r>
              <a:rPr sz="1800" i="0" b="0">
                <a:solidFill>
                  <a:srgbClr val="858585"/>
                </a:solidFill>
                <a:latin typeface="Consolas"/>
              </a:rPr>
              <a:t>3</a:t>
            </a:r>
          </a:p>
          <a:p>
            <a:pPr algn="r">
              <a:spcAft>
                <a:spcPts val="385"/>
              </a:spcAft>
            </a:pPr>
            <a:r>
              <a:rPr sz="1800" i="0" b="0">
                <a:solidFill>
                  <a:srgbClr val="858585"/>
                </a:solidFill>
                <a:latin typeface="Consolas"/>
              </a:rPr>
              <a:t>4</a:t>
            </a:r>
          </a:p>
          <a:p>
            <a:pPr algn="r">
              <a:spcAft>
                <a:spcPts val="385"/>
              </a:spcAft>
            </a:pPr>
            <a:r>
              <a:rPr sz="1800" i="0" b="0">
                <a:solidFill>
                  <a:srgbClr val="858585"/>
                </a:solidFill>
                <a:latin typeface="Consolas"/>
              </a:rPr>
              <a:t>5</a:t>
            </a:r>
          </a:p>
          <a:p>
            <a:pPr algn="r">
              <a:spcAft>
                <a:spcPts val="385"/>
              </a:spcAft>
            </a:pPr>
            <a:r>
              <a:rPr sz="1800" i="0" b="0">
                <a:solidFill>
                  <a:srgbClr val="858585"/>
                </a:solidFill>
                <a:latin typeface="Consolas"/>
              </a:rPr>
              <a:t>6</a:t>
            </a:r>
          </a:p>
          <a:p>
            <a:pPr algn="r">
              <a:spcAft>
                <a:spcPts val="385"/>
              </a:spcAft>
            </a:pPr>
            <a:r>
              <a:rPr sz="1800" i="0" b="0">
                <a:solidFill>
                  <a:srgbClr val="858585"/>
                </a:solidFill>
                <a:latin typeface="Consolas"/>
              </a:rPr>
              <a:t>7</a:t>
            </a:r>
          </a:p>
          <a:p>
            <a:pPr algn="r">
              <a:spcAft>
                <a:spcPts val="385"/>
              </a:spcAft>
            </a:pPr>
            <a:r>
              <a:rPr sz="1800" i="0" b="0">
                <a:solidFill>
                  <a:srgbClr val="858585"/>
                </a:solidFill>
                <a:latin typeface="Consolas"/>
              </a:rPr>
              <a:t>8</a:t>
            </a:r>
          </a:p>
          <a:p>
            <a:pPr algn="r">
              <a:spcAft>
                <a:spcPts val="385"/>
              </a:spcAft>
            </a:pPr>
            <a:r>
              <a:rPr sz="1800" i="0" b="0">
                <a:solidFill>
                  <a:srgbClr val="858585"/>
                </a:solidFill>
                <a:latin typeface="Consolas"/>
              </a:rPr>
              <a:t>9</a:t>
            </a:r>
          </a:p>
          <a:p>
            <a:pPr algn="r">
              <a:spcAft>
                <a:spcPts val="385"/>
              </a:spcAft>
            </a:pPr>
            <a:r>
              <a:rPr sz="1800" i="0" b="0">
                <a:solidFill>
                  <a:srgbClr val="858585"/>
                </a:solidFill>
                <a:latin typeface="Consolas"/>
              </a:rPr>
              <a:t>10</a:t>
            </a:r>
          </a:p>
          <a:p>
            <a:pPr algn="r">
              <a:spcAft>
                <a:spcPts val="385"/>
              </a:spcAft>
            </a:pPr>
            <a:r>
              <a:rPr sz="1800" i="0" b="0">
                <a:solidFill>
                  <a:srgbClr val="858585"/>
                </a:solidFill>
                <a:latin typeface="Consolas"/>
              </a:rPr>
              <a:t>11</a:t>
            </a:r>
          </a:p>
          <a:p>
            <a:pPr algn="r">
              <a:spcAft>
                <a:spcPts val="385"/>
              </a:spcAft>
            </a:pPr>
            <a:r>
              <a:rPr sz="1800" i="0" b="0">
                <a:solidFill>
                  <a:srgbClr val="858585"/>
                </a:solidFill>
                <a:latin typeface="Consolas"/>
              </a:rPr>
              <a:t>12</a:t>
            </a:r>
          </a:p>
          <a:p>
            <a:pPr algn="r">
              <a:spcAft>
                <a:spcPts val="385"/>
              </a:spcAft>
            </a:pPr>
            <a:r>
              <a:rPr sz="1800" i="0" b="0">
                <a:solidFill>
                  <a:srgbClr val="858585"/>
                </a:solidFill>
                <a:latin typeface="Consolas"/>
              </a:rPr>
              <a:t>13</a:t>
            </a:r>
          </a:p>
        </p:txBody>
      </p:sp>
      <p:sp>
        <p:nvSpPr>
          <p:cNvPr id="12" name="TextBox 11"/>
          <p:cNvSpPr txBox="1"/>
          <p:nvPr/>
        </p:nvSpPr>
        <p:spPr>
          <a:xfrm>
            <a:off x="1188720" y="1719072"/>
            <a:ext cx="10271455" cy="4267765"/>
          </a:xfrm>
          <a:prstGeom prst="rect">
            <a:avLst/>
          </a:prstGeom>
          <a:noFill/>
        </p:spPr>
        <p:txBody>
          <a:bodyPr wrap="square">
            <a:spAutoFit/>
          </a:bodyPr>
          <a:lstStyle/>
          <a:p>
            <a:pPr>
              <a:spcAft>
                <a:spcPts val="385"/>
              </a:spcAft>
            </a:pPr>
            <a:r>
              <a:rPr sz="1800" i="0" b="0">
                <a:solidFill>
                  <a:srgbClr val="D4D4D4"/>
                </a:solidFill>
                <a:latin typeface="Consolas"/>
              </a:rPr>
              <a:t>RF</a:t>
            </a:r>
            <a:r>
              <a:rPr sz="1800" i="0" b="0">
                <a:solidFill>
                  <a:srgbClr val="D4D4D4"/>
                </a:solidFill>
                <a:latin typeface="Consolas"/>
              </a:rPr>
              <a:t>-</a:t>
            </a:r>
            <a:r>
              <a:rPr sz="1800" i="0" b="0">
                <a:solidFill>
                  <a:srgbClr val="B5CEA8"/>
                </a:solidFill>
                <a:latin typeface="Consolas"/>
              </a:rPr>
              <a:t>01</a:t>
            </a:r>
            <a:r>
              <a:rPr sz="1800" i="0" b="0">
                <a:solidFill>
                  <a:srgbClr val="D4D4D4"/>
                </a:solidFill>
                <a:latin typeface="Consolas"/>
              </a:rPr>
              <a:t>  </a:t>
            </a:r>
            <a:r>
              <a:rPr sz="1800" i="0" b="0">
                <a:solidFill>
                  <a:srgbClr val="D4D4D4"/>
                </a:solidFill>
                <a:latin typeface="Consolas"/>
              </a:rPr>
              <a:t>Registrar</a:t>
            </a:r>
            <a:r>
              <a:rPr sz="1800" i="0" b="0">
                <a:solidFill>
                  <a:srgbClr val="D4D4D4"/>
                </a:solidFill>
                <a:latin typeface="Consolas"/>
              </a:rPr>
              <a:t> </a:t>
            </a:r>
            <a:r>
              <a:rPr sz="1800" i="0" b="0">
                <a:solidFill>
                  <a:srgbClr val="D4D4D4"/>
                </a:solidFill>
                <a:latin typeface="Consolas"/>
              </a:rPr>
              <a:t>mascota</a:t>
            </a:r>
          </a:p>
          <a:p>
            <a:pPr>
              <a:spcAft>
                <a:spcPts val="385"/>
              </a:spcAft>
            </a:pPr>
            <a:r>
              <a:rPr sz="1800" i="0" b="0">
                <a:solidFill>
                  <a:srgbClr val="D4D4D4"/>
                </a:solidFill>
                <a:latin typeface="Consolas"/>
              </a:rPr>
              <a:t/>
            </a:r>
          </a:p>
          <a:p>
            <a:pPr>
              <a:spcAft>
                <a:spcPts val="385"/>
              </a:spcAft>
            </a:pPr>
            <a:r>
              <a:rPr sz="1800" i="0" b="0">
                <a:solidFill>
                  <a:srgbClr val="D4D4D4"/>
                </a:solidFill>
                <a:latin typeface="Consolas"/>
              </a:rPr>
              <a:t>Actor</a:t>
            </a:r>
            <a:r>
              <a:rPr sz="1800" i="0" b="0">
                <a:solidFill>
                  <a:srgbClr val="D4D4D4"/>
                </a:solidFill>
                <a:latin typeface="Consolas"/>
              </a:rPr>
              <a:t>:        </a:t>
            </a:r>
            <a:r>
              <a:rPr sz="1800" i="0" b="0">
                <a:solidFill>
                  <a:srgbClr val="D4D4D4"/>
                </a:solidFill>
                <a:latin typeface="Consolas"/>
              </a:rPr>
              <a:t>Recepcionista</a:t>
            </a:r>
          </a:p>
          <a:p>
            <a:pPr>
              <a:spcAft>
                <a:spcPts val="385"/>
              </a:spcAft>
            </a:pPr>
            <a:r>
              <a:rPr sz="1800" i="0" b="0">
                <a:solidFill>
                  <a:srgbClr val="D4D4D4"/>
                </a:solidFill>
                <a:latin typeface="Consolas"/>
              </a:rPr>
              <a:t>Precondicion</a:t>
            </a:r>
            <a:r>
              <a:rPr sz="1800" i="0" b="0">
                <a:solidFill>
                  <a:srgbClr val="D4D4D4"/>
                </a:solidFill>
                <a:latin typeface="Consolas"/>
              </a:rPr>
              <a:t>: </a:t>
            </a:r>
            <a:r>
              <a:rPr sz="1800" i="0" b="0">
                <a:solidFill>
                  <a:srgbClr val="D4D4D4"/>
                </a:solidFill>
                <a:latin typeface="Consolas"/>
              </a:rPr>
              <a:t>el</a:t>
            </a:r>
            <a:r>
              <a:rPr sz="1800" i="0" b="0">
                <a:solidFill>
                  <a:srgbClr val="D4D4D4"/>
                </a:solidFill>
                <a:latin typeface="Consolas"/>
              </a:rPr>
              <a:t> </a:t>
            </a:r>
            <a:r>
              <a:rPr sz="1800" i="0" b="0">
                <a:solidFill>
                  <a:srgbClr val="D4D4D4"/>
                </a:solidFill>
                <a:latin typeface="Consolas"/>
              </a:rPr>
              <a:t>dueno</a:t>
            </a:r>
            <a:r>
              <a:rPr sz="1800" i="0" b="0">
                <a:solidFill>
                  <a:srgbClr val="D4D4D4"/>
                </a:solidFill>
                <a:latin typeface="Consolas"/>
              </a:rPr>
              <a:t> </a:t>
            </a:r>
            <a:r>
              <a:rPr sz="1800" i="0" b="0">
                <a:solidFill>
                  <a:srgbClr val="D4D4D4"/>
                </a:solidFill>
                <a:latin typeface="Consolas"/>
              </a:rPr>
              <a:t>ya</a:t>
            </a:r>
            <a:r>
              <a:rPr sz="1800" i="0" b="0">
                <a:solidFill>
                  <a:srgbClr val="D4D4D4"/>
                </a:solidFill>
                <a:latin typeface="Consolas"/>
              </a:rPr>
              <a:t> </a:t>
            </a:r>
            <a:r>
              <a:rPr sz="1800" i="0" b="0">
                <a:solidFill>
                  <a:srgbClr val="D4D4D4"/>
                </a:solidFill>
                <a:latin typeface="Consolas"/>
              </a:rPr>
              <a:t>esta</a:t>
            </a:r>
            <a:r>
              <a:rPr sz="1800" i="0" b="0">
                <a:solidFill>
                  <a:srgbClr val="D4D4D4"/>
                </a:solidFill>
                <a:latin typeface="Consolas"/>
              </a:rPr>
              <a:t> </a:t>
            </a:r>
            <a:r>
              <a:rPr sz="1800" i="0" b="0">
                <a:solidFill>
                  <a:srgbClr val="D4D4D4"/>
                </a:solidFill>
                <a:latin typeface="Consolas"/>
              </a:rPr>
              <a:t>registrado</a:t>
            </a:r>
          </a:p>
          <a:p>
            <a:pPr>
              <a:spcAft>
                <a:spcPts val="385"/>
              </a:spcAft>
            </a:pPr>
            <a:r>
              <a:rPr sz="1800" i="0" b="0">
                <a:solidFill>
                  <a:srgbClr val="D4D4D4"/>
                </a:solidFill>
                <a:latin typeface="Consolas"/>
              </a:rPr>
              <a:t>Descripcion</a:t>
            </a:r>
            <a:r>
              <a:rPr sz="1800" i="0" b="0">
                <a:solidFill>
                  <a:srgbClr val="D4D4D4"/>
                </a:solidFill>
                <a:latin typeface="Consolas"/>
              </a:rPr>
              <a:t>:  </a:t>
            </a:r>
            <a:r>
              <a:rPr sz="1800" i="0" b="0">
                <a:solidFill>
                  <a:srgbClr val="D4D4D4"/>
                </a:solidFill>
                <a:latin typeface="Consolas"/>
              </a:rPr>
              <a:t>El</a:t>
            </a:r>
            <a:r>
              <a:rPr sz="1800" i="0" b="0">
                <a:solidFill>
                  <a:srgbClr val="D4D4D4"/>
                </a:solidFill>
                <a:latin typeface="Consolas"/>
              </a:rPr>
              <a:t> </a:t>
            </a:r>
            <a:r>
              <a:rPr sz="1800" i="0" b="0">
                <a:solidFill>
                  <a:srgbClr val="D4D4D4"/>
                </a:solidFill>
                <a:latin typeface="Consolas"/>
              </a:rPr>
              <a:t>sistema</a:t>
            </a:r>
            <a:r>
              <a:rPr sz="1800" i="0" b="0">
                <a:solidFill>
                  <a:srgbClr val="D4D4D4"/>
                </a:solidFill>
                <a:latin typeface="Consolas"/>
              </a:rPr>
              <a:t> </a:t>
            </a:r>
            <a:r>
              <a:rPr sz="1800" i="0" b="0">
                <a:solidFill>
                  <a:srgbClr val="D4D4D4"/>
                </a:solidFill>
                <a:latin typeface="Consolas"/>
              </a:rPr>
              <a:t>DEBE</a:t>
            </a:r>
            <a:r>
              <a:rPr sz="1800" i="0" b="0">
                <a:solidFill>
                  <a:srgbClr val="D4D4D4"/>
                </a:solidFill>
                <a:latin typeface="Consolas"/>
              </a:rPr>
              <a:t> </a:t>
            </a:r>
            <a:r>
              <a:rPr sz="1800" i="0" b="0">
                <a:solidFill>
                  <a:srgbClr val="D4D4D4"/>
                </a:solidFill>
                <a:latin typeface="Consolas"/>
              </a:rPr>
              <a:t>permitir</a:t>
            </a:r>
            <a:r>
              <a:rPr sz="1800" i="0" b="0">
                <a:solidFill>
                  <a:srgbClr val="D4D4D4"/>
                </a:solidFill>
                <a:latin typeface="Consolas"/>
              </a:rPr>
              <a:t> </a:t>
            </a:r>
            <a:r>
              <a:rPr sz="1800" i="0" b="0">
                <a:solidFill>
                  <a:srgbClr val="D4D4D4"/>
                </a:solidFill>
                <a:latin typeface="Consolas"/>
              </a:rPr>
              <a:t>registrar</a:t>
            </a:r>
            <a:r>
              <a:rPr sz="1800" i="0" b="0">
                <a:solidFill>
                  <a:srgbClr val="D4D4D4"/>
                </a:solidFill>
                <a:latin typeface="Consolas"/>
              </a:rPr>
              <a:t> </a:t>
            </a:r>
            <a:r>
              <a:rPr sz="1800" i="0" b="0">
                <a:solidFill>
                  <a:srgbClr val="D4D4D4"/>
                </a:solidFill>
                <a:latin typeface="Consolas"/>
              </a:rPr>
              <a:t>una</a:t>
            </a:r>
            <a:r>
              <a:rPr sz="1800" i="0" b="0">
                <a:solidFill>
                  <a:srgbClr val="D4D4D4"/>
                </a:solidFill>
                <a:latin typeface="Consolas"/>
              </a:rPr>
              <a:t> </a:t>
            </a:r>
            <a:r>
              <a:rPr sz="1800" i="0" b="0">
                <a:solidFill>
                  <a:srgbClr val="D4D4D4"/>
                </a:solidFill>
                <a:latin typeface="Consolas"/>
              </a:rPr>
              <a:t>mascota</a:t>
            </a:r>
            <a:r>
              <a:rPr sz="1800" i="0" b="0">
                <a:solidFill>
                  <a:srgbClr val="D4D4D4"/>
                </a:solidFill>
                <a:latin typeface="Consolas"/>
              </a:rPr>
              <a:t> </a:t>
            </a:r>
            <a:r>
              <a:rPr sz="1800" i="0" b="0">
                <a:solidFill>
                  <a:srgbClr val="D4D4D4"/>
                </a:solidFill>
                <a:latin typeface="Consolas"/>
              </a:rPr>
              <a:t>con</a:t>
            </a:r>
            <a:r>
              <a:rPr sz="1800" i="0" b="0">
                <a:solidFill>
                  <a:srgbClr val="D4D4D4"/>
                </a:solidFill>
                <a:latin typeface="Consolas"/>
              </a:rPr>
              <a:t> </a:t>
            </a:r>
            <a:r>
              <a:rPr sz="1800" i="0" b="0">
                <a:solidFill>
                  <a:srgbClr val="D4D4D4"/>
                </a:solidFill>
                <a:latin typeface="Consolas"/>
              </a:rPr>
              <a:t>nombre</a:t>
            </a:r>
            <a:r>
              <a:rPr sz="1800" i="0" b="0">
                <a:solidFill>
                  <a:srgbClr val="D4D4D4"/>
                </a:solidFill>
                <a:latin typeface="Consolas"/>
              </a:rPr>
              <a:t>,</a:t>
            </a:r>
          </a:p>
          <a:p>
            <a:pPr>
              <a:spcAft>
                <a:spcPts val="385"/>
              </a:spcAft>
            </a:pPr>
            <a:r>
              <a:rPr sz="1800" i="0" b="0">
                <a:solidFill>
                  <a:srgbClr val="D4D4D4"/>
                </a:solidFill>
                <a:latin typeface="Consolas"/>
              </a:rPr>
              <a:t>              </a:t>
            </a:r>
            <a:r>
              <a:rPr sz="1800" i="0" b="0">
                <a:solidFill>
                  <a:srgbClr val="D4D4D4"/>
                </a:solidFill>
                <a:latin typeface="Consolas"/>
              </a:rPr>
              <a:t>especie</a:t>
            </a:r>
            <a:r>
              <a:rPr sz="1800" i="0" b="0">
                <a:solidFill>
                  <a:srgbClr val="D4D4D4"/>
                </a:solidFill>
                <a:latin typeface="Consolas"/>
              </a:rPr>
              <a:t>, </a:t>
            </a:r>
            <a:r>
              <a:rPr sz="1800" i="0" b="0">
                <a:solidFill>
                  <a:srgbClr val="D4D4D4"/>
                </a:solidFill>
                <a:latin typeface="Consolas"/>
              </a:rPr>
              <a:t>fecha</a:t>
            </a:r>
            <a:r>
              <a:rPr sz="1800" i="0" b="0">
                <a:solidFill>
                  <a:srgbClr val="D4D4D4"/>
                </a:solidFill>
                <a:latin typeface="Consolas"/>
              </a:rPr>
              <a:t> </a:t>
            </a:r>
            <a:r>
              <a:rPr sz="1800" i="0" b="0">
                <a:solidFill>
                  <a:srgbClr val="D4D4D4"/>
                </a:solidFill>
                <a:latin typeface="Consolas"/>
              </a:rPr>
              <a:t>de</a:t>
            </a:r>
            <a:r>
              <a:rPr sz="1800" i="0" b="0">
                <a:solidFill>
                  <a:srgbClr val="D4D4D4"/>
                </a:solidFill>
                <a:latin typeface="Consolas"/>
              </a:rPr>
              <a:t> </a:t>
            </a:r>
            <a:r>
              <a:rPr sz="1800" i="0" b="0">
                <a:solidFill>
                  <a:srgbClr val="D4D4D4"/>
                </a:solidFill>
                <a:latin typeface="Consolas"/>
              </a:rPr>
              <a:t>nacimiento</a:t>
            </a:r>
            <a:r>
              <a:rPr sz="1800" i="0" b="0">
                <a:solidFill>
                  <a:srgbClr val="D4D4D4"/>
                </a:solidFill>
                <a:latin typeface="Consolas"/>
              </a:rPr>
              <a:t> </a:t>
            </a:r>
            <a:r>
              <a:rPr sz="1800" i="0" b="0">
                <a:solidFill>
                  <a:srgbClr val="D4D4D4"/>
                </a:solidFill>
                <a:latin typeface="Consolas"/>
              </a:rPr>
              <a:t>y</a:t>
            </a:r>
            <a:r>
              <a:rPr sz="1800" i="0" b="0">
                <a:solidFill>
                  <a:srgbClr val="D4D4D4"/>
                </a:solidFill>
                <a:latin typeface="Consolas"/>
              </a:rPr>
              <a:t> </a:t>
            </a:r>
            <a:r>
              <a:rPr sz="1800" i="0" b="0">
                <a:solidFill>
                  <a:srgbClr val="D4D4D4"/>
                </a:solidFill>
                <a:latin typeface="Consolas"/>
              </a:rPr>
              <a:t>dueno</a:t>
            </a:r>
            <a:r>
              <a:rPr sz="1800" i="0" b="0">
                <a:solidFill>
                  <a:srgbClr val="D4D4D4"/>
                </a:solidFill>
                <a:latin typeface="Consolas"/>
              </a:rPr>
              <a:t> </a:t>
            </a:r>
            <a:r>
              <a:rPr sz="1800" i="0" b="0">
                <a:solidFill>
                  <a:srgbClr val="D4D4D4"/>
                </a:solidFill>
                <a:latin typeface="Consolas"/>
              </a:rPr>
              <a:t>asociado</a:t>
            </a:r>
            <a:r>
              <a:rPr sz="1800" i="0" b="0">
                <a:solidFill>
                  <a:srgbClr val="D4D4D4"/>
                </a:solidFill>
                <a:latin typeface="Consolas"/>
              </a:rPr>
              <a:t>.</a:t>
            </a:r>
          </a:p>
          <a:p>
            <a:pPr>
              <a:spcAft>
                <a:spcPts val="385"/>
              </a:spcAft>
            </a:pPr>
            <a:r>
              <a:rPr sz="1800" i="0" b="0">
                <a:solidFill>
                  <a:srgbClr val="D4D4D4"/>
                </a:solidFill>
                <a:latin typeface="Consolas"/>
              </a:rPr>
              <a:t>Postcondicion</a:t>
            </a:r>
            <a:r>
              <a:rPr sz="1800" i="0" b="0">
                <a:solidFill>
                  <a:srgbClr val="D4D4D4"/>
                </a:solidFill>
                <a:latin typeface="Consolas"/>
              </a:rPr>
              <a:t>: </a:t>
            </a:r>
            <a:r>
              <a:rPr sz="1800" i="0" b="0">
                <a:solidFill>
                  <a:srgbClr val="D4D4D4"/>
                </a:solidFill>
                <a:latin typeface="Consolas"/>
              </a:rPr>
              <a:t>la</a:t>
            </a:r>
            <a:r>
              <a:rPr sz="1800" i="0" b="0">
                <a:solidFill>
                  <a:srgbClr val="D4D4D4"/>
                </a:solidFill>
                <a:latin typeface="Consolas"/>
              </a:rPr>
              <a:t> </a:t>
            </a:r>
            <a:r>
              <a:rPr sz="1800" i="0" b="0">
                <a:solidFill>
                  <a:srgbClr val="D4D4D4"/>
                </a:solidFill>
                <a:latin typeface="Consolas"/>
              </a:rPr>
              <a:t>mascota</a:t>
            </a:r>
            <a:r>
              <a:rPr sz="1800" i="0" b="0">
                <a:solidFill>
                  <a:srgbClr val="D4D4D4"/>
                </a:solidFill>
                <a:latin typeface="Consolas"/>
              </a:rPr>
              <a:t> </a:t>
            </a:r>
            <a:r>
              <a:rPr sz="1800" i="0" b="0">
                <a:solidFill>
                  <a:srgbClr val="D4D4D4"/>
                </a:solidFill>
                <a:latin typeface="Consolas"/>
              </a:rPr>
              <a:t>queda</a:t>
            </a:r>
            <a:r>
              <a:rPr sz="1800" i="0" b="0">
                <a:solidFill>
                  <a:srgbClr val="D4D4D4"/>
                </a:solidFill>
                <a:latin typeface="Consolas"/>
              </a:rPr>
              <a:t> </a:t>
            </a:r>
            <a:r>
              <a:rPr sz="1800" i="0" b="0">
                <a:solidFill>
                  <a:srgbClr val="D4D4D4"/>
                </a:solidFill>
                <a:latin typeface="Consolas"/>
              </a:rPr>
              <a:t>con</a:t>
            </a:r>
            <a:r>
              <a:rPr sz="1800" i="0" b="0">
                <a:solidFill>
                  <a:srgbClr val="D4D4D4"/>
                </a:solidFill>
                <a:latin typeface="Consolas"/>
              </a:rPr>
              <a:t> </a:t>
            </a:r>
            <a:r>
              <a:rPr sz="1800" i="0" b="0">
                <a:solidFill>
                  <a:srgbClr val="D4D4D4"/>
                </a:solidFill>
                <a:latin typeface="Consolas"/>
              </a:rPr>
              <a:t>expediente</a:t>
            </a:r>
            <a:r>
              <a:rPr sz="1800" i="0" b="0">
                <a:solidFill>
                  <a:srgbClr val="D4D4D4"/>
                </a:solidFill>
                <a:latin typeface="Consolas"/>
              </a:rPr>
              <a:t> </a:t>
            </a:r>
            <a:r>
              <a:rPr sz="1800" i="0" b="0">
                <a:solidFill>
                  <a:srgbClr val="D4D4D4"/>
                </a:solidFill>
                <a:latin typeface="Consolas"/>
              </a:rPr>
              <a:t>abierto</a:t>
            </a:r>
            <a:r>
              <a:rPr sz="1800" i="0" b="0">
                <a:solidFill>
                  <a:srgbClr val="D4D4D4"/>
                </a:solidFill>
                <a:latin typeface="Consolas"/>
              </a:rPr>
              <a:t> </a:t>
            </a:r>
            <a:r>
              <a:rPr sz="1800" i="0" b="0">
                <a:solidFill>
                  <a:srgbClr val="D4D4D4"/>
                </a:solidFill>
                <a:latin typeface="Consolas"/>
              </a:rPr>
              <a:t>y</a:t>
            </a:r>
            <a:r>
              <a:rPr sz="1800" i="0" b="0">
                <a:solidFill>
                  <a:srgbClr val="D4D4D4"/>
                </a:solidFill>
                <a:latin typeface="Consolas"/>
              </a:rPr>
              <a:t> </a:t>
            </a:r>
            <a:r>
              <a:rPr sz="1800" i="0" b="0">
                <a:solidFill>
                  <a:srgbClr val="D4D4D4"/>
                </a:solidFill>
                <a:latin typeface="Consolas"/>
              </a:rPr>
              <a:t>activa</a:t>
            </a:r>
            <a:r>
              <a:rPr sz="1800" i="0" b="0">
                <a:solidFill>
                  <a:srgbClr val="D4D4D4"/>
                </a:solidFill>
                <a:latin typeface="Consolas"/>
              </a:rPr>
              <a:t> = </a:t>
            </a:r>
            <a:r>
              <a:rPr sz="1800" i="0" b="0">
                <a:solidFill>
                  <a:srgbClr val="CE9178"/>
                </a:solidFill>
                <a:latin typeface="Consolas"/>
              </a:rPr>
              <a:t>'S'</a:t>
            </a:r>
          </a:p>
          <a:p>
            <a:pPr>
              <a:spcAft>
                <a:spcPts val="385"/>
              </a:spcAft>
            </a:pPr>
            <a:r>
              <a:rPr sz="1800" i="0" b="0">
                <a:solidFill>
                  <a:srgbClr val="D4D4D4"/>
                </a:solidFill>
                <a:latin typeface="Consolas"/>
              </a:rPr>
              <a:t>Prioridad</a:t>
            </a:r>
            <a:r>
              <a:rPr sz="1800" i="0" b="0">
                <a:solidFill>
                  <a:srgbClr val="D4D4D4"/>
                </a:solidFill>
                <a:latin typeface="Consolas"/>
              </a:rPr>
              <a:t>:    </a:t>
            </a:r>
            <a:r>
              <a:rPr sz="1800" i="0" b="0">
                <a:solidFill>
                  <a:srgbClr val="D4D4D4"/>
                </a:solidFill>
                <a:latin typeface="Consolas"/>
              </a:rPr>
              <a:t>Must</a:t>
            </a:r>
          </a:p>
          <a:p>
            <a:pPr>
              <a:spcAft>
                <a:spcPts val="385"/>
              </a:spcAft>
            </a:pPr>
            <a:r>
              <a:rPr sz="1800" i="0" b="0">
                <a:solidFill>
                  <a:srgbClr val="D4D4D4"/>
                </a:solidFill>
                <a:latin typeface="Consolas"/>
              </a:rPr>
              <a:t>Origen</a:t>
            </a:r>
            <a:r>
              <a:rPr sz="1800" i="0" b="0">
                <a:solidFill>
                  <a:srgbClr val="D4D4D4"/>
                </a:solidFill>
                <a:latin typeface="Consolas"/>
              </a:rPr>
              <a:t>:       </a:t>
            </a:r>
            <a:r>
              <a:rPr sz="1800" i="0" b="0">
                <a:solidFill>
                  <a:srgbClr val="D4D4D4"/>
                </a:solidFill>
                <a:latin typeface="Consolas"/>
              </a:rPr>
              <a:t>entrevista</a:t>
            </a:r>
            <a:r>
              <a:rPr sz="1800" i="0" b="0">
                <a:solidFill>
                  <a:srgbClr val="D4D4D4"/>
                </a:solidFill>
                <a:latin typeface="Consolas"/>
              </a:rPr>
              <a:t> </a:t>
            </a:r>
            <a:r>
              <a:rPr sz="1800" i="0" b="0">
                <a:solidFill>
                  <a:srgbClr val="D4D4D4"/>
                </a:solidFill>
                <a:latin typeface="Consolas"/>
              </a:rPr>
              <a:t>Dr</a:t>
            </a:r>
            <a:r>
              <a:rPr sz="1800" i="0" b="0">
                <a:solidFill>
                  <a:srgbClr val="D4D4D4"/>
                </a:solidFill>
                <a:latin typeface="Consolas"/>
              </a:rPr>
              <a:t>. </a:t>
            </a:r>
            <a:r>
              <a:rPr sz="1800" i="0" b="0">
                <a:solidFill>
                  <a:srgbClr val="D4D4D4"/>
                </a:solidFill>
                <a:latin typeface="Consolas"/>
              </a:rPr>
              <a:t>Ramirez</a:t>
            </a:r>
            <a:r>
              <a:rPr sz="1800" i="0" b="0">
                <a:solidFill>
                  <a:srgbClr val="D4D4D4"/>
                </a:solidFill>
                <a:latin typeface="Consolas"/>
              </a:rPr>
              <a:t>, </a:t>
            </a:r>
            <a:r>
              <a:rPr sz="1800" i="0" b="0">
                <a:solidFill>
                  <a:srgbClr val="B5CEA8"/>
                </a:solidFill>
                <a:latin typeface="Consolas"/>
              </a:rPr>
              <a:t>12</a:t>
            </a:r>
            <a:r>
              <a:rPr sz="1800" i="0" b="0">
                <a:solidFill>
                  <a:srgbClr val="D4D4D4"/>
                </a:solidFill>
                <a:latin typeface="Consolas"/>
              </a:rPr>
              <a:t>/</a:t>
            </a:r>
            <a:r>
              <a:rPr sz="1800" i="0" b="0">
                <a:solidFill>
                  <a:srgbClr val="B5CEA8"/>
                </a:solidFill>
                <a:latin typeface="Consolas"/>
              </a:rPr>
              <a:t>08</a:t>
            </a:r>
            <a:r>
              <a:rPr sz="1800" i="0" b="0">
                <a:solidFill>
                  <a:srgbClr val="D4D4D4"/>
                </a:solidFill>
                <a:latin typeface="Consolas"/>
              </a:rPr>
              <a:t>/</a:t>
            </a:r>
            <a:r>
              <a:rPr sz="1800" i="0" b="0">
                <a:solidFill>
                  <a:srgbClr val="B5CEA8"/>
                </a:solidFill>
                <a:latin typeface="Consolas"/>
              </a:rPr>
              <a:t>2026</a:t>
            </a:r>
          </a:p>
          <a:p>
            <a:pPr>
              <a:spcAft>
                <a:spcPts val="385"/>
              </a:spcAft>
            </a:pPr>
            <a:r>
              <a:rPr sz="1800" i="0" b="0">
                <a:solidFill>
                  <a:srgbClr val="D4D4D4"/>
                </a:solidFill>
                <a:latin typeface="Consolas"/>
              </a:rPr>
              <a:t/>
            </a:r>
          </a:p>
          <a:p>
            <a:pPr>
              <a:spcAft>
                <a:spcPts val="385"/>
              </a:spcAft>
            </a:pPr>
            <a:r>
              <a:rPr sz="1800" i="0" b="0">
                <a:solidFill>
                  <a:srgbClr val="D4D4D4"/>
                </a:solidFill>
                <a:latin typeface="Consolas"/>
              </a:rPr>
              <a:t>-- Lo que convierte una frase cruda en requisito: sujeto (el sistema),</a:t>
            </a:r>
          </a:p>
          <a:p>
            <a:pPr>
              <a:spcAft>
                <a:spcPts val="385"/>
              </a:spcAft>
            </a:pPr>
            <a:r>
              <a:rPr sz="1800" i="0" b="0">
                <a:solidFill>
                  <a:srgbClr val="D4D4D4"/>
                </a:solidFill>
                <a:latin typeface="Consolas"/>
              </a:rPr>
              <a:t>-- verbo normativo (DEBE), objeto verificable, y de donde salio.</a:t>
            </a:r>
          </a:p>
          <a:p>
            <a:pPr>
              <a:spcAft>
                <a:spcPts val="385"/>
              </a:spcAft>
            </a:pPr>
            <a:r>
              <a:rPr sz="1800" i="0" b="0">
                <a:solidFill>
                  <a:srgbClr val="D4D4D4"/>
                </a:solidFill>
                <a:latin typeface="Consolas"/>
              </a:rPr>
              <a:t>-- «El sistema debe ser facil de usar» no es un requisito: no se verifica.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 frase cruda a requisito verificable</a:t>
            </a:r>
          </a:p>
        </p:txBody>
      </p:sp>
      <p:sp>
        <p:nvSpPr>
          <p:cNvPr id="5" name="Rounded Rectangle 4"/>
          <p:cNvSpPr/>
          <p:nvPr/>
        </p:nvSpPr>
        <p:spPr>
          <a:xfrm>
            <a:off x="457200" y="1261872"/>
            <a:ext cx="11277295" cy="473100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Plantilla</a:t>
            </a:r>
          </a:p>
        </p:txBody>
      </p:sp>
      <p:sp>
        <p:nvSpPr>
          <p:cNvPr id="11" name="TextBox 10"/>
          <p:cNvSpPr txBox="1"/>
          <p:nvPr/>
        </p:nvSpPr>
        <p:spPr>
          <a:xfrm>
            <a:off x="685800" y="1719072"/>
            <a:ext cx="502920" cy="4136647"/>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a:p>
            <a:pPr algn="r">
              <a:spcAft>
                <a:spcPts val="407"/>
              </a:spcAft>
            </a:pPr>
            <a:r>
              <a:rPr sz="1900" i="0" b="0">
                <a:solidFill>
                  <a:srgbClr val="858585"/>
                </a:solidFill>
                <a:latin typeface="Consolas"/>
              </a:rPr>
              <a:t>11</a:t>
            </a:r>
          </a:p>
          <a:p>
            <a:pPr algn="r">
              <a:spcAft>
                <a:spcPts val="407"/>
              </a:spcAft>
            </a:pPr>
            <a:r>
              <a:rPr sz="1900" i="0" b="0">
                <a:solidFill>
                  <a:srgbClr val="858585"/>
                </a:solidFill>
                <a:latin typeface="Consolas"/>
              </a:rPr>
              <a:t>12</a:t>
            </a:r>
          </a:p>
        </p:txBody>
      </p:sp>
      <p:sp>
        <p:nvSpPr>
          <p:cNvPr id="12" name="TextBox 11"/>
          <p:cNvSpPr txBox="1"/>
          <p:nvPr/>
        </p:nvSpPr>
        <p:spPr>
          <a:xfrm>
            <a:off x="1188720" y="1719072"/>
            <a:ext cx="10271455" cy="4136647"/>
          </a:xfrm>
          <a:prstGeom prst="rect">
            <a:avLst/>
          </a:prstGeom>
          <a:noFill/>
        </p:spPr>
        <p:txBody>
          <a:bodyPr wrap="square">
            <a:spAutoFit/>
          </a:bodyPr>
          <a:lstStyle/>
          <a:p>
            <a:pPr>
              <a:spcAft>
                <a:spcPts val="407"/>
              </a:spcAft>
            </a:pPr>
            <a:r>
              <a:rPr sz="1900" i="0" b="0">
                <a:solidFill>
                  <a:srgbClr val="D4D4D4"/>
                </a:solidFill>
                <a:latin typeface="Consolas"/>
              </a:rPr>
              <a:t>FRASE</a:t>
            </a:r>
            <a:r>
              <a:rPr sz="1900" i="0" b="0">
                <a:solidFill>
                  <a:srgbClr val="D4D4D4"/>
                </a:solidFill>
                <a:latin typeface="Consolas"/>
              </a:rPr>
              <a:t> </a:t>
            </a:r>
            <a:r>
              <a:rPr sz="1900" i="0" b="0">
                <a:solidFill>
                  <a:srgbClr val="D4D4D4"/>
                </a:solidFill>
                <a:latin typeface="Consolas"/>
              </a:rPr>
              <a:t>DEL</a:t>
            </a:r>
            <a:r>
              <a:rPr sz="1900" i="0" b="0">
                <a:solidFill>
                  <a:srgbClr val="D4D4D4"/>
                </a:solidFill>
                <a:latin typeface="Consolas"/>
              </a:rPr>
              <a:t> </a:t>
            </a:r>
            <a:r>
              <a:rPr sz="1900" i="0" b="0">
                <a:solidFill>
                  <a:srgbClr val="DCDCAA"/>
                </a:solidFill>
                <a:latin typeface="Consolas"/>
              </a:rPr>
              <a:t>CLIENTE</a:t>
            </a:r>
            <a:r>
              <a:rPr sz="1900" i="0" b="0">
                <a:solidFill>
                  <a:srgbClr val="D4D4D4"/>
                </a:solidFill>
                <a:latin typeface="Consolas"/>
              </a:rPr>
              <a:t> (</a:t>
            </a:r>
            <a:r>
              <a:rPr sz="1900" i="0" b="0">
                <a:solidFill>
                  <a:srgbClr val="D4D4D4"/>
                </a:solidFill>
                <a:latin typeface="Consolas"/>
              </a:rPr>
              <a:t>entrevista</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CE9178"/>
                </a:solidFill>
                <a:latin typeface="Consolas"/>
              </a:rPr>
              <a:t>"Necesito buscar rapido el expediente de un animal usando solo su ID."</a:t>
            </a:r>
          </a:p>
          <a:p>
            <a:pPr>
              <a:spcAft>
                <a:spcPts val="407"/>
              </a:spcAft>
            </a:pPr>
            <a:r>
              <a:rPr sz="1900" i="0" b="0">
                <a:solidFill>
                  <a:srgbClr val="D4D4D4"/>
                </a:solidFill>
                <a:latin typeface="Consolas"/>
              </a:rPr>
              <a:t/>
            </a:r>
          </a:p>
          <a:p>
            <a:pPr>
              <a:spcAft>
                <a:spcPts val="407"/>
              </a:spcAft>
            </a:pPr>
            <a:r>
              <a:rPr sz="1900" i="0" b="0">
                <a:solidFill>
                  <a:srgbClr val="D4D4D4"/>
                </a:solidFill>
                <a:latin typeface="Consolas"/>
              </a:rPr>
              <a:t>RF</a:t>
            </a:r>
            <a:r>
              <a:rPr sz="1900" i="0" b="0">
                <a:solidFill>
                  <a:srgbClr val="D4D4D4"/>
                </a:solidFill>
                <a:latin typeface="Consolas"/>
              </a:rPr>
              <a:t>-</a:t>
            </a:r>
            <a:r>
              <a:rPr sz="1900" i="0" b="0">
                <a:solidFill>
                  <a:srgbClr val="B5CEA8"/>
                </a:solidFill>
                <a:latin typeface="Consolas"/>
              </a:rPr>
              <a:t>01</a:t>
            </a:r>
            <a:r>
              <a:rPr sz="1900" i="0" b="0">
                <a:solidFill>
                  <a:srgbClr val="D4D4D4"/>
                </a:solidFill>
                <a:latin typeface="Consolas"/>
              </a:rPr>
              <a:t>  </a:t>
            </a:r>
            <a:r>
              <a:rPr sz="1900" i="0" b="0">
                <a:solidFill>
                  <a:srgbClr val="D4D4D4"/>
                </a:solidFill>
                <a:latin typeface="Consolas"/>
              </a:rPr>
              <a:t>Buscar</a:t>
            </a:r>
            <a:r>
              <a:rPr sz="1900" i="0" b="0">
                <a:solidFill>
                  <a:srgbClr val="D4D4D4"/>
                </a:solidFill>
                <a:latin typeface="Consolas"/>
              </a:rPr>
              <a:t> </a:t>
            </a:r>
            <a:r>
              <a:rPr sz="1900" i="0" b="0">
                <a:solidFill>
                  <a:srgbClr val="D4D4D4"/>
                </a:solidFill>
                <a:latin typeface="Consolas"/>
              </a:rPr>
              <a:t>expediente</a:t>
            </a:r>
            <a:r>
              <a:rPr sz="1900" i="0" b="0">
                <a:solidFill>
                  <a:srgbClr val="D4D4D4"/>
                </a:solidFill>
                <a:latin typeface="Consolas"/>
              </a:rPr>
              <a:t> </a:t>
            </a:r>
            <a:r>
              <a:rPr sz="1900" i="0" b="0">
                <a:solidFill>
                  <a:srgbClr val="D4D4D4"/>
                </a:solidFill>
                <a:latin typeface="Consolas"/>
              </a:rPr>
              <a:t>por</a:t>
            </a:r>
            <a:r>
              <a:rPr sz="1900" i="0" b="0">
                <a:solidFill>
                  <a:srgbClr val="D4D4D4"/>
                </a:solidFill>
                <a:latin typeface="Consolas"/>
              </a:rPr>
              <a:t> </a:t>
            </a:r>
            <a:r>
              <a:rPr sz="1900" i="0" b="0">
                <a:solidFill>
                  <a:srgbClr val="D4D4D4"/>
                </a:solidFill>
                <a:latin typeface="Consolas"/>
              </a:rPr>
              <a:t>identificador</a:t>
            </a:r>
          </a:p>
          <a:p>
            <a:pPr>
              <a:spcAft>
                <a:spcPts val="407"/>
              </a:spcAft>
            </a:pPr>
            <a:r>
              <a:rPr sz="1900" i="0" b="0">
                <a:solidFill>
                  <a:srgbClr val="D4D4D4"/>
                </a:solidFill>
                <a:latin typeface="Consolas"/>
              </a:rPr>
              <a:t>  </a:t>
            </a:r>
            <a:r>
              <a:rPr sz="1900" i="0" b="0">
                <a:solidFill>
                  <a:srgbClr val="D4D4D4"/>
                </a:solidFill>
                <a:latin typeface="Consolas"/>
              </a:rPr>
              <a:t>El</a:t>
            </a:r>
            <a:r>
              <a:rPr sz="1900" i="0" b="0">
                <a:solidFill>
                  <a:srgbClr val="D4D4D4"/>
                </a:solidFill>
                <a:latin typeface="Consolas"/>
              </a:rPr>
              <a:t> </a:t>
            </a:r>
            <a:r>
              <a:rPr sz="1900" i="0" b="0">
                <a:solidFill>
                  <a:srgbClr val="D4D4D4"/>
                </a:solidFill>
                <a:latin typeface="Consolas"/>
              </a:rPr>
              <a:t>sistema</a:t>
            </a:r>
            <a:r>
              <a:rPr sz="1900" i="0" b="0">
                <a:solidFill>
                  <a:srgbClr val="D4D4D4"/>
                </a:solidFill>
                <a:latin typeface="Consolas"/>
              </a:rPr>
              <a:t> </a:t>
            </a:r>
            <a:r>
              <a:rPr sz="1900" i="0" b="0">
                <a:solidFill>
                  <a:srgbClr val="D4D4D4"/>
                </a:solidFill>
                <a:latin typeface="Consolas"/>
              </a:rPr>
              <a:t>permite</a:t>
            </a:r>
            <a:r>
              <a:rPr sz="1900" i="0" b="0">
                <a:solidFill>
                  <a:srgbClr val="D4D4D4"/>
                </a:solidFill>
                <a:latin typeface="Consolas"/>
              </a:rPr>
              <a:t> </a:t>
            </a:r>
            <a:r>
              <a:rPr sz="1900" i="0" b="0">
                <a:solidFill>
                  <a:srgbClr val="D4D4D4"/>
                </a:solidFill>
                <a:latin typeface="Consolas"/>
              </a:rPr>
              <a:t>consultar</a:t>
            </a:r>
            <a:r>
              <a:rPr sz="1900" i="0" b="0">
                <a:solidFill>
                  <a:srgbClr val="D4D4D4"/>
                </a:solidFill>
                <a:latin typeface="Consolas"/>
              </a:rPr>
              <a:t> </a:t>
            </a:r>
            <a:r>
              <a:rPr sz="1900" i="0" b="0">
                <a:solidFill>
                  <a:srgbClr val="D4D4D4"/>
                </a:solidFill>
                <a:latin typeface="Consolas"/>
              </a:rPr>
              <a:t>la</a:t>
            </a:r>
            <a:r>
              <a:rPr sz="1900" i="0" b="0">
                <a:solidFill>
                  <a:srgbClr val="D4D4D4"/>
                </a:solidFill>
                <a:latin typeface="Consolas"/>
              </a:rPr>
              <a:t> </a:t>
            </a:r>
            <a:r>
              <a:rPr sz="1900" i="0" b="0">
                <a:solidFill>
                  <a:srgbClr val="D4D4D4"/>
                </a:solidFill>
                <a:latin typeface="Consolas"/>
              </a:rPr>
              <a:t>ficha</a:t>
            </a:r>
            <a:r>
              <a:rPr sz="1900" i="0" b="0">
                <a:solidFill>
                  <a:srgbClr val="D4D4D4"/>
                </a:solidFill>
                <a:latin typeface="Consolas"/>
              </a:rPr>
              <a:t> </a:t>
            </a:r>
            <a:r>
              <a:rPr sz="1900" i="0" b="0">
                <a:solidFill>
                  <a:srgbClr val="D4D4D4"/>
                </a:solidFill>
                <a:latin typeface="Consolas"/>
              </a:rPr>
              <a:t>completa</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una</a:t>
            </a:r>
            <a:r>
              <a:rPr sz="1900" i="0" b="0">
                <a:solidFill>
                  <a:srgbClr val="D4D4D4"/>
                </a:solidFill>
                <a:latin typeface="Consolas"/>
              </a:rPr>
              <a:t> </a:t>
            </a:r>
            <a:r>
              <a:rPr sz="1900" i="0" b="0">
                <a:solidFill>
                  <a:srgbClr val="D4D4D4"/>
                </a:solidFill>
                <a:latin typeface="Consolas"/>
              </a:rPr>
              <a:t>mascota</a:t>
            </a:r>
          </a:p>
          <a:p>
            <a:pPr>
              <a:spcAft>
                <a:spcPts val="407"/>
              </a:spcAft>
            </a:pPr>
            <a:r>
              <a:rPr sz="1900" i="0" b="0">
                <a:solidFill>
                  <a:srgbClr val="D4D4D4"/>
                </a:solidFill>
                <a:latin typeface="Consolas"/>
              </a:rPr>
              <a:t>  </a:t>
            </a:r>
            <a:r>
              <a:rPr sz="1900" i="0" b="0">
                <a:solidFill>
                  <a:srgbClr val="D4D4D4"/>
                </a:solidFill>
                <a:latin typeface="Consolas"/>
              </a:rPr>
              <a:t>a</a:t>
            </a:r>
            <a:r>
              <a:rPr sz="1900" i="0" b="0">
                <a:solidFill>
                  <a:srgbClr val="D4D4D4"/>
                </a:solidFill>
                <a:latin typeface="Consolas"/>
              </a:rPr>
              <a:t> </a:t>
            </a:r>
            <a:r>
              <a:rPr sz="1900" i="0" b="0">
                <a:solidFill>
                  <a:srgbClr val="D4D4D4"/>
                </a:solidFill>
                <a:latin typeface="Consolas"/>
              </a:rPr>
              <a:t>partir</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su</a:t>
            </a:r>
            <a:r>
              <a:rPr sz="1900" i="0" b="0">
                <a:solidFill>
                  <a:srgbClr val="D4D4D4"/>
                </a:solidFill>
                <a:latin typeface="Consolas"/>
              </a:rPr>
              <a:t> </a:t>
            </a:r>
            <a:r>
              <a:rPr sz="1900" i="0" b="0">
                <a:solidFill>
                  <a:srgbClr val="D4D4D4"/>
                </a:solidFill>
                <a:latin typeface="Consolas"/>
              </a:rPr>
              <a:t>identificador</a:t>
            </a:r>
            <a:r>
              <a:rPr sz="1900" i="0" b="0">
                <a:solidFill>
                  <a:srgbClr val="D4D4D4"/>
                </a:solidFill>
                <a:latin typeface="Consolas"/>
              </a:rPr>
              <a:t> </a:t>
            </a:r>
            <a:r>
              <a:rPr sz="1900" i="0" b="0">
                <a:solidFill>
                  <a:srgbClr val="D4D4D4"/>
                </a:solidFill>
                <a:latin typeface="Consolas"/>
              </a:rPr>
              <a:t>unico</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D4D4D4"/>
                </a:solidFill>
                <a:latin typeface="Consolas"/>
              </a:rPr>
              <a:t>Actor</a:t>
            </a:r>
            <a:r>
              <a:rPr sz="1900" i="0" b="0">
                <a:solidFill>
                  <a:srgbClr val="D4D4D4"/>
                </a:solidFill>
                <a:latin typeface="Consolas"/>
              </a:rPr>
              <a:t>: </a:t>
            </a:r>
            <a:r>
              <a:rPr sz="1900" i="0" b="0">
                <a:solidFill>
                  <a:srgbClr val="D4D4D4"/>
                </a:solidFill>
                <a:latin typeface="Consolas"/>
              </a:rPr>
              <a:t>Recepcionista</a:t>
            </a:r>
            <a:r>
              <a:rPr sz="1900" i="0" b="0">
                <a:solidFill>
                  <a:srgbClr val="D4D4D4"/>
                </a:solidFill>
                <a:latin typeface="Consolas"/>
              </a:rPr>
              <a:t>, </a:t>
            </a:r>
            <a:r>
              <a:rPr sz="1900" i="0" b="0">
                <a:solidFill>
                  <a:srgbClr val="D4D4D4"/>
                </a:solidFill>
                <a:latin typeface="Consolas"/>
              </a:rPr>
              <a:t>Veterinario</a:t>
            </a:r>
          </a:p>
          <a:p>
            <a:pPr>
              <a:spcAft>
                <a:spcPts val="407"/>
              </a:spcAft>
            </a:pPr>
            <a:r>
              <a:rPr sz="1900" i="0" b="0">
                <a:solidFill>
                  <a:srgbClr val="D4D4D4"/>
                </a:solidFill>
                <a:latin typeface="Consolas"/>
              </a:rPr>
              <a:t/>
            </a:r>
          </a:p>
          <a:p>
            <a:pPr>
              <a:spcAft>
                <a:spcPts val="407"/>
              </a:spcAft>
            </a:pPr>
            <a:r>
              <a:rPr sz="1900" i="0" b="0">
                <a:solidFill>
                  <a:srgbClr val="D4D4D4"/>
                </a:solidFill>
                <a:latin typeface="Consolas"/>
              </a:rPr>
              <a:t>RNF</a:t>
            </a:r>
            <a:r>
              <a:rPr sz="1900" i="0" b="0">
                <a:solidFill>
                  <a:srgbClr val="D4D4D4"/>
                </a:solidFill>
                <a:latin typeface="Consolas"/>
              </a:rPr>
              <a:t>-</a:t>
            </a:r>
            <a:r>
              <a:rPr sz="1900" i="0" b="0">
                <a:solidFill>
                  <a:srgbClr val="B5CEA8"/>
                </a:solidFill>
                <a:latin typeface="Consolas"/>
              </a:rPr>
              <a:t>01</a:t>
            </a:r>
            <a:r>
              <a:rPr sz="1900" i="0" b="0">
                <a:solidFill>
                  <a:srgbClr val="D4D4D4"/>
                </a:solidFill>
                <a:latin typeface="Consolas"/>
              </a:rPr>
              <a:t> </a:t>
            </a:r>
            <a:r>
              <a:rPr sz="1900" i="0" b="0">
                <a:solidFill>
                  <a:srgbClr val="D4D4D4"/>
                </a:solidFill>
                <a:latin typeface="Consolas"/>
              </a:rPr>
              <a:t>Tiempo</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respuesta</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la</a:t>
            </a:r>
            <a:r>
              <a:rPr sz="1900" i="0" b="0">
                <a:solidFill>
                  <a:srgbClr val="D4D4D4"/>
                </a:solidFill>
                <a:latin typeface="Consolas"/>
              </a:rPr>
              <a:t> </a:t>
            </a:r>
            <a:r>
              <a:rPr sz="1900" i="0" b="0">
                <a:solidFill>
                  <a:srgbClr val="D4D4D4"/>
                </a:solidFill>
                <a:latin typeface="Consolas"/>
              </a:rPr>
              <a:t>busqueda</a:t>
            </a:r>
          </a:p>
          <a:p>
            <a:pPr>
              <a:spcAft>
                <a:spcPts val="407"/>
              </a:spcAft>
            </a:pPr>
            <a:r>
              <a:rPr sz="1900" i="0" b="0">
                <a:solidFill>
                  <a:srgbClr val="D4D4D4"/>
                </a:solidFill>
                <a:latin typeface="Consolas"/>
              </a:rPr>
              <a:t>  </a:t>
            </a:r>
            <a:r>
              <a:rPr sz="1900" i="0" b="0">
                <a:solidFill>
                  <a:srgbClr val="D4D4D4"/>
                </a:solidFill>
                <a:latin typeface="Consolas"/>
              </a:rPr>
              <a:t>La</a:t>
            </a:r>
            <a:r>
              <a:rPr sz="1900" i="0" b="0">
                <a:solidFill>
                  <a:srgbClr val="D4D4D4"/>
                </a:solidFill>
                <a:latin typeface="Consolas"/>
              </a:rPr>
              <a:t> </a:t>
            </a:r>
            <a:r>
              <a:rPr sz="1900" i="0" b="0">
                <a:solidFill>
                  <a:srgbClr val="D4D4D4"/>
                </a:solidFill>
                <a:latin typeface="Consolas"/>
              </a:rPr>
              <a:t>consulta</a:t>
            </a:r>
            <a:r>
              <a:rPr sz="1900" i="0" b="0">
                <a:solidFill>
                  <a:srgbClr val="D4D4D4"/>
                </a:solidFill>
                <a:latin typeface="Consolas"/>
              </a:rPr>
              <a:t> </a:t>
            </a:r>
            <a:r>
              <a:rPr sz="1900" i="0" b="0">
                <a:solidFill>
                  <a:srgbClr val="D4D4D4"/>
                </a:solidFill>
                <a:latin typeface="Consolas"/>
              </a:rPr>
              <a:t>del</a:t>
            </a:r>
            <a:r>
              <a:rPr sz="1900" i="0" b="0">
                <a:solidFill>
                  <a:srgbClr val="D4D4D4"/>
                </a:solidFill>
                <a:latin typeface="Consolas"/>
              </a:rPr>
              <a:t> </a:t>
            </a:r>
            <a:r>
              <a:rPr sz="1900" i="0" b="0">
                <a:solidFill>
                  <a:srgbClr val="D4D4D4"/>
                </a:solidFill>
                <a:latin typeface="Consolas"/>
              </a:rPr>
              <a:t>RF</a:t>
            </a:r>
            <a:r>
              <a:rPr sz="1900" i="0" b="0">
                <a:solidFill>
                  <a:srgbClr val="D4D4D4"/>
                </a:solidFill>
                <a:latin typeface="Consolas"/>
              </a:rPr>
              <a:t>-</a:t>
            </a:r>
            <a:r>
              <a:rPr sz="1900" i="0" b="0">
                <a:solidFill>
                  <a:srgbClr val="B5CEA8"/>
                </a:solidFill>
                <a:latin typeface="Consolas"/>
              </a:rPr>
              <a:t>01</a:t>
            </a:r>
            <a:r>
              <a:rPr sz="1900" i="0" b="0">
                <a:solidFill>
                  <a:srgbClr val="D4D4D4"/>
                </a:solidFill>
                <a:latin typeface="Consolas"/>
              </a:rPr>
              <a:t> </a:t>
            </a:r>
            <a:r>
              <a:rPr sz="1900" i="0" b="0">
                <a:solidFill>
                  <a:srgbClr val="D4D4D4"/>
                </a:solidFill>
                <a:latin typeface="Consolas"/>
              </a:rPr>
              <a:t>devuelve</a:t>
            </a:r>
            <a:r>
              <a:rPr sz="1900" i="0" b="0">
                <a:solidFill>
                  <a:srgbClr val="D4D4D4"/>
                </a:solidFill>
                <a:latin typeface="Consolas"/>
              </a:rPr>
              <a:t> </a:t>
            </a:r>
            <a:r>
              <a:rPr sz="1900" i="0" b="0">
                <a:solidFill>
                  <a:srgbClr val="D4D4D4"/>
                </a:solidFill>
                <a:latin typeface="Consolas"/>
              </a:rPr>
              <a:t>el</a:t>
            </a:r>
            <a:r>
              <a:rPr sz="1900" i="0" b="0">
                <a:solidFill>
                  <a:srgbClr val="D4D4D4"/>
                </a:solidFill>
                <a:latin typeface="Consolas"/>
              </a:rPr>
              <a:t> </a:t>
            </a:r>
            <a:r>
              <a:rPr sz="1900" i="0" b="0">
                <a:solidFill>
                  <a:srgbClr val="D4D4D4"/>
                </a:solidFill>
                <a:latin typeface="Consolas"/>
              </a:rPr>
              <a:t>resultado</a:t>
            </a:r>
            <a:r>
              <a:rPr sz="1900" i="0" b="0">
                <a:solidFill>
                  <a:srgbClr val="D4D4D4"/>
                </a:solidFill>
                <a:latin typeface="Consolas"/>
              </a:rPr>
              <a:t> </a:t>
            </a:r>
            <a:r>
              <a:rPr sz="1900" i="0" b="0">
                <a:solidFill>
                  <a:srgbClr val="D4D4D4"/>
                </a:solidFill>
                <a:latin typeface="Consolas"/>
              </a:rPr>
              <a:t>en</a:t>
            </a:r>
            <a:r>
              <a:rPr sz="1900" i="0" b="0">
                <a:solidFill>
                  <a:srgbClr val="D4D4D4"/>
                </a:solidFill>
                <a:latin typeface="Consolas"/>
              </a:rPr>
              <a:t> </a:t>
            </a:r>
            <a:r>
              <a:rPr sz="1900" i="0" b="0">
                <a:solidFill>
                  <a:srgbClr val="D4D4D4"/>
                </a:solidFill>
                <a:latin typeface="Consolas"/>
              </a:rPr>
              <a:t>menos</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B5CEA8"/>
                </a:solidFill>
                <a:latin typeface="Consolas"/>
              </a:rPr>
              <a:t>2</a:t>
            </a:r>
            <a:r>
              <a:rPr sz="1900" i="0" b="0">
                <a:solidFill>
                  <a:srgbClr val="D4D4D4"/>
                </a:solidFill>
                <a:latin typeface="Consolas"/>
              </a:rPr>
              <a:t> </a:t>
            </a:r>
            <a:r>
              <a:rPr sz="1900" i="0" b="0">
                <a:solidFill>
                  <a:srgbClr val="D4D4D4"/>
                </a:solidFill>
                <a:latin typeface="Consolas"/>
              </a:rPr>
              <a:t>segundos</a:t>
            </a:r>
          </a:p>
          <a:p>
            <a:pPr>
              <a:spcAft>
                <a:spcPts val="407"/>
              </a:spcAft>
            </a:pPr>
            <a:r>
              <a:rPr sz="1900" i="0" b="0">
                <a:solidFill>
                  <a:srgbClr val="D4D4D4"/>
                </a:solidFill>
                <a:latin typeface="Consolas"/>
              </a:rPr>
              <a:t>  </a:t>
            </a:r>
            <a:r>
              <a:rPr sz="1900" i="0" b="0">
                <a:solidFill>
                  <a:srgbClr val="D4D4D4"/>
                </a:solidFill>
                <a:latin typeface="Consolas"/>
              </a:rPr>
              <a:t>con</a:t>
            </a:r>
            <a:r>
              <a:rPr sz="1900" i="0" b="0">
                <a:solidFill>
                  <a:srgbClr val="D4D4D4"/>
                </a:solidFill>
                <a:latin typeface="Consolas"/>
              </a:rPr>
              <a:t> </a:t>
            </a:r>
            <a:r>
              <a:rPr sz="1900" i="0" b="0">
                <a:solidFill>
                  <a:srgbClr val="D4D4D4"/>
                </a:solidFill>
                <a:latin typeface="Consolas"/>
              </a:rPr>
              <a:t>hasta</a:t>
            </a:r>
            <a:r>
              <a:rPr sz="1900" i="0" b="0">
                <a:solidFill>
                  <a:srgbClr val="D4D4D4"/>
                </a:solidFill>
                <a:latin typeface="Consolas"/>
              </a:rPr>
              <a:t> </a:t>
            </a:r>
            <a:r>
              <a:rPr sz="1900" i="0" b="0">
                <a:solidFill>
                  <a:srgbClr val="B5CEA8"/>
                </a:solidFill>
                <a:latin typeface="Consolas"/>
              </a:rPr>
              <a:t>500</a:t>
            </a:r>
            <a:r>
              <a:rPr sz="1900" i="0" b="0">
                <a:solidFill>
                  <a:srgbClr val="D4D4D4"/>
                </a:solidFill>
                <a:latin typeface="Consolas"/>
              </a:rPr>
              <a:t> </a:t>
            </a:r>
            <a:r>
              <a:rPr sz="1900" i="0" b="0">
                <a:solidFill>
                  <a:srgbClr val="D4D4D4"/>
                </a:solidFill>
                <a:latin typeface="Consolas"/>
              </a:rPr>
              <a:t>mascotas</a:t>
            </a:r>
            <a:r>
              <a:rPr sz="1900" i="0" b="0">
                <a:solidFill>
                  <a:srgbClr val="D4D4D4"/>
                </a:solidFill>
                <a:latin typeface="Consolas"/>
              </a:rPr>
              <a:t> </a:t>
            </a:r>
            <a:r>
              <a:rPr sz="1900" i="0" b="0">
                <a:solidFill>
                  <a:srgbClr val="D4D4D4"/>
                </a:solidFill>
                <a:latin typeface="Consolas"/>
              </a:rPr>
              <a:t>registradas</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D4D4D4"/>
                </a:solidFill>
                <a:latin typeface="Consolas"/>
              </a:rPr>
              <a:t>Verificacion</a:t>
            </a:r>
            <a:r>
              <a:rPr sz="1900" i="0" b="0">
                <a:solidFill>
                  <a:srgbClr val="D4D4D4"/>
                </a:solidFill>
                <a:latin typeface="Consolas"/>
              </a:rPr>
              <a:t>: </a:t>
            </a:r>
            <a:r>
              <a:rPr sz="1900" i="0" b="0">
                <a:solidFill>
                  <a:srgbClr val="D4D4D4"/>
                </a:solidFill>
                <a:latin typeface="Consolas"/>
              </a:rPr>
              <a:t>medir</a:t>
            </a:r>
            <a:r>
              <a:rPr sz="1900" i="0" b="0">
                <a:solidFill>
                  <a:srgbClr val="D4D4D4"/>
                </a:solidFill>
                <a:latin typeface="Consolas"/>
              </a:rPr>
              <a:t> </a:t>
            </a:r>
            <a:r>
              <a:rPr sz="1900" i="0" b="0">
                <a:solidFill>
                  <a:srgbClr val="D4D4D4"/>
                </a:solidFill>
                <a:latin typeface="Consolas"/>
              </a:rPr>
              <a:t>con</a:t>
            </a:r>
            <a:r>
              <a:rPr sz="1900" i="0" b="0">
                <a:solidFill>
                  <a:srgbClr val="D4D4D4"/>
                </a:solidFill>
                <a:latin typeface="Consolas"/>
              </a:rPr>
              <a:t> </a:t>
            </a:r>
            <a:r>
              <a:rPr sz="1900" i="0" b="0">
                <a:solidFill>
                  <a:srgbClr val="D4D4D4"/>
                </a:solidFill>
                <a:latin typeface="Consolas"/>
              </a:rPr>
              <a:t>cronometro</a:t>
            </a:r>
            <a:r>
              <a:rPr sz="1900" i="0" b="0">
                <a:solidFill>
                  <a:srgbClr val="D4D4D4"/>
                </a:solidFill>
                <a:latin typeface="Consolas"/>
              </a:rPr>
              <a:t> </a:t>
            </a:r>
            <a:r>
              <a:rPr sz="1900" i="0" b="0">
                <a:solidFill>
                  <a:srgbClr val="D4D4D4"/>
                </a:solidFill>
                <a:latin typeface="Consolas"/>
              </a:rPr>
              <a:t>sobre</a:t>
            </a:r>
            <a:r>
              <a:rPr sz="1900" i="0" b="0">
                <a:solidFill>
                  <a:srgbClr val="D4D4D4"/>
                </a:solidFill>
                <a:latin typeface="Consolas"/>
              </a:rPr>
              <a:t> </a:t>
            </a:r>
            <a:r>
              <a:rPr sz="1900" i="0" b="0">
                <a:solidFill>
                  <a:srgbClr val="D4D4D4"/>
                </a:solidFill>
                <a:latin typeface="Consolas"/>
              </a:rPr>
              <a:t>el</a:t>
            </a:r>
            <a:r>
              <a:rPr sz="1900" i="0" b="0">
                <a:solidFill>
                  <a:srgbClr val="D4D4D4"/>
                </a:solidFill>
                <a:latin typeface="Consolas"/>
              </a:rPr>
              <a:t> </a:t>
            </a:r>
            <a:r>
              <a:rPr sz="1900" i="0" b="0">
                <a:solidFill>
                  <a:srgbClr val="D4D4D4"/>
                </a:solidFill>
                <a:latin typeface="Consolas"/>
              </a:rPr>
              <a:t>juego</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datos</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prueba</a:t>
            </a:r>
            <a:r>
              <a:rPr sz="19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Si no se puede verificar, no es un requisito: es un deseo.</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Los interesados y sus conflictos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nteresad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interesad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interesad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Los interesados no son solo quien paga.</a:t>
            </a:r>
          </a:p>
          <a:p>
            <a:pPr>
              <a:spcAft>
                <a:spcPts val="800"/>
              </a:spcAft>
            </a:pPr>
            <a:r>
              <a:rPr sz="2000" b="0" i="0">
                <a:solidFill>
                  <a:srgbClr val="333333"/>
                </a:solidFill>
                <a:latin typeface="Calibri"/>
              </a:rPr>
              <a:t>–   En la clínica: el dueño quiere métricas, la recepcionista agendar rápido, el veterinario el historial a la mano.</a:t>
            </a:r>
          </a:p>
          <a:p>
            <a:pPr>
              <a:spcAft>
                <a:spcPts val="800"/>
              </a:spcAft>
            </a:pPr>
            <a:r>
              <a:rPr sz="2000" b="0" i="0">
                <a:solidFill>
                  <a:srgbClr val="333333"/>
                </a:solidFill>
                <a:latin typeface="Calibri"/>
              </a:rPr>
              <a:t>–   Chocan: más datos dan mejores métricas pero hacen más lento el registro.</a:t>
            </a:r>
          </a:p>
          <a:p>
            <a:pPr>
              <a:spcAft>
                <a:spcPts val="800"/>
              </a:spcAft>
            </a:pPr>
            <a:r>
              <a:rPr sz="2000" b="0" i="0">
                <a:solidFill>
                  <a:srgbClr val="333333"/>
                </a:solidFill>
                <a:latin typeface="Calibri"/>
              </a:rPr>
              <a:t>–   Decidir qué se prioriza y dejar escrito por qué es trabajo de análisis, no de programación.</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mapa de dominio en Mermaid</a:t>
            </a:r>
          </a:p>
        </p:txBody>
      </p:sp>
      <p:sp>
        <p:nvSpPr>
          <p:cNvPr id="5" name="Rounded Rectangle 4"/>
          <p:cNvSpPr/>
          <p:nvPr/>
        </p:nvSpPr>
        <p:spPr>
          <a:xfrm>
            <a:off x="457200" y="1261872"/>
            <a:ext cx="6991923" cy="45733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6991923"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5894643" cy="292608"/>
          </a:xfrm>
          <a:prstGeom prst="rect">
            <a:avLst/>
          </a:prstGeom>
          <a:noFill/>
        </p:spPr>
        <p:txBody>
          <a:bodyPr wrap="square" anchor="ctr"/>
          <a:lstStyle/>
          <a:p>
            <a:pPr algn="r"/>
            <a:r>
              <a:rPr sz="1100" b="1" i="0">
                <a:solidFill>
                  <a:srgbClr val="BBBBBB"/>
                </a:solidFill>
                <a:latin typeface="Calibri"/>
              </a:rPr>
              <a:t>Mermaid</a:t>
            </a:r>
          </a:p>
        </p:txBody>
      </p:sp>
      <p:sp>
        <p:nvSpPr>
          <p:cNvPr id="11" name="TextBox 10"/>
          <p:cNvSpPr txBox="1"/>
          <p:nvPr/>
        </p:nvSpPr>
        <p:spPr>
          <a:xfrm>
            <a:off x="685800" y="1719072"/>
            <a:ext cx="502920" cy="3978989"/>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p:txBody>
      </p:sp>
      <p:sp>
        <p:nvSpPr>
          <p:cNvPr id="12" name="TextBox 11"/>
          <p:cNvSpPr txBox="1"/>
          <p:nvPr/>
        </p:nvSpPr>
        <p:spPr>
          <a:xfrm>
            <a:off x="1188720" y="1719072"/>
            <a:ext cx="5986083" cy="3978989"/>
          </a:xfrm>
          <a:prstGeom prst="rect">
            <a:avLst/>
          </a:prstGeom>
          <a:noFill/>
        </p:spPr>
        <p:txBody>
          <a:bodyPr wrap="square">
            <a:spAutoFit/>
          </a:bodyPr>
          <a:lstStyle/>
          <a:p>
            <a:pPr>
              <a:spcAft>
                <a:spcPts val="278"/>
              </a:spcAft>
            </a:pPr>
            <a:r>
              <a:rPr sz="1300" i="0" b="0">
                <a:solidFill>
                  <a:srgbClr val="D4D4D4"/>
                </a:solidFill>
                <a:latin typeface="Consolas"/>
              </a:rPr>
              <a:t>flowchart</a:t>
            </a:r>
            <a:r>
              <a:rPr sz="1300" i="0" b="0">
                <a:solidFill>
                  <a:srgbClr val="D4D4D4"/>
                </a:solidFill>
                <a:latin typeface="Consolas"/>
              </a:rPr>
              <a:t> </a:t>
            </a:r>
            <a:r>
              <a:rPr sz="1300" i="0" b="0">
                <a:solidFill>
                  <a:srgbClr val="D4D4D4"/>
                </a:solidFill>
                <a:latin typeface="Consolas"/>
              </a:rPr>
              <a:t>LR</a:t>
            </a:r>
          </a:p>
          <a:p>
            <a:pPr>
              <a:spcAft>
                <a:spcPts val="278"/>
              </a:spcAft>
            </a:pPr>
            <a:r>
              <a:rPr sz="1300" i="0" b="0">
                <a:solidFill>
                  <a:srgbClr val="D4D4D4"/>
                </a:solidFill>
                <a:latin typeface="Consolas"/>
              </a:rPr>
              <a:t>  </a:t>
            </a:r>
            <a:r>
              <a:rPr sz="1300" i="0" b="0">
                <a:solidFill>
                  <a:srgbClr val="D4D4D4"/>
                </a:solidFill>
                <a:latin typeface="Consolas"/>
              </a:rPr>
              <a:t>subgraph</a:t>
            </a:r>
            <a:r>
              <a:rPr sz="1300" i="0" b="0">
                <a:solidFill>
                  <a:srgbClr val="D4D4D4"/>
                </a:solidFill>
                <a:latin typeface="Consolas"/>
              </a:rPr>
              <a:t> </a:t>
            </a:r>
            <a:r>
              <a:rPr sz="1300" i="0" b="0">
                <a:solidFill>
                  <a:srgbClr val="D4D4D4"/>
                </a:solidFill>
                <a:latin typeface="Consolas"/>
              </a:rPr>
              <a:t>clinica</a:t>
            </a:r>
            <a:r>
              <a:rPr sz="1300" i="0" b="0">
                <a:solidFill>
                  <a:srgbClr val="D4D4D4"/>
                </a:solidFill>
                <a:latin typeface="Consolas"/>
              </a:rPr>
              <a:t>[</a:t>
            </a:r>
            <a:r>
              <a:rPr sz="1300" i="0" b="0">
                <a:solidFill>
                  <a:srgbClr val="D4D4D4"/>
                </a:solidFill>
                <a:latin typeface="Consolas"/>
              </a:rPr>
              <a:t>Clinica</a:t>
            </a:r>
            <a:r>
              <a:rPr sz="1300" i="0" b="0">
                <a:solidFill>
                  <a:srgbClr val="D4D4D4"/>
                </a:solidFill>
                <a:latin typeface="Consolas"/>
              </a:rPr>
              <a:t> </a:t>
            </a:r>
            <a:r>
              <a:rPr sz="1300" i="0" b="0">
                <a:solidFill>
                  <a:srgbClr val="D4D4D4"/>
                </a:solidFill>
                <a:latin typeface="Consolas"/>
              </a:rPr>
              <a:t>veterinaria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CDCAA"/>
                </a:solidFill>
                <a:latin typeface="Consolas"/>
              </a:rPr>
              <a:t>rec</a:t>
            </a:r>
            <a:r>
              <a:rPr sz="1300" i="0" b="0">
                <a:solidFill>
                  <a:srgbClr val="D4D4D4"/>
                </a:solidFill>
                <a:latin typeface="Consolas"/>
              </a:rPr>
              <a:t>([</a:t>
            </a:r>
            <a:r>
              <a:rPr sz="1300" i="0" b="0">
                <a:solidFill>
                  <a:srgbClr val="D4D4D4"/>
                </a:solidFill>
                <a:latin typeface="Consolas"/>
              </a:rPr>
              <a:t>Recepcionista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CDCAA"/>
                </a:solidFill>
                <a:latin typeface="Consolas"/>
              </a:rPr>
              <a:t>vet</a:t>
            </a:r>
            <a:r>
              <a:rPr sz="1300" i="0" b="0">
                <a:solidFill>
                  <a:srgbClr val="D4D4D4"/>
                </a:solidFill>
                <a:latin typeface="Consolas"/>
              </a:rPr>
              <a:t>([</a:t>
            </a:r>
            <a:r>
              <a:rPr sz="1300" i="0" b="0">
                <a:solidFill>
                  <a:srgbClr val="D4D4D4"/>
                </a:solidFill>
                <a:latin typeface="Consolas"/>
              </a:rPr>
              <a:t>Veterinario</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end</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D4D4D4"/>
                </a:solidFill>
                <a:latin typeface="Consolas"/>
              </a:rPr>
              <a:t>subgraph</a:t>
            </a:r>
            <a:r>
              <a:rPr sz="1300" i="0" b="0">
                <a:solidFill>
                  <a:srgbClr val="D4D4D4"/>
                </a:solidFill>
                <a:latin typeface="Consolas"/>
              </a:rPr>
              <a:t> </a:t>
            </a:r>
            <a:r>
              <a:rPr sz="1300" i="0" b="0">
                <a:solidFill>
                  <a:srgbClr val="D4D4D4"/>
                </a:solidFill>
                <a:latin typeface="Consolas"/>
              </a:rPr>
              <a:t>sistema_clinica</a:t>
            </a:r>
            <a:r>
              <a:rPr sz="1300" i="0" b="0">
                <a:solidFill>
                  <a:srgbClr val="D4D4D4"/>
                </a:solidFill>
                <a:latin typeface="Consolas"/>
              </a:rPr>
              <a:t>[</a:t>
            </a:r>
            <a:r>
              <a:rPr sz="1300" i="0" b="0">
                <a:solidFill>
                  <a:srgbClr val="D4D4D4"/>
                </a:solidFill>
                <a:latin typeface="Consolas"/>
              </a:rPr>
              <a:t>El</a:t>
            </a:r>
            <a:r>
              <a:rPr sz="1300" i="0" b="0">
                <a:solidFill>
                  <a:srgbClr val="D4D4D4"/>
                </a:solidFill>
                <a:latin typeface="Consolas"/>
              </a:rPr>
              <a:t> </a:t>
            </a:r>
            <a:r>
              <a:rPr sz="1300" i="0" b="0">
                <a:solidFill>
                  <a:srgbClr val="D4D4D4"/>
                </a:solidFill>
                <a:latin typeface="Consolas"/>
              </a:rPr>
              <a:t>sistema</a:t>
            </a:r>
            <a:r>
              <a:rPr sz="1300" i="0" b="0">
                <a:solidFill>
                  <a:srgbClr val="D4D4D4"/>
                </a:solidFill>
                <a:latin typeface="Consolas"/>
              </a:rPr>
              <a:t> </a:t>
            </a:r>
            <a:r>
              <a:rPr sz="1300" i="0" b="0">
                <a:solidFill>
                  <a:srgbClr val="D4D4D4"/>
                </a:solidFill>
                <a:latin typeface="Consolas"/>
              </a:rPr>
              <a:t>de</a:t>
            </a:r>
            <a:r>
              <a:rPr sz="1300" i="0" b="0">
                <a:solidFill>
                  <a:srgbClr val="D4D4D4"/>
                </a:solidFill>
                <a:latin typeface="Consolas"/>
              </a:rPr>
              <a:t> </a:t>
            </a:r>
            <a:r>
              <a:rPr sz="1300" i="0" b="0">
                <a:solidFill>
                  <a:srgbClr val="D4D4D4"/>
                </a:solidFill>
                <a:latin typeface="Consolas"/>
              </a:rPr>
              <a:t>la</a:t>
            </a:r>
            <a:r>
              <a:rPr sz="1300" i="0" b="0">
                <a:solidFill>
                  <a:srgbClr val="D4D4D4"/>
                </a:solidFill>
                <a:latin typeface="Consolas"/>
              </a:rPr>
              <a:t> </a:t>
            </a:r>
            <a:r>
              <a:rPr sz="1300" i="0" b="0">
                <a:solidFill>
                  <a:srgbClr val="D4D4D4"/>
                </a:solidFill>
                <a:latin typeface="Consolas"/>
              </a:rPr>
              <a:t>clinica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agenda</a:t>
            </a:r>
            <a:r>
              <a:rPr sz="1300" i="0" b="0">
                <a:solidFill>
                  <a:srgbClr val="D4D4D4"/>
                </a:solidFill>
                <a:latin typeface="Consolas"/>
              </a:rPr>
              <a:t>[</a:t>
            </a:r>
            <a:r>
              <a:rPr sz="1300" i="0" b="0">
                <a:solidFill>
                  <a:srgbClr val="D4D4D4"/>
                </a:solidFill>
                <a:latin typeface="Consolas"/>
              </a:rPr>
              <a:t>Agendar</a:t>
            </a:r>
            <a:r>
              <a:rPr sz="1300" i="0" b="0">
                <a:solidFill>
                  <a:srgbClr val="D4D4D4"/>
                </a:solidFill>
                <a:latin typeface="Consolas"/>
              </a:rPr>
              <a:t> </a:t>
            </a:r>
            <a:r>
              <a:rPr sz="1300" i="0" b="0">
                <a:solidFill>
                  <a:srgbClr val="D4D4D4"/>
                </a:solidFill>
                <a:latin typeface="Consolas"/>
              </a:rPr>
              <a:t>cita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exped</a:t>
            </a:r>
            <a:r>
              <a:rPr sz="1300" i="0" b="0">
                <a:solidFill>
                  <a:srgbClr val="D4D4D4"/>
                </a:solidFill>
                <a:latin typeface="Consolas"/>
              </a:rPr>
              <a:t>[</a:t>
            </a:r>
            <a:r>
              <a:rPr sz="1300" i="0" b="0">
                <a:solidFill>
                  <a:srgbClr val="D4D4D4"/>
                </a:solidFill>
                <a:latin typeface="Consolas"/>
              </a:rPr>
              <a:t>Consultar</a:t>
            </a:r>
            <a:r>
              <a:rPr sz="1300" i="0" b="0">
                <a:solidFill>
                  <a:srgbClr val="D4D4D4"/>
                </a:solidFill>
                <a:latin typeface="Consolas"/>
              </a:rPr>
              <a:t> </a:t>
            </a:r>
            <a:r>
              <a:rPr sz="1300" i="0" b="0">
                <a:solidFill>
                  <a:srgbClr val="D4D4D4"/>
                </a:solidFill>
                <a:latin typeface="Consolas"/>
              </a:rPr>
              <a:t>expediente</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end</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D4D4D4"/>
                </a:solidFill>
                <a:latin typeface="Consolas"/>
              </a:rPr>
              <a:t>lab</a:t>
            </a:r>
            <a:r>
              <a:rPr sz="1300" i="0" b="0">
                <a:solidFill>
                  <a:srgbClr val="D4D4D4"/>
                </a:solidFill>
                <a:latin typeface="Consolas"/>
              </a:rPr>
              <a:t>[</a:t>
            </a:r>
            <a:r>
              <a:rPr sz="1300" i="0" b="0">
                <a:solidFill>
                  <a:srgbClr val="D4D4D4"/>
                </a:solidFill>
                <a:latin typeface="Consolas"/>
              </a:rPr>
              <a:t>Laboratorio</a:t>
            </a:r>
            <a:r>
              <a:rPr sz="1300" i="0" b="0">
                <a:solidFill>
                  <a:srgbClr val="D4D4D4"/>
                </a:solidFill>
                <a:latin typeface="Consolas"/>
              </a:rPr>
              <a:t> </a:t>
            </a:r>
            <a:r>
              <a:rPr sz="1300" i="0" b="0">
                <a:solidFill>
                  <a:srgbClr val="D4D4D4"/>
                </a:solidFill>
                <a:latin typeface="Consolas"/>
              </a:rPr>
              <a:t>externo</a:t>
            </a: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D4D4D4"/>
                </a:solidFill>
                <a:latin typeface="Consolas"/>
              </a:rPr>
              <a:t>rec</a:t>
            </a:r>
            <a:r>
              <a:rPr sz="1300" i="0" b="0">
                <a:solidFill>
                  <a:srgbClr val="D4D4D4"/>
                </a:solidFill>
                <a:latin typeface="Consolas"/>
              </a:rPr>
              <a:t> --&gt;|</a:t>
            </a:r>
            <a:r>
              <a:rPr sz="1300" i="0" b="0">
                <a:solidFill>
                  <a:srgbClr val="D4D4D4"/>
                </a:solidFill>
                <a:latin typeface="Consolas"/>
              </a:rPr>
              <a:t>agenda</a:t>
            </a:r>
            <a:r>
              <a:rPr sz="1300" i="0" b="0">
                <a:solidFill>
                  <a:srgbClr val="D4D4D4"/>
                </a:solidFill>
                <a:latin typeface="Consolas"/>
              </a:rPr>
              <a:t>| </a:t>
            </a:r>
            <a:r>
              <a:rPr sz="1300" i="0" b="0">
                <a:solidFill>
                  <a:srgbClr val="D4D4D4"/>
                </a:solidFill>
                <a:latin typeface="Consolas"/>
              </a:rPr>
              <a:t>agenda</a:t>
            </a:r>
          </a:p>
          <a:p>
            <a:pPr>
              <a:spcAft>
                <a:spcPts val="278"/>
              </a:spcAft>
            </a:pPr>
            <a:r>
              <a:rPr sz="1300" i="0" b="0">
                <a:solidFill>
                  <a:srgbClr val="D4D4D4"/>
                </a:solidFill>
                <a:latin typeface="Consolas"/>
              </a:rPr>
              <a:t>  </a:t>
            </a:r>
            <a:r>
              <a:rPr sz="1300" i="0" b="0">
                <a:solidFill>
                  <a:srgbClr val="D4D4D4"/>
                </a:solidFill>
                <a:latin typeface="Consolas"/>
              </a:rPr>
              <a:t>vet</a:t>
            </a:r>
            <a:r>
              <a:rPr sz="1300" i="0" b="0">
                <a:solidFill>
                  <a:srgbClr val="D4D4D4"/>
                </a:solidFill>
                <a:latin typeface="Consolas"/>
              </a:rPr>
              <a:t> --&gt;|</a:t>
            </a:r>
            <a:r>
              <a:rPr sz="1300" i="0" b="0">
                <a:solidFill>
                  <a:srgbClr val="D4D4D4"/>
                </a:solidFill>
                <a:latin typeface="Consolas"/>
              </a:rPr>
              <a:t>consulta</a:t>
            </a:r>
            <a:r>
              <a:rPr sz="1300" i="0" b="0">
                <a:solidFill>
                  <a:srgbClr val="D4D4D4"/>
                </a:solidFill>
                <a:latin typeface="Consolas"/>
              </a:rPr>
              <a:t>| </a:t>
            </a:r>
            <a:r>
              <a:rPr sz="1300" i="0" b="0">
                <a:solidFill>
                  <a:srgbClr val="D4D4D4"/>
                </a:solidFill>
                <a:latin typeface="Consolas"/>
              </a:rPr>
              <a:t>exped</a:t>
            </a:r>
          </a:p>
          <a:p>
            <a:pPr>
              <a:spcAft>
                <a:spcPts val="278"/>
              </a:spcAft>
            </a:pPr>
            <a:r>
              <a:rPr sz="1300" i="0" b="0">
                <a:solidFill>
                  <a:srgbClr val="D4D4D4"/>
                </a:solidFill>
                <a:latin typeface="Consolas"/>
              </a:rPr>
              <a:t>  </a:t>
            </a:r>
            <a:r>
              <a:rPr sz="1300" i="0" b="0">
                <a:solidFill>
                  <a:srgbClr val="D4D4D4"/>
                </a:solidFill>
                <a:latin typeface="Consolas"/>
              </a:rPr>
              <a:t>exped</a:t>
            </a:r>
            <a:r>
              <a:rPr sz="1300" i="0" b="0">
                <a:solidFill>
                  <a:srgbClr val="D4D4D4"/>
                </a:solidFill>
                <a:latin typeface="Consolas"/>
              </a:rPr>
              <a:t> --&gt;|</a:t>
            </a:r>
            <a:r>
              <a:rPr sz="1300" i="0" b="0">
                <a:solidFill>
                  <a:srgbClr val="D4D4D4"/>
                </a:solidFill>
                <a:latin typeface="Consolas"/>
              </a:rPr>
              <a:t>pide</a:t>
            </a:r>
            <a:r>
              <a:rPr sz="1300" i="0" b="0">
                <a:solidFill>
                  <a:srgbClr val="D4D4D4"/>
                </a:solidFill>
                <a:latin typeface="Consolas"/>
              </a:rPr>
              <a:t> </a:t>
            </a:r>
            <a:r>
              <a:rPr sz="1300" i="0" b="0">
                <a:solidFill>
                  <a:srgbClr val="D4D4D4"/>
                </a:solidFill>
                <a:latin typeface="Consolas"/>
              </a:rPr>
              <a:t>examen</a:t>
            </a:r>
            <a:r>
              <a:rPr sz="1300" i="0" b="0">
                <a:solidFill>
                  <a:srgbClr val="D4D4D4"/>
                </a:solidFill>
                <a:latin typeface="Consolas"/>
              </a:rPr>
              <a:t>| </a:t>
            </a:r>
            <a:r>
              <a:rPr sz="1300" i="0" b="0">
                <a:solidFill>
                  <a:srgbClr val="D4D4D4"/>
                </a:solidFill>
                <a:latin typeface="Consolas"/>
              </a:rPr>
              <a:t>lab</a:t>
            </a:r>
          </a:p>
        </p:txBody>
      </p:sp>
      <p:sp>
        <p:nvSpPr>
          <p:cNvPr id="13" name="Rounded Rectangle 12"/>
          <p:cNvSpPr/>
          <p:nvPr/>
        </p:nvSpPr>
        <p:spPr>
          <a:xfrm>
            <a:off x="7668579" y="1261872"/>
            <a:ext cx="4120780" cy="3318569"/>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g-mapa-dominio-paso1.png"/>
          <p:cNvPicPr>
            <a:picLocks noChangeAspect="1"/>
          </p:cNvPicPr>
          <p:nvPr/>
        </p:nvPicPr>
        <p:blipFill>
          <a:blip r:embed="rId2"/>
          <a:stretch>
            <a:fillRect/>
          </a:stretch>
        </p:blipFill>
        <p:spPr>
          <a:xfrm>
            <a:off x="7723443" y="1316736"/>
            <a:ext cx="4011052" cy="3208841"/>
          </a:xfrm>
          <a:prstGeom prst="rect">
            <a:avLst/>
          </a:prstGeom>
        </p:spPr>
      </p:pic>
      <p:sp>
        <p:nvSpPr>
          <p:cNvPr id="15" name="TextBox 14"/>
          <p:cNvSpPr txBox="1"/>
          <p:nvPr/>
        </p:nvSpPr>
        <p:spPr>
          <a:xfrm>
            <a:off x="7723443" y="4580441"/>
            <a:ext cx="4011052" cy="320040"/>
          </a:xfrm>
          <a:prstGeom prst="rect">
            <a:avLst/>
          </a:prstGeom>
          <a:noFill/>
        </p:spPr>
        <p:txBody>
          <a:bodyPr wrap="square">
            <a:spAutoFit/>
          </a:bodyPr>
          <a:lstStyle/>
          <a:p>
            <a:pPr algn="ctr"/>
            <a:r>
              <a:rPr sz="1200" b="0" i="1">
                <a:solidFill>
                  <a:srgbClr val="666666"/>
                </a:solidFill>
                <a:latin typeface="Calibri"/>
              </a:rPr>
              <a:t>Lo que dibuja este código</a:t>
            </a:r>
          </a:p>
        </p:txBody>
      </p:sp>
      <p:sp>
        <p:nvSpPr>
          <p:cNvPr id="16" name="TextBox 15"/>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Son dos actores y dos capacidades de muestra: el mapa real lleva todos los del dominio.</a:t>
            </a:r>
          </a:p>
        </p:txBody>
      </p:sp>
      <p:sp>
        <p:nvSpPr>
          <p:cNvPr id="17" name="TextBox 1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mismas fases, distinto recorrido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ses-plan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fases-plan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fases-plan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Todo desarrollo pasa por requisitos, diseño, construcción, pruebas y mantenimiento.</a:t>
            </a:r>
          </a:p>
          <a:p>
            <a:pPr>
              <a:spcAft>
                <a:spcPts val="800"/>
              </a:spcAft>
            </a:pPr>
            <a:r>
              <a:rPr sz="2000" b="0" i="0">
                <a:solidFill>
                  <a:srgbClr val="333333"/>
                </a:solidFill>
                <a:latin typeface="Calibri"/>
              </a:rPr>
              <a:t>–   Entre metodologías no cambian las fases: cambia cómo se recorren, una vez en orden o en ciclos cortos.</a:t>
            </a:r>
          </a:p>
          <a:p>
            <a:pPr>
              <a:spcAft>
                <a:spcPts val="800"/>
              </a:spcAft>
            </a:pPr>
            <a:r>
              <a:rPr sz="2000" b="0" i="0">
                <a:solidFill>
                  <a:srgbClr val="333333"/>
                </a:solidFill>
                <a:latin typeface="Calibri"/>
              </a:rPr>
              <a:t>–   En esta asignatura no se construye la casa: se dibujan los planos para que cualquier equipo pueda construirla.</a:t>
            </a:r>
          </a:p>
          <a:p>
            <a:pPr>
              <a:spcAft>
                <a:spcPts val="800"/>
              </a:spcAft>
            </a:pPr>
            <a:r>
              <a:rPr sz="2000" b="0" i="0">
                <a:solidFill>
                  <a:srgbClr val="333333"/>
                </a:solidFill>
                <a:latin typeface="Calibri"/>
              </a:rPr>
              <a:t>–   Los recorridos se comparan a fondo en las clases 2, 3 y 4.</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Para qué documentar: depende de quién lee</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quien-lee-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código lo lee la máquina y quien ya conoce el sistema.</a:t>
            </a:r>
          </a:p>
          <a:p>
            <a:pPr>
              <a:spcAft>
                <a:spcPts val="800"/>
              </a:spcAft>
            </a:pPr>
            <a:r>
              <a:rPr sz="2000" b="0" i="0">
                <a:solidFill>
                  <a:srgbClr val="333333"/>
                </a:solidFill>
                <a:latin typeface="Calibri"/>
              </a:rPr>
              <a:t>–   Los planos los lee quien todavía no lo conoce: el compañero nuevo, quien revisa, el equipo que va a construir, y usted mismo en seis semanas.</a:t>
            </a:r>
          </a:p>
          <a:p>
            <a:pPr>
              <a:spcAft>
                <a:spcPts val="800"/>
              </a:spcAft>
            </a:pPr>
            <a:r>
              <a:rPr sz="2000" b="0" i="0">
                <a:solidFill>
                  <a:srgbClr val="333333"/>
                </a:solidFill>
                <a:latin typeface="Calibri"/>
              </a:rPr>
              <a:t>–   Documentar es dejar escritas las decisiones y su justificación, para que otro continúe sin volver a entrevistar al cliente.</a:t>
            </a:r>
          </a:p>
          <a:p>
            <a:pPr>
              <a:spcAft>
                <a:spcPts val="800"/>
              </a:spcAft>
            </a:pPr>
            <a:r>
              <a:rPr sz="2000" b="0" i="0">
                <a:solidFill>
                  <a:srgbClr val="333333"/>
                </a:solidFill>
                <a:latin typeface="Calibri"/>
              </a:rPr>
              <a:t>–   Cada artefacto tiene un lector concreto que debe poder trabajar con él sin preguntar.</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mapa del semestre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pa-semestr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mapa-semestr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mapa-semestre-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mapa-semestre-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Clases 1 a 4: cómo se organiza el trabajo (ciclos de vida, metodologías tradicionales y ágiles).</a:t>
            </a:r>
          </a:p>
          <a:p>
            <a:pPr>
              <a:spcAft>
                <a:spcPts val="800"/>
              </a:spcAft>
            </a:pPr>
            <a:r>
              <a:rPr sz="2000" b="0" i="0">
                <a:solidFill>
                  <a:srgbClr val="333333"/>
                </a:solidFill>
                <a:latin typeface="Calibri"/>
              </a:rPr>
              <a:t>–   Clases 6 a 9: qué debe hacer el sistema (requisitos, historias de usuario, UML y casos de uso).</a:t>
            </a:r>
          </a:p>
          <a:p>
            <a:pPr>
              <a:spcAft>
                <a:spcPts val="800"/>
              </a:spcAft>
            </a:pPr>
            <a:r>
              <a:rPr sz="2000" b="0" i="0">
                <a:solidFill>
                  <a:srgbClr val="333333"/>
                </a:solidFill>
                <a:latin typeface="Calibri"/>
              </a:rPr>
              <a:t>–   Clases 11 a 14: cómo se ve y cómo se sustenta (auditoría, diagramas dinámicos, interfaces).</a:t>
            </a:r>
          </a:p>
          <a:p>
            <a:pPr>
              <a:spcAft>
                <a:spcPts val="800"/>
              </a:spcAft>
            </a:pPr>
            <a:r>
              <a:rPr sz="2000" b="0" i="0">
                <a:solidFill>
                  <a:srgbClr val="333333"/>
                </a:solidFill>
                <a:latin typeface="Calibri"/>
              </a:rPr>
              <a:t>–   Todo se acumula en un único paquete de diseño: nada se bota al terminar la clase.</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deuda técnica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uda-interes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deuda-interes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deuda-interese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Elegir la salida rápida es pedir prestado tiempo al futuro, y se paga con intereses en cada cambio.</a:t>
            </a:r>
          </a:p>
          <a:p>
            <a:pPr>
              <a:spcAft>
                <a:spcPts val="800"/>
              </a:spcAft>
            </a:pPr>
            <a:r>
              <a:rPr sz="2000" b="0" i="0">
                <a:solidFill>
                  <a:srgbClr val="333333"/>
                </a:solidFill>
                <a:latin typeface="Calibri"/>
              </a:rPr>
              <a:t>–   La metáfora es de Ward Cunningham (1992), sobre código; vale igual para el diseño.</a:t>
            </a:r>
          </a:p>
          <a:p>
            <a:pPr>
              <a:spcAft>
                <a:spcPts val="800"/>
              </a:spcAft>
            </a:pPr>
            <a:r>
              <a:rPr sz="2000" b="0" i="0">
                <a:solidFill>
                  <a:srgbClr val="333333"/>
                </a:solidFill>
                <a:latin typeface="Calibri"/>
              </a:rPr>
              <a:t>–   Caso típico: nadie decide si una Mascota puede existir sin Dueño; tres semanas después hay dos documentos que se contradicen.</a:t>
            </a:r>
          </a:p>
          <a:p>
            <a:pPr>
              <a:spcAft>
                <a:spcPts val="800"/>
              </a:spcAft>
            </a:pPr>
            <a:r>
              <a:rPr sz="2000" b="0" i="0">
                <a:solidFill>
                  <a:srgbClr val="333333"/>
                </a:solidFill>
                <a:latin typeface="Calibri"/>
              </a:rPr>
              <a:t>–   Los equipos maduros reservan del 10 al 20 % de cada iteración para pagar deuda.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artefacto desactualizado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tefacto-version-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rtefacto-version-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rtefacto-version-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diagrama que ya no corresponde a la decisión vigente es peor que no tener diagrama: el que falta obliga a preguntar, el equivocado convence.</a:t>
            </a:r>
          </a:p>
          <a:p>
            <a:pPr>
              <a:spcAft>
                <a:spcPts val="800"/>
              </a:spcAft>
            </a:pPr>
            <a:r>
              <a:rPr sz="2000" b="0" i="0">
                <a:solidFill>
                  <a:srgbClr val="333333"/>
                </a:solidFill>
                <a:latin typeface="Calibri"/>
              </a:rPr>
              <a:t>–   Regla 1: cada artefacto lleva fecha y versión visibles.</a:t>
            </a:r>
          </a:p>
          <a:p>
            <a:pPr>
              <a:spcAft>
                <a:spcPts val="800"/>
              </a:spcAft>
            </a:pPr>
            <a:r>
              <a:rPr sz="2000" b="0" i="0">
                <a:solidFill>
                  <a:srgbClr val="333333"/>
                </a:solidFill>
                <a:latin typeface="Calibri"/>
              </a:rPr>
              <a:t>–   Regla 2: si una decisión cambia, el artefacto se actualiza esa semana y el cambio queda anotado con fecha y motivo.</a:t>
            </a:r>
          </a:p>
          <a:p>
            <a:pPr>
              <a:spcAft>
                <a:spcPts val="800"/>
              </a:spcAft>
            </a:pPr>
            <a:r>
              <a:rPr sz="2000" b="0" i="0">
                <a:solidFill>
                  <a:srgbClr val="333333"/>
                </a:solidFill>
                <a:latin typeface="Calibri"/>
              </a:rPr>
              <a:t>–   Cambiar de opinión es normal; tener dos verdades circulando es el error.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un modelo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model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modelo es una representación simplificada de algo real, hecha para responder preguntas acotadas.</a:t>
            </a:r>
          </a:p>
          <a:p>
            <a:pPr>
              <a:spcAft>
                <a:spcPts val="800"/>
              </a:spcAft>
            </a:pPr>
            <a:r>
              <a:rPr sz="2000" b="0" i="0">
                <a:solidFill>
                  <a:srgbClr val="333333"/>
                </a:solidFill>
                <a:latin typeface="Calibri"/>
              </a:rPr>
              <a:t>–   Un modelo útil es incompleto a propósito: el mapa no es el territorio.</a:t>
            </a:r>
          </a:p>
          <a:p>
            <a:pPr>
              <a:spcAft>
                <a:spcPts val="800"/>
              </a:spcAft>
            </a:pPr>
            <a:r>
              <a:rPr sz="2000" b="0" i="0">
                <a:solidFill>
                  <a:srgbClr val="333333"/>
                </a:solidFill>
                <a:latin typeface="Calibri"/>
              </a:rPr>
              <a:t>–   Para cada diagrama hay que poder nombrar qué pregunta responde y quién la hace; si no, el diagrama no va.</a:t>
            </a:r>
          </a:p>
          <a:p>
            <a:pPr>
              <a:spcAft>
                <a:spcPts val="800"/>
              </a:spcAft>
            </a:pPr>
            <a:r>
              <a:rPr sz="2000" b="0" i="0">
                <a:solidFill>
                  <a:srgbClr val="333333"/>
                </a:solidFill>
                <a:latin typeface="Calibri"/>
              </a:rPr>
              <a:t>–   Casos de uso responde quién hace qué; no cuánto tarda una búsqueda.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Dos maneras de que un modelo falle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delo-dos-fall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modelo-dos-fall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modelo-dos-falla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Incompleto donde no debía: omite lo que importaba para su pregunta.</a:t>
            </a:r>
          </a:p>
          <a:p>
            <a:pPr>
              <a:spcAft>
                <a:spcPts val="800"/>
              </a:spcAft>
            </a:pPr>
            <a:r>
              <a:rPr sz="2000" b="0" i="0">
                <a:solidFill>
                  <a:srgbClr val="333333"/>
                </a:solidFill>
                <a:latin typeface="Calibri"/>
              </a:rPr>
              <a:t>–   Ruido con apariencia de rigor: tanto detalle que nadie lo lee. Es la falla más común.</a:t>
            </a:r>
          </a:p>
          <a:p>
            <a:pPr>
              <a:spcAft>
                <a:spcPts val="800"/>
              </a:spcAft>
            </a:pPr>
            <a:r>
              <a:rPr sz="2000" b="0" i="0">
                <a:solidFill>
                  <a:srgbClr val="333333"/>
                </a:solidFill>
                <a:latin typeface="Calibri"/>
              </a:rPr>
              <a:t>–   Referencias del curso: un diagrama de casos de uso legible rara vez pasa de 15 a 20 casos; una historia cabe en dos o tres líneas.</a:t>
            </a:r>
          </a:p>
          <a:p>
            <a:pPr>
              <a:spcAft>
                <a:spcPts val="800"/>
              </a:spcAft>
            </a:pPr>
            <a:r>
              <a:rPr sz="2000" b="0" i="0">
                <a:solidFill>
                  <a:srgbClr val="333333"/>
                </a:solidFill>
                <a:latin typeface="Calibri"/>
              </a:rPr>
              <a:t>–   Prueba: un compañero ajeno lo explica en tres minutos. Lo que no pueda explicar, no comunica.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Cinco rasgos de un documento usable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nco-rasg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inco-rasg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inco-rasg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Tiene lector y pregunta · es verificable · es trazable · está fechado y versionado · sirve para actuar.</a:t>
            </a:r>
          </a:p>
          <a:p>
            <a:pPr>
              <a:spcAft>
                <a:spcPts val="800"/>
              </a:spcAft>
            </a:pPr>
            <a:r>
              <a:rPr sz="2000" b="0" i="0">
                <a:solidFill>
                  <a:srgbClr val="333333"/>
                </a:solidFill>
                <a:latin typeface="Calibri"/>
              </a:rPr>
              <a:t>–   De relleno: «el sistema debe ser amigable e intuitivo». Nadie puede construirlo ni decir si se cumplió.</a:t>
            </a:r>
          </a:p>
          <a:p>
            <a:pPr>
              <a:spcAft>
                <a:spcPts val="800"/>
              </a:spcAft>
            </a:pPr>
            <a:r>
              <a:rPr sz="2000" b="0" i="0">
                <a:solidFill>
                  <a:srgbClr val="333333"/>
                </a:solidFill>
                <a:latin typeface="Calibri"/>
              </a:rPr>
              <a:t>–   Usable: RF-012 registrar mascota con cinco datos y dueño asociado, con criterio de aceptación, origen y prioridad.</a:t>
            </a:r>
          </a:p>
          <a:p>
            <a:pPr>
              <a:spcAft>
                <a:spcPts val="800"/>
              </a:spcAft>
            </a:pPr>
            <a:r>
              <a:rPr sz="2000" b="0" i="0">
                <a:solidFill>
                  <a:srgbClr val="333333"/>
                </a:solidFill>
                <a:latin typeface="Calibri"/>
              </a:rPr>
              <a:t>–   Fuera: la definición copiada, la historia de la disciplina y las promesas sin sujeto.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Trazabilidad: el hilo del semestre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dena-trazabilidad-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adena-trazabilidad-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adena-trazabilidad-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Seguir un requisito desde quien lo pidió hasta el artefacto que lo resuelve y el criterio que lo verifica.</a:t>
            </a:r>
          </a:p>
          <a:p>
            <a:pPr>
              <a:spcAft>
                <a:spcPts val="800"/>
              </a:spcAft>
            </a:pPr>
            <a:r>
              <a:rPr sz="2000" b="0" i="0">
                <a:solidFill>
                  <a:srgbClr val="333333"/>
                </a:solidFill>
                <a:latin typeface="Calibri"/>
              </a:rPr>
              <a:t>–   La cadena: entrevista → requisito (clase 6) → historia (7) → caso de uso (9) → pantalla (13) → criterio de aceptación.</a:t>
            </a:r>
          </a:p>
          <a:p>
            <a:pPr>
              <a:spcAft>
                <a:spcPts val="800"/>
              </a:spcAft>
            </a:pPr>
            <a:r>
              <a:rPr sz="2000" b="0" i="0">
                <a:solidFill>
                  <a:srgbClr val="333333"/>
                </a:solidFill>
                <a:latin typeface="Calibri"/>
              </a:rPr>
              <a:t>–   Dos controles: todo RF aparece en algún caso de uso, y todo caso de uso señala su RF.</a:t>
            </a:r>
          </a:p>
          <a:p>
            <a:pPr>
              <a:spcAft>
                <a:spcPts val="800"/>
              </a:spcAft>
            </a:pPr>
            <a:r>
              <a:rPr sz="2000" b="0" i="0">
                <a:solidFill>
                  <a:srgbClr val="333333"/>
                </a:solidFill>
                <a:latin typeface="Calibri"/>
              </a:rPr>
              <a:t>–   Un requisito huérfano es algo que nadie necesita o un hueco que nadie notó.</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Google Docs · draw.io</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Convertir en vivo la frase cruda «necesito buscar rapido el expediente de un animal» en un requisito funcional y uno no funcional bien…</a:t>
            </a:r>
          </a:p>
          <a:p>
            <a:pPr>
              <a:spcAft>
                <a:spcPts val="800"/>
              </a:spcAft>
            </a:pPr>
            <a:r>
              <a:rPr sz="2000" b="0" i="0">
                <a:solidFill>
                  <a:srgbClr val="333333"/>
                </a:solidFill>
                <a:latin typeface="Calibri"/>
              </a:rPr>
              <a:t>–   Mismo dominio: la clinica veterinaria — no otro ejemplo. Aqui se diseña, no se programa.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 · Conceptos iniciales de ingenieria de software</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Que es diseñar software y por que no es programar</a:t>
            </a:r>
          </a:p>
          <a:p>
            <a:pPr algn="ctr">
              <a:spcAft>
                <a:spcPts val="600"/>
              </a:spcAft>
            </a:pPr>
            <a:r>
              <a:rPr sz="1600" b="0" i="0">
                <a:solidFill>
                  <a:srgbClr val="333333"/>
                </a:solidFill>
                <a:latin typeface="Calibri"/>
              </a:rPr>
              <a:t>Repasen las laminas de teoria: cada concepto esta completo</a:t>
            </a:r>
          </a:p>
          <a:p>
            <a:pPr algn="ctr">
              <a:spcAft>
                <a:spcPts val="600"/>
              </a:spcAft>
            </a:pPr>
            <a:r>
              <a:rPr sz="1600" b="0" i="0">
                <a:solidFill>
                  <a:srgbClr val="333333"/>
                </a:solidFill>
                <a:latin typeface="Calibri"/>
              </a:rPr>
              <a:t>Siguiente clase: continuamos con el siguiente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