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curva de costo es la justificacion de todo lo que se vera en este curso; sin ella, las metodologias suenan a burocracia arbitraria.</a:t>
            </a:r>
          </a:p>
          <a:p/>
          <a:p>
            <a:r>
              <a:t>PARA EL DOCENTE</a:t>
            </a:r>
          </a:p>
          <a:p/>
          <a:p>
            <a:r>
              <a:t>Hay un asunto de organizacion que el docente debe resolver el primer dia porque afecta la calificacion: los estudiantes llegan en tres situaciones de matricula distintas y cada una cierra su entregable de manera diferente. Primera situacion, quien cursa Seminario y Programacion II al mismo tiempo. Este es el caso ideal y hay que aprovecharlo: se acota el dominio de VetCare una sola vez y el entregable de diseno de este curso se convierte en el insumo real del codigo del otro. El riesgo es conocido, y consiste en que el estudiante se entusiasme programando y descuide el documento; la regla de cierre es que aqui se califica el plano y no la demostracion, y que si el codigo se desvio del plano lo correcto es actualizar el plano y anotar por que, nunca esconder la diferencia. Segunda situacion, quien cursa solo Programacion II: no entrega en este curso, pero importa porque los equipos son mixtos y puede haber companeros de proyecto que no esten en esta aula. De ahi sale una exigencia concreta para el documento: debe ser autosuficiente, entendible por alguien que no estuvo en las conversaciones del equipo; si el artefacto solo se entiende cuando su autor lo explica de viva voz, no sirve para ese companero y por lo tanto no sirve. Tercera situacion, quien cursa solo Seminario: cierra el semestre con el juego completo de planos y la sustentacion, y no se le exige ni una linea de codigo ni una demostracion funcionando; su nota no depende de que exista implementacion. Su prueba de calidad es otra y hay que decirsela en estos terminos: que un tercero pueda construir el producto leyendo su documento. En su caso el wireframe de la Clase 13 cumple el papel que en el otro curso cumple la pantalla.</a:t>
            </a:r>
          </a:p>
          <a:p/>
          <a:p>
            <a:r>
              <a:t>Queda la trampa pedagogica de este primer dia, y es la mas seria del curso: el estudiante que se matriculo esperando programar y descubre que va a escribir documentos. Si no se encuadra hoy, ese estudiante pasa quince semanas convencido de que el curso es trabajo administrativo, y el sintoma aparece en la primera entrega en forma de documentos hechos en la ultima hora. El encuadre tiene cuatro movimientos y conviene hacerlos en este orden. Primero, reconocerlo en voz alta, porque negarlo lo confirma: aqui varios querian programar, y programar es legitimo y necesario. Segundo, dar el argumento del costo con numeros aunque sean gruesos: borrar una caja de un diagrama toma diez segundos, mientras que eliminar un modulo ya programado, probado e integrado toma dias y arrastra todo lo que dependia de el; ese es el orden de magnitud que justifica dibujar antes. Tercero, mostrar que las decisiones que el programador ya no podra cambiar se toman aqui, con ejemplos que se sienten reales: si una Mascota puede existir sin Dueno, o si reagendar una cita es modificarla o es cancelarla y crear otra, que es una decision de diseno con consecuencias en el historial clinico durante anos. Cuarto, dar salidas legitimas al deseo de construir: en la Clase 13 hay trabajo visual concreto con interfaces, en la Clase 11 se compara el diseno con lo que se esta construyendo, y en la Clase 12 los diagramas avanzados exigen precision tecnica. Conviene tambien nombrar el perfil profesional, porque el estudiante rara vez lo tiene claro: analista, arquitecto y product owner son cargos que existen y que se pagan bien precisamente por traducir entre el negocio y la tecnica. Y hay que anticipar la pregunta textual, porque va a llegar: profesor, para que dibujo esto si lo voy a cambiar cuando programe. La respuesta es que el diagrama es justamente lo que hace barato ese cambio, y que cuando cambie, se actualiza y se anota el motivo, y ese registro es parte de lo que se evalua.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proyecto termina; un producto puede seguir vivo diez años.</a:t>
            </a:r>
          </a:p>
          <a:p/>
          <a:p>
            <a:r>
              <a:t>Confundirlos lleva al equipo a pensar «ya entregamos, ya terminamos» y a no dejar nada escrito para quien venga despues.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importante del primer dia es que el estudiante entienda su rol en esta asignatura: aqui no se construye la casa, se dibujan los planos para que cualquier equipo pueda construirla.</a:t>
            </a:r>
          </a:p>
          <a:p/>
          <a:p>
            <a:r>
              <a:t>Decirlo explicitamente evita que quien esperaba programar se frustre a mitad de semestre.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esta en quien lee.</a:t>
            </a:r>
          </a:p>
          <a:p/>
          <a:p>
            <a:r>
              <a:t>Por eso en este curso cada artefacto tiene un lector concreto, y la pregunta que se hace al calificar no es cuantas paginas tiene sino si ese lector podria trabajar con el sin preguntarle nada al autor.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mapa del semestre cabe en una sola frase, y de el depende saber donde se esta parado en cada clase.</a:t>
            </a:r>
          </a:p>
          <a:p/>
          <a:p>
            <a:r>
              <a:t>Decir esto el primer dia evita la sensacion de estar haciendo tareas desconectadas.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vez que un equipo elige la salida rapida en lugar de la correcta, esta pidiendo prestado tiempo al futuro.</a:t>
            </a:r>
          </a:p>
          <a:p/>
          <a:p>
            <a:r>
              <a:t>El prestamo puede ser razonable, igual que un credito, pero se paga con intereses, y los intereses se cobran en forma de tiempo adicional en cada cambio posterior.</a:t>
            </a:r>
          </a:p>
          <a:p/>
          <a:p>
            <a:r>
              <a:t>Tres semanas despues, dos integrantes han asumido cosas distintas; uno diseno la pantalla de registro pidiendo el dueno primero y el otro escribio un caso de uso donde la mascota se registra sola y el dueno se asocia despues.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Quien lo lea tomara decisiones a partir de informacion falsa y descubrira el problema tarde.</a:t>
            </a:r>
          </a:p>
          <a:p/>
          <a:p>
            <a:r>
              <a:t>De ahi salen dos reglas que este curso aplica a todos los artefactos.</a:t>
            </a:r>
          </a:p>
          <a:p/>
          <a:p>
            <a:r>
              <a:t>Un equipo que cambio tres veces el alcance y lo registro esta mejor evaluado que uno que entrega un documento perfecto que nadie uso.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clinica, un diagrama de casos de uso responde quien hace que y con que finalidad, y le sirve al dueno de la clinica para confirmar que no falta ningun tramite; no responde en cuanto tiempo se busca un expediente ni como se guardan los datos, y quien busque eso ahi va a leer mal.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ahi se sigue que un modelo puede estar mal de dos maneras opuestas, y conviene decirlas juntas porque los equipos suelen corregir una cayendo en la otra.</a:t>
            </a:r>
          </a:p>
          <a:p/>
          <a:p>
            <a:r>
              <a:t>Lo que no pueda explicar, no comunica, y hay que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tiene un lector nombrado y una pregunta que responde.</a:t>
            </a:r>
          </a:p>
          <a:p/>
          <a:p>
            <a:r>
              <a:t>Cuatro, esta fechado y versionado.</a:t>
            </a:r>
          </a:p>
          <a:p/>
          <a:p>
            <a:r>
              <a:t>Comparemos en la clinica.</a:t>
            </a:r>
          </a:p>
          <a:p/>
          <a:p>
            <a:r>
              <a:t>Nadie puede construir eso ni puede decir si se cumplio.</a:t>
            </a:r>
          </a:p>
          <a:p/>
          <a:p>
            <a:r>
              <a:t>La segunda version se puede programar, se puede probar y se puede discutir con el dueno de la clinica.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Conceptos iniciales de ingenieria de software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es diseñar software y por que no es programar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Conceptos iniciales de ingenieria de software</a:t>
            </a:r>
          </a:p>
          <a:p>
            <a:pPr>
              <a:spcAft>
                <a:spcPts val="800"/>
              </a:spcAft>
            </a:pPr>
            <a:r>
              <a:rPr sz="2000" b="0" i="0">
                <a:solidFill>
                  <a:srgbClr val="333333"/>
                </a:solidFill>
                <a:latin typeface="Calibri"/>
              </a:rPr>
              <a:t>–   Que es diseñar software y por que no es programar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draw.io</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Programar es escribir codigo que funcione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Programar es escribir codigo que funcione hoy.</a:t>
            </a:r>
          </a:p>
          <a:p>
            <a:pPr>
              <a:spcAft>
                <a:spcPts val="800"/>
              </a:spcAft>
            </a:pPr>
            <a:r>
              <a:rPr sz="2000" b="0" i="0">
                <a:solidFill>
                  <a:srgbClr val="333333"/>
                </a:solidFill>
                <a:latin typeface="Calibri"/>
              </a:rPr>
              <a:t>–   La ingenieria de software es el conjunto de practicas que hacen que ese codigo siga funcionando cuando el sistema crece, cuando lo mantiene otra persona y cuando los requisitos cambian.</a:t>
            </a:r>
          </a:p>
          <a:p>
            <a:pPr>
              <a:spcAft>
                <a:spcPts val="800"/>
              </a:spcAft>
            </a:pPr>
            <a:r>
              <a:rPr sz="2000" b="0" i="0">
                <a:solidFill>
                  <a:srgbClr val="333333"/>
                </a:solidFill>
                <a:latin typeface="Calibri"/>
              </a:rPr>
              <a:t>–   La diferencia no es filosofica sino economica: un error detectado al analizar requisitos cuesta corregirlo una fraccion de lo que cuesta corregirlo en produccion, cuando ya hay usuarios reales dependiendo del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Proyecto y producto son dos palabras que se usan como sinonimos y no lo...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Proyecto y producto son dos palabras que se usan como sinonimos y no lo son.</a:t>
            </a:r>
          </a:p>
          <a:p>
            <a:pPr>
              <a:spcAft>
                <a:spcPts val="800"/>
              </a:spcAft>
            </a:pPr>
            <a:r>
              <a:rPr sz="2000" b="0" i="0">
                <a:solidFill>
                  <a:srgbClr val="333333"/>
                </a:solidFill>
                <a:latin typeface="Calibri"/>
              </a:rPr>
              <a:t>–   El producto es el software y su documentacion: lo que queda cuando todos se van.</a:t>
            </a:r>
          </a:p>
          <a:p>
            <a:pPr>
              <a:spcAft>
                <a:spcPts val="800"/>
              </a:spcAft>
            </a:pPr>
            <a:r>
              <a:rPr sz="2000" b="0" i="0">
                <a:solidFill>
                  <a:srgbClr val="333333"/>
                </a:solidFill>
                <a:latin typeface="Calibri"/>
              </a:rPr>
              <a:t>–   El proyecto es el esfuerzo acotado en tiempo y recursos para construirlo.</a:t>
            </a:r>
          </a:p>
          <a:p>
            <a:pPr>
              <a:spcAft>
                <a:spcPts val="800"/>
              </a:spcAft>
            </a:pPr>
            <a:r>
              <a:rPr sz="2000" b="0" i="0">
                <a:solidFill>
                  <a:srgbClr val="333333"/>
                </a:solidFill>
                <a:latin typeface="Calibri"/>
              </a:rPr>
              <a:t>–   En la clinica, el proyecto es el semestre; el producto es el sistema que la clinica usaria todos los dias.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requisito funcional dice QUE debe hacer el sistema: «registrar una...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requisito funcional dice QUE debe hacer el sistema: «registrar una mascota con ID, nombre y especie».</a:t>
            </a:r>
          </a:p>
          <a:p>
            <a:pPr>
              <a:spcAft>
                <a:spcPts val="800"/>
              </a:spcAft>
            </a:pPr>
            <a:r>
              <a:rPr sz="2000" b="0" i="0">
                <a:solidFill>
                  <a:srgbClr val="333333"/>
                </a:solidFill>
                <a:latin typeface="Calibri"/>
              </a:rPr>
              <a:t>–   Un requisito no funcional dice COMO debe comportarse: «la busqueda de un expediente responde en menos de dos segundos», «la informacion no se pierde ante un corte de energia».</a:t>
            </a:r>
          </a:p>
          <a:p>
            <a:pPr>
              <a:spcAft>
                <a:spcPts val="800"/>
              </a:spcAft>
            </a:pPr>
            <a:r>
              <a:rPr sz="2000" b="0" i="0">
                <a:solidFill>
                  <a:srgbClr val="333333"/>
                </a:solidFill>
                <a:latin typeface="Calibri"/>
              </a:rPr>
              <a:t>–   Los no funcionales son los que mas se olvidan y, paradojicamente, los que mas condicionan la arquitectura.</a:t>
            </a:r>
          </a:p>
          <a:p>
            <a:pPr>
              <a:spcAft>
                <a:spcPts val="800"/>
              </a:spcAft>
            </a:pPr>
            <a:r>
              <a:rPr sz="2000" b="0" i="0">
                <a:solidFill>
                  <a:srgbClr val="333333"/>
                </a:solidFill>
                <a:latin typeface="Calibri"/>
              </a:rPr>
              <a:t>–   La regla practica que el estudiante debe interiorizar desde hoy es: si no se puede verificar, no es un requisito, es un deseo.</a:t>
            </a:r>
          </a:p>
          <a:p>
            <a:pPr>
              <a:spcAft>
                <a:spcPts val="800"/>
              </a:spcAft>
            </a:pPr>
            <a:r>
              <a:rPr sz="2000" b="0" i="0">
                <a:solidFill>
                  <a:srgbClr val="333333"/>
                </a:solidFill>
                <a:latin typeface="Calibri"/>
              </a:rPr>
              <a:t>–   «El sistema debe ser rapido» no sirve</a:t>
            </a:r>
          </a:p>
          <a:p>
            <a:pPr>
              <a:spcAft>
                <a:spcPts val="800"/>
              </a:spcAft>
            </a:pPr>
            <a:r>
              <a:rPr sz="2000" b="0" i="0">
                <a:solidFill>
                  <a:srgbClr val="333333"/>
                </a:solidFill>
                <a:latin typeface="Calibri"/>
              </a:rPr>
              <a:t>–   «responde en menos de 2 s con 50 usuarios simultaneos» si, porque alguien puede sentarse a comprobarlo.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interesados no son solo quien paga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interesados no son solo quien paga.</a:t>
            </a:r>
          </a:p>
          <a:p>
            <a:pPr>
              <a:spcAft>
                <a:spcPts val="800"/>
              </a:spcAft>
            </a:pPr>
            <a:r>
              <a:rPr sz="2000" b="0" i="0">
                <a:solidFill>
                  <a:srgbClr val="333333"/>
                </a:solidFill>
                <a:latin typeface="Calibri"/>
              </a:rPr>
              <a:t>–   En la clinica hay al menos tres con intereses distintos: el dueño de la clinica quiere metricas del negocio, la recepcionista quiere agendar rapido y con pocos clics, y el veterinario quiere el historial del paciente a la mano durante la consulta.</a:t>
            </a:r>
          </a:p>
          <a:p>
            <a:pPr>
              <a:spcAft>
                <a:spcPts val="800"/>
              </a:spcAft>
            </a:pPr>
            <a:r>
              <a:rPr sz="2000" b="0" i="0">
                <a:solidFill>
                  <a:srgbClr val="333333"/>
                </a:solidFill>
                <a:latin typeface="Calibri"/>
              </a:rPr>
              <a:t>–   Esos intereses entran en conflicto: pedir mas datos da mejores metricas al dueño pero vuelve mas lento el registro para la recepcionista.</a:t>
            </a:r>
          </a:p>
          <a:p>
            <a:pPr>
              <a:spcAft>
                <a:spcPts val="800"/>
              </a:spcAft>
            </a:pPr>
            <a:r>
              <a:rPr sz="2000" b="0" i="0">
                <a:solidFill>
                  <a:srgbClr val="333333"/>
                </a:solidFill>
                <a:latin typeface="Calibri"/>
              </a:rPr>
              <a:t>–   Resolver ese conflicto, decidiendo que se prioriza y documentando por que, es trabajo de analisis, no de programacion.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desarrollo pasa por las mismas fases —requisitos, diseño...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Todo desarrollo pasa por las mismas fases —requisitos, diseño, construccion, pruebas</a:t>
            </a:r>
          </a:p>
          <a:p>
            <a:pPr>
              <a:spcAft>
                <a:spcPts val="800"/>
              </a:spcAft>
            </a:pPr>
            <a:r>
              <a:rPr sz="2000" b="0" i="0">
                <a:solidFill>
                  <a:srgbClr val="333333"/>
                </a:solidFill>
                <a:latin typeface="Calibri"/>
              </a:rPr>
              <a:t>–   Mantenimiento— y lo que cambia entre metodologias no son las fases sino COMO se recorren: una sola vez y en orden (cascada) o en ciclos cortos que repiten todas las fases (iterativo y agil).</a:t>
            </a:r>
          </a:p>
          <a:p>
            <a:pPr>
              <a:spcAft>
                <a:spcPts val="800"/>
              </a:spcAft>
            </a:pPr>
            <a:r>
              <a:rPr sz="2000" b="0" i="0">
                <a:solidFill>
                  <a:srgbClr val="333333"/>
                </a:solidFill>
                <a:latin typeface="Calibri"/>
              </a:rPr>
              <a:t>–   Hoy solo se nombran; se comparan a fondo en las Clases 2, 3 y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que sirve documentar si al final lo que se usa es el codigo:...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Para que sirve documentar si al final lo que se usa es el codigo: depende de quien lee.</a:t>
            </a:r>
          </a:p>
          <a:p>
            <a:pPr>
              <a:spcAft>
                <a:spcPts val="800"/>
              </a:spcAft>
            </a:pPr>
            <a:r>
              <a:rPr sz="2000" b="0" i="0">
                <a:solidFill>
                  <a:srgbClr val="333333"/>
                </a:solidFill>
                <a:latin typeface="Calibri"/>
              </a:rPr>
              <a:t>–   El codigo lo lee la maquina y quien ya conoce el sistema; los planos los lee quien todavia no lo conoce: el companero que entra a mitad de semestre, quien revisa el diseño, el equipo de Programacion II que va a construir el sistema a partir de estos documentos</a:t>
            </a:r>
          </a:p>
          <a:p>
            <a:pPr>
              <a:spcAft>
                <a:spcPts val="800"/>
              </a:spcAft>
            </a:pPr>
            <a:r>
              <a:rPr sz="2000" b="0" i="0">
                <a:solidFill>
                  <a:srgbClr val="333333"/>
                </a:solidFill>
                <a:latin typeface="Calibri"/>
              </a:rPr>
              <a:t>–   Y usted mismo dentro de seis semanas cuando ya no recuerde por que decidio lo que decidio.</a:t>
            </a:r>
          </a:p>
          <a:p>
            <a:pPr>
              <a:spcAft>
                <a:spcPts val="800"/>
              </a:spcAft>
            </a:pPr>
            <a:r>
              <a:rPr sz="2000" b="0" i="0">
                <a:solidFill>
                  <a:srgbClr val="333333"/>
                </a:solidFill>
                <a:latin typeface="Calibri"/>
              </a:rPr>
              <a:t>–   Documentar no es escribir bonito ni llenar plantillas: es dejar por escrito las decisiones y su justificacion, de modo que otro pueda continuar sin volver a entrevistar al cliente.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semestre cabe en una sola frase, y de el depende saber...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primeras cuatro clases responden como se organiza el trabajo (ciclos de vida, metodologias tradicionales y agiles); de la sexta a la novena</a:t>
            </a:r>
          </a:p>
          <a:p>
            <a:pPr>
              <a:spcAft>
                <a:spcPts val="800"/>
              </a:spcAft>
            </a:pPr>
            <a:r>
              <a:rPr sz="2000" b="0" i="0">
                <a:solidFill>
                  <a:srgbClr val="333333"/>
                </a:solidFill>
                <a:latin typeface="Calibri"/>
              </a:rPr>
              <a:t>–   Que debe hacer el sistema (requisitos, historias de usuario, UML y casos de uso); de la once a la catorce, como se ve y como se sustenta (auditoria del avance, diagramas dinamicos, interfaces y sustentacion).</a:t>
            </a:r>
          </a:p>
          <a:p>
            <a:pPr>
              <a:spcAft>
                <a:spcPts val="800"/>
              </a:spcAft>
            </a:pPr>
            <a:r>
              <a:rPr sz="2000" b="0" i="0">
                <a:solidFill>
                  <a:srgbClr val="333333"/>
                </a:solidFill>
                <a:latin typeface="Calibri"/>
              </a:rPr>
              <a:t>–   Las clases 5, 10 y 15 son de parcial.</a:t>
            </a:r>
          </a:p>
          <a:p>
            <a:pPr>
              <a:spcAft>
                <a:spcPts val="800"/>
              </a:spcAft>
            </a:pPr>
            <a:r>
              <a:rPr sz="2000" b="0" i="0">
                <a:solidFill>
                  <a:srgbClr val="333333"/>
                </a:solidFill>
                <a:latin typeface="Calibri"/>
              </a:rPr>
              <a:t>–   Todo lo que se produzca en el camino se acumula en un unico paquete de diseno del proyecto, que es el producto real de la asignatura; no hay trabajos sueltos que se boten al terminar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un concepto que explica por que este curso existe: la deuda tecnica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concepto que explica por que este curso existe: la deuda tecnica.</a:t>
            </a:r>
          </a:p>
          <a:p>
            <a:pPr>
              <a:spcAft>
                <a:spcPts val="800"/>
              </a:spcAft>
            </a:pPr>
            <a:r>
              <a:rPr sz="2000" b="0" i="0">
                <a:solidFill>
                  <a:srgbClr val="333333"/>
                </a:solidFill>
                <a:latin typeface="Calibri"/>
              </a:rPr>
              <a:t>–   La metafora la propuso Ward Cunningham en 1992 hablando de codigo, y funciona igual de bien para el diseno, que es lo que se hace aqui.</a:t>
            </a:r>
          </a:p>
          <a:p>
            <a:pPr>
              <a:spcAft>
                <a:spcPts val="800"/>
              </a:spcAft>
            </a:pPr>
            <a:r>
              <a:rPr sz="2000" b="0" i="0">
                <a:solidFill>
                  <a:srgbClr val="333333"/>
                </a:solidFill>
                <a:latin typeface="Calibri"/>
              </a:rPr>
              <a:t>–   Un caso tipico que ocurre todos los semestres: el equipo no decide si una Mascota puede existir sin un Dueno registrado, porque en la primera semana parece un detalle.</a:t>
            </a:r>
          </a:p>
          <a:p>
            <a:pPr>
              <a:spcAft>
                <a:spcPts val="800"/>
              </a:spcAft>
            </a:pPr>
            <a:r>
              <a:rPr sz="2000" b="0" i="0">
                <a:solidFill>
                  <a:srgbClr val="333333"/>
                </a:solidFill>
                <a:latin typeface="Calibri"/>
              </a:rPr>
              <a:t>–   Ahora hay que decidir, ajustar dos documentos, avisar al equipo y probablemente rehacer un wireframe.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un concepto que explica por que este curso existe: la deuda tecnica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trabajo extra es el interes de una decision que costaba dos minutos en la Clase 1.</a:t>
            </a:r>
          </a:p>
          <a:p>
            <a:pPr>
              <a:spcAft>
                <a:spcPts val="800"/>
              </a:spcAft>
            </a:pPr>
            <a:r>
              <a:rPr sz="2000" b="0" i="0">
                <a:solidFill>
                  <a:srgbClr val="333333"/>
                </a:solidFill>
                <a:latin typeface="Calibri"/>
              </a:rPr>
              <a:t>–   Como convencion practica, los equipos maduros reservan entre el diez y el veinte por ciento de cada iteracion para pagar deuda; no es una regla dura, es una forma de reconocer que la deuda no desaparece sola.</a:t>
            </a:r>
          </a:p>
          <a:p>
            <a:pPr>
              <a:spcAft>
                <a:spcPts val="800"/>
              </a:spcAft>
            </a:pPr>
            <a:r>
              <a:rPr sz="2000" b="0" i="0">
                <a:solidFill>
                  <a:srgbClr val="333333"/>
                </a:solidFill>
                <a:latin typeface="Calibri"/>
              </a:rPr>
              <a:t>–   Y hay una deuda que nunca conviene tomar: la que se contrae por no saber que se estaba decidiendo algo.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un curso de diseno la deuda toma una forma particular y peligrosa:...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un curso de diseno la deuda toma una forma particular y peligrosa: el artefacto desactualizado.</a:t>
            </a:r>
          </a:p>
          <a:p>
            <a:pPr>
              <a:spcAft>
                <a:spcPts val="800"/>
              </a:spcAft>
            </a:pPr>
            <a:r>
              <a:rPr sz="2000" b="0" i="0">
                <a:solidFill>
                  <a:srgbClr val="333333"/>
                </a:solidFill>
                <a:latin typeface="Calibri"/>
              </a:rPr>
              <a:t>–   Un diagrama que ya no corresponde a la decision vigente es peor que no tener diagrama, porque un documento que no existe obliga a preguntar, mientras que un documento equivocado convence.</a:t>
            </a:r>
          </a:p>
          <a:p>
            <a:pPr>
              <a:spcAft>
                <a:spcPts val="800"/>
              </a:spcAft>
            </a:pPr>
            <a:r>
              <a:rPr sz="2000" b="0" i="0">
                <a:solidFill>
                  <a:srgbClr val="333333"/>
                </a:solidFill>
                <a:latin typeface="Calibri"/>
              </a:rPr>
              <a:t>–   La primera: cada artefacto lleva fecha y version visibles, de modo que cualquiera pueda saber si esta mirando lo ultimo.</a:t>
            </a:r>
          </a:p>
          <a:p>
            <a:pPr>
              <a:spcAft>
                <a:spcPts val="800"/>
              </a:spcAft>
            </a:pPr>
            <a:r>
              <a:rPr sz="2000" b="0" i="0">
                <a:solidFill>
                  <a:srgbClr val="333333"/>
                </a:solidFill>
                <a:latin typeface="Calibri"/>
              </a:rPr>
              <a:t>–   La segunda: si una decision cambia, el artefacto se actualiza en la misma semana y el cambio queda anotado en una linea, con la fecha y el motivo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un curso de diseno la deuda toma una forma particular y peligrosa:...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registro es lo que en la sustentacion de la Clase 14 distingue a un equipo que diseno de un equipo que improviso y despues escribio el documento hacia atras.</a:t>
            </a:r>
          </a:p>
          <a:p>
            <a:pPr>
              <a:spcAft>
                <a:spcPts val="800"/>
              </a:spcAft>
            </a:pPr>
            <a:r>
              <a:rPr sz="2000" b="0" i="0">
                <a:solidFill>
                  <a:srgbClr val="333333"/>
                </a:solidFill>
                <a:latin typeface="Calibri"/>
              </a:rPr>
              <a:t>–   Vale decirlo explicitamente porque contradice el habito escolar: aqui no se penaliza cambiar de opinion, se penaliza tener dos verdades circulando al mismo tiempo.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segundo concepto de fondo es la palabra modelo, que se usa todo el...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concepto de fondo es la palabra modelo, que se usa todo el semestre sin definirla.</a:t>
            </a:r>
          </a:p>
          <a:p>
            <a:pPr>
              <a:spcAft>
                <a:spcPts val="800"/>
              </a:spcAft>
            </a:pPr>
            <a:r>
              <a:rPr sz="2000" b="0" i="0">
                <a:solidFill>
                  <a:srgbClr val="333333"/>
                </a:solidFill>
                <a:latin typeface="Calibri"/>
              </a:rPr>
              <a:t>–   Un modelo es una representacion simplificada de algo real, construida para responder un conjunto acotado de preguntas.</a:t>
            </a:r>
          </a:p>
          <a:p>
            <a:pPr>
              <a:spcAft>
                <a:spcPts val="800"/>
              </a:spcAft>
            </a:pPr>
            <a:r>
              <a:rPr sz="2000" b="0" i="0">
                <a:solidFill>
                  <a:srgbClr val="333333"/>
                </a:solidFill>
                <a:latin typeface="Calibri"/>
              </a:rPr>
              <a:t>–   La parte que sorprende al estudiante es que un modelo util es necesariamente incompleto</a:t>
            </a:r>
          </a:p>
          <a:p>
            <a:pPr>
              <a:spcAft>
                <a:spcPts val="800"/>
              </a:spcAft>
            </a:pPr>
            <a:r>
              <a:rPr sz="2000" b="0" i="0">
                <a:solidFill>
                  <a:srgbClr val="333333"/>
                </a:solidFill>
                <a:latin typeface="Calibri"/>
              </a:rPr>
              <a:t>–   Y la razon es aritmetica y no filosofica: un modelo que incluyera todo seria del tamano del territorio que representa y por lo tanto no serviria para nada, porque un mapa a escala uno a uno pesa lo mismo que la ciudad y no cabe en el bolsillo.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segundo concepto de fondo es la palabra modelo, que se usa todo el...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formula que se cita habitualmente es que el mapa no es el territorio.</a:t>
            </a:r>
          </a:p>
          <a:p>
            <a:pPr>
              <a:spcAft>
                <a:spcPts val="800"/>
              </a:spcAft>
            </a:pPr>
            <a:r>
              <a:rPr sz="2000" b="0" i="0">
                <a:solidFill>
                  <a:srgbClr val="333333"/>
                </a:solidFill>
                <a:latin typeface="Calibri"/>
              </a:rPr>
              <a:t>–   Consecuencia operativa, y este es el criterio que el estudiante debe llevarse: para cada diagrama que va a dibujar hay que poder nombrar dos cosas, cual pregunta responde y quien es la persona que la hace.</a:t>
            </a:r>
          </a:p>
          <a:p>
            <a:pPr>
              <a:spcAft>
                <a:spcPts val="800"/>
              </a:spcAft>
            </a:pPr>
            <a:r>
              <a:rPr sz="2000" b="0" i="0">
                <a:solidFill>
                  <a:srgbClr val="333333"/>
                </a:solidFill>
                <a:latin typeface="Calibri"/>
              </a:rPr>
              <a:t>–   Si no se pueden nombrar, el diagrama no va.</a:t>
            </a:r>
          </a:p>
          <a:p>
            <a:pPr>
              <a:spcAft>
                <a:spcPts val="800"/>
              </a:spcAft>
            </a:pPr>
            <a:r>
              <a:rPr sz="2000" b="0" i="0">
                <a:solidFill>
                  <a:srgbClr val="333333"/>
                </a:solidFill>
                <a:latin typeface="Calibri"/>
              </a:rPr>
              <a:t>–   Esas otras preguntas tienen sus propios modelos, y el curso los introduce en las Clases 8, 9 y 12.</a:t>
            </a:r>
          </a:p>
          <a:p>
            <a:pPr>
              <a:spcAft>
                <a:spcPts val="800"/>
              </a:spcAft>
            </a:pPr>
            <a:r>
              <a:rPr sz="2000" b="0" i="0">
                <a:solidFill>
                  <a:srgbClr val="333333"/>
                </a:solidFill>
                <a:latin typeface="Calibri"/>
              </a:rPr>
              <a:t>–   Reconocer que cada diagrama es parcial es lo que permite tener varios sin contradecirse.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ahi se sigue que un modelo puede estar mal de dos maneras opuestas...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Puede omitir algo que si importaba para la pregunta que promete responder, y entonces es incompleto donde no debia.</a:t>
            </a:r>
          </a:p>
          <a:p>
            <a:pPr>
              <a:spcAft>
                <a:spcPts val="800"/>
              </a:spcAft>
            </a:pPr>
            <a:r>
              <a:rPr sz="2000" b="0" i="0">
                <a:solidFill>
                  <a:srgbClr val="333333"/>
                </a:solidFill>
                <a:latin typeface="Calibri"/>
              </a:rPr>
              <a:t>–   O puede incluir tanto detalle que nadie lo lee, y entonces es ruido con apariencia de rigor.</a:t>
            </a:r>
          </a:p>
          <a:p>
            <a:pPr>
              <a:spcAft>
                <a:spcPts val="800"/>
              </a:spcAft>
            </a:pPr>
            <a:r>
              <a:rPr sz="2000" b="0" i="0">
                <a:solidFill>
                  <a:srgbClr val="333333"/>
                </a:solidFill>
                <a:latin typeface="Calibri"/>
              </a:rPr>
              <a:t>–   La segunda falla es la mas comun en trabajos de curso, porque el estudiante asume que mas paginas equivalen a mas nota.</a:t>
            </a:r>
          </a:p>
          <a:p>
            <a:pPr>
              <a:spcAft>
                <a:spcPts val="800"/>
              </a:spcAft>
            </a:pPr>
            <a:r>
              <a:rPr sz="2000" b="0" i="0">
                <a:solidFill>
                  <a:srgbClr val="333333"/>
                </a:solidFill>
                <a:latin typeface="Calibri"/>
              </a:rPr>
              <a:t>–   Sirven algunas magnitudes de referencia, todas convenciones de este curso y no reglas del lenguaje: un diagrama de casos de uso legible rara vez pasa de quince o veinte casos</a:t>
            </a:r>
          </a:p>
          <a:p>
            <a:pPr>
              <a:spcAft>
                <a:spcPts val="800"/>
              </a:spcAft>
            </a:pPr>
            <a:r>
              <a:rPr sz="2000" b="0" i="0">
                <a:solidFill>
                  <a:srgbClr val="333333"/>
                </a:solidFill>
                <a:latin typeface="Calibri"/>
              </a:rPr>
              <a:t>–   Un diagrama con cuarenta elementos ya no se puede discutir en una reunion; una historia de usuario cabe en dos o tres lineas.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ahi se sigue que un modelo puede estar mal de dos maneras opuestas...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una prueba empirica que reemplaza cualquier lista de verificacion: entregue el artefacto a un compañero que no haya trabajado en su documento, sin explicarle nada, y pidale que lo explique en tres minutos.</a:t>
            </a:r>
          </a:p>
          <a:p>
            <a:pPr>
              <a:spcAft>
                <a:spcPts val="800"/>
              </a:spcAft>
            </a:pPr>
            <a:r>
              <a:rPr sz="2000" b="0" i="0">
                <a:solidFill>
                  <a:srgbClr val="333333"/>
                </a:solidFill>
                <a:latin typeface="Calibri"/>
              </a:rPr>
              <a:t>–   La pregunta previsible aqui es cuantos diagramas hay que hacer entonces, y la respuesta que hay que sostener todo el semestre es que se hacen los que responden preguntas que alguien tiene, y que un diagrama sin lector es trabajo perdido aunque este perfecto.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anterior conduce al criterio que gobierna todas las entregas de este...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anterior conduce al criterio que gobierna todas las entregas de este curso: la diferencia entre un documento que alguien puede usar y uno que solo existe para la nota.</a:t>
            </a:r>
          </a:p>
          <a:p>
            <a:pPr>
              <a:spcAft>
                <a:spcPts val="800"/>
              </a:spcAft>
            </a:pPr>
            <a:r>
              <a:rPr sz="2000" b="0" i="0">
                <a:solidFill>
                  <a:srgbClr val="333333"/>
                </a:solidFill>
                <a:latin typeface="Calibri"/>
              </a:rPr>
              <a:t>–   Son cinco rasgos y todos son verificables desde afuera.</a:t>
            </a:r>
          </a:p>
          <a:p>
            <a:pPr>
              <a:spcAft>
                <a:spcPts val="800"/>
              </a:spcAft>
            </a:pPr>
            <a:r>
              <a:rPr sz="2000" b="0" i="0">
                <a:solidFill>
                  <a:srgbClr val="333333"/>
                </a:solidFill>
                <a:latin typeface="Calibri"/>
              </a:rPr>
              <a:t>–   Dos, es verificable: sus afirmaciones se pueden confirmar o refutar, lo que en requisitos significa criterios de aceptacion.</a:t>
            </a:r>
          </a:p>
          <a:p>
            <a:pPr>
              <a:spcAft>
                <a:spcPts val="800"/>
              </a:spcAft>
            </a:pPr>
            <a:r>
              <a:rPr sz="2000" b="0" i="0">
                <a:solidFill>
                  <a:srgbClr val="333333"/>
                </a:solidFill>
                <a:latin typeface="Calibri"/>
              </a:rPr>
              <a:t>–   Tres, es trazable: cada requisito tiene identificador y se puede seguir hasta el artefacto donde se resuelve.</a:t>
            </a:r>
          </a:p>
          <a:p>
            <a:pPr>
              <a:spcAft>
                <a:spcPts val="800"/>
              </a:spcAft>
            </a:pPr>
            <a:r>
              <a:rPr sz="2000" b="0" i="0">
                <a:solidFill>
                  <a:srgbClr val="333333"/>
                </a:solidFill>
                <a:latin typeface="Calibri"/>
              </a:rPr>
              <a:t>–   Cinco, es accionable: alguien puede tomar una decision o construir algo con el.</a:t>
            </a:r>
          </a:p>
          <a:p>
            <a:pPr>
              <a:spcAft>
                <a:spcPts val="800"/>
              </a:spcAft>
            </a:pPr>
            <a:r>
              <a:rPr sz="2000" b="0" i="0">
                <a:solidFill>
                  <a:srgbClr val="333333"/>
                </a:solidFill>
                <a:latin typeface="Calibri"/>
              </a:rPr>
              <a:t>–   Version para la nota: el sistema debe ser amigable e intuitivo y permitir gestionar la informacion de las mascotas de manera eficiente.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anterior conduce al criterio que gobierna todas las entregas de este...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Version usable: RF-012, el sistema permite registrar una mascota con identificador, nombre, especie, fecha de nacimiento y dueno asociado</a:t>
            </a:r>
          </a:p>
          <a:p>
            <a:pPr>
              <a:spcAft>
                <a:spcPts val="800"/>
              </a:spcAft>
            </a:pPr>
            <a:r>
              <a:rPr sz="2000" b="0" i="0">
                <a:solidFill>
                  <a:srgbClr val="333333"/>
                </a:solidFill>
                <a:latin typeface="Calibri"/>
              </a:rPr>
              <a:t>–   Criterio de aceptacion, dado un dueno ya registrado, cuando la recepcionista guarda la mascota con esos cinco datos, entonces la mascota aparece en el listado de ese dueno</a:t>
            </a:r>
          </a:p>
          <a:p>
            <a:pPr>
              <a:spcAft>
                <a:spcPts val="800"/>
              </a:spcAft>
            </a:pPr>
            <a:r>
              <a:rPr sz="2000" b="0" i="0">
                <a:solidFill>
                  <a:srgbClr val="333333"/>
                </a:solidFill>
                <a:latin typeface="Calibri"/>
              </a:rPr>
              <a:t>–   Y si el dueno no existe el registro se rechaza con un mensaje; origen, entrevista con la recepcionista; prioridad, alta.</a:t>
            </a:r>
          </a:p>
          <a:p>
            <a:pPr>
              <a:spcAft>
                <a:spcPts val="800"/>
              </a:spcAft>
            </a:pPr>
            <a:r>
              <a:rPr sz="2000" b="0" i="0">
                <a:solidFill>
                  <a:srgbClr val="333333"/>
                </a:solidFill>
                <a:latin typeface="Calibri"/>
              </a:rPr>
              <a:t>–   Los tres rellenos que hay que prohibir desde hoy son la definicion copiada de un libro, la historia del origen de la ingenieria de software y las promesas sin sujeto del tipo se garantizara la calidad.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rasgo tres merece su propio parrafo porque es el hilo que amarra el...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rasgo tres merece su propio parrafo porque es el hilo que amarra el semestre: la trazabilidad.</a:t>
            </a:r>
          </a:p>
          <a:p>
            <a:pPr>
              <a:spcAft>
                <a:spcPts val="800"/>
              </a:spcAft>
            </a:pPr>
            <a:r>
              <a:rPr sz="2000" b="0" i="0">
                <a:solidFill>
                  <a:srgbClr val="333333"/>
                </a:solidFill>
                <a:latin typeface="Calibri"/>
              </a:rPr>
              <a:t>–   Trazabilidad es poder seguir un requisito desde su origen, es decir quien lo pidio, hasta el artefacto que lo resuelve y el criterio que lo verifica.</a:t>
            </a:r>
          </a:p>
          <a:p>
            <a:pPr>
              <a:spcAft>
                <a:spcPts val="800"/>
              </a:spcAft>
            </a:pPr>
            <a:r>
              <a:rPr sz="2000" b="0" i="0">
                <a:solidFill>
                  <a:srgbClr val="333333"/>
                </a:solidFill>
                <a:latin typeface="Calibri"/>
              </a:rPr>
              <a:t>–   En este curso la cadena es concreta y siempre la misma: un interesado dice algo en una entrevista, eso se convierte en un requisito con identificador en la Clase 6</a:t>
            </a:r>
          </a:p>
          <a:p>
            <a:pPr>
              <a:spcAft>
                <a:spcPts val="800"/>
              </a:spcAft>
            </a:pPr>
            <a:r>
              <a:rPr sz="2000" b="0" i="0">
                <a:solidFill>
                  <a:srgbClr val="333333"/>
                </a:solidFill>
                <a:latin typeface="Calibri"/>
              </a:rPr>
              <a:t>–   Se expresa como historia de usuario en la Clase 7, aparece como caso de uso en la Clase 9, se dibuja como pantalla en la Clase 13 y se cierra con un criterio de aceptacion que permite decir si quedo hecho.</a:t>
            </a:r>
          </a:p>
          <a:p>
            <a:pPr>
              <a:spcAft>
                <a:spcPts val="800"/>
              </a:spcAft>
            </a:pPr>
            <a:r>
              <a:rPr sz="2000" b="0" i="0">
                <a:solidFill>
                  <a:srgbClr val="333333"/>
                </a:solidFill>
                <a:latin typeface="Calibri"/>
              </a:rPr>
              <a:t>–   Dos controles simples permiten auditar esa cadena sin herramientas: todo requisito funcional debe aparecer al menos una vez en algun caso de uso, y todo caso de uso debe poder senalar el requisito que lo origina.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rasgo tres merece su propio parrafo porque es el hilo que amarra el...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requisito huerfano, que no aparece en ningun sitio, es una de dos cosas: algo que nadie necesita y hay que eliminar, o un hueco de diseno que nadie noto</a:t>
            </a:r>
          </a:p>
          <a:p>
            <a:pPr>
              <a:spcAft>
                <a:spcPts val="800"/>
              </a:spcAft>
            </a:pPr>
            <a:r>
              <a:rPr sz="2000" b="0" i="0">
                <a:solidFill>
                  <a:srgbClr val="333333"/>
                </a:solidFill>
                <a:latin typeface="Calibri"/>
              </a:rPr>
              <a:t>–   Ambas conclusiones son valiosas y ambas se pierden si el equipo escribe cada documento como si fuera independiente.</a:t>
            </a:r>
          </a:p>
          <a:p>
            <a:pPr>
              <a:spcAft>
                <a:spcPts val="800"/>
              </a:spcAft>
            </a:pPr>
            <a:r>
              <a:rPr sz="2000" b="0" i="0">
                <a:solidFill>
                  <a:srgbClr val="333333"/>
                </a:solidFill>
                <a:latin typeface="Calibri"/>
              </a:rPr>
              <a:t>–   Esta es tambien la razon por la que en la Clase 11 se revisa el avance mirando la coherencia entre artefactos y no la cantidad de paginas.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 dominio en Mermaid: la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42"/>
              </a:spcAft>
            </a:pPr>
            <a:r>
              <a:rPr sz="1200" b="0" i="0">
                <a:solidFill>
                  <a:srgbClr val="FFFFFF"/>
                </a:solidFill>
                <a:latin typeface="Calibri"/>
              </a:rPr>
              <a:t>flowchart LR</a:t>
            </a:r>
          </a:p>
          <a:p>
            <a:pPr>
              <a:spcAft>
                <a:spcPts val="342"/>
              </a:spcAft>
            </a:pPr>
            <a:r>
              <a:rPr sz="1200" b="0" i="0">
                <a:solidFill>
                  <a:srgbClr val="FFFFFF"/>
                </a:solidFill>
                <a:latin typeface="Calibri"/>
              </a:rPr>
              <a:t>  subgraph clinica[Clinica veterinaria]</a:t>
            </a:r>
          </a:p>
          <a:p>
            <a:pPr>
              <a:spcAft>
                <a:spcPts val="342"/>
              </a:spcAft>
            </a:pPr>
            <a:r>
              <a:rPr sz="1200" b="0" i="0">
                <a:solidFill>
                  <a:srgbClr val="FFFFFF"/>
                </a:solidFill>
                <a:latin typeface="Calibri"/>
              </a:rPr>
              <a:t>    rec([Recepcionista])</a:t>
            </a:r>
          </a:p>
          <a:p>
            <a:pPr>
              <a:spcAft>
                <a:spcPts val="342"/>
              </a:spcAft>
            </a:pPr>
            <a:r>
              <a:rPr sz="1200" b="0" i="0">
                <a:solidFill>
                  <a:srgbClr val="FFFFFF"/>
                </a:solidFill>
                <a:latin typeface="Calibri"/>
              </a:rPr>
              <a:t>    vet([Veterinario])</a:t>
            </a:r>
          </a:p>
          <a:p>
            <a:pPr>
              <a:spcAft>
                <a:spcPts val="342"/>
              </a:spcAft>
            </a:pPr>
            <a:r>
              <a:rPr sz="1200" b="0" i="0">
                <a:solidFill>
                  <a:srgbClr val="FFFFFF"/>
                </a:solidFill>
                <a:latin typeface="Calibri"/>
              </a:rPr>
              <a:t>  end</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subgraph sistema_clinica[El sistema de la clinica]</a:t>
            </a:r>
          </a:p>
          <a:p>
            <a:pPr>
              <a:spcAft>
                <a:spcPts val="342"/>
              </a:spcAft>
            </a:pPr>
            <a:r>
              <a:rPr sz="1200" b="0" i="0">
                <a:solidFill>
                  <a:srgbClr val="FFFFFF"/>
                </a:solidFill>
                <a:latin typeface="Calibri"/>
              </a:rPr>
              <a:t>    agenda[Agendar cita]</a:t>
            </a:r>
          </a:p>
          <a:p>
            <a:pPr>
              <a:spcAft>
                <a:spcPts val="342"/>
              </a:spcAft>
            </a:pPr>
            <a:r>
              <a:rPr sz="1200" b="0" i="0">
                <a:solidFill>
                  <a:srgbClr val="FFFFFF"/>
                </a:solidFill>
                <a:latin typeface="Calibri"/>
              </a:rPr>
              <a:t>    exped[Consultar expediente]</a:t>
            </a:r>
          </a:p>
          <a:p>
            <a:pPr>
              <a:spcAft>
                <a:spcPts val="342"/>
              </a:spcAft>
            </a:pPr>
            <a:r>
              <a:rPr sz="1200" b="0" i="0">
                <a:solidFill>
                  <a:srgbClr val="FFFFFF"/>
                </a:solidFill>
                <a:latin typeface="Calibri"/>
              </a:rPr>
              <a:t>  end</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lab[Laboratorio externo]</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rec --&gt;|agenda| agenda</a:t>
            </a:r>
          </a:p>
          <a:p>
            <a:pPr>
              <a:spcAft>
                <a:spcPts val="342"/>
              </a:spcAft>
            </a:pPr>
            <a:r>
              <a:rPr sz="1200" b="0" i="0">
                <a:solidFill>
                  <a:srgbClr val="FFFFFF"/>
                </a:solidFill>
                <a:latin typeface="Calibri"/>
              </a:rPr>
              <a:t>  vet --&gt;|consulta| exped</a:t>
            </a:r>
          </a:p>
          <a:p>
            <a:pPr>
              <a:spcAft>
                <a:spcPts val="342"/>
              </a:spcAft>
            </a:pPr>
            <a:r>
              <a:rPr sz="1200" b="0" i="0">
                <a:solidFill>
                  <a:srgbClr val="FFFFFF"/>
                </a:solidFill>
                <a:latin typeface="Calibri"/>
              </a:rPr>
              <a:t>  exped --&gt;|pide examen| lab</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Complete con SUS capacidades y actores: estas son dos de cada uno.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ficha de requisito bien escrito, campo por campo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RF-01  Registrar mascota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Actor:        Recepcionista</a:t>
            </a:r>
          </a:p>
          <a:p>
            <a:pPr>
              <a:spcAft>
                <a:spcPts val="400"/>
              </a:spcAft>
            </a:pPr>
            <a:r>
              <a:rPr sz="1400" b="0" i="0">
                <a:solidFill>
                  <a:srgbClr val="FFFFFF"/>
                </a:solidFill>
                <a:latin typeface="Calibri"/>
              </a:rPr>
              <a:t>Precondicion: el dueno ya esta registrado</a:t>
            </a:r>
          </a:p>
          <a:p>
            <a:pPr>
              <a:spcAft>
                <a:spcPts val="400"/>
              </a:spcAft>
            </a:pPr>
            <a:r>
              <a:rPr sz="1400" b="0" i="0">
                <a:solidFill>
                  <a:srgbClr val="FFFFFF"/>
                </a:solidFill>
                <a:latin typeface="Calibri"/>
              </a:rPr>
              <a:t>Descripcion:  El sistema DEBE permitir registrar una mascota con nombre,</a:t>
            </a:r>
          </a:p>
          <a:p>
            <a:pPr>
              <a:spcAft>
                <a:spcPts val="400"/>
              </a:spcAft>
            </a:pPr>
            <a:r>
              <a:rPr sz="1400" b="0" i="0">
                <a:solidFill>
                  <a:srgbClr val="FFFFFF"/>
                </a:solidFill>
                <a:latin typeface="Calibri"/>
              </a:rPr>
              <a:t>              especie, fecha de nacimiento y dueno asociado.</a:t>
            </a:r>
          </a:p>
          <a:p>
            <a:pPr>
              <a:spcAft>
                <a:spcPts val="400"/>
              </a:spcAft>
            </a:pPr>
            <a:r>
              <a:rPr sz="1400" b="0" i="0">
                <a:solidFill>
                  <a:srgbClr val="FFFFFF"/>
                </a:solidFill>
                <a:latin typeface="Calibri"/>
              </a:rPr>
              <a:t>Postcondicion: la mascota queda con expediente abierto y activa = 'S'</a:t>
            </a:r>
          </a:p>
          <a:p>
            <a:pPr>
              <a:spcAft>
                <a:spcPts val="400"/>
              </a:spcAft>
            </a:pPr>
            <a:r>
              <a:rPr sz="1400" b="0" i="0">
                <a:solidFill>
                  <a:srgbClr val="FFFFFF"/>
                </a:solidFill>
                <a:latin typeface="Calibri"/>
              </a:rPr>
              <a:t>Prioridad:    Must</a:t>
            </a:r>
          </a:p>
          <a:p>
            <a:pPr>
              <a:spcAft>
                <a:spcPts val="400"/>
              </a:spcAft>
            </a:pPr>
            <a:r>
              <a:rPr sz="1400" b="0" i="0">
                <a:solidFill>
                  <a:srgbClr val="FFFFFF"/>
                </a:solidFill>
                <a:latin typeface="Calibri"/>
              </a:rPr>
              <a:t>Origen:       entrevista Dr. Ramirez, 12/08/2026</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 que convierte una frase cruda en requisito: sujeto (el sistema),</a:t>
            </a:r>
          </a:p>
          <a:p>
            <a:pPr>
              <a:spcAft>
                <a:spcPts val="400"/>
              </a:spcAft>
            </a:pPr>
            <a:r>
              <a:rPr sz="1400" b="0" i="0">
                <a:solidFill>
                  <a:srgbClr val="FFFFFF"/>
                </a:solidFill>
                <a:latin typeface="Calibri"/>
              </a:rPr>
              <a:t>-- verbo normativo (DEBE), objeto verificable, y de donde salio.</a:t>
            </a:r>
          </a:p>
          <a:p>
            <a:pPr>
              <a:spcAft>
                <a:spcPts val="400"/>
              </a:spcAft>
            </a:pPr>
            <a:r>
              <a:rPr sz="1400" b="0" i="0">
                <a:solidFill>
                  <a:srgbClr val="FFFFFF"/>
                </a:solidFill>
                <a:latin typeface="Calibri"/>
              </a:rPr>
              <a:t>-- «El sistema debe ser facil de usar» no es un requisito: no se verifica.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frase cruda a requisito verificable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FRASE DEL CLIENTE (entrevista):</a:t>
            </a:r>
          </a:p>
          <a:p>
            <a:pPr>
              <a:spcAft>
                <a:spcPts val="400"/>
              </a:spcAft>
            </a:pPr>
            <a:r>
              <a:rPr sz="1400" b="0" i="0">
                <a:solidFill>
                  <a:srgbClr val="FFFFFF"/>
                </a:solidFill>
                <a:latin typeface="Calibri"/>
              </a:rPr>
              <a:t>  "Necesito buscar rapido el expediente de un animal usando solo su ID."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RF-01  Buscar expediente por identificador</a:t>
            </a:r>
          </a:p>
          <a:p>
            <a:pPr>
              <a:spcAft>
                <a:spcPts val="400"/>
              </a:spcAft>
            </a:pPr>
            <a:r>
              <a:rPr sz="1400" b="0" i="0">
                <a:solidFill>
                  <a:srgbClr val="FFFFFF"/>
                </a:solidFill>
                <a:latin typeface="Calibri"/>
              </a:rPr>
              <a:t>  El sistema permite consultar la ficha completa de una mascota</a:t>
            </a:r>
          </a:p>
          <a:p>
            <a:pPr>
              <a:spcAft>
                <a:spcPts val="400"/>
              </a:spcAft>
            </a:pPr>
            <a:r>
              <a:rPr sz="1400" b="0" i="0">
                <a:solidFill>
                  <a:srgbClr val="FFFFFF"/>
                </a:solidFill>
                <a:latin typeface="Calibri"/>
              </a:rPr>
              <a:t>  a partir de su identificador unico.</a:t>
            </a:r>
          </a:p>
          <a:p>
            <a:pPr>
              <a:spcAft>
                <a:spcPts val="400"/>
              </a:spcAft>
            </a:pPr>
            <a:r>
              <a:rPr sz="1400" b="0" i="0">
                <a:solidFill>
                  <a:srgbClr val="FFFFFF"/>
                </a:solidFill>
                <a:latin typeface="Calibri"/>
              </a:rPr>
              <a:t>  Actor: Recepcionista, Veterinario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RNF-01 Tiempo de respuesta de la busqueda</a:t>
            </a:r>
          </a:p>
          <a:p>
            <a:pPr>
              <a:spcAft>
                <a:spcPts val="400"/>
              </a:spcAft>
            </a:pPr>
            <a:r>
              <a:rPr sz="1400" b="0" i="0">
                <a:solidFill>
                  <a:srgbClr val="FFFFFF"/>
                </a:solidFill>
                <a:latin typeface="Calibri"/>
              </a:rPr>
              <a:t>  La consulta del RF-01 devuelve el resultado en menos de 2 segundos</a:t>
            </a:r>
          </a:p>
          <a:p>
            <a:pPr>
              <a:spcAft>
                <a:spcPts val="400"/>
              </a:spcAft>
            </a:pPr>
            <a:r>
              <a:rPr sz="1400" b="0" i="0">
                <a:solidFill>
                  <a:srgbClr val="FFFFFF"/>
                </a:solidFill>
                <a:latin typeface="Calibri"/>
              </a:rPr>
              <a:t>  con hasta 500 mascotas registradas.</a:t>
            </a:r>
          </a:p>
          <a:p>
            <a:pPr>
              <a:spcAft>
                <a:spcPts val="400"/>
              </a:spcAft>
            </a:pPr>
            <a:r>
              <a:rPr sz="1400" b="0" i="0">
                <a:solidFill>
                  <a:srgbClr val="FFFFFF"/>
                </a:solidFill>
                <a:latin typeface="Calibri"/>
              </a:rPr>
              <a:t>  Verificacion: medir con cronometro sobre el juego de datos de prueba.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Si no se puede verificar, no es un requisito: es un deseo.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Convertir en vivo la frase cruda «necesito buscar rapido el expediente de un animal» en un requisito funcional y uno no funcional bien escritos</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Conceptos iniciales de ingenieria de software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diseñar software y por que no es programar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