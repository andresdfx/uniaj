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Individuos e interacciones SOBRE procesos y herramientas; software funcionando SOBRE documentacion exhaustiva; colaboracion con el cliente SOBRE negociacion contractual; respuesta ante el cambio SOBRE seguir un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VetCare el docente actua como vocero de Huellitas en el rol de Product Owner, y cada estudiante -o cada equipo, si el docente lo autoriza- hace de equipo de desarrollo que se compromete con un objetivo de sprint.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VetCare el tablero seria Por hacer / Modelando / En revision del cliente / Aprobado, y la politica de la ultima columna podria ser 'solo pasa a Aprobado si tiene diagrama, mockup y visto bueno de la clinica'.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Agil hace las dos cosas al mismo tiempo.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equipo agil documenta historias de usuario con criterios de aceptacion, la Definicion de Terminado, las decisiones de arquitectura, el diccionario de datos y los diagramas que hagan falta, pero los escribe justo a tiempo y los mantiene vivos.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4</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Metodologias agiles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Iterar e incrementar sin dejar de documentar</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a:t>
            </a:r>
            <a:r>
              <a:rPr sz="2000" b="0" i="0">
                <a:solidFill>
                  <a:srgbClr val="333333"/>
                </a:solidFill>
                <a:latin typeface="Calibri"/>
              </a:rPr>
              <a:t> Metodologias agiles</a:t>
            </a:r>
          </a:p>
          <a:p>
            <a:pPr>
              <a:spcAft>
                <a:spcPts val="800"/>
              </a:spcAft>
            </a:pPr>
            <a:r>
              <a:rPr sz="2000" b="0" i="0">
                <a:solidFill>
                  <a:srgbClr val="333333"/>
                </a:solidFill>
                <a:latin typeface="Calibri"/>
              </a:rPr>
              <a:t>–   Iterar e incrementar sin dejar de documentar</a:t>
            </a:r>
          </a:p>
          <a:p>
            <a:pPr>
              <a:spcAft>
                <a:spcPts val="800"/>
              </a:spcAft>
            </a:pPr>
            <a:r>
              <a:rPr sz="2000" b="0" i="0">
                <a:solidFill>
                  <a:srgbClr val="333333"/>
                </a:solidFill>
                <a:latin typeface="Calibri"/>
              </a:rPr>
              <a:t>–   Herramienta del tema: </a:t>
            </a:r>
            <a:r>
              <a:rPr sz="2000" b="1" i="0">
                <a:solidFill>
                  <a:srgbClr val="333333"/>
                </a:solidFill>
                <a:latin typeface="Calibri"/>
              </a:rPr>
              <a:t>draw.io · Excalidraw · Google Docs</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Ejemplo de toda la clase: VetCare, el sistema de la clinica «Huellitas».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VetCare</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(opcional, guia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Sintesis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manifiesto agil se firmo en 2001 por diecisiete personas cansadas de...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manifiesto agil se firmo en 2001 por diecisiete personas cansadas de proyectos que entregaban documentos perfectos y sistemas inservibles.</a:t>
            </a:r>
          </a:p>
          <a:p>
            <a:pPr>
              <a:spcAft>
                <a:spcPts val="800"/>
              </a:spcAft>
            </a:pPr>
            <a:r>
              <a:rPr sz="2000" b="0" i="0">
                <a:solidFill>
                  <a:srgbClr val="333333"/>
                </a:solidFill>
                <a:latin typeface="Calibri"/>
              </a:rPr>
              <a:t>–   Tiene cuatro valores y la clave esta en la palabra que los une: 'sobre'.</a:t>
            </a:r>
          </a:p>
          <a:p>
            <a:pPr>
              <a:spcAft>
                <a:spcPts val="800"/>
              </a:spcAft>
            </a:pPr>
            <a:r>
              <a:rPr sz="2000" b="0" i="0">
                <a:solidFill>
                  <a:srgbClr val="333333"/>
                </a:solidFill>
                <a:latin typeface="Calibri"/>
              </a:rPr>
              <a:t>–   Dice sobre, no 'en vez de': lo de la derecha sigue teniendo valor, solo que lo de la izquierda tiene mas.</a:t>
            </a:r>
          </a:p>
          <a:p>
            <a:pPr>
              <a:spcAft>
                <a:spcPts val="800"/>
              </a:spcAft>
            </a:pPr>
            <a:r>
              <a:rPr sz="2000" b="0" i="0">
                <a:solidFill>
                  <a:srgbClr val="333333"/>
                </a:solidFill>
                <a:latin typeface="Calibri"/>
              </a:rPr>
              <a:t>–   Ademas hay doce principios, y tres son muy utiles aqui: entregar valor pronto y con frecuencia, aceptar el cambio incluso tarde, y mantener un ritmo sostenible.</a:t>
            </a:r>
          </a:p>
          <a:p>
            <a:pPr>
              <a:spcAft>
                <a:spcPts val="800"/>
              </a:spcAft>
            </a:pPr>
            <a:r>
              <a:rPr sz="2000" b="0" i="0">
                <a:solidFill>
                  <a:srgbClr val="333333"/>
                </a:solidFill>
                <a:latin typeface="Calibri"/>
              </a:rPr>
              <a:t>–   En VetCare esto se traduce en algo muy concreto: es mejor mostrarle a Huellitas un mockup imperfecto de la ficha en la semana tres que un documento de ochenta paginas en la semana quince.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Scrum es un marco de trabajo, no una metodologia completa: define lo...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Scrum es un marco de trabajo, no una metodologia completa: define lo minimo y deja que cada equipo llene el resto.</a:t>
            </a:r>
          </a:p>
          <a:p>
            <a:pPr>
              <a:spcAft>
                <a:spcPts val="800"/>
              </a:spcAft>
            </a:pPr>
            <a:r>
              <a:rPr sz="2000" b="0" i="0">
                <a:solidFill>
                  <a:srgbClr val="333333"/>
                </a:solidFill>
                <a:latin typeface="Calibri"/>
              </a:rPr>
              <a:t>–   Tiene tres roles: el Product Owner, que decide QUE se hace y en que orden, y es el dueño del Product Backlog; el Scrum Master, que facilita, protege al equipo y quita impedimentos</a:t>
            </a:r>
          </a:p>
          <a:p>
            <a:pPr>
              <a:spcAft>
                <a:spcPts val="800"/>
              </a:spcAft>
            </a:pPr>
            <a:r>
              <a:rPr sz="2000" b="0" i="0">
                <a:solidFill>
                  <a:srgbClr val="333333"/>
                </a:solidFill>
                <a:latin typeface="Calibri"/>
              </a:rPr>
              <a:t>–   Y que no es el jefe; y el equipo de desarrollo, que decide COMO hacerlo y se autoorganiza.</a:t>
            </a:r>
          </a:p>
          <a:p>
            <a:pPr>
              <a:spcAft>
                <a:spcPts val="800"/>
              </a:spcAft>
            </a:pPr>
            <a:r>
              <a:rPr sz="2000" b="0" i="0">
                <a:solidFill>
                  <a:srgbClr val="333333"/>
                </a:solidFill>
                <a:latin typeface="Calibri"/>
              </a:rPr>
              <a:t>–   Tiene cinco eventos: el Sprint, que es el contenedor de duracion fija (una a cuatro semanas), la Planificacion, la Reunion diaria de quince minutos para sincronizarse</a:t>
            </a:r>
          </a:p>
          <a:p>
            <a:pPr>
              <a:spcAft>
                <a:spcPts val="800"/>
              </a:spcAft>
            </a:pPr>
            <a:r>
              <a:rPr sz="2000" b="0" i="0">
                <a:solidFill>
                  <a:srgbClr val="333333"/>
                </a:solidFill>
                <a:latin typeface="Calibri"/>
              </a:rPr>
              <a:t>–   La Revision donde se le muestra el incremento al cliente, y la Retrospectiva donde se mejora la forma de trabajar.</a:t>
            </a:r>
          </a:p>
          <a:p>
            <a:pPr>
              <a:spcAft>
                <a:spcPts val="800"/>
              </a:spcAft>
            </a:pPr>
            <a:r>
              <a:rPr sz="2000" b="0" i="0">
                <a:solidFill>
                  <a:srgbClr val="333333"/>
                </a:solidFill>
                <a:latin typeface="Calibri"/>
              </a:rPr>
              <a:t>–   Y tiene tres artefactos: Product Backlog, Sprint Backlog e Incremento, este ultimo gobernado por la Definicion de Terminado.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Kanban viene de otra tradicion y su promesa es distinta: no impone...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Kanban viene de otra tradicion y su promesa es distinta: no impone iteraciones ni roles, sino que hace visible el flujo del trabajo.</a:t>
            </a:r>
          </a:p>
          <a:p>
            <a:pPr>
              <a:spcAft>
                <a:spcPts val="800"/>
              </a:spcAft>
            </a:pPr>
            <a:r>
              <a:rPr sz="2000" b="0" i="0">
                <a:solidFill>
                  <a:srgbClr val="333333"/>
                </a:solidFill>
                <a:latin typeface="Calibri"/>
              </a:rPr>
              <a:t>–   Sus practicas centrales son visualizar el trabajo en un tablero, limitar el trabajo en curso, gestionar el flujo detectando donde se acumulan las tarjetas, hacer explicitas las politicas de cada columna y mejorar de forma continua.</a:t>
            </a:r>
          </a:p>
          <a:p>
            <a:pPr>
              <a:spcAft>
                <a:spcPts val="800"/>
              </a:spcAft>
            </a:pPr>
            <a:r>
              <a:rPr sz="2000" b="0" i="0">
                <a:solidFill>
                  <a:srgbClr val="333333"/>
                </a:solidFill>
                <a:latin typeface="Calibri"/>
              </a:rPr>
              <a:t>–   El limite de trabajo en curso es la parte que mas cuesta y la que mas sirve: si el equipo pone limite dos en la columna 'Modelando', nadie puede empezar una tercera tarea sin terminar alguna.</a:t>
            </a:r>
          </a:p>
          <a:p>
            <a:pPr>
              <a:spcAft>
                <a:spcPts val="800"/>
              </a:spcAft>
            </a:pPr>
            <a:r>
              <a:rPr sz="2000" b="0" i="0">
                <a:solidFill>
                  <a:srgbClr val="333333"/>
                </a:solidFill>
                <a:latin typeface="Calibri"/>
              </a:rPr>
              <a:t>–   El estudiante que abre cinco diagramas al tiempo y no termina ninguno es exactamente el problema que el limite de trabajo en curso resuelve.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Hay dos palabras que se usan como sinonimos y significan cosas...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Hay dos palabras que se usan como sinonimos y significan cosas distintas: iteracion e incremento.</a:t>
            </a:r>
          </a:p>
          <a:p>
            <a:pPr>
              <a:spcAft>
                <a:spcPts val="800"/>
              </a:spcAft>
            </a:pPr>
            <a:r>
              <a:rPr sz="2000" b="0" i="0">
                <a:solidFill>
                  <a:srgbClr val="333333"/>
                </a:solidFill>
                <a:latin typeface="Calibri"/>
              </a:rPr>
              <a:t>–   Incremento es agregar un pedazo nuevo y utilizable al sistema; iteracion es volver sobre algo que ya existe y mejorarlo con base en la retroalimentacion.</a:t>
            </a:r>
          </a:p>
          <a:p>
            <a:pPr>
              <a:spcAft>
                <a:spcPts val="800"/>
              </a:spcAft>
            </a:pPr>
            <a:r>
              <a:rPr sz="2000" b="0" i="0">
                <a:solidFill>
                  <a:srgbClr val="333333"/>
                </a:solidFill>
                <a:latin typeface="Calibri"/>
              </a:rPr>
              <a:t>–   En VetCare el incremento 1 es el mockup de la ficha del paciente; cuando la veterinaria lo mira y dice 'me falta el campo de alergias y la foto de la mascota', y el equipo produce la version 2 de ese mismo mockup, eso es iteracion.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Hay dos palabras que se usan como sinonimos y significan cosas...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Y aqui aparece una regla practica que salva proyectos: cada entrega debe ser una rebanada vertical, algo que el cliente pueda ver y opinar, no una capa horizontal invisible.</a:t>
            </a:r>
          </a:p>
          <a:p>
            <a:pPr>
              <a:spcAft>
                <a:spcPts val="800"/>
              </a:spcAft>
            </a:pPr>
            <a:r>
              <a:rPr sz="2000" b="0" i="0">
                <a:solidFill>
                  <a:srgbClr val="333333"/>
                </a:solidFill>
                <a:latin typeface="Calibri"/>
              </a:rPr>
              <a:t>–   Entregar 'todas las tablas de la base de datos' no es un incremento util para Huellitas; entregar 'registrar y consultar una ficha completa de principio a fin' si lo es.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Agil no significa trabajar sin documentacion, y este es el malentendido...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Agil no significa trabajar sin documentacion, y este es el malentendido que mas daño hace.</a:t>
            </a:r>
          </a:p>
          <a:p>
            <a:pPr>
              <a:spcAft>
                <a:spcPts val="800"/>
              </a:spcAft>
            </a:pPr>
            <a:r>
              <a:rPr sz="2000" b="0" i="0">
                <a:solidFill>
                  <a:srgbClr val="333333"/>
                </a:solidFill>
                <a:latin typeface="Calibri"/>
              </a:rPr>
              <a:t>–   El manifiesto dice software funcionando sobre documentacion exhaustiva: lo que se rechaza es el documento inflado que nadie lee, no el documento util.</a:t>
            </a:r>
          </a:p>
          <a:p>
            <a:pPr>
              <a:spcAft>
                <a:spcPts val="800"/>
              </a:spcAft>
            </a:pPr>
            <a:r>
              <a:rPr sz="2000" b="0" i="0">
                <a:solidFill>
                  <a:srgbClr val="333333"/>
                </a:solidFill>
                <a:latin typeface="Calibri"/>
              </a:rPr>
              <a:t>–   Para nuestro Proyecto Integrador esto es central: en Seminario de Sistemas el entregable ES documentacion de diseño, y aun asi el trabajo puede ser perfectamente agil, porque se produce por incrementos, se revisa con el cliente y se corrige.</a:t>
            </a:r>
          </a:p>
          <a:p>
            <a:pPr>
              <a:spcAft>
                <a:spcPts val="800"/>
              </a:spcAft>
            </a:pPr>
            <a:r>
              <a:rPr sz="2000" b="0" i="0">
                <a:solidFill>
                  <a:srgbClr val="333333"/>
                </a:solidFill>
                <a:latin typeface="Calibri"/>
              </a:rPr>
              <a:t>–   El estudiante que solo cursa esta materia trabaja con sprints igual que los demas: sus incrementos son mockups, casos de uso y diccionario de datos, y cierra con un prototipo navegable que se puede recorrer y criticar.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plan de sprints en Mermaid (gantt)</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gantt</a:t>
            </a:r>
          </a:p>
          <a:p>
            <a:pPr>
              <a:spcAft>
                <a:spcPts val="400"/>
              </a:spcAft>
            </a:pPr>
            <a:r>
              <a:rPr sz="1400" b="0" i="0">
                <a:solidFill>
                  <a:srgbClr val="FFFFFF"/>
                </a:solidFill>
                <a:latin typeface="Calibri"/>
              </a:rPr>
              <a:t>  title Tres sprints de diseno de VetCare</a:t>
            </a:r>
          </a:p>
          <a:p>
            <a:pPr>
              <a:spcAft>
                <a:spcPts val="400"/>
              </a:spcAft>
            </a:pPr>
            <a:r>
              <a:rPr sz="1400" b="0" i="0">
                <a:solidFill>
                  <a:srgbClr val="FFFFFF"/>
                </a:solidFill>
                <a:latin typeface="Calibri"/>
              </a:rPr>
              <a:t>  dateFormat YYYY-MM-DD</a:t>
            </a:r>
          </a:p>
          <a:p>
            <a:pPr>
              <a:spcAft>
                <a:spcPts val="400"/>
              </a:spcAft>
            </a:pPr>
            <a:r>
              <a:rPr sz="1400" b="0" i="0">
                <a:solidFill>
                  <a:srgbClr val="FFFFFF"/>
                </a:solidFill>
                <a:latin typeface="Calibri"/>
              </a:rPr>
              <a:t>  axisFormat %d/%m</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section Sprint 1</a:t>
            </a:r>
          </a:p>
          <a:p>
            <a:pPr>
              <a:spcAft>
                <a:spcPts val="400"/>
              </a:spcAft>
            </a:pPr>
            <a:r>
              <a:rPr sz="1400" b="0" i="0">
                <a:solidFill>
                  <a:srgbClr val="FFFFFF"/>
                </a:solidFill>
                <a:latin typeface="Calibri"/>
              </a:rPr>
              <a:t>  Modelo de dominio      :s1a, 2026-09-01, 7d</a:t>
            </a:r>
          </a:p>
          <a:p>
            <a:pPr>
              <a:spcAft>
                <a:spcPts val="400"/>
              </a:spcAft>
            </a:pPr>
            <a:r>
              <a:rPr sz="1400" b="0" i="0">
                <a:solidFill>
                  <a:srgbClr val="FFFFFF"/>
                </a:solidFill>
                <a:latin typeface="Calibri"/>
              </a:rPr>
              <a:t>  Casos de uso nucleo    :s1b, after s1a, 7d</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section Sprint 2</a:t>
            </a:r>
          </a:p>
          <a:p>
            <a:pPr>
              <a:spcAft>
                <a:spcPts val="400"/>
              </a:spcAft>
            </a:pPr>
            <a:r>
              <a:rPr sz="1400" b="0" i="0">
                <a:solidFill>
                  <a:srgbClr val="FFFFFF"/>
                </a:solidFill>
                <a:latin typeface="Calibri"/>
              </a:rPr>
              <a:t>  Secuencia de agendar   :s2a, after s1b, 7d</a:t>
            </a:r>
          </a:p>
          <a:p>
            <a:pPr>
              <a:spcAft>
                <a:spcPts val="400"/>
              </a:spcAft>
            </a:pPr>
            <a:r>
              <a:rPr sz="1400" b="0" i="0">
                <a:solidFill>
                  <a:srgbClr val="FFFFFF"/>
                </a:solidFill>
                <a:latin typeface="Calibri"/>
              </a:rPr>
              <a:t>  Wireframes principales :s2b, after s2a, 7d</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section Sprint 3</a:t>
            </a:r>
          </a:p>
          <a:p>
            <a:pPr>
              <a:spcAft>
                <a:spcPts val="400"/>
              </a:spcAft>
            </a:pPr>
            <a:r>
              <a:rPr sz="1400" b="0" i="0">
                <a:solidFill>
                  <a:srgbClr val="FFFFFF"/>
                </a:solidFill>
                <a:latin typeface="Calibri"/>
              </a:rPr>
              <a:t>  Consolidacion paquete  :s3a, after s2b, 7d</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tablero de flujo con limite de trabajo en curso</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flowchart LR</a:t>
            </a:r>
          </a:p>
          <a:p>
            <a:pPr>
              <a:spcAft>
                <a:spcPts val="400"/>
              </a:spcAft>
            </a:pPr>
            <a:r>
              <a:rPr sz="1400" b="0" i="0">
                <a:solidFill>
                  <a:srgbClr val="FFFFFF"/>
                </a:solidFill>
                <a:latin typeface="Calibri"/>
              </a:rPr>
              <a:t>  subgraph backlog[Backlog]</a:t>
            </a:r>
          </a:p>
          <a:p>
            <a:pPr>
              <a:spcAft>
                <a:spcPts val="400"/>
              </a:spcAft>
            </a:pPr>
            <a:r>
              <a:rPr sz="1400" b="0" i="0">
                <a:solidFill>
                  <a:srgbClr val="FFFFFF"/>
                </a:solidFill>
                <a:latin typeface="Calibri"/>
              </a:rPr>
              <a:t>    b1[HU-04]</a:t>
            </a:r>
          </a:p>
          <a:p>
            <a:pPr>
              <a:spcAft>
                <a:spcPts val="400"/>
              </a:spcAft>
            </a:pPr>
            <a:r>
              <a:rPr sz="1400" b="0" i="0">
                <a:solidFill>
                  <a:srgbClr val="FFFFFF"/>
                </a:solidFill>
                <a:latin typeface="Calibri"/>
              </a:rPr>
              <a:t>    b2[HU-05]</a:t>
            </a:r>
          </a:p>
          <a:p>
            <a:pPr>
              <a:spcAft>
                <a:spcPts val="400"/>
              </a:spcAft>
            </a:pPr>
            <a:r>
              <a:rPr sz="1400" b="0" i="0">
                <a:solidFill>
                  <a:srgbClr val="FFFFFF"/>
                </a:solidFill>
                <a:latin typeface="Calibri"/>
              </a:rPr>
              <a:t>  end</a:t>
            </a:r>
          </a:p>
          <a:p>
            <a:pPr>
              <a:spcAft>
                <a:spcPts val="400"/>
              </a:spcAft>
            </a:pPr>
            <a:r>
              <a:rPr sz="1400" b="0" i="0">
                <a:solidFill>
                  <a:srgbClr val="FFFFFF"/>
                </a:solidFill>
                <a:latin typeface="Calibri"/>
              </a:rPr>
              <a:t>  subgraph curso[En curso - LIMITE 2]</a:t>
            </a:r>
          </a:p>
          <a:p>
            <a:pPr>
              <a:spcAft>
                <a:spcPts val="400"/>
              </a:spcAft>
            </a:pPr>
            <a:r>
              <a:rPr sz="1400" b="0" i="0">
                <a:solidFill>
                  <a:srgbClr val="FFFFFF"/>
                </a:solidFill>
                <a:latin typeface="Calibri"/>
              </a:rPr>
              <a:t>    c1[HU-02]</a:t>
            </a:r>
          </a:p>
          <a:p>
            <a:pPr>
              <a:spcAft>
                <a:spcPts val="400"/>
              </a:spcAft>
            </a:pPr>
            <a:r>
              <a:rPr sz="1400" b="0" i="0">
                <a:solidFill>
                  <a:srgbClr val="FFFFFF"/>
                </a:solidFill>
                <a:latin typeface="Calibri"/>
              </a:rPr>
              <a:t>    c2[HU-03]</a:t>
            </a:r>
          </a:p>
          <a:p>
            <a:pPr>
              <a:spcAft>
                <a:spcPts val="400"/>
              </a:spcAft>
            </a:pPr>
            <a:r>
              <a:rPr sz="1400" b="0" i="0">
                <a:solidFill>
                  <a:srgbClr val="FFFFFF"/>
                </a:solidFill>
                <a:latin typeface="Calibri"/>
              </a:rPr>
              <a:t>  end</a:t>
            </a:r>
          </a:p>
          <a:p>
            <a:pPr>
              <a:spcAft>
                <a:spcPts val="400"/>
              </a:spcAft>
            </a:pPr>
            <a:r>
              <a:rPr sz="1400" b="0" i="0">
                <a:solidFill>
                  <a:srgbClr val="FFFFFF"/>
                </a:solidFill>
                <a:latin typeface="Calibri"/>
              </a:rPr>
              <a:t>  subgraph rev[En revision - LIMITE 1]</a:t>
            </a:r>
          </a:p>
        </p:txBody>
      </p:sp>
      <p:sp>
        <p:nvSpPr>
          <p:cNvPr id="9" name="TextBox 8"/>
          <p:cNvSpPr txBox="1"/>
          <p:nvPr/>
        </p:nvSpPr>
        <p:spPr>
          <a:xfrm>
            <a:off x="6233007"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r1[HU-01]</a:t>
            </a:r>
          </a:p>
          <a:p>
            <a:pPr>
              <a:spcAft>
                <a:spcPts val="400"/>
              </a:spcAft>
            </a:pPr>
            <a:r>
              <a:rPr sz="1400" b="0" i="0">
                <a:solidFill>
                  <a:srgbClr val="FFFFFF"/>
                </a:solidFill>
                <a:latin typeface="Calibri"/>
              </a:rPr>
              <a:t>  end</a:t>
            </a:r>
          </a:p>
          <a:p>
            <a:pPr>
              <a:spcAft>
                <a:spcPts val="400"/>
              </a:spcAft>
            </a:pPr>
            <a:r>
              <a:rPr sz="1400" b="0" i="0">
                <a:solidFill>
                  <a:srgbClr val="FFFFFF"/>
                </a:solidFill>
                <a:latin typeface="Calibri"/>
              </a:rPr>
              <a:t>  subgraph listo[Terminado]</a:t>
            </a:r>
          </a:p>
          <a:p>
            <a:pPr>
              <a:spcAft>
                <a:spcPts val="400"/>
              </a:spcAft>
            </a:pPr>
            <a:r>
              <a:rPr sz="1400" b="0" i="0">
                <a:solidFill>
                  <a:srgbClr val="FFFFFF"/>
                </a:solidFill>
                <a:latin typeface="Calibri"/>
              </a:rPr>
              <a:t>    l1[HU-00]</a:t>
            </a:r>
          </a:p>
          <a:p>
            <a:pPr>
              <a:spcAft>
                <a:spcPts val="400"/>
              </a:spcAft>
            </a:pPr>
            <a:r>
              <a:rPr sz="1400" b="0" i="0">
                <a:solidFill>
                  <a:srgbClr val="FFFFFF"/>
                </a:solidFill>
                <a:latin typeface="Calibri"/>
              </a:rPr>
              <a:t>  end</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backlog --&gt; curso --&gt; rev --&gt; listo</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El LIMITE es lo que hace que el tablero sirva: sin el, todo esta</a:t>
            </a:r>
          </a:p>
          <a:p>
            <a:pPr>
              <a:spcAft>
                <a:spcPts val="400"/>
              </a:spcAft>
            </a:pPr>
            <a:r>
              <a:rPr sz="1400" b="0" i="0">
                <a:solidFill>
                  <a:srgbClr val="FFFFFF"/>
                </a:solidFill>
                <a:latin typeface="Calibri"/>
              </a:rPr>
              <a:t>%% «en curso» y nada termina. Para empezar HU-04 hay que cerrar una.</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Historia de usuario de VetCare con criterios de aceptacion</a:t>
            </a:r>
          </a:p>
        </p:txBody>
      </p:sp>
      <p:sp>
        <p:nvSpPr>
          <p:cNvPr id="5" name="Rounded Rectangle 4"/>
          <p:cNvSpPr/>
          <p:nvPr/>
        </p:nvSpPr>
        <p:spPr>
          <a:xfrm>
            <a:off x="457200" y="1261872"/>
            <a:ext cx="11277295" cy="477316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133087"/>
          </a:xfrm>
          <a:prstGeom prst="rect">
            <a:avLst/>
          </a:prstGeom>
          <a:noFill/>
        </p:spPr>
        <p:txBody>
          <a:bodyPr wrap="square">
            <a:spAutoFit/>
          </a:bodyPr>
          <a:lstStyle/>
          <a:p>
            <a:pPr>
              <a:spcAft>
                <a:spcPts val="400"/>
              </a:spcAft>
            </a:pPr>
            <a:r>
              <a:rPr sz="1400" b="0" i="0">
                <a:solidFill>
                  <a:srgbClr val="FFFFFF"/>
                </a:solidFill>
                <a:latin typeface="Calibri"/>
              </a:rPr>
              <a:t>HU-07  Buscar historia clinica</a:t>
            </a:r>
          </a:p>
          <a:p>
            <a:pPr>
              <a:spcAft>
                <a:spcPts val="400"/>
              </a:spcAft>
            </a:pPr>
            <a:r>
              <a:rPr sz="1400" b="0" i="0">
                <a:solidFill>
                  <a:srgbClr val="FFFFFF"/>
                </a:solidFill>
                <a:latin typeface="Calibri"/>
              </a:rPr>
              <a:t>  Como veterinaria de la clinica Huellitas</a:t>
            </a:r>
          </a:p>
          <a:p>
            <a:pPr>
              <a:spcAft>
                <a:spcPts val="400"/>
              </a:spcAft>
            </a:pPr>
            <a:r>
              <a:rPr sz="1400" b="0" i="0">
                <a:solidFill>
                  <a:srgbClr val="FFFFFF"/>
                </a:solidFill>
                <a:latin typeface="Calibri"/>
              </a:rPr>
              <a:t>  quiero buscar la historia clinica de una mascota por nombre o documento</a:t>
            </a:r>
          </a:p>
          <a:p>
            <a:pPr>
              <a:spcAft>
                <a:spcPts val="400"/>
              </a:spcAft>
            </a:pPr>
            <a:r>
              <a:rPr sz="1400" b="0" i="0">
                <a:solidFill>
                  <a:srgbClr val="FFFFFF"/>
                </a:solidFill>
                <a:latin typeface="Calibri"/>
              </a:rPr>
              <a:t>  para atender la consulta sin ir al archivador de papel.</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Criterios de aceptacion</a:t>
            </a:r>
          </a:p>
          <a:p>
            <a:pPr>
              <a:spcAft>
                <a:spcPts val="400"/>
              </a:spcAft>
            </a:pPr>
            <a:r>
              <a:rPr sz="1400" b="0" i="0">
                <a:solidFill>
                  <a:srgbClr val="FFFFFF"/>
                </a:solidFill>
                <a:latin typeface="Calibri"/>
              </a:rPr>
              <a:t>  Dado que la mascota Rocky esta registrada con el dueño CC 1.144.556</a:t>
            </a:r>
          </a:p>
          <a:p>
            <a:pPr>
              <a:spcAft>
                <a:spcPts val="400"/>
              </a:spcAft>
            </a:pPr>
            <a:r>
              <a:rPr sz="1400" b="0" i="0">
                <a:solidFill>
                  <a:srgbClr val="FFFFFF"/>
                </a:solidFill>
                <a:latin typeface="Calibri"/>
              </a:rPr>
              <a:t>  Cuando escribo Rocky en el buscador y presiono Enter</a:t>
            </a:r>
          </a:p>
          <a:p>
            <a:pPr>
              <a:spcAft>
                <a:spcPts val="400"/>
              </a:spcAft>
            </a:pPr>
            <a:r>
              <a:rPr sz="1400" b="0" i="0">
                <a:solidFill>
                  <a:srgbClr val="FFFFFF"/>
                </a:solidFill>
                <a:latin typeface="Calibri"/>
              </a:rPr>
              <a:t>  Entonces veo la ficha con especie, edad y las ultimas 3 consultas en &lt;= 3 s</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Dado que escribo un nombre que no existe en el sistema</a:t>
            </a:r>
          </a:p>
          <a:p>
            <a:pPr>
              <a:spcAft>
                <a:spcPts val="400"/>
              </a:spcAft>
            </a:pPr>
            <a:r>
              <a:rPr sz="1400" b="0" i="0">
                <a:solidFill>
                  <a:srgbClr val="FFFFFF"/>
                </a:solidFill>
                <a:latin typeface="Calibri"/>
              </a:rPr>
              <a:t>  Cuando presiono Enter</a:t>
            </a:r>
          </a:p>
          <a:p>
            <a:pPr>
              <a:spcAft>
                <a:spcPts val="400"/>
              </a:spcAft>
            </a:pPr>
            <a:r>
              <a:rPr sz="1400" b="0" i="0">
                <a:solidFill>
                  <a:srgbClr val="FFFFFF"/>
                </a:solidFill>
                <a:latin typeface="Calibri"/>
              </a:rPr>
              <a:t>  Entonces veo 'No se encontro el paciente' y el boton Registrar nuevo</a:t>
            </a:r>
          </a:p>
          <a:p>
            <a:pPr>
              <a:spcAft>
                <a:spcPts val="400"/>
              </a:spcAft>
            </a:pPr>
            <a:r>
              <a:rPr sz="1400" b="0" i="0">
                <a:solidFill>
                  <a:srgbClr val="FFFFFF"/>
                </a:solidFill>
                <a:latin typeface="Calibri"/>
              </a:rPr>
              <a:t>Terminado = caso de uso + mockup + revision de un compañero + visto bueno del cliente</a:t>
            </a:r>
          </a:p>
        </p:txBody>
      </p:sp>
      <p:sp>
        <p:nvSpPr>
          <p:cNvPr id="9" name="TextBox 8"/>
          <p:cNvSpPr txBox="1"/>
          <p:nvPr/>
        </p:nvSpPr>
        <p:spPr>
          <a:xfrm>
            <a:off x="457200" y="6080760"/>
            <a:ext cx="11277295" cy="320040"/>
          </a:xfrm>
          <a:prstGeom prst="rect">
            <a:avLst/>
          </a:prstGeom>
          <a:noFill/>
        </p:spPr>
        <p:txBody>
          <a:bodyPr wrap="square">
            <a:spAutoFit/>
          </a:bodyPr>
          <a:lstStyle/>
          <a:p>
            <a:pPr algn="ctr"/>
            <a:r>
              <a:rPr sz="1200" b="0" i="1">
                <a:solidFill>
                  <a:srgbClr val="666666"/>
                </a:solidFill>
                <a:latin typeface="Calibri"/>
              </a:rPr>
              <a:t>La historia dice quien la necesita y para que; los criterios dicen como se demuestra que quedo lista, incluido el camino que sale mal.</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draw.io · Excalidraw · Google Docs</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arma en pantalla el tablero de VetCare, arrastra una tarjeta de 'Por hacer' a 'En revision del cliente' y muestra que pasa cuando se rompe el limite de trabajo en curso.</a:t>
            </a:r>
          </a:p>
          <a:p>
            <a:pPr>
              <a:spcAft>
                <a:spcPts val="800"/>
              </a:spcAft>
            </a:pPr>
            <a:r>
              <a:rPr sz="2000" b="0" i="0">
                <a:solidFill>
                  <a:srgbClr val="333333"/>
                </a:solidFill>
                <a:latin typeface="Calibri"/>
              </a:rPr>
              <a:t>–   Mismo dominio VetCare — no otro ejemplo. Aqui se diseña, no se programa.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4 · Metodologias agiles</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Iterar e incrementar sin dejar de documentar</a:t>
            </a:r>
          </a:p>
          <a:p>
            <a:pPr algn="ctr">
              <a:spcAft>
                <a:spcPts val="600"/>
              </a:spcAft>
            </a:pPr>
            <a:r>
              <a:rPr sz="1600" b="0" i="0">
                <a:solidFill>
                  <a:srgbClr val="333333"/>
                </a:solidFill>
                <a:latin typeface="Calibri"/>
              </a:rPr>
              <a:t>Repasen las laminas de teoria: cada concepto esta completo</a:t>
            </a:r>
          </a:p>
          <a:p>
            <a:pPr algn="ctr">
              <a:spcAft>
                <a:spcPts val="600"/>
              </a:spcAft>
            </a:pPr>
            <a:r>
              <a:rPr sz="1600" b="0" i="0">
                <a:solidFill>
                  <a:srgbClr val="333333"/>
                </a:solidFill>
                <a:latin typeface="Calibri"/>
              </a:rPr>
              <a:t>Siguiente clase: continuamos con el siguiente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