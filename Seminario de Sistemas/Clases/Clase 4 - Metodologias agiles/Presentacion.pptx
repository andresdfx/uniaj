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listo el backlog priorizado de VetCare repartido en sprints del semestre, con las primeras historias de usuario escritas con criterios de aceptacion.</a:t>
            </a:r>
          </a:p>
          <a:p>
            <a:pPr>
              <a:spcAft>
                <a:spcPts val="800"/>
              </a:spcAft>
            </a:pPr>
            <a:r>
              <a:rPr sz="2000" b="0" i="0">
                <a:solidFill>
                  <a:srgbClr val="333333"/>
                </a:solidFill>
                <a:latin typeface="Calibri"/>
              </a:rPr>
              <a:t>–   Herramienta: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agil se firmo en 2001 por diecisiete personas cansadas 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manifiesto agil se firmo en 2001 por diecisiete personas cansadas de proyectos que entregaban documentos perfectos y sistemas inservibles.</a:t>
            </a:r>
          </a:p>
          <a:p>
            <a:pPr>
              <a:spcAft>
                <a:spcPts val="800"/>
              </a:spcAft>
            </a:pPr>
            <a:r>
              <a:rPr sz="2000" b="0" i="0">
                <a:solidFill>
                  <a:srgbClr val="333333"/>
                </a:solidFill>
                <a:latin typeface="Calibri"/>
              </a:rPr>
              <a:t>–   Tiene cuatro valores y la clave esta en la palabra que los une: 'sobre'.</a:t>
            </a:r>
          </a:p>
          <a:p>
            <a:pPr>
              <a:spcAft>
                <a:spcPts val="800"/>
              </a:spcAft>
            </a:pPr>
            <a:r>
              <a:rPr sz="2000" b="0" i="0">
                <a:solidFill>
                  <a:srgbClr val="333333"/>
                </a:solidFill>
                <a:latin typeface="Calibri"/>
              </a:rPr>
              <a:t>–   Dice sobre, no 'en vez de': lo de la derecha sigue teniendo valor, solo que lo de la izquierda tiene mas.</a:t>
            </a:r>
          </a:p>
          <a:p>
            <a:pPr>
              <a:spcAft>
                <a:spcPts val="800"/>
              </a:spcAft>
            </a:pPr>
            <a:r>
              <a:rPr sz="2000" b="0" i="0">
                <a:solidFill>
                  <a:srgbClr val="333333"/>
                </a:solidFill>
                <a:latin typeface="Calibri"/>
              </a:rPr>
              <a:t>–   Ademas hay doce principios, y tres son muy utiles aqui: entregar valor pronto y con frecuencia, aceptar el cambio incluso tarde, y mantener un ritmo sostenible.</a:t>
            </a:r>
          </a:p>
          <a:p>
            <a:pPr>
              <a:spcAft>
                <a:spcPts val="800"/>
              </a:spcAft>
            </a:pPr>
            <a:r>
              <a:rPr sz="2000" b="0" i="0">
                <a:solidFill>
                  <a:srgbClr val="333333"/>
                </a:solidFill>
                <a:latin typeface="Calibri"/>
              </a:rPr>
              <a:t>–   En VetCare esto se traduce en algo muy concreto: es mejor mostrarle a Huellitas un mockup imperfecto de la ficha en la semana tres que un documento de ochenta paginas en la semana quince.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es un marco de trabajo, no una metodologia completa: define lo...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Scrum es un marco de trabajo, no una metodologia completa: define lo minimo y deja que cada equipo llene el resto.</a:t>
            </a:r>
          </a:p>
          <a:p>
            <a:pPr>
              <a:spcAft>
                <a:spcPts val="800"/>
              </a:spcAft>
            </a:pPr>
            <a:r>
              <a:rPr sz="2000" b="0" i="0">
                <a:solidFill>
                  <a:srgbClr val="333333"/>
                </a:solidFill>
                <a:latin typeface="Calibri"/>
              </a:rPr>
              <a:t>–   Tiene tres roles: el Product Owner, que decide QUE se hace y en que orden, y es el dueño del Product Backlog; el Scrum Master, que facilita, protege al equipo y quita impedimentos</a:t>
            </a:r>
          </a:p>
          <a:p>
            <a:pPr>
              <a:spcAft>
                <a:spcPts val="800"/>
              </a:spcAft>
            </a:pPr>
            <a:r>
              <a:rPr sz="2000" b="0" i="0">
                <a:solidFill>
                  <a:srgbClr val="333333"/>
                </a:solidFill>
                <a:latin typeface="Calibri"/>
              </a:rPr>
              <a:t>–   Y que no es el jefe; y el equipo de desarrollo, que decide COMO hacerlo y se autoorganiza.</a:t>
            </a:r>
          </a:p>
          <a:p>
            <a:pPr>
              <a:spcAft>
                <a:spcPts val="800"/>
              </a:spcAft>
            </a:pPr>
            <a:r>
              <a:rPr sz="2000" b="0" i="0">
                <a:solidFill>
                  <a:srgbClr val="333333"/>
                </a:solidFill>
                <a:latin typeface="Calibri"/>
              </a:rPr>
              <a:t>–   Tiene cinco eventos: el Sprint, que es el contenedor de duracion fija (una a cuatro semanas), la Planificacion, la Reunion diaria de quince minutos para sincronizarse</a:t>
            </a:r>
          </a:p>
          <a:p>
            <a:pPr>
              <a:spcAft>
                <a:spcPts val="800"/>
              </a:spcAft>
            </a:pPr>
            <a:r>
              <a:rPr sz="2000" b="0" i="0">
                <a:solidFill>
                  <a:srgbClr val="333333"/>
                </a:solidFill>
                <a:latin typeface="Calibri"/>
              </a:rPr>
              <a:t>–   La Revision donde se le muestra el incremento al cliente, y la Retrospectiva donde se mejora la forma de trabajar.</a:t>
            </a:r>
          </a:p>
          <a:p>
            <a:pPr>
              <a:spcAft>
                <a:spcPts val="800"/>
              </a:spcAft>
            </a:pPr>
            <a:r>
              <a:rPr sz="2000" b="0" i="0">
                <a:solidFill>
                  <a:srgbClr val="333333"/>
                </a:solidFill>
                <a:latin typeface="Calibri"/>
              </a:rPr>
              <a:t>–   Y tiene tres artefactos: Product Backlog, Sprint Backlog e Incremento, este ultimo gobernado por la Definicion de Terminado.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viene de otra tradicion y su promesa es distinta: no impone...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Kanban viene de otra tradicion y su promesa es distinta: no impone iteraciones ni roles, sino que hace visible el flujo del trabajo.</a:t>
            </a:r>
          </a:p>
          <a:p>
            <a:pPr>
              <a:spcAft>
                <a:spcPts val="800"/>
              </a:spcAft>
            </a:pPr>
            <a:r>
              <a:rPr sz="2000" b="0" i="0">
                <a:solidFill>
                  <a:srgbClr val="333333"/>
                </a:solidFill>
                <a:latin typeface="Calibri"/>
              </a:rPr>
              <a:t>–   Sus practicas centrales son visualizar el trabajo en un tablero, limitar el trabajo en curso, gestionar el flujo detectando donde se acumulan las tarjetas, hacer explicitas las politicas de cada columna y mejorar de forma continua.</a:t>
            </a:r>
          </a:p>
          <a:p>
            <a:pPr>
              <a:spcAft>
                <a:spcPts val="800"/>
              </a:spcAft>
            </a:pPr>
            <a:r>
              <a:rPr sz="2000" b="0" i="0">
                <a:solidFill>
                  <a:srgbClr val="333333"/>
                </a:solidFill>
                <a:latin typeface="Calibri"/>
              </a:rPr>
              <a:t>–   El limite de trabajo en curso es la parte que mas cuesta y la que mas sirve: si el equipo pone limite dos en la columna 'Modelando', nadie puede empezar una tercera tarea sin terminar alguna.</a:t>
            </a:r>
          </a:p>
          <a:p>
            <a:pPr>
              <a:spcAft>
                <a:spcPts val="800"/>
              </a:spcAft>
            </a:pPr>
            <a:r>
              <a:rPr sz="2000" b="0" i="0">
                <a:solidFill>
                  <a:srgbClr val="333333"/>
                </a:solidFill>
                <a:latin typeface="Calibri"/>
              </a:rPr>
              <a:t>–   El estudiante que abre cinco diagramas al tiempo y no termina ninguno es exactamente el problema que el limite de trabajo en curso resuelve.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palabras que se usan como sinonimos y significan cosas distintas: iteracion e incremento.</a:t>
            </a:r>
          </a:p>
          <a:p>
            <a:pPr>
              <a:spcAft>
                <a:spcPts val="800"/>
              </a:spcAft>
            </a:pPr>
            <a:r>
              <a:rPr sz="2000" b="0" i="0">
                <a:solidFill>
                  <a:srgbClr val="333333"/>
                </a:solidFill>
                <a:latin typeface="Calibri"/>
              </a:rPr>
              <a:t>–   Incremento es agregar un pedazo nuevo y utilizable al sistema; iteracion es volver sobre algo que ya existe y mejorarlo con base en la retroalimentacion.</a:t>
            </a:r>
          </a:p>
          <a:p>
            <a:pPr>
              <a:spcAft>
                <a:spcPts val="800"/>
              </a:spcAft>
            </a:pPr>
            <a:r>
              <a:rPr sz="2000" b="0" i="0">
                <a:solidFill>
                  <a:srgbClr val="333333"/>
                </a:solidFill>
                <a:latin typeface="Calibri"/>
              </a:rPr>
              <a:t>–   En VetCare el incremento 1 es el mockup de la ficha del paciente; cuando la veterinaria lo mira y dice 'me falta el campo de alergias y la foto de la mascota', y el equipo produce la version 2 de ese mismo mockup, eso es iteracion.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aqui aparece una regla practica que salva proyectos: cada entrega debe ser una rebanada vertical, algo que el cliente pueda ver y opinar, no una capa horizontal invisible.</a:t>
            </a:r>
          </a:p>
          <a:p>
            <a:pPr>
              <a:spcAft>
                <a:spcPts val="800"/>
              </a:spcAft>
            </a:pPr>
            <a:r>
              <a:rPr sz="2000" b="0" i="0">
                <a:solidFill>
                  <a:srgbClr val="333333"/>
                </a:solidFill>
                <a:latin typeface="Calibri"/>
              </a:rPr>
              <a:t>–   Entregar 'todas las tablas de la base de datos' no es un incremento util para Huellitas; entregar 'registrar y consultar una ficha completa de principio a fin'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Agil no significa trabajar sin documentacion, y este es el malentendido...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Agil no significa trabajar sin documentacion, y este es el malentendido que mas daño hace.</a:t>
            </a:r>
          </a:p>
          <a:p>
            <a:pPr>
              <a:spcAft>
                <a:spcPts val="800"/>
              </a:spcAft>
            </a:pPr>
            <a:r>
              <a:rPr sz="2000" b="0" i="0">
                <a:solidFill>
                  <a:srgbClr val="333333"/>
                </a:solidFill>
                <a:latin typeface="Calibri"/>
              </a:rPr>
              <a:t>–   El manifiesto dice software funcionando sobre documentacion exhaustiva: lo que se rechaza es el documento inflado que nadie lee, no el documento util.</a:t>
            </a:r>
          </a:p>
          <a:p>
            <a:pPr>
              <a:spcAft>
                <a:spcPts val="800"/>
              </a:spcAft>
            </a:pPr>
            <a:r>
              <a:rPr sz="2000" b="0" i="0">
                <a:solidFill>
                  <a:srgbClr val="333333"/>
                </a:solidFill>
                <a:latin typeface="Calibri"/>
              </a:rPr>
              <a:t>–   Para nuestro Proyecto Integrador esto es central: en Seminario de Sistemas el entregable ES documentacion de diseño, y aun asi el trabajo puede ser perfectamente agil, porque se produce por incrementos, se revisa con el cliente y se corrige.</a:t>
            </a:r>
          </a:p>
          <a:p>
            <a:pPr>
              <a:spcAft>
                <a:spcPts val="800"/>
              </a:spcAft>
            </a:pPr>
            <a:r>
              <a:rPr sz="2000" b="0" i="0">
                <a:solidFill>
                  <a:srgbClr val="333333"/>
                </a:solidFill>
                <a:latin typeface="Calibri"/>
              </a:rPr>
              <a:t>–   El estudiante que solo cursa esta materia trabaja con sprints igual que los demas: sus incrementos son mockups, casos de uso y diccionario de datos, y cierra con un prototipo navegable que se puede recorrer y criticar.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de VetCare con criterios de aceptacion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HU-07  Buscar historia clinica</a:t>
            </a:r>
          </a:p>
          <a:p>
            <a:pPr>
              <a:spcAft>
                <a:spcPts val="400"/>
              </a:spcAft>
            </a:pPr>
            <a:r>
              <a:rPr sz="1400" b="0" i="0">
                <a:solidFill>
                  <a:srgbClr val="FFFFFF"/>
                </a:solidFill>
                <a:latin typeface="Calibri"/>
              </a:rPr>
              <a:t>  Como veterinaria de la clinica Huellitas</a:t>
            </a:r>
          </a:p>
          <a:p>
            <a:pPr>
              <a:spcAft>
                <a:spcPts val="400"/>
              </a:spcAft>
            </a:pPr>
            <a:r>
              <a:rPr sz="1400" b="0" i="0">
                <a:solidFill>
                  <a:srgbClr val="FFFFFF"/>
                </a:solidFill>
                <a:latin typeface="Calibri"/>
              </a:rPr>
              <a:t>  quiero buscar la historia clinica de una mascota por nombre o documento</a:t>
            </a:r>
          </a:p>
          <a:p>
            <a:pPr>
              <a:spcAft>
                <a:spcPts val="400"/>
              </a:spcAft>
            </a:pPr>
            <a:r>
              <a:rPr sz="1400" b="0" i="0">
                <a:solidFill>
                  <a:srgbClr val="FFFFFF"/>
                </a:solidFill>
                <a:latin typeface="Calibri"/>
              </a:rPr>
              <a:t>  para atender la consulta sin ir al archivador de papel.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  Dado que la mascota Rocky esta registrada con el dueño CC 1.144.556</a:t>
            </a:r>
          </a:p>
          <a:p>
            <a:pPr>
              <a:spcAft>
                <a:spcPts val="400"/>
              </a:spcAft>
            </a:pPr>
            <a:r>
              <a:rPr sz="1400" b="0" i="0">
                <a:solidFill>
                  <a:srgbClr val="FFFFFF"/>
                </a:solidFill>
                <a:latin typeface="Calibri"/>
              </a:rPr>
              <a:t>  Cuando escribo Rocky en el buscador y presiono Enter</a:t>
            </a:r>
          </a:p>
          <a:p>
            <a:pPr>
              <a:spcAft>
                <a:spcPts val="400"/>
              </a:spcAft>
            </a:pPr>
            <a:r>
              <a:rPr sz="1400" b="0" i="0">
                <a:solidFill>
                  <a:srgbClr val="FFFFFF"/>
                </a:solidFill>
                <a:latin typeface="Calibri"/>
              </a:rPr>
              <a:t>  Entonces veo la ficha con especie, edad y las ultimas 3 consultas en &lt;= 3 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Dado que escribo un nombre que no existe en el sistema</a:t>
            </a:r>
          </a:p>
          <a:p>
            <a:pPr>
              <a:spcAft>
                <a:spcPts val="400"/>
              </a:spcAft>
            </a:pPr>
            <a:r>
              <a:rPr sz="1400" b="0" i="0">
                <a:solidFill>
                  <a:srgbClr val="FFFFFF"/>
                </a:solidFill>
                <a:latin typeface="Calibri"/>
              </a:rPr>
              <a:t>  Cuando presiono Enter</a:t>
            </a:r>
          </a:p>
          <a:p>
            <a:pPr>
              <a:spcAft>
                <a:spcPts val="400"/>
              </a:spcAft>
            </a:pPr>
            <a:r>
              <a:rPr sz="1400" b="0" i="0">
                <a:solidFill>
                  <a:srgbClr val="FFFFFF"/>
                </a:solidFill>
                <a:latin typeface="Calibri"/>
              </a:rPr>
              <a:t>  Entonces veo 'No se encontro el paciente' y el boton Registrar nuevo</a:t>
            </a:r>
          </a:p>
          <a:p>
            <a:pPr>
              <a:spcAft>
                <a:spcPts val="400"/>
              </a:spcAft>
            </a:pPr>
            <a:r>
              <a:rPr sz="1400" b="0" i="0">
                <a:solidFill>
                  <a:srgbClr val="FFFFFF"/>
                </a:solidFill>
                <a:latin typeface="Calibri"/>
              </a:rPr>
              <a:t>Terminado = caso de uso + mockup + revision de un compañero + visto bueno del cliente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quien la necesita y para que; los criterios dicen como se demuestra que quedo lista, incluido el camino que sale mal.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arma en pantalla el tablero de VetCare, arrastra una tarjeta de 'Por hacer' a 'En revision del cliente' y muestra que pasa cuando se rompe el limite de trabajo en curso.</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xcalidraw.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Excalidraw</a:t>
            </a:r>
          </a:p>
          <a:p>
            <a:pPr algn="ctr">
              <a:spcBef>
                <a:spcPts val="200"/>
              </a:spcBef>
            </a:pPr>
            <a:r>
              <a:rPr sz="1000" b="0" i="0">
                <a:solidFill>
                  <a:srgbClr val="666666"/>
                </a:solidFill>
                <a:latin typeface="Calibri"/>
              </a:rPr>
              <a:t>Bocetos rapidos a mano alzada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semestre completo de VetCare se va a organizar como sprints, y lo que se defina hoy en el backlog es literalmente el orden en que se van a producir los planos.</a:t>
            </a:r>
          </a:p>
          <a:p>
            <a:pPr>
              <a:spcAft>
                <a:spcPts val="800"/>
              </a:spcAft>
            </a:pPr>
            <a:r>
              <a:rPr sz="2000" b="0" i="0">
                <a:solidFill>
                  <a:srgbClr val="333333"/>
                </a:solidFill>
                <a:latin typeface="Calibri"/>
              </a:rPr>
              <a:t>–   Ya vimos el enfoque tradicional y su documentacion formal; hoy se ve el otro extremo del espectro y se aprende a decidir cual parte de VetCare conviene tratar de cada forma.</a:t>
            </a:r>
          </a:p>
          <a:p>
            <a:pPr>
              <a:spcAft>
                <a:spcPts val="800"/>
              </a:spcAft>
            </a:pPr>
            <a:r>
              <a:rPr sz="2000" b="0" i="0">
                <a:solidFill>
                  <a:srgbClr val="333333"/>
                </a:solidFill>
                <a:latin typeface="Calibri"/>
              </a:rPr>
              <a:t>–   Aqui se aclara de una vez el malentendido mas costoso del curso: agil no es la excusa para no documentar, y en esta asignatura la documentacion de diseño es justamente el incremento entregable.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requisitos escritos y un mapa de fases, pero no tiene ningun orden de trabajo: todos quieren empezar por la pantalla que les parece mas bonita.</a:t>
            </a:r>
          </a:p>
          <a:p>
            <a:pPr>
              <a:spcAft>
                <a:spcPts val="800"/>
              </a:spcAft>
            </a:pPr>
            <a:r>
              <a:rPr sz="2000" b="0" i="0">
                <a:solidFill>
                  <a:srgbClr val="333333"/>
                </a:solidFill>
                <a:latin typeface="Calibri"/>
              </a:rPr>
              <a:t>–   La administradora de Huellitas puede dar retroalimentacion corta cada dos o tres semanas, pero no puede sentarse a leer un documento de ochenta paginas.</a:t>
            </a:r>
          </a:p>
          <a:p>
            <a:pPr>
              <a:spcAft>
                <a:spcPts val="800"/>
              </a:spcAft>
            </a:pPr>
            <a:r>
              <a:rPr sz="2000" b="0" i="0">
                <a:solidFill>
                  <a:srgbClr val="333333"/>
                </a:solidFill>
                <a:latin typeface="Calibri"/>
              </a:rPr>
              <a:t>–   En el grupo circula la idea de que agil significa no escribir nada y que 'ya lo iremos viendo sobre la marcha'.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En Google Docs escriba el Product Backlog de VetCare con al menos ocho items redactados como historias de usuario cortas, cada uno con prioridad (Alta/Media/Baja) y una justificacion de valor para Huellitas en una linea.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Priorice el backlog en orden de arriba hacia abajo y explique por escrito, en dos renglones, por que el primer item es el primero (pista: resuelve uno de los tres dolores de la clinica).</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Escriba tres historias completas con criterios de aceptacion en formato Dado/Cuando/Entonces, y asegurese de que cada historia tenga al menos un escenario alternativo o de error, no solo el camino feliz.</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Redacte la Definicion de Terminado para artefactos de diseño (por ejemplo: tiene diagrama en draw.io, tiene mockup, esta revisado por un compañero y tiene el visto bueno del cliente) y escribala en la cabecera del tablero.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En draw.io o Excalidraw arme el tablero con las columnas Por hacer / Modelando / En revision del cliente / Aprobado, ponga el limite de trabajo en curso en dos para las columnas del medio, distribuya las tarjetas en tres sprints con su objetivo y entregable de diseño, exporte a PDF y suba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su sprint 1 se llama 'analisis' y el sprint 2 'diseño', que le va a mostrar a la veterinaria al terminar el sprint 1 que ella pueda entender y criticar?</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Sus criterios de aceptacion describen solo el camino feliz? Que pasa si la mascota no existe, si el nombre esta repetido o si la conexion se cae?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Su Definicion de Terminado se puede verificar mirando el tablero, o incluye frases como 'que quede bien hecho' que nadie puede comprobar?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backlog esta priorizado con un orden explicito y cada item tiene una justificacion de valor para la clinica, no un orden arbitrario.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historias siguen la estructura Como / quiero / para y cada una tiene al menos dos escenarios en Dado/Cuando/Entonces, incluido uno alternativo o de error.</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Cada sprint del plan termina en un incremento que la clinica podria ver y opinar (mockup, prototipo, diagrama revisado), no en trabajo interno invisible.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tablero declara la Definicion de Terminado y el limite de trabajo en curso, y ninguna columna del medio tiene mas tarjetas que su limite.</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listo el backlog priorizado de VetCare repartido en sprints del semestre, con las primeras historias de usuario escritas con criterios de aceptacion.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listo el backlog priorizado de VetCare repartido en sprints del semestre, con las primeras historias de usuario escritas con criterios de aceptacion.</a:t>
            </a:r>
          </a:p>
          <a:p>
            <a:pPr algn="ctr">
              <a:spcAft>
                <a:spcPts val="600"/>
              </a:spcAft>
            </a:pPr>
            <a:r>
              <a:rPr sz="1600" b="0" i="0">
                <a:solidFill>
                  <a:srgbClr val="333333"/>
                </a:solidFill>
                <a:latin typeface="Calibri"/>
              </a:rPr>
              <a:t>Entregable: Un tablero en draw.io o Excalidraw con el Product Backlog priorizado de VetCare y las columnas de flujo con limite de trabajo en curso, mas un documento con el plan de tres sprints (objetivo y entregable de diseño de cada uno), la Definicion de Terminado y tres historias de usuario con criterios en formato Dado/Cuando/Entonces.</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