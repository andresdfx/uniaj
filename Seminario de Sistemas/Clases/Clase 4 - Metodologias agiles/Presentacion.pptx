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manifiesto agil se firmo en 2001 por diecisiete personas cansadas de proyectos que entregaban documentos perfectos y sistemas inservibles.</a:t>
            </a:r>
          </a:p>
          <a:p/>
          <a:p>
            <a:r>
              <a:t>Tiene cuatro valores y la clave esta en la palabra que los une: 'sobre'.</a:t>
            </a:r>
          </a:p>
          <a:p/>
          <a:p>
            <a:r>
              <a:t>Dice sobre, no 'en vez de': lo de la derecha sigue teniendo valor, solo que lo de la izquierda tiene mas.</a:t>
            </a:r>
          </a:p>
          <a:p/>
          <a:p>
            <a:r>
              <a:t>Ademas hay doce principios, y tres son muy utiles aqui: entregar valor pronto y con frecuencia, aceptar el cambio incluso tarde, y mantener un ritmo sostenible.</a:t>
            </a:r>
          </a:p>
          <a:p/>
          <a:p>
            <a:r>
              <a:t>En la clinica esto se traduce en algo muy concreto: es mejor mostrarle a la clinica un mockup imperfecto de la ficha en la semana tres que un documento de ochenta paginas en la semana quince.</a:t>
            </a:r>
          </a:p>
          <a:p/>
          <a:p>
            <a:r>
              <a:t>NOTAS:</a:t>
            </a:r>
          </a:p>
          <a:p/>
          <a:p>
            <a:r>
              <a:t>Individuos e interacciones SOBRE procesos y herramientas; software funcionando SOBRE documentacion exhaustiva; colaboracion con el cliente SOBRE negociacion contractual; respuesta ante el cambio SOBRE seguir un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Scrum es un marco de trabajo, no una metodologia completa: define lo minimo y deja que cada equipo llene el resto.</a:t>
            </a:r>
          </a:p>
          <a:p/>
          <a:p>
            <a:r>
              <a:t>Tiene tres roles: el Product Owner, que decide QUE se hace y en que orden, y es el dueño del Product Backlog; el Scrum Master, que facilita, protege al equipo y quita impedimentos</a:t>
            </a:r>
          </a:p>
          <a:p/>
          <a:p>
            <a:r>
              <a:t>Y que no es el jefe; y el equipo de desarrollo, que decide COMO hacerlo y se autoorganiza.</a:t>
            </a:r>
          </a:p>
          <a:p/>
          <a:p>
            <a:r>
              <a:t>Tiene cinco eventos: el Sprint, que es el contenedor de duracion fija (una a cuatro semanas), la Planificacion, la Reunion diaria de quince minutos para sincronizarse</a:t>
            </a:r>
          </a:p>
          <a:p/>
          <a:p>
            <a:r>
              <a:t>La Revision donde se le muestra el incremento al cliente, y la Retrospectiva donde se mejora la forma de trabajar.</a:t>
            </a:r>
          </a:p>
          <a:p/>
          <a:p>
            <a:r>
              <a:t>Y tiene tres artefactos: Product Backlog, Sprint Backlog e Incremento, este ultimo gobernado por la Definicion de Terminado.</a:t>
            </a:r>
          </a:p>
          <a:p/>
          <a:p>
            <a:r>
              <a:t>NOTAS:</a:t>
            </a:r>
          </a:p>
          <a:p/>
          <a:p>
            <a:r>
              <a:t>En la clinica el docente actua como vocero de la clinica en el rol de Product Owner, y cada estudiante -o cada equipo, si el docente lo autoriza- hace de equipo de desarrollo que se compromete con un objetivo de sprint.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Kanban viene de otra tradicion y su promesa es distinta: no impone iteraciones ni roles, sino que hace visible el flujo del trabajo.</a:t>
            </a:r>
          </a:p>
          <a:p/>
          <a:p>
            <a:r>
              <a:t>Sus practicas centrales son visualizar el trabajo en un tablero, limitar el trabajo en curso, gestionar el flujo detectando donde se acumulan las tarjetas, hacer explicitas las politicas de cada columna y mejorar de forma continua.</a:t>
            </a:r>
          </a:p>
          <a:p/>
          <a:p>
            <a:r>
              <a:t>El limite de trabajo en curso es la parte que mas cuesta y la que mas sirve: si el equipo pone limite dos en la columna 'Modelando', nadie puede empezar una tercera tarea sin terminar alguna.</a:t>
            </a:r>
          </a:p>
          <a:p/>
          <a:p>
            <a:r>
              <a:t>El estudiante que abre cinco diagramas al tiempo y no termina ninguno es exactamente el problema que el limite de trabajo en curso resuelve.</a:t>
            </a:r>
          </a:p>
          <a:p/>
          <a:p>
            <a:r>
              <a:t>NOTAS:</a:t>
            </a:r>
          </a:p>
          <a:p/>
          <a:p>
            <a:r>
              <a:t>En la clinica el tablero seria Por hacer / Modelando / En revision del cliente / Aprobado, y la politica de la ultima columna podria ser 'solo pasa a Aprobado si tiene diagrama, mockup y visto bueno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dos palabras que se usan como sinonimos y significan cosas distintas: iteracion e incremento.</a:t>
            </a:r>
          </a:p>
          <a:p/>
          <a:p>
            <a:r>
              <a:t>Incremento es agregar un pedazo nuevo y utilizable al sistema; iteracion es volver sobre algo que ya existe y mejorarlo con base en la retroalimentacion.</a:t>
            </a:r>
          </a:p>
          <a:p/>
          <a:p>
            <a:r>
              <a:t>En la clinica el incremento 1 es el mockup de la ficha del paciente; cuando la veterinaria lo mira y dice 'me falta el campo de alergias y la foto de la mascota', y el equipo produce la version 2 de ese mismo mockup, eso es iteracion.</a:t>
            </a:r>
          </a:p>
          <a:p/>
          <a:p>
            <a:r>
              <a:t>Y aqui aparece una regla practica que salva proyectos: cada entrega debe ser una rebanada vertical, algo que el cliente pueda ver y opinar, no una capa horizontal invisible.</a:t>
            </a:r>
          </a:p>
          <a:p/>
          <a:p>
            <a:r>
              <a:t>Entregar 'todas las tablas de la base de datos' no es un incremento util para la clinica; entregar 'registrar y consultar una ficha completa de principio a fin' si lo es.</a:t>
            </a:r>
          </a:p>
          <a:p/>
          <a:p>
            <a:r>
              <a:t>NOTAS:</a:t>
            </a:r>
          </a:p>
          <a:p/>
          <a:p>
            <a:r>
              <a:t>Agil hace las dos cosas al mismo tiempo.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Agil no significa trabajar sin documentacion, y este es el malentendido que mas daño hace.</a:t>
            </a:r>
          </a:p>
          <a:p/>
          <a:p>
            <a:r>
              <a:t>El manifiesto dice software funcionando sobre documentacion exhaustiva: lo que se rechaza es el documento inflado que nadie lee, no el documento util.</a:t>
            </a:r>
          </a:p>
          <a:p/>
          <a:p>
            <a:r>
              <a:t>Para este curso esto es central: en Seminario de Sistemas el producto ES documentacion de diseño, y aun asi el trabajo puede ser perfectamente agil, porque se produce por incrementos, se revisa con el cliente y se corrige.</a:t>
            </a:r>
          </a:p>
          <a:p/>
          <a:p>
            <a:r>
              <a:t>El estudiante que solo cursa esta materia trabaja con sprints igual que los demas: sus incrementos son mockups, casos de uso y diccionario de datos, y cierra con un prototipo navegable que se puede recorrer y criticar.</a:t>
            </a:r>
          </a:p>
          <a:p/>
          <a:p>
            <a:r>
              <a:t>NOTAS:</a:t>
            </a:r>
          </a:p>
          <a:p/>
          <a:p>
            <a:r>
              <a:t>Un equipo agil documenta historias de usuario con criterios de aceptacion, la Definicion de Terminado, las decisiones de arquitectura, el diccionario de datos y los diagramas que hagan falta, pero los escribe justo a tiempo y los mantiene vivos.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draw.io · Excalidraw · Google Docs</a:t>
            </a:r>
          </a:p>
          <a:p/>
          <a:p>
            <a:r>
              <a:t>Demo: Se arma en pantalla el tablero de la clinica, arrastra una tarjeta de 'Por hacer' a 'En revision del cliente' y muestra que pasa cuando se rompe el limite de trabajo en curso.</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agiles</a:t>
            </a:r>
          </a:p>
          <a:p>
            <a:pPr>
              <a:spcAft>
                <a:spcPts val="800"/>
              </a:spcAft>
            </a:pPr>
            <a:r>
              <a:rPr sz="2000" b="0" i="0">
                <a:solidFill>
                  <a:srgbClr val="333333"/>
                </a:solidFill>
                <a:latin typeface="Calibri"/>
              </a:rPr>
              <a:t>–   Iterar e incrementar sin dejar de documentar</a:t>
            </a:r>
          </a:p>
          <a:p>
            <a:pPr>
              <a:spcAft>
                <a:spcPts val="800"/>
              </a:spcAft>
            </a:pPr>
            <a:r>
              <a:rPr sz="2000" b="0" i="0">
                <a:solidFill>
                  <a:srgbClr val="333333"/>
                </a:solidFill>
                <a:latin typeface="Calibri"/>
              </a:rPr>
              <a:t>–   Herramienta del tema: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ágil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nifiesto-sob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nifiesto-sob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nifiesto-sobr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Firmado en 2001 por diecisiete personas cansadas de documentos perfectos y sistemas inservibles.</a:t>
            </a:r>
          </a:p>
          <a:p>
            <a:pPr>
              <a:spcAft>
                <a:spcPts val="800"/>
              </a:spcAft>
            </a:pPr>
            <a:r>
              <a:rPr sz="2000" b="0" i="0">
                <a:solidFill>
                  <a:srgbClr val="333333"/>
                </a:solidFill>
                <a:latin typeface="Calibri"/>
              </a:rPr>
              <a:t>–   Cuatro valores unidos por «sobre»: individuos sobre procesos, software funcionando sobre documentación exhaustiva, colaboración sobre contrato…</a:t>
            </a:r>
          </a:p>
          <a:p>
            <a:pPr>
              <a:spcAft>
                <a:spcPts val="800"/>
              </a:spcAft>
            </a:pPr>
            <a:r>
              <a:rPr sz="2000" b="0" i="0">
                <a:solidFill>
                  <a:srgbClr val="333333"/>
                </a:solidFill>
                <a:latin typeface="Calibri"/>
              </a:rPr>
              <a:t>–   «Sobre» no es «en vez de»: lo de la derecha sigue valiendo.</a:t>
            </a:r>
          </a:p>
          <a:p>
            <a:pPr>
              <a:spcAft>
                <a:spcPts val="800"/>
              </a:spcAft>
            </a:pPr>
            <a:r>
              <a:rPr sz="2000" b="0" i="0">
                <a:solidFill>
                  <a:srgbClr val="333333"/>
                </a:solidFill>
                <a:latin typeface="Calibri"/>
              </a:rPr>
              <a:t>–   Mejor un mockup imperfecto en la semana 3 que ochenta páginas en la 15.</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roles, eventos y artefactos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lo-scrum-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lo-scrum-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lo-scrum-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marco, no una metodología completa: define lo mínimo.</a:t>
            </a:r>
          </a:p>
          <a:p>
            <a:pPr>
              <a:spcAft>
                <a:spcPts val="800"/>
              </a:spcAft>
            </a:pPr>
            <a:r>
              <a:rPr sz="2000" b="0" i="0">
                <a:solidFill>
                  <a:srgbClr val="333333"/>
                </a:solidFill>
                <a:latin typeface="Calibri"/>
              </a:rPr>
              <a:t>–   Roles: Product Owner (QUÉ y en qué orden), Scrum Master (facilita, no es el jefe) y equipo de desarrollo (CÓMO).</a:t>
            </a:r>
          </a:p>
          <a:p>
            <a:pPr>
              <a:spcAft>
                <a:spcPts val="800"/>
              </a:spcAft>
            </a:pPr>
            <a:r>
              <a:rPr sz="2000" b="0" i="0">
                <a:solidFill>
                  <a:srgbClr val="333333"/>
                </a:solidFill>
                <a:latin typeface="Calibri"/>
              </a:rPr>
              <a:t>–   Eventos: Sprint de 1 a 4 semanas, Planificación, Diaria de 15 min, Revisión y Retrospectiva.</a:t>
            </a:r>
          </a:p>
          <a:p>
            <a:pPr>
              <a:spcAft>
                <a:spcPts val="800"/>
              </a:spcAft>
            </a:pPr>
            <a:r>
              <a:rPr sz="2000" b="0" i="0">
                <a:solidFill>
                  <a:srgbClr val="333333"/>
                </a:solidFill>
                <a:latin typeface="Calibri"/>
              </a:rPr>
              <a:t>–   Artefactos: Product Backlog, Sprint Backlog e Incremento, con su Definición de Terminado.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D4D4D4"/>
                </a:solidFill>
                <a:latin typeface="Consolas"/>
              </a:rPr>
              <a:t>gantt</a:t>
            </a:r>
          </a:p>
          <a:p>
            <a:pPr>
              <a:spcAft>
                <a:spcPts val="342"/>
              </a:spcAft>
            </a:pPr>
            <a:r>
              <a:rPr sz="1600" i="0" b="0">
                <a:solidFill>
                  <a:srgbClr val="D4D4D4"/>
                </a:solidFill>
                <a:latin typeface="Consolas"/>
              </a:rPr>
              <a:t>  </a:t>
            </a:r>
            <a:r>
              <a:rPr sz="1600" i="0" b="0">
                <a:solidFill>
                  <a:srgbClr val="D4D4D4"/>
                </a:solidFill>
                <a:latin typeface="Consolas"/>
              </a:rPr>
              <a:t>title</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sprints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diseno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dateFormat</a:t>
            </a:r>
            <a:r>
              <a:rPr sz="1600" i="0" b="0">
                <a:solidFill>
                  <a:srgbClr val="D4D4D4"/>
                </a:solidFill>
                <a:latin typeface="Consolas"/>
              </a:rPr>
              <a:t> </a:t>
            </a:r>
            <a:r>
              <a:rPr sz="1600" i="0" b="0">
                <a:solidFill>
                  <a:srgbClr val="D4D4D4"/>
                </a:solidFill>
                <a:latin typeface="Consolas"/>
              </a:rPr>
              <a:t>YYYY</a:t>
            </a:r>
            <a:r>
              <a:rPr sz="1600" i="0" b="0">
                <a:solidFill>
                  <a:srgbClr val="D4D4D4"/>
                </a:solidFill>
                <a:latin typeface="Consolas"/>
              </a:rPr>
              <a:t>-</a:t>
            </a:r>
            <a:r>
              <a:rPr sz="1600" i="0" b="0">
                <a:solidFill>
                  <a:srgbClr val="D4D4D4"/>
                </a:solidFill>
                <a:latin typeface="Consolas"/>
              </a:rPr>
              <a:t>MM</a:t>
            </a:r>
            <a:r>
              <a:rPr sz="1600" i="0" b="0">
                <a:solidFill>
                  <a:srgbClr val="D4D4D4"/>
                </a:solidFill>
                <a:latin typeface="Consolas"/>
              </a:rPr>
              <a:t>-</a:t>
            </a:r>
            <a:r>
              <a:rPr sz="1600" i="0" b="0">
                <a:solidFill>
                  <a:srgbClr val="D4D4D4"/>
                </a:solidFill>
                <a:latin typeface="Consolas"/>
              </a:rPr>
              <a:t>DD</a:t>
            </a:r>
          </a:p>
          <a:p>
            <a:pPr>
              <a:spcAft>
                <a:spcPts val="342"/>
              </a:spcAft>
            </a:pPr>
            <a:r>
              <a:rPr sz="1600" i="0" b="0">
                <a:solidFill>
                  <a:srgbClr val="D4D4D4"/>
                </a:solidFill>
                <a:latin typeface="Consolas"/>
              </a:rPr>
              <a:t>  </a:t>
            </a:r>
            <a:r>
              <a:rPr sz="1600" i="0" b="0">
                <a:solidFill>
                  <a:srgbClr val="D4D4D4"/>
                </a:solidFill>
                <a:latin typeface="Consolas"/>
              </a:rPr>
              <a:t>axisFormat</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m</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1</a:t>
            </a:r>
          </a:p>
          <a:p>
            <a:pPr>
              <a:spcAft>
                <a:spcPts val="342"/>
              </a:spcAft>
            </a:pPr>
            <a:r>
              <a:rPr sz="1600" i="0" b="0">
                <a:solidFill>
                  <a:srgbClr val="D4D4D4"/>
                </a:solidFill>
                <a:latin typeface="Consolas"/>
              </a:rPr>
              <a:t>  </a:t>
            </a:r>
            <a:r>
              <a:rPr sz="1600" i="0" b="0">
                <a:solidFill>
                  <a:srgbClr val="D4D4D4"/>
                </a:solidFill>
                <a:latin typeface="Consolas"/>
              </a:rPr>
              <a:t>Modelo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dominio</a:t>
            </a:r>
            <a:r>
              <a:rPr sz="1600" i="0" b="0">
                <a:solidFill>
                  <a:srgbClr val="D4D4D4"/>
                </a:solidFill>
                <a:latin typeface="Consolas"/>
              </a:rPr>
              <a:t>      :</a:t>
            </a:r>
            <a:r>
              <a:rPr sz="1600" i="0" b="0">
                <a:solidFill>
                  <a:srgbClr val="D4D4D4"/>
                </a:solidFill>
                <a:latin typeface="Consolas"/>
              </a:rPr>
              <a:t>s1a</a:t>
            </a:r>
            <a:r>
              <a:rPr sz="1600" i="0" b="0">
                <a:solidFill>
                  <a:srgbClr val="D4D4D4"/>
                </a:solidFill>
                <a:latin typeface="Consolas"/>
              </a:rPr>
              <a:t>, </a:t>
            </a:r>
            <a:r>
              <a:rPr sz="1600" i="0" b="0">
                <a:solidFill>
                  <a:srgbClr val="B5CEA8"/>
                </a:solidFill>
                <a:latin typeface="Consolas"/>
              </a:rPr>
              <a:t>2026</a:t>
            </a:r>
            <a:r>
              <a:rPr sz="1600" i="0" b="0">
                <a:solidFill>
                  <a:srgbClr val="D4D4D4"/>
                </a:solidFill>
                <a:latin typeface="Consolas"/>
              </a:rPr>
              <a:t>-</a:t>
            </a:r>
            <a:r>
              <a:rPr sz="1600" i="0" b="0">
                <a:solidFill>
                  <a:srgbClr val="B5CEA8"/>
                </a:solidFill>
                <a:latin typeface="Consolas"/>
              </a:rPr>
              <a:t>09</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t>
            </a:r>
            <a:r>
              <a:rPr sz="1600" i="0" b="0">
                <a:solidFill>
                  <a:srgbClr val="D4D4D4"/>
                </a:solidFill>
                <a:latin typeface="Consolas"/>
              </a:rPr>
              <a:t>Casos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uso</a:t>
            </a:r>
            <a:r>
              <a:rPr sz="1600" i="0" b="0">
                <a:solidFill>
                  <a:srgbClr val="D4D4D4"/>
                </a:solidFill>
                <a:latin typeface="Consolas"/>
              </a:rPr>
              <a:t> </a:t>
            </a:r>
            <a:r>
              <a:rPr sz="1600" i="0" b="0">
                <a:solidFill>
                  <a:srgbClr val="D4D4D4"/>
                </a:solidFill>
                <a:latin typeface="Consolas"/>
              </a:rPr>
              <a:t>nucleo</a:t>
            </a:r>
            <a:r>
              <a:rPr sz="1600" i="0" b="0">
                <a:solidFill>
                  <a:srgbClr val="D4D4D4"/>
                </a:solidFill>
                <a:latin typeface="Consolas"/>
              </a:rPr>
              <a:t>    :</a:t>
            </a:r>
            <a:r>
              <a:rPr sz="1600" i="0" b="0">
                <a:solidFill>
                  <a:srgbClr val="D4D4D4"/>
                </a:solidFill>
                <a:latin typeface="Consolas"/>
              </a:rPr>
              <a:t>s1b</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s1a</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2</a:t>
            </a:r>
          </a:p>
          <a:p>
            <a:pPr>
              <a:spcAft>
                <a:spcPts val="342"/>
              </a:spcAft>
            </a:pPr>
            <a:r>
              <a:rPr sz="1600" i="0" b="0">
                <a:solidFill>
                  <a:srgbClr val="D4D4D4"/>
                </a:solidFill>
                <a:latin typeface="Consolas"/>
              </a:rPr>
              <a:t>  </a:t>
            </a:r>
            <a:r>
              <a:rPr sz="1600" i="0" b="0">
                <a:solidFill>
                  <a:srgbClr val="D4D4D4"/>
                </a:solidFill>
                <a:latin typeface="Consolas"/>
              </a:rPr>
              <a:t>Secuencia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agendar</a:t>
            </a:r>
            <a:r>
              <a:rPr sz="1600" i="0" b="0">
                <a:solidFill>
                  <a:srgbClr val="D4D4D4"/>
                </a:solidFill>
                <a:latin typeface="Consolas"/>
              </a:rPr>
              <a:t>   :</a:t>
            </a:r>
            <a:r>
              <a:rPr sz="1600" i="0" b="0">
                <a:solidFill>
                  <a:srgbClr val="D4D4D4"/>
                </a:solidFill>
                <a:latin typeface="Consolas"/>
              </a:rPr>
              <a:t>s2a</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s1b</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t>
            </a:r>
            <a:r>
              <a:rPr sz="1600" i="0" b="0">
                <a:solidFill>
                  <a:srgbClr val="D4D4D4"/>
                </a:solidFill>
                <a:latin typeface="Consolas"/>
              </a:rPr>
              <a:t>Wireframes</a:t>
            </a:r>
            <a:r>
              <a:rPr sz="1600" i="0" b="0">
                <a:solidFill>
                  <a:srgbClr val="D4D4D4"/>
                </a:solidFill>
                <a:latin typeface="Consolas"/>
              </a:rPr>
              <a:t> </a:t>
            </a:r>
            <a:r>
              <a:rPr sz="1600" i="0" b="0">
                <a:solidFill>
                  <a:srgbClr val="D4D4D4"/>
                </a:solidFill>
                <a:latin typeface="Consolas"/>
              </a:rPr>
              <a:t>principales</a:t>
            </a:r>
            <a:r>
              <a:rPr sz="1600" i="0" b="0">
                <a:solidFill>
                  <a:srgbClr val="D4D4D4"/>
                </a:solidFill>
                <a:latin typeface="Consolas"/>
              </a:rPr>
              <a:t> :</a:t>
            </a:r>
            <a:r>
              <a:rPr sz="1600" i="0" b="0">
                <a:solidFill>
                  <a:srgbClr val="D4D4D4"/>
                </a:solidFill>
                <a:latin typeface="Consolas"/>
              </a:rPr>
              <a:t>s2b</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s2a</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3</a:t>
            </a:r>
          </a:p>
          <a:p>
            <a:pPr>
              <a:spcAft>
                <a:spcPts val="342"/>
              </a:spcAft>
            </a:pPr>
            <a:r>
              <a:rPr sz="1600" i="0" b="0">
                <a:solidFill>
                  <a:srgbClr val="D4D4D4"/>
                </a:solidFill>
                <a:latin typeface="Consolas"/>
              </a:rPr>
              <a:t>  </a:t>
            </a:r>
            <a:r>
              <a:rPr sz="1600" i="0" b="0">
                <a:solidFill>
                  <a:srgbClr val="D4D4D4"/>
                </a:solidFill>
                <a:latin typeface="Consolas"/>
              </a:rPr>
              <a:t>Consolidacion</a:t>
            </a:r>
            <a:r>
              <a:rPr sz="1600" i="0" b="0">
                <a:solidFill>
                  <a:srgbClr val="D4D4D4"/>
                </a:solidFill>
                <a:latin typeface="Consolas"/>
              </a:rPr>
              <a:t> </a:t>
            </a:r>
            <a:r>
              <a:rPr sz="1600" i="0" b="0">
                <a:solidFill>
                  <a:srgbClr val="D4D4D4"/>
                </a:solidFill>
                <a:latin typeface="Consolas"/>
              </a:rPr>
              <a:t>paquete</a:t>
            </a:r>
            <a:r>
              <a:rPr sz="1600" i="0" b="0">
                <a:solidFill>
                  <a:srgbClr val="D4D4D4"/>
                </a:solidFill>
                <a:latin typeface="Consolas"/>
              </a:rPr>
              <a:t>  :</a:t>
            </a:r>
            <a:r>
              <a:rPr sz="1600" i="0" b="0">
                <a:solidFill>
                  <a:srgbClr val="D4D4D4"/>
                </a:solidFill>
                <a:latin typeface="Consolas"/>
              </a:rPr>
              <a:t>s3a</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s2b</a:t>
            </a:r>
            <a:r>
              <a:rPr sz="1600" i="0" b="0">
                <a:solidFill>
                  <a:srgbClr val="D4D4D4"/>
                </a:solidFill>
                <a:latin typeface="Consolas"/>
              </a:rPr>
              <a:t>, 7</a:t>
            </a:r>
            <a:r>
              <a:rPr sz="1600" i="0" b="0">
                <a:solidFill>
                  <a:srgbClr val="D4D4D4"/>
                </a:solidFill>
                <a:latin typeface="Consolas"/>
              </a:rPr>
              <a:t>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y el límite de trabajo en curso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anban-wi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kanban-wi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kanban-wip-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 impone iteraciones ni roles: hace visible el flujo del trabajo.</a:t>
            </a:r>
          </a:p>
          <a:p>
            <a:pPr>
              <a:spcAft>
                <a:spcPts val="800"/>
              </a:spcAft>
            </a:pPr>
            <a:r>
              <a:rPr sz="2000" b="0" i="0">
                <a:solidFill>
                  <a:srgbClr val="333333"/>
                </a:solidFill>
                <a:latin typeface="Calibri"/>
              </a:rPr>
              <a:t>–   Prácticas: visualizar en un tablero, limitar el trabajo en curso, gestionar el flujo, políticas explícitas y mejora continua.</a:t>
            </a:r>
          </a:p>
          <a:p>
            <a:pPr>
              <a:spcAft>
                <a:spcPts val="800"/>
              </a:spcAft>
            </a:pPr>
            <a:r>
              <a:rPr sz="2000" b="0" i="0">
                <a:solidFill>
                  <a:srgbClr val="333333"/>
                </a:solidFill>
                <a:latin typeface="Calibri"/>
              </a:rPr>
              <a:t>–   Con límite 2 en «Modelando», nadie empieza una tercera tarea sin terminar otra.</a:t>
            </a:r>
          </a:p>
          <a:p>
            <a:pPr>
              <a:spcAft>
                <a:spcPts val="800"/>
              </a:spcAft>
            </a:pPr>
            <a:r>
              <a:rPr sz="2000" b="0" i="0">
                <a:solidFill>
                  <a:srgbClr val="333333"/>
                </a:solidFill>
                <a:latin typeface="Calibri"/>
              </a:rPr>
              <a:t>–   Abrir cinco diagramas y no terminar ninguno es el problema que el límite resuelve.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11277295" cy="4911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317424"/>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p:txBody>
      </p:sp>
      <p:sp>
        <p:nvSpPr>
          <p:cNvPr id="12" name="TextBox 11"/>
          <p:cNvSpPr txBox="1"/>
          <p:nvPr/>
        </p:nvSpPr>
        <p:spPr>
          <a:xfrm>
            <a:off x="1188720" y="1719072"/>
            <a:ext cx="10271455" cy="4317424"/>
          </a:xfrm>
          <a:prstGeom prst="rect">
            <a:avLst/>
          </a:prstGeom>
          <a:noFill/>
        </p:spPr>
        <p:txBody>
          <a:bodyPr wrap="square">
            <a:spAutoFit/>
          </a:bodyPr>
          <a:lstStyle/>
          <a:p>
            <a:pPr>
              <a:spcAft>
                <a:spcPts val="235"/>
              </a:spcAft>
            </a:pPr>
            <a:r>
              <a:rPr sz="1100" i="0" b="0">
                <a:solidFill>
                  <a:srgbClr val="D4D4D4"/>
                </a:solidFill>
                <a:latin typeface="Consolas"/>
              </a:rPr>
              <a:t>flowchart</a:t>
            </a:r>
            <a:r>
              <a:rPr sz="1100" i="0" b="0">
                <a:solidFill>
                  <a:srgbClr val="D4D4D4"/>
                </a:solidFill>
                <a:latin typeface="Consolas"/>
              </a:rPr>
              <a:t> </a:t>
            </a:r>
            <a:r>
              <a:rPr sz="1100" i="0" b="0">
                <a:solidFill>
                  <a:srgbClr val="D4D4D4"/>
                </a:solidFill>
                <a:latin typeface="Consolas"/>
              </a:rPr>
              <a:t>LR</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backlog</a:t>
            </a:r>
            <a:r>
              <a:rPr sz="1100" i="0" b="0">
                <a:solidFill>
                  <a:srgbClr val="D4D4D4"/>
                </a:solidFill>
                <a:latin typeface="Consolas"/>
              </a:rPr>
              <a:t>[</a:t>
            </a:r>
            <a:r>
              <a:rPr sz="1100" i="0" b="0">
                <a:solidFill>
                  <a:srgbClr val="D4D4D4"/>
                </a:solidFill>
                <a:latin typeface="Consolas"/>
              </a:rPr>
              <a:t>Backlog</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b1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04</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b2</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05</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curso</a:t>
            </a:r>
            <a:r>
              <a:rPr sz="1100" i="0" b="0">
                <a:solidFill>
                  <a:srgbClr val="D4D4D4"/>
                </a:solidFill>
                <a:latin typeface="Consolas"/>
              </a:rPr>
              <a:t>[</a:t>
            </a:r>
            <a:r>
              <a:rPr sz="1100" i="0" b="0">
                <a:solidFill>
                  <a:srgbClr val="D4D4D4"/>
                </a:solidFill>
                <a:latin typeface="Consolas"/>
              </a:rPr>
              <a:t>En</a:t>
            </a:r>
            <a:r>
              <a:rPr sz="1100" i="0" b="0">
                <a:solidFill>
                  <a:srgbClr val="D4D4D4"/>
                </a:solidFill>
                <a:latin typeface="Consolas"/>
              </a:rPr>
              <a:t> </a:t>
            </a:r>
            <a:r>
              <a:rPr sz="1100" i="0" b="0">
                <a:solidFill>
                  <a:srgbClr val="D4D4D4"/>
                </a:solidFill>
                <a:latin typeface="Consolas"/>
              </a:rPr>
              <a:t>curso</a:t>
            </a:r>
            <a:r>
              <a:rPr sz="1100" i="0" b="0">
                <a:solidFill>
                  <a:srgbClr val="D4D4D4"/>
                </a:solidFill>
                <a:latin typeface="Consolas"/>
              </a:rPr>
              <a:t> - </a:t>
            </a:r>
            <a:r>
              <a:rPr sz="1100" i="0" b="0">
                <a:solidFill>
                  <a:srgbClr val="D4D4D4"/>
                </a:solidFill>
                <a:latin typeface="Consolas"/>
              </a:rPr>
              <a:t>LIMITE</a:t>
            </a:r>
            <a:r>
              <a:rPr sz="1100" i="0" b="0">
                <a:solidFill>
                  <a:srgbClr val="D4D4D4"/>
                </a:solidFill>
                <a:latin typeface="Consolas"/>
              </a:rPr>
              <a:t> </a:t>
            </a:r>
            <a:r>
              <a:rPr sz="1100" i="0" b="0">
                <a:solidFill>
                  <a:srgbClr val="B5CEA8"/>
                </a:solidFill>
                <a:latin typeface="Consolas"/>
              </a:rPr>
              <a:t>2</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c1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02</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c2</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03</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rev</a:t>
            </a:r>
            <a:r>
              <a:rPr sz="1100" i="0" b="0">
                <a:solidFill>
                  <a:srgbClr val="D4D4D4"/>
                </a:solidFill>
                <a:latin typeface="Consolas"/>
              </a:rPr>
              <a:t>[</a:t>
            </a:r>
            <a:r>
              <a:rPr sz="1100" i="0" b="0">
                <a:solidFill>
                  <a:srgbClr val="D4D4D4"/>
                </a:solidFill>
                <a:latin typeface="Consolas"/>
              </a:rPr>
              <a:t>En</a:t>
            </a:r>
            <a:r>
              <a:rPr sz="1100" i="0" b="0">
                <a:solidFill>
                  <a:srgbClr val="D4D4D4"/>
                </a:solidFill>
                <a:latin typeface="Consolas"/>
              </a:rPr>
              <a:t> </a:t>
            </a:r>
            <a:r>
              <a:rPr sz="1100" i="0" b="0">
                <a:solidFill>
                  <a:srgbClr val="D4D4D4"/>
                </a:solidFill>
                <a:latin typeface="Consolas"/>
              </a:rPr>
              <a:t>revision</a:t>
            </a:r>
            <a:r>
              <a:rPr sz="1100" i="0" b="0">
                <a:solidFill>
                  <a:srgbClr val="D4D4D4"/>
                </a:solidFill>
                <a:latin typeface="Consolas"/>
              </a:rPr>
              <a:t> - </a:t>
            </a:r>
            <a:r>
              <a:rPr sz="1100" i="0" b="0">
                <a:solidFill>
                  <a:srgbClr val="D4D4D4"/>
                </a:solidFill>
                <a:latin typeface="Consolas"/>
              </a:rPr>
              <a:t>LIMITE</a:t>
            </a:r>
            <a:r>
              <a:rPr sz="1100" i="0" b="0">
                <a:solidFill>
                  <a:srgbClr val="D4D4D4"/>
                </a:solidFill>
                <a:latin typeface="Consolas"/>
              </a:rPr>
              <a:t> </a:t>
            </a:r>
            <a:r>
              <a:rPr sz="1100" i="0" b="0">
                <a:solidFill>
                  <a:srgbClr val="B5CEA8"/>
                </a:solidFill>
                <a:latin typeface="Consolas"/>
              </a:rPr>
              <a:t>1</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r1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01</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listo</a:t>
            </a:r>
            <a:r>
              <a:rPr sz="1100" i="0" b="0">
                <a:solidFill>
                  <a:srgbClr val="D4D4D4"/>
                </a:solidFill>
                <a:latin typeface="Consolas"/>
              </a:rPr>
              <a:t>[</a:t>
            </a:r>
            <a:r>
              <a:rPr sz="1100" i="0" b="0">
                <a:solidFill>
                  <a:srgbClr val="D4D4D4"/>
                </a:solidFill>
                <a:latin typeface="Consolas"/>
              </a:rPr>
              <a:t>Terminado</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l1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00</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r>
          </a:p>
          <a:p>
            <a:pPr>
              <a:spcAft>
                <a:spcPts val="235"/>
              </a:spcAft>
            </a:pPr>
            <a:r>
              <a:rPr sz="1100" i="0" b="0">
                <a:solidFill>
                  <a:srgbClr val="D4D4D4"/>
                </a:solidFill>
                <a:latin typeface="Consolas"/>
              </a:rPr>
              <a:t>  </a:t>
            </a:r>
            <a:r>
              <a:rPr sz="1100" i="0" b="0">
                <a:solidFill>
                  <a:srgbClr val="D4D4D4"/>
                </a:solidFill>
                <a:latin typeface="Consolas"/>
              </a:rPr>
              <a:t>backlog</a:t>
            </a:r>
            <a:r>
              <a:rPr sz="1100" i="0" b="0">
                <a:solidFill>
                  <a:srgbClr val="D4D4D4"/>
                </a:solidFill>
                <a:latin typeface="Consolas"/>
              </a:rPr>
              <a:t> --&gt; </a:t>
            </a:r>
            <a:r>
              <a:rPr sz="1100" i="0" b="0">
                <a:solidFill>
                  <a:srgbClr val="D4D4D4"/>
                </a:solidFill>
                <a:latin typeface="Consolas"/>
              </a:rPr>
              <a:t>curso</a:t>
            </a:r>
            <a:r>
              <a:rPr sz="1100" i="0" b="0">
                <a:solidFill>
                  <a:srgbClr val="D4D4D4"/>
                </a:solidFill>
                <a:latin typeface="Consolas"/>
              </a:rPr>
              <a:t> --&gt; </a:t>
            </a:r>
            <a:r>
              <a:rPr sz="1100" i="0" b="0">
                <a:solidFill>
                  <a:srgbClr val="D4D4D4"/>
                </a:solidFill>
                <a:latin typeface="Consolas"/>
              </a:rPr>
              <a:t>rev</a:t>
            </a:r>
            <a:r>
              <a:rPr sz="1100" i="0" b="0">
                <a:solidFill>
                  <a:srgbClr val="D4D4D4"/>
                </a:solidFill>
                <a:latin typeface="Consolas"/>
              </a:rPr>
              <a:t> --&gt; </a:t>
            </a:r>
            <a:r>
              <a:rPr sz="1100" i="0" b="0">
                <a:solidFill>
                  <a:srgbClr val="D4D4D4"/>
                </a:solidFill>
                <a:latin typeface="Consolas"/>
              </a:rPr>
              <a:t>listo</a:t>
            </a:r>
          </a:p>
          <a:p>
            <a:pPr>
              <a:spcAft>
                <a:spcPts val="235"/>
              </a:spcAft>
            </a:pPr>
            <a:r>
              <a:rPr sz="1100" i="0" b="0">
                <a:solidFill>
                  <a:srgbClr val="D4D4D4"/>
                </a:solidFill>
                <a:latin typeface="Consolas"/>
              </a:rPr>
              <a:t/>
            </a:r>
          </a:p>
          <a:p>
            <a:pPr>
              <a:spcAft>
                <a:spcPts val="235"/>
              </a:spcAft>
            </a:pPr>
            <a:r>
              <a:rPr sz="1100" i="1" b="0">
                <a:solidFill>
                  <a:srgbClr val="6A9955"/>
                </a:solidFill>
                <a:latin typeface="Consolas"/>
              </a:rPr>
              <a:t>%% El LIMITE es lo que hace que el tablero sirva: sin el, todo esta</a:t>
            </a:r>
          </a:p>
          <a:p>
            <a:pPr>
              <a:spcAft>
                <a:spcPts val="235"/>
              </a:spcAft>
            </a:pPr>
            <a:r>
              <a:rPr sz="1100" i="1" b="0">
                <a:solidFill>
                  <a:srgbClr val="6A9955"/>
                </a:solidFill>
                <a:latin typeface="Consolas"/>
              </a:rPr>
              <a:t>%% «en curso» y nada termina. Para empezar HU-04 hay que cerrar una.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Iteración e incremento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teracion-increm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teracion-increm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teracion-incremen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Incremento: agregar un pedazo nuevo y utilizable al sistema.</a:t>
            </a:r>
          </a:p>
          <a:p>
            <a:pPr>
              <a:spcAft>
                <a:spcPts val="800"/>
              </a:spcAft>
            </a:pPr>
            <a:r>
              <a:rPr sz="2000" b="0" i="0">
                <a:solidFill>
                  <a:srgbClr val="333333"/>
                </a:solidFill>
                <a:latin typeface="Calibri"/>
              </a:rPr>
              <a:t>–   Iteración: volver sobre lo que ya existe y mejorarlo con la retroalimentación.</a:t>
            </a:r>
          </a:p>
          <a:p>
            <a:pPr>
              <a:spcAft>
                <a:spcPts val="800"/>
              </a:spcAft>
            </a:pPr>
            <a:r>
              <a:rPr sz="2000" b="0" i="0">
                <a:solidFill>
                  <a:srgbClr val="333333"/>
                </a:solidFill>
                <a:latin typeface="Calibri"/>
              </a:rPr>
              <a:t>–   Mockup de la ficha (incremento); la veterinaria pide alergias y foto, sale la versión 2 (iteración).</a:t>
            </a:r>
          </a:p>
          <a:p>
            <a:pPr>
              <a:spcAft>
                <a:spcPts val="800"/>
              </a:spcAft>
            </a:pPr>
            <a:r>
              <a:rPr sz="2000" b="0" i="0">
                <a:solidFill>
                  <a:srgbClr val="333333"/>
                </a:solidFill>
                <a:latin typeface="Calibri"/>
              </a:rPr>
              <a:t>–   Cada entrega es una rebanada vertical que el cliente puede ver, no una capa invisible.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con criterios de aceptacion</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HU</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Como</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quiero</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documento</a:t>
            </a:r>
          </a:p>
          <a:p>
            <a:pPr>
              <a:spcAft>
                <a:spcPts val="342"/>
              </a:spcAft>
            </a:pPr>
            <a:r>
              <a:rPr sz="1600" i="0" b="0">
                <a:solidFill>
                  <a:srgbClr val="D4D4D4"/>
                </a:solidFill>
                <a:latin typeface="Consolas"/>
              </a:rPr>
              <a:t>  </a:t>
            </a:r>
            <a:r>
              <a:rPr sz="1600" i="0" b="0">
                <a:solidFill>
                  <a:srgbClr val="D4D4D4"/>
                </a:solidFill>
                <a:latin typeface="Consolas"/>
              </a:rPr>
              <a:t>para</a:t>
            </a:r>
            <a:r>
              <a:rPr sz="1600" i="0" b="0">
                <a:solidFill>
                  <a:srgbClr val="D4D4D4"/>
                </a:solidFill>
                <a:latin typeface="Consolas"/>
              </a:rPr>
              <a:t> </a:t>
            </a:r>
            <a:r>
              <a:rPr sz="1600" i="0" b="0">
                <a:solidFill>
                  <a:srgbClr val="D4D4D4"/>
                </a:solidFill>
                <a:latin typeface="Consolas"/>
              </a:rPr>
              <a:t>atender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consulta</a:t>
            </a:r>
            <a:r>
              <a:rPr sz="1600" i="0" b="0">
                <a:solidFill>
                  <a:srgbClr val="D4D4D4"/>
                </a:solidFill>
                <a:latin typeface="Consolas"/>
              </a:rPr>
              <a:t> </a:t>
            </a:r>
            <a:r>
              <a:rPr sz="1600" i="0" b="0">
                <a:solidFill>
                  <a:srgbClr val="D4D4D4"/>
                </a:solidFill>
                <a:latin typeface="Consolas"/>
              </a:rPr>
              <a:t>sin</a:t>
            </a:r>
            <a:r>
              <a:rPr sz="1600" i="0" b="0">
                <a:solidFill>
                  <a:srgbClr val="D4D4D4"/>
                </a:solidFill>
                <a:latin typeface="Consolas"/>
              </a:rPr>
              <a:t> </a:t>
            </a:r>
            <a:r>
              <a:rPr sz="1600" i="0" b="0">
                <a:solidFill>
                  <a:srgbClr val="D4D4D4"/>
                </a:solidFill>
                <a:latin typeface="Consolas"/>
              </a:rPr>
              <a:t>ir</a:t>
            </a:r>
            <a:r>
              <a:rPr sz="1600" i="0" b="0">
                <a:solidFill>
                  <a:srgbClr val="D4D4D4"/>
                </a:solidFill>
                <a:latin typeface="Consolas"/>
              </a:rPr>
              <a:t> </a:t>
            </a:r>
            <a:r>
              <a:rPr sz="1600" i="0" b="0">
                <a:solidFill>
                  <a:srgbClr val="D4D4D4"/>
                </a:solidFill>
                <a:latin typeface="Consolas"/>
              </a:rPr>
              <a:t>al</a:t>
            </a:r>
            <a:r>
              <a:rPr sz="1600" i="0" b="0">
                <a:solidFill>
                  <a:srgbClr val="D4D4D4"/>
                </a:solidFill>
                <a:latin typeface="Consolas"/>
              </a:rPr>
              <a:t> </a:t>
            </a:r>
            <a:r>
              <a:rPr sz="1600" i="0" b="0">
                <a:solidFill>
                  <a:srgbClr val="D4D4D4"/>
                </a:solidFill>
                <a:latin typeface="Consolas"/>
              </a:rPr>
              <a:t>archivador</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papel</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Criterios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p>
          <a:p>
            <a:pPr>
              <a:spcAft>
                <a:spcPts val="342"/>
              </a:spcAft>
            </a:pPr>
            <a:r>
              <a:rPr sz="1600" i="0" b="0">
                <a:solidFill>
                  <a:srgbClr val="D4D4D4"/>
                </a:solidFill>
                <a:latin typeface="Consolas"/>
              </a:rPr>
              <a:t>  </a:t>
            </a:r>
            <a:r>
              <a:rPr sz="1600" i="0" b="0">
                <a:solidFill>
                  <a:srgbClr val="D4D4D4"/>
                </a:solidFill>
                <a:latin typeface="Consolas"/>
              </a:rPr>
              <a:t>Dado</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Rocky</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dueño</a:t>
            </a:r>
            <a:r>
              <a:rPr sz="1600" i="0" b="0">
                <a:solidFill>
                  <a:srgbClr val="D4D4D4"/>
                </a:solidFill>
                <a:latin typeface="Consolas"/>
              </a:rPr>
              <a:t> </a:t>
            </a:r>
            <a:r>
              <a:rPr sz="1600" i="0" b="0">
                <a:solidFill>
                  <a:srgbClr val="D4D4D4"/>
                </a:solidFill>
                <a:latin typeface="Consolas"/>
              </a:rPr>
              <a:t>CC</a:t>
            </a:r>
            <a:r>
              <a:rPr sz="1600" i="0" b="0">
                <a:solidFill>
                  <a:srgbClr val="D4D4D4"/>
                </a:solidFill>
                <a:latin typeface="Consolas"/>
              </a:rPr>
              <a:t> </a:t>
            </a:r>
            <a:r>
              <a:rPr sz="1600" i="0" b="0">
                <a:solidFill>
                  <a:srgbClr val="B5CEA8"/>
                </a:solidFill>
                <a:latin typeface="Consolas"/>
              </a:rPr>
              <a:t>1.144</a:t>
            </a:r>
            <a:r>
              <a:rPr sz="1600" i="0" b="0">
                <a:solidFill>
                  <a:srgbClr val="D4D4D4"/>
                </a:solidFill>
                <a:latin typeface="Consolas"/>
              </a:rPr>
              <a:t>.</a:t>
            </a:r>
            <a:r>
              <a:rPr sz="1600" i="0" b="0">
                <a:solidFill>
                  <a:srgbClr val="B5CEA8"/>
                </a:solidFill>
                <a:latin typeface="Consolas"/>
              </a:rPr>
              <a:t>556</a:t>
            </a:r>
          </a:p>
          <a:p>
            <a:pPr>
              <a:spcAft>
                <a:spcPts val="342"/>
              </a:spcAft>
            </a:pPr>
            <a:r>
              <a:rPr sz="1600" i="0" b="0">
                <a:solidFill>
                  <a:srgbClr val="D4D4D4"/>
                </a:solidFill>
                <a:latin typeface="Consolas"/>
              </a:rPr>
              <a:t>  </a:t>
            </a:r>
            <a:r>
              <a:rPr sz="1600" i="0" b="0">
                <a:solidFill>
                  <a:srgbClr val="D4D4D4"/>
                </a:solidFill>
                <a:latin typeface="Consolas"/>
              </a:rPr>
              <a:t>Cuando</a:t>
            </a:r>
            <a:r>
              <a:rPr sz="1600" i="0" b="0">
                <a:solidFill>
                  <a:srgbClr val="D4D4D4"/>
                </a:solidFill>
                <a:latin typeface="Consolas"/>
              </a:rPr>
              <a:t> </a:t>
            </a:r>
            <a:r>
              <a:rPr sz="1600" i="0" b="0">
                <a:solidFill>
                  <a:srgbClr val="D4D4D4"/>
                </a:solidFill>
                <a:latin typeface="Consolas"/>
              </a:rPr>
              <a:t>escribo</a:t>
            </a:r>
            <a:r>
              <a:rPr sz="1600" i="0" b="0">
                <a:solidFill>
                  <a:srgbClr val="D4D4D4"/>
                </a:solidFill>
                <a:latin typeface="Consolas"/>
              </a:rPr>
              <a:t> </a:t>
            </a:r>
            <a:r>
              <a:rPr sz="1600" i="0" b="0">
                <a:solidFill>
                  <a:srgbClr val="D4D4D4"/>
                </a:solidFill>
                <a:latin typeface="Consolas"/>
              </a:rPr>
              <a:t>Rocky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buscador</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presiono</a:t>
            </a:r>
            <a:r>
              <a:rPr sz="1600" i="0" b="0">
                <a:solidFill>
                  <a:srgbClr val="D4D4D4"/>
                </a:solidFill>
                <a:latin typeface="Consolas"/>
              </a:rPr>
              <a:t> </a:t>
            </a:r>
            <a:r>
              <a:rPr sz="1600" i="0" b="0">
                <a:solidFill>
                  <a:srgbClr val="D4D4D4"/>
                </a:solidFill>
                <a:latin typeface="Consolas"/>
              </a:rPr>
              <a:t>Enter</a:t>
            </a:r>
          </a:p>
          <a:p>
            <a:pPr>
              <a:spcAft>
                <a:spcPts val="342"/>
              </a:spcAft>
            </a:pPr>
            <a:r>
              <a:rPr sz="1600" i="0" b="0">
                <a:solidFill>
                  <a:srgbClr val="D4D4D4"/>
                </a:solidFill>
                <a:latin typeface="Consolas"/>
              </a:rPr>
              <a:t>  </a:t>
            </a:r>
            <a:r>
              <a:rPr sz="1600" i="0" b="0">
                <a:solidFill>
                  <a:srgbClr val="D4D4D4"/>
                </a:solidFill>
                <a:latin typeface="Consolas"/>
              </a:rPr>
              <a:t>Entonces</a:t>
            </a:r>
            <a:r>
              <a:rPr sz="1600" i="0" b="0">
                <a:solidFill>
                  <a:srgbClr val="D4D4D4"/>
                </a:solidFill>
                <a:latin typeface="Consolas"/>
              </a:rPr>
              <a:t> </a:t>
            </a:r>
            <a:r>
              <a:rPr sz="1600" i="0" b="0">
                <a:solidFill>
                  <a:srgbClr val="D4D4D4"/>
                </a:solidFill>
                <a:latin typeface="Consolas"/>
              </a:rPr>
              <a:t>veo</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especie</a:t>
            </a:r>
            <a:r>
              <a:rPr sz="1600" i="0" b="0">
                <a:solidFill>
                  <a:srgbClr val="D4D4D4"/>
                </a:solidFill>
                <a:latin typeface="Consolas"/>
              </a:rPr>
              <a:t>, </a:t>
            </a:r>
            <a:r>
              <a:rPr sz="1600" i="0" b="0">
                <a:solidFill>
                  <a:srgbClr val="D4D4D4"/>
                </a:solidFill>
                <a:latin typeface="Consolas"/>
              </a:rPr>
              <a:t>edad</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&lt;=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Dado</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escribo</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existe</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p>
          <a:p>
            <a:pPr>
              <a:spcAft>
                <a:spcPts val="342"/>
              </a:spcAft>
            </a:pPr>
            <a:r>
              <a:rPr sz="1600" i="0" b="0">
                <a:solidFill>
                  <a:srgbClr val="D4D4D4"/>
                </a:solidFill>
                <a:latin typeface="Consolas"/>
              </a:rPr>
              <a:t>  </a:t>
            </a:r>
            <a:r>
              <a:rPr sz="1600" i="0" b="0">
                <a:solidFill>
                  <a:srgbClr val="D4D4D4"/>
                </a:solidFill>
                <a:latin typeface="Consolas"/>
              </a:rPr>
              <a:t>Cuando</a:t>
            </a:r>
            <a:r>
              <a:rPr sz="1600" i="0" b="0">
                <a:solidFill>
                  <a:srgbClr val="D4D4D4"/>
                </a:solidFill>
                <a:latin typeface="Consolas"/>
              </a:rPr>
              <a:t> </a:t>
            </a:r>
            <a:r>
              <a:rPr sz="1600" i="0" b="0">
                <a:solidFill>
                  <a:srgbClr val="D4D4D4"/>
                </a:solidFill>
                <a:latin typeface="Consolas"/>
              </a:rPr>
              <a:t>presiono</a:t>
            </a:r>
            <a:r>
              <a:rPr sz="1600" i="0" b="0">
                <a:solidFill>
                  <a:srgbClr val="D4D4D4"/>
                </a:solidFill>
                <a:latin typeface="Consolas"/>
              </a:rPr>
              <a:t> </a:t>
            </a:r>
            <a:r>
              <a:rPr sz="1600" i="0" b="0">
                <a:solidFill>
                  <a:srgbClr val="D4D4D4"/>
                </a:solidFill>
                <a:latin typeface="Consolas"/>
              </a:rPr>
              <a:t>Enter</a:t>
            </a:r>
          </a:p>
          <a:p>
            <a:pPr>
              <a:spcAft>
                <a:spcPts val="342"/>
              </a:spcAft>
            </a:pPr>
            <a:r>
              <a:rPr sz="1600" i="0" b="0">
                <a:solidFill>
                  <a:srgbClr val="D4D4D4"/>
                </a:solidFill>
                <a:latin typeface="Consolas"/>
              </a:rPr>
              <a:t>  </a:t>
            </a:r>
            <a:r>
              <a:rPr sz="1600" i="0" b="0">
                <a:solidFill>
                  <a:srgbClr val="D4D4D4"/>
                </a:solidFill>
                <a:latin typeface="Consolas"/>
              </a:rPr>
              <a:t>Entonces</a:t>
            </a:r>
            <a:r>
              <a:rPr sz="1600" i="0" b="0">
                <a:solidFill>
                  <a:srgbClr val="D4D4D4"/>
                </a:solidFill>
                <a:latin typeface="Consolas"/>
              </a:rPr>
              <a:t> </a:t>
            </a:r>
            <a:r>
              <a:rPr sz="1600" i="0" b="0">
                <a:solidFill>
                  <a:srgbClr val="D4D4D4"/>
                </a:solidFill>
                <a:latin typeface="Consolas"/>
              </a:rPr>
              <a:t>veo</a:t>
            </a:r>
            <a:r>
              <a:rPr sz="1600" i="0" b="0">
                <a:solidFill>
                  <a:srgbClr val="D4D4D4"/>
                </a:solidFill>
                <a:latin typeface="Consolas"/>
              </a:rPr>
              <a:t> </a:t>
            </a:r>
            <a:r>
              <a:rPr sz="1600" i="0" b="0">
                <a:solidFill>
                  <a:srgbClr val="CE9178"/>
                </a:solidFill>
                <a:latin typeface="Consolas"/>
              </a:rPr>
              <a:t>'No se encontro el paciente'</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boton</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nuevo</a:t>
            </a:r>
          </a:p>
          <a:p>
            <a:pPr>
              <a:spcAft>
                <a:spcPts val="342"/>
              </a:spcAft>
            </a:pPr>
            <a:r>
              <a:rPr sz="1600" i="0" b="0">
                <a:solidFill>
                  <a:srgbClr val="D4D4D4"/>
                </a:solidFill>
                <a:latin typeface="Consolas"/>
              </a:rPr>
              <a:t>Terminado</a:t>
            </a:r>
            <a:r>
              <a:rPr sz="1600" i="0" b="0">
                <a:solidFill>
                  <a:srgbClr val="D4D4D4"/>
                </a:solidFill>
                <a:latin typeface="Consolas"/>
              </a:rPr>
              <a:t> = </a:t>
            </a:r>
            <a:r>
              <a:rPr sz="1600" i="0" b="0">
                <a:solidFill>
                  <a:srgbClr val="D4D4D4"/>
                </a:solidFill>
                <a:latin typeface="Consolas"/>
              </a:rPr>
              <a:t>caso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uso</a:t>
            </a:r>
            <a:r>
              <a:rPr sz="1600" i="0" b="0">
                <a:solidFill>
                  <a:srgbClr val="D4D4D4"/>
                </a:solidFill>
                <a:latin typeface="Consolas"/>
              </a:rPr>
              <a:t> + </a:t>
            </a:r>
            <a:r>
              <a:rPr sz="1600" i="0" b="0">
                <a:solidFill>
                  <a:srgbClr val="D4D4D4"/>
                </a:solidFill>
                <a:latin typeface="Consolas"/>
              </a:rPr>
              <a:t>mockup</a:t>
            </a:r>
            <a:r>
              <a:rPr sz="1600" i="0" b="0">
                <a:solidFill>
                  <a:srgbClr val="D4D4D4"/>
                </a:solidFill>
                <a:latin typeface="Consolas"/>
              </a:rPr>
              <a:t> + </a:t>
            </a:r>
            <a:r>
              <a:rPr sz="1600" i="0" b="0">
                <a:solidFill>
                  <a:srgbClr val="D4D4D4"/>
                </a:solidFill>
                <a:latin typeface="Consolas"/>
              </a:rPr>
              <a:t>revision</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compañero</a:t>
            </a:r>
            <a:r>
              <a:rPr sz="1600" i="0" b="0">
                <a:solidFill>
                  <a:srgbClr val="D4D4D4"/>
                </a:solidFill>
                <a:latin typeface="Consolas"/>
              </a:rPr>
              <a:t> + </a:t>
            </a:r>
            <a:r>
              <a:rPr sz="1600" i="0" b="0">
                <a:solidFill>
                  <a:srgbClr val="D4D4D4"/>
                </a:solidFill>
                <a:latin typeface="Consolas"/>
              </a:rPr>
              <a:t>visto</a:t>
            </a:r>
            <a:r>
              <a:rPr sz="1600" i="0" b="0">
                <a:solidFill>
                  <a:srgbClr val="D4D4D4"/>
                </a:solidFill>
                <a:latin typeface="Consolas"/>
              </a:rPr>
              <a:t> </a:t>
            </a:r>
            <a:r>
              <a:rPr sz="1600" i="0" b="0">
                <a:solidFill>
                  <a:srgbClr val="D4D4D4"/>
                </a:solidFill>
                <a:latin typeface="Consolas"/>
              </a:rPr>
              <a:t>bueno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cliente</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quien la necesita y para que; los criterios dicen como se demuestra que quedo lista, incluido el camino que sale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Ágil no es trabajar sin documentación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cky-notes-planning-boar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cottonbro studio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que el manifiesto rechaza es el documento inflado que nadie lee, no el documento útil.</a:t>
            </a:r>
          </a:p>
          <a:p>
            <a:pPr>
              <a:spcAft>
                <a:spcPts val="800"/>
              </a:spcAft>
            </a:pPr>
            <a:r>
              <a:rPr sz="2000" b="0" i="0">
                <a:solidFill>
                  <a:srgbClr val="333333"/>
                </a:solidFill>
                <a:latin typeface="Calibri"/>
              </a:rPr>
              <a:t>–   Un equipo ágil documenta historias con criterios, Definición de Terminado, decisiones, diccionario de datos y diagramas.</a:t>
            </a:r>
          </a:p>
          <a:p>
            <a:pPr>
              <a:spcAft>
                <a:spcPts val="800"/>
              </a:spcAft>
            </a:pPr>
            <a:r>
              <a:rPr sz="2000" b="0" i="0">
                <a:solidFill>
                  <a:srgbClr val="333333"/>
                </a:solidFill>
                <a:latin typeface="Calibri"/>
              </a:rPr>
              <a:t>–   Los escribe justo a tiempo y los mantiene vivos.</a:t>
            </a:r>
          </a:p>
          <a:p>
            <a:pPr>
              <a:spcAft>
                <a:spcPts val="800"/>
              </a:spcAft>
            </a:pPr>
            <a:r>
              <a:rPr sz="2000" b="0" i="0">
                <a:solidFill>
                  <a:srgbClr val="333333"/>
                </a:solidFill>
                <a:latin typeface="Calibri"/>
              </a:rPr>
              <a:t>–   Un producto que ES documentación de diseño también se puede hacer ágil: por incrementos, revisado con el cliente.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la clinica veterinaria — no otro ejemplo. Aqui se diseña, no se programa.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Metodologias agiles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Iterar e incrementar sin dejar de documentar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