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requerimiento no es lo que el cliente dijo, es lo que el sistema debe hacer para que el problema del cliente desaparezca</a:t>
            </a:r>
          </a:p>
          <a:p/>
          <a:p>
            <a:r>
              <a:t>Entre esas dos cosas hay un trabajo de traduccion que se llama elicitacion, palabra que viene de sacar a la luz algo que estaba implicito.</a:t>
            </a:r>
          </a:p>
          <a:p/>
          <a:p>
            <a:r>
              <a:t>Las tres tecnicas que caben en este curso son baratas y no necesitan software especializado: la entrevista, donde se arranca con preguntas abiertas (cuenteme como es un dia normal en la clinica) y solo al final se cierran con preguntas de si o no</a:t>
            </a:r>
          </a:p>
          <a:p/>
          <a:p>
            <a:r>
              <a:t>La observacion, donde uno se para media hora en la recepcion un sabado y cronometra cuanto tarda la auxiliar en encontrar una carpeta; y el prototipo desechable, donde uno dibuja una pantalla fea a mano o en draw.io y la pone frente al veterinario</a:t>
            </a:r>
          </a:p>
          <a:p/>
          <a:p>
            <a:r>
              <a:t>Porque la gente no sabe decir lo que quiere pero sabe perfectamente decir lo que NO quiere cuando lo ve.</a:t>
            </a:r>
          </a:p>
          <a:p/>
          <a:p>
            <a:r>
              <a:t>En la clinica la entrevista al Dr. Ramirez dejo cinco frases crudas: que las fichas no se pierdan, ver de una lo que le han hecho antes al paciente</a:t>
            </a:r>
          </a:p>
          <a:p/>
          <a:p>
            <a:r>
              <a:t>Que la auxiliar agende sin llamarlo, que el sistema sea rapido, y saber cuantas consultas se hicieron en el mes.</a:t>
            </a:r>
          </a:p>
          <a:p/>
          <a:p>
            <a:r>
              <a:t>Ninguna de esas cinco frases es todavia un requisito: son necesidades, y confundirlas es el primer error del analista novato.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requisito funcional (RF) describe una capacidad observable del sistema, algo que alguien puede hacer con el</a:t>
            </a:r>
          </a:p>
          <a:p/>
          <a:p>
            <a:r>
              <a:t>Y se escribe con la plantilla el sistema debe permitir a &lt;actor&gt; &lt;accion&gt; &lt;objeto&gt; [bajo &lt;condicion&gt;]; el truco practico es que si al leerlo usted puede imaginar un boton, un formulario o una pantalla, es funcional.</a:t>
            </a:r>
          </a:p>
          <a:p/>
          <a:p>
            <a:r>
              <a:t>Un requisito no funcional (RNF) no describe QUE hace el sistema sino QUE TAN BIEN lo hace, y se agrupa en categorias conocidas: desempeno, seguridad y control de acceso, usabilidad, disponibilidad, respaldo, mantenibilidad y portabilidad.</a:t>
            </a:r>
          </a:p>
          <a:p/>
          <a:p>
            <a:r>
              <a:t>En la clinica, la frase que la auxiliar pueda agendar sin llamarme se convierte en dos cosas distintas al mismo tiempo: RF-05 el sistema debe permitir a la auxiliar registrar una cita seleccionando mascota, veterinario, fecha y hora</a:t>
            </a:r>
          </a:p>
          <a:p/>
          <a:p>
            <a:r>
              <a:t>Y RNF-02 el sistema debe manejar dos perfiles de acceso, auxiliar y veterinario, donde la auxiliar puede crear citas pero no puede editar ni ver el diagnostico clinico.</a:t>
            </a:r>
          </a:p>
          <a:p/>
          <a:p>
            <a:r>
              <a:t>NOTAS:</a:t>
            </a:r>
          </a:p>
          <a:p/>
          <a:p>
            <a:r>
              <a:t>Con las necesidades en la mano se separan dos familias.</a:t>
            </a:r>
          </a:p>
          <a:p/>
          <a:p>
            <a:r>
              <a:t>Esa separacion importa porque el RF se prueba haciendo clic y el RNF se prueba midiendo o intentando lo prohibido.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regla de oro del oficio es dura y se enuncia asi: si no se puede verificar, no es un requisito, es un deseo.</a:t>
            </a:r>
          </a:p>
          <a:p/>
          <a:p>
            <a:r>
              <a:t>Hay una lista negra de palabras que suenan a compromiso pero no comprometen a nada: rapido, amigable, facil, intuitivo, robusto, moderno, optimo, eficiente, seguro.</a:t>
            </a:r>
          </a:p>
          <a:p/>
          <a:p>
            <a:r>
              <a:t>Cada vez que aparece una de esas palabras hay que preguntar cuanto, en que condiciones y como lo mediriamos delante del cliente.</a:t>
            </a:r>
          </a:p>
          <a:p/>
          <a:p>
            <a:r>
              <a:t>La frase 4 del Dr. Ramirez, el sistema tiene que ser rapido, no se puede calificar ni aprobar ni rechazar</a:t>
            </a:r>
          </a:p>
          <a:p/>
          <a:p>
            <a:r>
              <a:t>Convertida queda RNF-01: la busqueda de historial por documento del dueno debe devolver resultados en maximo 3 segundos, con 5.000 fichas cargadas y 10 usuarios trabajando al mismo tiempo.</a:t>
            </a:r>
          </a:p>
          <a:p/>
          <a:p>
            <a:r>
              <a:t>Ahora si existe una prueba: se carga la base de ejemplo, se cronometra y el requisito pasa o no pasa.</a:t>
            </a:r>
          </a:p>
          <a:p/>
          <a:p>
            <a:r>
              <a:t>Lo mismo con la frase 1: que las fichas no se pierdan no es requisito, pero RF-01 registrar una ficha con codigo unico e irrepetible mas RNF-04 respaldo automatico diario con restauracion probada una vez al mes, si lo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Priorizar no es ordenar por gusto sino decidir con el cliente que pasa si algo no esta el dia de la entrega, y para eso se usa MoSCoW: Must es lo que sin ello el sistema no sirve y no se sale a produccion</a:t>
            </a:r>
          </a:p>
          <a:p/>
          <a:p>
            <a:r>
              <a:t>Should es importante pero existe un plan B manual mientras tanto</a:t>
            </a:r>
          </a:p>
          <a:p/>
          <a:p>
            <a:r>
              <a:t>Could es lo que se hace si sobra tiempo; y Won't es lo que se declara explicitamente fuera de ESTA version, que es la categoria mas valiosa de las cuatro porque es la unica que le pone freno al alcance infinito.</a:t>
            </a:r>
          </a:p>
          <a:p/>
          <a:p>
            <a:r>
              <a:t>La regla practica es que los Must no deberian superar el 60% del esfuerzo estimado, porque si todo es Must nada es Must.</a:t>
            </a:r>
          </a:p>
          <a:p/>
          <a:p>
            <a:r>
              <a:t>En la clinica: registrar dueno y mascota, consultar historial y agendar cita son Must, porque atacan los tres dolores de la clinica; el reporte mensual de consultas es Should</a:t>
            </a:r>
          </a:p>
          <a:p/>
          <a:p>
            <a:r>
              <a:t>Porque hoy el Dr. Ramirez lo hace contando a mano y puede sobrevivir un mes mas; el envio de recordatorios por WhatsApp y la facturacion electronica son Won't de esta version</a:t>
            </a:r>
          </a:p>
          <a:p/>
          <a:p>
            <a:r>
              <a:t>Y se escriben en el documento con esa etiqueta para que nadie los reclame despues como si hubieran sido prometidos.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ultimo pedazo es la trazabilidad, que es poder seguir cada requisito hacia atras y hacia adelante.</a:t>
            </a:r>
          </a:p>
          <a:p/>
          <a:p>
            <a:r>
              <a:t>Hacia atras: de donde salio este RF, quien lo pidio, en que frase de la entrevista, en que fecha; asi cuando alguien pregunte y esto por que esta aqui hay respuesta y no cara de sorpresa.</a:t>
            </a:r>
          </a:p>
          <a:p/>
          <a:p>
            <a:r>
              <a:t>Hacia adelante: en que caso de uso se desarrolla, en que pantalla del mockup se ve, en que clase del diagrama UML aparece y con que prueba se acepta.</a:t>
            </a:r>
          </a:p>
          <a:p/>
          <a:p>
            <a:r>
              <a:t>Quien solo cursa Seminario cierra el ciclo distinto pero completo: su matriz termina en el prototipo navegable y en el documento de diseno, y eso es una entrega profesional valida, no una version reducida.</a:t>
            </a:r>
          </a:p>
          <a:p/>
          <a:p>
            <a:r>
              <a:t>NOTAS:</a:t>
            </a:r>
          </a:p>
          <a:p/>
          <a:p>
            <a:r>
              <a:t>Se lleva en una matriz simple de cuatro columnas y se actualiza cada clase.</a:t>
            </a:r>
          </a:p>
          <a:p/>
          <a:p>
            <a:r>
              <a:t>Esto no es burocracia: es lo que permite que cuando el cliente cambie de opinion, usted sepa en dos minutos que se rompe y cuanto cuesta; y en el proyecto de diseño es lo que hace posible que el companero que solo cursa Programacion II reciba estos planos y sepa exactamente que implementar y por que, sin tener que volver a entrevistar al veterinario.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Requerimientos de software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 frase del veterinario al requisito verificable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Elicitación: de lo que dijo a lo que necesita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licit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licita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licita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es lo que el sistema debe hacer para que el problema desaparezca, no lo que el cliente dijo.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Entrevista: preguntas abiertas primero, las de sí o no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Observación: media hora en recepción, cronometrando. Prototipo desechable: la gente sabe decir lo que NO quiere cuando lo 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frases crudas son necesidades, todavía no requisitos.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familias: RF y RNF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f-rnf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f-rnf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f-rnf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RF: una capacidad observable. «El sistema debe permitir a &lt;actor&gt; &lt;acción&gt; &lt;objeto&gt; [bajo &lt;condición&gt;]».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 leerlo se imagina un botón o una pantalla, es funcional.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RNF: QUÉ TAN BIEN lo hace: desempeño, seguridad, usabilidad, disponibilidad, respaldo, mantenibilidad.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RF se prueba haciendo clic; el RNF, midiendo o intentando lo prohibido.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RNF cuantificado: la diferencia esta en el numero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636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407"/>
              </a:spcAft>
            </a:pPr>
            <a:r>
              <a:rPr sz="1900" i="0" b="0">
                <a:solidFill>
                  <a:srgbClr val="858585"/>
                </a:solidFill>
                <a:latin typeface="Consolas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693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Disponibilidad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agendamiento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 «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estar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»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BIEN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 «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modulo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estar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disponible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99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%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del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CDCAA"/>
                </a:solidFill>
                <a:latin typeface="Consolas"/>
              </a:rPr>
              <a:t>atencion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lunes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sabado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19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),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medido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mensualmente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caidas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»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Los cuatro pedazos que lo hacen verificable: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1. la magnitud       99%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2. la ventana        lun-sab 07:00-19:00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3. el periodo        mensual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  4. la fuente del dato  el registro de caidas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-- Si falta uno, nadie puede decir si se cumplio.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 no se puede verificar, es un deseo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sta-negr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lista-negr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lista-negr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lista-negra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Lista negra: rápido, amigable, fácil, intuitivo, robusto, moderno, óptimo, eficiente, seguro.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 cada una: ¿cuánto?, ¿en qué condiciones?, ¿cómo lo mediríamos delante del cliente?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 sea rápido» → RNF-01: búsqueda en máximo 3 s, con 5.000 fichas y 10 usuarios a la vez.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número, el requisito pasa o no pasa.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Priorizar con MoSCoW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scow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scow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scow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moscow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Must: sin ello no se sale a producción. Should: importante, con plan B manual.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Could: si sobra tiempo. Won't: fuera de ESTA versión, y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Won't es la categoría más valiosa: es la única que frena el alcance infinito.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Must no deberían pasar del 60 % del esfuerzo: si todo es Must, nada es Must.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priorizacion MoSCoW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387703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282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57"/>
              </a:spcAft>
            </a:pPr>
            <a:r>
              <a:rPr sz="12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3282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must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Must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esto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producto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m2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should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Should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importante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alternativa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manual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Reporte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mensual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could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Could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sobra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tiempo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11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Exportar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Excel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end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subgraph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wont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Wont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fuera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este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alcance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w1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200" i="0" b="0">
                <a:solidFill>
                  <a:srgbClr val="B5CEA8"/>
                </a:solidFill>
                <a:latin typeface="Consolas"/>
              </a:rPr>
              <a:t>15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movil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57"/>
              </a:spcAft>
            </a:pPr>
            <a:r>
              <a:rPr sz="12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200" i="0" b="0">
                <a:solidFill>
                  <a:srgbClr val="D4D4D4"/>
                </a:solidFill>
                <a:latin typeface="Consolas"/>
              </a:rPr>
              <a:t>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moscow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Wont no es «nunca»: es «no en esta version», y va escrito para que nadie lo de por incluido.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Trazabilidad hacia atrás y hacia adelante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za-atras-adela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aza-atras-adela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aza-atras-adela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de dónde salió el RF, quién lo pidió, en qué frase y en qué fecha.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en qué caso de uso, pantalla, clase y prueba termina.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lleva en una matriz simple y se actualiza cada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cliente cambia de opinión, dice en dos minutos qué se rompe y cuánto cuesta.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completa del requisito RF-03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24272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Plantilla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2648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ID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03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clinico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completa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 /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Auxiliar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Descripcion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sistema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permitir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consultar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historial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Entrada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Salida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motivo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diagnostico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ordenada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antigua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Regla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negocio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siempre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pertenece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unico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registrado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Criterio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verificacion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atenciones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busqueda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documento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devuelve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menos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Prioridad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MoSCoW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Must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entrevista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Ramirez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frase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necesidad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NEC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Trazabilidad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NEC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Prueba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07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aprobado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cliente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Requerimientos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 la frase del veterinario al requisito verificable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