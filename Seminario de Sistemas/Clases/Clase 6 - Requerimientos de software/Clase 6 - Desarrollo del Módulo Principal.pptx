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erriweather"/>
      <p:regular r:id="rId17"/>
      <p:bold r:id="rId18"/>
      <p:italic r:id="rId19"/>
      <p:boldItalic r:id="rId20"/>
    </p:embeddedFont>
    <p:embeddedFont>
      <p:font typeface="DM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Italic.fntdata"/><Relationship Id="rId11" Type="http://schemas.openxmlformats.org/officeDocument/2006/relationships/slide" Target="slides/slide6.xml"/><Relationship Id="rId22" Type="http://schemas.openxmlformats.org/officeDocument/2006/relationships/font" Target="fonts/DMSans-bold.fntdata"/><Relationship Id="rId10" Type="http://schemas.openxmlformats.org/officeDocument/2006/relationships/slide" Target="slides/slide5.xml"/><Relationship Id="rId21" Type="http://schemas.openxmlformats.org/officeDocument/2006/relationships/font" Target="fonts/DMSans-regular.fntdata"/><Relationship Id="rId13" Type="http://schemas.openxmlformats.org/officeDocument/2006/relationships/slide" Target="slides/slide8.xml"/><Relationship Id="rId24" Type="http://schemas.openxmlformats.org/officeDocument/2006/relationships/font" Target="fonts/DMSans-boldItalic.fntdata"/><Relationship Id="rId12" Type="http://schemas.openxmlformats.org/officeDocument/2006/relationships/slide" Target="slides/slide7.xml"/><Relationship Id="rId23" Type="http://schemas.openxmlformats.org/officeDocument/2006/relationships/font" Target="fonts/DM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erriweather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italic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95437" y="2103090"/>
            <a:ext cx="9001125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Desarrollo del Módulo Principal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874740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809750" y="4198590"/>
            <a:ext cx="85725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Traducción de Diseño a Código y 1° Corte Evaluativo (Clase 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58707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860470" y="2920454"/>
            <a:ext cx="8471058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Del Diseño a la Construcción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8253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Los planos están listos. Hoy configuramos la base de nuestro proyecto y comenzamos la codificación estructurada del sistema VetCare.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143125"/>
            <a:ext cx="527685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43125"/>
            <a:ext cx="527685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Núcleo del Negocio (DDD)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971550" y="2562225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Domain-Driven Design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971550" y="3067050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escribimos código al azar. Aplicamos el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Diseño Guiado por el Dominio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para enfocarnos en lo que importa.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971550" y="4124325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Identificamos cuál es el "corazón" de la aplicación. En un sistema veterinario, el corazón no es la base de datos SQL ni la interfaz web.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6724650" y="2562225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Módulo Principal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24650" y="3067050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núcleo de VetCare es el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Paciente (Mascota)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y su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Historia Clínica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 Es la regla de negocio que le da valor al producto.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24650" y="4124325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Por lo tanto, la arquitectura base de las Mascotas es lo primero que programaremos y validaremos.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4786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en Capas (MVC)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581025" y="194786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Separación de Responsabilidades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81025" y="245268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mantener el código limpio y mantenible, dividiremos nuestro proyecto Java en tres paquetes principales (Carpetas):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752475" y="35099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19150" y="35099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Modelo (Model):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cerebro. Clases del dominio, reglas de negocio y datos (Mascota, Perro, Patrones).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52475" y="4262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19150" y="426243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Vista (View):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 cara. Lo que el usuario ve y con lo que interactúa.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52475" y="50149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19150" y="50149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Controlador (Controller):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puente. Recibe órdenes de la vista y altera el modelo.</a:t>
            </a:r>
            <a:endParaRPr/>
          </a:p>
        </p:txBody>
      </p:sp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138362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Trazabilidad: UML a Código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Mapeo Arquitectónico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581025" y="24574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Todo lo dibujado en Mermaid (Clase 4) debe tener un equivalente exacto en el código fuente.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81025" y="48958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Si el diagrama difiere del código, existe una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deuda técnica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arquitectónica.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752475" y="3209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819150" y="3209925"/>
            <a:ext cx="5038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bloque class Mascota se convierte en Mascota.java.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752475" y="36671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19150" y="3667125"/>
            <a:ext cx="5038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signo - se transcribe estrictamente como private.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752475" y="41243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19150" y="4124325"/>
            <a:ext cx="5038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signo $ para Singleton y Factory se traduce como static.</a:t>
            </a:r>
            <a:endParaRPr/>
          </a:p>
        </p:txBody>
      </p:sp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143125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Producto Mínimo Viable (MVP)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Entregas Incrementales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81025" y="24574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la industria moderna no esperamos 6 meses para mostrar resultados al cliente. Construimos un MVP.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581025" y="3209925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MVP es la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versión más pequeña y funcional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de nuestro módulo principal que aporta valor inmediato.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581025" y="396240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Hoy nuestro MVP será tener el esqueleto de las clases conectado y compilando correctamente.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143125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9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Pruebas: Shift-Left Testing</a:t>
            </a:r>
            <a:endParaRPr/>
          </a:p>
        </p:txBody>
      </p:sp>
      <p:sp>
        <p:nvSpPr>
          <p:cNvPr id="155" name="Google Shape;155;p19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 desde el Día 1</a:t>
            </a:r>
            <a:endParaRPr/>
          </a:p>
        </p:txBody>
      </p:sp>
      <p:sp>
        <p:nvSpPr>
          <p:cNvPr id="156" name="Google Shape;156;p19"/>
          <p:cNvSpPr txBox="1"/>
          <p:nvPr/>
        </p:nvSpPr>
        <p:spPr>
          <a:xfrm>
            <a:off x="581025" y="2457450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concepto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Shift-Left Testing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significa "mover las pruebas a la izquierda" en la línea de tiempo del proyecto.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752475" y="320992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819150" y="3209925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dejamos el control de calidad (QA) para el final.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752475" y="36576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819150" y="3657600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Probamos el diseño, revisamos la estructura y validamos el esqueleto antes de programar la lógica compleja.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752475" y="44100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19150" y="4410075"/>
            <a:ext cx="5038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Asegura que la base es sólida antes de construir el techo.</a:t>
            </a:r>
            <a:endParaRPr/>
          </a:p>
        </p:txBody>
      </p:sp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143125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52625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Colaboración: Git Flow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581025" y="195262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Ramas de Desarrollo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581025" y="2457450"/>
            <a:ext cx="5276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equipos profesionales, el repositorio es sagrado. Nunca se programa directamente en la rama main o master.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581025" y="3219450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Flujo Básico: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66775" y="3676650"/>
            <a:ext cx="95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962025" y="3676650"/>
            <a:ext cx="4896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Crear rama (Ej. </a:t>
            </a:r>
            <a:r>
              <a:rPr lang="en-US" sz="15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fix</a:t>
            </a:r>
            <a:r>
              <a:rPr lang="en-US" sz="15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/duplicacion-mascotas-dashboard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809625" y="413385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962025" y="4133850"/>
            <a:ext cx="4895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Escribir y probar el código allí.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809625" y="4581525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962025" y="458152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Unir (Merge/Pull Request) a la rama principal solo cuando funcione perfectamente.</a:t>
            </a:r>
            <a:endParaRPr/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4625" y="2143125"/>
            <a:ext cx="489585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557611"/>
            <a:ext cx="11029950" cy="283800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2240518" y="1462236"/>
            <a:ext cx="771096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Evaluación de Corte (30%)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683418" y="2843361"/>
            <a:ext cx="1090136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Entregables a revisar hoy: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133475" y="328151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Documentación: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Repositorio con el archivo README.md y el UML renderizado.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133475" y="4012852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Arquitectura de Código: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Estructura MVC de paquetes creada.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133475" y="4378523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 Mapeo:</a:t>
            </a: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Esqueletos de Java (`Mascota`, `Singleton`, `Factory`) traducidos fielmente del diseño.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Inicio del Taller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Abran sus editores de código.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hora de crear la estructura base del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Módulo Principal</a:t>
            </a: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para su calificación de corte.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Image Sources</a:t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2338387" y="1900386"/>
            <a:ext cx="75152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2338387" y="2685157"/>
            <a:ext cx="75152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2338387" y="3469927"/>
            <a:ext cx="75152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2338387" y="4254698"/>
            <a:ext cx="7515225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2338387" y="2675632"/>
            <a:ext cx="7515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2338387" y="2675632"/>
            <a:ext cx="7515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2338387" y="3460402"/>
            <a:ext cx="7515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2338387" y="3460402"/>
            <a:ext cx="7515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2338387" y="4245173"/>
            <a:ext cx="7515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2338387" y="4245173"/>
            <a:ext cx="7515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2338387" y="5029944"/>
            <a:ext cx="7515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2338387" y="5029944"/>
            <a:ext cx="75152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8387" y="20498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3"/>
          <p:cNvSpPr txBox="1"/>
          <p:nvPr/>
        </p:nvSpPr>
        <p:spPr>
          <a:xfrm>
            <a:off x="3433762" y="2043261"/>
            <a:ext cx="64198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https://assets.bytebytego.com/diagrams/0008-6-software-architectural-patterns-you-must-know.png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3433762" y="2288976"/>
            <a:ext cx="6419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bytebytego.com</a:t>
            </a:r>
            <a:endParaRPr/>
          </a:p>
        </p:txBody>
      </p:sp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8387" y="28345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3"/>
          <p:cNvSpPr txBox="1"/>
          <p:nvPr/>
        </p:nvSpPr>
        <p:spPr>
          <a:xfrm>
            <a:off x="3433762" y="2828032"/>
            <a:ext cx="64198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https://i.sstatic.net/stGcg.jpg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3433762" y="3073747"/>
            <a:ext cx="6419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stackoverflow.com</a:t>
            </a:r>
            <a:endParaRPr/>
          </a:p>
        </p:txBody>
      </p:sp>
      <p:pic>
        <p:nvPicPr>
          <p:cNvPr descr="image.png" id="221" name="Google Shape;22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38387" y="36193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3433762" y="3612802"/>
            <a:ext cx="64198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https://www.buzzybrains.com/blog/wp-content/uploads/2023/09/BuzzyBrains_infographic-MVP-2.jpg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3433762" y="3858517"/>
            <a:ext cx="6419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www.buzzybrains.com</a:t>
            </a:r>
            <a:endParaRPr/>
          </a:p>
        </p:txBody>
      </p:sp>
      <p:pic>
        <p:nvPicPr>
          <p:cNvPr descr="image.png" id="224" name="Google Shape;22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38387" y="44041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3433762" y="4397573"/>
            <a:ext cx="64198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https://media.geeksforgeeks.org/wp-content/uploads/20250321121509628466/What-is-Shift-Left-Testing.webp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3433762" y="4643288"/>
            <a:ext cx="6419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www.geeksforgeeks.org</a:t>
            </a:r>
            <a:endParaRPr/>
          </a:p>
        </p:txBody>
      </p:sp>
      <p:pic>
        <p:nvPicPr>
          <p:cNvPr descr="image.png" id="227" name="Google Shape;22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38387" y="51888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3433762" y="5182344"/>
            <a:ext cx="64198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https://nvie.com/img/git-model@2x.png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3433762" y="5428059"/>
            <a:ext cx="64198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nvie.com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