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notesMaster" Target="notesMasters/notesMaster1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DESARROLLO (para explicarlo, no se proyecta):</a:t>
            </a:r>
          </a:p>
          <a:p/>
          <a:p>
            <a:r>
              <a:t>Un caso de uso es la descripcion de una interaccion completa entre un actor y el sistema que termina entregando un resultado con valor observable para ese actor.</a:t>
            </a:r>
          </a:p>
          <a:p/>
          <a:p>
            <a:r>
              <a:t>La palabra clave es completa: no es una pantalla, no es un boton, no es una tabla de la base de datos y no es un paso intermedio.</a:t>
            </a:r>
          </a:p>
          <a:p/>
          <a:p>
            <a:r>
              <a:t>La prueba practica que usamos en clase es la del almuerzo: si el actor puede levantarse de la silla e irse a almorzar satisfecho porque ya logro lo que queria, entonces eso es un caso de uso.</a:t>
            </a:r>
          </a:p>
          <a:p/>
          <a:p>
            <a:r>
              <a:t>La regla de redaccion es simple y no se negocia: verbo en infinitivo mas objeto del dominio, escrito con las palabras de la clinica y no con palabras de programador.</a:t>
            </a:r>
          </a:p>
          <a:p/>
          <a:p>
            <a:r>
              <a:t>NOTAS:</a:t>
            </a:r>
          </a:p>
          <a:p/>
          <a:p>
            <a:r>
              <a:t>En la clinica, Registrar mascota pasa la prueba, porque la recepcionista de la clinica termina con la ficha creada y el codigo asignado; en cambio Validar la fecha de nacimiento no la pasa, porque nadie llega a la clinica con el objetivo de validar una fecha.</a:t>
            </a:r>
          </a:p>
          <a:p/>
          <a:p>
            <a:r>
              <a:t>Esa distincion parece un detalle de nombres, pero define el tamaño de todo el modelo: si se confunde, un sistema pequeño como el sistema termina con cuarenta casos de uso inutiles en vez de seis u ocho casos de uso reales.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DESARROLLO (para explicarlo, no se proyecta):</a:t>
            </a:r>
          </a:p>
          <a:p/>
          <a:p>
            <a:r>
              <a:t>El actor es un rol, no una persona ni un cargo del organigrama.</a:t>
            </a:r>
          </a:p>
          <a:p/>
          <a:p>
            <a:r>
              <a:t>Doña Marta, la recepcionista de la clinica, no es un actor: el actor es Recepcionista, y si mañana la reemplazan el modelo no cambia.</a:t>
            </a:r>
          </a:p>
          <a:p/>
          <a:p>
            <a:r>
              <a:t>Una misma persona puede encarnar dos actores, por ejemplo el veterinario dueño de la clinica que a veces atiende y a veces revisa las metricas: alli actua como Veterinario y como Administrador, y por eso aparecen dos monigotes.</a:t>
            </a:r>
          </a:p>
          <a:p/>
          <a:p>
            <a:r>
              <a:t>Ademas existen actores que no son humanos: un sistema externo que enviaria los recordatorios por mensajeria seria un actor secundario del sistema, porque participaria en el caso de uso pero no es quien lo inicia.</a:t>
            </a:r>
          </a:p>
          <a:p/>
          <a:p>
            <a:r>
              <a:t>Todo esto se ordena con el limite del sistema, ese rectangulo que muchos omiten y que en realidad es la decision de arquitectura mas importante del diagrama: adentro va lo que nosotros vamos a construir y por lo tanto especificar, y afuera queda lo que solo vamos a consumir o a recibir.</a:t>
            </a:r>
          </a:p>
          <a:p/>
          <a:p>
            <a:r>
              <a:t>NOTAS:</a:t>
            </a:r>
          </a:p>
          <a:p/>
          <a:p>
            <a:r>
              <a:t>Si en la clinica dibujamos adentro del rectangulo un caso de uso llamado Enviar mensaje de WhatsApp, estamos diciendo que nosotros construimos la mensajeria, y eso probablemente sea falso y encarezca el proyecto por escrito.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DESARROLLO (para explicarlo, no se proyecta):</a:t>
            </a:r>
          </a:p>
          <a:p/>
          <a:p>
            <a:r>
              <a:t>Las relaciones entre casos de uso son tres y se abusa de ellas.</a:t>
            </a:r>
          </a:p>
          <a:p/>
          <a:p>
            <a:r>
              <a:t>Include significa que el caso base siempre ejecuta el caso incluido, y se usa cuando un comportamiento se repite en varios casos y vale la pena escribirlo una sola vez: en la clinica</a:t>
            </a:r>
          </a:p>
          <a:p/>
          <a:p>
            <a:r>
              <a:t>CU-03 Registrar consulta medica y CU-04 Agendar cita incluyen ambos a Verificar existencia de la mascota, siempre, sin condicion.</a:t>
            </a:r>
          </a:p>
          <a:p/>
          <a:p>
            <a:r>
              <a:t>Extend es lo contrario: comportamiento opcional que se dispara solo si se cumple una condicion en un punto de extension del caso base</a:t>
            </a:r>
          </a:p>
          <a:p/>
          <a:p>
            <a:r>
              <a:t>En la clinica, CU-02 Buscar expediente puede extenderse con CU-06 Exportar expediente a PDF, que ocurre unicamente cuando el veterinario lo pide.</a:t>
            </a:r>
          </a:p>
          <a:p/>
          <a:p>
            <a:r>
              <a:t>La generalizacion, mucho menos frecuente, sirve cuando un actor especializa a otro, por ejemplo Veterinario especialista como especializacion de Veterinario.</a:t>
            </a:r>
          </a:p>
          <a:p/>
          <a:p>
            <a:r>
              <a:t>El peligro real no es equivocarse en la flecha sino usar include para descomponer funcionalmente: si el diagrama muestra Registrar mascota incluyendo Abrir formulario</a:t>
            </a:r>
          </a:p>
          <a:p/>
          <a:p>
            <a:r>
              <a:t>Incluyendo Digitar datos, incluyendo Guardar en base de datos, ya no es un modelo de casos de uso sino un diagrama de flujo disfrazado, y ese error contagia despues al diagrama de clases.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DESARROLLO (para explicarlo, no se proyecta):</a:t>
            </a:r>
          </a:p>
          <a:p/>
          <a:p>
            <a:r>
              <a:t>La especificacion textual es donde vive el noventa por ciento del valor y donde casi nadie invierte tiempo.</a:t>
            </a:r>
          </a:p>
          <a:p/>
          <a:p>
            <a:r>
              <a:t>El flujo principal se escribe en pares de responsabilidad: una columna dice que hace el actor y la otra que hace el sistema, alternandose, en pasos numerados y sin adjetivos.</a:t>
            </a:r>
          </a:p>
          <a:p/>
          <a:p>
            <a:r>
              <a:t>Por ejemplo, en Buscar expediente el paso 1 es que el veterinario digita el codigo o el nombre de la mascota y el paso 2 es que el sistema devuelve la lista de coincidencias; nunca se escribe el sistema es rapido y amigable</a:t>
            </a:r>
          </a:p>
          <a:p/>
          <a:p>
            <a:r>
              <a:t>Porque eso no es un paso sino un requisito no funcional que ya vive en otro documento, el RNF-02, que exige mostrar el resultado en menos de tres segundos.</a:t>
            </a:r>
          </a:p>
          <a:p/>
          <a:p>
            <a:r>
              <a:t>Los flujos alternos se numeran respecto al paso donde se desvian: 2a cuando no hay coincidencias, 2b cuando hay demasiadas, 4a cuando la mascota esta inactiva.</a:t>
            </a:r>
          </a:p>
          <a:p/>
          <a:p>
            <a:r>
              <a:t>Ese numerito es lo que permite que el compañero de Programacion II sepa exactamente en que punto del comportamiento hay que preguntar algo, y es tambien la razon por la cual la clinica deja de perder tiempo buscando historiales.</a:t>
            </a:r>
          </a:p>
          <a:p/>
          <a:p>
            <a:r>
              <a:t>NOTAS:</a:t>
            </a:r>
          </a:p>
          <a:p/>
          <a:p>
            <a:r>
              <a:t>Un caso de uso especificado tiene ficha de identificacion (ID, nombre, actor primario, requisitos que cubre, prioridad y frecuencia), precondiciones, postcondiciones, flujo principal y flujos alternos, y las reglas de negocio asociadas.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DESARROLLO (para explicarlo, no se proyecta):</a:t>
            </a:r>
          </a:p>
          <a:p/>
          <a:p>
            <a:r>
              <a:t>Precondiciones y postcondiciones son un contrato, no un adorno.</a:t>
            </a:r>
          </a:p>
          <a:p/>
          <a:p>
            <a:r>
              <a:t>La precondicion es aquello que debe ser verdadero antes de empezar y que el caso de uso no vuelve a verificar dentro del flujo: si escribimos que el usuario esta autenticado como precondicion de Registrar mascota</a:t>
            </a:r>
          </a:p>
          <a:p/>
          <a:p>
            <a:r>
              <a:t>Entonces el flujo principal no puede tener un paso que diga el sistema pide usuario y contraseña, porque eso ya ocurrio.</a:t>
            </a:r>
          </a:p>
          <a:p/>
          <a:p>
            <a:r>
              <a:t>La postcondicion describe el estado en que queda el sistema cuando el caso termina, y debe ser verificable mirando los datos: en la clinica la postcondicion de exito de Registrar mascota es que existe una ficha con codigo unico asociada a un propietario y que quedo bitacora de quien la creo y cuando; la postcondicion de fracaso es que no queda ningun registro a medias.</a:t>
            </a:r>
          </a:p>
          <a:p/>
          <a:p>
            <a:r>
              <a:t>Segundo, resuelve la discusion entre los tres casos de matricula: el estudiante que solo cursa Seminario cierra con este documento y su prototipo navegable y ya entrego un producto completo</a:t>
            </a:r>
          </a:p>
          <a:p/>
          <a:p>
            <a:r>
              <a:t>Mientras que el que solo cursa Programacion II recibe estas postcondiciones y sabe exactamente que debe dejar guardado su codigo, sin tener que adivinar ni volver a entrevistar a la clinica.</a:t>
            </a:r>
          </a:p>
          <a:p/>
          <a:p>
            <a:r>
              <a:t>NOTAS:</a:t>
            </a:r>
          </a:p>
          <a:p/>
          <a:p>
            <a:r>
              <a:t>Escribirlas asi tiene dos consecuencias practicas enormes.</a:t>
            </a:r>
          </a:p>
          <a:p/>
          <a:p>
            <a:r>
              <a:t>Primero, cada postcondicion se convierte casi automaticamente en un caso de prueba, porque describe algo que se puede ir a comprobar.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TEXTO COMPLETO DE LA LÁMINA (se proyecta resumido):</a:t>
            </a:r>
          </a:p>
          <a:p/>
          <a:p>
            <a:r>
              <a:t>Herramienta: draw.io · Google Docs</a:t>
            </a:r>
          </a:p>
          <a:p/>
          <a:p>
            <a:r>
              <a:t>Demo: Se proyecta como un caso de uso mal escrito (Dar clic en guardar) se transforma en uno correcto (Registrar mascota) y luego llena en vivo, delante del grupo, la plantilla de especificacion de Buscar expediente.</a:t>
            </a:r>
          </a:p>
          <a:p/>
          <a:p>
            <a:r>
              <a:t>Mismo dominio: la clinica veterinaria — no otro ejemplo. Aqui se diseña, no se programa.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3.png"/><Relationship Id="rId4" Type="http://schemas.openxmlformats.org/officeDocument/2006/relationships/image" Target="../media/image4.png"/><Relationship Id="rId5" Type="http://schemas.openxmlformats.org/officeDocument/2006/relationships/notesSlide" Target="../notesSlides/notesSlide1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Relationship Id="rId3" Type="http://schemas.openxmlformats.org/officeDocument/2006/relationships/image" Target="../media/image6.png"/><Relationship Id="rId4" Type="http://schemas.openxmlformats.org/officeDocument/2006/relationships/image" Target="../media/image7.png"/><Relationship Id="rId5" Type="http://schemas.openxmlformats.org/officeDocument/2006/relationships/notesSlide" Target="../notesSlides/notesSlide2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png"/><Relationship Id="rId3" Type="http://schemas.openxmlformats.org/officeDocument/2006/relationships/image" Target="../media/image9.png"/><Relationship Id="rId4" Type="http://schemas.openxmlformats.org/officeDocument/2006/relationships/image" Target="../media/image10.png"/><Relationship Id="rId5" Type="http://schemas.openxmlformats.org/officeDocument/2006/relationships/notesSlide" Target="../notesSlides/notesSlide3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1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2.png"/><Relationship Id="rId3" Type="http://schemas.openxmlformats.org/officeDocument/2006/relationships/image" Target="../media/image13.png"/><Relationship Id="rId4" Type="http://schemas.openxmlformats.org/officeDocument/2006/relationships/image" Target="../media/image14.png"/><Relationship Id="rId5" Type="http://schemas.openxmlformats.org/officeDocument/2006/relationships/notesSlide" Target="../notesSlides/notesSlide4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5.png"/><Relationship Id="rId3" Type="http://schemas.openxmlformats.org/officeDocument/2006/relationships/image" Target="../media/image16.png"/><Relationship Id="rId4" Type="http://schemas.openxmlformats.org/officeDocument/2006/relationships/image" Target="../media/image17.png"/><Relationship Id="rId5" Type="http://schemas.openxmlformats.org/officeDocument/2006/relationships/notesSlide" Target="../notesSlides/notesSlide5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8.png"/><Relationship Id="rId3" Type="http://schemas.openxmlformats.org/officeDocument/2006/relationships/notesSlide" Target="../notesSlides/notesSlide6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9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91440"/>
          </a:xfrm>
          <a:prstGeom prst="rect">
            <a:avLst/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91440"/>
            <a:ext cx="12191695" cy="50292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logo_uniajc_blanc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384048"/>
            <a:ext cx="2011680" cy="876815"/>
          </a:xfrm>
          <a:prstGeom prst="rect">
            <a:avLst/>
          </a:prstGeom>
        </p:spPr>
      </p:pic>
      <p:sp>
        <p:nvSpPr>
          <p:cNvPr id="6" name="Rounded Rectangle 5"/>
          <p:cNvSpPr/>
          <p:nvPr/>
        </p:nvSpPr>
        <p:spPr>
          <a:xfrm>
            <a:off x="10042855" y="384048"/>
            <a:ext cx="1691640" cy="384048"/>
          </a:xfrm>
          <a:prstGeom prst="roundRect">
            <a:avLst>
              <a:gd name="adj" fmla="val 12000"/>
            </a:avLst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42855" y="384048"/>
            <a:ext cx="1691640" cy="38404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Clase 9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" y="2331720"/>
            <a:ext cx="10728655" cy="18288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4000" b="1" i="0">
                <a:solidFill>
                  <a:srgbClr val="FFFFFF"/>
                </a:solidFill>
                <a:latin typeface="Calibri"/>
              </a:rPr>
              <a:t>Casos de uso</a:t>
            </a:r>
          </a:p>
        </p:txBody>
      </p:sp>
      <p:sp>
        <p:nvSpPr>
          <p:cNvPr id="9" name="Rectangle 8"/>
          <p:cNvSpPr/>
          <p:nvPr/>
        </p:nvSpPr>
        <p:spPr>
          <a:xfrm>
            <a:off x="4632807" y="4206240"/>
            <a:ext cx="2926080" cy="50292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31520" y="4361688"/>
            <a:ext cx="10728655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0" i="0">
                <a:solidFill>
                  <a:srgbClr val="B8D8EE"/>
                </a:solidFill>
                <a:latin typeface="Calibri"/>
              </a:rPr>
              <a:t>El diagrama se dibuja en cinco minutos; el valor esta en la especificacion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094415" y="6419088"/>
            <a:ext cx="5486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1" i="0">
                <a:solidFill>
                  <a:srgbClr val="7EB8D4"/>
                </a:solidFill>
                <a:latin typeface="Calibri"/>
              </a:rPr>
              <a:t>1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Encuadre de hoy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Tema: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Casos de uso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El diagrama se dibuja en cinco minutos; el valor esta en la especificacion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Herramienta del tema: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draw.io · Google Docs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· Bloque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120 min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Ejemplo de toda la clase: el sistema de una clinica veterinaria.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Mapa del bloque de hoy (120 min)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2176272"/>
            <a:ext cx="11277295" cy="73152"/>
          </a:xfrm>
          <a:prstGeom prst="rect">
            <a:avLst/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1438625" y="2066543"/>
            <a:ext cx="292608" cy="292608"/>
          </a:xfrm>
          <a:prstGeom prst="roundRect">
            <a:avLst>
              <a:gd name="adj" fmla="val 12000"/>
            </a:avLst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57200" y="1353312"/>
            <a:ext cx="2255459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095292"/>
                </a:solidFill>
                <a:latin typeface="Calibri"/>
              </a:rPr>
              <a:t>0-10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2587752"/>
            <a:ext cx="2164019" cy="33101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 i="0">
                <a:solidFill>
                  <a:srgbClr val="333333"/>
                </a:solidFill>
                <a:latin typeface="Calibri"/>
              </a:rPr>
              <a:t>Encuadre y repaso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3694084" y="2066543"/>
            <a:ext cx="292608" cy="292608"/>
          </a:xfrm>
          <a:prstGeom prst="roundRect">
            <a:avLst>
              <a:gd name="adj" fmla="val 12000"/>
            </a:avLst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2712659" y="1353312"/>
            <a:ext cx="2255459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095292"/>
                </a:solidFill>
                <a:latin typeface="Calibri"/>
              </a:rPr>
              <a:t>10-40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758379" y="2587752"/>
            <a:ext cx="2164019" cy="33101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 i="0">
                <a:solidFill>
                  <a:srgbClr val="333333"/>
                </a:solidFill>
                <a:latin typeface="Calibri"/>
              </a:rPr>
              <a:t>Teoria Core del tema de hoy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949543" y="2066543"/>
            <a:ext cx="292608" cy="292608"/>
          </a:xfrm>
          <a:prstGeom prst="roundRect">
            <a:avLst>
              <a:gd name="adj" fmla="val 12000"/>
            </a:avLst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968118" y="1353312"/>
            <a:ext cx="2255459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095292"/>
                </a:solidFill>
                <a:latin typeface="Calibri"/>
              </a:rPr>
              <a:t>40-60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013838" y="2587752"/>
            <a:ext cx="2164019" cy="33101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 i="0">
                <a:solidFill>
                  <a:srgbClr val="333333"/>
                </a:solidFill>
                <a:latin typeface="Calibri"/>
              </a:rPr>
              <a:t>Demo en vivo sobre la clinica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8205002" y="2066543"/>
            <a:ext cx="292608" cy="292608"/>
          </a:xfrm>
          <a:prstGeom prst="roundRect">
            <a:avLst>
              <a:gd name="adj" fmla="val 12000"/>
            </a:avLst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223577" y="1353312"/>
            <a:ext cx="2255459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095292"/>
                </a:solidFill>
                <a:latin typeface="Calibri"/>
              </a:rPr>
              <a:t>60-105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269297" y="2587752"/>
            <a:ext cx="2164019" cy="33101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 i="0">
                <a:solidFill>
                  <a:srgbClr val="333333"/>
                </a:solidFill>
                <a:latin typeface="Calibri"/>
              </a:rPr>
              <a:t>Practica (opcional, guia en la carpeta)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10460461" y="2066543"/>
            <a:ext cx="292608" cy="292608"/>
          </a:xfrm>
          <a:prstGeom prst="roundRect">
            <a:avLst>
              <a:gd name="adj" fmla="val 12000"/>
            </a:avLst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9479036" y="1353312"/>
            <a:ext cx="2255459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095292"/>
                </a:solidFill>
                <a:latin typeface="Calibri"/>
              </a:rPr>
              <a:t>105-120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524756" y="2587752"/>
            <a:ext cx="2164019" cy="33101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 i="0">
                <a:solidFill>
                  <a:srgbClr val="333333"/>
                </a:solidFill>
                <a:latin typeface="Calibri"/>
              </a:rPr>
              <a:t>Sintesis y cierre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57200" y="5806440"/>
            <a:ext cx="11277295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 i="1">
                <a:solidFill>
                  <a:srgbClr val="666666"/>
                </a:solidFill>
                <a:latin typeface="Calibri"/>
              </a:rPr>
              <a:t>Solo el bloque de </a:t>
            </a:r>
            <a:r>
              <a:rPr sz="1200" b="1" i="1">
                <a:solidFill>
                  <a:srgbClr val="666666"/>
                </a:solidFill>
                <a:latin typeface="Calibri"/>
              </a:rPr>
              <a:t>esta</a:t>
            </a:r>
            <a:r>
              <a:rPr sz="1200" b="0" i="1">
                <a:solidFill>
                  <a:srgbClr val="666666"/>
                </a:solidFill>
                <a:latin typeface="Calibri"/>
              </a:rPr>
              <a:t> clase · 120 min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Qué es un caso de uso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803166" y="1188719"/>
            <a:ext cx="5998464" cy="4828032"/>
          </a:xfrm>
          <a:prstGeom prst="roundRect">
            <a:avLst>
              <a:gd name="adj" fmla="val 4000"/>
            </a:avLst>
          </a:prstGeom>
          <a:solidFill>
            <a:srgbClr val="E8EE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prueba-almuerzo-paso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876318" y="1261872"/>
            <a:ext cx="5852160" cy="4681728"/>
          </a:xfrm>
          <a:prstGeom prst="rect">
            <a:avLst/>
          </a:prstGeom>
        </p:spPr>
      </p:pic>
      <p:pic>
        <p:nvPicPr>
          <p:cNvPr id="7" name="Picture 6" descr="prueba-almuerzo-paso2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876318" y="1261872"/>
            <a:ext cx="5852160" cy="4681728"/>
          </a:xfrm>
          <a:prstGeom prst="rect">
            <a:avLst/>
          </a:prstGeom>
        </p:spPr>
      </p:pic>
      <p:pic>
        <p:nvPicPr>
          <p:cNvPr id="8" name="Picture 7" descr="prueba-almuerzo-paso3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876318" y="1261872"/>
            <a:ext cx="5852160" cy="4681728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5870301" y="5961888"/>
            <a:ext cx="5864193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1">
                <a:solidFill>
                  <a:srgbClr val="666666"/>
                </a:solidFill>
                <a:latin typeface="Calibri"/>
              </a:rPr>
              <a:t>Clic para avanzar la animación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57200" y="1353312"/>
            <a:ext cx="5093061" cy="5047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Una interacción completa entre un actor y el sistema que entrega un resultado con valor para ese actor.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No es una pantalla, ni un botón, ni una tabla, ni un paso intermedio.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Prueba del almuerzo: ¿el actor se puede ir satisfecho? Registrar mascota sí; validar la fecha no.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Se nombra con verbo en infinitivo y objeto del dominio, con palabras de la clínica.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4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5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45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El actor es un rol, y el límite del sistema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803166" y="1188719"/>
            <a:ext cx="5998464" cy="4828032"/>
          </a:xfrm>
          <a:prstGeom prst="roundRect">
            <a:avLst>
              <a:gd name="adj" fmla="val 4000"/>
            </a:avLst>
          </a:prstGeom>
          <a:solidFill>
            <a:srgbClr val="E8EE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actor-limite-paso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876318" y="1261872"/>
            <a:ext cx="5852160" cy="4681728"/>
          </a:xfrm>
          <a:prstGeom prst="rect">
            <a:avLst/>
          </a:prstGeom>
        </p:spPr>
      </p:pic>
      <p:pic>
        <p:nvPicPr>
          <p:cNvPr id="7" name="Picture 6" descr="actor-limite-paso2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876318" y="1261872"/>
            <a:ext cx="5852160" cy="4681728"/>
          </a:xfrm>
          <a:prstGeom prst="rect">
            <a:avLst/>
          </a:prstGeom>
        </p:spPr>
      </p:pic>
      <p:pic>
        <p:nvPicPr>
          <p:cNvPr id="8" name="Picture 7" descr="actor-limite-paso3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876318" y="1261872"/>
            <a:ext cx="5852160" cy="4681728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5870301" y="5961888"/>
            <a:ext cx="5864193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1">
                <a:solidFill>
                  <a:srgbClr val="666666"/>
                </a:solidFill>
                <a:latin typeface="Calibri"/>
              </a:rPr>
              <a:t>Clic para avanzar la animación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57200" y="1353312"/>
            <a:ext cx="5093061" cy="5047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Doña Marta no es un actor: el actor es Recepcionista.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Una persona puede ser dos actores; un sistema externo puede ser actor secundario.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El rectángulo del límite es una decisión: adentro, lo que se construye; afuera, lo que se consume.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Dibujar «Enviar WhatsApp» adentro es prometer que se construye la mensajería.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5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5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45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Include, extend y generalización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803166" y="1188719"/>
            <a:ext cx="5998464" cy="4828032"/>
          </a:xfrm>
          <a:prstGeom prst="roundRect">
            <a:avLst>
              <a:gd name="adj" fmla="val 4000"/>
            </a:avLst>
          </a:prstGeom>
          <a:solidFill>
            <a:srgbClr val="E8EE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include-extend-paso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876318" y="1261872"/>
            <a:ext cx="5852160" cy="4681728"/>
          </a:xfrm>
          <a:prstGeom prst="rect">
            <a:avLst/>
          </a:prstGeom>
        </p:spPr>
      </p:pic>
      <p:pic>
        <p:nvPicPr>
          <p:cNvPr id="7" name="Picture 6" descr="include-extend-paso2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876318" y="1261872"/>
            <a:ext cx="5852160" cy="4681728"/>
          </a:xfrm>
          <a:prstGeom prst="rect">
            <a:avLst/>
          </a:prstGeom>
        </p:spPr>
      </p:pic>
      <p:pic>
        <p:nvPicPr>
          <p:cNvPr id="8" name="Picture 7" descr="include-extend-paso3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876318" y="1261872"/>
            <a:ext cx="5852160" cy="4681728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5870301" y="5961888"/>
            <a:ext cx="5864193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1">
                <a:solidFill>
                  <a:srgbClr val="666666"/>
                </a:solidFill>
                <a:latin typeface="Calibri"/>
              </a:rPr>
              <a:t>Clic para avanzar la animación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57200" y="1353312"/>
            <a:ext cx="5093061" cy="5047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Include: el caso base SIEMPRE ejecuta el incluido (agendar y registrar consulta verifican la mascota).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Extend: opcional, solo si se cumple una condición (exportar el expediente a PDF).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Generalización: un actor especializa a otro.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Usar include para partir en pasos convierte el diagrama en un flujo disfrazado.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6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5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45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El diagrama de casos de uso en Mermaid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57200" y="1261872"/>
            <a:ext cx="6991923" cy="4798799"/>
          </a:xfrm>
          <a:prstGeom prst="roundRect">
            <a:avLst>
              <a:gd name="adj" fmla="val 4000"/>
            </a:avLst>
          </a:prstGeom>
          <a:solidFill>
            <a:srgbClr val="1E1E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57200" y="1261872"/>
            <a:ext cx="6991923" cy="365760"/>
          </a:xfrm>
          <a:prstGeom prst="rect">
            <a:avLst/>
          </a:prstGeom>
          <a:solidFill>
            <a:srgbClr val="2D2D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658368" y="1380743"/>
            <a:ext cx="128016" cy="128016"/>
          </a:xfrm>
          <a:prstGeom prst="ellipse">
            <a:avLst/>
          </a:prstGeom>
          <a:solidFill>
            <a:srgbClr val="FF5F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877824" y="1380743"/>
            <a:ext cx="128016" cy="128016"/>
          </a:xfrm>
          <a:prstGeom prst="ellipse">
            <a:avLst/>
          </a:prstGeom>
          <a:solidFill>
            <a:srgbClr val="FFBD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1097280" y="1380743"/>
            <a:ext cx="128016" cy="128016"/>
          </a:xfrm>
          <a:prstGeom prst="ellipse">
            <a:avLst/>
          </a:prstGeom>
          <a:solidFill>
            <a:srgbClr val="27C93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371600" y="1298448"/>
            <a:ext cx="5894643" cy="29260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r"/>
            <a:r>
              <a:rPr sz="1100" b="1" i="0">
                <a:solidFill>
                  <a:srgbClr val="BBBBBB"/>
                </a:solidFill>
                <a:latin typeface="Calibri"/>
              </a:rPr>
              <a:t>Mermaid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85800" y="1719072"/>
            <a:ext cx="502920" cy="42044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Aft>
                <a:spcPts val="321"/>
              </a:spcAft>
            </a:pPr>
            <a:r>
              <a:rPr sz="1500" i="0" b="0">
                <a:solidFill>
                  <a:srgbClr val="858585"/>
                </a:solidFill>
                <a:latin typeface="Consolas"/>
              </a:rPr>
              <a:t>1</a:t>
            </a:r>
          </a:p>
          <a:p>
            <a:pPr algn="r">
              <a:spcAft>
                <a:spcPts val="321"/>
              </a:spcAft>
            </a:pPr>
            <a:r>
              <a:rPr sz="1500" i="0" b="0">
                <a:solidFill>
                  <a:srgbClr val="858585"/>
                </a:solidFill>
                <a:latin typeface="Consolas"/>
              </a:rPr>
              <a:t>2</a:t>
            </a:r>
          </a:p>
          <a:p>
            <a:pPr algn="r">
              <a:spcAft>
                <a:spcPts val="321"/>
              </a:spcAft>
            </a:pPr>
            <a:r>
              <a:rPr sz="1500" i="0" b="0">
                <a:solidFill>
                  <a:srgbClr val="858585"/>
                </a:solidFill>
                <a:latin typeface="Consolas"/>
              </a:rPr>
              <a:t>3</a:t>
            </a:r>
          </a:p>
          <a:p>
            <a:pPr algn="r">
              <a:spcAft>
                <a:spcPts val="321"/>
              </a:spcAft>
            </a:pPr>
            <a:r>
              <a:rPr sz="1500" i="0" b="0">
                <a:solidFill>
                  <a:srgbClr val="858585"/>
                </a:solidFill>
                <a:latin typeface="Consolas"/>
              </a:rPr>
              <a:t>4</a:t>
            </a:r>
          </a:p>
          <a:p>
            <a:pPr algn="r">
              <a:spcAft>
                <a:spcPts val="321"/>
              </a:spcAft>
            </a:pPr>
            <a:r>
              <a:rPr sz="1500" i="0" b="0">
                <a:solidFill>
                  <a:srgbClr val="858585"/>
                </a:solidFill>
                <a:latin typeface="Consolas"/>
              </a:rPr>
              <a:t>5</a:t>
            </a:r>
          </a:p>
          <a:p>
            <a:pPr algn="r">
              <a:spcAft>
                <a:spcPts val="321"/>
              </a:spcAft>
            </a:pPr>
            <a:r>
              <a:rPr sz="1500" i="0" b="0">
                <a:solidFill>
                  <a:srgbClr val="858585"/>
                </a:solidFill>
                <a:latin typeface="Consolas"/>
              </a:rPr>
              <a:t>6</a:t>
            </a:r>
          </a:p>
          <a:p>
            <a:pPr algn="r">
              <a:spcAft>
                <a:spcPts val="321"/>
              </a:spcAft>
            </a:pPr>
            <a:r>
              <a:rPr sz="1500" i="0" b="0">
                <a:solidFill>
                  <a:srgbClr val="858585"/>
                </a:solidFill>
                <a:latin typeface="Consolas"/>
              </a:rPr>
              <a:t>7</a:t>
            </a:r>
          </a:p>
          <a:p>
            <a:pPr algn="r">
              <a:spcAft>
                <a:spcPts val="321"/>
              </a:spcAft>
            </a:pPr>
            <a:r>
              <a:rPr sz="1500" i="0" b="0">
                <a:solidFill>
                  <a:srgbClr val="858585"/>
                </a:solidFill>
                <a:latin typeface="Consolas"/>
              </a:rPr>
              <a:t>8</a:t>
            </a:r>
          </a:p>
          <a:p>
            <a:pPr algn="r">
              <a:spcAft>
                <a:spcPts val="321"/>
              </a:spcAft>
            </a:pPr>
            <a:r>
              <a:rPr sz="1500" i="0" b="0">
                <a:solidFill>
                  <a:srgbClr val="858585"/>
                </a:solidFill>
                <a:latin typeface="Consolas"/>
              </a:rPr>
              <a:t>9</a:t>
            </a:r>
          </a:p>
          <a:p>
            <a:pPr algn="r">
              <a:spcAft>
                <a:spcPts val="321"/>
              </a:spcAft>
            </a:pPr>
            <a:r>
              <a:rPr sz="1500" i="0" b="0">
                <a:solidFill>
                  <a:srgbClr val="858585"/>
                </a:solidFill>
                <a:latin typeface="Consolas"/>
              </a:rPr>
              <a:t>10</a:t>
            </a:r>
          </a:p>
          <a:p>
            <a:pPr algn="r">
              <a:spcAft>
                <a:spcPts val="321"/>
              </a:spcAft>
            </a:pPr>
            <a:r>
              <a:rPr sz="1500" i="0" b="0">
                <a:solidFill>
                  <a:srgbClr val="858585"/>
                </a:solidFill>
                <a:latin typeface="Consolas"/>
              </a:rPr>
              <a:t>11</a:t>
            </a:r>
          </a:p>
          <a:p>
            <a:pPr algn="r">
              <a:spcAft>
                <a:spcPts val="321"/>
              </a:spcAft>
            </a:pPr>
            <a:r>
              <a:rPr sz="1500" i="0" b="0">
                <a:solidFill>
                  <a:srgbClr val="858585"/>
                </a:solidFill>
                <a:latin typeface="Consolas"/>
              </a:rPr>
              <a:t>12</a:t>
            </a:r>
          </a:p>
          <a:p>
            <a:pPr algn="r">
              <a:spcAft>
                <a:spcPts val="321"/>
              </a:spcAft>
            </a:pPr>
            <a:r>
              <a:rPr sz="1500" i="0" b="0">
                <a:solidFill>
                  <a:srgbClr val="858585"/>
                </a:solidFill>
                <a:latin typeface="Consolas"/>
              </a:rPr>
              <a:t>13</a:t>
            </a:r>
          </a:p>
          <a:p>
            <a:pPr algn="r">
              <a:spcAft>
                <a:spcPts val="321"/>
              </a:spcAft>
            </a:pPr>
            <a:r>
              <a:rPr sz="1500" i="0" b="0">
                <a:solidFill>
                  <a:srgbClr val="858585"/>
                </a:solidFill>
                <a:latin typeface="Consolas"/>
              </a:rPr>
              <a:t>14</a:t>
            </a:r>
          </a:p>
          <a:p>
            <a:pPr algn="r">
              <a:spcAft>
                <a:spcPts val="321"/>
              </a:spcAft>
            </a:pPr>
            <a:r>
              <a:rPr sz="1500" i="0" b="0">
                <a:solidFill>
                  <a:srgbClr val="858585"/>
                </a:solidFill>
                <a:latin typeface="Consolas"/>
              </a:rPr>
              <a:t>15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188720" y="1719072"/>
            <a:ext cx="5986083" cy="42044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321"/>
              </a:spcAft>
            </a:pPr>
            <a:r>
              <a:rPr sz="1500" i="0" b="0">
                <a:solidFill>
                  <a:srgbClr val="D4D4D4"/>
                </a:solidFill>
                <a:latin typeface="Consolas"/>
              </a:rPr>
              <a:t>flowchart</a:t>
            </a:r>
            <a:r>
              <a:rPr sz="1500" i="0" b="0">
                <a:solidFill>
                  <a:srgbClr val="D4D4D4"/>
                </a:solidFill>
                <a:latin typeface="Consolas"/>
              </a:rPr>
              <a:t> </a:t>
            </a:r>
            <a:r>
              <a:rPr sz="1500" i="0" b="0">
                <a:solidFill>
                  <a:srgbClr val="D4D4D4"/>
                </a:solidFill>
                <a:latin typeface="Consolas"/>
              </a:rPr>
              <a:t>LR</a:t>
            </a:r>
          </a:p>
          <a:p>
            <a:pPr>
              <a:spcAft>
                <a:spcPts val="321"/>
              </a:spcAft>
            </a:pPr>
            <a:r>
              <a:rPr sz="1500" i="0" b="0">
                <a:solidFill>
                  <a:srgbClr val="D4D4D4"/>
                </a:solidFill>
                <a:latin typeface="Consolas"/>
              </a:rPr>
              <a:t>  </a:t>
            </a:r>
            <a:r>
              <a:rPr sz="1500" i="0" b="0">
                <a:solidFill>
                  <a:srgbClr val="DCDCAA"/>
                </a:solidFill>
                <a:latin typeface="Consolas"/>
              </a:rPr>
              <a:t>rec</a:t>
            </a:r>
            <a:r>
              <a:rPr sz="1500" i="0" b="0">
                <a:solidFill>
                  <a:srgbClr val="D4D4D4"/>
                </a:solidFill>
                <a:latin typeface="Consolas"/>
              </a:rPr>
              <a:t>([</a:t>
            </a:r>
            <a:r>
              <a:rPr sz="1500" i="0" b="0">
                <a:solidFill>
                  <a:srgbClr val="D4D4D4"/>
                </a:solidFill>
                <a:latin typeface="Consolas"/>
              </a:rPr>
              <a:t>Recepcionista</a:t>
            </a:r>
            <a:r>
              <a:rPr sz="1500" i="0" b="0">
                <a:solidFill>
                  <a:srgbClr val="D4D4D4"/>
                </a:solidFill>
                <a:latin typeface="Consolas"/>
              </a:rPr>
              <a:t>])</a:t>
            </a:r>
          </a:p>
          <a:p>
            <a:pPr>
              <a:spcAft>
                <a:spcPts val="321"/>
              </a:spcAft>
            </a:pPr>
            <a:r>
              <a:rPr sz="1500" i="0" b="0">
                <a:solidFill>
                  <a:srgbClr val="D4D4D4"/>
                </a:solidFill>
                <a:latin typeface="Consolas"/>
              </a:rPr>
              <a:t>  </a:t>
            </a:r>
            <a:r>
              <a:rPr sz="1500" i="0" b="0">
                <a:solidFill>
                  <a:srgbClr val="DCDCAA"/>
                </a:solidFill>
                <a:latin typeface="Consolas"/>
              </a:rPr>
              <a:t>vet</a:t>
            </a:r>
            <a:r>
              <a:rPr sz="1500" i="0" b="0">
                <a:solidFill>
                  <a:srgbClr val="D4D4D4"/>
                </a:solidFill>
                <a:latin typeface="Consolas"/>
              </a:rPr>
              <a:t>([</a:t>
            </a:r>
            <a:r>
              <a:rPr sz="1500" i="0" b="0">
                <a:solidFill>
                  <a:srgbClr val="D4D4D4"/>
                </a:solidFill>
                <a:latin typeface="Consolas"/>
              </a:rPr>
              <a:t>Veterinario</a:t>
            </a:r>
            <a:r>
              <a:rPr sz="1500" i="0" b="0">
                <a:solidFill>
                  <a:srgbClr val="D4D4D4"/>
                </a:solidFill>
                <a:latin typeface="Consolas"/>
              </a:rPr>
              <a:t>])</a:t>
            </a:r>
          </a:p>
          <a:p>
            <a:pPr>
              <a:spcAft>
                <a:spcPts val="321"/>
              </a:spcAft>
            </a:pPr>
            <a:r>
              <a:rPr sz="1500" i="0" b="0">
                <a:solidFill>
                  <a:srgbClr val="D4D4D4"/>
                </a:solidFill>
                <a:latin typeface="Consolas"/>
              </a:rPr>
              <a:t/>
            </a:r>
          </a:p>
          <a:p>
            <a:pPr>
              <a:spcAft>
                <a:spcPts val="321"/>
              </a:spcAft>
            </a:pPr>
            <a:r>
              <a:rPr sz="1500" i="0" b="0">
                <a:solidFill>
                  <a:srgbClr val="D4D4D4"/>
                </a:solidFill>
                <a:latin typeface="Consolas"/>
              </a:rPr>
              <a:t>  </a:t>
            </a:r>
            <a:r>
              <a:rPr sz="1500" i="0" b="0">
                <a:solidFill>
                  <a:srgbClr val="D4D4D4"/>
                </a:solidFill>
                <a:latin typeface="Consolas"/>
              </a:rPr>
              <a:t>subgraph</a:t>
            </a:r>
            <a:r>
              <a:rPr sz="1500" i="0" b="0">
                <a:solidFill>
                  <a:srgbClr val="D4D4D4"/>
                </a:solidFill>
                <a:latin typeface="Consolas"/>
              </a:rPr>
              <a:t> </a:t>
            </a:r>
            <a:r>
              <a:rPr sz="1500" i="0" b="0">
                <a:solidFill>
                  <a:srgbClr val="D4D4D4"/>
                </a:solidFill>
                <a:latin typeface="Consolas"/>
              </a:rPr>
              <a:t>sistema</a:t>
            </a:r>
            <a:r>
              <a:rPr sz="1500" i="0" b="0">
                <a:solidFill>
                  <a:srgbClr val="D4D4D4"/>
                </a:solidFill>
                <a:latin typeface="Consolas"/>
              </a:rPr>
              <a:t>[</a:t>
            </a:r>
            <a:r>
              <a:rPr sz="1500" i="0" b="0">
                <a:solidFill>
                  <a:srgbClr val="D4D4D4"/>
                </a:solidFill>
                <a:latin typeface="Consolas"/>
              </a:rPr>
              <a:t>Sistema</a:t>
            </a:r>
            <a:r>
              <a:rPr sz="1500" i="0" b="0">
                <a:solidFill>
                  <a:srgbClr val="D4D4D4"/>
                </a:solidFill>
                <a:latin typeface="Consolas"/>
              </a:rPr>
              <a:t> </a:t>
            </a:r>
            <a:r>
              <a:rPr sz="1500" i="0" b="0">
                <a:solidFill>
                  <a:srgbClr val="D4D4D4"/>
                </a:solidFill>
                <a:latin typeface="Consolas"/>
              </a:rPr>
              <a:t>de</a:t>
            </a:r>
            <a:r>
              <a:rPr sz="1500" i="0" b="0">
                <a:solidFill>
                  <a:srgbClr val="D4D4D4"/>
                </a:solidFill>
                <a:latin typeface="Consolas"/>
              </a:rPr>
              <a:t> </a:t>
            </a:r>
            <a:r>
              <a:rPr sz="1500" i="0" b="0">
                <a:solidFill>
                  <a:srgbClr val="D4D4D4"/>
                </a:solidFill>
                <a:latin typeface="Consolas"/>
              </a:rPr>
              <a:t>la</a:t>
            </a:r>
            <a:r>
              <a:rPr sz="1500" i="0" b="0">
                <a:solidFill>
                  <a:srgbClr val="D4D4D4"/>
                </a:solidFill>
                <a:latin typeface="Consolas"/>
              </a:rPr>
              <a:t> </a:t>
            </a:r>
            <a:r>
              <a:rPr sz="1500" i="0" b="0">
                <a:solidFill>
                  <a:srgbClr val="D4D4D4"/>
                </a:solidFill>
                <a:latin typeface="Consolas"/>
              </a:rPr>
              <a:t>clinica</a:t>
            </a:r>
            <a:r>
              <a:rPr sz="1500" i="0" b="0">
                <a:solidFill>
                  <a:srgbClr val="D4D4D4"/>
                </a:solidFill>
                <a:latin typeface="Consolas"/>
              </a:rPr>
              <a:t>]</a:t>
            </a:r>
          </a:p>
          <a:p>
            <a:pPr>
              <a:spcAft>
                <a:spcPts val="321"/>
              </a:spcAft>
            </a:pPr>
            <a:r>
              <a:rPr sz="1500" i="0" b="0">
                <a:solidFill>
                  <a:srgbClr val="D4D4D4"/>
                </a:solidFill>
                <a:latin typeface="Consolas"/>
              </a:rPr>
              <a:t>    </a:t>
            </a:r>
            <a:r>
              <a:rPr sz="1500" i="0" b="0">
                <a:solidFill>
                  <a:srgbClr val="DCDCAA"/>
                </a:solidFill>
                <a:latin typeface="Consolas"/>
              </a:rPr>
              <a:t>cu1</a:t>
            </a:r>
            <a:r>
              <a:rPr sz="1500" i="0" b="0">
                <a:solidFill>
                  <a:srgbClr val="D4D4D4"/>
                </a:solidFill>
                <a:latin typeface="Consolas"/>
              </a:rPr>
              <a:t>((</a:t>
            </a:r>
            <a:r>
              <a:rPr sz="1500" i="0" b="0">
                <a:solidFill>
                  <a:srgbClr val="D4D4D4"/>
                </a:solidFill>
                <a:latin typeface="Consolas"/>
              </a:rPr>
              <a:t>CU</a:t>
            </a:r>
            <a:r>
              <a:rPr sz="1500" i="0" b="0">
                <a:solidFill>
                  <a:srgbClr val="D4D4D4"/>
                </a:solidFill>
                <a:latin typeface="Consolas"/>
              </a:rPr>
              <a:t>-</a:t>
            </a:r>
            <a:r>
              <a:rPr sz="1500" i="0" b="0">
                <a:solidFill>
                  <a:srgbClr val="B5CEA8"/>
                </a:solidFill>
                <a:latin typeface="Consolas"/>
              </a:rPr>
              <a:t>01</a:t>
            </a:r>
            <a:r>
              <a:rPr sz="1500" i="0" b="0">
                <a:solidFill>
                  <a:srgbClr val="D4D4D4"/>
                </a:solidFill>
                <a:latin typeface="Consolas"/>
              </a:rPr>
              <a:t>&lt;</a:t>
            </a:r>
            <a:r>
              <a:rPr sz="1500" i="0" b="0">
                <a:solidFill>
                  <a:srgbClr val="D4D4D4"/>
                </a:solidFill>
                <a:latin typeface="Consolas"/>
              </a:rPr>
              <a:t>br</a:t>
            </a:r>
            <a:r>
              <a:rPr sz="1500" i="0" b="0">
                <a:solidFill>
                  <a:srgbClr val="D4D4D4"/>
                </a:solidFill>
                <a:latin typeface="Consolas"/>
              </a:rPr>
              <a:t>/&gt;</a:t>
            </a:r>
            <a:r>
              <a:rPr sz="1500" i="0" b="0">
                <a:solidFill>
                  <a:srgbClr val="D4D4D4"/>
                </a:solidFill>
                <a:latin typeface="Consolas"/>
              </a:rPr>
              <a:t>Registrar</a:t>
            </a:r>
            <a:r>
              <a:rPr sz="1500" i="0" b="0">
                <a:solidFill>
                  <a:srgbClr val="D4D4D4"/>
                </a:solidFill>
                <a:latin typeface="Consolas"/>
              </a:rPr>
              <a:t> </a:t>
            </a:r>
            <a:r>
              <a:rPr sz="1500" i="0" b="0">
                <a:solidFill>
                  <a:srgbClr val="D4D4D4"/>
                </a:solidFill>
                <a:latin typeface="Consolas"/>
              </a:rPr>
              <a:t>mascota</a:t>
            </a:r>
            <a:r>
              <a:rPr sz="1500" i="0" b="0">
                <a:solidFill>
                  <a:srgbClr val="D4D4D4"/>
                </a:solidFill>
                <a:latin typeface="Consolas"/>
              </a:rPr>
              <a:t>))</a:t>
            </a:r>
          </a:p>
          <a:p>
            <a:pPr>
              <a:spcAft>
                <a:spcPts val="321"/>
              </a:spcAft>
            </a:pPr>
            <a:r>
              <a:rPr sz="1500" i="0" b="0">
                <a:solidFill>
                  <a:srgbClr val="D4D4D4"/>
                </a:solidFill>
                <a:latin typeface="Consolas"/>
              </a:rPr>
              <a:t>    </a:t>
            </a:r>
            <a:r>
              <a:rPr sz="1500" i="0" b="0">
                <a:solidFill>
                  <a:srgbClr val="DCDCAA"/>
                </a:solidFill>
                <a:latin typeface="Consolas"/>
              </a:rPr>
              <a:t>cu2</a:t>
            </a:r>
            <a:r>
              <a:rPr sz="1500" i="0" b="0">
                <a:solidFill>
                  <a:srgbClr val="D4D4D4"/>
                </a:solidFill>
                <a:latin typeface="Consolas"/>
              </a:rPr>
              <a:t>((</a:t>
            </a:r>
            <a:r>
              <a:rPr sz="1500" i="0" b="0">
                <a:solidFill>
                  <a:srgbClr val="D4D4D4"/>
                </a:solidFill>
                <a:latin typeface="Consolas"/>
              </a:rPr>
              <a:t>CU</a:t>
            </a:r>
            <a:r>
              <a:rPr sz="1500" i="0" b="0">
                <a:solidFill>
                  <a:srgbClr val="D4D4D4"/>
                </a:solidFill>
                <a:latin typeface="Consolas"/>
              </a:rPr>
              <a:t>-</a:t>
            </a:r>
            <a:r>
              <a:rPr sz="1500" i="0" b="0">
                <a:solidFill>
                  <a:srgbClr val="B5CEA8"/>
                </a:solidFill>
                <a:latin typeface="Consolas"/>
              </a:rPr>
              <a:t>02</a:t>
            </a:r>
            <a:r>
              <a:rPr sz="1500" i="0" b="0">
                <a:solidFill>
                  <a:srgbClr val="D4D4D4"/>
                </a:solidFill>
                <a:latin typeface="Consolas"/>
              </a:rPr>
              <a:t>&lt;</a:t>
            </a:r>
            <a:r>
              <a:rPr sz="1500" i="0" b="0">
                <a:solidFill>
                  <a:srgbClr val="D4D4D4"/>
                </a:solidFill>
                <a:latin typeface="Consolas"/>
              </a:rPr>
              <a:t>br</a:t>
            </a:r>
            <a:r>
              <a:rPr sz="1500" i="0" b="0">
                <a:solidFill>
                  <a:srgbClr val="D4D4D4"/>
                </a:solidFill>
                <a:latin typeface="Consolas"/>
              </a:rPr>
              <a:t>/&gt;</a:t>
            </a:r>
            <a:r>
              <a:rPr sz="1500" i="0" b="0">
                <a:solidFill>
                  <a:srgbClr val="D4D4D4"/>
                </a:solidFill>
                <a:latin typeface="Consolas"/>
              </a:rPr>
              <a:t>Buscar</a:t>
            </a:r>
            <a:r>
              <a:rPr sz="1500" i="0" b="0">
                <a:solidFill>
                  <a:srgbClr val="D4D4D4"/>
                </a:solidFill>
                <a:latin typeface="Consolas"/>
              </a:rPr>
              <a:t> </a:t>
            </a:r>
            <a:r>
              <a:rPr sz="1500" i="0" b="0">
                <a:solidFill>
                  <a:srgbClr val="D4D4D4"/>
                </a:solidFill>
                <a:latin typeface="Consolas"/>
              </a:rPr>
              <a:t>expediente</a:t>
            </a:r>
            <a:r>
              <a:rPr sz="1500" i="0" b="0">
                <a:solidFill>
                  <a:srgbClr val="D4D4D4"/>
                </a:solidFill>
                <a:latin typeface="Consolas"/>
              </a:rPr>
              <a:t>))</a:t>
            </a:r>
          </a:p>
          <a:p>
            <a:pPr>
              <a:spcAft>
                <a:spcPts val="321"/>
              </a:spcAft>
            </a:pPr>
            <a:r>
              <a:rPr sz="1500" i="0" b="0">
                <a:solidFill>
                  <a:srgbClr val="D4D4D4"/>
                </a:solidFill>
                <a:latin typeface="Consolas"/>
              </a:rPr>
              <a:t>    </a:t>
            </a:r>
            <a:r>
              <a:rPr sz="1500" i="0" b="0">
                <a:solidFill>
                  <a:srgbClr val="DCDCAA"/>
                </a:solidFill>
                <a:latin typeface="Consolas"/>
              </a:rPr>
              <a:t>cu3</a:t>
            </a:r>
            <a:r>
              <a:rPr sz="1500" i="0" b="0">
                <a:solidFill>
                  <a:srgbClr val="D4D4D4"/>
                </a:solidFill>
                <a:latin typeface="Consolas"/>
              </a:rPr>
              <a:t>((</a:t>
            </a:r>
            <a:r>
              <a:rPr sz="1500" i="0" b="0">
                <a:solidFill>
                  <a:srgbClr val="D4D4D4"/>
                </a:solidFill>
                <a:latin typeface="Consolas"/>
              </a:rPr>
              <a:t>CU</a:t>
            </a:r>
            <a:r>
              <a:rPr sz="1500" i="0" b="0">
                <a:solidFill>
                  <a:srgbClr val="D4D4D4"/>
                </a:solidFill>
                <a:latin typeface="Consolas"/>
              </a:rPr>
              <a:t>-</a:t>
            </a:r>
            <a:r>
              <a:rPr sz="1500" i="0" b="0">
                <a:solidFill>
                  <a:srgbClr val="B5CEA8"/>
                </a:solidFill>
                <a:latin typeface="Consolas"/>
              </a:rPr>
              <a:t>04</a:t>
            </a:r>
            <a:r>
              <a:rPr sz="1500" i="0" b="0">
                <a:solidFill>
                  <a:srgbClr val="D4D4D4"/>
                </a:solidFill>
                <a:latin typeface="Consolas"/>
              </a:rPr>
              <a:t>&lt;</a:t>
            </a:r>
            <a:r>
              <a:rPr sz="1500" i="0" b="0">
                <a:solidFill>
                  <a:srgbClr val="D4D4D4"/>
                </a:solidFill>
                <a:latin typeface="Consolas"/>
              </a:rPr>
              <a:t>br</a:t>
            </a:r>
            <a:r>
              <a:rPr sz="1500" i="0" b="0">
                <a:solidFill>
                  <a:srgbClr val="D4D4D4"/>
                </a:solidFill>
                <a:latin typeface="Consolas"/>
              </a:rPr>
              <a:t>/&gt;</a:t>
            </a:r>
            <a:r>
              <a:rPr sz="1500" i="0" b="0">
                <a:solidFill>
                  <a:srgbClr val="D4D4D4"/>
                </a:solidFill>
                <a:latin typeface="Consolas"/>
              </a:rPr>
              <a:t>Agendar</a:t>
            </a:r>
            <a:r>
              <a:rPr sz="1500" i="0" b="0">
                <a:solidFill>
                  <a:srgbClr val="D4D4D4"/>
                </a:solidFill>
                <a:latin typeface="Consolas"/>
              </a:rPr>
              <a:t> </a:t>
            </a:r>
            <a:r>
              <a:rPr sz="1500" i="0" b="0">
                <a:solidFill>
                  <a:srgbClr val="D4D4D4"/>
                </a:solidFill>
                <a:latin typeface="Consolas"/>
              </a:rPr>
              <a:t>cita</a:t>
            </a:r>
            <a:r>
              <a:rPr sz="1500" i="0" b="0">
                <a:solidFill>
                  <a:srgbClr val="D4D4D4"/>
                </a:solidFill>
                <a:latin typeface="Consolas"/>
              </a:rPr>
              <a:t>))</a:t>
            </a:r>
          </a:p>
          <a:p>
            <a:pPr>
              <a:spcAft>
                <a:spcPts val="321"/>
              </a:spcAft>
            </a:pPr>
            <a:r>
              <a:rPr sz="1500" i="0" b="0">
                <a:solidFill>
                  <a:srgbClr val="D4D4D4"/>
                </a:solidFill>
                <a:latin typeface="Consolas"/>
              </a:rPr>
              <a:t>    </a:t>
            </a:r>
            <a:r>
              <a:rPr sz="1500" i="0" b="0">
                <a:solidFill>
                  <a:srgbClr val="DCDCAA"/>
                </a:solidFill>
                <a:latin typeface="Consolas"/>
              </a:rPr>
              <a:t>cu4</a:t>
            </a:r>
            <a:r>
              <a:rPr sz="1500" i="0" b="0">
                <a:solidFill>
                  <a:srgbClr val="D4D4D4"/>
                </a:solidFill>
                <a:latin typeface="Consolas"/>
              </a:rPr>
              <a:t>((</a:t>
            </a:r>
            <a:r>
              <a:rPr sz="1500" i="0" b="0">
                <a:solidFill>
                  <a:srgbClr val="D4D4D4"/>
                </a:solidFill>
                <a:latin typeface="Consolas"/>
              </a:rPr>
              <a:t>Validar</a:t>
            </a:r>
            <a:r>
              <a:rPr sz="1500" i="0" b="0">
                <a:solidFill>
                  <a:srgbClr val="D4D4D4"/>
                </a:solidFill>
                <a:latin typeface="Consolas"/>
              </a:rPr>
              <a:t>&lt;</a:t>
            </a:r>
            <a:r>
              <a:rPr sz="1500" i="0" b="0">
                <a:solidFill>
                  <a:srgbClr val="D4D4D4"/>
                </a:solidFill>
                <a:latin typeface="Consolas"/>
              </a:rPr>
              <a:t>br</a:t>
            </a:r>
            <a:r>
              <a:rPr sz="1500" i="0" b="0">
                <a:solidFill>
                  <a:srgbClr val="D4D4D4"/>
                </a:solidFill>
                <a:latin typeface="Consolas"/>
              </a:rPr>
              <a:t>/&gt;</a:t>
            </a:r>
            <a:r>
              <a:rPr sz="1500" i="0" b="0">
                <a:solidFill>
                  <a:srgbClr val="D4D4D4"/>
                </a:solidFill>
                <a:latin typeface="Consolas"/>
              </a:rPr>
              <a:t>disponibilidad</a:t>
            </a:r>
            <a:r>
              <a:rPr sz="1500" i="0" b="0">
                <a:solidFill>
                  <a:srgbClr val="D4D4D4"/>
                </a:solidFill>
                <a:latin typeface="Consolas"/>
              </a:rPr>
              <a:t>))</a:t>
            </a:r>
          </a:p>
          <a:p>
            <a:pPr>
              <a:spcAft>
                <a:spcPts val="321"/>
              </a:spcAft>
            </a:pPr>
            <a:r>
              <a:rPr sz="1500" i="0" b="0">
                <a:solidFill>
                  <a:srgbClr val="D4D4D4"/>
                </a:solidFill>
                <a:latin typeface="Consolas"/>
              </a:rPr>
              <a:t>  </a:t>
            </a:r>
            <a:r>
              <a:rPr sz="1500" i="0" b="0">
                <a:solidFill>
                  <a:srgbClr val="D4D4D4"/>
                </a:solidFill>
                <a:latin typeface="Consolas"/>
              </a:rPr>
              <a:t>end</a:t>
            </a:r>
          </a:p>
          <a:p>
            <a:pPr>
              <a:spcAft>
                <a:spcPts val="321"/>
              </a:spcAft>
            </a:pPr>
            <a:r>
              <a:rPr sz="1500" i="0" b="0">
                <a:solidFill>
                  <a:srgbClr val="D4D4D4"/>
                </a:solidFill>
                <a:latin typeface="Consolas"/>
              </a:rPr>
              <a:t/>
            </a:r>
          </a:p>
          <a:p>
            <a:pPr>
              <a:spcAft>
                <a:spcPts val="321"/>
              </a:spcAft>
            </a:pPr>
            <a:r>
              <a:rPr sz="1500" i="0" b="0">
                <a:solidFill>
                  <a:srgbClr val="D4D4D4"/>
                </a:solidFill>
                <a:latin typeface="Consolas"/>
              </a:rPr>
              <a:t>  </a:t>
            </a:r>
            <a:r>
              <a:rPr sz="1500" i="0" b="0">
                <a:solidFill>
                  <a:srgbClr val="D4D4D4"/>
                </a:solidFill>
                <a:latin typeface="Consolas"/>
              </a:rPr>
              <a:t>rec</a:t>
            </a:r>
            <a:r>
              <a:rPr sz="1500" i="0" b="0">
                <a:solidFill>
                  <a:srgbClr val="D4D4D4"/>
                </a:solidFill>
                <a:latin typeface="Consolas"/>
              </a:rPr>
              <a:t> --&gt; </a:t>
            </a:r>
            <a:r>
              <a:rPr sz="1500" i="0" b="0">
                <a:solidFill>
                  <a:srgbClr val="D4D4D4"/>
                </a:solidFill>
                <a:latin typeface="Consolas"/>
              </a:rPr>
              <a:t>cu1</a:t>
            </a:r>
          </a:p>
          <a:p>
            <a:pPr>
              <a:spcAft>
                <a:spcPts val="321"/>
              </a:spcAft>
            </a:pPr>
            <a:r>
              <a:rPr sz="1500" i="0" b="0">
                <a:solidFill>
                  <a:srgbClr val="D4D4D4"/>
                </a:solidFill>
                <a:latin typeface="Consolas"/>
              </a:rPr>
              <a:t>  </a:t>
            </a:r>
            <a:r>
              <a:rPr sz="1500" i="0" b="0">
                <a:solidFill>
                  <a:srgbClr val="D4D4D4"/>
                </a:solidFill>
                <a:latin typeface="Consolas"/>
              </a:rPr>
              <a:t>rec</a:t>
            </a:r>
            <a:r>
              <a:rPr sz="1500" i="0" b="0">
                <a:solidFill>
                  <a:srgbClr val="D4D4D4"/>
                </a:solidFill>
                <a:latin typeface="Consolas"/>
              </a:rPr>
              <a:t> --&gt; </a:t>
            </a:r>
            <a:r>
              <a:rPr sz="1500" i="0" b="0">
                <a:solidFill>
                  <a:srgbClr val="D4D4D4"/>
                </a:solidFill>
                <a:latin typeface="Consolas"/>
              </a:rPr>
              <a:t>cu3</a:t>
            </a:r>
          </a:p>
          <a:p>
            <a:pPr>
              <a:spcAft>
                <a:spcPts val="321"/>
              </a:spcAft>
            </a:pPr>
            <a:r>
              <a:rPr sz="1500" i="0" b="0">
                <a:solidFill>
                  <a:srgbClr val="D4D4D4"/>
                </a:solidFill>
                <a:latin typeface="Consolas"/>
              </a:rPr>
              <a:t>  </a:t>
            </a:r>
            <a:r>
              <a:rPr sz="1500" i="0" b="0">
                <a:solidFill>
                  <a:srgbClr val="D4D4D4"/>
                </a:solidFill>
                <a:latin typeface="Consolas"/>
              </a:rPr>
              <a:t>vet</a:t>
            </a:r>
            <a:r>
              <a:rPr sz="1500" i="0" b="0">
                <a:solidFill>
                  <a:srgbClr val="D4D4D4"/>
                </a:solidFill>
                <a:latin typeface="Consolas"/>
              </a:rPr>
              <a:t> --&gt; </a:t>
            </a:r>
            <a:r>
              <a:rPr sz="1500" i="0" b="0">
                <a:solidFill>
                  <a:srgbClr val="D4D4D4"/>
                </a:solidFill>
                <a:latin typeface="Consolas"/>
              </a:rPr>
              <a:t>cu2</a:t>
            </a:r>
          </a:p>
          <a:p>
            <a:pPr>
              <a:spcAft>
                <a:spcPts val="321"/>
              </a:spcAft>
            </a:pPr>
            <a:r>
              <a:rPr sz="1500" i="0" b="0">
                <a:solidFill>
                  <a:srgbClr val="D4D4D4"/>
                </a:solidFill>
                <a:latin typeface="Consolas"/>
              </a:rPr>
              <a:t>  </a:t>
            </a:r>
            <a:r>
              <a:rPr sz="1500" i="0" b="0">
                <a:solidFill>
                  <a:srgbClr val="D4D4D4"/>
                </a:solidFill>
                <a:latin typeface="Consolas"/>
              </a:rPr>
              <a:t>cu3</a:t>
            </a:r>
            <a:r>
              <a:rPr sz="1500" i="0" b="0">
                <a:solidFill>
                  <a:srgbClr val="D4D4D4"/>
                </a:solidFill>
                <a:latin typeface="Consolas"/>
              </a:rPr>
              <a:t> -.</a:t>
            </a:r>
            <a:r>
              <a:rPr sz="1500" i="0" b="0">
                <a:solidFill>
                  <a:srgbClr val="D4D4D4"/>
                </a:solidFill>
                <a:latin typeface="Consolas"/>
              </a:rPr>
              <a:t>include</a:t>
            </a:r>
            <a:r>
              <a:rPr sz="1500" i="0" b="0">
                <a:solidFill>
                  <a:srgbClr val="D4D4D4"/>
                </a:solidFill>
                <a:latin typeface="Consolas"/>
              </a:rPr>
              <a:t>.-&gt; </a:t>
            </a:r>
            <a:r>
              <a:rPr sz="1500" i="0" b="0">
                <a:solidFill>
                  <a:srgbClr val="D4D4D4"/>
                </a:solidFill>
                <a:latin typeface="Consolas"/>
              </a:rPr>
              <a:t>cu4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7668579" y="1261872"/>
            <a:ext cx="4120780" cy="3318569"/>
          </a:xfrm>
          <a:prstGeom prst="roundRect">
            <a:avLst>
              <a:gd name="adj" fmla="val 4000"/>
            </a:avLst>
          </a:prstGeom>
          <a:solidFill>
            <a:srgbClr val="E8EE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4" name="Picture 13" descr="dg-casos-uso-paso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23443" y="1316736"/>
            <a:ext cx="4011052" cy="3208841"/>
          </a:xfrm>
          <a:prstGeom prst="rect">
            <a:avLst/>
          </a:prstGeom>
        </p:spPr>
      </p:pic>
      <p:sp>
        <p:nvSpPr>
          <p:cNvPr id="15" name="TextBox 14"/>
          <p:cNvSpPr txBox="1"/>
          <p:nvPr/>
        </p:nvSpPr>
        <p:spPr>
          <a:xfrm>
            <a:off x="7723443" y="4580441"/>
            <a:ext cx="4011052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 i="1">
                <a:solidFill>
                  <a:srgbClr val="666666"/>
                </a:solidFill>
                <a:latin typeface="Calibri"/>
              </a:rPr>
              <a:t>Lo que dibuja este código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57200" y="6035040"/>
            <a:ext cx="1127729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 i="1">
                <a:solidFill>
                  <a:srgbClr val="666666"/>
                </a:solidFill>
                <a:latin typeface="Calibri"/>
              </a:rPr>
              <a:t>include: el caso base siempre lo ejecuta (agendar siempre valida). extend: solo si se cumple una condicion.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La especificación textual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803166" y="1188719"/>
            <a:ext cx="5998464" cy="4828032"/>
          </a:xfrm>
          <a:prstGeom prst="roundRect">
            <a:avLst>
              <a:gd name="adj" fmla="val 4000"/>
            </a:avLst>
          </a:prstGeom>
          <a:solidFill>
            <a:srgbClr val="E8EE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pares-responsabilidad-paso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876318" y="1261872"/>
            <a:ext cx="5852160" cy="4681728"/>
          </a:xfrm>
          <a:prstGeom prst="rect">
            <a:avLst/>
          </a:prstGeom>
        </p:spPr>
      </p:pic>
      <p:pic>
        <p:nvPicPr>
          <p:cNvPr id="7" name="Picture 6" descr="pares-responsabilidad-paso2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876318" y="1261872"/>
            <a:ext cx="5852160" cy="4681728"/>
          </a:xfrm>
          <a:prstGeom prst="rect">
            <a:avLst/>
          </a:prstGeom>
        </p:spPr>
      </p:pic>
      <p:pic>
        <p:nvPicPr>
          <p:cNvPr id="8" name="Picture 7" descr="pares-responsabilidad-paso3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876318" y="1261872"/>
            <a:ext cx="5852160" cy="4681728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5870301" y="5961888"/>
            <a:ext cx="5864193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1">
                <a:solidFill>
                  <a:srgbClr val="666666"/>
                </a:solidFill>
                <a:latin typeface="Calibri"/>
              </a:rPr>
              <a:t>Clic para avanzar la animación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57200" y="1353312"/>
            <a:ext cx="5093061" cy="5047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Ahí vive el noventa por ciento del valor: ficha, pre y postcondiciones, flujo principal y alternos.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El flujo principal va en pares: lo que hace el actor y lo que responde el sistema, sin adjetivos.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«Rápido y amigable» no es un paso: es un RNF que vive en otro documento.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Los alternos se numeran por el paso donde se desvían: 2a sin coincidencias, 2b demasiadas.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8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5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45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La especificacion textual del caso de uso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57200" y="1261872"/>
            <a:ext cx="11277295" cy="4911784"/>
          </a:xfrm>
          <a:prstGeom prst="roundRect">
            <a:avLst>
              <a:gd name="adj" fmla="val 4000"/>
            </a:avLst>
          </a:prstGeom>
          <a:solidFill>
            <a:srgbClr val="1E1E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57200" y="1261872"/>
            <a:ext cx="11277295" cy="365760"/>
          </a:xfrm>
          <a:prstGeom prst="rect">
            <a:avLst/>
          </a:prstGeom>
          <a:solidFill>
            <a:srgbClr val="2D2D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658368" y="1380743"/>
            <a:ext cx="128016" cy="128016"/>
          </a:xfrm>
          <a:prstGeom prst="ellipse">
            <a:avLst/>
          </a:prstGeom>
          <a:solidFill>
            <a:srgbClr val="FF5F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877824" y="1380743"/>
            <a:ext cx="128016" cy="128016"/>
          </a:xfrm>
          <a:prstGeom prst="ellipse">
            <a:avLst/>
          </a:prstGeom>
          <a:solidFill>
            <a:srgbClr val="FFBD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1097280" y="1380743"/>
            <a:ext cx="128016" cy="128016"/>
          </a:xfrm>
          <a:prstGeom prst="ellipse">
            <a:avLst/>
          </a:prstGeom>
          <a:solidFill>
            <a:srgbClr val="27C93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371600" y="1298448"/>
            <a:ext cx="10180015" cy="29260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r"/>
            <a:r>
              <a:rPr sz="1100" b="1" i="0">
                <a:solidFill>
                  <a:srgbClr val="BBBBBB"/>
                </a:solidFill>
                <a:latin typeface="Calibri"/>
              </a:rPr>
              <a:t>Plantilla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85800" y="1719072"/>
            <a:ext cx="502920" cy="43174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Aft>
                <a:spcPts val="235"/>
              </a:spcAft>
            </a:pPr>
            <a:r>
              <a:rPr sz="1100" i="0" b="0">
                <a:solidFill>
                  <a:srgbClr val="858585"/>
                </a:solidFill>
                <a:latin typeface="Consolas"/>
              </a:rPr>
              <a:t>1</a:t>
            </a:r>
          </a:p>
          <a:p>
            <a:pPr algn="r">
              <a:spcAft>
                <a:spcPts val="235"/>
              </a:spcAft>
            </a:pPr>
            <a:r>
              <a:rPr sz="1100" i="0" b="0">
                <a:solidFill>
                  <a:srgbClr val="858585"/>
                </a:solidFill>
                <a:latin typeface="Consolas"/>
              </a:rPr>
              <a:t>2</a:t>
            </a:r>
          </a:p>
          <a:p>
            <a:pPr algn="r">
              <a:spcAft>
                <a:spcPts val="235"/>
              </a:spcAft>
            </a:pPr>
            <a:r>
              <a:rPr sz="1100" i="0" b="0">
                <a:solidFill>
                  <a:srgbClr val="858585"/>
                </a:solidFill>
                <a:latin typeface="Consolas"/>
              </a:rPr>
              <a:t>3</a:t>
            </a:r>
          </a:p>
          <a:p>
            <a:pPr algn="r">
              <a:spcAft>
                <a:spcPts val="235"/>
              </a:spcAft>
            </a:pPr>
            <a:r>
              <a:rPr sz="1100" i="0" b="0">
                <a:solidFill>
                  <a:srgbClr val="858585"/>
                </a:solidFill>
                <a:latin typeface="Consolas"/>
              </a:rPr>
              <a:t>4</a:t>
            </a:r>
          </a:p>
          <a:p>
            <a:pPr algn="r">
              <a:spcAft>
                <a:spcPts val="235"/>
              </a:spcAft>
            </a:pPr>
            <a:r>
              <a:rPr sz="1100" i="0" b="0">
                <a:solidFill>
                  <a:srgbClr val="858585"/>
                </a:solidFill>
                <a:latin typeface="Consolas"/>
              </a:rPr>
              <a:t>5</a:t>
            </a:r>
          </a:p>
          <a:p>
            <a:pPr algn="r">
              <a:spcAft>
                <a:spcPts val="235"/>
              </a:spcAft>
            </a:pPr>
            <a:r>
              <a:rPr sz="1100" i="0" b="0">
                <a:solidFill>
                  <a:srgbClr val="858585"/>
                </a:solidFill>
                <a:latin typeface="Consolas"/>
              </a:rPr>
              <a:t>6</a:t>
            </a:r>
          </a:p>
          <a:p>
            <a:pPr algn="r">
              <a:spcAft>
                <a:spcPts val="235"/>
              </a:spcAft>
            </a:pPr>
            <a:r>
              <a:rPr sz="1100" i="0" b="0">
                <a:solidFill>
                  <a:srgbClr val="858585"/>
                </a:solidFill>
                <a:latin typeface="Consolas"/>
              </a:rPr>
              <a:t>7</a:t>
            </a:r>
          </a:p>
          <a:p>
            <a:pPr algn="r">
              <a:spcAft>
                <a:spcPts val="235"/>
              </a:spcAft>
            </a:pPr>
            <a:r>
              <a:rPr sz="1100" i="0" b="0">
                <a:solidFill>
                  <a:srgbClr val="858585"/>
                </a:solidFill>
                <a:latin typeface="Consolas"/>
              </a:rPr>
              <a:t>8</a:t>
            </a:r>
          </a:p>
          <a:p>
            <a:pPr algn="r">
              <a:spcAft>
                <a:spcPts val="235"/>
              </a:spcAft>
            </a:pPr>
            <a:r>
              <a:rPr sz="1100" i="0" b="0">
                <a:solidFill>
                  <a:srgbClr val="858585"/>
                </a:solidFill>
                <a:latin typeface="Consolas"/>
              </a:rPr>
              <a:t>9</a:t>
            </a:r>
          </a:p>
          <a:p>
            <a:pPr algn="r">
              <a:spcAft>
                <a:spcPts val="235"/>
              </a:spcAft>
            </a:pPr>
            <a:r>
              <a:rPr sz="1100" i="0" b="0">
                <a:solidFill>
                  <a:srgbClr val="858585"/>
                </a:solidFill>
                <a:latin typeface="Consolas"/>
              </a:rPr>
              <a:t>10</a:t>
            </a:r>
          </a:p>
          <a:p>
            <a:pPr algn="r">
              <a:spcAft>
                <a:spcPts val="235"/>
              </a:spcAft>
            </a:pPr>
            <a:r>
              <a:rPr sz="1100" i="0" b="0">
                <a:solidFill>
                  <a:srgbClr val="858585"/>
                </a:solidFill>
                <a:latin typeface="Consolas"/>
              </a:rPr>
              <a:t>11</a:t>
            </a:r>
          </a:p>
          <a:p>
            <a:pPr algn="r">
              <a:spcAft>
                <a:spcPts val="235"/>
              </a:spcAft>
            </a:pPr>
            <a:r>
              <a:rPr sz="1100" i="0" b="0">
                <a:solidFill>
                  <a:srgbClr val="858585"/>
                </a:solidFill>
                <a:latin typeface="Consolas"/>
              </a:rPr>
              <a:t>12</a:t>
            </a:r>
          </a:p>
          <a:p>
            <a:pPr algn="r">
              <a:spcAft>
                <a:spcPts val="235"/>
              </a:spcAft>
            </a:pPr>
            <a:r>
              <a:rPr sz="1100" i="0" b="0">
                <a:solidFill>
                  <a:srgbClr val="858585"/>
                </a:solidFill>
                <a:latin typeface="Consolas"/>
              </a:rPr>
              <a:t>13</a:t>
            </a:r>
          </a:p>
          <a:p>
            <a:pPr algn="r">
              <a:spcAft>
                <a:spcPts val="235"/>
              </a:spcAft>
            </a:pPr>
            <a:r>
              <a:rPr sz="1100" i="0" b="0">
                <a:solidFill>
                  <a:srgbClr val="858585"/>
                </a:solidFill>
                <a:latin typeface="Consolas"/>
              </a:rPr>
              <a:t>14</a:t>
            </a:r>
          </a:p>
          <a:p>
            <a:pPr algn="r">
              <a:spcAft>
                <a:spcPts val="235"/>
              </a:spcAft>
            </a:pPr>
            <a:r>
              <a:rPr sz="1100" i="0" b="0">
                <a:solidFill>
                  <a:srgbClr val="858585"/>
                </a:solidFill>
                <a:latin typeface="Consolas"/>
              </a:rPr>
              <a:t>15</a:t>
            </a:r>
          </a:p>
          <a:p>
            <a:pPr algn="r">
              <a:spcAft>
                <a:spcPts val="235"/>
              </a:spcAft>
            </a:pPr>
            <a:r>
              <a:rPr sz="1100" i="0" b="0">
                <a:solidFill>
                  <a:srgbClr val="858585"/>
                </a:solidFill>
                <a:latin typeface="Consolas"/>
              </a:rPr>
              <a:t>16</a:t>
            </a:r>
          </a:p>
          <a:p>
            <a:pPr algn="r">
              <a:spcAft>
                <a:spcPts val="235"/>
              </a:spcAft>
            </a:pPr>
            <a:r>
              <a:rPr sz="1100" i="0" b="0">
                <a:solidFill>
                  <a:srgbClr val="858585"/>
                </a:solidFill>
                <a:latin typeface="Consolas"/>
              </a:rPr>
              <a:t>17</a:t>
            </a:r>
          </a:p>
          <a:p>
            <a:pPr algn="r">
              <a:spcAft>
                <a:spcPts val="235"/>
              </a:spcAft>
            </a:pPr>
            <a:r>
              <a:rPr sz="1100" i="0" b="0">
                <a:solidFill>
                  <a:srgbClr val="858585"/>
                </a:solidFill>
                <a:latin typeface="Consolas"/>
              </a:rPr>
              <a:t>18</a:t>
            </a:r>
          </a:p>
          <a:p>
            <a:pPr algn="r">
              <a:spcAft>
                <a:spcPts val="235"/>
              </a:spcAft>
            </a:pPr>
            <a:r>
              <a:rPr sz="1100" i="0" b="0">
                <a:solidFill>
                  <a:srgbClr val="858585"/>
                </a:solidFill>
                <a:latin typeface="Consolas"/>
              </a:rPr>
              <a:t>19</a:t>
            </a:r>
          </a:p>
          <a:p>
            <a:pPr algn="r">
              <a:spcAft>
                <a:spcPts val="235"/>
              </a:spcAft>
            </a:pPr>
            <a:r>
              <a:rPr sz="1100" i="0" b="0">
                <a:solidFill>
                  <a:srgbClr val="858585"/>
                </a:solidFill>
                <a:latin typeface="Consolas"/>
              </a:rPr>
              <a:t>20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188720" y="1719072"/>
            <a:ext cx="10271455" cy="43174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35"/>
              </a:spcAft>
            </a:pPr>
            <a:r>
              <a:rPr sz="1100" i="0" b="0">
                <a:solidFill>
                  <a:srgbClr val="D4D4D4"/>
                </a:solidFill>
                <a:latin typeface="Consolas"/>
              </a:rPr>
              <a:t>CU</a:t>
            </a:r>
            <a:r>
              <a:rPr sz="1100" i="0" b="0">
                <a:solidFill>
                  <a:srgbClr val="D4D4D4"/>
                </a:solidFill>
                <a:latin typeface="Consolas"/>
              </a:rPr>
              <a:t>-</a:t>
            </a:r>
            <a:r>
              <a:rPr sz="1100" i="0" b="0">
                <a:solidFill>
                  <a:srgbClr val="B5CEA8"/>
                </a:solidFill>
                <a:latin typeface="Consolas"/>
              </a:rPr>
              <a:t>01</a:t>
            </a:r>
            <a:r>
              <a:rPr sz="1100" i="0" b="0">
                <a:solidFill>
                  <a:srgbClr val="D4D4D4"/>
                </a:solidFill>
                <a:latin typeface="Consolas"/>
              </a:rPr>
              <a:t>  </a:t>
            </a:r>
            <a:r>
              <a:rPr sz="1100" i="0" b="0">
                <a:solidFill>
                  <a:srgbClr val="D4D4D4"/>
                </a:solidFill>
                <a:latin typeface="Consolas"/>
              </a:rPr>
              <a:t>Registrar</a:t>
            </a:r>
            <a:r>
              <a:rPr sz="1100" i="0" b="0">
                <a:solidFill>
                  <a:srgbClr val="D4D4D4"/>
                </a:solidFill>
                <a:latin typeface="Consolas"/>
              </a:rPr>
              <a:t> </a:t>
            </a:r>
            <a:r>
              <a:rPr sz="1100" i="0" b="0">
                <a:solidFill>
                  <a:srgbClr val="D4D4D4"/>
                </a:solidFill>
                <a:latin typeface="Consolas"/>
              </a:rPr>
              <a:t>mascota</a:t>
            </a:r>
          </a:p>
          <a:p>
            <a:pPr>
              <a:spcAft>
                <a:spcPts val="235"/>
              </a:spcAft>
            </a:pPr>
            <a:r>
              <a:rPr sz="1100" i="0" b="0">
                <a:solidFill>
                  <a:srgbClr val="D4D4D4"/>
                </a:solidFill>
                <a:latin typeface="Consolas"/>
              </a:rPr>
              <a:t/>
            </a:r>
          </a:p>
          <a:p>
            <a:pPr>
              <a:spcAft>
                <a:spcPts val="235"/>
              </a:spcAft>
            </a:pPr>
            <a:r>
              <a:rPr sz="1100" i="0" b="0">
                <a:solidFill>
                  <a:srgbClr val="D4D4D4"/>
                </a:solidFill>
                <a:latin typeface="Consolas"/>
              </a:rPr>
              <a:t>Actor</a:t>
            </a:r>
            <a:r>
              <a:rPr sz="1100" i="0" b="0">
                <a:solidFill>
                  <a:srgbClr val="D4D4D4"/>
                </a:solidFill>
                <a:latin typeface="Consolas"/>
              </a:rPr>
              <a:t> </a:t>
            </a:r>
            <a:r>
              <a:rPr sz="1100" i="0" b="0">
                <a:solidFill>
                  <a:srgbClr val="D4D4D4"/>
                </a:solidFill>
                <a:latin typeface="Consolas"/>
              </a:rPr>
              <a:t>principal</a:t>
            </a:r>
            <a:r>
              <a:rPr sz="1100" i="0" b="0">
                <a:solidFill>
                  <a:srgbClr val="D4D4D4"/>
                </a:solidFill>
                <a:latin typeface="Consolas"/>
              </a:rPr>
              <a:t>:  </a:t>
            </a:r>
            <a:r>
              <a:rPr sz="1100" i="0" b="0">
                <a:solidFill>
                  <a:srgbClr val="D4D4D4"/>
                </a:solidFill>
                <a:latin typeface="Consolas"/>
              </a:rPr>
              <a:t>Recepcionista</a:t>
            </a:r>
          </a:p>
          <a:p>
            <a:pPr>
              <a:spcAft>
                <a:spcPts val="235"/>
              </a:spcAft>
            </a:pPr>
            <a:r>
              <a:rPr sz="1100" i="0" b="0">
                <a:solidFill>
                  <a:srgbClr val="D4D4D4"/>
                </a:solidFill>
                <a:latin typeface="Consolas"/>
              </a:rPr>
              <a:t>Trazabilidad</a:t>
            </a:r>
            <a:r>
              <a:rPr sz="1100" i="0" b="0">
                <a:solidFill>
                  <a:srgbClr val="D4D4D4"/>
                </a:solidFill>
                <a:latin typeface="Consolas"/>
              </a:rPr>
              <a:t>:     </a:t>
            </a:r>
            <a:r>
              <a:rPr sz="1100" i="0" b="0">
                <a:solidFill>
                  <a:srgbClr val="D4D4D4"/>
                </a:solidFill>
                <a:latin typeface="Consolas"/>
              </a:rPr>
              <a:t>RF</a:t>
            </a:r>
            <a:r>
              <a:rPr sz="1100" i="0" b="0">
                <a:solidFill>
                  <a:srgbClr val="D4D4D4"/>
                </a:solidFill>
                <a:latin typeface="Consolas"/>
              </a:rPr>
              <a:t>-</a:t>
            </a:r>
            <a:r>
              <a:rPr sz="1100" i="0" b="0">
                <a:solidFill>
                  <a:srgbClr val="B5CEA8"/>
                </a:solidFill>
                <a:latin typeface="Consolas"/>
              </a:rPr>
              <a:t>01</a:t>
            </a:r>
            <a:r>
              <a:rPr sz="1100" i="0" b="0">
                <a:solidFill>
                  <a:srgbClr val="D4D4D4"/>
                </a:solidFill>
                <a:latin typeface="Consolas"/>
              </a:rPr>
              <a:t>, </a:t>
            </a:r>
            <a:r>
              <a:rPr sz="1100" i="0" b="0">
                <a:solidFill>
                  <a:srgbClr val="D4D4D4"/>
                </a:solidFill>
                <a:latin typeface="Consolas"/>
              </a:rPr>
              <a:t>RF</a:t>
            </a:r>
            <a:r>
              <a:rPr sz="1100" i="0" b="0">
                <a:solidFill>
                  <a:srgbClr val="D4D4D4"/>
                </a:solidFill>
                <a:latin typeface="Consolas"/>
              </a:rPr>
              <a:t>-</a:t>
            </a:r>
            <a:r>
              <a:rPr sz="1100" i="0" b="0">
                <a:solidFill>
                  <a:srgbClr val="B5CEA8"/>
                </a:solidFill>
                <a:latin typeface="Consolas"/>
              </a:rPr>
              <a:t>02</a:t>
            </a:r>
          </a:p>
          <a:p>
            <a:pPr>
              <a:spcAft>
                <a:spcPts val="235"/>
              </a:spcAft>
            </a:pPr>
            <a:r>
              <a:rPr sz="1100" i="0" b="0">
                <a:solidFill>
                  <a:srgbClr val="D4D4D4"/>
                </a:solidFill>
                <a:latin typeface="Consolas"/>
              </a:rPr>
              <a:t>Precondicion</a:t>
            </a:r>
            <a:r>
              <a:rPr sz="1100" i="0" b="0">
                <a:solidFill>
                  <a:srgbClr val="D4D4D4"/>
                </a:solidFill>
                <a:latin typeface="Consolas"/>
              </a:rPr>
              <a:t>:     </a:t>
            </a:r>
            <a:r>
              <a:rPr sz="1100" i="0" b="0">
                <a:solidFill>
                  <a:srgbClr val="D4D4D4"/>
                </a:solidFill>
                <a:latin typeface="Consolas"/>
              </a:rPr>
              <a:t>el</a:t>
            </a:r>
            <a:r>
              <a:rPr sz="1100" i="0" b="0">
                <a:solidFill>
                  <a:srgbClr val="D4D4D4"/>
                </a:solidFill>
                <a:latin typeface="Consolas"/>
              </a:rPr>
              <a:t> </a:t>
            </a:r>
            <a:r>
              <a:rPr sz="1100" i="0" b="0">
                <a:solidFill>
                  <a:srgbClr val="D4D4D4"/>
                </a:solidFill>
                <a:latin typeface="Consolas"/>
              </a:rPr>
              <a:t>dueno</a:t>
            </a:r>
            <a:r>
              <a:rPr sz="1100" i="0" b="0">
                <a:solidFill>
                  <a:srgbClr val="D4D4D4"/>
                </a:solidFill>
                <a:latin typeface="Consolas"/>
              </a:rPr>
              <a:t> </a:t>
            </a:r>
            <a:r>
              <a:rPr sz="1100" i="0" b="0">
                <a:solidFill>
                  <a:srgbClr val="D4D4D4"/>
                </a:solidFill>
                <a:latin typeface="Consolas"/>
              </a:rPr>
              <a:t>existe</a:t>
            </a:r>
            <a:r>
              <a:rPr sz="1100" i="0" b="0">
                <a:solidFill>
                  <a:srgbClr val="D4D4D4"/>
                </a:solidFill>
                <a:latin typeface="Consolas"/>
              </a:rPr>
              <a:t> </a:t>
            </a:r>
            <a:r>
              <a:rPr sz="1100" i="0" b="0">
                <a:solidFill>
                  <a:srgbClr val="D4D4D4"/>
                </a:solidFill>
                <a:latin typeface="Consolas"/>
              </a:rPr>
              <a:t>y</a:t>
            </a:r>
            <a:r>
              <a:rPr sz="1100" i="0" b="0">
                <a:solidFill>
                  <a:srgbClr val="D4D4D4"/>
                </a:solidFill>
                <a:latin typeface="Consolas"/>
              </a:rPr>
              <a:t> </a:t>
            </a:r>
            <a:r>
              <a:rPr sz="1100" i="0" b="0">
                <a:solidFill>
                  <a:srgbClr val="D4D4D4"/>
                </a:solidFill>
                <a:latin typeface="Consolas"/>
              </a:rPr>
              <a:t>esta</a:t>
            </a:r>
            <a:r>
              <a:rPr sz="1100" i="0" b="0">
                <a:solidFill>
                  <a:srgbClr val="D4D4D4"/>
                </a:solidFill>
                <a:latin typeface="Consolas"/>
              </a:rPr>
              <a:t> </a:t>
            </a:r>
            <a:r>
              <a:rPr sz="1100" i="0" b="0">
                <a:solidFill>
                  <a:srgbClr val="D4D4D4"/>
                </a:solidFill>
                <a:latin typeface="Consolas"/>
              </a:rPr>
              <a:t>activo</a:t>
            </a:r>
          </a:p>
          <a:p>
            <a:pPr>
              <a:spcAft>
                <a:spcPts val="235"/>
              </a:spcAft>
            </a:pPr>
            <a:r>
              <a:rPr sz="1100" i="0" b="0">
                <a:solidFill>
                  <a:srgbClr val="D4D4D4"/>
                </a:solidFill>
                <a:latin typeface="Consolas"/>
              </a:rPr>
              <a:t>Postcondicion</a:t>
            </a:r>
            <a:r>
              <a:rPr sz="1100" i="0" b="0">
                <a:solidFill>
                  <a:srgbClr val="D4D4D4"/>
                </a:solidFill>
                <a:latin typeface="Consolas"/>
              </a:rPr>
              <a:t>:    </a:t>
            </a:r>
            <a:r>
              <a:rPr sz="1100" i="0" b="0">
                <a:solidFill>
                  <a:srgbClr val="D4D4D4"/>
                </a:solidFill>
                <a:latin typeface="Consolas"/>
              </a:rPr>
              <a:t>la</a:t>
            </a:r>
            <a:r>
              <a:rPr sz="1100" i="0" b="0">
                <a:solidFill>
                  <a:srgbClr val="D4D4D4"/>
                </a:solidFill>
                <a:latin typeface="Consolas"/>
              </a:rPr>
              <a:t> </a:t>
            </a:r>
            <a:r>
              <a:rPr sz="1100" i="0" b="0">
                <a:solidFill>
                  <a:srgbClr val="D4D4D4"/>
                </a:solidFill>
                <a:latin typeface="Consolas"/>
              </a:rPr>
              <a:t>mascota</a:t>
            </a:r>
            <a:r>
              <a:rPr sz="1100" i="0" b="0">
                <a:solidFill>
                  <a:srgbClr val="D4D4D4"/>
                </a:solidFill>
                <a:latin typeface="Consolas"/>
              </a:rPr>
              <a:t> </a:t>
            </a:r>
            <a:r>
              <a:rPr sz="1100" i="0" b="0">
                <a:solidFill>
                  <a:srgbClr val="D4D4D4"/>
                </a:solidFill>
                <a:latin typeface="Consolas"/>
              </a:rPr>
              <a:t>queda</a:t>
            </a:r>
            <a:r>
              <a:rPr sz="1100" i="0" b="0">
                <a:solidFill>
                  <a:srgbClr val="D4D4D4"/>
                </a:solidFill>
                <a:latin typeface="Consolas"/>
              </a:rPr>
              <a:t> </a:t>
            </a:r>
            <a:r>
              <a:rPr sz="1100" i="0" b="0">
                <a:solidFill>
                  <a:srgbClr val="D4D4D4"/>
                </a:solidFill>
                <a:latin typeface="Consolas"/>
              </a:rPr>
              <a:t>activa</a:t>
            </a:r>
            <a:r>
              <a:rPr sz="1100" i="0" b="0">
                <a:solidFill>
                  <a:srgbClr val="D4D4D4"/>
                </a:solidFill>
                <a:latin typeface="Consolas"/>
              </a:rPr>
              <a:t> </a:t>
            </a:r>
            <a:r>
              <a:rPr sz="1100" i="0" b="0">
                <a:solidFill>
                  <a:srgbClr val="D4D4D4"/>
                </a:solidFill>
                <a:latin typeface="Consolas"/>
              </a:rPr>
              <a:t>con</a:t>
            </a:r>
            <a:r>
              <a:rPr sz="1100" i="0" b="0">
                <a:solidFill>
                  <a:srgbClr val="D4D4D4"/>
                </a:solidFill>
                <a:latin typeface="Consolas"/>
              </a:rPr>
              <a:t> </a:t>
            </a:r>
            <a:r>
              <a:rPr sz="1100" i="0" b="0">
                <a:solidFill>
                  <a:srgbClr val="D4D4D4"/>
                </a:solidFill>
                <a:latin typeface="Consolas"/>
              </a:rPr>
              <a:t>expediente</a:t>
            </a:r>
            <a:r>
              <a:rPr sz="1100" i="0" b="0">
                <a:solidFill>
                  <a:srgbClr val="D4D4D4"/>
                </a:solidFill>
                <a:latin typeface="Consolas"/>
              </a:rPr>
              <a:t> </a:t>
            </a:r>
            <a:r>
              <a:rPr sz="1100" i="0" b="0">
                <a:solidFill>
                  <a:srgbClr val="D4D4D4"/>
                </a:solidFill>
                <a:latin typeface="Consolas"/>
              </a:rPr>
              <a:t>abierto</a:t>
            </a:r>
          </a:p>
          <a:p>
            <a:pPr>
              <a:spcAft>
                <a:spcPts val="235"/>
              </a:spcAft>
            </a:pPr>
            <a:r>
              <a:rPr sz="1100" i="0" b="0">
                <a:solidFill>
                  <a:srgbClr val="D4D4D4"/>
                </a:solidFill>
                <a:latin typeface="Consolas"/>
              </a:rPr>
              <a:t/>
            </a:r>
          </a:p>
          <a:p>
            <a:pPr>
              <a:spcAft>
                <a:spcPts val="235"/>
              </a:spcAft>
            </a:pPr>
            <a:r>
              <a:rPr sz="1100" i="0" b="0">
                <a:solidFill>
                  <a:srgbClr val="D4D4D4"/>
                </a:solidFill>
                <a:latin typeface="Consolas"/>
              </a:rPr>
              <a:t>Flujo</a:t>
            </a:r>
            <a:r>
              <a:rPr sz="1100" i="0" b="0">
                <a:solidFill>
                  <a:srgbClr val="D4D4D4"/>
                </a:solidFill>
                <a:latin typeface="Consolas"/>
              </a:rPr>
              <a:t> </a:t>
            </a:r>
            <a:r>
              <a:rPr sz="1100" i="0" b="0">
                <a:solidFill>
                  <a:srgbClr val="D4D4D4"/>
                </a:solidFill>
                <a:latin typeface="Consolas"/>
              </a:rPr>
              <a:t>principal</a:t>
            </a:r>
          </a:p>
          <a:p>
            <a:pPr>
              <a:spcAft>
                <a:spcPts val="235"/>
              </a:spcAft>
            </a:pPr>
            <a:r>
              <a:rPr sz="1100" i="0" b="0">
                <a:solidFill>
                  <a:srgbClr val="D4D4D4"/>
                </a:solidFill>
                <a:latin typeface="Consolas"/>
              </a:rPr>
              <a:t>  </a:t>
            </a:r>
            <a:r>
              <a:rPr sz="1100" i="0" b="0">
                <a:solidFill>
                  <a:srgbClr val="B5CEA8"/>
                </a:solidFill>
                <a:latin typeface="Consolas"/>
              </a:rPr>
              <a:t>1</a:t>
            </a:r>
            <a:r>
              <a:rPr sz="1100" i="0" b="0">
                <a:solidFill>
                  <a:srgbClr val="D4D4D4"/>
                </a:solidFill>
                <a:latin typeface="Consolas"/>
              </a:rPr>
              <a:t>. </a:t>
            </a:r>
            <a:r>
              <a:rPr sz="1100" i="0" b="0">
                <a:solidFill>
                  <a:srgbClr val="D4D4D4"/>
                </a:solidFill>
                <a:latin typeface="Consolas"/>
              </a:rPr>
              <a:t>La</a:t>
            </a:r>
            <a:r>
              <a:rPr sz="1100" i="0" b="0">
                <a:solidFill>
                  <a:srgbClr val="D4D4D4"/>
                </a:solidFill>
                <a:latin typeface="Consolas"/>
              </a:rPr>
              <a:t> </a:t>
            </a:r>
            <a:r>
              <a:rPr sz="1100" i="0" b="0">
                <a:solidFill>
                  <a:srgbClr val="D4D4D4"/>
                </a:solidFill>
                <a:latin typeface="Consolas"/>
              </a:rPr>
              <a:t>recepcionista</a:t>
            </a:r>
            <a:r>
              <a:rPr sz="1100" i="0" b="0">
                <a:solidFill>
                  <a:srgbClr val="D4D4D4"/>
                </a:solidFill>
                <a:latin typeface="Consolas"/>
              </a:rPr>
              <a:t> </a:t>
            </a:r>
            <a:r>
              <a:rPr sz="1100" i="0" b="0">
                <a:solidFill>
                  <a:srgbClr val="D4D4D4"/>
                </a:solidFill>
                <a:latin typeface="Consolas"/>
              </a:rPr>
              <a:t>solicita</a:t>
            </a:r>
            <a:r>
              <a:rPr sz="1100" i="0" b="0">
                <a:solidFill>
                  <a:srgbClr val="D4D4D4"/>
                </a:solidFill>
                <a:latin typeface="Consolas"/>
              </a:rPr>
              <a:t> </a:t>
            </a:r>
            <a:r>
              <a:rPr sz="1100" i="0" b="0">
                <a:solidFill>
                  <a:srgbClr val="D4D4D4"/>
                </a:solidFill>
                <a:latin typeface="Consolas"/>
              </a:rPr>
              <a:t>registrar</a:t>
            </a:r>
            <a:r>
              <a:rPr sz="1100" i="0" b="0">
                <a:solidFill>
                  <a:srgbClr val="D4D4D4"/>
                </a:solidFill>
                <a:latin typeface="Consolas"/>
              </a:rPr>
              <a:t> </a:t>
            </a:r>
            <a:r>
              <a:rPr sz="1100" i="0" b="0">
                <a:solidFill>
                  <a:srgbClr val="D4D4D4"/>
                </a:solidFill>
                <a:latin typeface="Consolas"/>
              </a:rPr>
              <a:t>una</a:t>
            </a:r>
            <a:r>
              <a:rPr sz="1100" i="0" b="0">
                <a:solidFill>
                  <a:srgbClr val="D4D4D4"/>
                </a:solidFill>
                <a:latin typeface="Consolas"/>
              </a:rPr>
              <a:t> </a:t>
            </a:r>
            <a:r>
              <a:rPr sz="1100" i="0" b="0">
                <a:solidFill>
                  <a:srgbClr val="D4D4D4"/>
                </a:solidFill>
                <a:latin typeface="Consolas"/>
              </a:rPr>
              <a:t>mascota</a:t>
            </a:r>
            <a:r>
              <a:rPr sz="1100" i="0" b="0">
                <a:solidFill>
                  <a:srgbClr val="D4D4D4"/>
                </a:solidFill>
                <a:latin typeface="Consolas"/>
              </a:rPr>
              <a:t>.</a:t>
            </a:r>
          </a:p>
          <a:p>
            <a:pPr>
              <a:spcAft>
                <a:spcPts val="235"/>
              </a:spcAft>
            </a:pPr>
            <a:r>
              <a:rPr sz="1100" i="0" b="0">
                <a:solidFill>
                  <a:srgbClr val="D4D4D4"/>
                </a:solidFill>
                <a:latin typeface="Consolas"/>
              </a:rPr>
              <a:t>  </a:t>
            </a:r>
            <a:r>
              <a:rPr sz="1100" i="0" b="0">
                <a:solidFill>
                  <a:srgbClr val="B5CEA8"/>
                </a:solidFill>
                <a:latin typeface="Consolas"/>
              </a:rPr>
              <a:t>2</a:t>
            </a:r>
            <a:r>
              <a:rPr sz="1100" i="0" b="0">
                <a:solidFill>
                  <a:srgbClr val="D4D4D4"/>
                </a:solidFill>
                <a:latin typeface="Consolas"/>
              </a:rPr>
              <a:t>. </a:t>
            </a:r>
            <a:r>
              <a:rPr sz="1100" i="0" b="0">
                <a:solidFill>
                  <a:srgbClr val="D4D4D4"/>
                </a:solidFill>
                <a:latin typeface="Consolas"/>
              </a:rPr>
              <a:t>El</a:t>
            </a:r>
            <a:r>
              <a:rPr sz="1100" i="0" b="0">
                <a:solidFill>
                  <a:srgbClr val="D4D4D4"/>
                </a:solidFill>
                <a:latin typeface="Consolas"/>
              </a:rPr>
              <a:t> </a:t>
            </a:r>
            <a:r>
              <a:rPr sz="1100" i="0" b="0">
                <a:solidFill>
                  <a:srgbClr val="D4D4D4"/>
                </a:solidFill>
                <a:latin typeface="Consolas"/>
              </a:rPr>
              <a:t>sistema</a:t>
            </a:r>
            <a:r>
              <a:rPr sz="1100" i="0" b="0">
                <a:solidFill>
                  <a:srgbClr val="D4D4D4"/>
                </a:solidFill>
                <a:latin typeface="Consolas"/>
              </a:rPr>
              <a:t> </a:t>
            </a:r>
            <a:r>
              <a:rPr sz="1100" i="0" b="0">
                <a:solidFill>
                  <a:srgbClr val="D4D4D4"/>
                </a:solidFill>
                <a:latin typeface="Consolas"/>
              </a:rPr>
              <a:t>pide</a:t>
            </a:r>
            <a:r>
              <a:rPr sz="1100" i="0" b="0">
                <a:solidFill>
                  <a:srgbClr val="D4D4D4"/>
                </a:solidFill>
                <a:latin typeface="Consolas"/>
              </a:rPr>
              <a:t> </a:t>
            </a:r>
            <a:r>
              <a:rPr sz="1100" i="0" b="0">
                <a:solidFill>
                  <a:srgbClr val="D4D4D4"/>
                </a:solidFill>
                <a:latin typeface="Consolas"/>
              </a:rPr>
              <a:t>nombre</a:t>
            </a:r>
            <a:r>
              <a:rPr sz="1100" i="0" b="0">
                <a:solidFill>
                  <a:srgbClr val="D4D4D4"/>
                </a:solidFill>
                <a:latin typeface="Consolas"/>
              </a:rPr>
              <a:t>, </a:t>
            </a:r>
            <a:r>
              <a:rPr sz="1100" i="0" b="0">
                <a:solidFill>
                  <a:srgbClr val="D4D4D4"/>
                </a:solidFill>
                <a:latin typeface="Consolas"/>
              </a:rPr>
              <a:t>especie</a:t>
            </a:r>
            <a:r>
              <a:rPr sz="1100" i="0" b="0">
                <a:solidFill>
                  <a:srgbClr val="D4D4D4"/>
                </a:solidFill>
                <a:latin typeface="Consolas"/>
              </a:rPr>
              <a:t>, </a:t>
            </a:r>
            <a:r>
              <a:rPr sz="1100" i="0" b="0">
                <a:solidFill>
                  <a:srgbClr val="D4D4D4"/>
                </a:solidFill>
                <a:latin typeface="Consolas"/>
              </a:rPr>
              <a:t>fecha</a:t>
            </a:r>
            <a:r>
              <a:rPr sz="1100" i="0" b="0">
                <a:solidFill>
                  <a:srgbClr val="D4D4D4"/>
                </a:solidFill>
                <a:latin typeface="Consolas"/>
              </a:rPr>
              <a:t> </a:t>
            </a:r>
            <a:r>
              <a:rPr sz="1100" i="0" b="0">
                <a:solidFill>
                  <a:srgbClr val="D4D4D4"/>
                </a:solidFill>
                <a:latin typeface="Consolas"/>
              </a:rPr>
              <a:t>de</a:t>
            </a:r>
            <a:r>
              <a:rPr sz="1100" i="0" b="0">
                <a:solidFill>
                  <a:srgbClr val="D4D4D4"/>
                </a:solidFill>
                <a:latin typeface="Consolas"/>
              </a:rPr>
              <a:t> </a:t>
            </a:r>
            <a:r>
              <a:rPr sz="1100" i="0" b="0">
                <a:solidFill>
                  <a:srgbClr val="D4D4D4"/>
                </a:solidFill>
                <a:latin typeface="Consolas"/>
              </a:rPr>
              <a:t>nacimiento</a:t>
            </a:r>
            <a:r>
              <a:rPr sz="1100" i="0" b="0">
                <a:solidFill>
                  <a:srgbClr val="D4D4D4"/>
                </a:solidFill>
                <a:latin typeface="Consolas"/>
              </a:rPr>
              <a:t> </a:t>
            </a:r>
            <a:r>
              <a:rPr sz="1100" i="0" b="0">
                <a:solidFill>
                  <a:srgbClr val="D4D4D4"/>
                </a:solidFill>
                <a:latin typeface="Consolas"/>
              </a:rPr>
              <a:t>y</a:t>
            </a:r>
            <a:r>
              <a:rPr sz="1100" i="0" b="0">
                <a:solidFill>
                  <a:srgbClr val="D4D4D4"/>
                </a:solidFill>
                <a:latin typeface="Consolas"/>
              </a:rPr>
              <a:t> </a:t>
            </a:r>
            <a:r>
              <a:rPr sz="1100" i="0" b="0">
                <a:solidFill>
                  <a:srgbClr val="D4D4D4"/>
                </a:solidFill>
                <a:latin typeface="Consolas"/>
              </a:rPr>
              <a:t>dueno</a:t>
            </a:r>
            <a:r>
              <a:rPr sz="1100" i="0" b="0">
                <a:solidFill>
                  <a:srgbClr val="D4D4D4"/>
                </a:solidFill>
                <a:latin typeface="Consolas"/>
              </a:rPr>
              <a:t>.</a:t>
            </a:r>
          </a:p>
          <a:p>
            <a:pPr>
              <a:spcAft>
                <a:spcPts val="235"/>
              </a:spcAft>
            </a:pPr>
            <a:r>
              <a:rPr sz="1100" i="0" b="0">
                <a:solidFill>
                  <a:srgbClr val="D4D4D4"/>
                </a:solidFill>
                <a:latin typeface="Consolas"/>
              </a:rPr>
              <a:t>  </a:t>
            </a:r>
            <a:r>
              <a:rPr sz="1100" i="0" b="0">
                <a:solidFill>
                  <a:srgbClr val="B5CEA8"/>
                </a:solidFill>
                <a:latin typeface="Consolas"/>
              </a:rPr>
              <a:t>3</a:t>
            </a:r>
            <a:r>
              <a:rPr sz="1100" i="0" b="0">
                <a:solidFill>
                  <a:srgbClr val="D4D4D4"/>
                </a:solidFill>
                <a:latin typeface="Consolas"/>
              </a:rPr>
              <a:t>. </a:t>
            </a:r>
            <a:r>
              <a:rPr sz="1100" i="0" b="0">
                <a:solidFill>
                  <a:srgbClr val="D4D4D4"/>
                </a:solidFill>
                <a:latin typeface="Consolas"/>
              </a:rPr>
              <a:t>La</a:t>
            </a:r>
            <a:r>
              <a:rPr sz="1100" i="0" b="0">
                <a:solidFill>
                  <a:srgbClr val="D4D4D4"/>
                </a:solidFill>
                <a:latin typeface="Consolas"/>
              </a:rPr>
              <a:t> </a:t>
            </a:r>
            <a:r>
              <a:rPr sz="1100" i="0" b="0">
                <a:solidFill>
                  <a:srgbClr val="D4D4D4"/>
                </a:solidFill>
                <a:latin typeface="Consolas"/>
              </a:rPr>
              <a:t>recepcionista</a:t>
            </a:r>
            <a:r>
              <a:rPr sz="1100" i="0" b="0">
                <a:solidFill>
                  <a:srgbClr val="D4D4D4"/>
                </a:solidFill>
                <a:latin typeface="Consolas"/>
              </a:rPr>
              <a:t> </a:t>
            </a:r>
            <a:r>
              <a:rPr sz="1100" i="0" b="0">
                <a:solidFill>
                  <a:srgbClr val="D4D4D4"/>
                </a:solidFill>
                <a:latin typeface="Consolas"/>
              </a:rPr>
              <a:t>ingresa</a:t>
            </a:r>
            <a:r>
              <a:rPr sz="1100" i="0" b="0">
                <a:solidFill>
                  <a:srgbClr val="D4D4D4"/>
                </a:solidFill>
                <a:latin typeface="Consolas"/>
              </a:rPr>
              <a:t> </a:t>
            </a:r>
            <a:r>
              <a:rPr sz="1100" i="0" b="0">
                <a:solidFill>
                  <a:srgbClr val="D4D4D4"/>
                </a:solidFill>
                <a:latin typeface="Consolas"/>
              </a:rPr>
              <a:t>los</a:t>
            </a:r>
            <a:r>
              <a:rPr sz="1100" i="0" b="0">
                <a:solidFill>
                  <a:srgbClr val="D4D4D4"/>
                </a:solidFill>
                <a:latin typeface="Consolas"/>
              </a:rPr>
              <a:t> </a:t>
            </a:r>
            <a:r>
              <a:rPr sz="1100" i="0" b="0">
                <a:solidFill>
                  <a:srgbClr val="D4D4D4"/>
                </a:solidFill>
                <a:latin typeface="Consolas"/>
              </a:rPr>
              <a:t>datos</a:t>
            </a:r>
            <a:r>
              <a:rPr sz="1100" i="0" b="0">
                <a:solidFill>
                  <a:srgbClr val="D4D4D4"/>
                </a:solidFill>
                <a:latin typeface="Consolas"/>
              </a:rPr>
              <a:t>.</a:t>
            </a:r>
          </a:p>
          <a:p>
            <a:pPr>
              <a:spcAft>
                <a:spcPts val="235"/>
              </a:spcAft>
            </a:pPr>
            <a:r>
              <a:rPr sz="1100" i="0" b="0">
                <a:solidFill>
                  <a:srgbClr val="D4D4D4"/>
                </a:solidFill>
                <a:latin typeface="Consolas"/>
              </a:rPr>
              <a:t>  </a:t>
            </a:r>
            <a:r>
              <a:rPr sz="1100" i="0" b="0">
                <a:solidFill>
                  <a:srgbClr val="B5CEA8"/>
                </a:solidFill>
                <a:latin typeface="Consolas"/>
              </a:rPr>
              <a:t>4</a:t>
            </a:r>
            <a:r>
              <a:rPr sz="1100" i="0" b="0">
                <a:solidFill>
                  <a:srgbClr val="D4D4D4"/>
                </a:solidFill>
                <a:latin typeface="Consolas"/>
              </a:rPr>
              <a:t>. </a:t>
            </a:r>
            <a:r>
              <a:rPr sz="1100" i="0" b="0">
                <a:solidFill>
                  <a:srgbClr val="D4D4D4"/>
                </a:solidFill>
                <a:latin typeface="Consolas"/>
              </a:rPr>
              <a:t>El</a:t>
            </a:r>
            <a:r>
              <a:rPr sz="1100" i="0" b="0">
                <a:solidFill>
                  <a:srgbClr val="D4D4D4"/>
                </a:solidFill>
                <a:latin typeface="Consolas"/>
              </a:rPr>
              <a:t> </a:t>
            </a:r>
            <a:r>
              <a:rPr sz="1100" i="0" b="0">
                <a:solidFill>
                  <a:srgbClr val="D4D4D4"/>
                </a:solidFill>
                <a:latin typeface="Consolas"/>
              </a:rPr>
              <a:t>sistema</a:t>
            </a:r>
            <a:r>
              <a:rPr sz="1100" i="0" b="0">
                <a:solidFill>
                  <a:srgbClr val="D4D4D4"/>
                </a:solidFill>
                <a:latin typeface="Consolas"/>
              </a:rPr>
              <a:t> </a:t>
            </a:r>
            <a:r>
              <a:rPr sz="1100" i="0" b="0">
                <a:solidFill>
                  <a:srgbClr val="D4D4D4"/>
                </a:solidFill>
                <a:latin typeface="Consolas"/>
              </a:rPr>
              <a:t>valida</a:t>
            </a:r>
            <a:r>
              <a:rPr sz="1100" i="0" b="0">
                <a:solidFill>
                  <a:srgbClr val="D4D4D4"/>
                </a:solidFill>
                <a:latin typeface="Consolas"/>
              </a:rPr>
              <a:t> </a:t>
            </a:r>
            <a:r>
              <a:rPr sz="1100" i="0" b="0">
                <a:solidFill>
                  <a:srgbClr val="D4D4D4"/>
                </a:solidFill>
                <a:latin typeface="Consolas"/>
              </a:rPr>
              <a:t>que</a:t>
            </a:r>
            <a:r>
              <a:rPr sz="1100" i="0" b="0">
                <a:solidFill>
                  <a:srgbClr val="D4D4D4"/>
                </a:solidFill>
                <a:latin typeface="Consolas"/>
              </a:rPr>
              <a:t> </a:t>
            </a:r>
            <a:r>
              <a:rPr sz="1100" i="0" b="0">
                <a:solidFill>
                  <a:srgbClr val="D4D4D4"/>
                </a:solidFill>
                <a:latin typeface="Consolas"/>
              </a:rPr>
              <a:t>el</a:t>
            </a:r>
            <a:r>
              <a:rPr sz="1100" i="0" b="0">
                <a:solidFill>
                  <a:srgbClr val="D4D4D4"/>
                </a:solidFill>
                <a:latin typeface="Consolas"/>
              </a:rPr>
              <a:t> </a:t>
            </a:r>
            <a:r>
              <a:rPr sz="1100" i="0" b="0">
                <a:solidFill>
                  <a:srgbClr val="D4D4D4"/>
                </a:solidFill>
                <a:latin typeface="Consolas"/>
              </a:rPr>
              <a:t>dueno</a:t>
            </a:r>
            <a:r>
              <a:rPr sz="1100" i="0" b="0">
                <a:solidFill>
                  <a:srgbClr val="D4D4D4"/>
                </a:solidFill>
                <a:latin typeface="Consolas"/>
              </a:rPr>
              <a:t> </a:t>
            </a:r>
            <a:r>
              <a:rPr sz="1100" i="0" b="0">
                <a:solidFill>
                  <a:srgbClr val="D4D4D4"/>
                </a:solidFill>
                <a:latin typeface="Consolas"/>
              </a:rPr>
              <a:t>exista</a:t>
            </a:r>
            <a:r>
              <a:rPr sz="1100" i="0" b="0">
                <a:solidFill>
                  <a:srgbClr val="D4D4D4"/>
                </a:solidFill>
                <a:latin typeface="Consolas"/>
              </a:rPr>
              <a:t> </a:t>
            </a:r>
            <a:r>
              <a:rPr sz="1100" i="0" b="0">
                <a:solidFill>
                  <a:srgbClr val="D4D4D4"/>
                </a:solidFill>
                <a:latin typeface="Consolas"/>
              </a:rPr>
              <a:t>y</a:t>
            </a:r>
            <a:r>
              <a:rPr sz="1100" i="0" b="0">
                <a:solidFill>
                  <a:srgbClr val="D4D4D4"/>
                </a:solidFill>
                <a:latin typeface="Consolas"/>
              </a:rPr>
              <a:t> </a:t>
            </a:r>
            <a:r>
              <a:rPr sz="1100" i="0" b="0">
                <a:solidFill>
                  <a:srgbClr val="D4D4D4"/>
                </a:solidFill>
                <a:latin typeface="Consolas"/>
              </a:rPr>
              <a:t>este</a:t>
            </a:r>
            <a:r>
              <a:rPr sz="1100" i="0" b="0">
                <a:solidFill>
                  <a:srgbClr val="D4D4D4"/>
                </a:solidFill>
                <a:latin typeface="Consolas"/>
              </a:rPr>
              <a:t> </a:t>
            </a:r>
            <a:r>
              <a:rPr sz="1100" i="0" b="0">
                <a:solidFill>
                  <a:srgbClr val="D4D4D4"/>
                </a:solidFill>
                <a:latin typeface="Consolas"/>
              </a:rPr>
              <a:t>activo</a:t>
            </a:r>
            <a:r>
              <a:rPr sz="1100" i="0" b="0">
                <a:solidFill>
                  <a:srgbClr val="D4D4D4"/>
                </a:solidFill>
                <a:latin typeface="Consolas"/>
              </a:rPr>
              <a:t>.</a:t>
            </a:r>
          </a:p>
          <a:p>
            <a:pPr>
              <a:spcAft>
                <a:spcPts val="235"/>
              </a:spcAft>
            </a:pPr>
            <a:r>
              <a:rPr sz="1100" i="0" b="0">
                <a:solidFill>
                  <a:srgbClr val="D4D4D4"/>
                </a:solidFill>
                <a:latin typeface="Consolas"/>
              </a:rPr>
              <a:t>  </a:t>
            </a:r>
            <a:r>
              <a:rPr sz="1100" i="0" b="0">
                <a:solidFill>
                  <a:srgbClr val="B5CEA8"/>
                </a:solidFill>
                <a:latin typeface="Consolas"/>
              </a:rPr>
              <a:t>5</a:t>
            </a:r>
            <a:r>
              <a:rPr sz="1100" i="0" b="0">
                <a:solidFill>
                  <a:srgbClr val="D4D4D4"/>
                </a:solidFill>
                <a:latin typeface="Consolas"/>
              </a:rPr>
              <a:t>. </a:t>
            </a:r>
            <a:r>
              <a:rPr sz="1100" i="0" b="0">
                <a:solidFill>
                  <a:srgbClr val="D4D4D4"/>
                </a:solidFill>
                <a:latin typeface="Consolas"/>
              </a:rPr>
              <a:t>El</a:t>
            </a:r>
            <a:r>
              <a:rPr sz="1100" i="0" b="0">
                <a:solidFill>
                  <a:srgbClr val="D4D4D4"/>
                </a:solidFill>
                <a:latin typeface="Consolas"/>
              </a:rPr>
              <a:t> </a:t>
            </a:r>
            <a:r>
              <a:rPr sz="1100" i="0" b="0">
                <a:solidFill>
                  <a:srgbClr val="D4D4D4"/>
                </a:solidFill>
                <a:latin typeface="Consolas"/>
              </a:rPr>
              <a:t>sistema</a:t>
            </a:r>
            <a:r>
              <a:rPr sz="1100" i="0" b="0">
                <a:solidFill>
                  <a:srgbClr val="D4D4D4"/>
                </a:solidFill>
                <a:latin typeface="Consolas"/>
              </a:rPr>
              <a:t> </a:t>
            </a:r>
            <a:r>
              <a:rPr sz="1100" i="0" b="0">
                <a:solidFill>
                  <a:srgbClr val="D4D4D4"/>
                </a:solidFill>
                <a:latin typeface="Consolas"/>
              </a:rPr>
              <a:t>guarda</a:t>
            </a:r>
            <a:r>
              <a:rPr sz="1100" i="0" b="0">
                <a:solidFill>
                  <a:srgbClr val="D4D4D4"/>
                </a:solidFill>
                <a:latin typeface="Consolas"/>
              </a:rPr>
              <a:t> </a:t>
            </a:r>
            <a:r>
              <a:rPr sz="1100" i="0" b="0">
                <a:solidFill>
                  <a:srgbClr val="D4D4D4"/>
                </a:solidFill>
                <a:latin typeface="Consolas"/>
              </a:rPr>
              <a:t>la</a:t>
            </a:r>
            <a:r>
              <a:rPr sz="1100" i="0" b="0">
                <a:solidFill>
                  <a:srgbClr val="D4D4D4"/>
                </a:solidFill>
                <a:latin typeface="Consolas"/>
              </a:rPr>
              <a:t> </a:t>
            </a:r>
            <a:r>
              <a:rPr sz="1100" i="0" b="0">
                <a:solidFill>
                  <a:srgbClr val="D4D4D4"/>
                </a:solidFill>
                <a:latin typeface="Consolas"/>
              </a:rPr>
              <a:t>mascota</a:t>
            </a:r>
            <a:r>
              <a:rPr sz="1100" i="0" b="0">
                <a:solidFill>
                  <a:srgbClr val="D4D4D4"/>
                </a:solidFill>
                <a:latin typeface="Consolas"/>
              </a:rPr>
              <a:t> </a:t>
            </a:r>
            <a:r>
              <a:rPr sz="1100" i="0" b="0">
                <a:solidFill>
                  <a:srgbClr val="D4D4D4"/>
                </a:solidFill>
                <a:latin typeface="Consolas"/>
              </a:rPr>
              <a:t>y</a:t>
            </a:r>
            <a:r>
              <a:rPr sz="1100" i="0" b="0">
                <a:solidFill>
                  <a:srgbClr val="D4D4D4"/>
                </a:solidFill>
                <a:latin typeface="Consolas"/>
              </a:rPr>
              <a:t> </a:t>
            </a:r>
            <a:r>
              <a:rPr sz="1100" i="0" b="0">
                <a:solidFill>
                  <a:srgbClr val="D4D4D4"/>
                </a:solidFill>
                <a:latin typeface="Consolas"/>
              </a:rPr>
              <a:t>confirma</a:t>
            </a:r>
            <a:r>
              <a:rPr sz="1100" i="0" b="0">
                <a:solidFill>
                  <a:srgbClr val="D4D4D4"/>
                </a:solidFill>
                <a:latin typeface="Consolas"/>
              </a:rPr>
              <a:t>.</a:t>
            </a:r>
          </a:p>
          <a:p>
            <a:pPr>
              <a:spcAft>
                <a:spcPts val="235"/>
              </a:spcAft>
            </a:pPr>
            <a:r>
              <a:rPr sz="1100" i="0" b="0">
                <a:solidFill>
                  <a:srgbClr val="D4D4D4"/>
                </a:solidFill>
                <a:latin typeface="Consolas"/>
              </a:rPr>
              <a:t/>
            </a:r>
          </a:p>
          <a:p>
            <a:pPr>
              <a:spcAft>
                <a:spcPts val="235"/>
              </a:spcAft>
            </a:pPr>
            <a:r>
              <a:rPr sz="1100" i="0" b="0">
                <a:solidFill>
                  <a:srgbClr val="D4D4D4"/>
                </a:solidFill>
                <a:latin typeface="Consolas"/>
              </a:rPr>
              <a:t>Flujos</a:t>
            </a:r>
            <a:r>
              <a:rPr sz="1100" i="0" b="0">
                <a:solidFill>
                  <a:srgbClr val="D4D4D4"/>
                </a:solidFill>
                <a:latin typeface="Consolas"/>
              </a:rPr>
              <a:t> </a:t>
            </a:r>
            <a:r>
              <a:rPr sz="1100" i="0" b="0">
                <a:solidFill>
                  <a:srgbClr val="D4D4D4"/>
                </a:solidFill>
                <a:latin typeface="Consolas"/>
              </a:rPr>
              <a:t>alternos</a:t>
            </a:r>
          </a:p>
          <a:p>
            <a:pPr>
              <a:spcAft>
                <a:spcPts val="235"/>
              </a:spcAft>
            </a:pPr>
            <a:r>
              <a:rPr sz="1100" i="0" b="0">
                <a:solidFill>
                  <a:srgbClr val="D4D4D4"/>
                </a:solidFill>
                <a:latin typeface="Consolas"/>
              </a:rPr>
              <a:t>  4</a:t>
            </a:r>
            <a:r>
              <a:rPr sz="1100" i="0" b="0">
                <a:solidFill>
                  <a:srgbClr val="D4D4D4"/>
                </a:solidFill>
                <a:latin typeface="Consolas"/>
              </a:rPr>
              <a:t>a</a:t>
            </a:r>
            <a:r>
              <a:rPr sz="1100" i="0" b="0">
                <a:solidFill>
                  <a:srgbClr val="D4D4D4"/>
                </a:solidFill>
                <a:latin typeface="Consolas"/>
              </a:rPr>
              <a:t>. </a:t>
            </a:r>
            <a:r>
              <a:rPr sz="1100" i="0" b="0">
                <a:solidFill>
                  <a:srgbClr val="D4D4D4"/>
                </a:solidFill>
                <a:latin typeface="Consolas"/>
              </a:rPr>
              <a:t>El</a:t>
            </a:r>
            <a:r>
              <a:rPr sz="1100" i="0" b="0">
                <a:solidFill>
                  <a:srgbClr val="D4D4D4"/>
                </a:solidFill>
                <a:latin typeface="Consolas"/>
              </a:rPr>
              <a:t> </a:t>
            </a:r>
            <a:r>
              <a:rPr sz="1100" i="0" b="0">
                <a:solidFill>
                  <a:srgbClr val="D4D4D4"/>
                </a:solidFill>
                <a:latin typeface="Consolas"/>
              </a:rPr>
              <a:t>dueno</a:t>
            </a:r>
            <a:r>
              <a:rPr sz="1100" i="0" b="0">
                <a:solidFill>
                  <a:srgbClr val="D4D4D4"/>
                </a:solidFill>
                <a:latin typeface="Consolas"/>
              </a:rPr>
              <a:t> </a:t>
            </a:r>
            <a:r>
              <a:rPr sz="1100" i="0" b="0">
                <a:solidFill>
                  <a:srgbClr val="D4D4D4"/>
                </a:solidFill>
                <a:latin typeface="Consolas"/>
              </a:rPr>
              <a:t>no</a:t>
            </a:r>
            <a:r>
              <a:rPr sz="1100" i="0" b="0">
                <a:solidFill>
                  <a:srgbClr val="D4D4D4"/>
                </a:solidFill>
                <a:latin typeface="Consolas"/>
              </a:rPr>
              <a:t> </a:t>
            </a:r>
            <a:r>
              <a:rPr sz="1100" i="0" b="0">
                <a:solidFill>
                  <a:srgbClr val="D4D4D4"/>
                </a:solidFill>
                <a:latin typeface="Consolas"/>
              </a:rPr>
              <a:t>existe</a:t>
            </a:r>
            <a:r>
              <a:rPr sz="1100" i="0" b="0">
                <a:solidFill>
                  <a:srgbClr val="D4D4D4"/>
                </a:solidFill>
                <a:latin typeface="Consolas"/>
              </a:rPr>
              <a:t> -&gt; </a:t>
            </a:r>
            <a:r>
              <a:rPr sz="1100" i="0" b="0">
                <a:solidFill>
                  <a:srgbClr val="D4D4D4"/>
                </a:solidFill>
                <a:latin typeface="Consolas"/>
              </a:rPr>
              <a:t>el</a:t>
            </a:r>
            <a:r>
              <a:rPr sz="1100" i="0" b="0">
                <a:solidFill>
                  <a:srgbClr val="D4D4D4"/>
                </a:solidFill>
                <a:latin typeface="Consolas"/>
              </a:rPr>
              <a:t> </a:t>
            </a:r>
            <a:r>
              <a:rPr sz="1100" i="0" b="0">
                <a:solidFill>
                  <a:srgbClr val="D4D4D4"/>
                </a:solidFill>
                <a:latin typeface="Consolas"/>
              </a:rPr>
              <a:t>sistema</a:t>
            </a:r>
            <a:r>
              <a:rPr sz="1100" i="0" b="0">
                <a:solidFill>
                  <a:srgbClr val="D4D4D4"/>
                </a:solidFill>
                <a:latin typeface="Consolas"/>
              </a:rPr>
              <a:t> </a:t>
            </a:r>
            <a:r>
              <a:rPr sz="1100" i="0" b="0">
                <a:solidFill>
                  <a:srgbClr val="D4D4D4"/>
                </a:solidFill>
                <a:latin typeface="Consolas"/>
              </a:rPr>
              <a:t>ofrece</a:t>
            </a:r>
            <a:r>
              <a:rPr sz="1100" i="0" b="0">
                <a:solidFill>
                  <a:srgbClr val="D4D4D4"/>
                </a:solidFill>
                <a:latin typeface="Consolas"/>
              </a:rPr>
              <a:t> </a:t>
            </a:r>
            <a:r>
              <a:rPr sz="1100" i="0" b="0">
                <a:solidFill>
                  <a:srgbClr val="D4D4D4"/>
                </a:solidFill>
                <a:latin typeface="Consolas"/>
              </a:rPr>
              <a:t>registrarlo</a:t>
            </a:r>
            <a:r>
              <a:rPr sz="1100" i="0" b="0">
                <a:solidFill>
                  <a:srgbClr val="D4D4D4"/>
                </a:solidFill>
                <a:latin typeface="Consolas"/>
              </a:rPr>
              <a:t> </a:t>
            </a:r>
            <a:r>
              <a:rPr sz="1100" i="0" b="0">
                <a:solidFill>
                  <a:srgbClr val="D4D4D4"/>
                </a:solidFill>
                <a:latin typeface="Consolas"/>
              </a:rPr>
              <a:t>primero</a:t>
            </a:r>
            <a:r>
              <a:rPr sz="1100" i="0" b="0">
                <a:solidFill>
                  <a:srgbClr val="D4D4D4"/>
                </a:solidFill>
                <a:latin typeface="Consolas"/>
              </a:rPr>
              <a:t>.</a:t>
            </a:r>
          </a:p>
          <a:p>
            <a:pPr>
              <a:spcAft>
                <a:spcPts val="235"/>
              </a:spcAft>
            </a:pPr>
            <a:r>
              <a:rPr sz="1100" i="0" b="0">
                <a:solidFill>
                  <a:srgbClr val="D4D4D4"/>
                </a:solidFill>
                <a:latin typeface="Consolas"/>
              </a:rPr>
              <a:t>  4</a:t>
            </a:r>
            <a:r>
              <a:rPr sz="1100" i="0" b="0">
                <a:solidFill>
                  <a:srgbClr val="D4D4D4"/>
                </a:solidFill>
                <a:latin typeface="Consolas"/>
              </a:rPr>
              <a:t>b</a:t>
            </a:r>
            <a:r>
              <a:rPr sz="1100" i="0" b="0">
                <a:solidFill>
                  <a:srgbClr val="D4D4D4"/>
                </a:solidFill>
                <a:latin typeface="Consolas"/>
              </a:rPr>
              <a:t>. </a:t>
            </a:r>
            <a:r>
              <a:rPr sz="1100" i="0" b="0">
                <a:solidFill>
                  <a:srgbClr val="D4D4D4"/>
                </a:solidFill>
                <a:latin typeface="Consolas"/>
              </a:rPr>
              <a:t>Falta</a:t>
            </a:r>
            <a:r>
              <a:rPr sz="1100" i="0" b="0">
                <a:solidFill>
                  <a:srgbClr val="D4D4D4"/>
                </a:solidFill>
                <a:latin typeface="Consolas"/>
              </a:rPr>
              <a:t> </a:t>
            </a:r>
            <a:r>
              <a:rPr sz="1100" i="0" b="0">
                <a:solidFill>
                  <a:srgbClr val="D4D4D4"/>
                </a:solidFill>
                <a:latin typeface="Consolas"/>
              </a:rPr>
              <a:t>un</a:t>
            </a:r>
            <a:r>
              <a:rPr sz="1100" i="0" b="0">
                <a:solidFill>
                  <a:srgbClr val="D4D4D4"/>
                </a:solidFill>
                <a:latin typeface="Consolas"/>
              </a:rPr>
              <a:t> </a:t>
            </a:r>
            <a:r>
              <a:rPr sz="1100" i="0" b="0">
                <a:solidFill>
                  <a:srgbClr val="D4D4D4"/>
                </a:solidFill>
                <a:latin typeface="Consolas"/>
              </a:rPr>
              <a:t>dato</a:t>
            </a:r>
            <a:r>
              <a:rPr sz="1100" i="0" b="0">
                <a:solidFill>
                  <a:srgbClr val="D4D4D4"/>
                </a:solidFill>
                <a:latin typeface="Consolas"/>
              </a:rPr>
              <a:t> </a:t>
            </a:r>
            <a:r>
              <a:rPr sz="1100" i="0" b="0">
                <a:solidFill>
                  <a:srgbClr val="D4D4D4"/>
                </a:solidFill>
                <a:latin typeface="Consolas"/>
              </a:rPr>
              <a:t>obligatorio</a:t>
            </a:r>
            <a:r>
              <a:rPr sz="1100" i="0" b="0">
                <a:solidFill>
                  <a:srgbClr val="D4D4D4"/>
                </a:solidFill>
                <a:latin typeface="Consolas"/>
              </a:rPr>
              <a:t> -&gt; </a:t>
            </a:r>
            <a:r>
              <a:rPr sz="1100" i="0" b="0">
                <a:solidFill>
                  <a:srgbClr val="D4D4D4"/>
                </a:solidFill>
                <a:latin typeface="Consolas"/>
              </a:rPr>
              <a:t>el</a:t>
            </a:r>
            <a:r>
              <a:rPr sz="1100" i="0" b="0">
                <a:solidFill>
                  <a:srgbClr val="D4D4D4"/>
                </a:solidFill>
                <a:latin typeface="Consolas"/>
              </a:rPr>
              <a:t> </a:t>
            </a:r>
            <a:r>
              <a:rPr sz="1100" i="0" b="0">
                <a:solidFill>
                  <a:srgbClr val="D4D4D4"/>
                </a:solidFill>
                <a:latin typeface="Consolas"/>
              </a:rPr>
              <a:t>sistema</a:t>
            </a:r>
            <a:r>
              <a:rPr sz="1100" i="0" b="0">
                <a:solidFill>
                  <a:srgbClr val="D4D4D4"/>
                </a:solidFill>
                <a:latin typeface="Consolas"/>
              </a:rPr>
              <a:t> </a:t>
            </a:r>
            <a:r>
              <a:rPr sz="1100" i="0" b="0">
                <a:solidFill>
                  <a:srgbClr val="D4D4D4"/>
                </a:solidFill>
                <a:latin typeface="Consolas"/>
              </a:rPr>
              <a:t>lo</a:t>
            </a:r>
            <a:r>
              <a:rPr sz="1100" i="0" b="0">
                <a:solidFill>
                  <a:srgbClr val="D4D4D4"/>
                </a:solidFill>
                <a:latin typeface="Consolas"/>
              </a:rPr>
              <a:t> </a:t>
            </a:r>
            <a:r>
              <a:rPr sz="1100" i="0" b="0">
                <a:solidFill>
                  <a:srgbClr val="D4D4D4"/>
                </a:solidFill>
                <a:latin typeface="Consolas"/>
              </a:rPr>
              <a:t>senala</a:t>
            </a:r>
            <a:r>
              <a:rPr sz="1100" i="0" b="0">
                <a:solidFill>
                  <a:srgbClr val="D4D4D4"/>
                </a:solidFill>
                <a:latin typeface="Consolas"/>
              </a:rPr>
              <a:t> </a:t>
            </a:r>
            <a:r>
              <a:rPr sz="1100" i="0" b="0">
                <a:solidFill>
                  <a:srgbClr val="D4D4D4"/>
                </a:solidFill>
                <a:latin typeface="Consolas"/>
              </a:rPr>
              <a:t>y</a:t>
            </a:r>
            <a:r>
              <a:rPr sz="1100" i="0" b="0">
                <a:solidFill>
                  <a:srgbClr val="D4D4D4"/>
                </a:solidFill>
                <a:latin typeface="Consolas"/>
              </a:rPr>
              <a:t> </a:t>
            </a:r>
            <a:r>
              <a:rPr sz="1100" i="0" b="0">
                <a:solidFill>
                  <a:srgbClr val="D4D4D4"/>
                </a:solidFill>
                <a:latin typeface="Consolas"/>
              </a:rPr>
              <a:t>no</a:t>
            </a:r>
            <a:r>
              <a:rPr sz="1100" i="0" b="0">
                <a:solidFill>
                  <a:srgbClr val="D4D4D4"/>
                </a:solidFill>
                <a:latin typeface="Consolas"/>
              </a:rPr>
              <a:t> </a:t>
            </a:r>
            <a:r>
              <a:rPr sz="1100" i="0" b="0">
                <a:solidFill>
                  <a:srgbClr val="D4D4D4"/>
                </a:solidFill>
                <a:latin typeface="Consolas"/>
              </a:rPr>
              <a:t>guarda</a:t>
            </a:r>
            <a:r>
              <a:rPr sz="1100" i="0" b="0">
                <a:solidFill>
                  <a:srgbClr val="D4D4D4"/>
                </a:solidFill>
                <a:latin typeface="Consolas"/>
              </a:rPr>
              <a:t>.</a:t>
            </a:r>
          </a:p>
          <a:p>
            <a:pPr>
              <a:spcAft>
                <a:spcPts val="235"/>
              </a:spcAft>
            </a:pPr>
            <a:r>
              <a:rPr sz="1100" i="0" b="0">
                <a:solidFill>
                  <a:srgbClr val="D4D4D4"/>
                </a:solidFill>
                <a:latin typeface="Consolas"/>
              </a:rPr>
              <a:t/>
            </a:r>
          </a:p>
          <a:p>
            <a:pPr>
              <a:spcAft>
                <a:spcPts val="235"/>
              </a:spcAft>
            </a:pPr>
            <a:r>
              <a:rPr sz="1100" i="0" b="0">
                <a:solidFill>
                  <a:srgbClr val="D4D4D4"/>
                </a:solidFill>
                <a:latin typeface="Consolas"/>
              </a:rPr>
              <a:t>-- Sin flujos alternos la especificacion esta a medias: el 4a y el 4b</a:t>
            </a:r>
          </a:p>
          <a:p>
            <a:pPr>
              <a:spcAft>
                <a:spcPts val="235"/>
              </a:spcAft>
            </a:pPr>
            <a:r>
              <a:rPr sz="1100" i="0" b="0">
                <a:solidFill>
                  <a:srgbClr val="D4D4D4"/>
                </a:solidFill>
                <a:latin typeface="Consolas"/>
              </a:rPr>
              <a:t>-- son las dos terceras partes del trabajo real del programador.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9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CU-02 Buscar expediente: la especificacion que el diagrama no muestra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57200" y="1261872"/>
            <a:ext cx="11277295" cy="3659991"/>
          </a:xfrm>
          <a:prstGeom prst="roundRect">
            <a:avLst>
              <a:gd name="adj" fmla="val 4000"/>
            </a:avLst>
          </a:prstGeom>
          <a:solidFill>
            <a:srgbClr val="1E1E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57200" y="1261872"/>
            <a:ext cx="11277295" cy="365760"/>
          </a:xfrm>
          <a:prstGeom prst="rect">
            <a:avLst/>
          </a:prstGeom>
          <a:solidFill>
            <a:srgbClr val="2D2D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658368" y="1380743"/>
            <a:ext cx="128016" cy="128016"/>
          </a:xfrm>
          <a:prstGeom prst="ellipse">
            <a:avLst/>
          </a:prstGeom>
          <a:solidFill>
            <a:srgbClr val="FF5F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877824" y="1380743"/>
            <a:ext cx="128016" cy="128016"/>
          </a:xfrm>
          <a:prstGeom prst="ellipse">
            <a:avLst/>
          </a:prstGeom>
          <a:solidFill>
            <a:srgbClr val="FFBD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1097280" y="1380743"/>
            <a:ext cx="128016" cy="128016"/>
          </a:xfrm>
          <a:prstGeom prst="ellipse">
            <a:avLst/>
          </a:prstGeom>
          <a:solidFill>
            <a:srgbClr val="27C93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371600" y="1298448"/>
            <a:ext cx="10180015" cy="29260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r"/>
            <a:r>
              <a:rPr sz="1100" b="1" i="0">
                <a:solidFill>
                  <a:srgbClr val="BBBBBB"/>
                </a:solidFill>
                <a:latin typeface="Calibri"/>
              </a:rPr>
              <a:t>Plantilla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88720" y="1719072"/>
            <a:ext cx="10271455" cy="30656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35"/>
              </a:spcAft>
            </a:pPr>
            <a:r>
              <a:rPr sz="1100" i="0" b="0">
                <a:solidFill>
                  <a:srgbClr val="D4D4D4"/>
                </a:solidFill>
                <a:latin typeface="Consolas"/>
              </a:rPr>
              <a:t>CU</a:t>
            </a:r>
            <a:r>
              <a:rPr sz="1100" i="0" b="0">
                <a:solidFill>
                  <a:srgbClr val="D4D4D4"/>
                </a:solidFill>
                <a:latin typeface="Consolas"/>
              </a:rPr>
              <a:t>-</a:t>
            </a:r>
            <a:r>
              <a:rPr sz="1100" i="0" b="0">
                <a:solidFill>
                  <a:srgbClr val="B5CEA8"/>
                </a:solidFill>
                <a:latin typeface="Consolas"/>
              </a:rPr>
              <a:t>02</a:t>
            </a:r>
            <a:r>
              <a:rPr sz="1100" i="0" b="0">
                <a:solidFill>
                  <a:srgbClr val="D4D4D4"/>
                </a:solidFill>
                <a:latin typeface="Consolas"/>
              </a:rPr>
              <a:t>  </a:t>
            </a:r>
            <a:r>
              <a:rPr sz="1100" i="0" b="0">
                <a:solidFill>
                  <a:srgbClr val="D4D4D4"/>
                </a:solidFill>
                <a:latin typeface="Consolas"/>
              </a:rPr>
              <a:t>Buscar</a:t>
            </a:r>
            <a:r>
              <a:rPr sz="1100" i="0" b="0">
                <a:solidFill>
                  <a:srgbClr val="D4D4D4"/>
                </a:solidFill>
                <a:latin typeface="Consolas"/>
              </a:rPr>
              <a:t> </a:t>
            </a:r>
            <a:r>
              <a:rPr sz="1100" i="0" b="0">
                <a:solidFill>
                  <a:srgbClr val="D4D4D4"/>
                </a:solidFill>
                <a:latin typeface="Consolas"/>
              </a:rPr>
              <a:t>expediente</a:t>
            </a:r>
          </a:p>
          <a:p>
            <a:pPr>
              <a:spcAft>
                <a:spcPts val="235"/>
              </a:spcAft>
            </a:pPr>
            <a:r>
              <a:rPr sz="1100" i="0" b="0">
                <a:solidFill>
                  <a:srgbClr val="D4D4D4"/>
                </a:solidFill>
                <a:latin typeface="Consolas"/>
              </a:rPr>
              <a:t>Actor</a:t>
            </a:r>
            <a:r>
              <a:rPr sz="1100" i="0" b="0">
                <a:solidFill>
                  <a:srgbClr val="D4D4D4"/>
                </a:solidFill>
                <a:latin typeface="Consolas"/>
              </a:rPr>
              <a:t> </a:t>
            </a:r>
            <a:r>
              <a:rPr sz="1100" i="0" b="0">
                <a:solidFill>
                  <a:srgbClr val="D4D4D4"/>
                </a:solidFill>
                <a:latin typeface="Consolas"/>
              </a:rPr>
              <a:t>primario</a:t>
            </a:r>
            <a:r>
              <a:rPr sz="1100" i="0" b="0">
                <a:solidFill>
                  <a:srgbClr val="D4D4D4"/>
                </a:solidFill>
                <a:latin typeface="Consolas"/>
              </a:rPr>
              <a:t>: </a:t>
            </a:r>
            <a:r>
              <a:rPr sz="1100" i="0" b="0">
                <a:solidFill>
                  <a:srgbClr val="D4D4D4"/>
                </a:solidFill>
                <a:latin typeface="Consolas"/>
              </a:rPr>
              <a:t>Veterinario</a:t>
            </a:r>
            <a:r>
              <a:rPr sz="1100" i="0" b="0">
                <a:solidFill>
                  <a:srgbClr val="D4D4D4"/>
                </a:solidFill>
                <a:latin typeface="Consolas"/>
              </a:rPr>
              <a:t>  |  </a:t>
            </a:r>
            <a:r>
              <a:rPr sz="1100" i="0" b="0">
                <a:solidFill>
                  <a:srgbClr val="D4D4D4"/>
                </a:solidFill>
                <a:latin typeface="Consolas"/>
              </a:rPr>
              <a:t>Prioridad</a:t>
            </a:r>
            <a:r>
              <a:rPr sz="1100" i="0" b="0">
                <a:solidFill>
                  <a:srgbClr val="D4D4D4"/>
                </a:solidFill>
                <a:latin typeface="Consolas"/>
              </a:rPr>
              <a:t>: </a:t>
            </a:r>
            <a:r>
              <a:rPr sz="1100" i="0" b="0">
                <a:solidFill>
                  <a:srgbClr val="D4D4D4"/>
                </a:solidFill>
                <a:latin typeface="Consolas"/>
              </a:rPr>
              <a:t>Alta</a:t>
            </a:r>
            <a:r>
              <a:rPr sz="1100" i="0" b="0">
                <a:solidFill>
                  <a:srgbClr val="D4D4D4"/>
                </a:solidFill>
                <a:latin typeface="Consolas"/>
              </a:rPr>
              <a:t>  |  </a:t>
            </a:r>
            <a:r>
              <a:rPr sz="1100" i="0" b="0">
                <a:solidFill>
                  <a:srgbClr val="D4D4D4"/>
                </a:solidFill>
                <a:latin typeface="Consolas"/>
              </a:rPr>
              <a:t>Cubre</a:t>
            </a:r>
            <a:r>
              <a:rPr sz="1100" i="0" b="0">
                <a:solidFill>
                  <a:srgbClr val="D4D4D4"/>
                </a:solidFill>
                <a:latin typeface="Consolas"/>
              </a:rPr>
              <a:t>: </a:t>
            </a:r>
            <a:r>
              <a:rPr sz="1100" i="0" b="0">
                <a:solidFill>
                  <a:srgbClr val="D4D4D4"/>
                </a:solidFill>
                <a:latin typeface="Consolas"/>
              </a:rPr>
              <a:t>RF</a:t>
            </a:r>
            <a:r>
              <a:rPr sz="1100" i="0" b="0">
                <a:solidFill>
                  <a:srgbClr val="D4D4D4"/>
                </a:solidFill>
                <a:latin typeface="Consolas"/>
              </a:rPr>
              <a:t>-</a:t>
            </a:r>
            <a:r>
              <a:rPr sz="1100" i="0" b="0">
                <a:solidFill>
                  <a:srgbClr val="B5CEA8"/>
                </a:solidFill>
                <a:latin typeface="Consolas"/>
              </a:rPr>
              <a:t>05</a:t>
            </a:r>
            <a:r>
              <a:rPr sz="1100" i="0" b="0">
                <a:solidFill>
                  <a:srgbClr val="D4D4D4"/>
                </a:solidFill>
                <a:latin typeface="Consolas"/>
              </a:rPr>
              <a:t>, </a:t>
            </a:r>
            <a:r>
              <a:rPr sz="1100" i="0" b="0">
                <a:solidFill>
                  <a:srgbClr val="D4D4D4"/>
                </a:solidFill>
                <a:latin typeface="Consolas"/>
              </a:rPr>
              <a:t>RNF</a:t>
            </a:r>
            <a:r>
              <a:rPr sz="1100" i="0" b="0">
                <a:solidFill>
                  <a:srgbClr val="D4D4D4"/>
                </a:solidFill>
                <a:latin typeface="Consolas"/>
              </a:rPr>
              <a:t>-</a:t>
            </a:r>
            <a:r>
              <a:rPr sz="1100" i="0" b="0">
                <a:solidFill>
                  <a:srgbClr val="B5CEA8"/>
                </a:solidFill>
                <a:latin typeface="Consolas"/>
              </a:rPr>
              <a:t>02</a:t>
            </a:r>
          </a:p>
          <a:p>
            <a:pPr>
              <a:spcAft>
                <a:spcPts val="235"/>
              </a:spcAft>
            </a:pPr>
            <a:r>
              <a:rPr sz="1100" i="0" b="0">
                <a:solidFill>
                  <a:srgbClr val="D4D4D4"/>
                </a:solidFill>
                <a:latin typeface="Consolas"/>
              </a:rPr>
              <a:t>Precondicion</a:t>
            </a:r>
            <a:r>
              <a:rPr sz="1100" i="0" b="0">
                <a:solidFill>
                  <a:srgbClr val="D4D4D4"/>
                </a:solidFill>
                <a:latin typeface="Consolas"/>
              </a:rPr>
              <a:t>: </a:t>
            </a:r>
            <a:r>
              <a:rPr sz="1100" i="0" b="0">
                <a:solidFill>
                  <a:srgbClr val="D4D4D4"/>
                </a:solidFill>
                <a:latin typeface="Consolas"/>
              </a:rPr>
              <a:t>el</a:t>
            </a:r>
            <a:r>
              <a:rPr sz="1100" i="0" b="0">
                <a:solidFill>
                  <a:srgbClr val="D4D4D4"/>
                </a:solidFill>
                <a:latin typeface="Consolas"/>
              </a:rPr>
              <a:t> </a:t>
            </a:r>
            <a:r>
              <a:rPr sz="1100" i="0" b="0">
                <a:solidFill>
                  <a:srgbClr val="D4D4D4"/>
                </a:solidFill>
                <a:latin typeface="Consolas"/>
              </a:rPr>
              <a:t>veterinario</a:t>
            </a:r>
            <a:r>
              <a:rPr sz="1100" i="0" b="0">
                <a:solidFill>
                  <a:srgbClr val="D4D4D4"/>
                </a:solidFill>
                <a:latin typeface="Consolas"/>
              </a:rPr>
              <a:t> </a:t>
            </a:r>
            <a:r>
              <a:rPr sz="1100" i="0" b="0">
                <a:solidFill>
                  <a:srgbClr val="D4D4D4"/>
                </a:solidFill>
                <a:latin typeface="Consolas"/>
              </a:rPr>
              <a:t>esta</a:t>
            </a:r>
            <a:r>
              <a:rPr sz="1100" i="0" b="0">
                <a:solidFill>
                  <a:srgbClr val="D4D4D4"/>
                </a:solidFill>
                <a:latin typeface="Consolas"/>
              </a:rPr>
              <a:t> </a:t>
            </a:r>
            <a:r>
              <a:rPr sz="1100" i="0" b="0">
                <a:solidFill>
                  <a:srgbClr val="D4D4D4"/>
                </a:solidFill>
                <a:latin typeface="Consolas"/>
              </a:rPr>
              <a:t>autenticado</a:t>
            </a:r>
            <a:r>
              <a:rPr sz="1100" i="0" b="0">
                <a:solidFill>
                  <a:srgbClr val="D4D4D4"/>
                </a:solidFill>
                <a:latin typeface="Consolas"/>
              </a:rPr>
              <a:t> </a:t>
            </a:r>
            <a:r>
              <a:rPr sz="1100" i="0" b="0">
                <a:solidFill>
                  <a:srgbClr val="D4D4D4"/>
                </a:solidFill>
                <a:latin typeface="Consolas"/>
              </a:rPr>
              <a:t>y</a:t>
            </a:r>
            <a:r>
              <a:rPr sz="1100" i="0" b="0">
                <a:solidFill>
                  <a:srgbClr val="D4D4D4"/>
                </a:solidFill>
                <a:latin typeface="Consolas"/>
              </a:rPr>
              <a:t> </a:t>
            </a:r>
            <a:r>
              <a:rPr sz="1100" i="0" b="0">
                <a:solidFill>
                  <a:srgbClr val="D4D4D4"/>
                </a:solidFill>
                <a:latin typeface="Consolas"/>
              </a:rPr>
              <a:t>la</a:t>
            </a:r>
            <a:r>
              <a:rPr sz="1100" i="0" b="0">
                <a:solidFill>
                  <a:srgbClr val="D4D4D4"/>
                </a:solidFill>
                <a:latin typeface="Consolas"/>
              </a:rPr>
              <a:t> </a:t>
            </a:r>
            <a:r>
              <a:rPr sz="1100" i="0" b="0">
                <a:solidFill>
                  <a:srgbClr val="D4D4D4"/>
                </a:solidFill>
                <a:latin typeface="Consolas"/>
              </a:rPr>
              <a:t>mascota</a:t>
            </a:r>
            <a:r>
              <a:rPr sz="1100" i="0" b="0">
                <a:solidFill>
                  <a:srgbClr val="D4D4D4"/>
                </a:solidFill>
                <a:latin typeface="Consolas"/>
              </a:rPr>
              <a:t> </a:t>
            </a:r>
            <a:r>
              <a:rPr sz="1100" i="0" b="0">
                <a:solidFill>
                  <a:srgbClr val="D4D4D4"/>
                </a:solidFill>
                <a:latin typeface="Consolas"/>
              </a:rPr>
              <a:t>existe</a:t>
            </a:r>
            <a:r>
              <a:rPr sz="1100" i="0" b="0">
                <a:solidFill>
                  <a:srgbClr val="D4D4D4"/>
                </a:solidFill>
                <a:latin typeface="Consolas"/>
              </a:rPr>
              <a:t> </a:t>
            </a:r>
            <a:r>
              <a:rPr sz="1100" i="0" b="0">
                <a:solidFill>
                  <a:srgbClr val="D4D4D4"/>
                </a:solidFill>
                <a:latin typeface="Consolas"/>
              </a:rPr>
              <a:t>en</a:t>
            </a:r>
            <a:r>
              <a:rPr sz="1100" i="0" b="0">
                <a:solidFill>
                  <a:srgbClr val="D4D4D4"/>
                </a:solidFill>
                <a:latin typeface="Consolas"/>
              </a:rPr>
              <a:t> </a:t>
            </a:r>
            <a:r>
              <a:rPr sz="1100" i="0" b="0">
                <a:solidFill>
                  <a:srgbClr val="D4D4D4"/>
                </a:solidFill>
                <a:latin typeface="Consolas"/>
              </a:rPr>
              <a:t>el</a:t>
            </a:r>
            <a:r>
              <a:rPr sz="1100" i="0" b="0">
                <a:solidFill>
                  <a:srgbClr val="D4D4D4"/>
                </a:solidFill>
                <a:latin typeface="Consolas"/>
              </a:rPr>
              <a:t> </a:t>
            </a:r>
            <a:r>
              <a:rPr sz="1100" i="0" b="0">
                <a:solidFill>
                  <a:srgbClr val="D4D4D4"/>
                </a:solidFill>
                <a:latin typeface="Consolas"/>
              </a:rPr>
              <a:t>sistema</a:t>
            </a:r>
            <a:r>
              <a:rPr sz="1100" i="0" b="0">
                <a:solidFill>
                  <a:srgbClr val="D4D4D4"/>
                </a:solidFill>
                <a:latin typeface="Consolas"/>
              </a:rPr>
              <a:t>.</a:t>
            </a:r>
          </a:p>
          <a:p>
            <a:pPr>
              <a:spcAft>
                <a:spcPts val="235"/>
              </a:spcAft>
            </a:pPr>
            <a:r>
              <a:rPr sz="1100" i="0" b="0">
                <a:solidFill>
                  <a:srgbClr val="DCDCAA"/>
                </a:solidFill>
                <a:latin typeface="Consolas"/>
              </a:rPr>
              <a:t>Postcondicion</a:t>
            </a:r>
            <a:r>
              <a:rPr sz="1100" i="0" b="0">
                <a:solidFill>
                  <a:srgbClr val="D4D4D4"/>
                </a:solidFill>
                <a:latin typeface="Consolas"/>
              </a:rPr>
              <a:t> (</a:t>
            </a:r>
            <a:r>
              <a:rPr sz="1100" i="0" b="0">
                <a:solidFill>
                  <a:srgbClr val="D4D4D4"/>
                </a:solidFill>
                <a:latin typeface="Consolas"/>
              </a:rPr>
              <a:t>exito</a:t>
            </a:r>
            <a:r>
              <a:rPr sz="1100" i="0" b="0">
                <a:solidFill>
                  <a:srgbClr val="D4D4D4"/>
                </a:solidFill>
                <a:latin typeface="Consolas"/>
              </a:rPr>
              <a:t>): </a:t>
            </a:r>
            <a:r>
              <a:rPr sz="1100" i="0" b="0">
                <a:solidFill>
                  <a:srgbClr val="D4D4D4"/>
                </a:solidFill>
                <a:latin typeface="Consolas"/>
              </a:rPr>
              <a:t>el</a:t>
            </a:r>
            <a:r>
              <a:rPr sz="1100" i="0" b="0">
                <a:solidFill>
                  <a:srgbClr val="D4D4D4"/>
                </a:solidFill>
                <a:latin typeface="Consolas"/>
              </a:rPr>
              <a:t> </a:t>
            </a:r>
            <a:r>
              <a:rPr sz="1100" i="0" b="0">
                <a:solidFill>
                  <a:srgbClr val="D4D4D4"/>
                </a:solidFill>
                <a:latin typeface="Consolas"/>
              </a:rPr>
              <a:t>expediente</a:t>
            </a:r>
            <a:r>
              <a:rPr sz="1100" i="0" b="0">
                <a:solidFill>
                  <a:srgbClr val="D4D4D4"/>
                </a:solidFill>
                <a:latin typeface="Consolas"/>
              </a:rPr>
              <a:t> </a:t>
            </a:r>
            <a:r>
              <a:rPr sz="1100" i="0" b="0">
                <a:solidFill>
                  <a:srgbClr val="D4D4D4"/>
                </a:solidFill>
                <a:latin typeface="Consolas"/>
              </a:rPr>
              <a:t>queda</a:t>
            </a:r>
            <a:r>
              <a:rPr sz="1100" i="0" b="0">
                <a:solidFill>
                  <a:srgbClr val="D4D4D4"/>
                </a:solidFill>
                <a:latin typeface="Consolas"/>
              </a:rPr>
              <a:t> </a:t>
            </a:r>
            <a:r>
              <a:rPr sz="1100" i="0" b="0">
                <a:solidFill>
                  <a:srgbClr val="D4D4D4"/>
                </a:solidFill>
                <a:latin typeface="Consolas"/>
              </a:rPr>
              <a:t>desplegado</a:t>
            </a:r>
            <a:r>
              <a:rPr sz="1100" i="0" b="0">
                <a:solidFill>
                  <a:srgbClr val="D4D4D4"/>
                </a:solidFill>
                <a:latin typeface="Consolas"/>
              </a:rPr>
              <a:t> </a:t>
            </a:r>
            <a:r>
              <a:rPr sz="1100" i="0" b="0">
                <a:solidFill>
                  <a:srgbClr val="D4D4D4"/>
                </a:solidFill>
                <a:latin typeface="Consolas"/>
              </a:rPr>
              <a:t>y</a:t>
            </a:r>
            <a:r>
              <a:rPr sz="1100" i="0" b="0">
                <a:solidFill>
                  <a:srgbClr val="D4D4D4"/>
                </a:solidFill>
                <a:latin typeface="Consolas"/>
              </a:rPr>
              <a:t> </a:t>
            </a:r>
            <a:r>
              <a:rPr sz="1100" i="0" b="0">
                <a:solidFill>
                  <a:srgbClr val="D4D4D4"/>
                </a:solidFill>
                <a:latin typeface="Consolas"/>
              </a:rPr>
              <a:t>la</a:t>
            </a:r>
            <a:r>
              <a:rPr sz="1100" i="0" b="0">
                <a:solidFill>
                  <a:srgbClr val="D4D4D4"/>
                </a:solidFill>
                <a:latin typeface="Consolas"/>
              </a:rPr>
              <a:t> </a:t>
            </a:r>
            <a:r>
              <a:rPr sz="1100" i="0" b="0">
                <a:solidFill>
                  <a:srgbClr val="D4D4D4"/>
                </a:solidFill>
                <a:latin typeface="Consolas"/>
              </a:rPr>
              <a:t>consulta</a:t>
            </a:r>
            <a:r>
              <a:rPr sz="1100" i="0" b="0">
                <a:solidFill>
                  <a:srgbClr val="D4D4D4"/>
                </a:solidFill>
                <a:latin typeface="Consolas"/>
              </a:rPr>
              <a:t> </a:t>
            </a:r>
            <a:r>
              <a:rPr sz="1100" i="0" b="0">
                <a:solidFill>
                  <a:srgbClr val="D4D4D4"/>
                </a:solidFill>
                <a:latin typeface="Consolas"/>
              </a:rPr>
              <a:t>queda</a:t>
            </a:r>
            <a:r>
              <a:rPr sz="1100" i="0" b="0">
                <a:solidFill>
                  <a:srgbClr val="D4D4D4"/>
                </a:solidFill>
                <a:latin typeface="Consolas"/>
              </a:rPr>
              <a:t> </a:t>
            </a:r>
            <a:r>
              <a:rPr sz="1100" i="0" b="0">
                <a:solidFill>
                  <a:srgbClr val="D4D4D4"/>
                </a:solidFill>
                <a:latin typeface="Consolas"/>
              </a:rPr>
              <a:t>en</a:t>
            </a:r>
            <a:r>
              <a:rPr sz="1100" i="0" b="0">
                <a:solidFill>
                  <a:srgbClr val="D4D4D4"/>
                </a:solidFill>
                <a:latin typeface="Consolas"/>
              </a:rPr>
              <a:t> </a:t>
            </a:r>
            <a:r>
              <a:rPr sz="1100" i="0" b="0">
                <a:solidFill>
                  <a:srgbClr val="D4D4D4"/>
                </a:solidFill>
                <a:latin typeface="Consolas"/>
              </a:rPr>
              <a:t>bitacora</a:t>
            </a:r>
            <a:r>
              <a:rPr sz="1100" i="0" b="0">
                <a:solidFill>
                  <a:srgbClr val="D4D4D4"/>
                </a:solidFill>
                <a:latin typeface="Consolas"/>
              </a:rPr>
              <a:t>; </a:t>
            </a:r>
            <a:r>
              <a:rPr sz="1100" i="0" b="0">
                <a:solidFill>
                  <a:srgbClr val="D4D4D4"/>
                </a:solidFill>
                <a:latin typeface="Consolas"/>
              </a:rPr>
              <a:t>no</a:t>
            </a:r>
            <a:r>
              <a:rPr sz="1100" i="0" b="0">
                <a:solidFill>
                  <a:srgbClr val="D4D4D4"/>
                </a:solidFill>
                <a:latin typeface="Consolas"/>
              </a:rPr>
              <a:t> </a:t>
            </a:r>
            <a:r>
              <a:rPr sz="1100" i="0" b="0">
                <a:solidFill>
                  <a:srgbClr val="D4D4D4"/>
                </a:solidFill>
                <a:latin typeface="Consolas"/>
              </a:rPr>
              <a:t>se</a:t>
            </a:r>
            <a:r>
              <a:rPr sz="1100" i="0" b="0">
                <a:solidFill>
                  <a:srgbClr val="D4D4D4"/>
                </a:solidFill>
                <a:latin typeface="Consolas"/>
              </a:rPr>
              <a:t> </a:t>
            </a:r>
            <a:r>
              <a:rPr sz="1100" i="0" b="0">
                <a:solidFill>
                  <a:srgbClr val="D4D4D4"/>
                </a:solidFill>
                <a:latin typeface="Consolas"/>
              </a:rPr>
              <a:t>modifica</a:t>
            </a:r>
            <a:r>
              <a:rPr sz="1100" i="0" b="0">
                <a:solidFill>
                  <a:srgbClr val="D4D4D4"/>
                </a:solidFill>
                <a:latin typeface="Consolas"/>
              </a:rPr>
              <a:t> </a:t>
            </a:r>
            <a:r>
              <a:rPr sz="1100" i="0" b="0">
                <a:solidFill>
                  <a:srgbClr val="D4D4D4"/>
                </a:solidFill>
                <a:latin typeface="Consolas"/>
              </a:rPr>
              <a:t>ningun</a:t>
            </a:r>
            <a:r>
              <a:rPr sz="1100" i="0" b="0">
                <a:solidFill>
                  <a:srgbClr val="D4D4D4"/>
                </a:solidFill>
                <a:latin typeface="Consolas"/>
              </a:rPr>
              <a:t> </a:t>
            </a:r>
            <a:r>
              <a:rPr sz="1100" i="0" b="0">
                <a:solidFill>
                  <a:srgbClr val="D4D4D4"/>
                </a:solidFill>
                <a:latin typeface="Consolas"/>
              </a:rPr>
              <a:t>dato</a:t>
            </a:r>
            <a:r>
              <a:rPr sz="1100" i="0" b="0">
                <a:solidFill>
                  <a:srgbClr val="D4D4D4"/>
                </a:solidFill>
                <a:latin typeface="Consolas"/>
              </a:rPr>
              <a:t> </a:t>
            </a:r>
            <a:r>
              <a:rPr sz="1100" i="0" b="0">
                <a:solidFill>
                  <a:srgbClr val="D4D4D4"/>
                </a:solidFill>
                <a:latin typeface="Consolas"/>
              </a:rPr>
              <a:t>clinico</a:t>
            </a:r>
            <a:r>
              <a:rPr sz="1100" i="0" b="0">
                <a:solidFill>
                  <a:srgbClr val="D4D4D4"/>
                </a:solidFill>
                <a:latin typeface="Consolas"/>
              </a:rPr>
              <a:t>.</a:t>
            </a:r>
          </a:p>
          <a:p>
            <a:pPr>
              <a:spcAft>
                <a:spcPts val="235"/>
              </a:spcAft>
            </a:pPr>
            <a:r>
              <a:rPr sz="1100" i="0" b="0">
                <a:solidFill>
                  <a:srgbClr val="D4D4D4"/>
                </a:solidFill>
                <a:latin typeface="Consolas"/>
              </a:rPr>
              <a:t>Flujo</a:t>
            </a:r>
            <a:r>
              <a:rPr sz="1100" i="0" b="0">
                <a:solidFill>
                  <a:srgbClr val="D4D4D4"/>
                </a:solidFill>
                <a:latin typeface="Consolas"/>
              </a:rPr>
              <a:t> </a:t>
            </a:r>
            <a:r>
              <a:rPr sz="1100" i="0" b="0">
                <a:solidFill>
                  <a:srgbClr val="D4D4D4"/>
                </a:solidFill>
                <a:latin typeface="Consolas"/>
              </a:rPr>
              <a:t>principal</a:t>
            </a:r>
            <a:r>
              <a:rPr sz="1100" i="0" b="0">
                <a:solidFill>
                  <a:srgbClr val="D4D4D4"/>
                </a:solidFill>
                <a:latin typeface="Consolas"/>
              </a:rPr>
              <a:t>:</a:t>
            </a:r>
          </a:p>
          <a:p>
            <a:pPr>
              <a:spcAft>
                <a:spcPts val="235"/>
              </a:spcAft>
            </a:pPr>
            <a:r>
              <a:rPr sz="1100" i="0" b="0">
                <a:solidFill>
                  <a:srgbClr val="D4D4D4"/>
                </a:solidFill>
                <a:latin typeface="Consolas"/>
              </a:rPr>
              <a:t>  </a:t>
            </a:r>
            <a:r>
              <a:rPr sz="1100" i="0" b="0">
                <a:solidFill>
                  <a:srgbClr val="B5CEA8"/>
                </a:solidFill>
                <a:latin typeface="Consolas"/>
              </a:rPr>
              <a:t>1</a:t>
            </a:r>
            <a:r>
              <a:rPr sz="1100" i="0" b="0">
                <a:solidFill>
                  <a:srgbClr val="D4D4D4"/>
                </a:solidFill>
                <a:latin typeface="Consolas"/>
              </a:rPr>
              <a:t>. </a:t>
            </a:r>
            <a:r>
              <a:rPr sz="1100" i="0" b="0">
                <a:solidFill>
                  <a:srgbClr val="D4D4D4"/>
                </a:solidFill>
                <a:latin typeface="Consolas"/>
              </a:rPr>
              <a:t>El</a:t>
            </a:r>
            <a:r>
              <a:rPr sz="1100" i="0" b="0">
                <a:solidFill>
                  <a:srgbClr val="D4D4D4"/>
                </a:solidFill>
                <a:latin typeface="Consolas"/>
              </a:rPr>
              <a:t> </a:t>
            </a:r>
            <a:r>
              <a:rPr sz="1100" i="0" b="0">
                <a:solidFill>
                  <a:srgbClr val="D4D4D4"/>
                </a:solidFill>
                <a:latin typeface="Consolas"/>
              </a:rPr>
              <a:t>veterinario</a:t>
            </a:r>
            <a:r>
              <a:rPr sz="1100" i="0" b="0">
                <a:solidFill>
                  <a:srgbClr val="D4D4D4"/>
                </a:solidFill>
                <a:latin typeface="Consolas"/>
              </a:rPr>
              <a:t> </a:t>
            </a:r>
            <a:r>
              <a:rPr sz="1100" i="0" b="0">
                <a:solidFill>
                  <a:srgbClr val="D4D4D4"/>
                </a:solidFill>
                <a:latin typeface="Consolas"/>
              </a:rPr>
              <a:t>digita</a:t>
            </a:r>
            <a:r>
              <a:rPr sz="1100" i="0" b="0">
                <a:solidFill>
                  <a:srgbClr val="D4D4D4"/>
                </a:solidFill>
                <a:latin typeface="Consolas"/>
              </a:rPr>
              <a:t> </a:t>
            </a:r>
            <a:r>
              <a:rPr sz="1100" i="0" b="0">
                <a:solidFill>
                  <a:srgbClr val="D4D4D4"/>
                </a:solidFill>
                <a:latin typeface="Consolas"/>
              </a:rPr>
              <a:t>codigo</a:t>
            </a:r>
            <a:r>
              <a:rPr sz="1100" i="0" b="0">
                <a:solidFill>
                  <a:srgbClr val="D4D4D4"/>
                </a:solidFill>
                <a:latin typeface="Consolas"/>
              </a:rPr>
              <a:t>, </a:t>
            </a:r>
            <a:r>
              <a:rPr sz="1100" i="0" b="0">
                <a:solidFill>
                  <a:srgbClr val="D4D4D4"/>
                </a:solidFill>
                <a:latin typeface="Consolas"/>
              </a:rPr>
              <a:t>nombre</a:t>
            </a:r>
            <a:r>
              <a:rPr sz="1100" i="0" b="0">
                <a:solidFill>
                  <a:srgbClr val="D4D4D4"/>
                </a:solidFill>
                <a:latin typeface="Consolas"/>
              </a:rPr>
              <a:t> </a:t>
            </a:r>
            <a:r>
              <a:rPr sz="1100" i="0" b="0">
                <a:solidFill>
                  <a:srgbClr val="D4D4D4"/>
                </a:solidFill>
                <a:latin typeface="Consolas"/>
              </a:rPr>
              <a:t>de</a:t>
            </a:r>
            <a:r>
              <a:rPr sz="1100" i="0" b="0">
                <a:solidFill>
                  <a:srgbClr val="D4D4D4"/>
                </a:solidFill>
                <a:latin typeface="Consolas"/>
              </a:rPr>
              <a:t> </a:t>
            </a:r>
            <a:r>
              <a:rPr sz="1100" i="0" b="0">
                <a:solidFill>
                  <a:srgbClr val="D4D4D4"/>
                </a:solidFill>
                <a:latin typeface="Consolas"/>
              </a:rPr>
              <a:t>mascota</a:t>
            </a:r>
            <a:r>
              <a:rPr sz="1100" i="0" b="0">
                <a:solidFill>
                  <a:srgbClr val="D4D4D4"/>
                </a:solidFill>
                <a:latin typeface="Consolas"/>
              </a:rPr>
              <a:t> </a:t>
            </a:r>
            <a:r>
              <a:rPr sz="1100" i="0" b="0">
                <a:solidFill>
                  <a:srgbClr val="D4D4D4"/>
                </a:solidFill>
                <a:latin typeface="Consolas"/>
              </a:rPr>
              <a:t>o</a:t>
            </a:r>
            <a:r>
              <a:rPr sz="1100" i="0" b="0">
                <a:solidFill>
                  <a:srgbClr val="D4D4D4"/>
                </a:solidFill>
                <a:latin typeface="Consolas"/>
              </a:rPr>
              <a:t> </a:t>
            </a:r>
            <a:r>
              <a:rPr sz="1100" i="0" b="0">
                <a:solidFill>
                  <a:srgbClr val="D4D4D4"/>
                </a:solidFill>
                <a:latin typeface="Consolas"/>
              </a:rPr>
              <a:t>documento</a:t>
            </a:r>
            <a:r>
              <a:rPr sz="1100" i="0" b="0">
                <a:solidFill>
                  <a:srgbClr val="D4D4D4"/>
                </a:solidFill>
                <a:latin typeface="Consolas"/>
              </a:rPr>
              <a:t> </a:t>
            </a:r>
            <a:r>
              <a:rPr sz="1100" i="0" b="0">
                <a:solidFill>
                  <a:srgbClr val="D4D4D4"/>
                </a:solidFill>
                <a:latin typeface="Consolas"/>
              </a:rPr>
              <a:t>del</a:t>
            </a:r>
            <a:r>
              <a:rPr sz="1100" i="0" b="0">
                <a:solidFill>
                  <a:srgbClr val="D4D4D4"/>
                </a:solidFill>
                <a:latin typeface="Consolas"/>
              </a:rPr>
              <a:t> </a:t>
            </a:r>
            <a:r>
              <a:rPr sz="1100" i="0" b="0">
                <a:solidFill>
                  <a:srgbClr val="D4D4D4"/>
                </a:solidFill>
                <a:latin typeface="Consolas"/>
              </a:rPr>
              <a:t>propietario</a:t>
            </a:r>
            <a:r>
              <a:rPr sz="1100" i="0" b="0">
                <a:solidFill>
                  <a:srgbClr val="D4D4D4"/>
                </a:solidFill>
                <a:latin typeface="Consolas"/>
              </a:rPr>
              <a:t>.</a:t>
            </a:r>
          </a:p>
          <a:p>
            <a:pPr>
              <a:spcAft>
                <a:spcPts val="235"/>
              </a:spcAft>
            </a:pPr>
            <a:r>
              <a:rPr sz="1100" i="0" b="0">
                <a:solidFill>
                  <a:srgbClr val="D4D4D4"/>
                </a:solidFill>
                <a:latin typeface="Consolas"/>
              </a:rPr>
              <a:t>  </a:t>
            </a:r>
            <a:r>
              <a:rPr sz="1100" i="0" b="0">
                <a:solidFill>
                  <a:srgbClr val="B5CEA8"/>
                </a:solidFill>
                <a:latin typeface="Consolas"/>
              </a:rPr>
              <a:t>2</a:t>
            </a:r>
            <a:r>
              <a:rPr sz="1100" i="0" b="0">
                <a:solidFill>
                  <a:srgbClr val="D4D4D4"/>
                </a:solidFill>
                <a:latin typeface="Consolas"/>
              </a:rPr>
              <a:t>. </a:t>
            </a:r>
            <a:r>
              <a:rPr sz="1100" i="0" b="0">
                <a:solidFill>
                  <a:srgbClr val="D4D4D4"/>
                </a:solidFill>
                <a:latin typeface="Consolas"/>
              </a:rPr>
              <a:t>El</a:t>
            </a:r>
            <a:r>
              <a:rPr sz="1100" i="0" b="0">
                <a:solidFill>
                  <a:srgbClr val="D4D4D4"/>
                </a:solidFill>
                <a:latin typeface="Consolas"/>
              </a:rPr>
              <a:t> </a:t>
            </a:r>
            <a:r>
              <a:rPr sz="1100" i="0" b="0">
                <a:solidFill>
                  <a:srgbClr val="D4D4D4"/>
                </a:solidFill>
                <a:latin typeface="Consolas"/>
              </a:rPr>
              <a:t>sistema</a:t>
            </a:r>
            <a:r>
              <a:rPr sz="1100" i="0" b="0">
                <a:solidFill>
                  <a:srgbClr val="D4D4D4"/>
                </a:solidFill>
                <a:latin typeface="Consolas"/>
              </a:rPr>
              <a:t> </a:t>
            </a:r>
            <a:r>
              <a:rPr sz="1100" i="0" b="0">
                <a:solidFill>
                  <a:srgbClr val="D4D4D4"/>
                </a:solidFill>
                <a:latin typeface="Consolas"/>
              </a:rPr>
              <a:t>devuelve</a:t>
            </a:r>
            <a:r>
              <a:rPr sz="1100" i="0" b="0">
                <a:solidFill>
                  <a:srgbClr val="D4D4D4"/>
                </a:solidFill>
                <a:latin typeface="Consolas"/>
              </a:rPr>
              <a:t> </a:t>
            </a:r>
            <a:r>
              <a:rPr sz="1100" i="0" b="0">
                <a:solidFill>
                  <a:srgbClr val="D4D4D4"/>
                </a:solidFill>
                <a:latin typeface="Consolas"/>
              </a:rPr>
              <a:t>la</a:t>
            </a:r>
            <a:r>
              <a:rPr sz="1100" i="0" b="0">
                <a:solidFill>
                  <a:srgbClr val="D4D4D4"/>
                </a:solidFill>
                <a:latin typeface="Consolas"/>
              </a:rPr>
              <a:t> </a:t>
            </a:r>
            <a:r>
              <a:rPr sz="1100" i="0" b="0">
                <a:solidFill>
                  <a:srgbClr val="D4D4D4"/>
                </a:solidFill>
                <a:latin typeface="Consolas"/>
              </a:rPr>
              <a:t>lista</a:t>
            </a:r>
            <a:r>
              <a:rPr sz="1100" i="0" b="0">
                <a:solidFill>
                  <a:srgbClr val="D4D4D4"/>
                </a:solidFill>
                <a:latin typeface="Consolas"/>
              </a:rPr>
              <a:t> </a:t>
            </a:r>
            <a:r>
              <a:rPr sz="1100" i="0" b="0">
                <a:solidFill>
                  <a:srgbClr val="D4D4D4"/>
                </a:solidFill>
                <a:latin typeface="Consolas"/>
              </a:rPr>
              <a:t>de</a:t>
            </a:r>
            <a:r>
              <a:rPr sz="1100" i="0" b="0">
                <a:solidFill>
                  <a:srgbClr val="D4D4D4"/>
                </a:solidFill>
                <a:latin typeface="Consolas"/>
              </a:rPr>
              <a:t> </a:t>
            </a:r>
            <a:r>
              <a:rPr sz="1100" i="0" b="0">
                <a:solidFill>
                  <a:srgbClr val="D4D4D4"/>
                </a:solidFill>
                <a:latin typeface="Consolas"/>
              </a:rPr>
              <a:t>coincidencias</a:t>
            </a:r>
            <a:r>
              <a:rPr sz="1100" i="0" b="0">
                <a:solidFill>
                  <a:srgbClr val="D4D4D4"/>
                </a:solidFill>
                <a:latin typeface="Consolas"/>
              </a:rPr>
              <a:t> </a:t>
            </a:r>
            <a:r>
              <a:rPr sz="1100" i="0" b="0">
                <a:solidFill>
                  <a:srgbClr val="D4D4D4"/>
                </a:solidFill>
                <a:latin typeface="Consolas"/>
              </a:rPr>
              <a:t>en</a:t>
            </a:r>
            <a:r>
              <a:rPr sz="1100" i="0" b="0">
                <a:solidFill>
                  <a:srgbClr val="D4D4D4"/>
                </a:solidFill>
                <a:latin typeface="Consolas"/>
              </a:rPr>
              <a:t> </a:t>
            </a:r>
            <a:r>
              <a:rPr sz="1100" i="0" b="0">
                <a:solidFill>
                  <a:srgbClr val="D4D4D4"/>
                </a:solidFill>
                <a:latin typeface="Consolas"/>
              </a:rPr>
              <a:t>menos</a:t>
            </a:r>
            <a:r>
              <a:rPr sz="1100" i="0" b="0">
                <a:solidFill>
                  <a:srgbClr val="D4D4D4"/>
                </a:solidFill>
                <a:latin typeface="Consolas"/>
              </a:rPr>
              <a:t> </a:t>
            </a:r>
            <a:r>
              <a:rPr sz="1100" i="0" b="0">
                <a:solidFill>
                  <a:srgbClr val="D4D4D4"/>
                </a:solidFill>
                <a:latin typeface="Consolas"/>
              </a:rPr>
              <a:t>de</a:t>
            </a:r>
            <a:r>
              <a:rPr sz="1100" i="0" b="0">
                <a:solidFill>
                  <a:srgbClr val="D4D4D4"/>
                </a:solidFill>
                <a:latin typeface="Consolas"/>
              </a:rPr>
              <a:t> </a:t>
            </a:r>
            <a:r>
              <a:rPr sz="1100" i="0" b="0">
                <a:solidFill>
                  <a:srgbClr val="B5CEA8"/>
                </a:solidFill>
                <a:latin typeface="Consolas"/>
              </a:rPr>
              <a:t>3</a:t>
            </a:r>
            <a:r>
              <a:rPr sz="1100" i="0" b="0">
                <a:solidFill>
                  <a:srgbClr val="D4D4D4"/>
                </a:solidFill>
                <a:latin typeface="Consolas"/>
              </a:rPr>
              <a:t> </a:t>
            </a:r>
            <a:r>
              <a:rPr sz="1100" i="0" b="0">
                <a:solidFill>
                  <a:srgbClr val="DCDCAA"/>
                </a:solidFill>
                <a:latin typeface="Consolas"/>
              </a:rPr>
              <a:t>segundos</a:t>
            </a:r>
            <a:r>
              <a:rPr sz="1100" i="0" b="0">
                <a:solidFill>
                  <a:srgbClr val="D4D4D4"/>
                </a:solidFill>
                <a:latin typeface="Consolas"/>
              </a:rPr>
              <a:t> (</a:t>
            </a:r>
            <a:r>
              <a:rPr sz="1100" i="0" b="0">
                <a:solidFill>
                  <a:srgbClr val="D4D4D4"/>
                </a:solidFill>
                <a:latin typeface="Consolas"/>
              </a:rPr>
              <a:t>RNF</a:t>
            </a:r>
            <a:r>
              <a:rPr sz="1100" i="0" b="0">
                <a:solidFill>
                  <a:srgbClr val="D4D4D4"/>
                </a:solidFill>
                <a:latin typeface="Consolas"/>
              </a:rPr>
              <a:t>-</a:t>
            </a:r>
            <a:r>
              <a:rPr sz="1100" i="0" b="0">
                <a:solidFill>
                  <a:srgbClr val="B5CEA8"/>
                </a:solidFill>
                <a:latin typeface="Consolas"/>
              </a:rPr>
              <a:t>02</a:t>
            </a:r>
            <a:r>
              <a:rPr sz="1100" i="0" b="0">
                <a:solidFill>
                  <a:srgbClr val="D4D4D4"/>
                </a:solidFill>
                <a:latin typeface="Consolas"/>
              </a:rPr>
              <a:t>).</a:t>
            </a:r>
          </a:p>
          <a:p>
            <a:pPr>
              <a:spcAft>
                <a:spcPts val="235"/>
              </a:spcAft>
            </a:pPr>
            <a:r>
              <a:rPr sz="1100" i="0" b="0">
                <a:solidFill>
                  <a:srgbClr val="D4D4D4"/>
                </a:solidFill>
                <a:latin typeface="Consolas"/>
              </a:rPr>
              <a:t>  </a:t>
            </a:r>
            <a:r>
              <a:rPr sz="1100" i="0" b="0">
                <a:solidFill>
                  <a:srgbClr val="B5CEA8"/>
                </a:solidFill>
                <a:latin typeface="Consolas"/>
              </a:rPr>
              <a:t>3</a:t>
            </a:r>
            <a:r>
              <a:rPr sz="1100" i="0" b="0">
                <a:solidFill>
                  <a:srgbClr val="D4D4D4"/>
                </a:solidFill>
                <a:latin typeface="Consolas"/>
              </a:rPr>
              <a:t>. </a:t>
            </a:r>
            <a:r>
              <a:rPr sz="1100" i="0" b="0">
                <a:solidFill>
                  <a:srgbClr val="D4D4D4"/>
                </a:solidFill>
                <a:latin typeface="Consolas"/>
              </a:rPr>
              <a:t>El</a:t>
            </a:r>
            <a:r>
              <a:rPr sz="1100" i="0" b="0">
                <a:solidFill>
                  <a:srgbClr val="D4D4D4"/>
                </a:solidFill>
                <a:latin typeface="Consolas"/>
              </a:rPr>
              <a:t> </a:t>
            </a:r>
            <a:r>
              <a:rPr sz="1100" i="0" b="0">
                <a:solidFill>
                  <a:srgbClr val="D4D4D4"/>
                </a:solidFill>
                <a:latin typeface="Consolas"/>
              </a:rPr>
              <a:t>veterinario</a:t>
            </a:r>
            <a:r>
              <a:rPr sz="1100" i="0" b="0">
                <a:solidFill>
                  <a:srgbClr val="D4D4D4"/>
                </a:solidFill>
                <a:latin typeface="Consolas"/>
              </a:rPr>
              <a:t> </a:t>
            </a:r>
            <a:r>
              <a:rPr sz="1100" i="0" b="0">
                <a:solidFill>
                  <a:srgbClr val="D4D4D4"/>
                </a:solidFill>
                <a:latin typeface="Consolas"/>
              </a:rPr>
              <a:t>selecciona</a:t>
            </a:r>
            <a:r>
              <a:rPr sz="1100" i="0" b="0">
                <a:solidFill>
                  <a:srgbClr val="D4D4D4"/>
                </a:solidFill>
                <a:latin typeface="Consolas"/>
              </a:rPr>
              <a:t> </a:t>
            </a:r>
            <a:r>
              <a:rPr sz="1100" i="0" b="0">
                <a:solidFill>
                  <a:srgbClr val="D4D4D4"/>
                </a:solidFill>
                <a:latin typeface="Consolas"/>
              </a:rPr>
              <a:t>una</a:t>
            </a:r>
            <a:r>
              <a:rPr sz="1100" i="0" b="0">
                <a:solidFill>
                  <a:srgbClr val="D4D4D4"/>
                </a:solidFill>
                <a:latin typeface="Consolas"/>
              </a:rPr>
              <a:t> </a:t>
            </a:r>
            <a:r>
              <a:rPr sz="1100" i="0" b="0">
                <a:solidFill>
                  <a:srgbClr val="D4D4D4"/>
                </a:solidFill>
                <a:latin typeface="Consolas"/>
              </a:rPr>
              <a:t>mascota</a:t>
            </a:r>
            <a:r>
              <a:rPr sz="1100" i="0" b="0">
                <a:solidFill>
                  <a:srgbClr val="D4D4D4"/>
                </a:solidFill>
                <a:latin typeface="Consolas"/>
              </a:rPr>
              <a:t> </a:t>
            </a:r>
            <a:r>
              <a:rPr sz="1100" i="0" b="0">
                <a:solidFill>
                  <a:srgbClr val="D4D4D4"/>
                </a:solidFill>
                <a:latin typeface="Consolas"/>
              </a:rPr>
              <a:t>de</a:t>
            </a:r>
            <a:r>
              <a:rPr sz="1100" i="0" b="0">
                <a:solidFill>
                  <a:srgbClr val="D4D4D4"/>
                </a:solidFill>
                <a:latin typeface="Consolas"/>
              </a:rPr>
              <a:t> </a:t>
            </a:r>
            <a:r>
              <a:rPr sz="1100" i="0" b="0">
                <a:solidFill>
                  <a:srgbClr val="D4D4D4"/>
                </a:solidFill>
                <a:latin typeface="Consolas"/>
              </a:rPr>
              <a:t>la</a:t>
            </a:r>
            <a:r>
              <a:rPr sz="1100" i="0" b="0">
                <a:solidFill>
                  <a:srgbClr val="D4D4D4"/>
                </a:solidFill>
                <a:latin typeface="Consolas"/>
              </a:rPr>
              <a:t> </a:t>
            </a:r>
            <a:r>
              <a:rPr sz="1100" i="0" b="0">
                <a:solidFill>
                  <a:srgbClr val="D4D4D4"/>
                </a:solidFill>
                <a:latin typeface="Consolas"/>
              </a:rPr>
              <a:t>lista</a:t>
            </a:r>
            <a:r>
              <a:rPr sz="1100" i="0" b="0">
                <a:solidFill>
                  <a:srgbClr val="D4D4D4"/>
                </a:solidFill>
                <a:latin typeface="Consolas"/>
              </a:rPr>
              <a:t>.</a:t>
            </a:r>
          </a:p>
          <a:p>
            <a:pPr>
              <a:spcAft>
                <a:spcPts val="235"/>
              </a:spcAft>
            </a:pPr>
            <a:r>
              <a:rPr sz="1100" i="0" b="0">
                <a:solidFill>
                  <a:srgbClr val="D4D4D4"/>
                </a:solidFill>
                <a:latin typeface="Consolas"/>
              </a:rPr>
              <a:t>  </a:t>
            </a:r>
            <a:r>
              <a:rPr sz="1100" i="0" b="0">
                <a:solidFill>
                  <a:srgbClr val="B5CEA8"/>
                </a:solidFill>
                <a:latin typeface="Consolas"/>
              </a:rPr>
              <a:t>4</a:t>
            </a:r>
            <a:r>
              <a:rPr sz="1100" i="0" b="0">
                <a:solidFill>
                  <a:srgbClr val="D4D4D4"/>
                </a:solidFill>
                <a:latin typeface="Consolas"/>
              </a:rPr>
              <a:t>. </a:t>
            </a:r>
            <a:r>
              <a:rPr sz="1100" i="0" b="0">
                <a:solidFill>
                  <a:srgbClr val="D4D4D4"/>
                </a:solidFill>
                <a:latin typeface="Consolas"/>
              </a:rPr>
              <a:t>El</a:t>
            </a:r>
            <a:r>
              <a:rPr sz="1100" i="0" b="0">
                <a:solidFill>
                  <a:srgbClr val="D4D4D4"/>
                </a:solidFill>
                <a:latin typeface="Consolas"/>
              </a:rPr>
              <a:t> </a:t>
            </a:r>
            <a:r>
              <a:rPr sz="1100" i="0" b="0">
                <a:solidFill>
                  <a:srgbClr val="D4D4D4"/>
                </a:solidFill>
                <a:latin typeface="Consolas"/>
              </a:rPr>
              <a:t>sistema</a:t>
            </a:r>
            <a:r>
              <a:rPr sz="1100" i="0" b="0">
                <a:solidFill>
                  <a:srgbClr val="D4D4D4"/>
                </a:solidFill>
                <a:latin typeface="Consolas"/>
              </a:rPr>
              <a:t> </a:t>
            </a:r>
            <a:r>
              <a:rPr sz="1100" i="0" b="0">
                <a:solidFill>
                  <a:srgbClr val="D4D4D4"/>
                </a:solidFill>
                <a:latin typeface="Consolas"/>
              </a:rPr>
              <a:t>muestra</a:t>
            </a:r>
            <a:r>
              <a:rPr sz="1100" i="0" b="0">
                <a:solidFill>
                  <a:srgbClr val="D4D4D4"/>
                </a:solidFill>
                <a:latin typeface="Consolas"/>
              </a:rPr>
              <a:t> </a:t>
            </a:r>
            <a:r>
              <a:rPr sz="1100" i="0" b="0">
                <a:solidFill>
                  <a:srgbClr val="D4D4D4"/>
                </a:solidFill>
                <a:latin typeface="Consolas"/>
              </a:rPr>
              <a:t>ficha</a:t>
            </a:r>
            <a:r>
              <a:rPr sz="1100" i="0" b="0">
                <a:solidFill>
                  <a:srgbClr val="D4D4D4"/>
                </a:solidFill>
                <a:latin typeface="Consolas"/>
              </a:rPr>
              <a:t>, </a:t>
            </a:r>
            <a:r>
              <a:rPr sz="1100" i="0" b="0">
                <a:solidFill>
                  <a:srgbClr val="D4D4D4"/>
                </a:solidFill>
                <a:latin typeface="Consolas"/>
              </a:rPr>
              <a:t>historial</a:t>
            </a:r>
            <a:r>
              <a:rPr sz="1100" i="0" b="0">
                <a:solidFill>
                  <a:srgbClr val="D4D4D4"/>
                </a:solidFill>
                <a:latin typeface="Consolas"/>
              </a:rPr>
              <a:t> </a:t>
            </a:r>
            <a:r>
              <a:rPr sz="1100" i="0" b="0">
                <a:solidFill>
                  <a:srgbClr val="D4D4D4"/>
                </a:solidFill>
                <a:latin typeface="Consolas"/>
              </a:rPr>
              <a:t>de</a:t>
            </a:r>
            <a:r>
              <a:rPr sz="1100" i="0" b="0">
                <a:solidFill>
                  <a:srgbClr val="D4D4D4"/>
                </a:solidFill>
                <a:latin typeface="Consolas"/>
              </a:rPr>
              <a:t> </a:t>
            </a:r>
            <a:r>
              <a:rPr sz="1100" i="0" b="0">
                <a:solidFill>
                  <a:srgbClr val="D4D4D4"/>
                </a:solidFill>
                <a:latin typeface="Consolas"/>
              </a:rPr>
              <a:t>consultas</a:t>
            </a:r>
            <a:r>
              <a:rPr sz="1100" i="0" b="0">
                <a:solidFill>
                  <a:srgbClr val="D4D4D4"/>
                </a:solidFill>
                <a:latin typeface="Consolas"/>
              </a:rPr>
              <a:t> </a:t>
            </a:r>
            <a:r>
              <a:rPr sz="1100" i="0" b="0">
                <a:solidFill>
                  <a:srgbClr val="D4D4D4"/>
                </a:solidFill>
                <a:latin typeface="Consolas"/>
              </a:rPr>
              <a:t>y</a:t>
            </a:r>
            <a:r>
              <a:rPr sz="1100" i="0" b="0">
                <a:solidFill>
                  <a:srgbClr val="D4D4D4"/>
                </a:solidFill>
                <a:latin typeface="Consolas"/>
              </a:rPr>
              <a:t> </a:t>
            </a:r>
            <a:r>
              <a:rPr sz="1100" i="0" b="0">
                <a:solidFill>
                  <a:srgbClr val="D4D4D4"/>
                </a:solidFill>
                <a:latin typeface="Consolas"/>
              </a:rPr>
              <a:t>vacunas</a:t>
            </a:r>
            <a:r>
              <a:rPr sz="1100" i="0" b="0">
                <a:solidFill>
                  <a:srgbClr val="D4D4D4"/>
                </a:solidFill>
                <a:latin typeface="Consolas"/>
              </a:rPr>
              <a:t> </a:t>
            </a:r>
            <a:r>
              <a:rPr sz="1100" i="0" b="0">
                <a:solidFill>
                  <a:srgbClr val="D4D4D4"/>
                </a:solidFill>
                <a:latin typeface="Consolas"/>
              </a:rPr>
              <a:t>en</a:t>
            </a:r>
            <a:r>
              <a:rPr sz="1100" i="0" b="0">
                <a:solidFill>
                  <a:srgbClr val="D4D4D4"/>
                </a:solidFill>
                <a:latin typeface="Consolas"/>
              </a:rPr>
              <a:t> </a:t>
            </a:r>
            <a:r>
              <a:rPr sz="1100" i="0" b="0">
                <a:solidFill>
                  <a:srgbClr val="D4D4D4"/>
                </a:solidFill>
                <a:latin typeface="Consolas"/>
              </a:rPr>
              <a:t>orden</a:t>
            </a:r>
            <a:r>
              <a:rPr sz="1100" i="0" b="0">
                <a:solidFill>
                  <a:srgbClr val="D4D4D4"/>
                </a:solidFill>
                <a:latin typeface="Consolas"/>
              </a:rPr>
              <a:t> </a:t>
            </a:r>
            <a:r>
              <a:rPr sz="1100" i="0" b="0">
                <a:solidFill>
                  <a:srgbClr val="D4D4D4"/>
                </a:solidFill>
                <a:latin typeface="Consolas"/>
              </a:rPr>
              <a:t>cronologico</a:t>
            </a:r>
            <a:r>
              <a:rPr sz="1100" i="0" b="0">
                <a:solidFill>
                  <a:srgbClr val="D4D4D4"/>
                </a:solidFill>
                <a:latin typeface="Consolas"/>
              </a:rPr>
              <a:t>.</a:t>
            </a:r>
          </a:p>
          <a:p>
            <a:pPr>
              <a:spcAft>
                <a:spcPts val="235"/>
              </a:spcAft>
            </a:pPr>
            <a:r>
              <a:rPr sz="1100" i="0" b="0">
                <a:solidFill>
                  <a:srgbClr val="D4D4D4"/>
                </a:solidFill>
                <a:latin typeface="Consolas"/>
              </a:rPr>
              <a:t>Flujos</a:t>
            </a:r>
            <a:r>
              <a:rPr sz="1100" i="0" b="0">
                <a:solidFill>
                  <a:srgbClr val="D4D4D4"/>
                </a:solidFill>
                <a:latin typeface="Consolas"/>
              </a:rPr>
              <a:t> </a:t>
            </a:r>
            <a:r>
              <a:rPr sz="1100" i="0" b="0">
                <a:solidFill>
                  <a:srgbClr val="D4D4D4"/>
                </a:solidFill>
                <a:latin typeface="Consolas"/>
              </a:rPr>
              <a:t>alternos</a:t>
            </a:r>
            <a:r>
              <a:rPr sz="1100" i="0" b="0">
                <a:solidFill>
                  <a:srgbClr val="D4D4D4"/>
                </a:solidFill>
                <a:latin typeface="Consolas"/>
              </a:rPr>
              <a:t>:</a:t>
            </a:r>
          </a:p>
          <a:p>
            <a:pPr>
              <a:spcAft>
                <a:spcPts val="235"/>
              </a:spcAft>
            </a:pPr>
            <a:r>
              <a:rPr sz="1100" i="0" b="0">
                <a:solidFill>
                  <a:srgbClr val="D4D4D4"/>
                </a:solidFill>
                <a:latin typeface="Consolas"/>
              </a:rPr>
              <a:t>  2</a:t>
            </a:r>
            <a:r>
              <a:rPr sz="1100" i="0" b="0">
                <a:solidFill>
                  <a:srgbClr val="D4D4D4"/>
                </a:solidFill>
                <a:latin typeface="Consolas"/>
              </a:rPr>
              <a:t>a</a:t>
            </a:r>
            <a:r>
              <a:rPr sz="1100" i="0" b="0">
                <a:solidFill>
                  <a:srgbClr val="D4D4D4"/>
                </a:solidFill>
                <a:latin typeface="Consolas"/>
              </a:rPr>
              <a:t>. </a:t>
            </a:r>
            <a:r>
              <a:rPr sz="1100" i="0" b="0">
                <a:solidFill>
                  <a:srgbClr val="D4D4D4"/>
                </a:solidFill>
                <a:latin typeface="Consolas"/>
              </a:rPr>
              <a:t>Sin</a:t>
            </a:r>
            <a:r>
              <a:rPr sz="1100" i="0" b="0">
                <a:solidFill>
                  <a:srgbClr val="D4D4D4"/>
                </a:solidFill>
                <a:latin typeface="Consolas"/>
              </a:rPr>
              <a:t> </a:t>
            </a:r>
            <a:r>
              <a:rPr sz="1100" i="0" b="0">
                <a:solidFill>
                  <a:srgbClr val="D4D4D4"/>
                </a:solidFill>
                <a:latin typeface="Consolas"/>
              </a:rPr>
              <a:t>coincidencias</a:t>
            </a:r>
            <a:r>
              <a:rPr sz="1100" i="0" b="0">
                <a:solidFill>
                  <a:srgbClr val="D4D4D4"/>
                </a:solidFill>
                <a:latin typeface="Consolas"/>
              </a:rPr>
              <a:t>: </a:t>
            </a:r>
            <a:r>
              <a:rPr sz="1100" i="0" b="0">
                <a:solidFill>
                  <a:srgbClr val="D4D4D4"/>
                </a:solidFill>
                <a:latin typeface="Consolas"/>
              </a:rPr>
              <a:t>el</a:t>
            </a:r>
            <a:r>
              <a:rPr sz="1100" i="0" b="0">
                <a:solidFill>
                  <a:srgbClr val="D4D4D4"/>
                </a:solidFill>
                <a:latin typeface="Consolas"/>
              </a:rPr>
              <a:t> </a:t>
            </a:r>
            <a:r>
              <a:rPr sz="1100" i="0" b="0">
                <a:solidFill>
                  <a:srgbClr val="D4D4D4"/>
                </a:solidFill>
                <a:latin typeface="Consolas"/>
              </a:rPr>
              <a:t>sistema</a:t>
            </a:r>
            <a:r>
              <a:rPr sz="1100" i="0" b="0">
                <a:solidFill>
                  <a:srgbClr val="D4D4D4"/>
                </a:solidFill>
                <a:latin typeface="Consolas"/>
              </a:rPr>
              <a:t> </a:t>
            </a:r>
            <a:r>
              <a:rPr sz="1100" i="0" b="0">
                <a:solidFill>
                  <a:srgbClr val="D4D4D4"/>
                </a:solidFill>
                <a:latin typeface="Consolas"/>
              </a:rPr>
              <a:t>informa</a:t>
            </a:r>
            <a:r>
              <a:rPr sz="1100" i="0" b="0">
                <a:solidFill>
                  <a:srgbClr val="D4D4D4"/>
                </a:solidFill>
                <a:latin typeface="Consolas"/>
              </a:rPr>
              <a:t> </a:t>
            </a:r>
            <a:r>
              <a:rPr sz="1100" i="0" b="0">
                <a:solidFill>
                  <a:srgbClr val="D4D4D4"/>
                </a:solidFill>
                <a:latin typeface="Consolas"/>
              </a:rPr>
              <a:t>y</a:t>
            </a:r>
            <a:r>
              <a:rPr sz="1100" i="0" b="0">
                <a:solidFill>
                  <a:srgbClr val="D4D4D4"/>
                </a:solidFill>
                <a:latin typeface="Consolas"/>
              </a:rPr>
              <a:t> </a:t>
            </a:r>
            <a:r>
              <a:rPr sz="1100" i="0" b="0">
                <a:solidFill>
                  <a:srgbClr val="D4D4D4"/>
                </a:solidFill>
                <a:latin typeface="Consolas"/>
              </a:rPr>
              <a:t>ofrece</a:t>
            </a:r>
            <a:r>
              <a:rPr sz="1100" i="0" b="0">
                <a:solidFill>
                  <a:srgbClr val="D4D4D4"/>
                </a:solidFill>
                <a:latin typeface="Consolas"/>
              </a:rPr>
              <a:t> </a:t>
            </a:r>
            <a:r>
              <a:rPr sz="1100" i="0" b="0">
                <a:solidFill>
                  <a:srgbClr val="D4D4D4"/>
                </a:solidFill>
                <a:latin typeface="Consolas"/>
              </a:rPr>
              <a:t>registrar</a:t>
            </a:r>
            <a:r>
              <a:rPr sz="1100" i="0" b="0">
                <a:solidFill>
                  <a:srgbClr val="D4D4D4"/>
                </a:solidFill>
                <a:latin typeface="Consolas"/>
              </a:rPr>
              <a:t> </a:t>
            </a:r>
            <a:r>
              <a:rPr sz="1100" i="0" b="0">
                <a:solidFill>
                  <a:srgbClr val="D4D4D4"/>
                </a:solidFill>
                <a:latin typeface="Consolas"/>
              </a:rPr>
              <a:t>la</a:t>
            </a:r>
            <a:r>
              <a:rPr sz="1100" i="0" b="0">
                <a:solidFill>
                  <a:srgbClr val="D4D4D4"/>
                </a:solidFill>
                <a:latin typeface="Consolas"/>
              </a:rPr>
              <a:t> </a:t>
            </a:r>
            <a:r>
              <a:rPr sz="1100" i="0" b="0">
                <a:solidFill>
                  <a:srgbClr val="DCDCAA"/>
                </a:solidFill>
                <a:latin typeface="Consolas"/>
              </a:rPr>
              <a:t>mascota</a:t>
            </a:r>
            <a:r>
              <a:rPr sz="1100" i="0" b="0">
                <a:solidFill>
                  <a:srgbClr val="D4D4D4"/>
                </a:solidFill>
                <a:latin typeface="Consolas"/>
              </a:rPr>
              <a:t> (</a:t>
            </a:r>
            <a:r>
              <a:rPr sz="1100" i="0" b="0">
                <a:solidFill>
                  <a:srgbClr val="D4D4D4"/>
                </a:solidFill>
                <a:latin typeface="Consolas"/>
              </a:rPr>
              <a:t>pasa</a:t>
            </a:r>
            <a:r>
              <a:rPr sz="1100" i="0" b="0">
                <a:solidFill>
                  <a:srgbClr val="D4D4D4"/>
                </a:solidFill>
                <a:latin typeface="Consolas"/>
              </a:rPr>
              <a:t> </a:t>
            </a:r>
            <a:r>
              <a:rPr sz="1100" i="0" b="0">
                <a:solidFill>
                  <a:srgbClr val="D4D4D4"/>
                </a:solidFill>
                <a:latin typeface="Consolas"/>
              </a:rPr>
              <a:t>a</a:t>
            </a:r>
            <a:r>
              <a:rPr sz="1100" i="0" b="0">
                <a:solidFill>
                  <a:srgbClr val="D4D4D4"/>
                </a:solidFill>
                <a:latin typeface="Consolas"/>
              </a:rPr>
              <a:t> </a:t>
            </a:r>
            <a:r>
              <a:rPr sz="1100" i="0" b="0">
                <a:solidFill>
                  <a:srgbClr val="D4D4D4"/>
                </a:solidFill>
                <a:latin typeface="Consolas"/>
              </a:rPr>
              <a:t>CU</a:t>
            </a:r>
            <a:r>
              <a:rPr sz="1100" i="0" b="0">
                <a:solidFill>
                  <a:srgbClr val="D4D4D4"/>
                </a:solidFill>
                <a:latin typeface="Consolas"/>
              </a:rPr>
              <a:t>-</a:t>
            </a:r>
            <a:r>
              <a:rPr sz="1100" i="0" b="0">
                <a:solidFill>
                  <a:srgbClr val="B5CEA8"/>
                </a:solidFill>
                <a:latin typeface="Consolas"/>
              </a:rPr>
              <a:t>01</a:t>
            </a:r>
            <a:r>
              <a:rPr sz="1100" i="0" b="0">
                <a:solidFill>
                  <a:srgbClr val="D4D4D4"/>
                </a:solidFill>
                <a:latin typeface="Consolas"/>
              </a:rPr>
              <a:t>).</a:t>
            </a:r>
          </a:p>
          <a:p>
            <a:pPr>
              <a:spcAft>
                <a:spcPts val="235"/>
              </a:spcAft>
            </a:pPr>
            <a:r>
              <a:rPr sz="1100" i="0" b="0">
                <a:solidFill>
                  <a:srgbClr val="D4D4D4"/>
                </a:solidFill>
                <a:latin typeface="Consolas"/>
              </a:rPr>
              <a:t>  2</a:t>
            </a:r>
            <a:r>
              <a:rPr sz="1100" i="0" b="0">
                <a:solidFill>
                  <a:srgbClr val="D4D4D4"/>
                </a:solidFill>
                <a:latin typeface="Consolas"/>
              </a:rPr>
              <a:t>b</a:t>
            </a:r>
            <a:r>
              <a:rPr sz="1100" i="0" b="0">
                <a:solidFill>
                  <a:srgbClr val="D4D4D4"/>
                </a:solidFill>
                <a:latin typeface="Consolas"/>
              </a:rPr>
              <a:t>. </a:t>
            </a:r>
            <a:r>
              <a:rPr sz="1100" i="0" b="0">
                <a:solidFill>
                  <a:srgbClr val="D4D4D4"/>
                </a:solidFill>
                <a:latin typeface="Consolas"/>
              </a:rPr>
              <a:t>Mas</a:t>
            </a:r>
            <a:r>
              <a:rPr sz="1100" i="0" b="0">
                <a:solidFill>
                  <a:srgbClr val="D4D4D4"/>
                </a:solidFill>
                <a:latin typeface="Consolas"/>
              </a:rPr>
              <a:t> </a:t>
            </a:r>
            <a:r>
              <a:rPr sz="1100" i="0" b="0">
                <a:solidFill>
                  <a:srgbClr val="D4D4D4"/>
                </a:solidFill>
                <a:latin typeface="Consolas"/>
              </a:rPr>
              <a:t>de</a:t>
            </a:r>
            <a:r>
              <a:rPr sz="1100" i="0" b="0">
                <a:solidFill>
                  <a:srgbClr val="D4D4D4"/>
                </a:solidFill>
                <a:latin typeface="Consolas"/>
              </a:rPr>
              <a:t> </a:t>
            </a:r>
            <a:r>
              <a:rPr sz="1100" i="0" b="0">
                <a:solidFill>
                  <a:srgbClr val="B5CEA8"/>
                </a:solidFill>
                <a:latin typeface="Consolas"/>
              </a:rPr>
              <a:t>50</a:t>
            </a:r>
            <a:r>
              <a:rPr sz="1100" i="0" b="0">
                <a:solidFill>
                  <a:srgbClr val="D4D4D4"/>
                </a:solidFill>
                <a:latin typeface="Consolas"/>
              </a:rPr>
              <a:t> </a:t>
            </a:r>
            <a:r>
              <a:rPr sz="1100" i="0" b="0">
                <a:solidFill>
                  <a:srgbClr val="D4D4D4"/>
                </a:solidFill>
                <a:latin typeface="Consolas"/>
              </a:rPr>
              <a:t>coincidencias</a:t>
            </a:r>
            <a:r>
              <a:rPr sz="1100" i="0" b="0">
                <a:solidFill>
                  <a:srgbClr val="D4D4D4"/>
                </a:solidFill>
                <a:latin typeface="Consolas"/>
              </a:rPr>
              <a:t>: </a:t>
            </a:r>
            <a:r>
              <a:rPr sz="1100" i="0" b="0">
                <a:solidFill>
                  <a:srgbClr val="D4D4D4"/>
                </a:solidFill>
                <a:latin typeface="Consolas"/>
              </a:rPr>
              <a:t>el</a:t>
            </a:r>
            <a:r>
              <a:rPr sz="1100" i="0" b="0">
                <a:solidFill>
                  <a:srgbClr val="D4D4D4"/>
                </a:solidFill>
                <a:latin typeface="Consolas"/>
              </a:rPr>
              <a:t> </a:t>
            </a:r>
            <a:r>
              <a:rPr sz="1100" i="0" b="0">
                <a:solidFill>
                  <a:srgbClr val="D4D4D4"/>
                </a:solidFill>
                <a:latin typeface="Consolas"/>
              </a:rPr>
              <a:t>sistema</a:t>
            </a:r>
            <a:r>
              <a:rPr sz="1100" i="0" b="0">
                <a:solidFill>
                  <a:srgbClr val="D4D4D4"/>
                </a:solidFill>
                <a:latin typeface="Consolas"/>
              </a:rPr>
              <a:t> </a:t>
            </a:r>
            <a:r>
              <a:rPr sz="1100" i="0" b="0">
                <a:solidFill>
                  <a:srgbClr val="D4D4D4"/>
                </a:solidFill>
                <a:latin typeface="Consolas"/>
              </a:rPr>
              <a:t>pagina</a:t>
            </a:r>
            <a:r>
              <a:rPr sz="1100" i="0" b="0">
                <a:solidFill>
                  <a:srgbClr val="D4D4D4"/>
                </a:solidFill>
                <a:latin typeface="Consolas"/>
              </a:rPr>
              <a:t> </a:t>
            </a:r>
            <a:r>
              <a:rPr sz="1100" i="0" b="0">
                <a:solidFill>
                  <a:srgbClr val="D4D4D4"/>
                </a:solidFill>
                <a:latin typeface="Consolas"/>
              </a:rPr>
              <a:t>el</a:t>
            </a:r>
            <a:r>
              <a:rPr sz="1100" i="0" b="0">
                <a:solidFill>
                  <a:srgbClr val="D4D4D4"/>
                </a:solidFill>
                <a:latin typeface="Consolas"/>
              </a:rPr>
              <a:t> </a:t>
            </a:r>
            <a:r>
              <a:rPr sz="1100" i="0" b="0">
                <a:solidFill>
                  <a:srgbClr val="D4D4D4"/>
                </a:solidFill>
                <a:latin typeface="Consolas"/>
              </a:rPr>
              <a:t>resultado</a:t>
            </a:r>
            <a:r>
              <a:rPr sz="1100" i="0" b="0">
                <a:solidFill>
                  <a:srgbClr val="D4D4D4"/>
                </a:solidFill>
                <a:latin typeface="Consolas"/>
              </a:rPr>
              <a:t> </a:t>
            </a:r>
            <a:r>
              <a:rPr sz="1100" i="0" b="0">
                <a:solidFill>
                  <a:srgbClr val="D4D4D4"/>
                </a:solidFill>
                <a:latin typeface="Consolas"/>
              </a:rPr>
              <a:t>y</a:t>
            </a:r>
            <a:r>
              <a:rPr sz="1100" i="0" b="0">
                <a:solidFill>
                  <a:srgbClr val="D4D4D4"/>
                </a:solidFill>
                <a:latin typeface="Consolas"/>
              </a:rPr>
              <a:t> </a:t>
            </a:r>
            <a:r>
              <a:rPr sz="1100" i="0" b="0">
                <a:solidFill>
                  <a:srgbClr val="D4D4D4"/>
                </a:solidFill>
                <a:latin typeface="Consolas"/>
              </a:rPr>
              <a:t>sugiere</a:t>
            </a:r>
            <a:r>
              <a:rPr sz="1100" i="0" b="0">
                <a:solidFill>
                  <a:srgbClr val="D4D4D4"/>
                </a:solidFill>
                <a:latin typeface="Consolas"/>
              </a:rPr>
              <a:t> </a:t>
            </a:r>
            <a:r>
              <a:rPr sz="1100" i="0" b="0">
                <a:solidFill>
                  <a:srgbClr val="D4D4D4"/>
                </a:solidFill>
                <a:latin typeface="Consolas"/>
              </a:rPr>
              <a:t>afinar</a:t>
            </a:r>
            <a:r>
              <a:rPr sz="1100" i="0" b="0">
                <a:solidFill>
                  <a:srgbClr val="D4D4D4"/>
                </a:solidFill>
                <a:latin typeface="Consolas"/>
              </a:rPr>
              <a:t> </a:t>
            </a:r>
            <a:r>
              <a:rPr sz="1100" i="0" b="0">
                <a:solidFill>
                  <a:srgbClr val="D4D4D4"/>
                </a:solidFill>
                <a:latin typeface="Consolas"/>
              </a:rPr>
              <a:t>el</a:t>
            </a:r>
            <a:r>
              <a:rPr sz="1100" i="0" b="0">
                <a:solidFill>
                  <a:srgbClr val="D4D4D4"/>
                </a:solidFill>
                <a:latin typeface="Consolas"/>
              </a:rPr>
              <a:t> </a:t>
            </a:r>
            <a:r>
              <a:rPr sz="1100" i="0" b="0">
                <a:solidFill>
                  <a:srgbClr val="D4D4D4"/>
                </a:solidFill>
                <a:latin typeface="Consolas"/>
              </a:rPr>
              <a:t>filtro</a:t>
            </a:r>
            <a:r>
              <a:rPr sz="1100" i="0" b="0">
                <a:solidFill>
                  <a:srgbClr val="D4D4D4"/>
                </a:solidFill>
                <a:latin typeface="Consolas"/>
              </a:rPr>
              <a:t>.</a:t>
            </a:r>
          </a:p>
          <a:p>
            <a:pPr>
              <a:spcAft>
                <a:spcPts val="235"/>
              </a:spcAft>
            </a:pPr>
            <a:r>
              <a:rPr sz="1100" i="0" b="0">
                <a:solidFill>
                  <a:srgbClr val="D4D4D4"/>
                </a:solidFill>
                <a:latin typeface="Consolas"/>
              </a:rPr>
              <a:t>  4</a:t>
            </a:r>
            <a:r>
              <a:rPr sz="1100" i="0" b="0">
                <a:solidFill>
                  <a:srgbClr val="D4D4D4"/>
                </a:solidFill>
                <a:latin typeface="Consolas"/>
              </a:rPr>
              <a:t>a</a:t>
            </a:r>
            <a:r>
              <a:rPr sz="1100" i="0" b="0">
                <a:solidFill>
                  <a:srgbClr val="D4D4D4"/>
                </a:solidFill>
                <a:latin typeface="Consolas"/>
              </a:rPr>
              <a:t>. </a:t>
            </a:r>
            <a:r>
              <a:rPr sz="1100" i="0" b="0">
                <a:solidFill>
                  <a:srgbClr val="D4D4D4"/>
                </a:solidFill>
                <a:latin typeface="Consolas"/>
              </a:rPr>
              <a:t>La</a:t>
            </a:r>
            <a:r>
              <a:rPr sz="1100" i="0" b="0">
                <a:solidFill>
                  <a:srgbClr val="D4D4D4"/>
                </a:solidFill>
                <a:latin typeface="Consolas"/>
              </a:rPr>
              <a:t> </a:t>
            </a:r>
            <a:r>
              <a:rPr sz="1100" i="0" b="0">
                <a:solidFill>
                  <a:srgbClr val="D4D4D4"/>
                </a:solidFill>
                <a:latin typeface="Consolas"/>
              </a:rPr>
              <a:t>mascota</a:t>
            </a:r>
            <a:r>
              <a:rPr sz="1100" i="0" b="0">
                <a:solidFill>
                  <a:srgbClr val="D4D4D4"/>
                </a:solidFill>
                <a:latin typeface="Consolas"/>
              </a:rPr>
              <a:t> </a:t>
            </a:r>
            <a:r>
              <a:rPr sz="1100" i="0" b="0">
                <a:solidFill>
                  <a:srgbClr val="D4D4D4"/>
                </a:solidFill>
                <a:latin typeface="Consolas"/>
              </a:rPr>
              <a:t>esta</a:t>
            </a:r>
            <a:r>
              <a:rPr sz="1100" i="0" b="0">
                <a:solidFill>
                  <a:srgbClr val="D4D4D4"/>
                </a:solidFill>
                <a:latin typeface="Consolas"/>
              </a:rPr>
              <a:t> </a:t>
            </a:r>
            <a:r>
              <a:rPr sz="1100" i="0" b="0">
                <a:solidFill>
                  <a:srgbClr val="D4D4D4"/>
                </a:solidFill>
                <a:latin typeface="Consolas"/>
              </a:rPr>
              <a:t>inactiva</a:t>
            </a:r>
            <a:r>
              <a:rPr sz="1100" i="0" b="0">
                <a:solidFill>
                  <a:srgbClr val="D4D4D4"/>
                </a:solidFill>
                <a:latin typeface="Consolas"/>
              </a:rPr>
              <a:t>: </a:t>
            </a:r>
            <a:r>
              <a:rPr sz="1100" i="0" b="0">
                <a:solidFill>
                  <a:srgbClr val="D4D4D4"/>
                </a:solidFill>
                <a:latin typeface="Consolas"/>
              </a:rPr>
              <a:t>el</a:t>
            </a:r>
            <a:r>
              <a:rPr sz="1100" i="0" b="0">
                <a:solidFill>
                  <a:srgbClr val="D4D4D4"/>
                </a:solidFill>
                <a:latin typeface="Consolas"/>
              </a:rPr>
              <a:t> </a:t>
            </a:r>
            <a:r>
              <a:rPr sz="1100" i="0" b="0">
                <a:solidFill>
                  <a:srgbClr val="D4D4D4"/>
                </a:solidFill>
                <a:latin typeface="Consolas"/>
              </a:rPr>
              <a:t>sistema</a:t>
            </a:r>
            <a:r>
              <a:rPr sz="1100" i="0" b="0">
                <a:solidFill>
                  <a:srgbClr val="D4D4D4"/>
                </a:solidFill>
                <a:latin typeface="Consolas"/>
              </a:rPr>
              <a:t> </a:t>
            </a:r>
            <a:r>
              <a:rPr sz="1100" i="0" b="0">
                <a:solidFill>
                  <a:srgbClr val="D4D4D4"/>
                </a:solidFill>
                <a:latin typeface="Consolas"/>
              </a:rPr>
              <a:t>muestra</a:t>
            </a:r>
            <a:r>
              <a:rPr sz="1100" i="0" b="0">
                <a:solidFill>
                  <a:srgbClr val="D4D4D4"/>
                </a:solidFill>
                <a:latin typeface="Consolas"/>
              </a:rPr>
              <a:t> </a:t>
            </a:r>
            <a:r>
              <a:rPr sz="1100" i="0" b="0">
                <a:solidFill>
                  <a:srgbClr val="D4D4D4"/>
                </a:solidFill>
                <a:latin typeface="Consolas"/>
              </a:rPr>
              <a:t>el</a:t>
            </a:r>
            <a:r>
              <a:rPr sz="1100" i="0" b="0">
                <a:solidFill>
                  <a:srgbClr val="D4D4D4"/>
                </a:solidFill>
                <a:latin typeface="Consolas"/>
              </a:rPr>
              <a:t> </a:t>
            </a:r>
            <a:r>
              <a:rPr sz="1100" i="0" b="0">
                <a:solidFill>
                  <a:srgbClr val="D4D4D4"/>
                </a:solidFill>
                <a:latin typeface="Consolas"/>
              </a:rPr>
              <a:t>expediente</a:t>
            </a:r>
            <a:r>
              <a:rPr sz="1100" i="0" b="0">
                <a:solidFill>
                  <a:srgbClr val="D4D4D4"/>
                </a:solidFill>
                <a:latin typeface="Consolas"/>
              </a:rPr>
              <a:t> </a:t>
            </a:r>
            <a:r>
              <a:rPr sz="1100" i="0" b="0">
                <a:solidFill>
                  <a:srgbClr val="D4D4D4"/>
                </a:solidFill>
                <a:latin typeface="Consolas"/>
              </a:rPr>
              <a:t>en</a:t>
            </a:r>
            <a:r>
              <a:rPr sz="1100" i="0" b="0">
                <a:solidFill>
                  <a:srgbClr val="D4D4D4"/>
                </a:solidFill>
                <a:latin typeface="Consolas"/>
              </a:rPr>
              <a:t> </a:t>
            </a:r>
            <a:r>
              <a:rPr sz="1100" i="0" b="0">
                <a:solidFill>
                  <a:srgbClr val="D4D4D4"/>
                </a:solidFill>
                <a:latin typeface="Consolas"/>
              </a:rPr>
              <a:t>modo</a:t>
            </a:r>
            <a:r>
              <a:rPr sz="1100" i="0" b="0">
                <a:solidFill>
                  <a:srgbClr val="D4D4D4"/>
                </a:solidFill>
                <a:latin typeface="Consolas"/>
              </a:rPr>
              <a:t> </a:t>
            </a:r>
            <a:r>
              <a:rPr sz="1100" i="0" b="0">
                <a:solidFill>
                  <a:srgbClr val="D4D4D4"/>
                </a:solidFill>
                <a:latin typeface="Consolas"/>
              </a:rPr>
              <a:t>solo</a:t>
            </a:r>
            <a:r>
              <a:rPr sz="1100" i="0" b="0">
                <a:solidFill>
                  <a:srgbClr val="D4D4D4"/>
                </a:solidFill>
                <a:latin typeface="Consolas"/>
              </a:rPr>
              <a:t> </a:t>
            </a:r>
            <a:r>
              <a:rPr sz="1100" i="0" b="0">
                <a:solidFill>
                  <a:srgbClr val="D4D4D4"/>
                </a:solidFill>
                <a:latin typeface="Consolas"/>
              </a:rPr>
              <a:t>lectura</a:t>
            </a:r>
            <a:r>
              <a:rPr sz="1100" i="0" b="0">
                <a:solidFill>
                  <a:srgbClr val="D4D4D4"/>
                </a:solidFill>
                <a:latin typeface="Consolas"/>
              </a:rPr>
              <a:t>.</a:t>
            </a:r>
          </a:p>
          <a:p>
            <a:pPr>
              <a:spcAft>
                <a:spcPts val="235"/>
              </a:spcAft>
            </a:pPr>
            <a:r>
              <a:rPr sz="1100" i="0" b="0">
                <a:solidFill>
                  <a:srgbClr val="D4D4D4"/>
                </a:solidFill>
                <a:latin typeface="Consolas"/>
              </a:rPr>
              <a:t>Punto</a:t>
            </a:r>
            <a:r>
              <a:rPr sz="1100" i="0" b="0">
                <a:solidFill>
                  <a:srgbClr val="D4D4D4"/>
                </a:solidFill>
                <a:latin typeface="Consolas"/>
              </a:rPr>
              <a:t> </a:t>
            </a:r>
            <a:r>
              <a:rPr sz="1100" i="0" b="0">
                <a:solidFill>
                  <a:srgbClr val="D4D4D4"/>
                </a:solidFill>
                <a:latin typeface="Consolas"/>
              </a:rPr>
              <a:t>de</a:t>
            </a:r>
            <a:r>
              <a:rPr sz="1100" i="0" b="0">
                <a:solidFill>
                  <a:srgbClr val="D4D4D4"/>
                </a:solidFill>
                <a:latin typeface="Consolas"/>
              </a:rPr>
              <a:t> </a:t>
            </a:r>
            <a:r>
              <a:rPr sz="1100" i="0" b="0">
                <a:solidFill>
                  <a:srgbClr val="D4D4D4"/>
                </a:solidFill>
                <a:latin typeface="Consolas"/>
              </a:rPr>
              <a:t>extension</a:t>
            </a:r>
            <a:r>
              <a:rPr sz="1100" i="0" b="0">
                <a:solidFill>
                  <a:srgbClr val="D4D4D4"/>
                </a:solidFill>
                <a:latin typeface="Consolas"/>
              </a:rPr>
              <a:t>: </a:t>
            </a:r>
            <a:r>
              <a:rPr sz="1100" i="0" b="0">
                <a:solidFill>
                  <a:srgbClr val="D4D4D4"/>
                </a:solidFill>
                <a:latin typeface="Consolas"/>
              </a:rPr>
              <a:t>despues</a:t>
            </a:r>
            <a:r>
              <a:rPr sz="1100" i="0" b="0">
                <a:solidFill>
                  <a:srgbClr val="D4D4D4"/>
                </a:solidFill>
                <a:latin typeface="Consolas"/>
              </a:rPr>
              <a:t> </a:t>
            </a:r>
            <a:r>
              <a:rPr sz="1100" i="0" b="0">
                <a:solidFill>
                  <a:srgbClr val="D4D4D4"/>
                </a:solidFill>
                <a:latin typeface="Consolas"/>
              </a:rPr>
              <a:t>del</a:t>
            </a:r>
            <a:r>
              <a:rPr sz="1100" i="0" b="0">
                <a:solidFill>
                  <a:srgbClr val="D4D4D4"/>
                </a:solidFill>
                <a:latin typeface="Consolas"/>
              </a:rPr>
              <a:t> </a:t>
            </a:r>
            <a:r>
              <a:rPr sz="1100" i="0" b="0">
                <a:solidFill>
                  <a:srgbClr val="D4D4D4"/>
                </a:solidFill>
                <a:latin typeface="Consolas"/>
              </a:rPr>
              <a:t>paso</a:t>
            </a:r>
            <a:r>
              <a:rPr sz="1100" i="0" b="0">
                <a:solidFill>
                  <a:srgbClr val="D4D4D4"/>
                </a:solidFill>
                <a:latin typeface="Consolas"/>
              </a:rPr>
              <a:t> </a:t>
            </a:r>
            <a:r>
              <a:rPr sz="1100" i="0" b="0">
                <a:solidFill>
                  <a:srgbClr val="B5CEA8"/>
                </a:solidFill>
                <a:latin typeface="Consolas"/>
              </a:rPr>
              <a:t>4</a:t>
            </a:r>
            <a:r>
              <a:rPr sz="1100" i="0" b="0">
                <a:solidFill>
                  <a:srgbClr val="D4D4D4"/>
                </a:solidFill>
                <a:latin typeface="Consolas"/>
              </a:rPr>
              <a:t> </a:t>
            </a:r>
            <a:r>
              <a:rPr sz="1100" i="0" b="0">
                <a:solidFill>
                  <a:srgbClr val="D4D4D4"/>
                </a:solidFill>
                <a:latin typeface="Consolas"/>
              </a:rPr>
              <a:t>puede</a:t>
            </a:r>
            <a:r>
              <a:rPr sz="1100" i="0" b="0">
                <a:solidFill>
                  <a:srgbClr val="D4D4D4"/>
                </a:solidFill>
                <a:latin typeface="Consolas"/>
              </a:rPr>
              <a:t> </a:t>
            </a:r>
            <a:r>
              <a:rPr sz="1100" i="0" b="0">
                <a:solidFill>
                  <a:srgbClr val="D4D4D4"/>
                </a:solidFill>
                <a:latin typeface="Consolas"/>
              </a:rPr>
              <a:t>ejecutarse</a:t>
            </a:r>
            <a:r>
              <a:rPr sz="1100" i="0" b="0">
                <a:solidFill>
                  <a:srgbClr val="D4D4D4"/>
                </a:solidFill>
                <a:latin typeface="Consolas"/>
              </a:rPr>
              <a:t> </a:t>
            </a:r>
            <a:r>
              <a:rPr sz="1100" i="0" b="0">
                <a:solidFill>
                  <a:srgbClr val="D4D4D4"/>
                </a:solidFill>
                <a:latin typeface="Consolas"/>
              </a:rPr>
              <a:t>CU</a:t>
            </a:r>
            <a:r>
              <a:rPr sz="1100" i="0" b="0">
                <a:solidFill>
                  <a:srgbClr val="D4D4D4"/>
                </a:solidFill>
                <a:latin typeface="Consolas"/>
              </a:rPr>
              <a:t>-</a:t>
            </a:r>
            <a:r>
              <a:rPr sz="1100" i="0" b="0">
                <a:solidFill>
                  <a:srgbClr val="B5CEA8"/>
                </a:solidFill>
                <a:latin typeface="Consolas"/>
              </a:rPr>
              <a:t>06</a:t>
            </a:r>
            <a:r>
              <a:rPr sz="1100" i="0" b="0">
                <a:solidFill>
                  <a:srgbClr val="D4D4D4"/>
                </a:solidFill>
                <a:latin typeface="Consolas"/>
              </a:rPr>
              <a:t> </a:t>
            </a:r>
            <a:r>
              <a:rPr sz="1100" i="0" b="0">
                <a:solidFill>
                  <a:srgbClr val="D4D4D4"/>
                </a:solidFill>
                <a:latin typeface="Consolas"/>
              </a:rPr>
              <a:t>Exportar</a:t>
            </a:r>
            <a:r>
              <a:rPr sz="1100" i="0" b="0">
                <a:solidFill>
                  <a:srgbClr val="D4D4D4"/>
                </a:solidFill>
                <a:latin typeface="Consolas"/>
              </a:rPr>
              <a:t> </a:t>
            </a:r>
            <a:r>
              <a:rPr sz="1100" i="0" b="0">
                <a:solidFill>
                  <a:srgbClr val="D4D4D4"/>
                </a:solidFill>
                <a:latin typeface="Consolas"/>
              </a:rPr>
              <a:t>expediente</a:t>
            </a:r>
            <a:r>
              <a:rPr sz="1100" i="0" b="0">
                <a:solidFill>
                  <a:srgbClr val="D4D4D4"/>
                </a:solidFill>
                <a:latin typeface="Consolas"/>
              </a:rPr>
              <a:t> </a:t>
            </a:r>
            <a:r>
              <a:rPr sz="1100" i="0" b="0">
                <a:solidFill>
                  <a:srgbClr val="D4D4D4"/>
                </a:solidFill>
                <a:latin typeface="Consolas"/>
              </a:rPr>
              <a:t>a</a:t>
            </a:r>
            <a:r>
              <a:rPr sz="1100" i="0" b="0">
                <a:solidFill>
                  <a:srgbClr val="D4D4D4"/>
                </a:solidFill>
                <a:latin typeface="Consolas"/>
              </a:rPr>
              <a:t> </a:t>
            </a:r>
            <a:r>
              <a:rPr sz="1100" i="0" b="0">
                <a:solidFill>
                  <a:srgbClr val="D4D4D4"/>
                </a:solidFill>
                <a:latin typeface="Consolas"/>
              </a:rPr>
              <a:t>PDF</a:t>
            </a:r>
            <a:r>
              <a:rPr sz="1100" i="0" b="0">
                <a:solidFill>
                  <a:srgbClr val="D4D4D4"/>
                </a:solidFill>
                <a:latin typeface="Consolas"/>
              </a:rPr>
              <a:t>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57200" y="6035040"/>
            <a:ext cx="1127729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 i="1">
                <a:solidFill>
                  <a:srgbClr val="666666"/>
                </a:solidFill>
                <a:latin typeface="Calibri"/>
              </a:rPr>
              <a:t>El diagrama solo dice que existe Buscar expediente; unicamente la especificacion dice que hace el sistema cuando no hay coincidencias.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10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Precondiciones y postcondiciones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803166" y="1188719"/>
            <a:ext cx="5998464" cy="4828032"/>
          </a:xfrm>
          <a:prstGeom prst="roundRect">
            <a:avLst>
              <a:gd name="adj" fmla="val 4000"/>
            </a:avLst>
          </a:prstGeom>
          <a:solidFill>
            <a:srgbClr val="E8EE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pre-post-paso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876318" y="1261872"/>
            <a:ext cx="5852160" cy="4681728"/>
          </a:xfrm>
          <a:prstGeom prst="rect">
            <a:avLst/>
          </a:prstGeom>
        </p:spPr>
      </p:pic>
      <p:pic>
        <p:nvPicPr>
          <p:cNvPr id="7" name="Picture 6" descr="pre-post-paso2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876318" y="1261872"/>
            <a:ext cx="5852160" cy="4681728"/>
          </a:xfrm>
          <a:prstGeom prst="rect">
            <a:avLst/>
          </a:prstGeom>
        </p:spPr>
      </p:pic>
      <p:pic>
        <p:nvPicPr>
          <p:cNvPr id="8" name="Picture 7" descr="pre-post-paso3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876318" y="1261872"/>
            <a:ext cx="5852160" cy="4681728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5870301" y="5961888"/>
            <a:ext cx="5864193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1">
                <a:solidFill>
                  <a:srgbClr val="666666"/>
                </a:solidFill>
                <a:latin typeface="Calibri"/>
              </a:rPr>
              <a:t>Clic para avanzar la animación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57200" y="1353312"/>
            <a:ext cx="5093061" cy="5047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Precondición: lo que es verdad antes de empezar; el flujo no la vuelve a verificar.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Si «autenticado» es precondición, ningún paso pide usuario y contraseña.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Postcondición: el estado en que queda el sistema, verificable mirando los datos.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Cada postcondición se convierte casi sola en un caso de prueba.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11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5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45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Demo del dia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797149" y="1343926"/>
            <a:ext cx="6010497" cy="4837658"/>
          </a:xfrm>
          <a:prstGeom prst="roundRect">
            <a:avLst>
              <a:gd name="adj" fmla="val 4000"/>
            </a:avLst>
          </a:prstGeom>
          <a:solidFill>
            <a:srgbClr val="E8EE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ilus-demo-paso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870301" y="1417078"/>
            <a:ext cx="5864193" cy="4691354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457200" y="1353312"/>
            <a:ext cx="5093061" cy="5047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Herramienta: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draw.io · Google Docs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Demo: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Se proyecta como un caso de uso mal escrito (Dar clic en guardar) se transforma en uno correcto (Registrar mascota) y luego llena en vivo…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Mismo dominio: la clinica veterinaria — no otro ejemplo. Aqui se diseña, no se programa.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12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64592"/>
          </a:xfrm>
          <a:prstGeom prst="rect">
            <a:avLst/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_uniajc_colo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271455" y="5998464"/>
            <a:ext cx="1463040" cy="643233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457200" y="1737360"/>
            <a:ext cx="11277295" cy="109728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3400" b="1" i="0">
                <a:solidFill>
                  <a:srgbClr val="095292"/>
                </a:solidFill>
                <a:latin typeface="Calibri"/>
              </a:rPr>
              <a:t>Clase 9 · Casos de uso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3017520"/>
            <a:ext cx="11277295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6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El diagrama se dibuja en cinco minutos; el valor esta en la especificacion</a:t>
            </a:r>
          </a:p>
          <a:p>
            <a:pPr algn="ctr">
              <a:spcAft>
                <a:spcPts val="6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Repasen las laminas de teoria: cada concepto esta completo</a:t>
            </a:r>
          </a:p>
          <a:p>
            <a:pPr algn="ctr">
              <a:spcAft>
                <a:spcPts val="6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Siguiente clase: continuamos con el siguiente tema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4754880"/>
            <a:ext cx="11277295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1" i="0">
                <a:solidFill>
                  <a:srgbClr val="269CCB"/>
                </a:solidFill>
                <a:latin typeface="Calibri"/>
              </a:rPr>
              <a:t>Teoria al servicio del diseño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