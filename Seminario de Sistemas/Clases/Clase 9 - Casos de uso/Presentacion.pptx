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Un caso de uso es la descripcion de una interaccion completa entre un actor y el sistema que termina entregando un resultado con valor observable para ese actor.</a:t>
            </a:r>
          </a:p>
          <a:p/>
          <a:p>
            <a:r>
              <a:t>La palabra clave es completa: no es una pantalla, no es un boton, no es una tabla de la base de datos y no es un paso intermedio.</a:t>
            </a:r>
          </a:p>
          <a:p/>
          <a:p>
            <a:r>
              <a:t>La prueba practica que usamos en clase es la del almuerzo: si el actor puede levantarse de la silla e irse a almorzar satisfecho porque ya logro lo que queria, entonces eso es un caso de uso.</a:t>
            </a:r>
          </a:p>
          <a:p/>
          <a:p>
            <a:r>
              <a:t>La regla de redaccion es simple y no se negocia: verbo en infinitivo mas objeto del dominio, escrito con las palabras de la clinica y no con palabras de programador.</a:t>
            </a:r>
          </a:p>
          <a:p/>
          <a:p>
            <a:r>
              <a:t>NOTAS:</a:t>
            </a:r>
          </a:p>
          <a:p/>
          <a:p>
            <a:r>
              <a:t>En la clinica, Registrar mascota pasa la prueba, porque la recepcionista de la clinica termina con la ficha creada y el codigo asignado; en cambio Validar la fecha de nacimiento no la pasa, porque nadie llega a la clinica con el objetivo de validar una fecha.</a:t>
            </a:r>
          </a:p>
          <a:p/>
          <a:p>
            <a:r>
              <a:t>Esa distincion parece un detalle de nombres, pero define el tamaño de todo el modelo: si se confunde, un sistema pequeño como el sistema termina con cuarenta casos de uso inutiles en vez de seis u ocho casos de uso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El actor es un rol, no una persona ni un cargo del organigrama.</a:t>
            </a:r>
          </a:p>
          <a:p/>
          <a:p>
            <a:r>
              <a:t>Doña Marta, la recepcionista de la clinica, no es un actor: el actor es Recepcionista, y si mañana la reemplazan el modelo no cambia.</a:t>
            </a:r>
          </a:p>
          <a:p/>
          <a:p>
            <a:r>
              <a:t>Una misma persona puede encarnar dos actores, por ejemplo el veterinario dueño de la clinica que a veces atiende y a veces revisa las metricas: alli actua como Veterinario y como Administrador, y por eso aparecen dos figuras de actor.</a:t>
            </a:r>
          </a:p>
          <a:p/>
          <a:p>
            <a:r>
              <a:t>Ademas existen actores que no son humanos: un sistema externo que enviaria los recordatorios por mensajeria seria un actor secundario del sistema, porque participaria en el caso de uso pero no es quien lo inicia.</a:t>
            </a:r>
          </a:p>
          <a:p/>
          <a:p>
            <a:r>
              <a:t>Todo esto se ordena con el limite del sistema, ese rectangulo que muchos omiten y que en realidad es la decision de arquitectura mas importante del diagrama: adentro va lo que nosotros vamos a construir y por lo tanto especificar, y afuera queda lo que solo vamos a consumir o a recibir.</a:t>
            </a:r>
          </a:p>
          <a:p/>
          <a:p>
            <a:r>
              <a:t>NOTAS:</a:t>
            </a:r>
          </a:p>
          <a:p/>
          <a:p>
            <a:r>
              <a:t>Si en la clinica dibujamos adentro del rectangulo un caso de uso llamado Enviar mensaje de WhatsApp, estamos diciendo que nosotros construimos la mensajeria, y eso probablemente sea falso y encarezca el proyecto por escrito.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Las relaciones entre casos de uso son tres y se abusa de ellas.</a:t>
            </a:r>
          </a:p>
          <a:p/>
          <a:p>
            <a:r>
              <a:t>Include significa que el caso base siempre ejecuta el caso incluido, y se usa cuando un comportamiento se repite en varios casos y vale la pena escribirlo una sola vez: en la clinica</a:t>
            </a:r>
          </a:p>
          <a:p/>
          <a:p>
            <a:r>
              <a:t>CU-03 Registrar consulta medica y CU-04 Agendar cita incluyen ambos a Verificar existencia de la mascota, siempre, sin condicion.</a:t>
            </a:r>
          </a:p>
          <a:p/>
          <a:p>
            <a:r>
              <a:t>Extend es lo contrario: comportamiento opcional que se dispara solo si se cumple una condicion en un punto de extension del caso base</a:t>
            </a:r>
          </a:p>
          <a:p/>
          <a:p>
            <a:r>
              <a:t>En la clinica, CU-02 Buscar expediente puede extenderse con CU-06 Exportar expediente a PDF, que ocurre unicamente cuando el veterinario lo pide.</a:t>
            </a:r>
          </a:p>
          <a:p/>
          <a:p>
            <a:r>
              <a:t>La generalizacion, mucho menos frecuente, sirve cuando un actor especializa a otro, por ejemplo Veterinario especialista como especializacion de Veterinario.</a:t>
            </a:r>
          </a:p>
          <a:p/>
          <a:p>
            <a:r>
              <a:t>El peligro real no es equivocarse en la flecha sino usar include para descomponer funcionalmente: si el diagrama muestra Registrar mascota incluyendo Abrir formulario</a:t>
            </a:r>
          </a:p>
          <a:p/>
          <a:p>
            <a:r>
              <a:t>Incluyendo Digitar datos, incluyendo Guardar en base de datos, ya no es un modelo de casos de uso sino un diagrama de flujo disfrazado, y ese error contagia despues al diagrama de clases.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La especificacion textual es donde vive el noventa por ciento del valor y donde casi nadie invierte tiempo.</a:t>
            </a:r>
          </a:p>
          <a:p/>
          <a:p>
            <a:r>
              <a:t>El flujo principal se escribe en pares de responsabilidad: una columna dice que hace el actor y la otra que hace el sistema, alternandose, en pasos numerados y sin adjetivos.</a:t>
            </a:r>
          </a:p>
          <a:p/>
          <a:p>
            <a:r>
              <a:t>Por ejemplo, en Buscar expediente el paso 1 es que el veterinario digita el codigo o el nombre de la mascota y el paso 2 es que el sistema devuelve la lista de coincidencias; nunca se escribe el sistema es rapido y amigable</a:t>
            </a:r>
          </a:p>
          <a:p/>
          <a:p>
            <a:r>
              <a:t>Porque eso no es un paso sino un requisito no funcional que ya vive en otro documento, el RNF-02, que exige mostrar el resultado en menos de tres segundos.</a:t>
            </a:r>
          </a:p>
          <a:p/>
          <a:p>
            <a:r>
              <a:t>Los flujos alternos se numeran respecto al paso donde se desvian: 2a cuando no hay coincidencias, 2b cuando hay demasiadas, 4a cuando la mascota esta inactiva.</a:t>
            </a:r>
          </a:p>
          <a:p/>
          <a:p>
            <a:r>
              <a:t>Ese numerito es lo que permite que el compañero de Programacion II sepa exactamente en que punto del comportamiento hay que preguntar algo, y es tambien la razon por la cual la clinica deja de perder tiempo buscando historiales.</a:t>
            </a:r>
          </a:p>
          <a:p/>
          <a:p>
            <a:r>
              <a:t>NOTAS:</a:t>
            </a:r>
          </a:p>
          <a:p/>
          <a:p>
            <a:r>
              <a:t>Un caso de uso especificado tiene ficha de identificacion (ID, nombre, actor primario, requisitos que cubre, prioridad y frecuencia), precondiciones, postcondiciones, flujo principal y flujos alternos, y las reglas de negocio asociadas.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Precondiciones y postcondiciones son un contrato, no un adorno.</a:t>
            </a:r>
          </a:p>
          <a:p/>
          <a:p>
            <a:r>
              <a:t>La precondicion es aquello que debe ser verdadero antes de empezar y que el caso de uso no vuelve a verificar dentro del flujo: si escribimos que el usuario esta autenticado como precondicion de Registrar mascota</a:t>
            </a:r>
          </a:p>
          <a:p/>
          <a:p>
            <a:r>
              <a:t>Entonces el flujo principal no puede tener un paso que diga el sistema pide usuario y contraseña, porque eso ya ocurrio.</a:t>
            </a:r>
          </a:p>
          <a:p/>
          <a:p>
            <a:r>
              <a:t>La postcondicion describe el estado en que queda el sistema cuando el caso termina, y debe ser verificable mirando los datos: en la clinica la postcondicion de exito de Registrar mascota es que existe una ficha con codigo unico asociada a un propietario y que quedo bitacora de quien la creo y cuando; la postcondicion de fracaso es que no queda ningun registro a medias.</a:t>
            </a:r>
          </a:p>
          <a:p/>
          <a:p>
            <a:r>
              <a:t>Segundo, resuelve la discusion entre los tres casos de matricula: el estudiante que solo cursa Seminario cierra con este documento y su prototipo navegable y ya entrego un producto completo</a:t>
            </a:r>
          </a:p>
          <a:p/>
          <a:p>
            <a:r>
              <a:t>Mientras que el que solo cursa Programacion II recibe estas postcondiciones y sabe exactamente que debe dejar guardado su codigo, sin tener que adivinar ni volver a entrevistar a la clinica.</a:t>
            </a:r>
          </a:p>
          <a:p/>
          <a:p>
            <a:r>
              <a:t>NOTAS:</a:t>
            </a:r>
          </a:p>
          <a:p/>
          <a:p>
            <a:r>
              <a:t>Escribirlas asi tiene dos consecuencias practicas enormes.</a:t>
            </a:r>
          </a:p>
          <a:p/>
          <a:p>
            <a:r>
              <a:t>Primero, cada postcondicion se convierte casi automaticamente en un caso de prueba, porque describe algo que se puede ir a comprobar.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Herramienta: draw.io · Google Docs</a:t>
            </a:r>
          </a:p>
          <a:p/>
          <a:p>
            <a:r>
              <a:t>Demo: Se proyecta como un caso de uso mal escrito (Dar clic en guardar) se transforma en uno correcto (Registrar mascota) y luego llena en vivo, delante del grupo, la plantilla de especificacion de Buscar expediente.</a:t>
            </a:r>
          </a:p>
          <a:p/>
          <a:p>
            <a:r>
              <a:t>Mismo dominio: la clinica veterinaria — no otro ejemplo. Aqui se diseña, no se programa.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2011680" cy="8768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042855" y="384048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384048"/>
            <a:ext cx="16916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Clase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728655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Casos de uso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4206240"/>
            <a:ext cx="2926080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61688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8D8EE"/>
                </a:solidFill>
                <a:latin typeface="Calibri"/>
              </a:rPr>
              <a:t>El diagrama se dibuja en cinco minutos; el valor esta en la especificacion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7EB8D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Encuadre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Tema: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Casos de uso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diagrama se dibuja en cinco minutos; el valor esta en la especificacion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Herramienta del tema: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draw.io · Google Docs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· Bloque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120 min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Ejemplo de toda la clase: el sistema de una clinica veterinaria.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Mapa del bloque de hoy (120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76272"/>
            <a:ext cx="11277295" cy="7315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38625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0-10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Encuadre y repaso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94084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2659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10-40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8379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Teoria Core del tema de hoy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9543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8118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40-60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3838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Demo en vivo sobre la clinica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5002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577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60-105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297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Practica (opcional, guia en la carpeta)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60461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79036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105-120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4756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Sintesis y cierre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Solo el bloque de </a:t>
            </a:r>
            <a:r>
              <a:rPr sz="1200" b="1" i="1">
                <a:solidFill>
                  <a:srgbClr val="666666"/>
                </a:solidFill>
                <a:latin typeface="Calibri"/>
              </a:rPr>
              <a:t>esta</a:t>
            </a:r>
            <a:r>
              <a:rPr sz="1200" b="0" i="1">
                <a:solidFill>
                  <a:srgbClr val="666666"/>
                </a:solidFill>
                <a:latin typeface="Calibri"/>
              </a:rPr>
              <a:t> clase · 120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Qué es un caso de uso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ueba-almuerz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prueba-almuerzo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prueba-almuerzo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Una interacción completa entre un actor y el sistema que entrega un resultado con valor para ese actor.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No es una pantalla, ni un botón, ni una tabla, ni un paso intermedio.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Prueba del almuerzo: ¿el actor se puede ir satisfecho? Registrar mascota sí; validar la fecha no.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 nombra con verbo en infinitivo y objeto del dominio, con palabras de la clínica.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actor es un rol, y el límite del sistema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ctor-limite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actor-limite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actor-limite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Doña Marta no es un actor: el actor es Recepcionista.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Una persona puede ser dos actores; un sistema externo puede ser actor secundario.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rectángulo del límite es una decisión: adentro, lo que se construye; afuera, lo que se consume.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Dibujar «Enviar WhatsApp» adentro es prometer que se construye la mensajería.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Include, extend y generalización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clude-extend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include-extend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include-extend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Include: el caso base SIEMPRE ejecuta el incluido (agendar y registrar consulta verifican la mascota).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Extend: opcional, solo si se cumple una condición (exportar el expediente a PDF).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Generalización: un actor especializa a otro.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Usar include para partir en pasos convierte el diagrama en un flujo disfrazado.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diagrama de casos de uso en Mermaid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6991923" cy="4798799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6991923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5894643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Mermaid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420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12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13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14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5986083" cy="420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>flowchart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LR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500" i="0" b="0">
                <a:solidFill>
                  <a:srgbClr val="DCDCAA"/>
                </a:solidFill>
                <a:latin typeface="Consolas"/>
              </a:rPr>
              <a:t>rec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([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Recepcionista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])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500" i="0" b="0">
                <a:solidFill>
                  <a:srgbClr val="DCDCAA"/>
                </a:solidFill>
                <a:latin typeface="Consolas"/>
              </a:rPr>
              <a:t>vet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([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Veterinario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])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subgraph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sistema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Sistema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la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clinica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500" i="0" b="0">
                <a:solidFill>
                  <a:srgbClr val="DCDCAA"/>
                </a:solidFill>
                <a:latin typeface="Consolas"/>
              </a:rPr>
              <a:t>cu1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((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CU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500" i="0" b="0">
                <a:solidFill>
                  <a:srgbClr val="B5CEA8"/>
                </a:solidFill>
                <a:latin typeface="Consolas"/>
              </a:rPr>
              <a:t>01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&lt;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br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/&gt;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Registrar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mascota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500" i="0" b="0">
                <a:solidFill>
                  <a:srgbClr val="DCDCAA"/>
                </a:solidFill>
                <a:latin typeface="Consolas"/>
              </a:rPr>
              <a:t>cu2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((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CU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500" i="0" b="0">
                <a:solidFill>
                  <a:srgbClr val="B5CEA8"/>
                </a:solidFill>
                <a:latin typeface="Consolas"/>
              </a:rPr>
              <a:t>02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&lt;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br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/&gt;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Buscar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expediente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500" i="0" b="0">
                <a:solidFill>
                  <a:srgbClr val="DCDCAA"/>
                </a:solidFill>
                <a:latin typeface="Consolas"/>
              </a:rPr>
              <a:t>cu3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((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CU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500" i="0" b="0">
                <a:solidFill>
                  <a:srgbClr val="B5CEA8"/>
                </a:solidFill>
                <a:latin typeface="Consolas"/>
              </a:rPr>
              <a:t>04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&lt;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br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/&gt;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Agendar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cita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500" i="0" b="0">
                <a:solidFill>
                  <a:srgbClr val="DCDCAA"/>
                </a:solidFill>
                <a:latin typeface="Consolas"/>
              </a:rPr>
              <a:t>cu4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((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Validar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&lt;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br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/&gt;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disponibilidad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))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end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rec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--&gt;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cu1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rec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--&gt;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cu3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vet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--&gt;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cu2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cu3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-.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include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.-&gt;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cu4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68579" y="1261872"/>
            <a:ext cx="4120780" cy="3318569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g-casos-us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3443" y="1316736"/>
            <a:ext cx="4011052" cy="320884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23443" y="4580441"/>
            <a:ext cx="40110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Lo que dibuja este código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66666"/>
                </a:solidFill>
                <a:latin typeface="Calibri"/>
              </a:rPr>
              <a:t>include: el caso base siempre lo ejecuta (agendar siempre valida). extend: solo si se cumple una condicion.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especificación textual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res-responsabilidad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pares-responsabilidad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pares-responsabilidad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Ahí vive el noventa por ciento del valor: ficha, pre y postcondiciones, flujo principal y alternos.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flujo principal va en pares: lo que hace el actor y lo que responde el sistema, sin adjetivos.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«Rápido y amigable» no es un paso: es un RNF que vive en otro documento.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Los alternos se numeran por el paso donde se desvían: 2a sin coincidencias, 2b demasiadas.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especificacion textual del caso de uso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4911784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Plantilla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4317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12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13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14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15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16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17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18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19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4317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CU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100" i="0" b="0">
                <a:solidFill>
                  <a:srgbClr val="B5CEA8"/>
                </a:solidFill>
                <a:latin typeface="Consolas"/>
              </a:rPr>
              <a:t>01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Registrar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mascota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Actor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principal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: 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Recepcionista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Trazabilidad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:    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RF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100" i="0" b="0">
                <a:solidFill>
                  <a:srgbClr val="B5CEA8"/>
                </a:solidFill>
                <a:latin typeface="Consolas"/>
              </a:rPr>
              <a:t>01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RF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100" i="0" b="0">
                <a:solidFill>
                  <a:srgbClr val="B5CEA8"/>
                </a:solidFill>
                <a:latin typeface="Consolas"/>
              </a:rPr>
              <a:t>02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Precondicion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:    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dueno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existe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y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esta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activo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Postcondicion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:   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la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mascota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queda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activa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con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expediente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abierto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Flujo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principal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100" i="0" b="0">
                <a:solidFill>
                  <a:srgbClr val="B5CEA8"/>
                </a:solidFill>
                <a:latin typeface="Consolas"/>
              </a:rPr>
              <a:t>1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.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La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recepcionista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solicita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registrar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una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mascota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.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100" i="0" b="0">
                <a:solidFill>
                  <a:srgbClr val="B5CEA8"/>
                </a:solidFill>
                <a:latin typeface="Consolas"/>
              </a:rPr>
              <a:t>2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.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sistema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pide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nombre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especie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fecha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nacimiento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y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dueno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.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100" i="0" b="0">
                <a:solidFill>
                  <a:srgbClr val="B5CEA8"/>
                </a:solidFill>
                <a:latin typeface="Consolas"/>
              </a:rPr>
              <a:t>3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.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La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recepcionista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ingresa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los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datos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.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100" i="0" b="0">
                <a:solidFill>
                  <a:srgbClr val="B5CEA8"/>
                </a:solidFill>
                <a:latin typeface="Consolas"/>
              </a:rPr>
              <a:t>4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.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sistema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valida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que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dueno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exista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y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este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activo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.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100" i="0" b="0">
                <a:solidFill>
                  <a:srgbClr val="B5CEA8"/>
                </a:solidFill>
                <a:latin typeface="Consolas"/>
              </a:rPr>
              <a:t>5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.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sistema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guarda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la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mascota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y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confirma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.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Flujos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alternos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4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.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dueno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no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existe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-&gt;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sistema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ofrece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registrarlo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primero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.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4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b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.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Falta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un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dato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obligatorio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-&gt;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sistema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lo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senala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y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no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guarda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.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-- Sin flujos alternos la especificacion esta a medias: el 4a y el 4b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-- son las dos terceras partes del trabajo real del programador.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CU-02 Buscar expediente: la especificacion que el diagrama no muestra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3659991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Plantilla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719072"/>
            <a:ext cx="10271455" cy="3065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CU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100" i="0" b="0">
                <a:solidFill>
                  <a:srgbClr val="B5CEA8"/>
                </a:solidFill>
                <a:latin typeface="Consolas"/>
              </a:rPr>
              <a:t>02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Buscar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expediente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Actor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primario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Veterinario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 | 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Prioridad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Alta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 | 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Cubre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RF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100" i="0" b="0">
                <a:solidFill>
                  <a:srgbClr val="B5CEA8"/>
                </a:solidFill>
                <a:latin typeface="Consolas"/>
              </a:rPr>
              <a:t>05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RNF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100" i="0" b="0">
                <a:solidFill>
                  <a:srgbClr val="B5CEA8"/>
                </a:solidFill>
                <a:latin typeface="Consolas"/>
              </a:rPr>
              <a:t>02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Precondicion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veterinario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esta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autenticado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y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la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mascota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existe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en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sistema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.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CDCAA"/>
                </a:solidFill>
                <a:latin typeface="Consolas"/>
              </a:rPr>
              <a:t>Postcondicion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exito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):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expediente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queda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desplegado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y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la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consulta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queda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en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bitacora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;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no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se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modifica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ningun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dato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clinico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.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Flujo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principal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100" i="0" b="0">
                <a:solidFill>
                  <a:srgbClr val="B5CEA8"/>
                </a:solidFill>
                <a:latin typeface="Consolas"/>
              </a:rPr>
              <a:t>1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.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veterinario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digita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codigo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nombre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mascota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documento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del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propietario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.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100" i="0" b="0">
                <a:solidFill>
                  <a:srgbClr val="B5CEA8"/>
                </a:solidFill>
                <a:latin typeface="Consolas"/>
              </a:rPr>
              <a:t>2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.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sistema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devuelve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la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lista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coincidencias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en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menos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B5CEA8"/>
                </a:solidFill>
                <a:latin typeface="Consolas"/>
              </a:rPr>
              <a:t>3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CDCAA"/>
                </a:solidFill>
                <a:latin typeface="Consolas"/>
              </a:rPr>
              <a:t>segundos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RNF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100" i="0" b="0">
                <a:solidFill>
                  <a:srgbClr val="B5CEA8"/>
                </a:solidFill>
                <a:latin typeface="Consolas"/>
              </a:rPr>
              <a:t>02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).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100" i="0" b="0">
                <a:solidFill>
                  <a:srgbClr val="B5CEA8"/>
                </a:solidFill>
                <a:latin typeface="Consolas"/>
              </a:rPr>
              <a:t>3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.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veterinario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selecciona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una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mascota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la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lista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.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100" i="0" b="0">
                <a:solidFill>
                  <a:srgbClr val="B5CEA8"/>
                </a:solidFill>
                <a:latin typeface="Consolas"/>
              </a:rPr>
              <a:t>4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.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sistema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muestra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ficha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historial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consultas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y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vacunas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en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orden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cronologico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.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Flujos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alternos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2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.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Sin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coincidencias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sistema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informa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y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ofrece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registrar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la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CDCAA"/>
                </a:solidFill>
                <a:latin typeface="Consolas"/>
              </a:rPr>
              <a:t>mascota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pasa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CU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100" i="0" b="0">
                <a:solidFill>
                  <a:srgbClr val="B5CEA8"/>
                </a:solidFill>
                <a:latin typeface="Consolas"/>
              </a:rPr>
              <a:t>01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).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2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b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.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Mas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B5CEA8"/>
                </a:solidFill>
                <a:latin typeface="Consolas"/>
              </a:rPr>
              <a:t>50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coincidencias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sistema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pagina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resultado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y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sugiere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afinar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filtro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.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4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.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La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mascota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esta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inactiva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sistema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muestra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expediente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en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modo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solo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lectura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.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Punto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extension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despues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del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paso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B5CEA8"/>
                </a:solidFill>
                <a:latin typeface="Consolas"/>
              </a:rPr>
              <a:t>4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puede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ejecutarse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CU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100" i="0" b="0">
                <a:solidFill>
                  <a:srgbClr val="B5CEA8"/>
                </a:solidFill>
                <a:latin typeface="Consolas"/>
              </a:rPr>
              <a:t>06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Exportar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expediente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PDF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66666"/>
                </a:solidFill>
                <a:latin typeface="Calibri"/>
              </a:rPr>
              <a:t>El diagrama solo dice que existe Buscar expediente; unicamente la especificacion dice que hace el sistema cuando no hay coincidencias.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Precondiciones y postcondiciones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e-post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pre-post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pre-post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Precondición: lo que es verdad antes de empezar; el flujo no la vuelve a verificar.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«autenticado» es precondición, ningún paso pide usuario y contraseña.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Postcondición: el estado en que queda el sistema, verificable mirando los datos.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Cada postcondición se convierte casi sola en un caso de prueba.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Demo del 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dem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Herramienta: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draw.io · Google Docs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Demo: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Se proyecta como un caso de uso mal escrito (Dar clic en guardar) se transforma en uno correcto (Registrar mascota) y luego llena en vivo…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Mismo dominio: la clinica veterinaria — no otro ejemplo. Aqui se diseña, no se programa.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Clase 9 · Casos de uso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El diagrama se dibuja en cinco minutos; el valor esta en la especificacion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Repasen las laminas de teoria: cada concepto esta completo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Siguiente clase: continuamos con el siguiente 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Teoria al servicio del diseño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