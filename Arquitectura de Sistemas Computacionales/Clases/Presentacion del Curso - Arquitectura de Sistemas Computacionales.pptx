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77295" cy="1463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Arquitectura de Sistemas Computacionales</a:t>
            </a:r>
          </a:p>
          <a:p>
            <a:pPr algn="ctr">
              <a:spcBef>
                <a:spcPts val="1000"/>
              </a:spcBef>
            </a:pPr>
            <a:r>
              <a:rPr sz="1800" b="0" i="0">
                <a:solidFill>
                  <a:srgbClr val="B8D8EE"/>
                </a:solidFill>
                <a:latin typeface="Calibri"/>
              </a:rPr>
              <a:t>Enfoque cloud · Proyecto Integrador CloudLite</a:t>
            </a:r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20040"/>
            <a:ext cx="1920240" cy="836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3337560"/>
            <a:ext cx="11277295" cy="2606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Código: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FI303380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Grupo: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6303C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Periodo: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2026-2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Programa: Ingeniería de Sistemas · Facultad de Ingeniería · UNIAJC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Horario: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Lunes 10:00 – 12:00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(120 min)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Modalidad: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Presencialidad asistida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Docente: Julian Andres Castaño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199632"/>
            <a:ext cx="11277295" cy="18288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291072"/>
            <a:ext cx="11277295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0" i="0">
                <a:solidFill>
                  <a:srgbClr val="095292"/>
                </a:solidFill>
                <a:latin typeface="Calibri"/>
              </a:rPr>
              <a:t>Inicio de clase: </a:t>
            </a:r>
            <a:r>
              <a:rPr sz="1600" b="1" i="0">
                <a:solidFill>
                  <a:srgbClr val="095292"/>
                </a:solidFill>
                <a:latin typeface="Calibri"/>
              </a:rPr>
              <a:t>10:10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Julian Andres Castaño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0" y="2057400"/>
            <a:ext cx="9174175" cy="1472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Ingeniero de Sistemas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Candidato a MsC en Inteligencia Artificial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Líder Técnico · Speaker Tecnológico</a:t>
            </a:r>
          </a:p>
        </p:txBody>
      </p:sp>
      <p:pic>
        <p:nvPicPr>
          <p:cNvPr id="6" name="Picture 5" descr="outlook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3666744"/>
            <a:ext cx="292608" cy="2926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063239" y="3648456"/>
            <a:ext cx="8671255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600" b="1" i="0">
                <a:solidFill>
                  <a:srgbClr val="0D7A8C"/>
                </a:solidFill>
                <a:latin typeface="Calibri"/>
              </a:rPr>
              <a:t>julianacastano@profesores.uniajc.edu.co</a:t>
            </a:r>
          </a:p>
        </p:txBody>
      </p:sp>
      <p:pic>
        <p:nvPicPr>
          <p:cNvPr id="8" name="Picture 7" descr="logo_uniajc_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879592"/>
            <a:ext cx="1645920" cy="72363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Rompe-hielo · Padlet del grupo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6583680" cy="416052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128016" cy="41605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417320"/>
            <a:ext cx="60807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Escanea el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QR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o abre el enlace del tablero colaborativo.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Deja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 nota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en cada columna: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¿Quién soy? (nombre + una habilidad o hobby)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Expectativa del curso (1 frase)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Pregunta al docente / al grupo</a:t>
            </a:r>
          </a:p>
          <a:p>
            <a:pPr>
              <a:spcAft>
                <a:spcPts val="800"/>
              </a:spcAft>
            </a:pPr>
            <a:r>
              <a:rPr sz="1400" b="0" i="0">
                <a:solidFill>
                  <a:srgbClr val="333333"/>
                </a:solidFill>
                <a:latin typeface="Calibri"/>
              </a:rPr>
              <a:t>–   5–8 min · sin instalar · solo navegador.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Enlace: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https://padlet.com/andres_dfx/uniaj-l77e9uu16trgdvcp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69480" y="1234440"/>
            <a:ext cx="4465015" cy="41605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qr_padlet_uniaj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1787" y="1554480"/>
            <a:ext cx="3200400" cy="3200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60920" y="4937760"/>
            <a:ext cx="42821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666666"/>
                </a:solidFill>
                <a:latin typeface="Calibri"/>
              </a:rPr>
              <a:t>QR oficial Padlet UNIAJC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¿Para qué existe este curso?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Comprender y aplicar modelos de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infraestructura moderna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con enfoque en arquitecturas en la nube.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Diseñar, desplegar y optimizar sistemas distribuidos, escalables y seguros.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Práctica al servicio del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Proyecto Integrador CloudLite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(diagramas, labs gratis, CI/CD conceptual).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Objeto de estudio: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diseño, implementación y gestión de arquitecturas en entornos cloud.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 y resultados de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diseñar e implementar arquitecturas con cloud, virtualización y escalabilidad.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RAA1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Comprende y aplica modelos de servicio cloud (IaaS, PaaS, SaaS).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RAA2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Configura entornos virtualizados y despliega sistemas distribuidos.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RAA3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Evalúa seguridad, rendimiento y sostenibilidad de arquitecturas en la nube.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trabajamos en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0 (hoy)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= encuadre del curso + evaluación +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socialización del Proyecto Integrador CloudLite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+ herramientas.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1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= diagnóstico + arranque del primer tema (introducción a arquitecturas cloud) — mismo bloque de hoy.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De la Clase 2 en adelante, cada sesión sigue la misma estructura: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Teoría Core breve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→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Taller PI CloudLite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→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Quiz / cierre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 Modalidad: Clase 1 y parciales (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5 / 9 / 14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)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presencial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; resto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virtual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síncrona; festivos =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autónoma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gratis + navegador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(sin cloud de pago ni Docker Desktop). Talleres y quices/parciales se entregan/presentan en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ExamLab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(no es la plataforma oficial de la UNIAJC, la usamos solo para esto).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Hilo conductor de todo el semestre: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Proyecto Integrador CloudLite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Sistema de evaluación (Acuerdo pedagógico)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3545738" cy="4910327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3545738" cy="5029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07592"/>
            <a:ext cx="327141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Calibri"/>
              </a:rPr>
              <a:t>Corte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856231"/>
            <a:ext cx="327141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269CCB"/>
                </a:solidFill>
                <a:latin typeface="Calibri"/>
              </a:rPr>
              <a:t>30%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679191"/>
            <a:ext cx="32714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10/08 – 13/09/2026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090672"/>
            <a:ext cx="3271418" cy="299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Parcial 1</a:t>
            </a:r>
            <a:r>
              <a:rPr sz="1250" b="0" i="0">
                <a:solidFill>
                  <a:srgbClr val="333333"/>
                </a:solidFill>
                <a:latin typeface="Calibri"/>
              </a:rPr>
              <a:t> (Clase 5)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Talleres / Quiz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Asistencia · 10%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22978" y="1261872"/>
            <a:ext cx="3545738" cy="4910327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22978" y="1261872"/>
            <a:ext cx="3545738" cy="50292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60138" y="1307592"/>
            <a:ext cx="327141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Corte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60138" y="1856231"/>
            <a:ext cx="327141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D000"/>
                </a:solidFill>
                <a:latin typeface="Calibri"/>
              </a:rPr>
              <a:t>30%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60138" y="2679191"/>
            <a:ext cx="32714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14/09 – 18/10/2026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60138" y="3090672"/>
            <a:ext cx="3271418" cy="299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Parcial 2</a:t>
            </a:r>
            <a:r>
              <a:rPr sz="1250" b="0" i="0">
                <a:solidFill>
                  <a:srgbClr val="333333"/>
                </a:solidFill>
                <a:latin typeface="Calibri"/>
              </a:rPr>
              <a:t> (Clase 9)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Talleres / Quiz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Asistencia · 10%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88756" y="1261872"/>
            <a:ext cx="3545738" cy="4910327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88756" y="1261872"/>
            <a:ext cx="3545738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5916" y="1307592"/>
            <a:ext cx="327141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Calibri"/>
              </a:rPr>
              <a:t>Corte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5916" y="1856231"/>
            <a:ext cx="327141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095292"/>
                </a:solidFill>
                <a:latin typeface="Calibri"/>
              </a:rPr>
              <a:t>40%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5916" y="2679191"/>
            <a:ext cx="32714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19/10 – 22/11/2026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5916" y="3090672"/>
            <a:ext cx="3271418" cy="299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Parcial 3</a:t>
            </a:r>
            <a:r>
              <a:rPr sz="1250" b="0" i="0">
                <a:solidFill>
                  <a:srgbClr val="333333"/>
                </a:solidFill>
                <a:latin typeface="Calibri"/>
              </a:rPr>
              <a:t> (Clase 14) · 15%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PI CloudLite</a:t>
            </a:r>
            <a:r>
              <a:rPr sz="1250" b="0" i="0">
                <a:solidFill>
                  <a:srgbClr val="333333"/>
                </a:solidFill>
                <a:latin typeface="Calibri"/>
              </a:rPr>
              <a:t> · 20%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Asistencia · 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30936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1">
                <a:solidFill>
                  <a:srgbClr val="666666"/>
                </a:solidFill>
                <a:latin typeface="Calibri"/>
              </a:rPr>
              <a:t>Parciales síncronos presenciales · nunca en festivo/autónoma. Día de parcial = solo evaluación.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32004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0"/>
            <a:ext cx="11277295" cy="9601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2800" b="1" i="0">
                <a:solidFill>
                  <a:srgbClr val="095292"/>
                </a:solidFill>
                <a:latin typeface="Calibri"/>
              </a:rPr>
              <a:t>CONTENIDO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06424"/>
            <a:ext cx="1127729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666666"/>
                </a:solidFill>
                <a:latin typeface="Calibri"/>
              </a:rPr>
              <a:t>Sesión 0 + Clases 1–15 · grupo 6303C · lunes 10:00–12:00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53895"/>
            <a:ext cx="5364327" cy="4946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Sesión 0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Presentación del curso: logística, evaluación y socialización del PI CloudLite (10/08)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Clase 1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Diagnóstico · Introducción a arquitecturas cloud (10/08)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Clase 2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Modelos de servicio IaaS / PaaS / SaaS (17/08) · Autónoma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Clase 3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Virtualización y contenedores (24/08)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Clase 4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Microservicios y arquitecturas distribuidas (31/08)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Clase 5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Parcial 1 (07/09) · Parcial 1 · presencial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Clase 6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Seguridad en la nube (14/09)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Clase 7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Redes y almacenamiento cloud (21/09)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87287" y="1453895"/>
            <a:ext cx="5364327" cy="4946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Clase 8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Monitoreo, optimización y CI/CD (28/09)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Clase 9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Parcial 2 (05/10) · Parcial 2 · presencial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Clase 10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Costos y sostenibilidad cloud (12/10) · Autónoma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Clase 11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Avance del proyecto final (CloudLite) (19/10)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Clase 12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Pruebas de rendimiento y preparación final (26/10)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Clase 13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Escalabilidad automática (02/11) · Autónoma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Clase 14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Parcial 3 (09/11) · Parcial 3 · presencial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Clase 15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Presentación del proyecto y cierre (16/11) · Autónoma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Proyecto Integrador · CloudLite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Socialización de hoy (Sesión 0):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presentamos el PI completo para que lo tengan claro desde la Clase 1.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Diseño y simulación de una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arquitectura cloud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para una aplicación web/API (CloudLite App).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Entregables: diagramas C4/despliegue · lab contenedores (navegador) · CI/CD conceptual · informe + sustentación.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Pesa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20%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 el tercer corte; se construye por avances a lo largo del semestre.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Hilo conductor de cada clase regular/autónoma (teoría al servicio del entregable).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del curso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/ free tier · Floci en evaluación (piloto opcional)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raw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3913" y="1792224"/>
            <a:ext cx="1051560" cy="1051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C4 · despliegue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excalidra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0067" y="1792224"/>
            <a:ext cx="1051560" cy="10515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Excalidraw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Bocetos de taller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play_with_dock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6222" y="1792224"/>
            <a:ext cx="1051560" cy="10515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Play with Docker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Lab contenedores (4h)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github_acti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43913" y="4256532"/>
            <a:ext cx="1051560" cy="105156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30352" y="5381244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GitHub Actions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CI/CD conceptual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83354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283354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283354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examla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70067" y="4256532"/>
            <a:ext cx="1051560" cy="105156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4356506" y="5381244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ExamLab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Talleres + quices/parciales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¡Empezamos!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Arquitectura de Sistemas Computacionales ·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FI303380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Grupo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6303C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Lunes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10:00 – 12:00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Periodo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2026-2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UNIAJC · Ingeniería de Sistemas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CloudLite con criterio: escalable, seguro y sostenible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