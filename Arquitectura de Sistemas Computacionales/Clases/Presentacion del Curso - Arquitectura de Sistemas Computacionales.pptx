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7" roundtripDataSignature="AMtx7mgRCZsJR/502OCmj0XjnbocP1Vh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customschemas.google.com/relationships/presentationmetadata" Target="metadata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7" name="Google Shape;227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4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4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6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6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7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7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8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8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8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8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0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0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0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1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1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1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2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3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3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8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457200" y="914400"/>
            <a:ext cx="11277295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Arquitectura de Sistemas Computacionales</a:t>
            </a:r>
            <a:endParaRPr/>
          </a:p>
          <a:p>
            <a:pPr indent="0" lvl="0" marL="0" marR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800" u="none" cap="none" strike="noStrike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Enfoque cloud · Proyecto Integrador CloudLite</a:t>
            </a:r>
            <a:endParaRPr/>
          </a:p>
        </p:txBody>
      </p:sp>
      <p:pic>
        <p:nvPicPr>
          <p:cNvPr descr="logo_uniajc_blanco.png" id="87" name="Google Shape;87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20040"/>
            <a:ext cx="1920240" cy="83696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"/>
          <p:cNvSpPr txBox="1"/>
          <p:nvPr/>
        </p:nvSpPr>
        <p:spPr>
          <a:xfrm>
            <a:off x="457200" y="3337560"/>
            <a:ext cx="11277295" cy="2606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Código: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FI303380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Grupo: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6303C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Periodo: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2026-2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Programa: Ingeniería de Sistemas · Facultad de Ingeniería · UNIAJC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Horario: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Lunes 10:00 – 12:00</a:t>
            </a: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(120 min)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Modalidad: </a:t>
            </a:r>
            <a:r>
              <a:rPr b="1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Presencialidad asistida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 u="none" cap="none" strike="noStrike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Docente: Julian Andres Castaño</a:t>
            </a:r>
            <a:endParaRPr/>
          </a:p>
        </p:txBody>
      </p:sp>
      <p:sp>
        <p:nvSpPr>
          <p:cNvPr id="89" name="Google Shape;89;p1"/>
          <p:cNvSpPr/>
          <p:nvPr/>
        </p:nvSpPr>
        <p:spPr>
          <a:xfrm>
            <a:off x="457200" y="6199632"/>
            <a:ext cx="11277295" cy="18288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457200" y="6291072"/>
            <a:ext cx="1127729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Inicio de clase: </a:t>
            </a:r>
            <a:r>
              <a:rPr b="1" i="0" lang="en-US" sz="1600" u="none" cap="none" strike="noStrike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10:10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Julian Andres Castaño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2560320" y="2057400"/>
            <a:ext cx="9174175" cy="147218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Ingeniero de Sistemas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Candidato a MsC en Inteligencia Artificial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7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Líder Técnico · Speaker Tecnológico</a:t>
            </a:r>
            <a:endParaRPr/>
          </a:p>
        </p:txBody>
      </p:sp>
      <p:pic>
        <p:nvPicPr>
          <p:cNvPr descr="outlook_icon.png" id="99" name="Google Shape;9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60320" y="3666744"/>
            <a:ext cx="292608" cy="292608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"/>
          <p:cNvSpPr txBox="1"/>
          <p:nvPr/>
        </p:nvSpPr>
        <p:spPr>
          <a:xfrm>
            <a:off x="3063239" y="3648456"/>
            <a:ext cx="8671255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>
                <a:solidFill>
                  <a:srgbClr val="0D7A8C"/>
                </a:solidFill>
                <a:latin typeface="Calibri"/>
                <a:ea typeface="Calibri"/>
                <a:cs typeface="Calibri"/>
                <a:sym typeface="Calibri"/>
              </a:rPr>
              <a:t>julianacastano@profesores.uniajc.edu.co</a:t>
            </a:r>
            <a:endParaRPr/>
          </a:p>
        </p:txBody>
      </p:sp>
      <p:pic>
        <p:nvPicPr>
          <p:cNvPr descr="logo_uniajc_color.png" id="101" name="Google Shape;10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0" y="5879592"/>
            <a:ext cx="1645920" cy="723637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Rompe-hielo · Padlet del grupo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457200" y="1234440"/>
            <a:ext cx="6583680" cy="4160520"/>
          </a:xfrm>
          <a:prstGeom prst="roundRect">
            <a:avLst>
              <a:gd fmla="val 12000" name="adj"/>
            </a:avLst>
          </a:prstGeom>
          <a:solidFill>
            <a:srgbClr val="E8F4FA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457200" y="1234440"/>
            <a:ext cx="128016" cy="41605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777240" y="1417320"/>
            <a:ext cx="6080760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Escanea el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QR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o abre el enlace del tablero colaborativo.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Deja </a:t>
            </a:r>
            <a:r>
              <a:rPr b="1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 nota</a:t>
            </a:r>
            <a:r>
              <a:rPr b="0" i="0" lang="en-US" sz="15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cada columna: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¿Quién soy? (nombre + una habilidad o hobby)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Expectativa del curso (1 frase)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Pregunta al docente / al grupo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5–8 min · sin instalar · solo navegador.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Enlace: </a:t>
            </a:r>
            <a:r>
              <a:rPr b="1" i="0" lang="en-US" sz="13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https://padlet.com/andres_dfx/uniaj-l77e9uu16trgdvcp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7269480" y="1234440"/>
            <a:ext cx="4465015" cy="4160520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qr_padlet_uniajc.png" id="114" name="Google Shape;11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01787" y="1554480"/>
            <a:ext cx="3200400" cy="320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3"/>
          <p:cNvSpPr txBox="1"/>
          <p:nvPr/>
        </p:nvSpPr>
        <p:spPr>
          <a:xfrm>
            <a:off x="7360920" y="4937760"/>
            <a:ext cx="4282135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QR oficial Padlet UNIAJC</a:t>
            </a:r>
            <a:endParaRPr/>
          </a:p>
        </p:txBody>
      </p:sp>
      <p:sp>
        <p:nvSpPr>
          <p:cNvPr id="116" name="Google Shape;116;p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4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¿Para qué existe este curso?</a:t>
            </a:r>
            <a:endParaRPr/>
          </a:p>
        </p:txBody>
      </p:sp>
      <p:sp>
        <p:nvSpPr>
          <p:cNvPr id="124" name="Google Shape;124;p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Comprender y aplicar modelos de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infraestructura moderna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con enfoque en arquitecturas en la nube.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Diseñar, desplegar y optimizar sistemas distribuidos, escalables y seguros.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Práctica al servicio del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Proyecto Integrador CloudLite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(diagramas, labs gratis, CI/CD conceptual).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Objeto de estudio: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diseño, implementación y gestión de arquitecturas en entornos cloud.</a:t>
            </a:r>
            <a:endParaRPr/>
          </a:p>
        </p:txBody>
      </p:sp>
      <p:sp>
        <p:nvSpPr>
          <p:cNvPr id="125" name="Google Shape;125;p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5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5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5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Objetivo y resultados de aprendizaje</a:t>
            </a:r>
            <a:endParaRPr/>
          </a:p>
        </p:txBody>
      </p:sp>
      <p:sp>
        <p:nvSpPr>
          <p:cNvPr id="133" name="Google Shape;133;p5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Objetivo: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diseñar e implementar arquitecturas con cloud, virtualización y escalabilidad.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RAA1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Comprende y aplica modelos de servicio cloud (IaaS, PaaS, SaaS).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RAA2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Configura entornos virtualizados y despliega sistemas distribuidos.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RAA3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— Evalúa seguridad, rendimiento y sostenibilidad de arquitecturas en la nube.</a:t>
            </a:r>
            <a:endParaRPr/>
          </a:p>
        </p:txBody>
      </p:sp>
      <p:sp>
        <p:nvSpPr>
          <p:cNvPr id="134" name="Google Shape;134;p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6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6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Cómo trabajamos en clase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0 (hoy)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encuadre del curso + evaluación +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socialización del Proyecto Integrador CloudLite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+ herramientas.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= diagnóstico + arranque del primer tema (introducción a arquitecturas cloud) — mismo bloque de hoy.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De la Clase 2 en adelante, cada sesión sigue la misma estructura: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Teoría Core breve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Taller PI CloudLite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→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cierre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 Modalidad: Clase 1 y parciales (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5 / 9 / 14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)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presencial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; resto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virtual síncrona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; festivos =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autónoma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Herramientas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gratis + navegador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(sin cloud de pago ni Docker Desktop). Talleres y quices/parciales se entregan/presentan en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(https://examlab.lovable.app/) — no es la plataforma oficial de la UNIAJC, la usamos solo para esto.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Hilo conductor de todo el semestre: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Proyecto Integrador CloudLite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</p:txBody>
      </p:sp>
      <p:sp>
        <p:nvSpPr>
          <p:cNvPr id="143" name="Google Shape;143;p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7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Sistema de evaluación (Acuerdo pedagógico)</a:t>
            </a:r>
            <a:endParaRPr/>
          </a:p>
        </p:txBody>
      </p:sp>
      <p:sp>
        <p:nvSpPr>
          <p:cNvPr id="151" name="Google Shape;151;p7"/>
          <p:cNvSpPr/>
          <p:nvPr/>
        </p:nvSpPr>
        <p:spPr>
          <a:xfrm>
            <a:off x="457200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457200" y="1261872"/>
            <a:ext cx="3545738" cy="502920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 txBox="1"/>
          <p:nvPr/>
        </p:nvSpPr>
        <p:spPr>
          <a:xfrm>
            <a:off x="594360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1</a:t>
            </a:r>
            <a:endParaRPr/>
          </a:p>
        </p:txBody>
      </p:sp>
      <p:sp>
        <p:nvSpPr>
          <p:cNvPr id="154" name="Google Shape;154;p7"/>
          <p:cNvSpPr txBox="1"/>
          <p:nvPr/>
        </p:nvSpPr>
        <p:spPr>
          <a:xfrm>
            <a:off x="594360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155" name="Google Shape;155;p7"/>
          <p:cNvSpPr txBox="1"/>
          <p:nvPr/>
        </p:nvSpPr>
        <p:spPr>
          <a:xfrm>
            <a:off x="594360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10/08 – 13/09/2026</a:t>
            </a:r>
            <a:endParaRPr/>
          </a:p>
        </p:txBody>
      </p:sp>
      <p:sp>
        <p:nvSpPr>
          <p:cNvPr id="156" name="Google Shape;156;p7"/>
          <p:cNvSpPr txBox="1"/>
          <p:nvPr/>
        </p:nvSpPr>
        <p:spPr>
          <a:xfrm>
            <a:off x="594360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1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(Clase 5)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Talleres o Quiz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10%</a:t>
            </a:r>
            <a:endParaRPr/>
          </a:p>
        </p:txBody>
      </p:sp>
      <p:sp>
        <p:nvSpPr>
          <p:cNvPr id="157" name="Google Shape;157;p7"/>
          <p:cNvSpPr/>
          <p:nvPr/>
        </p:nvSpPr>
        <p:spPr>
          <a:xfrm>
            <a:off x="4322978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4322978" y="1261872"/>
            <a:ext cx="3545738" cy="502920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 txBox="1"/>
          <p:nvPr/>
        </p:nvSpPr>
        <p:spPr>
          <a:xfrm>
            <a:off x="4460138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Corte 2</a:t>
            </a:r>
            <a:endParaRPr/>
          </a:p>
        </p:txBody>
      </p:sp>
      <p:sp>
        <p:nvSpPr>
          <p:cNvPr id="160" name="Google Shape;160;p7"/>
          <p:cNvSpPr txBox="1"/>
          <p:nvPr/>
        </p:nvSpPr>
        <p:spPr>
          <a:xfrm>
            <a:off x="4460138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FFD000"/>
                </a:solidFill>
                <a:latin typeface="Calibri"/>
                <a:ea typeface="Calibri"/>
                <a:cs typeface="Calibri"/>
                <a:sym typeface="Calibri"/>
              </a:rPr>
              <a:t>30%</a:t>
            </a:r>
            <a:endParaRPr/>
          </a:p>
        </p:txBody>
      </p:sp>
      <p:sp>
        <p:nvSpPr>
          <p:cNvPr id="161" name="Google Shape;161;p7"/>
          <p:cNvSpPr txBox="1"/>
          <p:nvPr/>
        </p:nvSpPr>
        <p:spPr>
          <a:xfrm>
            <a:off x="4460138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14/09 – 18/10/2026</a:t>
            </a:r>
            <a:endParaRPr/>
          </a:p>
        </p:txBody>
      </p:sp>
      <p:sp>
        <p:nvSpPr>
          <p:cNvPr id="162" name="Google Shape;162;p7"/>
          <p:cNvSpPr txBox="1"/>
          <p:nvPr/>
        </p:nvSpPr>
        <p:spPr>
          <a:xfrm>
            <a:off x="4460138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2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(Clase 9)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Talleres o Quiz · 10%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10%</a:t>
            </a:r>
            <a:endParaRPr/>
          </a:p>
        </p:txBody>
      </p:sp>
      <p:sp>
        <p:nvSpPr>
          <p:cNvPr id="163" name="Google Shape;163;p7"/>
          <p:cNvSpPr/>
          <p:nvPr/>
        </p:nvSpPr>
        <p:spPr>
          <a:xfrm>
            <a:off x="8188756" y="1261872"/>
            <a:ext cx="3545738" cy="4910327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8188756" y="1261872"/>
            <a:ext cx="3545738" cy="5029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 txBox="1"/>
          <p:nvPr/>
        </p:nvSpPr>
        <p:spPr>
          <a:xfrm>
            <a:off x="8325916" y="1307592"/>
            <a:ext cx="3271418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Corte 3</a:t>
            </a:r>
            <a:endParaRPr/>
          </a:p>
        </p:txBody>
      </p:sp>
      <p:sp>
        <p:nvSpPr>
          <p:cNvPr id="166" name="Google Shape;166;p7"/>
          <p:cNvSpPr txBox="1"/>
          <p:nvPr/>
        </p:nvSpPr>
        <p:spPr>
          <a:xfrm>
            <a:off x="8325916" y="1856231"/>
            <a:ext cx="3271418" cy="8686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40%</a:t>
            </a:r>
            <a:endParaRPr/>
          </a:p>
        </p:txBody>
      </p:sp>
      <p:sp>
        <p:nvSpPr>
          <p:cNvPr id="167" name="Google Shape;167;p7"/>
          <p:cNvSpPr txBox="1"/>
          <p:nvPr/>
        </p:nvSpPr>
        <p:spPr>
          <a:xfrm>
            <a:off x="8325916" y="2679191"/>
            <a:ext cx="327141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19/10 – 22/11/2026</a:t>
            </a:r>
            <a:endParaRPr/>
          </a:p>
        </p:txBody>
      </p:sp>
      <p:sp>
        <p:nvSpPr>
          <p:cNvPr id="168" name="Google Shape;168;p7"/>
          <p:cNvSpPr txBox="1"/>
          <p:nvPr/>
        </p:nvSpPr>
        <p:spPr>
          <a:xfrm>
            <a:off x="8325916" y="3090672"/>
            <a:ext cx="3271418" cy="29900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Parcial 3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(Clase 14) · 15%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PI CloudLite</a:t>
            </a: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20%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2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Asistencia · 5%</a:t>
            </a:r>
            <a:endParaRPr/>
          </a:p>
        </p:txBody>
      </p:sp>
      <p:sp>
        <p:nvSpPr>
          <p:cNvPr id="169" name="Google Shape;169;p7"/>
          <p:cNvSpPr txBox="1"/>
          <p:nvPr/>
        </p:nvSpPr>
        <p:spPr>
          <a:xfrm>
            <a:off x="457200" y="6309360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105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Parciales síncronos presenciales · nunca en festivo/autónoma. Día de parcial = solo evaluación.</a:t>
            </a:r>
            <a:endParaRPr/>
          </a:p>
        </p:txBody>
      </p:sp>
      <p:sp>
        <p:nvSpPr>
          <p:cNvPr id="170" name="Google Shape;170;p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8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0" y="960120"/>
            <a:ext cx="12191695" cy="32004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 txBox="1"/>
          <p:nvPr/>
        </p:nvSpPr>
        <p:spPr>
          <a:xfrm>
            <a:off x="457200" y="0"/>
            <a:ext cx="11277295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CONTENIDO</a:t>
            </a:r>
            <a:endParaRPr/>
          </a:p>
        </p:txBody>
      </p:sp>
      <p:sp>
        <p:nvSpPr>
          <p:cNvPr id="178" name="Google Shape;178;p8"/>
          <p:cNvSpPr txBox="1"/>
          <p:nvPr/>
        </p:nvSpPr>
        <p:spPr>
          <a:xfrm>
            <a:off x="457200" y="1106424"/>
            <a:ext cx="11277295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3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Sesión 0 + Clases 1–15 · grupo 6303C · lunes 10:00–12:00</a:t>
            </a:r>
            <a:endParaRPr/>
          </a:p>
        </p:txBody>
      </p:sp>
      <p:sp>
        <p:nvSpPr>
          <p:cNvPr id="179" name="Google Shape;179;p8"/>
          <p:cNvSpPr txBox="1"/>
          <p:nvPr/>
        </p:nvSpPr>
        <p:spPr>
          <a:xfrm>
            <a:off x="548640" y="1453895"/>
            <a:ext cx="5364327" cy="49469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Sesión 0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Presentación del curso: logística, evaluación y socialización del PI CloudLite (10/08)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Diagnóstico · Introducción a arquitecturas cloud (10/08)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2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Modelos de servicio IaaS / PaaS / SaaS (17/08) · Autónoma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3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Virtualización y contenedores (24/08)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4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Microservicios y arquitecturas distribuidas (31/08)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5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1 (07/09) · Parcial 1 · presencial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6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Seguridad en la nube (14/09)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7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Redes y almacenamiento cloud (21/09)</a:t>
            </a:r>
            <a:endParaRPr/>
          </a:p>
        </p:txBody>
      </p:sp>
      <p:sp>
        <p:nvSpPr>
          <p:cNvPr id="180" name="Google Shape;180;p8"/>
          <p:cNvSpPr txBox="1"/>
          <p:nvPr/>
        </p:nvSpPr>
        <p:spPr>
          <a:xfrm>
            <a:off x="6187287" y="1453895"/>
            <a:ext cx="5364327" cy="494690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8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Monitoreo, optimización y CI/CD (28/09)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9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2 (05/10) · Parcial 2 · presencial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10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Costos y sostenibilidad cloud (12/10) · Autónoma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11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Avance del proyecto final (CloudLite) (19/10)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12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Pruebas de rendimiento y preparación final (26/10)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13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Escalabilidad automática (02/11) · Autónoma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14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Parcial 3 (09/11) · Parcial 3 · presencial</a:t>
            </a:r>
            <a:endParaRPr/>
          </a:p>
          <a:p>
            <a:pPr indent="0" lvl="0" marL="0" marR="0" rtl="0" algn="l">
              <a:spcBef>
                <a:spcPts val="900"/>
              </a:spcBef>
              <a:spcAft>
                <a:spcPts val="0"/>
              </a:spcAft>
              <a:buNone/>
            </a:pP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Clase 15 –</a:t>
            </a:r>
            <a:r>
              <a:rPr b="0" i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Presentación del proyecto y cierre (16/11) · Autónoma</a:t>
            </a:r>
            <a:endParaRPr/>
          </a:p>
        </p:txBody>
      </p:sp>
      <p:sp>
        <p:nvSpPr>
          <p:cNvPr id="181" name="Google Shape;181;p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9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Proyecto Integrador · CloudLite</a:t>
            </a:r>
            <a:endParaRPr/>
          </a:p>
        </p:txBody>
      </p:sp>
      <p:sp>
        <p:nvSpPr>
          <p:cNvPr id="189" name="Google Shape;189;p9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Socialización de hoy (Sesión 0):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presentamos el PI completo para que lo tengan claro desde la Clase 1.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Diseño y simulación de una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 cloud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para una aplicación web/API (CloudLite App).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Entregables: diagramas C4/despliegue · lab contenedores (navegador) · CI/CD conceptual · informe + sustentación.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Pesa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20%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en el tercer corte; se construye por avances a lo largo del semestre.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–   Hilo conductor de cada clase regular/autónoma (teoría al servicio del entregable).</a:t>
            </a:r>
            <a:endParaRPr/>
          </a:p>
        </p:txBody>
      </p:sp>
      <p:sp>
        <p:nvSpPr>
          <p:cNvPr id="190" name="Google Shape;190;p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0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10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10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Herramientas del curso</a:t>
            </a:r>
            <a:endParaRPr/>
          </a:p>
        </p:txBody>
      </p:sp>
      <p:sp>
        <p:nvSpPr>
          <p:cNvPr id="198" name="Google Shape;198;p10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>
                <a:solidFill>
                  <a:srgbClr val="B8D8EE"/>
                </a:solidFill>
                <a:latin typeface="Calibri"/>
                <a:ea typeface="Calibri"/>
                <a:cs typeface="Calibri"/>
                <a:sym typeface="Calibri"/>
              </a:rPr>
              <a:t>Gratis · navegador / free tier · Floci en evaluación (piloto opcional)</a:t>
            </a:r>
            <a:endParaRPr/>
          </a:p>
        </p:txBody>
      </p:sp>
      <p:sp>
        <p:nvSpPr>
          <p:cNvPr id="199" name="Google Shape;199;p10"/>
          <p:cNvSpPr/>
          <p:nvPr/>
        </p:nvSpPr>
        <p:spPr>
          <a:xfrm>
            <a:off x="457200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draw.io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C4 · despliegue</a:t>
            </a:r>
            <a:endParaRPr/>
          </a:p>
        </p:txBody>
      </p:sp>
      <p:sp>
        <p:nvSpPr>
          <p:cNvPr id="203" name="Google Shape;203;p10"/>
          <p:cNvSpPr/>
          <p:nvPr/>
        </p:nvSpPr>
        <p:spPr>
          <a:xfrm>
            <a:off x="4283354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0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0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calidraw.png" id="206" name="Google Shape;206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70067" y="1792224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0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Excalidraw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Bocetos de taller</a:t>
            </a:r>
            <a:endParaRPr/>
          </a:p>
        </p:txBody>
      </p:sp>
      <p:sp>
        <p:nvSpPr>
          <p:cNvPr id="208" name="Google Shape;208;p10"/>
          <p:cNvSpPr/>
          <p:nvPr/>
        </p:nvSpPr>
        <p:spPr>
          <a:xfrm>
            <a:off x="8109508" y="1591056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p10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lay_with_docker.png" id="211" name="Google Shape;21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396222" y="1792224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0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Play with Docker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Lab contenedores (4h)</a:t>
            </a:r>
            <a:endParaRPr/>
          </a:p>
        </p:txBody>
      </p:sp>
      <p:sp>
        <p:nvSpPr>
          <p:cNvPr id="213" name="Google Shape;213;p10"/>
          <p:cNvSpPr/>
          <p:nvPr/>
        </p:nvSpPr>
        <p:spPr>
          <a:xfrm>
            <a:off x="457200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457200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457200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github_actions.png" id="216" name="Google Shape;216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743913" y="425653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10"/>
          <p:cNvSpPr txBox="1"/>
          <p:nvPr/>
        </p:nvSpPr>
        <p:spPr>
          <a:xfrm>
            <a:off x="530352" y="5381244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GitHub Actions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CI/CD conceptual</a:t>
            </a:r>
            <a:endParaRPr/>
          </a:p>
        </p:txBody>
      </p:sp>
      <p:sp>
        <p:nvSpPr>
          <p:cNvPr id="218" name="Google Shape;218;p10"/>
          <p:cNvSpPr/>
          <p:nvPr/>
        </p:nvSpPr>
        <p:spPr>
          <a:xfrm>
            <a:off x="4283354" y="4055364"/>
            <a:ext cx="3624986" cy="2299716"/>
          </a:xfrm>
          <a:prstGeom prst="roundRect">
            <a:avLst>
              <a:gd fmla="val 12000" name="adj"/>
            </a:avLst>
          </a:prstGeom>
          <a:solidFill>
            <a:srgbClr val="F2F2F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4283354" y="4055364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4283354" y="4119372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examlab.png" id="221" name="Google Shape;221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570067" y="4256532"/>
            <a:ext cx="1051560" cy="105156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0"/>
          <p:cNvSpPr txBox="1"/>
          <p:nvPr/>
        </p:nvSpPr>
        <p:spPr>
          <a:xfrm>
            <a:off x="4356506" y="5381244"/>
            <a:ext cx="347868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ExamLab</a:t>
            </a:r>
            <a:endParaRPr/>
          </a:p>
          <a:p>
            <a:pPr indent="0" lvl="0" marL="0" marR="0" rtl="0" algn="ctr">
              <a:spcBef>
                <a:spcPts val="200"/>
              </a:spcBef>
              <a:spcAft>
                <a:spcPts val="0"/>
              </a:spcAft>
              <a:buNone/>
            </a:pPr>
            <a:r>
              <a:rPr b="0" i="0" lang="en-US" sz="10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Talleres + quices/parciales</a:t>
            </a:r>
            <a:endParaRPr/>
          </a:p>
        </p:txBody>
      </p:sp>
      <p:sp>
        <p:nvSpPr>
          <p:cNvPr id="223" name="Google Shape;223;p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  <p:pic>
        <p:nvPicPr>
          <p:cNvPr id="224" name="Google Shape;224;p1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743925" y="1812127"/>
            <a:ext cx="1051550" cy="9751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_uniajc_color.png" id="230" name="Google Shape;230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71455" y="5998464"/>
            <a:ext cx="1463040" cy="64323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1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>
                <a:solidFill>
                  <a:srgbClr val="095292"/>
                </a:solidFill>
                <a:latin typeface="Calibri"/>
                <a:ea typeface="Calibri"/>
                <a:cs typeface="Calibri"/>
                <a:sym typeface="Calibri"/>
              </a:rPr>
              <a:t>¡Empezamos!</a:t>
            </a:r>
            <a:endParaRPr/>
          </a:p>
        </p:txBody>
      </p:sp>
      <p:sp>
        <p:nvSpPr>
          <p:cNvPr id="232" name="Google Shape;232;p11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Arquitectura de Sistemas Computacionales ·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FI303380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Grupo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6303C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Lunes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10:00 – 12:00</a:t>
            </a: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 · Periodo </a:t>
            </a:r>
            <a:r>
              <a:rPr b="1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2026-2</a:t>
            </a:r>
            <a:endParaRPr/>
          </a:p>
          <a:p>
            <a:pPr indent="0" lvl="0" marL="0" marR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16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UNIAJC · Ingeniería de Sistemas</a:t>
            </a:r>
            <a:endParaRPr/>
          </a:p>
        </p:txBody>
      </p:sp>
      <p:sp>
        <p:nvSpPr>
          <p:cNvPr id="233" name="Google Shape;233;p11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>
                <a:solidFill>
                  <a:srgbClr val="269CCB"/>
                </a:solidFill>
                <a:latin typeface="Calibri"/>
                <a:ea typeface="Calibri"/>
                <a:cs typeface="Calibri"/>
                <a:sym typeface="Calibri"/>
              </a:rPr>
              <a:t>CloudLite con criterio: escalable, seguro y sostenible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