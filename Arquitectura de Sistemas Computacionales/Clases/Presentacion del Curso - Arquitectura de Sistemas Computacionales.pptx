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i7CCd6bp9+NyRbzWRs6MmxMJC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customschemas.google.com/relationships/presentationmetadata" Target="meta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Arquitectura de Sistemas Computacionales</a:t>
            </a:r>
            <a:endParaRPr/>
          </a:p>
          <a:p>
            <a:pPr indent="0" lvl="0" marL="0" marR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Enfoque cloud · Proyecto Integrador CloudLite</a:t>
            </a:r>
            <a:endParaRPr/>
          </a:p>
        </p:txBody>
      </p:sp>
      <p:pic>
        <p:nvPicPr>
          <p:cNvPr descr="logo_uniajc_blanco.png" id="87" name="Google Shape;8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20040"/>
            <a:ext cx="1920240" cy="83696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Código: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FI303380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Grupo: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6303C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Periodo: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2026-2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Programa: Ingeniería de Sistemas · Facultad de Ingeniería · UNIAJC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Horario: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Lunes 10:00 – 12:00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(120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Modalidad: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Virtual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Docente: Julian Andres Castaño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Inicio de clase: </a:t>
            </a:r>
            <a:r>
              <a:rPr b="1" i="0" lang="en-US" sz="1600" u="none" cap="none" strike="noStrike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10:10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Julian Andres Castaño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2560320" y="2057400"/>
            <a:ext cx="9174300" cy="14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Líder Técnico · Speaker Tecnológico</a:t>
            </a:r>
            <a:endParaRPr/>
          </a:p>
        </p:txBody>
      </p:sp>
      <p:pic>
        <p:nvPicPr>
          <p:cNvPr descr="outlook_icon.png" id="99" name="Google Shape;9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0" y="366674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D7A8C"/>
                </a:solidFill>
                <a:latin typeface="Calibri"/>
                <a:ea typeface="Calibri"/>
                <a:cs typeface="Calibri"/>
                <a:sym typeface="Calibri"/>
              </a:rPr>
              <a:t>julianacastano@profesores.uniajc.edu.co</a:t>
            </a:r>
            <a:endParaRPr/>
          </a:p>
        </p:txBody>
      </p:sp>
      <p:pic>
        <p:nvPicPr>
          <p:cNvPr descr="logo_uniajc_color.png" id="101" name="Google Shape;10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879592"/>
            <a:ext cx="1645920" cy="723637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Rompe-hielo · Padlet del grupo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Escanea el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o abre el enlace del tablero colaborativo.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Deja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 nota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 cada columna: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¿Quién soy? (nombre + una habilidad o hobby)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Expectativa del curso (1 frase)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Pregunta al docente / al grupo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5–8 min · sin instalar · solo navegador.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Enlace: </a:t>
            </a:r>
            <a:r>
              <a:rPr b="1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https://padlet.com/andres_dfx/uniaj-l77e9uu16trgdvcp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_padlet_uniajc.png"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1787" y="1554480"/>
            <a:ext cx="320040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QR oficial Padlet UNIAJC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¿Para qué existe este curso?</a:t>
            </a:r>
            <a:endParaRPr/>
          </a:p>
        </p:txBody>
      </p:sp>
      <p:sp>
        <p:nvSpPr>
          <p:cNvPr id="124" name="Google Shape;124;p4"/>
          <p:cNvSpPr txBox="1"/>
          <p:nvPr/>
        </p:nvSpPr>
        <p:spPr>
          <a:xfrm>
            <a:off x="457200" y="1170432"/>
            <a:ext cx="112773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Comprender y aplicar modelos de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infraestructura moderna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con enfoque en arquitecturas en la nube.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Diseñar, desplegar y optimizar sistemas distribuidos, escalables y seguros.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Práctica al servicio del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Proyecto Integrador CloudLite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(diagramas, labs gratis, CI/CD conceptual).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Objeto de estudio: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diseño, implementación y gestión de arquitecturas en entornos cloud.</a:t>
            </a:r>
            <a:endParaRPr sz="1800"/>
          </a:p>
        </p:txBody>
      </p:sp>
      <p:sp>
        <p:nvSpPr>
          <p:cNvPr id="125" name="Google Shape;125;p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Objetivo y resultados de aprendizaje</a:t>
            </a:r>
            <a:endParaRPr/>
          </a:p>
        </p:txBody>
      </p:sp>
      <p:sp>
        <p:nvSpPr>
          <p:cNvPr id="133" name="Google Shape;133;p5"/>
          <p:cNvSpPr txBox="1"/>
          <p:nvPr/>
        </p:nvSpPr>
        <p:spPr>
          <a:xfrm>
            <a:off x="457200" y="1170432"/>
            <a:ext cx="112773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diseñar e implementar arquitecturas con cloud, virtualización y escalabilidad.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RAA1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Comprende y aplica modelos de servicio cloud (IaaS, PaaS, SaaS).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RAA2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Configura entornos virtualizados y despliega sistemas distribuidos.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RAA3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Evalúa seguridad, rendimiento y sostenibilidad de arquitecturas en la nube.</a:t>
            </a:r>
            <a:endParaRPr sz="1800"/>
          </a:p>
        </p:txBody>
      </p:sp>
      <p:sp>
        <p:nvSpPr>
          <p:cNvPr id="134" name="Google Shape;134;p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trabajamos en clase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457200" y="1170432"/>
            <a:ext cx="11277300" cy="29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0 (hoy)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= encuadre del curso + evaluación +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socialización del Proyecto Integrador CloudLite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+ herramientas.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= diagnóstico + arranque del primer tema (introducción a arquitecturas cloud) — mismo bloque de hoy.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 la sesión 2 en adelante, cada sesión sigue la misma estructura: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Teoría Core breve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→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Taller PI CloudLite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→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Modalidad: sesión 1 y parciales (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 / 9 / 12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presencial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; resto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virtual síncrona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; festivos =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Dos sesiones son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dobles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(dos temas en un bloque) y la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13 (16/11)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es de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sustentaciones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Herramientas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gratis + navegador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(sin cloud de pago ni Docker Desktop). Talleres y quices/parciales se entregan/presentan en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(https://uniaj.examlab.workers.dev/) — no es la plataforma oficial de la UNIAJC, la usamos solo para esto.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Hilo conductor de todo el semestre: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Proyecto Integrador CloudLite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/>
          </a:p>
        </p:txBody>
      </p:sp>
      <p:sp>
        <p:nvSpPr>
          <p:cNvPr id="143" name="Google Shape;143;p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Sistema de evaluación (Acuerdo pedagógico)</a:t>
            </a: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1</a:t>
            </a:r>
            <a:endParaRPr/>
          </a:p>
        </p:txBody>
      </p:sp>
      <p:sp>
        <p:nvSpPr>
          <p:cNvPr id="154" name="Google Shape;154;p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155" name="Google Shape;155;p7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24/08 – 27/09/2026</a:t>
            </a:r>
            <a:endParaRPr/>
          </a:p>
        </p:txBody>
      </p:sp>
      <p:sp>
        <p:nvSpPr>
          <p:cNvPr id="156" name="Google Shape;156;p7"/>
          <p:cNvSpPr txBox="1"/>
          <p:nvPr/>
        </p:nvSpPr>
        <p:spPr>
          <a:xfrm>
            <a:off x="594360" y="3090672"/>
            <a:ext cx="32715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1</a:t>
            </a: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(21/09 · sesión 5)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Talleres o Quiz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10%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Corte 2</a:t>
            </a:r>
            <a:endParaRPr/>
          </a:p>
        </p:txBody>
      </p:sp>
      <p:sp>
        <p:nvSpPr>
          <p:cNvPr id="160" name="Google Shape;160;p7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D000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28/09 – 25/10/2026</a:t>
            </a:r>
            <a:endParaRPr/>
          </a:p>
        </p:txBody>
      </p:sp>
      <p:sp>
        <p:nvSpPr>
          <p:cNvPr id="162" name="Google Shape;162;p7"/>
          <p:cNvSpPr txBox="1"/>
          <p:nvPr/>
        </p:nvSpPr>
        <p:spPr>
          <a:xfrm>
            <a:off x="4460138" y="3090672"/>
            <a:ext cx="32715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2</a:t>
            </a: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(19/10 · sesión 9)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Talleres o Quiz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10%</a:t>
            </a: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3</a:t>
            </a:r>
            <a:endParaRPr/>
          </a:p>
        </p:txBody>
      </p:sp>
      <p:sp>
        <p:nvSpPr>
          <p:cNvPr id="166" name="Google Shape;166;p7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40%</a:t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26/10 – 22/11/2026</a:t>
            </a:r>
            <a:endParaRPr/>
          </a:p>
        </p:txBody>
      </p:sp>
      <p:sp>
        <p:nvSpPr>
          <p:cNvPr id="168" name="Google Shape;168;p7"/>
          <p:cNvSpPr txBox="1"/>
          <p:nvPr/>
        </p:nvSpPr>
        <p:spPr>
          <a:xfrm>
            <a:off x="8325916" y="3090672"/>
            <a:ext cx="32715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3</a:t>
            </a: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(09/11 · sesión 12) · 15%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PI CloudLite</a:t>
            </a: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20%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5%</a:t>
            </a:r>
            <a:endParaRPr/>
          </a:p>
        </p:txBody>
      </p:sp>
      <p:sp>
        <p:nvSpPr>
          <p:cNvPr id="169" name="Google Shape;169;p7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Parciales síncronos presenciales · nunca en festivo/autónoma. Día de parcial = solo evaluación.</a:t>
            </a:r>
            <a:endParaRPr/>
          </a:p>
        </p:txBody>
      </p:sp>
      <p:sp>
        <p:nvSpPr>
          <p:cNvPr id="170" name="Google Shape;170;p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CONTENIDO</a:t>
            </a:r>
            <a:endParaRPr/>
          </a:p>
        </p:txBody>
      </p:sp>
      <p:sp>
        <p:nvSpPr>
          <p:cNvPr id="178" name="Google Shape;178;p8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Sesión 0 + 13 sesiones · grupo 6303C · lunes 10:00–12:00 · los 15 temas se conservan: dos sesiones son </a:t>
            </a:r>
            <a:r>
              <a:rPr b="1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dobles</a:t>
            </a:r>
            <a:r>
              <a:rPr b="0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y la sesión 13 es de </a:t>
            </a:r>
            <a:r>
              <a:rPr b="1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sustentaciones</a:t>
            </a:r>
            <a:endParaRPr/>
          </a:p>
        </p:txBody>
      </p:sp>
      <p:sp>
        <p:nvSpPr>
          <p:cNvPr id="179" name="Google Shape;179;p8"/>
          <p:cNvSpPr txBox="1"/>
          <p:nvPr/>
        </p:nvSpPr>
        <p:spPr>
          <a:xfrm>
            <a:off x="548640" y="1453895"/>
            <a:ext cx="5364300" cy="36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0 –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Presentación del curso: logística, evaluación y socialización del PI CloudLite (24/08)</a:t>
            </a:r>
            <a:endParaRPr sz="17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 –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Diagnóstico · Introducción a arquitecturas cloud (24/08)</a:t>
            </a:r>
            <a:endParaRPr sz="17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2 –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Modelos de servicio IaaS / PaaS / SaaS (31/08)</a:t>
            </a:r>
            <a:endParaRPr sz="17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3 –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Virtualización y contenedores (07/09)</a:t>
            </a:r>
            <a:endParaRPr sz="17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4 –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Microservicios y arquitecturas distribuidas (14/09)</a:t>
            </a:r>
            <a:endParaRPr sz="17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5 –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1 (21/09) · presencial · solo evaluación</a:t>
            </a:r>
            <a:endParaRPr sz="17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6 –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Seguridad en la nube (28/09)</a:t>
            </a:r>
            <a:endParaRPr sz="1700"/>
          </a:p>
        </p:txBody>
      </p:sp>
      <p:sp>
        <p:nvSpPr>
          <p:cNvPr id="180" name="Google Shape;180;p8"/>
          <p:cNvSpPr txBox="1"/>
          <p:nvPr/>
        </p:nvSpPr>
        <p:spPr>
          <a:xfrm>
            <a:off x="6187287" y="1453895"/>
            <a:ext cx="5364300" cy="3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7 –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Redes y almacenamiento cloud + Monitoreo, optimización y CI/CD (05/10) · sesión doble · Clases 7+8</a:t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8 –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Costos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y sostenibilidad cloud (12/10) · Autónoma (festivo) · material Clase 10</a:t>
            </a:r>
            <a:endParaRPr sz="16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9 –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2 (19/10) · presencial · solo evaluación</a:t>
            </a:r>
            <a:endParaRPr sz="16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10 –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Avance del proyecto final (CloudLite) + Pruebas de rendimiento y preparación final (26/10) · sesión doble · Clases 11+12</a:t>
            </a:r>
            <a:endParaRPr sz="16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11 –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Escalabilidad automática (02/11) · Autónoma (festivo) · material Clase 13</a:t>
            </a:r>
            <a:endParaRPr sz="16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12 –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3 (09/11) · presencial · solo evaluación</a:t>
            </a:r>
            <a:endParaRPr sz="16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13 –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Presentación del proyecto y cierre (16/11) · Sustentación del Proyecto Integrador · material Clase 15</a:t>
            </a:r>
            <a:endParaRPr sz="1600"/>
          </a:p>
        </p:txBody>
      </p:sp>
      <p:sp>
        <p:nvSpPr>
          <p:cNvPr id="181" name="Google Shape;181;p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Proyecto Integrador · CloudLite</a:t>
            </a:r>
            <a:endParaRPr/>
          </a:p>
        </p:txBody>
      </p:sp>
      <p:sp>
        <p:nvSpPr>
          <p:cNvPr id="189" name="Google Shape;189;p9"/>
          <p:cNvSpPr txBox="1"/>
          <p:nvPr/>
        </p:nvSpPr>
        <p:spPr>
          <a:xfrm>
            <a:off x="457200" y="1170432"/>
            <a:ext cx="11277300" cy="188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Socialización de hoy (Sesión 0):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presentamos el PI completo para que lo tengan claro desde la Clase 1.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Diseño y simulación de una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arquitectura cloud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para una aplicación web/API (CloudLite App).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Entregables: diagramas C4/despliegue · lab contenedores (navegador) · CI/CD conceptual · informe + sustentación.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Pesa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20%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 el tercer corte; se construye por avances a lo largo del semestre.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Hilo conductor de cada clase regular/autónoma (teoría al servicio del entregable).</a:t>
            </a:r>
            <a:endParaRPr sz="1800"/>
          </a:p>
        </p:txBody>
      </p:sp>
      <p:sp>
        <p:nvSpPr>
          <p:cNvPr id="190" name="Google Shape;190;p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del curso</a:t>
            </a:r>
            <a:endParaRPr/>
          </a:p>
        </p:txBody>
      </p:sp>
      <p:sp>
        <p:nvSpPr>
          <p:cNvPr id="198" name="Google Shape;198;p10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Gratis · navegador / free tier · Floci en evaluación (piloto opcional)</a:t>
            </a:r>
            <a:endParaRPr/>
          </a:p>
        </p:txBody>
      </p:sp>
      <p:sp>
        <p:nvSpPr>
          <p:cNvPr id="199" name="Google Shape;199;p10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rawio.png" id="202" name="Google Shape;20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9331" y="1847087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0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draw.io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C4 · despliegue</a:t>
            </a:r>
            <a:endParaRPr/>
          </a:p>
        </p:txBody>
      </p:sp>
      <p:sp>
        <p:nvSpPr>
          <p:cNvPr id="204" name="Google Shape;204;p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calidraw.png" id="207" name="Google Shape;207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5485" y="1847087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0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Excalidraw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Bocetos de taller</a:t>
            </a:r>
            <a:endParaRPr/>
          </a:p>
        </p:txBody>
      </p:sp>
      <p:sp>
        <p:nvSpPr>
          <p:cNvPr id="209" name="Google Shape;209;p10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abex.png" id="212" name="Google Shape;212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311640" y="1847087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0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LabEx Docker Playground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Lab contenedores</a:t>
            </a:r>
            <a:endParaRPr/>
          </a:p>
        </p:txBody>
      </p:sp>
      <p:sp>
        <p:nvSpPr>
          <p:cNvPr id="214" name="Google Shape;214;p1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ithub_actions.png" id="217" name="Google Shape;217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72408" y="4311396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0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GitHub Actions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CI/CD conceptual</a:t>
            </a:r>
            <a:endParaRPr/>
          </a:p>
        </p:txBody>
      </p:sp>
      <p:sp>
        <p:nvSpPr>
          <p:cNvPr id="219" name="Google Shape;219;p10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amlab.png" id="222" name="Google Shape;222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398562" y="4311396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0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Talleres + quices/parciales</a:t>
            </a:r>
            <a:endParaRPr/>
          </a:p>
        </p:txBody>
      </p:sp>
      <p:sp>
        <p:nvSpPr>
          <p:cNvPr id="224" name="Google Shape;224;p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color.png" id="230" name="Google Shape;23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5998464"/>
            <a:ext cx="1463040" cy="64323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1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¡Empezamos!</a:t>
            </a:r>
            <a:endParaRPr/>
          </a:p>
        </p:txBody>
      </p:sp>
      <p:sp>
        <p:nvSpPr>
          <p:cNvPr id="232" name="Google Shape;232;p11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Arquitectura de Sistemas Computacionales ·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FI303380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Grupo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6303C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Lunes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10:00 – 12:00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Periodo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2026-2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UNIAJC · Ingeniería de Sistemas</a:t>
            </a:r>
            <a:endParaRPr/>
          </a:p>
        </p:txBody>
      </p:sp>
      <p:sp>
        <p:nvSpPr>
          <p:cNvPr id="233" name="Google Shape;233;p11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CloudLite con criterio: escalable, seguro y sostenible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