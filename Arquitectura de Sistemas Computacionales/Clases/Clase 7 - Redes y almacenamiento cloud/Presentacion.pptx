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diagrama de despliegue responde una pregunta que los anteriores no responden: donde corre cada pieza y por que camino de red se hablan entre si.</a:t>
            </a:r>
          </a:p>
          <a:p/>
          <a:p>
            <a:r>
              <a:t>Hoy se hace el despliegue: en que nodos se ejecutan esos contenedores, en que zona de red esta cada nodo, por que puerto y protocolo pasa cada flecha, y donde quedan los datos; responde DONDE.</a:t>
            </a:r>
          </a:p>
          <a:p/>
          <a:p>
            <a:r>
              <a:t>Un nodo es cualquier lugar de ejecucion: una maquina virtual, un host de contenedores, un servicio gestionado.</a:t>
            </a:r>
          </a:p>
          <a:p/>
          <a:p>
            <a:r>
              <a:t>Los tres diagramas del curso son tres preguntas sobre el mismo sistema: el Context responde quien lo usa y de que depende, el Containers responde que piezas lo forman y como se hablan, y el Despliegue responde donde corre cada pieza y por que camino de red.</a:t>
            </a:r>
          </a:p>
          <a:p/>
          <a:p>
            <a:r>
              <a:t>Un error comun es dibujar en el Despliegue cajas que no existian en el Containers: si aparece una pieza nueva, primero se agrega al Containers.</a:t>
            </a:r>
          </a:p>
          <a:p/>
          <a:p>
            <a:r>
              <a:t>(No se proyecta) Conviene tener claro el mapa de los tres diagramas del curso, porque el estudiante cree que dibuja lo mismo tres veces.</a:t>
            </a:r>
          </a:p>
          <a:p/>
          <a:p>
            <a:r>
              <a:t>(No se proyecta) En la Clase 1 se hizo C4 Context: el sistema como una caja, quien lo usa y con que sistemas externos habla; responde QUIEN.</a:t>
            </a:r>
          </a:p>
          <a:p/>
          <a:p>
            <a:r>
              <a:t>(No se proyecta) En la Clase 4 se hizo C4 Containers: que aplicaciones, servicios y bases de datos lo componen por dentro y con que contratos se comunican; responde QUE.</a:t>
            </a:r>
          </a:p>
          <a:p/>
          <a:p>
            <a:r>
              <a:t>(No se proyecta) Es el mismo sistema desde un tercer angulo, no un sistema nuevo, y por eso los nombres deben coincidir con los de la Clase 4.</a:t>
            </a:r>
          </a:p>
          <a:p/>
          <a:p>
            <a:r>
              <a:t>(No se proyecta) Lo que se califica hoy son 25 de los 100 puntos de la actividad del Corte 2, en tres preguntas: 14 puntos el diagrama de despliegue, 5.5 el tipo de almacenamiento de cada componente y 5.5 la tabla de correspondencia con el C4 Containers.</a:t>
            </a:r>
          </a:p>
          <a:p/>
          <a:p>
            <a:r>
              <a:t>(No se proyecta) Y hay un dato que cambia como se dicta la clase: el entregable NO es una imagen.</a:t>
            </a:r>
          </a:p>
          <a:p/>
          <a:p>
            <a:r>
              <a:t>(No se proyecta) La pregunta 4 se responde con codigo Mermaid pegado en la plataforma del curso, que la plataforma renderiza en la misma pantalla, y 2 de esos 14 puntos son literalmente que renderice sin error.</a:t>
            </a:r>
          </a:p>
          <a:p/>
          <a:p>
            <a:r>
              <a:t>(No se proyecta) El boceto en draw.io o en Excalidraw sigue sirviendo, y es el paso 1 del metodo que se proyecta hoy, pero es un borrador de trabajo: no se entrega y no se califica.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puerto es un numero entre 1 y 65535 que identifica a que proceso de esa maquina se entrega el trafico: la direccion lleva el paquete al edificio, el puerto lo lleva a la oficina.</a:t>
            </a:r>
          </a:p>
          <a:p/>
          <a:p>
            <a:r>
              <a:t>Un protocolo es el idioma de esa conexion: HTTP o HTTPS para la API, el protocolo propio del motor para la base de datos.</a:t>
            </a:r>
          </a:p>
          <a:p/>
          <a:p>
            <a:r>
              <a:t>Hay puertos fijados por convencion registrada, no por ley fisica: 80 para HTTP, 443 para HTTPS, 5432 para PostgreSQL, 3306 para MySQL, 8080 para desarrollo.</a:t>
            </a:r>
          </a:p>
          <a:p/>
          <a:p>
            <a:r>
              <a:t>Nada impide correr una base de datos en el 9999, pero cambiar la convencion confunde a quien opera.</a:t>
            </a:r>
          </a:p>
          <a:p/>
          <a:p>
            <a:r>
              <a:t>NOTAS:</a:t>
            </a:r>
          </a:p>
          <a:p/>
          <a:p>
            <a:r>
              <a:t>Una direccion IP identifica una maquina dentro de una red.</a:t>
            </a:r>
          </a:p>
          <a:p/>
          <a:p>
            <a:r>
              <a:t>(No se proyecta) Para etiquetar ese diagrama hacen falta tres conceptos de red que el docente debe definir en una frase.</a:t>
            </a:r>
          </a:p>
          <a:p/>
          <a:p>
            <a:r>
              <a:t>(No se proyecta) Esto no es decorativo: la pregunta 4 da 2 puntos por que cada componente lleve su puerto etiquetado, y el diagrama de referencia usa exactamente tres, 443 en el edge, 8080 en la API y 5432 en la base de datos, que son los mismos que el estudiante ya escribio en el EXPOSE de su Dockerfile de la Clase 3.</a:t>
            </a:r>
          </a:p>
          <a:p/>
          <a:p>
            <a:r>
              <a:t>(No se proyecta) Ahi esta el amarre: cuando en Killercoda se ejecuto el contenedor publicando un puerto, esa linea era la decision de que superficie queda expuesta, tema de la Clase 6, y hoy esa decision se dibuja.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Cliente → edge/balanceador → app → datos: tres zonas, no dos.</a:t>
            </a:r>
          </a:p>
          <a:p/>
          <a:p>
            <a:r>
              <a:t>La base de datos va en la zona de datos, nunca en la pública: es el error más grave del diagrama.</a:t>
            </a:r>
          </a:p>
          <a:p/>
          <a:p>
            <a:r>
              <a:t>Frontera de confianza: la flecha donde termina lo que tú controlas (un SaaS externo).</a:t>
            </a:r>
          </a:p>
          <a:p/>
          <a:p>
            <a:r>
              <a:t>No inventen subnets AWS: usen zonas Pública / Privada / Datos.</a:t>
            </a:r>
          </a:p>
          <a:p/>
          <a:p>
            <a:r>
              <a:t>Pública: balanceador y web estática · Privada: la API · Datos: la base, que solo acepta conexiones desde la API.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Una subred es una subdivision de una red, y lo que la hace publica o privada no es su nombre sino sus rutas.</a:t>
            </a:r>
          </a:p>
          <a:p/>
          <a:p>
            <a:r>
              <a:t>Una subred publica tiene camino de entrada desde internet: alguien de afuera puede iniciar una conexion hacia lo que vive ahi.</a:t>
            </a:r>
          </a:p>
          <a:p/>
          <a:p>
            <a:r>
              <a:t>En CloudLite las mas faciles de senalar son las dos flechas que salen a lo que no es suyo, la pasarela de pagos y el correo transaccional: ninguno de los dos esta en las tres zonas, y la del molde que se proyecta es la de la pasarela.</a:t>
            </a:r>
          </a:p>
          <a:p/>
          <a:p>
            <a:r>
              <a:t>NOTAS:</a:t>
            </a:r>
          </a:p>
          <a:p/>
          <a:p>
            <a:r>
              <a:t>Una privada no lo tiene; solo se alcanza desde dentro, aunque normalmente si puede salir para descargar actualizaciones.</a:t>
            </a:r>
          </a:p>
          <a:p/>
          <a:p>
            <a:r>
              <a:t>(No se proyecta) Sobre esa distincion se construye la regla de las zonas, con tres nombres exactos porque son tres zonas y no dos: en la zona PUBLICA van el punto de entrada, el balanceador o proxy inverso, y la aplicacion web estatica, que es publica sin que eso sea una fuga porque no lleva secretos dentro; el cliente que llega de internet se dibuja FUERA de las tres zonas, porque es el actor y no una pieza que el estudiante despliegue; la API va en la zona PRIVADA, alcanzable solo desde el edge; y los datos van en una tercera zona, la de DATOS, que solo acepta conexiones desde la aplicacion y no tiene salida a internet.</a:t>
            </a:r>
          </a:p>
          <a:p/>
          <a:p>
            <a:r>
              <a:t>(No se proyecta) Los 4 puntos de ubicacion de la pregunta 4 se pierden COMPLETOS si la base de datos queda en la zona publica: no es un descuento parcial, es el error que la pregunta esta disenada para detectar.</a:t>
            </a:r>
          </a:p>
          <a:p/>
          <a:p>
            <a:r>
              <a:t>(No se proyecta) Y las tres zonas rotuladas valen otros 4 puntos por si mismas, asi que un diagrama de dos zonas, aunque tenga la base de datos bien puesta, ya empezo perdiendo.</a:t>
            </a:r>
          </a:p>
          <a:p/>
          <a:p>
            <a:r>
              <a:t>(No se proyecta) Conviene ademas nombrar la frontera de confianza: es la linea donde termina lo que el estudiante controla y empieza lo que no.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DNS es el directorio distribuido que traduce un nombre legible, como cloudlite.example, en la direccion IP donde atiende el servicio; el registro tipo A apunta un nombre a una IP y el CNAME apunta un nombre a otro nombre.</a:t>
            </a:r>
          </a:p>
          <a:p/>
          <a:p>
            <a:r>
              <a:t>Cada registro tiene un TTL, los segundos que los demas guardan la respuesta en cache; tipicamente de 300 a 3600, asi que un cambio de direccion no es instantaneo para todos.</a:t>
            </a:r>
          </a:p>
          <a:p/>
          <a:p>
            <a:r>
              <a:t>Su funcion menos obvia y mas importante es el chequeo de salud: consulta un endpoint como /health, por convencion cada 10 a 30 segundos, y si falla dos o tres veces seguidas retira esa instancia de la rotacion hasta que responda.</a:t>
            </a:r>
          </a:p>
          <a:p/>
          <a:p>
            <a:r>
              <a:t>Es tambien donde termina el TLS, es decir donde se descifra HTTPS.</a:t>
            </a:r>
          </a:p>
          <a:p/>
          <a:p>
            <a:r>
              <a:t>En CloudLite el recorrido es concreto: cloudlite.example resuelve a la IP del balanceador, que escucha en el 443, termina el TLS y reenvia la peticion a una instancia de la API en el 8080.</a:t>
            </a:r>
          </a:p>
          <a:p/>
          <a:p>
            <a:r>
              <a:t>Si una instancia no responde a su /health, el balanceador deja de enviarle trafico: es la primera forma de disponibilidad que el sistema obtiene sin escribir codigo.</a:t>
            </a:r>
          </a:p>
          <a:p/>
          <a:p>
            <a:r>
              <a:t>NOTAS:</a:t>
            </a:r>
          </a:p>
          <a:p/>
          <a:p>
            <a:r>
              <a:t>El balanceador de carga recibe todas las peticiones y las reparte entre varias instancias iguales del mismo servicio, con algoritmos como round robin o menor numero de conexiones activas.</a:t>
            </a:r>
          </a:p>
          <a:p/>
          <a:p>
            <a:r>
              <a:t>(No se proyecta) Dos piezas mas hay que explicar sin dudar.</a:t>
            </a:r>
          </a:p>
          <a:p/>
          <a:p>
            <a:r>
              <a:t>(No se proyecta) En el diagrama de hoy el balanceador es el habitante de la zona publica, y el /health que consulta es el mismo contrato de salud que se verifico con curl en la Clase 3 y el primer monitoreo real de la Clase 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El almacenamiento se decide por la caracteristica del dato, y aqui hay que ser estricto con el vocabulario: se usan TRES palabras y no mas: Relacional, Bloque y Objeto.</a:t>
            </a:r>
          </a:p>
          <a:p/>
          <a:p>
            <a:r>
              <a:t>RELACIONAL es el motor de base de datos que guarda registros estructurados y permite cruzarlos con consultas y transacciones; la caracteristica del dato que lo exige es que ese dato se cruza con otro dato, y la prueba es que existe una consulta que los junta.</a:t>
            </a:r>
          </a:p>
          <a:p/>
          <a:p>
            <a:r>
              <a:t>BLOQUE es un disco crudo que el sistema operativo formatea y monta; se conecta a una sola instancia a la vez, es lo que hay debajo del volumen de un contenedor</a:t>
            </a:r>
          </a:p>
          <a:p/>
          <a:p>
            <a:r>
              <a:t>Y se mide en gigabytes y en IOPS, operaciones de lectura y escritura por segundo; la caracteristica que lo exige es que el dato lo monta un solo proceso y se escribe por partes, sin recuperarse entero.</a:t>
            </a:r>
          </a:p>
          <a:p/>
          <a:p>
            <a:r>
              <a:t>OBJETO no tiene carpetas reales: es un espacio plano de contenedores llamados buckets donde cada objeto se guarda bajo una clave, se lee y escribe por HTTP y se reemplaza completo en vez de editarse por partes</a:t>
            </a:r>
          </a:p>
          <a:p/>
          <a:p>
            <a:r>
              <a:t>Es practicamente ilimitado, barato y accesible por URL; la caracteristica que lo exige es que el dato se recupera entero, sin partes.</a:t>
            </a:r>
          </a:p>
          <a:p/>
          <a:p>
            <a:r>
              <a:t>El numero que ordena la decision es el precio relativo: un gigabyte al mes en objetos cuesta del orden de dos a tres centavos de dolar, en disco de bloque cerca de cuatro veces mas, y en base de datos gestionada aun mas porque se paga computo.</a:t>
            </a:r>
          </a:p>
          <a:p/>
          <a:p>
            <a:r>
              <a:t>Son referencias de mercado, no reglas fijas, y aqui no se aprovisiona nada de pago: el valor esta en justificar.</a:t>
            </a:r>
          </a:p>
          <a:p/>
          <a:p>
            <a:r>
              <a:t>El resumen operativo es: Relacional cuando el dato se consulta cruzado con otro y necesita transacciones</a:t>
            </a:r>
          </a:p>
          <a:p/>
          <a:p>
            <a:r>
              <a:t>NOTAS:</a:t>
            </a:r>
          </a:p>
          <a:p/>
          <a:p>
            <a:r>
              <a:t>Y cada eleccion se justifica nombrando la caracteristica del dato.</a:t>
            </a:r>
          </a:p>
          <a:p/>
          <a:p>
            <a:r>
              <a:t>Bloque cuando un solo proceso monta un disco y escribe en el como si fuera local</a:t>
            </a:r>
          </a:p>
          <a:p/>
          <a:p>
            <a:r>
              <a:t>Objeto cuando el archivo se guarda y se recupera entero por una clave o una URL.</a:t>
            </a:r>
          </a:p>
          <a:p/>
          <a:p>
            <a:r>
              <a:t>(No se proyecta) Vale la pena escribirlas en el tablero y sostenerlas toda la clase.</a:t>
            </a:r>
          </a:p>
          <a:p/>
          <a:p>
            <a:r>
              <a:t>(No se proyecta) Hay una cuarta categoria en la literatura, el almacenamiento de ARCHIVOS, un sistema de archivos compartido que varias instancias montan por red; conviene nombrarla como contraste para que nadie se sienta enganado, pero no es una de las tres palabras que la pregunta admite, y quien cree necesitarla casi siempre esta describiendo un caso que en la nube se resuelve con objeto.</a:t>
            </a:r>
          </a:p>
          <a:p/>
          <a:p>
            <a:r>
              <a:t>(No se proyecta) «Es mas rapido», «es lo que usa todo el mundo» o «es lo normal» no son caracteristicas del dato y no suman ni un punto, aunque el tipo elegido sea el correcto.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Tres tipos y sus nombres exactos: Relacional · Bloque · Objeto.</a:t>
            </a:r>
          </a:p>
          <a:p/>
          <a:p>
            <a:r>
              <a:t>Relacional: el dato se cruza con otro · Bloque: lo monta un solo proceso · Objeto: se recupera entero.</a:t>
            </a:r>
          </a:p>
          <a:p/>
          <a:p>
            <a:r>
              <a:t>Se justifica por la característica del dato, no por preferencia.</a:t>
            </a:r>
          </a:p>
          <a:p/>
          <a:p>
            <a:r>
              <a:t>Si tu dominio no maneja archivos, declara que no necesitas objeto: es una decisión válida.</a:t>
            </a:r>
          </a:p>
          <a:p/>
          <a:p>
            <a:r>
              <a:t>Ejemplos: turnos → Relacional · disco de una VM → Bloque · fotos de perfil → Objeto.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La solucion ingenua es guardar el archivo en una columna binaria de la base de datos.</a:t>
            </a:r>
          </a:p>
          <a:p/>
          <a:p>
            <a:r>
              <a:t>El diseno correcto separa: el archivo va a almacenamiento de objetos y la base guarda una fila con la clave del objeto, el dueno, el tamano, el tipo de contenido y la fecha.</a:t>
            </a:r>
          </a:p>
          <a:p/>
          <a:p>
            <a:r>
              <a:t>Hay una razon adicional: un contenedor es efimero, lo que se escriba en su sistema de archivos desaparece cuando se reemplaza, y con dos instancias detras del balanceador el archivo subido a una no existe en la otra.</a:t>
            </a:r>
          </a:p>
          <a:p/>
          <a:p>
            <a:r>
              <a:t>(No se proyecta) El ejemplo que hace visible la decision, y el error de diseno que conviene provocar: CloudLite permite subir una foto de perfil o adjuntar un PDF.</a:t>
            </a:r>
          </a:p>
          <a:p/>
          <a:p>
            <a:r>
              <a:t>(No se proyecta) Hay que dejar que el estudiante la proponga y luego cuantificarla: dos megabytes por usuario y cinco mil usuarios son diez gigabytes de binarios dentro de una base cuyos datos utiles podrian ser doscientos megabytes; cada respaldo arrastra esos diez gigabytes y la cache del motor se llena de bytes que ninguna consulta filtra.</a:t>
            </a:r>
          </a:p>
          <a:p/>
          <a:p>
            <a:r>
              <a:t>(No se proyecta) Mantener los contenedores sin estado es la condicion del escalado horizontal de la Clase 13.</a:t>
            </a:r>
          </a:p>
          <a:p/>
          <a:p>
            <a:r>
              <a:t>(No se proyecta) Y ahora la otra mitad, que es la que sorprende al docente: si el dominio del estudiante no maneja archivos, imagenes ni documentos adjuntos, la respuesta correcta y completa es declarar que NO necesita almacenamiento de objetos y explicar por que.</a:t>
            </a:r>
          </a:p>
          <a:p/>
          <a:p>
            <a:r>
              <a:t>(No se proyecta) La rubrica lo dice al reves de como el grupo lo espera: suma completo quien lo declare y justifique, y se descuenta a quien agregue un almacen de objetos sin un dato que lo pida.</a:t>
            </a:r>
          </a:p>
          <a:p/>
          <a:p>
            <a:r>
              <a:t>(No se proyecta) Hay que anunciarlo antes del taller, porque si no medio salon inventa un bucket «porque suena a cloud» y pierde puntos por agregar.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Se demuestra con una tabla de tres columnas: «Componente en el C4 Containers», «Componente en el Despliegue» y «Zona».</a:t>
            </a:r>
          </a:p>
          <a:p/>
          <a:p>
            <a:r>
              <a:t>Un ejemplo de fila completa es: «API de turnos» en el Containers, «API de turnos (contenedor, 8080)» en el Despliegue, zona Privada.</a:t>
            </a:r>
          </a:p>
          <a:p/>
          <a:p>
            <a:r>
              <a:t>El cliente y el proveedor de correo son las filas sin par: aparecen en los diagramas, pero no se despliegan dentro del sistema.</a:t>
            </a:r>
          </a:p>
          <a:p/>
          <a:p>
            <a:r>
              <a:t>Un error comun es renombrar en el Despliegue: «backend» en lugar de «API de turnos».</a:t>
            </a:r>
          </a:p>
          <a:p/>
          <a:p>
            <a:r>
              <a:t>Para quien lee son dos piezas distintas, y nadie puede saber si el despliegue cubre todo el sistema.</a:t>
            </a:r>
          </a:p>
          <a:p/>
          <a:p>
            <a:r>
              <a:t>(No se proyecta) Queda la trazabilidad, donde mas puntos se pierden y donde vive una pregunta entera.</a:t>
            </a:r>
          </a:p>
          <a:p/>
          <a:p>
            <a:r>
              <a:t>(No se proyecta) Los nombres de las cajas del despliegue deben ser los mismos que los contenedores del C4 Containers de la Clase 4: si alli el servicio se llamaba api-citas, hoy no puede aparecer como backend, ni puede aparecer una caja nueva que nadie declaro.</a:t>
            </a:r>
          </a:p>
          <a:p/>
          <a:p>
            <a:r>
              <a:t>(No se proyecta) Los 5.5 puntos se reparten asi, y conviene decirlo en voz alta: 2 puntos la explicacion de por que los nombres deben coincidir, y la respuesta esperada es que los dos diagramas son el MISMO sistema visto desde angulos distintos, uno dice que piezas hay y el otro donde se ejecutan; 2.5 puntos la tabla completa, con una fila por componente y su zona; y 1 punto listar los renombres que se aplicaron, o declarar explicitamente que no hubo ninguno, que tambien vale.</a:t>
            </a:r>
          </a:p>
          <a:p/>
          <a:p>
            <a:r>
              <a:t>(No se proyecta) La trampa esta en la palabra completa: se descuenta si la tabla deja fuera un componente que si aparece en alguno de los dos diagramas, asi que hay que instruir el gesto de llenarla con los dos diagramas abiertos al lado y contando cajas.</a:t>
            </a:r>
          </a:p>
          <a:p/>
          <a:p>
            <a:r>
              <a:t>(No se proyecta) La cadena aguas abajo es directa: la Clase 6 identifico amenazas y fronteras de confianza en texto y hoy esas fronteras se vuelven zonas dibujadas; la Clase 8 tomara cada flecha para definir que se mide en ella, porque no se puede monitorear un camino que no esta dibujado; la Clase 10 calculara el costo de estas mismas cajas, asi que la eleccion de almacenamiento es tambien decision de costo; y la Clase 13 discutira cual caja se replica y cual 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Tres zonas rotuladas · cada componente en su zona · puerto de cada uno.</a:t>
            </a:r>
          </a:p>
          <a:p/>
          <a:p>
            <a:r>
              <a:t>Fronteras de confianza marcadas · que renderice sin error en un visor Mermaid.</a:t>
            </a:r>
          </a:p>
          <a:p/>
          <a:p>
            <a:r>
              <a:t>Debe alinearse con el C4 Containers (mismos nombres).</a:t>
            </a:r>
          </a:p>
          <a:p/>
          <a:p>
            <a:r>
              <a:t>Cada flecha lleva protocolo y puerto: HTTPS 443 al edge, HTTP 8080 a la API, PostgreSQL 5432 a la base.</a:t>
            </a:r>
          </a:p>
          <a:p/>
          <a:p>
            <a:r>
              <a:t>Los servicios externos (correo, pagos) se dibujan fuera de las tres zonas: ahí está la frontera de confianza.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 usuario final abre cloudlite.example en su telefono; el DNS resuelve el nombre a la IP publica del balanceador; el navegador abre una conexion HTTPS al puerto 443 de ese balanceador</a:t>
            </a:r>
          </a:p>
          <a:p/>
          <a:p>
            <a:r>
              <a:t>Que vive en la zona publica; el balanceador elige una de las dos instancias del contenedor de la API, en la zona privada</a:t>
            </a:r>
          </a:p>
          <a:p/>
          <a:p>
            <a:r>
              <a:t>Y le reenvia la peticion por HTTP al puerto 8080; la API consulta el motor de base de datos en la zona de datos por el puerto 5432 y devuelve JSON por el mismo camino.</a:t>
            </a:r>
          </a:p>
          <a:p/>
          <a:p>
            <a:r>
              <a:t>El recorrido completo tiene 4 saltos: DNS, balanceador en la zona publica, API en la zona privada y base de datos en la zona de datos.</a:t>
            </a:r>
          </a:p>
          <a:p/>
          <a:p>
            <a:r>
              <a:t>Cada salto de red dentro de un mismo centro de datos suma del orden de 1 milisegundo, y por eso un diseno que encadena servicios innecesarios es lento aunque cada pieza sea rapida.</a:t>
            </a:r>
          </a:p>
          <a:p/>
          <a:p>
            <a:r>
              <a:t>(No se proyecta) La mejor forma de dictar la clase es seguir una peticion de CloudLite de punta a punta sobre el diagrama proyectado.</a:t>
            </a:r>
          </a:p>
          <a:p/>
          <a:p>
            <a:r>
              <a:t>(No se proyecta) Ese recorrido, con cada flecha etiquetada con protocolo y puerto y cada caja dentro de su zona, es la estructura que la pregunta 4 califica; lo que se pega en la plataforma es su version en Mermaid, que es la seccion siguiente.</a:t>
            </a:r>
          </a:p>
          <a:p/>
          <a:p>
            <a:r>
              <a:t>(No se proyecta) Sirve tambien para citar numeros: una consulta simple bien indexada responde entre 1 y 20 milisegundos, y el objetivo que se formalizara en la Clase 12 suele fijarse por convencion en menos de 300 milisegundos para el 95 por ciento de las peticiones.</a:t>
            </a:r>
          </a:p>
          <a:p/>
          <a:p>
            <a:r>
              <a:t>(No se proyecta) Con eso el grupo ve que si una pantalla dispara veinte consultas encadenadas el problema es de diseno y no de servidor.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Primera: la palabra inicial.</a:t>
            </a:r>
          </a:p>
          <a:p/>
          <a:p>
            <a:r>
              <a:t>Segunda: cada zona es un subgraph con su rotulo entre comillas y su propio end.</a:t>
            </a:r>
          </a:p>
          <a:p/>
          <a:p>
            <a:r>
              <a:t>Los subgraph son las tres zonas; olvidar un end es la causa numero uno de que el diagrama no se dibuje, porque el bloque queda abierto.</a:t>
            </a:r>
          </a:p>
          <a:p/>
          <a:p>
            <a:r>
              <a:t>Tercera: la forma de la caja dice que es la pieza.</a:t>
            </a:r>
          </a:p>
          <a:p/>
          <a:p>
            <a:r>
              <a:t>Los corchetes rectos son un proceso o servicio, y la combinacion de corchete y parentesis, es decir abrir corchete parentesis, es la base de datos, que se lee como cilindro.</a:t>
            </a:r>
          </a:p>
          <a:p/>
          <a:p>
            <a:r>
              <a:t>Cuarta: el puerto va DENTRO del rotulo de la caja, separado con la etiqueta de salto de linea de HTML, y la etiqueta de la flecha va entre barras verticales y comillas, con el protocolo y el puerto.</a:t>
            </a:r>
          </a:p>
          <a:p/>
          <a:p>
            <a:r>
              <a:t>Es la forma mas segura de etiquetar los puertos sin ensuciar el dibujo.</a:t>
            </a:r>
          </a:p>
          <a:p/>
          <a:p>
            <a:r>
              <a:t>Quinta: el servicio externo se declara FUERA de los tres subgraph, y la flecha que llega a el se rotula como frontera de confianza; asi las fronteras quedan visibles en el propio dibujo y no en un comentario aparte.</a:t>
            </a:r>
          </a:p>
          <a:p/>
          <a:p>
            <a:r>
              <a:t>Los comentarios de Mermaid empiezan con dos signos de porcentaje, no se dibujan y tienen que ir en LINEA PROPIA: uno pegado al final de la linea de un nodo puede tumbar el renderizado.</a:t>
            </a:r>
          </a:p>
          <a:p/>
          <a:p>
            <a:r>
              <a:t>Y si un rotulo lleva parentesis, dos signos de puntuacion o comillas, hay que envolverlo en comillas dobles, porque sin ellas el analizador se detiene ahi.</a:t>
            </a:r>
          </a:p>
          <a:p/>
          <a:p>
            <a:r>
              <a:t>NOTAS:</a:t>
            </a:r>
          </a:p>
          <a:p/>
          <a:p>
            <a:r>
              <a:t>Se escribe flowchart LR, donde LR significa de izquierda a derecha, y es lo que hace que el recorrido cliente, edge, aplicacion, datos se lea como un flujo y no como una torre.</a:t>
            </a:r>
          </a:p>
          <a:p/>
          <a:p>
            <a:r>
              <a:t>Dos advertencias practicas.</a:t>
            </a:r>
          </a:p>
          <a:p/>
          <a:p>
            <a:r>
              <a:t>Sirven para dejar una nota al evaluador, no para responder.</a:t>
            </a:r>
          </a:p>
          <a:p/>
          <a:p>
            <a:r>
              <a:t>PREGUNTAS FRECUENTES DEL GRUPO</a:t>
            </a:r>
          </a:p>
          <a:p/>
          <a:p>
            <a:r>
              <a:t>«Si la base de datos es privada, como se conecta la API?» Privado significa inalcanzable desde internet</a:t>
            </a:r>
          </a:p>
          <a:p/>
          <a:p>
            <a:r>
              <a:t>No inalcanzable en absoluto: la API esta en la misma red y llega por el nombre interno y el puerto del motor; quien no puede llegar es el usuario final ni un atacante externo.</a:t>
            </a:r>
          </a:p>
          <a:p/>
          <a:p>
            <a:r>
              <a:t>«Esto no esta mal por no ser una VPC real de un proveedor?» Lo que se evalua es el razonamiento sobre zonas, puertos y ubicacion de los datos, no la sintaxis de una marca; el curso usa herramientas gratis en navegador y no pide cuenta de pago ni tarjeta.</a:t>
            </a:r>
          </a:p>
          <a:p/>
          <a:p>
            <a:r>
              <a:t>Un sistema de dos cajas se dibuja con cliente y edge en la publica, la aplicacion en la privada y la base en la de datos</a:t>
            </a:r>
          </a:p>
          <a:p/>
          <a:p>
            <a:r>
              <a:t>Si de verdad no hay balanceador, el punto de entrada es el servidor web o el proxy que atiende el 443, y ese es el habitante de la zona publica.</a:t>
            </a:r>
          </a:p>
          <a:p/>
          <a:p>
            <a:r>
              <a:t>Estas cuatro aparecen todos los semestres y las cuatro se responden con material que ya esta proyectado.</a:t>
            </a:r>
          </a:p>
          <a:p/>
          <a:p>
            <a:r>
              <a:t>Si un desarrollador necesita entrar, se hace por un unico host intermedio controlado, llamado bastion.</a:t>
            </a:r>
          </a:p>
          <a:p/>
          <a:p>
            <a:r>
              <a:t>Por eso las zonas se llaman Publica, Privada y Datos.</a:t>
            </a:r>
          </a:p>
          <a:p/>
          <a:p>
            <a:r>
              <a:t>El PNG exportado va a la carpeta del Proyecto Integrador, para el informe, y no reemplaza la respuesta.</a:t>
            </a:r>
          </a:p>
          <a:p/>
          <a:p>
            <a:r>
              <a:t>(No se proyecta) La diapositiva del molde existe porque el estudiante puede tener el modelo correcto en la cabeza y perder puntos por sintaxis, y porque 2 de los 14 son que el diagrama renderice.</a:t>
            </a:r>
          </a:p>
          <a:p/>
          <a:p>
            <a:r>
              <a:t>(No se proyecta) Hay cinco cosas que el docente debe poder explicar sin dudar.</a:t>
            </a:r>
          </a:p>
          <a:p/>
          <a:p>
            <a:r>
              <a:t>(No se proyecta) Vale la pena senalar la caja de la base de datos y decir «esta forma, dentro de este subgraph, son 4 de los 14 puntos».</a:t>
            </a:r>
          </a:p>
          <a:p/>
          <a:p>
            <a:r>
              <a:t>(No se proyecta) El procedimiento que se proyecta en la demo es el que conviene repetir tres veces: dibujar el boceto donde sea, traducirlo a Mermaid (una IA lo hace bien, y ahi hay que decir la frase exacta: la IA acierta la sintaxis, no el modelo), pegarlo en un visor Mermaid y MIRARLO RENDERIZADO.</a:t>
            </a:r>
          </a:p>
          <a:p/>
          <a:p>
            <a:r>
              <a:t>(No se proyecta) Si no se dibuja, se corrige ahi mismo; nadie califica un codigo que no dibuja.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7432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457200" y="274320"/>
            <a:ext cx="1828800" cy="797105"/>
          </a:xfrm>
          <a:prstGeom prst="rect">
            <a:avLst/>
          </a:prstGeom>
        </p:spPr>
      </p:pic>
      <p:sp>
        <p:nvSpPr>
          <p:cNvPr id="5" name="TextBox 4"/>
          <p:cNvSpPr txBox="1"/>
          <p:nvPr/>
        </p:nvSpPr>
        <p:spPr>
          <a:xfrm>
            <a:off x="10180015" y="320040"/>
            <a:ext cx="1645920" cy="365760"/>
          </a:xfrm>
          <a:prstGeom prst="rect">
            <a:avLst/>
          </a:prstGeom>
          <a:noFill/>
        </p:spPr>
        <p:txBody>
          <a:bodyPr wrap="square">
            <a:spAutoFit/>
          </a:bodyPr>
          <a:lstStyle/>
          <a:p>
            <a:pPr algn="r"/>
            <a:r>
              <a:rPr sz="1200" b="1" i="0">
                <a:solidFill>
                  <a:srgbClr val="269CCB"/>
                </a:solidFill>
                <a:latin typeface="Calibri"/>
              </a:rPr>
              <a:t>Clase 7</a:t>
            </a:r>
          </a:p>
        </p:txBody>
      </p:sp>
      <p:sp>
        <p:nvSpPr>
          <p:cNvPr id="6" name="TextBox 5"/>
          <p:cNvSpPr txBox="1"/>
          <p:nvPr/>
        </p:nvSpPr>
        <p:spPr>
          <a:xfrm>
            <a:off x="457200" y="914400"/>
            <a:ext cx="11277295" cy="1371600"/>
          </a:xfrm>
          <a:prstGeom prst="rect">
            <a:avLst/>
          </a:prstGeom>
          <a:noFill/>
        </p:spPr>
        <p:txBody>
          <a:bodyPr wrap="square" anchor="ctr"/>
          <a:lstStyle/>
          <a:p>
            <a:pPr algn="ctr"/>
            <a:r>
              <a:rPr sz="2800" b="1" i="0">
                <a:solidFill>
                  <a:srgbClr val="FFFFFF"/>
                </a:solidFill>
                <a:latin typeface="Calibri"/>
              </a:rPr>
              <a:t>Redes y almacenamiento cloud</a:t>
            </a:r>
          </a:p>
          <a:p>
            <a:pPr algn="ctr">
              <a:spcBef>
                <a:spcPts val="800"/>
              </a:spcBef>
            </a:pPr>
            <a:r>
              <a:rPr sz="1500" b="0" i="0">
                <a:solidFill>
                  <a:srgbClr val="269CCB"/>
                </a:solidFill>
                <a:latin typeface="Calibri"/>
              </a:rPr>
              <a:t>Diagrama de despliegue de la app</a:t>
            </a:r>
          </a:p>
        </p:txBody>
      </p:sp>
      <p:sp>
        <p:nvSpPr>
          <p:cNvPr id="7" name="TextBox 6"/>
          <p:cNvSpPr txBox="1"/>
          <p:nvPr/>
        </p:nvSpPr>
        <p:spPr>
          <a:xfrm>
            <a:off x="457200" y="3200400"/>
            <a:ext cx="11277295" cy="2560320"/>
          </a:xfrm>
          <a:prstGeom prst="rect">
            <a:avLst/>
          </a:prstGeom>
          <a:noFill/>
        </p:spPr>
        <p:txBody>
          <a:bodyPr wrap="square">
            <a:spAutoFit/>
          </a:bodyPr>
          <a:lstStyle/>
          <a:p>
            <a:pPr>
              <a:spcAft>
                <a:spcPts val="800"/>
              </a:spcAft>
            </a:pPr>
            <a:r>
              <a:rPr sz="1500" b="0" i="0">
                <a:solidFill>
                  <a:srgbClr val="333333"/>
                </a:solidFill>
                <a:latin typeface="Calibri"/>
              </a:rPr>
              <a:t>Bloque </a:t>
            </a:r>
            <a:r>
              <a:rPr sz="1500" b="1" i="0">
                <a:solidFill>
                  <a:srgbClr val="333333"/>
                </a:solidFill>
                <a:latin typeface="Calibri"/>
              </a:rPr>
              <a:t>120 min</a:t>
            </a:r>
            <a:r>
              <a:rPr sz="1500" b="0" i="0">
                <a:solidFill>
                  <a:srgbClr val="333333"/>
                </a:solidFill>
                <a:latin typeface="Calibri"/>
              </a:rPr>
              <a:t> · sesión </a:t>
            </a:r>
            <a:r>
              <a:rPr sz="1500" b="1" i="0">
                <a:solidFill>
                  <a:srgbClr val="333333"/>
                </a:solidFill>
                <a:latin typeface="Calibri"/>
              </a:rPr>
              <a:t>virtual síncrona</a:t>
            </a:r>
            <a:r>
              <a:rPr sz="1500" b="0" i="0">
                <a:solidFill>
                  <a:srgbClr val="333333"/>
                </a:solidFill>
                <a:latin typeface="Calibri"/>
              </a:rPr>
              <a:t> por Google Meet.</a:t>
            </a:r>
          </a:p>
          <a:p>
            <a:pPr>
              <a:spcAft>
                <a:spcPts val="800"/>
              </a:spcAft>
            </a:pPr>
            <a:r>
              <a:rPr sz="1500" b="0" i="0">
                <a:solidFill>
                  <a:srgbClr val="333333"/>
                </a:solidFill>
                <a:latin typeface="Calibri"/>
              </a:rPr>
              <a:t>Conceptos del tema, ejemplos resueltos sobre la app y cierre conceptual.</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Agenda de hoy (120 min)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0–10</a:t>
            </a:r>
            <a:r>
              <a:rPr sz="2000" b="0" i="0">
                <a:solidFill>
                  <a:srgbClr val="333333"/>
                </a:solidFill>
                <a:latin typeface="Calibri"/>
              </a:rPr>
              <a:t> Encuadre del tema y objetivos de la clase.</a:t>
            </a:r>
          </a:p>
          <a:p>
            <a:pPr>
              <a:spcAft>
                <a:spcPts val="800"/>
              </a:spcAft>
            </a:pPr>
            <a:r>
              <a:rPr sz="2000" b="1" i="0">
                <a:solidFill>
                  <a:srgbClr val="333333"/>
                </a:solidFill>
                <a:latin typeface="Calibri"/>
              </a:rPr>
              <a:t>10–70</a:t>
            </a:r>
            <a:r>
              <a:rPr sz="2000" b="0" i="0">
                <a:solidFill>
                  <a:srgbClr val="333333"/>
                </a:solidFill>
                <a:latin typeface="Calibri"/>
              </a:rPr>
              <a:t> Conceptos del tema, uno por lámina, con ejemplos sobre la app.</a:t>
            </a:r>
          </a:p>
          <a:p>
            <a:pPr>
              <a:spcAft>
                <a:spcPts val="800"/>
              </a:spcAft>
            </a:pPr>
            <a:r>
              <a:rPr sz="2000" b="0" i="0">
                <a:solidFill>
                  <a:srgbClr val="333333"/>
                </a:solidFill>
                <a:latin typeface="Calibri"/>
              </a:rPr>
              <a:t>–   </a:t>
            </a:r>
            <a:r>
              <a:rPr sz="2000" b="1" i="0">
                <a:solidFill>
                  <a:srgbClr val="333333"/>
                </a:solidFill>
                <a:latin typeface="Calibri"/>
              </a:rPr>
              <a:t>70–100</a:t>
            </a:r>
            <a:r>
              <a:rPr sz="2000" b="0" i="0">
                <a:solidFill>
                  <a:srgbClr val="333333"/>
                </a:solidFill>
                <a:latin typeface="Calibri"/>
              </a:rPr>
              <a:t> Ejemplos resueltos y demostración sobre el tema.</a:t>
            </a:r>
          </a:p>
          <a:p>
            <a:pPr>
              <a:spcAft>
                <a:spcPts val="800"/>
              </a:spcAft>
            </a:pPr>
            <a:r>
              <a:rPr sz="2000" b="1" i="0">
                <a:solidFill>
                  <a:srgbClr val="333333"/>
                </a:solidFill>
                <a:latin typeface="Calibri"/>
              </a:rPr>
              <a:t>100–115</a:t>
            </a:r>
            <a:r>
              <a:rPr sz="2000" b="0" i="0">
                <a:solidFill>
                  <a:srgbClr val="333333"/>
                </a:solidFill>
                <a:latin typeface="Calibri"/>
              </a:rPr>
              <a:t> Práctica (opcional, guía en la carpeta de la clase).</a:t>
            </a:r>
          </a:p>
          <a:p>
            <a:pPr>
              <a:spcAft>
                <a:spcPts val="800"/>
              </a:spcAft>
            </a:pPr>
            <a:r>
              <a:rPr sz="2000" b="1" i="0">
                <a:solidFill>
                  <a:srgbClr val="333333"/>
                </a:solidFill>
                <a:latin typeface="Calibri"/>
              </a:rPr>
              <a:t>115–120</a:t>
            </a:r>
            <a:r>
              <a:rPr sz="2000" b="0" i="0">
                <a:solidFill>
                  <a:srgbClr val="333333"/>
                </a:solidFill>
                <a:latin typeface="Calibri"/>
              </a:rPr>
              <a:t> Preguntas y cierre conceptual.</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clase</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Modelar red lógica (cliente, edge, app, datos) sin VPC de pago.</a:t>
            </a:r>
          </a:p>
          <a:p>
            <a:pPr>
              <a:spcAft>
                <a:spcPts val="800"/>
              </a:spcAft>
            </a:pPr>
            <a:r>
              <a:rPr sz="2000" b="0" i="0">
                <a:solidFill>
                  <a:srgbClr val="333333"/>
                </a:solidFill>
                <a:latin typeface="Calibri"/>
              </a:rPr>
              <a:t>–   Elegir tipo de almacenamiento según el caso de uso de la app.</a:t>
            </a:r>
          </a:p>
          <a:p>
            <a:pPr>
              <a:spcAft>
                <a:spcPts val="800"/>
              </a:spcAft>
            </a:pPr>
            <a:r>
              <a:rPr sz="2000" b="0" i="0">
                <a:solidFill>
                  <a:srgbClr val="333333"/>
                </a:solidFill>
                <a:latin typeface="Calibri"/>
              </a:rPr>
              <a:t>–   Completar el diagrama de </a:t>
            </a:r>
            <a:r>
              <a:rPr sz="2000" b="1" i="0">
                <a:solidFill>
                  <a:srgbClr val="333333"/>
                </a:solidFill>
                <a:latin typeface="Calibri"/>
              </a:rPr>
              <a:t>despliegue</a:t>
            </a:r>
            <a:r>
              <a:rPr sz="2000" b="0" i="0">
                <a:solidFill>
                  <a:srgbClr val="333333"/>
                </a:solidFill>
                <a:latin typeface="Calibri"/>
              </a:rPr>
              <a:t>.</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tercer angulo: que responde el diagrama de despliegue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s-angul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res-angul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res-angulo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diagrama de despliegue responde una pregunta que los anteriores no responden: donde corre cada pieza y por que camino de red se hablan entre si.</a:t>
            </a:r>
          </a:p>
          <a:p>
            <a:pPr>
              <a:spcAft>
                <a:spcPts val="800"/>
              </a:spcAft>
            </a:pPr>
            <a:r>
              <a:rPr sz="2000" b="0" i="0">
                <a:solidFill>
                  <a:srgbClr val="333333"/>
                </a:solidFill>
                <a:latin typeface="Calibri"/>
              </a:rPr>
              <a:t>–   Un nodo es cualquier lugar de ejecucion: una maquina virtual, un host de contenedores, un servicio gestionado.</a:t>
            </a:r>
          </a:p>
          <a:p>
            <a:pPr>
              <a:spcAft>
                <a:spcPts val="800"/>
              </a:spcAft>
            </a:pPr>
            <a:r>
              <a:rPr sz="2000" b="0" i="0">
                <a:solidFill>
                  <a:srgbClr val="333333"/>
                </a:solidFill>
                <a:latin typeface="Calibri"/>
              </a:rPr>
              <a:t>–   Un error comun es dibujar en el Despliegue cajas que no existian en el Containers: si aparece una pieza nueva, primero se agrega al Containers.</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IP, puerto y protocolo: las tres etiquetas de cada flecha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p-puerto-protocol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ip-puerto-protocol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ip-puerto-protocol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Una dirección IP identifica una máquina dentro de una red.</a:t>
            </a:r>
          </a:p>
          <a:p>
            <a:pPr>
              <a:spcAft>
                <a:spcPts val="800"/>
              </a:spcAft>
            </a:pPr>
            <a:r>
              <a:rPr sz="2000" b="0" i="0">
                <a:solidFill>
                  <a:srgbClr val="333333"/>
                </a:solidFill>
                <a:latin typeface="Calibri"/>
              </a:rPr>
              <a:t>–   Un puerto, entre 1 y 65535, dice a qué proceso de esa máquina se entrega el tráfico.</a:t>
            </a:r>
          </a:p>
          <a:p>
            <a:pPr>
              <a:spcAft>
                <a:spcPts val="800"/>
              </a:spcAft>
            </a:pPr>
            <a:r>
              <a:rPr sz="2000" b="0" i="0">
                <a:solidFill>
                  <a:srgbClr val="333333"/>
                </a:solidFill>
                <a:latin typeface="Calibri"/>
              </a:rPr>
              <a:t>–   Un protocolo es el idioma de la conexión: HTTPS para la API, el del motor para la base de datos.</a:t>
            </a:r>
          </a:p>
          <a:p>
            <a:pPr>
              <a:spcAft>
                <a:spcPts val="800"/>
              </a:spcAft>
            </a:pPr>
            <a:r>
              <a:rPr sz="2000" b="0" i="0">
                <a:solidFill>
                  <a:srgbClr val="333333"/>
                </a:solidFill>
                <a:latin typeface="Calibri"/>
              </a:rPr>
              <a:t>–   Puertos por convención registrada: 443 HTTPS, 80 HTTP, 5432 PostgreSQL, 8080 desarrollo.</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Red lógica para el diagrama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tres-zonas-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Cliente → edge/balanceador → app → datos: </a:t>
            </a:r>
            <a:r>
              <a:rPr sz="2000" b="1" i="0">
                <a:solidFill>
                  <a:srgbClr val="333333"/>
                </a:solidFill>
                <a:latin typeface="Calibri"/>
              </a:rPr>
              <a:t>tres zonas</a:t>
            </a:r>
            <a:r>
              <a:rPr sz="2000" b="0" i="0">
                <a:solidFill>
                  <a:srgbClr val="333333"/>
                </a:solidFill>
                <a:latin typeface="Calibri"/>
              </a:rPr>
              <a:t>, no dos.</a:t>
            </a:r>
          </a:p>
          <a:p>
            <a:pPr>
              <a:spcAft>
                <a:spcPts val="800"/>
              </a:spcAft>
            </a:pPr>
            <a:r>
              <a:rPr sz="2000" b="0" i="0">
                <a:solidFill>
                  <a:srgbClr val="333333"/>
                </a:solidFill>
                <a:latin typeface="Calibri"/>
              </a:rPr>
              <a:t>–   </a:t>
            </a:r>
            <a:r>
              <a:rPr sz="2000" b="1" i="0">
                <a:solidFill>
                  <a:srgbClr val="333333"/>
                </a:solidFill>
                <a:latin typeface="Calibri"/>
              </a:rPr>
              <a:t>La base de datos va en la zona de datos</a:t>
            </a:r>
            <a:r>
              <a:rPr sz="2000" b="0" i="0">
                <a:solidFill>
                  <a:srgbClr val="333333"/>
                </a:solidFill>
                <a:latin typeface="Calibri"/>
              </a:rPr>
              <a:t>, nunca en la pública: es el error más grave del diagrama.</a:t>
            </a:r>
          </a:p>
          <a:p>
            <a:pPr>
              <a:spcAft>
                <a:spcPts val="800"/>
              </a:spcAft>
            </a:pPr>
            <a:r>
              <a:rPr sz="2000" b="0" i="0">
                <a:solidFill>
                  <a:srgbClr val="333333"/>
                </a:solidFill>
                <a:latin typeface="Calibri"/>
              </a:rPr>
              <a:t>–   </a:t>
            </a:r>
            <a:r>
              <a:rPr sz="2000" b="1" i="0">
                <a:solidFill>
                  <a:srgbClr val="333333"/>
                </a:solidFill>
                <a:latin typeface="Calibri"/>
              </a:rPr>
              <a:t>Frontera de confianza:</a:t>
            </a:r>
            <a:r>
              <a:rPr sz="2000" b="0" i="0">
                <a:solidFill>
                  <a:srgbClr val="333333"/>
                </a:solidFill>
                <a:latin typeface="Calibri"/>
              </a:rPr>
              <a:t> la flecha donde termina lo que tú controlas (un SaaS externo).</a:t>
            </a:r>
          </a:p>
          <a:p>
            <a:pPr>
              <a:spcAft>
                <a:spcPts val="800"/>
              </a:spcAft>
            </a:pPr>
            <a:r>
              <a:rPr sz="2000" b="0" i="0">
                <a:solidFill>
                  <a:srgbClr val="333333"/>
                </a:solidFill>
                <a:latin typeface="Calibri"/>
              </a:rPr>
              <a:t>–   No inventen subnets AWS: usen zonas </a:t>
            </a:r>
            <a:r>
              <a:rPr sz="2000" b="1" i="0">
                <a:solidFill>
                  <a:srgbClr val="333333"/>
                </a:solidFill>
                <a:latin typeface="Calibri"/>
              </a:rPr>
              <a:t>Pública / Privada / Datos</a:t>
            </a:r>
            <a:r>
              <a:rPr sz="2000" b="0" i="0">
                <a:solidFill>
                  <a:srgbClr val="333333"/>
                </a:solidFill>
                <a:latin typeface="Calibri"/>
              </a:rPr>
              <a:t>.</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Ejemplo de diagrama de despliegue (Deployment)</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Zonas de confianza: qué es público, qué es privado, dónde viven los datos</a:t>
            </a:r>
          </a:p>
        </p:txBody>
      </p:sp>
      <p:sp>
        <p:nvSpPr>
          <p:cNvPr id="6" name="Rounded Rectangle 5"/>
          <p:cNvSpPr/>
          <p:nvPr/>
        </p:nvSpPr>
        <p:spPr>
          <a:xfrm>
            <a:off x="822960" y="2194560"/>
            <a:ext cx="3291840" cy="1005840"/>
          </a:xfrm>
          <a:prstGeom prst="roundRect">
            <a:avLst>
              <a:gd name="adj" fmla="val 12000"/>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095292"/>
                </a:solidFill>
                <a:latin typeface="Calibri"/>
              </a:rPr>
              <a:t>Zona pública
(balanceador / edge)</a:t>
            </a:r>
          </a:p>
        </p:txBody>
      </p:sp>
      <p:sp>
        <p:nvSpPr>
          <p:cNvPr id="7" name="Rounded Rectangle 6"/>
          <p:cNvSpPr/>
          <p:nvPr/>
        </p:nvSpPr>
        <p:spPr>
          <a:xfrm>
            <a:off x="4754880" y="2194560"/>
            <a:ext cx="3291840" cy="1005840"/>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Zona privada
(app de la app)</a:t>
            </a:r>
          </a:p>
        </p:txBody>
      </p:sp>
      <p:sp>
        <p:nvSpPr>
          <p:cNvPr id="8" name="Rounded Rectangle 7"/>
          <p:cNvSpPr/>
          <p:nvPr/>
        </p:nvSpPr>
        <p:spPr>
          <a:xfrm>
            <a:off x="8595360" y="2194560"/>
            <a:ext cx="3291840" cy="1005840"/>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Zona de datos
(base de datos)</a:t>
            </a:r>
          </a:p>
        </p:txBody>
      </p:sp>
      <p:cxnSp>
        <p:nvCxnSpPr>
          <p:cNvPr id="9" name="Connector 8"/>
          <p:cNvCxnSpPr/>
          <p:nvPr/>
        </p:nvCxnSpPr>
        <p:spPr>
          <a:xfrm>
            <a:off x="4114800" y="2697480"/>
            <a:ext cx="640080"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611879" y="2496312"/>
            <a:ext cx="1645920" cy="320040"/>
          </a:xfrm>
          <a:prstGeom prst="rect">
            <a:avLst/>
          </a:prstGeom>
          <a:noFill/>
        </p:spPr>
        <p:txBody>
          <a:bodyPr wrap="square">
            <a:spAutoFit/>
          </a:bodyPr>
          <a:lstStyle/>
          <a:p>
            <a:pPr algn="ctr"/>
            <a:r>
              <a:rPr sz="1000" b="0" i="1">
                <a:solidFill>
                  <a:srgbClr val="666666"/>
                </a:solidFill>
                <a:latin typeface="Calibri"/>
              </a:rPr>
              <a:t>solo el 8080</a:t>
            </a:r>
          </a:p>
        </p:txBody>
      </p:sp>
      <p:cxnSp>
        <p:nvCxnSpPr>
          <p:cNvPr id="11" name="Connector 10"/>
          <p:cNvCxnSpPr/>
          <p:nvPr/>
        </p:nvCxnSpPr>
        <p:spPr>
          <a:xfrm>
            <a:off x="8046720" y="2697480"/>
            <a:ext cx="548640" cy="0"/>
          </a:xfrm>
          <a:prstGeom prst="line">
            <a:avLst/>
          </a:prstGeom>
          <a:ln w="22225">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0" y="2496312"/>
            <a:ext cx="1645920" cy="320040"/>
          </a:xfrm>
          <a:prstGeom prst="rect">
            <a:avLst/>
          </a:prstGeom>
          <a:noFill/>
        </p:spPr>
        <p:txBody>
          <a:bodyPr wrap="square">
            <a:spAutoFit/>
          </a:bodyPr>
          <a:lstStyle/>
          <a:p>
            <a:pPr algn="ctr"/>
            <a:r>
              <a:rPr sz="1000" b="0" i="1">
                <a:solidFill>
                  <a:srgbClr val="666666"/>
                </a:solidFill>
                <a:latin typeface="Calibri"/>
              </a:rPr>
              <a:t>solo el 5432</a:t>
            </a:r>
          </a:p>
        </p:txBody>
      </p:sp>
      <p:sp>
        <p:nvSpPr>
          <p:cNvPr id="13" name="TextBox 12"/>
          <p:cNvSpPr txBox="1"/>
          <p:nvPr/>
        </p:nvSpPr>
        <p:spPr>
          <a:xfrm>
            <a:off x="457200" y="6263640"/>
            <a:ext cx="11277295" cy="411480"/>
          </a:xfrm>
          <a:prstGeom prst="rect">
            <a:avLst/>
          </a:prstGeom>
          <a:noFill/>
        </p:spPr>
        <p:txBody>
          <a:bodyPr wrap="square">
            <a:spAutoFit/>
          </a:bodyPr>
          <a:lstStyle/>
          <a:p>
            <a:r>
              <a:rPr sz="1100" b="0" i="1">
                <a:solidFill>
                  <a:srgbClr val="666666"/>
                </a:solidFill>
                <a:latin typeface="Calibri"/>
              </a:rPr>
              <a:t>La base de datos NUNCA vive en la zona pública: solo acepta conexiones de la API por el 5432. Los nombres coinciden con los del C4 Containers (Clase 4) — mismo sistema, otro ángulo. El correo externo queda fuera de las zonas.</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Subred publica y privada: lo definen las rutas, no el nombre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utas-subred-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rutas-subred-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rutas-subred-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Una subred es una subdivision de una red, y lo que la hace publica o privada no es su nombre sino sus rutas.</a:t>
            </a:r>
          </a:p>
          <a:p>
            <a:pPr>
              <a:spcAft>
                <a:spcPts val="800"/>
              </a:spcAft>
            </a:pPr>
            <a:r>
              <a:rPr sz="2000" b="0" i="0">
                <a:solidFill>
                  <a:srgbClr val="333333"/>
                </a:solidFill>
                <a:latin typeface="Calibri"/>
              </a:rPr>
              <a:t>–   Una subred publica tiene camino de entrada desde internet: alguien de afuera puede iniciar una conexion hacia lo que vive ahi.</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DNS y balanceador de carga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ns-balanceador-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dns-balanceador-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dns-balanceador-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DNS es el directorio distribuido que traduce un nombre legible, como turnos.example, en la direccion IP donde atiende el servicio.</a:t>
            </a:r>
          </a:p>
          <a:p>
            <a:pPr>
              <a:spcAft>
                <a:spcPts val="800"/>
              </a:spcAft>
            </a:pPr>
            <a:r>
              <a:rPr sz="2000" b="0" i="0">
                <a:solidFill>
                  <a:srgbClr val="333333"/>
                </a:solidFill>
                <a:latin typeface="Calibri"/>
              </a:rPr>
              <a:t>–   El registro tipo A apunta un nombre a una IP y el CNAME apunta un nombre a otro nombre.</a:t>
            </a:r>
          </a:p>
          <a:p>
            <a:pPr>
              <a:spcAft>
                <a:spcPts val="800"/>
              </a:spcAft>
            </a:pPr>
            <a:r>
              <a:rPr sz="2000" b="0" i="0">
                <a:solidFill>
                  <a:srgbClr val="333333"/>
                </a:solidFill>
                <a:latin typeface="Calibri"/>
              </a:rPr>
              <a:t>–   Cada registro tiene un TTL, los segundos que los demas guardan la respuesta en cache;</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Los tres nombres de almacenamiento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s-almacenamient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res-almacenamient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res-almacenamiento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Relacional: registros estructurados que se cruzan con consultas y transacciones.</a:t>
            </a:r>
          </a:p>
          <a:p>
            <a:pPr>
              <a:spcAft>
                <a:spcPts val="800"/>
              </a:spcAft>
            </a:pPr>
            <a:r>
              <a:rPr sz="2000" b="0" i="0">
                <a:solidFill>
                  <a:srgbClr val="333333"/>
                </a:solidFill>
                <a:latin typeface="Calibri"/>
              </a:rPr>
              <a:t>–   Bloque: un disco crudo que el sistema operativo monta, conectado a una sola instancia a la vez.</a:t>
            </a:r>
          </a:p>
          <a:p>
            <a:pPr>
              <a:spcAft>
                <a:spcPts val="800"/>
              </a:spcAft>
            </a:pPr>
            <a:r>
              <a:rPr sz="2000" b="0" i="0">
                <a:solidFill>
                  <a:srgbClr val="333333"/>
                </a:solidFill>
                <a:latin typeface="Calibri"/>
              </a:rPr>
              <a:t>–   Objeto: archivos bajo una clave, leídos por HTTP y reemplazados completos; barato y casi ilimitado.</a:t>
            </a:r>
          </a:p>
          <a:p>
            <a:pPr>
              <a:spcAft>
                <a:spcPts val="800"/>
              </a:spcAft>
            </a:pPr>
            <a:r>
              <a:rPr sz="2000" b="0" i="0">
                <a:solidFill>
                  <a:srgbClr val="333333"/>
                </a:solidFill>
                <a:latin typeface="Calibri"/>
              </a:rPr>
              <a:t>–   Se elige por la característica del dato, no por costumbre.</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Almacenamiento</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elegir-almacen-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Tres tipos y sus nombres exactos: </a:t>
            </a:r>
            <a:r>
              <a:rPr sz="2000" b="1" i="0">
                <a:solidFill>
                  <a:srgbClr val="333333"/>
                </a:solidFill>
                <a:latin typeface="Calibri"/>
              </a:rPr>
              <a:t>Relacional</a:t>
            </a:r>
            <a:r>
              <a:rPr sz="2000" b="0" i="0">
                <a:solidFill>
                  <a:srgbClr val="333333"/>
                </a:solidFill>
                <a:latin typeface="Calibri"/>
              </a:rPr>
              <a:t> · </a:t>
            </a:r>
            <a:r>
              <a:rPr sz="2000" b="1" i="0">
                <a:solidFill>
                  <a:srgbClr val="333333"/>
                </a:solidFill>
                <a:latin typeface="Calibri"/>
              </a:rPr>
              <a:t>Bloque</a:t>
            </a:r>
            <a:r>
              <a:rPr sz="2000" b="0" i="0">
                <a:solidFill>
                  <a:srgbClr val="333333"/>
                </a:solidFill>
                <a:latin typeface="Calibri"/>
              </a:rPr>
              <a:t> · </a:t>
            </a:r>
            <a:r>
              <a:rPr sz="2000" b="1" i="0">
                <a:solidFill>
                  <a:srgbClr val="333333"/>
                </a:solidFill>
                <a:latin typeface="Calibri"/>
              </a:rPr>
              <a:t>Objeto</a:t>
            </a:r>
            <a:r>
              <a:rPr sz="2000" b="0" i="0">
                <a:solidFill>
                  <a:srgbClr val="333333"/>
                </a:solidFill>
                <a:latin typeface="Calibri"/>
              </a:rPr>
              <a:t>.</a:t>
            </a:r>
          </a:p>
          <a:p>
            <a:pPr>
              <a:spcAft>
                <a:spcPts val="800"/>
              </a:spcAft>
            </a:pPr>
            <a:r>
              <a:rPr sz="2000" b="0" i="0">
                <a:solidFill>
                  <a:srgbClr val="333333"/>
                </a:solidFill>
                <a:latin typeface="Calibri"/>
              </a:rPr>
              <a:t>–   Relacional: el dato se cruza con otro · Bloque: lo monta un solo proceso · Objeto: se recupera entero.</a:t>
            </a:r>
          </a:p>
          <a:p>
            <a:pPr>
              <a:spcAft>
                <a:spcPts val="800"/>
              </a:spcAft>
            </a:pPr>
            <a:r>
              <a:rPr sz="2000" b="0" i="0">
                <a:solidFill>
                  <a:srgbClr val="333333"/>
                </a:solidFill>
                <a:latin typeface="Calibri"/>
              </a:rPr>
              <a:t>–   Se justifica por la </a:t>
            </a:r>
            <a:r>
              <a:rPr sz="2000" b="1" i="0">
                <a:solidFill>
                  <a:srgbClr val="333333"/>
                </a:solidFill>
                <a:latin typeface="Calibri"/>
              </a:rPr>
              <a:t>característica del dato</a:t>
            </a:r>
            <a:r>
              <a:rPr sz="2000" b="0" i="0">
                <a:solidFill>
                  <a:srgbClr val="333333"/>
                </a:solidFill>
                <a:latin typeface="Calibri"/>
              </a:rPr>
              <a:t>, no por preferencia.</a:t>
            </a:r>
          </a:p>
          <a:p>
            <a:pPr>
              <a:spcAft>
                <a:spcPts val="800"/>
              </a:spcAft>
            </a:pPr>
            <a:r>
              <a:rPr sz="2000" b="0" i="0">
                <a:solidFill>
                  <a:srgbClr val="333333"/>
                </a:solidFill>
                <a:latin typeface="Calibri"/>
              </a:rPr>
              <a:t>–   Si tu dominio no maneja archivos, </a:t>
            </a:r>
            <a:r>
              <a:rPr sz="2000" b="1" i="0">
                <a:solidFill>
                  <a:srgbClr val="333333"/>
                </a:solidFill>
                <a:latin typeface="Calibri"/>
              </a:rPr>
              <a:t>declara que no necesitas objeto</a:t>
            </a:r>
            <a:r>
              <a:rPr sz="2000" b="0" i="0">
                <a:solidFill>
                  <a:srgbClr val="333333"/>
                </a:solidFill>
                <a:latin typeface="Calibri"/>
              </a:rPr>
              <a:t>: es una decisión válida.</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Que tipo de almacenamiento pide cada componente</a:t>
            </a:r>
          </a:p>
        </p:txBody>
      </p:sp>
      <p:sp>
        <p:nvSpPr>
          <p:cNvPr id="5" name="Rounded Rectangle 4"/>
          <p:cNvSpPr/>
          <p:nvPr/>
        </p:nvSpPr>
        <p:spPr>
          <a:xfrm>
            <a:off x="457200" y="1261872"/>
            <a:ext cx="6991923" cy="2532221"/>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6991923"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5894643" cy="292608"/>
          </a:xfrm>
          <a:prstGeom prst="rect">
            <a:avLst/>
          </a:prstGeom>
          <a:noFill/>
        </p:spPr>
        <p:txBody>
          <a:bodyPr wrap="square" anchor="ctr"/>
          <a:lstStyle/>
          <a:p>
            <a:pPr algn="r"/>
            <a:r>
              <a:rPr sz="1100" b="1" i="0">
                <a:solidFill>
                  <a:srgbClr val="BBBBBB"/>
                </a:solidFill>
                <a:latin typeface="Calibri"/>
              </a:rPr>
              <a:t>Mermaid</a:t>
            </a:r>
          </a:p>
        </p:txBody>
      </p:sp>
      <p:sp>
        <p:nvSpPr>
          <p:cNvPr id="11" name="TextBox 10"/>
          <p:cNvSpPr txBox="1"/>
          <p:nvPr/>
        </p:nvSpPr>
        <p:spPr>
          <a:xfrm>
            <a:off x="685800" y="1719072"/>
            <a:ext cx="502920" cy="1937861"/>
          </a:xfrm>
          <a:prstGeom prst="rect">
            <a:avLst/>
          </a:prstGeom>
          <a:noFill/>
        </p:spPr>
        <p:txBody>
          <a:bodyPr wrap="square">
            <a:spAutoFit/>
          </a:bodyPr>
          <a:lstStyle/>
          <a:p>
            <a:pPr algn="r">
              <a:spcAft>
                <a:spcPts val="257"/>
              </a:spcAft>
            </a:pPr>
            <a:r>
              <a:rPr sz="1200" i="0" b="0">
                <a:solidFill>
                  <a:srgbClr val="858585"/>
                </a:solidFill>
                <a:latin typeface="Consolas"/>
              </a:rPr>
              <a:t>1</a:t>
            </a:r>
          </a:p>
          <a:p>
            <a:pPr algn="r">
              <a:spcAft>
                <a:spcPts val="257"/>
              </a:spcAft>
            </a:pPr>
            <a:r>
              <a:rPr sz="1200" i="0" b="0">
                <a:solidFill>
                  <a:srgbClr val="858585"/>
                </a:solidFill>
                <a:latin typeface="Consolas"/>
              </a:rPr>
              <a:t>2</a:t>
            </a:r>
          </a:p>
          <a:p>
            <a:pPr algn="r">
              <a:spcAft>
                <a:spcPts val="257"/>
              </a:spcAft>
            </a:pPr>
            <a:r>
              <a:rPr sz="1200" i="0" b="0">
                <a:solidFill>
                  <a:srgbClr val="858585"/>
                </a:solidFill>
                <a:latin typeface="Consolas"/>
              </a:rPr>
              <a:t>3</a:t>
            </a:r>
          </a:p>
          <a:p>
            <a:pPr algn="r">
              <a:spcAft>
                <a:spcPts val="257"/>
              </a:spcAft>
            </a:pPr>
            <a:r>
              <a:rPr sz="1200" i="0" b="0">
                <a:solidFill>
                  <a:srgbClr val="858585"/>
                </a:solidFill>
                <a:latin typeface="Consolas"/>
              </a:rPr>
              <a:t>4</a:t>
            </a:r>
          </a:p>
          <a:p>
            <a:pPr algn="r">
              <a:spcAft>
                <a:spcPts val="257"/>
              </a:spcAft>
            </a:pPr>
            <a:r>
              <a:rPr sz="1200" i="0" b="0">
                <a:solidFill>
                  <a:srgbClr val="858585"/>
                </a:solidFill>
                <a:latin typeface="Consolas"/>
              </a:rPr>
              <a:t>5</a:t>
            </a:r>
          </a:p>
          <a:p>
            <a:pPr algn="r">
              <a:spcAft>
                <a:spcPts val="257"/>
              </a:spcAft>
            </a:pPr>
            <a:r>
              <a:rPr sz="1200" i="0" b="0">
                <a:solidFill>
                  <a:srgbClr val="858585"/>
                </a:solidFill>
                <a:latin typeface="Consolas"/>
              </a:rPr>
              <a:t>6</a:t>
            </a:r>
          </a:p>
          <a:p>
            <a:pPr algn="r">
              <a:spcAft>
                <a:spcPts val="257"/>
              </a:spcAft>
            </a:pPr>
            <a:r>
              <a:rPr sz="1200" i="0" b="0">
                <a:solidFill>
                  <a:srgbClr val="858585"/>
                </a:solidFill>
                <a:latin typeface="Consolas"/>
              </a:rPr>
              <a:t>7</a:t>
            </a:r>
          </a:p>
          <a:p>
            <a:pPr algn="r">
              <a:spcAft>
                <a:spcPts val="257"/>
              </a:spcAft>
            </a:pPr>
            <a:r>
              <a:rPr sz="1200" i="0" b="0">
                <a:solidFill>
                  <a:srgbClr val="858585"/>
                </a:solidFill>
                <a:latin typeface="Consolas"/>
              </a:rPr>
              <a:t>8</a:t>
            </a:r>
          </a:p>
        </p:txBody>
      </p:sp>
      <p:sp>
        <p:nvSpPr>
          <p:cNvPr id="12" name="TextBox 11"/>
          <p:cNvSpPr txBox="1"/>
          <p:nvPr/>
        </p:nvSpPr>
        <p:spPr>
          <a:xfrm>
            <a:off x="1188720" y="1719072"/>
            <a:ext cx="5986083" cy="1937861"/>
          </a:xfrm>
          <a:prstGeom prst="rect">
            <a:avLst/>
          </a:prstGeom>
          <a:noFill/>
        </p:spPr>
        <p:txBody>
          <a:bodyPr wrap="square">
            <a:spAutoFit/>
          </a:bodyPr>
          <a:lstStyle/>
          <a:p>
            <a:pPr>
              <a:spcAft>
                <a:spcPts val="257"/>
              </a:spcAft>
            </a:pPr>
            <a:r>
              <a:rPr sz="1200" i="0" b="0">
                <a:solidFill>
                  <a:srgbClr val="D4D4D4"/>
                </a:solidFill>
                <a:latin typeface="Consolas"/>
              </a:rPr>
              <a:t>flowchart</a:t>
            </a:r>
            <a:r>
              <a:rPr sz="1200" i="0" b="0">
                <a:solidFill>
                  <a:srgbClr val="D4D4D4"/>
                </a:solidFill>
                <a:latin typeface="Consolas"/>
              </a:rPr>
              <a:t> </a:t>
            </a:r>
            <a:r>
              <a:rPr sz="1200" i="0" b="0">
                <a:solidFill>
                  <a:srgbClr val="D4D4D4"/>
                </a:solidFill>
                <a:latin typeface="Consolas"/>
              </a:rPr>
              <a:t>LR</a:t>
            </a:r>
          </a:p>
          <a:p>
            <a:pPr>
              <a:spcAft>
                <a:spcPts val="257"/>
              </a:spcAft>
            </a:pPr>
            <a:r>
              <a:rPr sz="1200" i="0" b="0">
                <a:solidFill>
                  <a:srgbClr val="D4D4D4"/>
                </a:solidFill>
                <a:latin typeface="Consolas"/>
              </a:rPr>
              <a:t>  </a:t>
            </a:r>
            <a:r>
              <a:rPr sz="1200" i="0" b="0">
                <a:solidFill>
                  <a:srgbClr val="D4D4D4"/>
                </a:solidFill>
                <a:latin typeface="Consolas"/>
              </a:rPr>
              <a:t>api</a:t>
            </a:r>
            <a:r>
              <a:rPr sz="1200" i="0" b="0">
                <a:solidFill>
                  <a:srgbClr val="D4D4D4"/>
                </a:solidFill>
                <a:latin typeface="Consolas"/>
              </a:rPr>
              <a:t>[</a:t>
            </a:r>
            <a:r>
              <a:rPr sz="1200" i="0" b="0">
                <a:solidFill>
                  <a:srgbClr val="CE9178"/>
                </a:solidFill>
                <a:latin typeface="Consolas"/>
              </a:rPr>
              <a:t>"API - instancia"</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D4D4D4"/>
                </a:solidFill>
                <a:latin typeface="Consolas"/>
              </a:rPr>
              <a:t>bloque</a:t>
            </a:r>
            <a:r>
              <a:rPr sz="1200" i="0" b="0">
                <a:solidFill>
                  <a:srgbClr val="D4D4D4"/>
                </a:solidFill>
                <a:latin typeface="Consolas"/>
              </a:rPr>
              <a:t>[(</a:t>
            </a:r>
            <a:r>
              <a:rPr sz="1200" i="0" b="0">
                <a:solidFill>
                  <a:srgbClr val="CE9178"/>
                </a:solidFill>
                <a:latin typeface="Consolas"/>
              </a:rPr>
              <a:t>"Disco de bloque&lt;br/&gt;se va con la instancia"</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D4D4D4"/>
                </a:solidFill>
                <a:latin typeface="Consolas"/>
              </a:rPr>
              <a:t>objetos</a:t>
            </a:r>
            <a:r>
              <a:rPr sz="1200" i="0" b="0">
                <a:solidFill>
                  <a:srgbClr val="D4D4D4"/>
                </a:solidFill>
                <a:latin typeface="Consolas"/>
              </a:rPr>
              <a:t>[(</a:t>
            </a:r>
            <a:r>
              <a:rPr sz="1200" i="0" b="0">
                <a:solidFill>
                  <a:srgbClr val="CE9178"/>
                </a:solidFill>
                <a:latin typeface="Consolas"/>
              </a:rPr>
              <a:t>"Almacenamiento de objetos&lt;br/&gt;fotos y respaldos"</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D4D4D4"/>
                </a:solidFill>
                <a:latin typeface="Consolas"/>
              </a:rPr>
              <a:t>bd</a:t>
            </a:r>
            <a:r>
              <a:rPr sz="1200" i="0" b="0">
                <a:solidFill>
                  <a:srgbClr val="D4D4D4"/>
                </a:solidFill>
                <a:latin typeface="Consolas"/>
              </a:rPr>
              <a:t>[(</a:t>
            </a:r>
            <a:r>
              <a:rPr sz="1200" i="0" b="0">
                <a:solidFill>
                  <a:srgbClr val="CE9178"/>
                </a:solidFill>
                <a:latin typeface="Consolas"/>
              </a:rPr>
              <a:t>"Base relacional gestionada&lt;br/&gt;turnos, con respaldo"</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D4D4D4"/>
                </a:solidFill>
                <a:latin typeface="Consolas"/>
              </a:rPr>
              <a:t>api</a:t>
            </a:r>
            <a:r>
              <a:rPr sz="1200" i="0" b="0">
                <a:solidFill>
                  <a:srgbClr val="D4D4D4"/>
                </a:solidFill>
                <a:latin typeface="Consolas"/>
              </a:rPr>
              <a:t> --&gt;|</a:t>
            </a:r>
            <a:r>
              <a:rPr sz="1200" i="0" b="0">
                <a:solidFill>
                  <a:srgbClr val="CE9178"/>
                </a:solidFill>
                <a:latin typeface="Consolas"/>
              </a:rPr>
              <a:t>"cache y temporales"</a:t>
            </a:r>
            <a:r>
              <a:rPr sz="1200" i="0" b="0">
                <a:solidFill>
                  <a:srgbClr val="D4D4D4"/>
                </a:solidFill>
                <a:latin typeface="Consolas"/>
              </a:rPr>
              <a:t>| </a:t>
            </a:r>
            <a:r>
              <a:rPr sz="1200" i="0" b="0">
                <a:solidFill>
                  <a:srgbClr val="D4D4D4"/>
                </a:solidFill>
                <a:latin typeface="Consolas"/>
              </a:rPr>
              <a:t>bloque</a:t>
            </a:r>
          </a:p>
          <a:p>
            <a:pPr>
              <a:spcAft>
                <a:spcPts val="257"/>
              </a:spcAft>
            </a:pPr>
            <a:r>
              <a:rPr sz="1200" i="0" b="0">
                <a:solidFill>
                  <a:srgbClr val="D4D4D4"/>
                </a:solidFill>
                <a:latin typeface="Consolas"/>
              </a:rPr>
              <a:t>  </a:t>
            </a:r>
            <a:r>
              <a:rPr sz="1200" i="0" b="0">
                <a:solidFill>
                  <a:srgbClr val="D4D4D4"/>
                </a:solidFill>
                <a:latin typeface="Consolas"/>
              </a:rPr>
              <a:t>api</a:t>
            </a:r>
            <a:r>
              <a:rPr sz="1200" i="0" b="0">
                <a:solidFill>
                  <a:srgbClr val="D4D4D4"/>
                </a:solidFill>
                <a:latin typeface="Consolas"/>
              </a:rPr>
              <a:t> --&gt;|</a:t>
            </a:r>
            <a:r>
              <a:rPr sz="1200" i="0" b="0">
                <a:solidFill>
                  <a:srgbClr val="CE9178"/>
                </a:solidFill>
                <a:latin typeface="Consolas"/>
              </a:rPr>
              <a:t>"HTTPS"</a:t>
            </a:r>
            <a:r>
              <a:rPr sz="1200" i="0" b="0">
                <a:solidFill>
                  <a:srgbClr val="D4D4D4"/>
                </a:solidFill>
                <a:latin typeface="Consolas"/>
              </a:rPr>
              <a:t>| </a:t>
            </a:r>
            <a:r>
              <a:rPr sz="1200" i="0" b="0">
                <a:solidFill>
                  <a:srgbClr val="D4D4D4"/>
                </a:solidFill>
                <a:latin typeface="Consolas"/>
              </a:rPr>
              <a:t>objetos</a:t>
            </a:r>
          </a:p>
          <a:p>
            <a:pPr>
              <a:spcAft>
                <a:spcPts val="257"/>
              </a:spcAft>
            </a:pPr>
            <a:r>
              <a:rPr sz="1200" i="0" b="0">
                <a:solidFill>
                  <a:srgbClr val="D4D4D4"/>
                </a:solidFill>
                <a:latin typeface="Consolas"/>
              </a:rPr>
              <a:t>  </a:t>
            </a:r>
            <a:r>
              <a:rPr sz="1200" i="0" b="0">
                <a:solidFill>
                  <a:srgbClr val="D4D4D4"/>
                </a:solidFill>
                <a:latin typeface="Consolas"/>
              </a:rPr>
              <a:t>api</a:t>
            </a:r>
            <a:r>
              <a:rPr sz="1200" i="0" b="0">
                <a:solidFill>
                  <a:srgbClr val="D4D4D4"/>
                </a:solidFill>
                <a:latin typeface="Consolas"/>
              </a:rPr>
              <a:t> --&gt;|</a:t>
            </a:r>
            <a:r>
              <a:rPr sz="1200" i="0" b="0">
                <a:solidFill>
                  <a:srgbClr val="CE9178"/>
                </a:solidFill>
                <a:latin typeface="Consolas"/>
              </a:rPr>
              <a:t>"TCP 5432"</a:t>
            </a:r>
            <a:r>
              <a:rPr sz="1200" i="0" b="0">
                <a:solidFill>
                  <a:srgbClr val="D4D4D4"/>
                </a:solidFill>
                <a:latin typeface="Consolas"/>
              </a:rPr>
              <a:t>| </a:t>
            </a:r>
            <a:r>
              <a:rPr sz="1200" i="0" b="0">
                <a:solidFill>
                  <a:srgbClr val="D4D4D4"/>
                </a:solidFill>
                <a:latin typeface="Consolas"/>
              </a:rPr>
              <a:t>bd</a:t>
            </a:r>
          </a:p>
        </p:txBody>
      </p:sp>
      <p:sp>
        <p:nvSpPr>
          <p:cNvPr id="13" name="Rounded Rectangle 12"/>
          <p:cNvSpPr/>
          <p:nvPr/>
        </p:nvSpPr>
        <p:spPr>
          <a:xfrm>
            <a:off x="7668579" y="1261872"/>
            <a:ext cx="4120780" cy="3318569"/>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g-almacenamiento-paso1.png"/>
          <p:cNvPicPr>
            <a:picLocks noChangeAspect="1"/>
          </p:cNvPicPr>
          <p:nvPr/>
        </p:nvPicPr>
        <p:blipFill>
          <a:blip r:embed="rId2"/>
          <a:stretch>
            <a:fillRect/>
          </a:stretch>
        </p:blipFill>
        <p:spPr>
          <a:xfrm>
            <a:off x="7723443" y="1316736"/>
            <a:ext cx="4011052" cy="3208841"/>
          </a:xfrm>
          <a:prstGeom prst="rect">
            <a:avLst/>
          </a:prstGeom>
        </p:spPr>
      </p:pic>
      <p:sp>
        <p:nvSpPr>
          <p:cNvPr id="15" name="TextBox 14"/>
          <p:cNvSpPr txBox="1"/>
          <p:nvPr/>
        </p:nvSpPr>
        <p:spPr>
          <a:xfrm>
            <a:off x="7723443" y="4580441"/>
            <a:ext cx="4011052" cy="320040"/>
          </a:xfrm>
          <a:prstGeom prst="rect">
            <a:avLst/>
          </a:prstGeom>
          <a:noFill/>
        </p:spPr>
        <p:txBody>
          <a:bodyPr wrap="square">
            <a:spAutoFit/>
          </a:bodyPr>
          <a:lstStyle/>
          <a:p>
            <a:pPr algn="ctr"/>
            <a:r>
              <a:rPr sz="1200" b="0" i="1">
                <a:solidFill>
                  <a:srgbClr val="666666"/>
                </a:solidFill>
                <a:latin typeface="Calibri"/>
              </a:rPr>
              <a:t>Lo que dibuja este código</a:t>
            </a:r>
          </a:p>
        </p:txBody>
      </p:sp>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caso de la foto de perfil, y cuando la respuesta correcta es «no necesito objeto»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to-perfil-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foto-perfil-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foto-perfil-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foto-perfil-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solucion ingenua es guardar el archivo en una columna binaria de la base de datos.</a:t>
            </a:r>
          </a:p>
          <a:p>
            <a:pPr>
              <a:spcAft>
                <a:spcPts val="800"/>
              </a:spcAft>
            </a:pPr>
            <a:r>
              <a:rPr sz="2000" b="0" i="0">
                <a:solidFill>
                  <a:srgbClr val="333333"/>
                </a:solidFill>
                <a:latin typeface="Calibri"/>
              </a:rPr>
              <a:t>–   El diseno correcto separa: el archivo va a almacenamiento de objetos y la base guarda una fila con la clave del objeto, el dueno, el tamano, el tipo…</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Trazabilidad: la tabla de correspondencia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azabilidad-tabl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razabilidad-tabl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razabilidad-tabl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Se demuestra con una tabla de tres columnas: «Componente en el C4 Containers», «Componente en el Despliegue» y «Zona».</a:t>
            </a:r>
          </a:p>
          <a:p>
            <a:pPr>
              <a:spcAft>
                <a:spcPts val="800"/>
              </a:spcAft>
            </a:pPr>
            <a:r>
              <a:rPr sz="2000" b="0" i="0">
                <a:solidFill>
                  <a:srgbClr val="333333"/>
                </a:solidFill>
                <a:latin typeface="Calibri"/>
              </a:rPr>
              <a:t>–   Un ejemplo de fila completa es: «API de turnos» en el Containers, «API de turnos (contenedor, 8080)» en el Despliegue, zona Privada.</a:t>
            </a:r>
          </a:p>
          <a:p>
            <a:pPr>
              <a:spcAft>
                <a:spcPts val="800"/>
              </a:spcAft>
            </a:pPr>
            <a:r>
              <a:rPr sz="2000" b="0" i="0">
                <a:solidFill>
                  <a:srgbClr val="333333"/>
                </a:solidFill>
                <a:latin typeface="Calibri"/>
              </a:rPr>
              <a:t>–   El cliente y el proveedor de correo son las filas sin par: aparecen en los diagramas, pero no se despliegan dentro del sistema.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Checklist del diagrama Deployment</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checklist-deploy-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Tres zonas rotuladas · cada componente en su zona · puerto de cada uno.</a:t>
            </a:r>
          </a:p>
          <a:p>
            <a:pPr>
              <a:spcAft>
                <a:spcPts val="800"/>
              </a:spcAft>
            </a:pPr>
            <a:r>
              <a:rPr sz="2000" b="0" i="0">
                <a:solidFill>
                  <a:srgbClr val="333333"/>
                </a:solidFill>
                <a:latin typeface="Calibri"/>
              </a:rPr>
              <a:t>–   Fronteras de confianza marcadas · </a:t>
            </a:r>
            <a:r>
              <a:rPr sz="2000" b="1" i="0">
                <a:solidFill>
                  <a:srgbClr val="333333"/>
                </a:solidFill>
                <a:latin typeface="Calibri"/>
              </a:rPr>
              <a:t>que renderice sin error</a:t>
            </a:r>
            <a:r>
              <a:rPr sz="2000" b="0" i="0">
                <a:solidFill>
                  <a:srgbClr val="333333"/>
                </a:solidFill>
                <a:latin typeface="Calibri"/>
              </a:rPr>
              <a:t> en un visor Mermaid.</a:t>
            </a:r>
          </a:p>
          <a:p>
            <a:pPr>
              <a:spcAft>
                <a:spcPts val="800"/>
              </a:spcAft>
            </a:pPr>
            <a:r>
              <a:rPr sz="2000" b="0" i="0">
                <a:solidFill>
                  <a:srgbClr val="333333"/>
                </a:solidFill>
                <a:latin typeface="Calibri"/>
              </a:rPr>
              <a:t>–   Debe alinearse con el C4 Containers (mismos nombres).</a:t>
            </a:r>
          </a:p>
          <a:p>
            <a:pPr>
              <a:spcAft>
                <a:spcPts val="800"/>
              </a:spcAft>
            </a:pPr>
            <a:r>
              <a:rPr sz="2000" b="0" i="0">
                <a:solidFill>
                  <a:srgbClr val="333333"/>
                </a:solidFill>
                <a:latin typeface="Calibri"/>
              </a:rPr>
              <a:t>–   Cada flecha lleva protocolo y puerto: HTTPS 443 al edge, HTTP 8080 a la API, PostgreSQL 5432 a la base.</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Recorrer una peticion de la app de punta a punta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ticion-punta-a-punt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peticion-punta-a-punt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peticion-punta-a-punta-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peticion-punta-a-punta-paso4.png"/>
          <p:cNvPicPr>
            <a:picLocks noChangeAspect="1"/>
          </p:cNvPicPr>
          <p:nvPr/>
        </p:nvPicPr>
        <p:blipFill>
          <a:blip r:embed="rId5"/>
          <a:stretch>
            <a:fillRect/>
          </a:stretch>
        </p:blipFill>
        <p:spPr>
          <a:xfrm>
            <a:off x="5876318" y="1261872"/>
            <a:ext cx="5852160" cy="4681728"/>
          </a:xfrm>
          <a:prstGeom prst="rect">
            <a:avLst/>
          </a:prstGeom>
        </p:spPr>
      </p:pic>
      <p:pic>
        <p:nvPicPr>
          <p:cNvPr id="10" name="Picture 9" descr="peticion-punta-a-punta-paso5.png"/>
          <p:cNvPicPr>
            <a:picLocks noChangeAspect="1"/>
          </p:cNvPicPr>
          <p:nvPr/>
        </p:nvPicPr>
        <p:blipFill>
          <a:blip r:embed="rId6"/>
          <a:stretch>
            <a:fillRect/>
          </a:stretch>
        </p:blipFill>
        <p:spPr>
          <a:xfrm>
            <a:off x="5876318" y="1261872"/>
            <a:ext cx="5852160" cy="4681728"/>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recorrido completo tiene 4 saltos: DNS, balanceador en la zona publica, API en la zona privada y base de datos en la zona de datos.</a:t>
            </a:r>
          </a:p>
          <a:p>
            <a:pPr>
              <a:spcAft>
                <a:spcPts val="800"/>
              </a:spcAft>
            </a:pPr>
            <a:r>
              <a:rPr sz="2000" b="0" i="0">
                <a:solidFill>
                  <a:srgbClr val="333333"/>
                </a:solidFill>
                <a:latin typeface="Calibri"/>
              </a:rPr>
              <a:t>–   Cada salto de red dentro de un mismo centro de datos suma del orden de 1 milisegundo, y por eso un diseno que encadena servicios innecesarios es…</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molde de Mermaid, linea por linea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molde-mermaid-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primera línea es flowchart LR: el recorrido se lee de izquierda a derecha.</a:t>
            </a:r>
          </a:p>
          <a:p>
            <a:pPr>
              <a:spcAft>
                <a:spcPts val="800"/>
              </a:spcAft>
            </a:pPr>
            <a:r>
              <a:rPr sz="2000" b="0" i="0">
                <a:solidFill>
                  <a:srgbClr val="333333"/>
                </a:solidFill>
                <a:latin typeface="Calibri"/>
              </a:rPr>
              <a:t>–   Cada zona es un subgraph con su rótulo y su propio end; un end olvidado impide que el diagrama se dibuje.</a:t>
            </a:r>
          </a:p>
          <a:p>
            <a:pPr>
              <a:spcAft>
                <a:spcPts val="800"/>
              </a:spcAft>
            </a:pPr>
            <a:r>
              <a:rPr sz="2000" b="0" i="0">
                <a:solidFill>
                  <a:srgbClr val="333333"/>
                </a:solidFill>
                <a:latin typeface="Calibri"/>
              </a:rPr>
              <a:t>–   Los corchetes son un servicio; corchete y paréntesis, [( )], son la base de datos.</a:t>
            </a:r>
          </a:p>
          <a:p>
            <a:pPr>
              <a:spcAft>
                <a:spcPts val="800"/>
              </a:spcAft>
            </a:pPr>
            <a:r>
              <a:rPr sz="2000" b="0" i="0">
                <a:solidFill>
                  <a:srgbClr val="333333"/>
                </a:solidFill>
                <a:latin typeface="Calibri"/>
              </a:rPr>
              <a:t>–   El puerto va dentro del rótulo de la caja; la flecha lleva protocolo y puerto.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Despliegue en Mermaid: el molde que un visor renderiza</a:t>
            </a:r>
          </a:p>
        </p:txBody>
      </p:sp>
      <p:sp>
        <p:nvSpPr>
          <p:cNvPr id="5" name="Rounded Rectangle 4"/>
          <p:cNvSpPr/>
          <p:nvPr/>
        </p:nvSpPr>
        <p:spPr>
          <a:xfrm>
            <a:off x="457200" y="1261872"/>
            <a:ext cx="6991923" cy="457334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6991923"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5894643" cy="292608"/>
          </a:xfrm>
          <a:prstGeom prst="rect">
            <a:avLst/>
          </a:prstGeom>
          <a:noFill/>
        </p:spPr>
        <p:txBody>
          <a:bodyPr wrap="square" anchor="ctr"/>
          <a:lstStyle/>
          <a:p>
            <a:pPr algn="r"/>
            <a:r>
              <a:rPr sz="1100" b="1" i="0">
                <a:solidFill>
                  <a:srgbClr val="BBBBBB"/>
                </a:solidFill>
                <a:latin typeface="Calibri"/>
              </a:rPr>
              <a:t>Mermaid</a:t>
            </a:r>
          </a:p>
        </p:txBody>
      </p:sp>
      <p:sp>
        <p:nvSpPr>
          <p:cNvPr id="11" name="TextBox 10"/>
          <p:cNvSpPr txBox="1"/>
          <p:nvPr/>
        </p:nvSpPr>
        <p:spPr>
          <a:xfrm>
            <a:off x="685800" y="1719072"/>
            <a:ext cx="502920" cy="3978989"/>
          </a:xfrm>
          <a:prstGeom prst="rect">
            <a:avLst/>
          </a:prstGeom>
          <a:noFill/>
        </p:spPr>
        <p:txBody>
          <a:bodyPr wrap="square">
            <a:spAutoFit/>
          </a:bodyPr>
          <a:lstStyle/>
          <a:p>
            <a:pPr algn="r">
              <a:spcAft>
                <a:spcPts val="278"/>
              </a:spcAft>
            </a:pPr>
            <a:r>
              <a:rPr sz="1300" i="0" b="0">
                <a:solidFill>
                  <a:srgbClr val="858585"/>
                </a:solidFill>
                <a:latin typeface="Consolas"/>
              </a:rPr>
              <a:t>1</a:t>
            </a:r>
          </a:p>
          <a:p>
            <a:pPr algn="r">
              <a:spcAft>
                <a:spcPts val="278"/>
              </a:spcAft>
            </a:pPr>
            <a:r>
              <a:rPr sz="1300" i="0" b="0">
                <a:solidFill>
                  <a:srgbClr val="858585"/>
                </a:solidFill>
                <a:latin typeface="Consolas"/>
              </a:rPr>
              <a:t>2</a:t>
            </a:r>
          </a:p>
          <a:p>
            <a:pPr algn="r">
              <a:spcAft>
                <a:spcPts val="278"/>
              </a:spcAft>
            </a:pPr>
            <a:r>
              <a:rPr sz="1300" i="0" b="0">
                <a:solidFill>
                  <a:srgbClr val="858585"/>
                </a:solidFill>
                <a:latin typeface="Consolas"/>
              </a:rPr>
              <a:t>3</a:t>
            </a:r>
          </a:p>
          <a:p>
            <a:pPr algn="r">
              <a:spcAft>
                <a:spcPts val="278"/>
              </a:spcAft>
            </a:pPr>
            <a:r>
              <a:rPr sz="1300" i="0" b="0">
                <a:solidFill>
                  <a:srgbClr val="858585"/>
                </a:solidFill>
                <a:latin typeface="Consolas"/>
              </a:rPr>
              <a:t>4</a:t>
            </a:r>
          </a:p>
          <a:p>
            <a:pPr algn="r">
              <a:spcAft>
                <a:spcPts val="278"/>
              </a:spcAft>
            </a:pPr>
            <a:r>
              <a:rPr sz="1300" i="0" b="0">
                <a:solidFill>
                  <a:srgbClr val="858585"/>
                </a:solidFill>
                <a:latin typeface="Consolas"/>
              </a:rPr>
              <a:t>5</a:t>
            </a:r>
          </a:p>
          <a:p>
            <a:pPr algn="r">
              <a:spcAft>
                <a:spcPts val="278"/>
              </a:spcAft>
            </a:pPr>
            <a:r>
              <a:rPr sz="1300" i="0" b="0">
                <a:solidFill>
                  <a:srgbClr val="858585"/>
                </a:solidFill>
                <a:latin typeface="Consolas"/>
              </a:rPr>
              <a:t>6</a:t>
            </a:r>
          </a:p>
          <a:p>
            <a:pPr algn="r">
              <a:spcAft>
                <a:spcPts val="278"/>
              </a:spcAft>
            </a:pPr>
            <a:r>
              <a:rPr sz="1300" i="0" b="0">
                <a:solidFill>
                  <a:srgbClr val="858585"/>
                </a:solidFill>
                <a:latin typeface="Consolas"/>
              </a:rPr>
              <a:t>7</a:t>
            </a:r>
          </a:p>
          <a:p>
            <a:pPr algn="r">
              <a:spcAft>
                <a:spcPts val="278"/>
              </a:spcAft>
            </a:pPr>
            <a:r>
              <a:rPr sz="1300" i="0" b="0">
                <a:solidFill>
                  <a:srgbClr val="858585"/>
                </a:solidFill>
                <a:latin typeface="Consolas"/>
              </a:rPr>
              <a:t>8</a:t>
            </a:r>
          </a:p>
          <a:p>
            <a:pPr algn="r">
              <a:spcAft>
                <a:spcPts val="278"/>
              </a:spcAft>
            </a:pPr>
            <a:r>
              <a:rPr sz="1300" i="0" b="0">
                <a:solidFill>
                  <a:srgbClr val="858585"/>
                </a:solidFill>
                <a:latin typeface="Consolas"/>
              </a:rPr>
              <a:t>9</a:t>
            </a:r>
          </a:p>
          <a:p>
            <a:pPr algn="r">
              <a:spcAft>
                <a:spcPts val="278"/>
              </a:spcAft>
            </a:pPr>
            <a:r>
              <a:rPr sz="1300" i="0" b="0">
                <a:solidFill>
                  <a:srgbClr val="858585"/>
                </a:solidFill>
                <a:latin typeface="Consolas"/>
              </a:rPr>
              <a:t>10</a:t>
            </a:r>
          </a:p>
          <a:p>
            <a:pPr algn="r">
              <a:spcAft>
                <a:spcPts val="278"/>
              </a:spcAft>
            </a:pPr>
            <a:r>
              <a:rPr sz="1300" i="0" b="0">
                <a:solidFill>
                  <a:srgbClr val="858585"/>
                </a:solidFill>
                <a:latin typeface="Consolas"/>
              </a:rPr>
              <a:t>11</a:t>
            </a:r>
          </a:p>
          <a:p>
            <a:pPr algn="r">
              <a:spcAft>
                <a:spcPts val="278"/>
              </a:spcAft>
            </a:pPr>
            <a:r>
              <a:rPr sz="1300" i="0" b="0">
                <a:solidFill>
                  <a:srgbClr val="858585"/>
                </a:solidFill>
                <a:latin typeface="Consolas"/>
              </a:rPr>
              <a:t>12</a:t>
            </a:r>
          </a:p>
          <a:p>
            <a:pPr algn="r">
              <a:spcAft>
                <a:spcPts val="278"/>
              </a:spcAft>
            </a:pPr>
            <a:r>
              <a:rPr sz="1300" i="0" b="0">
                <a:solidFill>
                  <a:srgbClr val="858585"/>
                </a:solidFill>
                <a:latin typeface="Consolas"/>
              </a:rPr>
              <a:t>13</a:t>
            </a:r>
          </a:p>
          <a:p>
            <a:pPr algn="r">
              <a:spcAft>
                <a:spcPts val="278"/>
              </a:spcAft>
            </a:pPr>
            <a:r>
              <a:rPr sz="1300" i="0" b="0">
                <a:solidFill>
                  <a:srgbClr val="858585"/>
                </a:solidFill>
                <a:latin typeface="Consolas"/>
              </a:rPr>
              <a:t>14</a:t>
            </a:r>
          </a:p>
          <a:p>
            <a:pPr algn="r">
              <a:spcAft>
                <a:spcPts val="278"/>
              </a:spcAft>
            </a:pPr>
            <a:r>
              <a:rPr sz="1300" i="0" b="0">
                <a:solidFill>
                  <a:srgbClr val="858585"/>
                </a:solidFill>
                <a:latin typeface="Consolas"/>
              </a:rPr>
              <a:t>15</a:t>
            </a:r>
          </a:p>
          <a:p>
            <a:pPr algn="r">
              <a:spcAft>
                <a:spcPts val="278"/>
              </a:spcAft>
            </a:pPr>
            <a:r>
              <a:rPr sz="1300" i="0" b="0">
                <a:solidFill>
                  <a:srgbClr val="858585"/>
                </a:solidFill>
                <a:latin typeface="Consolas"/>
              </a:rPr>
              <a:t>16</a:t>
            </a:r>
          </a:p>
        </p:txBody>
      </p:sp>
      <p:sp>
        <p:nvSpPr>
          <p:cNvPr id="12" name="TextBox 11"/>
          <p:cNvSpPr txBox="1"/>
          <p:nvPr/>
        </p:nvSpPr>
        <p:spPr>
          <a:xfrm>
            <a:off x="1188720" y="1719072"/>
            <a:ext cx="5986083" cy="3978989"/>
          </a:xfrm>
          <a:prstGeom prst="rect">
            <a:avLst/>
          </a:prstGeom>
          <a:noFill/>
        </p:spPr>
        <p:txBody>
          <a:bodyPr wrap="square">
            <a:spAutoFit/>
          </a:bodyPr>
          <a:lstStyle/>
          <a:p>
            <a:pPr>
              <a:spcAft>
                <a:spcPts val="278"/>
              </a:spcAft>
            </a:pPr>
            <a:r>
              <a:rPr sz="1300" i="0" b="0">
                <a:solidFill>
                  <a:srgbClr val="D4D4D4"/>
                </a:solidFill>
                <a:latin typeface="Consolas"/>
              </a:rPr>
              <a:t>flowchart</a:t>
            </a:r>
            <a:r>
              <a:rPr sz="1300" i="0" b="0">
                <a:solidFill>
                  <a:srgbClr val="D4D4D4"/>
                </a:solidFill>
                <a:latin typeface="Consolas"/>
              </a:rPr>
              <a:t> </a:t>
            </a:r>
            <a:r>
              <a:rPr sz="1300" i="0" b="0">
                <a:solidFill>
                  <a:srgbClr val="D4D4D4"/>
                </a:solidFill>
                <a:latin typeface="Consolas"/>
              </a:rPr>
              <a:t>LR</a:t>
            </a:r>
          </a:p>
          <a:p>
            <a:pPr>
              <a:spcAft>
                <a:spcPts val="278"/>
              </a:spcAft>
            </a:pPr>
            <a:r>
              <a:rPr sz="1300" i="0" b="0">
                <a:solidFill>
                  <a:srgbClr val="D4D4D4"/>
                </a:solidFill>
                <a:latin typeface="Consolas"/>
              </a:rPr>
              <a:t>  </a:t>
            </a:r>
            <a:r>
              <a:rPr sz="1300" i="0" b="0">
                <a:solidFill>
                  <a:srgbClr val="D4D4D4"/>
                </a:solidFill>
                <a:latin typeface="Consolas"/>
              </a:rPr>
              <a:t>subgraph</a:t>
            </a:r>
            <a:r>
              <a:rPr sz="1300" i="0" b="0">
                <a:solidFill>
                  <a:srgbClr val="D4D4D4"/>
                </a:solidFill>
                <a:latin typeface="Consolas"/>
              </a:rPr>
              <a:t> </a:t>
            </a:r>
            <a:r>
              <a:rPr sz="1300" i="0" b="0">
                <a:solidFill>
                  <a:srgbClr val="D4D4D4"/>
                </a:solidFill>
                <a:latin typeface="Consolas"/>
              </a:rPr>
              <a:t>publica</a:t>
            </a:r>
            <a:r>
              <a:rPr sz="1300" i="0" b="0">
                <a:solidFill>
                  <a:srgbClr val="D4D4D4"/>
                </a:solidFill>
                <a:latin typeface="Consolas"/>
              </a:rPr>
              <a:t>[</a:t>
            </a:r>
            <a:r>
              <a:rPr sz="1300" i="0" b="0">
                <a:solidFill>
                  <a:srgbClr val="CE9178"/>
                </a:solidFill>
                <a:latin typeface="Consolas"/>
              </a:rPr>
              <a:t>"Zona publica - internet"</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web</a:t>
            </a:r>
            <a:r>
              <a:rPr sz="1300" i="0" b="0">
                <a:solidFill>
                  <a:srgbClr val="D4D4D4"/>
                </a:solidFill>
                <a:latin typeface="Consolas"/>
              </a:rPr>
              <a:t>[</a:t>
            </a:r>
            <a:r>
              <a:rPr sz="1300" i="0" b="0">
                <a:solidFill>
                  <a:srgbClr val="CE9178"/>
                </a:solidFill>
                <a:latin typeface="Consolas"/>
              </a:rPr>
              <a:t>"App web&lt;br/&gt;React estatico - 443"</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edge</a:t>
            </a:r>
            <a:r>
              <a:rPr sz="1300" i="0" b="0">
                <a:solidFill>
                  <a:srgbClr val="D4D4D4"/>
                </a:solidFill>
                <a:latin typeface="Consolas"/>
              </a:rPr>
              <a:t>[</a:t>
            </a:r>
            <a:r>
              <a:rPr sz="1300" i="0" b="0">
                <a:solidFill>
                  <a:srgbClr val="CE9178"/>
                </a:solidFill>
                <a:latin typeface="Consolas"/>
              </a:rPr>
              <a:t>"Edge / balanceador&lt;br/&gt;443 HTTPS"</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end</a:t>
            </a:r>
          </a:p>
          <a:p>
            <a:pPr>
              <a:spcAft>
                <a:spcPts val="278"/>
              </a:spcAft>
            </a:pPr>
            <a:r>
              <a:rPr sz="1300" i="0" b="0">
                <a:solidFill>
                  <a:srgbClr val="D4D4D4"/>
                </a:solidFill>
                <a:latin typeface="Consolas"/>
              </a:rPr>
              <a:t>  </a:t>
            </a:r>
            <a:r>
              <a:rPr sz="1300" i="0" b="0">
                <a:solidFill>
                  <a:srgbClr val="D4D4D4"/>
                </a:solidFill>
                <a:latin typeface="Consolas"/>
              </a:rPr>
              <a:t>subgraph</a:t>
            </a:r>
            <a:r>
              <a:rPr sz="1300" i="0" b="0">
                <a:solidFill>
                  <a:srgbClr val="D4D4D4"/>
                </a:solidFill>
                <a:latin typeface="Consolas"/>
              </a:rPr>
              <a:t> </a:t>
            </a:r>
            <a:r>
              <a:rPr sz="1300" i="0" b="0">
                <a:solidFill>
                  <a:srgbClr val="D4D4D4"/>
                </a:solidFill>
                <a:latin typeface="Consolas"/>
              </a:rPr>
              <a:t>privada</a:t>
            </a:r>
            <a:r>
              <a:rPr sz="1300" i="0" b="0">
                <a:solidFill>
                  <a:srgbClr val="D4D4D4"/>
                </a:solidFill>
                <a:latin typeface="Consolas"/>
              </a:rPr>
              <a:t>[</a:t>
            </a:r>
            <a:r>
              <a:rPr sz="1300" i="0" b="0">
                <a:solidFill>
                  <a:srgbClr val="CE9178"/>
                </a:solidFill>
                <a:latin typeface="Consolas"/>
              </a:rPr>
              <a:t>"Zona privada - solo desde el edge"</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api</a:t>
            </a:r>
            <a:r>
              <a:rPr sz="1300" i="0" b="0">
                <a:solidFill>
                  <a:srgbClr val="D4D4D4"/>
                </a:solidFill>
                <a:latin typeface="Consolas"/>
              </a:rPr>
              <a:t>[</a:t>
            </a:r>
            <a:r>
              <a:rPr sz="1300" i="0" b="0">
                <a:solidFill>
                  <a:srgbClr val="CE9178"/>
                </a:solidFill>
                <a:latin typeface="Consolas"/>
              </a:rPr>
              <a:t>"API de turnos&lt;br/&gt;8080 HTTP"</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end</a:t>
            </a:r>
          </a:p>
          <a:p>
            <a:pPr>
              <a:spcAft>
                <a:spcPts val="278"/>
              </a:spcAft>
            </a:pPr>
            <a:r>
              <a:rPr sz="1300" i="0" b="0">
                <a:solidFill>
                  <a:srgbClr val="D4D4D4"/>
                </a:solidFill>
                <a:latin typeface="Consolas"/>
              </a:rPr>
              <a:t>  </a:t>
            </a:r>
            <a:r>
              <a:rPr sz="1300" i="0" b="0">
                <a:solidFill>
                  <a:srgbClr val="D4D4D4"/>
                </a:solidFill>
                <a:latin typeface="Consolas"/>
              </a:rPr>
              <a:t>subgraph</a:t>
            </a:r>
            <a:r>
              <a:rPr sz="1300" i="0" b="0">
                <a:solidFill>
                  <a:srgbClr val="D4D4D4"/>
                </a:solidFill>
                <a:latin typeface="Consolas"/>
              </a:rPr>
              <a:t> </a:t>
            </a:r>
            <a:r>
              <a:rPr sz="1300" i="0" b="0">
                <a:solidFill>
                  <a:srgbClr val="D4D4D4"/>
                </a:solidFill>
                <a:latin typeface="Consolas"/>
              </a:rPr>
              <a:t>datos</a:t>
            </a:r>
            <a:r>
              <a:rPr sz="1300" i="0" b="0">
                <a:solidFill>
                  <a:srgbClr val="D4D4D4"/>
                </a:solidFill>
                <a:latin typeface="Consolas"/>
              </a:rPr>
              <a:t>[</a:t>
            </a:r>
            <a:r>
              <a:rPr sz="1300" i="0" b="0">
                <a:solidFill>
                  <a:srgbClr val="CE9178"/>
                </a:solidFill>
                <a:latin typeface="Consolas"/>
              </a:rPr>
              <a:t>"Zona de datos - sin internet"</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db</a:t>
            </a:r>
            <a:r>
              <a:rPr sz="1300" i="0" b="0">
                <a:solidFill>
                  <a:srgbClr val="D4D4D4"/>
                </a:solidFill>
                <a:latin typeface="Consolas"/>
              </a:rPr>
              <a:t>[(</a:t>
            </a:r>
            <a:r>
              <a:rPr sz="1300" i="0" b="0">
                <a:solidFill>
                  <a:srgbClr val="CE9178"/>
                </a:solidFill>
                <a:latin typeface="Consolas"/>
              </a:rPr>
              <a:t>"Base de turnos&lt;br/&gt;5432 TCP"</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end</a:t>
            </a:r>
          </a:p>
          <a:p>
            <a:pPr>
              <a:spcAft>
                <a:spcPts val="278"/>
              </a:spcAft>
            </a:pPr>
            <a:r>
              <a:rPr sz="1300" i="0" b="0">
                <a:solidFill>
                  <a:srgbClr val="D4D4D4"/>
                </a:solidFill>
                <a:latin typeface="Consolas"/>
              </a:rPr>
              <a:t>  </a:t>
            </a:r>
            <a:r>
              <a:rPr sz="1300" i="0" b="0">
                <a:solidFill>
                  <a:srgbClr val="D4D4D4"/>
                </a:solidFill>
                <a:latin typeface="Consolas"/>
              </a:rPr>
              <a:t>web</a:t>
            </a:r>
            <a:r>
              <a:rPr sz="1300" i="0" b="0">
                <a:solidFill>
                  <a:srgbClr val="D4D4D4"/>
                </a:solidFill>
                <a:latin typeface="Consolas"/>
              </a:rPr>
              <a:t> --&gt;|</a:t>
            </a:r>
            <a:r>
              <a:rPr sz="1300" i="0" b="0">
                <a:solidFill>
                  <a:srgbClr val="CE9178"/>
                </a:solidFill>
                <a:latin typeface="Consolas"/>
              </a:rPr>
              <a:t>"HTTPS 443"</a:t>
            </a:r>
            <a:r>
              <a:rPr sz="1300" i="0" b="0">
                <a:solidFill>
                  <a:srgbClr val="D4D4D4"/>
                </a:solidFill>
                <a:latin typeface="Consolas"/>
              </a:rPr>
              <a:t>| </a:t>
            </a:r>
            <a:r>
              <a:rPr sz="1300" i="0" b="0">
                <a:solidFill>
                  <a:srgbClr val="D4D4D4"/>
                </a:solidFill>
                <a:latin typeface="Consolas"/>
              </a:rPr>
              <a:t>edge</a:t>
            </a:r>
          </a:p>
          <a:p>
            <a:pPr>
              <a:spcAft>
                <a:spcPts val="278"/>
              </a:spcAft>
            </a:pPr>
            <a:r>
              <a:rPr sz="1300" i="0" b="0">
                <a:solidFill>
                  <a:srgbClr val="D4D4D4"/>
                </a:solidFill>
                <a:latin typeface="Consolas"/>
              </a:rPr>
              <a:t>  </a:t>
            </a:r>
            <a:r>
              <a:rPr sz="1300" i="0" b="0">
                <a:solidFill>
                  <a:srgbClr val="D4D4D4"/>
                </a:solidFill>
                <a:latin typeface="Consolas"/>
              </a:rPr>
              <a:t>edge</a:t>
            </a:r>
            <a:r>
              <a:rPr sz="1300" i="0" b="0">
                <a:solidFill>
                  <a:srgbClr val="D4D4D4"/>
                </a:solidFill>
                <a:latin typeface="Consolas"/>
              </a:rPr>
              <a:t> --&gt;|</a:t>
            </a:r>
            <a:r>
              <a:rPr sz="1300" i="0" b="0">
                <a:solidFill>
                  <a:srgbClr val="CE9178"/>
                </a:solidFill>
                <a:latin typeface="Consolas"/>
              </a:rPr>
              <a:t>"HTTP 8080"</a:t>
            </a:r>
            <a:r>
              <a:rPr sz="1300" i="0" b="0">
                <a:solidFill>
                  <a:srgbClr val="D4D4D4"/>
                </a:solidFill>
                <a:latin typeface="Consolas"/>
              </a:rPr>
              <a:t>| </a:t>
            </a:r>
            <a:r>
              <a:rPr sz="1300" i="0" b="0">
                <a:solidFill>
                  <a:srgbClr val="D4D4D4"/>
                </a:solidFill>
                <a:latin typeface="Consolas"/>
              </a:rPr>
              <a:t>api</a:t>
            </a:r>
          </a:p>
          <a:p>
            <a:pPr>
              <a:spcAft>
                <a:spcPts val="278"/>
              </a:spcAft>
            </a:pPr>
            <a:r>
              <a:rPr sz="1300" i="0" b="0">
                <a:solidFill>
                  <a:srgbClr val="D4D4D4"/>
                </a:solidFill>
                <a:latin typeface="Consolas"/>
              </a:rPr>
              <a:t>  </a:t>
            </a:r>
            <a:r>
              <a:rPr sz="1300" i="0" b="0">
                <a:solidFill>
                  <a:srgbClr val="D4D4D4"/>
                </a:solidFill>
                <a:latin typeface="Consolas"/>
              </a:rPr>
              <a:t>api</a:t>
            </a:r>
            <a:r>
              <a:rPr sz="1300" i="0" b="0">
                <a:solidFill>
                  <a:srgbClr val="D4D4D4"/>
                </a:solidFill>
                <a:latin typeface="Consolas"/>
              </a:rPr>
              <a:t> --&gt;|</a:t>
            </a:r>
            <a:r>
              <a:rPr sz="1300" i="0" b="0">
                <a:solidFill>
                  <a:srgbClr val="CE9178"/>
                </a:solidFill>
                <a:latin typeface="Consolas"/>
              </a:rPr>
              <a:t>"TCP 5432"</a:t>
            </a:r>
            <a:r>
              <a:rPr sz="1300" i="0" b="0">
                <a:solidFill>
                  <a:srgbClr val="D4D4D4"/>
                </a:solidFill>
                <a:latin typeface="Consolas"/>
              </a:rPr>
              <a:t>| </a:t>
            </a:r>
            <a:r>
              <a:rPr sz="1300" i="0" b="0">
                <a:solidFill>
                  <a:srgbClr val="D4D4D4"/>
                </a:solidFill>
                <a:latin typeface="Consolas"/>
              </a:rPr>
              <a:t>db</a:t>
            </a:r>
          </a:p>
          <a:p>
            <a:pPr>
              <a:spcAft>
                <a:spcPts val="278"/>
              </a:spcAft>
            </a:pPr>
            <a:r>
              <a:rPr sz="1300" i="0" b="0">
                <a:solidFill>
                  <a:srgbClr val="D4D4D4"/>
                </a:solidFill>
                <a:latin typeface="Consolas"/>
              </a:rPr>
              <a:t>  </a:t>
            </a:r>
            <a:r>
              <a:rPr sz="1300" i="0" b="0">
                <a:solidFill>
                  <a:srgbClr val="D4D4D4"/>
                </a:solidFill>
                <a:latin typeface="Consolas"/>
              </a:rPr>
              <a:t>pagos</a:t>
            </a:r>
            <a:r>
              <a:rPr sz="1300" i="0" b="0">
                <a:solidFill>
                  <a:srgbClr val="D4D4D4"/>
                </a:solidFill>
                <a:latin typeface="Consolas"/>
              </a:rPr>
              <a:t>[</a:t>
            </a:r>
            <a:r>
              <a:rPr sz="1300" i="0" b="0">
                <a:solidFill>
                  <a:srgbClr val="CE9178"/>
                </a:solidFill>
                <a:latin typeface="Consolas"/>
              </a:rPr>
              <a:t>"Pasarela de pagos externa"</a:t>
            </a:r>
            <a:r>
              <a:rPr sz="1300" i="0" b="0">
                <a:solidFill>
                  <a:srgbClr val="D4D4D4"/>
                </a:solidFill>
                <a:latin typeface="Consolas"/>
              </a:rPr>
              <a:t>]</a:t>
            </a:r>
          </a:p>
          <a:p>
            <a:pPr>
              <a:spcAft>
                <a:spcPts val="278"/>
              </a:spcAft>
            </a:pPr>
            <a:r>
              <a:rPr sz="1300" i="0" b="0">
                <a:solidFill>
                  <a:srgbClr val="D4D4D4"/>
                </a:solidFill>
                <a:latin typeface="Consolas"/>
              </a:rPr>
              <a:t>  </a:t>
            </a:r>
            <a:r>
              <a:rPr sz="1300" i="0" b="0">
                <a:solidFill>
                  <a:srgbClr val="D4D4D4"/>
                </a:solidFill>
                <a:latin typeface="Consolas"/>
              </a:rPr>
              <a:t>api</a:t>
            </a:r>
            <a:r>
              <a:rPr sz="1300" i="0" b="0">
                <a:solidFill>
                  <a:srgbClr val="D4D4D4"/>
                </a:solidFill>
                <a:latin typeface="Consolas"/>
              </a:rPr>
              <a:t> --&gt;|</a:t>
            </a:r>
            <a:r>
              <a:rPr sz="1300" i="0" b="0">
                <a:solidFill>
                  <a:srgbClr val="CE9178"/>
                </a:solidFill>
                <a:latin typeface="Consolas"/>
              </a:rPr>
              <a:t>"HTTPS 443 - frontera de confianza"</a:t>
            </a:r>
            <a:r>
              <a:rPr sz="1300" i="0" b="0">
                <a:solidFill>
                  <a:srgbClr val="D4D4D4"/>
                </a:solidFill>
                <a:latin typeface="Consolas"/>
              </a:rPr>
              <a:t>| </a:t>
            </a:r>
            <a:r>
              <a:rPr sz="1300" i="0" b="0">
                <a:solidFill>
                  <a:srgbClr val="D4D4D4"/>
                </a:solidFill>
                <a:latin typeface="Consolas"/>
              </a:rPr>
              <a:t>pagos</a:t>
            </a:r>
          </a:p>
        </p:txBody>
      </p:sp>
      <p:sp>
        <p:nvSpPr>
          <p:cNvPr id="13" name="Rounded Rectangle 12"/>
          <p:cNvSpPr/>
          <p:nvPr/>
        </p:nvSpPr>
        <p:spPr>
          <a:xfrm>
            <a:off x="7668579" y="1261872"/>
            <a:ext cx="4120780" cy="3318569"/>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g-despliegue-paso1.png"/>
          <p:cNvPicPr>
            <a:picLocks noChangeAspect="1"/>
          </p:cNvPicPr>
          <p:nvPr/>
        </p:nvPicPr>
        <p:blipFill>
          <a:blip r:embed="rId2"/>
          <a:stretch>
            <a:fillRect/>
          </a:stretch>
        </p:blipFill>
        <p:spPr>
          <a:xfrm>
            <a:off x="7723443" y="1316736"/>
            <a:ext cx="4011052" cy="3208841"/>
          </a:xfrm>
          <a:prstGeom prst="rect">
            <a:avLst/>
          </a:prstGeom>
        </p:spPr>
      </p:pic>
      <p:sp>
        <p:nvSpPr>
          <p:cNvPr id="15" name="TextBox 14"/>
          <p:cNvSpPr txBox="1"/>
          <p:nvPr/>
        </p:nvSpPr>
        <p:spPr>
          <a:xfrm>
            <a:off x="7723443" y="4580441"/>
            <a:ext cx="4011052" cy="320040"/>
          </a:xfrm>
          <a:prstGeom prst="rect">
            <a:avLst/>
          </a:prstGeom>
          <a:noFill/>
        </p:spPr>
        <p:txBody>
          <a:bodyPr wrap="square">
            <a:spAutoFit/>
          </a:bodyPr>
          <a:lstStyle/>
          <a:p>
            <a:pPr algn="ctr"/>
            <a:r>
              <a:rPr sz="1200" b="0" i="1">
                <a:solidFill>
                  <a:srgbClr val="666666"/>
                </a:solidFill>
                <a:latin typeface="Calibri"/>
              </a:rPr>
              <a:t>Lo que dibuja este código</a:t>
            </a:r>
          </a:p>
        </p:txBody>
      </p:sp>
      <p:sp>
        <p:nvSpPr>
          <p:cNvPr id="16" name="TextBox 15"/>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Una «subgraph» por zona, el puerto en cada caja y la base con «[( )]». La flecha al externo ES la frontera de confianza. Nombres: los mismos del C4 Containers de la Clase 4.</a:t>
            </a:r>
          </a:p>
        </p:txBody>
      </p:sp>
      <p:sp>
        <p:nvSpPr>
          <p:cNvPr id="17" name="TextBox 1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Del boceto al código Mermaid</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diagrama se escribe como código: se versiona, se compara y se corrige</a:t>
            </a:r>
          </a:p>
        </p:txBody>
      </p:sp>
      <p:sp>
        <p:nvSpPr>
          <p:cNvPr id="6" name="Rounded Rectangle 5"/>
          <p:cNvSpPr/>
          <p:nvPr/>
        </p:nvSpPr>
        <p:spPr>
          <a:xfrm>
            <a:off x="457200" y="1659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965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65960"/>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751076"/>
            <a:ext cx="10271455" cy="886968"/>
          </a:xfrm>
          <a:prstGeom prst="rect">
            <a:avLst/>
          </a:prstGeom>
          <a:noFill/>
        </p:spPr>
        <p:txBody>
          <a:bodyPr wrap="square" anchor="ctr"/>
          <a:lstStyle/>
          <a:p>
            <a:r>
              <a:rPr sz="1500" b="1" i="0">
                <a:solidFill>
                  <a:srgbClr val="095292"/>
                </a:solidFill>
                <a:latin typeface="Calibri"/>
              </a:rPr>
              <a:t>Diseña visual</a:t>
            </a:r>
          </a:p>
          <a:p>
            <a:pPr>
              <a:spcBef>
                <a:spcPts val="200"/>
              </a:spcBef>
            </a:pPr>
            <a:r>
              <a:rPr sz="1300" b="0" i="0">
                <a:solidFill>
                  <a:srgbClr val="333333"/>
                </a:solidFill>
                <a:latin typeface="Calibri"/>
              </a:rPr>
              <a:t>Dibuja el diagrama como quieras en Excalidraw o draw.io: es más rápido arrastrar cajas que escribir código, y ahí es donde se piensa el modelo.</a:t>
            </a:r>
          </a:p>
        </p:txBody>
      </p:sp>
      <p:sp>
        <p:nvSpPr>
          <p:cNvPr id="10" name="Rounded Rectangle 9"/>
          <p:cNvSpPr/>
          <p:nvPr/>
        </p:nvSpPr>
        <p:spPr>
          <a:xfrm>
            <a:off x="457200" y="2802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108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108960"/>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894076"/>
            <a:ext cx="10271455" cy="886968"/>
          </a:xfrm>
          <a:prstGeom prst="rect">
            <a:avLst/>
          </a:prstGeom>
          <a:noFill/>
        </p:spPr>
        <p:txBody>
          <a:bodyPr wrap="square" anchor="ctr"/>
          <a:lstStyle/>
          <a:p>
            <a:r>
              <a:rPr sz="1500" b="1" i="0">
                <a:solidFill>
                  <a:srgbClr val="095292"/>
                </a:solidFill>
                <a:latin typeface="Calibri"/>
              </a:rPr>
              <a:t>Traduce con IA</a:t>
            </a:r>
          </a:p>
          <a:p>
            <a:pPr>
              <a:spcBef>
                <a:spcPts val="200"/>
              </a:spcBef>
            </a:pPr>
            <a:r>
              <a:rPr sz="1300" b="0" i="0">
                <a:solidFill>
                  <a:srgbClr val="333333"/>
                </a:solidFill>
                <a:latin typeface="Calibri"/>
              </a:rPr>
              <a:t>Describe tu boceto a una IA y pídele el código Mermaid usando flowchart. Revisa el resultado: la IA acierta la sintaxis, no tu modelo.</a:t>
            </a:r>
          </a:p>
        </p:txBody>
      </p:sp>
      <p:sp>
        <p:nvSpPr>
          <p:cNvPr id="14" name="Rounded Rectangle 13"/>
          <p:cNvSpPr/>
          <p:nvPr/>
        </p:nvSpPr>
        <p:spPr>
          <a:xfrm>
            <a:off x="457200" y="3945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4251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519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4037076"/>
            <a:ext cx="10271455" cy="886968"/>
          </a:xfrm>
          <a:prstGeom prst="rect">
            <a:avLst/>
          </a:prstGeom>
          <a:noFill/>
        </p:spPr>
        <p:txBody>
          <a:bodyPr wrap="square" anchor="ctr"/>
          <a:lstStyle/>
          <a:p>
            <a:r>
              <a:rPr sz="1500" b="1" i="0">
                <a:solidFill>
                  <a:srgbClr val="095292"/>
                </a:solidFill>
                <a:latin typeface="Calibri"/>
              </a:rPr>
              <a:t>Renderiza en un visor</a:t>
            </a:r>
          </a:p>
          <a:p>
            <a:pPr>
              <a:spcBef>
                <a:spcPts val="200"/>
              </a:spcBef>
            </a:pPr>
            <a:r>
              <a:rPr sz="1300" b="0" i="0">
                <a:solidFill>
                  <a:srgbClr val="333333"/>
                </a:solidFill>
                <a:latin typeface="Calibri"/>
              </a:rPr>
              <a:t>Pega el código en un visor Mermaid (mermaid.live o la vista previa de tu editor) y míralo dibujado. Si no renderiza, corrige ahí: un end faltante o un rótulo sin comillas.</a:t>
            </a:r>
          </a:p>
        </p:txBody>
      </p:sp>
      <p:sp>
        <p:nvSpPr>
          <p:cNvPr id="18" name="Rounded Rectangle 17"/>
          <p:cNvSpPr/>
          <p:nvPr/>
        </p:nvSpPr>
        <p:spPr>
          <a:xfrm>
            <a:off x="457200" y="5088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5394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394960"/>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5180076"/>
            <a:ext cx="10271455" cy="886968"/>
          </a:xfrm>
          <a:prstGeom prst="rect">
            <a:avLst/>
          </a:prstGeom>
          <a:noFill/>
        </p:spPr>
        <p:txBody>
          <a:bodyPr wrap="square" anchor="ctr"/>
          <a:lstStyle/>
          <a:p>
            <a:r>
              <a:rPr sz="1500" b="1" i="0">
                <a:solidFill>
                  <a:srgbClr val="095292"/>
                </a:solidFill>
                <a:latin typeface="Calibri"/>
              </a:rPr>
              <a:t>Guarda código e imagen</a:t>
            </a:r>
          </a:p>
          <a:p>
            <a:pPr>
              <a:spcBef>
                <a:spcPts val="200"/>
              </a:spcBef>
            </a:pPr>
            <a:r>
              <a:rPr sz="1300" b="0" i="0">
                <a:solidFill>
                  <a:srgbClr val="333333"/>
                </a:solidFill>
                <a:latin typeface="Calibri"/>
              </a:rPr>
              <a:t>El código es la fuente del diagrama: guárdalo con tu proyecto junto con el PNG exportado.</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7 · cierre conceptual</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Modelar red lógica (cliente, edge, app, datos) sin VPC de pago.</a:t>
            </a:r>
          </a:p>
          <a:p>
            <a:pPr algn="ctr">
              <a:spcAft>
                <a:spcPts val="600"/>
              </a:spcAft>
            </a:pPr>
            <a:r>
              <a:rPr sz="1600" b="0" i="0">
                <a:solidFill>
                  <a:srgbClr val="333333"/>
                </a:solidFill>
                <a:latin typeface="Calibri"/>
              </a:rPr>
              <a:t>Elegir tipo de almacenamiento según el caso de uso de la app.</a:t>
            </a:r>
          </a:p>
          <a:p>
            <a:pPr algn="ctr">
              <a:spcAft>
                <a:spcPts val="600"/>
              </a:spcAft>
            </a:pPr>
            <a:r>
              <a:rPr sz="1600" b="0" i="0">
                <a:solidFill>
                  <a:srgbClr val="333333"/>
                </a:solidFill>
                <a:latin typeface="Calibri"/>
              </a:rPr>
              <a:t>Completar el diagrama de despliegue.</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Teoría al servicio del diseño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