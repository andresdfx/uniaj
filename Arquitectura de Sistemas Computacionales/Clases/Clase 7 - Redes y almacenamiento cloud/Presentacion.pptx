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tener claro el mapa de los tres diagramas del curso, porque el estudiante cree que dibuja lo mismo tres veces.</a:t>
            </a:r>
          </a:p>
          <a:p/>
          <a:p>
            <a:r>
              <a:t>Lo que se califica hoy son 25 de los 100 puntos de la actividad del Corte 2, en tres preguntas: 14 puntos el diagrama de despliegue, 5.5 el tipo de almacenamiento de cada componente y 5.5 la tabla de correspondencia con el C4 Containers.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etiquetar ese diagrama hacen falta tres conceptos de red que el docente debe definir en una frase.</a:t>
            </a:r>
          </a:p>
          <a:p/>
          <a:p>
            <a:r>
              <a:t>Una direccion IP identifica una maquina dentro de una red.</a:t>
            </a:r>
          </a:p>
          <a:p/>
          <a:p>
            <a:r>
              <a:t>Ahi esta el amarre: cuando en Killercoda se ejecuto el contenedor publicando un puerto, esa linea era la decision de que superficie queda expuesta, tema de la Clase 6, y hoy esa decision se dibuja.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privada no lo tiene; solo se alcanza desde dentro, aunque normalmente si puede salir para descargar actualizaciones.</a:t>
            </a:r>
          </a:p>
          <a:p/>
          <a:p>
            <a:r>
              <a:t>Conviene ademas nombrar la frontera de confianza, que vale 2 puntos: es la linea donde termina lo que el estudiante controla y empieza lo que no.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balanceador de carga recibe todas las peticiones y las reparte entre varias instancias iguales del mismo servicio, con algoritmos como round robin o menor numero de conexiones activas.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la pena escribirlas en el tablero y sostenerlas toda la clase.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la otra mitad, que es la que sorprende al docente: si el dominio del estudiante no maneja archivos, imagenes ni documentos adjuntos, la respuesta correcta y completa es declarar que NO necesita almacenamiento de objetos y explicar por 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Queda la trazabilidad, donde mas puntos se pierden y donde vive una pregunta entera.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cinco cosas que el docente debe poder explicar sin titubear.</a:t>
            </a:r>
          </a:p>
          <a:p/>
          <a:p>
            <a:r>
              <a:t>Se escribe flowchart LR, donde LR significa de izquierda a derecha, y es lo que hace que el recorrido cliente, edge, aplicacion, datos se lea como un flujo y no como una torre.</a:t>
            </a:r>
          </a:p>
          <a:p/>
          <a:p>
            <a:r>
              <a:t>Vale la pena senalar la caja de la base de datos y decir «esta forma, dentro de este subgraph, son 4 de los 14 puntos».</a:t>
            </a:r>
          </a:p>
          <a:p/>
          <a:p>
            <a:r>
              <a:t>Dos advertencias practicas.</a:t>
            </a:r>
          </a:p>
          <a:p/>
          <a:p>
            <a:r>
              <a:t>Sirven para dejar una nota al evaluador, no para responder.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CloudLite.</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 del 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que la nota castiga.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eso suma.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la plataforma.</a:t>
            </a:r>
          </a:p>
          <a:p>
            <a:pPr>
              <a:spcAft>
                <a:spcPts val="800"/>
              </a:spcAft>
            </a:pPr>
            <a:r>
              <a:rPr sz="2000" b="0" i="0">
                <a:solidFill>
                  <a:srgbClr val="333333"/>
                </a:solidFill>
                <a:latin typeface="Calibri"/>
              </a:rPr>
              <a:t>–   Debe alinearse con el C4 Containers (mismos nombres).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Y hay un dato que cambia como se dicta la clase: el entregable NO es una imagen.</a:t>
            </a:r>
          </a:p>
          <a:p>
            <a:pPr>
              <a:spcAft>
                <a:spcPts val="800"/>
              </a:spcAft>
            </a:pPr>
            <a:r>
              <a:rPr sz="2000" b="0" i="0">
                <a:solidFill>
                  <a:srgbClr val="333333"/>
                </a:solidFill>
                <a:latin typeface="Calibri"/>
              </a:rPr>
              <a:t>–   La pregunta 4 se responde con codigo Mermaid pegado en la plataforma del curso, que la plataforma renderiza en la misma pantalla, y 2 de esos 14 puntos son literalmente que renderice sin error.</a:t>
            </a:r>
          </a:p>
          <a:p>
            <a:pPr>
              <a:spcAft>
                <a:spcPts val="800"/>
              </a:spcAft>
            </a:pPr>
            <a:r>
              <a:rPr sz="2000" b="0" i="0">
                <a:solidFill>
                  <a:srgbClr val="333333"/>
                </a:solidFill>
                <a:latin typeface="Calibri"/>
              </a:rPr>
              <a:t>–   El boceto en draw.io o en Excalidraw sigue sirviendo, y es el paso 1 del metodo que se proyecta hoy, pero es un borrador de trabajo: no se entrega y no se califica.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Nada impide correr una base de datos en el 9999, pero cambiar la convencion confunde a quien opera.</a:t>
            </a:r>
          </a:p>
          <a:p>
            <a:pPr>
              <a:spcAft>
                <a:spcPts val="800"/>
              </a:spcAft>
            </a:pPr>
            <a:r>
              <a:rPr sz="2000" b="0" i="0">
                <a:solidFill>
                  <a:srgbClr val="333333"/>
                </a:solidFill>
                <a:latin typeface="Calibri"/>
              </a:rPr>
              <a:t>–   Esto no es decorativo: la pregunta 4 da 2 puntos por que cada componente lleve su puerto etiquetado</a:t>
            </a:r>
          </a:p>
          <a:p>
            <a:pPr>
              <a:spcAft>
                <a:spcPts val="800"/>
              </a:spcAft>
            </a:pPr>
            <a:r>
              <a:rPr sz="2000" b="0" i="0">
                <a:solidFill>
                  <a:srgbClr val="333333"/>
                </a:solidFill>
                <a:latin typeface="Calibri"/>
              </a:rPr>
              <a:t>–   Y el diagrama de referencia usa exactamente tres, 443 en el edge, 8080 en la API y 5432 en la base de datos, que son los mismos que el estudiante ya escribio en el EXPOSE de su Dockerfile de la Clase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que se evalua hoy, y hay que decirla con los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 porque es el actor y no una pieza que el estudiante despliegue</a:t>
            </a:r>
          </a:p>
          <a:p>
            <a:pPr>
              <a:spcAft>
                <a:spcPts val="800"/>
              </a:spcAft>
            </a:pPr>
            <a:r>
              <a:rPr sz="2000" b="0" i="0">
                <a:solidFill>
                  <a:srgbClr val="333333"/>
                </a:solidFill>
                <a:latin typeface="Calibri"/>
              </a:rPr>
              <a:t>–   Y por eso es una de las dos filas sin par de la tabla de la pregunta 6; la API va en la zona PRIVADA, alcanzable solo desde el edge; y los datos van en una tercera zona, la de DATOS, que solo acepta conexiones desde la aplicacion y no tiene salida a internet.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4 puntos de ubicacion de la pregunta 4 se pierden COMPLETOS si la base de datos queda en la zona publica: no es un descuento parcial, es el error que la pregunta esta disenada para detectar.</a:t>
            </a:r>
          </a:p>
          <a:p>
            <a:pPr>
              <a:spcAft>
                <a:spcPts val="800"/>
              </a:spcAft>
            </a:pPr>
            <a:r>
              <a:rPr sz="2000" b="0" i="0">
                <a:solidFill>
                  <a:srgbClr val="333333"/>
                </a:solidFill>
                <a:latin typeface="Calibri"/>
              </a:rPr>
              <a:t>–   Y las tres zonas rotuladas valen otros 4 puntos por si mismas, asi que un diagrama de dos zonas, aunque tenga la base de datos bien puesta, ya empezo perdiendo.</a:t>
            </a:r>
          </a:p>
          <a:p>
            <a:pPr>
              <a:spcAft>
                <a:spcPts val="800"/>
              </a:spcAft>
            </a:pPr>
            <a:r>
              <a:rPr sz="2000" b="0" i="0">
                <a:solidFill>
                  <a:srgbClr val="333333"/>
                </a:solidFill>
                <a:latin typeface="Calibri"/>
              </a:rPr>
              <a:t>–   En CloudLite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cloudlite.example,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porque la pregunta 5 admite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que califica la pregunta 5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Y la justificacion se califica aparte, 2.5 de los 5.5 puntos: cada fila tiene que nombrar la caracteristica del dato.</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CloudLite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a:p>
            <a:pPr>
              <a:spcAft>
                <a:spcPts val="800"/>
              </a:spcAft>
            </a:pPr>
            <a:r>
              <a:rPr sz="2000" b="0" i="0">
                <a:solidFill>
                  <a:srgbClr val="333333"/>
                </a:solidFill>
                <a:latin typeface="Calibri"/>
              </a:rPr>
              <a:t>–   La rubrica lo dice al reves de como el grupo lo espera: suma completo quien lo declare y justifique, y se descuenta a quien agregue un almacen de objetos sin un dato que lo pida.</a:t>
            </a:r>
          </a:p>
          <a:p>
            <a:pPr>
              <a:spcAft>
                <a:spcPts val="800"/>
              </a:spcAft>
            </a:pPr>
            <a:r>
              <a:rPr sz="2000" b="0" i="0">
                <a:solidFill>
                  <a:srgbClr val="333333"/>
                </a:solidFill>
                <a:latin typeface="Calibri"/>
              </a:rPr>
              <a:t>–   Hay que anunciarlo antes del taller, porque si no medio salon inventa un bucket «porque suena a cloud» y pierde puntos por agregar.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La pregunta 6 pide demostrarlo con una tabla de tres columnas cuyos nombres hay que dictar tal cual: «Componente en el C4 Containers», «Componente en el Despliegue» y «Zona».</a:t>
            </a:r>
          </a:p>
          <a:p>
            <a:pPr>
              <a:spcAft>
                <a:spcPts val="800"/>
              </a:spcAft>
            </a:pPr>
            <a:r>
              <a:rPr sz="2000" b="0" i="0">
                <a:solidFill>
                  <a:srgbClr val="333333"/>
                </a:solidFill>
                <a:latin typeface="Calibri"/>
              </a:rPr>
              <a:t>–   Los 5.5 puntos se reparten asi, y conviene decirlo en voz alta: 2 puntos la explicacion de por que los nombres deben coincidir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respuesta esperada es que los dos diagramas son el MISMO sistema visto desde angulos distintos, uno dice que piezas hay y el otro donde se ejecutan</a:t>
            </a:r>
          </a:p>
          <a:p>
            <a:pPr>
              <a:spcAft>
                <a:spcPts val="800"/>
              </a:spcAft>
            </a:pPr>
            <a:r>
              <a:rPr sz="2000" b="0" i="0">
                <a:solidFill>
                  <a:srgbClr val="333333"/>
                </a:solidFill>
                <a:latin typeface="Calibri"/>
              </a:rPr>
              <a:t>–   2.5 puntos la tabla completa, con una fila por componente y su zona; y 1 punto listar los renombres que se aplicaron, o declarar explicitamente que no hubo ninguno, que tambien vale.</a:t>
            </a:r>
          </a:p>
          <a:p>
            <a:pPr>
              <a:spcAft>
                <a:spcPts val="800"/>
              </a:spcAft>
            </a:pPr>
            <a:r>
              <a:rPr sz="2000" b="0" i="0">
                <a:solidFill>
                  <a:srgbClr val="333333"/>
                </a:solidFill>
                <a:latin typeface="Calibri"/>
              </a:rPr>
              <a:t>–   La trampa esta en la palabra completa: se descuenta si la tabla deja fuera un componente que si aparece en alguno de los dos diagramas, asi que hay que instruir el gesto de llenarla con los dos diagramas abiertos al lado y contando cajas.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de la pregunta 6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Todo el bloque se evalua en el Parcial 2 de la Clase 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CloudLite de punta a punta sobre el diagrama proyectado.</a:t>
            </a:r>
          </a:p>
          <a:p>
            <a:pPr>
              <a:spcAft>
                <a:spcPts val="800"/>
              </a:spcAft>
            </a:pPr>
            <a:r>
              <a:rPr sz="2000" b="0" i="0">
                <a:solidFill>
                  <a:srgbClr val="333333"/>
                </a:solidFill>
                <a:latin typeface="Calibri"/>
              </a:rPr>
              <a:t>–   Un usuario final abre cloudlite.example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Ese recorrido, con cada flecha etiquetada con protocolo y puerto y cada caja dentro de su zona, es la estructura que la pregunta 4 califica; lo que se pega en la plataforma es su version en Mermaid, que es la seccion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CloudLite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a:p>
            <a:pPr>
              <a:spcAft>
                <a:spcPts val="800"/>
              </a:spcAft>
            </a:pPr>
            <a:r>
              <a:rPr sz="2000" b="0" i="0">
                <a:solidFill>
                  <a:srgbClr val="333333"/>
                </a:solidFill>
                <a:latin typeface="Calibri"/>
              </a:rPr>
              <a:t>–   Con eso el grupo ve que si una pantalla dispara veinte consultas encadenadas el problema es de diseno y no de servidor.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del molde existe porque el estudiante puede tener el modelo correcto en la cabeza y perder puntos por sintaxis, y porque 2 de los 14 son que el diagrama renderice.</a:t>
            </a:r>
          </a:p>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y son las que valen 4 puntos; olvidar un end es la causa numero uno de que la plataforma no dibuje nada,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a:p>
            <a:pPr>
              <a:spcAft>
                <a:spcPts val="800"/>
              </a:spcAft>
            </a:pPr>
            <a:r>
              <a:rPr sz="2000" b="0" i="0">
                <a:solidFill>
                  <a:srgbClr val="333333"/>
                </a:solidFill>
                <a:latin typeface="Calibri"/>
              </a:rPr>
              <a:t>–   Es la forma mas segura de cumplir los 2 puntos de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los 2 puntos de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 y ahi se van los 2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si un rotulo lleva parentesis, dos puntos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la pregunta 4 y MIRARLO RENDERIZADO antes de enviar.</a:t>
            </a:r>
          </a:p>
          <a:p>
            <a:pPr>
              <a:spcAft>
                <a:spcPts val="800"/>
              </a:spcAft>
            </a:pPr>
            <a:r>
              <a:rPr sz="2000" b="0" i="0">
                <a:solidFill>
                  <a:srgbClr val="333333"/>
                </a:solidFill>
                <a:latin typeface="Calibri"/>
              </a:rPr>
              <a:t>–   Si no se dibuja, se corrige ahi mismo; nadie califica un codigo que no dibuja.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Es mas: la rubrica DESCUENTA por nombrar subredes o servicios de un proveedor concreto, asi que escribir VPC, el nombre de una zona de disponibilidad o el de un servicio de marca resta en vez de sumar.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subir mi imagen del diagrama en vez del codigo Mermaid?» No para la pregunta 4: lo que se califica es el diagrama renderizado dentro de la plataforma.</a:t>
            </a:r>
          </a:p>
          <a:p>
            <a:pPr>
              <a:spcAft>
                <a:spcPts val="800"/>
              </a:spcAft>
            </a:pPr>
            <a:r>
              <a:rPr sz="2000" b="0" i="0">
                <a:solidFill>
                  <a:srgbClr val="333333"/>
                </a:solidFill>
                <a:latin typeface="Calibri"/>
              </a:rPr>
              <a:t>–   «Mi sistema es pequeno, solo tiene la aplicacion y la base de datos; igual necesito tres zonas?» Si</a:t>
            </a:r>
          </a:p>
          <a:p>
            <a:pPr>
              <a:spcAft>
                <a:spcPts val="800"/>
              </a:spcAft>
            </a:pPr>
            <a:r>
              <a:rPr sz="2000" b="0" i="0">
                <a:solidFill>
                  <a:srgbClr val="333333"/>
                </a:solidFill>
                <a:latin typeface="Calibri"/>
              </a:rPr>
              <a:t>–   Y no es burocracia: las tres zonas son 4 puntos y el sentido de la separacion es justamente que el punto de entrada, la logica y los datos tengan grados de exposicion distintos.</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CloudLite)</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Los nombres deben coincidir con los del C4 Containers (Clase 4) — mismo sistema, otro ángulo.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la plataforma del curso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CloudLite&lt;br/&gt;8080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CloudLite.</a:t>
            </a:r>
          </a:p>
          <a:p>
            <a:pPr algn="ctr">
              <a:spcAft>
                <a:spcPts val="600"/>
              </a:spcAft>
            </a:pPr>
            <a:r>
              <a:rPr sz="1600" b="0" i="0">
                <a:solidFill>
                  <a:srgbClr val="333333"/>
                </a:solidFill>
                <a:latin typeface="Calibri"/>
              </a:rPr>
              <a:t>Completar el diagrama de despliegue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