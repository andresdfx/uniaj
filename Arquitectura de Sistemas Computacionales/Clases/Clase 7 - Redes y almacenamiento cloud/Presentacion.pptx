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7</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Redes y almacenamiento cloud</a:t>
            </a:r>
          </a:p>
          <a:p>
            <a:pPr algn="ctr">
              <a:spcBef>
                <a:spcPts val="800"/>
              </a:spcBef>
            </a:pPr>
            <a:r>
              <a:rPr sz="1500" b="0" i="0">
                <a:solidFill>
                  <a:srgbClr val="269CCB"/>
                </a:solidFill>
                <a:latin typeface="Calibri"/>
              </a:rPr>
              <a:t>Diagrama de despliegue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Diagrama de despliegue: red, zonas, almacenamiento</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Modelar red lógica (cliente, edge, app, datos) sin VPC de pago.</a:t>
            </a:r>
          </a:p>
          <a:p>
            <a:pPr>
              <a:spcAft>
                <a:spcPts val="800"/>
              </a:spcAft>
            </a:pPr>
            <a:r>
              <a:rPr sz="2000" b="0" i="0">
                <a:solidFill>
                  <a:srgbClr val="333333"/>
                </a:solidFill>
                <a:latin typeface="Calibri"/>
              </a:rPr>
              <a:t>–   Elegir tipo de almacenamiento según el caso de uso CloudLite.</a:t>
            </a:r>
          </a:p>
          <a:p>
            <a:pPr>
              <a:spcAft>
                <a:spcPts val="800"/>
              </a:spcAft>
            </a:pPr>
            <a:r>
              <a:rPr sz="2000" b="0" i="0">
                <a:solidFill>
                  <a:srgbClr val="333333"/>
                </a:solidFill>
                <a:latin typeface="Calibri"/>
              </a:rPr>
              <a:t>–   Completar el diagrama de </a:t>
            </a:r>
            <a:r>
              <a:rPr sz="2000" b="1" i="0">
                <a:solidFill>
                  <a:srgbClr val="333333"/>
                </a:solidFill>
                <a:latin typeface="Calibri"/>
              </a:rPr>
              <a:t>despliegue</a:t>
            </a:r>
            <a:r>
              <a:rPr sz="2000" b="0" i="0">
                <a:solidFill>
                  <a:srgbClr val="333333"/>
                </a:solidFill>
                <a:latin typeface="Calibri"/>
              </a:rPr>
              <a:t> del PI.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Red lógica para el diagrama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Cliente → edge/balanceador → app → datos: </a:t>
            </a:r>
            <a:r>
              <a:rPr sz="2000" b="1" i="0">
                <a:solidFill>
                  <a:srgbClr val="333333"/>
                </a:solidFill>
                <a:latin typeface="Calibri"/>
              </a:rPr>
              <a:t>tres zonas</a:t>
            </a:r>
            <a:r>
              <a:rPr sz="2000" b="0" i="0">
                <a:solidFill>
                  <a:srgbClr val="333333"/>
                </a:solidFill>
                <a:latin typeface="Calibri"/>
              </a:rPr>
              <a:t>, no dos.</a:t>
            </a:r>
          </a:p>
          <a:p>
            <a:pPr>
              <a:spcAft>
                <a:spcPts val="800"/>
              </a:spcAft>
            </a:pPr>
            <a:r>
              <a:rPr sz="2000" b="0" i="0">
                <a:solidFill>
                  <a:srgbClr val="333333"/>
                </a:solidFill>
                <a:latin typeface="Calibri"/>
              </a:rPr>
              <a:t>–   </a:t>
            </a:r>
            <a:r>
              <a:rPr sz="2000" b="1" i="0">
                <a:solidFill>
                  <a:srgbClr val="333333"/>
                </a:solidFill>
                <a:latin typeface="Calibri"/>
              </a:rPr>
              <a:t>La base de datos va en la zona de datos</a:t>
            </a:r>
            <a:r>
              <a:rPr sz="2000" b="0" i="0">
                <a:solidFill>
                  <a:srgbClr val="333333"/>
                </a:solidFill>
                <a:latin typeface="Calibri"/>
              </a:rPr>
              <a:t>, nunca en la pública: es el error que la nota castiga.</a:t>
            </a:r>
          </a:p>
          <a:p>
            <a:pPr>
              <a:spcAft>
                <a:spcPts val="800"/>
              </a:spcAft>
            </a:pPr>
            <a:r>
              <a:rPr sz="2000" b="0" i="0">
                <a:solidFill>
                  <a:srgbClr val="333333"/>
                </a:solidFill>
                <a:latin typeface="Calibri"/>
              </a:rPr>
              <a:t>–   </a:t>
            </a:r>
            <a:r>
              <a:rPr sz="2000" b="1" i="0">
                <a:solidFill>
                  <a:srgbClr val="333333"/>
                </a:solidFill>
                <a:latin typeface="Calibri"/>
              </a:rPr>
              <a:t>Frontera de confianza:</a:t>
            </a:r>
            <a:r>
              <a:rPr sz="2000" b="0" i="0">
                <a:solidFill>
                  <a:srgbClr val="333333"/>
                </a:solidFill>
                <a:latin typeface="Calibri"/>
              </a:rPr>
              <a:t> la flecha donde termina lo que tú controlas (un SaaS externo).</a:t>
            </a:r>
          </a:p>
          <a:p>
            <a:pPr>
              <a:spcAft>
                <a:spcPts val="800"/>
              </a:spcAft>
            </a:pPr>
            <a:r>
              <a:rPr sz="2000" b="0" i="0">
                <a:solidFill>
                  <a:srgbClr val="333333"/>
                </a:solidFill>
                <a:latin typeface="Calibri"/>
              </a:rPr>
              <a:t>–   No inventen subnets AWS: usen zonas </a:t>
            </a:r>
            <a:r>
              <a:rPr sz="2000" b="1" i="0">
                <a:solidFill>
                  <a:srgbClr val="333333"/>
                </a:solidFill>
                <a:latin typeface="Calibri"/>
              </a:rPr>
              <a:t>Pública / Privada / Datos</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Almacenamiento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tipos y sus nombres exactos: </a:t>
            </a:r>
            <a:r>
              <a:rPr sz="2000" b="1" i="0">
                <a:solidFill>
                  <a:srgbClr val="333333"/>
                </a:solidFill>
                <a:latin typeface="Calibri"/>
              </a:rPr>
              <a:t>Relacional</a:t>
            </a:r>
            <a:r>
              <a:rPr sz="2000" b="0" i="0">
                <a:solidFill>
                  <a:srgbClr val="333333"/>
                </a:solidFill>
                <a:latin typeface="Calibri"/>
              </a:rPr>
              <a:t> · </a:t>
            </a:r>
            <a:r>
              <a:rPr sz="2000" b="1" i="0">
                <a:solidFill>
                  <a:srgbClr val="333333"/>
                </a:solidFill>
                <a:latin typeface="Calibri"/>
              </a:rPr>
              <a:t>Bloque</a:t>
            </a:r>
            <a:r>
              <a:rPr sz="2000" b="0" i="0">
                <a:solidFill>
                  <a:srgbClr val="333333"/>
                </a:solidFill>
                <a:latin typeface="Calibri"/>
              </a:rPr>
              <a:t> · </a:t>
            </a:r>
            <a:r>
              <a:rPr sz="2000" b="1" i="0">
                <a:solidFill>
                  <a:srgbClr val="333333"/>
                </a:solidFill>
                <a:latin typeface="Calibri"/>
              </a:rPr>
              <a:t>Objeto</a:t>
            </a:r>
            <a:r>
              <a:rPr sz="2000" b="0" i="0">
                <a:solidFill>
                  <a:srgbClr val="333333"/>
                </a:solidFill>
                <a:latin typeface="Calibri"/>
              </a:rPr>
              <a:t>.</a:t>
            </a:r>
          </a:p>
          <a:p>
            <a:pPr>
              <a:spcAft>
                <a:spcPts val="800"/>
              </a:spcAft>
            </a:pPr>
            <a:r>
              <a:rPr sz="2000" b="0" i="0">
                <a:solidFill>
                  <a:srgbClr val="333333"/>
                </a:solidFill>
                <a:latin typeface="Calibri"/>
              </a:rPr>
              <a:t>–   Relacional: el dato se cruza con otro · Bloque: lo monta un solo proceso · Objeto: se recupera entero.</a:t>
            </a:r>
          </a:p>
          <a:p>
            <a:pPr>
              <a:spcAft>
                <a:spcPts val="800"/>
              </a:spcAft>
            </a:pPr>
            <a:r>
              <a:rPr sz="2000" b="0" i="0">
                <a:solidFill>
                  <a:srgbClr val="333333"/>
                </a:solidFill>
                <a:latin typeface="Calibri"/>
              </a:rPr>
              <a:t>–   Se justifica por la </a:t>
            </a:r>
            <a:r>
              <a:rPr sz="2000" b="1" i="0">
                <a:solidFill>
                  <a:srgbClr val="333333"/>
                </a:solidFill>
                <a:latin typeface="Calibri"/>
              </a:rPr>
              <a:t>característica del dato</a:t>
            </a:r>
            <a:r>
              <a:rPr sz="2000" b="0" i="0">
                <a:solidFill>
                  <a:srgbClr val="333333"/>
                </a:solidFill>
                <a:latin typeface="Calibri"/>
              </a:rPr>
              <a:t>, no por preferencia.</a:t>
            </a:r>
          </a:p>
          <a:p>
            <a:pPr>
              <a:spcAft>
                <a:spcPts val="800"/>
              </a:spcAft>
            </a:pPr>
            <a:r>
              <a:rPr sz="2000" b="0" i="0">
                <a:solidFill>
                  <a:srgbClr val="333333"/>
                </a:solidFill>
                <a:latin typeface="Calibri"/>
              </a:rPr>
              <a:t>–   Si tu dominio no maneja archivos, </a:t>
            </a:r>
            <a:r>
              <a:rPr sz="2000" b="1" i="0">
                <a:solidFill>
                  <a:srgbClr val="333333"/>
                </a:solidFill>
                <a:latin typeface="Calibri"/>
              </a:rPr>
              <a:t>declara que no necesitas objeto</a:t>
            </a:r>
            <a:r>
              <a:rPr sz="2000" b="0" i="0">
                <a:solidFill>
                  <a:srgbClr val="333333"/>
                </a:solidFill>
                <a:latin typeface="Calibri"/>
              </a:rPr>
              <a:t>: eso suma.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Checklist del diagrama Deployment</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zonas rotuladas · cada componente en su zona · puerto de cada uno.</a:t>
            </a:r>
          </a:p>
          <a:p>
            <a:pPr>
              <a:spcAft>
                <a:spcPts val="800"/>
              </a:spcAft>
            </a:pPr>
            <a:r>
              <a:rPr sz="2000" b="0" i="0">
                <a:solidFill>
                  <a:srgbClr val="333333"/>
                </a:solidFill>
                <a:latin typeface="Calibri"/>
              </a:rPr>
              <a:t>–   Fronteras de confianza marcadas · </a:t>
            </a:r>
            <a:r>
              <a:rPr sz="2000" b="1" i="0">
                <a:solidFill>
                  <a:srgbClr val="333333"/>
                </a:solidFill>
                <a:latin typeface="Calibri"/>
              </a:rPr>
              <a:t>que renderice sin error</a:t>
            </a:r>
            <a:r>
              <a:rPr sz="2000" b="0" i="0">
                <a:solidFill>
                  <a:srgbClr val="333333"/>
                </a:solidFill>
                <a:latin typeface="Calibri"/>
              </a:rPr>
              <a:t> en la plataforma del curso.</a:t>
            </a:r>
          </a:p>
          <a:p>
            <a:pPr>
              <a:spcAft>
                <a:spcPts val="800"/>
              </a:spcAft>
            </a:pPr>
            <a:r>
              <a:rPr sz="2000" b="0" i="0">
                <a:solidFill>
                  <a:srgbClr val="333333"/>
                </a:solidFill>
                <a:latin typeface="Calibri"/>
              </a:rPr>
              <a:t>–   Debe alinearse con el C4 Containers (mismos nombres).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diagrama de despliegue responde una pregunta que los anteriores no responden: donde corre cada pieza y por que camino de red se hablan entre si.</a:t>
            </a:r>
          </a:p>
          <a:p>
            <a:pPr>
              <a:spcAft>
                <a:spcPts val="800"/>
              </a:spcAft>
            </a:pPr>
            <a:r>
              <a:rPr sz="2000" b="0" i="0">
                <a:solidFill>
                  <a:srgbClr val="333333"/>
                </a:solidFill>
                <a:latin typeface="Calibri"/>
              </a:rPr>
              <a:t>–   En la Clase 1 se hizo C4 Context: el sistema como una caja, quien lo usa y con que sistemas externos habla; responde QUIEN.</a:t>
            </a:r>
          </a:p>
          <a:p>
            <a:pPr>
              <a:spcAft>
                <a:spcPts val="800"/>
              </a:spcAft>
            </a:pPr>
            <a:r>
              <a:rPr sz="2000" b="0" i="0">
                <a:solidFill>
                  <a:srgbClr val="333333"/>
                </a:solidFill>
                <a:latin typeface="Calibri"/>
              </a:rPr>
              <a:t>–   En la Clase 4 se hizo C4 Containers: que aplicaciones, servicios y bases de datos lo componen por dentro y con que contratos se comunican; responde QUE.</a:t>
            </a:r>
          </a:p>
          <a:p>
            <a:pPr>
              <a:spcAft>
                <a:spcPts val="800"/>
              </a:spcAft>
            </a:pPr>
            <a:r>
              <a:rPr sz="2000" b="0" i="0">
                <a:solidFill>
                  <a:srgbClr val="333333"/>
                </a:solidFill>
                <a:latin typeface="Calibri"/>
              </a:rPr>
              <a:t>–   Hoy se hace el despliegue: en que nodos se ejecutan esos contenedores, en que zona de red esta cada nodo, por que puerto y protocolo pasa cada flecha, y donde quedan los datos; responde DONDE.</a:t>
            </a:r>
          </a:p>
          <a:p>
            <a:pPr>
              <a:spcAft>
                <a:spcPts val="800"/>
              </a:spcAft>
            </a:pPr>
            <a:r>
              <a:rPr sz="2000" b="0" i="0">
                <a:solidFill>
                  <a:srgbClr val="333333"/>
                </a:solidFill>
                <a:latin typeface="Calibri"/>
              </a:rPr>
              <a:t>–   Un nodo es cualquier lugar de ejecucion: una maquina virtual, un host de contenedores, un servicio gestionado.</a:t>
            </a:r>
          </a:p>
          <a:p>
            <a:pPr>
              <a:spcAft>
                <a:spcPts val="800"/>
              </a:spcAft>
            </a:pPr>
            <a:r>
              <a:rPr sz="2000" b="0" i="0">
                <a:solidFill>
                  <a:srgbClr val="333333"/>
                </a:solidFill>
                <a:latin typeface="Calibri"/>
              </a:rPr>
              <a:t>–   Es el mismo sistema desde un tercer angulo, no un sistema nuevo, y por eso los nombres deben coincidir con los de la Clase 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que se califica hoy son 25 de los 100 puntos de la actividad del Corte 2, en tres preguntas: 14 puntos el diagrama de despliegue, 5.5 el tipo de almacenamiento de cada componente y 5.5 la tabla de correspondencia con el C4 Containers.</a:t>
            </a:r>
          </a:p>
          <a:p>
            <a:pPr>
              <a:spcAft>
                <a:spcPts val="800"/>
              </a:spcAft>
            </a:pPr>
            <a:r>
              <a:rPr sz="2000" b="0" i="0">
                <a:solidFill>
                  <a:srgbClr val="333333"/>
                </a:solidFill>
                <a:latin typeface="Calibri"/>
              </a:rPr>
              <a:t>–   Y hay un dato que cambia como se dicta la clase: el entregable NO es una imagen.</a:t>
            </a:r>
          </a:p>
          <a:p>
            <a:pPr>
              <a:spcAft>
                <a:spcPts val="800"/>
              </a:spcAft>
            </a:pPr>
            <a:r>
              <a:rPr sz="2000" b="0" i="0">
                <a:solidFill>
                  <a:srgbClr val="333333"/>
                </a:solidFill>
                <a:latin typeface="Calibri"/>
              </a:rPr>
              <a:t>–   La pregunta 4 se responde con codigo Mermaid pegado dentro de la plataforma del curso, que la plataforma renderiza en la misma pantalla, y 2 de esos 14 puntos son literalmente que renderice sin error.</a:t>
            </a:r>
          </a:p>
          <a:p>
            <a:pPr>
              <a:spcAft>
                <a:spcPts val="800"/>
              </a:spcAft>
            </a:pPr>
            <a:r>
              <a:rPr sz="2000" b="0" i="0">
                <a:solidFill>
                  <a:srgbClr val="333333"/>
                </a:solidFill>
                <a:latin typeface="Calibri"/>
              </a:rPr>
              <a:t>–   El boceto en draw.io o en Excalidraw sigue sirviendo, y es el paso 1 del metodo que se proyecta hoy, pero es un borrador de trabajo: no se entrega y no se califica.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IP, puerto y protocolo: las tres etiquetas de cada flecha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direccion IP identifica una maquina dentro de una red.</a:t>
            </a:r>
          </a:p>
          <a:p>
            <a:pPr>
              <a:spcAft>
                <a:spcPts val="800"/>
              </a:spcAft>
            </a:pPr>
            <a:r>
              <a:rPr sz="2000" b="0" i="0">
                <a:solidFill>
                  <a:srgbClr val="333333"/>
                </a:solidFill>
                <a:latin typeface="Calibri"/>
              </a:rPr>
              <a:t>–   Un puerto es un numero entre 1 y 65535 que identifica a que proceso de esa maquina se entrega el trafico: la direccion lleva el paquete al edificio, el puerto lo lleva a la oficina.</a:t>
            </a:r>
          </a:p>
          <a:p>
            <a:pPr>
              <a:spcAft>
                <a:spcPts val="800"/>
              </a:spcAft>
            </a:pPr>
            <a:r>
              <a:rPr sz="2000" b="0" i="0">
                <a:solidFill>
                  <a:srgbClr val="333333"/>
                </a:solidFill>
                <a:latin typeface="Calibri"/>
              </a:rPr>
              <a:t>–   Un protocolo es el idioma de esa conexion: HTTP o HTTPS para la API, el protocolo propio del motor para la base de datos.</a:t>
            </a:r>
          </a:p>
          <a:p>
            <a:pPr>
              <a:spcAft>
                <a:spcPts val="800"/>
              </a:spcAft>
            </a:pPr>
            <a:r>
              <a:rPr sz="2000" b="0" i="0">
                <a:solidFill>
                  <a:srgbClr val="333333"/>
                </a:solidFill>
                <a:latin typeface="Calibri"/>
              </a:rPr>
              <a:t>–   Hay puertos fijados por convencion registrada, no por ley fisica: 80 para HTTP, 443 para HTTPS, 5432 para PostgreSQL, 3306 para MySQL, 8080 para desarrollo.</a:t>
            </a:r>
          </a:p>
          <a:p>
            <a:pPr>
              <a:spcAft>
                <a:spcPts val="800"/>
              </a:spcAft>
            </a:pPr>
            <a:r>
              <a:rPr sz="2000" b="0" i="0">
                <a:solidFill>
                  <a:srgbClr val="333333"/>
                </a:solidFill>
                <a:latin typeface="Calibri"/>
              </a:rPr>
              <a:t>–   Nada impide correr una base de datos en el 9999, pero cambiar la convencion confunde a quien opera.</a:t>
            </a:r>
          </a:p>
          <a:p>
            <a:pPr>
              <a:spcAft>
                <a:spcPts val="800"/>
              </a:spcAft>
            </a:pPr>
            <a:r>
              <a:rPr sz="2000" b="0" i="0">
                <a:solidFill>
                  <a:srgbClr val="333333"/>
                </a:solidFill>
                <a:latin typeface="Calibri"/>
              </a:rPr>
              <a:t>–   Esto no es decorativo: la pregunta 4 da 2 puntos por que cada componente lleve su puerto etiquetado</a:t>
            </a:r>
          </a:p>
          <a:p>
            <a:pPr>
              <a:spcAft>
                <a:spcPts val="800"/>
              </a:spcAft>
            </a:pPr>
            <a:r>
              <a:rPr sz="2000" b="0" i="0">
                <a:solidFill>
                  <a:srgbClr val="333333"/>
                </a:solidFill>
                <a:latin typeface="Calibri"/>
              </a:rPr>
              <a:t>–   Y el diagrama de referencia usa exactamente tres, 443 en el edge, 8080 en la API y 5432 en la base de datos, que son los mismos que el estudiante ya escribio en el EXPOSE de su Dockerfile de la Clase 3.</a:t>
            </a:r>
          </a:p>
          <a:p>
            <a:pPr>
              <a:spcAft>
                <a:spcPts val="800"/>
              </a:spcAft>
            </a:pPr>
            <a:r>
              <a:rPr sz="2000" b="0" i="0">
                <a:solidFill>
                  <a:srgbClr val="333333"/>
                </a:solidFill>
                <a:latin typeface="Calibri"/>
              </a:rPr>
              <a:t>–   Ahi esta el amarre: cuando en Killercoda se ejecuto el contenedor publicando un puerto, esa linea era la decision de que superficie queda expuesta, tema de la Clase 6, y hoy esa decision se dibuja.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900" b="0" i="0">
                <a:solidFill>
                  <a:srgbClr val="333333"/>
                </a:solidFill>
                <a:latin typeface="Calibri"/>
              </a:rPr>
              <a:t>–   Una subred es una subdivision de una red, y lo que la hace publica o privada no es su nombre sino sus rutas.</a:t>
            </a:r>
          </a:p>
          <a:p>
            <a:pPr>
              <a:spcAft>
                <a:spcPts val="800"/>
              </a:spcAft>
            </a:pPr>
            <a:r>
              <a:rPr sz="1900" b="0" i="0">
                <a:solidFill>
                  <a:srgbClr val="333333"/>
                </a:solidFill>
                <a:latin typeface="Calibri"/>
              </a:rPr>
              <a:t>–   Una subred publica tiene camino de entrada desde internet: alguien de afuera puede iniciar una conexion hacia lo que vive ahi.</a:t>
            </a:r>
          </a:p>
          <a:p>
            <a:pPr>
              <a:spcAft>
                <a:spcPts val="800"/>
              </a:spcAft>
            </a:pPr>
            <a:r>
              <a:rPr sz="1900" b="0" i="0">
                <a:solidFill>
                  <a:srgbClr val="333333"/>
                </a:solidFill>
                <a:latin typeface="Calibri"/>
              </a:rPr>
              <a:t>–   Una privada no lo tiene; solo se alcanza desde dentro, aunque normalmente si puede salir para descargar actualizaciones.</a:t>
            </a:r>
          </a:p>
          <a:p>
            <a:pPr>
              <a:spcAft>
                <a:spcPts val="800"/>
              </a:spcAft>
            </a:pPr>
            <a:r>
              <a:rPr sz="1900" b="0" i="0">
                <a:solidFill>
                  <a:srgbClr val="333333"/>
                </a:solidFill>
                <a:latin typeface="Calibri"/>
              </a:rPr>
              <a:t>–   Sobre esa distincion se construye la regla que se evalua hoy, y hay que decirla con los tres nombres exactos porque son tres zonas y no dos: en la zona PUBLICA van el punto de entrada, el balanceador o proxy inverso</a:t>
            </a:r>
          </a:p>
          <a:p>
            <a:pPr>
              <a:spcAft>
                <a:spcPts val="800"/>
              </a:spcAft>
            </a:pPr>
            <a:r>
              <a:rPr sz="1900" b="0" i="0">
                <a:solidFill>
                  <a:srgbClr val="333333"/>
                </a:solidFill>
                <a:latin typeface="Calibri"/>
              </a:rPr>
              <a:t>–   Y la aplicacion web estatica, que es publica sin que eso sea una fuga porque no lleva secretos dentro; el cliente que llega de internet se dibuja FUERA de las tres zonas, porque es el actor y no una pieza que el estudiante despliegue</a:t>
            </a:r>
          </a:p>
          <a:p>
            <a:pPr>
              <a:spcAft>
                <a:spcPts val="800"/>
              </a:spcAft>
            </a:pPr>
            <a:r>
              <a:rPr sz="1900" b="0" i="0">
                <a:solidFill>
                  <a:srgbClr val="333333"/>
                </a:solidFill>
                <a:latin typeface="Calibri"/>
              </a:rPr>
              <a:t>–   Y por eso es una de las dos filas sin par de la tabla de la pregunta 6; la API va en la zona PRIVADA, alcanzable solo desde el edge; y los datos van en una tercera zona, la de DATOS, que solo acepta conexiones desde la aplicacion y no tiene salida a internet.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4 puntos de ubicacion de la pregunta 4 se pierden COMPLETOS si la base de datos queda en la zona publica: no es un descuento parcial, es el error que la pregunta esta disenada para detectar.</a:t>
            </a:r>
          </a:p>
          <a:p>
            <a:pPr>
              <a:spcAft>
                <a:spcPts val="800"/>
              </a:spcAft>
            </a:pPr>
            <a:r>
              <a:rPr sz="2000" b="0" i="0">
                <a:solidFill>
                  <a:srgbClr val="333333"/>
                </a:solidFill>
                <a:latin typeface="Calibri"/>
              </a:rPr>
              <a:t>–   Y las tres zonas rotuladas valen otros 4 puntos por si mismas, asi que un diagrama de dos zonas, aunque tenga la base de datos bien puesta, ya empezo perdiendo.</a:t>
            </a:r>
          </a:p>
          <a:p>
            <a:pPr>
              <a:spcAft>
                <a:spcPts val="800"/>
              </a:spcAft>
            </a:pPr>
            <a:r>
              <a:rPr sz="2000" b="0" i="0">
                <a:solidFill>
                  <a:srgbClr val="333333"/>
                </a:solidFill>
                <a:latin typeface="Calibri"/>
              </a:rPr>
              <a:t>–   En CloudLite las mas faciles de senalar son las dos flechas que salen a lo que no es suyo, la pasarela de pagos y el correo transaccional: ninguno de los dos esta en las tres zonas, y la del molde que se proyecta es la de la pasarela.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Dos piezas mas hay que explicar sin titubear.</a:t>
            </a:r>
          </a:p>
          <a:p>
            <a:pPr>
              <a:spcAft>
                <a:spcPts val="800"/>
              </a:spcAft>
            </a:pPr>
            <a:r>
              <a:rPr sz="2000" b="0" i="0">
                <a:solidFill>
                  <a:srgbClr val="333333"/>
                </a:solidFill>
                <a:latin typeface="Calibri"/>
              </a:rPr>
              <a:t>–   El DNS es el directorio distribuido que traduce un nombre legible, como cloudlite.example, en la direccion IP donde atiende el servicio; el registro tipo A apunta un nombre a una IP y el CNAME apunta un nombre a otro nombre.</a:t>
            </a:r>
          </a:p>
          <a:p>
            <a:pPr>
              <a:spcAft>
                <a:spcPts val="800"/>
              </a:spcAft>
            </a:pPr>
            <a:r>
              <a:rPr sz="2000" b="0" i="0">
                <a:solidFill>
                  <a:srgbClr val="333333"/>
                </a:solidFill>
                <a:latin typeface="Calibri"/>
              </a:rPr>
              <a:t>–   Cada registro tiene un TTL, los segundos que los demas guardan la respuesta en cache; tipicamente de 300 a 3600, asi que un cambio de direccion no es instantaneo para todos.</a:t>
            </a:r>
          </a:p>
          <a:p>
            <a:pPr>
              <a:spcAft>
                <a:spcPts val="800"/>
              </a:spcAft>
            </a:pPr>
            <a:r>
              <a:rPr sz="2000" b="0" i="0">
                <a:solidFill>
                  <a:srgbClr val="333333"/>
                </a:solidFill>
                <a:latin typeface="Calibri"/>
              </a:rPr>
              <a:t>–   El balanceador de carga recibe todas las peticiones y las reparte entre varias instancias iguales del mismo servicio, con algoritmos como round robin o menor numero de conexiones activas.</a:t>
            </a:r>
          </a:p>
          <a:p>
            <a:pPr>
              <a:spcAft>
                <a:spcPts val="800"/>
              </a:spcAft>
            </a:pPr>
            <a:r>
              <a:rPr sz="2000" b="0" i="0">
                <a:solidFill>
                  <a:srgbClr val="333333"/>
                </a:solidFill>
                <a:latin typeface="Calibri"/>
              </a:rPr>
              <a:t>–   Su funcion menos obvia y mas importante es el chequeo de salud: consulta un endpoint como /health, por convencion cada 10 a 30 segundos, y si falla dos o tres veces seguidas retira esa instancia de la rotacion hasta que responda.</a:t>
            </a:r>
          </a:p>
          <a:p>
            <a:pPr>
              <a:spcAft>
                <a:spcPts val="800"/>
              </a:spcAft>
            </a:pPr>
            <a:r>
              <a:rPr sz="2000" b="0" i="0">
                <a:solidFill>
                  <a:srgbClr val="333333"/>
                </a:solidFill>
                <a:latin typeface="Calibri"/>
              </a:rPr>
              <a:t>–   Es tambien donde termina el TLS, es decir donde se descifra HTTPS.</a:t>
            </a:r>
          </a:p>
          <a:p>
            <a:pPr>
              <a:spcAft>
                <a:spcPts val="800"/>
              </a:spcAft>
            </a:pPr>
            <a:r>
              <a:rPr sz="2000" b="0" i="0">
                <a:solidFill>
                  <a:srgbClr val="333333"/>
                </a:solidFill>
                <a:latin typeface="Calibri"/>
              </a:rPr>
              <a:t>–   En el diagrama de hoy el balanceador es el habitante de la zona publica, y el /health que consulta es el mismo contrato de salud que se verifico con curl en la Clase 3 y el primer monitoreo real de la Clase 8.</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que califica la pregunta 5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900" b="0" i="0">
                <a:solidFill>
                  <a:srgbClr val="333333"/>
                </a:solidFill>
                <a:latin typeface="Calibri"/>
              </a:rPr>
              <a:t>–   El almacenamiento se decide por la caracteristica del dato, y aqui hay que ser estricto con el vocabulario porque la pregunta 5 admite TRES palabras y no mas: Relacional, Bloque y Objeto.</a:t>
            </a:r>
          </a:p>
          <a:p>
            <a:pPr>
              <a:spcAft>
                <a:spcPts val="800"/>
              </a:spcAft>
            </a:pPr>
            <a:r>
              <a:rPr sz="1900" b="0" i="0">
                <a:solidFill>
                  <a:srgbClr val="333333"/>
                </a:solidFill>
                <a:latin typeface="Calibri"/>
              </a:rPr>
              <a:t>–   Vale la pena escribirlas en el tablero y sostenerlas toda la clase.</a:t>
            </a:r>
          </a:p>
          <a:p>
            <a:pPr>
              <a:spcAft>
                <a:spcPts val="800"/>
              </a:spcAft>
            </a:pPr>
            <a:r>
              <a:rPr sz="1900" b="0" i="0">
                <a:solidFill>
                  <a:srgbClr val="333333"/>
                </a:solidFill>
                <a:latin typeface="Calibri"/>
              </a:rPr>
              <a:t>–   RELACIONAL es el motor de base de datos que guarda registros estructurados y permite cruzarlos con consultas y transacciones; la caracteristica del dato que lo exige es que ese dato se cruza con otro dato, y la prueba es que existe una consulta que los junta.</a:t>
            </a:r>
          </a:p>
          <a:p>
            <a:pPr>
              <a:spcAft>
                <a:spcPts val="800"/>
              </a:spcAft>
            </a:pPr>
            <a:r>
              <a:rPr sz="1900" b="0" i="0">
                <a:solidFill>
                  <a:srgbClr val="333333"/>
                </a:solidFill>
                <a:latin typeface="Calibri"/>
              </a:rPr>
              <a:t>–   BLOQUE es un disco crudo que el sistema operativo formatea y monta; se conecta a una sola instancia a la vez, es lo que hay debajo del volumen de un contenedor</a:t>
            </a:r>
          </a:p>
          <a:p>
            <a:pPr>
              <a:spcAft>
                <a:spcPts val="800"/>
              </a:spcAft>
            </a:pPr>
            <a:r>
              <a:rPr sz="1900" b="0" i="0">
                <a:solidFill>
                  <a:srgbClr val="333333"/>
                </a:solidFill>
                <a:latin typeface="Calibri"/>
              </a:rPr>
              <a:t>–   Y se mide en gigabytes y en IOPS, operaciones de lectura y escritura por segundo; la caracteristica que lo exige es que el dato lo monta un solo proceso y se escribe por partes, sin recuperarse entero.</a:t>
            </a:r>
          </a:p>
          <a:p>
            <a:pPr>
              <a:spcAft>
                <a:spcPts val="800"/>
              </a:spcAft>
            </a:pPr>
            <a:r>
              <a:rPr sz="1900" b="0" i="0">
                <a:solidFill>
                  <a:srgbClr val="333333"/>
                </a:solidFill>
                <a:latin typeface="Calibri"/>
              </a:rPr>
              <a:t>–   OBJETO no tiene carpetas reales: es un espacio plano de contenedores llamados buckets donde cada objeto se guarda bajo una clave, se lee y escribe por HTTP y se reemplaza completo en vez de editarse por partes</a:t>
            </a:r>
          </a:p>
          <a:p>
            <a:pPr>
              <a:spcAft>
                <a:spcPts val="800"/>
              </a:spcAft>
            </a:pPr>
            <a:r>
              <a:rPr sz="1900" b="0" i="0">
                <a:solidFill>
                  <a:srgbClr val="333333"/>
                </a:solidFill>
                <a:latin typeface="Calibri"/>
              </a:rPr>
              <a:t>–   Es practicamente ilimitado, barato y accesible por URL; la caracteristica que lo exige es que el dato se recupera entero, sin partes.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que califica la pregunta 5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una cuarta categoria en la literatura, el almacenamiento de ARCHIVOS, un sistema de archivos compartido que varias instancias montan por red</a:t>
            </a:r>
          </a:p>
          <a:p>
            <a:pPr>
              <a:spcAft>
                <a:spcPts val="800"/>
              </a:spcAft>
            </a:pPr>
            <a:r>
              <a:rPr sz="2000" b="0" i="0">
                <a:solidFill>
                  <a:srgbClr val="333333"/>
                </a:solidFill>
                <a:latin typeface="Calibri"/>
              </a:rPr>
              <a:t>–   Conviene nombrarla como contraste para que nadie se sienta enganado, pero no es una de las tres palabras que la pregunta admite</a:t>
            </a:r>
          </a:p>
          <a:p>
            <a:pPr>
              <a:spcAft>
                <a:spcPts val="800"/>
              </a:spcAft>
            </a:pPr>
            <a:r>
              <a:rPr sz="2000" b="0" i="0">
                <a:solidFill>
                  <a:srgbClr val="333333"/>
                </a:solidFill>
                <a:latin typeface="Calibri"/>
              </a:rPr>
              <a:t>–   Y quien cree necesitarla casi siempre esta describiendo un caso que en la nube se resuelve con objeto.</a:t>
            </a:r>
          </a:p>
          <a:p>
            <a:pPr>
              <a:spcAft>
                <a:spcPts val="800"/>
              </a:spcAft>
            </a:pPr>
            <a:r>
              <a:rPr sz="2000" b="0" i="0">
                <a:solidFill>
                  <a:srgbClr val="333333"/>
                </a:solidFill>
                <a:latin typeface="Calibri"/>
              </a:rPr>
              <a:t>–   El numero que ordena la decision es el precio relativo: un gigabyte al mes en objetos cuesta del orden de dos a tres centavos de dolar, en disco de bloque cerca de cuatro veces mas, y en base de datos gestionada aun mas porque se paga computo.</a:t>
            </a:r>
          </a:p>
          <a:p>
            <a:pPr>
              <a:spcAft>
                <a:spcPts val="800"/>
              </a:spcAft>
            </a:pPr>
            <a:r>
              <a:rPr sz="2000" b="0" i="0">
                <a:solidFill>
                  <a:srgbClr val="333333"/>
                </a:solidFill>
                <a:latin typeface="Calibri"/>
              </a:rPr>
              <a:t>–   Son referencias de mercado, no reglas fijas, y aqui no se aprovisiona nada de pago: el valor esta en justificar.</a:t>
            </a:r>
          </a:p>
          <a:p>
            <a:pPr>
              <a:spcAft>
                <a:spcPts val="800"/>
              </a:spcAft>
            </a:pPr>
            <a:r>
              <a:rPr sz="2000" b="0" i="0">
                <a:solidFill>
                  <a:srgbClr val="333333"/>
                </a:solidFill>
                <a:latin typeface="Calibri"/>
              </a:rPr>
              <a:t>–   Y la justificacion se califica aparte, 2.5 de los 5.5 puntos: cada fila tiene que nombrar la caracteristica del dato.</a:t>
            </a:r>
          </a:p>
          <a:p>
            <a:pPr>
              <a:spcAft>
                <a:spcPts val="800"/>
              </a:spcAft>
            </a:pPr>
            <a:r>
              <a:rPr sz="2000" b="0" i="0">
                <a:solidFill>
                  <a:srgbClr val="333333"/>
                </a:solidFill>
                <a:latin typeface="Calibri"/>
              </a:rPr>
              <a:t>–   «Es mas rapido», «es lo que usa todo el mundo» o «es lo normal» no son caracteristicas del dato y no suman ni un punto, aunque el tipo elegido sea el correcto.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ejemplo que hace visible la decision, y el error de diseno que conviene provocar: CloudLite permite subir una foto de perfil o adjuntar un PDF.</a:t>
            </a:r>
          </a:p>
          <a:p>
            <a:pPr>
              <a:spcAft>
                <a:spcPts val="800"/>
              </a:spcAft>
            </a:pPr>
            <a:r>
              <a:rPr sz="2000" b="0" i="0">
                <a:solidFill>
                  <a:srgbClr val="333333"/>
                </a:solidFill>
                <a:latin typeface="Calibri"/>
              </a:rPr>
              <a:t>–   La solucion ingenua es guardar el archivo en una columna binaria de la base de datos.</a:t>
            </a:r>
          </a:p>
          <a:p>
            <a:pPr>
              <a:spcAft>
                <a:spcPts val="800"/>
              </a:spcAft>
            </a:pPr>
            <a:r>
              <a:rPr sz="2000" b="0" i="0">
                <a:solidFill>
                  <a:srgbClr val="333333"/>
                </a:solidFill>
                <a:latin typeface="Calibri"/>
              </a:rPr>
              <a:t>–   Hay que dejar que el estudiante la proponga y luego cuantificarla: dos megabytes por usuario y cinco mil usuarios son diez gigabytes de binarios dentro de una base cuyos datos utiles podrian ser doscientos megabytes</a:t>
            </a:r>
          </a:p>
          <a:p>
            <a:pPr>
              <a:spcAft>
                <a:spcPts val="800"/>
              </a:spcAft>
            </a:pPr>
            <a:r>
              <a:rPr sz="2000" b="0" i="0">
                <a:solidFill>
                  <a:srgbClr val="333333"/>
                </a:solidFill>
                <a:latin typeface="Calibri"/>
              </a:rPr>
              <a:t>–   Cada respaldo arrastra esos diez gigabytes y la cache del motor se llena de bytes que ninguna consulta filtra.</a:t>
            </a:r>
          </a:p>
          <a:p>
            <a:pPr>
              <a:spcAft>
                <a:spcPts val="800"/>
              </a:spcAft>
            </a:pPr>
            <a:r>
              <a:rPr sz="2000" b="0" i="0">
                <a:solidFill>
                  <a:srgbClr val="333333"/>
                </a:solidFill>
                <a:latin typeface="Calibri"/>
              </a:rPr>
              <a:t>–   El diseno correcto separa: el archivo va a almacenamiento de objetos y la base guarda una fila con la clave del objeto, el dueno, el tamano, el tipo de contenido y la fecha.</a:t>
            </a:r>
          </a:p>
          <a:p>
            <a:pPr>
              <a:spcAft>
                <a:spcPts val="800"/>
              </a:spcAft>
            </a:pPr>
            <a:r>
              <a:rPr sz="2000" b="0" i="0">
                <a:solidFill>
                  <a:srgbClr val="333333"/>
                </a:solidFill>
                <a:latin typeface="Calibri"/>
              </a:rPr>
              <a:t>–   Hay una razon adicional: un contenedor es efimero, lo que se escriba en su sistema de archivos desaparece cuando se reemplaza, y con dos instancias detras del balanceador el archivo subido a una no existe en la otra.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Mantener los contenedores sin estado es la condicion del escalado horizontal de la Clase 13.</a:t>
            </a:r>
          </a:p>
          <a:p>
            <a:pPr>
              <a:spcAft>
                <a:spcPts val="800"/>
              </a:spcAft>
            </a:pPr>
            <a:r>
              <a:rPr sz="2000" b="0" i="0">
                <a:solidFill>
                  <a:srgbClr val="333333"/>
                </a:solidFill>
                <a:latin typeface="Calibri"/>
              </a:rPr>
              <a:t>–   Y ahora la otra mitad, que es la que sorprende al docente: si el dominio del estudiante no maneja archivos, imagenes ni documentos adjuntos, la respuesta correcta y completa es declarar que NO necesita almacenamiento de objetos y explicar por que.</a:t>
            </a:r>
          </a:p>
          <a:p>
            <a:pPr>
              <a:spcAft>
                <a:spcPts val="800"/>
              </a:spcAft>
            </a:pPr>
            <a:r>
              <a:rPr sz="2000" b="0" i="0">
                <a:solidFill>
                  <a:srgbClr val="333333"/>
                </a:solidFill>
                <a:latin typeface="Calibri"/>
              </a:rPr>
              <a:t>–   La rubrica lo dice al reves de como el grupo lo espera: suma completo quien lo declare y justifique, y se descuenta a quien agregue un almacen de objetos sin un dato que lo pida.</a:t>
            </a:r>
          </a:p>
          <a:p>
            <a:pPr>
              <a:spcAft>
                <a:spcPts val="800"/>
              </a:spcAft>
            </a:pPr>
            <a:r>
              <a:rPr sz="2000" b="0" i="0">
                <a:solidFill>
                  <a:srgbClr val="333333"/>
                </a:solidFill>
                <a:latin typeface="Calibri"/>
              </a:rPr>
              <a:t>–   Hay que anunciarlo antes del taller, porque si no medio salon inventa un bucket «porque suena a cloud» y pierde puntos por agregar.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de la pregunta 6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Queda la trazabilidad, donde mas puntos se pierden y donde vive una pregunta entera.</a:t>
            </a:r>
          </a:p>
          <a:p>
            <a:pPr>
              <a:spcAft>
                <a:spcPts val="800"/>
              </a:spcAft>
            </a:pPr>
            <a:r>
              <a:rPr sz="2000" b="0" i="0">
                <a:solidFill>
                  <a:srgbClr val="333333"/>
                </a:solidFill>
                <a:latin typeface="Calibri"/>
              </a:rPr>
              <a:t>–   Los nombres de las cajas del despliegue deben ser los mismos que los contenedores del C4 Containers de la Clase 4: si alli el servicio se llamaba api-citas, hoy no puede aparecer como backend, ni puede aparecer una caja nueva que nadie declaro.</a:t>
            </a:r>
          </a:p>
          <a:p>
            <a:pPr>
              <a:spcAft>
                <a:spcPts val="800"/>
              </a:spcAft>
            </a:pPr>
            <a:r>
              <a:rPr sz="2000" b="0" i="0">
                <a:solidFill>
                  <a:srgbClr val="333333"/>
                </a:solidFill>
                <a:latin typeface="Calibri"/>
              </a:rPr>
              <a:t>–   La pregunta 6 pide demostrarlo con una tabla de tres columnas cuyos nombres hay que dictar tal cual: «Componente en el C4 Containers», «Componente en el Despliegue» y «Zona».</a:t>
            </a:r>
          </a:p>
          <a:p>
            <a:pPr>
              <a:spcAft>
                <a:spcPts val="800"/>
              </a:spcAft>
            </a:pPr>
            <a:r>
              <a:rPr sz="2000" b="0" i="0">
                <a:solidFill>
                  <a:srgbClr val="333333"/>
                </a:solidFill>
                <a:latin typeface="Calibri"/>
              </a:rPr>
              <a:t>–   Los 5.5 puntos se reparten asi, y conviene decirlo en voz alta: 2 puntos la explicacion de por que los nombres deben coincidir</a:t>
            </a:r>
          </a:p>
          <a:p>
            <a:pPr>
              <a:spcAft>
                <a:spcPts val="800"/>
              </a:spcAft>
            </a:pPr>
            <a:r>
              <a:rPr sz="2000" b="0" i="0">
                <a:solidFill>
                  <a:srgbClr val="333333"/>
                </a:solidFill>
                <a:latin typeface="Calibri"/>
              </a:rPr>
              <a:t>–   Y la respuesta esperada es que los dos diagramas son el MISMO sistema visto desde angulos distintos, uno dice que piezas hay y el otro donde se ejecutan</a:t>
            </a:r>
          </a:p>
          <a:p>
            <a:pPr>
              <a:spcAft>
                <a:spcPts val="800"/>
              </a:spcAft>
            </a:pPr>
            <a:r>
              <a:rPr sz="2000" b="0" i="0">
                <a:solidFill>
                  <a:srgbClr val="333333"/>
                </a:solidFill>
                <a:latin typeface="Calibri"/>
              </a:rPr>
              <a:t>–   2.5 puntos la tabla completa, con una fila por componente y su zona; y 1 punto listar los renombres que se aplicaron, o declarar explicitamente que no hubo ninguno, que tambien vale.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de la pregunta 6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trampa esta en la palabra completa: se descuenta si la tabla deja fuera un componente que si aparece en alguno de los dos diagramas, asi que hay que instruir el gesto de llenarla con los dos diagramas abiertos al lado y contando cajas.</a:t>
            </a:r>
          </a:p>
          <a:p>
            <a:pPr>
              <a:spcAft>
                <a:spcPts val="800"/>
              </a:spcAft>
            </a:pPr>
            <a:r>
              <a:rPr sz="2000" b="0" i="0">
                <a:solidFill>
                  <a:srgbClr val="333333"/>
                </a:solidFill>
                <a:latin typeface="Calibri"/>
              </a:rPr>
              <a:t>–   La cadena aguas abajo es directa: la Clase 6 identifico amenazas y fronteras de confianza en texto y hoy esas fronteras se vuelven zonas dibujadas; la Clase 8 tomara cada flecha para definir que se mide en ella</a:t>
            </a:r>
          </a:p>
          <a:p>
            <a:pPr>
              <a:spcAft>
                <a:spcPts val="800"/>
              </a:spcAft>
            </a:pPr>
            <a:r>
              <a:rPr sz="2000" b="0" i="0">
                <a:solidFill>
                  <a:srgbClr val="333333"/>
                </a:solidFill>
                <a:latin typeface="Calibri"/>
              </a:rPr>
              <a:t>–   Porque no se puede monitorear un camino que no esta dibujado; la Clase 10 costeara estas mismas cajas, asi que la eleccion de almacenamiento es tambien decision de costo; y la Clase 13 discutira cual caja se replica y cual no.</a:t>
            </a:r>
          </a:p>
          <a:p>
            <a:pPr>
              <a:spcAft>
                <a:spcPts val="800"/>
              </a:spcAft>
            </a:pPr>
            <a:r>
              <a:rPr sz="2000" b="0" i="0">
                <a:solidFill>
                  <a:srgbClr val="333333"/>
                </a:solidFill>
                <a:latin typeface="Calibri"/>
              </a:rPr>
              <a:t>–   Todo el bloque se evalua en el Parcial 2 de la Clase 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CloudLite de punta a punta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mejor forma de dictar la clase es seguir una peticion de CloudLite de punta a punta sobre el diagrama proyectado.</a:t>
            </a:r>
          </a:p>
          <a:p>
            <a:pPr>
              <a:spcAft>
                <a:spcPts val="800"/>
              </a:spcAft>
            </a:pPr>
            <a:r>
              <a:rPr sz="2000" b="0" i="0">
                <a:solidFill>
                  <a:srgbClr val="333333"/>
                </a:solidFill>
                <a:latin typeface="Calibri"/>
              </a:rPr>
              <a:t>–   Un usuario final abre cloudlite.example en su telefono; el DNS resuelve el nombre a la IP publica del balanceador; el navegador abre una conexion HTTPS al puerto 443 de ese balanceador</a:t>
            </a:r>
          </a:p>
          <a:p>
            <a:pPr>
              <a:spcAft>
                <a:spcPts val="800"/>
              </a:spcAft>
            </a:pPr>
            <a:r>
              <a:rPr sz="2000" b="0" i="0">
                <a:solidFill>
                  <a:srgbClr val="333333"/>
                </a:solidFill>
                <a:latin typeface="Calibri"/>
              </a:rPr>
              <a:t>–   Que vive en la zona publica; el balanceador elige una de las dos instancias del contenedor de la API, en la zona privada</a:t>
            </a:r>
          </a:p>
          <a:p>
            <a:pPr>
              <a:spcAft>
                <a:spcPts val="800"/>
              </a:spcAft>
            </a:pPr>
            <a:r>
              <a:rPr sz="2000" b="0" i="0">
                <a:solidFill>
                  <a:srgbClr val="333333"/>
                </a:solidFill>
                <a:latin typeface="Calibri"/>
              </a:rPr>
              <a:t>–   Y le reenvia la peticion por HTTP al puerto 8080; la API consulta el motor de base de datos en la zona de datos por el puerto 5432 y devuelve JSON por el mismo camino.</a:t>
            </a:r>
          </a:p>
          <a:p>
            <a:pPr>
              <a:spcAft>
                <a:spcPts val="800"/>
              </a:spcAft>
            </a:pPr>
            <a:r>
              <a:rPr sz="2000" b="0" i="0">
                <a:solidFill>
                  <a:srgbClr val="333333"/>
                </a:solidFill>
                <a:latin typeface="Calibri"/>
              </a:rPr>
              <a:t>–   Ese recorrido, con cada flecha etiquetada con protocolo y puerto y cada caja dentro de su zona, es la estructura que la pregunta 4 califica; lo que se pega en la plataforma es su version en Mermaid, que es la seccion siguiente.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CloudLite de punta a punta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Sirve tambien para citar numeros: una consulta simple bien indexada responde entre 1 y 20 milisegundos, y el objetivo que se formalizara en la Clase 12 suele fijarse por convencion en menos de 300 milisegundos para el 95 por ciento de las peticiones.</a:t>
            </a:r>
          </a:p>
          <a:p>
            <a:pPr>
              <a:spcAft>
                <a:spcPts val="800"/>
              </a:spcAft>
            </a:pPr>
            <a:r>
              <a:rPr sz="2000" b="0" i="0">
                <a:solidFill>
                  <a:srgbClr val="333333"/>
                </a:solidFill>
                <a:latin typeface="Calibri"/>
              </a:rPr>
              <a:t>–   Con eso el grupo ve que si una pantalla dispara veinte consultas encadenadas el problema es de diseno y no de servidor.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diapositiva del molde existe porque el estudiante puede tener el modelo correcto en la cabeza y perder puntos por sintaxis, y porque 2 de los 14 son que el diagrama renderice.</a:t>
            </a:r>
          </a:p>
          <a:p>
            <a:pPr>
              <a:spcAft>
                <a:spcPts val="800"/>
              </a:spcAft>
            </a:pPr>
            <a:r>
              <a:rPr sz="2000" b="0" i="0">
                <a:solidFill>
                  <a:srgbClr val="333333"/>
                </a:solidFill>
                <a:latin typeface="Calibri"/>
              </a:rPr>
              <a:t>–   Primera: la palabra inicial.</a:t>
            </a:r>
          </a:p>
          <a:p>
            <a:pPr>
              <a:spcAft>
                <a:spcPts val="800"/>
              </a:spcAft>
            </a:pPr>
            <a:r>
              <a:rPr sz="2000" b="0" i="0">
                <a:solidFill>
                  <a:srgbClr val="333333"/>
                </a:solidFill>
                <a:latin typeface="Calibri"/>
              </a:rPr>
              <a:t>–   Se escribe flowchart LR, donde LR significa de izquierda a derecha, y es lo que hace que el recorrido cliente, edge, aplicacion, datos se lea como un flujo y no como una torre.</a:t>
            </a:r>
          </a:p>
          <a:p>
            <a:pPr>
              <a:spcAft>
                <a:spcPts val="800"/>
              </a:spcAft>
            </a:pPr>
            <a:r>
              <a:rPr sz="2000" b="0" i="0">
                <a:solidFill>
                  <a:srgbClr val="333333"/>
                </a:solidFill>
                <a:latin typeface="Calibri"/>
              </a:rPr>
              <a:t>–   Segunda: cada zona es un subgraph con su rotulo entre comillas y su propio end.</a:t>
            </a:r>
          </a:p>
          <a:p>
            <a:pPr>
              <a:spcAft>
                <a:spcPts val="800"/>
              </a:spcAft>
            </a:pPr>
            <a:r>
              <a:rPr sz="2000" b="0" i="0">
                <a:solidFill>
                  <a:srgbClr val="333333"/>
                </a:solidFill>
                <a:latin typeface="Calibri"/>
              </a:rPr>
              <a:t>–   Los subgraph son las tres zonas, y son las que valen 4 puntos; olvidar un end es la causa numero uno de que la plataforma no dibuje nada, porque el bloque queda abierto.</a:t>
            </a:r>
          </a:p>
          <a:p>
            <a:pPr>
              <a:spcAft>
                <a:spcPts val="800"/>
              </a:spcAft>
            </a:pPr>
            <a:r>
              <a:rPr sz="2000" b="0" i="0">
                <a:solidFill>
                  <a:srgbClr val="333333"/>
                </a:solidFill>
                <a:latin typeface="Calibri"/>
              </a:rPr>
              <a:t>–   Tercera: la forma de la caja dice que es la pieza.</a:t>
            </a:r>
          </a:p>
          <a:p>
            <a:pPr>
              <a:spcAft>
                <a:spcPts val="800"/>
              </a:spcAft>
            </a:pPr>
            <a:r>
              <a:rPr sz="2000" b="0" i="0">
                <a:solidFill>
                  <a:srgbClr val="333333"/>
                </a:solidFill>
                <a:latin typeface="Calibri"/>
              </a:rPr>
              <a:t>–   Los corchetes rectos son un proceso o servicio, y la combinacion de corchete y parentesis, es decir abrir corchete parentesis, es la base de datos, que se lee como cilindro.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Vale la pena senalar la caja de la base de datos y decir «esta forma, dentro de este subgraph, son 4 de los 14 puntos».</a:t>
            </a:r>
          </a:p>
          <a:p>
            <a:pPr>
              <a:spcAft>
                <a:spcPts val="800"/>
              </a:spcAft>
            </a:pPr>
            <a:r>
              <a:rPr sz="2000" b="0" i="0">
                <a:solidFill>
                  <a:srgbClr val="333333"/>
                </a:solidFill>
                <a:latin typeface="Calibri"/>
              </a:rPr>
              <a:t>–   Cuarta: el puerto va DENTRO del rotulo de la caja, separado con la etiqueta de salto de linea de HTML, y la etiqueta de la flecha va entre barras verticales y comillas, con el protocolo y el puerto.</a:t>
            </a:r>
          </a:p>
          <a:p>
            <a:pPr>
              <a:spcAft>
                <a:spcPts val="800"/>
              </a:spcAft>
            </a:pPr>
            <a:r>
              <a:rPr sz="2000" b="0" i="0">
                <a:solidFill>
                  <a:srgbClr val="333333"/>
                </a:solidFill>
                <a:latin typeface="Calibri"/>
              </a:rPr>
              <a:t>–   Es la forma mas segura de cumplir los 2 puntos de puertos sin ensuciar el dibujo.</a:t>
            </a:r>
          </a:p>
          <a:p>
            <a:pPr>
              <a:spcAft>
                <a:spcPts val="800"/>
              </a:spcAft>
            </a:pPr>
            <a:r>
              <a:rPr sz="2000" b="0" i="0">
                <a:solidFill>
                  <a:srgbClr val="333333"/>
                </a:solidFill>
                <a:latin typeface="Calibri"/>
              </a:rPr>
              <a:t>–   Quinta: el servicio externo se declara FUERA de los tres subgraph, y la flecha que llega a el se rotula como frontera de confianza; asi los 2 puntos de fronteras quedan visibles en el propio dibujo y no en un comentario aparte.</a:t>
            </a:r>
          </a:p>
          <a:p>
            <a:pPr>
              <a:spcAft>
                <a:spcPts val="800"/>
              </a:spcAft>
            </a:pPr>
            <a:r>
              <a:rPr sz="2000" b="0" i="0">
                <a:solidFill>
                  <a:srgbClr val="333333"/>
                </a:solidFill>
                <a:latin typeface="Calibri"/>
              </a:rPr>
              <a:t>–   Dos advertencias practicas.</a:t>
            </a:r>
          </a:p>
          <a:p>
            <a:pPr>
              <a:spcAft>
                <a:spcPts val="800"/>
              </a:spcAft>
            </a:pPr>
            <a:r>
              <a:rPr sz="2000" b="0" i="0">
                <a:solidFill>
                  <a:srgbClr val="333333"/>
                </a:solidFill>
                <a:latin typeface="Calibri"/>
              </a:rPr>
              <a:t>–   Los comentarios de Mermaid empiezan con dos signos de porcentaje, no se dibujan y tienen que ir en LINEA PROPIA: uno pegado al final de la linea de un nodo puede tumbar el renderizado, y ahi se van los 2 puntos.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Sirven para dejar una nota al evaluador, no para responder.</a:t>
            </a:r>
          </a:p>
          <a:p>
            <a:pPr>
              <a:spcAft>
                <a:spcPts val="800"/>
              </a:spcAft>
            </a:pPr>
            <a:r>
              <a:rPr sz="2000" b="0" i="0">
                <a:solidFill>
                  <a:srgbClr val="333333"/>
                </a:solidFill>
                <a:latin typeface="Calibri"/>
              </a:rPr>
              <a:t>–   Y si un rotulo lleva parentesis, dos puntos o comillas, hay que envolverlo en comillas dobles, porque sin ellas el analizador se detiene ahi.</a:t>
            </a:r>
          </a:p>
          <a:p>
            <a:pPr>
              <a:spcAft>
                <a:spcPts val="800"/>
              </a:spcAft>
            </a:pPr>
            <a:r>
              <a:rPr sz="2000" b="0" i="0">
                <a:solidFill>
                  <a:srgbClr val="333333"/>
                </a:solidFill>
                <a:latin typeface="Calibri"/>
              </a:rPr>
              <a:t>–   El procedimiento que se proyecta en la demo es el que conviene repetir tres veces: dibujar el boceto donde sea, traducirlo a Mermaid (una IA lo hace bien</a:t>
            </a:r>
          </a:p>
          <a:p>
            <a:pPr>
              <a:spcAft>
                <a:spcPts val="800"/>
              </a:spcAft>
            </a:pPr>
            <a:r>
              <a:rPr sz="2000" b="0" i="0">
                <a:solidFill>
                  <a:srgbClr val="333333"/>
                </a:solidFill>
                <a:latin typeface="Calibri"/>
              </a:rPr>
              <a:t>–   Y ahi hay que decir la frase exacta: la IA acierta la sintaxis, no el modelo), pegarlo en la pregunta 4 y MIRARLO RENDERIZADO antes de enviar.</a:t>
            </a:r>
          </a:p>
          <a:p>
            <a:pPr>
              <a:spcAft>
                <a:spcPts val="800"/>
              </a:spcAft>
            </a:pPr>
            <a:r>
              <a:rPr sz="2000" b="0" i="0">
                <a:solidFill>
                  <a:srgbClr val="333333"/>
                </a:solidFill>
                <a:latin typeface="Calibri"/>
              </a:rPr>
              <a:t>–   Si no se dibuja, se corrige ahi mismo; nadie califica un codigo que no dibuja.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Estas cuatro aparecen todos los semestres y las cuatro se responden con material que ya esta proyectado.</a:t>
            </a:r>
          </a:p>
          <a:p>
            <a:pPr>
              <a:spcAft>
                <a:spcPts val="800"/>
              </a:spcAft>
            </a:pPr>
            <a:r>
              <a:rPr sz="2000" b="0" i="0">
                <a:solidFill>
                  <a:srgbClr val="333333"/>
                </a:solidFill>
                <a:latin typeface="Calibri"/>
              </a:rPr>
              <a:t>–   «Si la base de datos es privada, como se conecta la API?» Privado significa inalcanzable desde internet</a:t>
            </a:r>
          </a:p>
          <a:p>
            <a:pPr>
              <a:spcAft>
                <a:spcPts val="800"/>
              </a:spcAft>
            </a:pPr>
            <a:r>
              <a:rPr sz="2000" b="0" i="0">
                <a:solidFill>
                  <a:srgbClr val="333333"/>
                </a:solidFill>
                <a:latin typeface="Calibri"/>
              </a:rPr>
              <a:t>–   No inalcanzable en absoluto: la API esta en la misma red y llega por el nombre interno y el puerto del motor; quien no puede llegar es el usuario final ni un atacante externo.</a:t>
            </a:r>
          </a:p>
          <a:p>
            <a:pPr>
              <a:spcAft>
                <a:spcPts val="800"/>
              </a:spcAft>
            </a:pPr>
            <a:r>
              <a:rPr sz="2000" b="0" i="0">
                <a:solidFill>
                  <a:srgbClr val="333333"/>
                </a:solidFill>
                <a:latin typeface="Calibri"/>
              </a:rPr>
              <a:t>–   Si un desarrollador necesita entrar, se hace por un unico host intermedio controlado, llamado bastion.</a:t>
            </a:r>
          </a:p>
          <a:p>
            <a:pPr>
              <a:spcAft>
                <a:spcPts val="800"/>
              </a:spcAft>
            </a:pPr>
            <a:r>
              <a:rPr sz="2000" b="0" i="0">
                <a:solidFill>
                  <a:srgbClr val="333333"/>
                </a:solidFill>
                <a:latin typeface="Calibri"/>
              </a:rPr>
              <a:t>–   «Esto no esta mal por no ser una VPC real de un proveedor?» Lo que se evalua es el razonamiento sobre zonas, puertos y ubicacion de los datos, no la sintaxis de una marca; el curso usa herramientas gratis en navegador y no pide cuenta de pago ni tarjeta.</a:t>
            </a:r>
          </a:p>
          <a:p>
            <a:pPr>
              <a:spcAft>
                <a:spcPts val="800"/>
              </a:spcAft>
            </a:pPr>
            <a:r>
              <a:rPr sz="2000" b="0" i="0">
                <a:solidFill>
                  <a:srgbClr val="333333"/>
                </a:solidFill>
                <a:latin typeface="Calibri"/>
              </a:rPr>
              <a:t>–   Es mas: la rubrica DESCUENTA por nombrar subredes o servicios de un proveedor concreto, asi que escribir VPC, el nombre de una zona de disponibilidad o el de un servicio de marca resta en vez de sumar.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eso las zonas se llaman Publica, Privada y Datos.</a:t>
            </a:r>
          </a:p>
          <a:p>
            <a:pPr>
              <a:spcAft>
                <a:spcPts val="800"/>
              </a:spcAft>
            </a:pPr>
            <a:r>
              <a:rPr sz="2000" b="0" i="0">
                <a:solidFill>
                  <a:srgbClr val="333333"/>
                </a:solidFill>
                <a:latin typeface="Calibri"/>
              </a:rPr>
              <a:t>–   «Puedo subir mi imagen del diagrama en vez del codigo Mermaid?» No para la pregunta 4: lo que se califica es el diagrama renderizado dentro de la plataforma.</a:t>
            </a:r>
          </a:p>
          <a:p>
            <a:pPr>
              <a:spcAft>
                <a:spcPts val="800"/>
              </a:spcAft>
            </a:pPr>
            <a:r>
              <a:rPr sz="2000" b="0" i="0">
                <a:solidFill>
                  <a:srgbClr val="333333"/>
                </a:solidFill>
                <a:latin typeface="Calibri"/>
              </a:rPr>
              <a:t>–   El PNG exportado va a la carpeta del Proyecto Integrador, para el informe, y no reemplaza la respuesta.</a:t>
            </a:r>
          </a:p>
          <a:p>
            <a:pPr>
              <a:spcAft>
                <a:spcPts val="800"/>
              </a:spcAft>
            </a:pPr>
            <a:r>
              <a:rPr sz="2000" b="0" i="0">
                <a:solidFill>
                  <a:srgbClr val="333333"/>
                </a:solidFill>
                <a:latin typeface="Calibri"/>
              </a:rPr>
              <a:t>–   «Mi sistema es pequeno, solo tiene la aplicacion y la base de datos; igual necesito tres zonas?» Si</a:t>
            </a:r>
          </a:p>
          <a:p>
            <a:pPr>
              <a:spcAft>
                <a:spcPts val="800"/>
              </a:spcAft>
            </a:pPr>
            <a:r>
              <a:rPr sz="2000" b="0" i="0">
                <a:solidFill>
                  <a:srgbClr val="333333"/>
                </a:solidFill>
                <a:latin typeface="Calibri"/>
              </a:rPr>
              <a:t>–   Y no es burocracia: las tres zonas son 4 puntos y el sentido de la separacion es justamente que el punto de entrada, la logica y los datos tengan grados de exposicion distintos.</a:t>
            </a:r>
          </a:p>
          <a:p>
            <a:pPr>
              <a:spcAft>
                <a:spcPts val="800"/>
              </a:spcAft>
            </a:pPr>
            <a:r>
              <a:rPr sz="2000" b="0" i="0">
                <a:solidFill>
                  <a:srgbClr val="333333"/>
                </a:solidFill>
                <a:latin typeface="Calibri"/>
              </a:rPr>
              <a:t>–   Un sistema de dos cajas se dibuja con cliente y edge en la publica, la aplicacion en la privada y la base en la de datos</a:t>
            </a:r>
          </a:p>
          <a:p>
            <a:pPr>
              <a:spcAft>
                <a:spcPts val="800"/>
              </a:spcAft>
            </a:pPr>
            <a:r>
              <a:rPr sz="2000" b="0" i="0">
                <a:solidFill>
                  <a:srgbClr val="333333"/>
                </a:solidFill>
                <a:latin typeface="Calibri"/>
              </a:rPr>
              <a:t>–   Si de verdad no hay balanceador, el punto de entrada es el servidor web o el proxy que atiende el 443, y ese es el habitante de la zona publica.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diagrama de despliegue (Deployment)</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Zonas de confianza: qué es público, qué es privado, dónde viven los datos</a:t>
            </a:r>
          </a:p>
        </p:txBody>
      </p:sp>
      <p:sp>
        <p:nvSpPr>
          <p:cNvPr id="6" name="Rounded Rectangle 5"/>
          <p:cNvSpPr/>
          <p:nvPr/>
        </p:nvSpPr>
        <p:spPr>
          <a:xfrm>
            <a:off x="822960" y="2194560"/>
            <a:ext cx="3291840" cy="10058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Zona pública
(balanceador / edge)</a:t>
            </a:r>
          </a:p>
        </p:txBody>
      </p:sp>
      <p:sp>
        <p:nvSpPr>
          <p:cNvPr id="7" name="Rounded Rectangle 6"/>
          <p:cNvSpPr/>
          <p:nvPr/>
        </p:nvSpPr>
        <p:spPr>
          <a:xfrm>
            <a:off x="4754880" y="2194560"/>
            <a:ext cx="3291840" cy="100584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privada
(app CloudLite)</a:t>
            </a:r>
          </a:p>
        </p:txBody>
      </p:sp>
      <p:sp>
        <p:nvSpPr>
          <p:cNvPr id="8" name="Rounded Rectangle 7"/>
          <p:cNvSpPr/>
          <p:nvPr/>
        </p:nvSpPr>
        <p:spPr>
          <a:xfrm>
            <a:off x="8595360" y="2194560"/>
            <a:ext cx="3291840" cy="100584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de datos
(base de datos)</a:t>
            </a:r>
          </a:p>
        </p:txBody>
      </p:sp>
      <p:cxnSp>
        <p:nvCxnSpPr>
          <p:cNvPr id="9" name="Connector 8"/>
          <p:cNvCxnSpPr/>
          <p:nvPr/>
        </p:nvCxnSpPr>
        <p:spPr>
          <a:xfrm>
            <a:off x="4114800" y="2697480"/>
            <a:ext cx="64008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611879" y="2496312"/>
            <a:ext cx="1645920" cy="320040"/>
          </a:xfrm>
          <a:prstGeom prst="rect">
            <a:avLst/>
          </a:prstGeom>
          <a:noFill/>
        </p:spPr>
        <p:txBody>
          <a:bodyPr wrap="square">
            <a:spAutoFit/>
          </a:bodyPr>
          <a:lstStyle/>
          <a:p>
            <a:pPr algn="ctr"/>
            <a:r>
              <a:rPr sz="1000" b="0" i="1">
                <a:solidFill>
                  <a:srgbClr val="666666"/>
                </a:solidFill>
                <a:latin typeface="Calibri"/>
              </a:rPr>
              <a:t>solo el 8080</a:t>
            </a:r>
          </a:p>
        </p:txBody>
      </p:sp>
      <p:cxnSp>
        <p:nvCxnSpPr>
          <p:cNvPr id="11" name="Connector 10"/>
          <p:cNvCxnSpPr/>
          <p:nvPr/>
        </p:nvCxnSpPr>
        <p:spPr>
          <a:xfrm>
            <a:off x="8046720" y="2697480"/>
            <a:ext cx="54864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98080" y="2496312"/>
            <a:ext cx="1645920" cy="320040"/>
          </a:xfrm>
          <a:prstGeom prst="rect">
            <a:avLst/>
          </a:prstGeom>
          <a:noFill/>
        </p:spPr>
        <p:txBody>
          <a:bodyPr wrap="square">
            <a:spAutoFit/>
          </a:bodyPr>
          <a:lstStyle/>
          <a:p>
            <a:pPr algn="ctr"/>
            <a:r>
              <a:rPr sz="1000" b="0" i="1">
                <a:solidFill>
                  <a:srgbClr val="666666"/>
                </a:solidFill>
                <a:latin typeface="Calibri"/>
              </a:rPr>
              <a:t>solo el 5432</a:t>
            </a:r>
          </a:p>
        </p:txBody>
      </p:sp>
      <p:sp>
        <p:nvSpPr>
          <p:cNvPr id="13" name="TextBox 12"/>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La base de datos NUNCA vive en la zona pública. Los nombres deben coincidir con los del C4 Containers (Clase 4) — mismo sistema, otro ángulo.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Despliegue en Mermaid: el molde que la plataforma del curso renderiza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flowchart LR</a:t>
            </a:r>
          </a:p>
          <a:p>
            <a:pPr>
              <a:spcAft>
                <a:spcPts val="400"/>
              </a:spcAft>
            </a:pPr>
            <a:r>
              <a:rPr sz="1400" b="0" i="0">
                <a:solidFill>
                  <a:srgbClr val="FFFFFF"/>
                </a:solidFill>
                <a:latin typeface="Calibri"/>
              </a:rPr>
              <a:t>  subgraph publica["Zona publica - internet"]</a:t>
            </a:r>
          </a:p>
          <a:p>
            <a:pPr>
              <a:spcAft>
                <a:spcPts val="400"/>
              </a:spcAft>
            </a:pPr>
            <a:r>
              <a:rPr sz="1400" b="0" i="0">
                <a:solidFill>
                  <a:srgbClr val="FFFFFF"/>
                </a:solidFill>
                <a:latin typeface="Calibri"/>
              </a:rPr>
              <a:t>    web["App web&lt;br/&gt;React estatico - 443"]</a:t>
            </a:r>
          </a:p>
          <a:p>
            <a:pPr>
              <a:spcAft>
                <a:spcPts val="400"/>
              </a:spcAft>
            </a:pPr>
            <a:r>
              <a:rPr sz="1400" b="0" i="0">
                <a:solidFill>
                  <a:srgbClr val="FFFFFF"/>
                </a:solidFill>
                <a:latin typeface="Calibri"/>
              </a:rPr>
              <a:t>    edge["Edge / balanceador&lt;br/&gt;443 HTTPS"]</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privada["Zona privada - solo desde el edge"]</a:t>
            </a:r>
          </a:p>
          <a:p>
            <a:pPr>
              <a:spcAft>
                <a:spcPts val="400"/>
              </a:spcAft>
            </a:pPr>
            <a:r>
              <a:rPr sz="1400" b="0" i="0">
                <a:solidFill>
                  <a:srgbClr val="FFFFFF"/>
                </a:solidFill>
                <a:latin typeface="Calibri"/>
              </a:rPr>
              <a:t>    api["API CloudLite&lt;br/&gt;8080 HTTP"]</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datos["Zona de datos - sin internet: la BD va AQUI"]</a:t>
            </a:r>
          </a:p>
          <a:p>
            <a:pPr>
              <a:spcAft>
                <a:spcPts val="400"/>
              </a:spcAft>
            </a:pPr>
            <a:r>
              <a:rPr sz="1400" b="0" i="0">
                <a:solidFill>
                  <a:srgbClr val="FFFFFF"/>
                </a:solidFill>
                <a:latin typeface="Calibri"/>
              </a:rPr>
              <a:t>    db[("Base de datos&lt;br/&gt;5432 TCP")]</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web --&gt;|"HTTPS 443"| edge</a:t>
            </a:r>
          </a:p>
          <a:p>
            <a:pPr>
              <a:spcAft>
                <a:spcPts val="400"/>
              </a:spcAft>
            </a:pPr>
            <a:r>
              <a:rPr sz="1400" b="0" i="0">
                <a:solidFill>
                  <a:srgbClr val="FFFFFF"/>
                </a:solidFill>
                <a:latin typeface="Calibri"/>
              </a:rPr>
              <a:t>  edge --&gt;|"HTTP 8080"| api</a:t>
            </a:r>
          </a:p>
          <a:p>
            <a:pPr>
              <a:spcAft>
                <a:spcPts val="400"/>
              </a:spcAft>
            </a:pPr>
            <a:r>
              <a:rPr sz="1400" b="0" i="0">
                <a:solidFill>
                  <a:srgbClr val="FFFFFF"/>
                </a:solidFill>
                <a:latin typeface="Calibri"/>
              </a:rPr>
              <a:t>  api --&gt;|"TCP 5432"| db</a:t>
            </a:r>
          </a:p>
          <a:p>
            <a:pPr>
              <a:spcAft>
                <a:spcPts val="400"/>
              </a:spcAft>
            </a:pPr>
            <a:r>
              <a:rPr sz="1400" b="0" i="0">
                <a:solidFill>
                  <a:srgbClr val="FFFFFF"/>
                </a:solidFill>
                <a:latin typeface="Calibri"/>
              </a:rPr>
              <a:t>  api --&gt;|"HTTPS 443 - frontera de confianza"| pagos["Pasarela de pagos externa"]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Una «subgraph» por zona, el puerto en cada caja y la base con «[( )]». La flecha al externo ES la frontera de confianza. Nombres: los mismos del C4 Containers de la Clase 4.</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Deployment</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Informe PI</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ermaid.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Codigo del diagrama</a:t>
            </a:r>
          </a:p>
        </p:txBody>
      </p:sp>
      <p:sp>
        <p:nvSpPr>
          <p:cNvPr id="21" name="Rounded Rectangle 20"/>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xamlab.png"/>
          <p:cNvPicPr>
            <a:picLocks noChangeAspect="1"/>
          </p:cNvPicPr>
          <p:nvPr/>
        </p:nvPicPr>
        <p:blipFill>
          <a:blip r:embed="rId5"/>
          <a:stretch>
            <a:fillRect/>
          </a:stretch>
        </p:blipFill>
        <p:spPr>
          <a:xfrm>
            <a:off x="5485485" y="4311396"/>
            <a:ext cx="1220724" cy="1220724"/>
          </a:xfrm>
          <a:prstGeom prst="rect">
            <a:avLst/>
          </a:prstGeom>
        </p:spPr>
      </p:pic>
      <p:sp>
        <p:nvSpPr>
          <p:cNvPr id="25" name="TextBox 24"/>
          <p:cNvSpPr txBox="1"/>
          <p:nvPr/>
        </p:nvSpPr>
        <p:spPr>
          <a:xfrm>
            <a:off x="4356506"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 la plataforma del curso (diagrama)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entrega como código Mermaid dentro de la plataforma del curso, no como imagen</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«convierte este diagrama a Mermaid usando flowchart».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Pega y renderiza en la plataforma del curso</a:t>
            </a:r>
          </a:p>
          <a:p>
            <a:pPr>
              <a:spcBef>
                <a:spcPts val="200"/>
              </a:spcBef>
            </a:pPr>
            <a:r>
              <a:rPr sz="1300" b="0" i="0">
                <a:solidFill>
                  <a:srgbClr val="333333"/>
                </a:solidFill>
                <a:latin typeface="Calibri"/>
              </a:rPr>
              <a:t>Pega ese codigo en la caja de texto de la pregunta y mira como lo dibuja la plataforma. Si no renderiza, corrige ahi mismo: lo que se califica es el diagrama renderizado dentro de la plataforma del curso.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el PNG para tu PI</a:t>
            </a:r>
          </a:p>
          <a:p>
            <a:pPr>
              <a:spcBef>
                <a:spcPts val="200"/>
              </a:spcBef>
            </a:pPr>
            <a:r>
              <a:rPr sz="1300" b="0" i="0">
                <a:solidFill>
                  <a:srgbClr val="333333"/>
                </a:solidFill>
                <a:latin typeface="Calibri"/>
              </a:rPr>
              <a:t>Exporta tambien la imagen a la carpeta de tu Proyecto Integrador. Esa copia es para tu informe; no reemplaza la respuesta en la plataforma.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Diagrama Deployment en Mermaid dentro de la plataforma del curso (3 zonas + puertos) + tipo de almacenamiento por componente</a:t>
            </a:r>
          </a:p>
          <a:p>
            <a:pPr>
              <a:spcAft>
                <a:spcPts val="800"/>
              </a:spcAft>
            </a:pPr>
            <a:r>
              <a:rPr sz="2000" b="0" i="0">
                <a:solidFill>
                  <a:srgbClr val="333333"/>
                </a:solidFill>
                <a:latin typeface="Calibri"/>
              </a:rPr>
              <a:t>–   Herramienta: </a:t>
            </a:r>
            <a:r>
              <a:rPr sz="2000" b="1" i="0">
                <a:solidFill>
                  <a:srgbClr val="333333"/>
                </a:solidFill>
                <a:latin typeface="Calibri"/>
              </a:rPr>
              <a:t>la plataforma del curso (Mermaid) · boceto en draw.io o Excalidraw</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1" i="0">
                <a:solidFill>
                  <a:srgbClr val="333333"/>
                </a:solidFill>
                <a:latin typeface="Calibri"/>
              </a:rPr>
              <a:t>1.</a:t>
            </a:r>
            <a:r>
              <a:rPr sz="2000" b="0" i="0">
                <a:solidFill>
                  <a:srgbClr val="333333"/>
                </a:solidFill>
                <a:latin typeface="Calibri"/>
              </a:rPr>
              <a:t> Paso 1: dibuje primero el boceto del despliegue en Excalidraw o draw.io con las tres zonas (publica, privada y de datos), y despues pidale a una IA que lo traduzca a Mermaid; peguelo en la pregunta 4 y verifique en el diagrama ya renderizado que la base de datos NO quede en la zona publica.</a:t>
            </a:r>
          </a:p>
          <a:p>
            <a:pPr>
              <a:spcAft>
                <a:spcPts val="800"/>
              </a:spcAft>
            </a:pPr>
            <a:r>
              <a:rPr sz="2000" b="0" i="0">
                <a:solidFill>
                  <a:srgbClr val="333333"/>
                </a:solidFill>
                <a:latin typeface="Calibri"/>
              </a:rPr>
              <a:t>–   </a:t>
            </a:r>
            <a:r>
              <a:rPr sz="2000" b="1" i="0">
                <a:solidFill>
                  <a:srgbClr val="333333"/>
                </a:solidFill>
                <a:latin typeface="Calibri"/>
              </a:rPr>
              <a:t>2.</a:t>
            </a:r>
            <a:r>
              <a:rPr sz="2000" b="0" i="0">
                <a:solidFill>
                  <a:srgbClr val="333333"/>
                </a:solidFill>
                <a:latin typeface="Calibri"/>
              </a:rPr>
              <a:t> Paso 2: etiquete en ese mismo diagrama el puerto de cada componente y marque las fronteras de confianza, es decir donde termina lo que usted controla; verifique que no aparezcan nombres de subredes ni de servicios de un proveedor concreto.</a:t>
            </a:r>
          </a:p>
          <a:p>
            <a:pPr>
              <a:spcAft>
                <a:spcPts val="800"/>
              </a:spcAft>
            </a:pPr>
            <a:r>
              <a:rPr sz="2000" b="0" i="0">
                <a:solidFill>
                  <a:srgbClr val="333333"/>
                </a:solidFill>
                <a:latin typeface="Calibri"/>
              </a:rPr>
              <a:t>–   </a:t>
            </a:r>
            <a:r>
              <a:rPr sz="2000" b="1" i="0">
                <a:solidFill>
                  <a:srgbClr val="333333"/>
                </a:solidFill>
                <a:latin typeface="Calibri"/>
              </a:rPr>
              <a:t>3.</a:t>
            </a:r>
            <a:r>
              <a:rPr sz="2000" b="0" i="0">
                <a:solidFill>
                  <a:srgbClr val="333333"/>
                </a:solidFill>
                <a:latin typeface="Calibri"/>
              </a:rPr>
              <a:t> Paso 3: justifique en la pregunta 5 el tipo de almacenamiento de cada componente diciendo que caracteristica del dato lo exige; si su dominio no necesita almacenamiento de objetos, declarelo y justifiquelo en vez de agregarlo.</a:t>
            </a:r>
          </a:p>
          <a:p>
            <a:pPr>
              <a:spcAft>
                <a:spcPts val="800"/>
              </a:spcAft>
            </a:pPr>
            <a:r>
              <a:rPr sz="2000" b="0" i="0">
                <a:solidFill>
                  <a:srgbClr val="333333"/>
                </a:solidFill>
                <a:latin typeface="Calibri"/>
              </a:rPr>
              <a:t>–   </a:t>
            </a:r>
            <a:r>
              <a:rPr sz="2000" b="1" i="0">
                <a:solidFill>
                  <a:srgbClr val="333333"/>
                </a:solidFill>
                <a:latin typeface="Calibri"/>
              </a:rPr>
              <a:t>4.</a:t>
            </a:r>
            <a:r>
              <a:rPr sz="2000" b="0" i="0">
                <a:solidFill>
                  <a:srgbClr val="333333"/>
                </a:solidFill>
                <a:latin typeface="Calibri"/>
              </a:rPr>
              <a:t> Paso 4: complete en la pregunta 6 la tabla de correspondencia entre el C4 Containers y el Despliegue, con una fila por componente y su zona, y liste los renombres que aplico; si no hubo ninguno, digalo explicitamente.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Diagrama Deployment en Mermaid dentro de la plataforma del curso (3 zonas + puertos) + tipo de almacenamiento por componente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Diagrama de despliegue: red, zonas, almacenamiento</a:t>
            </a:r>
          </a:p>
          <a:p>
            <a:pPr algn="ctr">
              <a:spcAft>
                <a:spcPts val="600"/>
              </a:spcAft>
            </a:pPr>
            <a:r>
              <a:rPr sz="1600" b="0" i="0">
                <a:solidFill>
                  <a:srgbClr val="333333"/>
                </a:solidFill>
                <a:latin typeface="Calibri"/>
              </a:rPr>
              <a:t>Evidencia: Diagrama Deployment en Mermaid dentro de la plataforma del curso (3 zonas + puertos) + tipo de almacenamiento por componente</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