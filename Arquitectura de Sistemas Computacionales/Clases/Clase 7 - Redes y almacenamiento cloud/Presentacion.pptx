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Diagrama de despliegue: red, zonas, almacenamiento</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CloudLite.</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 del 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que la nota castiga.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la plataforma del curso.</a:t>
            </a:r>
          </a:p>
          <a:p>
            <a:pPr>
              <a:spcAft>
                <a:spcPts val="800"/>
              </a:spcAft>
            </a:pPr>
            <a:r>
              <a:rPr sz="2000" b="0" i="0">
                <a:solidFill>
                  <a:srgbClr val="333333"/>
                </a:solidFill>
                <a:latin typeface="Calibri"/>
              </a:rPr>
              <a:t>–   Debe alinearse con el C4 Containers (mismos nombres).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En la Clase 1 se hizo C4 Context: el sistema como una caja, quien lo usa y con que sistemas externos habla; responde QUIEN.</a:t>
            </a:r>
          </a:p>
          <a:p>
            <a:pPr>
              <a:spcAft>
                <a:spcPts val="800"/>
              </a:spcAft>
            </a:pPr>
            <a:r>
              <a:rPr sz="2000" b="0" i="0">
                <a:solidFill>
                  <a:srgbClr val="333333"/>
                </a:solidFill>
                <a:latin typeface="Calibri"/>
              </a:rPr>
              <a:t>–   En la Clase 4 se hizo C4 Containers: que aplicaciones, servicios y bases de datos lo componen por dentro y con que contratos se comunican; responde QUE.</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a:p>
            <a:pPr>
              <a:spcAft>
                <a:spcPts val="800"/>
              </a:spcAft>
            </a:pPr>
            <a:r>
              <a:rPr sz="2000" b="0" i="0">
                <a:solidFill>
                  <a:srgbClr val="333333"/>
                </a:solidFill>
                <a:latin typeface="Calibri"/>
              </a:rPr>
              <a:t>–   Un nodo es cualquier lugar de ejecucion: una maquina virtual, un host de contenedores, un servicio gestionado.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el mismo sistema desde un tercer angulo, no un sistema nuevo, y por eso los nombres deben coincidir con los de la Clase 4.</a:t>
            </a:r>
          </a:p>
          <a:p>
            <a:pPr>
              <a:spcAft>
                <a:spcPts val="800"/>
              </a:spcAft>
            </a:pPr>
            <a:r>
              <a:rPr sz="2000" b="0" i="0">
                <a:solidFill>
                  <a:srgbClr val="333333"/>
                </a:solidFill>
                <a:latin typeface="Calibri"/>
              </a:rPr>
              <a:t>–   Y hay un dato que cambia como se dicta la clase: el entregable NO es una imagen.</a:t>
            </a:r>
          </a:p>
          <a:p>
            <a:pPr>
              <a:spcAft>
                <a:spcPts val="800"/>
              </a:spcAft>
            </a:pPr>
            <a:r>
              <a:rPr sz="2000" b="0" i="0">
                <a:solidFill>
                  <a:srgbClr val="333333"/>
                </a:solidFill>
                <a:latin typeface="Calibri"/>
              </a:rPr>
              <a:t>–   La pregunta 4 se responde con codigo Mermaid pegado dentro de la plataforma del curso, que la plataforma renderiza en la misma pantalla, y 2 de esos 14 puntos son literalmente que renderice sin error.</a:t>
            </a:r>
          </a:p>
          <a:p>
            <a:pPr>
              <a:spcAft>
                <a:spcPts val="800"/>
              </a:spcAft>
            </a:pPr>
            <a:r>
              <a:rPr sz="2000" b="0" i="0">
                <a:solidFill>
                  <a:srgbClr val="333333"/>
                </a:solidFill>
                <a:latin typeface="Calibri"/>
              </a:rPr>
              <a:t>–   El boceto en draw.io o en Excalidraw sigue sirviendo, y es el paso 1 del metodo que se proyecta hoy, pero es un borrador de trabajo: no se entrega y no se califica.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Nada impide correr una base de datos en el 9999, pero cambiar la convencion confunde a quien opera.</a:t>
            </a:r>
          </a:p>
          <a:p>
            <a:pPr>
              <a:spcAft>
                <a:spcPts val="800"/>
              </a:spcAft>
            </a:pPr>
            <a:r>
              <a:rPr sz="2000" b="0" i="0">
                <a:solidFill>
                  <a:srgbClr val="333333"/>
                </a:solidFill>
                <a:latin typeface="Calibri"/>
              </a:rPr>
              <a:t>–   Esto no es decorativo: la pregunta 4 da 2 puntos por que cada componente lleve su puerto etiquetado</a:t>
            </a:r>
          </a:p>
          <a:p>
            <a:pPr>
              <a:spcAft>
                <a:spcPts val="800"/>
              </a:spcAft>
            </a:pPr>
            <a:r>
              <a:rPr sz="2000" b="0" i="0">
                <a:solidFill>
                  <a:srgbClr val="333333"/>
                </a:solidFill>
                <a:latin typeface="Calibri"/>
              </a:rPr>
              <a:t>–   Y el diagrama de referencia usa exactamente tres, 443 en el edge, 8080 en la API y 5432 en la base de datos, que son los mismos que el estudiante ya escribio en el EXPOSE de su Dockerfile de la Clase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a:p>
            <a:pPr>
              <a:spcAft>
                <a:spcPts val="800"/>
              </a:spcAft>
            </a:pPr>
            <a:r>
              <a:rPr sz="2000" b="0" i="0">
                <a:solidFill>
                  <a:srgbClr val="333333"/>
                </a:solidFill>
                <a:latin typeface="Calibri"/>
              </a:rPr>
              <a:t>–   Sobre esa distincion se construye la regla que se evalua hoy, y hay que decirla con los tres nombres exactos porque son tres zonas y no dos: en la zona PUBLICA van el punto de entrada, el balanceador o proxy inverso</a:t>
            </a:r>
          </a:p>
          <a:p>
            <a:pPr>
              <a:spcAft>
                <a:spcPts val="800"/>
              </a:spcAft>
            </a:pPr>
            <a:r>
              <a:rPr sz="2000" b="0" i="0">
                <a:solidFill>
                  <a:srgbClr val="333333"/>
                </a:solidFill>
                <a:latin typeface="Calibri"/>
              </a:rPr>
              <a:t>–   Y la aplicacion web estatica, que es publica sin que eso sea una fuga porque no lleva secretos dentro; el cliente que llega de internet se dibuja FUERA de las tres zonas, porque es el actor y no una pieza que el estudiante despliegue</a:t>
            </a:r>
          </a:p>
          <a:p>
            <a:pPr>
              <a:spcAft>
                <a:spcPts val="800"/>
              </a:spcAft>
            </a:pPr>
            <a:r>
              <a:rPr sz="2000" b="0" i="0">
                <a:solidFill>
                  <a:srgbClr val="333333"/>
                </a:solidFill>
                <a:latin typeface="Calibri"/>
              </a:rPr>
              <a:t>–   Y por eso es una de las dos filas sin par de la tabla de la pregunta 6; la API va en la zona PRIVADA, alcanzable solo desde el edge; y los datos van en una tercera zona, la de DATOS, que solo acepta conexiones desde la aplicacion y no tiene salida a internet.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4 puntos de ubicacion de la pregunta 4 se pierden COMPLETOS si la base de datos queda en la zona publica: no es un descuento parcial, es el error que la pregunta esta disenada para detectar.</a:t>
            </a:r>
          </a:p>
          <a:p>
            <a:pPr>
              <a:spcAft>
                <a:spcPts val="800"/>
              </a:spcAft>
            </a:pPr>
            <a:r>
              <a:rPr sz="2000" b="0" i="0">
                <a:solidFill>
                  <a:srgbClr val="333333"/>
                </a:solidFill>
                <a:latin typeface="Calibri"/>
              </a:rPr>
              <a:t>–   Y las tres zonas rotuladas valen otros 4 puntos por si mismas, asi que un diagrama de dos zonas, aunque tenga la base de datos bien puesta, ya empezo perdiendo.</a:t>
            </a:r>
          </a:p>
          <a:p>
            <a:pPr>
              <a:spcAft>
                <a:spcPts val="800"/>
              </a:spcAft>
            </a:pPr>
            <a:r>
              <a:rPr sz="2000" b="0" i="0">
                <a:solidFill>
                  <a:srgbClr val="333333"/>
                </a:solidFill>
                <a:latin typeface="Calibri"/>
              </a:rPr>
              <a:t>–   En CloudLite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piezas mas hay que explicar sin titubear.</a:t>
            </a:r>
          </a:p>
          <a:p>
            <a:pPr>
              <a:spcAft>
                <a:spcPts val="800"/>
              </a:spcAft>
            </a:pPr>
            <a:r>
              <a:rPr sz="2000" b="0" i="0">
                <a:solidFill>
                  <a:srgbClr val="333333"/>
                </a:solidFill>
                <a:latin typeface="Calibri"/>
              </a:rPr>
              <a:t>–   El DNS es el directorio distribuido que traduce un nombre legible, como cloudlite.example,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el diagrama de hoy el balanceador es el habitante de la zona publica, y el /health que consulta es el mismo contrato de salud que se verifico con curl en la Clase 3 y el primer monitoreo real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almacenamiento se decide por la caracteristica del dato, y aqui hay que ser estricto con el vocabulario porque la pregunta 5 admite TRES palabras y no mas: Relacional, Bloque y Objeto.</a:t>
            </a:r>
          </a:p>
          <a:p>
            <a:pPr>
              <a:spcAft>
                <a:spcPts val="800"/>
              </a:spcAft>
            </a:pPr>
            <a:r>
              <a:rPr sz="20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20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20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a:p>
            <a:pPr>
              <a:spcAft>
                <a:spcPts val="800"/>
              </a:spcAft>
            </a:pPr>
            <a:r>
              <a:rPr sz="2000" b="0" i="0">
                <a:solidFill>
                  <a:srgbClr val="333333"/>
                </a:solidFill>
                <a:latin typeface="Calibri"/>
              </a:rPr>
              <a:t>–   Es practicamente ilimitado, barato y accesible por URL; la caracteristica que lo exige es que el dato se recupera entero, sin partes.</a:t>
            </a:r>
          </a:p>
          <a:p>
            <a:pPr>
              <a:spcAft>
                <a:spcPts val="800"/>
              </a:spcAft>
            </a:pPr>
            <a:r>
              <a:rPr sz="2000" b="0" i="0">
                <a:solidFill>
                  <a:srgbClr val="333333"/>
                </a:solidFill>
                <a:latin typeface="Calibri"/>
              </a:rPr>
              <a:t>–   Hay una cuarta categoria en la literatura, el almacenamiento de ARCHIVOS, un sistema de archivos compartido que varias instancias montan por red</a:t>
            </a:r>
          </a:p>
          <a:p>
            <a:pPr>
              <a:spcAft>
                <a:spcPts val="800"/>
              </a:spcAft>
            </a:pPr>
            <a:r>
              <a:rPr sz="2000" b="0" i="0">
                <a:solidFill>
                  <a:srgbClr val="333333"/>
                </a:solidFill>
                <a:latin typeface="Calibri"/>
              </a:rPr>
              <a:t>–   Conviene nombrarla como contraste para que nadie se sienta enganado, pero no es una de las tres palabras que la pregunta admite</a:t>
            </a:r>
          </a:p>
          <a:p>
            <a:pPr>
              <a:spcAft>
                <a:spcPts val="800"/>
              </a:spcAft>
            </a:pPr>
            <a:r>
              <a:rPr sz="2000" b="0" i="0">
                <a:solidFill>
                  <a:srgbClr val="333333"/>
                </a:solidFill>
                <a:latin typeface="Calibri"/>
              </a:rPr>
              <a:t>–   Y quien cree necesitarla casi siempre esta describiendo un caso que en la nube se resuelve con objeto.</a:t>
            </a:r>
          </a:p>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Y la justificacion se califica aparte, 2.5 de los 5.5 puntos: cada fila tiene que nombrar la caracteristica del dato.</a:t>
            </a:r>
          </a:p>
          <a:p>
            <a:pPr>
              <a:spcAft>
                <a:spcPts val="800"/>
              </a:spcAft>
            </a:pPr>
            <a:r>
              <a:rPr sz="2000" b="0" i="0">
                <a:solidFill>
                  <a:srgbClr val="333333"/>
                </a:solidFill>
                <a:latin typeface="Calibri"/>
              </a:rPr>
              <a:t>–   «Es mas rapido», «es lo que usa todo el mundo» o «es lo normal» no son caracteristicas del dato y no suman ni un punto, aunque el tipo elegido sea el correcto.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que hace visible la decision, y el error de diseno que conviene provocar: CloudLite permite subir una foto de perfil o adjuntar un PDF.</a:t>
            </a:r>
          </a:p>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Hay que dejar que el estudiante la proponga y luego cuantificarla: dos megabytes por usuario y cinco mil usuarios son diez gigabytes de binarios dentro de una base cuyos datos utiles podrian ser doscientos megabytes</a:t>
            </a:r>
          </a:p>
          <a:p>
            <a:pPr>
              <a:spcAft>
                <a:spcPts val="800"/>
              </a:spcAft>
            </a:pPr>
            <a:r>
              <a:rPr sz="2000" b="0" i="0">
                <a:solidFill>
                  <a:srgbClr val="333333"/>
                </a:solidFill>
                <a:latin typeface="Calibri"/>
              </a:rPr>
              <a:t>–   Cada respaldo arrastra esos diez gigabytes y la cache del motor se llena de bytes que ninguna consulta filtra.</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a:p>
            <a:pPr>
              <a:spcAft>
                <a:spcPts val="800"/>
              </a:spcAft>
            </a:pPr>
            <a:r>
              <a:rPr sz="2000" b="0" i="0">
                <a:solidFill>
                  <a:srgbClr val="333333"/>
                </a:solidFill>
                <a:latin typeface="Calibri"/>
              </a:rPr>
              <a:t>–   Mantener los contenedores sin estado es la condicion del escalado horizontal de la Clase 13.</a:t>
            </a:r>
          </a:p>
          <a:p>
            <a:pPr>
              <a:spcAft>
                <a:spcPts val="800"/>
              </a:spcAft>
            </a:pPr>
            <a:r>
              <a:rPr sz="2000" b="0" i="0">
                <a:solidFill>
                  <a:srgbClr val="333333"/>
                </a:solidFill>
                <a:latin typeface="Calibri"/>
              </a:rPr>
              <a:t>–   La rubrica lo dice al reves de como el grupo lo espera: suma completo quien lo declare y justifique, y se descuenta a quien agregue un almacen de objetos sin un dato que lo pida.</a:t>
            </a:r>
          </a:p>
          <a:p>
            <a:pPr>
              <a:spcAft>
                <a:spcPts val="800"/>
              </a:spcAft>
            </a:pPr>
            <a:r>
              <a:rPr sz="2000" b="0" i="0">
                <a:solidFill>
                  <a:srgbClr val="333333"/>
                </a:solidFill>
                <a:latin typeface="Calibri"/>
              </a:rPr>
              <a:t>–   Hay que anunciarlo antes del taller, porque si no medio salon inventa un bucket «porque suena a cloud» y pierde puntos por agregar.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nombres de las cajas del despliegue deben ser los mismos que los contenedores del C4 Containers de la Clase 4: si alli el servicio se llamaba api-citas, hoy no puede aparecer como backend, ni puede aparecer una caja nueva que nadie declaro.</a:t>
            </a:r>
          </a:p>
          <a:p>
            <a:pPr>
              <a:spcAft>
                <a:spcPts val="800"/>
              </a:spcAft>
            </a:pPr>
            <a:r>
              <a:rPr sz="2000" b="0" i="0">
                <a:solidFill>
                  <a:srgbClr val="333333"/>
                </a:solidFill>
                <a:latin typeface="Calibri"/>
              </a:rPr>
              <a:t>–   La pregunta 6 pide demostrarlo con una tabla de tres columnas cuyos nombres hay que dictar tal cual: «Componente en el C4 Containers», «Componente en el Despliegue» y «Zona».</a:t>
            </a:r>
          </a:p>
          <a:p>
            <a:pPr>
              <a:spcAft>
                <a:spcPts val="800"/>
              </a:spcAft>
            </a:pPr>
            <a:r>
              <a:rPr sz="2000" b="0" i="0">
                <a:solidFill>
                  <a:srgbClr val="333333"/>
                </a:solidFill>
                <a:latin typeface="Calibri"/>
              </a:rPr>
              <a:t>–   Los 5.5 puntos se reparten asi, y conviene decirlo en voz alta: 2 puntos la explicacion de por que los nombres deben coincidir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respuesta esperada es que los dos diagramas son el MISMO sistema visto desde angulos distintos, uno dice que piezas hay y el otro donde se ejecutan</a:t>
            </a:r>
          </a:p>
          <a:p>
            <a:pPr>
              <a:spcAft>
                <a:spcPts val="800"/>
              </a:spcAft>
            </a:pPr>
            <a:r>
              <a:rPr sz="2000" b="0" i="0">
                <a:solidFill>
                  <a:srgbClr val="333333"/>
                </a:solidFill>
                <a:latin typeface="Calibri"/>
              </a:rPr>
              <a:t>–   2.5 puntos la tabla completa, con una fila por componente y su zona; y 1 punto listar los renombres que se aplicaron, o declarar explicitamente que no hubo ninguno, que tambien vale.</a:t>
            </a:r>
          </a:p>
          <a:p>
            <a:pPr>
              <a:spcAft>
                <a:spcPts val="800"/>
              </a:spcAft>
            </a:pPr>
            <a:r>
              <a:rPr sz="2000" b="0" i="0">
                <a:solidFill>
                  <a:srgbClr val="333333"/>
                </a:solidFill>
                <a:latin typeface="Calibri"/>
              </a:rPr>
              <a:t>–   La trampa esta en la palabra completa: se descuenta si la tabla deja fuera un componente que si aparece en alguno de los dos diagramas, asi que hay que instruir el gesto de llenarla con los dos diagramas abiertos al lado y contando cajas.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cadena aguas abajo es directa: la Clase 6 identifico amenazas y fronteras de confianza en texto y hoy esas fronteras se vuelven zonas dibujadas; la Clase 8 tomara cada flecha para definir que se mide en ella</a:t>
            </a:r>
          </a:p>
          <a:p>
            <a:pPr>
              <a:spcAft>
                <a:spcPts val="800"/>
              </a:spcAft>
            </a:pPr>
            <a:r>
              <a:rPr sz="2000" b="0" i="0">
                <a:solidFill>
                  <a:srgbClr val="333333"/>
                </a:solidFill>
                <a:latin typeface="Calibri"/>
              </a:rPr>
              <a:t>–   Porque no se puede monitorear un camino que no esta dibujado; la Clase 10 costeara estas mismas cajas, asi que la eleccion de almacenamiento es tambien decision de costo; y la Clase 13 discutira cual caja se replica y cual no.</a:t>
            </a:r>
          </a:p>
          <a:p>
            <a:pPr>
              <a:spcAft>
                <a:spcPts val="800"/>
              </a:spcAft>
            </a:pPr>
            <a:r>
              <a:rPr sz="2000" b="0" i="0">
                <a:solidFill>
                  <a:srgbClr val="333333"/>
                </a:solidFill>
                <a:latin typeface="Calibri"/>
              </a:rPr>
              <a:t>–   Todo el bloque se evalua en el Parcial 2 de la Clase 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mejor forma de dictar la clase es seguir una peticion de CloudLite de punta a punta sobre el diagrama proyectado.</a:t>
            </a:r>
          </a:p>
          <a:p>
            <a:pPr>
              <a:spcAft>
                <a:spcPts val="800"/>
              </a:spcAft>
            </a:pPr>
            <a:r>
              <a:rPr sz="2000" b="0" i="0">
                <a:solidFill>
                  <a:srgbClr val="333333"/>
                </a:solidFill>
                <a:latin typeface="Calibri"/>
              </a:rPr>
              <a:t>–   Un usuario final abre cloudlite.example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a:p>
            <a:pPr>
              <a:spcAft>
                <a:spcPts val="800"/>
              </a:spcAft>
            </a:pPr>
            <a:r>
              <a:rPr sz="2000" b="0" i="0">
                <a:solidFill>
                  <a:srgbClr val="333333"/>
                </a:solidFill>
                <a:latin typeface="Calibri"/>
              </a:rPr>
              <a:t>–   Ese recorrido, con cada flecha etiquetada con protocolo y puerto y cada caja dentro de su zona, es la estructura que la pregunta 4 califica; lo que se pega en la plataforma es su version en Mermaid, que es la seccion siguiente.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Sirve tambien para citar numeros: una consulta simple bien indexada responde entre 1 y 20 milisegundos, y el objetivo que se formalizara en la Clase 12 suele fijarse por convencion en menos de 300 milisegundos para el 95 por ciento de las peticiones.</a:t>
            </a:r>
          </a:p>
          <a:p>
            <a:pPr>
              <a:spcAft>
                <a:spcPts val="800"/>
              </a:spcAft>
            </a:pPr>
            <a:r>
              <a:rPr sz="2000" b="0" i="0">
                <a:solidFill>
                  <a:srgbClr val="333333"/>
                </a:solidFill>
                <a:latin typeface="Calibri"/>
              </a:rPr>
              <a:t>–   Con eso el grupo ve que si una pantalla dispara veinte consultas encadenadas el problema es de diseno y no de servidor.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diapositiva del molde existe porque el estudiante puede tener el modelo correcto en la cabeza y perder puntos por sintaxis, y porque 2 de los 14 son que el diagrama renderice.</a:t>
            </a:r>
          </a:p>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y son las que valen 4 puntos; olvidar un end es la causa numero uno de que la plataforma no dibuje nada,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a:p>
            <a:pPr>
              <a:spcAft>
                <a:spcPts val="800"/>
              </a:spcAft>
            </a:pPr>
            <a:r>
              <a:rPr sz="2000" b="0" i="0">
                <a:solidFill>
                  <a:srgbClr val="333333"/>
                </a:solidFill>
                <a:latin typeface="Calibri"/>
              </a:rPr>
              <a:t>–   Es la forma mas segura de cumplir los 2 puntos de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los 2 puntos de fronteras quedan visibles en el propio dibujo y no en un comentario aparte.</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 y ahi se van los 2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si un rotulo lleva parentesis, dos puntos o comillas, hay que envolverlo en comillas dobles, porque sin ellas el analizador se detiene ahi.</a:t>
            </a:r>
          </a:p>
          <a:p>
            <a:pPr>
              <a:spcAft>
                <a:spcPts val="800"/>
              </a:spcAft>
            </a:pPr>
            <a:r>
              <a:rPr sz="2000" b="0" i="0">
                <a:solidFill>
                  <a:srgbClr val="333333"/>
                </a:solidFill>
                <a:latin typeface="Calibri"/>
              </a:rPr>
              <a:t>–   El procedimiento que se proyecta en la demo es el que conviene repetir tres veces: dibujar el boceto donde sea, traducirlo a Mermaid (una IA lo hace bien</a:t>
            </a:r>
          </a:p>
          <a:p>
            <a:pPr>
              <a:spcAft>
                <a:spcPts val="800"/>
              </a:spcAft>
            </a:pPr>
            <a:r>
              <a:rPr sz="2000" b="0" i="0">
                <a:solidFill>
                  <a:srgbClr val="333333"/>
                </a:solidFill>
                <a:latin typeface="Calibri"/>
              </a:rPr>
              <a:t>–   Y ahi hay que decir la frase exacta: la IA acierta la sintaxis, no el modelo), pegarlo en la pregunta 4 y MIRARLO RENDERIZADO antes de enviar.</a:t>
            </a:r>
          </a:p>
          <a:p>
            <a:pPr>
              <a:spcAft>
                <a:spcPts val="800"/>
              </a:spcAft>
            </a:pPr>
            <a:r>
              <a:rPr sz="2000" b="0" i="0">
                <a:solidFill>
                  <a:srgbClr val="333333"/>
                </a:solidFill>
                <a:latin typeface="Calibri"/>
              </a:rPr>
              <a:t>–   Si no se dibuja, se corrige ahi mismo; nadie califica un codigo que no dibuja.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Es mas: la rubrica DESCUENTA por nombrar subredes o servicios de un proveedor concreto, asi que escribir VPC, el nombre de una zona de disponibilidad o el de un servicio de marca resta en vez de sumar.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«Puedo subir mi imagen del diagrama en vez del codigo Mermaid?» No para la pregunta 4: lo que se califica es el diagrama renderizado dentro de la plataforma.</a:t>
            </a:r>
          </a:p>
          <a:p>
            <a:pPr>
              <a:spcAft>
                <a:spcPts val="800"/>
              </a:spcAft>
            </a:pPr>
            <a:r>
              <a:rPr sz="2000" b="0" i="0">
                <a:solidFill>
                  <a:srgbClr val="333333"/>
                </a:solidFill>
                <a:latin typeface="Calibri"/>
              </a:rPr>
              <a:t>–   «Mi sistema es pequeno, solo tiene la aplicacion y la base de datos; igual necesito tres zonas?» Si</a:t>
            </a:r>
          </a:p>
          <a:p>
            <a:pPr>
              <a:spcAft>
                <a:spcPts val="800"/>
              </a:spcAft>
            </a:pPr>
            <a:r>
              <a:rPr sz="2000" b="0" i="0">
                <a:solidFill>
                  <a:srgbClr val="333333"/>
                </a:solidFill>
                <a:latin typeface="Calibri"/>
              </a:rPr>
              <a:t>–   Y no es burocracia: las tres zonas son 4 puntos y el sentido de la separacion es justamente que el punto de entrada, la logica y los datos tengan grados de exposicion distintos.</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CloudLite)</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Los nombres deben coincidir con los del C4 Containers (Clase 4) — mismo sistema, otro ángulo.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la plataforma del curso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CloudLite&lt;br/&gt;8080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Deployment</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Diagrama Deployment en Mermaid dentro de la plataforma del curso (3 zonas + puertos) + tipo de almacenamiento por componente</a:t>
            </a:r>
          </a:p>
          <a:p>
            <a:pPr>
              <a:spcAft>
                <a:spcPts val="800"/>
              </a:spcAft>
            </a:pPr>
            <a:r>
              <a:rPr sz="2000" b="0" i="0">
                <a:solidFill>
                  <a:srgbClr val="333333"/>
                </a:solidFill>
                <a:latin typeface="Calibri"/>
              </a:rPr>
              <a:t>–   Herramienta: </a:t>
            </a:r>
            <a:r>
              <a:rPr sz="2000" b="1" i="0">
                <a:solidFill>
                  <a:srgbClr val="333333"/>
                </a:solidFill>
                <a:latin typeface="Calibri"/>
              </a:rPr>
              <a:t>la plataforma del curso (Mermaid) · boceto en draw.io o Excalidraw</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dibuje primero el boceto del despliegue en Excalidraw o draw.io con las tres zonas (publica, privada y de datos), y despues pidale a una IA que lo traduzca a Mermaid; peguelo en la pregunta 4 y verifique en el diagrama ya renderizado que la base de datos NO quede en la zona publica.</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etiquete en ese mismo diagrama el puerto de cada componente y marque las fronteras de confianza, es decir donde termina lo que usted controla; verifique que no aparezcan nombres de subredes ni de servicios de un proveedor concreto.</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justifique en la pregunta 5 el tipo de almacenamiento de cada componente diciendo que caracteristica del dato lo exige; si su dominio no necesita almacenamiento de objetos, declarelo y justifiquelo en vez de agregarlo.</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complete en la pregunta 6 la tabla de correspondencia entre el C4 Containers y el Despliegue, con una fila por componente y su zona, y liste los renombres que aplico; si no hubo ninguno, digalo explicitamente.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Diagrama Deployment en Mermaid dentro de la plataforma del curso (3 zonas + puertos) + tipo de almacenamiento por componente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Diagrama de despliegue: red, zonas, almacenamiento</a:t>
            </a:r>
          </a:p>
          <a:p>
            <a:pPr algn="ctr">
              <a:spcAft>
                <a:spcPts val="600"/>
              </a:spcAft>
            </a:pPr>
            <a:r>
              <a:rPr sz="1600" b="0" i="0">
                <a:solidFill>
                  <a:srgbClr val="333333"/>
                </a:solidFill>
                <a:latin typeface="Calibri"/>
              </a:rPr>
              <a:t>Evidencia: Diagrama Deployment en Mermaid dentro de la plataforma del curso (3 zonas + puertos) + tipo de almacenamiento por componente</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