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Diagrama de despliegue: red, zonas, almacenamiento</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que la nota castiga.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la plataforma del curso.</a:t>
            </a:r>
          </a:p>
          <a:p>
            <a:pPr>
              <a:spcAft>
                <a:spcPts val="800"/>
              </a:spcAft>
            </a:pPr>
            <a:r>
              <a:rPr sz="2000" b="0" i="0">
                <a:solidFill>
                  <a:srgbClr val="333333"/>
                </a:solidFill>
                <a:latin typeface="Calibri"/>
              </a:rPr>
              <a:t>–   Debe alinearse con el C4 Containers (mismos nombres).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el mismo sistema desde un tercer angulo, no un sistema nuevo, y por eso los nombres deben coincidir con los de la Clase 4.</a:t>
            </a:r>
          </a:p>
          <a:p>
            <a:pPr>
              <a:spcAft>
                <a:spcPts val="800"/>
              </a:spcAft>
            </a:pPr>
            <a:r>
              <a:rPr sz="2000" b="0" i="0">
                <a:solidFill>
                  <a:srgbClr val="333333"/>
                </a:solidFill>
                <a:latin typeface="Calibri"/>
              </a:rPr>
              <a:t>–   Y hay un dato que cambia como se dicta la clase: el entregable NO es una imagen.</a:t>
            </a:r>
          </a:p>
          <a:p>
            <a:pPr>
              <a:spcAft>
                <a:spcPts val="800"/>
              </a:spcAft>
            </a:pPr>
            <a:r>
              <a:rPr sz="2000" b="0" i="0">
                <a:solidFill>
                  <a:srgbClr val="333333"/>
                </a:solidFill>
                <a:latin typeface="Calibri"/>
              </a:rPr>
              <a:t>–   La pregunta 4 se responde con codigo Mermaid pegado dentro de la plataforma del curso, que la plataforma renderiza en la misma pantalla, y 2 de esos 14 puntos son literalmente que renderice sin error.</a:t>
            </a:r>
          </a:p>
          <a:p>
            <a:pPr>
              <a:spcAft>
                <a:spcPts val="800"/>
              </a:spcAft>
            </a:pPr>
            <a:r>
              <a:rPr sz="2000" b="0" i="0">
                <a:solidFill>
                  <a:srgbClr val="333333"/>
                </a:solidFill>
                <a:latin typeface="Calibri"/>
              </a:rPr>
              <a:t>–   El boceto en draw.io o en Excalidraw sigue sirviendo, y es el paso 1 del metodo que se proyecta hoy, pero es un borrador de trabajo: no se entrega y no se califica.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Nada impide correr una base de datos en el 9999, pero cambiar la convencion confunde a quien opera.</a:t>
            </a:r>
          </a:p>
          <a:p>
            <a:pPr>
              <a:spcAft>
                <a:spcPts val="800"/>
              </a:spcAft>
            </a:pPr>
            <a:r>
              <a:rPr sz="2000" b="0" i="0">
                <a:solidFill>
                  <a:srgbClr val="333333"/>
                </a:solidFill>
                <a:latin typeface="Calibri"/>
              </a:rPr>
              <a:t>–   Esto no es decorativo: la pregunta 4 da 2 puntos por que cada componente lleve su puerto etiquetado</a:t>
            </a:r>
          </a:p>
          <a:p>
            <a:pPr>
              <a:spcAft>
                <a:spcPts val="800"/>
              </a:spcAft>
            </a:pPr>
            <a:r>
              <a:rPr sz="2000" b="0" i="0">
                <a:solidFill>
                  <a:srgbClr val="333333"/>
                </a:solidFill>
                <a:latin typeface="Calibri"/>
              </a:rPr>
              <a:t>–   Y el diagrama de referencia usa exactamente tres, 443 en el edge, 8080 en la API y 5432 en la base de datos, que son los mismos que el estudiante ya escribio en el EXPOSE de su Dockerfile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que se evalua hoy, y hay que decirla con los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 porque es el actor y no una pieza que el estudiante despliegue</a:t>
            </a:r>
          </a:p>
          <a:p>
            <a:pPr>
              <a:spcAft>
                <a:spcPts val="800"/>
              </a:spcAft>
            </a:pPr>
            <a:r>
              <a:rPr sz="2000" b="0" i="0">
                <a:solidFill>
                  <a:srgbClr val="333333"/>
                </a:solidFill>
                <a:latin typeface="Calibri"/>
              </a:rPr>
              <a:t>–   Y por eso es una de las dos filas sin par de la tabla de la pregunta 6; la API va en la zona PRIVADA, alcanzable solo desde el edge; y los datos van en una tercera zona, la de DATOS, que solo acepta conexiones desde la aplicacion y no tiene salida a internet.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4 puntos de ubicacion de la pregunta 4 se pierden COMPLETOS si la base de datos queda en la zona publica: no es un descuento parcial, es el error que la pregunta esta disenada para detectar.</a:t>
            </a:r>
          </a:p>
          <a:p>
            <a:pPr>
              <a:spcAft>
                <a:spcPts val="800"/>
              </a:spcAft>
            </a:pPr>
            <a:r>
              <a:rPr sz="2000" b="0" i="0">
                <a:solidFill>
                  <a:srgbClr val="333333"/>
                </a:solidFill>
                <a:latin typeface="Calibri"/>
              </a:rPr>
              <a:t>–   Y las tres zonas rotuladas valen otros 4 puntos por si mismas, asi que un diagrama de dos zonas, aunque tenga la base de datos bien puesta, ya empezo perdiendo.</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porque la pregunta 5 admite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Y la justificacion se califica aparte, 2.5 de los 5.5 puntos: cada fila tiene que nombrar la caracteristica del dato.</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a:p>
            <a:pPr>
              <a:spcAft>
                <a:spcPts val="800"/>
              </a:spcAft>
            </a:pPr>
            <a:r>
              <a:rPr sz="2000" b="0" i="0">
                <a:solidFill>
                  <a:srgbClr val="333333"/>
                </a:solidFill>
                <a:latin typeface="Calibri"/>
              </a:rPr>
              <a:t>–   La rubrica lo dice al reves de como el grupo lo espera: suma completo quien lo declare y justifique, y se descuenta a quien agregue un almacen de objetos sin un dato que lo pida.</a:t>
            </a:r>
          </a:p>
          <a:p>
            <a:pPr>
              <a:spcAft>
                <a:spcPts val="800"/>
              </a:spcAft>
            </a:pPr>
            <a:r>
              <a:rPr sz="2000" b="0" i="0">
                <a:solidFill>
                  <a:srgbClr val="333333"/>
                </a:solidFill>
                <a:latin typeface="Calibri"/>
              </a:rPr>
              <a:t>–   Hay que anunciarlo antes del taller, porque si no medio salon inventa un bucket «porque suena a cloud» y pierde puntos por agregar.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La pregunta 6 pide demostrarlo con una tabla de tres columnas cuyos nombres hay que dictar tal cual: «Componente en el C4 Containers», «Componente en el Despliegue» y «Zona».</a:t>
            </a:r>
          </a:p>
          <a:p>
            <a:pPr>
              <a:spcAft>
                <a:spcPts val="800"/>
              </a:spcAft>
            </a:pPr>
            <a:r>
              <a:rPr sz="2000" b="0" i="0">
                <a:solidFill>
                  <a:srgbClr val="333333"/>
                </a:solidFill>
                <a:latin typeface="Calibri"/>
              </a:rPr>
              <a:t>–   Los 5.5 puntos se reparten asi, y conviene decirlo en voz alta: 2 puntos la explicacion de por que los nombres deben coincidir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respuesta esperada es que los dos diagramas son el MISMO sistema visto desde angulos distintos, uno dice que piezas hay y el otro donde se ejecutan</a:t>
            </a:r>
          </a:p>
          <a:p>
            <a:pPr>
              <a:spcAft>
                <a:spcPts val="800"/>
              </a:spcAft>
            </a:pPr>
            <a:r>
              <a:rPr sz="2000" b="0" i="0">
                <a:solidFill>
                  <a:srgbClr val="333333"/>
                </a:solidFill>
                <a:latin typeface="Calibri"/>
              </a:rPr>
              <a:t>–   2.5 puntos la tabla completa, con una fila por componente y su zona; y 1 punto listar los renombres que se aplicaron, o declarar explicitamente que no hubo ninguno, que tambien vale.</a:t>
            </a:r>
          </a:p>
          <a:p>
            <a:pPr>
              <a:spcAft>
                <a:spcPts val="800"/>
              </a:spcAft>
            </a:pPr>
            <a:r>
              <a:rPr sz="2000" b="0" i="0">
                <a:solidFill>
                  <a:srgbClr val="333333"/>
                </a:solidFill>
                <a:latin typeface="Calibri"/>
              </a:rPr>
              <a:t>–   La trampa esta en la palabra completa: se descuenta si la tabla deja fuera un componente que si aparece en alguno de los dos diagramas, asi que hay que instruir el gesto de llenarla con los dos diagramas abiertos al lado y contando cajas.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Todo el bloque se evalua en el Parcial 2 de la Clase 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Ese recorrido, con cada flecha etiquetada con protocolo y puerto y cada caja dentro de su zona, es la estructura que la pregunta 4 califica; lo que se pega en la plataforma es su version en Mermaid, que es la seccion siguiente.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a:p>
            <a:pPr>
              <a:spcAft>
                <a:spcPts val="800"/>
              </a:spcAft>
            </a:pPr>
            <a:r>
              <a:rPr sz="2000" b="0" i="0">
                <a:solidFill>
                  <a:srgbClr val="333333"/>
                </a:solidFill>
                <a:latin typeface="Calibri"/>
              </a:rPr>
              <a:t>–   Con eso el grupo ve que si una pantalla dispara veinte consultas encadenadas el problema es de diseno y no de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del molde existe porque el estudiante puede tener el modelo correcto en la cabeza y perder puntos por sintaxis, y porque 2 de los 14 son que el diagrama renderice.</a:t>
            </a:r>
          </a:p>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y son las que valen 4 puntos; olvidar un end es la causa numero uno de que la plataforma no dibuje nada,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a:p>
            <a:pPr>
              <a:spcAft>
                <a:spcPts val="800"/>
              </a:spcAft>
            </a:pPr>
            <a:r>
              <a:rPr sz="2000" b="0" i="0">
                <a:solidFill>
                  <a:srgbClr val="333333"/>
                </a:solidFill>
                <a:latin typeface="Calibri"/>
              </a:rPr>
              <a:t>–   Es la forma mas segura de cumplir los 2 puntos de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los 2 puntos de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 y ahi se van los 2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si un rotulo lleva parentesis, dos puntos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la pregunta 4 y MIRARLO RENDERIZADO antes de enviar.</a:t>
            </a:r>
          </a:p>
          <a:p>
            <a:pPr>
              <a:spcAft>
                <a:spcPts val="800"/>
              </a:spcAft>
            </a:pPr>
            <a:r>
              <a:rPr sz="2000" b="0" i="0">
                <a:solidFill>
                  <a:srgbClr val="333333"/>
                </a:solidFill>
                <a:latin typeface="Calibri"/>
              </a:rPr>
              <a:t>–   Si no se dibuja, se corrige ahi mismo; nadie califica un codigo que no dibuja.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Es mas: la rubrica DESCUENTA por nombrar subredes o servicios de un proveedor concreto, asi que escribir VPC, el nombre de una zona de disponibilidad o el de un servicio de marca resta en vez de sumar.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subir mi imagen del diagrama en vez del codigo Mermaid?» No para la pregunta 4: lo que se califica es el diagrama renderizado dentro de la plataforma.</a:t>
            </a:r>
          </a:p>
          <a:p>
            <a:pPr>
              <a:spcAft>
                <a:spcPts val="800"/>
              </a:spcAft>
            </a:pPr>
            <a:r>
              <a:rPr sz="2000" b="0" i="0">
                <a:solidFill>
                  <a:srgbClr val="333333"/>
                </a:solidFill>
                <a:latin typeface="Calibri"/>
              </a:rPr>
              <a:t>–   «Mi sistema es pequeno, solo tiene la aplicacion y la base de datos; igual necesito tres zonas?» Si</a:t>
            </a:r>
          </a:p>
          <a:p>
            <a:pPr>
              <a:spcAft>
                <a:spcPts val="800"/>
              </a:spcAft>
            </a:pPr>
            <a:r>
              <a:rPr sz="2000" b="0" i="0">
                <a:solidFill>
                  <a:srgbClr val="333333"/>
                </a:solidFill>
                <a:latin typeface="Calibri"/>
              </a:rPr>
              <a:t>–   Y no es burocracia: las tres zonas son 4 puntos y el sentido de la separacion es justamente que el punto de entrada, la logica y los datos tengan grados de exposicion distintos.</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Los nombres deben coincidir con los del C4 Containers (Clase 4) — mismo sistema, otro ángulo.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la plataforma del curso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Deployment</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Diagrama Deployment en Mermaid dentro de la plataforma del curso (3 zonas + puertos) + tipo de almacenamiento por componente</a:t>
            </a:r>
          </a:p>
          <a:p>
            <a:pPr>
              <a:spcAft>
                <a:spcPts val="800"/>
              </a:spcAft>
            </a:pPr>
            <a:r>
              <a:rPr sz="2000" b="0" i="0">
                <a:solidFill>
                  <a:srgbClr val="333333"/>
                </a:solidFill>
                <a:latin typeface="Calibri"/>
              </a:rPr>
              <a:t>–   Herramienta: </a:t>
            </a:r>
            <a:r>
              <a:rPr sz="2000" b="1" i="0">
                <a:solidFill>
                  <a:srgbClr val="333333"/>
                </a:solidFill>
                <a:latin typeface="Calibri"/>
              </a:rPr>
              <a:t>la plataforma del curso (Mermaid) · boceto en draw.io o Excalidraw</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dibuje primero el boceto del despliegue en Excalidraw o draw.io con las tres zonas (publica, privada y de datos), y despues pidale a una IA que lo traduzca a Mermaid; peguelo en la pregunta 4 y verifique en el diagrama ya renderizado que la base de datos NO quede en la zona publica.</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etiquete en ese mismo diagrama el puerto de cada componente y marque las fronteras de confianza, es decir donde termina lo que usted controla; verifique que no aparezcan nombres de subredes ni de servicios de un proveedor concreto.</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justifique en la pregunta 5 el tipo de almacenamiento de cada componente diciendo que caracteristica del dato lo exige; si su dominio no necesita almacenamiento de objetos, declarelo y justifiquelo en vez de agregarlo.</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complete en la pregunta 6 la tabla de correspondencia entre el C4 Containers y el Despliegue, con una fila por componente y su zona, y liste los renombres que aplico; si no hubo ninguno, digalo explicitamente.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Diagrama Deployment en Mermaid dentro de la plataforma del curso (3 zonas + puertos) + tipo de almacenamiento por componente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Diagrama de despliegue: red, zonas, almacenamiento</a:t>
            </a:r>
          </a:p>
          <a:p>
            <a:pPr algn="ctr">
              <a:spcAft>
                <a:spcPts val="600"/>
              </a:spcAft>
            </a:pPr>
            <a:r>
              <a:rPr sz="1600" b="0" i="0">
                <a:solidFill>
                  <a:srgbClr val="333333"/>
                </a:solidFill>
                <a:latin typeface="Calibri"/>
              </a:rPr>
              <a:t>Evidencia: Diagrama Deployment en Mermaid dentro de la plataforma del curso (3 zonas + puertos) + tipo de almacenamiento por componente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