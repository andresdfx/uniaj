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tener claro el mapa de los tres diagramas del curso, porque el estudiante cree que dibuja lo mismo tres veces.</a:t>
            </a:r>
          </a:p>
          <a:p/>
          <a:p>
            <a:r>
              <a:t>(Sobre la actividad, no se proyecta) Lo que se califica hoy son 25 de los 100 puntos de la actividad del Corte 2, en tres preguntas: 14 puntos el diagrama de despliegue, 5.5 el tipo de almacenamiento de cada componente y 5.5 la tabla de correspondencia con el C4 Containers.</a:t>
            </a:r>
          </a:p>
          <a:p/>
          <a:p>
            <a:r>
              <a:t>(Sobre la actividad, no se proyecta) Y hay un dato que cambia como se dicta la clase: el entregable NO es una imagen.</a:t>
            </a:r>
          </a:p>
          <a:p/>
          <a:p>
            <a:r>
              <a:t>(Sobre la actividad, no se proyecta) La pregunta 4 se responde con codigo Mermaid pegado en la plataforma del curso, que la plataforma renderiza en la misma pantalla, y 2 de esos 14 puntos son literalmente que renderice sin error.</a:t>
            </a:r>
          </a:p>
          <a:p/>
          <a:p>
            <a:r>
              <a:t>(Sobre la actividad, 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etiquetar ese diagrama hacen falta tres conceptos de red que el docente debe definir en una frase.</a:t>
            </a:r>
          </a:p>
          <a:p/>
          <a:p>
            <a:r>
              <a:t>Una direccion IP identifica una maquina dentro de una red.</a:t>
            </a:r>
          </a:p>
          <a:p/>
          <a:p>
            <a:r>
              <a:t>Ahi esta el amarre: cuando en Killercoda se ejecuto el contenedor publicando un puerto, esa linea era la decision de que superficie queda expuesta, tema de la Clase 6, y hoy esa decision se dibuja.</a:t>
            </a:r>
          </a:p>
          <a:p/>
          <a:p>
            <a:r>
              <a:t>(Sobre la actividad, 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privada no lo tiene; solo se alcanza desde dentro, aunque normalmente si puede salir para descargar actualizaciones.</a:t>
            </a:r>
          </a:p>
          <a:p/>
          <a:p>
            <a:r>
              <a:t>Conviene ademas nombrar la frontera de confianza: es la linea donde termina lo que el estudiante controla y empieza lo que no.</a:t>
            </a:r>
          </a:p>
          <a:p/>
          <a:p>
            <a:r>
              <a:t>(Sobre la actividad, no se proyecta) Los 4 puntos de ubicacion de la pregunta 4 se pierden COMPLETOS si la base de datos queda en la zona publica: no es un descuento parcial, es el error que la pregunta esta disenada para detectar.</a:t>
            </a:r>
          </a:p>
          <a:p/>
          <a:p>
            <a:r>
              <a:t>(Sobre la actividad, no se proyecta) Y las tres zonas rotuladas valen otros 4 puntos por si mismas, asi que un diagrama de dos zonas, aunque tenga la base de datos bien puesta, ya empezo perdiendo.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balanceador de carga recibe todas las peticiones y las reparte entre varias instancias iguales del mismo servicio, con algoritmos como round robin o menor numero de conexiones activas.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la pena escribirlas en el tablero y sostenerlas toda la clase.</a:t>
            </a:r>
          </a:p>
          <a:p/>
          <a:p>
            <a:r>
              <a:t>Y cada eleccion se justifica nombrando la caracteristica del dato.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la otra mitad, que es la que sorprende al docente: si el dominio del estudiante no maneja archivos, imagenes ni documentos adjuntos, la respuesta correcta y completa es declarar que NO necesita almacenamiento de objetos y explicar por que.</a:t>
            </a:r>
          </a:p>
          <a:p/>
          <a:p>
            <a:r>
              <a:t>(Sobre la actividad, no se proyecta) La rubrica lo dice al reves de como el grupo lo espera: suma completo quien lo declare y justifique, y se descuenta a quien agregue un almacen de objetos sin un dato que lo pida.</a:t>
            </a:r>
          </a:p>
          <a:p/>
          <a:p>
            <a:r>
              <a:t>(Sobre la actividad, 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Queda la trazabilidad, donde mas puntos se pierden y donde vive una pregunta entera.</a:t>
            </a:r>
          </a:p>
          <a:p/>
          <a:p>
            <a:r>
              <a:t>(Sobre la actividad, 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(Sobre la actividad, no se proyecta) La trampa esta en la palabra completa: se descuenta si la tabla deja fuera un componente que si aparece en alguno de los dos diagramas, asi que hay que instruir el gesto de llenarla con los dos diagramas abiertos al lado y contando cajas.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Ese recorrido, con cada flecha etiquetada con protocolo y puerto y cada caja dentro de su zona, es la estructura que la pregunta 4 califica; lo que se pega en la plataforma es su version en Mermaid, que es la seccion siguiente.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cinco cosas que el docente debe poder explicar sin titubear.</a:t>
            </a:r>
          </a:p>
          <a:p/>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(Sobre la actividad, no se proyecta) La diapositiva del molde existe porque el estudiante puede tener el modelo correcto en la cabeza y perder puntos por sintaxis, y porque 2 de los 14 son que el diagrama renderice.</a:t>
            </a:r>
          </a:p>
          <a:p/>
          <a:p>
            <a:r>
              <a:t>(Sobre la actividad, no se proyecta) Vale la pena senalar la caja de la base de datos y decir «esta forma, dentro de este subgraph, son 4 de los 14 puntos».</a:t>
            </a:r>
          </a:p>
          <a:p/>
          <a:p>
            <a:r>
              <a:t>(Sobre la actividad, 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(Sobre la actividad, no se proyecta) Es mas: la rubrica DESCUENTA por nombrar subredes o servicios de un proveedor concreto, asi que escribir VPC, el nombre de una zona de disponibilidad o el de un servicio de marca resta en vez de sumar.</a:t>
            </a:r>
          </a:p>
          <a:p/>
          <a:p>
            <a:r>
              <a:t>(Sobre la actividad, no se proyecta) «Puedo subir mi imagen del diagrama en vez del codigo Mermaid?» No para la pregunta 4: lo que se califica es el diagrama renderizado dentro de la plataforma.</a:t>
            </a:r>
          </a:p>
          <a:p/>
          <a:p>
            <a:r>
              <a:t>(Sobre la actividad, no se proyecta) «Mi sistema es pequeno, solo tiene la aplicacion y la base de datos; igual necesito tres zonas?» Si, y no es burocracia: las tres zonas son 4 puntos y el sentido de la separacion es justamente que el punto de entrada, la logica y los datos tengan grados de exposicion distintos.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CloudLite.</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 del 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que la nota castiga.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nodo es cualquier lugar de ejecucion: una maquina virtual, un host de contenedores, un servicio gestionado.</a:t>
            </a:r>
          </a:p>
          <a:p>
            <a:pPr>
              <a:spcAft>
                <a:spcPts val="800"/>
              </a:spcAft>
            </a:pPr>
            <a:r>
              <a:rPr sz="2000" b="0" i="0">
                <a:solidFill>
                  <a:srgbClr val="333333"/>
                </a:solidFill>
                <a:latin typeface="Calibri"/>
              </a:rPr>
              <a:t>–   Es el mismo sistema desde un tercer angulo, no un sistema nuevo, y por eso los nombres deben coincidir con los de la Clase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a:p>
            <a:pPr>
              <a:spcAft>
                <a:spcPts val="800"/>
              </a:spcAft>
            </a:pPr>
            <a:r>
              <a:rPr sz="2000" b="0" i="0">
                <a:solidFill>
                  <a:srgbClr val="333333"/>
                </a:solidFill>
                <a:latin typeface="Calibri"/>
              </a:rPr>
              <a:t>–   Nada impide correr una base de datos en el 9999, pero cambiar la convencion confunde a quien opera.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Sobre esa distincion se construye la regla de las zonas, con tres nombres exactos porque son tres zonas y no dos: en la zona PUBLICA van el punto de entrada, el balanceador o proxy inverso</a:t>
            </a:r>
          </a:p>
          <a:p>
            <a:pPr>
              <a:spcAft>
                <a:spcPts val="800"/>
              </a:spcAft>
            </a:pPr>
            <a:r>
              <a:rPr sz="2000" b="0" i="0">
                <a:solidFill>
                  <a:srgbClr val="333333"/>
                </a:solidFill>
                <a:latin typeface="Calibri"/>
              </a:rPr>
              <a:t>–   Y la aplicacion web estatica, que es publica sin que eso sea una fuga porque no lleva secretos dentro; el cliente que llega de internet se dibuja FUERA de las tres zonas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es el actor y no una pieza que el estudiante despliegue; la API va en la zona PRIVADA, alcanzable solo desde el edge; y los datos van en una tercera zona, la de DATOS, que solo acepta conexiones desde la aplicacion y no tiene salida a internet.</a:t>
            </a:r>
          </a:p>
          <a:p>
            <a:pPr>
              <a:spcAft>
                <a:spcPts val="800"/>
              </a:spcAft>
            </a:pPr>
            <a:r>
              <a:rPr sz="2000" b="0" i="0">
                <a:solidFill>
                  <a:srgbClr val="333333"/>
                </a:solidFill>
                <a:latin typeface="Calibri"/>
              </a:rPr>
              <a:t>–   En CloudLite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cloudlite.example,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se usan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CloudLite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a:p>
            <a:pPr>
              <a:spcAft>
                <a:spcPts val="800"/>
              </a:spcAft>
            </a:pPr>
            <a:r>
              <a:rPr sz="2000" b="0" i="0">
                <a:solidFill>
                  <a:srgbClr val="333333"/>
                </a:solidFill>
                <a:latin typeface="Calibri"/>
              </a:rPr>
              <a:t>–   Mantener los contenedores sin estado es la condicion del escalado horizontal de la Clase 13.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Todo el bloque se evalua en el Parcial 2 de la Clase 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CloudLite de punta a punta sobre el diagrama proyectado.</a:t>
            </a:r>
          </a:p>
          <a:p>
            <a:pPr>
              <a:spcAft>
                <a:spcPts val="800"/>
              </a:spcAft>
            </a:pPr>
            <a:r>
              <a:rPr sz="2000" b="0" i="0">
                <a:solidFill>
                  <a:srgbClr val="333333"/>
                </a:solidFill>
                <a:latin typeface="Calibri"/>
              </a:rPr>
              <a:t>–   Un usuario final abre cloudlite.example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a:p>
            <a:pPr>
              <a:spcAft>
                <a:spcPts val="800"/>
              </a:spcAft>
            </a:pPr>
            <a:r>
              <a:rPr sz="2000" b="0" i="0">
                <a:solidFill>
                  <a:srgbClr val="333333"/>
                </a:solidFill>
                <a:latin typeface="Calibri"/>
              </a:rPr>
              <a:t>–   Con eso el grupo ve que si una pantalla dispara veinte consultas encadenadas el problema es de diseno y no de servidor.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olvidar un end es la causa numero uno de que el diagrama no se dibuje,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la forma mas segura de etiquetar los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las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a:t>
            </a:r>
          </a:p>
          <a:p>
            <a:pPr>
              <a:spcAft>
                <a:spcPts val="800"/>
              </a:spcAft>
            </a:pPr>
            <a:r>
              <a:rPr sz="2000" b="0" i="0">
                <a:solidFill>
                  <a:srgbClr val="333333"/>
                </a:solidFill>
                <a:latin typeface="Calibri"/>
              </a:rPr>
              <a:t>–   Y si un rotulo lleva parentesis, dos signos de puntuacion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un visor Mermaid y MIRARLO RENDERIZADO.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Despliegue: donde corre cada cosa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subgraph internet[Internet]</a:t>
            </a:r>
          </a:p>
          <a:p>
            <a:pPr>
              <a:spcAft>
                <a:spcPts val="400"/>
              </a:spcAft>
            </a:pPr>
            <a:r>
              <a:rPr sz="1400" b="0" i="0">
                <a:solidFill>
                  <a:srgbClr val="FFFFFF"/>
                </a:solidFill>
                <a:latin typeface="Calibri"/>
              </a:rPr>
              <a:t>    nav([Navegador del usuario])</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subgraph nube[Proveedor cloud - region &lt;su region&gt;]</a:t>
            </a:r>
          </a:p>
          <a:p>
            <a:pPr>
              <a:spcAft>
                <a:spcPts val="400"/>
              </a:spcAft>
            </a:pPr>
            <a:r>
              <a:rPr sz="1400" b="0" i="0">
                <a:solidFill>
                  <a:srgbClr val="FFFFFF"/>
                </a:solidFill>
                <a:latin typeface="Calibri"/>
              </a:rPr>
              <a:t>    subgraph edge[CDN / Edge]</a:t>
            </a:r>
          </a:p>
          <a:p>
            <a:pPr>
              <a:spcAft>
                <a:spcPts val="400"/>
              </a:spcAft>
            </a:pPr>
            <a:r>
              <a:rPr sz="1400" b="0" i="0">
                <a:solidFill>
                  <a:srgbClr val="FFFFFF"/>
                </a:solidFill>
                <a:latin typeface="Calibri"/>
              </a:rPr>
              <a:t>      estatico[/Archivos estaticos&lt;br/&gt;build de la SPA/]</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app[Servicio de aplicacion]</a:t>
            </a:r>
          </a:p>
          <a:p>
            <a:pPr>
              <a:spcAft>
                <a:spcPts val="400"/>
              </a:spcAft>
            </a:pPr>
            <a:r>
              <a:rPr sz="1400" b="0" i="0">
                <a:solidFill>
                  <a:srgbClr val="FFFFFF"/>
                </a:solidFill>
                <a:latin typeface="Calibri"/>
              </a:rPr>
              <a:t>      api1[Instancia API 1]</a:t>
            </a:r>
          </a:p>
          <a:p>
            <a:pPr>
              <a:spcAft>
                <a:spcPts val="400"/>
              </a:spcAft>
            </a:pPr>
            <a:r>
              <a:rPr sz="1400" b="0" i="0">
                <a:solidFill>
                  <a:srgbClr val="FFFFFF"/>
                </a:solidFill>
                <a:latin typeface="Calibri"/>
              </a:rPr>
              <a:t>      api2[Instancia API 2]</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datos[Servicio gestionado]</a:t>
            </a:r>
          </a:p>
          <a:p>
            <a:pPr>
              <a:spcAft>
                <a:spcPts val="400"/>
              </a:spcAft>
            </a:pPr>
            <a:r>
              <a:rPr sz="1400" b="0" i="0">
                <a:solidFill>
                  <a:srgbClr val="FFFFFF"/>
                </a:solidFill>
                <a:latin typeface="Calibri"/>
              </a:rPr>
              <a:t>      pg[(PostgreSQL&lt;br/&gt;con respaldo diario)]</a:t>
            </a:r>
          </a:p>
          <a:p>
            <a:pPr>
              <a:spcAft>
                <a:spcPts val="400"/>
              </a:spcAft>
            </a:pPr>
            <a:r>
              <a:rPr sz="1400" b="0" i="0">
                <a:solidFill>
                  <a:srgbClr val="FFFFFF"/>
                </a:solidFill>
                <a:latin typeface="Calibri"/>
              </a:rPr>
              <a:t>      obj[(Almacenamiento de objetos&lt;br/&gt;adjuntos)]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nav --&gt; estatico</a:t>
            </a:r>
          </a:p>
          <a:p>
            <a:pPr>
              <a:spcAft>
                <a:spcPts val="400"/>
              </a:spcAft>
            </a:pPr>
            <a:r>
              <a:rPr sz="1400" b="0" i="0">
                <a:solidFill>
                  <a:srgbClr val="FFFFFF"/>
                </a:solidFill>
                <a:latin typeface="Calibri"/>
              </a:rPr>
              <a:t>  nav --&gt; api1 &amp; api2</a:t>
            </a:r>
          </a:p>
          <a:p>
            <a:pPr>
              <a:spcAft>
                <a:spcPts val="400"/>
              </a:spcAft>
            </a:pPr>
            <a:r>
              <a:rPr sz="1400" b="0" i="0">
                <a:solidFill>
                  <a:srgbClr val="FFFFFF"/>
                </a:solidFill>
                <a:latin typeface="Calibri"/>
              </a:rPr>
              <a:t>  api1 &amp; api2 --&gt; pg</a:t>
            </a:r>
          </a:p>
          <a:p>
            <a:pPr>
              <a:spcAft>
                <a:spcPts val="400"/>
              </a:spcAft>
            </a:pPr>
            <a:r>
              <a:rPr sz="1400" b="0" i="0">
                <a:solidFill>
                  <a:srgbClr val="FFFFFF"/>
                </a:solidFill>
                <a:latin typeface="Calibri"/>
              </a:rPr>
              <a:t>  api1 &amp; api2 --&gt; obj</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BLOQUE (disco de la instancia): rapido, se va con la instancia.</a:t>
            </a:r>
          </a:p>
          <a:p>
            <a:pPr>
              <a:spcAft>
                <a:spcPts val="400"/>
              </a:spcAft>
            </a:pPr>
            <a:r>
              <a:rPr sz="1400" b="0" i="0">
                <a:solidFill>
                  <a:srgbClr val="FFFFFF"/>
                </a:solidFill>
                <a:latin typeface="Calibri"/>
              </a:rPr>
              <a:t>%%   -&gt; cache local, archivos temporales. NUNCA el dato que importa.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OBJETOS (S3 y equivalentes): barato, por HTTP, no se monta como disco.</a:t>
            </a:r>
          </a:p>
          <a:p>
            <a:pPr>
              <a:spcAft>
                <a:spcPts val="400"/>
              </a:spcAft>
            </a:pPr>
            <a:r>
              <a:rPr sz="1400" b="0" i="0">
                <a:solidFill>
                  <a:srgbClr val="FFFFFF"/>
                </a:solidFill>
                <a:latin typeface="Calibri"/>
              </a:rPr>
              <a:t>%%   -&gt; adjuntos, imagenes, respaldos, el build de la SPA.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BASE RELACIONAL GESTIONADA: transaccional, con respaldo y replica.</a:t>
            </a:r>
          </a:p>
          <a:p>
            <a:pPr>
              <a:spcAft>
                <a:spcPts val="400"/>
              </a:spcAft>
            </a:pPr>
            <a:r>
              <a:rPr sz="1400" b="0" i="0">
                <a:solidFill>
                  <a:srgbClr val="FFFFFF"/>
                </a:solidFill>
                <a:latin typeface="Calibri"/>
              </a:rPr>
              <a:t>%%   -&gt; lo que necesita integridad y consultas.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pregunta que decide: si esta instancia desaparece ahora mismo,</a:t>
            </a:r>
          </a:p>
          <a:p>
            <a:pPr>
              <a:spcAft>
                <a:spcPts val="400"/>
              </a:spcAft>
            </a:pPr>
            <a:r>
              <a:rPr sz="1400" b="0" i="0">
                <a:solidFill>
                  <a:srgbClr val="FFFFFF"/>
                </a:solidFill>
                <a:latin typeface="Calibri"/>
              </a:rPr>
              <a:t>%% que dato se pierde? Si la respuesta no es «ninguno», esta mal ubicado.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CloudLite)</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Los nombres deben coincidir con los del C4 Containers (Clase 4) — mismo sistema, otro ángulo.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CloudLite&lt;br/&gt;8080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CloudLite.</a:t>
            </a:r>
          </a:p>
          <a:p>
            <a:pPr algn="ctr">
              <a:spcAft>
                <a:spcPts val="600"/>
              </a:spcAft>
            </a:pPr>
            <a:r>
              <a:rPr sz="1600" b="0" i="0">
                <a:solidFill>
                  <a:srgbClr val="333333"/>
                </a:solidFill>
                <a:latin typeface="Calibri"/>
              </a:rPr>
              <a:t>Completar el diagrama de despliegue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