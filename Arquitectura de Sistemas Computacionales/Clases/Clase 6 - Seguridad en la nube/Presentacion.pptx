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Seguridad no es un componente que se agrega al final ni una casilla que se marca poniendo un firewall: es una propiedad del diseno que se gana o se pierde en cada decision arquitectonica.</a:t>
            </a:r>
          </a:p>
          <a:p/>
          <a:p>
            <a:r>
              <a:t>Asegurar un sistema es preservar tres propiedades, la triada CIA: confidencialidad (solo quien debe ver un dato lo ve), integridad (nadie lo modifica sin autorizacion) y disponibilidad (el sistema responde cuando se lo necesita).</a:t>
            </a:r>
          </a:p>
          <a:p/>
          <a:p>
            <a:r>
              <a:t>La justificacion es economica: un control disenado antes de escribir codigo cuesta una reunion; agregado despues de una fuga cuesta reescritura, notificacion a los usuarios y perdida de confianza.</a:t>
            </a:r>
          </a:p>
          <a:p/>
          <a:p>
            <a:r>
              <a:t>Las tres propiedades tienen un ejemplo directo en CloudLite Turnos: confidencialidad es que un cliente no pueda leer el turno de otro; integridad es que nadie mueva la franja de un turno ajeno; disponibilidad es que la reserva siga funcionando en la hora pico.</a:t>
            </a:r>
          </a:p>
          <a:p/>
          <a:p>
            <a:r>
              <a:t>NOTAS:</a:t>
            </a:r>
          </a:p>
          <a:p/>
          <a:p>
            <a:r>
              <a:t>Casi todos los incidentes reales ocurren del lado del cliente.</a:t>
            </a:r>
          </a:p>
          <a:p/>
          <a:p>
            <a:r>
              <a:t>Cada amenaza que se modele despues niega al menos una de las tres.</a:t>
            </a:r>
          </a:p>
          <a:p/>
          <a:p>
            <a:r>
              <a:t>(No se proyecta) La primera pregunta del estudiante sera «no es el proveedor de nube el que ya se encarga de la seguridad?», y la respuesta sale del modelo de responsabilidad compartida de la Clase 2: el proveedor asegura la nube (hardware, hipervisor, red fisica) y quien construye CloudLite asegura lo que pone DENTRO de ella (identidades, permisos, configuracion, codigo y datos).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Modelar amenazas es responder en orden cuatro preguntas: que estamos construyendo, que puede salir mal, que hacemos al respecto y si lo hicimos bien.</a:t>
            </a:r>
          </a:p>
          <a:p/>
          <a:p>
            <a:r>
              <a:t>Un activo es algo que vale la pena proteger: los datos personales de los usuarios de CloudLite, el token de administrador, la disponibilidad de la API.</a:t>
            </a:r>
          </a:p>
          <a:p/>
          <a:p>
            <a:r>
              <a:t>Una amenaza es el evento no deseado: que un tercero lea la tabla de usuarios.</a:t>
            </a:r>
          </a:p>
          <a:p/>
          <a:p>
            <a:r>
              <a:t>Una vulnerabilidad es la debilidad que lo hace posible: la base de datos acepta conexiones desde internet.</a:t>
            </a:r>
          </a:p>
          <a:p/>
          <a:p>
            <a:r>
              <a:t>Un control reduce probabilidad o impacto: mover esa base a una zona privada.</a:t>
            </a:r>
          </a:p>
          <a:p/>
          <a:p>
            <a:r>
              <a:t>Reducir superficie es el control mas barato que existe: lo que no esta expuesto no se puede atacar.</a:t>
            </a:r>
          </a:p>
          <a:p/>
          <a:p>
            <a:r>
              <a:t>(No se proyecta) Hace falta vocabulario preciso, porque el estudiante usa estas palabras como sinonimos.</a:t>
            </a:r>
          </a:p>
          <a:p/>
          <a:p>
            <a:r>
              <a:t>(No se proyecta) Y la superficie de ataque son los puntos por donde alguien externo puede interactuar con el sistema: cada endpoint publico, cada puerto publicado del contenedor, cada formulario, cada dependencia de terceros.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STRIDE es una lista de verificacion de seis categorias, y deja de ser memoria pura cuando se ve que cada una niega una propiedad deseable.</a:t>
            </a:r>
          </a:p>
          <a:p/>
          <a:p>
            <a:r>
              <a:t>Spoofing es hacerse pasar por otro y niega la autenticacion.</a:t>
            </a:r>
          </a:p>
          <a:p/>
          <a:p>
            <a:r>
              <a:t>Repudiation es negar una accion cuando no hay evidencia que lo contradiga, y niega el no repudio, que se consigue con registros de auditoria.</a:t>
            </a:r>
          </a:p>
          <a:p/>
          <a:p>
            <a:r>
              <a:t>Information disclosure expone datos a quien no debe verlos y niega la confidencialidad.</a:t>
            </a:r>
          </a:p>
          <a:p/>
          <a:p>
            <a:r>
              <a:t>NOTAS:</a:t>
            </a:r>
          </a:p>
          <a:p/>
          <a:p>
            <a:r>
              <a:t>Tampering modifica datos sin autorizacion y niega la integridad.</a:t>
            </a:r>
          </a:p>
          <a:p/>
          <a:p>
            <a:r>
              <a:t>Denial of service agota un recurso hasta que el sistema deja de responder y niega la disponibilidad.</a:t>
            </a:r>
          </a:p>
          <a:p/>
          <a:p>
            <a:r>
              <a:t>Elevation of privilege obtiene mas permisos de los asignados y niega la autorizacion.</a:t>
            </a:r>
          </a:p>
          <a:p/>
          <a:p>
            <a:r>
              <a:t>De ahi sale la distincion que mas se confunde: autenticacion es demostrar quien eres, autorizacion es determinar que puedes hacer una vez identificado.</a:t>
            </a:r>
          </a:p>
          <a:p/>
          <a:p>
            <a:r>
              <a:t>Un sistema puede autenticar perfectamente y seguir siendo inseguro si despues no verifica permisos.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Credenciales en repo · APIs abiertas · datos PII sin cifrado en tránsito.</a:t>
            </a:r>
          </a:p>
          <a:p/>
          <a:p>
            <a:r>
              <a:t>STRIDE-lite: Spoofing, Tampering, Repudiation, Info disclosure, DoS, Elevation.</a:t>
            </a:r>
          </a:p>
          <a:p/>
          <a:p>
            <a:r>
              <a:t>Elijan 5 amenazas del dominio, no genéricas de Internet.</a:t>
            </a:r>
          </a:p>
          <a:p/>
          <a:p>
            <a:r>
              <a:t>Una amenaza bien escrita: actor o dato concreto + el camino por el que ocurre. Sin esas dos partes es una categoría, no una amenaza.</a:t>
            </a:r>
          </a:p>
          <a:p/>
          <a:p>
            <a:r>
              <a:t>«Fuga de información» es una categoría. «Un cliente lee el turno de otro porque `GET /turnos/17` no valida a quién pertenece» sí es una amenaza.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Identidad: autenticacion con token y autorizacion por rol con minimo privilegio, que se abre aparte.</a:t>
            </a:r>
          </a:p>
          <a:p/>
          <a:p>
            <a:r>
              <a:t>Aplicacion: validar toda entrada en el servidor y limitar la tasa de peticiones.</a:t>
            </a:r>
          </a:p>
          <a:p/>
          <a:p>
            <a:r>
              <a:t>El cliente esta bajo control del atacante: cualquiera llama la API con curl y se salta el formulario, asi que la validacion del navegador es experiencia de usuario y la del servidor es seguridad.</a:t>
            </a:r>
          </a:p>
          <a:p/>
          <a:p>
            <a:r>
              <a:t>El limite de tasa, del orden de decenas o cientos de peticiones por minuto por identidad o por IP, mitiga la denegacion de servicio y los intentos de adivinar contrasenas; el numero exacto es decision de diseno, no estandar.</a:t>
            </a:r>
          </a:p>
          <a:p/>
          <a:p>
            <a:r>
              <a:t>(No se proyecta) Los controles que el estudiante puede citar sin pagar nada se ordenan en tres familias.</a:t>
            </a:r>
          </a:p>
          <a:p/>
          <a:p>
            <a:r>
              <a:t>(No se proyecta) Red: publicar solo el punto de entrada y dejar la base de datos sin acceso desde internet, que es el diagrama de la Clase 7.</a:t>
            </a:r>
          </a:p>
          <a:p/>
          <a:p>
            <a:r>
              <a:t>(No se proyecta) Aparece la segunda pregunta previsible: «si ya valido en el formulario, para que validar otra vez en la API?».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Identidad: autenticación con token · autorización por rol · menor privilegio.</a:t>
            </a:r>
          </a:p>
          <a:p/>
          <a:p>
            <a:r>
              <a:t>Red: publicar solo el punto de entrada; la base de datos sin acceso desde internet.</a:t>
            </a:r>
          </a:p>
          <a:p/>
          <a:p>
            <a:r>
              <a:t>Aplicación: validar en el servidor (el formulario no cuenta) y limitar la tasa.</a:t>
            </a:r>
          </a:p>
          <a:p/>
          <a:p>
            <a:r>
              <a:t>Secretos: en los `secrets` del repositorio, inyectados como variable de entorno.</a:t>
            </a:r>
          </a:p>
          <a:p/>
          <a:p>
            <a:r>
              <a:t>Los dos más delicados se abren en las siguientes dos diapositivas.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Menor privilegio tiene dos mitades y las dos importan: no es una definicion sino una RESTA: se nombra un componente concreto y se dice que deja de poder hacer al aplicarlo.</a:t>
            </a:r>
          </a:p>
          <a:p/>
          <a:p>
            <a:r>
              <a:t>Ese rol no puede borrar filas, no puede alterar la estructura y no puede leer ningun otro esquema de la misma instancia.</a:t>
            </a:r>
          </a:p>
          <a:p/>
          <a:p>
            <a:r>
              <a:t>Esto importa porque el privilegio se hereda: si manana aparece una inyeccion de SQL en la API, el atacante trabaja con los permisos de ese rol y no con los del duenio de la base</a:t>
            </a:r>
          </a:p>
          <a:p/>
          <a:p>
            <a:r>
              <a:t>De modo que puede hacer dano pero no puede borrar el rastro de haberlo hecho ni tumbar el esquema completo.</a:t>
            </a:r>
          </a:p>
          <a:p/>
          <a:p>
            <a:r>
              <a:t>El mismo principio aplica fuera de la base de datos: el token del pipeline de CI es solo de lectura sobre el repositorio que construye, y la llave del servicio de correo solo puede enviar mensajes, no administrar la cuenta.</a:t>
            </a:r>
          </a:p>
          <a:p/>
          <a:p>
            <a:r>
              <a:t>Un error comun es reutilizar una sola credencial de administrador en todos los componentes: es comodo y convierte cualquier fuga en una fuga total.</a:t>
            </a:r>
          </a:p>
          <a:p/>
          <a:p>
            <a:r>
              <a:t>En PostgreSQL esto se escribe con un rol propio y permisos explicitos sobre la tabla: SELECT, INSERT y UPDATE para el rol de la API, sin DELETE y sin ser dueno del esquema.</a:t>
            </a:r>
          </a:p>
          <a:p/>
          <a:p>
            <a:r>
              <a:t>NOTAS:</a:t>
            </a:r>
          </a:p>
          <a:p/>
          <a:p>
            <a:r>
              <a:t>Si la respuesta no tiene un verbo en negativo, no esta aplicado.</a:t>
            </a:r>
          </a:p>
          <a:p/>
          <a:p>
            <a:r>
              <a:t>Menor privilegio no evita el ataque, acota el dano; decirlo asi evita la objecion de «entonces igual me atacan».</a:t>
            </a:r>
          </a:p>
          <a:p/>
          <a:p>
            <a:r>
              <a:t>(No se proyecta) El menor privilegio vale 1.25 puntos de la pregunta 2 y se pierde casi siempre por la misma razon: el estudiante lo define bien y no lo aplica.</a:t>
            </a:r>
          </a:p>
          <a:p/>
          <a:p>
            <a:r>
              <a:t>(No se proyecta) El ejemplo que conviene proyectar es, resuelto sobre el diagrama de turnos que ya se uso en la Clase 4: la API de turnos no se conecta a la base como duena de la base, sino con un rol propio al que se le conceden exactamente las operaciones de lectura, insercion y actualizacion sobre sus tablas.</a:t>
            </a:r>
          </a:p>
          <a:p/>
          <a:p>
            <a:r>
              <a:t>(No se proyecta) Conviene ademas dar la version de la que casi nadie se acuerda: el principio aplica a personas igual que a servicios, y en un proyecto de un semestre el caso mas cercano es que no todo integrante del equipo necesita permiso de administracion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No es una definición, es una resta: se nombra el componente y lo que deja de poder hacer al aplicarlo. Hacen falta las dos mitades.</a:t>
            </a:r>
          </a:p>
          <a:p/>
          <a:p>
            <a:r>
              <a:t>Ejemplo sobre el C4 de la Clase 4: la `API de turnos` no entra a la `Base de turnos` como dueña de la base, sino con un rol propio.</a:t>
            </a:r>
          </a:p>
          <a:p/>
          <a:p>
            <a:r>
              <a:t>Puede: leer, insertar y actualizar sus tablas de turnos.</a:t>
            </a:r>
          </a:p>
          <a:p/>
          <a:p>
            <a:r>
              <a:t>No puede: borrar filas, cambiar la estructura, ni leer otro esquema.</a:t>
            </a:r>
          </a:p>
          <a:p/>
          <a:p>
            <a:r>
              <a:t>Por qué importa: si mañana hay una inyección de SQL, el atacante hereda esos permisos y no los del dueño. Hace daño, pero no borra la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gestion de secretos es el error que mas se repite y el mas facil de verificar.</a:t>
            </a:r>
          </a:p>
          <a:p/>
          <a:p>
            <a:r>
              <a:t>Un secreto es cualquier valor que otorga acceso: contrasena de base de datos, llave de API, token de despliegue.</a:t>
            </a:r>
          </a:p>
          <a:p/>
          <a:p>
            <a:r>
              <a:t>Regla sin excepciones: no va en el codigo, ni en el Dockerfile, ni en el repositorio.</a:t>
            </a:r>
          </a:p>
          <a:p/>
          <a:p>
            <a:r>
              <a:t>Dos razones tecnicas hay que saber explicar.</a:t>
            </a:r>
          </a:p>
          <a:p/>
          <a:p>
            <a:r>
              <a:t>Una imagen de contenedor esta hecha de capas y cualquiera que la tenga puede extraer los archivos de cada capa: borrar el archivo en un paso posterior no lo elimina, solo lo oculta.</a:t>
            </a:r>
          </a:p>
          <a:p/>
          <a:p>
            <a:r>
              <a:t>Es exactamente lo que se proyect: el historial de la imagen lista la capa que fijo la llave, y el borrado posterior aparece como UNA CAPA MAS, no como una eliminacion.</a:t>
            </a:r>
          </a:p>
          <a:p/>
          <a:p>
            <a:r>
              <a:t>Y Git guarda historia: si la llave se subio en un commit y se borro en el siguiente, sigue en el repositorio y en cada clon, y un buscador automatizado la encuentra en minutos.</a:t>
            </a:r>
          </a:p>
          <a:p/>
          <a:p>
            <a:r>
              <a:t>Un secreto filtrado no se arregla borrandolo: se rota, es decir se genera uno nuevo y se invalida el anterior.</a:t>
            </a:r>
          </a:p>
          <a:p/>
          <a:p>
            <a:r>
              <a:t>NOTAS:</a:t>
            </a:r>
          </a:p>
          <a:p/>
          <a:p>
            <a:r>
              <a:t>Con herramientas gratis, el valor real vive en los secretos del repositorio y se inyecta como variable de entorno en ejecucion, versionando solo un archivo de ejemplo con los nombres de las variables.</a:t>
            </a:r>
          </a:p>
          <a:p/>
          <a:p>
            <a:r>
              <a:t>(No se proyecta) Esto se materializa en la Clase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Donde viven: en los secretos del repositorio y en las variables de entorno del servicio en ejecucion</a:t>
            </a:r>
          </a:p>
          <a:p/>
          <a:p>
            <a:r>
              <a:t>En local, en un archivo de entorno que esta en el.gitignore Y en el.dockerignore, del que se versiona solo una copia de ejemplo con los NOMBRES de las variables y ningun valor.</a:t>
            </a:r>
          </a:p>
          <a:p/>
          <a:p>
            <a:r>
              <a:t>Quien los rota: un responsable con rol, escrito en el README.</a:t>
            </a:r>
          </a:p>
          <a:p/>
          <a:p>
            <a:r>
              <a:t>«Se rotan automaticamente» no responde la pregunta, porque alguien tiene que responder por que la rotacion ocurra aunque la ejecucion sea automatica</a:t>
            </a:r>
          </a:p>
          <a:p/>
          <a:p>
            <a:r>
              <a:t>Si el proyecto es individual el responsable es el mismo estudiante como duenio del repositorio, y eso es una respuesta correcta.</a:t>
            </a:r>
          </a:p>
          <a:p/>
          <a:p>
            <a:r>
              <a:t>Con que frecuencia: un numero o un evento del calendario.</a:t>
            </a:r>
          </a:p>
          <a:p/>
          <a:p>
            <a:r>
              <a:t>En un proyecto de un semestre lo defendible es rotar al cierre de cada corte y en la entrega final, mas una rotacion inmediata si el secreto aparece donde no debia.</a:t>
            </a:r>
          </a:p>
          <a:p/>
          <a:p>
            <a:r>
              <a:t>«Periodicamente» no es una frecuencia.</a:t>
            </a:r>
          </a:p>
          <a:p/>
          <a:p>
            <a:r>
              <a:t>Que esta prohibido: el Dockerfile, el README, el YAML en claro, y tambien imprimir el secreto en el registro del pipeline «para verificar que llego»</a:t>
            </a:r>
          </a:p>
          <a:p/>
          <a:p>
            <a:r>
              <a:t>Que es la forma mas comun de filtrar una clave y se hace con buena intencion; la alternativa es verificar la longitud del valor, no el valor.</a:t>
            </a:r>
          </a:p>
          <a:p/>
          <a:p>
            <a:r>
              <a:t>Y el cierre, que es el criterio que mas se falla: ante una filtracion el primer paso es ROTAR la credencial, no borrar el commit.</a:t>
            </a:r>
          </a:p>
          <a:p/>
          <a:p>
            <a:r>
              <a:t>El orden hay que justificarlo y no solo enunciarlo: el historial ya salio del equipo y esta en cada clon, asi que limpiar el repositorio no invalida la llave; lo unico que la invalida es generar una nueva.</a:t>
            </a:r>
          </a:p>
          <a:p/>
          <a:p>
            <a:r>
              <a:t>Limpiar el historial es el segundo paso, y sirve para que la llave vieja no quede a la vista, no para desactivarla.</a:t>
            </a:r>
          </a:p>
          <a:p/>
          <a:p>
            <a:r>
              <a:t>(No se proyecta) La politica de secretos vale 7.5 puntos repartidos en cuatro respuestas de 1.5 mas el procedimiento ante filtracion, tambien de 1.5.</a:t>
            </a:r>
          </a:p>
          <a:p/>
          <a:p>
            <a:r>
              <a:t>(No se proyecta) Conviene recorrer renglon por renglon, porque el estudiante que solo escucho «no los pongas en el Dockerfile» responde una de las cinco y pierde las otras cuatro.</a:t>
            </a:r>
          </a:p>
          <a:p/>
          <a:p>
            <a:r>
              <a:t>(No se proyecta) Esa distincion entre el nombre de un secreto, que es publico, y su valor, que no lo es, es la senal de que el estudiante entendio el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Amenaza de spoofing: alguien copia ese token de un archivo de registro y actua como ese usuario.</a:t>
            </a:r>
          </a:p>
          <a:p/>
          <a:p>
            <a:r>
              <a:t>Controles: HTTPS en todo el trayecto, el token en el encabezado de autorizacion y nunca en la URL, y vida corta.</a:t>
            </a:r>
          </a:p>
          <a:p/>
          <a:p>
            <a:r>
              <a:t>La convencion de industria es un token de acceso de 15 a 60 minutos con un refresco de dias; no es regla dura, es un balance entre comodidad y ventana de dano.</a:t>
            </a:r>
          </a:p>
          <a:p/>
          <a:p>
            <a:r>
              <a:t>Segunda fila, tampering: un usuario ya autenticado invoca el endpoint que cambia el estado de un registro que no le pertenece.</a:t>
            </a:r>
          </a:p>
          <a:p/>
          <a:p>
            <a:r>
              <a:t>El control no es autenticacion, que ya paso, sino autorizacion a nivel de objeto: antes de escribir, el servidor verifica que el registro pertenezca a quien lo pide.</a:t>
            </a:r>
          </a:p>
          <a:p/>
          <a:p>
            <a:r>
              <a:t>NOTAS:</a:t>
            </a:r>
          </a:p>
          <a:p/>
          <a:p>
            <a:r>
              <a:t>Primer ejemplo concreto.</a:t>
            </a:r>
          </a:p>
          <a:p/>
          <a:p>
            <a:r>
              <a:t>En CloudLite el usuario final se autentica contra la API y recibe un token, una cadena firmada que acompana cada peticion posterior para no volver a pedir la contrasena.</a:t>
            </a:r>
          </a:p>
          <a:p/>
          <a:p>
            <a:r>
              <a:t>(No se proyecta) Evidencia: la caja Auth del C4 Containers de la Clase 4 y la flecha etiquetada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Amenaza → control → dónde se ve, en el diagrama que ya tienen.</a:t>
            </a:r>
          </a:p>
          <a:p/>
          <a:p>
            <a:r>
              <a:t>Ej.: llaman la API sin autenticar → token verificado → flecha «App web → API».</a:t>
            </a:r>
          </a:p>
          <a:p/>
          <a:p>
            <a:r>
              <a:t>Ej.: la llave del correo está escrita en el Dockerfile → secreto en variable de entorno → flecha «API → Worker de avisos».</a:t>
            </a:r>
          </a:p>
          <a:p/>
          <a:p>
            <a:r>
              <a:t>Ej.: un script pide `GET /turnos` mil veces por minuto → límite de tasa → caja «App web» (punto de entrada).</a:t>
            </a:r>
          </a:p>
          <a:p/>
          <a:p>
            <a:r>
              <a:t>Cada fila nombra un actor o dato concreto, un control verificable y un lugar del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CloudLite guarda datos personales, lo que se llama PII: informacion que identifica a una persona (nombre, correo, telefono, documento).</a:t>
            </a:r>
          </a:p>
          <a:p/>
          <a:p>
            <a:r>
              <a:t>Tres amenazas de information disclosure aparecen casi siempre.</a:t>
            </a:r>
          </a:p>
          <a:p/>
          <a:p>
            <a:r>
              <a:t>El mensaje de error que revela informacion: «ese correo no existe» permite enumerar cuentas validas, mientras «credenciales invalidas» no dice nada.</a:t>
            </a:r>
          </a:p>
          <a:p/>
          <a:p>
            <a:r>
              <a:t>Y el dato en reposo sin proteger: las contrasenas no se guardan, se guarda su hash con una funcion lenta a proposito, como bcrypt o Argon2, para que probar millones de combinaciones sea costoso.</a:t>
            </a:r>
          </a:p>
          <a:p/>
          <a:p>
            <a:r>
              <a:t>Hay que separar cifrado en transito (TLS, protege el dato mientras viaja) de cifrado en reposo (protege el archivo si alguien obtiene una copia): el informe debe decir cual aplica donde.</a:t>
            </a:r>
          </a:p>
          <a:p/>
          <a:p>
            <a:r>
              <a:t>NOTAS:</a:t>
            </a:r>
          </a:p>
          <a:p/>
          <a:p>
            <a:r>
              <a:t>Segundo ejemplo concreto.</a:t>
            </a:r>
          </a:p>
          <a:p/>
          <a:p>
            <a:r>
              <a:t>La respuesta que devuelve mas de lo necesario: el endpoint de perfil serializa la fila completa e incluye el hash de la contrasena o el correo de otros usuarios; el control es declarar que campos salen.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Cada amenaza se registra en TRES columnas,: amenaza, control y «donde se ve (caja o flecha)».</a:t>
            </a:r>
          </a:p>
          <a:p/>
          <a:p>
            <a:r>
              <a:t>Un nombre de archivo no cuenta, aunque el archivo exista y aunque sea el archivo correcto: «.dockerignore» o «el contrato del endpoint» no son piezas del diagrama, y por eso no cierran la fila.</a:t>
            </a:r>
          </a:p>
          <a:p/>
          <a:p>
            <a:r>
              <a:t>La idea de fondo es que un control es verificable cuando otra persona puede senalar la pieza y decir si el control esta o no esta, sin discutir: «usamos buenas practicas» no se puede senalar</a:t>
            </a:r>
          </a:p>
          <a:p/>
          <a:p>
            <a:r>
              <a:t>Cinco bien desarrolladas valen mas que veinte genericas copiadas de internet: importa la especificidad, no la cantidad.</a:t>
            </a:r>
          </a:p>
          <a:p/>
          <a:p>
            <a:r>
              <a:t>NOTAS:</a:t>
            </a:r>
          </a:p>
          <a:p/>
          <a:p>
            <a:r>
              <a:t>La tercera es la que se responde mal: solo admite el nombre de una CAJA o de una FLECHA del C4 Containers o del Despliegue, escrito igual que en el diagrama.</a:t>
            </a:r>
          </a:p>
          <a:p/>
          <a:p>
            <a:r>
              <a:t>«la flecha App web -&gt; API de turnos lleva HTTPS y el identificador se toma del token» si.</a:t>
            </a:r>
          </a:p>
          <a:p/>
          <a:p>
            <a:r>
              <a:t>PREGUNTAS FRECUENTES DEL GRUPO</a:t>
            </a:r>
          </a:p>
          <a:p/>
          <a:p>
            <a:r>
              <a:t>La forma correcta es nombrar el rol, el duenio del repositorio, y dejarlo en el README para que la politica siga en pie cuando el proyecto pase a dos manos.</a:t>
            </a:r>
          </a:p>
          <a:p/>
          <a:p>
            <a:r>
              <a:t>«Cada cuanto es cada cuanto?» Hace falta un numero o un evento del calendario; en un semestre lo realista es atarlo al cierre de cada corte, mas una rotacion inmediata si el secreto aparece en un registro, en una captura de pantalla o en el chat del grupo.</a:t>
            </a:r>
          </a:p>
          <a:p/>
          <a:p>
            <a:r>
              <a:t>«Y si mi sistema no tiene base de datos propia, sobre que aplico menor privilegio?» Sobre cualquier componente que reciba permisos: la llave del servicio de correo que solo puede enviar y no leer la bandeja</a:t>
            </a:r>
          </a:p>
          <a:p/>
          <a:p>
            <a:r>
              <a:t>El token de despliegue que alcanza un solo repositorio, o el permiso de administracion del repositorio que no necesita todo el equipo.</a:t>
            </a:r>
          </a:p>
          <a:p/>
          <a:p>
            <a:r>
              <a:t>«Puedo repetir una letra de STRIDE?» Si, y suele pasar con la fuga de informacion: dos amenazas de la misma letra son dos amenazas distintas si el camino y el control son distintos.</a:t>
            </a:r>
          </a:p>
          <a:p/>
          <a:p>
            <a:r>
              <a:t>Otra duda comun es si cifrar en transito basta.</a:t>
            </a:r>
          </a:p>
          <a:p/>
          <a:p>
            <a:r>
              <a:t>No basta: HTTPS protege el dato mientras viaja, pero no impide que la API entregue ese dato a quien no debe; la autorizacion es un control distinto.</a:t>
            </a:r>
          </a:p>
          <a:p/>
          <a:p>
            <a:r>
              <a:t>Y una amenaza sin control viable no se borra: se documenta como riesgo aceptado, con su razon.</a:t>
            </a:r>
          </a:p>
          <a:p/>
          <a:p>
            <a:r>
              <a:t>Estas aparecen todos los semestres, y las cuatro se responden con material que ya esta proyectado.</a:t>
            </a:r>
          </a:p>
          <a:p/>
          <a:p>
            <a:r>
              <a:t>(No se proyecta) Tercera pregunta previsible: «cuantas amenazas hay que poner?».</a:t>
            </a:r>
          </a:p>
          <a:p/>
          <a:p>
            <a:r>
              <a:t>(No se proyecta) La Clase 5 cerro con el Parcial 1 el bloque de arquitectura y esta clase abre el de operacion.</a:t>
            </a:r>
          </a:p>
          <a:p/>
          <a:p>
            <a:r>
              <a:t>(No se proyecta) Las fronteras de confianza que hoy se nombran en texto se dibujan como zonas publica, privada y de datos en la Clase 7; la politica de secretos se ejecuta en el pipeline de la Clase 8, donde la denegacion de servicio se vuelve una senal medible; y todo el bloque se evalua en el Parcial 2 de la Clase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Seguridad en la nube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Amenazas y controles → sección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Conceptos del tema, ejemplos resueltos sobre la app y cierre conceptual.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0–10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Encuadre del tema y objetivos de la clase.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10–70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Conceptos del tema, uno por lámina, con ejemplos sobre la app.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70–100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Ejemplos resueltos y demostración sobre el tema.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100–115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Práctica (opcional, guía en la carpeta de la clase).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115–120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Preguntas y cierre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Aplicar un modelo de amenazas simple al dominio.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Mapear controles (authn/z, secretos, superficie de red) sin cloud de pago.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Dejar la sección Seguridad del informe lista en borrador.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Seguridad como propiedad del diseno: la triada 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iada-ci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iada-ci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iada-ci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triada-cia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Seguridad no es un componente que se agrega al final ni una casilla que se marca poniendo un firewall: es una propiedad del diseno que se gana o se…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justificacion es economica: un control disenado antes de escribir codigo cuesta una reunion;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Modelar amenazas: las cuatro preguntas y el vocabulario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atro-pregunt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uatro-pregunt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uatro-pregunt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Modelar amenazas es responder en orden cuatro preguntas: que estamos construyendo, que puede salir mal, que hacemos al respecto y si lo hicimos bien.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activo es algo que vale la pena proteger: los datos personales de los usuarios de la app, el token de administrador, la disponibilidad de la…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amenaza es el evento no deseado: que un tercero lea la tabla de usuarios.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STRIDE: seis categorias, cada una niega una propiedad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id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trid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trid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STRIDE es una lista de verificacion de seis categorias, y deja de ser memoria pura cuando se ve que cada una niega una propiedad deseable.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Spoofing es hacerse pasar por otro y niega la autenticacion.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Repudiation es negar una accion cuando no hay evidencia que lo contradiga, y niega el no repudio, que se consigue con registros de auditoria.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Information disclosure expone datos a quien no debe verlos y niega la confidencialidad.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Amenazas que sí importan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amenaz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Credenciales en repo · APIs abiertas · datos PII sin cifrado en tránsito.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STRIDE-lite: Spoofing, Tampering, Repudiation, Info disclosure, DoS, Elevation.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Elijan 5 amenazas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del dominio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no genéricas de Internet.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amenaza bien escrita: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actor o dato concreto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+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el camino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por el que ocurre. Sin esas dos partes es una categoría, no una amenaza.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controles gratuitos, en tres familias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lidar-en-servido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validar-en-servidor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validar-en-servidor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validar-en-servidor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Identidad: autenticacion con token y autorizacion por rol con minimo privilegio, que se abre aparte.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Aplicacion: validar toda entrada en el servidor y limitar la tasa de peticiones.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cliente esta bajo control del atacante: cualquiera llama la API con curl y se salta el formulario, asi que la validacion del navegador es…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Controles prácticos (gratis)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control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Identidad: autenticación con token · autorización por rol ·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menor privilegio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Red: publicar solo el punto de entrada; la base de datos sin acceso desde internet.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Aplicación: validar en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servidor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(el formulario no cuenta) y limitar la tasa.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Secretos: en los «secrets» del repositorio, inyectados como variable de entorno.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Menor privilegio: la resta que hay que poder nombrar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nor-privilegi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enor-privilegi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enor-privilegi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Menor privilegio tiene dos mitades y las dos importan: no es una definicion sino una RESTA: se nombra un componente concreto y se dice que deja de…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error comun es reutilizar una sola credencial de administrador en todos los componentes: es comodo y convierte cualquier fuga en una fuga total.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Menor privilegio: qué deja de poder hacer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privilegio-res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es una definición, es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resta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se nombra el componente y lo 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deja de poder hacer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al aplicarlo. Hacen falta las dos mitades.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sobre el C4 de la Clase 4: la «API de turnos» no entra a la «Base de turnos» como dueña de la base, sino con un rol propio.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Puede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leer, insertar y actualizar sus tablas de turnos.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puede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borrar filas, cambiar la estructura, ni leer otro esquema.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Gestion de secretos: el error mas repetido y el mas facil de verificar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reto-en-cap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creto-en-cap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creto-en-cap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gestion de secretos es el error que mas se repite y el mas facil de verificar.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secreto es cualquier valor que otorga acceso: contrasena de base de datos, llave de API, token de despliegue.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Regla sin excepciones: no va en el codigo, ni en el Dockerfile, ni en el repositorio.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secreto en la imagen: por qué borrarlo no sirve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66058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0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0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# Dockerfile: el anti-patron</a:t>
            </a:r>
          </a:p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# la llave queda escrita en una capa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ENV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CORREO_API_KEY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=</a:t>
            </a:r>
            <a:r>
              <a:rPr sz="1700" i="0" b="0">
                <a:solidFill>
                  <a:srgbClr val="CE9178"/>
                </a:solidFill>
                <a:latin typeface="Consolas"/>
              </a:rPr>
              <a:t>"sk_live_9f3a...c21"</a:t>
            </a:r>
          </a:p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# este rm NO la borra: agrega otra capa encima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RUN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-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f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/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/.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env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$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docker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history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--format '{{.CreatedBy}} · {{.Size}}' turnos-api:0.1.0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RUN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/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bin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/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sh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-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-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f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/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/.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env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1" b="0">
                <a:solidFill>
                  <a:srgbClr val="6A9955"/>
                </a:solidFill>
                <a:latin typeface="Consolas"/>
              </a:rPr>
              <a:t># buildkit · 0B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ENV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CORREO_API_KEY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=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sk_live_9f3a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...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c21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· 0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B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# La capa de abajo sigue ahi: el rm de la de arriba no la elimina.</a:t>
            </a:r>
          </a:p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# Cualquiera que tenga la imagen lee la llave con este mismo comando.</a:t>
            </a:r>
          </a:p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# Lo mismo con Git: el commit borrado sigue en el historial y en cada clon.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Por eso el primer paso ante una filtración es </a:t>
            </a:r>
            <a:r>
              <a:rPr sz="1300" b="1" i="1">
                <a:solidFill>
                  <a:srgbClr val="666666"/>
                </a:solidFill>
                <a:latin typeface="Calibri"/>
              </a:rPr>
              <a:t>rotar</a:t>
            </a:r>
            <a:r>
              <a:rPr sz="1300" b="0" i="1">
                <a:solidFill>
                  <a:srgbClr val="666666"/>
                </a:solidFill>
                <a:latin typeface="Calibri"/>
              </a:rPr>
              <a:t> la credencial, no borrar el commit.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politica en cuatro respuestas: quien rota, cada cuanto y que se hace ante una filtracion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litica-cuatro-respuest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olitica-cuatro-respuest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Dónde viven: en los secretos del repositorio y en variables de entorno; en local, en un .env ignorado por Git y por Docker.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Quién los rota: un responsable con rol, escrito en el README.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cuánto: un número o un evento, por ejemplo al cierre de cada corte.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Ante una filtración, primero se rota la credencial; limpiar el historial va después.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politica de secretos, en comandos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313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3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3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 1. lo que NUNCA entra al repositorio ni a la imagen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$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cat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.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gitignore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.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dockerignore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env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*.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pem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env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node_modules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 2. el ejemplo SI entra: los NOMBRES de las variables, ningun valor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$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cat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.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env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example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DATABASE_URL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=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JWT_SECRET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=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 3. un secreto que ya se subio sigue en el historial aunque se borre: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$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git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log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--all --oneline -- .env</a:t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    por eso el primer paso es ROTARLO; limpiar el historial va despues.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Política de secretos: las cuatro preguntas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16152"/>
          <a:ext cx="1127729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91295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 que se pregunta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Respuesta concreta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1. Dónde viven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En los «secrets» del repositorio y en las variables de entorno del servicio. En local, un «.env» que está en «.gitignore» </a:t>
                      </a:r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y</a:t>
                      </a:r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 en «.dockerignore»; se versiona «.env.example», con los nombres y </a:t>
                      </a:r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ningún</a:t>
                      </a:r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 valor.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2. Quién los rota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Un </a:t>
                      </a:r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responsable con rol</a:t>
                      </a:r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, escrito en el README: el dueño del repositorio. «Se rotan automáticamente» no responde quién; alguien responde por que ocurra.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3. Cada cuánto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Un número o un evento del calendario: </a:t>
                      </a:r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al cierre de cada corte</a:t>
                      </a:r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, y en la entrega final. «Periódicamente» no es una frecuencia.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4. Qué está prohibido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El «Dockerfile», el «README», el YAML en claro — y también imprimir el secreto en el log del pipeline «para verificar que llegó».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Si se filtra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333333"/>
                          </a:solidFill>
                          <a:latin typeface="Calibri"/>
                        </a:rPr>
                        <a:t>Primero rotar</a:t>
                      </a:r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, después limpiar. Borrar el commit no arregla nada: el historial ya salió del equipo y sigue en cada clon.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Un secreto en el Dockerfile queda en el historial de capas de la imagen: «docker history» lo lee aunque una capa posterior borre el archivo.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Primer ejemplo: autenticacion con token en la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ken-vida-cor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oken-vida-cort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oken-vida-cort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Amenaza de spoofing: alguien copia ese token de un archivo de registro y actua como ese usuario.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Controles: HTTPS en todo el trayecto, el token en el encabezado de autorizacion y nunca en la URL, y vida corta.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convencion de industria es un token de acceso de 15 a 60 minutos con un refresco de dias;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Ejercicio guiado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cadena-contro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Amenaza → control → dónde se ve, en el diagrama que ya tienen.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Ej.: llaman la API sin autenticar → token verificado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flecha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«App web → API».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Ej.: la llave del correo está escrita en el Dockerfile → secreto en variable de entorno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flecha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«API → Worker de avisos».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Ej.: un script pide «GET /turnos» mil veces por minuto → límite de tasa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caja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«App web» (punto de entrada).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Una fila por amenaza: ejemplo en la app de turnos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16152"/>
          <a:ext cx="1127729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566160"/>
                <a:gridCol w="3504895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Amenaza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Dónde se ve (caja o flecha)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S ·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Un cliente reserva </a:t>
                      </a:r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a nombre de otro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: «POST /turnos» toma el id del cuerpo de la petición.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El id se toma del token verificado, no del cuerpo. Se prueba mandando un id ajeno y esperando 403.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Flecha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«App web → API de turnos»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T ·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Un cliente </a:t>
                      </a:r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mueve la franja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de un turno ajeno porque la API no revisa de quién 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Validar el rol y la propiedad del turno antes de aceptar el cambio.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Caja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«API de turnos»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I ·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La </a:t>
                      </a:r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llave del servicio de avisos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queda dentro de la imagen del contenedor.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La llave vive en los «secrets» y entra como variable de entorno en ejecución.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Flecha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«API de turnos → Worker de avisos»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D ·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Un script sin autenticar golpea «GET /turnos» mil veces por minuto y agota las conexiones.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Límite de tasa por identidad o por IP en el punto de entrada.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Caja</a:t>
                      </a:r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 «App web» (punto de entrada)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47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Cuatro filas de ejemplo sobre la app de turnos. Una lista genérica de buenas prácticas no es un modelo de amenazas, y dos filas que dicen lo mismo con otras palabras cuentan como una.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Segundo ejemplo: PII y las tres amenazas de identidad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nsaje-que-revel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ensaje-que-revel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ensaje-que-revel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app guarda datos personales, lo que se llama I: informacion que identifica a una persona (nombre, correo, telefono, documento).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Tres amenazas de information disclosure aparecen casi siempre.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mensaje de error que revela informacion: «ese correo no existe» permite enumerar cuentas validas, mientras «credenciales invalidas» no dice nada.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Amenaza, control y donde se ve: la tercera es una caja o una flecha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nde-se-v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donde-se-v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donde-se-v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amenaza se registra en TRES columnas: amenaza, control y «donde se ve (caja o flecha)».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nombre de archivo no cuenta, aunque el archivo exista y aunque sea el archivo correcto: «.dockerignore» o «el contrato del endpoint» no son piezas…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Cinco bien desarrolladas valen mas que veinte genericas copiadas de internet: importa la especificidad, no la cantidad.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6 · cierre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Aplicar un modelo de amenazas simple al dominio.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Mapear controles (authn/z, secretos, superficie de red) sin cloud de pago.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Dejar la sección Seguridad del informe lista en borrador.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Teoría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