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Seguridad en la nube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Amenazas y controles → sección PI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Modelo de amenazas mínimo + controles para CloudLite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Teoría breve · Taller PI · cierre.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Herramientas gratis + navegador · sin AWS/GCP/Oracle Cloud.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Encuadre: hoy avanzamos el PI en… + entregable concreto.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10–40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Teoría Core breve (solo lo necesario para el taller PI).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40–100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Trabajo guiado del PI (demo en vivo + avance individual).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Revisión de evidencias del PI.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Cierre: criterio de éxito + plazo en la fecha que indique el docente.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Aplicar un modelo de amenazas simple al dominio CloudLite.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Mapear controles (authn/z, secretos, superficie de red) sin cloud de pago.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Dejar la sección Seguridad del informe lista en borrador.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Amenazas que sí importan al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Credenciales en repo · APIs abiertas · datos PII sin cifrado en tránsito.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STRIDE-lite: Spoofing, Tampering, Repudiation, Info disclosure, DoS, Elevation.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Elijan 5 amenazas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del dominio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no genéricas de Internet.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forma que se califica: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actor o dato concreto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+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el camino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por el que ocurre. Sin esas dos partes, la amenaza vale la mitad.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«Fuga de información» es una categoría. «Un cliente lee el turno de otro porque «GET /turnos/17» no valida a quién pertenece»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sí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 una amenaza.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Controles prácticos (gratis)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Identidad: autenticación con token · autorización por rol ·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menor privilegio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Red: publicar solo el punto de entrada; la base de datos sin acceso desde internet.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Aplicación: validar en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servidor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(el formulario no cuenta) y limitar la tasa.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Secretos: en los «secrets» del repositorio, inyectados como variable de entorno.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dos que más puntos valen se abren en las siguientes dos diapositivas.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Menor privilegio: qué deja de poder hacer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es una definición, es una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resta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se nombra el componente y lo 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deja de poder hacer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al aplicarlo. La pregunta 2 pide las dos mitades.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Ejemplo sobre el C4 de la Clase 4: la «API de turnos» no entra a la «Base de turnos» como dueña de la base, sino con un rol propio.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Puede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leer, insertar y actualizar sus tablas de turnos.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No puede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borrar filas, cambiar la estructura, ni leer otro esquema.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 qué importa: si mañana hay una inyección de SQL, el atacante hereda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esos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permisos y no los del dueño. Hace daño, pero no borra la evidencia.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Política de secretos: las cuatro preguntas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16152"/>
          <a:ext cx="11277295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8991295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Lo que se pregunta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Respuesta concreta (así se califica)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1. Dónde viven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En los «secrets» del repositorio y en las variables de entorno del servicio. En local, un «.env» que está en «.gitignore» </a:t>
                      </a:r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y</a:t>
                      </a:r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 en «.dockerignore»; se versiona «.env.example», con los nombres y </a:t>
                      </a:r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ningún</a:t>
                      </a:r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 valor.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2. Quién los rota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Un </a:t>
                      </a:r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responsable con rol</a:t>
                      </a:r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, escrito en el README: el dueño del repositorio. «Se rotan automáticamente» no responde quién; alguien responde por que ocurra.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3. Cada cuánto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Un número o un evento del calendario: </a:t>
                      </a:r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al cierre de cada corte</a:t>
                      </a:r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, y en la entrega final. «Periódicamente» no es una frecuencia.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4. Qué está prohibido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El «Dockerfile», el «README», el YAML en claro — y también imprimir el secreto en el log del pipeline «para verificar que llegó».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Si se filtra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Primero rotar</a:t>
                      </a:r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, después limpiar. Borrar el commit no arregla nada: el historial ya salió del equipo y sigue en cada clon.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429768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Un secreto en el Dockerfile queda en el historial de capas de la imagen: «docker history» lo lee aunque una capa posterior borre el archivo.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Ejercicio guiado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Amenaza → control → dónde se ve, en el diagrama que ya tienen.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Ej.: llaman la API sin autenticar → token verificado →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flecha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«App web → API».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tabla que se califica: una fila por amenaza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16152"/>
          <a:ext cx="11277295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3566160"/>
                <a:gridCol w="3504895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Amenaza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Control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Dónde se ve (caja o flecha)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333333"/>
                          </a:solidFill>
                          <a:latin typeface="Calibri"/>
                        </a:rPr>
                        <a:t>S ·</a:t>
                      </a:r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 Un cliente reserva </a:t>
                      </a:r>
                      <a:r>
                        <a:rPr sz="1000" b="1" i="0">
                          <a:solidFill>
                            <a:srgbClr val="333333"/>
                          </a:solidFill>
                          <a:latin typeface="Calibri"/>
                        </a:rPr>
                        <a:t>a nombre de otro</a:t>
                      </a:r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: «POST /turnos» toma el id del cuerpo de la petición.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El id se toma del token verificado, no del cuerpo. Se prueba mandando un id ajeno y esperando 403.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333333"/>
                          </a:solidFill>
                          <a:latin typeface="Calibri"/>
                        </a:rPr>
                        <a:t>Flecha</a:t>
                      </a:r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 «App web → API de turnos»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333333"/>
                          </a:solidFill>
                          <a:latin typeface="Calibri"/>
                        </a:rPr>
                        <a:t>T ·</a:t>
                      </a:r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 Un cliente </a:t>
                      </a:r>
                      <a:r>
                        <a:rPr sz="1000" b="1" i="0">
                          <a:solidFill>
                            <a:srgbClr val="333333"/>
                          </a:solidFill>
                          <a:latin typeface="Calibri"/>
                        </a:rPr>
                        <a:t>mueve la franja</a:t>
                      </a:r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 de un turno ajeno porque la API no revisa de quién es.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Validar el rol y la propiedad del turno antes de aceptar el cambio.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333333"/>
                          </a:solidFill>
                          <a:latin typeface="Calibri"/>
                        </a:rPr>
                        <a:t>Caja</a:t>
                      </a:r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 «API de turnos»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333333"/>
                          </a:solidFill>
                          <a:latin typeface="Calibri"/>
                        </a:rPr>
                        <a:t>I ·</a:t>
                      </a:r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 La </a:t>
                      </a:r>
                      <a:r>
                        <a:rPr sz="1000" b="1" i="0">
                          <a:solidFill>
                            <a:srgbClr val="333333"/>
                          </a:solidFill>
                          <a:latin typeface="Calibri"/>
                        </a:rPr>
                        <a:t>llave del servicio de avisos</a:t>
                      </a:r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 queda dentro de la imagen del contenedor.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La llave vive en los «secrets» y entra como variable de entorno en ejecución.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333333"/>
                          </a:solidFill>
                          <a:latin typeface="Calibri"/>
                        </a:rPr>
                        <a:t>Flecha</a:t>
                      </a:r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 «API de turnos → Worker de avisos»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333333"/>
                          </a:solidFill>
                          <a:latin typeface="Calibri"/>
                        </a:rPr>
                        <a:t>D ·</a:t>
                      </a:r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 Un script sin autenticar golpea «GET /turnos» mil veces por minuto y agota las conexiones.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Límite de tasa por identidad o por IP en el punto de entrada.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333333"/>
                          </a:solidFill>
                          <a:latin typeface="Calibri"/>
                        </a:rPr>
                        <a:t>Caja</a:t>
                      </a:r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 «App web» (punto de entrada)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79476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Cuatro filas de ejemplo; el entregable pide cinco, sobre SU dominio. Una lista genérica de buenas prácticas no es un modelo de amenazas, y dos filas que dicen lo mismo con otras palabras cuentan como una.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Seguridad como propiedad del diseno: la triada CIA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Seguridad no es un componente que se agrega al final ni una casilla que se marca poniendo un firewall: es una propiedad del diseno que se gana o se pierde en cada decision arquitectonica.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Asegurar un sistema es preservar tres propiedades, la triada CIA: confidencialidad (solo quien debe ver un dato lo ve), integridad (nadie lo modifica sin autorizacion) y disponibilidad (el sistema responde cuando se lo necesita).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justificacion es economica: un control disenado antes de escribir codigo cuesta una reunion; agregado despues de una fuga cuesta reescritura, notificacion a los usuarios y perdida de confianza.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Seguridad como propiedad del diseno: la triada CIA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primera pregunta del estudiante sera «no es el proveedor de nube el que ya se encarga de la seguridad?»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la respuesta sale del modelo de responsabilidad compartida de la Clase 2: el proveedor asegura la nube (hardware, hipervisor, red fisica) y quien construye CloudLite asegura lo que pone DENTRO de ella (identidades, permisos, configuracion, codigo y datos).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Modelar amenazas: las cuatro preguntas y el vocabulario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Modelar amenazas es responder en orden cuatro preguntas: que estamos construyendo, que puede salir mal, que hacemos al respecto y si lo hicimos bien.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activo es algo que vale la pena proteger: los datos personales de los usuarios de CloudLite, el token de administrador, la disponibilidad de la API.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amenaza es el evento indeseado: que un tercero lea la tabla de usuarios.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vulnerabilidad es la debilidad que lo hace posible: la base de datos acepta conexiones desde internet.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Modelar amenazas: las cuatro preguntas y el vocabulario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control reduce probabilidad o impacto: mover esa base a una zona privada.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la superficie de ataque son los puntos por donde alguien externo puede interactuar con el sistema: cada endpoint publico, cada puerto publicado del contenedor, cada formulario, cada dependencia de terceros.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Reducir superficie es el control mas barato que existe: lo que no esta expuesto no se puede atacar.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STRIDE: seis categorias, cada una niega una propiedad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STRIDE es una lista de verificacion de seis categorias, y deja de ser memoria pura cuando se ve que cada una niega una propiedad deseable.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Spoofing es hacerse pasar por otro y niega la autenticacion.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Repudiation es negar una accion cuando no hay evidencia que lo contradiga, y niega el no repudio, que se consigue con registros de auditoria.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Information disclosure expone datos a quien no debe verlos y niega la confidencialidad.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controles gratuitos, en tres familias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Identidad: autenticacion con token y autorizacion por rol con minimo privilegio, que se abre aparte porque la rubrica lo califica por separado.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Red: publicar solo el punto de entrada y dejar la base de datos sin acceso desde internet, que es el diagrama de la Clase 7.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Aplicacion: validar toda entrada en el servidor y limitar la tasa de peticiones.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Aparece la segunda pregunta previsible: «si ya valido en el formulario, para que validar otra vez en la API?».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controles gratuitos, en tres familias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cliente esta bajo control del atacante: cualquiera llama la API con curl y se salta el formulario, asi que la validacion del navegador es experiencia de usuario y la del servidor es seguridad.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limite de tasa, del orden de decenas o cientos de peticiones por minuto por identidad o por IP, mitiga la denegacion de servicio y los intentos de adivinar contrasenas; el numero exacto es decision de diseno, no estandar.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Menor privilegio: la resta que hay que poder nombrar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menor privilegio vale 1.25 puntos de la pregunta 2 y se pierde casi siempre por la misma razon: el estudiante lo define bien y no lo aplica.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rubrica pide las dos mitades y las pesa igual, asi que hay que instalar la idea de que menor privilegio no es una definicion sino una RESTA: se nombra un componente concreto y se dice que deja de poder hacer al aplicarlo.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ejemplo que conviene proyectar es, resuelto sobre el diagrama de turnos que ya se uso en la Clase 4: la API de turnos no se conecta a la base como duena de la base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Sino con un rol propio al que se le conceden exactamente las operaciones de lectura, insercion y actualizacion sobre sus tablas.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Menor privilegio: la resta que hay que poder nombrar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Ese rol no puede borrar filas, no puede alterar la estructura y no puede leer ningun otro esquema de la misma instancia.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razon por la que esto importa, y es la frase que hay que decir en voz alta, es que el privilegio se hereda: si manana aparece una inyeccion de SQL en la API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atacante trabaja con los permisos de ese rol y no con los del duenio de la base, de modo que puede hacer dano pero no puede borrar el rastro de haberlo hecho ni tumbar el esquema completo.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Gestion de secretos: el error mas repetido y el mas facil de verificar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gestion de secretos es el error que mas se repite y el mas facil de verificar.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secreto es cualquier valor que otorga acceso: contrasena de base de datos, llave de API, token de despliegue.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Regla sin excepciones: no va en el codigo, ni en el Dockerfile, ni en el repositorio.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Dos razones tecnicas hay que saber explicar.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imagen de contenedor esta hecha de capas y cualquiera que la tenga puede extraer los archivos de cada capa: borrar el archivo en un paso posterior no lo elimina, solo lo oculta.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Gestion de secretos: el error mas repetido y el mas facil de verificar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exactamente lo que se proyect: el historial de la imagen lista la capa que fijo la llave, y el borrado posterior aparece como UNA CAPA MAS, no como una eliminacion.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Git guarda historia: si la llave se subio en un commit y se borro en el siguiente, sigue en el repositorio y en cada clon, y un buscador automatizado la encuentra en minutos.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secreto filtrado no se arregla borrandolo: se rota, es decir se genera uno nuevo y se invalida el anterior.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Esto se materializa en la Clase 8.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politica en cuatro respuestas: quien rota, cada cuanto y que se hace ante una filtracion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politica de secretos vale 7.5 puntos repartidos en cuatro respuestas de 1.5 mas el procedimiento ante filtracion, tambien de 1.5.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Donde viven: en los secretos del repositorio y en las variables de entorno del servicio en ejecucion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local, en un archivo de entorno que esta en el.gitignore Y en el.dockerignore, del que se versiona solo una copia de ejemplo con los NOMBRES de las variables y ningun valor.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Quien los rota: un responsable con rol, escrito en el README.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«Se rotan automaticamente» no responde la pregunta, porque alguien tiene que responder por que la rotacion ocurra aunque la ejecucion sea automatica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politica en cuatro respuestas: quien rota, cada cuanto y que se hace ante una filtracion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el proyecto es individual el responsable es el mismo estudiante como duenio del repositorio, y eso es una respuesta correcta.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 que frecuencia: un numero o un evento del calendario.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un proyecto de un semestre lo defendible es rotar al cierre de cada corte y en la entrega final, mas una rotacion inmediata si el secreto aparece donde no debia.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«Periodicamente» no es una frecuencia.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Que esta prohibido: el Dockerfile, el README, el YAML en claro, y tambien imprimir el secreto en el registro del pipeline «para verificar que llego»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Que es la forma mas comun de filtrar una clave y se hace con buena intencion; la alternativa es verificar la longitud del valor, no el valor.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politica en cuatro respuestas: quien rota, cada cuanto y que se hace ante una filtracion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el cierre, que es el criterio que mas se falla: ante una filtracion el primer paso es ROTAR la credencial, no borrar el commit.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orden hay que justificarlo y no solo enunciarlo: el historial ya salio del equipo y esta en cada clon, asi que limpiar el repositorio no invalida la llave; lo unico que la invalida es generar una nueva.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Limpiar el historial es el segundo paso, y sirve para que la llave vieja no quede a la vista, no para desactivarla.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Primer ejemplo: autenticacion con token en CloudLite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Amenaza de spoofing: alguien copia ese token de un archivo de registro y actua como ese usuario.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Controles: HTTPS en todo el trayecto, el token en el encabezado de autorizacion y nunca en la URL, y vida corta.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convencion de industria es un token de acceso de 15 a 60 minutos con un refresco de dias; no es regla dura, es un balance entre comodidad y ventana de dano.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Evidencia: la caja Auth del C4 Containers de la Clase 4 y la flecha etiquetada HTTPS.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Segunda fila, tampering: un usuario ya autenticado invoca el endpoint que cambia el estado de un registro que no le pertenece.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control no es autenticacion, que ya paso, sino autorizacion a nivel de objeto: antes de escribir, el servidor verifica que el registro pertenezca a quien lo pide.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Segundo ejemplo: PII y las tres amenazas de identidad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CloudLite guarda datos personales, lo que se llama PII: informacion que identifica a una persona (nombre, correo, telefono, documento).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Tres amenazas de information disclosure aparecen casi siempre.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mensaje de error que revela informacion: «ese correo no existe» permite enumerar cuentas validas, mientras «credenciales invalidas» no dice nada.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el dato en reposo sin proteger: las contrasenas no se guardan, se guarda su hash con una funcion lenta a proposito, como bcrypt o Argon2, para que probar millones de combinaciones sea costoso.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Hay que separar cifrado en transito (TLS, protege el dato mientras viaja) de cifrado en reposo (protege el archivo si alguien obtiene una copia): el informe debe decir cual aplica donde.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entregable: tres columnas, y la tercera es una caja o una flecha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entregable de la pregunta 2 exige TRES columnas por fila, y los nombres son: amenaza, control y «donde se ve (caja o flecha)».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nombre de archivo no cuenta, aunque el archivo exista y aunque sea el archivo correcto: «.dockerignore» o «el contrato del endpoint» no son piezas del diagrama, y por eso no cierran la fila.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idea de fondo es que un control es verificable cuando otra persona puede senalar la pieza y decir si el control esta o no esta, sin discutir: «usamos buenas practicas» no se puede senalar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Tercera pregunta previsible: «cuantas amenazas hay que poner?».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entregable: tres columnas, y la tercera es una caja o una flecha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Cinco bien desarrolladas valen mas que veinte genericas copiadas de internet: se califica especificidad, no cantidad.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Clase 5 cerro con el Parcial 1 el bloque de arquitectura y esta clase abre el de operacion.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fronteras de confianza que hoy se nombran en texto se dibujan como zonas publica, privada y de datos en la Clase 7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politica de secretos se ejecuta en el pipeline de la Clase 8, donde la denegacion de servicio se vuelve una senal medible; y todo el bloque se evalua en el Parcial 2 de la Clase 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del grupo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«Si trabajo solo, quien rota los secretos?» El mismo estudiante, y es una respuesta valida: lo que se califica es que exista un responsable escrito, no que sea otra persona.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forma correcta es nombrar el rol, el duenio del repositorio, y dejarlo en el README para que la politica siga en pie cuando el proyecto pase a dos manos.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«Cada cuanto es cada cuanto?» Hace falta un numero o un evento del calendario; en un semestre lo realista es atarlo al cierre de cada corte, mas una rotacion inmediata si el secreto aparece en un registro, en una captura de pantalla o en el chat del grupo.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del grupo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«Y si mi sistema no tiene base de datos propia, sobre que aplico menor privilegio?» Sobre cualquier componente que reciba permisos: la llave del servicio de correo que solo puede enviar y no leer la bandeja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token de despliegue que alcanza un solo repositorio, o el permiso de administracion del repositorio que no necesita todo el equipo.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«Puedo repetir una letra de STRIDE?» Si, y suele pasar con la fuga de informacion: dos amenazas de la misma letra son dos amenazas distintas si el camino y el control son distintos.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politica de secretos, en comandos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1. lo que NUNCA entra al repositorio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$ cat .gitignore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.env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*.pem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credenciales*.json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2. el ejemplo SI entra, para que otro pueda arrancar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$ cat .env.example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DATABASE_URL=postgres://usuario:clave@host:5432/cloudlite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JWT_SECRET=cambiar_en_produccion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3. si un secreto ya se subio, rotarlo NO es opcional: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   el historial de git lo conserva aunque se borre el archivo.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$ git log --all --full-history -- .env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secreto en la imagen: por qué borrarlo no sirve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Dockerfile — el anti-patron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ENV CORREO_API_KEY="sk_live_9f3a...c21"   # &lt;- queda en la capa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RUN rm -f /app/.env                       # &lt;- NO la borra: la tapa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$ docker history --format '{{.ID}} · {{.CreatedBy}} · {{.Size}}' cloudlite-api:0.1.0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a91d0c33 · RUN rm -f /app/.env · 12kB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b7c1e2f4 · ENV CORREO_API_KEY=sk_live_9f3a...c21 · 0B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La capa de abajo sigue ahí: el «rm» de la de arriba no la elimina.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Cualquiera que tenga la imagen lee la llave con este mismo comando.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Lo mismo con Git: el commit borrado sigue en el historial y en cada clon.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Por eso el primer paso ante una filtración es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rotar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la credencial, no borrar el commit.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 · sin cuenta de pago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google_do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3329" y="1847087"/>
            <a:ext cx="1252728" cy="12527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Tabla STRIDE y politica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excalidra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9483" y="1847087"/>
            <a:ext cx="1252728" cy="12527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Excalidraw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Marcar controles en el C4 · opcional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examla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95638" y="1847087"/>
            <a:ext cx="1252728" cy="12527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la plataforma del curso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Donde se entrega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PI CloudLite — entregable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Sección Seguridad PI: 5 amenazas STRIDE-lite + controles + secretos/CI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Navegador · editor de texto del curso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Todo lo que construyan hoy entra al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informe/repo del PI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(no es lab suelto).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Individual por defecto · el docente puede autorizar equipos de 2–3; la entrega en la plataforma del curso siempre es individual.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Manos a la obra (paso a paso)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Paso 1: liste en la pregunta 1 cinco amenazas de SU dominio, cada una nombrando el actor o el dato concreto que pone en riesgo y el camino por el que ocurre; use STRIDE como guia de categorias y verifique que ninguna sea una frase de manual que sirva igual para cualquier sistema.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Paso 2: complete en la pregunta 2 la tabla amenaza-control-donde, senalando para cada control la caja o la flecha concreta del C4 Containers o del Despliegue donde se ve; incluya el principio de menor privilegio aplicado a un componente, diciendo que deja de poder hacer.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Paso 3: escriba en la pregunta 3 la politica de secretos respondiendo donde viven, quien los rota, cada cuanto y que esta prohibido, y cierre con el procedimiento ante una filtracion; verifique que su politica no admita secretos en el Dockerfile, el README ni el YAML en claro.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4.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Paso 4: guarde y continue. Esta actividad es una sola para las Clases 6, 7, 8 y 10 y se entrega completa al cierre del Corte 2: hoy resuelve las preguntas 1 a 3 y las 4 a 12 se resuelven en las clases siguientes.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continuar (PI)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Entregable: Sección Seguridad PI: 5 amenazas STRIDE-lite + controles + secretos/CI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Subir evidencias al paquete CloudLite (Drive/repo) y a la plataforma del curso (la plataforma del curso) en la fecha que indique el docente.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Sin cloud de pago ni instalaciones obligatorias de hipervisores/Docker Desktop.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6 · PI en movimiento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Modelo de amenazas mínimo + controles para CloudLite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Evidencia: Sección Seguridad PI: 5 amenazas STRIDE-lite + controles + secretos/CI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paso = siguiente hito del PI CloudLite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