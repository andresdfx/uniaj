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44" roundtripDataSignature="AMtx7mhNJfdv1nuhmH7i2HSJ8i6VUGRIl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20" Type="http://schemas.openxmlformats.org/officeDocument/2006/relationships/slide" Target="slides/slide15.xml"/><Relationship Id="rId42" Type="http://schemas.openxmlformats.org/officeDocument/2006/relationships/slide" Target="slides/slide37.xml"/><Relationship Id="rId41" Type="http://schemas.openxmlformats.org/officeDocument/2006/relationships/slide" Target="slides/slide36.xml"/><Relationship Id="rId22" Type="http://schemas.openxmlformats.org/officeDocument/2006/relationships/slide" Target="slides/slide17.xml"/><Relationship Id="rId44" Type="http://customschemas.google.com/relationships/presentationmetadata" Target="metadata"/><Relationship Id="rId21" Type="http://schemas.openxmlformats.org/officeDocument/2006/relationships/slide" Target="slides/slide16.xml"/><Relationship Id="rId43" Type="http://schemas.openxmlformats.org/officeDocument/2006/relationships/slide" Target="slides/slide38.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slide" Target="slides/slide24.xml"/><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slide" Target="slides/slide26.xml"/><Relationship Id="rId30" Type="http://schemas.openxmlformats.org/officeDocument/2006/relationships/slide" Target="slides/slide25.xml"/><Relationship Id="rId11" Type="http://schemas.openxmlformats.org/officeDocument/2006/relationships/slide" Target="slides/slide6.xml"/><Relationship Id="rId33" Type="http://schemas.openxmlformats.org/officeDocument/2006/relationships/slide" Target="slides/slide28.xml"/><Relationship Id="rId10" Type="http://schemas.openxmlformats.org/officeDocument/2006/relationships/slide" Target="slides/slide5.xml"/><Relationship Id="rId32" Type="http://schemas.openxmlformats.org/officeDocument/2006/relationships/slide" Target="slides/slide27.xml"/><Relationship Id="rId13" Type="http://schemas.openxmlformats.org/officeDocument/2006/relationships/slide" Target="slides/slide8.xml"/><Relationship Id="rId35" Type="http://schemas.openxmlformats.org/officeDocument/2006/relationships/slide" Target="slides/slide30.xml"/><Relationship Id="rId12" Type="http://schemas.openxmlformats.org/officeDocument/2006/relationships/slide" Target="slides/slide7.xml"/><Relationship Id="rId34" Type="http://schemas.openxmlformats.org/officeDocument/2006/relationships/slide" Target="slides/slide29.xml"/><Relationship Id="rId15" Type="http://schemas.openxmlformats.org/officeDocument/2006/relationships/slide" Target="slides/slide10.xml"/><Relationship Id="rId37" Type="http://schemas.openxmlformats.org/officeDocument/2006/relationships/slide" Target="slides/slide32.xml"/><Relationship Id="rId14" Type="http://schemas.openxmlformats.org/officeDocument/2006/relationships/slide" Target="slides/slide9.xml"/><Relationship Id="rId36" Type="http://schemas.openxmlformats.org/officeDocument/2006/relationships/slide" Target="slides/slide31.xml"/><Relationship Id="rId17" Type="http://schemas.openxmlformats.org/officeDocument/2006/relationships/slide" Target="slides/slide12.xml"/><Relationship Id="rId39" Type="http://schemas.openxmlformats.org/officeDocument/2006/relationships/slide" Target="slides/slide34.xml"/><Relationship Id="rId16" Type="http://schemas.openxmlformats.org/officeDocument/2006/relationships/slide" Target="slides/slide11.xml"/><Relationship Id="rId38" Type="http://schemas.openxmlformats.org/officeDocument/2006/relationships/slide" Target="slides/slide33.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 name="Shape 137"/>
        <p:cNvGrpSpPr/>
        <p:nvPr/>
      </p:nvGrpSpPr>
      <p:grpSpPr>
        <a:xfrm>
          <a:off x="0" y="0"/>
          <a:ext cx="0" cy="0"/>
          <a:chOff x="0" y="0"/>
          <a:chExt cx="0" cy="0"/>
        </a:xfrm>
      </p:grpSpPr>
      <p:sp>
        <p:nvSpPr>
          <p:cNvPr id="138" name="Google Shape;138;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 name="Shape 173"/>
        <p:cNvGrpSpPr/>
        <p:nvPr/>
      </p:nvGrpSpPr>
      <p:grpSpPr>
        <a:xfrm>
          <a:off x="0" y="0"/>
          <a:ext cx="0" cy="0"/>
          <a:chOff x="0" y="0"/>
          <a:chExt cx="0" cy="0"/>
        </a:xfrm>
      </p:grpSpPr>
      <p:sp>
        <p:nvSpPr>
          <p:cNvPr id="174" name="Google Shape;174;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p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1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p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2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p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2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2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p2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2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p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2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p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2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p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0" name="Google Shape;310;p2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7" name="Shape 317"/>
        <p:cNvGrpSpPr/>
        <p:nvPr/>
      </p:nvGrpSpPr>
      <p:grpSpPr>
        <a:xfrm>
          <a:off x="0" y="0"/>
          <a:ext cx="0" cy="0"/>
          <a:chOff x="0" y="0"/>
          <a:chExt cx="0" cy="0"/>
        </a:xfrm>
      </p:grpSpPr>
      <p:sp>
        <p:nvSpPr>
          <p:cNvPr id="318" name="Google Shape;318;p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2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2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1" name="Shape 341"/>
        <p:cNvGrpSpPr/>
        <p:nvPr/>
      </p:nvGrpSpPr>
      <p:grpSpPr>
        <a:xfrm>
          <a:off x="0" y="0"/>
          <a:ext cx="0" cy="0"/>
          <a:chOff x="0" y="0"/>
          <a:chExt cx="0" cy="0"/>
        </a:xfrm>
      </p:grpSpPr>
      <p:sp>
        <p:nvSpPr>
          <p:cNvPr id="342" name="Google Shape;342;p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2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p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3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p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7" name="Google Shape;367;p3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7" name="Shape 387"/>
        <p:cNvGrpSpPr/>
        <p:nvPr/>
      </p:nvGrpSpPr>
      <p:grpSpPr>
        <a:xfrm>
          <a:off x="0" y="0"/>
          <a:ext cx="0" cy="0"/>
          <a:chOff x="0" y="0"/>
          <a:chExt cx="0" cy="0"/>
        </a:xfrm>
      </p:grpSpPr>
      <p:sp>
        <p:nvSpPr>
          <p:cNvPr id="388" name="Google Shape;388;p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3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3" name="Shape 403"/>
        <p:cNvGrpSpPr/>
        <p:nvPr/>
      </p:nvGrpSpPr>
      <p:grpSpPr>
        <a:xfrm>
          <a:off x="0" y="0"/>
          <a:ext cx="0" cy="0"/>
          <a:chOff x="0" y="0"/>
          <a:chExt cx="0" cy="0"/>
        </a:xfrm>
      </p:grpSpPr>
      <p:sp>
        <p:nvSpPr>
          <p:cNvPr id="404" name="Google Shape;404;p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5" name="Google Shape;405;p3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p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8" name="Google Shape;418;p3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p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47" name="Google Shape;447;p3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6" name="Google Shape;456;p3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p3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65" name="Google Shape;465;p3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p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82" name="Google Shape;482;p3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41"/>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41"/>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4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4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4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2"/>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43"/>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43"/>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4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4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4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4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44"/>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44"/>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4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4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4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4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45"/>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45"/>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45"/>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45"/>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4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4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4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4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4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4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4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47"/>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47"/>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47"/>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4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4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4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48"/>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48"/>
          <p:cNvSpPr/>
          <p:nvPr>
            <p:ph idx="2" type="pic"/>
          </p:nvPr>
        </p:nvSpPr>
        <p:spPr>
          <a:xfrm>
            <a:off x="1792288" y="612775"/>
            <a:ext cx="5486400" cy="4114800"/>
          </a:xfrm>
          <a:prstGeom prst="rect">
            <a:avLst/>
          </a:prstGeom>
          <a:noFill/>
          <a:ln>
            <a:noFill/>
          </a:ln>
        </p:spPr>
      </p:sp>
      <p:sp>
        <p:nvSpPr>
          <p:cNvPr id="64" name="Google Shape;64;p48"/>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4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4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4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4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49"/>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4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4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4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50"/>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50"/>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5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5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5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3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39"/>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3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3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3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6.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sp>
        <p:nvSpPr>
          <p:cNvPr id="84" name="Google Shape;84;p1"/>
          <p:cNvSpPr/>
          <p:nvPr/>
        </p:nvSpPr>
        <p:spPr>
          <a:xfrm>
            <a:off x="0" y="0"/>
            <a:ext cx="12191695" cy="274320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 name="Google Shape;85;p1"/>
          <p:cNvSpPr/>
          <p:nvPr/>
        </p:nvSpPr>
        <p:spPr>
          <a:xfrm>
            <a:off x="0" y="2743200"/>
            <a:ext cx="12191695" cy="73152"/>
          </a:xfrm>
          <a:prstGeom prst="rect">
            <a:avLst/>
          </a:prstGeom>
          <a:solidFill>
            <a:srgbClr val="269CC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logo_uniajc_blanco.png" id="86" name="Google Shape;86;p1"/>
          <p:cNvPicPr preferRelativeResize="0"/>
          <p:nvPr/>
        </p:nvPicPr>
        <p:blipFill rotWithShape="1">
          <a:blip r:embed="rId3">
            <a:alphaModFix/>
          </a:blip>
          <a:srcRect b="0" l="0" r="0" t="0"/>
          <a:stretch/>
        </p:blipFill>
        <p:spPr>
          <a:xfrm>
            <a:off x="457200" y="274320"/>
            <a:ext cx="1828800" cy="797105"/>
          </a:xfrm>
          <a:prstGeom prst="rect">
            <a:avLst/>
          </a:prstGeom>
          <a:noFill/>
          <a:ln>
            <a:noFill/>
          </a:ln>
        </p:spPr>
      </p:pic>
      <p:sp>
        <p:nvSpPr>
          <p:cNvPr id="87" name="Google Shape;87;p1"/>
          <p:cNvSpPr txBox="1"/>
          <p:nvPr/>
        </p:nvSpPr>
        <p:spPr>
          <a:xfrm>
            <a:off x="10180015" y="320040"/>
            <a:ext cx="1645920" cy="36576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1" i="0" lang="en-US" sz="1200" u="none" cap="none" strike="noStrike">
                <a:solidFill>
                  <a:srgbClr val="269CCB"/>
                </a:solidFill>
                <a:latin typeface="Calibri"/>
                <a:ea typeface="Calibri"/>
                <a:cs typeface="Calibri"/>
                <a:sym typeface="Calibri"/>
              </a:rPr>
              <a:t>Clase 3</a:t>
            </a:r>
            <a:endParaRPr/>
          </a:p>
        </p:txBody>
      </p:sp>
      <p:sp>
        <p:nvSpPr>
          <p:cNvPr id="88" name="Google Shape;88;p1"/>
          <p:cNvSpPr txBox="1"/>
          <p:nvPr/>
        </p:nvSpPr>
        <p:spPr>
          <a:xfrm>
            <a:off x="457200" y="914400"/>
            <a:ext cx="11277295" cy="13716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2800" u="none" cap="none" strike="noStrike">
                <a:solidFill>
                  <a:srgbClr val="FFFFFF"/>
                </a:solidFill>
                <a:latin typeface="Calibri"/>
                <a:ea typeface="Calibri"/>
                <a:cs typeface="Calibri"/>
                <a:sym typeface="Calibri"/>
              </a:rPr>
              <a:t>Virtualización y contenedores</a:t>
            </a:r>
            <a:endParaRPr/>
          </a:p>
          <a:p>
            <a:pPr indent="0" lvl="0" marL="0" marR="0" rtl="0" algn="ctr">
              <a:spcBef>
                <a:spcPts val="800"/>
              </a:spcBef>
              <a:spcAft>
                <a:spcPts val="0"/>
              </a:spcAft>
              <a:buNone/>
            </a:pPr>
            <a:r>
              <a:rPr b="0" i="0" lang="en-US" sz="1500" u="none" cap="none" strike="noStrike">
                <a:solidFill>
                  <a:srgbClr val="269CCB"/>
                </a:solidFill>
                <a:latin typeface="Calibri"/>
                <a:ea typeface="Calibri"/>
                <a:cs typeface="Calibri"/>
                <a:sym typeface="Calibri"/>
              </a:rPr>
              <a:t>Lab Killercoda → stub CloudLite</a:t>
            </a:r>
            <a:endParaRPr/>
          </a:p>
        </p:txBody>
      </p:sp>
      <p:sp>
        <p:nvSpPr>
          <p:cNvPr id="89" name="Google Shape;89;p1"/>
          <p:cNvSpPr txBox="1"/>
          <p:nvPr/>
        </p:nvSpPr>
        <p:spPr>
          <a:xfrm>
            <a:off x="457200" y="3200400"/>
            <a:ext cx="11277295" cy="25603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500" u="none" cap="none" strike="noStrike">
                <a:solidFill>
                  <a:srgbClr val="333333"/>
                </a:solidFill>
                <a:latin typeface="Calibri"/>
                <a:ea typeface="Calibri"/>
                <a:cs typeface="Calibri"/>
                <a:sym typeface="Calibri"/>
              </a:rPr>
              <a:t>Hoy avanzamos el PI en:</a:t>
            </a:r>
            <a:r>
              <a:rPr b="0" i="0" lang="en-US" sz="1500" u="none" cap="none" strike="noStrike">
                <a:solidFill>
                  <a:srgbClr val="333333"/>
                </a:solidFill>
                <a:latin typeface="Calibri"/>
                <a:ea typeface="Calibri"/>
                <a:cs typeface="Calibri"/>
                <a:sym typeface="Calibri"/>
              </a:rPr>
              <a:t> Contenerizar un stub del servicio principal de CloudLite</a:t>
            </a:r>
            <a:endParaRPr/>
          </a:p>
          <a:p>
            <a:pPr indent="0" lvl="0" marL="0" marR="0" rtl="0" algn="l">
              <a:spcBef>
                <a:spcPts val="800"/>
              </a:spcBef>
              <a:spcAft>
                <a:spcPts val="0"/>
              </a:spcAft>
              <a:buNone/>
            </a:pPr>
            <a:r>
              <a:rPr b="0" i="0" lang="en-US" sz="1500" u="none" cap="none" strike="noStrike">
                <a:solidFill>
                  <a:srgbClr val="333333"/>
                </a:solidFill>
                <a:latin typeface="Calibri"/>
                <a:ea typeface="Calibri"/>
                <a:cs typeface="Calibri"/>
                <a:sym typeface="Calibri"/>
              </a:rPr>
              <a:t>Bloque </a:t>
            </a:r>
            <a:r>
              <a:rPr b="1" i="0" lang="en-US" sz="1500" u="none" cap="none" strike="noStrike">
                <a:solidFill>
                  <a:srgbClr val="333333"/>
                </a:solidFill>
                <a:latin typeface="Calibri"/>
                <a:ea typeface="Calibri"/>
                <a:cs typeface="Calibri"/>
                <a:sym typeface="Calibri"/>
              </a:rPr>
              <a:t>120 min</a:t>
            </a:r>
            <a:r>
              <a:rPr b="0" i="0" lang="en-US" sz="1500" u="none" cap="none" strike="noStrike">
                <a:solidFill>
                  <a:srgbClr val="333333"/>
                </a:solidFill>
                <a:latin typeface="Calibri"/>
                <a:ea typeface="Calibri"/>
                <a:cs typeface="Calibri"/>
                <a:sym typeface="Calibri"/>
              </a:rPr>
              <a:t> · Teoría breve · Taller PI · cierre.</a:t>
            </a:r>
            <a:endParaRPr/>
          </a:p>
          <a:p>
            <a:pPr indent="0" lvl="0" marL="0" marR="0" rtl="0" algn="l">
              <a:spcBef>
                <a:spcPts val="800"/>
              </a:spcBef>
              <a:spcAft>
                <a:spcPts val="0"/>
              </a:spcAft>
              <a:buNone/>
            </a:pPr>
            <a:r>
              <a:rPr b="0" i="0" lang="en-US" sz="1500" u="none" cap="none" strike="noStrike">
                <a:solidFill>
                  <a:srgbClr val="333333"/>
                </a:solidFill>
                <a:latin typeface="Calibri"/>
                <a:ea typeface="Calibri"/>
                <a:cs typeface="Calibri"/>
                <a:sym typeface="Calibri"/>
              </a:rPr>
              <a:t>Herramientas gratis + navegador · sin AWS/GCP/Oracle Cloud.</a:t>
            </a:r>
            <a:endParaRPr/>
          </a:p>
        </p:txBody>
      </p:sp>
      <p:sp>
        <p:nvSpPr>
          <p:cNvPr id="90" name="Google Shape;90;p1"/>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u="none" cap="none" strike="noStrike">
                <a:solidFill>
                  <a:srgbClr val="666666"/>
                </a:solidFill>
                <a:latin typeface="Calibri"/>
                <a:ea typeface="Calibri"/>
                <a:cs typeface="Calibri"/>
                <a:sym typeface="Calibri"/>
              </a:rPr>
              <a:t>1</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4" name="Shape 94"/>
        <p:cNvGrpSpPr/>
        <p:nvPr/>
      </p:nvGrpSpPr>
      <p:grpSpPr>
        <a:xfrm>
          <a:off x="0" y="0"/>
          <a:ext cx="0" cy="0"/>
          <a:chOff x="0" y="0"/>
          <a:chExt cx="0" cy="0"/>
        </a:xfrm>
      </p:grpSpPr>
      <p:sp>
        <p:nvSpPr>
          <p:cNvPr id="95" name="Google Shape;95;p2"/>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 name="Google Shape;96;p2"/>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7" name="Google Shape;97;p2"/>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u="none" cap="none" strike="noStrike">
                <a:solidFill>
                  <a:srgbClr val="FFFFFF"/>
                </a:solidFill>
                <a:latin typeface="Calibri"/>
                <a:ea typeface="Calibri"/>
                <a:cs typeface="Calibri"/>
                <a:sym typeface="Calibri"/>
              </a:rPr>
              <a:t>Agenda de hoy (120 min)</a:t>
            </a:r>
            <a:endParaRPr/>
          </a:p>
        </p:txBody>
      </p:sp>
      <p:sp>
        <p:nvSpPr>
          <p:cNvPr id="98" name="Google Shape;98;p2"/>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a:t>
            </a:r>
            <a:r>
              <a:rPr b="1" i="0" lang="en-US" sz="2000">
                <a:solidFill>
                  <a:srgbClr val="333333"/>
                </a:solidFill>
                <a:latin typeface="Calibri"/>
                <a:ea typeface="Calibri"/>
                <a:cs typeface="Calibri"/>
                <a:sym typeface="Calibri"/>
              </a:rPr>
              <a:t>0–10</a:t>
            </a:r>
            <a:r>
              <a:rPr b="0" i="0" lang="en-US" sz="2000">
                <a:solidFill>
                  <a:srgbClr val="333333"/>
                </a:solidFill>
                <a:latin typeface="Calibri"/>
                <a:ea typeface="Calibri"/>
                <a:cs typeface="Calibri"/>
                <a:sym typeface="Calibri"/>
              </a:rPr>
              <a:t> Encuadre: hoy avanzamos el PI en… + entregable concreto.</a:t>
            </a:r>
            <a:endParaRPr/>
          </a:p>
          <a:p>
            <a:pPr indent="0" lvl="0" marL="0" marR="0" rtl="0" algn="l">
              <a:spcBef>
                <a:spcPts val="800"/>
              </a:spcBef>
              <a:spcAft>
                <a:spcPts val="0"/>
              </a:spcAft>
              <a:buNone/>
            </a:pPr>
            <a:r>
              <a:rPr b="1" i="0" lang="en-US" sz="2000">
                <a:solidFill>
                  <a:srgbClr val="333333"/>
                </a:solidFill>
                <a:latin typeface="Calibri"/>
                <a:ea typeface="Calibri"/>
                <a:cs typeface="Calibri"/>
                <a:sym typeface="Calibri"/>
              </a:rPr>
              <a:t>10–40</a:t>
            </a:r>
            <a:r>
              <a:rPr b="0" i="0" lang="en-US" sz="2000">
                <a:solidFill>
                  <a:srgbClr val="333333"/>
                </a:solidFill>
                <a:latin typeface="Calibri"/>
                <a:ea typeface="Calibri"/>
                <a:cs typeface="Calibri"/>
                <a:sym typeface="Calibri"/>
              </a:rPr>
              <a:t> Teoría Core breve (solo lo necesario para el taller PI).</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a:t>
            </a:r>
            <a:r>
              <a:rPr b="1" i="0" lang="en-US" sz="2000">
                <a:solidFill>
                  <a:srgbClr val="333333"/>
                </a:solidFill>
                <a:latin typeface="Calibri"/>
                <a:ea typeface="Calibri"/>
                <a:cs typeface="Calibri"/>
                <a:sym typeface="Calibri"/>
              </a:rPr>
              <a:t>40–100</a:t>
            </a:r>
            <a:r>
              <a:rPr b="0" i="0" lang="en-US" sz="2000">
                <a:solidFill>
                  <a:srgbClr val="333333"/>
                </a:solidFill>
                <a:latin typeface="Calibri"/>
                <a:ea typeface="Calibri"/>
                <a:cs typeface="Calibri"/>
                <a:sym typeface="Calibri"/>
              </a:rPr>
              <a:t> Trabajo guiado del PI (demo en vivo + avance individual).</a:t>
            </a:r>
            <a:endParaRPr/>
          </a:p>
          <a:p>
            <a:pPr indent="0" lvl="0" marL="0" marR="0" rtl="0" algn="l">
              <a:spcBef>
                <a:spcPts val="800"/>
              </a:spcBef>
              <a:spcAft>
                <a:spcPts val="0"/>
              </a:spcAft>
              <a:buNone/>
            </a:pPr>
            <a:r>
              <a:rPr b="1" i="0" lang="en-US" sz="2000">
                <a:solidFill>
                  <a:srgbClr val="333333"/>
                </a:solidFill>
                <a:latin typeface="Calibri"/>
                <a:ea typeface="Calibri"/>
                <a:cs typeface="Calibri"/>
                <a:sym typeface="Calibri"/>
              </a:rPr>
              <a:t>100–115</a:t>
            </a:r>
            <a:r>
              <a:rPr b="0" i="0" lang="en-US" sz="2000">
                <a:solidFill>
                  <a:srgbClr val="333333"/>
                </a:solidFill>
                <a:latin typeface="Calibri"/>
                <a:ea typeface="Calibri"/>
                <a:cs typeface="Calibri"/>
                <a:sym typeface="Calibri"/>
              </a:rPr>
              <a:t> Revisión de evidencias del PI.</a:t>
            </a:r>
            <a:endParaRPr/>
          </a:p>
          <a:p>
            <a:pPr indent="0" lvl="0" marL="0" marR="0" rtl="0" algn="l">
              <a:spcBef>
                <a:spcPts val="800"/>
              </a:spcBef>
              <a:spcAft>
                <a:spcPts val="0"/>
              </a:spcAft>
              <a:buNone/>
            </a:pPr>
            <a:r>
              <a:rPr b="1" i="0" lang="en-US" sz="2000">
                <a:solidFill>
                  <a:srgbClr val="333333"/>
                </a:solidFill>
                <a:latin typeface="Calibri"/>
                <a:ea typeface="Calibri"/>
                <a:cs typeface="Calibri"/>
                <a:sym typeface="Calibri"/>
              </a:rPr>
              <a:t>115–120</a:t>
            </a:r>
            <a:r>
              <a:rPr b="0" i="0" lang="en-US" sz="2000">
                <a:solidFill>
                  <a:srgbClr val="333333"/>
                </a:solidFill>
                <a:latin typeface="Calibri"/>
                <a:ea typeface="Calibri"/>
                <a:cs typeface="Calibri"/>
                <a:sym typeface="Calibri"/>
              </a:rPr>
              <a:t> Cierre: criterio de éxito + plazo en la fecha que indique el docente.</a:t>
            </a:r>
            <a:endParaRPr/>
          </a:p>
        </p:txBody>
      </p:sp>
      <p:sp>
        <p:nvSpPr>
          <p:cNvPr id="99" name="Google Shape;99;p2"/>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3" name="Shape 103"/>
        <p:cNvGrpSpPr/>
        <p:nvPr/>
      </p:nvGrpSpPr>
      <p:grpSpPr>
        <a:xfrm>
          <a:off x="0" y="0"/>
          <a:ext cx="0" cy="0"/>
          <a:chOff x="0" y="0"/>
          <a:chExt cx="0" cy="0"/>
        </a:xfrm>
      </p:grpSpPr>
      <p:sp>
        <p:nvSpPr>
          <p:cNvPr id="104" name="Google Shape;104;p3"/>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5" name="Google Shape;105;p3"/>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06" name="Google Shape;106;p3"/>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Objetivos de la clase</a:t>
            </a:r>
            <a:endParaRPr/>
          </a:p>
        </p:txBody>
      </p:sp>
      <p:sp>
        <p:nvSpPr>
          <p:cNvPr id="107" name="Google Shape;107;p3"/>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Diferenciar VM vs contenedor y el rol de la imagen.</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Ejecutar un contenedor en lab de </a:t>
            </a:r>
            <a:r>
              <a:rPr b="1" i="0" lang="en-US" sz="2000">
                <a:solidFill>
                  <a:srgbClr val="333333"/>
                </a:solidFill>
                <a:latin typeface="Calibri"/>
                <a:ea typeface="Calibri"/>
                <a:cs typeface="Calibri"/>
                <a:sym typeface="Calibri"/>
              </a:rPr>
              <a:t>navegador</a:t>
            </a:r>
            <a:r>
              <a:rPr b="0" i="0" lang="en-US" sz="2000">
                <a:solidFill>
                  <a:srgbClr val="333333"/>
                </a:solidFill>
                <a:latin typeface="Calibri"/>
                <a:ea typeface="Calibri"/>
                <a:cs typeface="Calibri"/>
                <a:sym typeface="Calibri"/>
              </a:rPr>
              <a:t> (sin Docker Desktop obligatorio).</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Publicar el puerto y verificar el servicio con un </a:t>
            </a:r>
            <a:r>
              <a:rPr b="1" i="0" lang="en-US" sz="2000">
                <a:solidFill>
                  <a:srgbClr val="333333"/>
                </a:solidFill>
                <a:latin typeface="Calibri"/>
                <a:ea typeface="Calibri"/>
                <a:cs typeface="Calibri"/>
                <a:sym typeface="Calibri"/>
              </a:rPr>
              <a:t>endpoint de salud</a:t>
            </a:r>
            <a:r>
              <a:rPr b="0" i="0" lang="en-US" sz="2000">
                <a:solidFill>
                  <a:srgbClr val="333333"/>
                </a:solidFill>
                <a:latin typeface="Calibri"/>
                <a:ea typeface="Calibri"/>
                <a:cs typeface="Calibri"/>
                <a:sym typeface="Calibri"/>
              </a:rPr>
              <a:t> (ruta, código, cuerpo).</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Dejar evidencia PI: Dockerfile del stub CloudLite + bitácora + captura.</a:t>
            </a:r>
            <a:endParaRPr/>
          </a:p>
        </p:txBody>
      </p:sp>
      <p:sp>
        <p:nvSpPr>
          <p:cNvPr id="108" name="Google Shape;108;p3"/>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2" name="Shape 112"/>
        <p:cNvGrpSpPr/>
        <p:nvPr/>
      </p:nvGrpSpPr>
      <p:grpSpPr>
        <a:xfrm>
          <a:off x="0" y="0"/>
          <a:ext cx="0" cy="0"/>
          <a:chOff x="0" y="0"/>
          <a:chExt cx="0" cy="0"/>
        </a:xfrm>
      </p:grpSpPr>
      <p:sp>
        <p:nvSpPr>
          <p:cNvPr id="113" name="Google Shape;113;p4"/>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4" name="Google Shape;114;p4"/>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15" name="Google Shape;115;p4"/>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VM vs contenedor</a:t>
            </a:r>
            <a:endParaRPr/>
          </a:p>
        </p:txBody>
      </p:sp>
      <p:sp>
        <p:nvSpPr>
          <p:cNvPr id="116" name="Google Shape;116;p4"/>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VM: hipervisor + SO completo → aislamiento fuerte, más pesado.</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Contenedor: comparte kernel del host → portable y rápido para demos.</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Imagen = capas inmutables; contenedor = instancia en ejecución.</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CloudLite: contenerizamos al menos </a:t>
            </a:r>
            <a:r>
              <a:rPr b="1" i="0" lang="en-US" sz="2000">
                <a:solidFill>
                  <a:srgbClr val="333333"/>
                </a:solidFill>
                <a:latin typeface="Calibri"/>
                <a:ea typeface="Calibri"/>
                <a:cs typeface="Calibri"/>
                <a:sym typeface="Calibri"/>
              </a:rPr>
              <a:t>un</a:t>
            </a:r>
            <a:r>
              <a:rPr b="0" i="0" lang="en-US" sz="2000">
                <a:solidFill>
                  <a:srgbClr val="333333"/>
                </a:solidFill>
                <a:latin typeface="Calibri"/>
                <a:ea typeface="Calibri"/>
                <a:cs typeface="Calibri"/>
                <a:sym typeface="Calibri"/>
              </a:rPr>
              <a:t> servicio (API stub o front estático).</a:t>
            </a:r>
            <a:endParaRPr/>
          </a:p>
        </p:txBody>
      </p:sp>
      <p:sp>
        <p:nvSpPr>
          <p:cNvPr id="117" name="Google Shape;117;p4"/>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5"/>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23" name="Google Shape;123;p5"/>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24" name="Google Shape;124;p5"/>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Lab en navegador (pasos demo)</a:t>
            </a:r>
            <a:endParaRPr/>
          </a:p>
        </p:txBody>
      </p:sp>
      <p:sp>
        <p:nvSpPr>
          <p:cNvPr id="125" name="Google Shape;125;p5"/>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Abrir </a:t>
            </a:r>
            <a:r>
              <a:rPr b="1" i="0" lang="en-US" sz="2000">
                <a:solidFill>
                  <a:srgbClr val="333333"/>
                </a:solidFill>
                <a:latin typeface="Calibri"/>
                <a:ea typeface="Calibri"/>
                <a:cs typeface="Calibri"/>
                <a:sym typeface="Calibri"/>
              </a:rPr>
              <a:t>Killercoda</a:t>
            </a:r>
            <a:r>
              <a:rPr b="0" i="0" lang="en-US" sz="2000">
                <a:solidFill>
                  <a:srgbClr val="333333"/>
                </a:solidFill>
                <a:latin typeface="Calibri"/>
                <a:ea typeface="Calibri"/>
                <a:cs typeface="Calibri"/>
                <a:sym typeface="Calibri"/>
              </a:rPr>
              <a:t> (killercoda.com, escenario Ubuntu) con cuenta gratuita.</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«docker run» de un nginx/hello y luego </a:t>
            </a:r>
            <a:r>
              <a:rPr b="1" i="0" lang="en-US" sz="2000">
                <a:solidFill>
                  <a:srgbClr val="333333"/>
                </a:solidFill>
                <a:latin typeface="Calibri"/>
                <a:ea typeface="Calibri"/>
                <a:cs typeface="Calibri"/>
                <a:sym typeface="Calibri"/>
              </a:rPr>
              <a:t>su</a:t>
            </a:r>
            <a:r>
              <a:rPr b="0" i="0" lang="en-US" sz="2000">
                <a:solidFill>
                  <a:srgbClr val="333333"/>
                </a:solidFill>
                <a:latin typeface="Calibri"/>
                <a:ea typeface="Calibri"/>
                <a:cs typeface="Calibri"/>
                <a:sym typeface="Calibri"/>
              </a:rPr>
              <a:t> imagen stub.</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«docker ps» con el contenedor arriba.</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a:t>
            </a:r>
            <a:r>
              <a:rPr b="1" i="0" lang="en-US" sz="2000">
                <a:solidFill>
                  <a:srgbClr val="333333"/>
                </a:solidFill>
                <a:latin typeface="Calibri"/>
                <a:ea typeface="Calibri"/>
                <a:cs typeface="Calibri"/>
                <a:sym typeface="Calibri"/>
              </a:rPr>
              <a:t>La sesión caduca a 1 h:</a:t>
            </a:r>
            <a:r>
              <a:rPr b="0" i="0" lang="en-US" sz="2000">
                <a:solidFill>
                  <a:srgbClr val="333333"/>
                </a:solidFill>
                <a:latin typeface="Calibri"/>
                <a:ea typeface="Calibri"/>
                <a:cs typeface="Calibri"/>
                <a:sym typeface="Calibri"/>
              </a:rPr>
              <a:t> el Dockerfile se escribe en </a:t>
            </a:r>
            <a:r>
              <a:rPr b="1" i="0" lang="en-US" sz="2000">
                <a:solidFill>
                  <a:srgbClr val="333333"/>
                </a:solidFill>
                <a:latin typeface="Calibri"/>
                <a:ea typeface="Calibri"/>
                <a:cs typeface="Calibri"/>
                <a:sym typeface="Calibri"/>
              </a:rPr>
              <a:t>tu</a:t>
            </a:r>
            <a:r>
              <a:rPr b="0" i="0" lang="en-US" sz="2000">
                <a:solidFill>
                  <a:srgbClr val="333333"/>
                </a:solidFill>
                <a:latin typeface="Calibri"/>
                <a:ea typeface="Calibri"/>
                <a:cs typeface="Calibri"/>
                <a:sym typeface="Calibri"/>
              </a:rPr>
              <a:t> carpeta del PI y se pega en el lab, nunca al contrario. Guarda capturas antes de cerrar.</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Si Killercoda no carga: </a:t>
            </a:r>
            <a:r>
              <a:rPr b="1" i="0" lang="en-US" sz="2000">
                <a:solidFill>
                  <a:srgbClr val="333333"/>
                </a:solidFill>
                <a:latin typeface="Calibri"/>
                <a:ea typeface="Calibri"/>
                <a:cs typeface="Calibri"/>
                <a:sym typeface="Calibri"/>
              </a:rPr>
              <a:t>LabEx Docker Playground</a:t>
            </a:r>
            <a:r>
              <a:rPr b="0" i="0" lang="en-US" sz="2000">
                <a:solidFill>
                  <a:srgbClr val="333333"/>
                </a:solidFill>
                <a:latin typeface="Calibri"/>
                <a:ea typeface="Calibri"/>
                <a:cs typeface="Calibri"/>
                <a:sym typeface="Calibri"/>
              </a:rPr>
              <a:t> como alterna (misma hora de sesión, pero solo </a:t>
            </a:r>
            <a:r>
              <a:rPr b="1" i="0" lang="en-US" sz="2000">
                <a:solidFill>
                  <a:srgbClr val="333333"/>
                </a:solidFill>
                <a:latin typeface="Calibri"/>
                <a:ea typeface="Calibri"/>
                <a:cs typeface="Calibri"/>
                <a:sym typeface="Calibri"/>
              </a:rPr>
              <a:t>3 al día</a:t>
            </a:r>
            <a:r>
              <a:rPr b="0" i="0" lang="en-US" sz="2000">
                <a:solidFill>
                  <a:srgbClr val="333333"/>
                </a:solidFill>
                <a:latin typeface="Calibri"/>
                <a:ea typeface="Calibri"/>
                <a:cs typeface="Calibri"/>
                <a:sym typeface="Calibri"/>
              </a:rPr>
              <a:t> en el plan gratuito).</a:t>
            </a:r>
            <a:endParaRPr/>
          </a:p>
        </p:txBody>
      </p:sp>
      <p:sp>
        <p:nvSpPr>
          <p:cNvPr id="126" name="Google Shape;126;p5"/>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5</a:t>
            </a:r>
            <a:endParaRPr/>
          </a:p>
        </p:txBody>
      </p:sp>
      <p:pic>
        <p:nvPicPr>
          <p:cNvPr descr="salida-docker-ps.png" id="127" name="Google Shape;127;p5"/>
          <p:cNvPicPr preferRelativeResize="0"/>
          <p:nvPr/>
        </p:nvPicPr>
        <p:blipFill rotWithShape="1">
          <a:blip r:embed="rId3">
            <a:alphaModFix/>
          </a:blip>
          <a:srcRect b="0" l="0" r="0" t="0"/>
          <a:stretch/>
        </p:blipFill>
        <p:spPr>
          <a:xfrm>
            <a:off x="6672610" y="4026383"/>
            <a:ext cx="3108962" cy="94379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 name="Shape 131"/>
        <p:cNvGrpSpPr/>
        <p:nvPr/>
      </p:nvGrpSpPr>
      <p:grpSpPr>
        <a:xfrm>
          <a:off x="0" y="0"/>
          <a:ext cx="0" cy="0"/>
          <a:chOff x="0" y="0"/>
          <a:chExt cx="0" cy="0"/>
        </a:xfrm>
      </p:grpSpPr>
      <p:sp>
        <p:nvSpPr>
          <p:cNvPr id="132" name="Google Shape;132;p6"/>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33" name="Google Shape;133;p6"/>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34" name="Google Shape;134;p6"/>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Dockerfile mínimo para el stub</a:t>
            </a:r>
            <a:endParaRPr/>
          </a:p>
        </p:txBody>
      </p:sp>
      <p:sp>
        <p:nvSpPr>
          <p:cNvPr id="135" name="Google Shape;135;p6"/>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Siete instrucciones: </a:t>
            </a:r>
            <a:r>
              <a:rPr b="1" i="0" lang="en-US" sz="2000">
                <a:solidFill>
                  <a:srgbClr val="333333"/>
                </a:solidFill>
                <a:latin typeface="Calibri"/>
                <a:ea typeface="Calibri"/>
                <a:cs typeface="Calibri"/>
                <a:sym typeface="Calibri"/>
              </a:rPr>
              <a:t>FROM · WORKDIR · COPY</a:t>
            </a:r>
            <a:r>
              <a:rPr b="0" i="0" lang="en-US" sz="2000">
                <a:solidFill>
                  <a:srgbClr val="333333"/>
                </a:solidFill>
                <a:latin typeface="Calibri"/>
                <a:ea typeface="Calibri"/>
                <a:cs typeface="Calibri"/>
                <a:sym typeface="Calibri"/>
              </a:rPr>
              <a:t> de dependencias </a:t>
            </a:r>
            <a:r>
              <a:rPr b="1" i="0" lang="en-US" sz="2000">
                <a:solidFill>
                  <a:srgbClr val="333333"/>
                </a:solidFill>
                <a:latin typeface="Calibri"/>
                <a:ea typeface="Calibri"/>
                <a:cs typeface="Calibri"/>
                <a:sym typeface="Calibri"/>
              </a:rPr>
              <a:t>· RUN · COPY</a:t>
            </a:r>
            <a:r>
              <a:rPr b="0" i="0" lang="en-US" sz="2000">
                <a:solidFill>
                  <a:srgbClr val="333333"/>
                </a:solidFill>
                <a:latin typeface="Calibri"/>
                <a:ea typeface="Calibri"/>
                <a:cs typeface="Calibri"/>
                <a:sym typeface="Calibri"/>
              </a:rPr>
              <a:t> del código </a:t>
            </a:r>
            <a:r>
              <a:rPr b="1" i="0" lang="en-US" sz="2000">
                <a:solidFill>
                  <a:srgbClr val="333333"/>
                </a:solidFill>
                <a:latin typeface="Calibri"/>
                <a:ea typeface="Calibri"/>
                <a:cs typeface="Calibri"/>
                <a:sym typeface="Calibri"/>
              </a:rPr>
              <a:t>· EXPOSE · CMD</a:t>
            </a:r>
            <a:r>
              <a:rPr b="0" i="0" lang="en-US" sz="2000">
                <a:solidFill>
                  <a:srgbClr val="333333"/>
                </a:solidFill>
                <a:latin typeface="Calibri"/>
                <a:ea typeface="Calibri"/>
                <a:cs typeface="Calibri"/>
                <a:sym typeface="Calibri"/>
              </a:rPr>
              <a:t>.</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«FROM» con </a:t>
            </a:r>
            <a:r>
              <a:rPr b="1" i="0" lang="en-US" sz="2000">
                <a:solidFill>
                  <a:srgbClr val="333333"/>
                </a:solidFill>
                <a:latin typeface="Calibri"/>
                <a:ea typeface="Calibri"/>
                <a:cs typeface="Calibri"/>
                <a:sym typeface="Calibri"/>
              </a:rPr>
              <a:t>etiqueta fija</a:t>
            </a:r>
            <a:r>
              <a:rPr b="0" i="0" lang="en-US" sz="2000">
                <a:solidFill>
                  <a:srgbClr val="333333"/>
                </a:solidFill>
                <a:latin typeface="Calibri"/>
                <a:ea typeface="Calibri"/>
                <a:cs typeface="Calibri"/>
                <a:sym typeface="Calibri"/>
              </a:rPr>
              <a:t> («node:20-alpine», «python:3.12-slim»): con «latest», la imagen de hoy no es la de mañana.</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Dependencias </a:t>
            </a:r>
            <a:r>
              <a:rPr b="1" i="0" lang="en-US" sz="2000">
                <a:solidFill>
                  <a:srgbClr val="333333"/>
                </a:solidFill>
                <a:latin typeface="Calibri"/>
                <a:ea typeface="Calibri"/>
                <a:cs typeface="Calibri"/>
                <a:sym typeface="Calibri"/>
              </a:rPr>
              <a:t>antes</a:t>
            </a:r>
            <a:r>
              <a:rPr b="0" i="0" lang="en-US" sz="2000">
                <a:solidFill>
                  <a:srgbClr val="333333"/>
                </a:solidFill>
                <a:latin typeface="Calibri"/>
                <a:ea typeface="Calibri"/>
                <a:cs typeface="Calibri"/>
                <a:sym typeface="Calibri"/>
              </a:rPr>
              <a:t> que el código: así cambiar una línea no reinstala nada (es la caché por capas).</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a:t>
            </a:r>
            <a:r>
              <a:rPr b="1" i="0" lang="en-US" sz="2000">
                <a:solidFill>
                  <a:srgbClr val="333333"/>
                </a:solidFill>
                <a:latin typeface="Calibri"/>
                <a:ea typeface="Calibri"/>
                <a:cs typeface="Calibri"/>
                <a:sym typeface="Calibri"/>
              </a:rPr>
              <a:t>Nunca un secreto en la imagen:</a:t>
            </a:r>
            <a:r>
              <a:rPr b="0" i="0" lang="en-US" sz="2000">
                <a:solidFill>
                  <a:srgbClr val="333333"/>
                </a:solidFill>
                <a:latin typeface="Calibri"/>
                <a:ea typeface="Calibri"/>
                <a:cs typeface="Calibri"/>
                <a:sym typeface="Calibri"/>
              </a:rPr>
              <a:t> las capas se acumulan y «docker history» las lee aunque el archivo se borre después.</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Si haces «COPY. .», va con un </a:t>
            </a:r>
            <a:r>
              <a:rPr b="1" i="0" lang="en-US" sz="2000">
                <a:solidFill>
                  <a:srgbClr val="333333"/>
                </a:solidFill>
                <a:latin typeface="Calibri"/>
                <a:ea typeface="Calibri"/>
                <a:cs typeface="Calibri"/>
                <a:sym typeface="Calibri"/>
              </a:rPr>
              <a:t>«.dockerignore»</a:t>
            </a:r>
            <a:r>
              <a:rPr b="0" i="0" lang="en-US" sz="2000">
                <a:solidFill>
                  <a:srgbClr val="333333"/>
                </a:solidFill>
                <a:latin typeface="Calibri"/>
                <a:ea typeface="Calibri"/>
                <a:cs typeface="Calibri"/>
                <a:sym typeface="Calibri"/>
              </a:rPr>
              <a:t> al lado («.env», «node_modules», «.git») — y se menciona en la entrega.</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«EXPOSE» </a:t>
            </a:r>
            <a:r>
              <a:rPr b="1" i="0" lang="en-US" sz="2000">
                <a:solidFill>
                  <a:srgbClr val="333333"/>
                </a:solidFill>
                <a:latin typeface="Calibri"/>
                <a:ea typeface="Calibri"/>
                <a:cs typeface="Calibri"/>
                <a:sym typeface="Calibri"/>
              </a:rPr>
              <a:t>documenta</a:t>
            </a:r>
            <a:r>
              <a:rPr b="0" i="0" lang="en-US" sz="2000">
                <a:solidFill>
                  <a:srgbClr val="333333"/>
                </a:solidFill>
                <a:latin typeface="Calibri"/>
                <a:ea typeface="Calibri"/>
                <a:cs typeface="Calibri"/>
                <a:sym typeface="Calibri"/>
              </a:rPr>
              <a:t>, no publica. Publicar es el «-p» del «docker run».</a:t>
            </a:r>
            <a:endParaRPr/>
          </a:p>
        </p:txBody>
      </p:sp>
      <p:sp>
        <p:nvSpPr>
          <p:cNvPr id="136" name="Google Shape;136;p6"/>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6</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0" name="Shape 140"/>
        <p:cNvGrpSpPr/>
        <p:nvPr/>
      </p:nvGrpSpPr>
      <p:grpSpPr>
        <a:xfrm>
          <a:off x="0" y="0"/>
          <a:ext cx="0" cy="0"/>
          <a:chOff x="0" y="0"/>
          <a:chExt cx="0" cy="0"/>
        </a:xfrm>
      </p:grpSpPr>
      <p:sp>
        <p:nvSpPr>
          <p:cNvPr id="141" name="Google Shape;141;p7"/>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2" name="Google Shape;142;p7"/>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7"/>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Construir, correr y verificar el contenedor</a:t>
            </a:r>
            <a:endParaRPr/>
          </a:p>
        </p:txBody>
      </p:sp>
      <p:sp>
        <p:nvSpPr>
          <p:cNvPr id="144" name="Google Shape;144;p7"/>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a:t>
            </a:r>
            <a:r>
              <a:rPr b="1" i="0" lang="en-US" sz="2000">
                <a:solidFill>
                  <a:srgbClr val="333333"/>
                </a:solidFill>
                <a:latin typeface="Calibri"/>
                <a:ea typeface="Calibri"/>
                <a:cs typeface="Calibri"/>
                <a:sym typeface="Calibri"/>
              </a:rPr>
              <a:t>Construir:</a:t>
            </a:r>
            <a:r>
              <a:rPr b="0" i="0" lang="en-US" sz="2000">
                <a:solidFill>
                  <a:srgbClr val="333333"/>
                </a:solidFill>
                <a:latin typeface="Calibri"/>
                <a:ea typeface="Calibri"/>
                <a:cs typeface="Calibri"/>
                <a:sym typeface="Calibri"/>
              </a:rPr>
              <a:t> «docker build -t cloudlite-api:0.1.0 .» — nombre </a:t>
            </a:r>
            <a:r>
              <a:rPr b="1" i="0" lang="en-US" sz="2000">
                <a:solidFill>
                  <a:srgbClr val="333333"/>
                </a:solidFill>
                <a:latin typeface="Calibri"/>
                <a:ea typeface="Calibri"/>
                <a:cs typeface="Calibri"/>
                <a:sym typeface="Calibri"/>
              </a:rPr>
              <a:t>y</a:t>
            </a:r>
            <a:r>
              <a:rPr b="0" i="0" lang="en-US" sz="2000">
                <a:solidFill>
                  <a:srgbClr val="333333"/>
                </a:solidFill>
                <a:latin typeface="Calibri"/>
                <a:ea typeface="Calibri"/>
                <a:cs typeface="Calibri"/>
                <a:sym typeface="Calibri"/>
              </a:rPr>
              <a:t> etiqueta; sin etiqueta vale la mitad.</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a:t>
            </a:r>
            <a:r>
              <a:rPr b="1" i="0" lang="en-US" sz="2000">
                <a:solidFill>
                  <a:srgbClr val="333333"/>
                </a:solidFill>
                <a:latin typeface="Calibri"/>
                <a:ea typeface="Calibri"/>
                <a:cs typeface="Calibri"/>
                <a:sym typeface="Calibri"/>
              </a:rPr>
              <a:t>Correr:</a:t>
            </a:r>
            <a:r>
              <a:rPr b="0" i="0" lang="en-US" sz="2000">
                <a:solidFill>
                  <a:srgbClr val="333333"/>
                </a:solidFill>
                <a:latin typeface="Calibri"/>
                <a:ea typeface="Calibri"/>
                <a:cs typeface="Calibri"/>
                <a:sym typeface="Calibri"/>
              </a:rPr>
              <a:t> «docker run -d -p 8081:8080 --name api cloudlite-api:0.1.0».</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En «-p 8081:8080» la </a:t>
            </a:r>
            <a:r>
              <a:rPr b="1" i="0" lang="en-US" sz="2000">
                <a:solidFill>
                  <a:srgbClr val="333333"/>
                </a:solidFill>
                <a:latin typeface="Calibri"/>
                <a:ea typeface="Calibri"/>
                <a:cs typeface="Calibri"/>
                <a:sym typeface="Calibri"/>
              </a:rPr>
              <a:t>izquierda es el anfitrión</a:t>
            </a:r>
            <a:r>
              <a:rPr b="0" i="0" lang="en-US" sz="2000">
                <a:solidFill>
                  <a:srgbClr val="333333"/>
                </a:solidFill>
                <a:latin typeface="Calibri"/>
                <a:ea typeface="Calibri"/>
                <a:cs typeface="Calibri"/>
                <a:sym typeface="Calibri"/>
              </a:rPr>
              <a:t> (por donde entras tú) y la </a:t>
            </a:r>
            <a:r>
              <a:rPr b="1" i="0" lang="en-US" sz="2000">
                <a:solidFill>
                  <a:srgbClr val="333333"/>
                </a:solidFill>
                <a:latin typeface="Calibri"/>
                <a:ea typeface="Calibri"/>
                <a:cs typeface="Calibri"/>
                <a:sym typeface="Calibri"/>
              </a:rPr>
              <a:t>derecha es el contenedor</a:t>
            </a:r>
            <a:r>
              <a:rPr b="0" i="0" lang="en-US" sz="2000">
                <a:solidFill>
                  <a:srgbClr val="333333"/>
                </a:solidFill>
                <a:latin typeface="Calibri"/>
                <a:ea typeface="Calibri"/>
                <a:cs typeface="Calibri"/>
                <a:sym typeface="Calibri"/>
              </a:rPr>
              <a:t> (la del «EXPOSE»).</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a:t>
            </a:r>
            <a:r>
              <a:rPr b="1" i="0" lang="en-US" sz="2000">
                <a:solidFill>
                  <a:srgbClr val="333333"/>
                </a:solidFill>
                <a:latin typeface="Calibri"/>
                <a:ea typeface="Calibri"/>
                <a:cs typeface="Calibri"/>
                <a:sym typeface="Calibri"/>
              </a:rPr>
              <a:t>Si los inviertes,</a:t>
            </a:r>
            <a:r>
              <a:rPr b="0" i="0" lang="en-US" sz="2000">
                <a:solidFill>
                  <a:srgbClr val="333333"/>
                </a:solidFill>
                <a:latin typeface="Calibri"/>
                <a:ea typeface="Calibri"/>
                <a:cs typeface="Calibri"/>
                <a:sym typeface="Calibri"/>
              </a:rPr>
              <a:t> «docker ps» muestra el contenedor </a:t>
            </a:r>
            <a:r>
              <a:rPr b="1" i="0" lang="en-US" sz="2000">
                <a:solidFill>
                  <a:srgbClr val="333333"/>
                </a:solidFill>
                <a:latin typeface="Calibri"/>
                <a:ea typeface="Calibri"/>
                <a:cs typeface="Calibri"/>
                <a:sym typeface="Calibri"/>
              </a:rPr>
              <a:t>Up</a:t>
            </a:r>
            <a:r>
              <a:rPr b="0" i="0" lang="en-US" sz="2000">
                <a:solidFill>
                  <a:srgbClr val="333333"/>
                </a:solidFill>
                <a:latin typeface="Calibri"/>
                <a:ea typeface="Calibri"/>
                <a:cs typeface="Calibri"/>
                <a:sym typeface="Calibri"/>
              </a:rPr>
              <a:t> y la petición muere sin respuesta: el síntoma no dice la causa.</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a:t>
            </a:r>
            <a:r>
              <a:rPr b="1" i="0" lang="en-US" sz="2000">
                <a:solidFill>
                  <a:srgbClr val="333333"/>
                </a:solidFill>
                <a:latin typeface="Calibri"/>
                <a:ea typeface="Calibri"/>
                <a:cs typeface="Calibri"/>
                <a:sym typeface="Calibri"/>
              </a:rPr>
              <a:t>Verificar:</a:t>
            </a:r>
            <a:r>
              <a:rPr b="0" i="0" lang="en-US" sz="2000">
                <a:solidFill>
                  <a:srgbClr val="333333"/>
                </a:solidFill>
                <a:latin typeface="Calibri"/>
                <a:ea typeface="Calibri"/>
                <a:cs typeface="Calibri"/>
                <a:sym typeface="Calibri"/>
              </a:rPr>
              <a:t> el contrato de salud son </a:t>
            </a:r>
            <a:r>
              <a:rPr b="1" i="0" lang="en-US" sz="2000">
                <a:solidFill>
                  <a:srgbClr val="333333"/>
                </a:solidFill>
                <a:latin typeface="Calibri"/>
                <a:ea typeface="Calibri"/>
                <a:cs typeface="Calibri"/>
                <a:sym typeface="Calibri"/>
              </a:rPr>
              <a:t>tres</a:t>
            </a:r>
            <a:r>
              <a:rPr b="0" i="0" lang="en-US" sz="2000">
                <a:solidFill>
                  <a:srgbClr val="333333"/>
                </a:solidFill>
                <a:latin typeface="Calibri"/>
                <a:ea typeface="Calibri"/>
                <a:cs typeface="Calibri"/>
                <a:sym typeface="Calibri"/>
              </a:rPr>
              <a:t> datos — </a:t>
            </a:r>
            <a:r>
              <a:rPr b="1" i="0" lang="en-US" sz="2000">
                <a:solidFill>
                  <a:srgbClr val="333333"/>
                </a:solidFill>
                <a:latin typeface="Calibri"/>
                <a:ea typeface="Calibri"/>
                <a:cs typeface="Calibri"/>
                <a:sym typeface="Calibri"/>
              </a:rPr>
              <a:t>ruta</a:t>
            </a:r>
            <a:r>
              <a:rPr b="0" i="0" lang="en-US" sz="2000">
                <a:solidFill>
                  <a:srgbClr val="333333"/>
                </a:solidFill>
                <a:latin typeface="Calibri"/>
                <a:ea typeface="Calibri"/>
                <a:cs typeface="Calibri"/>
                <a:sym typeface="Calibri"/>
              </a:rPr>
              <a:t> («GET /health»), </a:t>
            </a:r>
            <a:r>
              <a:rPr b="1" i="0" lang="en-US" sz="2000">
                <a:solidFill>
                  <a:srgbClr val="333333"/>
                </a:solidFill>
                <a:latin typeface="Calibri"/>
                <a:ea typeface="Calibri"/>
                <a:cs typeface="Calibri"/>
                <a:sym typeface="Calibri"/>
              </a:rPr>
              <a:t>código</a:t>
            </a:r>
            <a:r>
              <a:rPr b="0" i="0" lang="en-US" sz="2000">
                <a:solidFill>
                  <a:srgbClr val="333333"/>
                </a:solidFill>
                <a:latin typeface="Calibri"/>
                <a:ea typeface="Calibri"/>
                <a:cs typeface="Calibri"/>
                <a:sym typeface="Calibri"/>
              </a:rPr>
              <a:t> («200» vivo · «503» sin base) y </a:t>
            </a:r>
            <a:r>
              <a:rPr b="1" i="0" lang="en-US" sz="2000">
                <a:solidFill>
                  <a:srgbClr val="333333"/>
                </a:solidFill>
                <a:latin typeface="Calibri"/>
                <a:ea typeface="Calibri"/>
                <a:cs typeface="Calibri"/>
                <a:sym typeface="Calibri"/>
              </a:rPr>
              <a:t>cuerpo</a:t>
            </a:r>
            <a:r>
              <a:rPr b="0" i="0" lang="en-US" sz="2000">
                <a:solidFill>
                  <a:srgbClr val="333333"/>
                </a:solidFill>
                <a:latin typeface="Calibri"/>
                <a:ea typeface="Calibri"/>
                <a:cs typeface="Calibri"/>
                <a:sym typeface="Calibri"/>
              </a:rPr>
              <a:t> con su formato.</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Un «200» con cuerpo vacío no distingue «vivo» de «vivo pero roto»: el cuerpo lleva al menos un campo verificable.</a:t>
            </a:r>
            <a:endParaRPr/>
          </a:p>
        </p:txBody>
      </p:sp>
      <p:sp>
        <p:nvSpPr>
          <p:cNvPr id="145" name="Google Shape;145;p7"/>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7</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9" name="Shape 149"/>
        <p:cNvGrpSpPr/>
        <p:nvPr/>
      </p:nvGrpSpPr>
      <p:grpSpPr>
        <a:xfrm>
          <a:off x="0" y="0"/>
          <a:ext cx="0" cy="0"/>
          <a:chOff x="0" y="0"/>
          <a:chExt cx="0" cy="0"/>
        </a:xfrm>
      </p:grpSpPr>
      <p:sp>
        <p:nvSpPr>
          <p:cNvPr id="150" name="Google Shape;150;p8"/>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1" name="Google Shape;151;p8"/>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52" name="Google Shape;152;p8"/>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De donde viene la clase y que se entrega hoy</a:t>
            </a:r>
            <a:endParaRPr/>
          </a:p>
        </p:txBody>
      </p:sp>
      <p:sp>
        <p:nvSpPr>
          <p:cNvPr id="153" name="Google Shape;153;p8"/>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Hoy se abre la caja de la maquinaria que hace posible todo eso: la virtualizacion y su descendiente directo, los contenedores.</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Es la primera clase francamente tecnica del curso y la primera en la que el estudiante escribe algo que una maquina ejecuta.</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El entregable es un Dockerfile y una captura del contenedor corriendo, obtenida en Killercoda, un laboratorio gratuito que funciona en el navegador.</a:t>
            </a:r>
            <a:endParaRPr/>
          </a:p>
        </p:txBody>
      </p:sp>
      <p:sp>
        <p:nvSpPr>
          <p:cNvPr id="154" name="Google Shape;154;p8"/>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8</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 name="Shape 158"/>
        <p:cNvGrpSpPr/>
        <p:nvPr/>
      </p:nvGrpSpPr>
      <p:grpSpPr>
        <a:xfrm>
          <a:off x="0" y="0"/>
          <a:ext cx="0" cy="0"/>
          <a:chOff x="0" y="0"/>
          <a:chExt cx="0" cy="0"/>
        </a:xfrm>
      </p:grpSpPr>
      <p:sp>
        <p:nvSpPr>
          <p:cNvPr id="159" name="Google Shape;159;p9"/>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9"/>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1" name="Google Shape;161;p9"/>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Antes de la virtualizacion: un servidor por aplicacion</a:t>
            </a:r>
            <a:endParaRPr/>
          </a:p>
        </p:txBody>
      </p:sp>
      <p:sp>
        <p:nvSpPr>
          <p:cNvPr id="162" name="Google Shape;162;p9"/>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Antes de la virtualizacion, cada aplicacion importante vivia en su propio servidor fisico, por una razon sencilla: si dos aplicaciones compartian maquina, una podia tumbar a la otra.</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El resultado era un desperdicio enorme, con servidores trabajando tipicamente entre el 5 % y el 15 % de su capacidad la mayor parte del tiempo.</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Cada una de esas maquinas se llama maquina virtual y contiene un sistema operativo entero, kernel incluido, donde kernel es el nucleo del sistema operativo, la parte que administra memoria, procesos y acceso al hardware.</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En contraparte, su aislamiento es fuerte, ya que dos maquinas virtuales no comparten kernel y un problema en el nucleo de una no alcanza a la otra.</a:t>
            </a:r>
            <a:endParaRPr/>
          </a:p>
        </p:txBody>
      </p:sp>
      <p:sp>
        <p:nvSpPr>
          <p:cNvPr id="163" name="Google Shape;163;p9"/>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7" name="Shape 167"/>
        <p:cNvGrpSpPr/>
        <p:nvPr/>
      </p:nvGrpSpPr>
      <p:grpSpPr>
        <a:xfrm>
          <a:off x="0" y="0"/>
          <a:ext cx="0" cy="0"/>
          <a:chOff x="0" y="0"/>
          <a:chExt cx="0" cy="0"/>
        </a:xfrm>
      </p:grpSpPr>
      <p:sp>
        <p:nvSpPr>
          <p:cNvPr id="168" name="Google Shape;168;p10"/>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9" name="Google Shape;169;p10"/>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0" name="Google Shape;170;p10"/>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Recorrer el diagrama de las dos pilas, de abajo hacia arriba (1/2)</a:t>
            </a:r>
            <a:endParaRPr/>
          </a:p>
        </p:txBody>
      </p:sp>
      <p:sp>
        <p:nvSpPr>
          <p:cNvPr id="171" name="Google Shape;171;p10"/>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Esta diapositiva es la misma comparacion de la seccion anterior, ya dibujada, y conviene recorrerla con el puntero en vez de leerla.</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Se sube por la columna izquierda: hardware fisico, hipervisor, y encima DOS sistemas operativos invitados completos, uno por aplicacion.</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Luego por la derecha: el mismo hardware, un solo sistema operativo anfitrion con el motor de contenedores, y encima los contenedores, que ya no traen sistema operativo propio.</a:t>
            </a:r>
            <a:endParaRPr/>
          </a:p>
        </p:txBody>
      </p:sp>
      <p:sp>
        <p:nvSpPr>
          <p:cNvPr id="172" name="Google Shape;172;p10"/>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10</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6" name="Shape 176"/>
        <p:cNvGrpSpPr/>
        <p:nvPr/>
      </p:nvGrpSpPr>
      <p:grpSpPr>
        <a:xfrm>
          <a:off x="0" y="0"/>
          <a:ext cx="0" cy="0"/>
          <a:chOff x="0" y="0"/>
          <a:chExt cx="0" cy="0"/>
        </a:xfrm>
      </p:grpSpPr>
      <p:sp>
        <p:nvSpPr>
          <p:cNvPr id="177" name="Google Shape;177;p11"/>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8" name="Google Shape;178;p11"/>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9" name="Google Shape;179;p11"/>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Recorrer el diagrama de las dos pilas, de abajo hacia arriba (2/2)</a:t>
            </a:r>
            <a:endParaRPr/>
          </a:p>
        </p:txBody>
      </p:sp>
      <p:sp>
        <p:nvSpPr>
          <p:cNvPr id="180" name="Google Shape;180;p11"/>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La pregunta que hay que hacer en voz alta, senalando el hueco, es cual es la caja que desaparecio, y la respuesta es el segundo sistema operativo.</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Todo lo demas —arranque en segundos y no en minutos, megabytes y no gigabytes— es consecuencia de esa caja que ya no esta, y decirlo en ese orden evita que el estudiante memorice cuatro cifras sueltas sin saber de donde salen.</a:t>
            </a:r>
            <a:endParaRPr/>
          </a:p>
        </p:txBody>
      </p:sp>
      <p:sp>
        <p:nvSpPr>
          <p:cNvPr id="181" name="Google Shape;181;p11"/>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11</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5" name="Shape 185"/>
        <p:cNvGrpSpPr/>
        <p:nvPr/>
      </p:nvGrpSpPr>
      <p:grpSpPr>
        <a:xfrm>
          <a:off x="0" y="0"/>
          <a:ext cx="0" cy="0"/>
          <a:chOff x="0" y="0"/>
          <a:chExt cx="0" cy="0"/>
        </a:xfrm>
      </p:grpSpPr>
      <p:sp>
        <p:nvSpPr>
          <p:cNvPr id="186" name="Google Shape;186;p12"/>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7" name="Google Shape;187;p12"/>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8" name="Google Shape;188;p12"/>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El contenedor: aislamiento sin otro sistema operativo (1/2)</a:t>
            </a:r>
            <a:endParaRPr/>
          </a:p>
        </p:txBody>
      </p:sp>
      <p:sp>
        <p:nvSpPr>
          <p:cNvPr id="189" name="Google Shape;189;p12"/>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Un contenedor parte de una observacion distinta: casi nunca se necesita otro sistema operativo, solo un espacio aislado dentro del que ya existe.</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Los namespaces le dan a cada contenedor su propia vista de procesos, red, usuarios y sistema de archivos, de modo que dentro del contenedor su proceso principal se ve con el numero 1 y no ve los procesos vecinos.</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Sin sistema operativo propio, los numeros cambian de escala: una imagen basada en Alpine Linux pesa del orden de 5 a 10 MB</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Una imagen slim de un runtime como Node ronda los 150 a 250 MB frente a cerca de 1 GB de la version completa, y el arranque es de decimas de segundo.</a:t>
            </a:r>
            <a:endParaRPr/>
          </a:p>
        </p:txBody>
      </p:sp>
      <p:sp>
        <p:nvSpPr>
          <p:cNvPr id="190" name="Google Shape;190;p12"/>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12</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4" name="Shape 194"/>
        <p:cNvGrpSpPr/>
        <p:nvPr/>
      </p:nvGrpSpPr>
      <p:grpSpPr>
        <a:xfrm>
          <a:off x="0" y="0"/>
          <a:ext cx="0" cy="0"/>
          <a:chOff x="0" y="0"/>
          <a:chExt cx="0" cy="0"/>
        </a:xfrm>
      </p:grpSpPr>
      <p:sp>
        <p:nvSpPr>
          <p:cNvPr id="195" name="Google Shape;195;p13"/>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13"/>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97" name="Google Shape;197;p13"/>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El contenedor: aislamiento sin otro sistema operativo (2/2)</a:t>
            </a:r>
            <a:endParaRPr/>
          </a:p>
        </p:txBody>
      </p:sp>
      <p:sp>
        <p:nvSpPr>
          <p:cNvPr id="198" name="Google Shape;198;p13"/>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Aqui esta la respuesta a la frase que hay que evitar: un contenedor no es «una maquina virtual ligera».</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La diferencia no es el peso sino el aislamiento; como el kernel es compartido, una vulnerabilidad del kernel puede afectar a todos los contenedores de esa maquina</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Y por eso los proveedores de nube siguen usando maquinas virtuales para separar clientes distintos y ejecutan los contenedores DENTRO de ellas.</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Contenedores y maquinas virtuales no compiten: se apilan.</a:t>
            </a:r>
            <a:endParaRPr/>
          </a:p>
        </p:txBody>
      </p:sp>
      <p:sp>
        <p:nvSpPr>
          <p:cNvPr id="199" name="Google Shape;199;p13"/>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13</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 name="Shape 203"/>
        <p:cNvGrpSpPr/>
        <p:nvPr/>
      </p:nvGrpSpPr>
      <p:grpSpPr>
        <a:xfrm>
          <a:off x="0" y="0"/>
          <a:ext cx="0" cy="0"/>
          <a:chOff x="0" y="0"/>
          <a:chExt cx="0" cy="0"/>
        </a:xfrm>
      </p:grpSpPr>
      <p:sp>
        <p:nvSpPr>
          <p:cNvPr id="204" name="Google Shape;204;p14"/>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5" name="Google Shape;205;p14"/>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06" name="Google Shape;206;p14"/>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Dockerfile, imagen, contenedor y registro: los cuatro terminos (1/2)</a:t>
            </a:r>
            <a:endParaRPr/>
          </a:p>
        </p:txBody>
      </p:sp>
      <p:sp>
        <p:nvSpPr>
          <p:cNvPr id="207" name="Google Shape;207;p14"/>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El Dockerfile es la receta: un archivo de texto con instrucciones.</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La imagen es el resultado de ejecutar esa receta, un paquete inmutable y de solo lectura con el codigo, las dependencias y la configuracion.</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El contenedor es una instancia en ejecucion de esa imagen, y de una misma imagen se pueden lanzar diez contenedores identicos, igual que de una clase se instancian muchos objetos</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Esa comparacion funciona bien con estudiantes que ya vieron programacion orientada a objetos.</a:t>
            </a:r>
            <a:endParaRPr/>
          </a:p>
        </p:txBody>
      </p:sp>
      <p:sp>
        <p:nvSpPr>
          <p:cNvPr id="208" name="Google Shape;208;p14"/>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14</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2" name="Shape 212"/>
        <p:cNvGrpSpPr/>
        <p:nvPr/>
      </p:nvGrpSpPr>
      <p:grpSpPr>
        <a:xfrm>
          <a:off x="0" y="0"/>
          <a:ext cx="0" cy="0"/>
          <a:chOff x="0" y="0"/>
          <a:chExt cx="0" cy="0"/>
        </a:xfrm>
      </p:grpSpPr>
      <p:sp>
        <p:nvSpPr>
          <p:cNvPr id="213" name="Google Shape;213;p15"/>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4" name="Google Shape;214;p15"/>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15" name="Google Shape;215;p15"/>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Dockerfile, imagen, contenedor y registro: los cuatro terminos (2/2)</a:t>
            </a:r>
            <a:endParaRPr/>
          </a:p>
        </p:txBody>
      </p:sp>
      <p:sp>
        <p:nvSpPr>
          <p:cNvPr id="216" name="Google Shape;216;p15"/>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Y el registro, o registry, es el repositorio donde las imagenes se publican y se descargan.</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Un detalle que explica el comportamiento diario: la imagen se construye por capas, una por instruccion, y esas capas quedan en cache; si una instruccion no cambio, la reconstruccion la reutiliza en lugar de volver a ejecutarla.</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Hacerlo al reves obliga a reinstalar todo en cada construccion y convierte una build de 10 segundos en una de varios minutos.</a:t>
            </a:r>
            <a:endParaRPr/>
          </a:p>
        </p:txBody>
      </p:sp>
      <p:sp>
        <p:nvSpPr>
          <p:cNvPr id="217" name="Google Shape;217;p15"/>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15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 name="Shape 221"/>
        <p:cNvGrpSpPr/>
        <p:nvPr/>
      </p:nvGrpSpPr>
      <p:grpSpPr>
        <a:xfrm>
          <a:off x="0" y="0"/>
          <a:ext cx="0" cy="0"/>
          <a:chOff x="0" y="0"/>
          <a:chExt cx="0" cy="0"/>
        </a:xfrm>
      </p:grpSpPr>
      <p:sp>
        <p:nvSpPr>
          <p:cNvPr id="222" name="Google Shape;222;p16"/>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3" name="Google Shape;223;p16"/>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16"/>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Primer ejemplo: el stub de la API de CloudLite (1/2)</a:t>
            </a:r>
            <a:endParaRPr/>
          </a:p>
        </p:txBody>
      </p:sp>
      <p:sp>
        <p:nvSpPr>
          <p:cNvPr id="225" name="Google Shape;225;p16"/>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En CloudLite Turnos el estudiante contenerizara un stub de su API, es decir una version minima que responde algo verificable: el endpoint GET /health, que devuelve un cuerpo en formato JSON con al menos un campo que se pueda comprobar.</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FROM node:20-alpine elige la imagen base, o sea el punto de partida ya construido por otros, en este caso un Linux minimo con Node instalado; la etiqueta 20-alpine es FIJA y eso importa</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Porque con latest la imagen de hoy no es la de manana y la reconstruccion deja de ser reproducible.</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RUN npm ci --omit=dev las instala dentro de la imagen y no en la maquina del estudiante, lo cual es el punto entero del ejercicio</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Porque la dependencia viaja con el artefacto; se usa npm ci y no npm install porque respeta el archivo de bloqueo y por tanto instala exactamente las mismas versiones en cada construccion.</a:t>
            </a:r>
            <a:endParaRPr/>
          </a:p>
        </p:txBody>
      </p:sp>
      <p:sp>
        <p:nvSpPr>
          <p:cNvPr id="226" name="Google Shape;226;p16"/>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16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0" name="Shape 230"/>
        <p:cNvGrpSpPr/>
        <p:nvPr/>
      </p:nvGrpSpPr>
      <p:grpSpPr>
        <a:xfrm>
          <a:off x="0" y="0"/>
          <a:ext cx="0" cy="0"/>
          <a:chOff x="0" y="0"/>
          <a:chExt cx="0" cy="0"/>
        </a:xfrm>
      </p:grpSpPr>
      <p:sp>
        <p:nvSpPr>
          <p:cNvPr id="231" name="Google Shape;231;p17"/>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2" name="Google Shape;232;p17"/>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33" name="Google Shape;233;p17"/>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Primer ejemplo: el stub de la API de CloudLite (2/2)</a:t>
            </a:r>
            <a:endParaRPr/>
          </a:p>
        </p:txBody>
      </p:sp>
      <p:sp>
        <p:nvSpPr>
          <p:cNvPr id="234" name="Google Shape;234;p17"/>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EXPOSE 8080 documenta en que puerto escucha el proceso.</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Ese COPY.. tiene una consecuencia que hay que decir mientras esta proyectado, porque vale cinco puntos de la actividad: copia TODO lo que haya en la carpeta, incluido el archivo.env con las credenciales</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Y una vez dentro de una capa ya no sale, ni siquiera borrandolo en una instruccion posterior.</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La diapositiva lo proyecta junto al Dockerfile y no como nota al pie a proposito: son dos archivos hermanos en la misma carpeta, y el estudiante que entrega el primero sin el segundo entrega un artefacto que filtra secretos.</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La regla se enuncia en una linea: si haces COPY.., el.dockerignore va al lado y se menciona en la entrega.</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Un ultimo detalle del que depende media clase: EXPOSE no abre nada, solo documenta.</a:t>
            </a:r>
            <a:endParaRPr/>
          </a:p>
        </p:txBody>
      </p:sp>
      <p:sp>
        <p:nvSpPr>
          <p:cNvPr id="235" name="Google Shape;235;p17"/>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9" name="Shape 239"/>
        <p:cNvGrpSpPr/>
        <p:nvPr/>
      </p:nvGrpSpPr>
      <p:grpSpPr>
        <a:xfrm>
          <a:off x="0" y="0"/>
          <a:ext cx="0" cy="0"/>
          <a:chOff x="0" y="0"/>
          <a:chExt cx="0" cy="0"/>
        </a:xfrm>
      </p:grpSpPr>
      <p:sp>
        <p:nvSpPr>
          <p:cNvPr id="240" name="Google Shape;240;p18"/>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1" name="Google Shape;241;p18"/>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42" name="Google Shape;242;p18"/>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Construir, correr y verificar: los tres comandos y el contrato de salud (1/3)</a:t>
            </a:r>
            <a:endParaRPr/>
          </a:p>
        </p:txBody>
      </p:sp>
      <p:sp>
        <p:nvSpPr>
          <p:cNvPr id="243" name="Google Shape;243;p18"/>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Con el Dockerfile escrito faltan tres comandos, y los tres se califican por separado, asi que hay que dictarlos con la precision con la que se van a corregir.</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El primero es la construccion: docker build -t cloudlite-api:0.1.0.</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El -t asigna nombre y etiqueta, y el punto final no es adorno sino el contexto de construccion, es decir la carpeta cuyo contenido se le entrega al motor.</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Un build sin etiqueta funciona y por eso el estudiante no nota el problema: Docker le pone latest en silencio, y a partir de ahi nadie puede decir que version esta corriendo.</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Nombre Y etiqueta, siempre; la etiqueta suelta no basta y el nombre solo tampoco.</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El segundo es la ejecucion: docker run -d -p 8081:8080 --name api cloudlite-api:0.1.0.</a:t>
            </a:r>
            <a:endParaRPr/>
          </a:p>
        </p:txBody>
      </p:sp>
      <p:sp>
        <p:nvSpPr>
          <p:cNvPr id="244" name="Google Shape;244;p18"/>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18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 name="Shape 248"/>
        <p:cNvGrpSpPr/>
        <p:nvPr/>
      </p:nvGrpSpPr>
      <p:grpSpPr>
        <a:xfrm>
          <a:off x="0" y="0"/>
          <a:ext cx="0" cy="0"/>
          <a:chOff x="0" y="0"/>
          <a:chExt cx="0" cy="0"/>
        </a:xfrm>
      </p:grpSpPr>
      <p:sp>
        <p:nvSpPr>
          <p:cNvPr id="249" name="Google Shape;249;p19"/>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0" name="Google Shape;250;p19"/>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19"/>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Construir, correr y verificar: los tres comandos y el contrato de salud (2/3)</a:t>
            </a:r>
            <a:endParaRPr/>
          </a:p>
        </p:txBody>
      </p:sp>
      <p:sp>
        <p:nvSpPr>
          <p:cNvPr id="252" name="Google Shape;252;p19"/>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El corazon de la instruccion es el -p, y conviene escribirlo en el tablero con las dos etiquetas encima: el numero de la IZQUIERDA es el del anfitrion, la maquina desde la que uno abre el navegador, y el de la DERECHA es el del contenedor, el mismo del EXPOSE.</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Se lee de derecha a izquierda: el puerto 8080 de dentro queda accesible como 8081 desde fuera.</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En el ejemplo estan a proposito DISTINTOS, porque cuando se escribe -p 8080:8080 los dos lados se confunden y el estudiante no puede decir cual es cual; en la actividad se le pide justamente explicar la diferencia.</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El tercero es la verificacion, y aqui hay un concepto y no solo un comando.</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Un endpoint de salud es una ruta cuyo unico proposito es que alguien de afuera pueda preguntar si el servicio esta en condiciones de atender</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Y su contrato tiene TRES datos, los tres exigibles: la ruta (GET /health), el codigo de estado (200 cuando el servicio puede atender, 503 cuando esta arriba pero sin su dependencia, tipicamente la base de datos) y el cuerpo con su formato declarado.</a:t>
            </a:r>
            <a:endParaRPr/>
          </a:p>
        </p:txBody>
      </p:sp>
      <p:sp>
        <p:nvSpPr>
          <p:cNvPr id="253" name="Google Shape;253;p19"/>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19</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 name="Shape 257"/>
        <p:cNvGrpSpPr/>
        <p:nvPr/>
      </p:nvGrpSpPr>
      <p:grpSpPr>
        <a:xfrm>
          <a:off x="0" y="0"/>
          <a:ext cx="0" cy="0"/>
          <a:chOff x="0" y="0"/>
          <a:chExt cx="0" cy="0"/>
        </a:xfrm>
      </p:grpSpPr>
      <p:sp>
        <p:nvSpPr>
          <p:cNvPr id="258" name="Google Shape;258;p20"/>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59" name="Google Shape;259;p20"/>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0" name="Google Shape;260;p20"/>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Construir, correr y verificar: los tres comandos y el contrato de salud (3/3)</a:t>
            </a:r>
            <a:endParaRPr/>
          </a:p>
        </p:txBody>
      </p:sp>
      <p:sp>
        <p:nvSpPr>
          <p:cNvPr id="261" name="Google Shape;261;p20"/>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El tercero es el que se olvida y el que hace util al endpoint: un 200 con el cuerpo vacio no distingue «vivo» de «vivo pero roto», porque el proceso puede estar respondiendo mientras su conexion a datos esta caida.</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Se comprueba con curl -i http://localhost:8081/health, y el -i importa: sin el, curl imprime el cuerpo pero esconde el codigo de estado, que es un tercio del contrato.</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Este mismo endpoint reaparece en la Clase 7, donde el balanceador lo consulta para decidir si sigue enviandole trafico a una instancia, y en la Clase 8, donde el pipeline lo usa como prueba de humo despues de construir la imagen.</a:t>
            </a:r>
            <a:endParaRPr/>
          </a:p>
        </p:txBody>
      </p:sp>
      <p:sp>
        <p:nvSpPr>
          <p:cNvPr id="262" name="Google Shape;262;p20"/>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20</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6" name="Shape 266"/>
        <p:cNvGrpSpPr/>
        <p:nvPr/>
      </p:nvGrpSpPr>
      <p:grpSpPr>
        <a:xfrm>
          <a:off x="0" y="0"/>
          <a:ext cx="0" cy="0"/>
          <a:chOff x="0" y="0"/>
          <a:chExt cx="0" cy="0"/>
        </a:xfrm>
      </p:grpSpPr>
      <p:sp>
        <p:nvSpPr>
          <p:cNvPr id="267" name="Google Shape;267;p21"/>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8" name="Google Shape;268;p21"/>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69" name="Google Shape;269;p21"/>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Segundo ejemplo: leer las siete columnas de docker ps (1/2)</a:t>
            </a:r>
            <a:endParaRPr/>
          </a:p>
        </p:txBody>
      </p:sp>
      <p:sp>
        <p:nvSpPr>
          <p:cNvPr id="270" name="Google Shape;270;p21"/>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Tras ejecutar el contenedor, el comando docker ps lista lo que esta corriendo con siete columnas</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Y leerlas es parte del entregable: identificador del contenedor, imagen de la que proviene, comando en ejecucion, tiempo desde su creacion, estado, puertos publicados y nombre asignado.</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Un estudiante mas adelantado puede levantar dos contenedores, la API y un stub de notificaciones</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Y comprobar algo que sera central en la Clase 4: desde el contenedor de la API, la direccion localhost NO es la maquina anfitriona ni el otro contenedor, es el propio contenedor</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Y para que dos contenedores se hablen hay que ponerlos en una misma red y llamarse por nombre.</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Todo esto ocurre en Killercoda (killercoda.com, cuenta gratuita y sin tarjeta, escenario Ubuntu), que entrega una terminal Linux real con Docker ya instalado dentro del navegador, sin instalar Docker Desktop</a:t>
            </a:r>
            <a:endParaRPr/>
          </a:p>
        </p:txBody>
      </p:sp>
      <p:sp>
        <p:nvSpPr>
          <p:cNvPr id="271" name="Google Shape;271;p21"/>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21</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5" name="Shape 275"/>
        <p:cNvGrpSpPr/>
        <p:nvPr/>
      </p:nvGrpSpPr>
      <p:grpSpPr>
        <a:xfrm>
          <a:off x="0" y="0"/>
          <a:ext cx="0" cy="0"/>
          <a:chOff x="0" y="0"/>
          <a:chExt cx="0" cy="0"/>
        </a:xfrm>
      </p:grpSpPr>
      <p:sp>
        <p:nvSpPr>
          <p:cNvPr id="276" name="Google Shape;276;p22"/>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7" name="Google Shape;277;p22"/>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78" name="Google Shape;278;p22"/>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Segundo ejemplo: leer las siete columnas de docker ps (2/2)</a:t>
            </a:r>
            <a:endParaRPr/>
          </a:p>
        </p:txBody>
      </p:sp>
      <p:sp>
        <p:nvSpPr>
          <p:cNvPr id="279" name="Google Shape;279;p22"/>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Que en equipos institucionales suele estar bloqueado y tiene condiciones de licencia para organizaciones grandes.</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El primero: la sesion caduca a una hora y al cerrarse se pierde lo que exista solo alli.</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El segundo: en el plan gratuito solo se trabaja un escenario a la vez, asi que no sirve dejar dos labs abiertos.</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La alterna, si Killercoda no carga, es LabEx Docker Playground, que cumple la misma funcion tambien gratis y en el navegador</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Pero con una restriccion mas dura que conviene mencionar: su plan gratuito da solo tres sesiones al dia, de modo que quien la use para depurar puede quedarse sin intentos justo el dia de la entrega.</a:t>
            </a:r>
            <a:endParaRPr/>
          </a:p>
        </p:txBody>
      </p:sp>
      <p:sp>
        <p:nvSpPr>
          <p:cNvPr id="280" name="Google Shape;280;p22"/>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22</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4" name="Shape 284"/>
        <p:cNvGrpSpPr/>
        <p:nvPr/>
      </p:nvGrpSpPr>
      <p:grpSpPr>
        <a:xfrm>
          <a:off x="0" y="0"/>
          <a:ext cx="0" cy="0"/>
          <a:chOff x="0" y="0"/>
          <a:chExt cx="0" cy="0"/>
        </a:xfrm>
      </p:grpSpPr>
      <p:sp>
        <p:nvSpPr>
          <p:cNvPr id="285" name="Google Shape;285;p23"/>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6" name="Google Shape;286;p23"/>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87" name="Google Shape;287;p23"/>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Preguntas frecuentes y cierre conceptual () (1/4)</a:t>
            </a:r>
            <a:endParaRPr/>
          </a:p>
        </p:txBody>
      </p:sp>
      <p:sp>
        <p:nvSpPr>
          <p:cNvPr id="288" name="Google Shape;288;p23"/>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Por que mi contenedor arranca y se muere de inmediato: porque un contenedor vive exactamente lo que vive su proceso principal, y si el comando termina, el contenedor termina.</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No es un error, es el diseno; un contenedor no es una maquina encendida esperando ordenes, es un proceso envuelto en aislamiento, y la solucion es que el comando quede corriendo en primer plano.</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Segunda: donde quedan mis datos si borro el contenedor.</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Se pierden, porque el sistema de archivos del contenedor es efimero; para persistir hay que montar un volumen, es decir un almacenamiento cuyo ciclo de vida es independiente del contenedor</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Y esa es la razon por la cual una base de datos no se trata igual que una API, tema que reaparece en la Clase 7 con almacenamiento y en la Clase 13 al discutir que piezas se pueden replicar.</a:t>
            </a:r>
            <a:endParaRPr/>
          </a:p>
        </p:txBody>
      </p:sp>
      <p:sp>
        <p:nvSpPr>
          <p:cNvPr id="289" name="Google Shape;289;p23"/>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23</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3" name="Shape 293"/>
        <p:cNvGrpSpPr/>
        <p:nvPr/>
      </p:nvGrpSpPr>
      <p:grpSpPr>
        <a:xfrm>
          <a:off x="0" y="0"/>
          <a:ext cx="0" cy="0"/>
          <a:chOff x="0" y="0"/>
          <a:chExt cx="0" cy="0"/>
        </a:xfrm>
      </p:grpSpPr>
      <p:sp>
        <p:nvSpPr>
          <p:cNvPr id="294" name="Google Shape;294;p24"/>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5" name="Google Shape;295;p24"/>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296" name="Google Shape;296;p24"/>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Preguntas frecuentes y cierre conceptual () (2/4)</a:t>
            </a:r>
            <a:endParaRPr/>
          </a:p>
        </p:txBody>
      </p:sp>
      <p:sp>
        <p:nvSpPr>
          <p:cNvPr id="297" name="Google Shape;297;p24"/>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Tercera: entonces la base de datos tambien va en un contenedor.</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Para desarrollo y para este curso si, y es la practica normal; en produccion la respuesta honesta es que muchas organizaciones prefieren un servicio de datos gestionado, que es precisamente la decision registrada en el ADR de la Clase 2.</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Antes de cerrar hay que desactivar una colision de vocabulario que arruina la Clase 4 si no se advierte hoy.</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En el modelo C4, la palabra contenedor significa cualquier cosa que se ejecuta o almacena de forma independiente, como una aplicacion web, una API o una base de datos, y es un concepto de diagrama anterior a Docker.</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El contenedor de Docker, en cambio, es un mecanismo concreto de empaquetado y ejecucion.</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Se parecen y a menudo coinciden uno a uno, pero no son sinonimos: una base de datos gestionada que nadie contenerizo sigue siendo un contenedor en el sentido de C4.</a:t>
            </a:r>
            <a:endParaRPr/>
          </a:p>
        </p:txBody>
      </p:sp>
      <p:sp>
        <p:nvSpPr>
          <p:cNvPr id="298" name="Google Shape;298;p24"/>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24</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sp>
        <p:nvSpPr>
          <p:cNvPr id="303" name="Google Shape;303;p25"/>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04" name="Google Shape;304;p25"/>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05" name="Google Shape;305;p25"/>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Preguntas frecuentes y cierre conceptual () (3/4)</a:t>
            </a:r>
            <a:endParaRPr/>
          </a:p>
        </p:txBody>
      </p:sp>
      <p:sp>
        <p:nvSpPr>
          <p:cNvPr id="306" name="Google Shape;306;p25"/>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Decirlo hoy, mientras el estudiante tiene un docker ps en la pantalla, cuesta dos minutos</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No decirlo cuesta media clase de confusion la semana siguiente, cuando se dibuje el C4 Containers de CloudLite y alguien pregunte si debe dockerizar cada caja del diagrama.</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Error tipico del docente que no domina el tema: repetir que un contenedor es una maquina virtual liviana y dejarlo ahi.</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El estudiante que aprende eso concluye que puede correr cualquier cosa en cualquier parte con aislamiento total</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Y en la Clase 6 no entendera por que el kernel compartido es un asunto de seguridad, ni por que existe la recomendacion de no ejecutar el proceso como usuario root dentro del contenedor.</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El segundo error es convertir la clase en un recetario de comandos: dictar docker build, docker run y docker ps al tablero para que todos copien, sin explicar la distincion entre imagen y contenedor ni el modelo de capas.</a:t>
            </a:r>
            <a:endParaRPr/>
          </a:p>
        </p:txBody>
      </p:sp>
      <p:sp>
        <p:nvSpPr>
          <p:cNvPr id="307" name="Google Shape;307;p25"/>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1" name="Shape 311"/>
        <p:cNvGrpSpPr/>
        <p:nvPr/>
      </p:nvGrpSpPr>
      <p:grpSpPr>
        <a:xfrm>
          <a:off x="0" y="0"/>
          <a:ext cx="0" cy="0"/>
          <a:chOff x="0" y="0"/>
          <a:chExt cx="0" cy="0"/>
        </a:xfrm>
      </p:grpSpPr>
      <p:sp>
        <p:nvSpPr>
          <p:cNvPr id="312" name="Google Shape;312;p26"/>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13" name="Google Shape;313;p26"/>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14" name="Google Shape;314;p26"/>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Preguntas frecuentes y cierre conceptual () (4/4)</a:t>
            </a:r>
            <a:endParaRPr/>
          </a:p>
        </p:txBody>
      </p:sp>
      <p:sp>
        <p:nvSpPr>
          <p:cNvPr id="315" name="Google Shape;315;p26"/>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Un grupo que solo copio comandos consigue la captura del entregable, pero en la Clase 8, cuando el pipeline de integracion continua deba construir una imagen automaticamente, no sabra que esta construyendo ni por que su build tarda cinco minutos</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Y en la sustentacion de la Clase 15 describira su arquitectura diciendo que lo metieron en Docker, que no es una decision arquitectonica sino una herramienta sin justificar.</a:t>
            </a:r>
            <a:endParaRPr/>
          </a:p>
        </p:txBody>
      </p:sp>
      <p:sp>
        <p:nvSpPr>
          <p:cNvPr id="316" name="Google Shape;316;p26"/>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26</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0" name="Shape 320"/>
        <p:cNvGrpSpPr/>
        <p:nvPr/>
      </p:nvGrpSpPr>
      <p:grpSpPr>
        <a:xfrm>
          <a:off x="0" y="0"/>
          <a:ext cx="0" cy="0"/>
          <a:chOff x="0" y="0"/>
          <a:chExt cx="0" cy="0"/>
        </a:xfrm>
      </p:grpSpPr>
      <p:sp>
        <p:nvSpPr>
          <p:cNvPr id="321" name="Google Shape;321;p27"/>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2" name="Google Shape;322;p27"/>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3" name="Google Shape;323;p27"/>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El Dockerfile minimo, capa por capa</a:t>
            </a:r>
            <a:endParaRPr/>
          </a:p>
        </p:txBody>
      </p:sp>
      <p:sp>
        <p:nvSpPr>
          <p:cNvPr id="324" name="Google Shape;324;p27"/>
          <p:cNvSpPr/>
          <p:nvPr/>
        </p:nvSpPr>
        <p:spPr>
          <a:xfrm>
            <a:off x="457200" y="1261872"/>
            <a:ext cx="11277295" cy="5093208"/>
          </a:xfrm>
          <a:prstGeom prst="roundRect">
            <a:avLst>
              <a:gd fmla="val 12000" name="adj"/>
            </a:avLst>
          </a:prstGeom>
          <a:solidFill>
            <a:srgbClr val="1E2A3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5" name="Google Shape;325;p27"/>
          <p:cNvSpPr/>
          <p:nvPr/>
        </p:nvSpPr>
        <p:spPr>
          <a:xfrm>
            <a:off x="457200" y="1261872"/>
            <a:ext cx="11277295" cy="32004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26" name="Google Shape;326;p27"/>
          <p:cNvSpPr txBox="1"/>
          <p:nvPr/>
        </p:nvSpPr>
        <p:spPr>
          <a:xfrm>
            <a:off x="685800" y="1307592"/>
            <a:ext cx="10820095"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1" i="0" lang="en-US" sz="1000">
                <a:solidFill>
                  <a:srgbClr val="269CCB"/>
                </a:solidFill>
                <a:latin typeface="Calibri"/>
                <a:ea typeface="Calibri"/>
                <a:cs typeface="Calibri"/>
                <a:sym typeface="Calibri"/>
              </a:rPr>
              <a:t>● ● ●</a:t>
            </a:r>
            <a:endParaRPr/>
          </a:p>
        </p:txBody>
      </p:sp>
      <p:sp>
        <p:nvSpPr>
          <p:cNvPr id="327" name="Google Shape;327;p27"/>
          <p:cNvSpPr txBox="1"/>
          <p:nvPr/>
        </p:nvSpPr>
        <p:spPr>
          <a:xfrm>
            <a:off x="777240" y="1719072"/>
            <a:ext cx="10637215" cy="44531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400">
                <a:solidFill>
                  <a:srgbClr val="FFFFFF"/>
                </a:solidFill>
                <a:latin typeface="Calibri"/>
                <a:ea typeface="Calibri"/>
                <a:cs typeface="Calibri"/>
                <a:sym typeface="Calibri"/>
              </a:rPr>
              <a:t># Cada instruccion es UNA CAPA. El orden decide que se reconstruye.</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FROM node:20-alpine</a:t>
            </a:r>
            <a:endParaRPr/>
          </a:p>
          <a:p>
            <a:pPr indent="0" lvl="0" marL="0" marR="0" rtl="0" algn="l">
              <a:spcBef>
                <a:spcPts val="400"/>
              </a:spcBef>
              <a:spcAft>
                <a:spcPts val="0"/>
              </a:spcAft>
              <a:buNone/>
            </a:pPr>
            <a:r>
              <a:t/>
            </a:r>
            <a:endParaRPr b="0" i="0" sz="1400">
              <a:solidFill>
                <a:srgbClr val="FFFFFF"/>
              </a:solidFill>
              <a:latin typeface="Calibri"/>
              <a:ea typeface="Calibri"/>
              <a:cs typeface="Calibri"/>
              <a:sym typeface="Calibri"/>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WORKDIR /app</a:t>
            </a:r>
            <a:endParaRPr/>
          </a:p>
          <a:p>
            <a:pPr indent="0" lvl="0" marL="0" marR="0" rtl="0" algn="l">
              <a:spcBef>
                <a:spcPts val="400"/>
              </a:spcBef>
              <a:spcAft>
                <a:spcPts val="0"/>
              </a:spcAft>
              <a:buNone/>
            </a:pPr>
            <a:r>
              <a:t/>
            </a:r>
            <a:endParaRPr b="0" i="0" sz="1400">
              <a:solidFill>
                <a:srgbClr val="FFFFFF"/>
              </a:solidFill>
              <a:latin typeface="Calibri"/>
              <a:ea typeface="Calibri"/>
              <a:cs typeface="Calibri"/>
              <a:sym typeface="Calibri"/>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Primero las dependencias: si el codigo cambia y package.json no,</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esta capa se reutiliza de la cache y el build tarda segundos.</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COPY package*.json ./</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RUN npm ci --omit=dev</a:t>
            </a:r>
            <a:endParaRPr/>
          </a:p>
          <a:p>
            <a:pPr indent="0" lvl="0" marL="0" marR="0" rtl="0" algn="l">
              <a:spcBef>
                <a:spcPts val="400"/>
              </a:spcBef>
              <a:spcAft>
                <a:spcPts val="0"/>
              </a:spcAft>
              <a:buNone/>
            </a:pPr>
            <a:r>
              <a:t/>
            </a:r>
            <a:endParaRPr b="0" i="0" sz="1400">
              <a:solidFill>
                <a:srgbClr val="FFFFFF"/>
              </a:solidFill>
              <a:latin typeface="Calibri"/>
              <a:ea typeface="Calibri"/>
              <a:cs typeface="Calibri"/>
              <a:sym typeface="Calibri"/>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Despues el codigo, que es lo que cambia en cada commit.</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COPY..</a:t>
            </a:r>
            <a:endParaRPr/>
          </a:p>
          <a:p>
            <a:pPr indent="0" lvl="0" marL="0" marR="0" rtl="0" algn="l">
              <a:spcBef>
                <a:spcPts val="400"/>
              </a:spcBef>
              <a:spcAft>
                <a:spcPts val="0"/>
              </a:spcAft>
              <a:buNone/>
            </a:pPr>
            <a:r>
              <a:t/>
            </a:r>
            <a:endParaRPr b="0" i="0" sz="1400">
              <a:solidFill>
                <a:srgbClr val="FFFFFF"/>
              </a:solidFill>
              <a:latin typeface="Calibri"/>
              <a:ea typeface="Calibri"/>
              <a:cs typeface="Calibri"/>
              <a:sym typeface="Calibri"/>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EXPOSE 3000</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CMD ["node", "server.js"]</a:t>
            </a:r>
            <a:endParaRPr/>
          </a:p>
        </p:txBody>
      </p:sp>
      <p:sp>
        <p:nvSpPr>
          <p:cNvPr id="328" name="Google Shape;328;p27"/>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27</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2" name="Shape 332"/>
        <p:cNvGrpSpPr/>
        <p:nvPr/>
      </p:nvGrpSpPr>
      <p:grpSpPr>
        <a:xfrm>
          <a:off x="0" y="0"/>
          <a:ext cx="0" cy="0"/>
          <a:chOff x="0" y="0"/>
          <a:chExt cx="0" cy="0"/>
        </a:xfrm>
      </p:grpSpPr>
      <p:sp>
        <p:nvSpPr>
          <p:cNvPr id="333" name="Google Shape;333;p28"/>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4" name="Google Shape;334;p28"/>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5" name="Google Shape;335;p28"/>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El ciclo completo: construir, ejecutar, verificar</a:t>
            </a:r>
            <a:endParaRPr/>
          </a:p>
        </p:txBody>
      </p:sp>
      <p:sp>
        <p:nvSpPr>
          <p:cNvPr id="336" name="Google Shape;336;p28"/>
          <p:cNvSpPr/>
          <p:nvPr/>
        </p:nvSpPr>
        <p:spPr>
          <a:xfrm>
            <a:off x="457200" y="1261872"/>
            <a:ext cx="11277295" cy="5093208"/>
          </a:xfrm>
          <a:prstGeom prst="roundRect">
            <a:avLst>
              <a:gd fmla="val 12000" name="adj"/>
            </a:avLst>
          </a:prstGeom>
          <a:solidFill>
            <a:srgbClr val="1E2A3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7" name="Google Shape;337;p28"/>
          <p:cNvSpPr/>
          <p:nvPr/>
        </p:nvSpPr>
        <p:spPr>
          <a:xfrm>
            <a:off x="457200" y="1261872"/>
            <a:ext cx="11277295" cy="32004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38" name="Google Shape;338;p28"/>
          <p:cNvSpPr txBox="1"/>
          <p:nvPr/>
        </p:nvSpPr>
        <p:spPr>
          <a:xfrm>
            <a:off x="685800" y="1307592"/>
            <a:ext cx="10820095"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1" i="0" lang="en-US" sz="1000">
                <a:solidFill>
                  <a:srgbClr val="269CCB"/>
                </a:solidFill>
                <a:latin typeface="Calibri"/>
                <a:ea typeface="Calibri"/>
                <a:cs typeface="Calibri"/>
                <a:sym typeface="Calibri"/>
              </a:rPr>
              <a:t>● ● ●</a:t>
            </a:r>
            <a:endParaRPr/>
          </a:p>
        </p:txBody>
      </p:sp>
      <p:sp>
        <p:nvSpPr>
          <p:cNvPr id="339" name="Google Shape;339;p28"/>
          <p:cNvSpPr txBox="1"/>
          <p:nvPr/>
        </p:nvSpPr>
        <p:spPr>
          <a:xfrm>
            <a:off x="777240" y="1719072"/>
            <a:ext cx="10637215" cy="44531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400">
                <a:solidFill>
                  <a:srgbClr val="FFFFFF"/>
                </a:solidFill>
                <a:latin typeface="Calibri"/>
                <a:ea typeface="Calibri"/>
                <a:cs typeface="Calibri"/>
                <a:sym typeface="Calibri"/>
              </a:rPr>
              <a:t># 1. construir la imagen y etiquetarla con version</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docker build -t cloudlite-api:0.1.0.</a:t>
            </a:r>
            <a:endParaRPr/>
          </a:p>
          <a:p>
            <a:pPr indent="0" lvl="0" marL="0" marR="0" rtl="0" algn="l">
              <a:spcBef>
                <a:spcPts val="400"/>
              </a:spcBef>
              <a:spcAft>
                <a:spcPts val="0"/>
              </a:spcAft>
              <a:buNone/>
            </a:pPr>
            <a:r>
              <a:t/>
            </a:r>
            <a:endParaRPr b="0" i="0" sz="1400">
              <a:solidFill>
                <a:srgbClr val="FFFFFF"/>
              </a:solidFill>
              <a:latin typeface="Calibri"/>
              <a:ea typeface="Calibri"/>
              <a:cs typeface="Calibri"/>
              <a:sym typeface="Calibri"/>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2. ejecutarla publicando el puerto (host:contenedor)</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docker run -d --name cloudlite -p 8080:3000 cloudlite-api:0.1.0</a:t>
            </a:r>
            <a:endParaRPr/>
          </a:p>
          <a:p>
            <a:pPr indent="0" lvl="0" marL="0" marR="0" rtl="0" algn="l">
              <a:spcBef>
                <a:spcPts val="400"/>
              </a:spcBef>
              <a:spcAft>
                <a:spcPts val="0"/>
              </a:spcAft>
              <a:buNone/>
            </a:pPr>
            <a:r>
              <a:t/>
            </a:r>
            <a:endParaRPr b="0" i="0" sz="1400">
              <a:solidFill>
                <a:srgbClr val="FFFFFF"/>
              </a:solidFill>
              <a:latin typeface="Calibri"/>
              <a:ea typeface="Calibri"/>
              <a:cs typeface="Calibri"/>
              <a:sym typeface="Calibri"/>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3. verificar que responde DE VERDAD, no que el contenedor existe</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curl -i http://localhost:8080/health</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HTTP/1.1 200 OK</a:t>
            </a:r>
            <a:endParaRPr/>
          </a:p>
          <a:p>
            <a:pPr indent="0" lvl="0" marL="0" marR="0" rtl="0" algn="l">
              <a:spcBef>
                <a:spcPts val="400"/>
              </a:spcBef>
              <a:spcAft>
                <a:spcPts val="0"/>
              </a:spcAft>
              <a:buNone/>
            </a:pPr>
            <a:r>
              <a:t/>
            </a:r>
            <a:endParaRPr b="0" i="0" sz="1400">
              <a:solidFill>
                <a:srgbClr val="FFFFFF"/>
              </a:solidFill>
              <a:latin typeface="Calibri"/>
              <a:ea typeface="Calibri"/>
              <a:cs typeface="Calibri"/>
              <a:sym typeface="Calibri"/>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4. si no responde, el log es el primer sitio, no el ultimo</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docker logs cloudlite --tail 20</a:t>
            </a:r>
            <a:endParaRPr/>
          </a:p>
        </p:txBody>
      </p:sp>
      <p:sp>
        <p:nvSpPr>
          <p:cNvPr id="340" name="Google Shape;340;p28"/>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28</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4" name="Shape 344"/>
        <p:cNvGrpSpPr/>
        <p:nvPr/>
      </p:nvGrpSpPr>
      <p:grpSpPr>
        <a:xfrm>
          <a:off x="0" y="0"/>
          <a:ext cx="0" cy="0"/>
          <a:chOff x="0" y="0"/>
          <a:chExt cx="0" cy="0"/>
        </a:xfrm>
      </p:grpSpPr>
      <p:sp>
        <p:nvSpPr>
          <p:cNvPr id="345" name="Google Shape;345;p29"/>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46" name="Google Shape;346;p29"/>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47" name="Google Shape;347;p29"/>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Imagen, contenedor y capas: los comandos que lo demuestran</a:t>
            </a:r>
            <a:endParaRPr/>
          </a:p>
        </p:txBody>
      </p:sp>
      <p:sp>
        <p:nvSpPr>
          <p:cNvPr id="348" name="Google Shape;348;p29"/>
          <p:cNvSpPr/>
          <p:nvPr/>
        </p:nvSpPr>
        <p:spPr>
          <a:xfrm>
            <a:off x="457200" y="1261872"/>
            <a:ext cx="11277295" cy="5093208"/>
          </a:xfrm>
          <a:prstGeom prst="roundRect">
            <a:avLst>
              <a:gd fmla="val 12000" name="adj"/>
            </a:avLst>
          </a:prstGeom>
          <a:solidFill>
            <a:srgbClr val="1E2A3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49" name="Google Shape;349;p29"/>
          <p:cNvSpPr/>
          <p:nvPr/>
        </p:nvSpPr>
        <p:spPr>
          <a:xfrm>
            <a:off x="457200" y="1261872"/>
            <a:ext cx="11277295" cy="32004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50" name="Google Shape;350;p29"/>
          <p:cNvSpPr txBox="1"/>
          <p:nvPr/>
        </p:nvSpPr>
        <p:spPr>
          <a:xfrm>
            <a:off x="685800" y="1307592"/>
            <a:ext cx="10820095"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1" i="0" lang="en-US" sz="1000">
                <a:solidFill>
                  <a:srgbClr val="269CCB"/>
                </a:solidFill>
                <a:latin typeface="Calibri"/>
                <a:ea typeface="Calibri"/>
                <a:cs typeface="Calibri"/>
                <a:sym typeface="Calibri"/>
              </a:rPr>
              <a:t>● ● ●</a:t>
            </a:r>
            <a:endParaRPr/>
          </a:p>
        </p:txBody>
      </p:sp>
      <p:sp>
        <p:nvSpPr>
          <p:cNvPr id="351" name="Google Shape;351;p29"/>
          <p:cNvSpPr txBox="1"/>
          <p:nvPr/>
        </p:nvSpPr>
        <p:spPr>
          <a:xfrm>
            <a:off x="777240" y="1719072"/>
            <a:ext cx="10637215" cy="44531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400">
                <a:solidFill>
                  <a:srgbClr val="FFFFFF"/>
                </a:solidFill>
                <a:latin typeface="Calibri"/>
                <a:ea typeface="Calibri"/>
                <a:cs typeface="Calibri"/>
                <a:sym typeface="Calibri"/>
              </a:rPr>
              <a:t># La IMAGEN es la plantilla; el CONTENEDOR es una instancia en ejecucion.</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docker images cloudlite-api</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REPOSITORY      TAG     IMAGE ID       SIZE</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cloudlite-api   0.1.0   a1b2c3d4e5f6   142MB</a:t>
            </a:r>
            <a:endParaRPr/>
          </a:p>
          <a:p>
            <a:pPr indent="0" lvl="0" marL="0" marR="0" rtl="0" algn="l">
              <a:spcBef>
                <a:spcPts val="400"/>
              </a:spcBef>
              <a:spcAft>
                <a:spcPts val="0"/>
              </a:spcAft>
              <a:buNone/>
            </a:pPr>
            <a:r>
              <a:t/>
            </a:r>
            <a:endParaRPr b="0" i="0" sz="1400">
              <a:solidFill>
                <a:srgbClr val="FFFFFF"/>
              </a:solidFill>
              <a:latin typeface="Calibri"/>
              <a:ea typeface="Calibri"/>
              <a:cs typeface="Calibri"/>
              <a:sym typeface="Calibri"/>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docker ps</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CONTAINER ID   IMAGE                 STATUS         PORTS</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9f8e7d6c5b4a   cloudlite-api:0.1.0   Up 2 minutes   0.0.0.0:8080-&gt;3000/tcp</a:t>
            </a:r>
            <a:endParaRPr/>
          </a:p>
          <a:p>
            <a:pPr indent="0" lvl="0" marL="0" marR="0" rtl="0" algn="l">
              <a:spcBef>
                <a:spcPts val="400"/>
              </a:spcBef>
              <a:spcAft>
                <a:spcPts val="0"/>
              </a:spcAft>
              <a:buNone/>
            </a:pPr>
            <a:r>
              <a:t/>
            </a:r>
            <a:endParaRPr b="0" i="0" sz="1400">
              <a:solidFill>
                <a:srgbClr val="FFFFFF"/>
              </a:solidFill>
              <a:latin typeface="Calibri"/>
              <a:ea typeface="Calibri"/>
              <a:cs typeface="Calibri"/>
              <a:sym typeface="Calibri"/>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De una imagen salen N contenedores: eso es lo que hace escalar barato.</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docker run -d -p 8081:3000 cloudlite-api:0.1.0</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docker run -d -p 8082:3000 cloudlite-api:0.1.0</a:t>
            </a:r>
            <a:endParaRPr/>
          </a:p>
        </p:txBody>
      </p:sp>
      <p:sp>
        <p:nvSpPr>
          <p:cNvPr id="352" name="Google Shape;352;p29"/>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29</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56" name="Shape 356"/>
        <p:cNvGrpSpPr/>
        <p:nvPr/>
      </p:nvGrpSpPr>
      <p:grpSpPr>
        <a:xfrm>
          <a:off x="0" y="0"/>
          <a:ext cx="0" cy="0"/>
          <a:chOff x="0" y="0"/>
          <a:chExt cx="0" cy="0"/>
        </a:xfrm>
      </p:grpSpPr>
      <p:sp>
        <p:nvSpPr>
          <p:cNvPr id="357" name="Google Shape;357;p30"/>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58" name="Google Shape;358;p30"/>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59" name="Google Shape;359;p30"/>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Limpiar, y la prueba de que el contenedor no guarda estado</a:t>
            </a:r>
            <a:endParaRPr/>
          </a:p>
        </p:txBody>
      </p:sp>
      <p:sp>
        <p:nvSpPr>
          <p:cNvPr id="360" name="Google Shape;360;p30"/>
          <p:cNvSpPr/>
          <p:nvPr/>
        </p:nvSpPr>
        <p:spPr>
          <a:xfrm>
            <a:off x="457200" y="1261872"/>
            <a:ext cx="11277295" cy="5093208"/>
          </a:xfrm>
          <a:prstGeom prst="roundRect">
            <a:avLst>
              <a:gd fmla="val 12000" name="adj"/>
            </a:avLst>
          </a:prstGeom>
          <a:solidFill>
            <a:srgbClr val="1E2A3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1" name="Google Shape;361;p30"/>
          <p:cNvSpPr/>
          <p:nvPr/>
        </p:nvSpPr>
        <p:spPr>
          <a:xfrm>
            <a:off x="457200" y="1261872"/>
            <a:ext cx="11277295" cy="32004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62" name="Google Shape;362;p30"/>
          <p:cNvSpPr txBox="1"/>
          <p:nvPr/>
        </p:nvSpPr>
        <p:spPr>
          <a:xfrm>
            <a:off x="685800" y="1307592"/>
            <a:ext cx="10820095"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1" i="0" lang="en-US" sz="1000">
                <a:solidFill>
                  <a:srgbClr val="269CCB"/>
                </a:solidFill>
                <a:latin typeface="Calibri"/>
                <a:ea typeface="Calibri"/>
                <a:cs typeface="Calibri"/>
                <a:sym typeface="Calibri"/>
              </a:rPr>
              <a:t>● ● ●</a:t>
            </a:r>
            <a:endParaRPr/>
          </a:p>
        </p:txBody>
      </p:sp>
      <p:sp>
        <p:nvSpPr>
          <p:cNvPr id="363" name="Google Shape;363;p30"/>
          <p:cNvSpPr txBox="1"/>
          <p:nvPr/>
        </p:nvSpPr>
        <p:spPr>
          <a:xfrm>
            <a:off x="777240" y="1719072"/>
            <a:ext cx="10637215" cy="445312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400">
                <a:solidFill>
                  <a:srgbClr val="FFFFFF"/>
                </a:solidFill>
                <a:latin typeface="Calibri"/>
                <a:ea typeface="Calibri"/>
                <a:cs typeface="Calibri"/>
                <a:sym typeface="Calibri"/>
              </a:rPr>
              <a:t>$ docker stop cloudlite &amp;&amp; docker rm cloudlite</a:t>
            </a:r>
            <a:endParaRPr/>
          </a:p>
          <a:p>
            <a:pPr indent="0" lvl="0" marL="0" marR="0" rtl="0" algn="l">
              <a:spcBef>
                <a:spcPts val="400"/>
              </a:spcBef>
              <a:spcAft>
                <a:spcPts val="0"/>
              </a:spcAft>
              <a:buNone/>
            </a:pPr>
            <a:r>
              <a:t/>
            </a:r>
            <a:endParaRPr b="0" i="0" sz="1400">
              <a:solidFill>
                <a:srgbClr val="FFFFFF"/>
              </a:solidFill>
              <a:latin typeface="Calibri"/>
              <a:ea typeface="Calibri"/>
              <a:cs typeface="Calibri"/>
              <a:sym typeface="Calibri"/>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Lo escrito DENTRO del contenedor se va con el:</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docker run -d --name c1 cloudlite-api:0.1.0</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docker exec c1 sh -c 'echo hola &gt; /tmp/dato.txt'</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docker rm -f c1</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docker run --rm cloudlite-api:0.1.0 cat /tmp/dato.txt</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cat: can't open '/tmp/dato.txt': No such file or directory</a:t>
            </a:r>
            <a:endParaRPr/>
          </a:p>
          <a:p>
            <a:pPr indent="0" lvl="0" marL="0" marR="0" rtl="0" algn="l">
              <a:spcBef>
                <a:spcPts val="400"/>
              </a:spcBef>
              <a:spcAft>
                <a:spcPts val="0"/>
              </a:spcAft>
              <a:buNone/>
            </a:pPr>
            <a:r>
              <a:t/>
            </a:r>
            <a:endParaRPr b="0" i="0" sz="1400">
              <a:solidFill>
                <a:srgbClr val="FFFFFF"/>
              </a:solidFill>
              <a:latin typeface="Calibri"/>
              <a:ea typeface="Calibri"/>
              <a:cs typeface="Calibri"/>
              <a:sym typeface="Calibri"/>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Por eso el estado vive fuera: volumen o base de datos gestionada.</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docker run -d -v cloudlite_datos:/app/data cloudlite-api:0.1.0</a:t>
            </a:r>
            <a:endParaRPr/>
          </a:p>
        </p:txBody>
      </p:sp>
      <p:sp>
        <p:nvSpPr>
          <p:cNvPr id="364" name="Google Shape;364;p30"/>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30</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8" name="Shape 368"/>
        <p:cNvGrpSpPr/>
        <p:nvPr/>
      </p:nvGrpSpPr>
      <p:grpSpPr>
        <a:xfrm>
          <a:off x="0" y="0"/>
          <a:ext cx="0" cy="0"/>
          <a:chOff x="0" y="0"/>
          <a:chExt cx="0" cy="0"/>
        </a:xfrm>
      </p:grpSpPr>
      <p:sp>
        <p:nvSpPr>
          <p:cNvPr id="369" name="Google Shape;369;p31"/>
          <p:cNvSpPr/>
          <p:nvPr/>
        </p:nvSpPr>
        <p:spPr>
          <a:xfrm>
            <a:off x="0" y="0"/>
            <a:ext cx="12191695" cy="1170432"/>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0" name="Google Shape;370;p31"/>
          <p:cNvSpPr/>
          <p:nvPr/>
        </p:nvSpPr>
        <p:spPr>
          <a:xfrm>
            <a:off x="0" y="1170432"/>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71" name="Google Shape;371;p31"/>
          <p:cNvSpPr txBox="1"/>
          <p:nvPr/>
        </p:nvSpPr>
        <p:spPr>
          <a:xfrm>
            <a:off x="457200" y="164592"/>
            <a:ext cx="11277295"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Máquinas virtuales vs. contenedores</a:t>
            </a:r>
            <a:endParaRPr/>
          </a:p>
        </p:txBody>
      </p:sp>
      <p:sp>
        <p:nvSpPr>
          <p:cNvPr id="372" name="Google Shape;372;p31"/>
          <p:cNvSpPr txBox="1"/>
          <p:nvPr/>
        </p:nvSpPr>
        <p:spPr>
          <a:xfrm>
            <a:off x="457200" y="566928"/>
            <a:ext cx="11277295"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400">
                <a:solidFill>
                  <a:srgbClr val="B8D8EE"/>
                </a:solidFill>
                <a:latin typeface="Calibri"/>
                <a:ea typeface="Calibri"/>
                <a:cs typeface="Calibri"/>
                <a:sym typeface="Calibri"/>
              </a:rPr>
              <a:t>Misma capacidad de cómputo, distinto nivel de aislamiento</a:t>
            </a:r>
            <a:endParaRPr/>
          </a:p>
        </p:txBody>
      </p:sp>
      <p:sp>
        <p:nvSpPr>
          <p:cNvPr id="373" name="Google Shape;373;p31"/>
          <p:cNvSpPr/>
          <p:nvPr/>
        </p:nvSpPr>
        <p:spPr>
          <a:xfrm>
            <a:off x="822960" y="1417320"/>
            <a:ext cx="3931920" cy="457200"/>
          </a:xfrm>
          <a:prstGeom prst="roundRect">
            <a:avLst>
              <a:gd fmla="val 12000" name="adj"/>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200">
                <a:solidFill>
                  <a:srgbClr val="FFFFFF"/>
                </a:solidFill>
                <a:latin typeface="Calibri"/>
                <a:ea typeface="Calibri"/>
                <a:cs typeface="Calibri"/>
                <a:sym typeface="Calibri"/>
              </a:rPr>
              <a:t>Máquinas virtuales</a:t>
            </a:r>
            <a:endParaRPr/>
          </a:p>
        </p:txBody>
      </p:sp>
      <p:sp>
        <p:nvSpPr>
          <p:cNvPr id="374" name="Google Shape;374;p31"/>
          <p:cNvSpPr/>
          <p:nvPr/>
        </p:nvSpPr>
        <p:spPr>
          <a:xfrm>
            <a:off x="822960" y="2057400"/>
            <a:ext cx="3931920" cy="594360"/>
          </a:xfrm>
          <a:prstGeom prst="roundRect">
            <a:avLst>
              <a:gd fmla="val 12000" name="adj"/>
            </a:avLst>
          </a:prstGeom>
          <a:solidFill>
            <a:srgbClr val="333333"/>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300">
                <a:solidFill>
                  <a:srgbClr val="FFFFFF"/>
                </a:solidFill>
                <a:latin typeface="Calibri"/>
                <a:ea typeface="Calibri"/>
                <a:cs typeface="Calibri"/>
                <a:sym typeface="Calibri"/>
              </a:rPr>
              <a:t>Hardware físico</a:t>
            </a:r>
            <a:endParaRPr/>
          </a:p>
        </p:txBody>
      </p:sp>
      <p:sp>
        <p:nvSpPr>
          <p:cNvPr id="375" name="Google Shape;375;p31"/>
          <p:cNvSpPr/>
          <p:nvPr/>
        </p:nvSpPr>
        <p:spPr>
          <a:xfrm>
            <a:off x="822960" y="2697480"/>
            <a:ext cx="3931920" cy="594360"/>
          </a:xfrm>
          <a:prstGeom prst="roundRect">
            <a:avLst>
              <a:gd fmla="val 12000" name="adj"/>
            </a:avLst>
          </a:prstGeom>
          <a:solidFill>
            <a:srgbClr val="269CC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300">
                <a:solidFill>
                  <a:srgbClr val="FFFFFF"/>
                </a:solidFill>
                <a:latin typeface="Calibri"/>
                <a:ea typeface="Calibri"/>
                <a:cs typeface="Calibri"/>
                <a:sym typeface="Calibri"/>
              </a:rPr>
              <a:t>Hipervisor</a:t>
            </a:r>
            <a:endParaRPr/>
          </a:p>
        </p:txBody>
      </p:sp>
      <p:sp>
        <p:nvSpPr>
          <p:cNvPr id="376" name="Google Shape;376;p31"/>
          <p:cNvSpPr/>
          <p:nvPr/>
        </p:nvSpPr>
        <p:spPr>
          <a:xfrm>
            <a:off x="822960" y="3337560"/>
            <a:ext cx="1874519" cy="640080"/>
          </a:xfrm>
          <a:prstGeom prst="roundRect">
            <a:avLst>
              <a:gd fmla="val 12000" name="adj"/>
            </a:avLst>
          </a:prstGeom>
          <a:solidFill>
            <a:srgbClr val="269CC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100">
                <a:solidFill>
                  <a:srgbClr val="FFFFFF"/>
                </a:solidFill>
                <a:latin typeface="Calibri"/>
                <a:ea typeface="Calibri"/>
                <a:cs typeface="Calibri"/>
                <a:sym typeface="Calibri"/>
              </a:rPr>
              <a:t>SO invitado A</a:t>
            </a:r>
            <a:br>
              <a:rPr b="1" i="0" lang="en-US" sz="1100">
                <a:solidFill>
                  <a:srgbClr val="FFFFFF"/>
                </a:solidFill>
                <a:latin typeface="Calibri"/>
                <a:ea typeface="Calibri"/>
                <a:cs typeface="Calibri"/>
                <a:sym typeface="Calibri"/>
              </a:rPr>
            </a:br>
            <a:r>
              <a:rPr b="1" i="0" lang="en-US" sz="1100">
                <a:solidFill>
                  <a:srgbClr val="FFFFFF"/>
                </a:solidFill>
                <a:latin typeface="Calibri"/>
                <a:ea typeface="Calibri"/>
                <a:cs typeface="Calibri"/>
                <a:sym typeface="Calibri"/>
              </a:rPr>
              <a:t>(completo)</a:t>
            </a:r>
            <a:endParaRPr/>
          </a:p>
        </p:txBody>
      </p:sp>
      <p:sp>
        <p:nvSpPr>
          <p:cNvPr id="377" name="Google Shape;377;p31"/>
          <p:cNvSpPr/>
          <p:nvPr/>
        </p:nvSpPr>
        <p:spPr>
          <a:xfrm>
            <a:off x="2880360" y="3337560"/>
            <a:ext cx="1874519" cy="640080"/>
          </a:xfrm>
          <a:prstGeom prst="roundRect">
            <a:avLst>
              <a:gd fmla="val 12000" name="adj"/>
            </a:avLst>
          </a:prstGeom>
          <a:solidFill>
            <a:srgbClr val="269CC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100">
                <a:solidFill>
                  <a:srgbClr val="FFFFFF"/>
                </a:solidFill>
                <a:latin typeface="Calibri"/>
                <a:ea typeface="Calibri"/>
                <a:cs typeface="Calibri"/>
                <a:sym typeface="Calibri"/>
              </a:rPr>
              <a:t>SO invitado B</a:t>
            </a:r>
            <a:br>
              <a:rPr b="1" i="0" lang="en-US" sz="1100">
                <a:solidFill>
                  <a:srgbClr val="FFFFFF"/>
                </a:solidFill>
                <a:latin typeface="Calibri"/>
                <a:ea typeface="Calibri"/>
                <a:cs typeface="Calibri"/>
                <a:sym typeface="Calibri"/>
              </a:rPr>
            </a:br>
            <a:r>
              <a:rPr b="1" i="0" lang="en-US" sz="1100">
                <a:solidFill>
                  <a:srgbClr val="FFFFFF"/>
                </a:solidFill>
                <a:latin typeface="Calibri"/>
                <a:ea typeface="Calibri"/>
                <a:cs typeface="Calibri"/>
                <a:sym typeface="Calibri"/>
              </a:rPr>
              <a:t>(completo)</a:t>
            </a:r>
            <a:endParaRPr/>
          </a:p>
        </p:txBody>
      </p:sp>
      <p:sp>
        <p:nvSpPr>
          <p:cNvPr id="378" name="Google Shape;378;p31"/>
          <p:cNvSpPr/>
          <p:nvPr/>
        </p:nvSpPr>
        <p:spPr>
          <a:xfrm>
            <a:off x="822960" y="4023360"/>
            <a:ext cx="1874519" cy="548640"/>
          </a:xfrm>
          <a:prstGeom prst="roundRect">
            <a:avLst>
              <a:gd fmla="val 12000" name="adj"/>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300">
                <a:solidFill>
                  <a:srgbClr val="095292"/>
                </a:solidFill>
                <a:latin typeface="Calibri"/>
                <a:ea typeface="Calibri"/>
                <a:cs typeface="Calibri"/>
                <a:sym typeface="Calibri"/>
              </a:rPr>
              <a:t>App A</a:t>
            </a:r>
            <a:endParaRPr/>
          </a:p>
        </p:txBody>
      </p:sp>
      <p:sp>
        <p:nvSpPr>
          <p:cNvPr id="379" name="Google Shape;379;p31"/>
          <p:cNvSpPr/>
          <p:nvPr/>
        </p:nvSpPr>
        <p:spPr>
          <a:xfrm>
            <a:off x="2880360" y="4023360"/>
            <a:ext cx="1874519" cy="548640"/>
          </a:xfrm>
          <a:prstGeom prst="roundRect">
            <a:avLst>
              <a:gd fmla="val 12000" name="adj"/>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300">
                <a:solidFill>
                  <a:srgbClr val="095292"/>
                </a:solidFill>
                <a:latin typeface="Calibri"/>
                <a:ea typeface="Calibri"/>
                <a:cs typeface="Calibri"/>
                <a:sym typeface="Calibri"/>
              </a:rPr>
              <a:t>App B</a:t>
            </a:r>
            <a:endParaRPr/>
          </a:p>
        </p:txBody>
      </p:sp>
      <p:sp>
        <p:nvSpPr>
          <p:cNvPr id="380" name="Google Shape;380;p31"/>
          <p:cNvSpPr/>
          <p:nvPr/>
        </p:nvSpPr>
        <p:spPr>
          <a:xfrm>
            <a:off x="7315200" y="1417320"/>
            <a:ext cx="3931920" cy="457200"/>
          </a:xfrm>
          <a:prstGeom prst="roundRect">
            <a:avLst>
              <a:gd fmla="val 12000" name="adj"/>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200">
                <a:solidFill>
                  <a:srgbClr val="FFFFFF"/>
                </a:solidFill>
                <a:latin typeface="Calibri"/>
                <a:ea typeface="Calibri"/>
                <a:cs typeface="Calibri"/>
                <a:sym typeface="Calibri"/>
              </a:rPr>
              <a:t>Contenedores</a:t>
            </a:r>
            <a:endParaRPr/>
          </a:p>
        </p:txBody>
      </p:sp>
      <p:sp>
        <p:nvSpPr>
          <p:cNvPr id="381" name="Google Shape;381;p31"/>
          <p:cNvSpPr/>
          <p:nvPr/>
        </p:nvSpPr>
        <p:spPr>
          <a:xfrm>
            <a:off x="7315200" y="2057400"/>
            <a:ext cx="3931920" cy="594360"/>
          </a:xfrm>
          <a:prstGeom prst="roundRect">
            <a:avLst>
              <a:gd fmla="val 12000" name="adj"/>
            </a:avLst>
          </a:prstGeom>
          <a:solidFill>
            <a:srgbClr val="333333"/>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300">
                <a:solidFill>
                  <a:srgbClr val="FFFFFF"/>
                </a:solidFill>
                <a:latin typeface="Calibri"/>
                <a:ea typeface="Calibri"/>
                <a:cs typeface="Calibri"/>
                <a:sym typeface="Calibri"/>
              </a:rPr>
              <a:t>Hardware físico</a:t>
            </a:r>
            <a:endParaRPr/>
          </a:p>
        </p:txBody>
      </p:sp>
      <p:sp>
        <p:nvSpPr>
          <p:cNvPr id="382" name="Google Shape;382;p31"/>
          <p:cNvSpPr/>
          <p:nvPr/>
        </p:nvSpPr>
        <p:spPr>
          <a:xfrm>
            <a:off x="7315200" y="2697480"/>
            <a:ext cx="3931920" cy="594360"/>
          </a:xfrm>
          <a:prstGeom prst="roundRect">
            <a:avLst>
              <a:gd fmla="val 12000" name="adj"/>
            </a:avLst>
          </a:prstGeom>
          <a:solidFill>
            <a:srgbClr val="269CC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050">
                <a:solidFill>
                  <a:srgbClr val="FFFFFF"/>
                </a:solidFill>
                <a:latin typeface="Calibri"/>
                <a:ea typeface="Calibri"/>
                <a:cs typeface="Calibri"/>
                <a:sym typeface="Calibri"/>
              </a:rPr>
              <a:t>SO anfitrión + motor de contenedores (kernel compartido)</a:t>
            </a:r>
            <a:endParaRPr/>
          </a:p>
        </p:txBody>
      </p:sp>
      <p:sp>
        <p:nvSpPr>
          <p:cNvPr id="383" name="Google Shape;383;p31"/>
          <p:cNvSpPr/>
          <p:nvPr/>
        </p:nvSpPr>
        <p:spPr>
          <a:xfrm>
            <a:off x="7315200" y="3337560"/>
            <a:ext cx="1874519" cy="640080"/>
          </a:xfrm>
          <a:prstGeom prst="roundRect">
            <a:avLst>
              <a:gd fmla="val 12000" name="adj"/>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100">
                <a:solidFill>
                  <a:srgbClr val="095292"/>
                </a:solidFill>
                <a:latin typeface="Calibri"/>
                <a:ea typeface="Calibri"/>
                <a:cs typeface="Calibri"/>
                <a:sym typeface="Calibri"/>
              </a:rPr>
              <a:t>Contenedor A</a:t>
            </a:r>
            <a:br>
              <a:rPr b="1" i="0" lang="en-US" sz="1100">
                <a:solidFill>
                  <a:srgbClr val="095292"/>
                </a:solidFill>
                <a:latin typeface="Calibri"/>
                <a:ea typeface="Calibri"/>
                <a:cs typeface="Calibri"/>
                <a:sym typeface="Calibri"/>
              </a:rPr>
            </a:br>
            <a:r>
              <a:rPr b="1" i="0" lang="en-US" sz="1100">
                <a:solidFill>
                  <a:srgbClr val="095292"/>
                </a:solidFill>
                <a:latin typeface="Calibri"/>
                <a:ea typeface="Calibri"/>
                <a:cs typeface="Calibri"/>
                <a:sym typeface="Calibri"/>
              </a:rPr>
              <a:t>(App A)</a:t>
            </a:r>
            <a:endParaRPr/>
          </a:p>
        </p:txBody>
      </p:sp>
      <p:sp>
        <p:nvSpPr>
          <p:cNvPr id="384" name="Google Shape;384;p31"/>
          <p:cNvSpPr/>
          <p:nvPr/>
        </p:nvSpPr>
        <p:spPr>
          <a:xfrm>
            <a:off x="9372600" y="3337560"/>
            <a:ext cx="1874519" cy="640080"/>
          </a:xfrm>
          <a:prstGeom prst="roundRect">
            <a:avLst>
              <a:gd fmla="val 12000" name="adj"/>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100">
                <a:solidFill>
                  <a:srgbClr val="095292"/>
                </a:solidFill>
                <a:latin typeface="Calibri"/>
                <a:ea typeface="Calibri"/>
                <a:cs typeface="Calibri"/>
                <a:sym typeface="Calibri"/>
              </a:rPr>
              <a:t>Contenedor B</a:t>
            </a:r>
            <a:br>
              <a:rPr b="1" i="0" lang="en-US" sz="1100">
                <a:solidFill>
                  <a:srgbClr val="095292"/>
                </a:solidFill>
                <a:latin typeface="Calibri"/>
                <a:ea typeface="Calibri"/>
                <a:cs typeface="Calibri"/>
                <a:sym typeface="Calibri"/>
              </a:rPr>
            </a:br>
            <a:r>
              <a:rPr b="1" i="0" lang="en-US" sz="1100">
                <a:solidFill>
                  <a:srgbClr val="095292"/>
                </a:solidFill>
                <a:latin typeface="Calibri"/>
                <a:ea typeface="Calibri"/>
                <a:cs typeface="Calibri"/>
                <a:sym typeface="Calibri"/>
              </a:rPr>
              <a:t>(App B)</a:t>
            </a:r>
            <a:endParaRPr/>
          </a:p>
        </p:txBody>
      </p:sp>
      <p:sp>
        <p:nvSpPr>
          <p:cNvPr id="385" name="Google Shape;385;p31"/>
          <p:cNvSpPr txBox="1"/>
          <p:nvPr/>
        </p:nvSpPr>
        <p:spPr>
          <a:xfrm>
            <a:off x="457200" y="6263640"/>
            <a:ext cx="11277295"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1" lang="en-US" sz="1100">
                <a:solidFill>
                  <a:srgbClr val="666666"/>
                </a:solidFill>
                <a:latin typeface="Calibri"/>
                <a:ea typeface="Calibri"/>
                <a:cs typeface="Calibri"/>
                <a:sym typeface="Calibri"/>
              </a:rPr>
              <a:t>VM: cada instancia carga un SO completo (aislamiento fuerte, más pesado). Contenedor: comparte el kernel del anfitrión y solo empaqueta app + dependencias (arranca en segundos, pesa MB no GB).</a:t>
            </a:r>
            <a:endParaRPr/>
          </a:p>
        </p:txBody>
      </p:sp>
      <p:sp>
        <p:nvSpPr>
          <p:cNvPr id="386" name="Google Shape;386;p31"/>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31</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90" name="Shape 390"/>
        <p:cNvGrpSpPr/>
        <p:nvPr/>
      </p:nvGrpSpPr>
      <p:grpSpPr>
        <a:xfrm>
          <a:off x="0" y="0"/>
          <a:ext cx="0" cy="0"/>
          <a:chOff x="0" y="0"/>
          <a:chExt cx="0" cy="0"/>
        </a:xfrm>
      </p:grpSpPr>
      <p:sp>
        <p:nvSpPr>
          <p:cNvPr id="391" name="Google Shape;391;p32"/>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2" name="Google Shape;392;p32"/>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32"/>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Maquina virtual vs contenedor — que cambia de verdad</a:t>
            </a:r>
            <a:endParaRPr/>
          </a:p>
        </p:txBody>
      </p:sp>
      <p:sp>
        <p:nvSpPr>
          <p:cNvPr id="394" name="Google Shape;394;p32"/>
          <p:cNvSpPr/>
          <p:nvPr/>
        </p:nvSpPr>
        <p:spPr>
          <a:xfrm>
            <a:off x="457200" y="1261872"/>
            <a:ext cx="5478627" cy="5093208"/>
          </a:xfrm>
          <a:prstGeom prst="roundRect">
            <a:avLst>
              <a:gd fmla="val 12000" name="adj"/>
            </a:avLst>
          </a:prstGeom>
          <a:solidFill>
            <a:srgbClr val="FBE4E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5" name="Google Shape;395;p32"/>
          <p:cNvSpPr/>
          <p:nvPr/>
        </p:nvSpPr>
        <p:spPr>
          <a:xfrm>
            <a:off x="457200" y="1261872"/>
            <a:ext cx="5478627" cy="502920"/>
          </a:xfrm>
          <a:prstGeom prst="rect">
            <a:avLst/>
          </a:prstGeom>
          <a:solidFill>
            <a:srgbClr val="A0203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6" name="Google Shape;396;p32"/>
          <p:cNvSpPr txBox="1"/>
          <p:nvPr/>
        </p:nvSpPr>
        <p:spPr>
          <a:xfrm>
            <a:off x="594360" y="1353312"/>
            <a:ext cx="5204307"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600">
                <a:solidFill>
                  <a:srgbClr val="FFFFFF"/>
                </a:solidFill>
                <a:latin typeface="Calibri"/>
                <a:ea typeface="Calibri"/>
                <a:cs typeface="Calibri"/>
                <a:sym typeface="Calibri"/>
              </a:rPr>
              <a:t>Maquina virtual</a:t>
            </a:r>
            <a:endParaRPr/>
          </a:p>
        </p:txBody>
      </p:sp>
      <p:sp>
        <p:nvSpPr>
          <p:cNvPr id="397" name="Google Shape;397;p32"/>
          <p:cNvSpPr txBox="1"/>
          <p:nvPr/>
        </p:nvSpPr>
        <p:spPr>
          <a:xfrm>
            <a:off x="621792" y="1901952"/>
            <a:ext cx="5158587" cy="44988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500">
                <a:solidFill>
                  <a:srgbClr val="333333"/>
                </a:solidFill>
                <a:latin typeface="Calibri"/>
                <a:ea typeface="Calibri"/>
                <a:cs typeface="Calibri"/>
                <a:sym typeface="Calibri"/>
              </a:rPr>
              <a:t>–   Cada instancia trae un </a:t>
            </a:r>
            <a:r>
              <a:rPr b="1" i="0" lang="en-US" sz="1500">
                <a:solidFill>
                  <a:srgbClr val="333333"/>
                </a:solidFill>
                <a:latin typeface="Calibri"/>
                <a:ea typeface="Calibri"/>
                <a:cs typeface="Calibri"/>
                <a:sym typeface="Calibri"/>
              </a:rPr>
              <a:t>SO completo</a:t>
            </a:r>
            <a:r>
              <a:rPr b="0" i="0" lang="en-US" sz="1500">
                <a:solidFill>
                  <a:srgbClr val="333333"/>
                </a:solidFill>
                <a:latin typeface="Calibri"/>
                <a:ea typeface="Calibri"/>
                <a:cs typeface="Calibri"/>
                <a:sym typeface="Calibri"/>
              </a:rPr>
              <a:t> (kernel propio)</a:t>
            </a:r>
            <a:endParaRPr/>
          </a:p>
          <a:p>
            <a:pPr indent="0" lvl="0" marL="0" marR="0" rtl="0" algn="l">
              <a:spcBef>
                <a:spcPts val="800"/>
              </a:spcBef>
              <a:spcAft>
                <a:spcPts val="0"/>
              </a:spcAft>
              <a:buNone/>
            </a:pPr>
            <a:r>
              <a:rPr b="0" i="0" lang="en-US" sz="1500">
                <a:solidFill>
                  <a:srgbClr val="333333"/>
                </a:solidFill>
                <a:latin typeface="Calibri"/>
                <a:ea typeface="Calibri"/>
                <a:cs typeface="Calibri"/>
                <a:sym typeface="Calibri"/>
              </a:rPr>
              <a:t>–   Aislamiento fuerte a nivel de hardware virtual</a:t>
            </a:r>
            <a:endParaRPr/>
          </a:p>
          <a:p>
            <a:pPr indent="0" lvl="0" marL="0" marR="0" rtl="0" algn="l">
              <a:spcBef>
                <a:spcPts val="800"/>
              </a:spcBef>
              <a:spcAft>
                <a:spcPts val="0"/>
              </a:spcAft>
              <a:buNone/>
            </a:pPr>
            <a:r>
              <a:rPr b="0" i="0" lang="en-US" sz="1500">
                <a:solidFill>
                  <a:srgbClr val="333333"/>
                </a:solidFill>
                <a:latin typeface="Calibri"/>
                <a:ea typeface="Calibri"/>
                <a:cs typeface="Calibri"/>
                <a:sym typeface="Calibri"/>
              </a:rPr>
              <a:t>–   Arranque en </a:t>
            </a:r>
            <a:r>
              <a:rPr b="1" i="0" lang="en-US" sz="1500">
                <a:solidFill>
                  <a:srgbClr val="333333"/>
                </a:solidFill>
                <a:latin typeface="Calibri"/>
                <a:ea typeface="Calibri"/>
                <a:cs typeface="Calibri"/>
                <a:sym typeface="Calibri"/>
              </a:rPr>
              <a:t>minutos</a:t>
            </a:r>
            <a:r>
              <a:rPr b="0" i="0" lang="en-US" sz="1500">
                <a:solidFill>
                  <a:srgbClr val="333333"/>
                </a:solidFill>
                <a:latin typeface="Calibri"/>
                <a:ea typeface="Calibri"/>
                <a:cs typeface="Calibri"/>
                <a:sym typeface="Calibri"/>
              </a:rPr>
              <a:t>, tamaño en </a:t>
            </a:r>
            <a:r>
              <a:rPr b="1" i="0" lang="en-US" sz="1500">
                <a:solidFill>
                  <a:srgbClr val="333333"/>
                </a:solidFill>
                <a:latin typeface="Calibri"/>
                <a:ea typeface="Calibri"/>
                <a:cs typeface="Calibri"/>
                <a:sym typeface="Calibri"/>
              </a:rPr>
              <a:t>GB</a:t>
            </a:r>
            <a:endParaRPr/>
          </a:p>
          <a:p>
            <a:pPr indent="0" lvl="0" marL="0" marR="0" rtl="0" algn="l">
              <a:spcBef>
                <a:spcPts val="800"/>
              </a:spcBef>
              <a:spcAft>
                <a:spcPts val="0"/>
              </a:spcAft>
              <a:buNone/>
            </a:pPr>
            <a:r>
              <a:rPr b="0" i="0" lang="en-US" sz="1500">
                <a:solidFill>
                  <a:srgbClr val="333333"/>
                </a:solidFill>
                <a:latin typeface="Calibri"/>
                <a:ea typeface="Calibri"/>
                <a:cs typeface="Calibri"/>
                <a:sym typeface="Calibri"/>
              </a:rPr>
              <a:t>–   Util cuando se necesitan SO distintos</a:t>
            </a:r>
            <a:endParaRPr/>
          </a:p>
        </p:txBody>
      </p:sp>
      <p:sp>
        <p:nvSpPr>
          <p:cNvPr id="398" name="Google Shape;398;p32"/>
          <p:cNvSpPr/>
          <p:nvPr/>
        </p:nvSpPr>
        <p:spPr>
          <a:xfrm>
            <a:off x="6255867" y="1261872"/>
            <a:ext cx="5478627" cy="5093208"/>
          </a:xfrm>
          <a:prstGeom prst="roundRect">
            <a:avLst>
              <a:gd fmla="val 12000" name="adj"/>
            </a:avLst>
          </a:prstGeom>
          <a:solidFill>
            <a:srgbClr val="E8F4FA"/>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32"/>
          <p:cNvSpPr/>
          <p:nvPr/>
        </p:nvSpPr>
        <p:spPr>
          <a:xfrm>
            <a:off x="6255867" y="1261872"/>
            <a:ext cx="5478627" cy="5029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0" name="Google Shape;400;p32"/>
          <p:cNvSpPr txBox="1"/>
          <p:nvPr/>
        </p:nvSpPr>
        <p:spPr>
          <a:xfrm>
            <a:off x="6393027" y="1353312"/>
            <a:ext cx="5204307" cy="36576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1600">
                <a:solidFill>
                  <a:srgbClr val="FFFFFF"/>
                </a:solidFill>
                <a:latin typeface="Calibri"/>
                <a:ea typeface="Calibri"/>
                <a:cs typeface="Calibri"/>
                <a:sym typeface="Calibri"/>
              </a:rPr>
              <a:t>Contenedor</a:t>
            </a:r>
            <a:endParaRPr/>
          </a:p>
        </p:txBody>
      </p:sp>
      <p:sp>
        <p:nvSpPr>
          <p:cNvPr id="401" name="Google Shape;401;p32"/>
          <p:cNvSpPr txBox="1"/>
          <p:nvPr/>
        </p:nvSpPr>
        <p:spPr>
          <a:xfrm>
            <a:off x="6420459" y="1901952"/>
            <a:ext cx="5158587" cy="44988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500">
                <a:solidFill>
                  <a:srgbClr val="333333"/>
                </a:solidFill>
                <a:latin typeface="Calibri"/>
                <a:ea typeface="Calibri"/>
                <a:cs typeface="Calibri"/>
                <a:sym typeface="Calibri"/>
              </a:rPr>
              <a:t>–   </a:t>
            </a:r>
            <a:r>
              <a:rPr b="1" i="0" lang="en-US" sz="1500">
                <a:solidFill>
                  <a:srgbClr val="333333"/>
                </a:solidFill>
                <a:latin typeface="Calibri"/>
                <a:ea typeface="Calibri"/>
                <a:cs typeface="Calibri"/>
                <a:sym typeface="Calibri"/>
              </a:rPr>
              <a:t>Comparte el kernel</a:t>
            </a:r>
            <a:r>
              <a:rPr b="0" i="0" lang="en-US" sz="1500">
                <a:solidFill>
                  <a:srgbClr val="333333"/>
                </a:solidFill>
                <a:latin typeface="Calibri"/>
                <a:ea typeface="Calibri"/>
                <a:cs typeface="Calibri"/>
                <a:sym typeface="Calibri"/>
              </a:rPr>
              <a:t> del anfitrion</a:t>
            </a:r>
            <a:endParaRPr/>
          </a:p>
          <a:p>
            <a:pPr indent="0" lvl="0" marL="0" marR="0" rtl="0" algn="l">
              <a:spcBef>
                <a:spcPts val="800"/>
              </a:spcBef>
              <a:spcAft>
                <a:spcPts val="0"/>
              </a:spcAft>
              <a:buNone/>
            </a:pPr>
            <a:r>
              <a:rPr b="0" i="0" lang="en-US" sz="1500">
                <a:solidFill>
                  <a:srgbClr val="333333"/>
                </a:solidFill>
                <a:latin typeface="Calibri"/>
                <a:ea typeface="Calibri"/>
                <a:cs typeface="Calibri"/>
                <a:sym typeface="Calibri"/>
              </a:rPr>
              <a:t>–   Empaqueta solo app + dependencias</a:t>
            </a:r>
            <a:endParaRPr/>
          </a:p>
          <a:p>
            <a:pPr indent="0" lvl="0" marL="0" marR="0" rtl="0" algn="l">
              <a:spcBef>
                <a:spcPts val="800"/>
              </a:spcBef>
              <a:spcAft>
                <a:spcPts val="0"/>
              </a:spcAft>
              <a:buNone/>
            </a:pPr>
            <a:r>
              <a:rPr b="0" i="0" lang="en-US" sz="1500">
                <a:solidFill>
                  <a:srgbClr val="333333"/>
                </a:solidFill>
                <a:latin typeface="Calibri"/>
                <a:ea typeface="Calibri"/>
                <a:cs typeface="Calibri"/>
                <a:sym typeface="Calibri"/>
              </a:rPr>
              <a:t>–   Arranque en </a:t>
            </a:r>
            <a:r>
              <a:rPr b="1" i="0" lang="en-US" sz="1500">
                <a:solidFill>
                  <a:srgbClr val="333333"/>
                </a:solidFill>
                <a:latin typeface="Calibri"/>
                <a:ea typeface="Calibri"/>
                <a:cs typeface="Calibri"/>
                <a:sym typeface="Calibri"/>
              </a:rPr>
              <a:t>segundos</a:t>
            </a:r>
            <a:r>
              <a:rPr b="0" i="0" lang="en-US" sz="1500">
                <a:solidFill>
                  <a:srgbClr val="333333"/>
                </a:solidFill>
                <a:latin typeface="Calibri"/>
                <a:ea typeface="Calibri"/>
                <a:cs typeface="Calibri"/>
                <a:sym typeface="Calibri"/>
              </a:rPr>
              <a:t>, tamaño en </a:t>
            </a:r>
            <a:r>
              <a:rPr b="1" i="0" lang="en-US" sz="1500">
                <a:solidFill>
                  <a:srgbClr val="333333"/>
                </a:solidFill>
                <a:latin typeface="Calibri"/>
                <a:ea typeface="Calibri"/>
                <a:cs typeface="Calibri"/>
                <a:sym typeface="Calibri"/>
              </a:rPr>
              <a:t>MB</a:t>
            </a:r>
            <a:endParaRPr/>
          </a:p>
          <a:p>
            <a:pPr indent="0" lvl="0" marL="0" marR="0" rtl="0" algn="l">
              <a:spcBef>
                <a:spcPts val="800"/>
              </a:spcBef>
              <a:spcAft>
                <a:spcPts val="0"/>
              </a:spcAft>
              <a:buNone/>
            </a:pPr>
            <a:r>
              <a:rPr b="0" i="0" lang="en-US" sz="1500">
                <a:solidFill>
                  <a:srgbClr val="333333"/>
                </a:solidFill>
                <a:latin typeface="Calibri"/>
                <a:ea typeface="Calibri"/>
                <a:cs typeface="Calibri"/>
                <a:sym typeface="Calibri"/>
              </a:rPr>
              <a:t>–   Util para desplegar el mismo servicio muchas veces</a:t>
            </a:r>
            <a:endParaRPr/>
          </a:p>
        </p:txBody>
      </p:sp>
      <p:sp>
        <p:nvSpPr>
          <p:cNvPr id="402" name="Google Shape;402;p32"/>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32</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6" name="Shape 406"/>
        <p:cNvGrpSpPr/>
        <p:nvPr/>
      </p:nvGrpSpPr>
      <p:grpSpPr>
        <a:xfrm>
          <a:off x="0" y="0"/>
          <a:ext cx="0" cy="0"/>
          <a:chOff x="0" y="0"/>
          <a:chExt cx="0" cy="0"/>
        </a:xfrm>
      </p:grpSpPr>
      <p:sp>
        <p:nvSpPr>
          <p:cNvPr id="407" name="Google Shape;407;p33"/>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8" name="Google Shape;408;p33"/>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09" name="Google Shape;409;p33"/>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Dockerfile minimo del stub CloudLite</a:t>
            </a:r>
            <a:endParaRPr/>
          </a:p>
        </p:txBody>
      </p:sp>
      <p:sp>
        <p:nvSpPr>
          <p:cNvPr id="410" name="Google Shape;410;p33"/>
          <p:cNvSpPr/>
          <p:nvPr/>
        </p:nvSpPr>
        <p:spPr>
          <a:xfrm>
            <a:off x="457200" y="1261872"/>
            <a:ext cx="11277295" cy="4773168"/>
          </a:xfrm>
          <a:prstGeom prst="roundRect">
            <a:avLst>
              <a:gd fmla="val 12000" name="adj"/>
            </a:avLst>
          </a:prstGeom>
          <a:solidFill>
            <a:srgbClr val="1E2A38"/>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1" name="Google Shape;411;p33"/>
          <p:cNvSpPr/>
          <p:nvPr/>
        </p:nvSpPr>
        <p:spPr>
          <a:xfrm>
            <a:off x="457200" y="1261872"/>
            <a:ext cx="11277295" cy="32004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12" name="Google Shape;412;p33"/>
          <p:cNvSpPr txBox="1"/>
          <p:nvPr/>
        </p:nvSpPr>
        <p:spPr>
          <a:xfrm>
            <a:off x="685800" y="1307592"/>
            <a:ext cx="10820095"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b="1" i="0" lang="en-US" sz="1000">
                <a:solidFill>
                  <a:srgbClr val="269CCB"/>
                </a:solidFill>
                <a:latin typeface="Calibri"/>
                <a:ea typeface="Calibri"/>
                <a:cs typeface="Calibri"/>
                <a:sym typeface="Calibri"/>
              </a:rPr>
              <a:t>● ● ●</a:t>
            </a:r>
            <a:endParaRPr/>
          </a:p>
        </p:txBody>
      </p:sp>
      <p:sp>
        <p:nvSpPr>
          <p:cNvPr id="413" name="Google Shape;413;p33"/>
          <p:cNvSpPr txBox="1"/>
          <p:nvPr/>
        </p:nvSpPr>
        <p:spPr>
          <a:xfrm>
            <a:off x="777240" y="1719072"/>
            <a:ext cx="10637215" cy="4133087"/>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400">
                <a:solidFill>
                  <a:srgbClr val="FFFFFF"/>
                </a:solidFill>
                <a:latin typeface="Calibri"/>
                <a:ea typeface="Calibri"/>
                <a:cs typeface="Calibri"/>
                <a:sym typeface="Calibri"/>
              </a:rPr>
              <a:t>FROM node:20-alpine          # base ligera y etiqueta FIJA: nunca latest</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WORKDIR /app</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COPY package*.json ./        # dependencias PRIMERO: cambian poco</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RUN npm ci --omit=dev        # se instalan DENTRO de la imagen</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COPY..                     # el codigo despues: cambia en cada commit</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EXPOSE 8080                  # documenta el puerto; NO lo publica</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CMD ["node", "server.js"]    # UN proceso principal por contenedor</a:t>
            </a:r>
            <a:endParaRPr/>
          </a:p>
          <a:p>
            <a:pPr indent="0" lvl="0" marL="0" marR="0" rtl="0" algn="l">
              <a:spcBef>
                <a:spcPts val="400"/>
              </a:spcBef>
              <a:spcAft>
                <a:spcPts val="0"/>
              </a:spcAft>
              <a:buNone/>
            </a:pPr>
            <a:r>
              <a:t/>
            </a:r>
            <a:endParaRPr b="0" i="0" sz="1400">
              <a:solidFill>
                <a:srgbClr val="FFFFFF"/>
              </a:solidFill>
              <a:latin typeface="Calibri"/>
              <a:ea typeface="Calibri"/>
              <a:cs typeface="Calibri"/>
              <a:sym typeface="Calibri"/>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.dockerignore  &lt;- archivo aparte, en la misma carpeta que el Dockerfile.</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 Sin el, el COPY.. de arriba se lleva el .env a las capas de la imagen.</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node_modules</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.env</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.env.*</a:t>
            </a:r>
            <a:endParaRPr/>
          </a:p>
          <a:p>
            <a:pPr indent="0" lvl="0" marL="0" marR="0" rtl="0" algn="l">
              <a:spcBef>
                <a:spcPts val="400"/>
              </a:spcBef>
              <a:spcAft>
                <a:spcPts val="0"/>
              </a:spcAft>
              <a:buNone/>
            </a:pPr>
            <a:r>
              <a:rPr b="0" i="0" lang="en-US" sz="1400">
                <a:solidFill>
                  <a:srgbClr val="FFFFFF"/>
                </a:solidFill>
                <a:latin typeface="Calibri"/>
                <a:ea typeface="Calibri"/>
                <a:cs typeface="Calibri"/>
                <a:sym typeface="Calibri"/>
              </a:rPr>
              <a:t>.git</a:t>
            </a:r>
            <a:endParaRPr/>
          </a:p>
        </p:txBody>
      </p:sp>
      <p:sp>
        <p:nvSpPr>
          <p:cNvPr id="414" name="Google Shape;414;p33"/>
          <p:cNvSpPr txBox="1"/>
          <p:nvPr/>
        </p:nvSpPr>
        <p:spPr>
          <a:xfrm>
            <a:off x="457200" y="6080760"/>
            <a:ext cx="11277295" cy="32004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1200">
                <a:solidFill>
                  <a:srgbClr val="666666"/>
                </a:solidFill>
                <a:latin typeface="Calibri"/>
                <a:ea typeface="Calibri"/>
                <a:cs typeface="Calibri"/>
                <a:sym typeface="Calibri"/>
              </a:rPr>
              <a:t>EXPOSE, CMD y el «-p» del run llevan el MISMO puerto. Y el «COPY. .» solo es seguro con «.dockerignore» al lado.</a:t>
            </a:r>
            <a:endParaRPr/>
          </a:p>
        </p:txBody>
      </p:sp>
      <p:sp>
        <p:nvSpPr>
          <p:cNvPr id="415" name="Google Shape;415;p33"/>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33</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9" name="Shape 419"/>
        <p:cNvGrpSpPr/>
        <p:nvPr/>
      </p:nvGrpSpPr>
      <p:grpSpPr>
        <a:xfrm>
          <a:off x="0" y="0"/>
          <a:ext cx="0" cy="0"/>
          <a:chOff x="0" y="0"/>
          <a:chExt cx="0" cy="0"/>
        </a:xfrm>
      </p:grpSpPr>
      <p:sp>
        <p:nvSpPr>
          <p:cNvPr id="420" name="Google Shape;420;p34"/>
          <p:cNvSpPr/>
          <p:nvPr/>
        </p:nvSpPr>
        <p:spPr>
          <a:xfrm>
            <a:off x="0" y="0"/>
            <a:ext cx="12191695" cy="1170432"/>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1" name="Google Shape;421;p34"/>
          <p:cNvSpPr/>
          <p:nvPr/>
        </p:nvSpPr>
        <p:spPr>
          <a:xfrm>
            <a:off x="0" y="1170432"/>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2" name="Google Shape;422;p34"/>
          <p:cNvSpPr txBox="1"/>
          <p:nvPr/>
        </p:nvSpPr>
        <p:spPr>
          <a:xfrm>
            <a:off x="457200" y="164592"/>
            <a:ext cx="11277295" cy="38404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Herramientas de hoy</a:t>
            </a:r>
            <a:endParaRPr/>
          </a:p>
        </p:txBody>
      </p:sp>
      <p:sp>
        <p:nvSpPr>
          <p:cNvPr id="423" name="Google Shape;423;p34"/>
          <p:cNvSpPr txBox="1"/>
          <p:nvPr/>
        </p:nvSpPr>
        <p:spPr>
          <a:xfrm>
            <a:off x="457200" y="566928"/>
            <a:ext cx="11277295"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400">
                <a:solidFill>
                  <a:srgbClr val="B8D8EE"/>
                </a:solidFill>
                <a:latin typeface="Calibri"/>
                <a:ea typeface="Calibri"/>
                <a:cs typeface="Calibri"/>
                <a:sym typeface="Calibri"/>
              </a:rPr>
              <a:t>Gratis · navegador o free tier · sin cuenta de pago</a:t>
            </a:r>
            <a:endParaRPr/>
          </a:p>
        </p:txBody>
      </p:sp>
      <p:sp>
        <p:nvSpPr>
          <p:cNvPr id="424" name="Google Shape;424;p34"/>
          <p:cNvSpPr/>
          <p:nvPr/>
        </p:nvSpPr>
        <p:spPr>
          <a:xfrm>
            <a:off x="457200" y="1591056"/>
            <a:ext cx="3624986" cy="2299716"/>
          </a:xfrm>
          <a:prstGeom prst="roundRect">
            <a:avLst>
              <a:gd fmla="val 12000" name="adj"/>
            </a:avLst>
          </a:prstGeom>
          <a:solidFill>
            <a:srgbClr val="F2F2F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5" name="Google Shape;425;p34"/>
          <p:cNvSpPr/>
          <p:nvPr/>
        </p:nvSpPr>
        <p:spPr>
          <a:xfrm>
            <a:off x="457200" y="1591056"/>
            <a:ext cx="3624986" cy="64008"/>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26" name="Google Shape;426;p34"/>
          <p:cNvSpPr/>
          <p:nvPr/>
        </p:nvSpPr>
        <p:spPr>
          <a:xfrm>
            <a:off x="457200" y="1655064"/>
            <a:ext cx="3624986" cy="27432"/>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pic>
        <p:nvPicPr>
          <p:cNvPr descr="killercoda.png" id="427" name="Google Shape;427;p34"/>
          <p:cNvPicPr preferRelativeResize="0"/>
          <p:nvPr/>
        </p:nvPicPr>
        <p:blipFill rotWithShape="1">
          <a:blip r:embed="rId3">
            <a:alphaModFix/>
          </a:blip>
          <a:srcRect b="0" l="0" r="0" t="0"/>
          <a:stretch/>
        </p:blipFill>
        <p:spPr>
          <a:xfrm>
            <a:off x="1659331" y="1847087"/>
            <a:ext cx="1220724" cy="1220724"/>
          </a:xfrm>
          <a:prstGeom prst="rect">
            <a:avLst/>
          </a:prstGeom>
          <a:noFill/>
          <a:ln>
            <a:noFill/>
          </a:ln>
        </p:spPr>
      </p:pic>
      <p:sp>
        <p:nvSpPr>
          <p:cNvPr id="428" name="Google Shape;428;p34"/>
          <p:cNvSpPr txBox="1"/>
          <p:nvPr/>
        </p:nvSpPr>
        <p:spPr>
          <a:xfrm>
            <a:off x="530352" y="3159251"/>
            <a:ext cx="3478682" cy="621792"/>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i="0" lang="en-US" sz="1300">
                <a:solidFill>
                  <a:srgbClr val="095292"/>
                </a:solidFill>
                <a:latin typeface="Calibri"/>
                <a:ea typeface="Calibri"/>
                <a:cs typeface="Calibri"/>
                <a:sym typeface="Calibri"/>
              </a:rPr>
              <a:t>Killercoda</a:t>
            </a:r>
            <a:endParaRPr/>
          </a:p>
          <a:p>
            <a:pPr indent="0" lvl="0" marL="0" marR="0" rtl="0" algn="ctr">
              <a:spcBef>
                <a:spcPts val="200"/>
              </a:spcBef>
              <a:spcAft>
                <a:spcPts val="0"/>
              </a:spcAft>
              <a:buNone/>
            </a:pPr>
            <a:r>
              <a:rPr b="0" i="0" lang="en-US" sz="1000">
                <a:solidFill>
                  <a:srgbClr val="666666"/>
                </a:solidFill>
                <a:latin typeface="Calibri"/>
                <a:ea typeface="Calibri"/>
                <a:cs typeface="Calibri"/>
                <a:sym typeface="Calibri"/>
              </a:rPr>
              <a:t>Lab del dia · sesion 1 h</a:t>
            </a:r>
            <a:endParaRPr/>
          </a:p>
        </p:txBody>
      </p:sp>
      <p:sp>
        <p:nvSpPr>
          <p:cNvPr id="429" name="Google Shape;429;p34"/>
          <p:cNvSpPr/>
          <p:nvPr/>
        </p:nvSpPr>
        <p:spPr>
          <a:xfrm>
            <a:off x="4283354" y="1591056"/>
            <a:ext cx="3624986" cy="2299716"/>
          </a:xfrm>
          <a:prstGeom prst="roundRect">
            <a:avLst>
              <a:gd fmla="val 12000" name="adj"/>
            </a:avLst>
          </a:prstGeom>
          <a:solidFill>
            <a:srgbClr val="F2F2F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0" name="Google Shape;430;p34"/>
          <p:cNvSpPr/>
          <p:nvPr/>
        </p:nvSpPr>
        <p:spPr>
          <a:xfrm>
            <a:off x="4283354" y="1591056"/>
            <a:ext cx="3624986" cy="64008"/>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1" name="Google Shape;431;p34"/>
          <p:cNvSpPr/>
          <p:nvPr/>
        </p:nvSpPr>
        <p:spPr>
          <a:xfrm>
            <a:off x="4283354" y="1655064"/>
            <a:ext cx="3624986" cy="27432"/>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pic>
        <p:nvPicPr>
          <p:cNvPr descr="labex.png" id="432" name="Google Shape;432;p34"/>
          <p:cNvPicPr preferRelativeResize="0"/>
          <p:nvPr/>
        </p:nvPicPr>
        <p:blipFill rotWithShape="1">
          <a:blip r:embed="rId4">
            <a:alphaModFix/>
          </a:blip>
          <a:srcRect b="0" l="0" r="0" t="0"/>
          <a:stretch/>
        </p:blipFill>
        <p:spPr>
          <a:xfrm>
            <a:off x="5485485" y="1847087"/>
            <a:ext cx="1220724" cy="1220724"/>
          </a:xfrm>
          <a:prstGeom prst="rect">
            <a:avLst/>
          </a:prstGeom>
          <a:noFill/>
          <a:ln>
            <a:noFill/>
          </a:ln>
        </p:spPr>
      </p:pic>
      <p:sp>
        <p:nvSpPr>
          <p:cNvPr id="433" name="Google Shape;433;p34"/>
          <p:cNvSpPr txBox="1"/>
          <p:nvPr/>
        </p:nvSpPr>
        <p:spPr>
          <a:xfrm>
            <a:off x="4356506" y="3159251"/>
            <a:ext cx="3478682" cy="621792"/>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i="0" lang="en-US" sz="1300">
                <a:solidFill>
                  <a:srgbClr val="095292"/>
                </a:solidFill>
                <a:latin typeface="Calibri"/>
                <a:ea typeface="Calibri"/>
                <a:cs typeface="Calibri"/>
                <a:sym typeface="Calibri"/>
              </a:rPr>
              <a:t>LabEx Docker Playground</a:t>
            </a:r>
            <a:endParaRPr/>
          </a:p>
          <a:p>
            <a:pPr indent="0" lvl="0" marL="0" marR="0" rtl="0" algn="ctr">
              <a:spcBef>
                <a:spcPts val="200"/>
              </a:spcBef>
              <a:spcAft>
                <a:spcPts val="0"/>
              </a:spcAft>
              <a:buNone/>
            </a:pPr>
            <a:r>
              <a:rPr b="0" i="0" lang="en-US" sz="1000">
                <a:solidFill>
                  <a:srgbClr val="666666"/>
                </a:solidFill>
                <a:latin typeface="Calibri"/>
                <a:ea typeface="Calibri"/>
                <a:cs typeface="Calibri"/>
                <a:sym typeface="Calibri"/>
              </a:rPr>
              <a:t>Alterna · 3 al dia</a:t>
            </a:r>
            <a:endParaRPr/>
          </a:p>
        </p:txBody>
      </p:sp>
      <p:sp>
        <p:nvSpPr>
          <p:cNvPr id="434" name="Google Shape;434;p34"/>
          <p:cNvSpPr/>
          <p:nvPr/>
        </p:nvSpPr>
        <p:spPr>
          <a:xfrm>
            <a:off x="8109508" y="1591056"/>
            <a:ext cx="3624986" cy="2299716"/>
          </a:xfrm>
          <a:prstGeom prst="roundRect">
            <a:avLst>
              <a:gd fmla="val 12000" name="adj"/>
            </a:avLst>
          </a:prstGeom>
          <a:solidFill>
            <a:srgbClr val="F2F2F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5" name="Google Shape;435;p34"/>
          <p:cNvSpPr/>
          <p:nvPr/>
        </p:nvSpPr>
        <p:spPr>
          <a:xfrm>
            <a:off x="8109508" y="1591056"/>
            <a:ext cx="3624986" cy="64008"/>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36" name="Google Shape;436;p34"/>
          <p:cNvSpPr/>
          <p:nvPr/>
        </p:nvSpPr>
        <p:spPr>
          <a:xfrm>
            <a:off x="8109508" y="1655064"/>
            <a:ext cx="3624986" cy="27432"/>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pic>
        <p:nvPicPr>
          <p:cNvPr descr="google_docs.png" id="437" name="Google Shape;437;p34"/>
          <p:cNvPicPr preferRelativeResize="0"/>
          <p:nvPr/>
        </p:nvPicPr>
        <p:blipFill rotWithShape="1">
          <a:blip r:embed="rId5">
            <a:alphaModFix/>
          </a:blip>
          <a:srcRect b="0" l="0" r="0" t="0"/>
          <a:stretch/>
        </p:blipFill>
        <p:spPr>
          <a:xfrm>
            <a:off x="9311640" y="1847087"/>
            <a:ext cx="1220724" cy="1220724"/>
          </a:xfrm>
          <a:prstGeom prst="rect">
            <a:avLst/>
          </a:prstGeom>
          <a:noFill/>
          <a:ln>
            <a:noFill/>
          </a:ln>
        </p:spPr>
      </p:pic>
      <p:sp>
        <p:nvSpPr>
          <p:cNvPr id="438" name="Google Shape;438;p34"/>
          <p:cNvSpPr txBox="1"/>
          <p:nvPr/>
        </p:nvSpPr>
        <p:spPr>
          <a:xfrm>
            <a:off x="8182660" y="3159251"/>
            <a:ext cx="3478682" cy="621792"/>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i="0" lang="en-US" sz="1300">
                <a:solidFill>
                  <a:srgbClr val="095292"/>
                </a:solidFill>
                <a:latin typeface="Calibri"/>
                <a:ea typeface="Calibri"/>
                <a:cs typeface="Calibri"/>
                <a:sym typeface="Calibri"/>
              </a:rPr>
              <a:t>Google Docs</a:t>
            </a:r>
            <a:endParaRPr/>
          </a:p>
          <a:p>
            <a:pPr indent="0" lvl="0" marL="0" marR="0" rtl="0" algn="ctr">
              <a:spcBef>
                <a:spcPts val="200"/>
              </a:spcBef>
              <a:spcAft>
                <a:spcPts val="0"/>
              </a:spcAft>
              <a:buNone/>
            </a:pPr>
            <a:r>
              <a:rPr b="0" i="0" lang="en-US" sz="1000">
                <a:solidFill>
                  <a:srgbClr val="666666"/>
                </a:solidFill>
                <a:latin typeface="Calibri"/>
                <a:ea typeface="Calibri"/>
                <a:cs typeface="Calibri"/>
                <a:sym typeface="Calibri"/>
              </a:rPr>
              <a:t>Informe PI</a:t>
            </a:r>
            <a:endParaRPr/>
          </a:p>
        </p:txBody>
      </p:sp>
      <p:sp>
        <p:nvSpPr>
          <p:cNvPr id="439" name="Google Shape;439;p34"/>
          <p:cNvSpPr/>
          <p:nvPr/>
        </p:nvSpPr>
        <p:spPr>
          <a:xfrm>
            <a:off x="4283354" y="4055364"/>
            <a:ext cx="3624986" cy="2299716"/>
          </a:xfrm>
          <a:prstGeom prst="roundRect">
            <a:avLst>
              <a:gd fmla="val 12000" name="adj"/>
            </a:avLst>
          </a:prstGeom>
          <a:solidFill>
            <a:srgbClr val="F2F2F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40" name="Google Shape;440;p34"/>
          <p:cNvSpPr/>
          <p:nvPr/>
        </p:nvSpPr>
        <p:spPr>
          <a:xfrm>
            <a:off x="4283354" y="4055364"/>
            <a:ext cx="3624986" cy="64008"/>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41" name="Google Shape;441;p34"/>
          <p:cNvSpPr/>
          <p:nvPr/>
        </p:nvSpPr>
        <p:spPr>
          <a:xfrm>
            <a:off x="4283354" y="4119372"/>
            <a:ext cx="3624986" cy="27432"/>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pic>
        <p:nvPicPr>
          <p:cNvPr descr="examlab.png" id="442" name="Google Shape;442;p34"/>
          <p:cNvPicPr preferRelativeResize="0"/>
          <p:nvPr/>
        </p:nvPicPr>
        <p:blipFill rotWithShape="1">
          <a:blip r:embed="rId6">
            <a:alphaModFix/>
          </a:blip>
          <a:srcRect b="0" l="0" r="0" t="0"/>
          <a:stretch/>
        </p:blipFill>
        <p:spPr>
          <a:xfrm>
            <a:off x="5485485" y="4311396"/>
            <a:ext cx="1220724" cy="1220724"/>
          </a:xfrm>
          <a:prstGeom prst="rect">
            <a:avLst/>
          </a:prstGeom>
          <a:noFill/>
          <a:ln>
            <a:noFill/>
          </a:ln>
        </p:spPr>
      </p:pic>
      <p:sp>
        <p:nvSpPr>
          <p:cNvPr id="443" name="Google Shape;443;p34"/>
          <p:cNvSpPr txBox="1"/>
          <p:nvPr/>
        </p:nvSpPr>
        <p:spPr>
          <a:xfrm>
            <a:off x="4356506" y="5623560"/>
            <a:ext cx="3478682" cy="621792"/>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b="1" i="0" lang="en-US" sz="1300">
                <a:solidFill>
                  <a:srgbClr val="095292"/>
                </a:solidFill>
                <a:latin typeface="Calibri"/>
                <a:ea typeface="Calibri"/>
                <a:cs typeface="Calibri"/>
                <a:sym typeface="Calibri"/>
              </a:rPr>
              <a:t>la plataforma del curso</a:t>
            </a:r>
            <a:endParaRPr/>
          </a:p>
          <a:p>
            <a:pPr indent="0" lvl="0" marL="0" marR="0" rtl="0" algn="ctr">
              <a:spcBef>
                <a:spcPts val="200"/>
              </a:spcBef>
              <a:spcAft>
                <a:spcPts val="0"/>
              </a:spcAft>
              <a:buNone/>
            </a:pPr>
            <a:r>
              <a:rPr b="0" i="0" lang="en-US" sz="1000">
                <a:solidFill>
                  <a:srgbClr val="666666"/>
                </a:solidFill>
                <a:latin typeface="Calibri"/>
                <a:ea typeface="Calibri"/>
                <a:cs typeface="Calibri"/>
                <a:sym typeface="Calibri"/>
              </a:rPr>
              <a:t>Donde se entrega</a:t>
            </a:r>
            <a:endParaRPr/>
          </a:p>
        </p:txBody>
      </p:sp>
      <p:sp>
        <p:nvSpPr>
          <p:cNvPr id="444" name="Google Shape;444;p34"/>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34</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8" name="Shape 448"/>
        <p:cNvGrpSpPr/>
        <p:nvPr/>
      </p:nvGrpSpPr>
      <p:grpSpPr>
        <a:xfrm>
          <a:off x="0" y="0"/>
          <a:ext cx="0" cy="0"/>
          <a:chOff x="0" y="0"/>
          <a:chExt cx="0" cy="0"/>
        </a:xfrm>
      </p:grpSpPr>
      <p:sp>
        <p:nvSpPr>
          <p:cNvPr id="449" name="Google Shape;449;p35"/>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0" name="Google Shape;450;p35"/>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1" name="Google Shape;451;p35"/>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PI CloudLite — entregable de hoy</a:t>
            </a:r>
            <a:endParaRPr/>
          </a:p>
        </p:txBody>
      </p:sp>
      <p:sp>
        <p:nvSpPr>
          <p:cNvPr id="452" name="Google Shape;452;p35"/>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2000">
                <a:solidFill>
                  <a:srgbClr val="333333"/>
                </a:solidFill>
                <a:latin typeface="Calibri"/>
                <a:ea typeface="Calibri"/>
                <a:cs typeface="Calibri"/>
                <a:sym typeface="Calibri"/>
              </a:rPr>
              <a:t>–   </a:t>
            </a:r>
            <a:r>
              <a:rPr b="1" i="0" lang="en-US" sz="2000">
                <a:solidFill>
                  <a:srgbClr val="333333"/>
                </a:solidFill>
                <a:latin typeface="Calibri"/>
                <a:ea typeface="Calibri"/>
                <a:cs typeface="Calibri"/>
                <a:sym typeface="Calibri"/>
              </a:rPr>
              <a:t>Entregable:</a:t>
            </a:r>
            <a:r>
              <a:rPr b="0" i="0" lang="en-US" sz="2000">
                <a:solidFill>
                  <a:srgbClr val="333333"/>
                </a:solidFill>
                <a:latin typeface="Calibri"/>
                <a:ea typeface="Calibri"/>
                <a:cs typeface="Calibri"/>
                <a:sym typeface="Calibri"/>
              </a:rPr>
              <a:t> Dockerfile del stub + bitácora de 5 comandos con la salida real + captura del lab</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Herramienta: </a:t>
            </a:r>
            <a:r>
              <a:rPr b="1" i="0" lang="en-US" sz="2000">
                <a:solidFill>
                  <a:srgbClr val="333333"/>
                </a:solidFill>
                <a:latin typeface="Calibri"/>
                <a:ea typeface="Calibri"/>
                <a:cs typeface="Calibri"/>
                <a:sym typeface="Calibri"/>
              </a:rPr>
              <a:t>Killercoda · alterna si no carga: LabEx Docker Playground</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Todo lo que construyan hoy entra al </a:t>
            </a:r>
            <a:r>
              <a:rPr b="1" i="0" lang="en-US" sz="2000">
                <a:solidFill>
                  <a:srgbClr val="333333"/>
                </a:solidFill>
                <a:latin typeface="Calibri"/>
                <a:ea typeface="Calibri"/>
                <a:cs typeface="Calibri"/>
                <a:sym typeface="Calibri"/>
              </a:rPr>
              <a:t>informe/repo del PI</a:t>
            </a:r>
            <a:r>
              <a:rPr b="0" i="0" lang="en-US" sz="2000">
                <a:solidFill>
                  <a:srgbClr val="333333"/>
                </a:solidFill>
                <a:latin typeface="Calibri"/>
                <a:ea typeface="Calibri"/>
                <a:cs typeface="Calibri"/>
                <a:sym typeface="Calibri"/>
              </a:rPr>
              <a:t> (no es lab suelto).</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Individual por defecto · el docente puede autorizar equipos de 2–3; la entrega en la plataforma del curso siempre es individual.</a:t>
            </a:r>
            <a:endParaRPr/>
          </a:p>
        </p:txBody>
      </p:sp>
      <p:sp>
        <p:nvSpPr>
          <p:cNvPr id="453" name="Google Shape;453;p35"/>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35</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7" name="Shape 457"/>
        <p:cNvGrpSpPr/>
        <p:nvPr/>
      </p:nvGrpSpPr>
      <p:grpSpPr>
        <a:xfrm>
          <a:off x="0" y="0"/>
          <a:ext cx="0" cy="0"/>
          <a:chOff x="0" y="0"/>
          <a:chExt cx="0" cy="0"/>
        </a:xfrm>
      </p:grpSpPr>
      <p:sp>
        <p:nvSpPr>
          <p:cNvPr id="458" name="Google Shape;458;p36"/>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59" name="Google Shape;459;p36"/>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0" name="Google Shape;460;p36"/>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Manos a la obra (paso a paso)</a:t>
            </a:r>
            <a:endParaRPr/>
          </a:p>
        </p:txBody>
      </p:sp>
      <p:sp>
        <p:nvSpPr>
          <p:cNvPr id="461" name="Google Shape;461;p36"/>
          <p:cNvSpPr txBox="1"/>
          <p:nvPr/>
        </p:nvSpPr>
        <p:spPr>
          <a:xfrm>
            <a:off x="457200" y="1170432"/>
            <a:ext cx="11277295" cy="5230368"/>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a:solidFill>
                  <a:srgbClr val="333333"/>
                </a:solidFill>
                <a:latin typeface="Calibri"/>
                <a:ea typeface="Calibri"/>
                <a:cs typeface="Calibri"/>
                <a:sym typeface="Calibri"/>
              </a:rPr>
              <a:t>1.</a:t>
            </a:r>
            <a:r>
              <a:rPr b="0" i="0" lang="en-US" sz="2000">
                <a:solidFill>
                  <a:srgbClr val="333333"/>
                </a:solidFill>
                <a:latin typeface="Calibri"/>
                <a:ea typeface="Calibri"/>
                <a:cs typeface="Calibri"/>
                <a:sym typeface="Calibri"/>
              </a:rPr>
              <a:t> Paso 1: elija en la pregunta 8 cual servicio de su C4 Context va a contenedorizar y justifiquelo en 2 o 3 frases; escriba a continuacion el Dockerfile completo con la imagen base ligera y con etiqueta fija, el COPY de dependencias antes del COPY del codigo, el EXPOSE y el CMD, verificando que no copie el .env ni ninguna clave.</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a:t>
            </a:r>
            <a:r>
              <a:rPr b="1" i="0" lang="en-US" sz="2000">
                <a:solidFill>
                  <a:srgbClr val="333333"/>
                </a:solidFill>
                <a:latin typeface="Calibri"/>
                <a:ea typeface="Calibri"/>
                <a:cs typeface="Calibri"/>
                <a:sym typeface="Calibri"/>
              </a:rPr>
              <a:t>2.</a:t>
            </a:r>
            <a:r>
              <a:rPr b="0" i="0" lang="en-US" sz="2000">
                <a:solidFill>
                  <a:srgbClr val="333333"/>
                </a:solidFill>
                <a:latin typeface="Calibri"/>
                <a:ea typeface="Calibri"/>
                <a:cs typeface="Calibri"/>
                <a:sym typeface="Calibri"/>
              </a:rPr>
              <a:t> Paso 2: explique en la pregunta 9, sobre su propio Dockerfile, la diferencia entre imagen y contenedor, que instrucciones de SU archivo crean capa, por que el orden aprovecha el cache y en que se diferencia su contenedor de una maquina virtual; verifique que no escribio que un contenedor es una VM ligera.</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a:t>
            </a:r>
            <a:r>
              <a:rPr b="1" i="0" lang="en-US" sz="2000">
                <a:solidFill>
                  <a:srgbClr val="333333"/>
                </a:solidFill>
                <a:latin typeface="Calibri"/>
                <a:ea typeface="Calibri"/>
                <a:cs typeface="Calibri"/>
                <a:sym typeface="Calibri"/>
              </a:rPr>
              <a:t>3.</a:t>
            </a:r>
            <a:r>
              <a:rPr b="0" i="0" lang="en-US" sz="2000">
                <a:solidFill>
                  <a:srgbClr val="333333"/>
                </a:solidFill>
                <a:latin typeface="Calibri"/>
                <a:ea typeface="Calibri"/>
                <a:cs typeface="Calibri"/>
                <a:sym typeface="Calibri"/>
              </a:rPr>
              <a:t> Paso 3: describa en la pregunta 10 el ciclo completo con los comandos exactos de build y de run, explicando que lado del mapeo de puertos es el anfitrion y que lado el contenedor, y cierre con el contrato del endpoint de salud (ruta, codigo de estado y cuerpo); verifique que el puerto sea el mismo que puso en el EXPOSE.</a:t>
            </a:r>
            <a:endParaRPr/>
          </a:p>
          <a:p>
            <a:pPr indent="0" lvl="0" marL="0" marR="0" rtl="0" algn="l">
              <a:spcBef>
                <a:spcPts val="800"/>
              </a:spcBef>
              <a:spcAft>
                <a:spcPts val="0"/>
              </a:spcAft>
              <a:buNone/>
            </a:pPr>
            <a:r>
              <a:rPr b="0" i="0" lang="en-US" sz="2000">
                <a:solidFill>
                  <a:srgbClr val="333333"/>
                </a:solidFill>
                <a:latin typeface="Calibri"/>
                <a:ea typeface="Calibri"/>
                <a:cs typeface="Calibri"/>
                <a:sym typeface="Calibri"/>
              </a:rPr>
              <a:t>–   </a:t>
            </a:r>
            <a:r>
              <a:rPr b="1" i="0" lang="en-US" sz="2000">
                <a:solidFill>
                  <a:srgbClr val="333333"/>
                </a:solidFill>
                <a:latin typeface="Calibri"/>
                <a:ea typeface="Calibri"/>
                <a:cs typeface="Calibri"/>
                <a:sym typeface="Calibri"/>
              </a:rPr>
              <a:t>4.</a:t>
            </a:r>
            <a:r>
              <a:rPr b="0" i="0" lang="en-US" sz="2000">
                <a:solidFill>
                  <a:srgbClr val="333333"/>
                </a:solidFill>
                <a:latin typeface="Calibri"/>
                <a:ea typeface="Calibri"/>
                <a:cs typeface="Calibri"/>
                <a:sym typeface="Calibri"/>
              </a:rPr>
              <a:t> Paso 4: ejecute de verdad el ciclo en Killercoda y reporte en la pregunta 11 la tabla de 5 filas con la salida real pegada textualmente, la descripcion de la captura con prompt, docker ps y hora del sistema, y una fila de incidente; recuerde que la sesion caduca a 1 hora, asi que capture la evidencia ANTES de cerrarla.</a:t>
            </a:r>
            <a:endParaRPr/>
          </a:p>
        </p:txBody>
      </p:sp>
      <p:sp>
        <p:nvSpPr>
          <p:cNvPr id="462" name="Google Shape;462;p36"/>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36</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6" name="Shape 466"/>
        <p:cNvGrpSpPr/>
        <p:nvPr/>
      </p:nvGrpSpPr>
      <p:grpSpPr>
        <a:xfrm>
          <a:off x="0" y="0"/>
          <a:ext cx="0" cy="0"/>
          <a:chOff x="0" y="0"/>
          <a:chExt cx="0" cy="0"/>
        </a:xfrm>
      </p:grpSpPr>
      <p:sp>
        <p:nvSpPr>
          <p:cNvPr id="467" name="Google Shape;467;p37"/>
          <p:cNvSpPr/>
          <p:nvPr/>
        </p:nvSpPr>
        <p:spPr>
          <a:xfrm>
            <a:off x="0" y="0"/>
            <a:ext cx="12191695" cy="960120"/>
          </a:xfrm>
          <a:prstGeom prst="rect">
            <a:avLst/>
          </a:prstGeom>
          <a:solidFill>
            <a:srgbClr val="09529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8" name="Google Shape;468;p37"/>
          <p:cNvSpPr/>
          <p:nvPr/>
        </p:nvSpPr>
        <p:spPr>
          <a:xfrm>
            <a:off x="0" y="960120"/>
            <a:ext cx="12191695" cy="41148"/>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37"/>
          <p:cNvSpPr txBox="1"/>
          <p:nvPr/>
        </p:nvSpPr>
        <p:spPr>
          <a:xfrm>
            <a:off x="457200" y="164592"/>
            <a:ext cx="11277295" cy="50292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600">
                <a:solidFill>
                  <a:srgbClr val="FFFFFF"/>
                </a:solidFill>
                <a:latin typeface="Calibri"/>
                <a:ea typeface="Calibri"/>
                <a:cs typeface="Calibri"/>
                <a:sym typeface="Calibri"/>
              </a:rPr>
              <a:t>Para continuar (PI)</a:t>
            </a:r>
            <a:endParaRPr/>
          </a:p>
        </p:txBody>
      </p:sp>
      <p:sp>
        <p:nvSpPr>
          <p:cNvPr id="470" name="Google Shape;470;p37"/>
          <p:cNvSpPr/>
          <p:nvPr/>
        </p:nvSpPr>
        <p:spPr>
          <a:xfrm>
            <a:off x="457200" y="1261872"/>
            <a:ext cx="11277295" cy="1051560"/>
          </a:xfrm>
          <a:prstGeom prst="roundRect">
            <a:avLst>
              <a:gd fmla="val 12000" name="adj"/>
            </a:avLst>
          </a:prstGeom>
          <a:solidFill>
            <a:srgbClr val="E8F4FA"/>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1" name="Google Shape;471;p37"/>
          <p:cNvSpPr/>
          <p:nvPr/>
        </p:nvSpPr>
        <p:spPr>
          <a:xfrm>
            <a:off x="457200" y="1261872"/>
            <a:ext cx="128016" cy="1051560"/>
          </a:xfrm>
          <a:prstGeom prst="rect">
            <a:avLst/>
          </a:prstGeom>
          <a:solidFill>
            <a:srgbClr val="269CC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37"/>
          <p:cNvSpPr txBox="1"/>
          <p:nvPr/>
        </p:nvSpPr>
        <p:spPr>
          <a:xfrm>
            <a:off x="777240" y="1399031"/>
            <a:ext cx="10774375" cy="82295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269CCB"/>
                </a:solidFill>
                <a:latin typeface="Calibri"/>
                <a:ea typeface="Calibri"/>
                <a:cs typeface="Calibri"/>
                <a:sym typeface="Calibri"/>
              </a:rPr>
              <a:t>Info</a:t>
            </a:r>
            <a:endParaRPr/>
          </a:p>
          <a:p>
            <a:pPr indent="0" lvl="0" marL="0" marR="0" rtl="0" algn="l">
              <a:spcBef>
                <a:spcPts val="400"/>
              </a:spcBef>
              <a:spcAft>
                <a:spcPts val="0"/>
              </a:spcAft>
              <a:buNone/>
            </a:pPr>
            <a:r>
              <a:rPr b="0" i="0" lang="en-US" sz="1400">
                <a:solidFill>
                  <a:srgbClr val="333333"/>
                </a:solidFill>
                <a:latin typeface="Calibri"/>
                <a:ea typeface="Calibri"/>
                <a:cs typeface="Calibri"/>
                <a:sym typeface="Calibri"/>
              </a:rPr>
              <a:t>Entregable: Dockerfile del stub + bitácora de 5 comandos con la salida real + captura del lab</a:t>
            </a:r>
            <a:endParaRPr/>
          </a:p>
        </p:txBody>
      </p:sp>
      <p:sp>
        <p:nvSpPr>
          <p:cNvPr id="473" name="Google Shape;473;p37"/>
          <p:cNvSpPr/>
          <p:nvPr/>
        </p:nvSpPr>
        <p:spPr>
          <a:xfrm>
            <a:off x="457200" y="2478024"/>
            <a:ext cx="11277295" cy="1051560"/>
          </a:xfrm>
          <a:prstGeom prst="roundRect">
            <a:avLst>
              <a:gd fmla="val 12000" name="adj"/>
            </a:avLst>
          </a:prstGeom>
          <a:solidFill>
            <a:srgbClr val="FFF8E1"/>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4" name="Google Shape;474;p37"/>
          <p:cNvSpPr/>
          <p:nvPr/>
        </p:nvSpPr>
        <p:spPr>
          <a:xfrm>
            <a:off x="457200" y="2478024"/>
            <a:ext cx="128016" cy="1051560"/>
          </a:xfrm>
          <a:prstGeom prst="rect">
            <a:avLst/>
          </a:prstGeom>
          <a:solidFill>
            <a:srgbClr val="FFD00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5" name="Google Shape;475;p37"/>
          <p:cNvSpPr txBox="1"/>
          <p:nvPr/>
        </p:nvSpPr>
        <p:spPr>
          <a:xfrm>
            <a:off x="777240" y="2615184"/>
            <a:ext cx="10774375" cy="82295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FFD000"/>
                </a:solidFill>
                <a:latin typeface="Calibri"/>
                <a:ea typeface="Calibri"/>
                <a:cs typeface="Calibri"/>
                <a:sym typeface="Calibri"/>
              </a:rPr>
              <a:t>Aclaración</a:t>
            </a:r>
            <a:endParaRPr/>
          </a:p>
          <a:p>
            <a:pPr indent="0" lvl="0" marL="0" marR="0" rtl="0" algn="l">
              <a:spcBef>
                <a:spcPts val="400"/>
              </a:spcBef>
              <a:spcAft>
                <a:spcPts val="0"/>
              </a:spcAft>
              <a:buNone/>
            </a:pPr>
            <a:r>
              <a:rPr b="0" i="0" lang="en-US" sz="1400">
                <a:solidFill>
                  <a:srgbClr val="333333"/>
                </a:solidFill>
                <a:latin typeface="Calibri"/>
                <a:ea typeface="Calibri"/>
                <a:cs typeface="Calibri"/>
                <a:sym typeface="Calibri"/>
              </a:rPr>
              <a:t>Subir evidencias al paquete CloudLite (Drive/repo) y a la plataforma del curso en la fecha que indique el docente.</a:t>
            </a:r>
            <a:endParaRPr/>
          </a:p>
        </p:txBody>
      </p:sp>
      <p:sp>
        <p:nvSpPr>
          <p:cNvPr id="476" name="Google Shape;476;p37"/>
          <p:cNvSpPr/>
          <p:nvPr/>
        </p:nvSpPr>
        <p:spPr>
          <a:xfrm>
            <a:off x="457200" y="3694176"/>
            <a:ext cx="11277295" cy="1051560"/>
          </a:xfrm>
          <a:prstGeom prst="roundRect">
            <a:avLst>
              <a:gd fmla="val 12000" name="adj"/>
            </a:avLst>
          </a:prstGeom>
          <a:solidFill>
            <a:srgbClr val="FBE4E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7" name="Google Shape;477;p37"/>
          <p:cNvSpPr/>
          <p:nvPr/>
        </p:nvSpPr>
        <p:spPr>
          <a:xfrm>
            <a:off x="457200" y="3694176"/>
            <a:ext cx="128016" cy="1051560"/>
          </a:xfrm>
          <a:prstGeom prst="rect">
            <a:avLst/>
          </a:prstGeom>
          <a:solidFill>
            <a:srgbClr val="A02030"/>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478" name="Google Shape;478;p37"/>
          <p:cNvSpPr txBox="1"/>
          <p:nvPr/>
        </p:nvSpPr>
        <p:spPr>
          <a:xfrm>
            <a:off x="777240" y="3831336"/>
            <a:ext cx="10774375" cy="822959"/>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200">
                <a:solidFill>
                  <a:srgbClr val="A02030"/>
                </a:solidFill>
                <a:latin typeface="Calibri"/>
                <a:ea typeface="Calibri"/>
                <a:cs typeface="Calibri"/>
                <a:sym typeface="Calibri"/>
              </a:rPr>
              <a:t>Atención</a:t>
            </a:r>
            <a:endParaRPr/>
          </a:p>
          <a:p>
            <a:pPr indent="0" lvl="0" marL="0" marR="0" rtl="0" algn="l">
              <a:spcBef>
                <a:spcPts val="400"/>
              </a:spcBef>
              <a:spcAft>
                <a:spcPts val="0"/>
              </a:spcAft>
              <a:buNone/>
            </a:pPr>
            <a:r>
              <a:rPr b="0" i="0" lang="en-US" sz="1400">
                <a:solidFill>
                  <a:srgbClr val="333333"/>
                </a:solidFill>
                <a:latin typeface="Calibri"/>
                <a:ea typeface="Calibri"/>
                <a:cs typeface="Calibri"/>
                <a:sym typeface="Calibri"/>
              </a:rPr>
              <a:t>Sin cloud de pago ni instalaciones obligatorias de hipervisores/Docker Desktop.</a:t>
            </a:r>
            <a:endParaRPr/>
          </a:p>
        </p:txBody>
      </p:sp>
      <p:sp>
        <p:nvSpPr>
          <p:cNvPr id="479" name="Google Shape;479;p37"/>
          <p:cNvSpPr txBox="1"/>
          <p:nvPr/>
        </p:nvSpPr>
        <p:spPr>
          <a:xfrm>
            <a:off x="11185855" y="6473952"/>
            <a:ext cx="640080" cy="27432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100">
                <a:solidFill>
                  <a:srgbClr val="666666"/>
                </a:solidFill>
                <a:latin typeface="Calibri"/>
                <a:ea typeface="Calibri"/>
                <a:cs typeface="Calibri"/>
                <a:sym typeface="Calibri"/>
              </a:rPr>
              <a:t>37</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3" name="Shape 483"/>
        <p:cNvGrpSpPr/>
        <p:nvPr/>
      </p:nvGrpSpPr>
      <p:grpSpPr>
        <a:xfrm>
          <a:off x="0" y="0"/>
          <a:ext cx="0" cy="0"/>
          <a:chOff x="0" y="0"/>
          <a:chExt cx="0" cy="0"/>
        </a:xfrm>
      </p:grpSpPr>
      <p:sp>
        <p:nvSpPr>
          <p:cNvPr id="484" name="Google Shape;484;p38"/>
          <p:cNvSpPr/>
          <p:nvPr/>
        </p:nvSpPr>
        <p:spPr>
          <a:xfrm>
            <a:off x="0" y="0"/>
            <a:ext cx="12191695" cy="164592"/>
          </a:xfrm>
          <a:prstGeom prst="rect">
            <a:avLst/>
          </a:prstGeom>
          <a:solidFill>
            <a:srgbClr val="269CCB"/>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pic>
        <p:nvPicPr>
          <p:cNvPr descr="logo_uniajc_color.png" id="485" name="Google Shape;485;p38"/>
          <p:cNvPicPr preferRelativeResize="0"/>
          <p:nvPr/>
        </p:nvPicPr>
        <p:blipFill rotWithShape="1">
          <a:blip r:embed="rId3">
            <a:alphaModFix/>
          </a:blip>
          <a:srcRect b="0" l="0" r="0" t="0"/>
          <a:stretch/>
        </p:blipFill>
        <p:spPr>
          <a:xfrm>
            <a:off x="10271455" y="5998464"/>
            <a:ext cx="1463040" cy="643233"/>
          </a:xfrm>
          <a:prstGeom prst="rect">
            <a:avLst/>
          </a:prstGeom>
          <a:noFill/>
          <a:ln>
            <a:noFill/>
          </a:ln>
        </p:spPr>
      </p:pic>
      <p:sp>
        <p:nvSpPr>
          <p:cNvPr id="486" name="Google Shape;486;p38"/>
          <p:cNvSpPr txBox="1"/>
          <p:nvPr/>
        </p:nvSpPr>
        <p:spPr>
          <a:xfrm>
            <a:off x="457200" y="1737360"/>
            <a:ext cx="11277295" cy="109728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US" sz="3400">
                <a:solidFill>
                  <a:srgbClr val="095292"/>
                </a:solidFill>
                <a:latin typeface="Calibri"/>
                <a:ea typeface="Calibri"/>
                <a:cs typeface="Calibri"/>
                <a:sym typeface="Calibri"/>
              </a:rPr>
              <a:t>Clase 3 · PI en movimiento</a:t>
            </a:r>
            <a:endParaRPr/>
          </a:p>
        </p:txBody>
      </p:sp>
      <p:sp>
        <p:nvSpPr>
          <p:cNvPr id="487" name="Google Shape;487;p38"/>
          <p:cNvSpPr txBox="1"/>
          <p:nvPr/>
        </p:nvSpPr>
        <p:spPr>
          <a:xfrm>
            <a:off x="457200" y="3017520"/>
            <a:ext cx="11277295" cy="16459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0" lang="en-US" sz="1600">
                <a:solidFill>
                  <a:srgbClr val="333333"/>
                </a:solidFill>
                <a:latin typeface="Calibri"/>
                <a:ea typeface="Calibri"/>
                <a:cs typeface="Calibri"/>
                <a:sym typeface="Calibri"/>
              </a:rPr>
              <a:t>Contenerizar un stub del servicio principal de CloudLite</a:t>
            </a:r>
            <a:endParaRPr/>
          </a:p>
          <a:p>
            <a:pPr indent="0" lvl="0" marL="0" marR="0" rtl="0" algn="ctr">
              <a:spcBef>
                <a:spcPts val="600"/>
              </a:spcBef>
              <a:spcAft>
                <a:spcPts val="0"/>
              </a:spcAft>
              <a:buNone/>
            </a:pPr>
            <a:r>
              <a:rPr b="0" i="0" lang="en-US" sz="1600">
                <a:solidFill>
                  <a:srgbClr val="333333"/>
                </a:solidFill>
                <a:latin typeface="Calibri"/>
                <a:ea typeface="Calibri"/>
                <a:cs typeface="Calibri"/>
                <a:sym typeface="Calibri"/>
              </a:rPr>
              <a:t>Evidencia: Dockerfile del stub + bitácora de 5 comandos con la salida real + captura del lab</a:t>
            </a:r>
            <a:endParaRPr/>
          </a:p>
          <a:p>
            <a:pPr indent="0" lvl="0" marL="0" marR="0" rtl="0" algn="ctr">
              <a:spcBef>
                <a:spcPts val="600"/>
              </a:spcBef>
              <a:spcAft>
                <a:spcPts val="0"/>
              </a:spcAft>
              <a:buNone/>
            </a:pPr>
            <a:r>
              <a:rPr b="0" i="0" lang="en-US" sz="1600">
                <a:solidFill>
                  <a:srgbClr val="333333"/>
                </a:solidFill>
                <a:latin typeface="Calibri"/>
                <a:ea typeface="Calibri"/>
                <a:cs typeface="Calibri"/>
                <a:sym typeface="Calibri"/>
              </a:rPr>
              <a:t>Siguiente paso = siguiente hito del PI CloudLite</a:t>
            </a:r>
            <a:endParaRPr/>
          </a:p>
        </p:txBody>
      </p:sp>
      <p:sp>
        <p:nvSpPr>
          <p:cNvPr id="488" name="Google Shape;488;p38"/>
          <p:cNvSpPr txBox="1"/>
          <p:nvPr/>
        </p:nvSpPr>
        <p:spPr>
          <a:xfrm>
            <a:off x="457200" y="4754880"/>
            <a:ext cx="11277295" cy="64008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2000">
                <a:solidFill>
                  <a:srgbClr val="269CCB"/>
                </a:solidFill>
                <a:latin typeface="Calibri"/>
                <a:ea typeface="Calibri"/>
                <a:cs typeface="Calibri"/>
                <a:sym typeface="Calibri"/>
              </a:rPr>
              <a:t>Teoría al servicio del proyecto</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