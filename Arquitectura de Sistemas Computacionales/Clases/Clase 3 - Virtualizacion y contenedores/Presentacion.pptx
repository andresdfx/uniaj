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dos clases anteriores decidieron QUE se va a construir (dominio, capacidades, actores, diagrama de contexto) y BAJO QUE modelo de servicio se va a operar, con su registro de decision.</a:t>
            </a:r>
          </a:p>
          <a:p/>
          <a:p>
            <a:r>
              <a:t>(No se proyecta) Es la primera clase francamente tecnica del curso y la primera en la que el estudiante escribe algo que una maquina ejecuta.</a:t>
            </a:r>
          </a:p>
          <a:p/>
          <a:p>
            <a:r>
              <a:t>(No se proyecta) El entregable es un Dockerfile con su ciclo de construccion razonado: se escribe y se justifica, sin depender de ejecutarlo en ningun laboratorio externo para poder entregar.</a:t>
            </a:r>
          </a:p>
          <a:p/>
          <a:p>
            <a:r>
              <a:t>(No se proyecta) Conviene decir desde el minuto uno por que esto importa para la arquitectura y no solo para la operacion: el contenedor es la unidad de despliegue con la que se razona en todos los diagramas siguientes, y sin entender que es exactamente, el nivel de contenedores del modelo C4 que se dibuja en la Clase 4 queda en pura metafora.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virtualizacion resolvio eso con una pieza de software llamada hipervisor, que se interpone entre el hardware y los sistemas operativos y presenta a cada uno la ilusion de tener una maquina completa para si.</a:t>
            </a:r>
          </a:p>
          <a:p/>
          <a:p>
            <a:r>
              <a:t>(No se proyecta) Los ordenes de magnitud que el docente debe poder citar: una maquina virtual ocupa varios gigabytes en disco y tarda entre 30 segundos y unos minutos en arrancar, porque debe iniciar un sistema operativo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Esta diapositiva es la misma comparacion de la seccion anterior, ya dibujada, y conviene recorrerla con el puntero en vez de leerla.</a:t>
            </a:r>
          </a:p>
          <a:p/>
          <a:p>
            <a:r>
              <a:t>(No se proyecta) Conviene cerrar con lo que el dibujo NO muestra y la seccion anterior si dijo: en la nube las dos pilas se apilan, con los contenedores corriendo DENTRO de maquinas virtuales.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los contenedores de una maquina comparten el kernel del anfitrion, y el aislamiento se consigue con dos mecanismos del propio Linux.</a:t>
            </a:r>
          </a:p>
          <a:p/>
          <a:p>
            <a:r>
              <a:t>Los cgroups, o grupos de control, limitan cuanta CPU y cuanta memoria puede consumir.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la unica optimizacion que hay que ensenar hoy: copiar primero el archivo de dependencias e instalarlas, y solo despues copiar el codigo fuente, porque el codigo cambia en cada commit y las dependencias casi nunca.</a:t>
            </a:r>
          </a:p>
          <a:p/>
          <a:p>
            <a:r>
              <a:t>(No se proyecta) Cuatro terminos se confunden de forma sistematica y conviene fijarlos con una sola analogia.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ejemplo concreto en CloudLite.</a:t>
            </a:r>
          </a:p>
          <a:p/>
          <a:p>
            <a:r>
              <a:t>WORKDIR /app fija el directorio dentro del contenedor donde ocurrira todo lo demas.</a:t>
            </a:r>
          </a:p>
          <a:p/>
          <a:p>
            <a:r>
              <a:t>COPY package*.json./ trae solo la lista de dependencias.</a:t>
            </a:r>
          </a:p>
          <a:p/>
          <a:p>
            <a:r>
              <a:t>COPY.. trae el resto del codigo, y va DESPUES por la razon de cache de la seccion anterior.</a:t>
            </a:r>
          </a:p>
          <a:p/>
          <a:p>
            <a:r>
              <a:t>Y CMD indica que comando ejecutar cuando el contenedor arranque, uno solo y en primer plano.</a:t>
            </a:r>
          </a:p>
          <a:p/>
          <a:p>
            <a:r>
              <a:t>Por eso al lado del Dockerfile va un segundo archivo, el.dockerignore, con al menos.env, node_modules y.git.</a:t>
            </a:r>
          </a:p>
          <a:p/>
          <a:p>
            <a:r>
              <a:t>Lo que realmente publica el puerto es la opcion -p al ejecutar, y ese es el tema de la diapositiva siguiente.</a:t>
            </a:r>
          </a:p>
          <a:p/>
          <a:p>
            <a:r>
              <a:t>(No se proyecta) En CloudLite Turnos el estudiante contenerizara un stub de su API, es decir una version minima que responde algo verificable: el endpoint GET /health, que devuelve un cuerpo en formato JSON con al menos un campo que se pueda comprobar.</a:t>
            </a:r>
          </a:p>
          <a:p/>
          <a:p>
            <a:r>
              <a:t>(No se proyecta) Su Dockerfile tiene siete instrucciones, y el docente debe poder explicar cada una.</a:t>
            </a:r>
          </a:p>
          <a:p/>
          <a:p>
            <a:r>
              <a:t>(No se proyecta) La diapositiva lo proyecta junto al Dockerfile y no como nota al pie a proposito: son dos archivos hermanos en la misma carpeta, y el estudiante que entrega el primero sin el segundo entrega un artefacto que filtra secretos.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el Dockerfile escrito faltan tres comandos, cada uno con su sintaxis precisa.</a:t>
            </a:r>
          </a:p>
          <a:p/>
          <a:p>
            <a:r>
              <a:t>El -d lo manda a segundo plano y el --name le da un nombre estable para no andar copiando identificadores.</a:t>
            </a:r>
          </a:p>
          <a:p/>
          <a:p>
            <a:r>
              <a:t>Por eso el cuerpo lleva al menos un campo verificable, por ejemplo un estado y el nombre del servicio en JSON.</a:t>
            </a:r>
          </a:p>
          <a:p/>
          <a:p>
            <a:r>
              <a:t>(No se proyecta) Un build sin etiqueta funciona y por eso el estudiante no nota el problema: Docker le pone latest en silencio, y a partir de ahi nadie puede decir que version esta corriendo.</a:t>
            </a:r>
          </a:p>
          <a:p/>
          <a:p>
            <a:r>
              <a:t>(No se proyecta) El corazon de la instruccion es el -p, y conviene escribirlo en el tablero con las dos etiquetas encima: el numero de la IZQUIERDA es el del anfitrion, la maquina desde la que uno abre el navegador, y el de la DERECHA es el del contenedor, el mismo del EXPOSE.</a:t>
            </a:r>
          </a:p>
          <a:p/>
          <a:p>
            <a:r>
              <a:t>(No se proyecta) En el ejemplo estan a proposito DISTINTOS, porque cuando se escribe -p 8080:8080 los dos lados se confunden y el estudiante no puede decir cual es cual; en la actividad se le pide justamente explicar la diferencia.</a:t>
            </a:r>
          </a:p>
          <a:p/>
          <a:p>
            <a:r>
              <a:t>(No se proyecta) Y hay que anunciar el sintoma de invertirlos, que es lo que hace perder la tarde: docker ps sigue reportando el contenedor como Up y la peticion simplemente no obtiene respuesta o muere con una conexion reiniciada.</a:t>
            </a:r>
          </a:p>
          <a:p/>
          <a:p>
            <a:r>
              <a:t>(No se proyecta) El sintoma no senala la causa, y el estudiante busca el error en el codigo cuando esta en una linea del comando.</a:t>
            </a:r>
          </a:p>
          <a:p/>
          <a:p>
            <a:r>
              <a:t>(No se proyecta) Este mismo endpoint reaparece en la Clase 7, donde el balanceador lo consulta para decidir si sigue enviandole trafico a una instancia, y en la Clase 8, donde el pipeline lo usa como prueba de humo despues de construir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ejemplo concreto.</a:t>
            </a:r>
          </a:p>
          <a:p/>
          <a:p>
            <a:r>
              <a:t>La columna de estado es la que hay que mirar: si dice Up seguido de un tiempo, el contenedor vive; si dice Exited con un codigo entre parentesis, murio, y ese codigo es la primera pista del problema.</a:t>
            </a:r>
          </a:p>
          <a:p/>
          <a:p>
            <a:r>
              <a:t>Por eso la alterna es alterna y no la primera opcion.</a:t>
            </a:r>
          </a:p>
          <a:p/>
          <a:p>
            <a:r>
              <a:t>(No se proyecta) Un estudiante mas adelantado puede levantar dos contenedores, la API y un stub de notificaciones, y comprobar algo que sera central en la Clase 4: desde el contenedor de la API, la direccion localhost NO es la maquina anfitriona ni el otro contenedor, es el propio contenedor, y para que dos contenedores se hablen hay que ponerlos en una misma red y llamarse por nombre.</a:t>
            </a:r>
          </a:p>
          <a:p/>
          <a:p>
            <a:r>
              <a:t>(No se proyecta) Hay dos limites que conviene anunciar ANTES de empezar y no despues, porque cambian como se planifica la hora de taller.</a:t>
            </a:r>
          </a:p>
          <a:p/>
          <a:p>
            <a:r>
              <a:t>(No se proyecta) De ahi sale la regla operativa del dia, y hay que decirla como consecuencia del limite y no como consejo suelto: el Dockerfile se escribe en la carpeta del proyecto y se PEGA en el laboratorio, nunca al contrario, y las capturas se guardan antes de cerrar.</a:t>
            </a:r>
          </a:p>
          <a:p/>
          <a:p>
            <a:r>
              <a:t>(No se proyecta) La alterna, si Killercoda no carga, es LabEx Docker Playground, que cumple la misma funcion tambien gratis y en el navegador, pero con una restriccion mas dura que conviene mencionar: su plan gratuito da solo tres sesiones al dia, de modo que quien la use para depurar puede quedarse sin intentos justo el dia de la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respuesta, dicha desde ya, es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Killercoda → stub de la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Razonar el ciclo build → run → verify: qué imprime cada comando y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Publicar el puerto y verificar el servicio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endpoint de salud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(ruta, código, cuerpo).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evidencia: Dockerfile del stub de la app + ciclo justificado.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app: contenerizamos al menos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creer que el contenedor «no tiene sistema operativo»: usa el kernel del anfitrión, por eso una imagen Linux necesita un kernel Linux debajo.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Comprobar en un lab: recomendado, no obligatorio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entrega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Dockerfile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ciclo justificado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escribe y se razona, no hace falta ejecutarlo para entregar.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quieres comprobarlo —y vale la pena— hay laboratorios de contenedores gratuitos en el navegador, sin instalar nada y sin tarjeta.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hacerlos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caduca en torno a la hora y el plan gratuito limita cuántas abres al día. Por eso tu nota no depende de que carguen.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Dockerfile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tu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carpeta y se pega en el lab, nunca al contrario: lo que se cierra con la sesión del lab se pierde.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Siete instrucciones: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FROM · WORKDIR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RUN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código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EXPOSE · CMD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«FROM»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etiqueta fija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(«node:20-alpine», «python:3.12-slim»): con «latest», la imagen de hoy no es la de mañana.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el código: así cambiar una línea no reinstala nada (es la caché por capas).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Nunca un secreto en la imagen: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capas se acumulan y «docker history» las lee aunque el archivo se borre después.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haces «COPY. .», va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«.dockerignore»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lado («.env», «node_modules», «.git») — y se menciona en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«EXPOSE»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documenta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publica. Publicar es el «-p» del «docker run».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Construir, correr y verificar el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build -t turnos-api:0.1.0 .» — nombre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etiqueta; sin etiqueta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run -d -p 8081:8080 --name api turnos-api:0.1.0».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«-p 8081:8080»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izquierda es el anfitrión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(por donde entras tú)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derecha es el contenedor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(la del «EXPOSE»).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los inviertes,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ps» muestra el contenedor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petición muere sin respuesta: el síntoma no dice la causa.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Verificar: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contrato de salud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datos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ruta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(«GET /health»),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código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(«200» vivo · «503» sin base)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cuerpo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«200» con cuerpo vacío no distingue «vivo» de «vivo pero roto»: el cuerpo lleva al menos un campo verificable.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clase: virtualizacion y contenedores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abre la caja de la maquinaria que hace posible todo eso: la virtualizacion y su descendiente directo, los contenedores.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virtualizacion es la tecnica que permite ejecutar varias maquinas logicas sobre un mismo hardware fisico, y el hipervisor es el software que la hace posible.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es un proceso aislado que comparte el kernel del anfitrion: no trae sistema operativo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tecnicas resuelven el mismo problema, aprovechar mejor un servidor, con costos distintos: la maquina virtual aisla mas y pesa gigabytes; el contenedor arranca en segundos y pesa megabytes.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clase: virtualizacion y contenedores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app el stub de la API se empaqueta como contenedor porque es un solo servicio que se despliega muchas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tratar el contenedor como una maquina virtual pequena, entrando a configurarlo a mano: un contenedor se reconstruye desde su imagen, no se repara por dentro.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ejemplo de escala: un servidor fisico de 64 GB de memoria aloja unas pocas decenas de maquinas virtuales de 2 GB, o cientos de contenedores pequenos, porque estos no reservan memoria para un sistema operativo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la virtualizacion: un servidor por aplicacion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la virtualizacion, cada aplicacion importante vivia en su propio servidor fisico, por una razon sencilla: si dos aplicaciones compartian maquina, una podia tumbar a la otra.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era un desperdicio enorme, con servidores trabajando tipicamente entre el 5 % y el 15 % de su capacidad la mayor parte del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una de esas maquinas se llama maquina virtual y contiene un sistema operativo entero, kernel incluido, donde kernel es el nucleo del sistema operativo, la parte que administra memoria, procesos y acceso al hardware.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contraparte, su aislamiento es fuerte, ya que dos maquinas virtuales no comparten kernel y un problema en el nucleo de una no alcanza a la otra.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Recorrer el diagrama de las dos pilas, de abajo hacia arriba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sube por la columna izquierda: hardware fisico, hipervisor, y encima DOS sistemas operativos invitados completos, uno por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Luego por la derecha: el mismo hardware, un solo sistema operativo anfitrion con el motor de contenedores, y encima los contenedores, que ya no traen sistema operativo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caja que desaparece al pasar de la pila de la maquina virtual a la del contenedor es el segundo sistema operativo.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demas —arranque en segundos y no en minutos, megabytes y no gigabytes— es consecuencia de esa caja que ya no esta.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Recorrer el diagrama de las dos pilas, de abajo hacia arriba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Leida de abajo hacia arriba, la pila de la maquina virtual es: hardware, hipervisor, sistema operativo invitado, librerias y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del contenedor es: hardware, sistema operativo del anfitrion, motor de contenedores, librerias y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creer que el contenedor no usa sistema operativo: usa el del anfitrion, y por eso una imagen Linux necesita un kernel Linux debajo.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contenedor: aislamiento sin otro sistema operativo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parte de una observacion distinta: casi nunca se necesita otro sistema operativo, solo un espacio aislado dentro del que ya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namespaces le dan a cada contenedor su propia vista de procesos, red, usuarios y sistema de archivos, de modo que dentro del contenedor su proceso principal se ve con el numero 1 y no ve los procesos vecinos.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sistema operativo propio, los numeros cambian de escala: una imagen basada en Alpine Linux pesa del orden de 5 a 10 MB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slim de un runtime como Node ronda los 150 a 250 MB frente a cerca de 1 GB de la version completa, y el arranque es de decimas de segundo.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contenedor: aislamiento sin otro sistema operativo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esta la respuesta a la frase que hay que evitar: un contenedor no es «una maquina virtual ligera».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no es el peso sino el aislamiento; como el kernel es compartido, una vulnerabilidad del kernel puede afectar a todos los contenedores de esa maquina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los proveedores de nube siguen usando maquinas virtuales para separar clientes distintos y ejecutan los contenedores DENTRO de ellas.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Contenedores y maquinas virtuales no compiten: se apilan.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Dockerfile, imagen, contenedor y registro: los cuatro terminos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Dockerfile es la receta: un archivo de texto con instrucciones.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imagen es el resultado de ejecutar esa receta, un paquete inmutable y de solo lectura con el codigo, las dependencias y la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contenedor es una instancia en ejecucion de esa imagen, y de una misma imagen se pueden lanzar diez contenedores identicos, igual que de una clase se instancian muchos objetos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comparacion funciona bien con estudiantes que ya vieron programacion orientada a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Dockerfile, imagen, contenedor y registro: los cuatro terminos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registro, o registry, es el repositorio donde las imagenes se publican y se descargan.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detalle que explica el comportamiento diario: la imagen se construye por capas, una por instruccion, y esas capas quedan en cache; si una instruccion no cambio, la reconstruccion la reutiliza en lugar de volver a ejecutarla.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Hacerlo al reves obliga a reinstalar todo en cada construccion y convierte una build de 10 segundos en una de varios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el stub de la API de la app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FROM node:20-alpine elige la imagen base, o sea el punto de partida ya construido por otros, en este caso un Linux minimo con Node instalado; la etiqueta 20-alpine es FIJA y eso importa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con latest la imagen de hoy no es la de manana y la reconstruccion deja de ser reproducible.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RUN npm ci --omit=dev las instala dentro de la imagen y no en la maquina del estudiante, lo cual es el punto entero del ejercicio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dependencia viaja con el artefacto; se usa npm ci y no npm install porque respeta el archivo de bloqueo y por tanto instala exactamente las mismas versiones en cada construccion.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el stub de la API de la app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EXPOSE 8080 documenta en que puerto escucha el proceso.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COPY.. tiene una consecuencia seria: copia TODO lo que haya en la carpeta, incluido el archivo.env con las credenciales, y una vez dentro de una capa ya no sale, ni siquiera borrandolo en una instruccion posterior.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se enuncia en una linea: si haces COPY.., el.dockerignore va al lado y se menciona en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ultimo detalle del que depende media clase: EXPOSE no abre nada, solo documenta.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Construir, correr y verificar: los tres comandos y el contrato de salud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la construccion: docker build -t turnos-api:0.1.0.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-t asigna nombre y etiqueta, y el punto final no es adorno sino el contexto de construccion, es decir la carpeta cuyo contenido se le entrega al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 Y etiqueta, siempre; la etiqueta suelta no basta y el nombre solo tampoco.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la ejecucion: docker run -d -p 8081:8080 --name api turnos-api:0.1.0.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lee de derecha a izquierda: el puerto 8080 de dentro queda accesible como 8081 desde 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es la verificacion, y aqui hay un concepto y no solo un comando.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Construir, correr y verificar: los tres comandos y el contrato de salud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endpoint de salud es una ruta cuyo unico proposito es que alguien de afuera pueda preguntar si el servicio esta en condiciones de atender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su contrato tiene TRES datos, los tres exigibles: la ruta (GET /health), el codigo de estado (200 cuando el servicio puede atender, 503 cuando esta arriba pero sin su dependencia, tipicamente la base de datos) y el cuerpo con su formato declarado.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es el que se olvida y el que hace util al endpoint: un 200 con el cuerpo vacio no distingue «vivo» de «vivo pero roto», porque el proceso puede estar respondiendo mientras su conexion a datos esta caida.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comprueba con curl -i http://localhost:8081/health, y el -i importa: sin el, curl imprime el cuerpo pero esconde el codigo de estado, que es un tercio del contrato.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leer las siete columnas de docker 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Tras ejecutar el contenedor, el comando docker ps lista lo que esta corriendo con siete columnas: identificador del contenedor, imagen de la que proviene, comando en ejecucion, tiempo desde su creacion, estado, puertos publicados y nombre asignado.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ocurre en Killercoda (killercoda.com, cuenta gratuita y sin tarjeta, escenario Ubuntu), que entrega una terminal Linux real con Docker ya instalado dentro del navegador, sin instalar Docker Desktop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en equipos institucionales suele estar bloqueado y tiene condiciones de licencia para organizaciones grandes.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primero: la sesion caduca a una hora y al cerrarse se pierde lo que exista solo alli.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segundo: en el plan gratuito solo se trabaja un escenario a la vez, asi que no sirve dejar dos labs abiertos.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mi contenedor arranca y se muere de inmediato: porque un contenedor vive exactamente lo que vive su proceso principal, y si el comando termina, el contenedor termina.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error, es el diseno; un contenedor no es una maquina encendida esperando ordenes, es un proceso envuelto en aislamiento, y la solucion es que el comando quede corriendo en primer plano.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Segunda: donde quedan mis datos si borro el contenedor.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Tercera: entonces la base de datos tambien va en un contenedor.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C4, la palabra contenedor significa cualquier cosa que se ejecuta o almacena de forma independiente, como una aplicacion web, una API o una base de datos, y es un concepto de diagrama anterior a Docker.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contenedor de Docker, en cambio, es un mecanismo concreto de empaquetado y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parecen y a menudo coinciden uno a uno, pero no son sinonimos: una base de datos gestionada que nadie contenerizo sigue siendo un contenedor en el sentido de C4.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Dockerfile minimo, capa por capa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Cada instruccion es UNA CAPA. El orden decide que se reconstruye.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Primero las dependencias: si el codigo cambia y package.json no,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esta capa se reutiliza de la cache y el build tarda segundos.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Despues el codigo, que es lo que cambia en cada commit.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3000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completo: construir, ejecutar, verificar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1. construir la imagen y etiquetarla con version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build -t turnos-api:0.1.0.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2. ejecutarla publicando el puerto (host:contenedor)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run -d --name turnos -p 8080:3000 turnos-api:0.1.0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3. verificar que responde DE VERDAD, no que el contenedor existe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curl -i http://localhost:8080/health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HTTP/1.1 200 OK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4. si no responde, el log es el primer sitio, no el ultimo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logs turnos --tail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Imagen, contenedor y capas: los comandos que lo demuestran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La IMAGEN es la plantilla; el CONTENEDOR es una instancia en ejecucion.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images turnos-api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REPOSITORY      TAG     IMAGE ID       SIZE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turnos-api   0.1.0   a1b2c3d4e5f6   142MB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ps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CONTAINER ID   IMAGE                 STATUS         PORTS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9f8e7d6c5b4a   turnos-api:0.1.0   Up 2 minutes   0.0.0.0:8080-&gt;3000/tcp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De una imagen salen N contenedores: eso es lo que hace escalar barato.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run -d -p 8081:3000 turnos-api:0.1.0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run -d -p 8082:3000 turnos-api:0.1.0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Limpiar, y la prueba de que el contenedor no guarda estado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stop turnos &amp;&amp; docker rm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 escrito DENTRO del contenedor se va con el: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run -d --name c1 turnos-api:0.1.0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exec c1 sh -c 'echo hola &gt; /tmp/dato.txt'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rm -f c1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run --rm turnos-api:0.1.0 cat /tmp/dato.txt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cat: can't open '/tmp/dato.txt': No such file or directory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Por eso el estado vive fuera: volumen o base de datos gestionada.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run -d -v turnos_datos:/app/data turnos-api:0.1.0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Ej.: un servidor Windows y uno Linux en el mismo host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Ej.: el stub de la app, replicado detras del balanceador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de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ligera y etiqueta FIJA: nunca 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        # dependencias PRIMERO: cambian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        # se instalan DENTRO de la imagen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COPY..                     # el codigo despues: cambia en cada commit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documenta el puerto; NO lo publica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.dockerignore  &lt;- archivo aparte, en la misma carpeta que el Dockerfile.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Sin el, el COPY.. de arriba se lleva el .env a las capas de la imagen.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node_modules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.env.*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EXPOSE, CMD y el «-p» del run llevan el MISMO puerto. Y el «COPY. .» solo es seguro con «.dockerignore» al lado.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Diferenciar VM vs contenedor y el rol de la imagen.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Razonar el ciclo build → run → verify: qué imprime cada comando y por qué.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Publicar el puerto y verificar el servicio con un endpoint de salud (ruta, código, cuerpo).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