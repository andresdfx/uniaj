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DESARROLLO (para explicarlo, no se proyecta):</a:t>
            </a:r>
          </a:p>
          <a:p/>
          <a:p>
            <a:r>
              <a:t>Hoy se abre la caja de la maquinaria que hace posible todo eso: la virtualizacion y su descendiente directo, los contenedores.</a:t>
            </a:r>
          </a:p>
          <a:p/>
          <a:p>
            <a:r>
              <a:t>La virtualizacion es la tecnica que permite ejecutar varias maquinas logicas sobre un mismo hardware fisico, y el hipervisor es el software que la hace posible.</a:t>
            </a:r>
          </a:p>
          <a:p/>
          <a:p>
            <a:r>
              <a:t>Un contenedor es un proceso aislado que comparte el kernel del anfitrion: no trae sistema operativo propio.</a:t>
            </a:r>
          </a:p>
          <a:p/>
          <a:p>
            <a:r>
              <a:t>Las dos tecnicas resuelven el mismo problema, aprovechar mejor un servidor, con costos distintos: la maquina virtual aisla mas y pesa gigabytes; el contenedor arranca en segundos y pesa megabytes.</a:t>
            </a:r>
          </a:p>
          <a:p/>
          <a:p>
            <a:r>
              <a:t>En CloudLite el stub de la API se empaqueta como contenedor porque es un solo servicio que se despliega muchas veces.</a:t>
            </a:r>
          </a:p>
          <a:p/>
          <a:p>
            <a:r>
              <a:t>Un error comun es tratar el contenedor como una maquina virtual pequena, entrando a configurarlo a mano: un contenedor se reconstruye desde su imagen, no se repara por dentro.</a:t>
            </a:r>
          </a:p>
          <a:p/>
          <a:p>
            <a:r>
              <a:t>Un ejemplo de escala: un servidor fisico de 64 GB de memoria aloja unas pocas decenas de maquinas virtuales de 2 GB, o cientos de contenedores pequenos, porque estos no reservan memoria para un sistema operativo propio.</a:t>
            </a:r>
          </a:p>
          <a:p/>
          <a:p>
            <a:r>
              <a:t>NOTAS:</a:t>
            </a:r>
          </a:p>
          <a:p/>
          <a:p>
            <a:r>
              <a:t>Las dos clases anteriores decidieron QUE se va a construir (dominio, capacidades, actores, diagrama de contexto) y BAJO QUE modelo de servicio se va a operar, con su registro de decision.</a:t>
            </a:r>
          </a:p>
          <a:p/>
          <a:p>
            <a:r>
              <a:t>(No se proyecta) Es la primera clase francamente tecnica del curso y la primera en la que el estudiante escribe algo que una maquina ejecuta.</a:t>
            </a:r>
          </a:p>
          <a:p/>
          <a:p>
            <a:r>
              <a:t>(No se proyecta) El entregable es un Dockerfile con su ciclo de construccion razonado: se escribe y se justifica, sin depender de ejecutarlo en ningun laboratorio externo para poder entregar.</a:t>
            </a:r>
          </a:p>
          <a:p/>
          <a:p>
            <a:r>
              <a:t>(No se proyecta) Conviene decir desde el minuto uno por que esto importa para la arquitectura y no solo para la operacion: el contenedor es la unidad de despliegue con la que se razona en todos los diagramas siguientes, y sin entender que es exactamente, el nivel de contenedores del modelo C4 que se dibuja en la Clase 4 queda en pura metafora.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Antes de la virtualizacion, cada aplicacion importante vivia en su propio servidor fisico, por una razon sencilla: si dos aplicaciones compartian maquina, una podia tumbar a la otra.</a:t>
            </a:r>
          </a:p>
          <a:p/>
          <a:p>
            <a:r>
              <a:t>El resultado era un desperdicio enorme, con servidores trabajando tipicamente entre el 5 % y el 15 % de su capacidad la mayor parte del tiempo.</a:t>
            </a:r>
          </a:p>
          <a:p/>
          <a:p>
            <a:r>
              <a:t>Cada una de esas maquinas se llama maquina virtual y contiene un sistema operativo entero, kernel incluido, donde kernel es el nucleo del sistema operativo, la parte que administra memoria, procesos y acceso al hardware.</a:t>
            </a:r>
          </a:p>
          <a:p/>
          <a:p>
            <a:r>
              <a:t>En contraparte, su aislamiento es fuerte, ya que dos maquinas virtuales no comparten kernel y un problema en el nucleo de una no alcanza a la otra.</a:t>
            </a:r>
          </a:p>
          <a:p/>
          <a:p>
            <a:r>
              <a:t>NOTAS:</a:t>
            </a:r>
          </a:p>
          <a:p/>
          <a:p>
            <a:r>
              <a:t>La virtualizacion resolvio eso con una pieza de software llamada hipervisor, que se interpone entre el hardware y los sistemas operativos y presenta a cada uno la ilusion de tener una maquina completa para si.</a:t>
            </a:r>
          </a:p>
          <a:p/>
          <a:p>
            <a:r>
              <a:t>(No se proyecta) Los ordenes de magnitud que el docente debe poder citar: una maquina virtual ocupa varios gigabytes en disco y tarda entre 30 segundos y unos minutos en arrancar, porque debe iniciar un sistema operativo completo.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Se sube por la columna izquierda: hardware fisico, hipervisor, y encima DOS sistemas operativos invitados completos, uno por aplicacion.</a:t>
            </a:r>
          </a:p>
          <a:p/>
          <a:p>
            <a:r>
              <a:t>Luego por la derecha: el mismo hardware, un solo sistema operativo anfitrion con el motor de contenedores, y encima los contenedores, que ya no traen sistema operativo propio.</a:t>
            </a:r>
          </a:p>
          <a:p/>
          <a:p>
            <a:r>
              <a:t>La caja que desaparece al pasar de la pila de la maquina virtual a la del contenedor es el segundo sistema operativo.</a:t>
            </a:r>
          </a:p>
          <a:p/>
          <a:p>
            <a:r>
              <a:t>Todo lo demas —arranque en segundos y no en minutos, megabytes y no gigabytes— es consecuencia de esa caja que ya no esta.</a:t>
            </a:r>
          </a:p>
          <a:p/>
          <a:p>
            <a:r>
              <a:t>Leida de abajo hacia arriba, la pila de la maquina virtual es: hardware, hipervisor, sistema operativo invitado, librerias y aplicacion.</a:t>
            </a:r>
          </a:p>
          <a:p/>
          <a:p>
            <a:r>
              <a:t>La del contenedor es: hardware, sistema operativo del anfitrion, motor de contenedores, librerias y aplicacion.</a:t>
            </a:r>
          </a:p>
          <a:p/>
          <a:p>
            <a:r>
              <a:t>Un error comun es creer que el contenedor no usa sistema operativo: usa el del anfitrion, y por eso una imagen Linux necesita un kernel Linux debajo.</a:t>
            </a:r>
          </a:p>
          <a:p/>
          <a:p>
            <a:r>
              <a:t>(No se proyecta) Esta diapositiva es la misma comparacion de la seccion anterior, ya dibujada, y conviene recorrerla con el puntero en vez de leerla.</a:t>
            </a:r>
          </a:p>
          <a:p/>
          <a:p>
            <a:r>
              <a:t>(No se proyecta) Conviene cerrar con lo que el dibujo NO muestra y la seccion anterior si dijo: en la nube las dos pilas se apilan, con los contenedores corriendo DENTRO de maquinas virtuales.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Un contenedor parte de una observacion distinta: casi nunca se necesita otro sistema operativo, solo un espacio aislado dentro del que ya existe.</a:t>
            </a:r>
          </a:p>
          <a:p/>
          <a:p>
            <a:r>
              <a:t>Los namespaces le dan a cada contenedor su propia vista de procesos, red, usuarios y sistema de archivos, de modo que dentro del contenedor su proceso principal se ve con el numero 1 y no ve los procesos vecinos.</a:t>
            </a:r>
          </a:p>
          <a:p/>
          <a:p>
            <a:r>
              <a:t>Sin sistema operativo propio, los numeros cambian de escala: una imagen basada en Alpine Linux pesa del orden de 5 a 10 MB</a:t>
            </a:r>
          </a:p>
          <a:p/>
          <a:p>
            <a:r>
              <a:t>Una imagen slim de un runtime como Node ronda los 150 a 250 MB frente a cerca de 1 GB de la version completa, y el arranque es de decimas de segundo.</a:t>
            </a:r>
          </a:p>
          <a:p/>
          <a:p>
            <a:r>
              <a:t>Aqui esta la respuesta a la frase que hay que evitar: un contenedor no es «una maquina virtual ligera».</a:t>
            </a:r>
          </a:p>
          <a:p/>
          <a:p>
            <a:r>
              <a:t>La diferencia no es el peso sino el aislamiento; como el kernel es compartido, una vulnerabilidad del kernel puede afectar a todos los contenedores de esa maquina</a:t>
            </a:r>
          </a:p>
          <a:p/>
          <a:p>
            <a:r>
              <a:t>Y por eso los proveedores de nube siguen usando maquinas virtuales para separar clientes distintos y ejecutan los contenedores DENTRO de ellas.</a:t>
            </a:r>
          </a:p>
          <a:p/>
          <a:p>
            <a:r>
              <a:t>Contenedores y maquinas virtuales no compiten: se apilan.</a:t>
            </a:r>
          </a:p>
          <a:p/>
          <a:p>
            <a:r>
              <a:t>NOTAS:</a:t>
            </a:r>
          </a:p>
          <a:p/>
          <a:p>
            <a:r>
              <a:t>Todos los contenedores de una maquina comparten el kernel del anfitrion, y el aislamiento se consigue con dos mecanismos del propio Linux.</a:t>
            </a:r>
          </a:p>
          <a:p/>
          <a:p>
            <a:r>
              <a:t>Los cgroups, o grupos de control, limitan cuanta CPU y cuanta memoria puede consumir.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VM: hipervisor + SO completo → aislamiento fuerte, más pesado.</a:t>
            </a:r>
          </a:p>
          <a:p/>
          <a:p>
            <a:r>
              <a:t>Contenedor: comparte kernel del host → portable y rápido para demos.</a:t>
            </a:r>
          </a:p>
          <a:p/>
          <a:p>
            <a:r>
              <a:t>Imagen = capas inmutables; contenedor = instancia en ejecución.</a:t>
            </a:r>
          </a:p>
          <a:p/>
          <a:p>
            <a:r>
              <a:t>CloudLite: contenerizamos al menos un servicio (API stub o front estático).</a:t>
            </a:r>
          </a:p>
          <a:p/>
          <a:p>
            <a:r>
              <a:t>Error común: creer que el contenedor «no tiene sistema operativo»: usa el kernel del anfitrión, por eso una imagen Linux necesita un kernel Linux debajo.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Dockerfile es la receta: un archivo de texto con instrucciones.</a:t>
            </a:r>
          </a:p>
          <a:p/>
          <a:p>
            <a:r>
              <a:t>La imagen es el resultado de ejecutar esa receta, un paquete inmutable y de solo lectura con el codigo, las dependencias y la configuracion.</a:t>
            </a:r>
          </a:p>
          <a:p/>
          <a:p>
            <a:r>
              <a:t>El contenedor es una instancia en ejecucion de esa imagen, y de una misma imagen se pueden lanzar diez contenedores identicos, igual que de una clase se instancian muchos objetos</a:t>
            </a:r>
          </a:p>
          <a:p/>
          <a:p>
            <a:r>
              <a:t>Esa comparacion funciona bien con estudiantes que ya vieron programacion orientada a objetos.</a:t>
            </a:r>
          </a:p>
          <a:p/>
          <a:p>
            <a:r>
              <a:t>Y el registro, o registry, es el repositorio donde las imagenes se publican y se descargan.</a:t>
            </a:r>
          </a:p>
          <a:p/>
          <a:p>
            <a:r>
              <a:t>Un detalle que explica el comportamiento diario: la imagen se construye por capas, una por instruccion, y esas capas quedan en cache; si una instruccion no cambio, la reconstruccion la reutiliza en lugar de volver a ejecutarla.</a:t>
            </a:r>
          </a:p>
          <a:p/>
          <a:p>
            <a:r>
              <a:t>Hacerlo al reves obliga a reinstalar todo en cada construccion y convierte una build de 10 segundos en una de varios minutos.</a:t>
            </a:r>
          </a:p>
          <a:p/>
          <a:p>
            <a:r>
              <a:t>NOTAS:</a:t>
            </a:r>
          </a:p>
          <a:p/>
          <a:p>
            <a:r>
              <a:t>De ahi la unica optimizacion que hay que ensenar hoy: copiar primero el archivo de dependencias e instalarlas, y solo despues copiar el codigo fuente, porque el codigo cambia en cada commit y las dependencias casi nunca.</a:t>
            </a:r>
          </a:p>
          <a:p/>
          <a:p>
            <a:r>
              <a:t>(No se proyecta) Cuatro terminos se confunden de forma sistematica y conviene fijarlos con una sola analogia.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Un Dockerfile se puede escribir y razonar sin ejecutarlo; ejecutarlo es la prueba de que el razonamiento era correcto.</a:t>
            </a:r>
          </a:p>
          <a:p/>
          <a:p>
            <a:r>
              <a:t>Hay laboratorios de contenedores gratuitos en el navegador: sin instalar nada y sin tarjeta.</a:t>
            </a:r>
          </a:p>
          <a:p/>
          <a:p>
            <a:r>
              <a:t>Son desechables: la sesión caduca en torno a la hora y el plan gratuito limita cuántas se abren al día.</a:t>
            </a:r>
          </a:p>
          <a:p/>
          <a:p>
            <a:r>
              <a:t>El Dockerfile se escribe en tu carpeta del PI y se pega en el lab, nunca al contrario: lo que se cierra con la sesión del lab se pierde.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FROM node:20-alpine elige la imagen base, o sea el punto de partida ya construido por otros, en este caso un Linux minimo con Node instalado; la etiqueta 20-alpine es FIJA y eso importa</a:t>
            </a:r>
          </a:p>
          <a:p/>
          <a:p>
            <a:r>
              <a:t>Porque con latest la imagen de hoy no es la de manana y la reconstruccion deja de ser reproducible.</a:t>
            </a:r>
          </a:p>
          <a:p/>
          <a:p>
            <a:r>
              <a:t>RUN npm ci --omit=dev las instala dentro de la imagen y no en la maquina del estudiante, lo cual es el punto entero del ejercicio</a:t>
            </a:r>
          </a:p>
          <a:p/>
          <a:p>
            <a:r>
              <a:t>Porque la dependencia viaja con el artefacto; se usa npm ci y no npm install porque respeta el archivo de bloqueo y por tanto instala exactamente las mismas versiones en cada construccion.</a:t>
            </a:r>
          </a:p>
          <a:p/>
          <a:p>
            <a:r>
              <a:t>EXPOSE 8080 documenta en que puerto escucha el proceso.</a:t>
            </a:r>
          </a:p>
          <a:p/>
          <a:p>
            <a:r>
              <a:t>Ese COPY.. tiene una consecuencia seria: copia TODO lo que haya en la carpeta, incluido el archivo.env con las credenciales, y una vez dentro de una capa ya no sale, ni siquiera borrandolo en una instruccion posterior.</a:t>
            </a:r>
          </a:p>
          <a:p/>
          <a:p>
            <a:r>
              <a:t>La regla se enuncia en una linea: si haces COPY.., el.dockerignore va al lado y se menciona en la entrega.</a:t>
            </a:r>
          </a:p>
          <a:p/>
          <a:p>
            <a:r>
              <a:t>Un ultimo detalle del que depende media clase: EXPOSE no abre nada, solo documenta.</a:t>
            </a:r>
          </a:p>
          <a:p/>
          <a:p>
            <a:r>
              <a:t>NOTAS:</a:t>
            </a:r>
          </a:p>
          <a:p/>
          <a:p>
            <a:r>
              <a:t>Primer ejemplo concreto en CloudLite.</a:t>
            </a:r>
          </a:p>
          <a:p/>
          <a:p>
            <a:r>
              <a:t>WORKDIR /app fija el directorio dentro del contenedor donde ocurrira todo lo demas.</a:t>
            </a:r>
          </a:p>
          <a:p/>
          <a:p>
            <a:r>
              <a:t>COPY package*.json./ trae solo la lista de dependencias.</a:t>
            </a:r>
          </a:p>
          <a:p/>
          <a:p>
            <a:r>
              <a:t>COPY.. trae el resto del codigo, y va DESPUES por la razon de cache de la seccion anterior.</a:t>
            </a:r>
          </a:p>
          <a:p/>
          <a:p>
            <a:r>
              <a:t>Y CMD indica que comando ejecutar cuando el contenedor arranque, uno solo y en primer plano.</a:t>
            </a:r>
          </a:p>
          <a:p/>
          <a:p>
            <a:r>
              <a:t>Por eso al lado del Dockerfile va un segundo archivo, el.dockerignore, con al menos.env, node_modules y.git.</a:t>
            </a:r>
          </a:p>
          <a:p/>
          <a:p>
            <a:r>
              <a:t>Lo que realmente publica el puerto es la opcion -p al ejecutar, y ese es el tema de la diapositiva siguiente.</a:t>
            </a:r>
          </a:p>
          <a:p/>
          <a:p>
            <a:r>
              <a:t>(No se proyecta) En CloudLite Turnos el estudiante contenerizara un stub de su API, es decir una version minima que responde algo verificable: el endpoint GET /health, que devuelve un cuerpo en formato JSON con al menos un campo que se pueda comprobar.</a:t>
            </a:r>
          </a:p>
          <a:p/>
          <a:p>
            <a:r>
              <a:t>(No se proyecta) Su Dockerfile tiene siete instrucciones, y el docente debe poder explicar cada una.</a:t>
            </a:r>
          </a:p>
          <a:p/>
          <a:p>
            <a:r>
              <a:t>(No se proyecta) La diapositiva lo proyecta junto al Dockerfile y no como nota al pie a proposito: son dos archivos hermanos en la misma carpeta, y el estudiante que entrega el primero sin el segundo entrega un artefacto que filtra secretos.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Siete instrucciones: FROM · WORKDIR · COPY de dependencias · RUN · COPY del código · EXPOSE · CMD.</a:t>
            </a:r>
          </a:p>
          <a:p/>
          <a:p>
            <a:r>
              <a:t>`FROM` con etiqueta fija (`node:20-alpine`, `python:3.12-slim`): con `latest`, la imagen de hoy no es la de mañana.</a:t>
            </a:r>
          </a:p>
          <a:p/>
          <a:p>
            <a:r>
              <a:t>Dependencias antes que el código: así cambiar una línea no reinstala nada (es la caché por capas).</a:t>
            </a:r>
          </a:p>
          <a:p/>
          <a:p>
            <a:r>
              <a:t>Nunca un secreto en la imagen: las capas se acumulan y `docker history` las lee aunque el archivo se borre después.</a:t>
            </a:r>
          </a:p>
          <a:p/>
          <a:p>
            <a:r>
              <a:t>Si haces `COPY . .`, va con un `.dockerignore` al lado (`.env`, `node_modules`, `.git`) — y se menciona en la entrega.</a:t>
            </a:r>
          </a:p>
          <a:p/>
          <a:p>
            <a:r>
              <a:t>`EXPOSE` documenta, no publica. Publicar es el `-p` del `docker run`.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Construir: `docker build -t cloudlite-api:0.1.0 .` — nombre y etiqueta; sin etiqueta vale la mitad.</a:t>
            </a:r>
          </a:p>
          <a:p/>
          <a:p>
            <a:r>
              <a:t>Correr: `docker run -d -p 8081:8080 --name api cloudlite-api:0.1.0`.</a:t>
            </a:r>
          </a:p>
          <a:p/>
          <a:p>
            <a:r>
              <a:t>En `-p 8081:8080` la izquierda es el anfitrión (por donde entras tú) y la derecha es el contenedor (la del `EXPOSE`).</a:t>
            </a:r>
          </a:p>
          <a:p/>
          <a:p>
            <a:r>
              <a:t>Si los inviertes, `docker ps` muestra el contenedor Up y la petición muere sin respuesta: el síntoma no dice la causa.</a:t>
            </a:r>
          </a:p>
          <a:p/>
          <a:p>
            <a:r>
              <a:t>Verificar: el contrato de salud son tres datos — ruta (`GET /health`), código (`200` vivo · `503` sin base) y cuerpo con su formato.</a:t>
            </a:r>
          </a:p>
          <a:p/>
          <a:p>
            <a:r>
              <a:t>Un `200` con cuerpo vacío no distingue «vivo» de «vivo pero roto»: el cuerpo lleva al menos un campo verificable.</a:t>
            </a:r>
          </a:p>
          <a:p/>
          <a:p>
            <a:r>
              <a:t>DESARROLLO (para explicarlo, no se proyecta):</a:t>
            </a:r>
          </a:p>
          <a:p/>
          <a:p>
            <a:r>
              <a:t>El primero es la construccion: docker build -t cloudlite-api:0.1.0.</a:t>
            </a:r>
          </a:p>
          <a:p/>
          <a:p>
            <a:r>
              <a:t>El -t asigna nombre y etiqueta, y el punto final no es adorno sino el contexto de construccion, es decir la carpeta cuyo contenido se le entrega al motor.</a:t>
            </a:r>
          </a:p>
          <a:p/>
          <a:p>
            <a:r>
              <a:t>Nombre Y etiqueta, siempre; la etiqueta suelta no basta y el nombre solo tampoco.</a:t>
            </a:r>
          </a:p>
          <a:p/>
          <a:p>
            <a:r>
              <a:t>El segundo es la ejecucion: docker run -d -p 8081:8080 --name api cloudlite-api:0.1.0.</a:t>
            </a:r>
          </a:p>
          <a:p/>
          <a:p>
            <a:r>
              <a:t>Se lee de derecha a izquierda: el puerto 8080 de dentro queda accesible como 8081 desde fuera.</a:t>
            </a:r>
          </a:p>
          <a:p/>
          <a:p>
            <a:r>
              <a:t>El tercero es la verificacion, y aqui hay un concepto y no solo un comando.</a:t>
            </a:r>
          </a:p>
          <a:p/>
          <a:p>
            <a:r>
              <a:t>Un endpoint de salud es una ruta cuyo unico proposito es que alguien de afuera pueda preguntar si el servicio esta en condiciones de atender</a:t>
            </a:r>
          </a:p>
          <a:p/>
          <a:p>
            <a:r>
              <a:t>Y su contrato tiene TRES datos, los tres exigibles: la ruta (GET /health), el codigo de estado (200 cuando el servicio puede atender, 503 cuando esta arriba pero sin su dependencia, tipicamente la base de datos) y el cuerpo con su formato declarado.</a:t>
            </a:r>
          </a:p>
          <a:p/>
          <a:p>
            <a:r>
              <a:t>El tercero es el que se olvida y el que hace util al endpoint: un 200 con el cuerpo vacio no distingue «vivo» de «vivo pero roto», porque el proceso puede estar respondiendo mientras su conexion a datos esta caida.</a:t>
            </a:r>
          </a:p>
          <a:p/>
          <a:p>
            <a:r>
              <a:t>Se comprueba con curl -i http://localhost:8081/health, y el -i importa: sin el, curl imprime el cuerpo pero esconde el codigo de estado, que es un tercio del contrato.</a:t>
            </a:r>
          </a:p>
          <a:p/>
          <a:p>
            <a:r>
              <a:t>NOTAS:</a:t>
            </a:r>
          </a:p>
          <a:p/>
          <a:p>
            <a:r>
              <a:t>Con el Dockerfile escrito faltan tres comandos, cada uno con su sintaxis precisa.</a:t>
            </a:r>
          </a:p>
          <a:p/>
          <a:p>
            <a:r>
              <a:t>El -d lo manda a segundo plano y el --name le da un nombre estable para no andar copiando identificadores.</a:t>
            </a:r>
          </a:p>
          <a:p/>
          <a:p>
            <a:r>
              <a:t>Por eso el cuerpo lleva al menos un campo verificable, por ejemplo un estado y el nombre del servicio en JSON.</a:t>
            </a:r>
          </a:p>
          <a:p/>
          <a:p>
            <a:r>
              <a:t>(No se proyecta) Un build sin etiqueta funciona y por eso el estudiante no nota el problema: Docker le pone latest en silencio, y a partir de ahi nadie puede decir que version esta corriendo.</a:t>
            </a:r>
          </a:p>
          <a:p/>
          <a:p>
            <a:r>
              <a:t>(No se proyecta) El corazon de la instruccion es el -p, y conviene escribirlo en el tablero con las dos etiquetas encima: el numero de la IZQUIERDA es el del anfitrion, la maquina desde la que uno abre el navegador, y el de la DERECHA es el del contenedor, el mismo del EXPOSE.</a:t>
            </a:r>
          </a:p>
          <a:p/>
          <a:p>
            <a:r>
              <a:t>(No se proyecta) En el ejemplo estan a proposito DISTINTOS, porque cuando se escribe -p 8080:8080 los dos lados se confunden y el estudiante no puede decir cual es cual; en la actividad se le pide justamente explicar la diferencia.</a:t>
            </a:r>
          </a:p>
          <a:p/>
          <a:p>
            <a:r>
              <a:t>(No se proyecta) Y hay que anunciar el sintoma de invertirlos, que es lo que hace perder la tarde: docker ps sigue reportando el contenedor como Up y la peticion simplemente no obtiene respuesta o muere con una conexion reiniciada.</a:t>
            </a:r>
          </a:p>
          <a:p/>
          <a:p>
            <a:r>
              <a:t>(No se proyecta) El sintoma no senala la causa, y el estudiante busca el error en el codigo cuando esta en una linea del comando.</a:t>
            </a:r>
          </a:p>
          <a:p/>
          <a:p>
            <a:r>
              <a:t>(No se proyecta) Este mismo endpoint reaparece en la Clase 7, donde el balanceador lo consulta para decidir si sigue enviandole trafico a una instancia, y en la Clase 8, donde el pipeline lo usa como prueba de humo despues de construir la imagen.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Tras ejecutar el contenedor, el comando docker ps lista lo que esta corriendo con siete columnas: identificador del contenedor, imagen de la que proviene, comando en ejecucion, tiempo desde su creacion, estado, puertos publicados y nombre asignado.</a:t>
            </a:r>
          </a:p>
          <a:p/>
          <a:p>
            <a:r>
              <a:t>Todo esto ocurre en Killercoda (killercoda.com, cuenta gratuita y sin tarjeta, escenario Ubuntu), que entrega una terminal Linux real con Docker ya instalado dentro del navegador, sin instalar Docker Desktop</a:t>
            </a:r>
          </a:p>
          <a:p/>
          <a:p>
            <a:r>
              <a:t>Que en equipos institucionales suele estar bloqueado y tiene condiciones de licencia para organizaciones grandes.</a:t>
            </a:r>
          </a:p>
          <a:p/>
          <a:p>
            <a:r>
              <a:t>El primero: la sesion caduca a una hora y al cerrarse se pierde lo que exista solo alli.</a:t>
            </a:r>
          </a:p>
          <a:p/>
          <a:p>
            <a:r>
              <a:t>El segundo: en el plan gratuito solo se trabaja un escenario a la vez, asi que no sirve dejar dos labs abiertos.</a:t>
            </a:r>
          </a:p>
          <a:p/>
          <a:p>
            <a:r>
              <a:t>NOTAS:</a:t>
            </a:r>
          </a:p>
          <a:p/>
          <a:p>
            <a:r>
              <a:t>Segundo ejemplo concreto.</a:t>
            </a:r>
          </a:p>
          <a:p/>
          <a:p>
            <a:r>
              <a:t>La columna de estado es la que hay que mirar: si dice Up seguido de un tiempo, el contenedor vive; si dice Exited con un codigo entre parentesis, murio, y ese codigo es la primera pista del problema.</a:t>
            </a:r>
          </a:p>
          <a:p/>
          <a:p>
            <a:r>
              <a:t>Por eso la alterna es alterna y no la primera opcion.</a:t>
            </a:r>
          </a:p>
          <a:p/>
          <a:p>
            <a:r>
              <a:t>PREGUNTAS FRECUENTES Y CIERRE CONCEPTUAL ()</a:t>
            </a:r>
          </a:p>
          <a:p/>
          <a:p>
            <a:r>
              <a:t>Por que mi contenedor arranca y se muere de inmediato: porque un contenedor vive exactamente lo que vive su proceso principal, y si el comando termina, el contenedor termina.</a:t>
            </a:r>
          </a:p>
          <a:p/>
          <a:p>
            <a:r>
              <a:t>No es un error, es el diseno; un contenedor no es una maquina encendida esperando ordenes, es un proceso envuelto en aislamiento, y la solucion es que el comando quede corriendo en primer plano.</a:t>
            </a:r>
          </a:p>
          <a:p/>
          <a:p>
            <a:r>
              <a:t>Segunda: donde quedan mis datos si borro el contenedor.</a:t>
            </a:r>
          </a:p>
          <a:p/>
          <a:p>
            <a:r>
              <a:t>Tercera: entonces la base de datos tambien va en un contenedor.</a:t>
            </a:r>
          </a:p>
          <a:p/>
          <a:p>
            <a:r>
              <a:t>En el modelo C4, la palabra contenedor significa cualquier cosa que se ejecuta o almacena de forma independiente, como una aplicacion web, una API o una base de datos, y es un concepto de diagrama anterior a Docker.</a:t>
            </a:r>
          </a:p>
          <a:p/>
          <a:p>
            <a:r>
              <a:t>El contenedor de Docker, en cambio, es un mecanismo concreto de empaquetado y ejecucion.</a:t>
            </a:r>
          </a:p>
          <a:p/>
          <a:p>
            <a:r>
              <a:t>Se parecen y a menudo coinciden uno a uno, pero no son sinonimos: una base de datos gestionada que nadie contenerizo sigue siendo un contenedor en el sentido de C4.</a:t>
            </a:r>
          </a:p>
          <a:p/>
          <a:p>
            <a:r>
              <a:t>La respuesta, dicha desde ya, es no.</a:t>
            </a:r>
          </a:p>
          <a:p/>
          <a:p>
            <a:r>
              <a:t>(No se proyecta) Un estudiante mas adelantado puede levantar dos contenedores, la API y un stub de notificaciones, y comprobar algo que sera central en la Clase 4: desde el contenedor de la API, la direccion localhost NO es la maquina anfitriona ni el otro contenedor, es el propio contenedor, y para que dos contenedores se hablen hay que ponerlos en una misma red y llamarse por nombre.</a:t>
            </a:r>
          </a:p>
          <a:p/>
          <a:p>
            <a:r>
              <a:t>(No se proyecta) Hay dos limites que conviene anunciar ANTES de empezar y no despues, porque cambian como se planifica la hora de taller.</a:t>
            </a:r>
          </a:p>
          <a:p/>
          <a:p>
            <a:r>
              <a:t>(No se proyecta) De ahi sale la regla operativa del dia, y hay que decirla como consecuencia del limite y no como consejo suelto: el Dockerfile se escribe en la carpeta del proyecto y se PEGA en el laboratorio, nunca al contrario, y las capturas se guardan antes de cerrar.</a:t>
            </a:r>
          </a:p>
          <a:p/>
          <a:p>
            <a:r>
              <a:t>(No se proyecta) La alterna, si Killercoda no carga, es LabEx Docker Playground, que cumple la misma funcion tambien gratis y en el navegador, pero con una restriccion mas dura que conviene mencionar: su plan gratuito da solo tres sesiones al dia, de modo que quien la use para depurar puede quedarse sin intentos justo el dia de la entrega.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Virtualización y contenedores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Lab Killercoda → stub de la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Diferenciar VM vs contenedor y el rol de la imagen.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Razonar el ciclo build → run → verify: qué imprime cada comando y por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Publicar el puerto y verificar el servicio con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endpoint de salud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(ruta, código, cuerpo).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Dejar evidencia: Dockerfile del stub de la app + ciclo justificado.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donde viene la clase: virtualizacion y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-donde-vien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virtualizacion es la tecnica que permite ejecutar varias maquinas logicas sobre un mismo hardware fisico, y el hipervisor es el software que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es un proceso aislado que comparte el kernel del anfitrion: no trae sistema operativo propio.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Máquinas virtuales vs. contenedores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capacidad de cómputo, distinto nivel de aislamiento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Máquinas virtuales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Hipervisor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A
(completo)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36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SO invitado B
(completo)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4023360"/>
            <a:ext cx="1874519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App 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0" y="1417320"/>
            <a:ext cx="3931920" cy="4572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Contenedores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05740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Hardware físico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697480"/>
            <a:ext cx="3931920" cy="59436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SO anfitrión + motor de contenedores (kernel compartido)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A
(App A)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3337560"/>
            <a:ext cx="1874519" cy="64008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Contenedor B
(App 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VM: cada instancia carga un SO completo (aislamiento fuerte, más pesado). Contenedor: comparte el kernel del anfitrión y solo empaqueta app + dependencias (arranca en segundos, pesa MB no GB).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la virtualizacion: un servidor por aplicacion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-servidor-por-app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un-servidor-por-app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Antes de la virtualizacion, cada aplicacion importante vivia en su propio servidor fisico, por una razon sencilla: si dos aplicaciones compartian…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resultado era un desperdicio enorme, con servidores trabajando tipicamente entre el 5 % y el 15 % de su capacidad la mayor parte del tiempo.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Recorrer el diagrama de las dos pilas, de abajo hacia arriba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os-pila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dos-pila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dos-pila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sube por la columna izquierda: hardware fisico, hipervisor, y encima DOS sistemas operativos invitados completos, uno por aplicacion.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caja que desaparece al pasar de la pila de la maquina virtual a la del contenedor es el segundo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Todo lo demas —arranque en segundos y no en minutos, megabytes y no gigabytes— es consecuencia de esa caja que ya no esta.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contenedor: aislamiento sin otro sistema operativo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tenedor-aislad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ontenedor-aislado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contenedor parte de una observacion distinta: casi nunca se necesita otro sistema operativo, solo un espacio aislado dentro del que ya existe.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imagen slim de un runtime como Node ronda los 150 a 250 MB frente a cerca de 1 GB de la version completa, y el arranque es de decimas de segundo.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Contenedores y maquinas virtuales no compiten: se apilan.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VM vs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vm-vs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VM: hipervisor + SO completo → aislamiento fuerte, más pesado.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Contenedor: comparte kernel del host → portable y rápido para demos.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Imagen = capas inmutables; contenedor = instancia en ejecución.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app: contenerizamos al menos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servicio (API stub o front estático).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Maquina virtual vs contenedor — que cambia de verdad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Maquina virtual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instancia trae un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SO completo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(kernel propio)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Aislamiento fuerte a nivel de hardware virtual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minutos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GB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cuando se necesitan SO distintos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un servidor Windows y uno Linux en el mismo host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Contenedor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Comparte el kernel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del anfitrion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Empaqueta solo app + dependencias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Arranque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segundos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tamaño en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MB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Util para desplegar el mismo servicio muchas veces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Ej.: el stub de la app, replicado detras del balanceador</a:t>
            </a:r>
          </a:p>
        </p:txBody>
      </p:sp>
      <p:pic>
        <p:nvPicPr>
          <p:cNvPr id="13" name="Picture 12" descr="sello_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16736"/>
            <a:ext cx="393192" cy="393192"/>
          </a:xfrm>
          <a:prstGeom prst="rect">
            <a:avLst/>
          </a:prstGeom>
        </p:spPr>
      </p:pic>
      <p:pic>
        <p:nvPicPr>
          <p:cNvPr id="14" name="Picture 13" descr="sello_bi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5595" y="1316736"/>
            <a:ext cx="393192" cy="3931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Dockerfile, imagen, contenedor y registro: los cuatro terminos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eta-imagen-contenedo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receta-imagen-contenedor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receta-imagen-contenedor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Dockerfile es la receta: un archivo de texto con instrucciones.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imagen es el resultado de ejecutar la receta: un paquete inmutable con código, dependencias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contenedor es una instancia en ejecución de la imagen; de una imagen salen muchos contenedores iguales.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registro es el repositorio donde las imágenes se publican y se descargan.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Imagen, contenedor y capas: los comandos que lo demuestran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17290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3578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3578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La IMAGEN es la plantilla; el CONTENEDOR, una instancia en ejecucion.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images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--format "table {{.Repository}}\t{{.Tag}}\t{{.Size}}"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REPOSITORY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TAG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SIZE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142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MB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--format "table {{.Names}}\t{{.Status}}\t{{.Ports}}"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NAMES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STATUS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PORTS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Up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minutes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 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8081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-&gt;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8080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tcp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De una imagen salen N contenedores: eso es lo que hace escalar barato.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api2 -p 8082:8080 turnos-api:0.1.0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api3 -p 8083:8080 turnos-api:0.1.0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Comprobar en un lab: el Dockerfile vive en tu carpeta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lab-desechabl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Dockerfile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puede escribir y razonar sin ejecutarlo; ejecutarlo es la prueba de que el razonamiento era correcto.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Hay laboratorios de contenedores gratuitos en el navegador: sin instalar nada y sin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Son desechables: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sesión caduca en torno a la hora y el plan gratuito limita cuántas se abren al día.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Primer ejemplo: el stub de la API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pas-cache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capas-cache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EXPOSE 8080 documenta en que puerto escucha el proceso.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se enuncia en una linea: si haces COPY. ., el .dockerignore va al lado y se menciona en la entrega.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ultimo detalle del que depende media clase: EXPOSE no abre nada, solo documenta.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mínimo para el stub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ockerfile-mini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Siete instrucciones: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FROM · WORKDIR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RUN · COPY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del código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· EXPOSE · CMD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«FROM» con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etiqueta fija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(«node:20-alpine», «python:3.12-slim»): con «latest», la imagen de hoy no es la de mañana.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Dependencias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que el código: así cambiar una línea no reinstala nada (es la caché por capas).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Dockerfile minimo del stub de la app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Dockerfile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Dockerfile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base ligera y etiqueta FIJA: nunca latest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FROM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node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20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alpine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WORKDIR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/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app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dependencias PRIMERO: cambian poco y se cachean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package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*.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json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./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RUN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--omit=dev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el codigo despues: cambia en cada commit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COPY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. .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documenta el puerto; publicarlo es el -p del docker run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EXPOSE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B5CEA8"/>
                </a:solidFill>
                <a:latin typeface="Consolas"/>
              </a:rPr>
              <a:t>8080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569CD6"/>
                </a:solidFill>
                <a:latin typeface="Consolas"/>
              </a:rPr>
              <a:t>CMD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[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"node"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CE9178"/>
                </a:solidFill>
                <a:latin typeface="Consolas"/>
              </a:rPr>
              <a:t>"server.js"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---- .dockerignore (archivo aparte, en la misma carpeta) ----</a:t>
            </a:r>
          </a:p>
          <a:p>
            <a:pPr>
              <a:spcAft>
                <a:spcPts val="235"/>
              </a:spcAft>
            </a:pPr>
            <a:r>
              <a:rPr sz="1100" i="1" b="0">
                <a:solidFill>
                  <a:srgbClr val="6A9955"/>
                </a:solidFill>
                <a:latin typeface="Consolas"/>
              </a:rPr>
              <a:t># sin el, el COPY . . se lleva el .env a las capas de la imagen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node_modules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env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.*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git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EXPOSE, CMD y el «-p» del run llevan el MISMO puerto. Y el «COPY . .» solo es seguro con «.dockerignore» al lado.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Construir, correr y verificar el contenedor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construir-correr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Construir: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build -t turnos-api:0.1.0 .» — nombre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etiqueta; sin etiqueta vale la mitad.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Correr: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«docker run -d -p 8081:8080 --name api turnos-api:0.1.0».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«-p 8081:8080»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izquierda es el anfitrión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(por donde entras tú) y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derecha es el contenedor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(la del «EXPOSE»).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ciclo completo: construir, ejecutar, verificar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313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436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1. construir la imagen con nombre Y etiqueta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build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2. ejecutarla publicando el puerto  (anfitrion:contenedor)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--name api -p 8081:8080 turnos-api:0.1.0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3. verificar que responde DE VERDAD, no solo que el contenedor existe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curl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1" b="0">
                <a:solidFill>
                  <a:srgbClr val="6A9955"/>
                </a:solidFill>
                <a:latin typeface="Consolas"/>
              </a:rPr>
              <a:t>//localhost:8081/health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HTTP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1.1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200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OK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Content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Type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application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json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"estado"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"version"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"0.1.0"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"dependencias"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:{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"bd"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1600" i="0" b="0">
                <a:solidFill>
                  <a:srgbClr val="CE9178"/>
                </a:solidFill>
                <a:latin typeface="Consolas"/>
              </a:rPr>
              <a:t>"ok"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}}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 4. si no responde, el log es el primer sitio, no el ultimo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logs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--tail 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Limpiar, y la prueba de que el contenedor no guarda estado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917043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Terminal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428"/>
              </a:spcAft>
            </a:pPr>
            <a:r>
              <a:rPr sz="2000" i="0" b="0">
                <a:solidFill>
                  <a:srgbClr val="858585"/>
                </a:solidFill>
                <a:latin typeface="Consolas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3226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api2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api3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Lo escrito DENTRO del contenedor se va con el: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c1 turnos-api:0.1.0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exec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sh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'echo hola &gt; /tmp/dato.txt'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rm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c1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--rm turnos-api:0.1.0 cat /tmp/dato.txt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cat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can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't open '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tmp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dato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txt</a:t>
            </a:r>
            <a:r>
              <a:rPr sz="2000" i="0" b="0">
                <a:solidFill>
                  <a:srgbClr val="CE9178"/>
                </a:solidFill>
                <a:latin typeface="Consolas"/>
              </a:rPr>
              <a:t>': No such file or directory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28"/>
              </a:spcAft>
            </a:pPr>
            <a:r>
              <a:rPr sz="2000" i="1" b="0">
                <a:solidFill>
                  <a:srgbClr val="6A9955"/>
                </a:solidFill>
                <a:latin typeface="Consolas"/>
              </a:rPr>
              <a:t># Por eso el estado vive fuera: un volumen o una base de datos.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$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docker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run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--name api -p 8081:8080 \</a:t>
            </a:r>
          </a:p>
          <a:p>
            <a:pPr>
              <a:spcAft>
                <a:spcPts val="428"/>
              </a:spcAft>
            </a:pPr>
            <a:r>
              <a:rPr sz="2000" i="0" b="0">
                <a:solidFill>
                  <a:srgbClr val="D4D4D4"/>
                </a:solidFill>
                <a:latin typeface="Consolas"/>
              </a:rPr>
              <a:t>    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turnos_datos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app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data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turnos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-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api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: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0.1</a:t>
            </a:r>
            <a:r>
              <a:rPr sz="2000" i="0" b="0">
                <a:solidFill>
                  <a:srgbClr val="D4D4D4"/>
                </a:solidFill>
                <a:latin typeface="Consolas"/>
              </a:rPr>
              <a:t>.</a:t>
            </a:r>
            <a:r>
              <a:rPr sz="2000" i="0" b="0">
                <a:solidFill>
                  <a:srgbClr val="B5CEA8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Segundo ejemplo: leer las siete columnas de docker 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ocker-p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docker ps lista lo que corre en siete columnas: id, imagen, comando, creado, estado, puertos y nombre.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que se mira es el estado: «Up» y un tiempo, vive; «Exited» y un código, murió, y el código es la primera pista.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Dentro de un contenedor, localhost es el propio contenedor: dos contenedores se hablan por nombre en una misma 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Diferenciar VM vs contenedor y el rol de la imagen.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Razonar el ciclo build → run → verify: qué imprime cada comando y por qué.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Publicar el puerto y verificar el servicio con un endpoint de salud (ruta, código, cuerpo).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